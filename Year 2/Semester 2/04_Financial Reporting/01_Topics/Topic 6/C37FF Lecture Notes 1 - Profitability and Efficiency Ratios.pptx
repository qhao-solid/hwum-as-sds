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5"/>
  </p:notesMasterIdLst>
  <p:sldIdLst>
    <p:sldId id="256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2" r:id="rId17"/>
    <p:sldId id="269" r:id="rId18"/>
    <p:sldId id="270" r:id="rId19"/>
    <p:sldId id="271" r:id="rId20"/>
    <p:sldId id="272" r:id="rId21"/>
    <p:sldId id="273" r:id="rId22"/>
    <p:sldId id="274" r:id="rId23"/>
    <p:sldId id="29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9B01B-7539-494C-A436-0C4D338B6531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6FECC-72CB-412B-BE40-6CFC0754A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87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058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532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2156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750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8742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491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7011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7301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984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0454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1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0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799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Analysing and Interpreting Financial Statements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Using Ratio Analysis to interpret financial performance</a:t>
            </a:r>
          </a:p>
          <a:p>
            <a:r>
              <a:rPr lang="en-GB" dirty="0"/>
              <a:t>Profitability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715730" y="1261753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  <a:t>Analysing and interpreting financial statements</a:t>
            </a:r>
            <a:endParaRPr lang="en-GB" altLang="en-US" dirty="0"/>
          </a:p>
        </p:txBody>
      </p:sp>
      <p:grpSp>
        <p:nvGrpSpPr>
          <p:cNvPr id="3075" name="Group 27"/>
          <p:cNvGrpSpPr>
            <a:grpSpLocks noGrp="1"/>
          </p:cNvGrpSpPr>
          <p:nvPr/>
        </p:nvGrpSpPr>
        <p:grpSpPr bwMode="auto">
          <a:xfrm>
            <a:off x="1907704" y="2132856"/>
            <a:ext cx="5400600" cy="4296141"/>
            <a:chOff x="1260" y="655"/>
            <a:chExt cx="4303" cy="3373"/>
          </a:xfrm>
        </p:grpSpPr>
        <p:sp>
          <p:nvSpPr>
            <p:cNvPr id="3076" name="AutoShape 23"/>
            <p:cNvSpPr>
              <a:spLocks noChangeArrowheads="1"/>
            </p:cNvSpPr>
            <p:nvPr/>
          </p:nvSpPr>
          <p:spPr bwMode="auto">
            <a:xfrm>
              <a:off x="1734" y="1980"/>
              <a:ext cx="3820" cy="563"/>
            </a:xfrm>
            <a:prstGeom prst="cube">
              <a:avLst>
                <a:gd name="adj" fmla="val 1291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3077" name="AutoShape 6"/>
            <p:cNvSpPr>
              <a:spLocks noChangeArrowheads="1"/>
            </p:cNvSpPr>
            <p:nvPr/>
          </p:nvSpPr>
          <p:spPr bwMode="auto">
            <a:xfrm>
              <a:off x="1743" y="3465"/>
              <a:ext cx="3820" cy="563"/>
            </a:xfrm>
            <a:prstGeom prst="cube">
              <a:avLst>
                <a:gd name="adj" fmla="val 1291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3078" name="AutoShape 7"/>
            <p:cNvSpPr>
              <a:spLocks noChangeArrowheads="1"/>
            </p:cNvSpPr>
            <p:nvPr/>
          </p:nvSpPr>
          <p:spPr bwMode="auto">
            <a:xfrm>
              <a:off x="1735" y="2724"/>
              <a:ext cx="3820" cy="563"/>
            </a:xfrm>
            <a:prstGeom prst="cube">
              <a:avLst>
                <a:gd name="adj" fmla="val 1291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3079" name="Text Box 9"/>
            <p:cNvSpPr txBox="1">
              <a:spLocks noChangeArrowheads="1"/>
            </p:cNvSpPr>
            <p:nvPr/>
          </p:nvSpPr>
          <p:spPr bwMode="auto">
            <a:xfrm>
              <a:off x="1299" y="655"/>
              <a:ext cx="2112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altLang="en-US" sz="1246" b="1">
                <a:latin typeface="Arial" panose="020B0604020202020204" pitchFamily="34" charset="0"/>
              </a:endParaRPr>
            </a:p>
          </p:txBody>
        </p:sp>
        <p:sp>
          <p:nvSpPr>
            <p:cNvPr id="3080" name="Text Box 11"/>
            <p:cNvSpPr txBox="1">
              <a:spLocks noChangeArrowheads="1"/>
            </p:cNvSpPr>
            <p:nvPr/>
          </p:nvSpPr>
          <p:spPr bwMode="auto">
            <a:xfrm>
              <a:off x="1735" y="2009"/>
              <a:ext cx="3741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246" b="1" dirty="0">
                  <a:latin typeface="Arial" panose="020B0604020202020204" pitchFamily="34" charset="0"/>
                </a:rPr>
                <a:t>calculate important ratios for accessing the financial performance and position of a business;</a:t>
              </a:r>
            </a:p>
          </p:txBody>
        </p:sp>
        <p:sp>
          <p:nvSpPr>
            <p:cNvPr id="3081" name="AutoShape 12"/>
            <p:cNvSpPr>
              <a:spLocks noChangeArrowheads="1"/>
            </p:cNvSpPr>
            <p:nvPr/>
          </p:nvSpPr>
          <p:spPr bwMode="auto">
            <a:xfrm>
              <a:off x="1735" y="1232"/>
              <a:ext cx="3820" cy="563"/>
            </a:xfrm>
            <a:prstGeom prst="cube">
              <a:avLst>
                <a:gd name="adj" fmla="val 1291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3082" name="Text Box 13"/>
            <p:cNvSpPr txBox="1">
              <a:spLocks noChangeArrowheads="1"/>
            </p:cNvSpPr>
            <p:nvPr/>
          </p:nvSpPr>
          <p:spPr bwMode="auto">
            <a:xfrm>
              <a:off x="2173" y="1310"/>
              <a:ext cx="2871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GB" altLang="en-US" sz="1246" b="1" dirty="0">
                  <a:latin typeface="Arial" panose="020B0604020202020204" pitchFamily="34" charset="0"/>
                </a:rPr>
                <a:t>identify the major categories of ratios that can be used for analysis purposes;</a:t>
              </a:r>
            </a:p>
          </p:txBody>
        </p:sp>
        <p:sp>
          <p:nvSpPr>
            <p:cNvPr id="3083" name="AutoShape 14"/>
            <p:cNvSpPr>
              <a:spLocks noChangeArrowheads="1"/>
            </p:cNvSpPr>
            <p:nvPr/>
          </p:nvSpPr>
          <p:spPr bwMode="auto">
            <a:xfrm>
              <a:off x="1260" y="1390"/>
              <a:ext cx="339" cy="339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lang="en-US" altLang="en-US" sz="1662">
                <a:solidFill>
                  <a:srgbClr val="CC0000"/>
                </a:solidFill>
              </a:endParaRPr>
            </a:p>
          </p:txBody>
        </p:sp>
        <p:sp>
          <p:nvSpPr>
            <p:cNvPr id="3084" name="AutoShape 15"/>
            <p:cNvSpPr>
              <a:spLocks noChangeArrowheads="1"/>
            </p:cNvSpPr>
            <p:nvPr/>
          </p:nvSpPr>
          <p:spPr bwMode="auto">
            <a:xfrm>
              <a:off x="1260" y="2137"/>
              <a:ext cx="339" cy="339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lang="en-US" altLang="en-US" sz="1662">
                <a:solidFill>
                  <a:srgbClr val="CC0000"/>
                </a:solidFill>
              </a:endParaRPr>
            </a:p>
          </p:txBody>
        </p:sp>
        <p:sp>
          <p:nvSpPr>
            <p:cNvPr id="3085" name="Text Box 16"/>
            <p:cNvSpPr txBox="1">
              <a:spLocks noChangeArrowheads="1"/>
            </p:cNvSpPr>
            <p:nvPr/>
          </p:nvSpPr>
          <p:spPr bwMode="auto">
            <a:xfrm>
              <a:off x="1813" y="3581"/>
              <a:ext cx="3668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246" b="1">
                  <a:latin typeface="Arial" panose="020B0604020202020204" pitchFamily="34" charset="0"/>
                </a:rPr>
                <a:t>discuss the limitations of ratios as a tool of financial analysis.</a:t>
              </a:r>
            </a:p>
          </p:txBody>
        </p:sp>
        <p:sp>
          <p:nvSpPr>
            <p:cNvPr id="3086" name="Text Box 17"/>
            <p:cNvSpPr txBox="1">
              <a:spLocks noChangeArrowheads="1"/>
            </p:cNvSpPr>
            <p:nvPr/>
          </p:nvSpPr>
          <p:spPr bwMode="auto">
            <a:xfrm>
              <a:off x="1753" y="2925"/>
              <a:ext cx="3726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246" b="1">
                  <a:latin typeface="Arial" panose="020B0604020202020204" pitchFamily="34" charset="0"/>
                </a:rPr>
                <a:t>explain the significance of the ratios calculated;</a:t>
              </a:r>
            </a:p>
          </p:txBody>
        </p:sp>
        <p:sp>
          <p:nvSpPr>
            <p:cNvPr id="3087" name="AutoShape 18"/>
            <p:cNvSpPr>
              <a:spLocks noChangeArrowheads="1"/>
            </p:cNvSpPr>
            <p:nvPr/>
          </p:nvSpPr>
          <p:spPr bwMode="auto">
            <a:xfrm>
              <a:off x="1260" y="2879"/>
              <a:ext cx="339" cy="339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lang="en-US" altLang="en-US" sz="1662">
                <a:solidFill>
                  <a:srgbClr val="CC0000"/>
                </a:solidFill>
              </a:endParaRPr>
            </a:p>
          </p:txBody>
        </p:sp>
        <p:sp>
          <p:nvSpPr>
            <p:cNvPr id="3088" name="AutoShape 19"/>
            <p:cNvSpPr>
              <a:spLocks noChangeArrowheads="1"/>
            </p:cNvSpPr>
            <p:nvPr/>
          </p:nvSpPr>
          <p:spPr bwMode="auto">
            <a:xfrm>
              <a:off x="1268" y="3609"/>
              <a:ext cx="339" cy="339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lang="en-US" altLang="en-US" sz="1662">
                <a:solidFill>
                  <a:srgbClr val="CC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978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636123" y="406390"/>
            <a:ext cx="3689472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62" b="1" dirty="0">
                <a:solidFill>
                  <a:srgbClr val="CC0000"/>
                </a:solidFill>
                <a:latin typeface="Arial" panose="020B0604020202020204" pitchFamily="34" charset="0"/>
              </a:rPr>
              <a:t>Financial ratio classifications</a:t>
            </a:r>
            <a:r>
              <a:rPr lang="en-GB" altLang="en-US" sz="969" b="1" dirty="0">
                <a:latin typeface="Arial" panose="020B0604020202020204" pitchFamily="34" charset="0"/>
              </a:rPr>
              <a:t> </a:t>
            </a:r>
            <a:endParaRPr lang="en-GB" altLang="en-US" sz="969" dirty="0">
              <a:latin typeface="Arial" panose="020B0604020202020204" pitchFamily="34" charset="0"/>
            </a:endParaRPr>
          </a:p>
        </p:txBody>
      </p:sp>
      <p:grpSp>
        <p:nvGrpSpPr>
          <p:cNvPr id="4099" name="Group 18"/>
          <p:cNvGrpSpPr>
            <a:grpSpLocks/>
          </p:cNvGrpSpPr>
          <p:nvPr/>
        </p:nvGrpSpPr>
        <p:grpSpPr bwMode="auto">
          <a:xfrm>
            <a:off x="2627784" y="1340768"/>
            <a:ext cx="3648297" cy="5241314"/>
            <a:chOff x="1997" y="595"/>
            <a:chExt cx="1750" cy="3302"/>
          </a:xfrm>
        </p:grpSpPr>
        <p:sp>
          <p:nvSpPr>
            <p:cNvPr id="4100" name="AutoShape 4"/>
            <p:cNvSpPr>
              <a:spLocks noChangeArrowheads="1"/>
            </p:cNvSpPr>
            <p:nvPr/>
          </p:nvSpPr>
          <p:spPr bwMode="auto">
            <a:xfrm>
              <a:off x="2080" y="595"/>
              <a:ext cx="1663" cy="3118"/>
            </a:xfrm>
            <a:prstGeom prst="roundRect">
              <a:avLst>
                <a:gd name="adj" fmla="val 12750"/>
              </a:avLst>
            </a:prstGeom>
            <a:solidFill>
              <a:srgbClr val="DDBC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1" name="Text Box 5"/>
            <p:cNvSpPr txBox="1">
              <a:spLocks noChangeArrowheads="1"/>
            </p:cNvSpPr>
            <p:nvPr/>
          </p:nvSpPr>
          <p:spPr bwMode="auto">
            <a:xfrm>
              <a:off x="2113" y="640"/>
              <a:ext cx="15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85" b="1" i="1">
                  <a:solidFill>
                    <a:srgbClr val="CC0000"/>
                  </a:solidFill>
                  <a:latin typeface="Arial" panose="020B0604020202020204" pitchFamily="34" charset="0"/>
                </a:rPr>
                <a:t>Categories</a:t>
              </a:r>
            </a:p>
          </p:txBody>
        </p:sp>
        <p:sp>
          <p:nvSpPr>
            <p:cNvPr id="4102" name="AutoShape 6"/>
            <p:cNvSpPr>
              <a:spLocks noChangeArrowheads="1"/>
            </p:cNvSpPr>
            <p:nvPr/>
          </p:nvSpPr>
          <p:spPr bwMode="auto">
            <a:xfrm>
              <a:off x="1997" y="1055"/>
              <a:ext cx="1747" cy="484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3" name="AutoShape 7"/>
            <p:cNvSpPr>
              <a:spLocks noChangeArrowheads="1"/>
            </p:cNvSpPr>
            <p:nvPr/>
          </p:nvSpPr>
          <p:spPr bwMode="auto">
            <a:xfrm>
              <a:off x="1999" y="1643"/>
              <a:ext cx="1747" cy="486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4" name="AutoShape 8"/>
            <p:cNvSpPr>
              <a:spLocks noChangeArrowheads="1"/>
            </p:cNvSpPr>
            <p:nvPr/>
          </p:nvSpPr>
          <p:spPr bwMode="auto">
            <a:xfrm>
              <a:off x="1999" y="2228"/>
              <a:ext cx="1747" cy="485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5" name="AutoShape 9"/>
            <p:cNvSpPr>
              <a:spLocks noChangeArrowheads="1"/>
            </p:cNvSpPr>
            <p:nvPr/>
          </p:nvSpPr>
          <p:spPr bwMode="auto">
            <a:xfrm>
              <a:off x="2001" y="2815"/>
              <a:ext cx="1746" cy="485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6" name="Text Box 10"/>
            <p:cNvSpPr txBox="1">
              <a:spLocks noChangeArrowheads="1"/>
            </p:cNvSpPr>
            <p:nvPr/>
          </p:nvSpPr>
          <p:spPr bwMode="auto">
            <a:xfrm>
              <a:off x="2291" y="1204"/>
              <a:ext cx="11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Profitability</a:t>
              </a:r>
            </a:p>
          </p:txBody>
        </p:sp>
        <p:sp>
          <p:nvSpPr>
            <p:cNvPr id="4107" name="Text Box 11"/>
            <p:cNvSpPr txBox="1">
              <a:spLocks noChangeArrowheads="1"/>
            </p:cNvSpPr>
            <p:nvPr/>
          </p:nvSpPr>
          <p:spPr bwMode="auto">
            <a:xfrm>
              <a:off x="2093" y="1800"/>
              <a:ext cx="15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Efficiency</a:t>
              </a:r>
            </a:p>
          </p:txBody>
        </p:sp>
        <p:sp>
          <p:nvSpPr>
            <p:cNvPr id="4108" name="Text Box 12"/>
            <p:cNvSpPr txBox="1">
              <a:spLocks noChangeArrowheads="1"/>
            </p:cNvSpPr>
            <p:nvPr/>
          </p:nvSpPr>
          <p:spPr bwMode="auto">
            <a:xfrm>
              <a:off x="2067" y="2372"/>
              <a:ext cx="15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Liquidity</a:t>
              </a:r>
            </a:p>
          </p:txBody>
        </p:sp>
        <p:sp>
          <p:nvSpPr>
            <p:cNvPr id="4109" name="Text Box 13"/>
            <p:cNvSpPr txBox="1">
              <a:spLocks noChangeArrowheads="1"/>
            </p:cNvSpPr>
            <p:nvPr/>
          </p:nvSpPr>
          <p:spPr bwMode="auto">
            <a:xfrm>
              <a:off x="2011" y="2961"/>
              <a:ext cx="165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Financial gearing</a:t>
              </a:r>
            </a:p>
          </p:txBody>
        </p:sp>
        <p:sp>
          <p:nvSpPr>
            <p:cNvPr id="4110" name="AutoShape 14"/>
            <p:cNvSpPr>
              <a:spLocks noChangeArrowheads="1"/>
            </p:cNvSpPr>
            <p:nvPr/>
          </p:nvSpPr>
          <p:spPr bwMode="auto">
            <a:xfrm>
              <a:off x="2001" y="3412"/>
              <a:ext cx="1746" cy="485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11" name="Text Box 15"/>
            <p:cNvSpPr txBox="1">
              <a:spLocks noChangeArrowheads="1"/>
            </p:cNvSpPr>
            <p:nvPr/>
          </p:nvSpPr>
          <p:spPr bwMode="auto">
            <a:xfrm>
              <a:off x="2006" y="3551"/>
              <a:ext cx="165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Investment.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957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046"/>
          <p:cNvGrpSpPr>
            <a:grpSpLocks/>
          </p:cNvGrpSpPr>
          <p:nvPr/>
        </p:nvGrpSpPr>
        <p:grpSpPr bwMode="auto">
          <a:xfrm>
            <a:off x="2794305" y="1412776"/>
            <a:ext cx="3560885" cy="4978912"/>
            <a:chOff x="1345" y="761"/>
            <a:chExt cx="3098" cy="2739"/>
          </a:xfrm>
        </p:grpSpPr>
        <p:sp>
          <p:nvSpPr>
            <p:cNvPr id="5124" name="AutoShape 1030"/>
            <p:cNvSpPr>
              <a:spLocks noChangeArrowheads="1"/>
            </p:cNvSpPr>
            <p:nvPr/>
          </p:nvSpPr>
          <p:spPr bwMode="auto">
            <a:xfrm>
              <a:off x="1444" y="761"/>
              <a:ext cx="2998" cy="2635"/>
            </a:xfrm>
            <a:prstGeom prst="roundRect">
              <a:avLst>
                <a:gd name="adj" fmla="val 10282"/>
              </a:avLst>
            </a:prstGeom>
            <a:solidFill>
              <a:srgbClr val="DDBC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5125" name="AutoShape 1032"/>
            <p:cNvSpPr>
              <a:spLocks noChangeArrowheads="1"/>
            </p:cNvSpPr>
            <p:nvPr/>
          </p:nvSpPr>
          <p:spPr bwMode="auto">
            <a:xfrm>
              <a:off x="2036" y="1491"/>
              <a:ext cx="2405" cy="528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5126" name="AutoShape 1033"/>
            <p:cNvSpPr>
              <a:spLocks noChangeArrowheads="1"/>
            </p:cNvSpPr>
            <p:nvPr/>
          </p:nvSpPr>
          <p:spPr bwMode="auto">
            <a:xfrm>
              <a:off x="2036" y="2231"/>
              <a:ext cx="2407" cy="528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5127" name="Text Box 1034"/>
            <p:cNvSpPr txBox="1">
              <a:spLocks noChangeArrowheads="1"/>
            </p:cNvSpPr>
            <p:nvPr/>
          </p:nvSpPr>
          <p:spPr bwMode="auto">
            <a:xfrm>
              <a:off x="2023" y="2324"/>
              <a:ext cx="23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similar businesses during the same period</a:t>
              </a:r>
            </a:p>
          </p:txBody>
        </p:sp>
        <p:sp>
          <p:nvSpPr>
            <p:cNvPr id="5128" name="AutoShape 1035"/>
            <p:cNvSpPr>
              <a:spLocks noChangeArrowheads="1"/>
            </p:cNvSpPr>
            <p:nvPr/>
          </p:nvSpPr>
          <p:spPr bwMode="auto">
            <a:xfrm>
              <a:off x="2036" y="2973"/>
              <a:ext cx="2407" cy="527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5129" name="Text Box 1036"/>
            <p:cNvSpPr txBox="1">
              <a:spLocks noChangeArrowheads="1"/>
            </p:cNvSpPr>
            <p:nvPr/>
          </p:nvSpPr>
          <p:spPr bwMode="auto">
            <a:xfrm>
              <a:off x="2056" y="3147"/>
              <a:ext cx="231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planned performance.</a:t>
              </a:r>
            </a:p>
          </p:txBody>
        </p:sp>
        <p:sp>
          <p:nvSpPr>
            <p:cNvPr id="5130" name="Text Box 1037"/>
            <p:cNvSpPr txBox="1">
              <a:spLocks noChangeArrowheads="1"/>
            </p:cNvSpPr>
            <p:nvPr/>
          </p:nvSpPr>
          <p:spPr bwMode="auto">
            <a:xfrm>
              <a:off x="2042" y="1668"/>
              <a:ext cx="2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past periods</a:t>
              </a:r>
            </a:p>
          </p:txBody>
        </p:sp>
        <p:sp>
          <p:nvSpPr>
            <p:cNvPr id="5131" name="AutoShape 1039"/>
            <p:cNvSpPr>
              <a:spLocks noChangeArrowheads="1"/>
            </p:cNvSpPr>
            <p:nvPr/>
          </p:nvSpPr>
          <p:spPr bwMode="auto">
            <a:xfrm>
              <a:off x="1353" y="1492"/>
              <a:ext cx="533" cy="532"/>
            </a:xfrm>
            <a:prstGeom prst="cube">
              <a:avLst>
                <a:gd name="adj" fmla="val 18477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5132" name="AutoShape 1040"/>
            <p:cNvSpPr>
              <a:spLocks noChangeArrowheads="1"/>
            </p:cNvSpPr>
            <p:nvPr/>
          </p:nvSpPr>
          <p:spPr bwMode="auto">
            <a:xfrm>
              <a:off x="1345" y="2232"/>
              <a:ext cx="533" cy="532"/>
            </a:xfrm>
            <a:prstGeom prst="cube">
              <a:avLst>
                <a:gd name="adj" fmla="val 18477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5133" name="AutoShape 1041"/>
            <p:cNvSpPr>
              <a:spLocks noChangeArrowheads="1"/>
            </p:cNvSpPr>
            <p:nvPr/>
          </p:nvSpPr>
          <p:spPr bwMode="auto">
            <a:xfrm>
              <a:off x="1345" y="2965"/>
              <a:ext cx="533" cy="532"/>
            </a:xfrm>
            <a:prstGeom prst="cube">
              <a:avLst>
                <a:gd name="adj" fmla="val 18477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5134" name="Text Box 1042"/>
            <p:cNvSpPr txBox="1">
              <a:spLocks noChangeArrowheads="1"/>
            </p:cNvSpPr>
            <p:nvPr/>
          </p:nvSpPr>
          <p:spPr bwMode="auto">
            <a:xfrm>
              <a:off x="1947" y="821"/>
              <a:ext cx="24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 i="1">
                  <a:solidFill>
                    <a:srgbClr val="CC0000"/>
                  </a:solidFill>
                  <a:latin typeface="Arial" panose="020B0604020202020204" pitchFamily="34" charset="0"/>
                </a:rPr>
                <a:t>Ratios may be compared with the following:</a:t>
              </a:r>
              <a:r>
                <a:rPr lang="en-GB" altLang="en-US" sz="1246" b="1" i="1">
                  <a:latin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5123" name="Text Box 1043"/>
          <p:cNvSpPr txBox="1">
            <a:spLocks noChangeArrowheads="1"/>
          </p:cNvSpPr>
          <p:nvPr/>
        </p:nvSpPr>
        <p:spPr bwMode="auto">
          <a:xfrm>
            <a:off x="2663419" y="400266"/>
            <a:ext cx="3689472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62" b="1" dirty="0">
                <a:solidFill>
                  <a:srgbClr val="CC0000"/>
                </a:solidFill>
                <a:latin typeface="Arial" panose="020B0604020202020204" pitchFamily="34" charset="0"/>
              </a:rPr>
              <a:t>Ratio benchmarks</a:t>
            </a:r>
            <a:r>
              <a:rPr lang="en-GB" altLang="en-US" sz="969" b="1" dirty="0">
                <a:latin typeface="Arial" panose="020B0604020202020204" pitchFamily="34" charset="0"/>
              </a:rPr>
              <a:t> </a:t>
            </a:r>
            <a:endParaRPr lang="en-GB" altLang="en-US" sz="969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94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483768" y="1412776"/>
            <a:ext cx="3816424" cy="998984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3600" b="1" dirty="0">
                <a:solidFill>
                  <a:srgbClr val="CC0000"/>
                </a:solidFill>
                <a:latin typeface="Arial" panose="020B0604020202020204" pitchFamily="34" charset="0"/>
              </a:rPr>
              <a:t>Profitability</a:t>
            </a:r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3568" y="2996952"/>
            <a:ext cx="7200800" cy="3168352"/>
          </a:xfrm>
        </p:spPr>
        <p:txBody>
          <a:bodyPr/>
          <a:lstStyle/>
          <a:p>
            <a:pPr eaLnBrk="1" hangingPunct="1"/>
            <a:r>
              <a:rPr lang="en-GB" altLang="en-US" dirty="0"/>
              <a:t>Provide insight into how well a company has created wealth for its owners</a:t>
            </a:r>
          </a:p>
          <a:p>
            <a:pPr marL="0" indent="0" eaLnBrk="1" hangingPunct="1">
              <a:buNone/>
            </a:pPr>
            <a:endParaRPr lang="en-GB" altLang="en-US" dirty="0"/>
          </a:p>
          <a:p>
            <a:pPr eaLnBrk="1" hangingPunct="1"/>
            <a:r>
              <a:rPr lang="en-GB" altLang="en-US" dirty="0"/>
              <a:t>Relates profits made to the size of the business and how much capital is invested in it</a:t>
            </a:r>
          </a:p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329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611560" y="1916832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altLang="en-US" sz="3100" b="1" dirty="0">
                <a:solidFill>
                  <a:srgbClr val="CC0000"/>
                </a:solidFill>
                <a:latin typeface="Arial" panose="020B0604020202020204" pitchFamily="34" charset="0"/>
              </a:rPr>
              <a:t>Return on ordinary shareholders’ funds (ROSF)</a:t>
            </a:r>
            <a:b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GB" altLang="en-US" dirty="0"/>
          </a:p>
        </p:txBody>
      </p:sp>
      <p:sp>
        <p:nvSpPr>
          <p:cNvPr id="7171" name="AutoShape 25"/>
          <p:cNvSpPr>
            <a:spLocks noGrp="1" noChangeArrowheads="1"/>
          </p:cNvSpPr>
          <p:nvPr>
            <p:ph idx="1"/>
          </p:nvPr>
        </p:nvSpPr>
        <p:spPr>
          <a:xfrm>
            <a:off x="1043608" y="2708920"/>
            <a:ext cx="5544616" cy="1038592"/>
          </a:xfrm>
          <a:prstGeom prst="cube">
            <a:avLst>
              <a:gd name="adj" fmla="val 15208"/>
            </a:avLst>
          </a:prstGeom>
          <a:solidFill>
            <a:srgbClr val="FFCC99"/>
          </a:solidFill>
        </p:spPr>
        <p:txBody>
          <a:bodyPr wrap="none" anchor="ctr"/>
          <a:lstStyle/>
          <a:p>
            <a:pPr>
              <a:buFontTx/>
              <a:buNone/>
            </a:pPr>
            <a:r>
              <a:rPr lang="en-GB" altLang="en-US" sz="1938" u="sng" dirty="0"/>
              <a:t>Net profit – any preference dividends</a:t>
            </a:r>
            <a:r>
              <a:rPr lang="en-GB" altLang="en-US" sz="1938" dirty="0"/>
              <a:t>  x 100</a:t>
            </a:r>
            <a:endParaRPr lang="en-GB" altLang="en-US" sz="1938" u="sng" dirty="0"/>
          </a:p>
          <a:p>
            <a:pPr>
              <a:buFontTx/>
              <a:buNone/>
            </a:pPr>
            <a:r>
              <a:rPr lang="en-GB" altLang="en-US" sz="1938" dirty="0"/>
              <a:t>Ordinary share capital + reserves</a:t>
            </a:r>
          </a:p>
          <a:p>
            <a:pPr>
              <a:buFontTx/>
              <a:buNone/>
            </a:pPr>
            <a:endParaRPr lang="en-GB" altLang="en-US" dirty="0"/>
          </a:p>
        </p:txBody>
      </p:sp>
      <p:sp>
        <p:nvSpPr>
          <p:cNvPr id="7172" name="TextBox 43"/>
          <p:cNvSpPr txBox="1">
            <a:spLocks noChangeArrowheads="1"/>
          </p:cNvSpPr>
          <p:nvPr/>
        </p:nvSpPr>
        <p:spPr bwMode="auto">
          <a:xfrm>
            <a:off x="395536" y="4293096"/>
            <a:ext cx="8094713" cy="1583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Compares profit for the period available to the owners with the owners’ investment in the business</a:t>
            </a:r>
          </a:p>
          <a:p>
            <a:pPr eaLnBrk="1" hangingPunct="1"/>
            <a:endParaRPr lang="en-GB" altLang="en-US" sz="1938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Businesses want this to be as high as possible, though not at expense of potential future returns</a:t>
            </a:r>
          </a:p>
        </p:txBody>
      </p:sp>
    </p:spTree>
    <p:extLst>
      <p:ext uri="{BB962C8B-B14F-4D97-AF65-F5344CB8AC3E}">
        <p14:creationId xmlns:p14="http://schemas.microsoft.com/office/powerpoint/2010/main" val="1248141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755576" y="1412776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altLang="en-US" sz="3600" b="1" dirty="0">
                <a:solidFill>
                  <a:srgbClr val="CC0000"/>
                </a:solidFill>
                <a:latin typeface="Arial" panose="020B0604020202020204" pitchFamily="34" charset="0"/>
              </a:rPr>
              <a:t>Return on capital employed (ROCE)</a:t>
            </a:r>
            <a:br>
              <a:rPr lang="en-GB" altLang="en-US" sz="3600" b="1" dirty="0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GB" altLang="en-US" dirty="0"/>
          </a:p>
        </p:txBody>
      </p:sp>
      <p:sp>
        <p:nvSpPr>
          <p:cNvPr id="8195" name="AutoShape 25"/>
          <p:cNvSpPr>
            <a:spLocks noGrp="1" noChangeArrowheads="1"/>
          </p:cNvSpPr>
          <p:nvPr>
            <p:ph idx="1"/>
          </p:nvPr>
        </p:nvSpPr>
        <p:spPr>
          <a:xfrm>
            <a:off x="755576" y="1916832"/>
            <a:ext cx="7416824" cy="1897678"/>
          </a:xfrm>
          <a:prstGeom prst="cube">
            <a:avLst>
              <a:gd name="adj" fmla="val 15208"/>
            </a:avLst>
          </a:prstGeom>
          <a:solidFill>
            <a:srgbClr val="FFCC99"/>
          </a:solidFill>
        </p:spPr>
        <p:txBody>
          <a:bodyPr wrap="none" anchor="ctr">
            <a:normAutofit/>
          </a:bodyPr>
          <a:lstStyle/>
          <a:p>
            <a:pPr>
              <a:buFontTx/>
              <a:buNone/>
            </a:pPr>
            <a:r>
              <a:rPr lang="en-GB" altLang="en-US" sz="1938" dirty="0"/>
              <a:t>		</a:t>
            </a:r>
            <a:r>
              <a:rPr lang="en-GB" altLang="en-US" sz="1938" u="sng" dirty="0"/>
              <a:t>Operating profit </a:t>
            </a:r>
            <a:r>
              <a:rPr lang="en-GB" altLang="en-US" sz="1938" dirty="0"/>
              <a:t>                            x 100</a:t>
            </a:r>
            <a:endParaRPr lang="en-GB" altLang="en-US" sz="1938" u="sng" dirty="0"/>
          </a:p>
          <a:p>
            <a:pPr>
              <a:buFontTx/>
              <a:buNone/>
            </a:pPr>
            <a:r>
              <a:rPr lang="en-GB" altLang="en-US" sz="1938" dirty="0"/>
              <a:t>share 	  +  reserves  + non-current</a:t>
            </a:r>
          </a:p>
          <a:p>
            <a:pPr>
              <a:buFontTx/>
              <a:buNone/>
            </a:pPr>
            <a:r>
              <a:rPr lang="en-GB" altLang="en-US" sz="1938" dirty="0"/>
              <a:t>capital		            liabilities</a:t>
            </a:r>
          </a:p>
          <a:p>
            <a:pPr>
              <a:buFontTx/>
              <a:buNone/>
            </a:pPr>
            <a:endParaRPr lang="en-GB" altLang="en-US" dirty="0"/>
          </a:p>
        </p:txBody>
      </p:sp>
      <p:sp>
        <p:nvSpPr>
          <p:cNvPr id="8196" name="Rectangle 8"/>
          <p:cNvSpPr>
            <a:spLocks noChangeArrowheads="1"/>
          </p:cNvSpPr>
          <p:nvPr/>
        </p:nvSpPr>
        <p:spPr bwMode="auto">
          <a:xfrm>
            <a:off x="251520" y="4581128"/>
            <a:ext cx="8280920" cy="217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The most important measure of profitability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938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Measures relationship between operating profit and long-term capital invested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938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Enables assessment of how effectively funds have been deployed</a:t>
            </a:r>
          </a:p>
          <a:p>
            <a:pPr eaLnBrk="1" hangingPunct="1"/>
            <a:endParaRPr lang="en-GB" altLang="en-US" sz="1938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938" dirty="0"/>
          </a:p>
        </p:txBody>
      </p:sp>
    </p:spTree>
    <p:extLst>
      <p:ext uri="{BB962C8B-B14F-4D97-AF65-F5344CB8AC3E}">
        <p14:creationId xmlns:p14="http://schemas.microsoft.com/office/powerpoint/2010/main" val="2743186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12776"/>
            <a:ext cx="8928992" cy="505553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GB" altLang="en-US" b="1" dirty="0"/>
              <a:t>ROCE – Example</a:t>
            </a:r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r>
              <a:rPr lang="en-GB" altLang="en-US" dirty="0"/>
              <a:t>A Ltd makes profits of </a:t>
            </a:r>
            <a:r>
              <a:rPr lang="en-GB" altLang="en-US" dirty="0">
                <a:cs typeface="Times New Roman" panose="02020603050405020304" pitchFamily="18" charset="0"/>
              </a:rPr>
              <a:t>€2m, but B Ltd makes profits of €8m.</a:t>
            </a:r>
          </a:p>
          <a:p>
            <a:pPr eaLnBrk="1" hangingPunct="1">
              <a:buFontTx/>
              <a:buNone/>
            </a:pPr>
            <a:r>
              <a:rPr lang="en-GB" altLang="en-US" dirty="0">
                <a:cs typeface="Times New Roman" panose="02020603050405020304" pitchFamily="18" charset="0"/>
              </a:rPr>
              <a:t>Which is the more profitable?</a:t>
            </a:r>
          </a:p>
          <a:p>
            <a:pPr eaLnBrk="1" hangingPunct="1">
              <a:buFontTx/>
              <a:buNone/>
            </a:pP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GB" altLang="en-US" dirty="0">
                <a:cs typeface="Times New Roman" panose="02020603050405020304" pitchFamily="18" charset="0"/>
              </a:rPr>
              <a:t>A Ltd has capital employed of €6m, but B Ltd has capital employed of €30m.</a:t>
            </a:r>
          </a:p>
          <a:p>
            <a:pPr eaLnBrk="1" hangingPunct="1">
              <a:buFontTx/>
              <a:buNone/>
            </a:pPr>
            <a:r>
              <a:rPr lang="en-GB" altLang="en-US" dirty="0">
                <a:cs typeface="Times New Roman" panose="02020603050405020304" pitchFamily="18" charset="0"/>
              </a:rPr>
              <a:t>Which is more profitable?</a:t>
            </a:r>
          </a:p>
          <a:p>
            <a:pPr eaLnBrk="1" hangingPunct="1">
              <a:buFontTx/>
              <a:buNone/>
            </a:pP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GB" altLang="en-US" dirty="0">
                <a:cs typeface="Times New Roman" panose="02020603050405020304" pitchFamily="18" charset="0"/>
              </a:rPr>
              <a:t>A Ltd €2m/6m = 33%</a:t>
            </a:r>
          </a:p>
          <a:p>
            <a:pPr eaLnBrk="1" hangingPunct="1">
              <a:buFontTx/>
              <a:buNone/>
            </a:pPr>
            <a:r>
              <a:rPr lang="en-GB" altLang="en-US" dirty="0">
                <a:cs typeface="Times New Roman" panose="02020603050405020304" pitchFamily="18" charset="0"/>
              </a:rPr>
              <a:t>B Ltd €8m/30m = 27%</a:t>
            </a:r>
          </a:p>
        </p:txBody>
      </p:sp>
    </p:spTree>
    <p:extLst>
      <p:ext uri="{BB962C8B-B14F-4D97-AF65-F5344CB8AC3E}">
        <p14:creationId xmlns:p14="http://schemas.microsoft.com/office/powerpoint/2010/main" val="32084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F9B6-748B-4172-9F2D-CA2B27BB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EBITDA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0EB9B-B563-494B-8065-A3C958156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Earnings before Interest, Tax, Depreciation and Amortisation</a:t>
            </a:r>
            <a:endParaRPr lang="en-US" dirty="0"/>
          </a:p>
        </p:txBody>
      </p:sp>
      <p:sp>
        <p:nvSpPr>
          <p:cNvPr id="4" name="AutoShape 25">
            <a:extLst>
              <a:ext uri="{FF2B5EF4-FFF2-40B4-BE49-F238E27FC236}">
                <a16:creationId xmlns:a16="http://schemas.microsoft.com/office/drawing/2014/main" id="{3641648C-60C0-4DD8-8FCC-A305089B4BDC}"/>
              </a:ext>
            </a:extLst>
          </p:cNvPr>
          <p:cNvSpPr txBox="1">
            <a:spLocks noChangeArrowheads="1"/>
          </p:cNvSpPr>
          <p:nvPr/>
        </p:nvSpPr>
        <p:spPr>
          <a:xfrm>
            <a:off x="1907704" y="3592343"/>
            <a:ext cx="5040560" cy="1290355"/>
          </a:xfrm>
          <a:prstGeom prst="cube">
            <a:avLst>
              <a:gd name="adj" fmla="val 15208"/>
            </a:avLst>
          </a:prstGeom>
          <a:solidFill>
            <a:srgbClr val="FFCC99"/>
          </a:solidFill>
        </p:spPr>
        <p:txBody>
          <a:bodyPr vert="horz" wrap="none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5E6A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rgbClr val="5E6A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E6A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rgbClr val="5E6A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rgbClr val="5E6A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altLang="en-US" sz="1938" dirty="0"/>
              <a:t>		</a:t>
            </a:r>
            <a:r>
              <a:rPr lang="en-GB" altLang="en-US" sz="1938" u="sng" dirty="0"/>
              <a:t>EBITDA            </a:t>
            </a:r>
            <a:r>
              <a:rPr lang="en-GB" altLang="en-US" sz="1938" dirty="0"/>
              <a:t>     x 100</a:t>
            </a:r>
            <a:endParaRPr lang="en-GB" altLang="en-US" sz="1938" u="sng" dirty="0"/>
          </a:p>
          <a:p>
            <a:pPr>
              <a:buFontTx/>
              <a:buNone/>
            </a:pPr>
            <a:r>
              <a:rPr lang="en-GB" altLang="en-US" sz="1938" dirty="0"/>
              <a:t>		Sales revenues</a:t>
            </a:r>
          </a:p>
          <a:p>
            <a:pPr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33497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555776" y="980728"/>
            <a:ext cx="4968552" cy="998984"/>
          </a:xfrm>
        </p:spPr>
        <p:txBody>
          <a:bodyPr>
            <a:noAutofit/>
          </a:bodyPr>
          <a:lstStyle/>
          <a:p>
            <a:r>
              <a:rPr lang="en-GB" altLang="en-US" sz="3200" b="1" dirty="0">
                <a:solidFill>
                  <a:srgbClr val="CC0000"/>
                </a:solidFill>
              </a:rPr>
              <a:t>Operating profit margin</a:t>
            </a:r>
            <a:br>
              <a:rPr lang="en-GB" altLang="en-US" sz="3200" b="1" dirty="0">
                <a:solidFill>
                  <a:srgbClr val="CC0000"/>
                </a:solidFill>
              </a:rPr>
            </a:br>
            <a:endParaRPr lang="en-GB" altLang="en-US" sz="3200" dirty="0"/>
          </a:p>
        </p:txBody>
      </p:sp>
      <p:sp>
        <p:nvSpPr>
          <p:cNvPr id="10243" name="AutoShape 25"/>
          <p:cNvSpPr>
            <a:spLocks noGrp="1" noChangeArrowheads="1"/>
          </p:cNvSpPr>
          <p:nvPr>
            <p:ph idx="1"/>
          </p:nvPr>
        </p:nvSpPr>
        <p:spPr>
          <a:xfrm>
            <a:off x="2339752" y="2420888"/>
            <a:ext cx="4824536" cy="1074331"/>
          </a:xfrm>
          <a:prstGeom prst="cube">
            <a:avLst>
              <a:gd name="adj" fmla="val 15208"/>
            </a:avLst>
          </a:prstGeom>
          <a:solidFill>
            <a:srgbClr val="FFCC99"/>
          </a:solidFill>
        </p:spPr>
        <p:txBody>
          <a:bodyPr wrap="none" anchor="ctr"/>
          <a:lstStyle/>
          <a:p>
            <a:pPr>
              <a:buFontTx/>
              <a:buNone/>
            </a:pPr>
            <a:r>
              <a:rPr lang="en-GB" altLang="en-US" sz="1938" dirty="0"/>
              <a:t>		</a:t>
            </a:r>
            <a:r>
              <a:rPr lang="en-GB" altLang="en-US" sz="1938" u="sng" dirty="0"/>
              <a:t>Operating profit </a:t>
            </a:r>
            <a:r>
              <a:rPr lang="en-GB" altLang="en-US" sz="1938" dirty="0"/>
              <a:t>     x 100</a:t>
            </a:r>
            <a:endParaRPr lang="en-GB" altLang="en-US" sz="1938" u="sng" dirty="0"/>
          </a:p>
          <a:p>
            <a:pPr>
              <a:buFontTx/>
              <a:buNone/>
            </a:pPr>
            <a:r>
              <a:rPr lang="en-GB" altLang="en-US" sz="1938" dirty="0"/>
              <a:t>		Sales revenues</a:t>
            </a:r>
          </a:p>
          <a:p>
            <a:pPr>
              <a:buFontTx/>
              <a:buNone/>
            </a:pPr>
            <a:endParaRPr lang="en-GB" altLang="en-US" dirty="0"/>
          </a:p>
        </p:txBody>
      </p:sp>
      <p:sp>
        <p:nvSpPr>
          <p:cNvPr id="10244" name="Rectangle 8"/>
          <p:cNvSpPr>
            <a:spLocks noChangeArrowheads="1"/>
          </p:cNvSpPr>
          <p:nvPr/>
        </p:nvSpPr>
        <p:spPr bwMode="auto">
          <a:xfrm>
            <a:off x="323528" y="4149080"/>
            <a:ext cx="8640960" cy="2606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Relates profit from trading (before interest and taxation) to the sales revenue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938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Varies between different types of business: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Supermarkets have low prices, and low margins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Luxury goods retailers have high margins, but lower levels of sales volume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</p:txBody>
      </p:sp>
    </p:spTree>
    <p:extLst>
      <p:ext uri="{BB962C8B-B14F-4D97-AF65-F5344CB8AC3E}">
        <p14:creationId xmlns:p14="http://schemas.microsoft.com/office/powerpoint/2010/main" val="426305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2699792" y="1051732"/>
            <a:ext cx="5042171" cy="475883"/>
          </a:xfrm>
        </p:spPr>
        <p:txBody>
          <a:bodyPr>
            <a:normAutofit fontScale="90000"/>
          </a:bodyPr>
          <a:lstStyle/>
          <a:p>
            <a: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  <a:t>Gross profit margin</a:t>
            </a:r>
            <a:b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GB" altLang="en-US" dirty="0"/>
          </a:p>
        </p:txBody>
      </p:sp>
      <p:sp>
        <p:nvSpPr>
          <p:cNvPr id="11267" name="AutoShape 25"/>
          <p:cNvSpPr>
            <a:spLocks noGrp="1" noChangeArrowheads="1"/>
          </p:cNvSpPr>
          <p:nvPr>
            <p:ph idx="1"/>
          </p:nvPr>
        </p:nvSpPr>
        <p:spPr>
          <a:xfrm>
            <a:off x="2339752" y="1511794"/>
            <a:ext cx="4250083" cy="1032236"/>
          </a:xfrm>
          <a:prstGeom prst="cube">
            <a:avLst>
              <a:gd name="adj" fmla="val 15208"/>
            </a:avLst>
          </a:prstGeom>
          <a:solidFill>
            <a:srgbClr val="FFCC99"/>
          </a:solidFill>
        </p:spPr>
        <p:txBody>
          <a:bodyPr wrap="none" anchor="ctr"/>
          <a:lstStyle/>
          <a:p>
            <a:pPr>
              <a:buFontTx/>
              <a:buNone/>
            </a:pPr>
            <a:r>
              <a:rPr lang="en-GB" altLang="en-US" sz="1938" dirty="0"/>
              <a:t>		</a:t>
            </a:r>
            <a:r>
              <a:rPr lang="en-GB" altLang="en-US" sz="1938" u="sng" dirty="0"/>
              <a:t>Gross profit </a:t>
            </a:r>
            <a:r>
              <a:rPr lang="en-GB" altLang="en-US" sz="1938" dirty="0"/>
              <a:t>     x 100</a:t>
            </a:r>
            <a:endParaRPr lang="en-GB" altLang="en-US" sz="1938" u="sng" dirty="0"/>
          </a:p>
          <a:p>
            <a:pPr>
              <a:buFontTx/>
              <a:buNone/>
            </a:pPr>
            <a:r>
              <a:rPr lang="en-GB" altLang="en-US" sz="1938" dirty="0"/>
              <a:t>		Sales revenues</a:t>
            </a:r>
          </a:p>
          <a:p>
            <a:pPr>
              <a:buFontTx/>
              <a:buNone/>
            </a:pPr>
            <a:endParaRPr lang="en-GB" altLang="en-US" dirty="0"/>
          </a:p>
        </p:txBody>
      </p:sp>
      <p:sp>
        <p:nvSpPr>
          <p:cNvPr id="11268" name="Rectangle 8"/>
          <p:cNvSpPr>
            <a:spLocks noChangeArrowheads="1"/>
          </p:cNvSpPr>
          <p:nvPr/>
        </p:nvSpPr>
        <p:spPr bwMode="auto">
          <a:xfrm>
            <a:off x="755576" y="2924944"/>
            <a:ext cx="8064896" cy="5292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Relates gross profit of the business to the sales revenue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Measures the profitability in buying (or manufacturing) and selling goods or services before any other expenses taken into account</a:t>
            </a:r>
          </a:p>
          <a:p>
            <a:pPr eaLnBrk="1" hangingPunct="1"/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Tends to be consistent over years, and between similar companies </a:t>
            </a:r>
          </a:p>
          <a:p>
            <a:pPr eaLnBrk="1" hangingPunct="1"/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938" dirty="0"/>
              <a:t>Low margins may indicate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r>
              <a:rPr lang="en-GB" altLang="en-US" sz="1662" dirty="0"/>
              <a:t>Cheaper product range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r>
              <a:rPr lang="en-GB" altLang="en-US" sz="1662" dirty="0"/>
              <a:t>‘High volume’ marketing strategy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r>
              <a:rPr lang="en-GB" altLang="en-US" sz="1662" dirty="0"/>
              <a:t>Attempt to increase market share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r>
              <a:rPr lang="en-GB" altLang="en-US" sz="1662" dirty="0"/>
              <a:t>Poor management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r>
              <a:rPr lang="en-GB" altLang="en-US" sz="1662" dirty="0"/>
              <a:t>Excessive costs</a:t>
            </a:r>
          </a:p>
          <a:p>
            <a:pPr eaLnBrk="1" hangingPunct="1"/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  <a:p>
            <a:pPr lvl="2" eaLnBrk="1" hangingPunct="1"/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GB" altLang="en-US" sz="1662" dirty="0"/>
          </a:p>
        </p:txBody>
      </p:sp>
    </p:spTree>
    <p:extLst>
      <p:ext uri="{BB962C8B-B14F-4D97-AF65-F5344CB8AC3E}">
        <p14:creationId xmlns:p14="http://schemas.microsoft.com/office/powerpoint/2010/main" val="1920732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11760" y="1178362"/>
            <a:ext cx="5700133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  <a:t>Efficiency ratios </a:t>
            </a:r>
            <a:br>
              <a:rPr lang="en-GB" altLang="en-US" dirty="0">
                <a:solidFill>
                  <a:srgbClr val="CC0000"/>
                </a:solidFill>
                <a:latin typeface="Arial" panose="020B0604020202020204" pitchFamily="34" charset="0"/>
              </a:rPr>
            </a:br>
            <a:br>
              <a:rPr lang="en-GB" altLang="en-US" dirty="0"/>
            </a:br>
            <a:r>
              <a:rPr lang="en-GB" altLang="en-US" sz="2769" dirty="0">
                <a:solidFill>
                  <a:srgbClr val="FFCC99"/>
                </a:solidFill>
              </a:rPr>
              <a:t> </a:t>
            </a:r>
            <a:r>
              <a:rPr lang="en-GB" altLang="en-US" sz="2769" dirty="0">
                <a:solidFill>
                  <a:srgbClr val="CC0000"/>
                </a:solidFill>
              </a:rPr>
              <a:t>Inventories turnover period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1175" y="2276872"/>
            <a:ext cx="8992825" cy="2376264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endParaRPr lang="en-GB" sz="3046" b="1" dirty="0">
              <a:solidFill>
                <a:srgbClr val="CC0000"/>
              </a:solidFill>
              <a:latin typeface="Arial" charset="0"/>
              <a:ea typeface="+mj-ea"/>
              <a:cs typeface="+mj-cs"/>
            </a:endParaRPr>
          </a:p>
          <a:p>
            <a:pPr eaLnBrk="1" hangingPunct="1">
              <a:defRPr/>
            </a:pPr>
            <a:r>
              <a:rPr lang="en-GB" sz="2000" dirty="0"/>
              <a:t>Measures how much inventory a company has in relation to its scale of operations</a:t>
            </a:r>
          </a:p>
          <a:p>
            <a:pPr eaLnBrk="1" hangingPunct="1">
              <a:defRPr/>
            </a:pPr>
            <a:r>
              <a:rPr lang="en-GB" sz="2000" dirty="0"/>
              <a:t>Expressed in number of days inventory is held</a:t>
            </a:r>
          </a:p>
          <a:p>
            <a:pPr eaLnBrk="1" hangingPunct="1">
              <a:defRPr/>
            </a:pPr>
            <a:r>
              <a:rPr lang="en-GB" sz="2000" dirty="0"/>
              <a:t>Can use average inventories</a:t>
            </a:r>
          </a:p>
          <a:p>
            <a:pPr eaLnBrk="1" hangingPunct="1">
              <a:buFontTx/>
              <a:buNone/>
              <a:defRPr/>
            </a:pPr>
            <a:endParaRPr lang="en-GB" sz="2400" dirty="0"/>
          </a:p>
          <a:p>
            <a:pPr eaLnBrk="1" hangingPunct="1">
              <a:buFontTx/>
              <a:buNone/>
              <a:defRPr/>
            </a:pPr>
            <a:endParaRPr lang="en-GB" dirty="0"/>
          </a:p>
          <a:p>
            <a:pPr eaLnBrk="1" hangingPunct="1">
              <a:buFontTx/>
              <a:buNone/>
              <a:defRPr/>
            </a:pPr>
            <a:endParaRPr lang="en-GB" dirty="0"/>
          </a:p>
        </p:txBody>
      </p:sp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1979712" y="4912702"/>
            <a:ext cx="3957294" cy="18397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62" u="sng" dirty="0"/>
              <a:t>   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u="sng" dirty="0"/>
              <a:t>  Inventories    </a:t>
            </a:r>
            <a:r>
              <a:rPr lang="en-GB" altLang="en-US" dirty="0"/>
              <a:t>       x 365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/>
              <a:t> Cost of sales</a:t>
            </a:r>
          </a:p>
          <a:p>
            <a:pPr eaLnBrk="1" hangingPunct="1">
              <a:spcBef>
                <a:spcPct val="50000"/>
              </a:spcBef>
            </a:pPr>
            <a:endParaRPr lang="en-GB" altLang="en-US" sz="1662" u="sng" dirty="0"/>
          </a:p>
        </p:txBody>
      </p:sp>
    </p:spTree>
    <p:extLst>
      <p:ext uri="{BB962C8B-B14F-4D97-AF65-F5344CB8AC3E}">
        <p14:creationId xmlns:p14="http://schemas.microsoft.com/office/powerpoint/2010/main" val="199484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1628800"/>
            <a:ext cx="8568952" cy="5516074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Inventories includes finished goods, work in progress, and raw materials</a:t>
            </a:r>
          </a:p>
          <a:p>
            <a:pPr eaLnBrk="1" hangingPunct="1"/>
            <a:r>
              <a:rPr lang="en-GB" altLang="en-US" dirty="0"/>
              <a:t>Often subject to seasonal variation</a:t>
            </a:r>
          </a:p>
          <a:p>
            <a:pPr eaLnBrk="1" hangingPunct="1"/>
            <a:r>
              <a:rPr lang="en-GB" altLang="en-US" dirty="0"/>
              <a:t>Ratio less rapid than other similar companies may indicate an inefficiently large holding of inventory</a:t>
            </a:r>
          </a:p>
          <a:p>
            <a:pPr eaLnBrk="1" hangingPunct="1"/>
            <a:r>
              <a:rPr lang="en-GB" altLang="en-US" dirty="0"/>
              <a:t>Lengthening ratio may indicate a slow-down in trading</a:t>
            </a:r>
          </a:p>
          <a:p>
            <a:pPr eaLnBrk="1" hangingPunct="1"/>
            <a:r>
              <a:rPr lang="en-GB" altLang="en-US" dirty="0"/>
              <a:t>Some companies operate a “just-in-time” system of inventory control </a:t>
            </a:r>
          </a:p>
        </p:txBody>
      </p:sp>
    </p:spTree>
    <p:extLst>
      <p:ext uri="{BB962C8B-B14F-4D97-AF65-F5344CB8AC3E}">
        <p14:creationId xmlns:p14="http://schemas.microsoft.com/office/powerpoint/2010/main" val="4240997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648" y="1196752"/>
            <a:ext cx="8075240" cy="566936"/>
          </a:xfrm>
        </p:spPr>
        <p:txBody>
          <a:bodyPr/>
          <a:lstStyle/>
          <a:p>
            <a:pPr eaLnBrk="1" hangingPunct="1"/>
            <a:r>
              <a:rPr lang="en-GB" altLang="en-US" sz="2769" dirty="0">
                <a:solidFill>
                  <a:srgbClr val="CC0000"/>
                </a:solidFill>
              </a:rPr>
              <a:t>Trade receivables settlement period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988840"/>
            <a:ext cx="8363272" cy="4752528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400" dirty="0"/>
              <a:t>Measures average length of time for customers to settle their balance</a:t>
            </a:r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sz="2400" dirty="0"/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Can use average trade receivables</a:t>
            </a:r>
          </a:p>
          <a:p>
            <a:pPr eaLnBrk="1" hangingPunct="1"/>
            <a:r>
              <a:rPr lang="en-GB" altLang="en-US" sz="2400" dirty="0"/>
              <a:t>Can use total revenue if details of credit sales revenue not available</a:t>
            </a:r>
          </a:p>
          <a:p>
            <a:pPr eaLnBrk="1" hangingPunct="1"/>
            <a:r>
              <a:rPr lang="en-GB" altLang="en-US" sz="2400" dirty="0"/>
              <a:t>Best to be as short as possible</a:t>
            </a:r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308920" y="3140968"/>
            <a:ext cx="4392488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dirty="0"/>
              <a:t>        </a:t>
            </a:r>
            <a:r>
              <a:rPr lang="en-GB" altLang="en-US" u="sng" dirty="0"/>
              <a:t>Trade receivables</a:t>
            </a:r>
            <a:r>
              <a:rPr lang="en-GB" altLang="en-US" dirty="0"/>
              <a:t>  x 365</a:t>
            </a:r>
          </a:p>
          <a:p>
            <a:pPr eaLnBrk="1" hangingPunct="1"/>
            <a:r>
              <a:rPr lang="en-GB" altLang="en-US" dirty="0"/>
              <a:t>     Credit sales revenue  </a:t>
            </a:r>
            <a:r>
              <a:rPr lang="en-GB" altLang="en-US" u="sng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819939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94817" y="708880"/>
            <a:ext cx="5893607" cy="631888"/>
          </a:xfrm>
        </p:spPr>
        <p:txBody>
          <a:bodyPr/>
          <a:lstStyle/>
          <a:p>
            <a:pPr eaLnBrk="1" hangingPunct="1"/>
            <a:r>
              <a:rPr lang="en-GB" altLang="en-US" sz="2769" dirty="0">
                <a:solidFill>
                  <a:srgbClr val="CC0000"/>
                </a:solidFill>
              </a:rPr>
              <a:t>Trade payables settlement period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852374"/>
            <a:ext cx="8075240" cy="4528954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600" dirty="0"/>
              <a:t>Measures time obtained from suppliers before paying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sz="2600" dirty="0"/>
              <a:t>Can use cost of sales if information on credit purchases is not available</a:t>
            </a:r>
          </a:p>
          <a:p>
            <a:pPr eaLnBrk="1" hangingPunct="1"/>
            <a:r>
              <a:rPr lang="en-GB" altLang="en-US" sz="2600" dirty="0"/>
              <a:t>High period may indicate liquidity problems, or good negotiating skills</a:t>
            </a:r>
          </a:p>
          <a:p>
            <a:pPr eaLnBrk="1" hangingPunct="1"/>
            <a:endParaRPr lang="en-GB" altLang="en-US" sz="2600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2164904" y="2996952"/>
            <a:ext cx="4968552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62" u="sng" dirty="0"/>
              <a:t> </a:t>
            </a:r>
            <a:r>
              <a:rPr lang="en-GB" altLang="en-US" u="sng" dirty="0"/>
              <a:t>Trade payables</a:t>
            </a:r>
            <a:r>
              <a:rPr lang="en-GB" altLang="en-US" dirty="0"/>
              <a:t>     x 365</a:t>
            </a:r>
            <a:endParaRPr lang="en-GB" altLang="en-US" u="sng" dirty="0"/>
          </a:p>
          <a:p>
            <a:pPr eaLnBrk="1" hangingPunct="1">
              <a:spcBef>
                <a:spcPct val="50000"/>
              </a:spcBef>
            </a:pPr>
            <a:r>
              <a:rPr lang="en-GB" altLang="en-US" dirty="0"/>
              <a:t> Credit purchases</a:t>
            </a:r>
          </a:p>
        </p:txBody>
      </p:sp>
    </p:spTree>
    <p:extLst>
      <p:ext uri="{BB962C8B-B14F-4D97-AF65-F5344CB8AC3E}">
        <p14:creationId xmlns:p14="http://schemas.microsoft.com/office/powerpoint/2010/main" val="3604093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Ratio analysis may be used to facilitate interpretation of financial performance.</a:t>
            </a:r>
          </a:p>
          <a:p>
            <a:r>
              <a:rPr lang="en-GB" dirty="0"/>
              <a:t>Key ratios are used to measure the underlying performance in terms of profitability.</a:t>
            </a:r>
          </a:p>
          <a:p>
            <a:r>
              <a:rPr lang="en-GB" dirty="0"/>
              <a:t>Key ratios exist to analyse the efficiency of an organisation.</a:t>
            </a:r>
          </a:p>
          <a:p>
            <a:r>
              <a:rPr lang="en-GB" dirty="0"/>
              <a:t>Next: Liquidity and investment performance</a:t>
            </a:r>
          </a:p>
        </p:txBody>
      </p:sp>
    </p:spTree>
    <p:extLst>
      <p:ext uri="{BB962C8B-B14F-4D97-AF65-F5344CB8AC3E}">
        <p14:creationId xmlns:p14="http://schemas.microsoft.com/office/powerpoint/2010/main" val="16515886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7ACEBA-99EE-4B9A-99FE-F9695B41FA99}">
  <ds:schemaRefs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689</Words>
  <Application>Microsoft Office PowerPoint</Application>
  <PresentationFormat>On-screen Show (4:3)</PresentationFormat>
  <Paragraphs>122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Analysing and Interpreting Financial Statements</vt:lpstr>
      <vt:lpstr>Analysing and interpreting financial statements</vt:lpstr>
      <vt:lpstr>PowerPoint Presentation</vt:lpstr>
      <vt:lpstr>PowerPoint Presentation</vt:lpstr>
      <vt:lpstr>Profitability</vt:lpstr>
      <vt:lpstr>Return on ordinary shareholders’ funds (ROSF) </vt:lpstr>
      <vt:lpstr>Return on capital employed (ROCE) </vt:lpstr>
      <vt:lpstr>PowerPoint Presentation</vt:lpstr>
      <vt:lpstr>EBITDA</vt:lpstr>
      <vt:lpstr>Operating profit margin </vt:lpstr>
      <vt:lpstr>Gross profit margin </vt:lpstr>
      <vt:lpstr>Efficiency ratios    Inventories turnover period</vt:lpstr>
      <vt:lpstr>PowerPoint Presentation</vt:lpstr>
      <vt:lpstr>Trade receivables settlement period</vt:lpstr>
      <vt:lpstr>Trade payables settlement period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Samuel, Sunday</cp:lastModifiedBy>
  <cp:revision>32</cp:revision>
  <dcterms:created xsi:type="dcterms:W3CDTF">2016-02-11T16:23:53Z</dcterms:created>
  <dcterms:modified xsi:type="dcterms:W3CDTF">2024-02-23T10:30:16Z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