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slideLayouts/slideLayout2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4"/>
    <p:sldMasterId id="2147483702" r:id="rId5"/>
    <p:sldMasterId id="2147483685" r:id="rId6"/>
    <p:sldMasterId id="2147483684" r:id="rId7"/>
    <p:sldMasterId id="2147483686" r:id="rId8"/>
  </p:sldMasterIdLst>
  <p:notesMasterIdLst>
    <p:notesMasterId r:id="rId28"/>
  </p:notesMasterIdLst>
  <p:sldIdLst>
    <p:sldId id="256" r:id="rId9"/>
    <p:sldId id="263" r:id="rId10"/>
    <p:sldId id="275" r:id="rId11"/>
    <p:sldId id="276" r:id="rId12"/>
    <p:sldId id="277" r:id="rId13"/>
    <p:sldId id="278" r:id="rId14"/>
    <p:sldId id="279" r:id="rId15"/>
    <p:sldId id="281" r:id="rId16"/>
    <p:sldId id="282" r:id="rId17"/>
    <p:sldId id="283" r:id="rId18"/>
    <p:sldId id="284" r:id="rId19"/>
    <p:sldId id="285" r:id="rId20"/>
    <p:sldId id="286" r:id="rId21"/>
    <p:sldId id="287" r:id="rId22"/>
    <p:sldId id="288" r:id="rId23"/>
    <p:sldId id="289" r:id="rId24"/>
    <p:sldId id="290" r:id="rId25"/>
    <p:sldId id="291" r:id="rId26"/>
    <p:sldId id="293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E6A71"/>
    <a:srgbClr val="0098DB"/>
    <a:srgbClr val="00549F"/>
    <a:srgbClr val="A5AC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428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" Type="http://schemas.openxmlformats.org/officeDocument/2006/relationships/customXml" Target="../customXml/item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A9B01B-7539-494C-A436-0C4D338B6531}" type="datetimeFigureOut">
              <a:rPr lang="en-GB" smtClean="0"/>
              <a:t>23/02/2024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6FECC-72CB-412B-BE40-6CFC0754AB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18774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05320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4017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1121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71667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19350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31678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69795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19992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329100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945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61153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02130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12528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51877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11958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713614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31418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solidFill>
                  <a:srgbClr val="5E6A7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3645024"/>
            <a:ext cx="6400800" cy="1752600"/>
          </a:xfrm>
        </p:spPr>
        <p:txBody>
          <a:bodyPr/>
          <a:lstStyle>
            <a:lvl1pPr marL="0" indent="0" algn="l">
              <a:buNone/>
              <a:defRPr i="1">
                <a:solidFill>
                  <a:srgbClr val="0098DB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23/02/2024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5424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23/02/2024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9858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rgbClr val="5E6A7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0098DB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23/02/2024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2726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1560" y="2348880"/>
            <a:ext cx="3884240" cy="37772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2560" y="2348880"/>
            <a:ext cx="3884240" cy="37772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23/02/2024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7058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560" y="2357190"/>
            <a:ext cx="388582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1560" y="3068960"/>
            <a:ext cx="3885828" cy="30572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9446" y="2357190"/>
            <a:ext cx="388735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99446" y="3068960"/>
            <a:ext cx="3887354" cy="30572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23/02/2024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6782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23/02/2024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1938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23/02/2024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7922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6752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420888"/>
            <a:ext cx="3008313" cy="37052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23/02/2024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0446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3728" y="4800600"/>
            <a:ext cx="515496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23728" y="612775"/>
            <a:ext cx="515496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23728" y="5367338"/>
            <a:ext cx="515496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23/02/2024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8261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23/02/2024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3248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23/02/2024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52207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3645024"/>
            <a:ext cx="6400800" cy="1752600"/>
          </a:xfrm>
        </p:spPr>
        <p:txBody>
          <a:bodyPr/>
          <a:lstStyle>
            <a:lvl1pPr marL="0" indent="0" algn="l">
              <a:buNone/>
              <a:defRPr i="1">
                <a:solidFill>
                  <a:srgbClr val="5E6A7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23/02/2024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10623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23/02/2024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4248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5E6A7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23/02/2024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59164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1560" y="2348880"/>
            <a:ext cx="3884240" cy="37772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2560" y="2348880"/>
            <a:ext cx="3884240" cy="37772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23/02/2024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38995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560" y="2357190"/>
            <a:ext cx="388582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1560" y="3068960"/>
            <a:ext cx="3885828" cy="30572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9446" y="2357190"/>
            <a:ext cx="388735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99446" y="3068960"/>
            <a:ext cx="3887354" cy="30572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23/02/2024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91134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23/02/2024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48559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23/02/2024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78888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6752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420888"/>
            <a:ext cx="3008313" cy="37052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23/02/2024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26301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3728" y="4800600"/>
            <a:ext cx="515496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23728" y="612775"/>
            <a:ext cx="515496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23728" y="5367338"/>
            <a:ext cx="515496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23/02/2024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15278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23/02/2024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01034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23/02/2024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30257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73919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865446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3024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2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1560" y="1268760"/>
            <a:ext cx="8075240" cy="9989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560" y="2348880"/>
            <a:ext cx="8075240" cy="3777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C1102FAE-FC2F-47FD-82A7-D1DD5A1AC3E3}" type="datetimeFigureOut">
              <a:rPr lang="en-GB" smtClean="0"/>
              <a:pPr/>
              <a:t>23/02/2024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91E7B16-C11D-48A6-9FE1-93A9A96AC7E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6284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0098DB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1560" y="1268760"/>
            <a:ext cx="8075240" cy="9989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560" y="2348880"/>
            <a:ext cx="8075240" cy="3777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C1102FAE-FC2F-47FD-82A7-D1DD5A1AC3E3}" type="datetimeFigureOut">
              <a:rPr lang="en-GB" smtClean="0"/>
              <a:pPr/>
              <a:t>23/02/2024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91E7B16-C11D-48A6-9FE1-93A9A96AC7E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7437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5E6A7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6412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5E6A7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3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»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2131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5E6A7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3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»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0265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5E6A7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3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»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.docx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Analysing and Interpreting Financial Statements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Using Ratio Analysis to interpret financial performance</a:t>
            </a:r>
          </a:p>
        </p:txBody>
      </p:sp>
    </p:spTree>
    <p:extLst>
      <p:ext uri="{BB962C8B-B14F-4D97-AF65-F5344CB8AC3E}">
        <p14:creationId xmlns:p14="http://schemas.microsoft.com/office/powerpoint/2010/main" val="4275265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2636123" y="406390"/>
            <a:ext cx="3689472" cy="348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1662" b="1" dirty="0">
                <a:solidFill>
                  <a:srgbClr val="CC0000"/>
                </a:solidFill>
                <a:latin typeface="Arial" panose="020B0604020202020204" pitchFamily="34" charset="0"/>
              </a:rPr>
              <a:t>Financial ratio classifications</a:t>
            </a:r>
            <a:r>
              <a:rPr lang="en-GB" altLang="en-US" sz="969" b="1" dirty="0">
                <a:latin typeface="Arial" panose="020B0604020202020204" pitchFamily="34" charset="0"/>
              </a:rPr>
              <a:t> </a:t>
            </a:r>
            <a:endParaRPr lang="en-GB" altLang="en-US" sz="969" dirty="0">
              <a:latin typeface="Arial" panose="020B0604020202020204" pitchFamily="34" charset="0"/>
            </a:endParaRPr>
          </a:p>
        </p:txBody>
      </p:sp>
      <p:grpSp>
        <p:nvGrpSpPr>
          <p:cNvPr id="4099" name="Group 18"/>
          <p:cNvGrpSpPr>
            <a:grpSpLocks/>
          </p:cNvGrpSpPr>
          <p:nvPr/>
        </p:nvGrpSpPr>
        <p:grpSpPr bwMode="auto">
          <a:xfrm>
            <a:off x="2627784" y="1340768"/>
            <a:ext cx="3648297" cy="5241314"/>
            <a:chOff x="1997" y="595"/>
            <a:chExt cx="1750" cy="3302"/>
          </a:xfrm>
        </p:grpSpPr>
        <p:sp>
          <p:nvSpPr>
            <p:cNvPr id="4100" name="AutoShape 4"/>
            <p:cNvSpPr>
              <a:spLocks noChangeArrowheads="1"/>
            </p:cNvSpPr>
            <p:nvPr/>
          </p:nvSpPr>
          <p:spPr bwMode="auto">
            <a:xfrm>
              <a:off x="2080" y="595"/>
              <a:ext cx="1663" cy="3118"/>
            </a:xfrm>
            <a:prstGeom prst="roundRect">
              <a:avLst>
                <a:gd name="adj" fmla="val 12750"/>
              </a:avLst>
            </a:prstGeom>
            <a:solidFill>
              <a:srgbClr val="DDBC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 sz="1662"/>
            </a:p>
          </p:txBody>
        </p:sp>
        <p:sp>
          <p:nvSpPr>
            <p:cNvPr id="4101" name="Text Box 5"/>
            <p:cNvSpPr txBox="1">
              <a:spLocks noChangeArrowheads="1"/>
            </p:cNvSpPr>
            <p:nvPr/>
          </p:nvSpPr>
          <p:spPr bwMode="auto">
            <a:xfrm>
              <a:off x="2113" y="640"/>
              <a:ext cx="153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1385" b="1" i="1">
                  <a:solidFill>
                    <a:srgbClr val="CC0000"/>
                  </a:solidFill>
                  <a:latin typeface="Arial" panose="020B0604020202020204" pitchFamily="34" charset="0"/>
                </a:rPr>
                <a:t>Categories</a:t>
              </a:r>
            </a:p>
          </p:txBody>
        </p:sp>
        <p:sp>
          <p:nvSpPr>
            <p:cNvPr id="4102" name="AutoShape 6"/>
            <p:cNvSpPr>
              <a:spLocks noChangeArrowheads="1"/>
            </p:cNvSpPr>
            <p:nvPr/>
          </p:nvSpPr>
          <p:spPr bwMode="auto">
            <a:xfrm>
              <a:off x="1997" y="1055"/>
              <a:ext cx="1747" cy="484"/>
            </a:xfrm>
            <a:prstGeom prst="cube">
              <a:avLst>
                <a:gd name="adj" fmla="val 15208"/>
              </a:avLst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 sz="1662"/>
            </a:p>
          </p:txBody>
        </p:sp>
        <p:sp>
          <p:nvSpPr>
            <p:cNvPr id="4103" name="AutoShape 7"/>
            <p:cNvSpPr>
              <a:spLocks noChangeArrowheads="1"/>
            </p:cNvSpPr>
            <p:nvPr/>
          </p:nvSpPr>
          <p:spPr bwMode="auto">
            <a:xfrm>
              <a:off x="1999" y="1643"/>
              <a:ext cx="1747" cy="486"/>
            </a:xfrm>
            <a:prstGeom prst="cube">
              <a:avLst>
                <a:gd name="adj" fmla="val 15208"/>
              </a:avLst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 sz="1662"/>
            </a:p>
          </p:txBody>
        </p:sp>
        <p:sp>
          <p:nvSpPr>
            <p:cNvPr id="4104" name="AutoShape 8"/>
            <p:cNvSpPr>
              <a:spLocks noChangeArrowheads="1"/>
            </p:cNvSpPr>
            <p:nvPr/>
          </p:nvSpPr>
          <p:spPr bwMode="auto">
            <a:xfrm>
              <a:off x="1999" y="2228"/>
              <a:ext cx="1747" cy="485"/>
            </a:xfrm>
            <a:prstGeom prst="cube">
              <a:avLst>
                <a:gd name="adj" fmla="val 15208"/>
              </a:avLst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 sz="1662"/>
            </a:p>
          </p:txBody>
        </p:sp>
        <p:sp>
          <p:nvSpPr>
            <p:cNvPr id="4105" name="AutoShape 9"/>
            <p:cNvSpPr>
              <a:spLocks noChangeArrowheads="1"/>
            </p:cNvSpPr>
            <p:nvPr/>
          </p:nvSpPr>
          <p:spPr bwMode="auto">
            <a:xfrm>
              <a:off x="2001" y="2815"/>
              <a:ext cx="1746" cy="485"/>
            </a:xfrm>
            <a:prstGeom prst="cube">
              <a:avLst>
                <a:gd name="adj" fmla="val 15208"/>
              </a:avLst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 sz="1662"/>
            </a:p>
          </p:txBody>
        </p:sp>
        <p:sp>
          <p:nvSpPr>
            <p:cNvPr id="4106" name="Text Box 10"/>
            <p:cNvSpPr txBox="1">
              <a:spLocks noChangeArrowheads="1"/>
            </p:cNvSpPr>
            <p:nvPr/>
          </p:nvSpPr>
          <p:spPr bwMode="auto">
            <a:xfrm>
              <a:off x="2291" y="1204"/>
              <a:ext cx="110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385" b="1">
                  <a:latin typeface="Arial" panose="020B0604020202020204" pitchFamily="34" charset="0"/>
                </a:rPr>
                <a:t>Profitability</a:t>
              </a:r>
            </a:p>
          </p:txBody>
        </p:sp>
        <p:sp>
          <p:nvSpPr>
            <p:cNvPr id="4107" name="Text Box 11"/>
            <p:cNvSpPr txBox="1">
              <a:spLocks noChangeArrowheads="1"/>
            </p:cNvSpPr>
            <p:nvPr/>
          </p:nvSpPr>
          <p:spPr bwMode="auto">
            <a:xfrm>
              <a:off x="2093" y="1800"/>
              <a:ext cx="151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385" b="1">
                  <a:latin typeface="Arial" panose="020B0604020202020204" pitchFamily="34" charset="0"/>
                </a:rPr>
                <a:t>Efficiency</a:t>
              </a:r>
            </a:p>
          </p:txBody>
        </p:sp>
        <p:sp>
          <p:nvSpPr>
            <p:cNvPr id="4108" name="Text Box 12"/>
            <p:cNvSpPr txBox="1">
              <a:spLocks noChangeArrowheads="1"/>
            </p:cNvSpPr>
            <p:nvPr/>
          </p:nvSpPr>
          <p:spPr bwMode="auto">
            <a:xfrm>
              <a:off x="2067" y="2372"/>
              <a:ext cx="153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385" b="1">
                  <a:latin typeface="Arial" panose="020B0604020202020204" pitchFamily="34" charset="0"/>
                </a:rPr>
                <a:t>Liquidity</a:t>
              </a:r>
            </a:p>
          </p:txBody>
        </p:sp>
        <p:sp>
          <p:nvSpPr>
            <p:cNvPr id="4109" name="Text Box 13"/>
            <p:cNvSpPr txBox="1">
              <a:spLocks noChangeArrowheads="1"/>
            </p:cNvSpPr>
            <p:nvPr/>
          </p:nvSpPr>
          <p:spPr bwMode="auto">
            <a:xfrm>
              <a:off x="2011" y="2961"/>
              <a:ext cx="165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385" b="1">
                  <a:latin typeface="Arial" panose="020B0604020202020204" pitchFamily="34" charset="0"/>
                </a:rPr>
                <a:t>Financial gearing</a:t>
              </a:r>
            </a:p>
          </p:txBody>
        </p:sp>
        <p:sp>
          <p:nvSpPr>
            <p:cNvPr id="4110" name="AutoShape 14"/>
            <p:cNvSpPr>
              <a:spLocks noChangeArrowheads="1"/>
            </p:cNvSpPr>
            <p:nvPr/>
          </p:nvSpPr>
          <p:spPr bwMode="auto">
            <a:xfrm>
              <a:off x="2001" y="3412"/>
              <a:ext cx="1746" cy="485"/>
            </a:xfrm>
            <a:prstGeom prst="cube">
              <a:avLst>
                <a:gd name="adj" fmla="val 15208"/>
              </a:avLst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 sz="1662"/>
            </a:p>
          </p:txBody>
        </p:sp>
        <p:sp>
          <p:nvSpPr>
            <p:cNvPr id="4111" name="Text Box 15"/>
            <p:cNvSpPr txBox="1">
              <a:spLocks noChangeArrowheads="1"/>
            </p:cNvSpPr>
            <p:nvPr/>
          </p:nvSpPr>
          <p:spPr bwMode="auto">
            <a:xfrm>
              <a:off x="2006" y="3551"/>
              <a:ext cx="165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385" b="1">
                  <a:latin typeface="Arial" panose="020B0604020202020204" pitchFamily="34" charset="0"/>
                </a:rPr>
                <a:t>Investment.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09573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2339752" y="1340768"/>
            <a:ext cx="6458152" cy="814388"/>
          </a:xfrm>
        </p:spPr>
        <p:txBody>
          <a:bodyPr>
            <a:noAutofit/>
          </a:bodyPr>
          <a:lstStyle/>
          <a:p>
            <a:pPr eaLnBrk="1" hangingPunct="1"/>
            <a:r>
              <a:rPr lang="en-GB" altLang="en-US" sz="3200" b="1" dirty="0">
                <a:solidFill>
                  <a:srgbClr val="CC0000"/>
                </a:solidFill>
              </a:rPr>
              <a:t>Liquidity ratios </a:t>
            </a:r>
            <a:br>
              <a:rPr lang="en-GB" altLang="en-US" sz="3200" dirty="0">
                <a:solidFill>
                  <a:srgbClr val="CC0000"/>
                </a:solidFill>
              </a:rPr>
            </a:br>
            <a:br>
              <a:rPr lang="en-GB" altLang="en-US" sz="3200" dirty="0"/>
            </a:br>
            <a:r>
              <a:rPr lang="en-GB" altLang="en-US" sz="3200" b="1" dirty="0">
                <a:solidFill>
                  <a:srgbClr val="CC0000"/>
                </a:solidFill>
              </a:rPr>
              <a:t>Current ratio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2" y="2492896"/>
            <a:ext cx="8784976" cy="4144474"/>
          </a:xfrm>
        </p:spPr>
        <p:txBody>
          <a:bodyPr>
            <a:normAutofit/>
          </a:bodyPr>
          <a:lstStyle/>
          <a:p>
            <a:pPr eaLnBrk="1" hangingPunct="1"/>
            <a:r>
              <a:rPr lang="en-GB" altLang="en-US" sz="1938" dirty="0"/>
              <a:t>As well as profits, companies must have sufficient liquid resources</a:t>
            </a:r>
          </a:p>
          <a:p>
            <a:pPr eaLnBrk="1" hangingPunct="1"/>
            <a:r>
              <a:rPr lang="en-GB" altLang="en-US" sz="1938" dirty="0"/>
              <a:t>Assesses whether company could pay its bills over the next few months</a:t>
            </a:r>
          </a:p>
          <a:p>
            <a:pPr eaLnBrk="1" hangingPunct="1"/>
            <a:endParaRPr lang="en-GB" altLang="en-US" sz="1938" dirty="0"/>
          </a:p>
          <a:p>
            <a:pPr eaLnBrk="1" hangingPunct="1"/>
            <a:endParaRPr lang="en-GB" altLang="en-US" sz="1938" dirty="0"/>
          </a:p>
          <a:p>
            <a:pPr eaLnBrk="1" hangingPunct="1"/>
            <a:endParaRPr lang="en-GB" altLang="en-US" sz="1938" dirty="0"/>
          </a:p>
          <a:p>
            <a:pPr eaLnBrk="1" hangingPunct="1"/>
            <a:endParaRPr lang="en-GB" altLang="en-US" sz="1938" dirty="0"/>
          </a:p>
          <a:p>
            <a:pPr eaLnBrk="1" hangingPunct="1"/>
            <a:endParaRPr lang="en-GB" altLang="en-US" sz="1938" dirty="0"/>
          </a:p>
          <a:p>
            <a:pPr eaLnBrk="1" hangingPunct="1"/>
            <a:r>
              <a:rPr lang="en-GB" altLang="en-US" sz="1938" dirty="0"/>
              <a:t>Ratio of 2:1 often considered optimal</a:t>
            </a:r>
          </a:p>
          <a:p>
            <a:pPr eaLnBrk="1" hangingPunct="1"/>
            <a:r>
              <a:rPr lang="en-GB" altLang="en-US" sz="1938" dirty="0"/>
              <a:t>Varies greatly between industries e.g. supermarkets</a:t>
            </a:r>
          </a:p>
          <a:p>
            <a:pPr eaLnBrk="1" hangingPunct="1"/>
            <a:endParaRPr lang="en-GB" altLang="en-US" sz="1938" dirty="0"/>
          </a:p>
          <a:p>
            <a:pPr eaLnBrk="1" hangingPunct="1"/>
            <a:endParaRPr lang="en-GB" altLang="en-US" sz="1938" dirty="0"/>
          </a:p>
          <a:p>
            <a:pPr eaLnBrk="1" hangingPunct="1"/>
            <a:endParaRPr lang="en-GB" altLang="en-US" sz="1938" dirty="0"/>
          </a:p>
          <a:p>
            <a:pPr eaLnBrk="1" hangingPunct="1">
              <a:buFontTx/>
              <a:buNone/>
            </a:pPr>
            <a:endParaRPr lang="en-GB" altLang="en-US" sz="1938" dirty="0"/>
          </a:p>
          <a:p>
            <a:pPr eaLnBrk="1" hangingPunct="1">
              <a:buFontTx/>
              <a:buNone/>
            </a:pPr>
            <a:endParaRPr lang="en-GB" altLang="en-US" sz="1938" dirty="0"/>
          </a:p>
        </p:txBody>
      </p:sp>
      <p:sp>
        <p:nvSpPr>
          <p:cNvPr id="16388" name="Text Box 4"/>
          <p:cNvSpPr txBox="1">
            <a:spLocks noChangeArrowheads="1"/>
          </p:cNvSpPr>
          <p:nvPr/>
        </p:nvSpPr>
        <p:spPr bwMode="auto">
          <a:xfrm>
            <a:off x="2195736" y="3534508"/>
            <a:ext cx="3816424" cy="10156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u="sng" dirty="0"/>
              <a:t>Current assets  </a:t>
            </a:r>
          </a:p>
          <a:p>
            <a:pPr algn="ctr" eaLnBrk="1" hangingPunct="1">
              <a:spcBef>
                <a:spcPct val="50000"/>
              </a:spcBef>
            </a:pPr>
            <a:r>
              <a:rPr lang="en-GB" altLang="en-US" dirty="0"/>
              <a:t>Current liabilities</a:t>
            </a:r>
          </a:p>
        </p:txBody>
      </p:sp>
    </p:spTree>
    <p:extLst>
      <p:ext uri="{BB962C8B-B14F-4D97-AF65-F5344CB8AC3E}">
        <p14:creationId xmlns:p14="http://schemas.microsoft.com/office/powerpoint/2010/main" val="387365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51520" y="1988840"/>
            <a:ext cx="8784976" cy="4445972"/>
          </a:xfrm>
        </p:spPr>
        <p:txBody>
          <a:bodyPr>
            <a:normAutofit/>
          </a:bodyPr>
          <a:lstStyle/>
          <a:p>
            <a:pPr eaLnBrk="1" hangingPunct="1"/>
            <a:r>
              <a:rPr lang="en-GB" altLang="en-US" dirty="0"/>
              <a:t>High ratio may indicate</a:t>
            </a:r>
          </a:p>
          <a:p>
            <a:pPr lvl="1" eaLnBrk="1" hangingPunct="1"/>
            <a:r>
              <a:rPr lang="en-GB" altLang="en-US" dirty="0"/>
              <a:t>Deliberate policy on part of management</a:t>
            </a:r>
          </a:p>
          <a:p>
            <a:pPr lvl="1" eaLnBrk="1" hangingPunct="1"/>
            <a:r>
              <a:rPr lang="en-GB" altLang="en-US" dirty="0"/>
              <a:t>Too much money tied up in unproductive short term assets</a:t>
            </a:r>
          </a:p>
          <a:p>
            <a:pPr lvl="1" eaLnBrk="1" hangingPunct="1"/>
            <a:endParaRPr lang="en-GB" altLang="en-US" dirty="0"/>
          </a:p>
          <a:p>
            <a:pPr eaLnBrk="1" hangingPunct="1"/>
            <a:r>
              <a:rPr lang="en-GB" altLang="en-US" dirty="0"/>
              <a:t>Low ratio may indicate</a:t>
            </a:r>
          </a:p>
          <a:p>
            <a:pPr lvl="1" eaLnBrk="1" hangingPunct="1"/>
            <a:r>
              <a:rPr lang="en-GB" altLang="en-US" dirty="0"/>
              <a:t>company is having problems paying its suppliers</a:t>
            </a:r>
          </a:p>
          <a:p>
            <a:pPr lvl="1" eaLnBrk="1" hangingPunct="1"/>
            <a:r>
              <a:rPr lang="en-GB" altLang="en-US" dirty="0"/>
              <a:t>company is actively managing its working capital</a:t>
            </a:r>
          </a:p>
          <a:p>
            <a:pPr lvl="1" eaLnBrk="1" hangingPunct="1">
              <a:buFontTx/>
              <a:buNone/>
            </a:pP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085559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3203848" y="585632"/>
            <a:ext cx="3528392" cy="998984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altLang="en-US" b="1" dirty="0">
                <a:solidFill>
                  <a:srgbClr val="CC0000"/>
                </a:solidFill>
                <a:latin typeface="Arial" panose="020B0604020202020204" pitchFamily="34" charset="0"/>
              </a:rPr>
              <a:t>Acid test ratio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700808"/>
            <a:ext cx="8784976" cy="4824536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GB" altLang="en-US" sz="2400" dirty="0"/>
              <a:t>Also known as ‘quick ratio’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400" dirty="0"/>
              <a:t>Also looks at short term liquidity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400" dirty="0"/>
              <a:t>Eliminates inventories, as this is considered least liquid asset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GB" altLang="en-US" sz="2400" dirty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GB" altLang="en-US" sz="2400" dirty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GB" altLang="en-US" sz="2400" dirty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GB" altLang="en-US" sz="2400" dirty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GB" altLang="en-US" sz="2400" dirty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GB" altLang="en-US" sz="2400" dirty="0"/>
          </a:p>
          <a:p>
            <a:pPr eaLnBrk="1" hangingPunct="1">
              <a:lnSpc>
                <a:spcPct val="90000"/>
              </a:lnSpc>
            </a:pPr>
            <a:r>
              <a:rPr lang="en-GB" altLang="en-US" sz="2400" dirty="0"/>
              <a:t>Ratio of less than 1:1 may suggest liquidity problems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400" dirty="0"/>
              <a:t>Also varies between industries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GB" altLang="en-US" dirty="0"/>
          </a:p>
          <a:p>
            <a:pPr eaLnBrk="1" hangingPunct="1">
              <a:lnSpc>
                <a:spcPct val="90000"/>
              </a:lnSpc>
            </a:pPr>
            <a:endParaRPr lang="en-GB" altLang="en-US" dirty="0"/>
          </a:p>
          <a:p>
            <a:pPr eaLnBrk="1" hangingPunct="1">
              <a:lnSpc>
                <a:spcPct val="90000"/>
              </a:lnSpc>
            </a:pPr>
            <a:endParaRPr lang="en-GB" altLang="en-US" dirty="0"/>
          </a:p>
          <a:p>
            <a:pPr eaLnBrk="1" hangingPunct="1">
              <a:lnSpc>
                <a:spcPct val="90000"/>
              </a:lnSpc>
            </a:pPr>
            <a:endParaRPr lang="en-GB" altLang="en-US" dirty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GB" altLang="en-US" dirty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GB" altLang="en-US" dirty="0"/>
          </a:p>
        </p:txBody>
      </p:sp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2123728" y="3356992"/>
            <a:ext cx="4808159" cy="116955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2800" u="sng" dirty="0"/>
              <a:t>Current assets – inventories</a:t>
            </a:r>
          </a:p>
          <a:p>
            <a:pPr algn="ctr" eaLnBrk="1" hangingPunct="1">
              <a:spcBef>
                <a:spcPct val="50000"/>
              </a:spcBef>
            </a:pPr>
            <a:r>
              <a:rPr lang="en-GB" altLang="en-US" sz="2800" dirty="0"/>
              <a:t>      Current liabilities</a:t>
            </a:r>
          </a:p>
        </p:txBody>
      </p:sp>
    </p:spTree>
    <p:extLst>
      <p:ext uri="{BB962C8B-B14F-4D97-AF65-F5344CB8AC3E}">
        <p14:creationId xmlns:p14="http://schemas.microsoft.com/office/powerpoint/2010/main" val="2861296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2483768" y="1628800"/>
            <a:ext cx="6336704" cy="642937"/>
          </a:xfrm>
        </p:spPr>
        <p:txBody>
          <a:bodyPr>
            <a:normAutofit fontScale="90000"/>
          </a:bodyPr>
          <a:lstStyle/>
          <a:p>
            <a:pPr eaLnBrk="1" hangingPunct="1"/>
            <a:br>
              <a:rPr lang="en-GB" altLang="en-US" b="1" dirty="0">
                <a:solidFill>
                  <a:srgbClr val="CC0000"/>
                </a:solidFill>
                <a:latin typeface="Arial" panose="020B0604020202020204" pitchFamily="34" charset="0"/>
              </a:rPr>
            </a:br>
            <a:br>
              <a:rPr lang="en-GB" altLang="en-US" b="1" dirty="0">
                <a:solidFill>
                  <a:srgbClr val="CC0000"/>
                </a:solidFill>
                <a:latin typeface="Arial" panose="020B0604020202020204" pitchFamily="34" charset="0"/>
              </a:rPr>
            </a:br>
            <a:r>
              <a:rPr lang="en-GB" altLang="en-US" b="1" dirty="0">
                <a:solidFill>
                  <a:srgbClr val="CC0000"/>
                </a:solidFill>
                <a:latin typeface="Arial" panose="020B0604020202020204" pitchFamily="34" charset="0"/>
              </a:rPr>
              <a:t>Financial gearing ratios </a:t>
            </a:r>
            <a:br>
              <a:rPr lang="en-GB" altLang="en-US" dirty="0">
                <a:solidFill>
                  <a:srgbClr val="CC0000"/>
                </a:solidFill>
                <a:latin typeface="Arial" panose="020B0604020202020204" pitchFamily="34" charset="0"/>
              </a:rPr>
            </a:br>
            <a:br>
              <a:rPr lang="en-GB" altLang="en-US" dirty="0"/>
            </a:br>
            <a:endParaRPr lang="en-GB" altLang="en-US" dirty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2" y="1628800"/>
            <a:ext cx="8507288" cy="4896544"/>
          </a:xfrm>
        </p:spPr>
        <p:txBody>
          <a:bodyPr>
            <a:normAutofit/>
          </a:bodyPr>
          <a:lstStyle/>
          <a:p>
            <a:pPr eaLnBrk="1" hangingPunct="1"/>
            <a:r>
              <a:rPr lang="en-GB" altLang="en-US" dirty="0"/>
              <a:t>Gearing occurs when a company is financed by loans as well as equity</a:t>
            </a:r>
          </a:p>
          <a:p>
            <a:pPr eaLnBrk="1" hangingPunct="1"/>
            <a:r>
              <a:rPr lang="en-GB" altLang="en-US" dirty="0"/>
              <a:t>Loan capital is a cheap source of finance for company, because of relatively low risk for lender</a:t>
            </a:r>
          </a:p>
          <a:p>
            <a:pPr eaLnBrk="1" hangingPunct="1"/>
            <a:r>
              <a:rPr lang="en-GB" altLang="en-US" dirty="0"/>
              <a:t>Increased loan capital increases risk to shareholders</a:t>
            </a:r>
          </a:p>
          <a:p>
            <a:pPr lvl="1" eaLnBrk="1" hangingPunct="1"/>
            <a:r>
              <a:rPr lang="en-GB" altLang="en-US" dirty="0"/>
              <a:t>Interest paid regardless</a:t>
            </a:r>
          </a:p>
          <a:p>
            <a:pPr lvl="1" eaLnBrk="1" hangingPunct="1"/>
            <a:r>
              <a:rPr lang="en-GB" altLang="en-US" dirty="0"/>
              <a:t>Lenders rank above shareholders in any winding-up</a:t>
            </a:r>
          </a:p>
          <a:p>
            <a:pPr eaLnBrk="1" hangingPunct="1"/>
            <a:r>
              <a:rPr lang="en-GB" altLang="en-US" dirty="0"/>
              <a:t>Various ratios to measure this risk</a:t>
            </a:r>
          </a:p>
          <a:p>
            <a:pPr lvl="1" eaLnBrk="1" hangingPunct="1">
              <a:buFontTx/>
              <a:buNone/>
            </a:pP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056169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2818250" y="406890"/>
            <a:ext cx="4035669" cy="890221"/>
          </a:xfrm>
        </p:spPr>
        <p:txBody>
          <a:bodyPr/>
          <a:lstStyle/>
          <a:p>
            <a:pPr eaLnBrk="1" hangingPunct="1"/>
            <a:r>
              <a:rPr lang="en-GB" altLang="en-US" dirty="0">
                <a:solidFill>
                  <a:srgbClr val="C00000"/>
                </a:solidFill>
              </a:rPr>
              <a:t>Gearing ratio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1559" y="1700808"/>
            <a:ext cx="8580881" cy="5074261"/>
          </a:xfrm>
        </p:spPr>
        <p:txBody>
          <a:bodyPr>
            <a:normAutofit/>
          </a:bodyPr>
          <a:lstStyle/>
          <a:p>
            <a:pPr eaLnBrk="1" hangingPunct="1"/>
            <a:r>
              <a:rPr lang="en-GB" altLang="en-US" sz="1938" dirty="0"/>
              <a:t>Measures relation between debt and equity finance</a:t>
            </a:r>
          </a:p>
          <a:p>
            <a:pPr eaLnBrk="1" hangingPunct="1">
              <a:buFontTx/>
              <a:buNone/>
            </a:pPr>
            <a:r>
              <a:rPr lang="en-GB" altLang="en-US" sz="1938" dirty="0"/>
              <a:t> 	    </a:t>
            </a:r>
          </a:p>
          <a:p>
            <a:pPr eaLnBrk="1" hangingPunct="1">
              <a:buFontTx/>
              <a:buNone/>
            </a:pPr>
            <a:endParaRPr lang="en-GB" altLang="en-US" sz="1938" dirty="0"/>
          </a:p>
          <a:p>
            <a:pPr eaLnBrk="1" hangingPunct="1">
              <a:buFontTx/>
              <a:buNone/>
            </a:pPr>
            <a:endParaRPr lang="en-GB" altLang="en-US" sz="1938" dirty="0"/>
          </a:p>
          <a:p>
            <a:pPr eaLnBrk="1" hangingPunct="1">
              <a:buFontTx/>
              <a:buNone/>
            </a:pPr>
            <a:endParaRPr lang="en-GB" altLang="en-US" sz="1938" dirty="0"/>
          </a:p>
          <a:p>
            <a:pPr eaLnBrk="1" hangingPunct="1">
              <a:buFontTx/>
              <a:buNone/>
            </a:pPr>
            <a:endParaRPr lang="en-GB" altLang="en-US" sz="1938" dirty="0"/>
          </a:p>
          <a:p>
            <a:pPr eaLnBrk="1" hangingPunct="1">
              <a:buFontTx/>
              <a:buNone/>
            </a:pPr>
            <a:endParaRPr lang="en-GB" altLang="en-US" sz="1938" dirty="0"/>
          </a:p>
          <a:p>
            <a:pPr eaLnBrk="1" hangingPunct="1">
              <a:lnSpc>
                <a:spcPct val="90000"/>
              </a:lnSpc>
            </a:pPr>
            <a:endParaRPr lang="en-GB" altLang="en-US" sz="1938" dirty="0"/>
          </a:p>
          <a:p>
            <a:pPr eaLnBrk="1" hangingPunct="1">
              <a:lnSpc>
                <a:spcPct val="90000"/>
              </a:lnSpc>
            </a:pPr>
            <a:r>
              <a:rPr lang="en-GB" altLang="en-US" sz="1938" dirty="0"/>
              <a:t>‘Long-term liabilities’ usually includes all forms of long-term loan capital, including debentures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1938" dirty="0"/>
              <a:t>‘Shareholders funds' refers to ordinary share capital </a:t>
            </a:r>
            <a:r>
              <a:rPr lang="en-GB" altLang="en-US" sz="1938" i="1" dirty="0"/>
              <a:t>and</a:t>
            </a:r>
            <a:r>
              <a:rPr lang="en-GB" altLang="en-US" sz="1938" dirty="0"/>
              <a:t> reserves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1938" dirty="0"/>
              <a:t>Any preference shares are usually included as part of loans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1938" dirty="0"/>
              <a:t>The more highly geared the company, the greater the risk that little will be available as dividends to the ordinary shareholders</a:t>
            </a:r>
          </a:p>
          <a:p>
            <a:pPr eaLnBrk="1" hangingPunct="1">
              <a:buFontTx/>
              <a:buNone/>
            </a:pPr>
            <a:endParaRPr lang="en-GB" altLang="en-US" dirty="0"/>
          </a:p>
        </p:txBody>
      </p:sp>
      <p:sp>
        <p:nvSpPr>
          <p:cNvPr id="20484" name="Text Box 8"/>
          <p:cNvSpPr txBox="1">
            <a:spLocks noChangeArrowheads="1"/>
          </p:cNvSpPr>
          <p:nvPr/>
        </p:nvSpPr>
        <p:spPr bwMode="auto">
          <a:xfrm>
            <a:off x="3780692" y="5802923"/>
            <a:ext cx="1635369" cy="348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 sz="1662"/>
          </a:p>
        </p:txBody>
      </p:sp>
      <p:sp>
        <p:nvSpPr>
          <p:cNvPr id="20485" name="Text Box 9"/>
          <p:cNvSpPr txBox="1">
            <a:spLocks noChangeArrowheads="1"/>
          </p:cNvSpPr>
          <p:nvPr/>
        </p:nvSpPr>
        <p:spPr bwMode="auto">
          <a:xfrm>
            <a:off x="683568" y="2492896"/>
            <a:ext cx="6624736" cy="108859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62308" tIns="32400" rIns="62308" bIns="324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1662" dirty="0"/>
              <a:t>                                                 Long-term liabilities                                 x100</a:t>
            </a:r>
            <a:r>
              <a:rPr lang="en-GB" altLang="en-US" sz="1662" u="sng" dirty="0"/>
              <a:t>           </a:t>
            </a:r>
          </a:p>
          <a:p>
            <a:pPr algn="ctr" eaLnBrk="1" hangingPunct="1">
              <a:spcBef>
                <a:spcPct val="50000"/>
              </a:spcBef>
            </a:pPr>
            <a:r>
              <a:rPr lang="en-GB" altLang="en-US" sz="1662" dirty="0"/>
              <a:t>       Shareholders funds + long-term liabilities</a:t>
            </a:r>
          </a:p>
          <a:p>
            <a:pPr algn="ctr" eaLnBrk="1" hangingPunct="1">
              <a:spcBef>
                <a:spcPct val="50000"/>
              </a:spcBef>
            </a:pPr>
            <a:r>
              <a:rPr lang="en-GB" altLang="en-US" sz="1662" dirty="0"/>
              <a:t>		</a:t>
            </a:r>
          </a:p>
        </p:txBody>
      </p:sp>
      <p:cxnSp>
        <p:nvCxnSpPr>
          <p:cNvPr id="20486" name="Straight Connector 6"/>
          <p:cNvCxnSpPr>
            <a:cxnSpLocks noChangeShapeType="1"/>
          </p:cNvCxnSpPr>
          <p:nvPr/>
        </p:nvCxnSpPr>
        <p:spPr bwMode="auto">
          <a:xfrm>
            <a:off x="2843808" y="2852936"/>
            <a:ext cx="2868490" cy="1099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0794497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9484279"/>
              </p:ext>
            </p:extLst>
          </p:nvPr>
        </p:nvGraphicFramePr>
        <p:xfrm>
          <a:off x="2483768" y="116632"/>
          <a:ext cx="4940330" cy="6602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592437" imgH="8634994" progId="Word.Document.12">
                  <p:embed/>
                </p:oleObj>
              </mc:Choice>
              <mc:Fallback>
                <p:oleObj name="Document" r:id="rId3" imgW="5592437" imgH="8634994" progId="Word.Document.1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3768" y="116632"/>
                        <a:ext cx="4940330" cy="66021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84092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2554166" y="474785"/>
            <a:ext cx="4035669" cy="738554"/>
          </a:xfrm>
        </p:spPr>
        <p:txBody>
          <a:bodyPr/>
          <a:lstStyle/>
          <a:p>
            <a:pPr eaLnBrk="1" hangingPunct="1"/>
            <a:r>
              <a:rPr lang="en-GB" altLang="en-US" b="1">
                <a:solidFill>
                  <a:srgbClr val="CC0000"/>
                </a:solidFill>
                <a:latin typeface="Arial" panose="020B0604020202020204" pitchFamily="34" charset="0"/>
              </a:rPr>
              <a:t>Interest cover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6331" y="1442414"/>
            <a:ext cx="7636069" cy="5082929"/>
          </a:xfrm>
        </p:spPr>
        <p:txBody>
          <a:bodyPr>
            <a:normAutofit/>
          </a:bodyPr>
          <a:lstStyle/>
          <a:p>
            <a:pPr eaLnBrk="1" hangingPunct="1">
              <a:buFontTx/>
              <a:buNone/>
            </a:pPr>
            <a:endParaRPr lang="en-GB" altLang="en-US" dirty="0"/>
          </a:p>
          <a:p>
            <a:pPr eaLnBrk="1" hangingPunct="1"/>
            <a:r>
              <a:rPr lang="en-GB" altLang="en-US" sz="1938" dirty="0"/>
              <a:t>Measures number of times a company could pay its interest out of profit</a:t>
            </a:r>
          </a:p>
          <a:p>
            <a:pPr marL="0" indent="0" eaLnBrk="1" hangingPunct="1">
              <a:buNone/>
            </a:pPr>
            <a:endParaRPr lang="en-GB" altLang="en-US" sz="1938" dirty="0"/>
          </a:p>
          <a:p>
            <a:pPr eaLnBrk="1" hangingPunct="1">
              <a:buFontTx/>
              <a:buNone/>
            </a:pPr>
            <a:endParaRPr lang="en-GB" altLang="en-US" sz="1938" dirty="0"/>
          </a:p>
          <a:p>
            <a:pPr eaLnBrk="1" hangingPunct="1">
              <a:buFontTx/>
              <a:buNone/>
            </a:pPr>
            <a:endParaRPr lang="en-GB" altLang="en-US" sz="1938" dirty="0"/>
          </a:p>
          <a:p>
            <a:pPr eaLnBrk="1" hangingPunct="1">
              <a:buFontTx/>
              <a:buNone/>
            </a:pPr>
            <a:r>
              <a:rPr lang="en-GB" altLang="en-US" sz="1938" dirty="0"/>
              <a:t>	</a:t>
            </a:r>
            <a:endParaRPr lang="en-GB" altLang="en-US" sz="1662" dirty="0"/>
          </a:p>
          <a:p>
            <a:pPr eaLnBrk="1" hangingPunct="1"/>
            <a:endParaRPr lang="en-GB" altLang="en-US" sz="1938" dirty="0"/>
          </a:p>
          <a:p>
            <a:pPr eaLnBrk="1" hangingPunct="1"/>
            <a:r>
              <a:rPr lang="en-GB" altLang="en-US" sz="1938" dirty="0"/>
              <a:t>The higher the multiple, the less likely the company will run into difficulty</a:t>
            </a:r>
          </a:p>
          <a:p>
            <a:pPr eaLnBrk="1" hangingPunct="1"/>
            <a:r>
              <a:rPr lang="en-GB" altLang="en-US" sz="1938" dirty="0"/>
              <a:t>Ideally cover interest 3 or 4 times</a:t>
            </a:r>
          </a:p>
          <a:p>
            <a:pPr eaLnBrk="1" hangingPunct="1"/>
            <a:r>
              <a:rPr lang="en-GB" altLang="en-US" sz="1938" dirty="0"/>
              <a:t>Note that different loan issues may have different priority over others for interest payments, depending on loan agreements</a:t>
            </a:r>
          </a:p>
          <a:p>
            <a:pPr eaLnBrk="1" hangingPunct="1">
              <a:buFontTx/>
              <a:buNone/>
            </a:pPr>
            <a:endParaRPr lang="en-GB" altLang="en-US" sz="1938" dirty="0"/>
          </a:p>
        </p:txBody>
      </p:sp>
      <p:sp>
        <p:nvSpPr>
          <p:cNvPr id="22532" name="Text Box 18"/>
          <p:cNvSpPr txBox="1">
            <a:spLocks noChangeArrowheads="1"/>
          </p:cNvSpPr>
          <p:nvPr/>
        </p:nvSpPr>
        <p:spPr bwMode="auto">
          <a:xfrm>
            <a:off x="2883877" y="3429000"/>
            <a:ext cx="3323492" cy="348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 sz="1662"/>
          </a:p>
        </p:txBody>
      </p:sp>
      <p:sp>
        <p:nvSpPr>
          <p:cNvPr id="22533" name="Text Box 20"/>
          <p:cNvSpPr txBox="1">
            <a:spLocks noChangeArrowheads="1"/>
          </p:cNvSpPr>
          <p:nvPr/>
        </p:nvSpPr>
        <p:spPr bwMode="auto">
          <a:xfrm>
            <a:off x="2483768" y="2921168"/>
            <a:ext cx="4388014" cy="10156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dirty="0"/>
              <a:t>     </a:t>
            </a:r>
            <a:r>
              <a:rPr lang="en-GB" altLang="en-US" u="sng" dirty="0"/>
              <a:t> operating profit</a:t>
            </a:r>
          </a:p>
          <a:p>
            <a:pPr algn="ctr" eaLnBrk="1" hangingPunct="1">
              <a:spcBef>
                <a:spcPct val="50000"/>
              </a:spcBef>
            </a:pPr>
            <a:r>
              <a:rPr lang="en-GB" altLang="en-US" dirty="0"/>
              <a:t>     interest payable</a:t>
            </a:r>
          </a:p>
        </p:txBody>
      </p:sp>
    </p:spTree>
    <p:extLst>
      <p:ext uri="{BB962C8B-B14F-4D97-AF65-F5344CB8AC3E}">
        <p14:creationId xmlns:p14="http://schemas.microsoft.com/office/powerpoint/2010/main" val="19732568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2567354" y="369277"/>
            <a:ext cx="4035669" cy="633046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altLang="en-US" b="1">
                <a:solidFill>
                  <a:srgbClr val="CC0000"/>
                </a:solidFill>
                <a:latin typeface="Arial" panose="020B0604020202020204" pitchFamily="34" charset="0"/>
              </a:rPr>
              <a:t>Asset Cover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2" y="1556792"/>
            <a:ext cx="8568952" cy="4906108"/>
          </a:xfrm>
        </p:spPr>
        <p:txBody>
          <a:bodyPr>
            <a:normAutofit/>
          </a:bodyPr>
          <a:lstStyle/>
          <a:p>
            <a:pPr eaLnBrk="1" hangingPunct="1"/>
            <a:r>
              <a:rPr lang="en-GB" altLang="en-US" sz="1938" dirty="0"/>
              <a:t>Measures amount available to repay loans in event of a winding up.</a:t>
            </a:r>
          </a:p>
          <a:p>
            <a:pPr eaLnBrk="1" hangingPunct="1"/>
            <a:r>
              <a:rPr lang="en-GB" altLang="en-US" sz="1938" dirty="0"/>
              <a:t>Assumes intangible assets worthless</a:t>
            </a:r>
          </a:p>
          <a:p>
            <a:pPr eaLnBrk="1" hangingPunct="1"/>
            <a:r>
              <a:rPr lang="en-GB" altLang="en-US" sz="1938" dirty="0"/>
              <a:t>Loan with asset cover of less than 2 is usually considered high risk</a:t>
            </a:r>
          </a:p>
          <a:p>
            <a:pPr eaLnBrk="1" hangingPunct="1"/>
            <a:endParaRPr lang="en-GB" altLang="en-US" sz="1938" dirty="0"/>
          </a:p>
          <a:p>
            <a:pPr eaLnBrk="1" hangingPunct="1"/>
            <a:endParaRPr lang="en-GB" altLang="en-US" sz="1938" dirty="0"/>
          </a:p>
          <a:p>
            <a:pPr eaLnBrk="1" hangingPunct="1"/>
            <a:endParaRPr lang="en-GB" altLang="en-US" sz="1938" dirty="0"/>
          </a:p>
          <a:p>
            <a:pPr eaLnBrk="1" hangingPunct="1"/>
            <a:endParaRPr lang="en-GB" altLang="en-US" sz="1938" dirty="0"/>
          </a:p>
          <a:p>
            <a:pPr eaLnBrk="1" hangingPunct="1">
              <a:buFontTx/>
              <a:buNone/>
            </a:pPr>
            <a:endParaRPr lang="en-GB" altLang="en-US" sz="1938" dirty="0"/>
          </a:p>
          <a:p>
            <a:pPr eaLnBrk="1" hangingPunct="1">
              <a:buFontTx/>
              <a:buNone/>
            </a:pPr>
            <a:endParaRPr lang="en-GB" altLang="en-US" sz="1938" dirty="0"/>
          </a:p>
          <a:p>
            <a:pPr eaLnBrk="1" hangingPunct="1">
              <a:buFontTx/>
              <a:buNone/>
            </a:pPr>
            <a:endParaRPr lang="en-GB" altLang="en-US" sz="1938" dirty="0"/>
          </a:p>
          <a:p>
            <a:pPr eaLnBrk="1" hangingPunct="1"/>
            <a:r>
              <a:rPr lang="en-GB" altLang="en-US" sz="1938" dirty="0"/>
              <a:t>Note calculation will vary if there are several types of loan (secured loan will rank for payment before unsecured loan.)</a:t>
            </a:r>
          </a:p>
          <a:p>
            <a:pPr eaLnBrk="1" hangingPunct="1">
              <a:buFontTx/>
              <a:buNone/>
            </a:pPr>
            <a:endParaRPr lang="en-GB" altLang="en-US" sz="1938" dirty="0"/>
          </a:p>
          <a:p>
            <a:pPr eaLnBrk="1" hangingPunct="1"/>
            <a:endParaRPr lang="en-GB" altLang="en-US" sz="1938" dirty="0"/>
          </a:p>
          <a:p>
            <a:pPr eaLnBrk="1" hangingPunct="1">
              <a:buFontTx/>
              <a:buNone/>
            </a:pPr>
            <a:endParaRPr lang="en-GB" altLang="en-US" sz="1938" dirty="0"/>
          </a:p>
        </p:txBody>
      </p:sp>
      <p:sp>
        <p:nvSpPr>
          <p:cNvPr id="23556" name="Text Box 4"/>
          <p:cNvSpPr txBox="1">
            <a:spLocks noChangeArrowheads="1"/>
          </p:cNvSpPr>
          <p:nvPr/>
        </p:nvSpPr>
        <p:spPr bwMode="auto">
          <a:xfrm>
            <a:off x="1475656" y="3284984"/>
            <a:ext cx="5494530" cy="86177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000" u="sng" dirty="0"/>
              <a:t>Total assets–intangible assets–current liabilities</a:t>
            </a:r>
          </a:p>
          <a:p>
            <a:pPr eaLnBrk="1" hangingPunct="1">
              <a:spcBef>
                <a:spcPct val="50000"/>
              </a:spcBef>
            </a:pPr>
            <a:r>
              <a:rPr lang="en-GB" altLang="en-US" sz="2000" dirty="0"/>
              <a:t>                        loan capital</a:t>
            </a:r>
          </a:p>
        </p:txBody>
      </p:sp>
    </p:spTree>
    <p:extLst>
      <p:ext uri="{BB962C8B-B14F-4D97-AF65-F5344CB8AC3E}">
        <p14:creationId xmlns:p14="http://schemas.microsoft.com/office/powerpoint/2010/main" val="262359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2578344" y="1036393"/>
            <a:ext cx="4035669" cy="989135"/>
          </a:xfrm>
        </p:spPr>
        <p:txBody>
          <a:bodyPr>
            <a:normAutofit/>
          </a:bodyPr>
          <a:lstStyle/>
          <a:p>
            <a:pPr eaLnBrk="1" hangingPunct="1"/>
            <a:r>
              <a:rPr lang="en-GB" altLang="en-US" sz="3200" b="1" dirty="0">
                <a:solidFill>
                  <a:srgbClr val="CC0000"/>
                </a:solidFill>
              </a:rPr>
              <a:t>Dividend cover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8003" y="2708920"/>
            <a:ext cx="8075240" cy="3777283"/>
          </a:xfrm>
        </p:spPr>
        <p:txBody>
          <a:bodyPr>
            <a:normAutofit lnSpcReduction="10000"/>
          </a:bodyPr>
          <a:lstStyle/>
          <a:p>
            <a:pPr eaLnBrk="1" hangingPunct="1">
              <a:buFontTx/>
              <a:buNone/>
            </a:pPr>
            <a:endParaRPr lang="en-GB" altLang="en-US" sz="1938" dirty="0"/>
          </a:p>
          <a:p>
            <a:pPr eaLnBrk="1" hangingPunct="1">
              <a:buFontTx/>
              <a:buNone/>
            </a:pPr>
            <a:endParaRPr lang="en-GB" altLang="en-US" sz="1938" dirty="0"/>
          </a:p>
          <a:p>
            <a:pPr eaLnBrk="1" hangingPunct="1">
              <a:buFontTx/>
              <a:buNone/>
            </a:pPr>
            <a:endParaRPr lang="en-GB" altLang="en-US" sz="1938" dirty="0"/>
          </a:p>
          <a:p>
            <a:pPr eaLnBrk="1" hangingPunct="1"/>
            <a:r>
              <a:rPr lang="en-GB" altLang="en-US" sz="1938" dirty="0"/>
              <a:t>Companies cannot maintain dividends if not covered by profits</a:t>
            </a:r>
          </a:p>
          <a:p>
            <a:pPr eaLnBrk="1" hangingPunct="1"/>
            <a:r>
              <a:rPr lang="en-GB" altLang="en-US" sz="1938" dirty="0"/>
              <a:t>High level of dividend cover implies more scope to increase dividends in the future</a:t>
            </a:r>
          </a:p>
          <a:p>
            <a:pPr eaLnBrk="1" hangingPunct="1"/>
            <a:r>
              <a:rPr lang="en-GB" altLang="en-US" sz="1938" dirty="0"/>
              <a:t>Example –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altLang="en-US" sz="1938" dirty="0"/>
              <a:t>Co A made profits of £10,000,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altLang="en-US" sz="1938" dirty="0"/>
              <a:t>Co B made profits of  £30,000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altLang="en-US" sz="1938" dirty="0"/>
              <a:t>Both pay dividends of £5,000 per share.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altLang="en-US" sz="1938" dirty="0"/>
              <a:t>Which is safer? </a:t>
            </a:r>
          </a:p>
          <a:p>
            <a:pPr eaLnBrk="1" hangingPunct="1">
              <a:buFontTx/>
              <a:buNone/>
            </a:pPr>
            <a:endParaRPr lang="en-GB" altLang="en-US" sz="1938" dirty="0"/>
          </a:p>
          <a:p>
            <a:pPr eaLnBrk="1" hangingPunct="1"/>
            <a:endParaRPr lang="en-GB" altLang="en-US" sz="1938" dirty="0"/>
          </a:p>
          <a:p>
            <a:pPr eaLnBrk="1" hangingPunct="1">
              <a:buFontTx/>
              <a:buNone/>
            </a:pPr>
            <a:endParaRPr lang="en-GB" altLang="en-US" sz="1938" dirty="0"/>
          </a:p>
        </p:txBody>
      </p:sp>
      <p:sp>
        <p:nvSpPr>
          <p:cNvPr id="24580" name="Text Box 5"/>
          <p:cNvSpPr txBox="1">
            <a:spLocks noChangeArrowheads="1"/>
          </p:cNvSpPr>
          <p:nvPr/>
        </p:nvSpPr>
        <p:spPr bwMode="auto">
          <a:xfrm>
            <a:off x="2195736" y="2436335"/>
            <a:ext cx="4104456" cy="9887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62308" tIns="32400" rIns="62308" bIns="324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u="sng" dirty="0"/>
              <a:t> Profit for the year</a:t>
            </a:r>
          </a:p>
          <a:p>
            <a:pPr algn="ctr" eaLnBrk="1" hangingPunct="1">
              <a:spcBef>
                <a:spcPct val="50000"/>
              </a:spcBef>
            </a:pPr>
            <a:r>
              <a:rPr lang="en-GB" altLang="en-US" dirty="0"/>
              <a:t>Dividend for the year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554166" y="609967"/>
            <a:ext cx="4035669" cy="741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hangingPunct="0">
              <a:defRPr/>
            </a:pPr>
            <a:r>
              <a:rPr lang="en-GB" sz="3600" b="1" kern="0" dirty="0">
                <a:solidFill>
                  <a:srgbClr val="CC0000"/>
                </a:solidFill>
                <a:latin typeface="Arial" charset="0"/>
                <a:ea typeface="+mj-ea"/>
                <a:cs typeface="+mj-cs"/>
              </a:rPr>
              <a:t>Investment ratios </a:t>
            </a:r>
            <a:br>
              <a:rPr lang="en-GB" sz="3046" kern="0" dirty="0">
                <a:solidFill>
                  <a:srgbClr val="CC0000"/>
                </a:solidFill>
                <a:latin typeface="Arial" charset="0"/>
                <a:ea typeface="+mj-ea"/>
                <a:cs typeface="+mj-cs"/>
              </a:rPr>
            </a:br>
            <a:endParaRPr lang="en-GB" sz="3046" kern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6894220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2554166" y="158261"/>
            <a:ext cx="4035669" cy="1160585"/>
          </a:xfrm>
        </p:spPr>
        <p:txBody>
          <a:bodyPr/>
          <a:lstStyle/>
          <a:p>
            <a:pPr eaLnBrk="1" hangingPunct="1"/>
            <a:r>
              <a:rPr lang="en-GB" altLang="en-US" b="1">
                <a:solidFill>
                  <a:srgbClr val="CC0000"/>
                </a:solidFill>
                <a:latin typeface="Arial" panose="020B0604020202020204" pitchFamily="34" charset="0"/>
              </a:rPr>
              <a:t>Dividend Yield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504" y="1916831"/>
            <a:ext cx="8784976" cy="4571891"/>
          </a:xfrm>
        </p:spPr>
        <p:txBody>
          <a:bodyPr>
            <a:normAutofit/>
          </a:bodyPr>
          <a:lstStyle/>
          <a:p>
            <a:pPr eaLnBrk="1" hangingPunct="1"/>
            <a:r>
              <a:rPr lang="en-GB" altLang="en-US" sz="2000" dirty="0"/>
              <a:t>Shows the amount of income (dividends) an investor receives per unit of investment (share price)</a:t>
            </a:r>
          </a:p>
          <a:p>
            <a:pPr eaLnBrk="1" hangingPunct="1"/>
            <a:r>
              <a:rPr lang="en-GB" altLang="en-US" sz="2000" dirty="0"/>
              <a:t>Low yield may mean:</a:t>
            </a:r>
          </a:p>
          <a:p>
            <a:pPr lvl="1" eaLnBrk="1" hangingPunct="1"/>
            <a:r>
              <a:rPr lang="en-GB" altLang="en-US" sz="2000" dirty="0"/>
              <a:t>Share is overvalued</a:t>
            </a:r>
          </a:p>
          <a:p>
            <a:pPr lvl="1" eaLnBrk="1" hangingPunct="1"/>
            <a:r>
              <a:rPr lang="en-GB" altLang="en-US" sz="2000" dirty="0"/>
              <a:t>Investors expect dividends to grow rapidly</a:t>
            </a:r>
          </a:p>
          <a:p>
            <a:pPr lvl="1" eaLnBrk="1" hangingPunct="1"/>
            <a:endParaRPr lang="en-GB" altLang="en-US" sz="2000" dirty="0"/>
          </a:p>
          <a:p>
            <a:pPr lvl="1" eaLnBrk="1" hangingPunct="1">
              <a:buFontTx/>
              <a:buNone/>
            </a:pPr>
            <a:endParaRPr lang="en-GB" altLang="en-US" sz="2000" dirty="0"/>
          </a:p>
          <a:p>
            <a:pPr lvl="1" eaLnBrk="1" hangingPunct="1">
              <a:buFontTx/>
              <a:buNone/>
            </a:pPr>
            <a:endParaRPr lang="en-GB" altLang="en-US" sz="2000" dirty="0"/>
          </a:p>
          <a:p>
            <a:pPr lvl="1" eaLnBrk="1" hangingPunct="1">
              <a:buFontTx/>
              <a:buNone/>
            </a:pPr>
            <a:endParaRPr lang="en-GB" altLang="en-US" sz="2000" dirty="0"/>
          </a:p>
          <a:p>
            <a:pPr lvl="1" eaLnBrk="1" hangingPunct="1">
              <a:buFontTx/>
              <a:buNone/>
            </a:pPr>
            <a:endParaRPr lang="en-GB" altLang="en-US" sz="2000" dirty="0"/>
          </a:p>
          <a:p>
            <a:pPr lvl="1" eaLnBrk="1" hangingPunct="1">
              <a:buFontTx/>
              <a:buNone/>
            </a:pPr>
            <a:r>
              <a:rPr lang="en-GB" altLang="en-US" sz="2000" dirty="0"/>
              <a:t>Note that this ratio ignores any potential capital gain</a:t>
            </a:r>
          </a:p>
          <a:p>
            <a:pPr lvl="1" eaLnBrk="1" hangingPunct="1">
              <a:buFontTx/>
              <a:buNone/>
            </a:pPr>
            <a:r>
              <a:rPr lang="en-GB" altLang="en-US" sz="2000" dirty="0"/>
              <a:t>(Ignore tax implications)</a:t>
            </a:r>
          </a:p>
        </p:txBody>
      </p:sp>
      <p:sp>
        <p:nvSpPr>
          <p:cNvPr id="25604" name="Text Box 4"/>
          <p:cNvSpPr txBox="1">
            <a:spLocks noChangeArrowheads="1"/>
          </p:cNvSpPr>
          <p:nvPr/>
        </p:nvSpPr>
        <p:spPr bwMode="auto">
          <a:xfrm>
            <a:off x="1331640" y="4077072"/>
            <a:ext cx="6840760" cy="9887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62308" tIns="32400" rIns="62308" bIns="324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/>
              <a:t>Dividend Yield = 	</a:t>
            </a:r>
            <a:r>
              <a:rPr lang="en-GB" altLang="en-US" u="sng" dirty="0"/>
              <a:t>Dividends per share</a:t>
            </a:r>
          </a:p>
          <a:p>
            <a:pPr eaLnBrk="1" hangingPunct="1">
              <a:spcBef>
                <a:spcPct val="50000"/>
              </a:spcBef>
            </a:pPr>
            <a:r>
              <a:rPr lang="en-GB" altLang="en-US" dirty="0"/>
              <a:t>			Market price of share</a:t>
            </a:r>
          </a:p>
        </p:txBody>
      </p:sp>
    </p:spTree>
    <p:extLst>
      <p:ext uri="{BB962C8B-B14F-4D97-AF65-F5344CB8AC3E}">
        <p14:creationId xmlns:p14="http://schemas.microsoft.com/office/powerpoint/2010/main" val="20212499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2195736" y="1198773"/>
            <a:ext cx="5860635" cy="703326"/>
          </a:xfrm>
        </p:spPr>
        <p:txBody>
          <a:bodyPr>
            <a:normAutofit fontScale="90000"/>
          </a:bodyPr>
          <a:lstStyle/>
          <a:p>
            <a:pPr eaLnBrk="1" hangingPunct="1"/>
            <a:br>
              <a:rPr lang="en-GB" altLang="en-US" dirty="0"/>
            </a:br>
            <a:r>
              <a:rPr lang="en-GB" altLang="en-US" b="1" dirty="0">
                <a:solidFill>
                  <a:srgbClr val="CC0000"/>
                </a:solidFill>
                <a:latin typeface="Arial" panose="020B0604020202020204" pitchFamily="34" charset="0"/>
              </a:rPr>
              <a:t>Earnings per share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504" y="2479431"/>
            <a:ext cx="8856984" cy="4114800"/>
          </a:xfrm>
        </p:spPr>
        <p:txBody>
          <a:bodyPr>
            <a:normAutofit/>
          </a:bodyPr>
          <a:lstStyle/>
          <a:p>
            <a:pPr eaLnBrk="1" hangingPunct="1"/>
            <a:r>
              <a:rPr lang="en-GB" altLang="en-US" sz="2400" dirty="0"/>
              <a:t>Amount of profit earned for each ordinary share</a:t>
            </a:r>
          </a:p>
          <a:p>
            <a:pPr eaLnBrk="1" hangingPunct="1"/>
            <a:endParaRPr lang="en-GB" altLang="en-US" sz="2400" dirty="0"/>
          </a:p>
          <a:p>
            <a:pPr eaLnBrk="1" hangingPunct="1"/>
            <a:endParaRPr lang="en-GB" altLang="en-US" sz="2400" dirty="0"/>
          </a:p>
          <a:p>
            <a:pPr eaLnBrk="1" hangingPunct="1"/>
            <a:endParaRPr lang="en-GB" altLang="en-US" sz="2400" dirty="0"/>
          </a:p>
          <a:p>
            <a:pPr eaLnBrk="1" hangingPunct="1"/>
            <a:endParaRPr lang="en-GB" altLang="en-US" sz="2400" dirty="0"/>
          </a:p>
          <a:p>
            <a:pPr eaLnBrk="1" hangingPunct="1"/>
            <a:endParaRPr lang="en-GB" altLang="en-US" sz="2400" dirty="0"/>
          </a:p>
          <a:p>
            <a:pPr eaLnBrk="1" hangingPunct="1"/>
            <a:endParaRPr lang="en-GB" altLang="en-US" sz="2400" dirty="0"/>
          </a:p>
          <a:p>
            <a:pPr eaLnBrk="1" hangingPunct="1"/>
            <a:r>
              <a:rPr lang="en-GB" altLang="en-US" sz="2400" dirty="0"/>
              <a:t>Trend over time can help assess the investment potential of a company’s shares</a:t>
            </a:r>
          </a:p>
          <a:p>
            <a:pPr eaLnBrk="1" hangingPunct="1"/>
            <a:endParaRPr lang="en-GB" altLang="en-US" dirty="0"/>
          </a:p>
          <a:p>
            <a:pPr eaLnBrk="1" hangingPunct="1">
              <a:buFontTx/>
              <a:buNone/>
            </a:pPr>
            <a:endParaRPr lang="en-GB" altLang="en-US" dirty="0"/>
          </a:p>
          <a:p>
            <a:pPr eaLnBrk="1" hangingPunct="1">
              <a:buFontTx/>
              <a:buNone/>
            </a:pPr>
            <a:endParaRPr lang="en-GB" altLang="en-US" dirty="0"/>
          </a:p>
        </p:txBody>
      </p:sp>
      <p:sp>
        <p:nvSpPr>
          <p:cNvPr id="26628" name="Text Box 4"/>
          <p:cNvSpPr txBox="1">
            <a:spLocks noChangeArrowheads="1"/>
          </p:cNvSpPr>
          <p:nvPr/>
        </p:nvSpPr>
        <p:spPr bwMode="auto">
          <a:xfrm>
            <a:off x="1259632" y="3501008"/>
            <a:ext cx="5760640" cy="114265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62308" tIns="32400" rIns="62308" bIns="324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1662" dirty="0"/>
              <a:t>	</a:t>
            </a:r>
            <a:r>
              <a:rPr lang="en-GB" altLang="en-US" sz="2800" u="sng" dirty="0"/>
              <a:t>Profit for the year</a:t>
            </a:r>
          </a:p>
          <a:p>
            <a:pPr eaLnBrk="1" hangingPunct="1">
              <a:spcBef>
                <a:spcPct val="50000"/>
              </a:spcBef>
            </a:pPr>
            <a:r>
              <a:rPr lang="en-GB" altLang="en-US" sz="2800" dirty="0"/>
              <a:t>Number of issued ordinary shares</a:t>
            </a:r>
          </a:p>
        </p:txBody>
      </p:sp>
    </p:spTree>
    <p:extLst>
      <p:ext uri="{BB962C8B-B14F-4D97-AF65-F5344CB8AC3E}">
        <p14:creationId xmlns:p14="http://schemas.microsoft.com/office/powerpoint/2010/main" val="1424674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2195736" y="692696"/>
            <a:ext cx="6480720" cy="998984"/>
          </a:xfrm>
        </p:spPr>
        <p:txBody>
          <a:bodyPr>
            <a:normAutofit/>
          </a:bodyPr>
          <a:lstStyle/>
          <a:p>
            <a:pPr eaLnBrk="1" hangingPunct="1"/>
            <a:r>
              <a:rPr lang="en-GB" altLang="en-US" sz="3200" b="1" dirty="0">
                <a:solidFill>
                  <a:srgbClr val="CC0000"/>
                </a:solidFill>
                <a:latin typeface="Arial" panose="020B0604020202020204" pitchFamily="34" charset="0"/>
              </a:rPr>
              <a:t>Price/Earnings (P/E) Ratio</a:t>
            </a:r>
            <a:r>
              <a:rPr lang="en-GB" altLang="en-US" sz="2000" dirty="0"/>
              <a:t> 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3356992"/>
            <a:ext cx="8075240" cy="3168352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endParaRPr lang="en-GB" altLang="en-US" sz="1938" dirty="0"/>
          </a:p>
          <a:p>
            <a:pPr eaLnBrk="1" hangingPunct="1">
              <a:lnSpc>
                <a:spcPct val="90000"/>
              </a:lnSpc>
            </a:pPr>
            <a:endParaRPr lang="en-GB" altLang="en-US" dirty="0"/>
          </a:p>
          <a:p>
            <a:pPr eaLnBrk="1" hangingPunct="1">
              <a:lnSpc>
                <a:spcPct val="90000"/>
              </a:lnSpc>
            </a:pPr>
            <a:r>
              <a:rPr lang="en-GB" altLang="en-US" sz="1938" dirty="0"/>
              <a:t>Measure of market confidence in the future of the business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1938" dirty="0"/>
              <a:t>Market price encapsulates everything known to the market about the company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1938" dirty="0"/>
              <a:t>Relating this to earnings gives an insight into the market’s opinion of the company’s performance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1938" dirty="0"/>
              <a:t>High PER – company considered attractive as a source of revenue (e.g. low risk investment, high future growth in earnings)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GB" altLang="en-US" dirty="0"/>
          </a:p>
          <a:p>
            <a:pPr eaLnBrk="1" hangingPunct="1">
              <a:lnSpc>
                <a:spcPct val="90000"/>
              </a:lnSpc>
            </a:pPr>
            <a:endParaRPr lang="en-GB" altLang="en-US" dirty="0"/>
          </a:p>
          <a:p>
            <a:pPr eaLnBrk="1" hangingPunct="1">
              <a:lnSpc>
                <a:spcPct val="90000"/>
              </a:lnSpc>
            </a:pPr>
            <a:endParaRPr lang="en-GB" altLang="en-US" dirty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GB" altLang="en-US" dirty="0"/>
          </a:p>
        </p:txBody>
      </p:sp>
      <p:sp>
        <p:nvSpPr>
          <p:cNvPr id="27652" name="Text Box 4"/>
          <p:cNvSpPr txBox="1">
            <a:spLocks noChangeArrowheads="1"/>
          </p:cNvSpPr>
          <p:nvPr/>
        </p:nvSpPr>
        <p:spPr bwMode="auto">
          <a:xfrm>
            <a:off x="1619672" y="2276872"/>
            <a:ext cx="5472608" cy="9887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62308" tIns="32400" rIns="62308" bIns="324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/>
              <a:t>PER =   </a:t>
            </a:r>
            <a:r>
              <a:rPr lang="en-GB" altLang="en-US" u="sng" dirty="0"/>
              <a:t>Market value of a share</a:t>
            </a:r>
          </a:p>
          <a:p>
            <a:pPr eaLnBrk="1" hangingPunct="1">
              <a:spcBef>
                <a:spcPct val="50000"/>
              </a:spcBef>
            </a:pPr>
            <a:r>
              <a:rPr lang="en-GB" altLang="en-US" dirty="0"/>
              <a:t>	     earnings per share</a:t>
            </a:r>
          </a:p>
        </p:txBody>
      </p:sp>
    </p:spTree>
    <p:extLst>
      <p:ext uri="{BB962C8B-B14F-4D97-AF65-F5344CB8AC3E}">
        <p14:creationId xmlns:p14="http://schemas.microsoft.com/office/powerpoint/2010/main" val="9384323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Limitations of ratio analysis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pPr eaLnBrk="1" hangingPunct="1"/>
            <a:r>
              <a:rPr lang="en-GB" altLang="en-US"/>
              <a:t>Quality of financial statements</a:t>
            </a:r>
          </a:p>
          <a:p>
            <a:pPr lvl="1" eaLnBrk="1" hangingPunct="1"/>
            <a:r>
              <a:rPr lang="en-GB" altLang="en-US"/>
              <a:t>Adherence to accounting rules and conventions may result in accounts which are not useful for analysis</a:t>
            </a:r>
          </a:p>
          <a:p>
            <a:pPr lvl="1" eaLnBrk="1" hangingPunct="1">
              <a:buFontTx/>
              <a:buNone/>
            </a:pPr>
            <a:endParaRPr lang="en-GB" altLang="en-US"/>
          </a:p>
          <a:p>
            <a:pPr eaLnBrk="1" hangingPunct="1"/>
            <a:r>
              <a:rPr lang="en-GB" altLang="en-US"/>
              <a:t>Comparisons between firms</a:t>
            </a:r>
          </a:p>
          <a:p>
            <a:pPr lvl="1" eaLnBrk="1" hangingPunct="1"/>
            <a:r>
              <a:rPr lang="en-GB" altLang="en-US"/>
              <a:t>Different firms use different methods</a:t>
            </a:r>
          </a:p>
          <a:p>
            <a:pPr lvl="2" eaLnBrk="1" hangingPunct="1">
              <a:lnSpc>
                <a:spcPct val="90000"/>
              </a:lnSpc>
            </a:pPr>
            <a:r>
              <a:rPr lang="en-GB" altLang="en-US"/>
              <a:t>Valuation method for stock</a:t>
            </a:r>
          </a:p>
          <a:p>
            <a:pPr lvl="2" eaLnBrk="1" hangingPunct="1">
              <a:lnSpc>
                <a:spcPct val="90000"/>
              </a:lnSpc>
            </a:pPr>
            <a:r>
              <a:rPr lang="en-GB" altLang="en-US"/>
              <a:t>Depreciation method</a:t>
            </a:r>
          </a:p>
          <a:p>
            <a:pPr lvl="2" eaLnBrk="1" hangingPunct="1">
              <a:lnSpc>
                <a:spcPct val="90000"/>
              </a:lnSpc>
            </a:pPr>
            <a:r>
              <a:rPr lang="en-GB" altLang="en-US"/>
              <a:t>Revaluation of assets</a:t>
            </a:r>
          </a:p>
          <a:p>
            <a:pPr lvl="2" eaLnBrk="1" hangingPunct="1">
              <a:lnSpc>
                <a:spcPct val="90000"/>
              </a:lnSpc>
            </a:pPr>
            <a:r>
              <a:rPr lang="en-GB" altLang="en-US"/>
              <a:t>Intangible assets</a:t>
            </a:r>
          </a:p>
          <a:p>
            <a:pPr lvl="1" eaLnBrk="1" hangingPunct="1">
              <a:lnSpc>
                <a:spcPct val="90000"/>
              </a:lnSpc>
            </a:pPr>
            <a:endParaRPr lang="en-GB" altLang="en-US"/>
          </a:p>
          <a:p>
            <a:pPr lvl="2" eaLnBrk="1" hangingPunct="1">
              <a:lnSpc>
                <a:spcPct val="90000"/>
              </a:lnSpc>
              <a:buFontTx/>
              <a:buNone/>
            </a:pPr>
            <a:endParaRPr lang="en-GB" altLang="en-US"/>
          </a:p>
          <a:p>
            <a:pPr eaLnBrk="1" hangingPunct="1">
              <a:lnSpc>
                <a:spcPct val="90000"/>
              </a:lnSpc>
            </a:pPr>
            <a:endParaRPr lang="en-GB" altLang="en-US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534784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Content Placeholder 2"/>
          <p:cNvSpPr>
            <a:spLocks noGrp="1"/>
          </p:cNvSpPr>
          <p:nvPr>
            <p:ph idx="1"/>
          </p:nvPr>
        </p:nvSpPr>
        <p:spPr>
          <a:xfrm>
            <a:off x="107504" y="1196752"/>
            <a:ext cx="8712968" cy="54864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GB" altLang="en-US" sz="2400" b="1" dirty="0"/>
              <a:t>Inflation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GB" altLang="en-US" sz="2000" dirty="0"/>
          </a:p>
          <a:p>
            <a:pPr lvl="1" eaLnBrk="1" hangingPunct="1">
              <a:lnSpc>
                <a:spcPct val="90000"/>
              </a:lnSpc>
            </a:pPr>
            <a:r>
              <a:rPr lang="en-GB" altLang="en-US" sz="2000" dirty="0"/>
              <a:t>With historical cost convention, it can be difficult to judge whether growth is real, or a result of inflation</a:t>
            </a:r>
          </a:p>
          <a:p>
            <a:pPr lvl="1" eaLnBrk="1" hangingPunct="1"/>
            <a:r>
              <a:rPr lang="en-GB" altLang="en-US" sz="2000" dirty="0"/>
              <a:t>Overstates profits in times of high inflation </a:t>
            </a:r>
            <a:r>
              <a:rPr lang="en-GB" altLang="en-US" sz="2000" dirty="0" err="1"/>
              <a:t>eg</a:t>
            </a:r>
            <a:endParaRPr lang="en-GB" altLang="en-US" sz="2000" dirty="0"/>
          </a:p>
          <a:p>
            <a:pPr lvl="2" eaLnBrk="1" hangingPunct="1"/>
            <a:r>
              <a:rPr lang="en-GB" altLang="en-US" sz="1800" dirty="0"/>
              <a:t>Increase in inventory values:</a:t>
            </a:r>
          </a:p>
          <a:p>
            <a:pPr lvl="1" eaLnBrk="1" hangingPunct="1">
              <a:buFontTx/>
              <a:buNone/>
            </a:pPr>
            <a:endParaRPr lang="en-GB" altLang="en-US" sz="2000" dirty="0"/>
          </a:p>
          <a:p>
            <a:pPr lvl="1" eaLnBrk="1" hangingPunct="1">
              <a:buFontTx/>
              <a:buNone/>
            </a:pPr>
            <a:endParaRPr lang="en-GB" altLang="en-US" sz="2000" dirty="0"/>
          </a:p>
          <a:p>
            <a:pPr lvl="1" eaLnBrk="1" hangingPunct="1">
              <a:buFontTx/>
              <a:buNone/>
            </a:pPr>
            <a:endParaRPr lang="en-GB" altLang="en-US" sz="2000" dirty="0"/>
          </a:p>
          <a:p>
            <a:pPr lvl="1" eaLnBrk="1" hangingPunct="1">
              <a:buFontTx/>
              <a:buNone/>
            </a:pPr>
            <a:endParaRPr lang="en-GB" altLang="en-US" sz="2000" dirty="0"/>
          </a:p>
          <a:p>
            <a:pPr lvl="1" eaLnBrk="1" hangingPunct="1">
              <a:buFontTx/>
              <a:buNone/>
            </a:pPr>
            <a:endParaRPr lang="en-GB" altLang="en-US" sz="2000" dirty="0"/>
          </a:p>
          <a:p>
            <a:pPr lvl="1" eaLnBrk="1" hangingPunct="1">
              <a:buFontTx/>
              <a:buNone/>
            </a:pPr>
            <a:endParaRPr lang="en-GB" altLang="en-US" sz="2000" dirty="0"/>
          </a:p>
          <a:p>
            <a:pPr lvl="1" eaLnBrk="1" hangingPunct="1">
              <a:buFontTx/>
              <a:buNone/>
            </a:pPr>
            <a:endParaRPr lang="en-GB" altLang="en-US" sz="2000" dirty="0"/>
          </a:p>
          <a:p>
            <a:pPr lvl="2" eaLnBrk="1" hangingPunct="1"/>
            <a:r>
              <a:rPr lang="en-GB" altLang="en-US" sz="1800" dirty="0"/>
              <a:t>Depreciation too low (calculated on original cost of asset)</a:t>
            </a:r>
          </a:p>
          <a:p>
            <a:pPr lvl="1" eaLnBrk="1" hangingPunct="1">
              <a:buFontTx/>
              <a:buNone/>
            </a:pPr>
            <a:endParaRPr lang="en-GB" altLang="en-US" dirty="0"/>
          </a:p>
        </p:txBody>
      </p:sp>
      <p:sp>
        <p:nvSpPr>
          <p:cNvPr id="29699" name="Text Box 4"/>
          <p:cNvSpPr txBox="1">
            <a:spLocks noChangeArrowheads="1"/>
          </p:cNvSpPr>
          <p:nvPr/>
        </p:nvSpPr>
        <p:spPr bwMode="auto">
          <a:xfrm>
            <a:off x="827584" y="3717032"/>
            <a:ext cx="6984776" cy="132343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000" dirty="0"/>
              <a:t>Item purchased for £1, sold for £1.50, </a:t>
            </a:r>
          </a:p>
          <a:p>
            <a:pPr eaLnBrk="1" hangingPunct="1">
              <a:spcBef>
                <a:spcPct val="50000"/>
              </a:spcBef>
            </a:pPr>
            <a:r>
              <a:rPr lang="en-GB" altLang="en-US" sz="2000" dirty="0"/>
              <a:t>Profit recorded as 50p.</a:t>
            </a:r>
          </a:p>
          <a:p>
            <a:pPr eaLnBrk="1" hangingPunct="1">
              <a:spcBef>
                <a:spcPct val="50000"/>
              </a:spcBef>
            </a:pPr>
            <a:r>
              <a:rPr lang="en-GB" altLang="en-US" sz="2000" dirty="0"/>
              <a:t>But if cost of replacing item is now £1.20, ‘real’ profit is only 30p.</a:t>
            </a:r>
          </a:p>
        </p:txBody>
      </p:sp>
    </p:spTree>
    <p:extLst>
      <p:ext uri="{BB962C8B-B14F-4D97-AF65-F5344CB8AC3E}">
        <p14:creationId xmlns:p14="http://schemas.microsoft.com/office/powerpoint/2010/main" val="21980227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5496" y="1484784"/>
            <a:ext cx="9108503" cy="5010534"/>
          </a:xfrm>
        </p:spPr>
        <p:txBody>
          <a:bodyPr>
            <a:normAutofit/>
          </a:bodyPr>
          <a:lstStyle/>
          <a:p>
            <a:pPr eaLnBrk="1" hangingPunct="1"/>
            <a:r>
              <a:rPr lang="en-GB" altLang="en-US" b="1" dirty="0"/>
              <a:t>Creative accounting</a:t>
            </a:r>
          </a:p>
          <a:p>
            <a:pPr lvl="1" eaLnBrk="1" hangingPunct="1"/>
            <a:r>
              <a:rPr lang="en-GB" altLang="en-US" sz="2400" dirty="0"/>
              <a:t>Directors may want to manipulate accounts to enhance the business’ image – ‘window dressing’</a:t>
            </a:r>
          </a:p>
          <a:p>
            <a:pPr lvl="1" eaLnBrk="1" hangingPunct="1"/>
            <a:r>
              <a:rPr lang="en-GB" altLang="en-US" sz="2400" dirty="0"/>
              <a:t>Most loopholes closed by accounting standards </a:t>
            </a:r>
          </a:p>
          <a:p>
            <a:pPr lvl="1" eaLnBrk="1" hangingPunct="1"/>
            <a:r>
              <a:rPr lang="en-GB" altLang="en-US" sz="2400" dirty="0"/>
              <a:t>Possibilities remaining:</a:t>
            </a:r>
          </a:p>
          <a:p>
            <a:pPr lvl="2" eaLnBrk="1" hangingPunct="1"/>
            <a:r>
              <a:rPr lang="en-GB" altLang="en-US" sz="1938" dirty="0"/>
              <a:t>Inappropriate depreciation of fixed assets</a:t>
            </a:r>
          </a:p>
          <a:p>
            <a:pPr lvl="2" eaLnBrk="1" hangingPunct="1"/>
            <a:r>
              <a:rPr lang="en-GB" altLang="en-US" sz="1938" dirty="0"/>
              <a:t>Inappropriate valuation of stock</a:t>
            </a:r>
          </a:p>
          <a:p>
            <a:pPr lvl="2" eaLnBrk="1" hangingPunct="1"/>
            <a:r>
              <a:rPr lang="en-GB" altLang="en-US" sz="1938" dirty="0"/>
              <a:t>Inappropriate valuation of future liabilities (</a:t>
            </a:r>
            <a:r>
              <a:rPr lang="en-GB" altLang="en-US" sz="1938" dirty="0" err="1"/>
              <a:t>eg</a:t>
            </a:r>
            <a:r>
              <a:rPr lang="en-GB" altLang="en-US" sz="1938" dirty="0"/>
              <a:t> pension provisions)</a:t>
            </a:r>
          </a:p>
          <a:p>
            <a:pPr lvl="2" eaLnBrk="1" hangingPunct="1"/>
            <a:r>
              <a:rPr lang="en-GB" altLang="en-US" sz="1938" dirty="0"/>
              <a:t>Creating intangible fixed assets of questionable true worth</a:t>
            </a:r>
          </a:p>
          <a:p>
            <a:pPr lvl="2" eaLnBrk="1" hangingPunct="1"/>
            <a:r>
              <a:rPr lang="en-GB" altLang="en-US" sz="1938" dirty="0"/>
              <a:t>Omitting contingent liabilities</a:t>
            </a:r>
          </a:p>
          <a:p>
            <a:pPr lvl="2" eaLnBrk="1" hangingPunct="1"/>
            <a:r>
              <a:rPr lang="en-GB" altLang="en-US" sz="1938" dirty="0"/>
              <a:t>Pre-booking anticipated sales revenues</a:t>
            </a:r>
          </a:p>
          <a:p>
            <a:pPr lvl="1" eaLnBrk="1" hangingPunct="1">
              <a:buFontTx/>
              <a:buNone/>
            </a:pPr>
            <a:endParaRPr lang="en-GB" altLang="en-US" dirty="0"/>
          </a:p>
          <a:p>
            <a:pPr eaLnBrk="1" hangingPunct="1"/>
            <a:endParaRPr lang="en-GB" altLang="en-US" sz="1938" dirty="0"/>
          </a:p>
          <a:p>
            <a:pPr eaLnBrk="1" hangingPunct="1"/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6564751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Content Placeholder 2"/>
          <p:cNvSpPr>
            <a:spLocks noGrp="1"/>
          </p:cNvSpPr>
          <p:nvPr>
            <p:ph idx="1"/>
          </p:nvPr>
        </p:nvSpPr>
        <p:spPr>
          <a:xfrm>
            <a:off x="-3854" y="2060848"/>
            <a:ext cx="8928992" cy="4892919"/>
          </a:xfrm>
        </p:spPr>
        <p:txBody>
          <a:bodyPr>
            <a:normAutofit/>
          </a:bodyPr>
          <a:lstStyle/>
          <a:p>
            <a:pPr eaLnBrk="1" hangingPunct="1"/>
            <a:r>
              <a:rPr lang="en-GB" altLang="en-US" dirty="0"/>
              <a:t>Out of date figures</a:t>
            </a:r>
          </a:p>
          <a:p>
            <a:pPr lvl="1" eaLnBrk="1" hangingPunct="1"/>
            <a:r>
              <a:rPr lang="en-GB" altLang="en-US" dirty="0"/>
              <a:t>Figures may be based on transactions which occurred nearly two years earlier</a:t>
            </a:r>
          </a:p>
          <a:p>
            <a:pPr lvl="1" eaLnBrk="1" hangingPunct="1">
              <a:buFontTx/>
              <a:buNone/>
            </a:pPr>
            <a:endParaRPr lang="en-GB" altLang="en-US" dirty="0"/>
          </a:p>
          <a:p>
            <a:pPr eaLnBrk="1" hangingPunct="1"/>
            <a:r>
              <a:rPr lang="en-GB" altLang="en-US" dirty="0"/>
              <a:t>Forecasting the future</a:t>
            </a:r>
          </a:p>
          <a:p>
            <a:pPr lvl="1" eaLnBrk="1" hangingPunct="1"/>
            <a:r>
              <a:rPr lang="en-GB" altLang="en-US" dirty="0"/>
              <a:t>Cannot use historical data to accurately predict the future</a:t>
            </a:r>
          </a:p>
          <a:p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8483945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Ratio analysis may be used to facilitate interpretation of financial performance.</a:t>
            </a:r>
          </a:p>
          <a:p>
            <a:r>
              <a:rPr lang="en-GB" dirty="0"/>
              <a:t>Ratios are best used in conjunction with other ratios to understand the performance and reasons for changes in results.</a:t>
            </a:r>
          </a:p>
          <a:p>
            <a:r>
              <a:rPr lang="en-GB" dirty="0"/>
              <a:t>Benchmarking is key to interpretation of financial performance.</a:t>
            </a:r>
          </a:p>
          <a:p>
            <a:r>
              <a:rPr lang="en-GB" dirty="0"/>
              <a:t>Ratios enable comparisons between organisations of a different size.</a:t>
            </a:r>
          </a:p>
        </p:txBody>
      </p:sp>
    </p:spTree>
    <p:extLst>
      <p:ext uri="{BB962C8B-B14F-4D97-AF65-F5344CB8AC3E}">
        <p14:creationId xmlns:p14="http://schemas.microsoft.com/office/powerpoint/2010/main" val="165158863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A5ACAF"/>
      </a:accent2>
      <a:accent3>
        <a:srgbClr val="5E6A71"/>
      </a:accent3>
      <a:accent4>
        <a:srgbClr val="00549F"/>
      </a:accent4>
      <a:accent5>
        <a:srgbClr val="72BCFF"/>
      </a:accent5>
      <a:accent6>
        <a:srgbClr val="BCC3C7"/>
      </a:accent6>
      <a:hlink>
        <a:srgbClr val="0098DB"/>
      </a:hlink>
      <a:folHlink>
        <a:srgbClr val="A5ACA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A5ACAF"/>
      </a:accent2>
      <a:accent3>
        <a:srgbClr val="5E6A71"/>
      </a:accent3>
      <a:accent4>
        <a:srgbClr val="00549F"/>
      </a:accent4>
      <a:accent5>
        <a:srgbClr val="72BCFF"/>
      </a:accent5>
      <a:accent6>
        <a:srgbClr val="BCC3C7"/>
      </a:accent6>
      <a:hlink>
        <a:srgbClr val="0098DB"/>
      </a:hlink>
      <a:folHlink>
        <a:srgbClr val="A5ACA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4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FFFFF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FFFFF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5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FFFFF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EE07C38512818468275603CD5E61BA0" ma:contentTypeVersion="0" ma:contentTypeDescription="Create a new document." ma:contentTypeScope="" ma:versionID="bffdf6d8b42402b1618094c717ddf4d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aa1222beb234debe96d12a98d24ff8a0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79AB7AB-D87E-4CE6-8813-9B5D560C3A7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6FC14F33-A9A2-48F1-A0A9-DB146E88F93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F7ACEBA-99EE-4B9A-99FE-F9695B41FA99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278</TotalTime>
  <Words>939</Words>
  <Application>Microsoft Office PowerPoint</Application>
  <PresentationFormat>On-screen Show (4:3)</PresentationFormat>
  <Paragraphs>201</Paragraphs>
  <Slides>19</Slides>
  <Notes>17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Arial</vt:lpstr>
      <vt:lpstr>Calibri</vt:lpstr>
      <vt:lpstr>Times New Roman</vt:lpstr>
      <vt:lpstr>1_Office Theme</vt:lpstr>
      <vt:lpstr>2_Office Theme</vt:lpstr>
      <vt:lpstr>4_Office Theme</vt:lpstr>
      <vt:lpstr>3_Office Theme</vt:lpstr>
      <vt:lpstr>5_Office Theme</vt:lpstr>
      <vt:lpstr>Document</vt:lpstr>
      <vt:lpstr>Analysing and Interpreting Financial Statements</vt:lpstr>
      <vt:lpstr>PowerPoint Presentation</vt:lpstr>
      <vt:lpstr>Liquidity ratios   Current ratio</vt:lpstr>
      <vt:lpstr>PowerPoint Presentation</vt:lpstr>
      <vt:lpstr>Acid test ratio</vt:lpstr>
      <vt:lpstr>  Financial gearing ratios   </vt:lpstr>
      <vt:lpstr>Gearing ratio</vt:lpstr>
      <vt:lpstr>PowerPoint Presentation</vt:lpstr>
      <vt:lpstr>Interest cover</vt:lpstr>
      <vt:lpstr>Asset Cover</vt:lpstr>
      <vt:lpstr>Dividend cover</vt:lpstr>
      <vt:lpstr>Dividend Yield</vt:lpstr>
      <vt:lpstr> Earnings per share</vt:lpstr>
      <vt:lpstr>Price/Earnings (P/E) Ratio </vt:lpstr>
      <vt:lpstr>Limitations of ratio analysis</vt:lpstr>
      <vt:lpstr>PowerPoint Presentation</vt:lpstr>
      <vt:lpstr>PowerPoint Presentation</vt:lpstr>
      <vt:lpstr>PowerPoint Presentation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Iain McGeary</dc:creator>
  <cp:lastModifiedBy>Samuel, Sunday</cp:lastModifiedBy>
  <cp:revision>31</cp:revision>
  <dcterms:created xsi:type="dcterms:W3CDTF">2016-02-11T16:23:53Z</dcterms:created>
  <dcterms:modified xsi:type="dcterms:W3CDTF">2024-02-23T10:34:39Z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0x0101006EE07C38512818468275603CD5E61BA0</vt:lpwstr>
  </property>
</Properties>
</file>