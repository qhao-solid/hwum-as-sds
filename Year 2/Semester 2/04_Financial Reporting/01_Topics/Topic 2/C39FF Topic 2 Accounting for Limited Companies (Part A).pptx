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notesMasters/notesMaster1.xml" ContentType="application/vnd.openxmlformats-officedocument.presentationml.notesMaster+xml"/>
  <Override PartName="/ppt/tags/tag1.xml" ContentType="application/vnd.openxmlformats-officedocument.presentationml.tag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slideLayouts/slideLayout24.xml" ContentType="application/vnd.openxmlformats-officedocument.presentationml.slideLayout+xml"/>
  <Override PartName="/ppt/theme/theme3.xml" ContentType="application/vnd.openxmlformats-officedocument.theme+xml"/>
  <Override PartName="/ppt/slideLayouts/slideLayout25.xml" ContentType="application/vnd.openxmlformats-officedocument.presentationml.slideLayout+xml"/>
  <Override PartName="/ppt/theme/theme4.xml" ContentType="application/vnd.openxmlformats-officedocument.theme+xml"/>
  <Override PartName="/ppt/slideLayouts/slideLayout26.xml" ContentType="application/vnd.openxmlformats-officedocument.presentationml.slideLayout+xml"/>
  <Override PartName="/ppt/theme/theme5.xml" ContentType="application/vnd.openxmlformats-officedocument.theme+xml"/>
  <Override PartName="/ppt/theme/theme6.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90" r:id="rId4"/>
    <p:sldMasterId id="2147483702" r:id="rId5"/>
    <p:sldMasterId id="2147483685" r:id="rId6"/>
    <p:sldMasterId id="2147483684" r:id="rId7"/>
    <p:sldMasterId id="2147483686" r:id="rId8"/>
  </p:sldMasterIdLst>
  <p:notesMasterIdLst>
    <p:notesMasterId r:id="rId31"/>
  </p:notesMasterIdLst>
  <p:sldIdLst>
    <p:sldId id="256" r:id="rId9"/>
    <p:sldId id="260" r:id="rId10"/>
    <p:sldId id="261" r:id="rId11"/>
    <p:sldId id="262" r:id="rId12"/>
    <p:sldId id="263" r:id="rId13"/>
    <p:sldId id="264" r:id="rId14"/>
    <p:sldId id="265" r:id="rId15"/>
    <p:sldId id="273" r:id="rId16"/>
    <p:sldId id="274" r:id="rId17"/>
    <p:sldId id="277" r:id="rId18"/>
    <p:sldId id="278" r:id="rId19"/>
    <p:sldId id="279" r:id="rId20"/>
    <p:sldId id="280" r:id="rId21"/>
    <p:sldId id="281" r:id="rId22"/>
    <p:sldId id="300" r:id="rId23"/>
    <p:sldId id="282" r:id="rId24"/>
    <p:sldId id="287" r:id="rId25"/>
    <p:sldId id="288" r:id="rId26"/>
    <p:sldId id="289" r:id="rId27"/>
    <p:sldId id="269" r:id="rId28"/>
    <p:sldId id="309" r:id="rId29"/>
    <p:sldId id="318" r:id="rId30"/>
  </p:sldIdLst>
  <p:sldSz cx="9144000" cy="6858000" type="screen4x3"/>
  <p:notesSz cx="6797675" cy="9926638"/>
  <p:custDataLst>
    <p:tags r:id="rId32"/>
  </p:custData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E6A71"/>
    <a:srgbClr val="0098DB"/>
    <a:srgbClr val="00549F"/>
    <a:srgbClr val="A5ACA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102" d="100"/>
          <a:sy n="102" d="100"/>
        </p:scale>
        <p:origin x="1806" y="10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5.xml"/><Relationship Id="rId18" Type="http://schemas.openxmlformats.org/officeDocument/2006/relationships/slide" Target="slides/slide10.xml"/><Relationship Id="rId26" Type="http://schemas.openxmlformats.org/officeDocument/2006/relationships/slide" Target="slides/slide18.xml"/><Relationship Id="rId3" Type="http://schemas.openxmlformats.org/officeDocument/2006/relationships/customXml" Target="../customXml/item3.xml"/><Relationship Id="rId21" Type="http://schemas.openxmlformats.org/officeDocument/2006/relationships/slide" Target="slides/slide13.xml"/><Relationship Id="rId34" Type="http://schemas.openxmlformats.org/officeDocument/2006/relationships/viewProps" Target="viewProps.xml"/><Relationship Id="rId7" Type="http://schemas.openxmlformats.org/officeDocument/2006/relationships/slideMaster" Target="slideMasters/slideMaster4.xml"/><Relationship Id="rId12" Type="http://schemas.openxmlformats.org/officeDocument/2006/relationships/slide" Target="slides/slide4.xml"/><Relationship Id="rId17" Type="http://schemas.openxmlformats.org/officeDocument/2006/relationships/slide" Target="slides/slide9.xml"/><Relationship Id="rId25" Type="http://schemas.openxmlformats.org/officeDocument/2006/relationships/slide" Target="slides/slide17.xml"/><Relationship Id="rId33" Type="http://schemas.openxmlformats.org/officeDocument/2006/relationships/presProps" Target="presProps.xml"/><Relationship Id="rId2" Type="http://schemas.openxmlformats.org/officeDocument/2006/relationships/customXml" Target="../customXml/item2.xml"/><Relationship Id="rId16" Type="http://schemas.openxmlformats.org/officeDocument/2006/relationships/slide" Target="slides/slide8.xml"/><Relationship Id="rId20" Type="http://schemas.openxmlformats.org/officeDocument/2006/relationships/slide" Target="slides/slide12.xml"/><Relationship Id="rId29" Type="http://schemas.openxmlformats.org/officeDocument/2006/relationships/slide" Target="slides/slide21.xml"/><Relationship Id="rId1" Type="http://schemas.openxmlformats.org/officeDocument/2006/relationships/customXml" Target="../customXml/item1.xml"/><Relationship Id="rId6" Type="http://schemas.openxmlformats.org/officeDocument/2006/relationships/slideMaster" Target="slideMasters/slideMaster3.xml"/><Relationship Id="rId11" Type="http://schemas.openxmlformats.org/officeDocument/2006/relationships/slide" Target="slides/slide3.xml"/><Relationship Id="rId24" Type="http://schemas.openxmlformats.org/officeDocument/2006/relationships/slide" Target="slides/slide16.xml"/><Relationship Id="rId32" Type="http://schemas.openxmlformats.org/officeDocument/2006/relationships/tags" Target="tags/tag1.xml"/><Relationship Id="rId5" Type="http://schemas.openxmlformats.org/officeDocument/2006/relationships/slideMaster" Target="slideMasters/slideMaster2.xml"/><Relationship Id="rId15" Type="http://schemas.openxmlformats.org/officeDocument/2006/relationships/slide" Target="slides/slide7.xml"/><Relationship Id="rId23" Type="http://schemas.openxmlformats.org/officeDocument/2006/relationships/slide" Target="slides/slide15.xml"/><Relationship Id="rId28" Type="http://schemas.openxmlformats.org/officeDocument/2006/relationships/slide" Target="slides/slide20.xml"/><Relationship Id="rId36" Type="http://schemas.openxmlformats.org/officeDocument/2006/relationships/tableStyles" Target="tableStyles.xml"/><Relationship Id="rId10" Type="http://schemas.openxmlformats.org/officeDocument/2006/relationships/slide" Target="slides/slide2.xml"/><Relationship Id="rId19" Type="http://schemas.openxmlformats.org/officeDocument/2006/relationships/slide" Target="slides/slide11.xml"/><Relationship Id="rId31" Type="http://schemas.openxmlformats.org/officeDocument/2006/relationships/notesMaster" Target="notesMasters/notesMaster1.xml"/><Relationship Id="rId4" Type="http://schemas.openxmlformats.org/officeDocument/2006/relationships/slideMaster" Target="slideMasters/slideMaster1.xml"/><Relationship Id="rId9" Type="http://schemas.openxmlformats.org/officeDocument/2006/relationships/slide" Target="slides/slide1.xml"/><Relationship Id="rId14" Type="http://schemas.openxmlformats.org/officeDocument/2006/relationships/slide" Target="slides/slide6.xml"/><Relationship Id="rId22" Type="http://schemas.openxmlformats.org/officeDocument/2006/relationships/slide" Target="slides/slide14.xml"/><Relationship Id="rId27" Type="http://schemas.openxmlformats.org/officeDocument/2006/relationships/slide" Target="slides/slide19.xml"/><Relationship Id="rId30" Type="http://schemas.openxmlformats.org/officeDocument/2006/relationships/slide" Target="slides/slide22.xml"/><Relationship Id="rId35" Type="http://schemas.openxmlformats.org/officeDocument/2006/relationships/theme" Target="theme/theme1.xml"/><Relationship Id="rId8" Type="http://schemas.openxmlformats.org/officeDocument/2006/relationships/slideMaster" Target="slideMasters/slideMaster5.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6.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45659" cy="498056"/>
          </a:xfrm>
          <a:prstGeom prst="rect">
            <a:avLst/>
          </a:prstGeom>
        </p:spPr>
        <p:txBody>
          <a:bodyPr vert="horz" lIns="91440" tIns="45720" rIns="91440" bIns="45720" rtlCol="0"/>
          <a:lstStyle>
            <a:lvl1pPr algn="l">
              <a:defRPr sz="1200"/>
            </a:lvl1pPr>
          </a:lstStyle>
          <a:p>
            <a:endParaRPr lang="en-GB"/>
          </a:p>
        </p:txBody>
      </p:sp>
      <p:sp>
        <p:nvSpPr>
          <p:cNvPr id="3" name="Date Placeholder 2"/>
          <p:cNvSpPr>
            <a:spLocks noGrp="1"/>
          </p:cNvSpPr>
          <p:nvPr>
            <p:ph type="dt" idx="1"/>
          </p:nvPr>
        </p:nvSpPr>
        <p:spPr>
          <a:xfrm>
            <a:off x="3850443" y="0"/>
            <a:ext cx="2945659" cy="498056"/>
          </a:xfrm>
          <a:prstGeom prst="rect">
            <a:avLst/>
          </a:prstGeom>
        </p:spPr>
        <p:txBody>
          <a:bodyPr vert="horz" lIns="91440" tIns="45720" rIns="91440" bIns="45720" rtlCol="0"/>
          <a:lstStyle>
            <a:lvl1pPr algn="r">
              <a:defRPr sz="1200"/>
            </a:lvl1pPr>
          </a:lstStyle>
          <a:p>
            <a:fld id="{6E40F1CF-38F0-4B3E-BA98-EE47A1EE936A}" type="datetimeFigureOut">
              <a:rPr lang="en-GB" smtClean="0"/>
              <a:t>16/01/2025</a:t>
            </a:fld>
            <a:endParaRPr lang="en-GB"/>
          </a:p>
        </p:txBody>
      </p:sp>
      <p:sp>
        <p:nvSpPr>
          <p:cNvPr id="4" name="Slide Image Placeholder 3"/>
          <p:cNvSpPr>
            <a:spLocks noGrp="1" noRot="1" noChangeAspect="1"/>
          </p:cNvSpPr>
          <p:nvPr>
            <p:ph type="sldImg" idx="2"/>
          </p:nvPr>
        </p:nvSpPr>
        <p:spPr>
          <a:xfrm>
            <a:off x="1166813" y="1241425"/>
            <a:ext cx="4464050" cy="3349625"/>
          </a:xfrm>
          <a:prstGeom prst="rect">
            <a:avLst/>
          </a:prstGeom>
          <a:noFill/>
          <a:ln w="12700">
            <a:solidFill>
              <a:prstClr val="black"/>
            </a:solidFill>
          </a:ln>
        </p:spPr>
        <p:txBody>
          <a:bodyPr vert="horz" lIns="91440" tIns="45720" rIns="91440" bIns="45720" rtlCol="0" anchor="ctr"/>
          <a:lstStyle/>
          <a:p>
            <a:endParaRPr lang="en-GB"/>
          </a:p>
        </p:txBody>
      </p:sp>
      <p:sp>
        <p:nvSpPr>
          <p:cNvPr id="5" name="Notes Placeholder 4"/>
          <p:cNvSpPr>
            <a:spLocks noGrp="1"/>
          </p:cNvSpPr>
          <p:nvPr>
            <p:ph type="body" sz="quarter" idx="3"/>
          </p:nvPr>
        </p:nvSpPr>
        <p:spPr>
          <a:xfrm>
            <a:off x="679768" y="4777194"/>
            <a:ext cx="5438140" cy="3908614"/>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6" name="Footer Placeholder 5"/>
          <p:cNvSpPr>
            <a:spLocks noGrp="1"/>
          </p:cNvSpPr>
          <p:nvPr>
            <p:ph type="ftr" sz="quarter" idx="4"/>
          </p:nvPr>
        </p:nvSpPr>
        <p:spPr>
          <a:xfrm>
            <a:off x="0" y="9428584"/>
            <a:ext cx="2945659" cy="498055"/>
          </a:xfrm>
          <a:prstGeom prst="rect">
            <a:avLst/>
          </a:prstGeom>
        </p:spPr>
        <p:txBody>
          <a:bodyPr vert="horz" lIns="91440" tIns="45720" rIns="91440" bIns="45720" rtlCol="0" anchor="b"/>
          <a:lstStyle>
            <a:lvl1pPr algn="l">
              <a:defRPr sz="1200"/>
            </a:lvl1pPr>
          </a:lstStyle>
          <a:p>
            <a:endParaRPr lang="en-GB"/>
          </a:p>
        </p:txBody>
      </p:sp>
      <p:sp>
        <p:nvSpPr>
          <p:cNvPr id="7" name="Slide Number Placeholder 6"/>
          <p:cNvSpPr>
            <a:spLocks noGrp="1"/>
          </p:cNvSpPr>
          <p:nvPr>
            <p:ph type="sldNum" sz="quarter" idx="5"/>
          </p:nvPr>
        </p:nvSpPr>
        <p:spPr>
          <a:xfrm>
            <a:off x="3850443" y="9428584"/>
            <a:ext cx="2945659" cy="498055"/>
          </a:xfrm>
          <a:prstGeom prst="rect">
            <a:avLst/>
          </a:prstGeom>
        </p:spPr>
        <p:txBody>
          <a:bodyPr vert="horz" lIns="91440" tIns="45720" rIns="91440" bIns="45720" rtlCol="0" anchor="b"/>
          <a:lstStyle>
            <a:lvl1pPr algn="r">
              <a:defRPr sz="1200"/>
            </a:lvl1pPr>
          </a:lstStyle>
          <a:p>
            <a:fld id="{1C822DC6-D898-4D02-B84C-BF8DD9F0C7E6}" type="slidenum">
              <a:rPr lang="en-GB" smtClean="0"/>
              <a:t>‹#›</a:t>
            </a:fld>
            <a:endParaRPr lang="en-GB"/>
          </a:p>
        </p:txBody>
      </p:sp>
    </p:spTree>
    <p:extLst>
      <p:ext uri="{BB962C8B-B14F-4D97-AF65-F5344CB8AC3E}">
        <p14:creationId xmlns:p14="http://schemas.microsoft.com/office/powerpoint/2010/main" val="278659494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a:t>
            </a:fld>
            <a:endParaRPr lang="en-GB"/>
          </a:p>
        </p:txBody>
      </p:sp>
    </p:spTree>
    <p:extLst>
      <p:ext uri="{BB962C8B-B14F-4D97-AF65-F5344CB8AC3E}">
        <p14:creationId xmlns:p14="http://schemas.microsoft.com/office/powerpoint/2010/main" val="3569726777"/>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2</a:t>
            </a:fld>
            <a:endParaRPr lang="en-GB"/>
          </a:p>
        </p:txBody>
      </p:sp>
    </p:spTree>
    <p:extLst>
      <p:ext uri="{BB962C8B-B14F-4D97-AF65-F5344CB8AC3E}">
        <p14:creationId xmlns:p14="http://schemas.microsoft.com/office/powerpoint/2010/main" val="401954019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3</a:t>
            </a:fld>
            <a:endParaRPr lang="en-GB"/>
          </a:p>
        </p:txBody>
      </p:sp>
    </p:spTree>
    <p:extLst>
      <p:ext uri="{BB962C8B-B14F-4D97-AF65-F5344CB8AC3E}">
        <p14:creationId xmlns:p14="http://schemas.microsoft.com/office/powerpoint/2010/main" val="4956836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4</a:t>
            </a:fld>
            <a:endParaRPr lang="en-GB"/>
          </a:p>
        </p:txBody>
      </p:sp>
    </p:spTree>
    <p:extLst>
      <p:ext uri="{BB962C8B-B14F-4D97-AF65-F5344CB8AC3E}">
        <p14:creationId xmlns:p14="http://schemas.microsoft.com/office/powerpoint/2010/main" val="418352155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5</a:t>
            </a:fld>
            <a:endParaRPr lang="en-GB"/>
          </a:p>
        </p:txBody>
      </p:sp>
    </p:spTree>
    <p:extLst>
      <p:ext uri="{BB962C8B-B14F-4D97-AF65-F5344CB8AC3E}">
        <p14:creationId xmlns:p14="http://schemas.microsoft.com/office/powerpoint/2010/main" val="20364238"/>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6</a:t>
            </a:fld>
            <a:endParaRPr lang="en-GB"/>
          </a:p>
        </p:txBody>
      </p:sp>
    </p:spTree>
    <p:extLst>
      <p:ext uri="{BB962C8B-B14F-4D97-AF65-F5344CB8AC3E}">
        <p14:creationId xmlns:p14="http://schemas.microsoft.com/office/powerpoint/2010/main" val="46249238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7</a:t>
            </a:fld>
            <a:endParaRPr lang="en-GB"/>
          </a:p>
        </p:txBody>
      </p:sp>
    </p:spTree>
    <p:extLst>
      <p:ext uri="{BB962C8B-B14F-4D97-AF65-F5344CB8AC3E}">
        <p14:creationId xmlns:p14="http://schemas.microsoft.com/office/powerpoint/2010/main" val="636966434"/>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8</a:t>
            </a:fld>
            <a:endParaRPr lang="en-GB"/>
          </a:p>
        </p:txBody>
      </p:sp>
    </p:spTree>
    <p:extLst>
      <p:ext uri="{BB962C8B-B14F-4D97-AF65-F5344CB8AC3E}">
        <p14:creationId xmlns:p14="http://schemas.microsoft.com/office/powerpoint/2010/main" val="585480749"/>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9</a:t>
            </a:fld>
            <a:endParaRPr lang="en-GB"/>
          </a:p>
        </p:txBody>
      </p:sp>
    </p:spTree>
    <p:extLst>
      <p:ext uri="{BB962C8B-B14F-4D97-AF65-F5344CB8AC3E}">
        <p14:creationId xmlns:p14="http://schemas.microsoft.com/office/powerpoint/2010/main" val="2763177638"/>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10</a:t>
            </a:fld>
            <a:endParaRPr lang="en-GB"/>
          </a:p>
        </p:txBody>
      </p:sp>
    </p:spTree>
    <p:extLst>
      <p:ext uri="{BB962C8B-B14F-4D97-AF65-F5344CB8AC3E}">
        <p14:creationId xmlns:p14="http://schemas.microsoft.com/office/powerpoint/2010/main" val="1741746796"/>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11</a:t>
            </a:fld>
            <a:endParaRPr lang="en-GB"/>
          </a:p>
        </p:txBody>
      </p:sp>
    </p:spTree>
    <p:extLst>
      <p:ext uri="{BB962C8B-B14F-4D97-AF65-F5344CB8AC3E}">
        <p14:creationId xmlns:p14="http://schemas.microsoft.com/office/powerpoint/2010/main" val="107916827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12</a:t>
            </a:fld>
            <a:endParaRPr lang="en-GB"/>
          </a:p>
        </p:txBody>
      </p:sp>
    </p:spTree>
    <p:extLst>
      <p:ext uri="{BB962C8B-B14F-4D97-AF65-F5344CB8AC3E}">
        <p14:creationId xmlns:p14="http://schemas.microsoft.com/office/powerpoint/2010/main" val="263478279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13</a:t>
            </a:fld>
            <a:endParaRPr lang="en-GB"/>
          </a:p>
        </p:txBody>
      </p:sp>
    </p:spTree>
    <p:extLst>
      <p:ext uri="{BB962C8B-B14F-4D97-AF65-F5344CB8AC3E}">
        <p14:creationId xmlns:p14="http://schemas.microsoft.com/office/powerpoint/2010/main" val="78453244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14</a:t>
            </a:fld>
            <a:endParaRPr lang="en-GB"/>
          </a:p>
        </p:txBody>
      </p:sp>
    </p:spTree>
    <p:extLst>
      <p:ext uri="{BB962C8B-B14F-4D97-AF65-F5344CB8AC3E}">
        <p14:creationId xmlns:p14="http://schemas.microsoft.com/office/powerpoint/2010/main" val="33379085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15</a:t>
            </a:fld>
            <a:endParaRPr lang="en-GB"/>
          </a:p>
        </p:txBody>
      </p:sp>
    </p:spTree>
    <p:extLst>
      <p:ext uri="{BB962C8B-B14F-4D97-AF65-F5344CB8AC3E}">
        <p14:creationId xmlns:p14="http://schemas.microsoft.com/office/powerpoint/2010/main" val="3525547282"/>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16</a:t>
            </a:fld>
            <a:endParaRPr lang="en-GB"/>
          </a:p>
        </p:txBody>
      </p:sp>
    </p:spTree>
    <p:extLst>
      <p:ext uri="{BB962C8B-B14F-4D97-AF65-F5344CB8AC3E}">
        <p14:creationId xmlns:p14="http://schemas.microsoft.com/office/powerpoint/2010/main" val="1315374865"/>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17</a:t>
            </a:fld>
            <a:endParaRPr lang="en-GB"/>
          </a:p>
        </p:txBody>
      </p:sp>
    </p:spTree>
    <p:extLst>
      <p:ext uri="{BB962C8B-B14F-4D97-AF65-F5344CB8AC3E}">
        <p14:creationId xmlns:p14="http://schemas.microsoft.com/office/powerpoint/2010/main" val="350071039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18</a:t>
            </a:fld>
            <a:endParaRPr lang="en-GB"/>
          </a:p>
        </p:txBody>
      </p:sp>
    </p:spTree>
    <p:extLst>
      <p:ext uri="{BB962C8B-B14F-4D97-AF65-F5344CB8AC3E}">
        <p14:creationId xmlns:p14="http://schemas.microsoft.com/office/powerpoint/2010/main" val="247701275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19</a:t>
            </a:fld>
            <a:endParaRPr lang="en-GB"/>
          </a:p>
        </p:txBody>
      </p:sp>
    </p:spTree>
    <p:extLst>
      <p:ext uri="{BB962C8B-B14F-4D97-AF65-F5344CB8AC3E}">
        <p14:creationId xmlns:p14="http://schemas.microsoft.com/office/powerpoint/2010/main" val="246097711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20</a:t>
            </a:fld>
            <a:endParaRPr lang="en-GB"/>
          </a:p>
        </p:txBody>
      </p:sp>
    </p:spTree>
    <p:extLst>
      <p:ext uri="{BB962C8B-B14F-4D97-AF65-F5344CB8AC3E}">
        <p14:creationId xmlns:p14="http://schemas.microsoft.com/office/powerpoint/2010/main" val="2316091590"/>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p>
        </p:txBody>
      </p:sp>
      <p:sp>
        <p:nvSpPr>
          <p:cNvPr id="4" name="Slide Number Placeholder 3"/>
          <p:cNvSpPr>
            <a:spLocks noGrp="1"/>
          </p:cNvSpPr>
          <p:nvPr>
            <p:ph type="sldNum" sz="quarter" idx="5"/>
          </p:nvPr>
        </p:nvSpPr>
        <p:spPr/>
        <p:txBody>
          <a:bodyPr/>
          <a:lstStyle/>
          <a:p>
            <a:fld id="{1C822DC6-D898-4D02-B84C-BF8DD9F0C7E6}" type="slidenum">
              <a:rPr lang="en-GB" smtClean="0"/>
              <a:t>21</a:t>
            </a:fld>
            <a:endParaRPr lang="en-GB"/>
          </a:p>
        </p:txBody>
      </p:sp>
    </p:spTree>
    <p:extLst>
      <p:ext uri="{BB962C8B-B14F-4D97-AF65-F5344CB8AC3E}">
        <p14:creationId xmlns:p14="http://schemas.microsoft.com/office/powerpoint/2010/main" val="1260957748"/>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a:p>
        </p:txBody>
      </p:sp>
      <p:sp>
        <p:nvSpPr>
          <p:cNvPr id="4" name="Slide Number Placeholder 3"/>
          <p:cNvSpPr>
            <a:spLocks noGrp="1"/>
          </p:cNvSpPr>
          <p:nvPr>
            <p:ph type="sldNum" sz="quarter" idx="5"/>
          </p:nvPr>
        </p:nvSpPr>
        <p:spPr/>
        <p:txBody>
          <a:bodyPr/>
          <a:lstStyle/>
          <a:p>
            <a:fld id="{1C822DC6-D898-4D02-B84C-BF8DD9F0C7E6}" type="slidenum">
              <a:rPr lang="en-GB" smtClean="0"/>
              <a:t>22</a:t>
            </a:fld>
            <a:endParaRPr lang="en-GB"/>
          </a:p>
        </p:txBody>
      </p:sp>
    </p:spTree>
    <p:extLst>
      <p:ext uri="{BB962C8B-B14F-4D97-AF65-F5344CB8AC3E}">
        <p14:creationId xmlns:p14="http://schemas.microsoft.com/office/powerpoint/2010/main" val="1833470175"/>
      </p:ext>
    </p:extLst>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2.jp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2" Type="http://schemas.openxmlformats.org/officeDocument/2006/relationships/image" Target="../media/image4.jpg"/><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rgbClr val="5E6A71"/>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683568" y="3645024"/>
            <a:ext cx="6400800" cy="1752600"/>
          </a:xfrm>
        </p:spPr>
        <p:txBody>
          <a:bodyPr/>
          <a:lstStyle>
            <a:lvl1pPr marL="0" indent="0" algn="l">
              <a:buNone/>
              <a:defRPr i="1">
                <a:solidFill>
                  <a:srgbClr val="0098DB"/>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555424021"/>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70985888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rgbClr val="5E6A71"/>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0098DB"/>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58272673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11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802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C1102FAE-FC2F-47FD-82A7-D1DD5A1AC3E3}"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007058916"/>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11560" y="2357190"/>
            <a:ext cx="388582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11560" y="3068960"/>
            <a:ext cx="3885828"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799446" y="2357190"/>
            <a:ext cx="38873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99446" y="3068960"/>
            <a:ext cx="3887354"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p:cNvSpPr>
            <a:spLocks noGrp="1"/>
          </p:cNvSpPr>
          <p:nvPr>
            <p:ph type="dt" sz="half" idx="10"/>
          </p:nvPr>
        </p:nvSpPr>
        <p:spPr/>
        <p:txBody>
          <a:bodyPr/>
          <a:lstStyle/>
          <a:p>
            <a:fld id="{C1102FAE-FC2F-47FD-82A7-D1DD5A1AC3E3}" type="datetimeFigureOut">
              <a:rPr lang="en-GB" smtClean="0"/>
              <a:t>16/01/2025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06678212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1102FAE-FC2F-47FD-82A7-D1DD5A1AC3E3}" type="datetimeFigureOut">
              <a:rPr lang="en-GB" smtClean="0"/>
              <a:t>16/01/2025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34193818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02FAE-FC2F-47FD-82A7-D1DD5A1AC3E3}" type="datetimeFigureOut">
              <a:rPr lang="en-GB" smtClean="0"/>
              <a:t>16/01/2025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411792245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96752"/>
            <a:ext cx="3008313" cy="1162050"/>
          </a:xfrm>
        </p:spPr>
        <p:txBody>
          <a:bodyPr anchor="b"/>
          <a:lstStyle>
            <a:lvl1pPr algn="l">
              <a:defRPr sz="2000" b="1"/>
            </a:lvl1pPr>
          </a:lstStyle>
          <a:p>
            <a:r>
              <a:rPr lang="en-US" dirty="0"/>
              <a:t>Click to edit Master title style</a:t>
            </a:r>
            <a:endParaRPr lang="en-GB"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2420888"/>
            <a:ext cx="3008313" cy="37052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990446978"/>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23728" y="4800600"/>
            <a:ext cx="515496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123728" y="612775"/>
            <a:ext cx="51549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123728" y="5367338"/>
            <a:ext cx="51549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40826192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82324822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155220746"/>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tx" preserve="1">
  <p:cSld name="Title and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409079C-29C8-331C-DFBC-E947FBE406F8}"/>
              </a:ext>
            </a:extLst>
          </p:cNvPr>
          <p:cNvSpPr>
            <a:spLocks noGrp="1"/>
          </p:cNvSpPr>
          <p:nvPr>
            <p:ph type="title"/>
          </p:nvPr>
        </p:nvSpPr>
        <p:spPr/>
        <p:txBody>
          <a:bodyPr/>
          <a:lstStyle/>
          <a:p>
            <a:r>
              <a:rPr lang="en-US"/>
              <a:t>Click to edit Master title style</a:t>
            </a:r>
            <a:endParaRPr lang="en-GB"/>
          </a:p>
        </p:txBody>
      </p:sp>
      <p:sp>
        <p:nvSpPr>
          <p:cNvPr id="3" name="Text Placeholder 2">
            <a:extLst>
              <a:ext uri="{FF2B5EF4-FFF2-40B4-BE49-F238E27FC236}">
                <a16:creationId xmlns:a16="http://schemas.microsoft.com/office/drawing/2014/main" id="{CF55D450-F811-6369-6F19-6B2304FCE816}"/>
              </a:ext>
            </a:extLst>
          </p:cNvPr>
          <p:cNvSpPr>
            <a:spLocks noGrp="1"/>
          </p:cNvSpPr>
          <p:nvPr>
            <p:ph type="body"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a:extLst>
              <a:ext uri="{FF2B5EF4-FFF2-40B4-BE49-F238E27FC236}">
                <a16:creationId xmlns:a16="http://schemas.microsoft.com/office/drawing/2014/main" id="{D37EAA0D-FBFB-F01A-D3FC-A120AE44CC71}"/>
              </a:ext>
            </a:extLst>
          </p:cNvPr>
          <p:cNvSpPr>
            <a:spLocks noGrp="1"/>
          </p:cNvSpPr>
          <p:nvPr>
            <p:ph type="dt" sz="half" idx="10"/>
          </p:nvPr>
        </p:nvSpPr>
        <p:spPr/>
        <p:txBody>
          <a:bodyPr/>
          <a:lstStyle/>
          <a:p>
            <a:fld id="{C1102FAE-FC2F-47FD-82A7-D1DD5A1AC3E3}" type="datetimeFigureOut">
              <a:rPr lang="en-GB" smtClean="0"/>
              <a:pPr/>
              <a:t>16/01/2025</a:t>
            </a:fld>
            <a:endParaRPr lang="en-GB"/>
          </a:p>
        </p:txBody>
      </p:sp>
      <p:sp>
        <p:nvSpPr>
          <p:cNvPr id="5" name="Footer Placeholder 4">
            <a:extLst>
              <a:ext uri="{FF2B5EF4-FFF2-40B4-BE49-F238E27FC236}">
                <a16:creationId xmlns:a16="http://schemas.microsoft.com/office/drawing/2014/main" id="{DFD62DF8-0836-2AFD-230B-61E3072C0768}"/>
              </a:ext>
            </a:extLst>
          </p:cNvPr>
          <p:cNvSpPr>
            <a:spLocks noGrp="1"/>
          </p:cNvSpPr>
          <p:nvPr>
            <p:ph type="ftr" sz="quarter" idx="11"/>
          </p:nvPr>
        </p:nvSpPr>
        <p:spPr/>
        <p:txBody>
          <a:bodyPr/>
          <a:lstStyle/>
          <a:p>
            <a:endParaRPr lang="en-GB" dirty="0"/>
          </a:p>
        </p:txBody>
      </p:sp>
      <p:sp>
        <p:nvSpPr>
          <p:cNvPr id="6" name="Slide Number Placeholder 5">
            <a:extLst>
              <a:ext uri="{FF2B5EF4-FFF2-40B4-BE49-F238E27FC236}">
                <a16:creationId xmlns:a16="http://schemas.microsoft.com/office/drawing/2014/main" id="{F97ECA07-2A6B-1286-B49D-CB20FAE2C62C}"/>
              </a:ext>
            </a:extLst>
          </p:cNvPr>
          <p:cNvSpPr>
            <a:spLocks noGrp="1"/>
          </p:cNvSpPr>
          <p:nvPr>
            <p:ph type="sldNum" sz="quarter" idx="12"/>
          </p:nvPr>
        </p:nvSpPr>
        <p:spPr/>
        <p:txBody>
          <a:bodyPr/>
          <a:lstStyle/>
          <a:p>
            <a:fld id="{191E7B16-C11D-48A6-9FE1-93A9A96AC7E6}" type="slidenum">
              <a:rPr lang="en-GB" smtClean="0"/>
              <a:pPr/>
              <a:t>‹#›</a:t>
            </a:fld>
            <a:endParaRPr lang="en-GB"/>
          </a:p>
        </p:txBody>
      </p:sp>
    </p:spTree>
    <p:extLst>
      <p:ext uri="{BB962C8B-B14F-4D97-AF65-F5344CB8AC3E}">
        <p14:creationId xmlns:p14="http://schemas.microsoft.com/office/powerpoint/2010/main" val="3365097156"/>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lvl1pPr>
              <a:defRPr>
                <a:solidFill>
                  <a:schemeClr val="bg1"/>
                </a:solidFill>
              </a:defRPr>
            </a:lvl1pPr>
          </a:lstStyle>
          <a:p>
            <a:r>
              <a:rPr lang="en-US" dirty="0"/>
              <a:t>Click to edit Master title style</a:t>
            </a:r>
            <a:endParaRPr lang="en-GB" dirty="0"/>
          </a:p>
        </p:txBody>
      </p:sp>
      <p:sp>
        <p:nvSpPr>
          <p:cNvPr id="3" name="Subtitle 2"/>
          <p:cNvSpPr>
            <a:spLocks noGrp="1"/>
          </p:cNvSpPr>
          <p:nvPr>
            <p:ph type="subTitle" idx="1"/>
          </p:nvPr>
        </p:nvSpPr>
        <p:spPr>
          <a:xfrm>
            <a:off x="683568" y="3645024"/>
            <a:ext cx="6400800" cy="1752600"/>
          </a:xfrm>
        </p:spPr>
        <p:txBody>
          <a:bodyPr/>
          <a:lstStyle>
            <a:lvl1pPr marL="0" indent="0" algn="l">
              <a:buNone/>
              <a:defRPr i="1">
                <a:solidFill>
                  <a:srgbClr val="5E6A71"/>
                </a:solidFill>
                <a:latin typeface="Times New Roman" panose="02020603050405020304" pitchFamily="18" charset="0"/>
                <a:cs typeface="Times New Roman" panose="02020603050405020304" pitchFamily="18" charset="0"/>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dirty="0"/>
              <a:t>Click to edit Master subtitle style</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881062326"/>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idx="1"/>
          </p:nvPr>
        </p:nvSpPr>
        <p:spPr/>
        <p:txBody>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80424809"/>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solidFill>
                  <a:schemeClr val="bg1"/>
                </a:solidFill>
              </a:defRPr>
            </a:lvl1pPr>
          </a:lstStyle>
          <a:p>
            <a:r>
              <a:rPr lang="en-US" dirty="0"/>
              <a:t>Click to edit Master title style</a:t>
            </a:r>
            <a:endParaRPr lang="en-GB" dirty="0"/>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rgbClr val="5E6A7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dirty="0"/>
              <a:t>Click to edit Master text styles</a:t>
            </a:r>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dirty="0"/>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695916439"/>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Content Placeholder 2"/>
          <p:cNvSpPr>
            <a:spLocks noGrp="1"/>
          </p:cNvSpPr>
          <p:nvPr>
            <p:ph sz="half" idx="1"/>
          </p:nvPr>
        </p:nvSpPr>
        <p:spPr>
          <a:xfrm>
            <a:off x="611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Content Placeholder 3"/>
          <p:cNvSpPr>
            <a:spLocks noGrp="1"/>
          </p:cNvSpPr>
          <p:nvPr>
            <p:ph sz="half" idx="2"/>
          </p:nvPr>
        </p:nvSpPr>
        <p:spPr>
          <a:xfrm>
            <a:off x="4802560" y="2348880"/>
            <a:ext cx="3884240" cy="377728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Date Placeholder 4"/>
          <p:cNvSpPr>
            <a:spLocks noGrp="1"/>
          </p:cNvSpPr>
          <p:nvPr>
            <p:ph type="dt" sz="half" idx="10"/>
          </p:nvPr>
        </p:nvSpPr>
        <p:spPr/>
        <p:txBody>
          <a:bodyPr/>
          <a:lstStyle/>
          <a:p>
            <a:fld id="{C1102FAE-FC2F-47FD-82A7-D1DD5A1AC3E3}"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063899555"/>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GB"/>
          </a:p>
        </p:txBody>
      </p:sp>
      <p:sp>
        <p:nvSpPr>
          <p:cNvPr id="3" name="Text Placeholder 2"/>
          <p:cNvSpPr>
            <a:spLocks noGrp="1"/>
          </p:cNvSpPr>
          <p:nvPr>
            <p:ph type="body" idx="1"/>
          </p:nvPr>
        </p:nvSpPr>
        <p:spPr>
          <a:xfrm>
            <a:off x="611560" y="2357190"/>
            <a:ext cx="388582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dirty="0"/>
              <a:t>Click to edit Master text styles</a:t>
            </a:r>
          </a:p>
        </p:txBody>
      </p:sp>
      <p:sp>
        <p:nvSpPr>
          <p:cNvPr id="4" name="Content Placeholder 3"/>
          <p:cNvSpPr>
            <a:spLocks noGrp="1"/>
          </p:cNvSpPr>
          <p:nvPr>
            <p:ph sz="half" idx="2"/>
          </p:nvPr>
        </p:nvSpPr>
        <p:spPr>
          <a:xfrm>
            <a:off x="611560" y="3068960"/>
            <a:ext cx="3885828"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5" name="Text Placeholder 4"/>
          <p:cNvSpPr>
            <a:spLocks noGrp="1"/>
          </p:cNvSpPr>
          <p:nvPr>
            <p:ph type="body" sz="quarter" idx="3"/>
          </p:nvPr>
        </p:nvSpPr>
        <p:spPr>
          <a:xfrm>
            <a:off x="4799446" y="2357190"/>
            <a:ext cx="3887354"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799446" y="3068960"/>
            <a:ext cx="3887354" cy="3057202"/>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7" name="Date Placeholder 6"/>
          <p:cNvSpPr>
            <a:spLocks noGrp="1"/>
          </p:cNvSpPr>
          <p:nvPr>
            <p:ph type="dt" sz="half" idx="10"/>
          </p:nvPr>
        </p:nvSpPr>
        <p:spPr/>
        <p:txBody>
          <a:bodyPr/>
          <a:lstStyle/>
          <a:p>
            <a:fld id="{C1102FAE-FC2F-47FD-82A7-D1DD5A1AC3E3}" type="datetimeFigureOut">
              <a:rPr lang="en-GB" smtClean="0"/>
              <a:t>16/01/2025</a:t>
            </a:fld>
            <a:endParaRPr lang="en-GB"/>
          </a:p>
        </p:txBody>
      </p:sp>
      <p:sp>
        <p:nvSpPr>
          <p:cNvPr id="8" name="Footer Placeholder 7"/>
          <p:cNvSpPr>
            <a:spLocks noGrp="1"/>
          </p:cNvSpPr>
          <p:nvPr>
            <p:ph type="ftr" sz="quarter" idx="11"/>
          </p:nvPr>
        </p:nvSpPr>
        <p:spPr/>
        <p:txBody>
          <a:bodyPr/>
          <a:lstStyle/>
          <a:p>
            <a:endParaRPr lang="en-GB"/>
          </a:p>
        </p:txBody>
      </p:sp>
      <p:sp>
        <p:nvSpPr>
          <p:cNvPr id="9" name="Slide Number Placeholder 8"/>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420911342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GB"/>
          </a:p>
        </p:txBody>
      </p:sp>
      <p:sp>
        <p:nvSpPr>
          <p:cNvPr id="3" name="Date Placeholder 2"/>
          <p:cNvSpPr>
            <a:spLocks noGrp="1"/>
          </p:cNvSpPr>
          <p:nvPr>
            <p:ph type="dt" sz="half" idx="10"/>
          </p:nvPr>
        </p:nvSpPr>
        <p:spPr/>
        <p:txBody>
          <a:bodyPr/>
          <a:lstStyle/>
          <a:p>
            <a:fld id="{C1102FAE-FC2F-47FD-82A7-D1DD5A1AC3E3}" type="datetimeFigureOut">
              <a:rPr lang="en-GB" smtClean="0"/>
              <a:t>16/01/2025</a:t>
            </a:fld>
            <a:endParaRPr lang="en-GB"/>
          </a:p>
        </p:txBody>
      </p:sp>
      <p:sp>
        <p:nvSpPr>
          <p:cNvPr id="4" name="Footer Placeholder 3"/>
          <p:cNvSpPr>
            <a:spLocks noGrp="1"/>
          </p:cNvSpPr>
          <p:nvPr>
            <p:ph type="ftr" sz="quarter" idx="11"/>
          </p:nvPr>
        </p:nvSpPr>
        <p:spPr/>
        <p:txBody>
          <a:bodyPr/>
          <a:lstStyle/>
          <a:p>
            <a:endParaRPr lang="en-GB"/>
          </a:p>
        </p:txBody>
      </p:sp>
      <p:sp>
        <p:nvSpPr>
          <p:cNvPr id="5" name="Slide Number Placeholder 4"/>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744855984"/>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C1102FAE-FC2F-47FD-82A7-D1DD5A1AC3E3}" type="datetimeFigureOut">
              <a:rPr lang="en-GB" smtClean="0"/>
              <a:t>16/01/2025</a:t>
            </a:fld>
            <a:endParaRPr lang="en-GB"/>
          </a:p>
        </p:txBody>
      </p:sp>
      <p:sp>
        <p:nvSpPr>
          <p:cNvPr id="3" name="Footer Placeholder 2"/>
          <p:cNvSpPr>
            <a:spLocks noGrp="1"/>
          </p:cNvSpPr>
          <p:nvPr>
            <p:ph type="ftr" sz="quarter" idx="11"/>
          </p:nvPr>
        </p:nvSpPr>
        <p:spPr/>
        <p:txBody>
          <a:bodyPr/>
          <a:lstStyle/>
          <a:p>
            <a:endParaRPr lang="en-GB"/>
          </a:p>
        </p:txBody>
      </p:sp>
      <p:sp>
        <p:nvSpPr>
          <p:cNvPr id="4" name="Slide Number Placeholder 3"/>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3117888886"/>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1196752"/>
            <a:ext cx="3008313" cy="1162050"/>
          </a:xfrm>
        </p:spPr>
        <p:txBody>
          <a:bodyPr anchor="b"/>
          <a:lstStyle>
            <a:lvl1pPr algn="l">
              <a:defRPr sz="2000" b="1"/>
            </a:lvl1pPr>
          </a:lstStyle>
          <a:p>
            <a:r>
              <a:rPr lang="en-US" dirty="0"/>
              <a:t>Click to edit Master title style</a:t>
            </a:r>
            <a:endParaRPr lang="en-GB" dirty="0"/>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Text Placeholder 3"/>
          <p:cNvSpPr>
            <a:spLocks noGrp="1"/>
          </p:cNvSpPr>
          <p:nvPr>
            <p:ph type="body" sz="half" idx="2"/>
          </p:nvPr>
        </p:nvSpPr>
        <p:spPr>
          <a:xfrm>
            <a:off x="457200" y="2420888"/>
            <a:ext cx="3008313" cy="3705275"/>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dirty="0"/>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7626301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2123728" y="4800600"/>
            <a:ext cx="5154960" cy="566738"/>
          </a:xfrm>
        </p:spPr>
        <p:txBody>
          <a:bodyPr anchor="b"/>
          <a:lstStyle>
            <a:lvl1pPr algn="l">
              <a:defRPr sz="2000" b="1"/>
            </a:lvl1pPr>
          </a:lstStyle>
          <a:p>
            <a:r>
              <a:rPr lang="en-US"/>
              <a:t>Click to edit Master title style</a:t>
            </a:r>
            <a:endParaRPr lang="en-GB"/>
          </a:p>
        </p:txBody>
      </p:sp>
      <p:sp>
        <p:nvSpPr>
          <p:cNvPr id="3" name="Picture Placeholder 2"/>
          <p:cNvSpPr>
            <a:spLocks noGrp="1"/>
          </p:cNvSpPr>
          <p:nvPr>
            <p:ph type="pic" idx="1"/>
          </p:nvPr>
        </p:nvSpPr>
        <p:spPr>
          <a:xfrm>
            <a:off x="2123728" y="612775"/>
            <a:ext cx="515496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Text Placeholder 3"/>
          <p:cNvSpPr>
            <a:spLocks noGrp="1"/>
          </p:cNvSpPr>
          <p:nvPr>
            <p:ph type="body" sz="half" idx="2"/>
          </p:nvPr>
        </p:nvSpPr>
        <p:spPr>
          <a:xfrm>
            <a:off x="2123728" y="5367338"/>
            <a:ext cx="515496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C1102FAE-FC2F-47FD-82A7-D1DD5A1AC3E3}" type="datetimeFigureOut">
              <a:rPr lang="en-GB" smtClean="0"/>
              <a:t>16/01/2025</a:t>
            </a:fld>
            <a:endParaRPr lang="en-GB"/>
          </a:p>
        </p:txBody>
      </p:sp>
      <p:sp>
        <p:nvSpPr>
          <p:cNvPr id="6" name="Footer Placeholder 5"/>
          <p:cNvSpPr>
            <a:spLocks noGrp="1"/>
          </p:cNvSpPr>
          <p:nvPr>
            <p:ph type="ftr" sz="quarter" idx="11"/>
          </p:nvPr>
        </p:nvSpPr>
        <p:spPr/>
        <p:txBody>
          <a:bodyPr/>
          <a:lstStyle/>
          <a:p>
            <a:endParaRPr lang="en-GB"/>
          </a:p>
        </p:txBody>
      </p:sp>
      <p:sp>
        <p:nvSpPr>
          <p:cNvPr id="7" name="Slide Number Placeholder 6"/>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1791527871"/>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Click to edit Master title style</a:t>
            </a:r>
            <a:endParaRPr lang="en-GB" dirty="0"/>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284010346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dirty="0"/>
              <a:t>Click to edit Master title style</a:t>
            </a:r>
            <a:endParaRPr lang="en-GB" dirty="0"/>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GB"/>
          </a:p>
        </p:txBody>
      </p:sp>
      <p:sp>
        <p:nvSpPr>
          <p:cNvPr id="4" name="Date Placeholder 3"/>
          <p:cNvSpPr>
            <a:spLocks noGrp="1"/>
          </p:cNvSpPr>
          <p:nvPr>
            <p:ph type="dt" sz="half" idx="10"/>
          </p:nvPr>
        </p:nvSpPr>
        <p:spPr/>
        <p:txBody>
          <a:bodyPr/>
          <a:lstStyle/>
          <a:p>
            <a:fld id="{C1102FAE-FC2F-47FD-82A7-D1DD5A1AC3E3}" type="datetimeFigureOut">
              <a:rPr lang="en-GB" smtClean="0"/>
              <a:t>16/01/2025</a:t>
            </a:fld>
            <a:endParaRPr lang="en-GB"/>
          </a:p>
        </p:txBody>
      </p:sp>
      <p:sp>
        <p:nvSpPr>
          <p:cNvPr id="5" name="Footer Placeholder 4"/>
          <p:cNvSpPr>
            <a:spLocks noGrp="1"/>
          </p:cNvSpPr>
          <p:nvPr>
            <p:ph type="ftr" sz="quarter" idx="11"/>
          </p:nvPr>
        </p:nvSpPr>
        <p:spPr/>
        <p:txBody>
          <a:bodyPr/>
          <a:lstStyle/>
          <a:p>
            <a:endParaRPr lang="en-GB"/>
          </a:p>
        </p:txBody>
      </p:sp>
      <p:sp>
        <p:nvSpPr>
          <p:cNvPr id="6" name="Slide Number Placeholder 5"/>
          <p:cNvSpPr>
            <a:spLocks noGrp="1"/>
          </p:cNvSpPr>
          <p:nvPr>
            <p:ph type="sldNum" sz="quarter" idx="12"/>
          </p:nvPr>
        </p:nvSpPr>
        <p:spPr/>
        <p:txBody>
          <a:bodyPr/>
          <a:lstStyle/>
          <a:p>
            <a:fld id="{191E7B16-C11D-48A6-9FE1-93A9A96AC7E6}" type="slidenum">
              <a:rPr lang="en-GB" smtClean="0"/>
              <a:t>‹#›</a:t>
            </a:fld>
            <a:endParaRPr lang="en-GB"/>
          </a:p>
        </p:txBody>
      </p:sp>
    </p:spTree>
    <p:extLst>
      <p:ext uri="{BB962C8B-B14F-4D97-AF65-F5344CB8AC3E}">
        <p14:creationId xmlns:p14="http://schemas.microsoft.com/office/powerpoint/2010/main" val="923025721"/>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3027391922"/>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168654467"/>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Tree>
    <p:extLst>
      <p:ext uri="{BB962C8B-B14F-4D97-AF65-F5344CB8AC3E}">
        <p14:creationId xmlns:p14="http://schemas.microsoft.com/office/powerpoint/2010/main" val="126302489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1.jpg"/></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13" Type="http://schemas.openxmlformats.org/officeDocument/2006/relationships/image" Target="../media/image3.jpg"/><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_rels/slideMaster3.xml.rels><?xml version="1.0" encoding="UTF-8" standalone="yes"?>
<Relationships xmlns="http://schemas.openxmlformats.org/package/2006/relationships"><Relationship Id="rId3" Type="http://schemas.openxmlformats.org/officeDocument/2006/relationships/image" Target="../media/image5.jpg"/><Relationship Id="rId2" Type="http://schemas.openxmlformats.org/officeDocument/2006/relationships/theme" Target="../theme/theme3.xml"/><Relationship Id="rId1" Type="http://schemas.openxmlformats.org/officeDocument/2006/relationships/slideLayout" Target="../slideLayouts/slideLayout24.xml"/></Relationships>
</file>

<file path=ppt/slideMasters/_rels/slideMaster4.xml.rels><?xml version="1.0" encoding="UTF-8" standalone="yes"?>
<Relationships xmlns="http://schemas.openxmlformats.org/package/2006/relationships"><Relationship Id="rId3" Type="http://schemas.openxmlformats.org/officeDocument/2006/relationships/image" Target="../media/image6.jpg"/><Relationship Id="rId2" Type="http://schemas.openxmlformats.org/officeDocument/2006/relationships/theme" Target="../theme/theme4.xml"/><Relationship Id="rId1" Type="http://schemas.openxmlformats.org/officeDocument/2006/relationships/slideLayout" Target="../slideLayouts/slideLayout25.xml"/></Relationships>
</file>

<file path=ppt/slideMasters/_rels/slideMaster5.xml.rels><?xml version="1.0" encoding="UTF-8" standalone="yes"?>
<Relationships xmlns="http://schemas.openxmlformats.org/package/2006/relationships"><Relationship Id="rId3" Type="http://schemas.openxmlformats.org/officeDocument/2006/relationships/image" Target="../media/image7.jpg"/><Relationship Id="rId2" Type="http://schemas.openxmlformats.org/officeDocument/2006/relationships/theme" Target="../theme/theme5.xml"/><Relationship Id="rId1" Type="http://schemas.openxmlformats.org/officeDocument/2006/relationships/slideLayout" Target="../slideLayouts/slideLayout26.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4">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560" y="1268760"/>
            <a:ext cx="8075240" cy="998984"/>
          </a:xfrm>
          <a:prstGeom prst="rect">
            <a:avLst/>
          </a:prstGeom>
        </p:spPr>
        <p:txBody>
          <a:bodyPr vert="horz" lIns="91440" tIns="45720" rIns="91440" bIns="45720" rtlCol="0" anchor="b">
            <a:normAutofit/>
          </a:bodyPr>
          <a:lstStyle/>
          <a:p>
            <a:r>
              <a:rPr lang="en-US" dirty="0"/>
              <a:t>Click to add title</a:t>
            </a:r>
            <a:endParaRPr lang="en-GB" dirty="0"/>
          </a:p>
        </p:txBody>
      </p:sp>
      <p:sp>
        <p:nvSpPr>
          <p:cNvPr id="3" name="Text Placeholder 2"/>
          <p:cNvSpPr>
            <a:spLocks noGrp="1"/>
          </p:cNvSpPr>
          <p:nvPr>
            <p:ph type="body" idx="1"/>
          </p:nvPr>
        </p:nvSpPr>
        <p:spPr>
          <a:xfrm>
            <a:off x="611560" y="2348880"/>
            <a:ext cx="8075240" cy="37772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bg1"/>
                </a:solidFill>
              </a:defRPr>
            </a:lvl1pPr>
          </a:lstStyle>
          <a:p>
            <a:fld id="{C1102FAE-FC2F-47FD-82A7-D1DD5A1AC3E3}" type="datetimeFigureOut">
              <a:rPr lang="en-GB" smtClean="0"/>
              <a:pPr/>
              <a:t>16/01/2025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bg1"/>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bg1"/>
                </a:solidFill>
              </a:defRPr>
            </a:lvl1pPr>
          </a:lstStyle>
          <a:p>
            <a:fld id="{191E7B16-C11D-48A6-9FE1-93A9A96AC7E6}" type="slidenum">
              <a:rPr lang="en-GB" smtClean="0"/>
              <a:pPr/>
              <a:t>‹#›</a:t>
            </a:fld>
            <a:endParaRPr lang="en-GB"/>
          </a:p>
        </p:txBody>
      </p:sp>
    </p:spTree>
    <p:extLst>
      <p:ext uri="{BB962C8B-B14F-4D97-AF65-F5344CB8AC3E}">
        <p14:creationId xmlns:p14="http://schemas.microsoft.com/office/powerpoint/2010/main" val="3766284104"/>
      </p:ext>
    </p:extLst>
  </p:cSld>
  <p:clrMap bg1="lt1" tx1="dk1" bg2="lt2" tx2="dk2" accent1="accent1" accent2="accent2" accent3="accent3" accent4="accent4" accent5="accent5" accent6="accent6" hlink="hlink" folHlink="folHlink"/>
  <p:sldLayoutIdLst>
    <p:sldLayoutId id="2147483691" r:id="rId1"/>
    <p:sldLayoutId id="2147483692" r:id="rId2"/>
    <p:sldLayoutId id="2147483693" r:id="rId3"/>
    <p:sldLayoutId id="2147483694" r:id="rId4"/>
    <p:sldLayoutId id="2147483695" r:id="rId5"/>
    <p:sldLayoutId id="2147483696" r:id="rId6"/>
    <p:sldLayoutId id="2147483697" r:id="rId7"/>
    <p:sldLayoutId id="2147483698" r:id="rId8"/>
    <p:sldLayoutId id="2147483699" r:id="rId9"/>
    <p:sldLayoutId id="2147483700" r:id="rId10"/>
    <p:sldLayoutId id="2147483701" r:id="rId11"/>
    <p:sldLayoutId id="2147483714" r:id="rId12"/>
  </p:sldLayoutIdLst>
  <p:txStyles>
    <p:titleStyle>
      <a:lvl1pPr algn="l" defTabSz="914400" rtl="0" eaLnBrk="1" latinLnBrk="0" hangingPunct="1">
        <a:spcBef>
          <a:spcPct val="0"/>
        </a:spcBef>
        <a:buNone/>
        <a:defRPr sz="4000" b="1" kern="1200">
          <a:solidFill>
            <a:srgbClr val="0098DB"/>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rgbClr val="5E6A7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rgbClr val="5E6A7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rgbClr val="5E6A7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rgbClr val="5E6A7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rgbClr val="5E6A7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13">
            <a:lum/>
          </a:blip>
          <a:srcRect/>
          <a:stretch>
            <a:fillRect/>
          </a:stretch>
        </a:blipFill>
        <a:effectLst/>
      </p:bgPr>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611560" y="1268760"/>
            <a:ext cx="8075240" cy="998984"/>
          </a:xfrm>
          <a:prstGeom prst="rect">
            <a:avLst/>
          </a:prstGeom>
        </p:spPr>
        <p:txBody>
          <a:bodyPr vert="horz" lIns="91440" tIns="45720" rIns="91440" bIns="45720" rtlCol="0" anchor="b">
            <a:normAutofit/>
          </a:bodyPr>
          <a:lstStyle/>
          <a:p>
            <a:r>
              <a:rPr lang="en-US" dirty="0"/>
              <a:t>Click to add title</a:t>
            </a:r>
            <a:endParaRPr lang="en-GB" dirty="0"/>
          </a:p>
        </p:txBody>
      </p:sp>
      <p:sp>
        <p:nvSpPr>
          <p:cNvPr id="3" name="Text Placeholder 2"/>
          <p:cNvSpPr>
            <a:spLocks noGrp="1"/>
          </p:cNvSpPr>
          <p:nvPr>
            <p:ph type="body" idx="1"/>
          </p:nvPr>
        </p:nvSpPr>
        <p:spPr>
          <a:xfrm>
            <a:off x="611560" y="2348880"/>
            <a:ext cx="8075240" cy="3777283"/>
          </a:xfrm>
          <a:prstGeom prst="rect">
            <a:avLst/>
          </a:prstGeom>
        </p:spPr>
        <p:txBody>
          <a:bodyPr vert="horz" lIns="91440" tIns="45720" rIns="91440" bIns="45720" rtlCol="0">
            <a:normAutofit/>
          </a:bodyPr>
          <a:lstStyle/>
          <a:p>
            <a:pPr lvl="0"/>
            <a:r>
              <a:rPr lang="en-US" dirty="0"/>
              <a:t>Click to edit Master text styles</a:t>
            </a:r>
          </a:p>
          <a:p>
            <a:pPr lvl="1"/>
            <a:r>
              <a:rPr lang="en-US" dirty="0"/>
              <a:t>Second level</a:t>
            </a:r>
          </a:p>
          <a:p>
            <a:pPr lvl="2"/>
            <a:r>
              <a:rPr lang="en-US" dirty="0"/>
              <a:t>Third level</a:t>
            </a:r>
          </a:p>
          <a:p>
            <a:pPr lvl="3"/>
            <a:r>
              <a:rPr lang="en-US" dirty="0"/>
              <a:t>Fourth level</a:t>
            </a:r>
          </a:p>
          <a:p>
            <a:pPr lvl="4"/>
            <a:r>
              <a:rPr lang="en-US" dirty="0"/>
              <a:t>Fifth level</a:t>
            </a:r>
            <a:endParaRPr lang="en-GB" dirty="0"/>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bg1"/>
                </a:solidFill>
              </a:defRPr>
            </a:lvl1pPr>
          </a:lstStyle>
          <a:p>
            <a:fld id="{C1102FAE-FC2F-47FD-82A7-D1DD5A1AC3E3}" type="datetimeFigureOut">
              <a:rPr lang="en-GB" smtClean="0"/>
              <a:pPr/>
              <a:t>16/01/2025</a:t>
            </a:fld>
            <a:endParaRPr lang="en-GB"/>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bg1"/>
                </a:solidFill>
              </a:defRPr>
            </a:lvl1pPr>
          </a:lstStyle>
          <a:p>
            <a:endParaRPr lang="en-GB" dirty="0"/>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bg1"/>
                </a:solidFill>
              </a:defRPr>
            </a:lvl1pPr>
          </a:lstStyle>
          <a:p>
            <a:fld id="{191E7B16-C11D-48A6-9FE1-93A9A96AC7E6}" type="slidenum">
              <a:rPr lang="en-GB" smtClean="0"/>
              <a:pPr/>
              <a:t>‹#›</a:t>
            </a:fld>
            <a:endParaRPr lang="en-GB"/>
          </a:p>
        </p:txBody>
      </p:sp>
    </p:spTree>
    <p:extLst>
      <p:ext uri="{BB962C8B-B14F-4D97-AF65-F5344CB8AC3E}">
        <p14:creationId xmlns:p14="http://schemas.microsoft.com/office/powerpoint/2010/main" val="2537437204"/>
      </p:ext>
    </p:extLst>
  </p:cSld>
  <p:clrMap bg1="lt1" tx1="dk1" bg2="lt2" tx2="dk2" accent1="accent1" accent2="accent2" accent3="accent3" accent4="accent4" accent5="accent5" accent6="accent6" hlink="hlink" folHlink="folHlink"/>
  <p:sldLayoutIdLst>
    <p:sldLayoutId id="2147483703" r:id="rId1"/>
    <p:sldLayoutId id="2147483704" r:id="rId2"/>
    <p:sldLayoutId id="2147483705" r:id="rId3"/>
    <p:sldLayoutId id="2147483706" r:id="rId4"/>
    <p:sldLayoutId id="2147483707" r:id="rId5"/>
    <p:sldLayoutId id="2147483708" r:id="rId6"/>
    <p:sldLayoutId id="2147483709" r:id="rId7"/>
    <p:sldLayoutId id="2147483710" r:id="rId8"/>
    <p:sldLayoutId id="2147483711" r:id="rId9"/>
    <p:sldLayoutId id="2147483712" r:id="rId10"/>
    <p:sldLayoutId id="2147483713" r:id="rId1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506412809"/>
      </p:ext>
    </p:extLst>
  </p:cSld>
  <p:clrMap bg1="lt1" tx1="dk1" bg2="lt2" tx2="dk2" accent1="accent1" accent2="accent2" accent3="accent3" accent4="accent4" accent5="accent5" accent6="accent6" hlink="hlink" folHlink="folHlink"/>
  <p:sldLayoutIdLst>
    <p:sldLayoutId id="2147483688" r:id="rId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Clr>
          <a:srgbClr val="5E6A71"/>
        </a:buClr>
        <a:buFont typeface="Arial" panose="020B0604020202020204" pitchFamily="34" charset="0"/>
        <a:buChar char="•"/>
        <a:defRPr sz="32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rgbClr val="5E6A71"/>
        </a:buClr>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5E6A71"/>
        </a:buClr>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382131767"/>
      </p:ext>
    </p:extLst>
  </p:cSld>
  <p:clrMap bg1="lt1" tx1="dk1" bg2="lt2" tx2="dk2" accent1="accent1" accent2="accent2" accent3="accent3" accent4="accent4" accent5="accent5" accent6="accent6" hlink="hlink" folHlink="folHlink"/>
  <p:sldLayoutIdLst>
    <p:sldLayoutId id="2147483687" r:id="rId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Clr>
          <a:srgbClr val="5E6A71"/>
        </a:buClr>
        <a:buFont typeface="Arial" panose="020B0604020202020204" pitchFamily="34" charset="0"/>
        <a:buChar char="•"/>
        <a:defRPr sz="32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rgbClr val="5E6A71"/>
        </a:buClr>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5E6A71"/>
        </a:buClr>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Pr>
        <a:blipFill dpi="0" rotWithShape="1">
          <a:blip r:embed="rId3">
            <a:lum/>
          </a:blip>
          <a:srcRect/>
          <a:stretch>
            <a:fillRect/>
          </a:stretch>
        </a:blipFill>
        <a:effectLst/>
      </p:bgPr>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1030265032"/>
      </p:ext>
    </p:extLst>
  </p:cSld>
  <p:clrMap bg1="lt1" tx1="dk1" bg2="lt2" tx2="dk2" accent1="accent1" accent2="accent2" accent3="accent3" accent4="accent4" accent5="accent5" accent6="accent6" hlink="hlink" folHlink="folHlink"/>
  <p:sldLayoutIdLst>
    <p:sldLayoutId id="2147483689" r:id="rId1"/>
  </p:sldLayoutIdLst>
  <p:txStyles>
    <p:titleStyle>
      <a:lvl1pPr algn="l" defTabSz="914400" rtl="0" eaLnBrk="1" latinLnBrk="0" hangingPunct="1">
        <a:spcBef>
          <a:spcPct val="0"/>
        </a:spcBef>
        <a:buNone/>
        <a:defRPr sz="4000" b="1" kern="1200">
          <a:solidFill>
            <a:srgbClr val="5E6A71"/>
          </a:solidFill>
          <a:latin typeface="Arial" panose="020B0604020202020204" pitchFamily="34" charset="0"/>
          <a:ea typeface="+mj-ea"/>
          <a:cs typeface="Arial" panose="020B0604020202020204" pitchFamily="34" charset="0"/>
        </a:defRPr>
      </a:lvl1pPr>
    </p:titleStyle>
    <p:bodyStyle>
      <a:lvl1pPr marL="342900" indent="-342900" algn="l" defTabSz="914400" rtl="0" eaLnBrk="1" latinLnBrk="0" hangingPunct="1">
        <a:spcBef>
          <a:spcPct val="20000"/>
        </a:spcBef>
        <a:buClr>
          <a:srgbClr val="5E6A71"/>
        </a:buClr>
        <a:buFont typeface="Arial" panose="020B0604020202020204" pitchFamily="34" charset="0"/>
        <a:buChar char="•"/>
        <a:defRPr sz="3200" kern="1200">
          <a:solidFill>
            <a:schemeClr val="bg1"/>
          </a:solidFill>
          <a:latin typeface="Arial" panose="020B0604020202020204" pitchFamily="34" charset="0"/>
          <a:ea typeface="+mn-ea"/>
          <a:cs typeface="Arial" panose="020B0604020202020204" pitchFamily="34" charset="0"/>
        </a:defRPr>
      </a:lvl1pPr>
      <a:lvl2pPr marL="742950" indent="-285750" algn="l" defTabSz="914400" rtl="0" eaLnBrk="1" latinLnBrk="0" hangingPunct="1">
        <a:spcBef>
          <a:spcPct val="20000"/>
        </a:spcBef>
        <a:buClr>
          <a:srgbClr val="5E6A71"/>
        </a:buClr>
        <a:buFont typeface="Arial" panose="020B0604020202020204" pitchFamily="34" charset="0"/>
        <a:buChar char="–"/>
        <a:defRPr sz="2800" kern="1200">
          <a:solidFill>
            <a:schemeClr val="bg1"/>
          </a:solidFill>
          <a:latin typeface="Arial" panose="020B0604020202020204" pitchFamily="34" charset="0"/>
          <a:ea typeface="+mn-ea"/>
          <a:cs typeface="Arial" panose="020B0604020202020204" pitchFamily="34" charset="0"/>
        </a:defRPr>
      </a:lvl2pPr>
      <a:lvl3pPr marL="1143000" indent="-228600" algn="l" defTabSz="914400" rtl="0" eaLnBrk="1" latinLnBrk="0" hangingPunct="1">
        <a:spcBef>
          <a:spcPct val="20000"/>
        </a:spcBef>
        <a:buClr>
          <a:srgbClr val="5E6A71"/>
        </a:buClr>
        <a:buFont typeface="Arial" panose="020B0604020202020204" pitchFamily="34" charset="0"/>
        <a:buChar char="•"/>
        <a:defRPr sz="2400" kern="1200">
          <a:solidFill>
            <a:schemeClr val="bg1"/>
          </a:solidFill>
          <a:latin typeface="Arial" panose="020B0604020202020204" pitchFamily="34" charset="0"/>
          <a:ea typeface="+mn-ea"/>
          <a:cs typeface="Arial" panose="020B0604020202020204" pitchFamily="34" charset="0"/>
        </a:defRPr>
      </a:lvl3pPr>
      <a:lvl4pPr marL="16002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4pPr>
      <a:lvl5pPr marL="2057400" indent="-228600" algn="l" defTabSz="914400" rtl="0" eaLnBrk="1" latinLnBrk="0" hangingPunct="1">
        <a:spcBef>
          <a:spcPct val="20000"/>
        </a:spcBef>
        <a:buClr>
          <a:srgbClr val="5E6A71"/>
        </a:buClr>
        <a:buFont typeface="Arial" panose="020B0604020202020204" pitchFamily="34" charset="0"/>
        <a:buChar char="»"/>
        <a:defRPr sz="2000" kern="1200">
          <a:solidFill>
            <a:schemeClr val="bg1"/>
          </a:solidFill>
          <a:latin typeface="Arial" panose="020B0604020202020204" pitchFamily="34" charset="0"/>
          <a:ea typeface="+mn-ea"/>
          <a:cs typeface="Arial" panose="020B0604020202020204" pitchFamily="34" charset="0"/>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3" Type="http://schemas.openxmlformats.org/officeDocument/2006/relationships/hyperlink" Target="https://www.about.sainsburys.co.uk/investors" TargetMode="External"/><Relationship Id="rId2" Type="http://schemas.openxmlformats.org/officeDocument/2006/relationships/notesSlide" Target="../notesSlides/notesSlide20.xml"/><Relationship Id="rId1" Type="http://schemas.openxmlformats.org/officeDocument/2006/relationships/slideLayout" Target="../slideLayouts/slideLayout2.xml"/><Relationship Id="rId4" Type="http://schemas.openxmlformats.org/officeDocument/2006/relationships/hyperlink" Target="https://www.about.sainsburys.co.uk/investors/results-reports-and-presentations" TargetMode="Externa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Title 5"/>
          <p:cNvSpPr>
            <a:spLocks noGrp="1"/>
          </p:cNvSpPr>
          <p:nvPr>
            <p:ph type="ctrTitle"/>
          </p:nvPr>
        </p:nvSpPr>
        <p:spPr>
          <a:xfrm>
            <a:off x="467544" y="1196753"/>
            <a:ext cx="7992888" cy="792088"/>
          </a:xfrm>
        </p:spPr>
        <p:txBody>
          <a:bodyPr>
            <a:normAutofit/>
          </a:bodyPr>
          <a:lstStyle/>
          <a:p>
            <a:r>
              <a:rPr lang="en-GB" sz="3200" dirty="0"/>
              <a:t>C39FF: Finance and Financial Reporting</a:t>
            </a:r>
          </a:p>
        </p:txBody>
      </p:sp>
      <p:sp>
        <p:nvSpPr>
          <p:cNvPr id="7" name="Subtitle 6"/>
          <p:cNvSpPr>
            <a:spLocks noGrp="1"/>
          </p:cNvSpPr>
          <p:nvPr>
            <p:ph type="subTitle" idx="1"/>
          </p:nvPr>
        </p:nvSpPr>
        <p:spPr>
          <a:xfrm>
            <a:off x="323528" y="2780928"/>
            <a:ext cx="7992888" cy="2232248"/>
          </a:xfrm>
        </p:spPr>
        <p:txBody>
          <a:bodyPr>
            <a:noAutofit/>
          </a:bodyPr>
          <a:lstStyle/>
          <a:p>
            <a:pPr algn="ctr"/>
            <a:r>
              <a:rPr lang="en-GB" sz="4000" b="1" i="0" dirty="0"/>
              <a:t>Module/topic 2 : </a:t>
            </a:r>
          </a:p>
          <a:p>
            <a:pPr algn="ctr"/>
            <a:r>
              <a:rPr lang="en-GB" sz="4000" b="1" i="0" dirty="0"/>
              <a:t>Accounting for Limited Companies</a:t>
            </a:r>
          </a:p>
          <a:p>
            <a:r>
              <a:rPr lang="en-GB" sz="4000" b="1" i="0" dirty="0"/>
              <a:t>                    (Part 1)</a:t>
            </a:r>
          </a:p>
        </p:txBody>
      </p:sp>
    </p:spTree>
    <p:extLst>
      <p:ext uri="{BB962C8B-B14F-4D97-AF65-F5344CB8AC3E}">
        <p14:creationId xmlns:p14="http://schemas.microsoft.com/office/powerpoint/2010/main" val="427526551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8" name="Title 10"/>
          <p:cNvSpPr>
            <a:spLocks noGrp="1"/>
          </p:cNvSpPr>
          <p:nvPr>
            <p:ph type="title"/>
          </p:nvPr>
        </p:nvSpPr>
        <p:spPr>
          <a:xfrm>
            <a:off x="2368838" y="129936"/>
            <a:ext cx="4352192" cy="1110800"/>
          </a:xfrm>
        </p:spPr>
        <p:txBody>
          <a:bodyPr>
            <a:normAutofit fontScale="90000"/>
          </a:bodyPr>
          <a:lstStyle/>
          <a:p>
            <a:r>
              <a:rPr lang="en-US" altLang="en-US" b="1" dirty="0"/>
              <a:t>Accounting for limited companies</a:t>
            </a:r>
            <a:endParaRPr lang="en-GB" altLang="en-US" sz="2492" i="1" dirty="0"/>
          </a:p>
        </p:txBody>
      </p:sp>
      <p:sp>
        <p:nvSpPr>
          <p:cNvPr id="4099"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1FEE4162-ADA8-4340-BDCC-F8D071CCEE31}" type="slidenum">
              <a:rPr lang="en-GB" altLang="en-US" sz="969"/>
              <a:pPr/>
              <a:t>2</a:t>
            </a:fld>
            <a:endParaRPr lang="en-GB" altLang="en-US" sz="969"/>
          </a:p>
        </p:txBody>
      </p:sp>
      <p:grpSp>
        <p:nvGrpSpPr>
          <p:cNvPr id="4100" name="Group 24"/>
          <p:cNvGrpSpPr>
            <a:grpSpLocks/>
          </p:cNvGrpSpPr>
          <p:nvPr/>
        </p:nvGrpSpPr>
        <p:grpSpPr bwMode="auto">
          <a:xfrm>
            <a:off x="2501410" y="836712"/>
            <a:ext cx="4734885" cy="5831001"/>
            <a:chOff x="1216" y="889"/>
            <a:chExt cx="4249" cy="3232"/>
          </a:xfrm>
        </p:grpSpPr>
        <p:sp>
          <p:nvSpPr>
            <p:cNvPr id="4101" name="AutoShape 6"/>
            <p:cNvSpPr>
              <a:spLocks noChangeArrowheads="1"/>
            </p:cNvSpPr>
            <p:nvPr/>
          </p:nvSpPr>
          <p:spPr bwMode="auto">
            <a:xfrm>
              <a:off x="1699" y="3318"/>
              <a:ext cx="3442" cy="728"/>
            </a:xfrm>
            <a:prstGeom prst="cube">
              <a:avLst>
                <a:gd name="adj" fmla="val 12917"/>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sz="1662"/>
            </a:p>
          </p:txBody>
        </p:sp>
        <p:sp>
          <p:nvSpPr>
            <p:cNvPr id="4102" name="AutoShape 7"/>
            <p:cNvSpPr>
              <a:spLocks noChangeArrowheads="1"/>
            </p:cNvSpPr>
            <p:nvPr/>
          </p:nvSpPr>
          <p:spPr bwMode="auto">
            <a:xfrm>
              <a:off x="1691" y="2622"/>
              <a:ext cx="3450" cy="563"/>
            </a:xfrm>
            <a:prstGeom prst="cube">
              <a:avLst>
                <a:gd name="adj" fmla="val 12917"/>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sz="1662"/>
            </a:p>
          </p:txBody>
        </p:sp>
        <p:sp>
          <p:nvSpPr>
            <p:cNvPr id="4103" name="AutoShape 8"/>
            <p:cNvSpPr>
              <a:spLocks noChangeArrowheads="1"/>
            </p:cNvSpPr>
            <p:nvPr/>
          </p:nvSpPr>
          <p:spPr bwMode="auto">
            <a:xfrm>
              <a:off x="1691" y="1926"/>
              <a:ext cx="3450" cy="563"/>
            </a:xfrm>
            <a:prstGeom prst="cube">
              <a:avLst>
                <a:gd name="adj" fmla="val 12917"/>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sz="1662"/>
            </a:p>
          </p:txBody>
        </p:sp>
        <p:sp>
          <p:nvSpPr>
            <p:cNvPr id="4104" name="Text Box 10"/>
            <p:cNvSpPr txBox="1">
              <a:spLocks noChangeArrowheads="1"/>
            </p:cNvSpPr>
            <p:nvPr/>
          </p:nvSpPr>
          <p:spPr bwMode="auto">
            <a:xfrm>
              <a:off x="3132" y="889"/>
              <a:ext cx="2333"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r">
                <a:spcBef>
                  <a:spcPct val="50000"/>
                </a:spcBef>
              </a:pPr>
              <a:endParaRPr lang="en-US" altLang="en-US" sz="1246" b="1" i="1">
                <a:solidFill>
                  <a:srgbClr val="CC0000"/>
                </a:solidFill>
                <a:latin typeface="Arial" panose="020B0604020202020204" pitchFamily="34" charset="0"/>
              </a:endParaRPr>
            </a:p>
          </p:txBody>
        </p:sp>
        <p:sp>
          <p:nvSpPr>
            <p:cNvPr id="4105" name="Text Box 11"/>
            <p:cNvSpPr txBox="1">
              <a:spLocks noChangeArrowheads="1"/>
            </p:cNvSpPr>
            <p:nvPr/>
          </p:nvSpPr>
          <p:spPr bwMode="auto">
            <a:xfrm>
              <a:off x="1696" y="2067"/>
              <a:ext cx="3367"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GB" altLang="en-US" sz="1246" b="1" dirty="0">
                  <a:latin typeface="Arial" panose="020B0604020202020204" pitchFamily="34" charset="0"/>
                </a:rPr>
                <a:t>describe the main features of the owner’s claim in a limited company;</a:t>
              </a:r>
            </a:p>
          </p:txBody>
        </p:sp>
        <p:sp>
          <p:nvSpPr>
            <p:cNvPr id="4106" name="AutoShape 12"/>
            <p:cNvSpPr>
              <a:spLocks noChangeArrowheads="1"/>
            </p:cNvSpPr>
            <p:nvPr/>
          </p:nvSpPr>
          <p:spPr bwMode="auto">
            <a:xfrm>
              <a:off x="1691" y="1222"/>
              <a:ext cx="3450" cy="563"/>
            </a:xfrm>
            <a:prstGeom prst="cube">
              <a:avLst>
                <a:gd name="adj" fmla="val 12917"/>
              </a:avLst>
            </a:prstGeom>
            <a:solidFill>
              <a:srgbClr val="FFCC99"/>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endParaRPr lang="en-US" altLang="en-US" sz="1662"/>
            </a:p>
          </p:txBody>
        </p:sp>
        <p:sp>
          <p:nvSpPr>
            <p:cNvPr id="4107" name="Text Box 13"/>
            <p:cNvSpPr txBox="1">
              <a:spLocks noChangeArrowheads="1"/>
            </p:cNvSpPr>
            <p:nvPr/>
          </p:nvSpPr>
          <p:spPr bwMode="auto">
            <a:xfrm>
              <a:off x="1574" y="1430"/>
              <a:ext cx="3611" cy="2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GB" altLang="en-US" sz="1246" b="1" dirty="0">
                  <a:latin typeface="Arial" panose="020B0604020202020204" pitchFamily="34" charset="0"/>
                </a:rPr>
                <a:t>discuss the nature of the limited company;</a:t>
              </a:r>
            </a:p>
          </p:txBody>
        </p:sp>
        <p:sp>
          <p:nvSpPr>
            <p:cNvPr id="4108" name="AutoShape 14"/>
            <p:cNvSpPr>
              <a:spLocks noChangeArrowheads="1"/>
            </p:cNvSpPr>
            <p:nvPr/>
          </p:nvSpPr>
          <p:spPr bwMode="auto">
            <a:xfrm>
              <a:off x="1216" y="1380"/>
              <a:ext cx="339" cy="339"/>
            </a:xfrm>
            <a:prstGeom prst="cube">
              <a:avLst>
                <a:gd name="adj" fmla="val 30681"/>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endParaRPr lang="en-US" altLang="en-US" sz="1662">
                <a:solidFill>
                  <a:srgbClr val="CC0000"/>
                </a:solidFill>
              </a:endParaRPr>
            </a:p>
          </p:txBody>
        </p:sp>
        <p:sp>
          <p:nvSpPr>
            <p:cNvPr id="4109" name="AutoShape 15"/>
            <p:cNvSpPr>
              <a:spLocks noChangeArrowheads="1"/>
            </p:cNvSpPr>
            <p:nvPr/>
          </p:nvSpPr>
          <p:spPr bwMode="auto">
            <a:xfrm>
              <a:off x="1216" y="2099"/>
              <a:ext cx="339" cy="339"/>
            </a:xfrm>
            <a:prstGeom prst="cube">
              <a:avLst>
                <a:gd name="adj" fmla="val 30681"/>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endParaRPr lang="en-US" altLang="en-US" sz="1662">
                <a:solidFill>
                  <a:srgbClr val="CC0000"/>
                </a:solidFill>
              </a:endParaRPr>
            </a:p>
          </p:txBody>
        </p:sp>
        <p:sp>
          <p:nvSpPr>
            <p:cNvPr id="4110" name="Text Box 16"/>
            <p:cNvSpPr txBox="1">
              <a:spLocks noChangeArrowheads="1"/>
            </p:cNvSpPr>
            <p:nvPr/>
          </p:nvSpPr>
          <p:spPr bwMode="auto">
            <a:xfrm>
              <a:off x="1651" y="3472"/>
              <a:ext cx="3352" cy="64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GB" altLang="en-US" sz="1246" b="1" dirty="0">
                  <a:latin typeface="Arial" panose="020B0604020202020204" pitchFamily="34" charset="0"/>
                </a:rPr>
                <a:t>explain how the income statement and statement of financial position of a limited company differ in detail from that of a sole proprietorship or a partnership business.</a:t>
              </a:r>
            </a:p>
          </p:txBody>
        </p:sp>
        <p:sp>
          <p:nvSpPr>
            <p:cNvPr id="4111" name="Text Box 17"/>
            <p:cNvSpPr txBox="1">
              <a:spLocks noChangeArrowheads="1"/>
            </p:cNvSpPr>
            <p:nvPr/>
          </p:nvSpPr>
          <p:spPr bwMode="auto">
            <a:xfrm>
              <a:off x="1530" y="2769"/>
              <a:ext cx="3611" cy="35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spcBef>
                  <a:spcPct val="50000"/>
                </a:spcBef>
              </a:pPr>
              <a:r>
                <a:rPr lang="en-GB" altLang="en-US" sz="1246" b="1" dirty="0">
                  <a:latin typeface="Arial" panose="020B0604020202020204" pitchFamily="34" charset="0"/>
                </a:rPr>
                <a:t>discuss the framework of rules that surround accounting for limited companies;</a:t>
              </a:r>
            </a:p>
          </p:txBody>
        </p:sp>
        <p:sp>
          <p:nvSpPr>
            <p:cNvPr id="4112" name="AutoShape 18"/>
            <p:cNvSpPr>
              <a:spLocks noChangeArrowheads="1"/>
            </p:cNvSpPr>
            <p:nvPr/>
          </p:nvSpPr>
          <p:spPr bwMode="auto">
            <a:xfrm>
              <a:off x="1216" y="2804"/>
              <a:ext cx="339" cy="339"/>
            </a:xfrm>
            <a:prstGeom prst="cube">
              <a:avLst>
                <a:gd name="adj" fmla="val 30681"/>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endParaRPr lang="en-US" altLang="en-US" sz="1662">
                <a:solidFill>
                  <a:srgbClr val="CC0000"/>
                </a:solidFill>
              </a:endParaRPr>
            </a:p>
          </p:txBody>
        </p:sp>
        <p:sp>
          <p:nvSpPr>
            <p:cNvPr id="4113" name="AutoShape 19"/>
            <p:cNvSpPr>
              <a:spLocks noChangeArrowheads="1"/>
            </p:cNvSpPr>
            <p:nvPr/>
          </p:nvSpPr>
          <p:spPr bwMode="auto">
            <a:xfrm>
              <a:off x="1224" y="3507"/>
              <a:ext cx="339" cy="339"/>
            </a:xfrm>
            <a:prstGeom prst="cube">
              <a:avLst>
                <a:gd name="adj" fmla="val 30681"/>
              </a:avLst>
            </a:prstGeom>
            <a:solidFill>
              <a:srgbClr val="CC0000"/>
            </a:solidFill>
            <a:ln>
              <a:noFill/>
            </a:ln>
            <a:extLs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400">
                  <a:solidFill>
                    <a:schemeClr val="tx1"/>
                  </a:solidFill>
                  <a:latin typeface="Times New Roman" panose="02020603050405020304" pitchFamily="18" charset="0"/>
                  <a:ea typeface="ＭＳ Ｐゴシック" panose="020B0600070205080204" pitchFamily="34" charset="-128"/>
                </a:defRPr>
              </a:lvl1pPr>
              <a:lvl2pPr marL="37931725" indent="-37474525">
                <a:defRPr sz="2400">
                  <a:solidFill>
                    <a:schemeClr val="tx1"/>
                  </a:solidFill>
                  <a:latin typeface="Times New Roman" panose="02020603050405020304" pitchFamily="18" charset="0"/>
                  <a:ea typeface="ＭＳ Ｐゴシック" panose="020B0600070205080204" pitchFamily="34" charset="-128"/>
                </a:defRPr>
              </a:lvl2pPr>
              <a:lvl3pPr marL="1143000" indent="-228600">
                <a:defRPr sz="2400">
                  <a:solidFill>
                    <a:schemeClr val="tx1"/>
                  </a:solidFill>
                  <a:latin typeface="Times New Roman" panose="02020603050405020304" pitchFamily="18" charset="0"/>
                  <a:ea typeface="ＭＳ Ｐゴシック" panose="020B0600070205080204" pitchFamily="34" charset="-128"/>
                </a:defRPr>
              </a:lvl3pPr>
              <a:lvl4pPr marL="1600200" indent="-228600">
                <a:defRPr sz="2400">
                  <a:solidFill>
                    <a:schemeClr val="tx1"/>
                  </a:solidFill>
                  <a:latin typeface="Times New Roman" panose="02020603050405020304" pitchFamily="18" charset="0"/>
                  <a:ea typeface="ＭＳ Ｐゴシック" panose="020B0600070205080204" pitchFamily="34" charset="-128"/>
                </a:defRPr>
              </a:lvl4pPr>
              <a:lvl5pPr marL="2057400" indent="-228600">
                <a:defRPr sz="2400">
                  <a:solidFill>
                    <a:schemeClr val="tx1"/>
                  </a:solidFill>
                  <a:latin typeface="Times New Roman" panose="02020603050405020304" pitchFamily="18" charset="0"/>
                  <a:ea typeface="ＭＳ Ｐゴシック" panose="020B0600070205080204" pitchFamily="34" charset="-128"/>
                </a:defRPr>
              </a:lvl5pPr>
              <a:lvl6pPr marL="25146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6pPr>
              <a:lvl7pPr marL="29718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7pPr>
              <a:lvl8pPr marL="34290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8pPr>
              <a:lvl9pPr marL="3886200" indent="-228600" eaLnBrk="0" fontAlgn="base" hangingPunct="0">
                <a:spcBef>
                  <a:spcPct val="0"/>
                </a:spcBef>
                <a:spcAft>
                  <a:spcPct val="0"/>
                </a:spcAft>
                <a:defRPr sz="2400">
                  <a:solidFill>
                    <a:schemeClr val="tx1"/>
                  </a:solidFill>
                  <a:latin typeface="Times New Roman" panose="02020603050405020304" pitchFamily="18" charset="0"/>
                  <a:ea typeface="ＭＳ Ｐゴシック" panose="020B0600070205080204" pitchFamily="34" charset="-128"/>
                </a:defRPr>
              </a:lvl9pPr>
            </a:lstStyle>
            <a:p>
              <a:pPr algn="ctr"/>
              <a:endParaRPr lang="en-US" altLang="en-US" sz="1662">
                <a:solidFill>
                  <a:srgbClr val="CC0000"/>
                </a:solidFill>
              </a:endParaRPr>
            </a:p>
          </p:txBody>
        </p:sp>
      </p:grpSp>
    </p:spTree>
    <p:extLst>
      <p:ext uri="{BB962C8B-B14F-4D97-AF65-F5344CB8AC3E}">
        <p14:creationId xmlns:p14="http://schemas.microsoft.com/office/powerpoint/2010/main" val="382115797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EDDEB08D-CF0B-4A19-93F5-CFE21B85DD3E}" type="slidenum">
              <a:rPr lang="en-GB" altLang="en-US" sz="969"/>
              <a:pPr/>
              <a:t>3</a:t>
            </a:fld>
            <a:endParaRPr lang="en-GB" altLang="en-US" sz="969"/>
          </a:p>
        </p:txBody>
      </p:sp>
      <p:sp>
        <p:nvSpPr>
          <p:cNvPr id="5123" name="Rectangle 2"/>
          <p:cNvSpPr>
            <a:spLocks noGrp="1" noChangeArrowheads="1"/>
          </p:cNvSpPr>
          <p:nvPr>
            <p:ph type="title"/>
          </p:nvPr>
        </p:nvSpPr>
        <p:spPr>
          <a:xfrm>
            <a:off x="2339752" y="620688"/>
            <a:ext cx="5545422" cy="474785"/>
          </a:xfrm>
        </p:spPr>
        <p:txBody>
          <a:bodyPr>
            <a:normAutofit fontScale="90000"/>
          </a:bodyPr>
          <a:lstStyle/>
          <a:p>
            <a:r>
              <a:rPr lang="en-GB" altLang="en-US" dirty="0"/>
              <a:t>Business ownership</a:t>
            </a:r>
          </a:p>
        </p:txBody>
      </p:sp>
      <p:sp>
        <p:nvSpPr>
          <p:cNvPr id="5124" name="Rectangle 3"/>
          <p:cNvSpPr>
            <a:spLocks noGrp="1" noChangeArrowheads="1"/>
          </p:cNvSpPr>
          <p:nvPr>
            <p:ph type="body" idx="1"/>
          </p:nvPr>
        </p:nvSpPr>
        <p:spPr>
          <a:xfrm>
            <a:off x="1619672" y="1703291"/>
            <a:ext cx="6482330" cy="5018184"/>
          </a:xfrm>
        </p:spPr>
        <p:txBody>
          <a:bodyPr>
            <a:normAutofit fontScale="92500" lnSpcReduction="10000"/>
          </a:bodyPr>
          <a:lstStyle/>
          <a:p>
            <a:pPr>
              <a:lnSpc>
                <a:spcPct val="90000"/>
              </a:lnSpc>
            </a:pPr>
            <a:r>
              <a:rPr lang="en-GB" altLang="en-US" dirty="0"/>
              <a:t>Sole traders</a:t>
            </a:r>
          </a:p>
          <a:p>
            <a:pPr marL="857240" lvl="1">
              <a:lnSpc>
                <a:spcPct val="90000"/>
              </a:lnSpc>
            </a:pPr>
            <a:r>
              <a:rPr lang="en-GB" altLang="en-US" sz="2600" dirty="0">
                <a:ea typeface="ＭＳ Ｐゴシック" panose="020B0600070205080204" pitchFamily="34" charset="-128"/>
              </a:rPr>
              <a:t>unlimited liability for debts</a:t>
            </a:r>
          </a:p>
          <a:p>
            <a:pPr marL="857240" lvl="1">
              <a:lnSpc>
                <a:spcPct val="90000"/>
              </a:lnSpc>
            </a:pPr>
            <a:r>
              <a:rPr lang="en-GB" altLang="en-US" sz="2600" dirty="0">
                <a:ea typeface="ＭＳ Ｐゴシック" panose="020B0600070205080204" pitchFamily="34" charset="-128"/>
              </a:rPr>
              <a:t>no legal documentation required</a:t>
            </a:r>
          </a:p>
          <a:p>
            <a:pPr>
              <a:lnSpc>
                <a:spcPct val="90000"/>
              </a:lnSpc>
            </a:pPr>
            <a:r>
              <a:rPr lang="en-GB" altLang="en-US" dirty="0"/>
              <a:t>Partnerships</a:t>
            </a:r>
          </a:p>
          <a:p>
            <a:pPr marL="857240" lvl="1">
              <a:lnSpc>
                <a:spcPct val="90000"/>
              </a:lnSpc>
            </a:pPr>
            <a:r>
              <a:rPr lang="en-GB" altLang="en-US" sz="2600" dirty="0">
                <a:ea typeface="ＭＳ Ｐゴシック" panose="020B0600070205080204" pitchFamily="34" charset="-128"/>
              </a:rPr>
              <a:t>may be owned in unequal proportions</a:t>
            </a:r>
          </a:p>
          <a:p>
            <a:pPr marL="857240" lvl="1">
              <a:lnSpc>
                <a:spcPct val="90000"/>
              </a:lnSpc>
            </a:pPr>
            <a:r>
              <a:rPr lang="en-GB" altLang="en-US" sz="2600" dirty="0">
                <a:ea typeface="ＭＳ Ｐゴシック" panose="020B0600070205080204" pitchFamily="34" charset="-128"/>
              </a:rPr>
              <a:t>owners are jointly and severally liable for debts</a:t>
            </a:r>
          </a:p>
          <a:p>
            <a:pPr marL="857240" lvl="1">
              <a:lnSpc>
                <a:spcPct val="90000"/>
              </a:lnSpc>
            </a:pPr>
            <a:r>
              <a:rPr lang="en-GB" altLang="en-US" sz="2600" dirty="0">
                <a:ea typeface="ＭＳ Ｐゴシック" panose="020B0600070205080204" pitchFamily="34" charset="-128"/>
              </a:rPr>
              <a:t>usually sign partnership agreement</a:t>
            </a:r>
          </a:p>
          <a:p>
            <a:pPr>
              <a:lnSpc>
                <a:spcPct val="90000"/>
              </a:lnSpc>
            </a:pPr>
            <a:r>
              <a:rPr lang="en-GB" altLang="en-US" dirty="0"/>
              <a:t>Limited companies</a:t>
            </a:r>
            <a:br>
              <a:rPr lang="en-GB" altLang="en-US" dirty="0"/>
            </a:br>
            <a:r>
              <a:rPr lang="en-GB" altLang="en-US" dirty="0"/>
              <a:t>	- </a:t>
            </a:r>
            <a:r>
              <a:rPr lang="en-GB" altLang="en-US" sz="2600" dirty="0"/>
              <a:t>separate legal identity</a:t>
            </a:r>
            <a:br>
              <a:rPr lang="en-GB" altLang="en-US" sz="2600" dirty="0"/>
            </a:br>
            <a:r>
              <a:rPr lang="en-GB" altLang="en-US" sz="2600" dirty="0"/>
              <a:t>	- liability limited </a:t>
            </a:r>
            <a:br>
              <a:rPr lang="en-GB" altLang="en-US" sz="2600" dirty="0"/>
            </a:br>
            <a:r>
              <a:rPr lang="en-GB" altLang="en-US" sz="2600" dirty="0"/>
              <a:t>	- dividends paid to owners</a:t>
            </a:r>
            <a:br>
              <a:rPr lang="en-GB" altLang="en-US" sz="2600" dirty="0"/>
            </a:br>
            <a:r>
              <a:rPr lang="en-GB" altLang="en-US" sz="2600" dirty="0"/>
              <a:t>	- strict legal requirements		</a:t>
            </a:r>
            <a:r>
              <a:rPr lang="en-GB" altLang="en-US" dirty="0"/>
              <a:t>		</a:t>
            </a:r>
          </a:p>
        </p:txBody>
      </p:sp>
    </p:spTree>
    <p:extLst>
      <p:ext uri="{BB962C8B-B14F-4D97-AF65-F5344CB8AC3E}">
        <p14:creationId xmlns:p14="http://schemas.microsoft.com/office/powerpoint/2010/main" val="401053873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14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8B72D0EF-375A-4C83-B451-C7C74FA3BF87}" type="slidenum">
              <a:rPr lang="en-GB" altLang="en-US" sz="969"/>
              <a:pPr/>
              <a:t>4</a:t>
            </a:fld>
            <a:endParaRPr lang="en-GB" altLang="en-US" sz="969"/>
          </a:p>
        </p:txBody>
      </p:sp>
      <p:sp>
        <p:nvSpPr>
          <p:cNvPr id="6147" name="Rectangle 1026"/>
          <p:cNvSpPr>
            <a:spLocks noGrp="1" noChangeArrowheads="1"/>
          </p:cNvSpPr>
          <p:nvPr>
            <p:ph type="title"/>
          </p:nvPr>
        </p:nvSpPr>
        <p:spPr>
          <a:xfrm>
            <a:off x="261864" y="1340768"/>
            <a:ext cx="8424936" cy="730801"/>
          </a:xfrm>
        </p:spPr>
        <p:txBody>
          <a:bodyPr>
            <a:noAutofit/>
          </a:bodyPr>
          <a:lstStyle/>
          <a:p>
            <a:r>
              <a:rPr lang="en-GB" altLang="en-US" sz="2800" dirty="0"/>
              <a:t>Advantages and disadvantages of incorporation</a:t>
            </a:r>
          </a:p>
        </p:txBody>
      </p:sp>
      <p:sp>
        <p:nvSpPr>
          <p:cNvPr id="6148" name="Rectangle 1027"/>
          <p:cNvSpPr>
            <a:spLocks noGrp="1" noChangeArrowheads="1"/>
          </p:cNvSpPr>
          <p:nvPr>
            <p:ph type="body" idx="1"/>
          </p:nvPr>
        </p:nvSpPr>
        <p:spPr/>
        <p:txBody>
          <a:bodyPr>
            <a:normAutofit fontScale="92500" lnSpcReduction="20000"/>
          </a:bodyPr>
          <a:lstStyle/>
          <a:p>
            <a:pPr>
              <a:lnSpc>
                <a:spcPct val="90000"/>
              </a:lnSpc>
            </a:pPr>
            <a:r>
              <a:rPr lang="en-GB" altLang="en-US" dirty="0"/>
              <a:t>Advantages</a:t>
            </a:r>
          </a:p>
          <a:p>
            <a:pPr lvl="1">
              <a:lnSpc>
                <a:spcPct val="90000"/>
              </a:lnSpc>
            </a:pPr>
            <a:r>
              <a:rPr lang="en-GB" altLang="en-US" dirty="0">
                <a:ea typeface="ＭＳ Ｐゴシック" panose="020B0600070205080204" pitchFamily="34" charset="-128"/>
              </a:rPr>
              <a:t>Limited liability</a:t>
            </a:r>
          </a:p>
          <a:p>
            <a:pPr lvl="1">
              <a:lnSpc>
                <a:spcPct val="90000"/>
              </a:lnSpc>
            </a:pPr>
            <a:r>
              <a:rPr lang="en-GB" altLang="en-US" dirty="0">
                <a:ea typeface="ＭＳ Ｐゴシック" panose="020B0600070205080204" pitchFamily="34" charset="-128"/>
              </a:rPr>
              <a:t>Easier to raise capital</a:t>
            </a:r>
          </a:p>
          <a:p>
            <a:pPr lvl="1">
              <a:lnSpc>
                <a:spcPct val="90000"/>
              </a:lnSpc>
            </a:pPr>
            <a:r>
              <a:rPr lang="en-GB" altLang="en-US" dirty="0">
                <a:ea typeface="ＭＳ Ｐゴシック" panose="020B0600070205080204" pitchFamily="34" charset="-128"/>
              </a:rPr>
              <a:t>Ownership can change without interfering in business operations</a:t>
            </a:r>
          </a:p>
          <a:p>
            <a:pPr lvl="1">
              <a:lnSpc>
                <a:spcPct val="90000"/>
              </a:lnSpc>
              <a:buFontTx/>
              <a:buNone/>
            </a:pPr>
            <a:endParaRPr lang="en-GB" altLang="en-US" dirty="0">
              <a:ea typeface="ＭＳ Ｐゴシック" panose="020B0600070205080204" pitchFamily="34" charset="-128"/>
            </a:endParaRPr>
          </a:p>
          <a:p>
            <a:pPr>
              <a:lnSpc>
                <a:spcPct val="90000"/>
              </a:lnSpc>
            </a:pPr>
            <a:r>
              <a:rPr lang="en-GB" altLang="en-US" dirty="0"/>
              <a:t>Disadvantages</a:t>
            </a:r>
          </a:p>
          <a:p>
            <a:pPr lvl="1">
              <a:lnSpc>
                <a:spcPct val="90000"/>
              </a:lnSpc>
            </a:pPr>
            <a:r>
              <a:rPr lang="en-GB" altLang="en-US" dirty="0">
                <a:ea typeface="ＭＳ Ｐゴシック" panose="020B0600070205080204" pitchFamily="34" charset="-128"/>
              </a:rPr>
              <a:t>More expensive</a:t>
            </a:r>
          </a:p>
          <a:p>
            <a:pPr lvl="1">
              <a:lnSpc>
                <a:spcPct val="90000"/>
              </a:lnSpc>
            </a:pPr>
            <a:r>
              <a:rPr lang="en-GB" altLang="en-US" dirty="0">
                <a:ea typeface="ＭＳ Ｐゴシック" panose="020B0600070205080204" pitchFamily="34" charset="-128"/>
              </a:rPr>
              <a:t>More restrictive legal aspects</a:t>
            </a:r>
          </a:p>
          <a:p>
            <a:pPr lvl="1">
              <a:lnSpc>
                <a:spcPct val="90000"/>
              </a:lnSpc>
            </a:pPr>
            <a:r>
              <a:rPr lang="en-GB" altLang="en-US" dirty="0">
                <a:ea typeface="ＭＳ Ｐゴシック" panose="020B0600070205080204" pitchFamily="34" charset="-128"/>
              </a:rPr>
              <a:t>Managers may have aims which are not in the best interests of the owners</a:t>
            </a:r>
          </a:p>
          <a:p>
            <a:pPr lvl="1">
              <a:lnSpc>
                <a:spcPct val="90000"/>
              </a:lnSpc>
            </a:pPr>
            <a:endParaRPr lang="en-GB" altLang="en-US" dirty="0">
              <a:ea typeface="ＭＳ Ｐゴシック" panose="020B0600070205080204" pitchFamily="34" charset="-128"/>
            </a:endParaRPr>
          </a:p>
        </p:txBody>
      </p:sp>
    </p:spTree>
    <p:extLst>
      <p:ext uri="{BB962C8B-B14F-4D97-AF65-F5344CB8AC3E}">
        <p14:creationId xmlns:p14="http://schemas.microsoft.com/office/powerpoint/2010/main" val="422800723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p:cNvSpPr>
            <a:spLocks noGrp="1"/>
          </p:cNvSpPr>
          <p:nvPr>
            <p:ph type="title"/>
          </p:nvPr>
        </p:nvSpPr>
        <p:spPr>
          <a:xfrm>
            <a:off x="395536" y="1556792"/>
            <a:ext cx="8064896" cy="890221"/>
          </a:xfrm>
        </p:spPr>
        <p:txBody>
          <a:bodyPr>
            <a:normAutofit/>
          </a:bodyPr>
          <a:lstStyle/>
          <a:p>
            <a:r>
              <a:rPr lang="en-GB" altLang="en-US" dirty="0"/>
              <a:t>Private and public companies</a:t>
            </a:r>
          </a:p>
        </p:txBody>
      </p:sp>
      <p:sp>
        <p:nvSpPr>
          <p:cNvPr id="7171" name="Content Placeholder 2"/>
          <p:cNvSpPr>
            <a:spLocks noGrp="1"/>
          </p:cNvSpPr>
          <p:nvPr>
            <p:ph idx="1"/>
          </p:nvPr>
        </p:nvSpPr>
        <p:spPr>
          <a:xfrm>
            <a:off x="395536" y="2996952"/>
            <a:ext cx="8064896" cy="2901310"/>
          </a:xfrm>
        </p:spPr>
        <p:txBody>
          <a:bodyPr>
            <a:normAutofit/>
          </a:bodyPr>
          <a:lstStyle/>
          <a:p>
            <a:r>
              <a:rPr lang="en-GB" altLang="en-US" sz="2400" dirty="0"/>
              <a:t>A private limited company is not allowed to offer its shares to the public.</a:t>
            </a:r>
          </a:p>
          <a:p>
            <a:pPr lvl="1"/>
            <a:r>
              <a:rPr lang="en-GB" altLang="en-US" sz="2000" dirty="0">
                <a:ea typeface="ＭＳ Ｐゴシック" panose="020B0600070205080204" pitchFamily="34" charset="-128"/>
              </a:rPr>
              <a:t>Name must end with the word “limited” (Ltd) </a:t>
            </a:r>
          </a:p>
          <a:p>
            <a:pPr lvl="1"/>
            <a:r>
              <a:rPr lang="en-GB" altLang="en-US" sz="2000" dirty="0">
                <a:ea typeface="ＭＳ Ｐゴシック" panose="020B0600070205080204" pitchFamily="34" charset="-128"/>
              </a:rPr>
              <a:t>Can have only one director and one shareholder</a:t>
            </a:r>
          </a:p>
          <a:p>
            <a:pPr lvl="1"/>
            <a:r>
              <a:rPr lang="en-GB" altLang="en-US" sz="2000" dirty="0">
                <a:ea typeface="ＭＳ Ｐゴシック" panose="020B0600070205080204" pitchFamily="34" charset="-128"/>
              </a:rPr>
              <a:t>Does not need to hold annual general meetings (AGMs)</a:t>
            </a:r>
          </a:p>
          <a:p>
            <a:pPr lvl="1"/>
            <a:r>
              <a:rPr lang="en-GB" altLang="en-US" sz="2000" dirty="0">
                <a:ea typeface="ＭＳ Ｐゴシック" panose="020B0600070205080204" pitchFamily="34" charset="-128"/>
              </a:rPr>
              <a:t>Up to a certain size, private companies can file abbreviated (shortened) accounts</a:t>
            </a:r>
          </a:p>
          <a:p>
            <a:pPr lvl="1"/>
            <a:endParaRPr lang="en-GB" altLang="en-US" sz="2000" dirty="0">
              <a:ea typeface="ＭＳ Ｐゴシック" panose="020B0600070205080204" pitchFamily="34" charset="-128"/>
            </a:endParaRPr>
          </a:p>
          <a:p>
            <a:pPr lvl="1">
              <a:buFontTx/>
              <a:buNone/>
            </a:pPr>
            <a:endParaRPr lang="en-GB" altLang="en-US" sz="2000" dirty="0">
              <a:ea typeface="ＭＳ Ｐゴシック" panose="020B0600070205080204" pitchFamily="34" charset="-128"/>
            </a:endParaRPr>
          </a:p>
        </p:txBody>
      </p:sp>
      <p:sp>
        <p:nvSpPr>
          <p:cNvPr id="7172"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7B5AB560-3EE1-440D-91AC-9D308A66130F}" type="slidenum">
              <a:rPr lang="en-GB" altLang="en-US" sz="969"/>
              <a:pPr/>
              <a:t>5</a:t>
            </a:fld>
            <a:endParaRPr lang="en-GB" altLang="en-US" sz="969"/>
          </a:p>
        </p:txBody>
      </p:sp>
    </p:spTree>
    <p:extLst>
      <p:ext uri="{BB962C8B-B14F-4D97-AF65-F5344CB8AC3E}">
        <p14:creationId xmlns:p14="http://schemas.microsoft.com/office/powerpoint/2010/main" val="260049004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Content Placeholder 2"/>
          <p:cNvSpPr>
            <a:spLocks noGrp="1"/>
          </p:cNvSpPr>
          <p:nvPr>
            <p:ph idx="1"/>
          </p:nvPr>
        </p:nvSpPr>
        <p:spPr>
          <a:xfrm>
            <a:off x="291073" y="2132856"/>
            <a:ext cx="8363272" cy="3960440"/>
          </a:xfrm>
        </p:spPr>
        <p:txBody>
          <a:bodyPr/>
          <a:lstStyle/>
          <a:p>
            <a:r>
              <a:rPr lang="en-GB" altLang="en-US" dirty="0"/>
              <a:t>A company that wants to offer shares to the public must be a public limited company.</a:t>
            </a:r>
          </a:p>
          <a:p>
            <a:pPr lvl="1"/>
            <a:r>
              <a:rPr lang="en-GB" altLang="en-US" sz="2400" dirty="0">
                <a:ea typeface="ＭＳ Ｐゴシック" panose="020B0600070205080204" pitchFamily="34" charset="-128"/>
              </a:rPr>
              <a:t>Name  must end with the words “public limited company” (plc or PLC)</a:t>
            </a:r>
          </a:p>
          <a:p>
            <a:pPr lvl="1"/>
            <a:r>
              <a:rPr lang="en-GB" altLang="en-US" sz="2400" dirty="0">
                <a:ea typeface="ＭＳ Ｐゴシック" panose="020B0600070205080204" pitchFamily="34" charset="-128"/>
              </a:rPr>
              <a:t>Must have issued share capital of at least £50,000</a:t>
            </a:r>
          </a:p>
          <a:p>
            <a:pPr lvl="1"/>
            <a:r>
              <a:rPr lang="en-GB" altLang="en-US" sz="2400" dirty="0">
                <a:ea typeface="ＭＳ Ｐゴシック" panose="020B0600070205080204" pitchFamily="34" charset="-128"/>
              </a:rPr>
              <a:t>May (or may not) be listed on the Stock Exchange</a:t>
            </a:r>
          </a:p>
          <a:p>
            <a:pPr lvl="1"/>
            <a:r>
              <a:rPr lang="en-GB" altLang="en-US" sz="2400" dirty="0">
                <a:ea typeface="ＭＳ Ｐゴシック" panose="020B0600070205080204" pitchFamily="34" charset="-128"/>
              </a:rPr>
              <a:t>Must have at least 2 directors and 2 shareholders</a:t>
            </a:r>
          </a:p>
          <a:p>
            <a:pPr lvl="1"/>
            <a:endParaRPr lang="en-GB" altLang="en-US" sz="1662" dirty="0">
              <a:ea typeface="ＭＳ Ｐゴシック" panose="020B0600070205080204" pitchFamily="34" charset="-128"/>
            </a:endParaRPr>
          </a:p>
          <a:p>
            <a:endParaRPr lang="en-GB" altLang="en-US" dirty="0"/>
          </a:p>
        </p:txBody>
      </p:sp>
      <p:sp>
        <p:nvSpPr>
          <p:cNvPr id="8195"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23C769A1-6E33-4B22-A2F5-690C586EF652}" type="slidenum">
              <a:rPr lang="en-GB" altLang="en-US" sz="969"/>
              <a:pPr/>
              <a:t>6</a:t>
            </a:fld>
            <a:endParaRPr lang="en-GB" altLang="en-US" sz="969"/>
          </a:p>
        </p:txBody>
      </p:sp>
    </p:spTree>
    <p:extLst>
      <p:ext uri="{BB962C8B-B14F-4D97-AF65-F5344CB8AC3E}">
        <p14:creationId xmlns:p14="http://schemas.microsoft.com/office/powerpoint/2010/main" val="323431166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218"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2CEA0EA1-939C-431D-A2A9-4925CECDFA8C}" type="slidenum">
              <a:rPr lang="en-GB" altLang="en-US" sz="969"/>
              <a:pPr/>
              <a:t>7</a:t>
            </a:fld>
            <a:endParaRPr lang="en-GB" altLang="en-US" sz="969"/>
          </a:p>
        </p:txBody>
      </p:sp>
      <p:sp>
        <p:nvSpPr>
          <p:cNvPr id="9219" name="Rectangle 2"/>
          <p:cNvSpPr>
            <a:spLocks noGrp="1" noChangeArrowheads="1"/>
          </p:cNvSpPr>
          <p:nvPr>
            <p:ph type="title"/>
          </p:nvPr>
        </p:nvSpPr>
        <p:spPr>
          <a:xfrm>
            <a:off x="2198077" y="609967"/>
            <a:ext cx="6262355" cy="814387"/>
          </a:xfrm>
        </p:spPr>
        <p:txBody>
          <a:bodyPr>
            <a:normAutofit/>
          </a:bodyPr>
          <a:lstStyle/>
          <a:p>
            <a:r>
              <a:rPr lang="en-GB" altLang="en-US"/>
              <a:t>Financial Statements</a:t>
            </a:r>
          </a:p>
        </p:txBody>
      </p:sp>
      <p:sp>
        <p:nvSpPr>
          <p:cNvPr id="9220" name="Rectangle 3"/>
          <p:cNvSpPr>
            <a:spLocks noGrp="1" noChangeArrowheads="1"/>
          </p:cNvSpPr>
          <p:nvPr>
            <p:ph type="body" idx="1"/>
          </p:nvPr>
        </p:nvSpPr>
        <p:spPr>
          <a:xfrm>
            <a:off x="172389" y="2014410"/>
            <a:ext cx="8640960" cy="4513751"/>
          </a:xfrm>
        </p:spPr>
        <p:txBody>
          <a:bodyPr>
            <a:normAutofit lnSpcReduction="10000"/>
          </a:bodyPr>
          <a:lstStyle/>
          <a:p>
            <a:r>
              <a:rPr lang="en-GB" altLang="en-US" dirty="0"/>
              <a:t>Financial statements/annual accounts/annual report</a:t>
            </a:r>
          </a:p>
          <a:p>
            <a:r>
              <a:rPr lang="en-GB" altLang="en-US" dirty="0"/>
              <a:t>All companies must prepare these each year, and send to all shareholders</a:t>
            </a:r>
          </a:p>
          <a:p>
            <a:r>
              <a:rPr lang="en-GB" altLang="en-US" dirty="0"/>
              <a:t>Also available to members of the public</a:t>
            </a:r>
          </a:p>
          <a:p>
            <a:r>
              <a:rPr lang="en-GB" altLang="en-US" dirty="0"/>
              <a:t>Contain range of information about company’s performance and position </a:t>
            </a:r>
          </a:p>
          <a:p>
            <a:r>
              <a:rPr lang="en-GB" altLang="en-US" dirty="0"/>
              <a:t>Some content is required by law or accounting regulation</a:t>
            </a:r>
          </a:p>
          <a:p>
            <a:r>
              <a:rPr lang="en-GB" altLang="en-US" dirty="0"/>
              <a:t>Other content discretionary</a:t>
            </a:r>
          </a:p>
          <a:p>
            <a:pPr>
              <a:buFontTx/>
              <a:buNone/>
            </a:pPr>
            <a:endParaRPr lang="en-GB" altLang="en-US" dirty="0"/>
          </a:p>
        </p:txBody>
      </p:sp>
    </p:spTree>
    <p:extLst>
      <p:ext uri="{BB962C8B-B14F-4D97-AF65-F5344CB8AC3E}">
        <p14:creationId xmlns:p14="http://schemas.microsoft.com/office/powerpoint/2010/main" val="39900300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668B71FE-DFDF-477E-9F48-351D4AA23C84}" type="slidenum">
              <a:rPr lang="en-GB" altLang="en-US" sz="969"/>
              <a:pPr/>
              <a:t>8</a:t>
            </a:fld>
            <a:endParaRPr lang="en-GB" altLang="en-US" sz="969"/>
          </a:p>
        </p:txBody>
      </p:sp>
      <p:sp>
        <p:nvSpPr>
          <p:cNvPr id="17411" name="Rectangle 2"/>
          <p:cNvSpPr>
            <a:spLocks noGrp="1" noChangeArrowheads="1"/>
          </p:cNvSpPr>
          <p:nvPr>
            <p:ph type="title"/>
          </p:nvPr>
        </p:nvSpPr>
        <p:spPr>
          <a:xfrm>
            <a:off x="1884016" y="980728"/>
            <a:ext cx="7272808" cy="576064"/>
          </a:xfrm>
        </p:spPr>
        <p:txBody>
          <a:bodyPr>
            <a:normAutofit fontScale="90000"/>
          </a:bodyPr>
          <a:lstStyle/>
          <a:p>
            <a:r>
              <a:rPr lang="en-GB" altLang="en-US" sz="3200" dirty="0"/>
              <a:t>Typical contents of Annual Reports</a:t>
            </a:r>
          </a:p>
        </p:txBody>
      </p:sp>
      <p:sp>
        <p:nvSpPr>
          <p:cNvPr id="17412" name="Rectangle 3"/>
          <p:cNvSpPr>
            <a:spLocks noGrp="1" noChangeArrowheads="1"/>
          </p:cNvSpPr>
          <p:nvPr>
            <p:ph type="body" idx="1"/>
          </p:nvPr>
        </p:nvSpPr>
        <p:spPr>
          <a:xfrm>
            <a:off x="261864" y="2068385"/>
            <a:ext cx="8424936" cy="4447809"/>
          </a:xfrm>
        </p:spPr>
        <p:txBody>
          <a:bodyPr>
            <a:normAutofit fontScale="85000" lnSpcReduction="20000"/>
          </a:bodyPr>
          <a:lstStyle/>
          <a:p>
            <a:r>
              <a:rPr lang="en-GB" altLang="en-US" dirty="0"/>
              <a:t>Financial highlights</a:t>
            </a:r>
          </a:p>
          <a:p>
            <a:r>
              <a:rPr lang="en-GB" altLang="en-US" dirty="0"/>
              <a:t>Chairman’s statement</a:t>
            </a:r>
          </a:p>
          <a:p>
            <a:r>
              <a:rPr lang="en-GB" altLang="en-US" dirty="0"/>
              <a:t>Business review</a:t>
            </a:r>
          </a:p>
          <a:p>
            <a:r>
              <a:rPr lang="en-GB" altLang="en-US" dirty="0"/>
              <a:t>Details of directors</a:t>
            </a:r>
          </a:p>
          <a:p>
            <a:r>
              <a:rPr lang="en-GB" altLang="en-US" dirty="0"/>
              <a:t>Directors’ report</a:t>
            </a:r>
          </a:p>
          <a:p>
            <a:r>
              <a:rPr lang="en-GB" altLang="en-US" dirty="0"/>
              <a:t>Corporate governance report</a:t>
            </a:r>
          </a:p>
          <a:p>
            <a:r>
              <a:rPr lang="en-GB" altLang="en-US" dirty="0"/>
              <a:t>Remuneration committee report</a:t>
            </a:r>
          </a:p>
          <a:p>
            <a:r>
              <a:rPr lang="en-GB" altLang="en-US" dirty="0"/>
              <a:t>Auditor’s report</a:t>
            </a:r>
          </a:p>
          <a:p>
            <a:r>
              <a:rPr lang="en-GB" altLang="en-US" dirty="0">
                <a:solidFill>
                  <a:srgbClr val="00B0F0"/>
                </a:solidFill>
              </a:rPr>
              <a:t>Income statement</a:t>
            </a:r>
          </a:p>
          <a:p>
            <a:r>
              <a:rPr lang="en-GB" altLang="en-US" dirty="0">
                <a:solidFill>
                  <a:srgbClr val="00B0F0"/>
                </a:solidFill>
              </a:rPr>
              <a:t>Statement of financial position</a:t>
            </a:r>
          </a:p>
          <a:p>
            <a:r>
              <a:rPr lang="en-GB" altLang="en-US" dirty="0">
                <a:solidFill>
                  <a:srgbClr val="00B0F0"/>
                </a:solidFill>
              </a:rPr>
              <a:t>Cash flow statement</a:t>
            </a:r>
          </a:p>
          <a:p>
            <a:r>
              <a:rPr lang="en-GB" altLang="en-US" dirty="0"/>
              <a:t>Notes to the accounts</a:t>
            </a:r>
          </a:p>
          <a:p>
            <a:pPr>
              <a:buFontTx/>
              <a:buNone/>
            </a:pPr>
            <a:endParaRPr lang="en-GB" altLang="en-US" dirty="0"/>
          </a:p>
        </p:txBody>
      </p:sp>
    </p:spTree>
    <p:extLst>
      <p:ext uri="{BB962C8B-B14F-4D97-AF65-F5344CB8AC3E}">
        <p14:creationId xmlns:p14="http://schemas.microsoft.com/office/powerpoint/2010/main" val="267412013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p:cNvSpPr>
            <a:spLocks noGrp="1"/>
          </p:cNvSpPr>
          <p:nvPr>
            <p:ph type="title"/>
          </p:nvPr>
        </p:nvSpPr>
        <p:spPr/>
        <p:txBody>
          <a:bodyPr/>
          <a:lstStyle/>
          <a:p>
            <a:r>
              <a:rPr lang="en-GB" altLang="en-US"/>
              <a:t>Financial highlights</a:t>
            </a:r>
          </a:p>
        </p:txBody>
      </p:sp>
      <p:sp>
        <p:nvSpPr>
          <p:cNvPr id="18435" name="Content Placeholder 2"/>
          <p:cNvSpPr>
            <a:spLocks noGrp="1"/>
          </p:cNvSpPr>
          <p:nvPr>
            <p:ph idx="1"/>
          </p:nvPr>
        </p:nvSpPr>
        <p:spPr>
          <a:xfrm>
            <a:off x="539552" y="2696720"/>
            <a:ext cx="8075240" cy="3777283"/>
          </a:xfrm>
        </p:spPr>
        <p:txBody>
          <a:bodyPr/>
          <a:lstStyle/>
          <a:p>
            <a:r>
              <a:rPr lang="en-GB" altLang="en-US" dirty="0"/>
              <a:t>Summary of main aspects of financial statements</a:t>
            </a:r>
          </a:p>
          <a:p>
            <a:pPr>
              <a:buFontTx/>
              <a:buNone/>
            </a:pPr>
            <a:endParaRPr lang="en-GB" altLang="en-US" dirty="0"/>
          </a:p>
          <a:p>
            <a:r>
              <a:rPr lang="en-GB" altLang="en-US" dirty="0"/>
              <a:t>Usually highlight the positive aspects, ignore the negative aspects</a:t>
            </a:r>
          </a:p>
          <a:p>
            <a:pPr>
              <a:buFontTx/>
              <a:buNone/>
            </a:pPr>
            <a:endParaRPr lang="en-GB" altLang="en-US" dirty="0"/>
          </a:p>
        </p:txBody>
      </p:sp>
      <p:sp>
        <p:nvSpPr>
          <p:cNvPr id="1843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0F94C66F-D547-4D23-8A01-4E75CA5C53EC}" type="slidenum">
              <a:rPr lang="en-GB" altLang="en-US" sz="969"/>
              <a:pPr/>
              <a:t>9</a:t>
            </a:fld>
            <a:endParaRPr lang="en-GB" altLang="en-US" sz="969"/>
          </a:p>
        </p:txBody>
      </p:sp>
    </p:spTree>
    <p:extLst>
      <p:ext uri="{BB962C8B-B14F-4D97-AF65-F5344CB8AC3E}">
        <p14:creationId xmlns:p14="http://schemas.microsoft.com/office/powerpoint/2010/main" val="2307969264"/>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81643E89-BE22-4586-BE30-A7B12B1ADBFC}" type="slidenum">
              <a:rPr lang="en-GB" altLang="en-US" sz="969"/>
              <a:pPr/>
              <a:t>10</a:t>
            </a:fld>
            <a:endParaRPr lang="en-GB" altLang="en-US" sz="969"/>
          </a:p>
        </p:txBody>
      </p:sp>
      <p:sp>
        <p:nvSpPr>
          <p:cNvPr id="21507" name="Rectangle 2"/>
          <p:cNvSpPr>
            <a:spLocks noGrp="1" noChangeArrowheads="1"/>
          </p:cNvSpPr>
          <p:nvPr>
            <p:ph type="title"/>
          </p:nvPr>
        </p:nvSpPr>
        <p:spPr>
          <a:xfrm>
            <a:off x="2554166" y="609967"/>
            <a:ext cx="5978274" cy="603372"/>
          </a:xfrm>
        </p:spPr>
        <p:txBody>
          <a:bodyPr>
            <a:normAutofit fontScale="90000"/>
          </a:bodyPr>
          <a:lstStyle/>
          <a:p>
            <a:r>
              <a:rPr lang="en-GB" altLang="en-US" dirty="0"/>
              <a:t>Chairman’s statement</a:t>
            </a:r>
          </a:p>
        </p:txBody>
      </p:sp>
      <p:sp>
        <p:nvSpPr>
          <p:cNvPr id="21508" name="Rectangle 3"/>
          <p:cNvSpPr>
            <a:spLocks noGrp="1" noChangeArrowheads="1"/>
          </p:cNvSpPr>
          <p:nvPr>
            <p:ph type="body" idx="1"/>
          </p:nvPr>
        </p:nvSpPr>
        <p:spPr>
          <a:xfrm>
            <a:off x="323528" y="1772816"/>
            <a:ext cx="8496944" cy="4672013"/>
          </a:xfrm>
        </p:spPr>
        <p:txBody>
          <a:bodyPr>
            <a:normAutofit fontScale="92500"/>
          </a:bodyPr>
          <a:lstStyle/>
          <a:p>
            <a:r>
              <a:rPr lang="en-GB" altLang="en-US" dirty="0"/>
              <a:t>Chairman is a  non-executive director</a:t>
            </a:r>
          </a:p>
          <a:p>
            <a:r>
              <a:rPr lang="en-GB" altLang="en-US" dirty="0"/>
              <a:t>Statement is usually self-congratulatory</a:t>
            </a:r>
          </a:p>
          <a:p>
            <a:r>
              <a:rPr lang="en-GB" altLang="en-US" dirty="0"/>
              <a:t>“We are well- positioned to maintain our growth, and are confident we will continue to deliver positive results”</a:t>
            </a:r>
          </a:p>
          <a:p>
            <a:r>
              <a:rPr lang="en-GB" altLang="en-US" dirty="0"/>
              <a:t>Be cautious </a:t>
            </a:r>
          </a:p>
          <a:p>
            <a:pPr lvl="1"/>
            <a:r>
              <a:rPr lang="en-GB" altLang="en-US" dirty="0">
                <a:ea typeface="ＭＳ Ｐゴシック" panose="020B0600070205080204" pitchFamily="34" charset="-128"/>
              </a:rPr>
              <a:t>Marks and Spencer – major UK food and clothing store</a:t>
            </a:r>
          </a:p>
          <a:p>
            <a:pPr lvl="1"/>
            <a:r>
              <a:rPr lang="en-GB" altLang="en-US" dirty="0">
                <a:ea typeface="ＭＳ Ｐゴシック" panose="020B0600070205080204" pitchFamily="34" charset="-128"/>
              </a:rPr>
              <a:t>Disastrous year in 2001</a:t>
            </a:r>
          </a:p>
          <a:p>
            <a:pPr lvl="1"/>
            <a:r>
              <a:rPr lang="en-GB" altLang="en-US" dirty="0">
                <a:ea typeface="ＭＳ Ｐゴシック" panose="020B0600070205080204" pitchFamily="34" charset="-128"/>
              </a:rPr>
              <a:t>Profits dropped from £417m in 2000 to just £145m</a:t>
            </a:r>
          </a:p>
          <a:p>
            <a:endParaRPr lang="en-GB" altLang="en-US" dirty="0"/>
          </a:p>
          <a:p>
            <a:endParaRPr lang="en-GB" altLang="en-US" dirty="0"/>
          </a:p>
          <a:p>
            <a:endParaRPr lang="en-GB" altLang="en-US" dirty="0"/>
          </a:p>
        </p:txBody>
      </p:sp>
    </p:spTree>
    <p:extLst>
      <p:ext uri="{BB962C8B-B14F-4D97-AF65-F5344CB8AC3E}">
        <p14:creationId xmlns:p14="http://schemas.microsoft.com/office/powerpoint/2010/main" val="317493544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F2160FD5-E418-448E-8254-4B273E721A96}" type="slidenum">
              <a:rPr lang="en-GB" altLang="en-US" sz="969"/>
              <a:pPr/>
              <a:t>11</a:t>
            </a:fld>
            <a:endParaRPr lang="en-GB" altLang="en-US" sz="969"/>
          </a:p>
        </p:txBody>
      </p:sp>
      <p:sp>
        <p:nvSpPr>
          <p:cNvPr id="22531" name="Rectangle 3"/>
          <p:cNvSpPr>
            <a:spLocks noGrp="1" noChangeArrowheads="1"/>
          </p:cNvSpPr>
          <p:nvPr>
            <p:ph type="body" idx="1"/>
          </p:nvPr>
        </p:nvSpPr>
        <p:spPr>
          <a:xfrm>
            <a:off x="251520" y="1700808"/>
            <a:ext cx="8435280" cy="4896544"/>
          </a:xfrm>
        </p:spPr>
        <p:txBody>
          <a:bodyPr>
            <a:normAutofit/>
          </a:bodyPr>
          <a:lstStyle/>
          <a:p>
            <a:pPr>
              <a:buFontTx/>
              <a:buNone/>
            </a:pPr>
            <a:r>
              <a:rPr lang="en-GB" altLang="en-US" sz="1938" dirty="0">
                <a:cs typeface="Times New Roman" panose="02020603050405020304" pitchFamily="18" charset="0"/>
              </a:rPr>
              <a:t>	</a:t>
            </a:r>
            <a:r>
              <a:rPr lang="en-GB" altLang="en-US" sz="2000" dirty="0">
                <a:cs typeface="Times New Roman" panose="02020603050405020304" pitchFamily="18" charset="0"/>
              </a:rPr>
              <a:t>“One of the most revealing things about this year at Marks &amp; Spencer was that almost every action or announcement has received front page and prime time TV news coverage. This is a powerful reminder to me of how important Marks &amp; Spencer is to British people, how close to the nation’s heart we really are.</a:t>
            </a:r>
            <a:br>
              <a:rPr lang="en-GB" altLang="en-US" sz="2000" dirty="0">
                <a:cs typeface="Times New Roman" panose="02020603050405020304" pitchFamily="18" charset="0"/>
              </a:rPr>
            </a:br>
            <a:br>
              <a:rPr lang="en-GB" altLang="en-US" sz="2000" dirty="0">
                <a:cs typeface="Times New Roman" panose="02020603050405020304" pitchFamily="18" charset="0"/>
              </a:rPr>
            </a:br>
            <a:r>
              <a:rPr lang="en-GB" altLang="en-US" sz="2000" dirty="0">
                <a:cs typeface="Times New Roman" panose="02020603050405020304" pitchFamily="18" charset="0"/>
              </a:rPr>
              <a:t>We have a leading share in the fastest-growing food categories in the market, and unrivalled food development capabilities. We have the scale and authority to develop clothing innovations that other retailers just cannot match. What retailer in the world would not want these qualities?”</a:t>
            </a:r>
          </a:p>
          <a:p>
            <a:pPr>
              <a:buFontTx/>
              <a:buNone/>
            </a:pPr>
            <a:endParaRPr lang="en-GB" altLang="en-US" sz="2000" dirty="0">
              <a:cs typeface="Times New Roman" panose="02020603050405020304" pitchFamily="18" charset="0"/>
            </a:endParaRPr>
          </a:p>
        </p:txBody>
      </p:sp>
    </p:spTree>
    <p:extLst>
      <p:ext uri="{BB962C8B-B14F-4D97-AF65-F5344CB8AC3E}">
        <p14:creationId xmlns:p14="http://schemas.microsoft.com/office/powerpoint/2010/main" val="2505496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3554"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0E1DC267-1828-43FF-93C3-61A81DDA7B47}" type="slidenum">
              <a:rPr lang="en-GB" altLang="en-US" sz="969"/>
              <a:pPr/>
              <a:t>12</a:t>
            </a:fld>
            <a:endParaRPr lang="en-GB" altLang="en-US" sz="969"/>
          </a:p>
        </p:txBody>
      </p:sp>
      <p:sp>
        <p:nvSpPr>
          <p:cNvPr id="23555" name="Rectangle 2"/>
          <p:cNvSpPr>
            <a:spLocks noGrp="1" noChangeArrowheads="1"/>
          </p:cNvSpPr>
          <p:nvPr>
            <p:ph type="title"/>
          </p:nvPr>
        </p:nvSpPr>
        <p:spPr>
          <a:xfrm>
            <a:off x="2517531" y="476672"/>
            <a:ext cx="4286717" cy="1186962"/>
          </a:xfrm>
        </p:spPr>
        <p:txBody>
          <a:bodyPr>
            <a:normAutofit/>
          </a:bodyPr>
          <a:lstStyle/>
          <a:p>
            <a:r>
              <a:rPr lang="en-GB" altLang="en-US" dirty="0"/>
              <a:t>Business review</a:t>
            </a:r>
          </a:p>
        </p:txBody>
      </p:sp>
      <p:sp>
        <p:nvSpPr>
          <p:cNvPr id="23556" name="Rectangle 3"/>
          <p:cNvSpPr>
            <a:spLocks noGrp="1" noChangeArrowheads="1"/>
          </p:cNvSpPr>
          <p:nvPr>
            <p:ph type="body" idx="1"/>
          </p:nvPr>
        </p:nvSpPr>
        <p:spPr>
          <a:xfrm>
            <a:off x="395536" y="2060848"/>
            <a:ext cx="8291264" cy="4035518"/>
          </a:xfrm>
        </p:spPr>
        <p:txBody>
          <a:bodyPr>
            <a:normAutofit lnSpcReduction="10000"/>
          </a:bodyPr>
          <a:lstStyle/>
          <a:p>
            <a:r>
              <a:rPr lang="en-GB" altLang="en-US" dirty="0"/>
              <a:t>Summary of activities of the company</a:t>
            </a:r>
          </a:p>
          <a:p>
            <a:pPr lvl="1"/>
            <a:r>
              <a:rPr lang="en-GB" altLang="en-US" dirty="0">
                <a:ea typeface="ＭＳ Ｐゴシック" panose="020B0600070205080204" pitchFamily="34" charset="-128"/>
              </a:rPr>
              <a:t>Strategy</a:t>
            </a:r>
          </a:p>
          <a:p>
            <a:pPr lvl="1"/>
            <a:r>
              <a:rPr lang="en-GB" altLang="en-US" dirty="0">
                <a:ea typeface="ＭＳ Ｐゴシック" panose="020B0600070205080204" pitchFamily="34" charset="-128"/>
              </a:rPr>
              <a:t>Customer base</a:t>
            </a:r>
          </a:p>
          <a:p>
            <a:pPr lvl="1"/>
            <a:r>
              <a:rPr lang="en-GB" altLang="en-US" dirty="0">
                <a:ea typeface="ＭＳ Ｐゴシック" panose="020B0600070205080204" pitchFamily="34" charset="-128"/>
              </a:rPr>
              <a:t>New territories</a:t>
            </a:r>
          </a:p>
          <a:p>
            <a:r>
              <a:rPr lang="en-GB" altLang="en-US" dirty="0"/>
              <a:t>Financial performance</a:t>
            </a:r>
          </a:p>
          <a:p>
            <a:pPr lvl="1"/>
            <a:r>
              <a:rPr lang="en-GB" altLang="en-US" dirty="0">
                <a:ea typeface="ＭＳ Ｐゴシック" panose="020B0600070205080204" pitchFamily="34" charset="-128"/>
              </a:rPr>
              <a:t>Analysis of income and expenses</a:t>
            </a:r>
          </a:p>
          <a:p>
            <a:r>
              <a:rPr lang="en-GB" altLang="en-US" dirty="0"/>
              <a:t>Dividends</a:t>
            </a:r>
          </a:p>
          <a:p>
            <a:r>
              <a:rPr lang="en-GB" altLang="en-US" dirty="0"/>
              <a:t>Future outlook</a:t>
            </a:r>
          </a:p>
          <a:p>
            <a:pPr>
              <a:buFontTx/>
              <a:buNone/>
            </a:pPr>
            <a:endParaRPr lang="en-GB" altLang="en-US" dirty="0"/>
          </a:p>
          <a:p>
            <a:pPr lvl="1">
              <a:buFontTx/>
              <a:buNone/>
            </a:pPr>
            <a:endParaRPr lang="en-GB" altLang="en-US" dirty="0">
              <a:ea typeface="ＭＳ Ｐゴシック" panose="020B0600070205080204" pitchFamily="34" charset="-128"/>
            </a:endParaRPr>
          </a:p>
        </p:txBody>
      </p:sp>
    </p:spTree>
    <p:extLst>
      <p:ext uri="{BB962C8B-B14F-4D97-AF65-F5344CB8AC3E}">
        <p14:creationId xmlns:p14="http://schemas.microsoft.com/office/powerpoint/2010/main" val="3530250568"/>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78" name="Title 1"/>
          <p:cNvSpPr>
            <a:spLocks noGrp="1"/>
          </p:cNvSpPr>
          <p:nvPr>
            <p:ph type="title"/>
          </p:nvPr>
        </p:nvSpPr>
        <p:spPr/>
        <p:txBody>
          <a:bodyPr/>
          <a:lstStyle/>
          <a:p>
            <a:r>
              <a:rPr lang="en-GB" altLang="en-US"/>
              <a:t>Details of directors</a:t>
            </a:r>
          </a:p>
        </p:txBody>
      </p:sp>
      <p:sp>
        <p:nvSpPr>
          <p:cNvPr id="24579" name="Content Placeholder 2"/>
          <p:cNvSpPr>
            <a:spLocks noGrp="1"/>
          </p:cNvSpPr>
          <p:nvPr>
            <p:ph idx="1"/>
          </p:nvPr>
        </p:nvSpPr>
        <p:spPr/>
        <p:txBody>
          <a:bodyPr/>
          <a:lstStyle/>
          <a:p>
            <a:r>
              <a:rPr lang="en-GB" altLang="en-US"/>
              <a:t>Directors are the people running a company on behalf of the shareholders who are the owners</a:t>
            </a:r>
          </a:p>
          <a:p>
            <a:r>
              <a:rPr lang="en-GB" altLang="en-US"/>
              <a:t>Shareholders want information about the directors to make sure they have appropriate background and experience to run the company</a:t>
            </a:r>
          </a:p>
        </p:txBody>
      </p:sp>
      <p:sp>
        <p:nvSpPr>
          <p:cNvPr id="24580"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F76E355B-FB45-49B8-BDD4-8D6DC170E21E}" type="slidenum">
              <a:rPr lang="en-GB" altLang="en-US" sz="969"/>
              <a:pPr/>
              <a:t>13</a:t>
            </a:fld>
            <a:endParaRPr lang="en-GB" altLang="en-US" sz="969"/>
          </a:p>
        </p:txBody>
      </p:sp>
    </p:spTree>
    <p:extLst>
      <p:ext uri="{BB962C8B-B14F-4D97-AF65-F5344CB8AC3E}">
        <p14:creationId xmlns:p14="http://schemas.microsoft.com/office/powerpoint/2010/main" val="4215667884"/>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p:cNvSpPr>
            <a:spLocks noGrp="1"/>
          </p:cNvSpPr>
          <p:nvPr>
            <p:ph type="title"/>
          </p:nvPr>
        </p:nvSpPr>
        <p:spPr>
          <a:xfrm>
            <a:off x="2554166" y="609967"/>
            <a:ext cx="4970162" cy="791308"/>
          </a:xfrm>
        </p:spPr>
        <p:txBody>
          <a:bodyPr>
            <a:normAutofit/>
          </a:bodyPr>
          <a:lstStyle/>
          <a:p>
            <a:r>
              <a:rPr lang="en-GB" altLang="en-US" dirty="0"/>
              <a:t>Directors’ report</a:t>
            </a:r>
          </a:p>
        </p:txBody>
      </p:sp>
      <p:sp>
        <p:nvSpPr>
          <p:cNvPr id="25603" name="Content Placeholder 2"/>
          <p:cNvSpPr>
            <a:spLocks noGrp="1"/>
          </p:cNvSpPr>
          <p:nvPr>
            <p:ph idx="1"/>
          </p:nvPr>
        </p:nvSpPr>
        <p:spPr>
          <a:xfrm>
            <a:off x="323528" y="1960141"/>
            <a:ext cx="8363272" cy="4546722"/>
          </a:xfrm>
        </p:spPr>
        <p:txBody>
          <a:bodyPr>
            <a:normAutofit fontScale="92500" lnSpcReduction="10000"/>
          </a:bodyPr>
          <a:lstStyle/>
          <a:p>
            <a:r>
              <a:rPr lang="en-GB" altLang="en-US" dirty="0"/>
              <a:t>Required by company law</a:t>
            </a:r>
          </a:p>
          <a:p>
            <a:r>
              <a:rPr lang="en-GB" altLang="en-US" dirty="0"/>
              <a:t>Contains financial and non- financial information</a:t>
            </a:r>
          </a:p>
          <a:p>
            <a:r>
              <a:rPr lang="en-GB" altLang="en-US" dirty="0"/>
              <a:t>Required information includes:</a:t>
            </a:r>
          </a:p>
          <a:p>
            <a:pPr lvl="1"/>
            <a:r>
              <a:rPr lang="en-GB" altLang="en-US" dirty="0">
                <a:ea typeface="ＭＳ Ｐゴシック" panose="020B0600070205080204" pitchFamily="34" charset="-128"/>
              </a:rPr>
              <a:t>Details of share ownership</a:t>
            </a:r>
          </a:p>
          <a:p>
            <a:pPr lvl="1"/>
            <a:r>
              <a:rPr lang="en-GB" altLang="en-US" dirty="0">
                <a:ea typeface="ＭＳ Ｐゴシック" panose="020B0600070205080204" pitchFamily="34" charset="-128"/>
              </a:rPr>
              <a:t>Details of directors’ financial interests in the company</a:t>
            </a:r>
          </a:p>
          <a:p>
            <a:pPr lvl="1"/>
            <a:r>
              <a:rPr lang="en-GB" altLang="en-US" dirty="0">
                <a:ea typeface="ＭＳ Ｐゴシック" panose="020B0600070205080204" pitchFamily="34" charset="-128"/>
              </a:rPr>
              <a:t>Employment policies</a:t>
            </a:r>
          </a:p>
          <a:p>
            <a:pPr lvl="1"/>
            <a:r>
              <a:rPr lang="en-GB" altLang="en-US" dirty="0">
                <a:ea typeface="ＭＳ Ｐゴシック" panose="020B0600070205080204" pitchFamily="34" charset="-128"/>
              </a:rPr>
              <a:t>Charitable donations</a:t>
            </a:r>
          </a:p>
          <a:p>
            <a:pPr lvl="1"/>
            <a:r>
              <a:rPr lang="en-GB" altLang="en-US" dirty="0">
                <a:ea typeface="ＭＳ Ｐゴシック" panose="020B0600070205080204" pitchFamily="34" charset="-128"/>
              </a:rPr>
              <a:t>Political donations</a:t>
            </a:r>
          </a:p>
          <a:p>
            <a:pPr lvl="1"/>
            <a:r>
              <a:rPr lang="en-GB" altLang="en-US" dirty="0">
                <a:ea typeface="ＭＳ Ｐゴシック" panose="020B0600070205080204" pitchFamily="34" charset="-128"/>
              </a:rPr>
              <a:t>Assessment of business risks</a:t>
            </a:r>
          </a:p>
          <a:p>
            <a:pPr>
              <a:buFontTx/>
              <a:buNone/>
            </a:pPr>
            <a:endParaRPr lang="en-GB" altLang="en-US" dirty="0"/>
          </a:p>
          <a:p>
            <a:pPr>
              <a:buFontTx/>
              <a:buNone/>
            </a:pPr>
            <a:endParaRPr lang="en-GB" altLang="en-US" i="1" dirty="0"/>
          </a:p>
          <a:p>
            <a:pPr lvl="1">
              <a:buFontTx/>
              <a:buNone/>
            </a:pPr>
            <a:endParaRPr lang="en-GB" altLang="en-US" dirty="0">
              <a:ea typeface="ＭＳ Ｐゴシック" panose="020B0600070205080204" pitchFamily="34" charset="-128"/>
            </a:endParaRPr>
          </a:p>
          <a:p>
            <a:pPr lvl="1"/>
            <a:endParaRPr lang="en-GB" altLang="en-US" dirty="0">
              <a:ea typeface="ＭＳ Ｐゴシック" panose="020B0600070205080204" pitchFamily="34" charset="-128"/>
            </a:endParaRPr>
          </a:p>
        </p:txBody>
      </p:sp>
      <p:sp>
        <p:nvSpPr>
          <p:cNvPr id="25604"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D31BC23F-6AA6-418D-B51E-EB64FB3816AD}" type="slidenum">
              <a:rPr lang="en-GB" altLang="en-US" sz="969"/>
              <a:pPr/>
              <a:t>14</a:t>
            </a:fld>
            <a:endParaRPr lang="en-GB" altLang="en-US" sz="969"/>
          </a:p>
        </p:txBody>
      </p:sp>
    </p:spTree>
    <p:extLst>
      <p:ext uri="{BB962C8B-B14F-4D97-AF65-F5344CB8AC3E}">
        <p14:creationId xmlns:p14="http://schemas.microsoft.com/office/powerpoint/2010/main" val="4158042736"/>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99553" y="1412776"/>
            <a:ext cx="8640960" cy="648072"/>
          </a:xfrm>
        </p:spPr>
        <p:txBody>
          <a:bodyPr>
            <a:normAutofit fontScale="90000"/>
          </a:bodyPr>
          <a:lstStyle/>
          <a:p>
            <a:r>
              <a:rPr lang="en-GB" dirty="0"/>
              <a:t>Corporate Social Responsibility (CSR)</a:t>
            </a:r>
          </a:p>
        </p:txBody>
      </p:sp>
      <p:sp>
        <p:nvSpPr>
          <p:cNvPr id="3" name="Content Placeholder 2"/>
          <p:cNvSpPr>
            <a:spLocks noGrp="1"/>
          </p:cNvSpPr>
          <p:nvPr>
            <p:ph idx="1"/>
          </p:nvPr>
        </p:nvSpPr>
        <p:spPr>
          <a:xfrm>
            <a:off x="467544" y="2204864"/>
            <a:ext cx="8424936" cy="4464496"/>
          </a:xfrm>
        </p:spPr>
        <p:txBody>
          <a:bodyPr>
            <a:normAutofit/>
          </a:bodyPr>
          <a:lstStyle/>
          <a:p>
            <a:r>
              <a:rPr lang="en-GB" dirty="0"/>
              <a:t>Impact on community and society</a:t>
            </a:r>
          </a:p>
          <a:p>
            <a:r>
              <a:rPr lang="en-GB" dirty="0"/>
              <a:t>Corporate ethics</a:t>
            </a:r>
          </a:p>
          <a:p>
            <a:r>
              <a:rPr lang="en-GB" dirty="0"/>
              <a:t>Pollution</a:t>
            </a:r>
          </a:p>
          <a:p>
            <a:r>
              <a:rPr lang="en-GB" dirty="0"/>
              <a:t>Energy efficiency</a:t>
            </a:r>
          </a:p>
          <a:p>
            <a:r>
              <a:rPr lang="en-GB" dirty="0"/>
              <a:t>Charitable activity</a:t>
            </a:r>
          </a:p>
          <a:p>
            <a:r>
              <a:rPr lang="en-GB" dirty="0"/>
              <a:t>Fair trade</a:t>
            </a:r>
          </a:p>
          <a:p>
            <a:r>
              <a:rPr lang="en-GB" dirty="0"/>
              <a:t>Equal opportunities</a:t>
            </a:r>
          </a:p>
          <a:p>
            <a:r>
              <a:rPr lang="en-GB" dirty="0"/>
              <a:t>Treatment of employees </a:t>
            </a:r>
          </a:p>
        </p:txBody>
      </p:sp>
    </p:spTree>
    <p:extLst>
      <p:ext uri="{BB962C8B-B14F-4D97-AF65-F5344CB8AC3E}">
        <p14:creationId xmlns:p14="http://schemas.microsoft.com/office/powerpoint/2010/main" val="4006617332"/>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6" name="Title 1"/>
          <p:cNvSpPr>
            <a:spLocks noGrp="1"/>
          </p:cNvSpPr>
          <p:nvPr>
            <p:ph type="title"/>
          </p:nvPr>
        </p:nvSpPr>
        <p:spPr/>
        <p:txBody>
          <a:bodyPr/>
          <a:lstStyle/>
          <a:p>
            <a:r>
              <a:rPr lang="en-GB" altLang="en-US" dirty="0"/>
              <a:t>Corporate governance report</a:t>
            </a:r>
          </a:p>
        </p:txBody>
      </p:sp>
      <p:sp>
        <p:nvSpPr>
          <p:cNvPr id="26627" name="Content Placeholder 2"/>
          <p:cNvSpPr>
            <a:spLocks noGrp="1"/>
          </p:cNvSpPr>
          <p:nvPr>
            <p:ph idx="1"/>
          </p:nvPr>
        </p:nvSpPr>
        <p:spPr>
          <a:xfrm>
            <a:off x="251520" y="2904254"/>
            <a:ext cx="8291264" cy="2815585"/>
          </a:xfrm>
        </p:spPr>
        <p:txBody>
          <a:bodyPr/>
          <a:lstStyle/>
          <a:p>
            <a:r>
              <a:rPr lang="en-GB" altLang="en-US" dirty="0"/>
              <a:t>Corporate governance refers to the rules and practices by which the directors safeguard the interests of a company’s stakeholders, such as shareholders, customers and employees </a:t>
            </a:r>
          </a:p>
        </p:txBody>
      </p:sp>
      <p:sp>
        <p:nvSpPr>
          <p:cNvPr id="26628"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BA0E6343-D0E5-4134-A85C-04F0421CEE8F}" type="slidenum">
              <a:rPr lang="en-GB" altLang="en-US" sz="969"/>
              <a:pPr/>
              <a:t>16</a:t>
            </a:fld>
            <a:endParaRPr lang="en-GB" altLang="en-US" sz="969"/>
          </a:p>
        </p:txBody>
      </p:sp>
    </p:spTree>
    <p:extLst>
      <p:ext uri="{BB962C8B-B14F-4D97-AF65-F5344CB8AC3E}">
        <p14:creationId xmlns:p14="http://schemas.microsoft.com/office/powerpoint/2010/main" val="1916825219"/>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6" name="Title 1"/>
          <p:cNvSpPr>
            <a:spLocks noGrp="1"/>
          </p:cNvSpPr>
          <p:nvPr>
            <p:ph type="title"/>
          </p:nvPr>
        </p:nvSpPr>
        <p:spPr>
          <a:xfrm>
            <a:off x="1547664" y="1052736"/>
            <a:ext cx="7164288" cy="636571"/>
          </a:xfrm>
        </p:spPr>
        <p:txBody>
          <a:bodyPr>
            <a:normAutofit fontScale="90000"/>
          </a:bodyPr>
          <a:lstStyle/>
          <a:p>
            <a:pPr algn="ctr"/>
            <a:r>
              <a:rPr lang="en-GB" altLang="en-US" dirty="0"/>
              <a:t>Remuneration committee report</a:t>
            </a:r>
          </a:p>
        </p:txBody>
      </p:sp>
      <p:sp>
        <p:nvSpPr>
          <p:cNvPr id="31747" name="Content Placeholder 2"/>
          <p:cNvSpPr>
            <a:spLocks noGrp="1"/>
          </p:cNvSpPr>
          <p:nvPr>
            <p:ph idx="1"/>
          </p:nvPr>
        </p:nvSpPr>
        <p:spPr>
          <a:xfrm>
            <a:off x="287524" y="1916832"/>
            <a:ext cx="8568952" cy="4645636"/>
          </a:xfrm>
        </p:spPr>
        <p:txBody>
          <a:bodyPr>
            <a:normAutofit lnSpcReduction="10000"/>
          </a:bodyPr>
          <a:lstStyle/>
          <a:p>
            <a:r>
              <a:rPr lang="en-GB" altLang="en-US" dirty="0"/>
              <a:t>Shareholders and other interested parties are concerned to ensure directors are not paying themselves too much</a:t>
            </a:r>
          </a:p>
          <a:p>
            <a:r>
              <a:rPr lang="en-GB" altLang="en-US" dirty="0"/>
              <a:t>Detailed disclosures are required about how much each named director received, including</a:t>
            </a:r>
          </a:p>
          <a:p>
            <a:pPr lvl="1"/>
            <a:r>
              <a:rPr lang="en-GB" altLang="en-US" dirty="0">
                <a:ea typeface="ＭＳ Ｐゴシック" panose="020B0600070205080204" pitchFamily="34" charset="-128"/>
              </a:rPr>
              <a:t>Salary</a:t>
            </a:r>
          </a:p>
          <a:p>
            <a:pPr lvl="1"/>
            <a:r>
              <a:rPr lang="en-GB" altLang="en-US" dirty="0">
                <a:ea typeface="ＭＳ Ｐゴシック" panose="020B0600070205080204" pitchFamily="34" charset="-128"/>
              </a:rPr>
              <a:t>Fees</a:t>
            </a:r>
          </a:p>
          <a:p>
            <a:pPr lvl="1"/>
            <a:r>
              <a:rPr lang="en-GB" altLang="en-US" dirty="0">
                <a:ea typeface="ＭＳ Ｐゴシック" panose="020B0600070205080204" pitchFamily="34" charset="-128"/>
              </a:rPr>
              <a:t>Pension contributions</a:t>
            </a:r>
          </a:p>
          <a:p>
            <a:pPr lvl="1"/>
            <a:r>
              <a:rPr lang="en-GB" altLang="en-US" dirty="0">
                <a:ea typeface="ＭＳ Ｐゴシック" panose="020B0600070205080204" pitchFamily="34" charset="-128"/>
              </a:rPr>
              <a:t>Shares</a:t>
            </a:r>
          </a:p>
          <a:p>
            <a:pPr lvl="1"/>
            <a:r>
              <a:rPr lang="en-GB" altLang="en-US" dirty="0">
                <a:ea typeface="ＭＳ Ｐゴシック" panose="020B0600070205080204" pitchFamily="34" charset="-128"/>
              </a:rPr>
              <a:t>Other benefits (e.g. health insurance)</a:t>
            </a:r>
          </a:p>
          <a:p>
            <a:pPr lvl="1">
              <a:buFontTx/>
              <a:buNone/>
            </a:pPr>
            <a:endParaRPr lang="en-GB" altLang="en-US" dirty="0">
              <a:ea typeface="ＭＳ Ｐゴシック" panose="020B0600070205080204" pitchFamily="34" charset="-128"/>
            </a:endParaRPr>
          </a:p>
          <a:p>
            <a:pPr lvl="1">
              <a:buFontTx/>
              <a:buNone/>
            </a:pPr>
            <a:endParaRPr lang="en-GB" altLang="en-US" dirty="0">
              <a:ea typeface="ＭＳ Ｐゴシック" panose="020B0600070205080204" pitchFamily="34" charset="-128"/>
            </a:endParaRPr>
          </a:p>
          <a:p>
            <a:pPr lvl="1"/>
            <a:endParaRPr lang="en-GB" altLang="en-US" dirty="0">
              <a:ea typeface="ＭＳ Ｐゴシック" panose="020B0600070205080204" pitchFamily="34" charset="-128"/>
            </a:endParaRPr>
          </a:p>
        </p:txBody>
      </p:sp>
    </p:spTree>
    <p:extLst>
      <p:ext uri="{BB962C8B-B14F-4D97-AF65-F5344CB8AC3E}">
        <p14:creationId xmlns:p14="http://schemas.microsoft.com/office/powerpoint/2010/main" val="317666840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2770" name="Slide Number Placeholder 5"/>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6EB56127-6645-4BEA-AB2F-3D01145420FC}" type="slidenum">
              <a:rPr lang="en-GB" altLang="en-US" sz="969"/>
              <a:pPr/>
              <a:t>18</a:t>
            </a:fld>
            <a:endParaRPr lang="en-GB" altLang="en-US" sz="969"/>
          </a:p>
        </p:txBody>
      </p:sp>
      <p:sp>
        <p:nvSpPr>
          <p:cNvPr id="32771" name="Rectangle 2"/>
          <p:cNvSpPr>
            <a:spLocks noGrp="1" noChangeArrowheads="1"/>
          </p:cNvSpPr>
          <p:nvPr>
            <p:ph type="title"/>
          </p:nvPr>
        </p:nvSpPr>
        <p:spPr>
          <a:xfrm>
            <a:off x="2517531" y="1124744"/>
            <a:ext cx="4035669" cy="550618"/>
          </a:xfrm>
        </p:spPr>
        <p:txBody>
          <a:bodyPr>
            <a:normAutofit fontScale="90000"/>
          </a:bodyPr>
          <a:lstStyle/>
          <a:p>
            <a:r>
              <a:rPr lang="en-GB" altLang="en-US" dirty="0"/>
              <a:t>Auditors’ report</a:t>
            </a:r>
          </a:p>
        </p:txBody>
      </p:sp>
      <p:sp>
        <p:nvSpPr>
          <p:cNvPr id="32772" name="Rectangle 3"/>
          <p:cNvSpPr>
            <a:spLocks noGrp="1" noChangeArrowheads="1"/>
          </p:cNvSpPr>
          <p:nvPr>
            <p:ph type="body" idx="1"/>
          </p:nvPr>
        </p:nvSpPr>
        <p:spPr>
          <a:xfrm>
            <a:off x="323528" y="2348880"/>
            <a:ext cx="8363272" cy="3957319"/>
          </a:xfrm>
        </p:spPr>
        <p:txBody>
          <a:bodyPr>
            <a:normAutofit/>
          </a:bodyPr>
          <a:lstStyle/>
          <a:p>
            <a:pPr>
              <a:lnSpc>
                <a:spcPct val="90000"/>
              </a:lnSpc>
            </a:pPr>
            <a:r>
              <a:rPr lang="en-GB" altLang="en-US" dirty="0"/>
              <a:t>Need for an independent third party to monitor the information in the annual report</a:t>
            </a:r>
          </a:p>
          <a:p>
            <a:pPr>
              <a:lnSpc>
                <a:spcPct val="90000"/>
              </a:lnSpc>
            </a:pPr>
            <a:r>
              <a:rPr lang="en-GB" altLang="en-US" dirty="0"/>
              <a:t>Auditor checks books and records on a test basis</a:t>
            </a:r>
          </a:p>
          <a:p>
            <a:pPr>
              <a:lnSpc>
                <a:spcPct val="90000"/>
              </a:lnSpc>
            </a:pPr>
            <a:r>
              <a:rPr lang="en-GB" altLang="en-US" dirty="0"/>
              <a:t>Reports to shareholders whether, in the auditor’s opinion, the accounts show a ‘true and fair view’</a:t>
            </a:r>
          </a:p>
          <a:p>
            <a:pPr>
              <a:lnSpc>
                <a:spcPct val="90000"/>
              </a:lnSpc>
            </a:pPr>
            <a:r>
              <a:rPr lang="en-GB" altLang="en-US" dirty="0"/>
              <a:t>Does not guarantee 100% accuracy, but adds credibility to the information</a:t>
            </a:r>
          </a:p>
          <a:p>
            <a:pPr>
              <a:lnSpc>
                <a:spcPct val="90000"/>
              </a:lnSpc>
              <a:buFontTx/>
              <a:buNone/>
            </a:pPr>
            <a:endParaRPr lang="en-GB" altLang="en-US" dirty="0"/>
          </a:p>
        </p:txBody>
      </p:sp>
    </p:spTree>
    <p:extLst>
      <p:ext uri="{BB962C8B-B14F-4D97-AF65-F5344CB8AC3E}">
        <p14:creationId xmlns:p14="http://schemas.microsoft.com/office/powerpoint/2010/main" val="3511772911"/>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3794" name="Title 1"/>
          <p:cNvSpPr>
            <a:spLocks noGrp="1"/>
          </p:cNvSpPr>
          <p:nvPr>
            <p:ph type="title"/>
          </p:nvPr>
        </p:nvSpPr>
        <p:spPr>
          <a:xfrm>
            <a:off x="589044" y="1052736"/>
            <a:ext cx="8075240" cy="998984"/>
          </a:xfrm>
        </p:spPr>
        <p:txBody>
          <a:bodyPr/>
          <a:lstStyle/>
          <a:p>
            <a:r>
              <a:rPr lang="en-GB" altLang="en-US" dirty="0"/>
              <a:t>Auditor’s opinion</a:t>
            </a:r>
          </a:p>
        </p:txBody>
      </p:sp>
      <p:sp>
        <p:nvSpPr>
          <p:cNvPr id="33795" name="Content Placeholder 2"/>
          <p:cNvSpPr>
            <a:spLocks noGrp="1"/>
          </p:cNvSpPr>
          <p:nvPr>
            <p:ph idx="1"/>
          </p:nvPr>
        </p:nvSpPr>
        <p:spPr/>
        <p:txBody>
          <a:bodyPr>
            <a:normAutofit lnSpcReduction="10000"/>
          </a:bodyPr>
          <a:lstStyle/>
          <a:p>
            <a:r>
              <a:rPr lang="en-GB" altLang="en-US"/>
              <a:t>Unqualified opinion </a:t>
            </a:r>
          </a:p>
          <a:p>
            <a:pPr lvl="1"/>
            <a:r>
              <a:rPr lang="en-GB" altLang="en-US">
                <a:ea typeface="ＭＳ Ｐゴシック" panose="020B0600070205080204" pitchFamily="34" charset="-128"/>
              </a:rPr>
              <a:t>the accounts show a true and fair view</a:t>
            </a:r>
          </a:p>
          <a:p>
            <a:r>
              <a:rPr lang="en-GB" altLang="en-US"/>
              <a:t>Qualified opinions:</a:t>
            </a:r>
          </a:p>
          <a:p>
            <a:pPr lvl="1"/>
            <a:r>
              <a:rPr lang="en-GB" altLang="en-US">
                <a:ea typeface="ＭＳ Ｐゴシック" panose="020B0600070205080204" pitchFamily="34" charset="-128"/>
              </a:rPr>
              <a:t>Emphasis of matter</a:t>
            </a:r>
          </a:p>
          <a:p>
            <a:pPr lvl="1"/>
            <a:r>
              <a:rPr lang="en-GB" altLang="en-US">
                <a:ea typeface="ＭＳ Ｐゴシック" panose="020B0600070205080204" pitchFamily="34" charset="-128"/>
              </a:rPr>
              <a:t>except for – material disagreement or limitation of scope</a:t>
            </a:r>
          </a:p>
          <a:p>
            <a:pPr lvl="1"/>
            <a:r>
              <a:rPr lang="en-GB" altLang="en-US">
                <a:ea typeface="ＭＳ Ｐゴシック" panose="020B0600070205080204" pitchFamily="34" charset="-128"/>
              </a:rPr>
              <a:t>Adverse – fundamental disagreement</a:t>
            </a:r>
          </a:p>
          <a:p>
            <a:pPr lvl="1"/>
            <a:r>
              <a:rPr lang="en-GB" altLang="en-US">
                <a:ea typeface="ＭＳ Ｐゴシック" panose="020B0600070205080204" pitchFamily="34" charset="-128"/>
              </a:rPr>
              <a:t>Disclaimer – fundamental uncertainty</a:t>
            </a:r>
          </a:p>
          <a:p>
            <a:endParaRPr lang="en-GB" altLang="en-US"/>
          </a:p>
        </p:txBody>
      </p:sp>
      <p:sp>
        <p:nvSpPr>
          <p:cNvPr id="3379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26260133" indent="-25943614">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A6ED2141-CEE7-4ED8-83EA-C930B1DE56F6}" type="slidenum">
              <a:rPr lang="en-GB" altLang="en-US" sz="969"/>
              <a:pPr/>
              <a:t>19</a:t>
            </a:fld>
            <a:endParaRPr lang="en-GB" altLang="en-US" sz="969"/>
          </a:p>
        </p:txBody>
      </p:sp>
    </p:spTree>
    <p:extLst>
      <p:ext uri="{BB962C8B-B14F-4D97-AF65-F5344CB8AC3E}">
        <p14:creationId xmlns:p14="http://schemas.microsoft.com/office/powerpoint/2010/main" val="793311782"/>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p:cNvSpPr>
            <a:spLocks noGrp="1"/>
          </p:cNvSpPr>
          <p:nvPr>
            <p:ph type="title"/>
          </p:nvPr>
        </p:nvSpPr>
        <p:spPr/>
        <p:txBody>
          <a:bodyPr/>
          <a:lstStyle/>
          <a:p>
            <a:r>
              <a:rPr lang="en-GB" altLang="en-US"/>
              <a:t>J.Sainsbury plc</a:t>
            </a:r>
          </a:p>
        </p:txBody>
      </p:sp>
      <p:sp>
        <p:nvSpPr>
          <p:cNvPr id="3" name="Content Placeholder 2"/>
          <p:cNvSpPr>
            <a:spLocks noGrp="1"/>
          </p:cNvSpPr>
          <p:nvPr>
            <p:ph idx="1"/>
          </p:nvPr>
        </p:nvSpPr>
        <p:spPr/>
        <p:txBody>
          <a:bodyPr/>
          <a:lstStyle/>
          <a:p>
            <a:pPr>
              <a:defRPr/>
            </a:pPr>
            <a:r>
              <a:rPr lang="en-GB" dirty="0"/>
              <a:t>Investor Centre</a:t>
            </a:r>
          </a:p>
          <a:p>
            <a:pPr marL="0" indent="0">
              <a:buNone/>
              <a:defRPr/>
            </a:pPr>
            <a:r>
              <a:rPr lang="en-GB" dirty="0">
                <a:hlinkClick r:id="rId3"/>
              </a:rPr>
              <a:t>https://www.about.sainsburys.co.uk/investors</a:t>
            </a:r>
            <a:endParaRPr lang="en-GB" dirty="0"/>
          </a:p>
          <a:p>
            <a:pPr marL="0" indent="0">
              <a:buNone/>
              <a:defRPr/>
            </a:pPr>
            <a:endParaRPr lang="en-GB" dirty="0"/>
          </a:p>
          <a:p>
            <a:pPr marL="0" indent="0">
              <a:buNone/>
              <a:defRPr/>
            </a:pPr>
            <a:endParaRPr lang="en-GB" dirty="0"/>
          </a:p>
          <a:p>
            <a:pPr>
              <a:defRPr/>
            </a:pPr>
            <a:r>
              <a:rPr lang="en-GB" dirty="0"/>
              <a:t>Annual Report</a:t>
            </a:r>
          </a:p>
          <a:p>
            <a:pPr>
              <a:defRPr/>
            </a:pPr>
            <a:r>
              <a:rPr lang="en-GB" dirty="0">
                <a:hlinkClick r:id="rId4"/>
              </a:rPr>
              <a:t>https://www.about.sainsburys.co.uk/investors/results-reports-and-presentations</a:t>
            </a:r>
            <a:endParaRPr lang="en-GB" dirty="0"/>
          </a:p>
          <a:p>
            <a:pPr>
              <a:defRPr/>
            </a:pPr>
            <a:endParaRPr lang="en-GB" dirty="0"/>
          </a:p>
        </p:txBody>
      </p:sp>
      <p:sp>
        <p:nvSpPr>
          <p:cNvPr id="13316" name="Slide Number Placeholder 3"/>
          <p:cNvSpPr>
            <a:spLocks noGrp="1"/>
          </p:cNvSpPr>
          <p:nvPr>
            <p:ph type="sldNum" sz="quarter" idx="12"/>
          </p:nvPr>
        </p:nvSpPr>
        <p:spPr>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1662">
                <a:solidFill>
                  <a:schemeClr val="tx1"/>
                </a:solidFill>
                <a:latin typeface="Times New Roman" panose="02020603050405020304" pitchFamily="18" charset="0"/>
                <a:ea typeface="ＭＳ Ｐゴシック" panose="020B0600070205080204" pitchFamily="34" charset="-128"/>
              </a:defRPr>
            </a:lvl1pPr>
            <a:lvl2pPr marL="514344" indent="-197825">
              <a:defRPr sz="1662">
                <a:solidFill>
                  <a:schemeClr val="tx1"/>
                </a:solidFill>
                <a:latin typeface="Times New Roman" panose="02020603050405020304" pitchFamily="18" charset="0"/>
                <a:ea typeface="ＭＳ Ｐゴシック" panose="020B0600070205080204" pitchFamily="34" charset="-128"/>
              </a:defRPr>
            </a:lvl2pPr>
            <a:lvl3pPr marL="791299" indent="-158260">
              <a:defRPr sz="1662">
                <a:solidFill>
                  <a:schemeClr val="tx1"/>
                </a:solidFill>
                <a:latin typeface="Times New Roman" panose="02020603050405020304" pitchFamily="18" charset="0"/>
                <a:ea typeface="ＭＳ Ｐゴシック" panose="020B0600070205080204" pitchFamily="34" charset="-128"/>
              </a:defRPr>
            </a:lvl3pPr>
            <a:lvl4pPr marL="1107818" indent="-158260">
              <a:defRPr sz="1662">
                <a:solidFill>
                  <a:schemeClr val="tx1"/>
                </a:solidFill>
                <a:latin typeface="Times New Roman" panose="02020603050405020304" pitchFamily="18" charset="0"/>
                <a:ea typeface="ＭＳ Ｐゴシック" panose="020B0600070205080204" pitchFamily="34" charset="-128"/>
              </a:defRPr>
            </a:lvl4pPr>
            <a:lvl5pPr marL="1424338" indent="-158260">
              <a:defRPr sz="1662">
                <a:solidFill>
                  <a:schemeClr val="tx1"/>
                </a:solidFill>
                <a:latin typeface="Times New Roman" panose="02020603050405020304" pitchFamily="18" charset="0"/>
                <a:ea typeface="ＭＳ Ｐゴシック" panose="020B0600070205080204" pitchFamily="34" charset="-128"/>
              </a:defRPr>
            </a:lvl5pPr>
            <a:lvl6pPr marL="1740858"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6pPr>
            <a:lvl7pPr marL="205737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7pPr>
            <a:lvl8pPr marL="2373897"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8pPr>
            <a:lvl9pPr marL="2690416" indent="-158260" eaLnBrk="0" fontAlgn="base" hangingPunct="0">
              <a:spcBef>
                <a:spcPct val="0"/>
              </a:spcBef>
              <a:spcAft>
                <a:spcPct val="0"/>
              </a:spcAft>
              <a:defRPr sz="1662">
                <a:solidFill>
                  <a:schemeClr val="tx1"/>
                </a:solidFill>
                <a:latin typeface="Times New Roman" panose="02020603050405020304" pitchFamily="18" charset="0"/>
                <a:ea typeface="ＭＳ Ｐゴシック" panose="020B0600070205080204" pitchFamily="34" charset="-128"/>
              </a:defRPr>
            </a:lvl9pPr>
          </a:lstStyle>
          <a:p>
            <a:fld id="{7B52EF58-E4FA-48ED-8F42-B04E8DA937DA}" type="slidenum">
              <a:rPr lang="en-GB" altLang="en-US" sz="969"/>
              <a:pPr/>
              <a:t>20</a:t>
            </a:fld>
            <a:endParaRPr lang="en-GB" altLang="en-US" sz="969"/>
          </a:p>
        </p:txBody>
      </p:sp>
    </p:spTree>
    <p:extLst>
      <p:ext uri="{BB962C8B-B14F-4D97-AF65-F5344CB8AC3E}">
        <p14:creationId xmlns:p14="http://schemas.microsoft.com/office/powerpoint/2010/main" val="369641678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BE94A5-B64B-449A-B9A9-3826100CC3B8}"/>
              </a:ext>
            </a:extLst>
          </p:cNvPr>
          <p:cNvSpPr>
            <a:spLocks noGrp="1"/>
          </p:cNvSpPr>
          <p:nvPr>
            <p:ph type="title"/>
          </p:nvPr>
        </p:nvSpPr>
        <p:spPr/>
        <p:txBody>
          <a:bodyPr/>
          <a:lstStyle/>
          <a:p>
            <a:r>
              <a:rPr lang="en-GB" dirty="0"/>
              <a:t>Summary</a:t>
            </a:r>
            <a:endParaRPr lang="en-US" dirty="0"/>
          </a:p>
        </p:txBody>
      </p:sp>
      <p:sp>
        <p:nvSpPr>
          <p:cNvPr id="3" name="Content Placeholder 2">
            <a:extLst>
              <a:ext uri="{FF2B5EF4-FFF2-40B4-BE49-F238E27FC236}">
                <a16:creationId xmlns:a16="http://schemas.microsoft.com/office/drawing/2014/main" id="{82B95FFF-D4A9-4AFA-A095-D754DEBFDF22}"/>
              </a:ext>
            </a:extLst>
          </p:cNvPr>
          <p:cNvSpPr>
            <a:spLocks noGrp="1"/>
          </p:cNvSpPr>
          <p:nvPr>
            <p:ph idx="1"/>
          </p:nvPr>
        </p:nvSpPr>
        <p:spPr/>
        <p:txBody>
          <a:bodyPr>
            <a:normAutofit fontScale="92500" lnSpcReduction="20000"/>
          </a:bodyPr>
          <a:lstStyle/>
          <a:p>
            <a:r>
              <a:rPr lang="en-GB" dirty="0"/>
              <a:t>Popular trading ‘vehicles’ include Sole Traders, Partnerships and Limited Companies.</a:t>
            </a:r>
          </a:p>
          <a:p>
            <a:r>
              <a:rPr lang="en-GB" dirty="0"/>
              <a:t>Companies may be private Limited status (Ltd) or Public Limited Companies (plc).</a:t>
            </a:r>
          </a:p>
          <a:p>
            <a:r>
              <a:rPr lang="en-GB" dirty="0"/>
              <a:t>Companies use their Annual Report to communicate performance and strategy, including the Financial Statements.</a:t>
            </a:r>
          </a:p>
          <a:p>
            <a:r>
              <a:rPr lang="en-US" dirty="0"/>
              <a:t>The key Financial Statements provide information regarding profit; assets and liabilities; equity; and cash flow.</a:t>
            </a:r>
          </a:p>
        </p:txBody>
      </p:sp>
    </p:spTree>
    <p:extLst>
      <p:ext uri="{BB962C8B-B14F-4D97-AF65-F5344CB8AC3E}">
        <p14:creationId xmlns:p14="http://schemas.microsoft.com/office/powerpoint/2010/main" val="3463635184"/>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F158533-628C-CF5A-85E0-FB69D5F6973F}"/>
              </a:ext>
            </a:extLst>
          </p:cNvPr>
          <p:cNvSpPr>
            <a:spLocks noGrp="1"/>
          </p:cNvSpPr>
          <p:nvPr>
            <p:ph type="ctrTitle"/>
          </p:nvPr>
        </p:nvSpPr>
        <p:spPr/>
        <p:txBody>
          <a:bodyPr/>
          <a:lstStyle/>
          <a:p>
            <a:r>
              <a:rPr lang="en-GB" dirty="0"/>
              <a:t>Next: Financial Statements</a:t>
            </a:r>
          </a:p>
        </p:txBody>
      </p:sp>
      <p:sp>
        <p:nvSpPr>
          <p:cNvPr id="3" name="Subtitle 2">
            <a:extLst>
              <a:ext uri="{FF2B5EF4-FFF2-40B4-BE49-F238E27FC236}">
                <a16:creationId xmlns:a16="http://schemas.microsoft.com/office/drawing/2014/main" id="{880C0D5E-94E8-0422-ADB1-4BBDB6B9E9C5}"/>
              </a:ext>
            </a:extLst>
          </p:cNvPr>
          <p:cNvSpPr>
            <a:spLocks noGrp="1"/>
          </p:cNvSpPr>
          <p:nvPr>
            <p:ph type="subTitle" idx="1"/>
          </p:nvPr>
        </p:nvSpPr>
        <p:spPr/>
        <p:txBody>
          <a:bodyPr/>
          <a:lstStyle/>
          <a:p>
            <a:r>
              <a:rPr lang="en-GB" i="0" dirty="0"/>
              <a:t>Introducing the Financial Statements – Basic principles</a:t>
            </a:r>
          </a:p>
        </p:txBody>
      </p:sp>
    </p:spTree>
    <p:extLst>
      <p:ext uri="{BB962C8B-B14F-4D97-AF65-F5344CB8AC3E}">
        <p14:creationId xmlns:p14="http://schemas.microsoft.com/office/powerpoint/2010/main" val="4285152218"/>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TPPRESENTATIONGUID" val="a6f623f9-13a5-4f26-971e-6ddf6efcb0d7"/>
  <p:tag name="TPVERSION" val="8"/>
  <p:tag name="TPFULLVERSION" val="9.0.5.7"/>
  <p:tag name="PPTVERSION" val="16"/>
  <p:tag name="TPOS" val="2"/>
  <p:tag name="TPLASTSAVEVERSION" val="6.4 PC"/>
</p:tagLst>
</file>

<file path=ppt/theme/theme1.xml><?xml version="1.0" encoding="utf-8"?>
<a:theme xmlns:a="http://schemas.openxmlformats.org/drawingml/2006/main" name="1_Office Theme">
  <a:themeElements>
    <a:clrScheme name="Heriot-Watt">
      <a:dk1>
        <a:srgbClr val="5E6A71"/>
      </a:dk1>
      <a:lt1>
        <a:srgbClr val="FFFFFF"/>
      </a:lt1>
      <a:dk2>
        <a:srgbClr val="0098DB"/>
      </a:dk2>
      <a:lt2>
        <a:srgbClr val="00549F"/>
      </a:lt2>
      <a:accent1>
        <a:srgbClr val="0098DB"/>
      </a:accent1>
      <a:accent2>
        <a:srgbClr val="A5ACAF"/>
      </a:accent2>
      <a:accent3>
        <a:srgbClr val="5E6A71"/>
      </a:accent3>
      <a:accent4>
        <a:srgbClr val="00549F"/>
      </a:accent4>
      <a:accent5>
        <a:srgbClr val="72BCFF"/>
      </a:accent5>
      <a:accent6>
        <a:srgbClr val="BCC3C7"/>
      </a:accent6>
      <a:hlink>
        <a:srgbClr val="0098DB"/>
      </a:hlink>
      <a:folHlink>
        <a:srgbClr val="A5ACA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2_Office Theme">
  <a:themeElements>
    <a:clrScheme name="Heriot-Watt">
      <a:dk1>
        <a:srgbClr val="5E6A71"/>
      </a:dk1>
      <a:lt1>
        <a:srgbClr val="FFFFFF"/>
      </a:lt1>
      <a:dk2>
        <a:srgbClr val="0098DB"/>
      </a:dk2>
      <a:lt2>
        <a:srgbClr val="00549F"/>
      </a:lt2>
      <a:accent1>
        <a:srgbClr val="0098DB"/>
      </a:accent1>
      <a:accent2>
        <a:srgbClr val="A5ACAF"/>
      </a:accent2>
      <a:accent3>
        <a:srgbClr val="5E6A71"/>
      </a:accent3>
      <a:accent4>
        <a:srgbClr val="00549F"/>
      </a:accent4>
      <a:accent5>
        <a:srgbClr val="72BCFF"/>
      </a:accent5>
      <a:accent6>
        <a:srgbClr val="BCC3C7"/>
      </a:accent6>
      <a:hlink>
        <a:srgbClr val="0098DB"/>
      </a:hlink>
      <a:folHlink>
        <a:srgbClr val="A5ACAF"/>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4_Office Theme">
  <a:themeElements>
    <a:clrScheme name="Heriot-Watt">
      <a:dk1>
        <a:srgbClr val="5E6A71"/>
      </a:dk1>
      <a:lt1>
        <a:srgbClr val="FFFFFF"/>
      </a:lt1>
      <a:dk2>
        <a:srgbClr val="0098DB"/>
      </a:dk2>
      <a:lt2>
        <a:srgbClr val="00549F"/>
      </a:lt2>
      <a:accent1>
        <a:srgbClr val="0098DB"/>
      </a:accent1>
      <a:accent2>
        <a:srgbClr val="FFFFFF"/>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3_Office Theme">
  <a:themeElements>
    <a:clrScheme name="Heriot-Watt">
      <a:dk1>
        <a:srgbClr val="5E6A71"/>
      </a:dk1>
      <a:lt1>
        <a:srgbClr val="FFFFFF"/>
      </a:lt1>
      <a:dk2>
        <a:srgbClr val="0098DB"/>
      </a:dk2>
      <a:lt2>
        <a:srgbClr val="00549F"/>
      </a:lt2>
      <a:accent1>
        <a:srgbClr val="0098DB"/>
      </a:accent1>
      <a:accent2>
        <a:srgbClr val="FFFFFF"/>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5_Office Theme">
  <a:themeElements>
    <a:clrScheme name="Heriot-Watt">
      <a:dk1>
        <a:srgbClr val="5E6A71"/>
      </a:dk1>
      <a:lt1>
        <a:srgbClr val="FFFFFF"/>
      </a:lt1>
      <a:dk2>
        <a:srgbClr val="0098DB"/>
      </a:dk2>
      <a:lt2>
        <a:srgbClr val="00549F"/>
      </a:lt2>
      <a:accent1>
        <a:srgbClr val="0098DB"/>
      </a:accent1>
      <a:accent2>
        <a:srgbClr val="FFFFFF"/>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6.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p:properties xmlns:p="http://schemas.microsoft.com/office/2006/metadata/properties" xmlns:xsi="http://www.w3.org/2001/XMLSchema-instance" xmlns:pc="http://schemas.microsoft.com/office/infopath/2007/PartnerControls">
  <documentManagement/>
</p:properties>
</file>

<file path=customXml/item2.xml><?xml version="1.0" encoding="utf-8"?>
<?mso-contentType ?>
<FormTemplates xmlns="http://schemas.microsoft.com/sharepoint/v3/contenttype/forms">
  <Display>DocumentLibraryForm</Display>
  <Edit>DocumentLibraryForm</Edit>
  <New>DocumentLibraryForm</New>
</FormTemplates>
</file>

<file path=customXml/item3.xml><?xml version="1.0" encoding="utf-8"?>
<ct:contentTypeSchema xmlns:ct="http://schemas.microsoft.com/office/2006/metadata/contentType" xmlns:ma="http://schemas.microsoft.com/office/2006/metadata/properties/metaAttributes" ct:_="" ma:_="" ma:contentTypeName="Document" ma:contentTypeID="0x0101006EE07C38512818468275603CD5E61BA0" ma:contentTypeVersion="0" ma:contentTypeDescription="Create a new document." ma:contentTypeScope="" ma:versionID="bffdf6d8b42402b1618094c717ddf4d4">
  <xsd:schema xmlns:xsd="http://www.w3.org/2001/XMLSchema" xmlns:xs="http://www.w3.org/2001/XMLSchema" xmlns:p="http://schemas.microsoft.com/office/2006/metadata/properties" targetNamespace="http://schemas.microsoft.com/office/2006/metadata/properties" ma:root="true" ma:fieldsID="aa1222beb234debe96d12a98d24ff8a0">
    <xsd:element name="properties">
      <xsd:complexType>
        <xsd:sequence>
          <xsd:element name="documentManagement">
            <xsd:complexType>
              <xsd:all/>
            </xsd:complexType>
          </xsd:element>
        </xsd:sequence>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Props1.xml><?xml version="1.0" encoding="utf-8"?>
<ds:datastoreItem xmlns:ds="http://schemas.openxmlformats.org/officeDocument/2006/customXml" ds:itemID="{6F7ACEBA-99EE-4B9A-99FE-F9695B41FA99}">
  <ds:schemaRefs>
    <ds:schemaRef ds:uri="http://purl.org/dc/terms/"/>
    <ds:schemaRef ds:uri="http://schemas.openxmlformats.org/package/2006/metadata/core-properties"/>
    <ds:schemaRef ds:uri="http://schemas.microsoft.com/office/2006/documentManagement/types"/>
    <ds:schemaRef ds:uri="http://schemas.microsoft.com/office/infopath/2007/PartnerControls"/>
    <ds:schemaRef ds:uri="http://purl.org/dc/elements/1.1/"/>
    <ds:schemaRef ds:uri="http://schemas.microsoft.com/office/2006/metadata/properties"/>
    <ds:schemaRef ds:uri="http://www.w3.org/XML/1998/namespace"/>
    <ds:schemaRef ds:uri="http://purl.org/dc/dcmitype/"/>
  </ds:schemaRefs>
</ds:datastoreItem>
</file>

<file path=customXml/itemProps2.xml><?xml version="1.0" encoding="utf-8"?>
<ds:datastoreItem xmlns:ds="http://schemas.openxmlformats.org/officeDocument/2006/customXml" ds:itemID="{6FC14F33-A9A2-48F1-A0A9-DB146E88F93D}">
  <ds:schemaRefs>
    <ds:schemaRef ds:uri="http://schemas.microsoft.com/sharepoint/v3/contenttype/forms"/>
  </ds:schemaRefs>
</ds:datastoreItem>
</file>

<file path=customXml/itemProps3.xml><?xml version="1.0" encoding="utf-8"?>
<ds:datastoreItem xmlns:ds="http://schemas.openxmlformats.org/officeDocument/2006/customXml" ds:itemID="{279AB7AB-D87E-4CE6-8813-9B5D560C3A7D}">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http://schemas.openxmlformats.org/package/2006/metadata/core-properties"/>
    <ds:schemaRef ds:uri="http://purl.org/dc/elements/1.1/"/>
    <ds:schemaRef ds:uri="http://purl.org/dc/terms/"/>
    <ds:schemaRef ds:uri="http://schemas.microsoft.com/internal/obd"/>
    <ds:schemaRef ds:uri="http://schemas.microsoft.com/office/infopath/2007/PartnerControls"/>
  </ds:schemaRefs>
</ds:datastoreItem>
</file>

<file path=docProps/app.xml><?xml version="1.0" encoding="utf-8"?>
<Properties xmlns="http://schemas.openxmlformats.org/officeDocument/2006/extended-properties" xmlns:vt="http://schemas.openxmlformats.org/officeDocument/2006/docPropsVTypes">
  <TotalTime>567</TotalTime>
  <Words>1043</Words>
  <Application>Microsoft Office PowerPoint</Application>
  <PresentationFormat>On-screen Show (4:3)</PresentationFormat>
  <Paragraphs>183</Paragraphs>
  <Slides>22</Slides>
  <Notes>22</Notes>
  <HiddenSlides>0</HiddenSlides>
  <MMClips>0</MMClips>
  <ScaleCrop>false</ScaleCrop>
  <HeadingPairs>
    <vt:vector size="6" baseType="variant">
      <vt:variant>
        <vt:lpstr>Fonts Used</vt:lpstr>
      </vt:variant>
      <vt:variant>
        <vt:i4>4</vt:i4>
      </vt:variant>
      <vt:variant>
        <vt:lpstr>Theme</vt:lpstr>
      </vt:variant>
      <vt:variant>
        <vt:i4>5</vt:i4>
      </vt:variant>
      <vt:variant>
        <vt:lpstr>Slide Titles</vt:lpstr>
      </vt:variant>
      <vt:variant>
        <vt:i4>22</vt:i4>
      </vt:variant>
    </vt:vector>
  </HeadingPairs>
  <TitlesOfParts>
    <vt:vector size="31" baseType="lpstr">
      <vt:lpstr>ＭＳ Ｐゴシック</vt:lpstr>
      <vt:lpstr>Arial</vt:lpstr>
      <vt:lpstr>Calibri</vt:lpstr>
      <vt:lpstr>Times New Roman</vt:lpstr>
      <vt:lpstr>1_Office Theme</vt:lpstr>
      <vt:lpstr>2_Office Theme</vt:lpstr>
      <vt:lpstr>4_Office Theme</vt:lpstr>
      <vt:lpstr>3_Office Theme</vt:lpstr>
      <vt:lpstr>5_Office Theme</vt:lpstr>
      <vt:lpstr>C39FF: Finance and Financial Reporting</vt:lpstr>
      <vt:lpstr>Accounting for limited companies</vt:lpstr>
      <vt:lpstr>Business ownership</vt:lpstr>
      <vt:lpstr>Advantages and disadvantages of incorporation</vt:lpstr>
      <vt:lpstr>Private and public companies</vt:lpstr>
      <vt:lpstr>PowerPoint Presentation</vt:lpstr>
      <vt:lpstr>Financial Statements</vt:lpstr>
      <vt:lpstr>Typical contents of Annual Reports</vt:lpstr>
      <vt:lpstr>Financial highlights</vt:lpstr>
      <vt:lpstr>Chairman’s statement</vt:lpstr>
      <vt:lpstr>PowerPoint Presentation</vt:lpstr>
      <vt:lpstr>Business review</vt:lpstr>
      <vt:lpstr>Details of directors</vt:lpstr>
      <vt:lpstr>Directors’ report</vt:lpstr>
      <vt:lpstr>Corporate Social Responsibility (CSR)</vt:lpstr>
      <vt:lpstr>Corporate governance report</vt:lpstr>
      <vt:lpstr>Remuneration committee report</vt:lpstr>
      <vt:lpstr>Auditors’ report</vt:lpstr>
      <vt:lpstr>Auditor’s opinion</vt:lpstr>
      <vt:lpstr>J.Sainsbury plc</vt:lpstr>
      <vt:lpstr>Summary</vt:lpstr>
      <vt:lpstr>Next: Financial Statements</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Iain McGeary</dc:creator>
  <cp:lastModifiedBy>Samuel, Sunday</cp:lastModifiedBy>
  <cp:revision>34</cp:revision>
  <cp:lastPrinted>2022-09-21T14:48:56Z</cp:lastPrinted>
  <dcterms:created xsi:type="dcterms:W3CDTF">2016-02-11T16:23:53Z</dcterms:created>
  <dcterms:modified xsi:type="dcterms:W3CDTF">2025-01-16T18:53:10Z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0x0101006EE07C38512818468275603CD5E61BA0</vt:lpwstr>
  </property>
</Properties>
</file>