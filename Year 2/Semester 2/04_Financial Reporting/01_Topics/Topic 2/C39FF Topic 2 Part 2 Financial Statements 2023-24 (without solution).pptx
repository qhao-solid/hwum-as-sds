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slideLayouts/slideLayout2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4"/>
    <p:sldMasterId id="2147483702" r:id="rId5"/>
    <p:sldMasterId id="2147483685" r:id="rId6"/>
    <p:sldMasterId id="2147483684" r:id="rId7"/>
    <p:sldMasterId id="2147483686" r:id="rId8"/>
  </p:sldMasterIdLst>
  <p:notesMasterIdLst>
    <p:notesMasterId r:id="rId24"/>
  </p:notesMasterIdLst>
  <p:sldIdLst>
    <p:sldId id="256" r:id="rId9"/>
    <p:sldId id="285" r:id="rId10"/>
    <p:sldId id="306" r:id="rId11"/>
    <p:sldId id="307" r:id="rId12"/>
    <p:sldId id="308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80" r:id="rId22"/>
    <p:sldId id="309" r:id="rId23"/>
  </p:sldIdLst>
  <p:sldSz cx="9144000" cy="6858000" type="screen4x3"/>
  <p:notesSz cx="6797675" cy="9926638"/>
  <p:custDataLst>
    <p:tags r:id="rId2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0A0B"/>
    <a:srgbClr val="5E6A71"/>
    <a:srgbClr val="0098DB"/>
    <a:srgbClr val="00549F"/>
    <a:srgbClr val="A5AC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1806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theme" Target="theme/theme1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40F1CF-38F0-4B3E-BA98-EE47A1EE936A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822DC6-D898-4D02-B84C-BF8DD9F0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6594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822DC6-D898-4D02-B84C-BF8DD9F0C7E6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97267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BC65E4-0BC6-4AEA-A0C3-FBDE93774A6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8391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BC65E4-0BC6-4AEA-A0C3-FBDE93774A6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1723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BC65E4-0BC6-4AEA-A0C3-FBDE93774A6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9725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BC65E4-0BC6-4AEA-A0C3-FBDE93774A6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8531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rgbClr val="5E6A7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3645024"/>
            <a:ext cx="6400800" cy="1752600"/>
          </a:xfrm>
        </p:spPr>
        <p:txBody>
          <a:bodyPr/>
          <a:lstStyle>
            <a:lvl1pPr marL="0" indent="0" algn="l">
              <a:buNone/>
              <a:defRPr i="1">
                <a:solidFill>
                  <a:srgbClr val="0098DB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5424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9858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rgbClr val="5E6A7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0098DB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2726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1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2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7058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57190"/>
            <a:ext cx="388582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560" y="3068960"/>
            <a:ext cx="3885828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9446" y="2357190"/>
            <a:ext cx="388735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99446" y="3068960"/>
            <a:ext cx="3887354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6782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1938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7922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675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420888"/>
            <a:ext cx="3008313" cy="37052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0446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3728" y="4800600"/>
            <a:ext cx="515496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23728" y="612775"/>
            <a:ext cx="515496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23728" y="5367338"/>
            <a:ext cx="515496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8261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3248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52207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3645024"/>
            <a:ext cx="6400800" cy="1752600"/>
          </a:xfrm>
        </p:spPr>
        <p:txBody>
          <a:bodyPr/>
          <a:lstStyle>
            <a:lvl1pPr marL="0" indent="0" algn="l">
              <a:buNone/>
              <a:defRPr i="1">
                <a:solidFill>
                  <a:srgbClr val="5E6A7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10623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4248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5E6A7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59164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1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2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38995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57190"/>
            <a:ext cx="388582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560" y="3068960"/>
            <a:ext cx="3885828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9446" y="2357190"/>
            <a:ext cx="388735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99446" y="3068960"/>
            <a:ext cx="3887354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91134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48559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78888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675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420888"/>
            <a:ext cx="3008313" cy="37052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26301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3728" y="4800600"/>
            <a:ext cx="515496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23728" y="612775"/>
            <a:ext cx="515496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23728" y="5367338"/>
            <a:ext cx="515496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15278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01034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30257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73919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86544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3024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2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1560" y="1268760"/>
            <a:ext cx="8075240" cy="9989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48880"/>
            <a:ext cx="8075240" cy="3777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C1102FAE-FC2F-47FD-82A7-D1DD5A1AC3E3}" type="datetimeFigureOut">
              <a:rPr lang="en-GB" smtClean="0"/>
              <a:pPr/>
              <a:t>16/01/2025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91E7B16-C11D-48A6-9FE1-93A9A96AC7E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6284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0098DB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1560" y="1268760"/>
            <a:ext cx="8075240" cy="9989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48880"/>
            <a:ext cx="8075240" cy="3777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C1102FAE-FC2F-47FD-82A7-D1DD5A1AC3E3}" type="datetimeFigureOut">
              <a:rPr lang="en-GB" smtClean="0"/>
              <a:pPr/>
              <a:t>16/01/2025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91E7B16-C11D-48A6-9FE1-93A9A96AC7E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7437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6412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2131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0265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755576" y="1206663"/>
            <a:ext cx="8278688" cy="794519"/>
          </a:xfrm>
        </p:spPr>
        <p:txBody>
          <a:bodyPr>
            <a:normAutofit/>
          </a:bodyPr>
          <a:lstStyle/>
          <a:p>
            <a:r>
              <a:rPr lang="en-GB" sz="3200" dirty="0"/>
              <a:t>C39FF: Finance and Financial Reporting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251520" y="3068960"/>
            <a:ext cx="8568952" cy="2328664"/>
          </a:xfrm>
        </p:spPr>
        <p:txBody>
          <a:bodyPr/>
          <a:lstStyle/>
          <a:p>
            <a:pPr algn="ctr"/>
            <a:r>
              <a:rPr lang="en-GB" sz="4000" b="1" i="0" dirty="0"/>
              <a:t>Financial Statements:</a:t>
            </a:r>
          </a:p>
          <a:p>
            <a:pPr algn="ctr"/>
            <a:r>
              <a:rPr lang="en-GB" sz="3200" b="1" i="0" dirty="0"/>
              <a:t>Introducing the core statements</a:t>
            </a:r>
          </a:p>
          <a:p>
            <a:pPr algn="ctr"/>
            <a:r>
              <a:rPr lang="en-GB" b="1" i="0" dirty="0"/>
              <a:t>(Without Solutions)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5265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2345" y="428152"/>
            <a:ext cx="8229600" cy="836712"/>
          </a:xfrm>
        </p:spPr>
        <p:txBody>
          <a:bodyPr/>
          <a:lstStyle/>
          <a:p>
            <a:r>
              <a:rPr lang="en-GB" sz="3600" dirty="0">
                <a:latin typeface="Calibri" panose="020F0502020204030204" pitchFamily="34" charset="0"/>
              </a:rPr>
              <a:t>The Main Financial Statements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11144-0A80-492E-A667-66F71C220181}" type="slidenum">
              <a:rPr lang="en-GB" smtClean="0"/>
              <a:pPr/>
              <a:t>2</a:t>
            </a:fld>
            <a:endParaRPr lang="en-GB"/>
          </a:p>
        </p:txBody>
      </p:sp>
      <p:grpSp>
        <p:nvGrpSpPr>
          <p:cNvPr id="3" name="Group 24"/>
          <p:cNvGrpSpPr/>
          <p:nvPr/>
        </p:nvGrpSpPr>
        <p:grpSpPr>
          <a:xfrm>
            <a:off x="1410447" y="3189413"/>
            <a:ext cx="6545929" cy="1094884"/>
            <a:chOff x="1403648" y="2798963"/>
            <a:chExt cx="6545929" cy="1094884"/>
          </a:xfrm>
        </p:grpSpPr>
        <p:sp>
          <p:nvSpPr>
            <p:cNvPr id="18" name="Rounded Rectangle 17"/>
            <p:cNvSpPr/>
            <p:nvPr/>
          </p:nvSpPr>
          <p:spPr>
            <a:xfrm>
              <a:off x="2593817" y="2798963"/>
              <a:ext cx="5355760" cy="1091145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solidFill>
                <a:schemeClr val="bg1"/>
              </a:solidFill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b="1" dirty="0">
                  <a:solidFill>
                    <a:srgbClr val="7030A0"/>
                  </a:solidFill>
                  <a:latin typeface="Calibri" panose="020F0502020204030204" pitchFamily="34" charset="0"/>
                </a:rPr>
                <a:t>Statement of Financial Position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1403648" y="2802702"/>
              <a:ext cx="781898" cy="1091145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solidFill>
                <a:schemeClr val="bg1"/>
              </a:solidFill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b="1" dirty="0">
                  <a:solidFill>
                    <a:srgbClr val="7030A0"/>
                  </a:solidFill>
                  <a:latin typeface="Calibri" panose="020F0502020204030204" pitchFamily="34" charset="0"/>
                </a:rPr>
                <a:t>2</a:t>
              </a:r>
            </a:p>
          </p:txBody>
        </p:sp>
      </p:grpSp>
      <p:grpSp>
        <p:nvGrpSpPr>
          <p:cNvPr id="4" name="Group 25"/>
          <p:cNvGrpSpPr/>
          <p:nvPr/>
        </p:nvGrpSpPr>
        <p:grpSpPr>
          <a:xfrm>
            <a:off x="1410447" y="4531589"/>
            <a:ext cx="6545929" cy="1098619"/>
            <a:chOff x="1410447" y="3986565"/>
            <a:chExt cx="6545929" cy="1098619"/>
          </a:xfrm>
        </p:grpSpPr>
        <p:sp>
          <p:nvSpPr>
            <p:cNvPr id="20" name="Rounded Rectangle 19"/>
            <p:cNvSpPr/>
            <p:nvPr/>
          </p:nvSpPr>
          <p:spPr>
            <a:xfrm>
              <a:off x="2600616" y="3986565"/>
              <a:ext cx="5355760" cy="1091145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solidFill>
                <a:schemeClr val="bg1"/>
              </a:solidFill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b="1" dirty="0">
                  <a:solidFill>
                    <a:srgbClr val="7030A0"/>
                  </a:solidFill>
                  <a:latin typeface="Calibri" panose="020F0502020204030204" pitchFamily="34" charset="0"/>
                </a:rPr>
                <a:t>Cash Flow Statement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1410447" y="3994039"/>
              <a:ext cx="781898" cy="1091145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solidFill>
                <a:schemeClr val="bg1"/>
              </a:solidFill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b="1" dirty="0">
                  <a:solidFill>
                    <a:srgbClr val="7030A0"/>
                  </a:solidFill>
                  <a:latin typeface="Calibri" panose="020F0502020204030204" pitchFamily="34" charset="0"/>
                </a:rPr>
                <a:t>3</a:t>
              </a:r>
            </a:p>
          </p:txBody>
        </p:sp>
      </p:grpSp>
      <p:grpSp>
        <p:nvGrpSpPr>
          <p:cNvPr id="5" name="Group 23"/>
          <p:cNvGrpSpPr/>
          <p:nvPr/>
        </p:nvGrpSpPr>
        <p:grpSpPr>
          <a:xfrm>
            <a:off x="1410447" y="1822815"/>
            <a:ext cx="6539130" cy="1091147"/>
            <a:chOff x="1410447" y="1611362"/>
            <a:chExt cx="6539130" cy="1091147"/>
          </a:xfrm>
        </p:grpSpPr>
        <p:sp>
          <p:nvSpPr>
            <p:cNvPr id="17" name="Rounded Rectangle 16"/>
            <p:cNvSpPr/>
            <p:nvPr/>
          </p:nvSpPr>
          <p:spPr>
            <a:xfrm>
              <a:off x="1410447" y="1611364"/>
              <a:ext cx="781898" cy="1091145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solidFill>
                <a:schemeClr val="bg1"/>
              </a:solidFill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b="1" dirty="0">
                  <a:solidFill>
                    <a:srgbClr val="7030A0"/>
                  </a:solidFill>
                  <a:latin typeface="Calibri" panose="020F0502020204030204" pitchFamily="34" charset="0"/>
                </a:rPr>
                <a:t>1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2593817" y="1611362"/>
              <a:ext cx="5355760" cy="1091145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solidFill>
                <a:schemeClr val="bg1"/>
              </a:solidFill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b="1" dirty="0">
                  <a:solidFill>
                    <a:srgbClr val="7030A0"/>
                  </a:solidFill>
                  <a:latin typeface="Calibri" panose="020F0502020204030204" pitchFamily="34" charset="0"/>
                </a:rPr>
                <a:t>Income Statement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05597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620688"/>
            <a:ext cx="8229600" cy="836712"/>
          </a:xfrm>
        </p:spPr>
        <p:txBody>
          <a:bodyPr/>
          <a:lstStyle/>
          <a:p>
            <a:r>
              <a:rPr lang="en-GB" sz="3600" dirty="0">
                <a:latin typeface="Calibri" panose="020F0502020204030204" pitchFamily="34" charset="0"/>
              </a:rPr>
              <a:t>Income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11144-0A80-492E-A667-66F71C220181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647564" y="1700808"/>
            <a:ext cx="784887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Calibri" panose="020F0502020204030204" pitchFamily="34" charset="0"/>
              </a:rPr>
              <a:t>Also known as the profit and loss account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Calibri" panose="020F0502020204030204" pitchFamily="34" charset="0"/>
              </a:rPr>
              <a:t>Provides an insight into a company’s trading activities.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Calibri" panose="020F0502020204030204" pitchFamily="34" charset="0"/>
              </a:rPr>
              <a:t>It compares the income generated from trading with the costs associated with earning that income, the difference being the profit or loss for the year.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Calibri" panose="020F0502020204030204" pitchFamily="34" charset="0"/>
              </a:rPr>
              <a:t>Basic version:</a:t>
            </a:r>
          </a:p>
          <a:p>
            <a:r>
              <a:rPr lang="en-GB" sz="2400" dirty="0">
                <a:latin typeface="Calibri" panose="020F0502020204030204" pitchFamily="34" charset="0"/>
              </a:rPr>
              <a:t>	Sales		  	  x</a:t>
            </a:r>
          </a:p>
          <a:p>
            <a:r>
              <a:rPr lang="en-GB" sz="2400" dirty="0">
                <a:latin typeface="Calibri" panose="020F0502020204030204" pitchFamily="34" charset="0"/>
              </a:rPr>
              <a:t>	Expenses		(y)</a:t>
            </a:r>
          </a:p>
          <a:p>
            <a:r>
              <a:rPr lang="en-GB" sz="2400" dirty="0">
                <a:latin typeface="Calibri" panose="020F0502020204030204" pitchFamily="34" charset="0"/>
              </a:rPr>
              <a:t>	Profit/(loss)		  z</a:t>
            </a:r>
          </a:p>
        </p:txBody>
      </p:sp>
    </p:spTree>
    <p:extLst>
      <p:ext uri="{BB962C8B-B14F-4D97-AF65-F5344CB8AC3E}">
        <p14:creationId xmlns:p14="http://schemas.microsoft.com/office/powerpoint/2010/main" val="3808317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5676" y="985532"/>
            <a:ext cx="8229600" cy="836712"/>
          </a:xfrm>
        </p:spPr>
        <p:txBody>
          <a:bodyPr/>
          <a:lstStyle/>
          <a:p>
            <a:r>
              <a:rPr lang="en-GB" sz="3600" dirty="0">
                <a:latin typeface="Calibri" panose="020F0502020204030204" pitchFamily="34" charset="0"/>
              </a:rPr>
              <a:t>Statement of Financial Position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11144-0A80-492E-A667-66F71C220181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805676" y="2201366"/>
            <a:ext cx="784887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Calibri" panose="020F0502020204030204" pitchFamily="34" charset="0"/>
              </a:rPr>
              <a:t>Also known as the balance sheet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Calibri" panose="020F0502020204030204" pitchFamily="34" charset="0"/>
              </a:rPr>
              <a:t>Effectively, the statement consists of two lists:</a:t>
            </a:r>
          </a:p>
          <a:p>
            <a:endParaRPr lang="en-GB" sz="2400" dirty="0">
              <a:latin typeface="Calibri" panose="020F0502020204030204" pitchFamily="34" charset="0"/>
            </a:endParaRPr>
          </a:p>
          <a:p>
            <a:pPr marL="719138" indent="-447675"/>
            <a:r>
              <a:rPr lang="en-GB" sz="2400" dirty="0">
                <a:latin typeface="Calibri" panose="020F0502020204030204" pitchFamily="34" charset="0"/>
              </a:rPr>
              <a:t>(1) a list of everything owned by the business at the year end (</a:t>
            </a:r>
            <a:r>
              <a:rPr lang="en-GB" sz="2400" b="1" dirty="0">
                <a:solidFill>
                  <a:srgbClr val="7030A0"/>
                </a:solidFill>
                <a:latin typeface="Calibri" panose="020F0502020204030204" pitchFamily="34" charset="0"/>
              </a:rPr>
              <a:t>assets</a:t>
            </a:r>
            <a:r>
              <a:rPr lang="en-GB" sz="2400" dirty="0">
                <a:latin typeface="Calibri" panose="020F0502020204030204" pitchFamily="34" charset="0"/>
              </a:rPr>
              <a:t>)</a:t>
            </a:r>
          </a:p>
          <a:p>
            <a:pPr marL="719138" indent="-447675"/>
            <a:r>
              <a:rPr lang="en-GB" sz="2400" dirty="0">
                <a:latin typeface="Calibri" panose="020F0502020204030204" pitchFamily="34" charset="0"/>
              </a:rPr>
              <a:t>(2) a list of the various sources of finance used to fund these acquisitions (</a:t>
            </a:r>
            <a:r>
              <a:rPr lang="en-GB" sz="2400" b="1" dirty="0">
                <a:solidFill>
                  <a:srgbClr val="7030A0"/>
                </a:solidFill>
                <a:latin typeface="Calibri" panose="020F0502020204030204" pitchFamily="34" charset="0"/>
              </a:rPr>
              <a:t>liabilities</a:t>
            </a:r>
            <a:r>
              <a:rPr lang="en-GB" sz="2400" b="1" dirty="0">
                <a:solidFill>
                  <a:srgbClr val="FF0000"/>
                </a:solidFill>
                <a:latin typeface="Calibri" panose="020F0502020204030204" pitchFamily="34" charset="0"/>
              </a:rPr>
              <a:t> </a:t>
            </a:r>
            <a:r>
              <a:rPr lang="en-GB" sz="2400" dirty="0">
                <a:latin typeface="Calibri" panose="020F0502020204030204" pitchFamily="34" charset="0"/>
              </a:rPr>
              <a:t>&amp;</a:t>
            </a:r>
            <a:r>
              <a:rPr lang="en-GB" sz="2400" dirty="0">
                <a:solidFill>
                  <a:srgbClr val="FF0000"/>
                </a:solidFill>
                <a:latin typeface="Calibri" panose="020F0502020204030204" pitchFamily="34" charset="0"/>
              </a:rPr>
              <a:t> </a:t>
            </a:r>
            <a:r>
              <a:rPr lang="en-GB" sz="2400" b="1" dirty="0">
                <a:solidFill>
                  <a:srgbClr val="7030A0"/>
                </a:solidFill>
                <a:latin typeface="Calibri" panose="020F0502020204030204" pitchFamily="34" charset="0"/>
              </a:rPr>
              <a:t>equity</a:t>
            </a:r>
            <a:r>
              <a:rPr lang="en-GB" sz="2400" dirty="0">
                <a:latin typeface="Calibri" panose="020F0502020204030204" pitchFamily="34" charset="0"/>
              </a:rPr>
              <a:t>)</a:t>
            </a:r>
          </a:p>
          <a:p>
            <a:endParaRPr lang="en-GB" sz="2400" dirty="0"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Calibri" panose="020F0502020204030204" pitchFamily="34" charset="0"/>
              </a:rPr>
              <a:t>This statement always balances thanks to the dual aspect convention</a:t>
            </a:r>
          </a:p>
        </p:txBody>
      </p:sp>
    </p:spTree>
    <p:extLst>
      <p:ext uri="{BB962C8B-B14F-4D97-AF65-F5344CB8AC3E}">
        <p14:creationId xmlns:p14="http://schemas.microsoft.com/office/powerpoint/2010/main" val="2879558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206" y="1484784"/>
            <a:ext cx="8229600" cy="836712"/>
          </a:xfrm>
        </p:spPr>
        <p:txBody>
          <a:bodyPr/>
          <a:lstStyle/>
          <a:p>
            <a:r>
              <a:rPr lang="en-GB" sz="3600" dirty="0">
                <a:latin typeface="Calibri" panose="020F0502020204030204" pitchFamily="34" charset="0"/>
              </a:rPr>
              <a:t>Cash Flow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11144-0A80-492E-A667-66F71C220181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647564" y="3212976"/>
            <a:ext cx="784887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Calibri" panose="020F0502020204030204" pitchFamily="34" charset="0"/>
              </a:rPr>
              <a:t>More companies collapse because of lack of cash rather than poor profits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Calibri" panose="020F0502020204030204" pitchFamily="34" charset="0"/>
              </a:rPr>
              <a:t>Profits are not the same as cash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Calibri" panose="020F0502020204030204" pitchFamily="34" charset="0"/>
              </a:rPr>
              <a:t>Statement shows company’s cash inflows and outflows for year</a:t>
            </a:r>
          </a:p>
        </p:txBody>
      </p:sp>
    </p:spTree>
    <p:extLst>
      <p:ext uri="{BB962C8B-B14F-4D97-AF65-F5344CB8AC3E}">
        <p14:creationId xmlns:p14="http://schemas.microsoft.com/office/powerpoint/2010/main" val="1586351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75B4F-5283-4CC0-B56A-137ABED67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>
                <a:ea typeface="ＭＳ Ｐゴシック" panose="020B0600070205080204" pitchFamily="34" charset="-128"/>
              </a:rPr>
              <a:t>Example - Jody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34A63-4C42-4E20-B2B0-8AE8DD82A4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dirty="0">
                <a:ea typeface="ＭＳ Ｐゴシック" panose="020B0600070205080204" pitchFamily="34" charset="-128"/>
              </a:rPr>
              <a:t>Jody set up in business selling cakes from a stall at Riccarton campus.</a:t>
            </a:r>
          </a:p>
          <a:p>
            <a:r>
              <a:rPr lang="en-GB" altLang="en-US" dirty="0">
                <a:ea typeface="ＭＳ Ｐゴシック" panose="020B0600070205080204" pitchFamily="34" charset="-128"/>
              </a:rPr>
              <a:t>She bought 100 cakes from a wholesaler costing 50p each, paying cash from her own purse.</a:t>
            </a:r>
          </a:p>
          <a:p>
            <a:r>
              <a:rPr lang="en-GB" altLang="en-US" dirty="0">
                <a:ea typeface="ＭＳ Ｐゴシック" panose="020B0600070205080204" pitchFamily="34" charset="-128"/>
              </a:rPr>
              <a:t>On her first day, she sold 80 cakes for £1 each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824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67457-C87C-45A4-951A-DAEB58097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altLang="en-US" dirty="0">
                <a:ea typeface="ＭＳ Ｐゴシック" panose="020B0600070205080204" pitchFamily="34" charset="-128"/>
              </a:rPr>
              <a:t>What cash movements took place?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1F453-8E44-4974-91FF-1B5B3539C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931" y="2132856"/>
            <a:ext cx="8075240" cy="3777283"/>
          </a:xfrm>
        </p:spPr>
        <p:txBody>
          <a:bodyPr/>
          <a:lstStyle/>
          <a:p>
            <a:pPr marL="0" indent="0">
              <a:buNone/>
            </a:pPr>
            <a:endParaRPr lang="en-GB" altLang="en-US" dirty="0"/>
          </a:p>
          <a:p>
            <a:pPr marL="0" indent="0">
              <a:buNone/>
            </a:pPr>
            <a:r>
              <a:rPr lang="en-GB" altLang="en-US" dirty="0">
                <a:solidFill>
                  <a:srgbClr val="090A0B"/>
                </a:solidFill>
              </a:rPr>
              <a:t>Statement of cash flows</a:t>
            </a:r>
          </a:p>
          <a:p>
            <a:pPr marL="0" indent="0">
              <a:buNone/>
            </a:pPr>
            <a:endParaRPr lang="en-GB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165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0704F-CCD3-4F6D-90A5-A790FFA9B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altLang="en-US" dirty="0">
                <a:ea typeface="ＭＳ Ｐゴシック" panose="020B0600070205080204" pitchFamily="34" charset="-128"/>
              </a:rPr>
              <a:t>How much profit was generated?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8D15F-DA5F-41FD-B706-720AB225C8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</a:rPr>
              <a:t>Income statement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4841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1FE08-F2D0-489E-A8C8-28580CA40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380" y="1567880"/>
            <a:ext cx="8075240" cy="998984"/>
          </a:xfrm>
        </p:spPr>
        <p:txBody>
          <a:bodyPr>
            <a:normAutofit fontScale="90000"/>
          </a:bodyPr>
          <a:lstStyle/>
          <a:p>
            <a:r>
              <a:rPr lang="en-GB" altLang="en-US" dirty="0">
                <a:ea typeface="ＭＳ Ｐゴシック" panose="020B0600070205080204" pitchFamily="34" charset="-128"/>
              </a:rPr>
              <a:t>What is the accumulated wealth at the end of day 1?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FF4C3-A331-4F98-B62F-A0B5ABF35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2780928"/>
            <a:ext cx="8075240" cy="3777283"/>
          </a:xfrm>
        </p:spPr>
        <p:txBody>
          <a:bodyPr/>
          <a:lstStyle/>
          <a:p>
            <a:pPr marL="0" indent="0">
              <a:buNone/>
            </a:pPr>
            <a:r>
              <a:rPr lang="en-GB" altLang="en-US" dirty="0">
                <a:solidFill>
                  <a:srgbClr val="090A0B"/>
                </a:solidFill>
              </a:rPr>
              <a:t>Statement of financial position</a:t>
            </a:r>
          </a:p>
          <a:p>
            <a:pPr marL="0" indent="0">
              <a:buNone/>
            </a:pPr>
            <a:endParaRPr lang="en-GB" altLang="en-US" dirty="0">
              <a:solidFill>
                <a:srgbClr val="090A0B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777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E8E88-138E-4913-AA89-CD33DE126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>
                <a:ea typeface="ＭＳ Ｐゴシック" panose="020B0600070205080204" pitchFamily="34" charset="-128"/>
              </a:rPr>
              <a:t>Jody – Day 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4329C-F408-4750-8BFF-95B3BFDA25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dirty="0">
                <a:ea typeface="ＭＳ Ｐゴシック" panose="020B0600070205080204" pitchFamily="34" charset="-128"/>
              </a:rPr>
              <a:t>Next day, Jody bought 120 more cakes for £60, using the cash generated by her sales the previous day.</a:t>
            </a:r>
          </a:p>
          <a:p>
            <a:r>
              <a:rPr lang="en-GB" altLang="en-US" dirty="0">
                <a:ea typeface="ＭＳ Ｐゴシック" panose="020B0600070205080204" pitchFamily="34" charset="-128"/>
              </a:rPr>
              <a:t>On day 2, Jody managed to sell 130 cakes for £1 each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79875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0F21A-FD9A-441C-B87A-109A4C1BE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>
                <a:ea typeface="ＭＳ Ｐゴシック" panose="020B0600070205080204" pitchFamily="34" charset="-128"/>
              </a:rPr>
              <a:t>Day 2 results – Cash Flow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0068C-62F5-44A5-BD63-9FCDC93FD7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altLang="en-US" dirty="0">
                <a:solidFill>
                  <a:srgbClr val="090A0B"/>
                </a:solidFill>
                <a:ea typeface="ＭＳ Ｐゴシック" panose="020B0600070205080204" pitchFamily="34" charset="-128"/>
              </a:rPr>
              <a:t>Statement of Cash Flow</a:t>
            </a:r>
            <a:r>
              <a:rPr lang="en-GB" altLang="en-US" dirty="0">
                <a:ea typeface="ＭＳ Ｐゴシック" panose="020B0600070205080204" pitchFamily="34" charset="-128"/>
              </a:rPr>
              <a:t>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14593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542C5-C653-46E3-9380-5DA3DBBB4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>
                <a:ea typeface="ＭＳ Ｐゴシック" panose="020B0600070205080204" pitchFamily="34" charset="-128"/>
              </a:rPr>
              <a:t>Day 2 results - Profit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2C6D3-6918-42AF-B180-2754693DA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altLang="en-US" dirty="0">
                <a:solidFill>
                  <a:srgbClr val="090A0B"/>
                </a:solidFill>
              </a:rPr>
              <a:t>Income statement</a:t>
            </a:r>
          </a:p>
          <a:p>
            <a:pPr marL="0" indent="0">
              <a:buNone/>
            </a:pPr>
            <a:endParaRPr lang="en-GB" altLang="en-US" dirty="0">
              <a:solidFill>
                <a:srgbClr val="090A0B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835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8E822-F370-4094-A3AD-348379E92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altLang="en-US" dirty="0">
                <a:ea typeface="ＭＳ Ｐゴシック" panose="020B0600070205080204" pitchFamily="34" charset="-128"/>
              </a:rPr>
              <a:t>Day 2 results – Accumulated Wealth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97F2E-801A-41F1-BA6E-568E762C0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2348881"/>
            <a:ext cx="8075240" cy="2736304"/>
          </a:xfrm>
        </p:spPr>
        <p:txBody>
          <a:bodyPr/>
          <a:lstStyle/>
          <a:p>
            <a:pPr marL="0" indent="0">
              <a:buNone/>
            </a:pPr>
            <a:r>
              <a:rPr lang="en-GB" altLang="en-US" dirty="0">
                <a:solidFill>
                  <a:srgbClr val="090A0B"/>
                </a:solidFill>
                <a:ea typeface="ＭＳ Ｐゴシック" panose="020B0600070205080204" pitchFamily="34" charset="-128"/>
              </a:rPr>
              <a:t>Statement of financial position</a:t>
            </a:r>
          </a:p>
          <a:p>
            <a:pPr marL="0" indent="0">
              <a:buNone/>
            </a:pPr>
            <a:endParaRPr lang="en-GB" altLang="en-US" dirty="0">
              <a:solidFill>
                <a:srgbClr val="090A0B"/>
              </a:solidFill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58594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DB4C4-264D-4107-9570-31C2E8D09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A76BF-054C-48A7-A4BB-633D95B27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three core Financial Statements record:</a:t>
            </a:r>
          </a:p>
          <a:p>
            <a:pPr lvl="1"/>
            <a:r>
              <a:rPr lang="en-GB" dirty="0"/>
              <a:t>How cash flows through an organisation</a:t>
            </a:r>
          </a:p>
          <a:p>
            <a:pPr lvl="1"/>
            <a:r>
              <a:rPr lang="en-GB" dirty="0"/>
              <a:t>The amount of profit generated</a:t>
            </a:r>
          </a:p>
          <a:p>
            <a:pPr lvl="1"/>
            <a:r>
              <a:rPr lang="en-GB" dirty="0"/>
              <a:t>The accumulated wealth  </a:t>
            </a:r>
          </a:p>
        </p:txBody>
      </p:sp>
    </p:spTree>
    <p:extLst>
      <p:ext uri="{BB962C8B-B14F-4D97-AF65-F5344CB8AC3E}">
        <p14:creationId xmlns:p14="http://schemas.microsoft.com/office/powerpoint/2010/main" val="33790174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F8BC5-704B-1715-0A6A-126A5EF841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Next: Topic 3 – Financial Statements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3122A4-6F6D-0BCF-AC27-E5D11A2EA8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i="0" dirty="0"/>
              <a:t>The principles of preparing simple company Accounts</a:t>
            </a:r>
          </a:p>
        </p:txBody>
      </p:sp>
    </p:spTree>
    <p:extLst>
      <p:ext uri="{BB962C8B-B14F-4D97-AF65-F5344CB8AC3E}">
        <p14:creationId xmlns:p14="http://schemas.microsoft.com/office/powerpoint/2010/main" val="258381678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PPRESENTATIONGUID" val="b679e678-adad-4863-8099-52f4058245f0"/>
  <p:tag name="TPVERSION" val="8"/>
  <p:tag name="TPFULLVERSION" val="9.0.5.7"/>
  <p:tag name="PPTVERSION" val="16"/>
  <p:tag name="TPOS" val="2"/>
  <p:tag name="TPLASTSAVEVERSION" val="6.4 PC"/>
</p:tagLst>
</file>

<file path=ppt/theme/theme1.xml><?xml version="1.0" encoding="utf-8"?>
<a:theme xmlns:a="http://schemas.openxmlformats.org/drawingml/2006/main" name="1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A5ACAF"/>
      </a:accent2>
      <a:accent3>
        <a:srgbClr val="5E6A71"/>
      </a:accent3>
      <a:accent4>
        <a:srgbClr val="00549F"/>
      </a:accent4>
      <a:accent5>
        <a:srgbClr val="72BCFF"/>
      </a:accent5>
      <a:accent6>
        <a:srgbClr val="BCC3C7"/>
      </a:accent6>
      <a:hlink>
        <a:srgbClr val="0098DB"/>
      </a:hlink>
      <a:folHlink>
        <a:srgbClr val="A5ACA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A5ACAF"/>
      </a:accent2>
      <a:accent3>
        <a:srgbClr val="5E6A71"/>
      </a:accent3>
      <a:accent4>
        <a:srgbClr val="00549F"/>
      </a:accent4>
      <a:accent5>
        <a:srgbClr val="72BCFF"/>
      </a:accent5>
      <a:accent6>
        <a:srgbClr val="BCC3C7"/>
      </a:accent6>
      <a:hlink>
        <a:srgbClr val="0098DB"/>
      </a:hlink>
      <a:folHlink>
        <a:srgbClr val="A5ACA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4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FFFFF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FFFFF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5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FFFFF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E07C38512818468275603CD5E61BA0" ma:contentTypeVersion="0" ma:contentTypeDescription="Create a new document." ma:contentTypeScope="" ma:versionID="bffdf6d8b42402b1618094c717ddf4d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aa1222beb234debe96d12a98d24ff8a0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7ACEBA-99EE-4B9A-99FE-F9695B41FA99}">
  <ds:schemaRefs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FC14F33-A9A2-48F1-A0A9-DB146E88F93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79AB7AB-D87E-4CE6-8813-9B5D560C3A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718</TotalTime>
  <Words>400</Words>
  <Application>Microsoft Office PowerPoint</Application>
  <PresentationFormat>On-screen Show (4:3)</PresentationFormat>
  <Paragraphs>74</Paragraphs>
  <Slides>15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ＭＳ Ｐゴシック</vt:lpstr>
      <vt:lpstr>Arial</vt:lpstr>
      <vt:lpstr>Calibri</vt:lpstr>
      <vt:lpstr>Times New Roman</vt:lpstr>
      <vt:lpstr>1_Office Theme</vt:lpstr>
      <vt:lpstr>2_Office Theme</vt:lpstr>
      <vt:lpstr>4_Office Theme</vt:lpstr>
      <vt:lpstr>3_Office Theme</vt:lpstr>
      <vt:lpstr>5_Office Theme</vt:lpstr>
      <vt:lpstr>C39FF: Finance and Financial Reporting</vt:lpstr>
      <vt:lpstr>The Main Financial Statements</vt:lpstr>
      <vt:lpstr>Income Statement</vt:lpstr>
      <vt:lpstr>Statement of Financial Position</vt:lpstr>
      <vt:lpstr>Cash Flow Statement</vt:lpstr>
      <vt:lpstr>Example - Jody</vt:lpstr>
      <vt:lpstr>What cash movements took place?</vt:lpstr>
      <vt:lpstr>How much profit was generated?</vt:lpstr>
      <vt:lpstr>What is the accumulated wealth at the end of day 1?</vt:lpstr>
      <vt:lpstr>Jody – Day 2</vt:lpstr>
      <vt:lpstr>Day 2 results – Cash Flow</vt:lpstr>
      <vt:lpstr>Day 2 results - Profit</vt:lpstr>
      <vt:lpstr>Day 2 results – Accumulated Wealth</vt:lpstr>
      <vt:lpstr>Summary</vt:lpstr>
      <vt:lpstr>Next: Topic 3 – Financial Statements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Iain McGeary</dc:creator>
  <cp:lastModifiedBy>Samuel, Sunday</cp:lastModifiedBy>
  <cp:revision>42</cp:revision>
  <cp:lastPrinted>2020-09-23T09:47:18Z</cp:lastPrinted>
  <dcterms:created xsi:type="dcterms:W3CDTF">2016-02-11T16:23:53Z</dcterms:created>
  <dcterms:modified xsi:type="dcterms:W3CDTF">2025-01-16T19:00:05Z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0x0101006EE07C38512818468275603CD5E61BA0</vt:lpwstr>
  </property>
</Properties>
</file>