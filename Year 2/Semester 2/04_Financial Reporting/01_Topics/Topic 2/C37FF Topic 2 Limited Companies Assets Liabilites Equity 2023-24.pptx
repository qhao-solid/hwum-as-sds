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15"/>
  </p:notesMasterIdLst>
  <p:sldIdLst>
    <p:sldId id="256" r:id="rId9"/>
    <p:sldId id="270" r:id="rId10"/>
    <p:sldId id="292" r:id="rId11"/>
    <p:sldId id="293" r:id="rId12"/>
    <p:sldId id="291" r:id="rId13"/>
    <p:sldId id="294" r:id="rId1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0F1CF-38F0-4B3E-BA98-EE47A1EE936A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22DC6-D898-4D02-B84C-BF8DD9F0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94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72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269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29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22DC6-D898-4D02-B84C-BF8DD9F0C7E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43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9011CAD-A0A2-4895-9F92-358CE690697F}" type="slidenum">
              <a:rPr lang="en-GB" altLang="en-US" sz="1200"/>
              <a:pPr/>
              <a:t>5</a:t>
            </a:fld>
            <a:endParaRPr lang="en-GB" alt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777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C37FF Finance and Financial Reporting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Accounting for Limited Companies</a:t>
            </a:r>
          </a:p>
          <a:p>
            <a:r>
              <a:rPr lang="en-GB" dirty="0"/>
              <a:t>Assets, Liabilities and Equity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77"/>
    </mc:Choice>
    <mc:Fallback xmlns="">
      <p:transition spd="slow" advTm="134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755576" y="1556792"/>
            <a:ext cx="7856538" cy="7287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7030A0"/>
                </a:solidFill>
                <a:latin typeface="Calibri" panose="020F0502020204030204" pitchFamily="34" charset="0"/>
                <a:ea typeface="ＭＳ Ｐゴシック" pitchFamily="34" charset="-128"/>
              </a:rPr>
              <a:t>The Accounting Equation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11560" y="3645024"/>
            <a:ext cx="7781944" cy="492022"/>
            <a:chOff x="990600" y="1742757"/>
            <a:chExt cx="7781944" cy="492022"/>
          </a:xfrm>
        </p:grpSpPr>
        <p:sp>
          <p:nvSpPr>
            <p:cNvPr id="6" name="Rectangle 5"/>
            <p:cNvSpPr/>
            <p:nvPr/>
          </p:nvSpPr>
          <p:spPr>
            <a:xfrm>
              <a:off x="990600" y="1752600"/>
              <a:ext cx="2209800" cy="457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sz="3200" dirty="0">
                  <a:solidFill>
                    <a:prstClr val="white"/>
                  </a:solidFill>
                </a:rPr>
                <a:t>Assets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94448" y="1752600"/>
              <a:ext cx="2209800" cy="45720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100000">
                  <a:srgbClr val="FF5555"/>
                </a:gs>
                <a:gs pos="50000">
                  <a:srgbClr val="D80000"/>
                </a:gs>
              </a:gsLst>
              <a:lin ang="16200000" scaled="0"/>
              <a:tileRect/>
            </a:gra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sz="3200" dirty="0">
                  <a:solidFill>
                    <a:prstClr val="white"/>
                  </a:solidFill>
                </a:rPr>
                <a:t>Liabilities</a:t>
              </a:r>
            </a:p>
          </p:txBody>
        </p:sp>
        <p:sp>
          <p:nvSpPr>
            <p:cNvPr id="8" name="TextBox 5"/>
            <p:cNvSpPr txBox="1">
              <a:spLocks noChangeArrowheads="1"/>
            </p:cNvSpPr>
            <p:nvPr/>
          </p:nvSpPr>
          <p:spPr bwMode="auto">
            <a:xfrm>
              <a:off x="3851920" y="1772816"/>
              <a:ext cx="3810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 dirty="0">
                  <a:latin typeface="Corbel" pitchFamily="34" charset="0"/>
                </a:rPr>
                <a:t>=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32384" y="1742757"/>
              <a:ext cx="1440160" cy="467043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sz="3200" dirty="0">
                  <a:solidFill>
                    <a:prstClr val="white"/>
                  </a:solidFill>
                </a:rPr>
                <a:t>Equity</a:t>
              </a:r>
            </a:p>
          </p:txBody>
        </p:sp>
        <p:sp>
          <p:nvSpPr>
            <p:cNvPr id="17" name="TextBox 5"/>
            <p:cNvSpPr txBox="1">
              <a:spLocks noChangeArrowheads="1"/>
            </p:cNvSpPr>
            <p:nvPr/>
          </p:nvSpPr>
          <p:spPr bwMode="auto">
            <a:xfrm>
              <a:off x="6918364" y="1752600"/>
              <a:ext cx="3810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 dirty="0">
                  <a:latin typeface="Corbel" pitchFamily="34" charset="0"/>
                </a:rPr>
                <a:t>+</a:t>
              </a:r>
            </a:p>
          </p:txBody>
        </p: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3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47"/>
    </mc:Choice>
    <mc:Fallback xmlns="">
      <p:transition spd="slow" advTm="651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3D67-8E41-47DD-AF7C-74465A6F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5AF0B-FC60-4A15-BCB6-60B18465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item owned which is expected to bring future economic value to the organisation.</a:t>
            </a:r>
          </a:p>
          <a:p>
            <a:r>
              <a:rPr lang="en-GB" dirty="0"/>
              <a:t>Increases a firms value.</a:t>
            </a:r>
          </a:p>
          <a:p>
            <a:r>
              <a:rPr lang="en-GB" dirty="0"/>
              <a:t>Tangible Assets</a:t>
            </a:r>
          </a:p>
          <a:p>
            <a:r>
              <a:rPr lang="en-GB" dirty="0"/>
              <a:t>Intangible Assets</a:t>
            </a:r>
          </a:p>
          <a:p>
            <a:r>
              <a:rPr lang="en-GB" dirty="0"/>
              <a:t>Fixed or Non-current Assets</a:t>
            </a:r>
          </a:p>
          <a:p>
            <a:r>
              <a:rPr lang="en-GB" dirty="0"/>
              <a:t>Current Assets</a:t>
            </a:r>
            <a:endParaRPr lang="en-US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9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957"/>
    </mc:Choice>
    <mc:Fallback xmlns="">
      <p:transition spd="slow" advTm="2229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ED35-99A0-4BF9-A720-0460E9FF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Liabilities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5171-B083-4DEC-9499-0E903AAE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amount owed by the organisation.</a:t>
            </a:r>
          </a:p>
          <a:p>
            <a:r>
              <a:rPr lang="en-GB" dirty="0"/>
              <a:t>Settlement occurs over time and represents the transfer of economic benefit.</a:t>
            </a:r>
          </a:p>
          <a:p>
            <a:r>
              <a:rPr lang="en-GB" dirty="0"/>
              <a:t>Non-current or long-term liabilities.</a:t>
            </a:r>
          </a:p>
          <a:p>
            <a:r>
              <a:rPr lang="en-GB" dirty="0"/>
              <a:t>Current liabilities.</a:t>
            </a:r>
            <a:endParaRPr lang="en-US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9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319"/>
    </mc:Choice>
    <mc:Fallback xmlns="">
      <p:transition spd="slow" advTm="133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791299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107818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1424338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1740858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057377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2373897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2690416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48D5F4D-EE1F-4B71-92EB-DF29BB8A0FE2}" type="slidenum">
              <a:rPr lang="en-GB" altLang="en-US" sz="969"/>
              <a:pPr/>
              <a:t>5</a:t>
            </a:fld>
            <a:endParaRPr lang="en-GB" altLang="en-US" sz="969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2843808" y="836712"/>
            <a:ext cx="4035669" cy="6033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Equity</a:t>
            </a:r>
            <a:endParaRPr lang="en-GB" altLang="en-US" dirty="0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524" y="1706852"/>
            <a:ext cx="8568952" cy="4672013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Ownership interest in a company arises in several ways: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Direct contributions in form of sale of shares to shareholders</a:t>
            </a:r>
          </a:p>
          <a:p>
            <a:pPr eaLnBrk="1" hangingPunct="1"/>
            <a:r>
              <a:rPr lang="en-US" altLang="en-US" dirty="0"/>
              <a:t>Certain adjustments, such as revaluation of non-current assets</a:t>
            </a:r>
          </a:p>
          <a:p>
            <a:pPr eaLnBrk="1" hangingPunct="1"/>
            <a:r>
              <a:rPr lang="en-US" altLang="en-US" dirty="0"/>
              <a:t>Also capital generated from trading, in form of profits which have not been paid out as dividends 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Called ‘retained earnings’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3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681"/>
    </mc:Choice>
    <mc:Fallback xmlns="">
      <p:transition spd="slow" advTm="1936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2F00-9720-4564-B5F8-A4690BC5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8D9A6-4614-42F8-B4C2-D075728F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accounting equation is fundamental to the Financial Statements.</a:t>
            </a:r>
          </a:p>
          <a:p>
            <a:r>
              <a:rPr lang="en-GB" dirty="0"/>
              <a:t>Financial Statements are often referred to as Accounts.</a:t>
            </a:r>
          </a:p>
          <a:p>
            <a:r>
              <a:rPr lang="en-GB" dirty="0"/>
              <a:t>Assets, liabilities and equity are core to all organisations and the Financial Statements (Accounts).</a:t>
            </a:r>
          </a:p>
          <a:p>
            <a:r>
              <a:rPr lang="en-GB" dirty="0"/>
              <a:t>We will identify assets, liabilities and equity during the preparation of Accounts in </a:t>
            </a:r>
            <a:r>
              <a:rPr lang="en-GB"/>
              <a:t>future sessions.</a:t>
            </a:r>
            <a:endParaRPr lang="en-US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1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585"/>
    </mc:Choice>
    <mc:Fallback xmlns="">
      <p:transition spd="slow" advTm="335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7ACEBA-99EE-4B9A-99FE-F9695B41FA99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195</Words>
  <Application>Microsoft Office PowerPoint</Application>
  <PresentationFormat>On-screen Show (4:3)</PresentationFormat>
  <Paragraphs>40</Paragraphs>
  <Slides>6</Slides>
  <Notes>5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Corbel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C37FF Finance and Financial Reporting</vt:lpstr>
      <vt:lpstr>PowerPoint Presentation</vt:lpstr>
      <vt:lpstr>Assets</vt:lpstr>
      <vt:lpstr>Liabilities</vt:lpstr>
      <vt:lpstr>Equity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33</cp:revision>
  <cp:lastPrinted>2020-09-22T15:59:55Z</cp:lastPrinted>
  <dcterms:created xsi:type="dcterms:W3CDTF">2016-02-11T16:23:53Z</dcterms:created>
  <dcterms:modified xsi:type="dcterms:W3CDTF">2024-01-08T20:09:56Z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