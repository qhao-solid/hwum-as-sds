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4"/>
    <p:sldMasterId id="2147483702" r:id="rId5"/>
    <p:sldMasterId id="2147483685" r:id="rId6"/>
    <p:sldMasterId id="2147483684" r:id="rId7"/>
    <p:sldMasterId id="2147483686" r:id="rId8"/>
  </p:sldMasterIdLst>
  <p:notesMasterIdLst>
    <p:notesMasterId r:id="rId32"/>
  </p:notesMasterIdLst>
  <p:sldIdLst>
    <p:sldId id="256" r:id="rId9"/>
    <p:sldId id="340" r:id="rId10"/>
    <p:sldId id="316" r:id="rId11"/>
    <p:sldId id="341" r:id="rId12"/>
    <p:sldId id="317" r:id="rId13"/>
    <p:sldId id="342" r:id="rId14"/>
    <p:sldId id="333" r:id="rId15"/>
    <p:sldId id="343" r:id="rId16"/>
    <p:sldId id="327" r:id="rId17"/>
    <p:sldId id="344" r:id="rId18"/>
    <p:sldId id="320" r:id="rId19"/>
    <p:sldId id="345" r:id="rId20"/>
    <p:sldId id="319" r:id="rId21"/>
    <p:sldId id="323" r:id="rId22"/>
    <p:sldId id="324" r:id="rId23"/>
    <p:sldId id="346" r:id="rId24"/>
    <p:sldId id="325" r:id="rId25"/>
    <p:sldId id="347" r:id="rId26"/>
    <p:sldId id="326" r:id="rId27"/>
    <p:sldId id="348" r:id="rId28"/>
    <p:sldId id="322" r:id="rId29"/>
    <p:sldId id="338" r:id="rId30"/>
    <p:sldId id="339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6A71"/>
    <a:srgbClr val="0098DB"/>
    <a:srgbClr val="00549F"/>
    <a:srgbClr val="A5AC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55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B732A-6E02-4561-945A-B49F4BA2A51F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D3BAE-4F56-4459-8115-F5FD78B47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996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D3BAE-4F56-4459-8115-F5FD78B47CC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146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D3BAE-4F56-4459-8115-F5FD78B47CC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5030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D3BAE-4F56-4459-8115-F5FD78B47CC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3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D3BAE-4F56-4459-8115-F5FD78B47CC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3095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D3BAE-4F56-4459-8115-F5FD78B47CC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5097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D3BAE-4F56-4459-8115-F5FD78B47CC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0474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D3BAE-4F56-4459-8115-F5FD78B47CC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4619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D3BAE-4F56-4459-8115-F5FD78B47CC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5137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D3BAE-4F56-4459-8115-F5FD78B47CC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3121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D3BAE-4F56-4459-8115-F5FD78B47CC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0394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D3BAE-4F56-4459-8115-F5FD78B47CC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2968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D3BAE-4F56-4459-8115-F5FD78B47CC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7275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D3BAE-4F56-4459-8115-F5FD78B47CC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8933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D3BAE-4F56-4459-8115-F5FD78B47CC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373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rgbClr val="5E6A7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3645024"/>
            <a:ext cx="6400800" cy="1752600"/>
          </a:xfrm>
        </p:spPr>
        <p:txBody>
          <a:bodyPr/>
          <a:lstStyle>
            <a:lvl1pPr marL="0" indent="0" algn="l">
              <a:buNone/>
              <a:defRPr i="1">
                <a:solidFill>
                  <a:srgbClr val="0098DB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19/03/2024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5424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19/03/2024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9858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5E6A7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0098DB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19/03/2024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2726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2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19/03/2024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7058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57190"/>
            <a:ext cx="3885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560" y="3068960"/>
            <a:ext cx="3885828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9446" y="2357190"/>
            <a:ext cx="38873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99446" y="3068960"/>
            <a:ext cx="3887354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19/03/2024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6782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19/03/2024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1938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19/03/2024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7922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67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420888"/>
            <a:ext cx="3008313" cy="37052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19/03/2024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0446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4800600"/>
            <a:ext cx="515496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23728" y="612775"/>
            <a:ext cx="515496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23728" y="5367338"/>
            <a:ext cx="515496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19/03/2024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8261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19/03/2024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3248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19/03/2024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52207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3645024"/>
            <a:ext cx="6400800" cy="1752600"/>
          </a:xfrm>
        </p:spPr>
        <p:txBody>
          <a:bodyPr/>
          <a:lstStyle>
            <a:lvl1pPr marL="0" indent="0" algn="l">
              <a:buNone/>
              <a:defRPr i="1">
                <a:solidFill>
                  <a:srgbClr val="5E6A7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19/03/2024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0623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19/03/2024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4248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5E6A7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19/03/2024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59164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2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19/03/2024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38995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57190"/>
            <a:ext cx="3885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560" y="3068960"/>
            <a:ext cx="3885828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9446" y="2357190"/>
            <a:ext cx="38873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99446" y="3068960"/>
            <a:ext cx="3887354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19/03/2024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1134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19/03/2024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48559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19/03/2024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78888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67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420888"/>
            <a:ext cx="3008313" cy="37052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19/03/2024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26301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4800600"/>
            <a:ext cx="515496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23728" y="612775"/>
            <a:ext cx="515496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23728" y="5367338"/>
            <a:ext cx="515496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19/03/2024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15278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19/03/2024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01034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19/03/2024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30257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73919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86544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3024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1560" y="1268760"/>
            <a:ext cx="8075240" cy="9989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48880"/>
            <a:ext cx="8075240" cy="3777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C1102FAE-FC2F-47FD-82A7-D1DD5A1AC3E3}" type="datetimeFigureOut">
              <a:rPr lang="en-GB" smtClean="0"/>
              <a:pPr/>
              <a:t>19/03/2024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91E7B16-C11D-48A6-9FE1-93A9A96AC7E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6284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0098DB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1560" y="1268760"/>
            <a:ext cx="8075240" cy="9989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48880"/>
            <a:ext cx="8075240" cy="3777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C1102FAE-FC2F-47FD-82A7-D1DD5A1AC3E3}" type="datetimeFigureOut">
              <a:rPr lang="en-GB" smtClean="0"/>
              <a:pPr/>
              <a:t>19/03/2024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91E7B16-C11D-48A6-9FE1-93A9A96AC7E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7437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6412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2131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0265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bc.co.uk/news/business-50431621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bbc.co.uk/news/business-50246329?intlink_from_url=https://www.bbc.co.uk/news/topics/c26xdm3zy39t/mergers-and-acquisitions&amp;link_location=live-reporting-story" TargetMode="External"/><Relationship Id="rId5" Type="http://schemas.openxmlformats.org/officeDocument/2006/relationships/hyperlink" Target="https://www.marketingweek.com/sainsburys-and-argos-merge-marketing-teams-with-new-cmo-role/" TargetMode="External"/><Relationship Id="rId4" Type="http://schemas.openxmlformats.org/officeDocument/2006/relationships/hyperlink" Target="https://www.bbc.co.uk/news/business-46135274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bc.co.uk/news/business-49140524?intlink_from_url=https://www.bbc.co.uk/news/topics/c26xdm3zy39t/mergers-and-acquisitions&amp;link_location=live-reporting-story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bbc.co.uk/news/business-53003664" TargetMode="External"/><Relationship Id="rId4" Type="http://schemas.openxmlformats.org/officeDocument/2006/relationships/hyperlink" Target="https://www.bbc.co.uk/news/business-51065886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Corporate Finance and Mergers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4275265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EE2EE-B0A2-8A65-6E94-59E4E2E56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Is a merger/acquisition a good idea?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44A4E-FBCC-8966-734C-0784FD3EE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Estimates vary, but the chance of a merger being successful is roughly 50%.</a:t>
            </a:r>
          </a:p>
          <a:p>
            <a:r>
              <a:rPr lang="en-GB" dirty="0"/>
              <a:t>Though they’re certainly popular with target shareholders who almost always earn a substantial premium on their share price.</a:t>
            </a:r>
          </a:p>
          <a:p>
            <a:r>
              <a:rPr lang="en-GB" dirty="0"/>
              <a:t>Not clear it’s such a good deal for acquirer shareholders.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7906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2E9E4-4E16-4274-8030-D8E505BBF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Company growth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ECF02-BAA3-44FC-847D-07E37F422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Motive</a:t>
            </a:r>
          </a:p>
          <a:p>
            <a:pPr lvl="1"/>
            <a:r>
              <a:rPr lang="en-GB" dirty="0"/>
              <a:t>Higher profits / Better returns</a:t>
            </a:r>
          </a:p>
          <a:p>
            <a:pPr lvl="1"/>
            <a:r>
              <a:rPr lang="en-GB" dirty="0"/>
              <a:t>Market share</a:t>
            </a:r>
          </a:p>
          <a:p>
            <a:pPr lvl="1"/>
            <a:r>
              <a:rPr lang="en-GB" dirty="0"/>
              <a:t>Status</a:t>
            </a:r>
          </a:p>
          <a:p>
            <a:pPr lvl="1"/>
            <a:r>
              <a:rPr lang="en-GB" dirty="0"/>
              <a:t>Power</a:t>
            </a:r>
          </a:p>
          <a:p>
            <a:pPr lvl="1"/>
            <a:r>
              <a:rPr lang="en-GB" dirty="0"/>
              <a:t>Economies of scale</a:t>
            </a:r>
          </a:p>
          <a:p>
            <a:pPr lvl="1"/>
            <a:r>
              <a:rPr lang="en-GB" dirty="0"/>
              <a:t>Diversification</a:t>
            </a:r>
          </a:p>
          <a:p>
            <a:r>
              <a:rPr lang="en-GB" dirty="0"/>
              <a:t>Shareholder demand</a:t>
            </a:r>
          </a:p>
          <a:p>
            <a:r>
              <a:rPr lang="en-GB" dirty="0"/>
              <a:t>Investor demand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975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D96D1-5412-CE4B-0602-2C05722C3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Comment on Slide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0D3DD-808C-FC84-2712-79A7F5E8F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Diversification is controversial. Shareholder can hold their own diversified portfolio without premium.</a:t>
            </a:r>
          </a:p>
          <a:p>
            <a:r>
              <a:rPr lang="en-GB" dirty="0"/>
              <a:t>M and A may also be for reasons of managerial over-confidence (hubris) or managerial cynicism (agency).</a:t>
            </a:r>
          </a:p>
          <a:p>
            <a:r>
              <a:rPr lang="en-GB" dirty="0"/>
              <a:t>Activist shareholders are keen to sell to get the premium</a:t>
            </a:r>
          </a:p>
        </p:txBody>
      </p:sp>
    </p:spTree>
    <p:extLst>
      <p:ext uri="{BB962C8B-B14F-4D97-AF65-F5344CB8AC3E}">
        <p14:creationId xmlns:p14="http://schemas.microsoft.com/office/powerpoint/2010/main" val="2741622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5487D-82EC-4B60-8E8F-C8CF5C4D4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Constraints on growth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AA16F-3ADD-434D-B7A0-506F24ED6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Regulation</a:t>
            </a:r>
          </a:p>
          <a:p>
            <a:pPr lvl="1"/>
            <a:r>
              <a:rPr lang="en-GB" dirty="0"/>
              <a:t>Competition and Markets Authority (CMA) </a:t>
            </a:r>
          </a:p>
          <a:p>
            <a:r>
              <a:rPr lang="en-GB" dirty="0"/>
              <a:t>Finance</a:t>
            </a:r>
          </a:p>
          <a:p>
            <a:pPr lvl="1"/>
            <a:r>
              <a:rPr lang="en-GB" dirty="0"/>
              <a:t>Equity </a:t>
            </a:r>
          </a:p>
          <a:p>
            <a:pPr lvl="1"/>
            <a:r>
              <a:rPr lang="en-GB" dirty="0"/>
              <a:t>Debt finance</a:t>
            </a:r>
          </a:p>
          <a:p>
            <a:r>
              <a:rPr lang="en-GB" dirty="0"/>
              <a:t>Competition</a:t>
            </a:r>
          </a:p>
          <a:p>
            <a:pPr lvl="1"/>
            <a:r>
              <a:rPr lang="en-GB" dirty="0"/>
              <a:t>Barriers to entry</a:t>
            </a:r>
          </a:p>
          <a:p>
            <a:r>
              <a:rPr lang="en-GB" dirty="0"/>
              <a:t>Demand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086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99138-1EE1-883C-AAE1-36D6D1306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Referral to Regulator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F0C15-B21E-FA91-ECB1-082BD3B37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possible problem is that the merger may be seen as anti-competitive and be referred to the regulator such as the CMA.</a:t>
            </a:r>
          </a:p>
          <a:p>
            <a:r>
              <a:rPr lang="en-GB" dirty="0"/>
              <a:t>The acquiring firm will need to know how it is going to pay. Can use cash surplus, borrowing or acquiring firm shares.</a:t>
            </a:r>
          </a:p>
        </p:txBody>
      </p:sp>
    </p:spTree>
    <p:extLst>
      <p:ext uri="{BB962C8B-B14F-4D97-AF65-F5344CB8AC3E}">
        <p14:creationId xmlns:p14="http://schemas.microsoft.com/office/powerpoint/2010/main" val="2532346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Merger &amp; Acquisitions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May be the optimal solution</a:t>
            </a:r>
          </a:p>
          <a:p>
            <a:r>
              <a:rPr lang="en-GB" dirty="0"/>
              <a:t>Company combinations</a:t>
            </a:r>
          </a:p>
          <a:p>
            <a:pPr lvl="1"/>
            <a:r>
              <a:rPr lang="en-GB" dirty="0"/>
              <a:t>Consolidation of organisations</a:t>
            </a:r>
          </a:p>
          <a:p>
            <a:pPr lvl="1"/>
            <a:r>
              <a:rPr lang="en-GB" dirty="0"/>
              <a:t>Consolidation of assets</a:t>
            </a:r>
          </a:p>
          <a:p>
            <a:pPr lvl="1"/>
            <a:r>
              <a:rPr lang="en-GB" dirty="0"/>
              <a:t>Merger</a:t>
            </a:r>
          </a:p>
          <a:p>
            <a:pPr lvl="1"/>
            <a:r>
              <a:rPr lang="en-GB" dirty="0"/>
              <a:t>Acquisition</a:t>
            </a:r>
          </a:p>
          <a:p>
            <a:pPr lvl="1"/>
            <a:r>
              <a:rPr lang="en-GB" dirty="0"/>
              <a:t>Tender offers</a:t>
            </a:r>
          </a:p>
          <a:p>
            <a:pPr marL="457200" lvl="1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4112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27EAE-7F3B-D60D-E41E-B3ED24472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Comment on Previous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DE076-189D-FC3E-F104-4EE0077E3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There are very few genuine consolidating mergers of equal partners. In almost all cases a (usually larger) Acquirer takes over a (usually smaller) Target.</a:t>
            </a:r>
          </a:p>
          <a:p>
            <a:r>
              <a:rPr lang="en-GB" dirty="0"/>
              <a:t>A tender offer is a conditional offer to buy out the target shareholders – often associated with a hostile bid.</a:t>
            </a:r>
          </a:p>
        </p:txBody>
      </p:sp>
    </p:spTree>
    <p:extLst>
      <p:ext uri="{BB962C8B-B14F-4D97-AF65-F5344CB8AC3E}">
        <p14:creationId xmlns:p14="http://schemas.microsoft.com/office/powerpoint/2010/main" val="2097461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Business combinations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2267744"/>
            <a:ext cx="8075240" cy="3777283"/>
          </a:xfrm>
        </p:spPr>
        <p:txBody>
          <a:bodyPr/>
          <a:lstStyle/>
          <a:p>
            <a:r>
              <a:rPr lang="en-GB" dirty="0"/>
              <a:t>Portfolio strategy</a:t>
            </a:r>
          </a:p>
          <a:p>
            <a:r>
              <a:rPr lang="en-GB" dirty="0"/>
              <a:t>Business Family Strategy</a:t>
            </a:r>
          </a:p>
          <a:p>
            <a:r>
              <a:rPr lang="en-GB" dirty="0"/>
              <a:t>Business Element Strategy</a:t>
            </a:r>
          </a:p>
          <a:p>
            <a:r>
              <a:rPr lang="en-GB" dirty="0"/>
              <a:t>Horizontal combinations</a:t>
            </a:r>
          </a:p>
          <a:p>
            <a:r>
              <a:rPr lang="en-GB" dirty="0"/>
              <a:t>Vertical combinations</a:t>
            </a:r>
          </a:p>
          <a:p>
            <a:r>
              <a:rPr lang="en-GB" dirty="0"/>
              <a:t>Concentric combinations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0303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79241-4DD9-94E4-4B26-2506F5C92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Merger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FCEBA-F314-A44E-52ED-76E937CF6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Portfolio – i.e. Conglomerate – unrelated takeover.</a:t>
            </a:r>
          </a:p>
          <a:p>
            <a:r>
              <a:rPr lang="en-GB" dirty="0"/>
              <a:t>Horizontal – Firms in same industry</a:t>
            </a:r>
          </a:p>
          <a:p>
            <a:r>
              <a:rPr lang="en-GB" dirty="0"/>
              <a:t>Vertical – Take over firm in supply chain  - nearer source of supply or towards retail end.</a:t>
            </a:r>
          </a:p>
          <a:p>
            <a:r>
              <a:rPr lang="en-GB" dirty="0"/>
              <a:t>Horizontal is easiest and most likely to be successful</a:t>
            </a:r>
          </a:p>
        </p:txBody>
      </p:sp>
    </p:spTree>
    <p:extLst>
      <p:ext uri="{BB962C8B-B14F-4D97-AF65-F5344CB8AC3E}">
        <p14:creationId xmlns:p14="http://schemas.microsoft.com/office/powerpoint/2010/main" val="2920978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7F955-6881-44EC-BED4-278DE010C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Practical steps	(simplified)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67B58-AE0F-4345-AC31-CE8CF6200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Acquisition strategy </a:t>
            </a:r>
          </a:p>
          <a:p>
            <a:r>
              <a:rPr lang="en-GB" dirty="0"/>
              <a:t>Identify target</a:t>
            </a:r>
          </a:p>
          <a:p>
            <a:r>
              <a:rPr lang="en-GB" dirty="0"/>
              <a:t>Planning &amp; analysis</a:t>
            </a:r>
          </a:p>
          <a:p>
            <a:r>
              <a:rPr lang="en-GB" dirty="0"/>
              <a:t>Due diligence</a:t>
            </a:r>
          </a:p>
          <a:p>
            <a:r>
              <a:rPr lang="en-GB" dirty="0"/>
              <a:t>Negotiate</a:t>
            </a:r>
          </a:p>
          <a:p>
            <a:r>
              <a:rPr lang="en-GB" dirty="0"/>
              <a:t>Finance (detailed)</a:t>
            </a:r>
          </a:p>
          <a:p>
            <a:r>
              <a:rPr lang="en-GB" dirty="0"/>
              <a:t>Integrate</a:t>
            </a:r>
          </a:p>
          <a:p>
            <a:endParaRPr lang="en-GB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361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45917-1B33-7BAD-FA7A-4F92492B8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Is it as smooth as that 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2C697-32F2-00C1-0F27-6ABBE0CCB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Due diligence is supposed to be done, but it may be missed.</a:t>
            </a:r>
          </a:p>
          <a:p>
            <a:r>
              <a:rPr lang="en-GB" dirty="0"/>
              <a:t>Full information may simply not be available in hostile merger.</a:t>
            </a:r>
          </a:p>
          <a:p>
            <a:r>
              <a:rPr lang="en-GB" dirty="0"/>
              <a:t>Integration can throw up all sorts of problems which are hard to anticipate in advance.</a:t>
            </a:r>
          </a:p>
        </p:txBody>
      </p:sp>
    </p:spTree>
    <p:extLst>
      <p:ext uri="{BB962C8B-B14F-4D97-AF65-F5344CB8AC3E}">
        <p14:creationId xmlns:p14="http://schemas.microsoft.com/office/powerpoint/2010/main" val="11867715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B5F50-B215-4FD7-8DE6-90D44D64B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Mergers and Acquisitions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F0E0B-D85B-49A9-B334-50C6BD56A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Combination of companies</a:t>
            </a:r>
          </a:p>
          <a:p>
            <a:r>
              <a:rPr lang="en-GB" dirty="0"/>
              <a:t>Merger</a:t>
            </a:r>
          </a:p>
          <a:p>
            <a:pPr lvl="1"/>
            <a:r>
              <a:rPr lang="en-GB" dirty="0"/>
              <a:t>Combination of two organisations</a:t>
            </a:r>
          </a:p>
          <a:p>
            <a:r>
              <a:rPr lang="en-GB" dirty="0"/>
              <a:t>Acquisition</a:t>
            </a:r>
          </a:p>
          <a:p>
            <a:pPr lvl="1"/>
            <a:r>
              <a:rPr lang="en-GB" dirty="0"/>
              <a:t>One company acquires another</a:t>
            </a:r>
          </a:p>
        </p:txBody>
      </p:sp>
    </p:spTree>
    <p:extLst>
      <p:ext uri="{BB962C8B-B14F-4D97-AF65-F5344CB8AC3E}">
        <p14:creationId xmlns:p14="http://schemas.microsoft.com/office/powerpoint/2010/main" val="3545497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Mergers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Timing</a:t>
            </a:r>
          </a:p>
          <a:p>
            <a:r>
              <a:rPr lang="en-GB" dirty="0"/>
              <a:t>Merger activity is very pro cyclical and most business tends to occur in the upswing of the cycle.</a:t>
            </a:r>
          </a:p>
        </p:txBody>
      </p:sp>
    </p:spTree>
    <p:extLst>
      <p:ext uri="{BB962C8B-B14F-4D97-AF65-F5344CB8AC3E}">
        <p14:creationId xmlns:p14="http://schemas.microsoft.com/office/powerpoint/2010/main" val="4048241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Acquisitions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Acquisition target</a:t>
            </a:r>
          </a:p>
          <a:p>
            <a:pPr lvl="1"/>
            <a:r>
              <a:rPr lang="en-GB" dirty="0"/>
              <a:t>Narrowing the search</a:t>
            </a:r>
          </a:p>
          <a:p>
            <a:r>
              <a:rPr lang="en-GB" dirty="0"/>
              <a:t>Financial reviews</a:t>
            </a:r>
          </a:p>
          <a:p>
            <a:r>
              <a:rPr lang="en-GB" dirty="0"/>
              <a:t>Culture and organisation</a:t>
            </a:r>
          </a:p>
          <a:p>
            <a:r>
              <a:rPr lang="en-GB" dirty="0"/>
              <a:t>Target nature</a:t>
            </a:r>
          </a:p>
          <a:p>
            <a:pPr lvl="1"/>
            <a:r>
              <a:rPr lang="en-GB" dirty="0"/>
              <a:t>Aggressive</a:t>
            </a:r>
          </a:p>
          <a:p>
            <a:pPr lvl="1"/>
            <a:r>
              <a:rPr lang="en-GB" dirty="0"/>
              <a:t>Friendly</a:t>
            </a:r>
          </a:p>
          <a:p>
            <a:pPr lvl="1"/>
            <a:r>
              <a:rPr lang="en-GB" dirty="0" err="1"/>
              <a:t>opportunisitic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57579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018BF-E12D-A0F0-8BFE-A385ED3D9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Deal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8FD21-CC88-D71E-E3EE-50743B318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Best type of deal is a friendly one</a:t>
            </a:r>
          </a:p>
          <a:p>
            <a:r>
              <a:rPr lang="en-GB" dirty="0"/>
              <a:t>Acquirer may put pressure on Target through a highly publicised expression of interest including a price premium to tempt Target shareholders.</a:t>
            </a:r>
          </a:p>
          <a:p>
            <a:r>
              <a:rPr lang="en-GB" dirty="0"/>
              <a:t>This is known as Bear Hug</a:t>
            </a:r>
          </a:p>
          <a:p>
            <a:r>
              <a:rPr lang="en-GB" dirty="0"/>
              <a:t>Otherwise, Hostile Bid where company is bought directly from shareholder without management approval.</a:t>
            </a:r>
          </a:p>
        </p:txBody>
      </p:sp>
    </p:spTree>
    <p:extLst>
      <p:ext uri="{BB962C8B-B14F-4D97-AF65-F5344CB8AC3E}">
        <p14:creationId xmlns:p14="http://schemas.microsoft.com/office/powerpoint/2010/main" val="10975639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Alternatives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Joint ventures</a:t>
            </a:r>
          </a:p>
          <a:p>
            <a:r>
              <a:rPr lang="en-GB" dirty="0"/>
              <a:t>Strategic alliances</a:t>
            </a:r>
          </a:p>
          <a:p>
            <a:r>
              <a:rPr lang="en-GB" dirty="0"/>
              <a:t>Minority investments</a:t>
            </a:r>
          </a:p>
          <a:p>
            <a:r>
              <a:rPr lang="en-GB" dirty="0"/>
              <a:t>Venture capital</a:t>
            </a:r>
          </a:p>
          <a:p>
            <a:r>
              <a:rPr lang="en-GB" dirty="0"/>
              <a:t>Licence agreements</a:t>
            </a:r>
          </a:p>
        </p:txBody>
      </p:sp>
    </p:spTree>
    <p:extLst>
      <p:ext uri="{BB962C8B-B14F-4D97-AF65-F5344CB8AC3E}">
        <p14:creationId xmlns:p14="http://schemas.microsoft.com/office/powerpoint/2010/main" val="22126568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779C0-0D79-454C-8B0F-ACD19FC41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Comment on the previous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08C15-9F0C-39CA-B16C-AE3E3A86F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It is surprising that the foregoing such as Joint Ventures and Strategic Alliance are not used more often given the high failure rate of Acquisition</a:t>
            </a:r>
          </a:p>
          <a:p>
            <a:r>
              <a:rPr lang="en-GB" dirty="0"/>
              <a:t>Much the same strategic objectives might be achieved. </a:t>
            </a:r>
            <a:r>
              <a:rPr lang="en-GB" dirty="0" err="1"/>
              <a:t>Eg</a:t>
            </a:r>
            <a:r>
              <a:rPr lang="en-GB" dirty="0"/>
              <a:t> Economies of scale.</a:t>
            </a:r>
          </a:p>
        </p:txBody>
      </p:sp>
    </p:spTree>
    <p:extLst>
      <p:ext uri="{BB962C8B-B14F-4D97-AF65-F5344CB8AC3E}">
        <p14:creationId xmlns:p14="http://schemas.microsoft.com/office/powerpoint/2010/main" val="31753176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Intrinsic valuation</a:t>
            </a:r>
          </a:p>
          <a:p>
            <a:pPr lvl="1"/>
            <a:r>
              <a:rPr lang="en-GB" dirty="0"/>
              <a:t>Underlying value</a:t>
            </a:r>
          </a:p>
          <a:p>
            <a:pPr lvl="1"/>
            <a:r>
              <a:rPr lang="en-GB" dirty="0"/>
              <a:t>Future expected cash flows</a:t>
            </a:r>
          </a:p>
          <a:p>
            <a:r>
              <a:rPr lang="en-GB" dirty="0"/>
              <a:t>Acquisition value</a:t>
            </a:r>
          </a:p>
          <a:p>
            <a:pPr lvl="1"/>
            <a:r>
              <a:rPr lang="en-GB" dirty="0"/>
              <a:t>Relative worth</a:t>
            </a:r>
          </a:p>
          <a:p>
            <a:pPr lvl="1"/>
            <a:r>
              <a:rPr lang="en-GB" dirty="0"/>
              <a:t>Perceived value</a:t>
            </a:r>
          </a:p>
          <a:p>
            <a:r>
              <a:rPr lang="en-GB" dirty="0"/>
              <a:t>Liquidation and replacement value</a:t>
            </a:r>
          </a:p>
          <a:p>
            <a:pPr lvl="1"/>
            <a:r>
              <a:rPr lang="en-GB" dirty="0"/>
              <a:t>Asset valuation</a:t>
            </a:r>
          </a:p>
        </p:txBody>
      </p:sp>
    </p:spTree>
    <p:extLst>
      <p:ext uri="{BB962C8B-B14F-4D97-AF65-F5344CB8AC3E}">
        <p14:creationId xmlns:p14="http://schemas.microsoft.com/office/powerpoint/2010/main" val="16002164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8744B-038F-9419-552C-813D1F436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F7C29-FA73-A1AE-7D7F-770053CB4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principle, the firm should be valued on the basis of the discounted cash flow it’s expected to generate.</a:t>
            </a:r>
          </a:p>
          <a:p>
            <a:r>
              <a:rPr lang="en-GB" dirty="0"/>
              <a:t>In practice that may be difficult.</a:t>
            </a:r>
          </a:p>
          <a:p>
            <a:r>
              <a:rPr lang="en-GB" dirty="0"/>
              <a:t>A possible starting point is Net Asset Value.</a:t>
            </a:r>
          </a:p>
        </p:txBody>
      </p:sp>
    </p:spTree>
    <p:extLst>
      <p:ext uri="{BB962C8B-B14F-4D97-AF65-F5344CB8AC3E}">
        <p14:creationId xmlns:p14="http://schemas.microsoft.com/office/powerpoint/2010/main" val="31387920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EBB26-7DB8-4798-A1FA-347C137F8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816" y="44624"/>
            <a:ext cx="5184576" cy="998984"/>
          </a:xfrm>
        </p:spPr>
        <p:txBody>
          <a:bodyPr/>
          <a:lstStyle/>
          <a:p>
            <a:r>
              <a:rPr lang="en-GB" dirty="0"/>
              <a:t>M&amp;A Case Studies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75E0F-FE7A-4F58-9D9B-36355E37B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412776"/>
            <a:ext cx="8075240" cy="4896544"/>
          </a:xfrm>
        </p:spPr>
        <p:txBody>
          <a:bodyPr>
            <a:normAutofit fontScale="62500" lnSpcReduction="20000"/>
          </a:bodyPr>
          <a:lstStyle/>
          <a:p>
            <a:r>
              <a:rPr lang="en-GB" dirty="0"/>
              <a:t>Lloyds acquisition of </a:t>
            </a:r>
            <a:r>
              <a:rPr lang="en-GB" dirty="0" err="1"/>
              <a:t>HBoS</a:t>
            </a:r>
            <a:r>
              <a:rPr lang="en-GB" dirty="0"/>
              <a:t> – legal ruling eventually in November 2019</a:t>
            </a:r>
          </a:p>
          <a:p>
            <a:endParaRPr lang="en-GB" dirty="0"/>
          </a:p>
          <a:p>
            <a:r>
              <a:rPr lang="en-US" dirty="0">
                <a:hlinkClick r:id="rId3"/>
              </a:rPr>
              <a:t>https://www.bbc.co.uk/news/business-50431621</a:t>
            </a:r>
            <a:endParaRPr lang="en-US" dirty="0"/>
          </a:p>
          <a:p>
            <a:endParaRPr lang="en-GB" dirty="0"/>
          </a:p>
          <a:p>
            <a:r>
              <a:rPr lang="en-GB" dirty="0" err="1"/>
              <a:t>Sainsburys</a:t>
            </a:r>
            <a:r>
              <a:rPr lang="en-GB" dirty="0"/>
              <a:t> Group </a:t>
            </a:r>
          </a:p>
          <a:p>
            <a:pPr lvl="1"/>
            <a:r>
              <a:rPr lang="en-GB" dirty="0"/>
              <a:t>acquisition of Argos</a:t>
            </a:r>
          </a:p>
          <a:p>
            <a:pPr lvl="1"/>
            <a:r>
              <a:rPr lang="en-US" dirty="0">
                <a:hlinkClick r:id="rId4"/>
              </a:rPr>
              <a:t>https://www.bbc.co.uk/news/business-46135274</a:t>
            </a:r>
            <a:endParaRPr lang="en-US" dirty="0"/>
          </a:p>
          <a:p>
            <a:pPr lvl="1"/>
            <a:r>
              <a:rPr lang="en-GB" dirty="0"/>
              <a:t>failed merger with ASDA – blocked 2019</a:t>
            </a:r>
          </a:p>
          <a:p>
            <a:pPr lvl="1"/>
            <a:r>
              <a:rPr lang="en-US" dirty="0">
                <a:hlinkClick r:id="rId5"/>
              </a:rPr>
              <a:t>https://www.marketingweek.com/sainsburys-and-argos-merge-marketing-teams-with-new-cmo-role/</a:t>
            </a:r>
            <a:endParaRPr lang="en-US" dirty="0"/>
          </a:p>
          <a:p>
            <a:pPr lvl="1"/>
            <a:r>
              <a:rPr lang="en-GB" dirty="0"/>
              <a:t>Current rumoured sales of the banking arm 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Fiat Chrysler and Vauxhall 2019</a:t>
            </a:r>
          </a:p>
          <a:p>
            <a:r>
              <a:rPr lang="en-US" dirty="0">
                <a:hlinkClick r:id="rId6"/>
              </a:rPr>
              <a:t>https://www.bbc.co.uk/news/business-50246329?intlink_from_url=https://www.bbc.co.uk/news/topics/c26xdm3zy39t/mergers-and-acquisitions&amp;link_location=live-reporting-story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5222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EBB26-7DB8-4798-A1FA-347C137F8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816" y="44624"/>
            <a:ext cx="5184576" cy="998984"/>
          </a:xfrm>
        </p:spPr>
        <p:txBody>
          <a:bodyPr/>
          <a:lstStyle/>
          <a:p>
            <a:r>
              <a:rPr lang="en-GB" dirty="0"/>
              <a:t>M&amp;A Case Studies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75E0F-FE7A-4F58-9D9B-36355E37B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412776"/>
            <a:ext cx="8075240" cy="4968552"/>
          </a:xfrm>
        </p:spPr>
        <p:txBody>
          <a:bodyPr>
            <a:normAutofit/>
          </a:bodyPr>
          <a:lstStyle/>
          <a:p>
            <a:r>
              <a:rPr lang="en-US" sz="2000" dirty="0"/>
              <a:t>Just Eat in merger talks with Takeaway.com July 2019</a:t>
            </a:r>
          </a:p>
          <a:p>
            <a:r>
              <a:rPr lang="en-US" sz="2000" dirty="0">
                <a:hlinkClick r:id="rId3"/>
              </a:rPr>
              <a:t>https://www.bbc.co.uk/news/business-49140524?intlink_from_url=https://www.bbc.co.uk/news/topics/c26xdm3zy39t/mergers-and-acquisitions&amp;link_location=live-reporting-story</a:t>
            </a:r>
            <a:endParaRPr lang="en-US" sz="2000" dirty="0"/>
          </a:p>
          <a:p>
            <a:r>
              <a:rPr lang="en-US" sz="2000" dirty="0"/>
              <a:t>Which was later on hold by CMA</a:t>
            </a:r>
          </a:p>
          <a:p>
            <a:r>
              <a:rPr lang="en-US" sz="2000" dirty="0"/>
              <a:t>Then reverse takeover by Takeaway January 2020</a:t>
            </a:r>
          </a:p>
          <a:p>
            <a:r>
              <a:rPr lang="en-US" sz="2000" dirty="0">
                <a:hlinkClick r:id="rId4"/>
              </a:rPr>
              <a:t>https://www.bbc.co.uk/news/business-51065886</a:t>
            </a:r>
            <a:endParaRPr lang="en-US" sz="2000" dirty="0"/>
          </a:p>
          <a:p>
            <a:r>
              <a:rPr lang="en-US" sz="2000" dirty="0"/>
              <a:t>Just Eat Takeaway to  US rival </a:t>
            </a:r>
            <a:r>
              <a:rPr lang="en-US" sz="2000" dirty="0" err="1"/>
              <a:t>Grubhub</a:t>
            </a:r>
            <a:r>
              <a:rPr lang="en-US" sz="2000" dirty="0"/>
              <a:t> June 2020</a:t>
            </a:r>
          </a:p>
          <a:p>
            <a:r>
              <a:rPr lang="en-US" sz="2000" dirty="0">
                <a:hlinkClick r:id="rId5"/>
              </a:rPr>
              <a:t>https://www.bbc.co.uk/news/business-53003664</a:t>
            </a:r>
            <a:endParaRPr lang="en-US" sz="2000" dirty="0"/>
          </a:p>
          <a:p>
            <a:r>
              <a:rPr lang="en-US" sz="2000" dirty="0"/>
              <a:t>Then a tie up with McDonalds and Greggs into the network (not ownership)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2491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1196752"/>
            <a:ext cx="8075240" cy="998984"/>
          </a:xfrm>
        </p:spPr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2348880"/>
            <a:ext cx="8075240" cy="3960440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Company growth and diversification may reach it’s maximum potential internally.</a:t>
            </a:r>
          </a:p>
          <a:p>
            <a:r>
              <a:rPr lang="en-GB" dirty="0"/>
              <a:t>Companies may seek to combine to grow, diversify or increase market share.</a:t>
            </a:r>
          </a:p>
          <a:p>
            <a:r>
              <a:rPr lang="en-GB" dirty="0"/>
              <a:t>Mergers occur when two organisations combine together.</a:t>
            </a:r>
          </a:p>
          <a:p>
            <a:r>
              <a:rPr lang="en-GB" dirty="0"/>
              <a:t>Acquisitions occur when one organisation takes over (or acquires) another.</a:t>
            </a:r>
          </a:p>
          <a:p>
            <a:r>
              <a:rPr lang="en-GB" dirty="0"/>
              <a:t>M&amp;A activities have varied since the start of the pandemic</a:t>
            </a:r>
          </a:p>
        </p:txBody>
      </p:sp>
    </p:spTree>
    <p:extLst>
      <p:ext uri="{BB962C8B-B14F-4D97-AF65-F5344CB8AC3E}">
        <p14:creationId xmlns:p14="http://schemas.microsoft.com/office/powerpoint/2010/main" val="307005606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A5ACAF"/>
      </a:accent2>
      <a:accent3>
        <a:srgbClr val="5E6A71"/>
      </a:accent3>
      <a:accent4>
        <a:srgbClr val="00549F"/>
      </a:accent4>
      <a:accent5>
        <a:srgbClr val="72BCFF"/>
      </a:accent5>
      <a:accent6>
        <a:srgbClr val="BCC3C7"/>
      </a:accent6>
      <a:hlink>
        <a:srgbClr val="0098DB"/>
      </a:hlink>
      <a:folHlink>
        <a:srgbClr val="A5ACA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A5ACAF"/>
      </a:accent2>
      <a:accent3>
        <a:srgbClr val="5E6A71"/>
      </a:accent3>
      <a:accent4>
        <a:srgbClr val="00549F"/>
      </a:accent4>
      <a:accent5>
        <a:srgbClr val="72BCFF"/>
      </a:accent5>
      <a:accent6>
        <a:srgbClr val="BCC3C7"/>
      </a:accent6>
      <a:hlink>
        <a:srgbClr val="0098DB"/>
      </a:hlink>
      <a:folHlink>
        <a:srgbClr val="A5ACA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4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5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E07C38512818468275603CD5E61BA0" ma:contentTypeVersion="0" ma:contentTypeDescription="Create a new document." ma:contentTypeScope="" ma:versionID="bffdf6d8b42402b1618094c717ddf4d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a1222beb234debe96d12a98d24ff8a0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C14F33-A9A2-48F1-A0A9-DB146E88F9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F7ACEBA-99EE-4B9A-99FE-F9695B41FA99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279AB7AB-D87E-4CE6-8813-9B5D560C3A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611</TotalTime>
  <Words>942</Words>
  <Application>Microsoft Office PowerPoint</Application>
  <PresentationFormat>On-screen Show (4:3)</PresentationFormat>
  <Paragraphs>156</Paragraphs>
  <Slides>23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Calibri</vt:lpstr>
      <vt:lpstr>Times New Roman</vt:lpstr>
      <vt:lpstr>1_Office Theme</vt:lpstr>
      <vt:lpstr>2_Office Theme</vt:lpstr>
      <vt:lpstr>4_Office Theme</vt:lpstr>
      <vt:lpstr>3_Office Theme</vt:lpstr>
      <vt:lpstr>5_Office Theme</vt:lpstr>
      <vt:lpstr>Corporate Finance and Mergers</vt:lpstr>
      <vt:lpstr>Is a merger/acquisition a good idea?</vt:lpstr>
      <vt:lpstr>Company growth</vt:lpstr>
      <vt:lpstr>Comment on Slide 3</vt:lpstr>
      <vt:lpstr>Constraints on growth</vt:lpstr>
      <vt:lpstr>Referral to Regulator</vt:lpstr>
      <vt:lpstr>Merger &amp; Acquisitions</vt:lpstr>
      <vt:lpstr>Comment on Previous Slide</vt:lpstr>
      <vt:lpstr>Business combinations strategies</vt:lpstr>
      <vt:lpstr>Types of Merger</vt:lpstr>
      <vt:lpstr>Practical steps (simplified)</vt:lpstr>
      <vt:lpstr>Is it as smooth as that in practice</vt:lpstr>
      <vt:lpstr>Mergers and Acquisitions</vt:lpstr>
      <vt:lpstr>Mergers</vt:lpstr>
      <vt:lpstr>Acquisitions</vt:lpstr>
      <vt:lpstr>Types of Deal</vt:lpstr>
      <vt:lpstr>Alternatives</vt:lpstr>
      <vt:lpstr>Comment on the previous slide</vt:lpstr>
      <vt:lpstr>Valuation</vt:lpstr>
      <vt:lpstr>Valuation</vt:lpstr>
      <vt:lpstr>M&amp;A Case Studies</vt:lpstr>
      <vt:lpstr>M&amp;A Case Studies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Iain McGeary</dc:creator>
  <cp:lastModifiedBy>Marney, John-Paul</cp:lastModifiedBy>
  <cp:revision>39</cp:revision>
  <dcterms:created xsi:type="dcterms:W3CDTF">2016-02-11T16:23:53Z</dcterms:created>
  <dcterms:modified xsi:type="dcterms:W3CDTF">2024-03-19T14:44:05Z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0x0101006EE07C38512818468275603CD5E61BA0</vt:lpwstr>
  </property>
</Properties>
</file>