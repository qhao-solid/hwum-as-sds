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8"/>
  </p:notesMasterIdLst>
  <p:sldIdLst>
    <p:sldId id="260" r:id="rId9"/>
    <p:sldId id="280" r:id="rId10"/>
    <p:sldId id="281" r:id="rId11"/>
    <p:sldId id="282" r:id="rId12"/>
    <p:sldId id="283" r:id="rId13"/>
    <p:sldId id="284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4" r:id="rId26"/>
    <p:sldId id="309" r:id="rId2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day Samuel" userId="60907d6f-4b11-420c-a99b-a33415433cfa" providerId="ADAL" clId="{8D809374-CF6E-4A55-9C79-C1CADB893AD2}"/>
    <pc:docChg chg="modSld">
      <pc:chgData name="Sunday Samuel" userId="60907d6f-4b11-420c-a99b-a33415433cfa" providerId="ADAL" clId="{8D809374-CF6E-4A55-9C79-C1CADB893AD2}" dt="2023-09-12T15:08:09.181" v="4" actId="255"/>
      <pc:docMkLst>
        <pc:docMk/>
      </pc:docMkLst>
      <pc:sldChg chg="modSp mod">
        <pc:chgData name="Sunday Samuel" userId="60907d6f-4b11-420c-a99b-a33415433cfa" providerId="ADAL" clId="{8D809374-CF6E-4A55-9C79-C1CADB893AD2}" dt="2023-09-12T15:08:09.181" v="4" actId="255"/>
        <pc:sldMkLst>
          <pc:docMk/>
          <pc:sldMk cId="258345348" sldId="260"/>
        </pc:sldMkLst>
        <pc:spChg chg="mod">
          <ac:chgData name="Sunday Samuel" userId="60907d6f-4b11-420c-a99b-a33415433cfa" providerId="ADAL" clId="{8D809374-CF6E-4A55-9C79-C1CADB893AD2}" dt="2023-09-12T15:08:09.181" v="4" actId="255"/>
          <ac:spMkLst>
            <pc:docMk/>
            <pc:sldMk cId="258345348" sldId="260"/>
            <ac:spMk id="3" creationId="{00000000-0000-0000-0000-000000000000}"/>
          </ac:spMkLst>
        </pc:spChg>
      </pc:sldChg>
      <pc:sldChg chg="modSp mod">
        <pc:chgData name="Sunday Samuel" userId="60907d6f-4b11-420c-a99b-a33415433cfa" providerId="ADAL" clId="{8D809374-CF6E-4A55-9C79-C1CADB893AD2}" dt="2023-09-12T11:19:42.771" v="1" actId="207"/>
        <pc:sldMkLst>
          <pc:docMk/>
          <pc:sldMk cId="3183401787" sldId="295"/>
        </pc:sldMkLst>
        <pc:spChg chg="mod">
          <ac:chgData name="Sunday Samuel" userId="60907d6f-4b11-420c-a99b-a33415433cfa" providerId="ADAL" clId="{8D809374-CF6E-4A55-9C79-C1CADB893AD2}" dt="2023-09-12T11:19:42.771" v="1" actId="207"/>
          <ac:spMkLst>
            <pc:docMk/>
            <pc:sldMk cId="3183401787" sldId="29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B7BE1-9A44-41C8-B680-83069919E6EE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C65E4-0BC6-4AEA-A0C3-FBDE9377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4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62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2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9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64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64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2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0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54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10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4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04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9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11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02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9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38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3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66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BC65E4-0BC6-4AEA-A0C3-FBDE93774A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22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12/09/2023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Accounting and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b="1" dirty="0"/>
              <a:t>Part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4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 of the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True and Fair view</a:t>
            </a:r>
          </a:p>
          <a:p>
            <a:r>
              <a:rPr lang="en-GB" dirty="0"/>
              <a:t>Requirement to produce accounting information in an approved format and timescale</a:t>
            </a:r>
          </a:p>
          <a:p>
            <a:r>
              <a:rPr lang="en-GB" dirty="0"/>
              <a:t>Do regulations guarantee anything?</a:t>
            </a:r>
          </a:p>
          <a:p>
            <a:r>
              <a:rPr lang="en-GB" dirty="0"/>
              <a:t>Do regulations cause their own problems?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42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052736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Sources of Accounting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2074049"/>
            <a:ext cx="784887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International Accounting Standards 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International Financial Reporting Standards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International Accounting Standards</a:t>
            </a:r>
          </a:p>
          <a:p>
            <a:pPr lvl="1"/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Company law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Disclosure of directors’ remuneration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Disclosure of auditors’ fees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Financial Conduct Authority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Compliance with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UK Corporate Governance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UK Corporate Governance Code sets out standards of good practice in relation to board leadership and effectiveness, remuneration, accountability and relations with shareholders.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48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81" y="1196752"/>
            <a:ext cx="490276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27584" y="182436"/>
            <a:ext cx="8229600" cy="8367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International Financial Reporting Standards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269393" y="1133549"/>
            <a:ext cx="4780692" cy="4617594"/>
          </a:xfrm>
          <a:prstGeom prst="wedgeRoundRectCallout">
            <a:avLst>
              <a:gd name="adj1" fmla="val -72493"/>
              <a:gd name="adj2" fmla="val 3056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The Group’s financial statements have been prepared in accordance with International Financial Reporting Standards (‘IFRSs’) as adopted by the European Union and International Financial Reporting</a:t>
            </a:r>
          </a:p>
          <a:p>
            <a:pPr algn="ct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Interpretations Committee (‘IFRICs’) interpretations and with those</a:t>
            </a:r>
          </a:p>
          <a:p>
            <a:pPr algn="ct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parts of the Companies Act 2006 applicable to companies reporting</a:t>
            </a:r>
          </a:p>
          <a:p>
            <a:pPr algn="ct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under IFRSs.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07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83592"/>
            <a:ext cx="3744416" cy="482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17240" y="275878"/>
            <a:ext cx="8229600" cy="8367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UK Corporate Governance Code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932040" y="4653136"/>
            <a:ext cx="3960440" cy="1377234"/>
          </a:xfrm>
          <a:prstGeom prst="wedgeRoundRectCallout">
            <a:avLst>
              <a:gd name="adj1" fmla="val -105600"/>
              <a:gd name="adj2" fmla="val 513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Sainsbury’s has again this year compiled with all provisions of the UK Corporate Governance 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01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20" y="1484784"/>
            <a:ext cx="7812360" cy="2141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144016"/>
            <a:ext cx="8229600" cy="8367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Company Law – additional disclosure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2411760" y="4005064"/>
            <a:ext cx="4824535" cy="1584176"/>
          </a:xfrm>
          <a:prstGeom prst="wedgeRoundRectCallout">
            <a:avLst>
              <a:gd name="adj1" fmla="val -578"/>
              <a:gd name="adj2" fmla="val -8283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Audit fees: 		£1,000,000</a:t>
            </a:r>
          </a:p>
          <a:p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Consultancy fees: 	£58,000</a:t>
            </a:r>
          </a:p>
          <a:p>
            <a:endParaRPr lang="en-GB" sz="2000" b="1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Independence?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0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9295" y="190853"/>
            <a:ext cx="8229600" cy="836712"/>
          </a:xfrm>
        </p:spPr>
        <p:txBody>
          <a:bodyPr/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</a:t>
            </a:r>
            <a:r>
              <a:rPr lang="en-GB" sz="3600" dirty="0">
                <a:latin typeface="Calibri" panose="020F0502020204030204" pitchFamily="34" charset="0"/>
              </a:rPr>
              <a:t>) 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3" name="Group 7"/>
          <p:cNvGrpSpPr/>
          <p:nvPr/>
        </p:nvGrpSpPr>
        <p:grpSpPr>
          <a:xfrm>
            <a:off x="1119808" y="1124744"/>
            <a:ext cx="4757464" cy="3395514"/>
            <a:chOff x="894656" y="975888"/>
            <a:chExt cx="4757464" cy="3395514"/>
          </a:xfrm>
        </p:grpSpPr>
        <p:sp>
          <p:nvSpPr>
            <p:cNvPr id="10" name="Rounded Rectangle 9"/>
            <p:cNvSpPr/>
            <p:nvPr/>
          </p:nvSpPr>
          <p:spPr>
            <a:xfrm>
              <a:off x="899592" y="975889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758752" y="1548052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Historic cost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94656" y="1549853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763688" y="2120216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Prudence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99592" y="2123817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763688" y="2692380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Going concern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592" y="2697781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763688" y="3264544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Dual aspect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9592" y="3271745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5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763688" y="3836708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Money measurement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99592" y="3845709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6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58752" y="975888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Business (company) entity</a:t>
              </a:r>
            </a:p>
          </p:txBody>
        </p:sp>
      </p:grpSp>
      <p:grpSp>
        <p:nvGrpSpPr>
          <p:cNvPr id="4" name="Group 30"/>
          <p:cNvGrpSpPr/>
          <p:nvPr/>
        </p:nvGrpSpPr>
        <p:grpSpPr>
          <a:xfrm>
            <a:off x="1145536" y="4557728"/>
            <a:ext cx="4761656" cy="1684424"/>
            <a:chOff x="894656" y="4408872"/>
            <a:chExt cx="4761656" cy="1684424"/>
          </a:xfrm>
        </p:grpSpPr>
        <p:sp>
          <p:nvSpPr>
            <p:cNvPr id="25" name="Rounded Rectangle 24"/>
            <p:cNvSpPr/>
            <p:nvPr/>
          </p:nvSpPr>
          <p:spPr>
            <a:xfrm>
              <a:off x="1758752" y="4408872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Consistency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94656" y="4419673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7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763688" y="4981036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Accruals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99592" y="4993637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8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767880" y="5553201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Realisation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03784" y="5567603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9</a:t>
              </a:r>
            </a:p>
          </p:txBody>
        </p:sp>
      </p:grpSp>
      <p:grpSp>
        <p:nvGrpSpPr>
          <p:cNvPr id="32" name="Group 30"/>
          <p:cNvGrpSpPr/>
          <p:nvPr/>
        </p:nvGrpSpPr>
        <p:grpSpPr>
          <a:xfrm>
            <a:off x="1154664" y="6264359"/>
            <a:ext cx="4752528" cy="540095"/>
            <a:chOff x="903784" y="5553201"/>
            <a:chExt cx="4752528" cy="540095"/>
          </a:xfrm>
        </p:grpSpPr>
        <p:sp>
          <p:nvSpPr>
            <p:cNvPr id="37" name="Rounded Rectangle 36"/>
            <p:cNvSpPr/>
            <p:nvPr/>
          </p:nvSpPr>
          <p:spPr>
            <a:xfrm>
              <a:off x="1767880" y="5553201"/>
              <a:ext cx="3888432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Materiality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03784" y="5567603"/>
              <a:ext cx="567680" cy="52569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solidFill>
                <a:schemeClr val="bg1"/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rgbClr val="7030A0"/>
                  </a:solidFill>
                  <a:latin typeface="Calibri" panose="020F0502020204030204" pitchFamily="34" charset="0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15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773448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1832100"/>
            <a:ext cx="7848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Business (company) 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</a:rPr>
              <a:t>Affairs of the business should be kept separately from those of the owners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</a:rPr>
              <a:t>When starting a business, open a separate business bank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7624" y="4323184"/>
            <a:ext cx="2232248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Owner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(wealth £2m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Oval 6"/>
          <p:cNvSpPr/>
          <p:nvPr/>
        </p:nvSpPr>
        <p:spPr>
          <a:xfrm>
            <a:off x="6479356" y="3681028"/>
            <a:ext cx="2160240" cy="21602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Company</a:t>
            </a:r>
          </a:p>
        </p:txBody>
      </p:sp>
      <p:cxnSp>
        <p:nvCxnSpPr>
          <p:cNvPr id="12" name="Straight Arrow Connector 11"/>
          <p:cNvCxnSpPr>
            <a:stCxn id="8" idx="3"/>
            <a:endCxn id="7" idx="2"/>
          </p:cNvCxnSpPr>
          <p:nvPr/>
        </p:nvCxnSpPr>
        <p:spPr>
          <a:xfrm>
            <a:off x="3419872" y="4719228"/>
            <a:ext cx="3059484" cy="4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37546" y="4149080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£20,000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7408" y="5115272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£20,000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417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748" y="322502"/>
            <a:ext cx="8229600" cy="836712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1449323"/>
            <a:ext cx="7848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Business (company) entity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</a:rPr>
              <a:t>Affairs of the business should be kept separately from those of the owners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</a:rPr>
              <a:t>When starting a business, open a separate business bank account</a:t>
            </a:r>
          </a:p>
        </p:txBody>
      </p:sp>
      <p:sp>
        <p:nvSpPr>
          <p:cNvPr id="7" name="Oval 6"/>
          <p:cNvSpPr/>
          <p:nvPr/>
        </p:nvSpPr>
        <p:spPr>
          <a:xfrm>
            <a:off x="6479356" y="3681028"/>
            <a:ext cx="2160240" cy="21602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</a:rPr>
              <a:t>Company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7624" y="3429000"/>
            <a:ext cx="2232248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Owner A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(wealth £2m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7624" y="4373488"/>
            <a:ext cx="2232248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Owner B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(wealth £10m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7624" y="5445224"/>
            <a:ext cx="2232248" cy="7920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Owner C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(wealth £100m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Straight Arrow Connector 11"/>
          <p:cNvCxnSpPr>
            <a:stCxn id="8" idx="3"/>
            <a:endCxn id="7" idx="2"/>
          </p:cNvCxnSpPr>
          <p:nvPr/>
        </p:nvCxnSpPr>
        <p:spPr>
          <a:xfrm>
            <a:off x="3419872" y="3825044"/>
            <a:ext cx="3059484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27984" y="3429000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£20,000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9" idx="3"/>
            <a:endCxn id="7" idx="2"/>
          </p:cNvCxnSpPr>
          <p:nvPr/>
        </p:nvCxnSpPr>
        <p:spPr>
          <a:xfrm flipV="1">
            <a:off x="3419872" y="4761148"/>
            <a:ext cx="3059484" cy="83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3"/>
            <a:endCxn id="7" idx="2"/>
          </p:cNvCxnSpPr>
          <p:nvPr/>
        </p:nvCxnSpPr>
        <p:spPr>
          <a:xfrm flipV="1">
            <a:off x="3419872" y="4761148"/>
            <a:ext cx="3059484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91880" y="4221088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£20,000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12828" y="5661248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£20,000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7408" y="5115272"/>
            <a:ext cx="1224136" cy="50405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£60,000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75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491722"/>
            <a:ext cx="8229600" cy="836712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55576" y="1522154"/>
            <a:ext cx="7848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Historic cost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Assets and liabilities should be recorded at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Not always rigidly adhered to – it can be acceptable to revalue non-current assets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For example: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A company bought 10 cameras from manufacturer @£300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Sold 6 units @£500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Now to replace the inventory,  manufacturer charges @£350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What is the value of the inventory (that is, the 4 units left)?</a:t>
            </a:r>
          </a:p>
          <a:p>
            <a:pPr marL="914400" lvl="1" indent="-457200">
              <a:buAutoNum type="arabicPeriod"/>
            </a:pPr>
            <a:r>
              <a:rPr lang="en-GB" sz="2000" dirty="0">
                <a:latin typeface="Calibri" panose="020F0502020204030204" pitchFamily="34" charset="0"/>
              </a:rPr>
              <a:t>£300 (historic cost) x 4 = £1,200 OR</a:t>
            </a:r>
          </a:p>
          <a:p>
            <a:pPr marL="914400" lvl="1" indent="-457200">
              <a:buAutoNum type="arabicPeriod"/>
            </a:pPr>
            <a:r>
              <a:rPr lang="en-GB" sz="2000" dirty="0">
                <a:latin typeface="Calibri" panose="020F0502020204030204" pitchFamily="34" charset="0"/>
              </a:rPr>
              <a:t>£350 (replacement cost) x 4 = £1,400</a:t>
            </a:r>
          </a:p>
          <a:p>
            <a:pPr marL="914400" lvl="1" indent="-457200">
              <a:buAutoNum type="arabicPeriod"/>
            </a:pPr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Historical cost basis: (1)</a:t>
            </a:r>
          </a:p>
        </p:txBody>
      </p:sp>
    </p:spTree>
    <p:extLst>
      <p:ext uri="{BB962C8B-B14F-4D97-AF65-F5344CB8AC3E}">
        <p14:creationId xmlns:p14="http://schemas.microsoft.com/office/powerpoint/2010/main" val="307096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28" y="1094090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2125536"/>
            <a:ext cx="78488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Historic cost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Assets and liabilities should be recorded at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Not always rigidly adhered to </a:t>
            </a:r>
            <a:r>
              <a:rPr lang="en-GB" sz="2000" dirty="0">
                <a:latin typeface="Calibri" panose="020F0502020204030204" pitchFamily="34" charset="0"/>
              </a:rPr>
              <a:t>– it can be acceptable to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revalue non-current assets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Exceptions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For example: A company bought a building worth £2.5m.  Now the market value is £3m.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What is the value of the building ?</a:t>
            </a:r>
          </a:p>
          <a:p>
            <a:pPr marL="914400" lvl="1" indent="-457200">
              <a:buAutoNum type="arabicPeriod"/>
            </a:pPr>
            <a:r>
              <a:rPr lang="en-GB" sz="2000" dirty="0">
                <a:latin typeface="Calibri" panose="020F0502020204030204" pitchFamily="34" charset="0"/>
              </a:rPr>
              <a:t>£2.5m (historic cost) OR</a:t>
            </a:r>
          </a:p>
          <a:p>
            <a:pPr marL="914400" lvl="1" indent="-457200">
              <a:buAutoNum type="arabicPeriod"/>
            </a:pPr>
            <a:r>
              <a:rPr lang="en-GB" sz="2000" dirty="0">
                <a:latin typeface="Calibri" panose="020F0502020204030204" pitchFamily="34" charset="0"/>
              </a:rPr>
              <a:t>£3m (based on revaluation)</a:t>
            </a:r>
          </a:p>
          <a:p>
            <a:pPr marL="914400" lvl="1" indent="-457200">
              <a:buAutoNum type="arabicPeriod"/>
            </a:pPr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Either is acceptable under accounting standards</a:t>
            </a:r>
          </a:p>
        </p:txBody>
      </p:sp>
    </p:spTree>
    <p:extLst>
      <p:ext uri="{BB962C8B-B14F-4D97-AF65-F5344CB8AC3E}">
        <p14:creationId xmlns:p14="http://schemas.microsoft.com/office/powerpoint/2010/main" val="3138764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736" y="188640"/>
            <a:ext cx="8229600" cy="836712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261659" y="1225689"/>
            <a:ext cx="78488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Prudence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</a:p>
          <a:p>
            <a:pPr marL="271463"/>
            <a:r>
              <a:rPr lang="en-GB" sz="2000" dirty="0">
                <a:latin typeface="Calibri" panose="020F0502020204030204" pitchFamily="34" charset="0"/>
              </a:rPr>
              <a:t>Accounts should present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least favourable view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Exercise caution when making accounting judgements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But being overly prudent could lead to poor decisions being made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Lower of cost and net realisable value</a:t>
            </a:r>
          </a:p>
          <a:p>
            <a:pPr lvl="2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For example,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A company buys &amp; sells cameras, has 5 units @£300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Scenario A: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Can sell for @£500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Value of inventory 	= £1,500 (5x£300)  OR £2,500 (5x£500) 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			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use £1,500 (historic cost)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Scenario B: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Cameras become obsolete, can only sell for @£250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Value of inventory 	= £1,500 (5x£300) OR £1,250 (5x£250)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			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use £1,250 (net realisable value)</a:t>
            </a:r>
          </a:p>
        </p:txBody>
      </p:sp>
    </p:spTree>
    <p:extLst>
      <p:ext uri="{BB962C8B-B14F-4D97-AF65-F5344CB8AC3E}">
        <p14:creationId xmlns:p14="http://schemas.microsoft.com/office/powerpoint/2010/main" val="379286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332656"/>
            <a:ext cx="8229600" cy="836712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1628800"/>
            <a:ext cx="7848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Going concern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Assumption that business will continue for the foreseeable future (usually 12 months)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If business is not considered a going-concern, accounting rules would have to be changed 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	E.g. writing down of assets, such as inventories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For example,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A company buys &amp; sells cameras, has 5 units @£300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It cannot meet the debt payments and has to liquidate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Quick sale of cameras: £200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What is the value of the inventory?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Historic cost =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£1,500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But going concern problem, therefore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= £200 (net realisable value) x 5</a:t>
            </a:r>
          </a:p>
          <a:p>
            <a:pPr lvl="1"/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= £1,000</a:t>
            </a:r>
          </a:p>
        </p:txBody>
      </p:sp>
    </p:spTree>
    <p:extLst>
      <p:ext uri="{BB962C8B-B14F-4D97-AF65-F5344CB8AC3E}">
        <p14:creationId xmlns:p14="http://schemas.microsoft.com/office/powerpoint/2010/main" val="3183401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235" y="956301"/>
            <a:ext cx="8229600" cy="836712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55576" y="1825671"/>
            <a:ext cx="78488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Dual aspect</a:t>
            </a:r>
          </a:p>
          <a:p>
            <a:pPr marL="271463"/>
            <a:r>
              <a:rPr lang="en-GB" sz="2000" dirty="0">
                <a:latin typeface="Calibri" panose="020F0502020204030204" pitchFamily="34" charset="0"/>
              </a:rPr>
              <a:t>Every transaction will affect two accounts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GB" sz="2000" dirty="0">
                <a:latin typeface="Calibri" panose="020F0502020204030204" pitchFamily="34" charset="0"/>
              </a:rPr>
              <a:t>A businessman starts a business by paying in £5,000 capital.</a:t>
            </a:r>
          </a:p>
          <a:p>
            <a:pPr marL="914400" lvl="1" indent="-457200">
              <a:buFont typeface="+mj-lt"/>
              <a:buAutoNum type="arabicPeriod"/>
            </a:pPr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Cash (ASSET) ↑£5,000	Share capital (EQUITY) ↑£5,000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marL="914400" lvl="1" indent="-457200">
              <a:buAutoNum type="arabicPeriod" startAt="2"/>
            </a:pPr>
            <a:r>
              <a:rPr lang="en-GB" sz="2000" dirty="0">
                <a:latin typeface="Calibri" panose="020F0502020204030204" pitchFamily="34" charset="0"/>
              </a:rPr>
              <a:t>The business pays £800 cash to purchase a stock of goods for resale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Cash (ASSET) ↓£800		Inventory (ASSET) ↑£800</a:t>
            </a:r>
          </a:p>
          <a:p>
            <a:pPr lvl="1"/>
            <a:endParaRPr lang="en-GB" sz="2000" dirty="0">
              <a:latin typeface="Calibri" panose="020F0502020204030204" pitchFamily="34" charset="0"/>
            </a:endParaRPr>
          </a:p>
          <a:p>
            <a:pPr marL="914400" lvl="1" indent="-457200">
              <a:buAutoNum type="arabicPeriod" startAt="3"/>
            </a:pPr>
            <a:r>
              <a:rPr lang="en-GB" sz="2000" dirty="0">
                <a:latin typeface="Calibri" panose="020F0502020204030204" pitchFamily="34" charset="0"/>
              </a:rPr>
              <a:t>An investor lends the business £2,000</a:t>
            </a:r>
          </a:p>
          <a:p>
            <a:pPr marL="914400" lvl="1" indent="-457200">
              <a:buAutoNum type="arabicPeriod" startAt="3"/>
            </a:pPr>
            <a:endParaRPr lang="en-GB" sz="2000" dirty="0">
              <a:latin typeface="Calibri" panose="020F0502020204030204" pitchFamily="34" charset="0"/>
            </a:endParaRPr>
          </a:p>
          <a:p>
            <a:pPr lvl="1"/>
            <a:r>
              <a:rPr lang="en-GB" sz="2000" dirty="0">
                <a:latin typeface="Calibri" panose="020F0502020204030204" pitchFamily="34" charset="0"/>
              </a:rPr>
              <a:t>Cash (ASSET) ↑£2,000	Loan (LIABILITIES) ↑£2,000</a:t>
            </a:r>
          </a:p>
        </p:txBody>
      </p:sp>
    </p:spTree>
    <p:extLst>
      <p:ext uri="{BB962C8B-B14F-4D97-AF65-F5344CB8AC3E}">
        <p14:creationId xmlns:p14="http://schemas.microsoft.com/office/powerpoint/2010/main" val="144745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564" y="1124744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7564" y="2348880"/>
                <a:ext cx="784887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1" dirty="0">
                    <a:solidFill>
                      <a:srgbClr val="7030A0"/>
                    </a:solidFill>
                    <a:latin typeface="Calibri" panose="020F0502020204030204" pitchFamily="34" charset="0"/>
                  </a:rPr>
                  <a:t>Dual aspect</a:t>
                </a:r>
              </a:p>
              <a:p>
                <a:pPr marL="271463"/>
                <a:r>
                  <a:rPr lang="en-GB" sz="2000" dirty="0">
                    <a:latin typeface="Calibri" panose="020F0502020204030204" pitchFamily="34" charset="0"/>
                  </a:rPr>
                  <a:t>Every transaction will affect two accounts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GB" sz="2000" dirty="0">
                  <a:latin typeface="Calibri" panose="020F0502020204030204" pitchFamily="34" charset="0"/>
                </a:endParaRPr>
              </a:p>
              <a:p>
                <a:pPr marL="901700" lvl="1" indent="-444500"/>
                <a:r>
                  <a:rPr lang="en-GB" sz="2000" dirty="0">
                    <a:latin typeface="Calibri" panose="020F0502020204030204" pitchFamily="34" charset="0"/>
                  </a:rPr>
                  <a:t>4.	The business sells £100 worth of stock to a customer who will pay next month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sz="2000" dirty="0">
                  <a:latin typeface="Calibri" panose="020F0502020204030204" pitchFamily="34" charset="0"/>
                </a:endParaRPr>
              </a:p>
              <a:p>
                <a:pPr lvl="1"/>
                <a:r>
                  <a:rPr lang="en-GB" sz="2000" dirty="0">
                    <a:latin typeface="Calibri" panose="020F0502020204030204" pitchFamily="34" charset="0"/>
                  </a:rPr>
                  <a:t>Trade receivables (ASSET)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↑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</a:rPr>
                  <a:t>£100	 Profit - Sales (EQUITY)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↑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</a:rPr>
                  <a:t>£100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sz="2000" dirty="0">
                  <a:latin typeface="Calibri" panose="020F0502020204030204" pitchFamily="34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endParaRPr lang="en-GB" sz="2000" dirty="0">
                  <a:latin typeface="Calibri" panose="020F0502020204030204" pitchFamily="34" charset="0"/>
                </a:endParaRPr>
              </a:p>
              <a:p>
                <a:pPr marL="914400" lvl="1" indent="-457200">
                  <a:buAutoNum type="arabicPeriod" startAt="5"/>
                </a:pPr>
                <a:r>
                  <a:rPr lang="en-GB" sz="2000" dirty="0">
                    <a:latin typeface="Calibri" panose="020F0502020204030204" pitchFamily="34" charset="0"/>
                  </a:rPr>
                  <a:t>The above customer pays cash for the goods</a:t>
                </a:r>
              </a:p>
              <a:p>
                <a:pPr marL="914400" lvl="1" indent="-457200">
                  <a:buAutoNum type="arabicPeriod" startAt="5"/>
                </a:pPr>
                <a:endParaRPr lang="en-GB" sz="2000" dirty="0">
                  <a:latin typeface="Calibri" panose="020F0502020204030204" pitchFamily="34" charset="0"/>
                </a:endParaRPr>
              </a:p>
              <a:p>
                <a:pPr lvl="1"/>
                <a:r>
                  <a:rPr lang="en-GB" sz="2000" dirty="0">
                    <a:latin typeface="Calibri" panose="020F0502020204030204" pitchFamily="34" charset="0"/>
                  </a:rPr>
                  <a:t>Cash (ASSET)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↑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</a:rPr>
                  <a:t>£100		Trade receivables (ASSET) ↓£100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2348880"/>
                <a:ext cx="7848872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699" t="-805" b="-19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17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263" y="1412776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2636912"/>
            <a:ext cx="78488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Money measurement</a:t>
            </a:r>
          </a:p>
          <a:p>
            <a:pPr marL="271463"/>
            <a:r>
              <a:rPr lang="en-GB" sz="2400" dirty="0">
                <a:latin typeface="Calibri" panose="020F0502020204030204" pitchFamily="34" charset="0"/>
              </a:rPr>
              <a:t>Accounts are restricted to matters which can be measured in money terms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Cannot place a money value on things such as ‘employee loyalty’ so cannot include in accounts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Consistency </a:t>
            </a:r>
          </a:p>
          <a:p>
            <a:pPr marL="271463"/>
            <a:r>
              <a:rPr lang="en-GB" sz="2400" dirty="0">
                <a:latin typeface="Calibri" panose="020F0502020204030204" pitchFamily="34" charset="0"/>
              </a:rPr>
              <a:t>Figures should be comparable from one year to the next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Accounting policies should not change from one year to the next, unless there is a good reason</a:t>
            </a:r>
          </a:p>
        </p:txBody>
      </p:sp>
    </p:spTree>
    <p:extLst>
      <p:ext uri="{BB962C8B-B14F-4D97-AF65-F5344CB8AC3E}">
        <p14:creationId xmlns:p14="http://schemas.microsoft.com/office/powerpoint/2010/main" val="3461606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002421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1843799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Accruals</a:t>
            </a:r>
          </a:p>
          <a:p>
            <a:pPr marL="271463"/>
            <a:r>
              <a:rPr lang="en-GB" sz="2400" dirty="0">
                <a:latin typeface="Calibri" panose="020F0502020204030204" pitchFamily="34" charset="0"/>
              </a:rPr>
              <a:t>Costs are accounted for as they are </a:t>
            </a:r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incurred</a:t>
            </a:r>
            <a:r>
              <a:rPr lang="en-GB" sz="2400" dirty="0">
                <a:latin typeface="Calibri" panose="020F0502020204030204" pitchFamily="34" charset="0"/>
              </a:rPr>
              <a:t>, regardless of when money is paid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electricity used this year should be included in the accounts for this year, even if the last bill will not be paid until next year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rent paid in advance should be removed from this year’s accounts, as it is an expense related to next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Realisation </a:t>
            </a:r>
          </a:p>
          <a:p>
            <a:pPr marL="271463"/>
            <a:r>
              <a:rPr lang="en-GB" sz="2400" dirty="0">
                <a:latin typeface="Calibri" panose="020F0502020204030204" pitchFamily="34" charset="0"/>
              </a:rPr>
              <a:t>Income is recognised as and when it is earned, not when payment is received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A sale is recorded when made, whether or not the customer pays cash or pays later</a:t>
            </a:r>
          </a:p>
        </p:txBody>
      </p:sp>
    </p:spTree>
    <p:extLst>
      <p:ext uri="{BB962C8B-B14F-4D97-AF65-F5344CB8AC3E}">
        <p14:creationId xmlns:p14="http://schemas.microsoft.com/office/powerpoint/2010/main" val="1070414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002421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Accounting Conventions (Concepts)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47564" y="1843799"/>
            <a:ext cx="7848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7030A0"/>
                </a:solidFill>
                <a:latin typeface="Calibri" panose="020F0502020204030204" pitchFamily="34" charset="0"/>
              </a:rPr>
              <a:t>Materiality</a:t>
            </a:r>
          </a:p>
          <a:p>
            <a:pPr marL="271463"/>
            <a:r>
              <a:rPr lang="en-GB" sz="2400" dirty="0">
                <a:latin typeface="Calibri" panose="020F0502020204030204" pitchFamily="34" charset="0"/>
              </a:rPr>
              <a:t>Adjustments are only made to ‘material’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Significant?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Would the adjustment affect true and fair view?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Would the adjustment affect an opinion?</a:t>
            </a:r>
          </a:p>
          <a:p>
            <a:pPr marL="1071563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Large or significant items are adjusted</a:t>
            </a:r>
          </a:p>
        </p:txBody>
      </p:sp>
    </p:spTree>
    <p:extLst>
      <p:ext uri="{BB962C8B-B14F-4D97-AF65-F5344CB8AC3E}">
        <p14:creationId xmlns:p14="http://schemas.microsoft.com/office/powerpoint/2010/main" val="289745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Accounting is concerned with collecting, analysing and communicating information.</a:t>
            </a:r>
          </a:p>
          <a:p>
            <a:r>
              <a:rPr lang="en-GB" dirty="0"/>
              <a:t>Accounting information may be used to make internal decisions or provide external information</a:t>
            </a:r>
          </a:p>
          <a:p>
            <a:r>
              <a:rPr lang="en-GB" dirty="0"/>
              <a:t>Regulations and rules surround the way accounting information is presented</a:t>
            </a:r>
          </a:p>
          <a:p>
            <a:r>
              <a:rPr lang="en-GB" dirty="0"/>
              <a:t>Fundamental concepts underpin accounting information</a:t>
            </a:r>
          </a:p>
          <a:p>
            <a:r>
              <a:rPr lang="en-GB" dirty="0"/>
              <a:t>Stakeholders may be interested in </a:t>
            </a:r>
            <a:r>
              <a:rPr lang="en-GB"/>
              <a:t>the accounts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8333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1218</Words>
  <Application>Microsoft Office PowerPoint</Application>
  <PresentationFormat>On-screen Show (4:3)</PresentationFormat>
  <Paragraphs>232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Introduction to Accounting and Finance</vt:lpstr>
      <vt:lpstr>Purpose of the Regulations</vt:lpstr>
      <vt:lpstr>Sources of Accounting Rules</vt:lpstr>
      <vt:lpstr>PowerPoint Presentation</vt:lpstr>
      <vt:lpstr>PowerPoint Presentation</vt:lpstr>
      <vt:lpstr>PowerPoint Presentation</vt:lpstr>
      <vt:lpstr>Accounting Conventions (Concepts) 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Accounting Conventions (Concepts)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Sunday Samuel</cp:lastModifiedBy>
  <cp:revision>32</cp:revision>
  <cp:lastPrinted>2020-09-16T11:03:25Z</cp:lastPrinted>
  <dcterms:created xsi:type="dcterms:W3CDTF">2016-02-11T16:23:53Z</dcterms:created>
  <dcterms:modified xsi:type="dcterms:W3CDTF">2023-09-12T15:08:10Z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