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slideLayouts/slideLayout24.xml" ContentType="application/vnd.openxmlformats-officedocument.presentationml.slideLayout+xml"/>
  <Override PartName="/ppt/theme/theme4.xml" ContentType="application/vnd.openxmlformats-officedocument.theme+xml"/>
  <Override PartName="/ppt/slideLayouts/slideLayout25.xml" ContentType="application/vnd.openxmlformats-officedocument.presentationml.slideLayout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4"/>
    <p:sldMasterId id="2147483702" r:id="rId5"/>
    <p:sldMasterId id="2147483685" r:id="rId6"/>
    <p:sldMasterId id="2147483684" r:id="rId7"/>
    <p:sldMasterId id="2147483686" r:id="rId8"/>
  </p:sldMasterIdLst>
  <p:sldIdLst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302" r:id="rId24"/>
    <p:sldId id="275" r:id="rId25"/>
    <p:sldId id="276" r:id="rId26"/>
    <p:sldId id="277" r:id="rId27"/>
    <p:sldId id="278" r:id="rId28"/>
    <p:sldId id="303" r:id="rId29"/>
    <p:sldId id="279" r:id="rId30"/>
    <p:sldId id="280" r:id="rId31"/>
    <p:sldId id="281" r:id="rId32"/>
    <p:sldId id="305" r:id="rId3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E6A71"/>
    <a:srgbClr val="0098DB"/>
    <a:srgbClr val="00549F"/>
    <a:srgbClr val="A5AC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48" d="100"/>
          <a:sy n="148" d="100"/>
        </p:scale>
        <p:origin x="207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21" Type="http://schemas.openxmlformats.org/officeDocument/2006/relationships/slide" Target="slides/slide13.xml"/><Relationship Id="rId34" Type="http://schemas.openxmlformats.org/officeDocument/2006/relationships/presProps" Target="presProp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slide" Target="slides/slide2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slide" Target="slides/slide24.xml"/><Relationship Id="rId37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theme" Target="theme/theme1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slide" Target="slides/slide23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viewProps" Target="viewProps.xml"/><Relationship Id="rId8" Type="http://schemas.openxmlformats.org/officeDocument/2006/relationships/slideMaster" Target="slideMasters/slideMaster5.xml"/><Relationship Id="rId3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solidFill>
                  <a:srgbClr val="5E6A7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3568" y="3645024"/>
            <a:ext cx="6400800" cy="1752600"/>
          </a:xfrm>
        </p:spPr>
        <p:txBody>
          <a:bodyPr/>
          <a:lstStyle>
            <a:lvl1pPr marL="0" indent="0" algn="l">
              <a:buNone/>
              <a:defRPr i="1">
                <a:solidFill>
                  <a:srgbClr val="0098DB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06/01/2025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5424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06/01/2025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9858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rgbClr val="5E6A7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0098DB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06/01/2025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2726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1560" y="2348880"/>
            <a:ext cx="3884240" cy="37772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2560" y="2348880"/>
            <a:ext cx="3884240" cy="37772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06/01/2025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7058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1560" y="2357190"/>
            <a:ext cx="388582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1560" y="3068960"/>
            <a:ext cx="3885828" cy="305720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9446" y="2357190"/>
            <a:ext cx="388735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99446" y="3068960"/>
            <a:ext cx="3887354" cy="305720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06/01/2025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6782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06/01/2025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1938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06/01/2025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7922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6752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420888"/>
            <a:ext cx="3008313" cy="37052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06/01/2025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0446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3728" y="4800600"/>
            <a:ext cx="515496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123728" y="612775"/>
            <a:ext cx="515496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23728" y="5367338"/>
            <a:ext cx="515496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06/01/2025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8261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06/01/2025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3248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06/01/2025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52207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3568" y="3645024"/>
            <a:ext cx="6400800" cy="1752600"/>
          </a:xfrm>
        </p:spPr>
        <p:txBody>
          <a:bodyPr/>
          <a:lstStyle>
            <a:lvl1pPr marL="0" indent="0" algn="l">
              <a:buNone/>
              <a:defRPr i="1">
                <a:solidFill>
                  <a:srgbClr val="5E6A7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06/01/2025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10623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06/01/2025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4248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5E6A7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06/01/2025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59164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1560" y="2348880"/>
            <a:ext cx="3884240" cy="37772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2560" y="2348880"/>
            <a:ext cx="3884240" cy="37772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06/01/2025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38995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1560" y="2357190"/>
            <a:ext cx="388582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1560" y="3068960"/>
            <a:ext cx="3885828" cy="305720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9446" y="2357190"/>
            <a:ext cx="388735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99446" y="3068960"/>
            <a:ext cx="3887354" cy="305720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06/01/2025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91134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06/01/2025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48559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06/01/2025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78888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6752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420888"/>
            <a:ext cx="3008313" cy="37052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06/01/2025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26301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3728" y="4800600"/>
            <a:ext cx="515496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123728" y="612775"/>
            <a:ext cx="515496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23728" y="5367338"/>
            <a:ext cx="515496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06/01/2025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152787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06/01/2025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010346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06/01/2025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30257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739192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865446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3024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3.jp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2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1560" y="1268760"/>
            <a:ext cx="8075240" cy="99898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1560" y="2348880"/>
            <a:ext cx="8075240" cy="37772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C1102FAE-FC2F-47FD-82A7-D1DD5A1AC3E3}" type="datetimeFigureOut">
              <a:rPr lang="en-GB" smtClean="0"/>
              <a:pPr/>
              <a:t>06/01/2025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191E7B16-C11D-48A6-9FE1-93A9A96AC7E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6284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rgbClr val="0098DB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rgbClr val="5E6A7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rgbClr val="5E6A7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rgbClr val="5E6A7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rgbClr val="5E6A7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rgbClr val="5E6A7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1560" y="1268760"/>
            <a:ext cx="8075240" cy="99898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1560" y="2348880"/>
            <a:ext cx="8075240" cy="37772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C1102FAE-FC2F-47FD-82A7-D1DD5A1AC3E3}" type="datetimeFigureOut">
              <a:rPr lang="en-GB" smtClean="0"/>
              <a:pPr/>
              <a:t>06/01/2025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191E7B16-C11D-48A6-9FE1-93A9A96AC7E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7437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rgbClr val="5E6A7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6412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rgbClr val="5E6A7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•"/>
        <a:defRPr sz="3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–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–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»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2131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rgbClr val="5E6A7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•"/>
        <a:defRPr sz="3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–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–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»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0265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rgbClr val="5E6A7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•"/>
        <a:defRPr sz="3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–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–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»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9632" y="5445224"/>
            <a:ext cx="6400800" cy="1008112"/>
          </a:xfrm>
        </p:spPr>
        <p:txBody>
          <a:bodyPr>
            <a:normAutofit fontScale="85000" lnSpcReduction="20000"/>
          </a:bodyPr>
          <a:lstStyle/>
          <a:p>
            <a:pPr algn="ctr"/>
            <a:r>
              <a:rPr lang="en-GB" sz="3600" i="0" dirty="0">
                <a:solidFill>
                  <a:srgbClr val="FF0000"/>
                </a:solidFill>
              </a:rPr>
              <a:t>Week 1, Semester 2 </a:t>
            </a:r>
          </a:p>
          <a:p>
            <a:pPr algn="ctr"/>
            <a:r>
              <a:rPr lang="en-GB" sz="3600" i="0" dirty="0">
                <a:solidFill>
                  <a:srgbClr val="FF0000"/>
                </a:solidFill>
              </a:rPr>
              <a:t>(2024/25)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11144-0A80-492E-A667-66F71C220181}" type="slidenum">
              <a:rPr lang="en-GB" smtClean="0"/>
              <a:pPr/>
              <a:t>1</a:t>
            </a:fld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B2B1D2-70E0-F36A-31B7-BC3010DB4646}"/>
              </a:ext>
            </a:extLst>
          </p:cNvPr>
          <p:cNvSpPr txBox="1"/>
          <p:nvPr/>
        </p:nvSpPr>
        <p:spPr>
          <a:xfrm>
            <a:off x="107504" y="1412776"/>
            <a:ext cx="9145016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200" dirty="0">
                <a:latin typeface="Arial" panose="020B0604020202020204" pitchFamily="34" charset="0"/>
                <a:cs typeface="Arial" panose="020B0604020202020204" pitchFamily="34" charset="0"/>
              </a:rPr>
              <a:t>C39FF: Finance and Financial Reporting</a:t>
            </a:r>
            <a:br>
              <a:rPr lang="en-GB" sz="4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GB" sz="4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GB" sz="4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36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 to Accounting and Finance</a:t>
            </a:r>
            <a:br>
              <a:rPr lang="en-GB" dirty="0">
                <a:solidFill>
                  <a:schemeClr val="tx2"/>
                </a:solidFill>
              </a:rPr>
            </a:br>
            <a:br>
              <a:rPr lang="en-GB" dirty="0">
                <a:solidFill>
                  <a:schemeClr val="tx2"/>
                </a:solidFill>
              </a:rPr>
            </a:br>
            <a:endParaRPr lang="en-GB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345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Is accounting cool?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2348880"/>
            <a:ext cx="8424936" cy="3777283"/>
          </a:xfrm>
        </p:spPr>
        <p:txBody>
          <a:bodyPr>
            <a:normAutofit fontScale="92500"/>
          </a:bodyPr>
          <a:lstStyle/>
          <a:p>
            <a:r>
              <a:rPr lang="en-GB" dirty="0"/>
              <a:t>View of accountants as dull, straight-laced and stuffy</a:t>
            </a:r>
          </a:p>
          <a:p>
            <a:r>
              <a:rPr lang="en-GB" dirty="0"/>
              <a:t>Survey </a:t>
            </a:r>
          </a:p>
          <a:p>
            <a:pPr lvl="1"/>
            <a:r>
              <a:rPr lang="en-GB" dirty="0"/>
              <a:t>28% of public perceive accountancy as a dynamic profession embracing new technologies, whilst 53% of accountants hold the same perception</a:t>
            </a:r>
          </a:p>
          <a:p>
            <a:pPr lvl="1"/>
            <a:r>
              <a:rPr lang="en-GB" dirty="0"/>
              <a:t>60% of accountants under 35 have a Facebook profile compared with a national average of 23%</a:t>
            </a:r>
          </a:p>
          <a:p>
            <a:pPr marL="457200" lvl="1" indent="0"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11144-0A80-492E-A667-66F71C220181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3402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8356" y="980728"/>
            <a:ext cx="8507288" cy="998984"/>
          </a:xfrm>
        </p:spPr>
        <p:txBody>
          <a:bodyPr>
            <a:normAutofit/>
          </a:bodyPr>
          <a:lstStyle/>
          <a:p>
            <a:r>
              <a:rPr lang="en-GB" dirty="0"/>
              <a:t>Intro to accounting and finance?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285750" indent="-285750"/>
            <a:r>
              <a:rPr lang="en-GB" sz="2400" dirty="0">
                <a:latin typeface="Calibri" panose="020F0502020204030204" pitchFamily="34" charset="0"/>
              </a:rPr>
              <a:t>Accounting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400" dirty="0">
                <a:latin typeface="Calibri" panose="020F0502020204030204" pitchFamily="34" charset="0"/>
              </a:rPr>
              <a:t>Concerned with </a:t>
            </a:r>
            <a:r>
              <a:rPr lang="en-GB" sz="2400" dirty="0">
                <a:solidFill>
                  <a:srgbClr val="FF0000"/>
                </a:solidFill>
                <a:latin typeface="Calibri" panose="020F0502020204030204" pitchFamily="34" charset="0"/>
              </a:rPr>
              <a:t>collecting, recording, analysing and communicating</a:t>
            </a:r>
            <a:r>
              <a:rPr lang="en-GB" sz="2400" dirty="0">
                <a:latin typeface="Calibri" panose="020F0502020204030204" pitchFamily="34" charset="0"/>
              </a:rPr>
              <a:t> financial </a:t>
            </a:r>
            <a:r>
              <a:rPr lang="en-GB" sz="2400" u="sng" dirty="0">
                <a:latin typeface="Calibri" panose="020F0502020204030204" pitchFamily="34" charset="0"/>
              </a:rPr>
              <a:t>information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400" dirty="0">
                <a:latin typeface="Calibri" panose="020F0502020204030204" pitchFamily="34" charset="0"/>
              </a:rPr>
              <a:t>Used by people making business decisions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GB" sz="2400" dirty="0">
              <a:latin typeface="Calibri" panose="020F0502020204030204" pitchFamily="34" charset="0"/>
            </a:endParaRPr>
          </a:p>
          <a:p>
            <a:pPr marL="285750" indent="-285750"/>
            <a:r>
              <a:rPr lang="en-GB" sz="2400" dirty="0">
                <a:latin typeface="Calibri" panose="020F0502020204030204" pitchFamily="34" charset="0"/>
              </a:rPr>
              <a:t>Finance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400" dirty="0">
                <a:latin typeface="Calibri" panose="020F0502020204030204" pitchFamily="34" charset="0"/>
              </a:rPr>
              <a:t>Concerned with the ways </a:t>
            </a:r>
            <a:r>
              <a:rPr lang="en-GB" sz="2400" dirty="0">
                <a:solidFill>
                  <a:srgbClr val="FF0000"/>
                </a:solidFill>
                <a:latin typeface="Calibri" panose="020F0502020204030204" pitchFamily="34" charset="0"/>
              </a:rPr>
              <a:t>funds </a:t>
            </a:r>
            <a:r>
              <a:rPr lang="en-GB" sz="2400" dirty="0">
                <a:latin typeface="Calibri" panose="020F0502020204030204" pitchFamily="34" charset="0"/>
              </a:rPr>
              <a:t>for a business are </a:t>
            </a:r>
            <a:r>
              <a:rPr lang="en-GB" sz="2400" dirty="0">
                <a:solidFill>
                  <a:srgbClr val="FF0000"/>
                </a:solidFill>
                <a:latin typeface="Calibri" panose="020F0502020204030204" pitchFamily="34" charset="0"/>
              </a:rPr>
              <a:t>raised</a:t>
            </a:r>
            <a:r>
              <a:rPr lang="en-GB" sz="2400" dirty="0">
                <a:latin typeface="Calibri" panose="020F0502020204030204" pitchFamily="34" charset="0"/>
              </a:rPr>
              <a:t> and </a:t>
            </a:r>
            <a:r>
              <a:rPr lang="en-GB" sz="2400" dirty="0">
                <a:solidFill>
                  <a:srgbClr val="FF0000"/>
                </a:solidFill>
                <a:latin typeface="Calibri" panose="020F0502020204030204" pitchFamily="34" charset="0"/>
              </a:rPr>
              <a:t>invested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400" dirty="0">
                <a:latin typeface="Calibri" panose="020F0502020204030204" pitchFamily="34" charset="0"/>
              </a:rPr>
              <a:t>Also used by people making business decisions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11144-0A80-492E-A667-66F71C220181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3190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2"/>
          <p:cNvSpPr txBox="1">
            <a:spLocks noChangeArrowheads="1"/>
          </p:cNvSpPr>
          <p:nvPr/>
        </p:nvSpPr>
        <p:spPr bwMode="auto">
          <a:xfrm>
            <a:off x="467544" y="183206"/>
            <a:ext cx="867645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GB" altLang="en-US" sz="2000" b="1" dirty="0">
                <a:solidFill>
                  <a:srgbClr val="CC0000"/>
                </a:solidFill>
                <a:latin typeface="Arial" charset="0"/>
              </a:rPr>
              <a:t>   Main users of financial information relating to a business</a:t>
            </a:r>
            <a:endParaRPr lang="en-GB" altLang="en-US" sz="2000" dirty="0">
              <a:solidFill>
                <a:srgbClr val="CC0000"/>
              </a:solidFill>
              <a:latin typeface="Arial" charset="0"/>
            </a:endParaRPr>
          </a:p>
        </p:txBody>
      </p:sp>
      <p:sp>
        <p:nvSpPr>
          <p:cNvPr id="17418" name="AutoShape 10"/>
          <p:cNvSpPr>
            <a:spLocks noChangeArrowheads="1"/>
          </p:cNvSpPr>
          <p:nvPr/>
        </p:nvSpPr>
        <p:spPr bwMode="auto">
          <a:xfrm>
            <a:off x="3663950" y="2252663"/>
            <a:ext cx="1781175" cy="2533650"/>
          </a:xfrm>
          <a:prstGeom prst="cube">
            <a:avLst>
              <a:gd name="adj" fmla="val 10963"/>
            </a:avLst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7419" name="Text Box 11"/>
          <p:cNvSpPr txBox="1">
            <a:spLocks noChangeArrowheads="1"/>
          </p:cNvSpPr>
          <p:nvPr/>
        </p:nvSpPr>
        <p:spPr bwMode="auto">
          <a:xfrm>
            <a:off x="3609975" y="3317876"/>
            <a:ext cx="1708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altLang="en-US" b="1" dirty="0">
                <a:solidFill>
                  <a:srgbClr val="FFCC99"/>
                </a:solidFill>
                <a:latin typeface="Arial" charset="0"/>
              </a:rPr>
              <a:t>Business</a:t>
            </a:r>
          </a:p>
        </p:txBody>
      </p:sp>
      <p:grpSp>
        <p:nvGrpSpPr>
          <p:cNvPr id="2" name="Group 5"/>
          <p:cNvGrpSpPr/>
          <p:nvPr/>
        </p:nvGrpSpPr>
        <p:grpSpPr>
          <a:xfrm>
            <a:off x="5235575" y="773113"/>
            <a:ext cx="2498725" cy="1527176"/>
            <a:chOff x="5235575" y="773113"/>
            <a:chExt cx="2498725" cy="1527176"/>
          </a:xfrm>
        </p:grpSpPr>
        <p:sp>
          <p:nvSpPr>
            <p:cNvPr id="17425" name="AutoShape 17"/>
            <p:cNvSpPr>
              <a:spLocks noChangeArrowheads="1"/>
            </p:cNvSpPr>
            <p:nvPr/>
          </p:nvSpPr>
          <p:spPr bwMode="auto">
            <a:xfrm rot="3191407">
              <a:off x="5551488" y="1563688"/>
              <a:ext cx="420688" cy="1052513"/>
            </a:xfrm>
            <a:prstGeom prst="downArrow">
              <a:avLst>
                <a:gd name="adj1" fmla="val 50000"/>
                <a:gd name="adj2" fmla="val 62547"/>
              </a:avLst>
            </a:prstGeom>
            <a:solidFill>
              <a:srgbClr val="BB7947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7426" name="AutoShape 18"/>
            <p:cNvSpPr>
              <a:spLocks noChangeArrowheads="1"/>
            </p:cNvSpPr>
            <p:nvPr/>
          </p:nvSpPr>
          <p:spPr bwMode="auto">
            <a:xfrm>
              <a:off x="5953125" y="773113"/>
              <a:ext cx="1781175" cy="1136650"/>
            </a:xfrm>
            <a:prstGeom prst="cube">
              <a:avLst>
                <a:gd name="adj" fmla="val 13782"/>
              </a:avLst>
            </a:prstGeom>
            <a:solidFill>
              <a:srgbClr val="FFCC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7432" name="Text Box 24"/>
            <p:cNvSpPr txBox="1">
              <a:spLocks noChangeArrowheads="1"/>
            </p:cNvSpPr>
            <p:nvPr/>
          </p:nvSpPr>
          <p:spPr bwMode="auto">
            <a:xfrm>
              <a:off x="5975350" y="1217613"/>
              <a:ext cx="160655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altLang="en-US" sz="1800" b="1" dirty="0">
                  <a:latin typeface="Arial" charset="0"/>
                </a:rPr>
                <a:t>Competitors</a:t>
              </a:r>
            </a:p>
          </p:txBody>
        </p:sp>
      </p:grpSp>
      <p:grpSp>
        <p:nvGrpSpPr>
          <p:cNvPr id="3" name="Group 3"/>
          <p:cNvGrpSpPr/>
          <p:nvPr/>
        </p:nvGrpSpPr>
        <p:grpSpPr>
          <a:xfrm>
            <a:off x="1374775" y="3649663"/>
            <a:ext cx="2282825" cy="1136650"/>
            <a:chOff x="1374775" y="3649663"/>
            <a:chExt cx="2282825" cy="1136650"/>
          </a:xfrm>
        </p:grpSpPr>
        <p:sp>
          <p:nvSpPr>
            <p:cNvPr id="17415" name="AutoShape 7"/>
            <p:cNvSpPr>
              <a:spLocks noChangeArrowheads="1"/>
            </p:cNvSpPr>
            <p:nvPr/>
          </p:nvSpPr>
          <p:spPr bwMode="auto">
            <a:xfrm>
              <a:off x="1374775" y="3649663"/>
              <a:ext cx="1779588" cy="1136650"/>
            </a:xfrm>
            <a:prstGeom prst="cube">
              <a:avLst>
                <a:gd name="adj" fmla="val 13782"/>
              </a:avLst>
            </a:prstGeom>
            <a:solidFill>
              <a:srgbClr val="FFCC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7420" name="AutoShape 12"/>
            <p:cNvSpPr>
              <a:spLocks noChangeArrowheads="1"/>
            </p:cNvSpPr>
            <p:nvPr/>
          </p:nvSpPr>
          <p:spPr bwMode="auto">
            <a:xfrm>
              <a:off x="3054350" y="3998913"/>
              <a:ext cx="603250" cy="436563"/>
            </a:xfrm>
            <a:prstGeom prst="rightArrow">
              <a:avLst>
                <a:gd name="adj1" fmla="val 50000"/>
                <a:gd name="adj2" fmla="val 34545"/>
              </a:avLst>
            </a:prstGeom>
            <a:solidFill>
              <a:srgbClr val="BB7947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7433" name="Text Box 25"/>
            <p:cNvSpPr txBox="1">
              <a:spLocks noChangeArrowheads="1"/>
            </p:cNvSpPr>
            <p:nvPr/>
          </p:nvSpPr>
          <p:spPr bwMode="auto">
            <a:xfrm>
              <a:off x="1476375" y="4102101"/>
              <a:ext cx="1438275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altLang="en-US" sz="1800" b="1" dirty="0">
                  <a:latin typeface="Arial" charset="0"/>
                </a:rPr>
                <a:t>Lenders</a:t>
              </a:r>
            </a:p>
          </p:txBody>
        </p:sp>
      </p:grpSp>
      <p:grpSp>
        <p:nvGrpSpPr>
          <p:cNvPr id="4" name="Group 2"/>
          <p:cNvGrpSpPr/>
          <p:nvPr/>
        </p:nvGrpSpPr>
        <p:grpSpPr>
          <a:xfrm>
            <a:off x="1374775" y="2252663"/>
            <a:ext cx="2287588" cy="1136650"/>
            <a:chOff x="1374775" y="2252663"/>
            <a:chExt cx="2287588" cy="1136650"/>
          </a:xfrm>
        </p:grpSpPr>
        <p:sp>
          <p:nvSpPr>
            <p:cNvPr id="17414" name="AutoShape 6"/>
            <p:cNvSpPr>
              <a:spLocks noChangeArrowheads="1"/>
            </p:cNvSpPr>
            <p:nvPr/>
          </p:nvSpPr>
          <p:spPr bwMode="auto">
            <a:xfrm>
              <a:off x="1374775" y="2252663"/>
              <a:ext cx="1779588" cy="1136650"/>
            </a:xfrm>
            <a:prstGeom prst="cube">
              <a:avLst>
                <a:gd name="adj" fmla="val 13782"/>
              </a:avLst>
            </a:prstGeom>
            <a:solidFill>
              <a:srgbClr val="FFCC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7427" name="AutoShape 19"/>
            <p:cNvSpPr>
              <a:spLocks noChangeArrowheads="1"/>
            </p:cNvSpPr>
            <p:nvPr/>
          </p:nvSpPr>
          <p:spPr bwMode="auto">
            <a:xfrm>
              <a:off x="3071813" y="2614613"/>
              <a:ext cx="590550" cy="434975"/>
            </a:xfrm>
            <a:prstGeom prst="rightArrow">
              <a:avLst>
                <a:gd name="adj1" fmla="val 50000"/>
                <a:gd name="adj2" fmla="val 33942"/>
              </a:avLst>
            </a:prstGeom>
            <a:solidFill>
              <a:srgbClr val="BB7947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7434" name="Text Box 26"/>
            <p:cNvSpPr txBox="1">
              <a:spLocks noChangeArrowheads="1"/>
            </p:cNvSpPr>
            <p:nvPr/>
          </p:nvSpPr>
          <p:spPr bwMode="auto">
            <a:xfrm>
              <a:off x="1471613" y="2714626"/>
              <a:ext cx="1438275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altLang="en-US" sz="1800" b="1" dirty="0">
                  <a:latin typeface="Arial" charset="0"/>
                </a:rPr>
                <a:t>Managers</a:t>
              </a:r>
            </a:p>
          </p:txBody>
        </p:sp>
      </p:grpSp>
      <p:grpSp>
        <p:nvGrpSpPr>
          <p:cNvPr id="5" name="Group 6"/>
          <p:cNvGrpSpPr/>
          <p:nvPr/>
        </p:nvGrpSpPr>
        <p:grpSpPr>
          <a:xfrm>
            <a:off x="1374775" y="4827587"/>
            <a:ext cx="2401888" cy="1441452"/>
            <a:chOff x="1374775" y="4827587"/>
            <a:chExt cx="2401888" cy="1441452"/>
          </a:xfrm>
        </p:grpSpPr>
        <p:sp>
          <p:nvSpPr>
            <p:cNvPr id="17428" name="AutoShape 20"/>
            <p:cNvSpPr>
              <a:spLocks noChangeArrowheads="1"/>
            </p:cNvSpPr>
            <p:nvPr/>
          </p:nvSpPr>
          <p:spPr bwMode="auto">
            <a:xfrm rot="3191407" flipH="1" flipV="1">
              <a:off x="3038475" y="4511675"/>
              <a:ext cx="422275" cy="1054100"/>
            </a:xfrm>
            <a:prstGeom prst="downArrow">
              <a:avLst>
                <a:gd name="adj1" fmla="val 50000"/>
                <a:gd name="adj2" fmla="val 62406"/>
              </a:avLst>
            </a:prstGeom>
            <a:solidFill>
              <a:srgbClr val="BB7947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7429" name="AutoShape 21"/>
            <p:cNvSpPr>
              <a:spLocks noChangeArrowheads="1"/>
            </p:cNvSpPr>
            <p:nvPr/>
          </p:nvSpPr>
          <p:spPr bwMode="auto">
            <a:xfrm>
              <a:off x="1374775" y="5133976"/>
              <a:ext cx="1779588" cy="1135063"/>
            </a:xfrm>
            <a:prstGeom prst="cube">
              <a:avLst>
                <a:gd name="adj" fmla="val 13782"/>
              </a:avLst>
            </a:prstGeom>
            <a:solidFill>
              <a:srgbClr val="FFCC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7435" name="Text Box 27"/>
            <p:cNvSpPr txBox="1">
              <a:spLocks noChangeArrowheads="1"/>
            </p:cNvSpPr>
            <p:nvPr/>
          </p:nvSpPr>
          <p:spPr bwMode="auto">
            <a:xfrm>
              <a:off x="1457325" y="5570538"/>
              <a:ext cx="1438275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altLang="en-US" sz="1800" b="1" dirty="0">
                  <a:latin typeface="Arial" charset="0"/>
                </a:rPr>
                <a:t>Suppliers</a:t>
              </a:r>
            </a:p>
          </p:txBody>
        </p:sp>
      </p:grpSp>
      <p:grpSp>
        <p:nvGrpSpPr>
          <p:cNvPr id="6" name="Group 4"/>
          <p:cNvGrpSpPr/>
          <p:nvPr/>
        </p:nvGrpSpPr>
        <p:grpSpPr>
          <a:xfrm>
            <a:off x="3700463" y="4767263"/>
            <a:ext cx="1782763" cy="1501776"/>
            <a:chOff x="3700463" y="4767263"/>
            <a:chExt cx="1782763" cy="1501776"/>
          </a:xfrm>
        </p:grpSpPr>
        <p:sp>
          <p:nvSpPr>
            <p:cNvPr id="17413" name="AutoShape 5"/>
            <p:cNvSpPr>
              <a:spLocks noChangeArrowheads="1"/>
            </p:cNvSpPr>
            <p:nvPr/>
          </p:nvSpPr>
          <p:spPr bwMode="auto">
            <a:xfrm>
              <a:off x="3700463" y="5133976"/>
              <a:ext cx="1782763" cy="1135063"/>
            </a:xfrm>
            <a:prstGeom prst="cube">
              <a:avLst>
                <a:gd name="adj" fmla="val 13782"/>
              </a:avLst>
            </a:prstGeom>
            <a:solidFill>
              <a:srgbClr val="FFCC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7423" name="AutoShape 15"/>
            <p:cNvSpPr>
              <a:spLocks noChangeArrowheads="1"/>
            </p:cNvSpPr>
            <p:nvPr/>
          </p:nvSpPr>
          <p:spPr bwMode="auto">
            <a:xfrm>
              <a:off x="4276725" y="4767263"/>
              <a:ext cx="546100" cy="458788"/>
            </a:xfrm>
            <a:prstGeom prst="upArrow">
              <a:avLst>
                <a:gd name="adj1" fmla="val 50000"/>
                <a:gd name="adj2" fmla="val 24912"/>
              </a:avLst>
            </a:prstGeom>
            <a:solidFill>
              <a:srgbClr val="BB7947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7436" name="Text Box 28"/>
            <p:cNvSpPr txBox="1">
              <a:spLocks noChangeArrowheads="1"/>
            </p:cNvSpPr>
            <p:nvPr/>
          </p:nvSpPr>
          <p:spPr bwMode="auto">
            <a:xfrm>
              <a:off x="3781425" y="5472113"/>
              <a:ext cx="1436688" cy="6413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altLang="en-US" sz="1800" b="1" dirty="0">
                  <a:latin typeface="Arial" charset="0"/>
                </a:rPr>
                <a:t>Investment analysts</a:t>
              </a:r>
            </a:p>
          </p:txBody>
        </p:sp>
      </p:grpSp>
      <p:grpSp>
        <p:nvGrpSpPr>
          <p:cNvPr id="7" name="Group 10"/>
          <p:cNvGrpSpPr/>
          <p:nvPr/>
        </p:nvGrpSpPr>
        <p:grpSpPr>
          <a:xfrm>
            <a:off x="5170488" y="4784725"/>
            <a:ext cx="2574925" cy="1484314"/>
            <a:chOff x="5170488" y="4784725"/>
            <a:chExt cx="2574925" cy="1484314"/>
          </a:xfrm>
        </p:grpSpPr>
        <p:sp>
          <p:nvSpPr>
            <p:cNvPr id="17430" name="AutoShape 22"/>
            <p:cNvSpPr>
              <a:spLocks noChangeArrowheads="1"/>
            </p:cNvSpPr>
            <p:nvPr/>
          </p:nvSpPr>
          <p:spPr bwMode="auto">
            <a:xfrm rot="18408593" flipV="1">
              <a:off x="5494338" y="4460875"/>
              <a:ext cx="420688" cy="1068388"/>
            </a:xfrm>
            <a:prstGeom prst="downArrow">
              <a:avLst>
                <a:gd name="adj1" fmla="val 50000"/>
                <a:gd name="adj2" fmla="val 63491"/>
              </a:avLst>
            </a:prstGeom>
            <a:solidFill>
              <a:srgbClr val="BB7947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7431" name="AutoShape 23"/>
            <p:cNvSpPr>
              <a:spLocks noChangeArrowheads="1"/>
            </p:cNvSpPr>
            <p:nvPr/>
          </p:nvSpPr>
          <p:spPr bwMode="auto">
            <a:xfrm>
              <a:off x="5965825" y="5133976"/>
              <a:ext cx="1779588" cy="1135063"/>
            </a:xfrm>
            <a:prstGeom prst="cube">
              <a:avLst>
                <a:gd name="adj" fmla="val 13782"/>
              </a:avLst>
            </a:prstGeom>
            <a:solidFill>
              <a:srgbClr val="FFCC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7437" name="Text Box 29"/>
            <p:cNvSpPr txBox="1">
              <a:spLocks noChangeArrowheads="1"/>
            </p:cNvSpPr>
            <p:nvPr/>
          </p:nvSpPr>
          <p:spPr bwMode="auto">
            <a:xfrm>
              <a:off x="5894388" y="5427663"/>
              <a:ext cx="1806575" cy="6080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altLang="en-US" sz="1700" b="1" dirty="0">
                  <a:latin typeface="Arial" charset="0"/>
                </a:rPr>
                <a:t>Community representatives</a:t>
              </a:r>
            </a:p>
          </p:txBody>
        </p:sp>
      </p:grpSp>
      <p:grpSp>
        <p:nvGrpSpPr>
          <p:cNvPr id="8" name="Group 9"/>
          <p:cNvGrpSpPr/>
          <p:nvPr/>
        </p:nvGrpSpPr>
        <p:grpSpPr>
          <a:xfrm>
            <a:off x="5313363" y="3649663"/>
            <a:ext cx="2420937" cy="1136650"/>
            <a:chOff x="5313363" y="3649663"/>
            <a:chExt cx="2420937" cy="1136650"/>
          </a:xfrm>
        </p:grpSpPr>
        <p:sp>
          <p:nvSpPr>
            <p:cNvPr id="17417" name="AutoShape 9"/>
            <p:cNvSpPr>
              <a:spLocks noChangeArrowheads="1"/>
            </p:cNvSpPr>
            <p:nvPr/>
          </p:nvSpPr>
          <p:spPr bwMode="auto">
            <a:xfrm>
              <a:off x="5953125" y="3649663"/>
              <a:ext cx="1781175" cy="1136650"/>
            </a:xfrm>
            <a:prstGeom prst="cube">
              <a:avLst>
                <a:gd name="adj" fmla="val 13782"/>
              </a:avLst>
            </a:prstGeom>
            <a:solidFill>
              <a:srgbClr val="FFCC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7421" name="AutoShape 13"/>
            <p:cNvSpPr>
              <a:spLocks noChangeArrowheads="1"/>
            </p:cNvSpPr>
            <p:nvPr/>
          </p:nvSpPr>
          <p:spPr bwMode="auto">
            <a:xfrm flipH="1">
              <a:off x="5313363" y="4024313"/>
              <a:ext cx="650875" cy="434975"/>
            </a:xfrm>
            <a:prstGeom prst="rightArrow">
              <a:avLst>
                <a:gd name="adj1" fmla="val 50000"/>
                <a:gd name="adj2" fmla="val 37409"/>
              </a:avLst>
            </a:prstGeom>
            <a:solidFill>
              <a:srgbClr val="BB7947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7438" name="Text Box 30"/>
            <p:cNvSpPr txBox="1">
              <a:spLocks noChangeArrowheads="1"/>
            </p:cNvSpPr>
            <p:nvPr/>
          </p:nvSpPr>
          <p:spPr bwMode="auto">
            <a:xfrm>
              <a:off x="5948363" y="4106863"/>
              <a:ext cx="162560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altLang="en-US" sz="1800" b="1" dirty="0">
                  <a:latin typeface="Arial" charset="0"/>
                </a:rPr>
                <a:t>Government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5311775" y="2252663"/>
            <a:ext cx="2422525" cy="1136650"/>
            <a:chOff x="5311775" y="2252663"/>
            <a:chExt cx="2422525" cy="1136650"/>
          </a:xfrm>
        </p:grpSpPr>
        <p:sp>
          <p:nvSpPr>
            <p:cNvPr id="17416" name="AutoShape 8"/>
            <p:cNvSpPr>
              <a:spLocks noChangeArrowheads="1"/>
            </p:cNvSpPr>
            <p:nvPr/>
          </p:nvSpPr>
          <p:spPr bwMode="auto">
            <a:xfrm>
              <a:off x="5953125" y="2252663"/>
              <a:ext cx="1781175" cy="1136650"/>
            </a:xfrm>
            <a:prstGeom prst="cube">
              <a:avLst>
                <a:gd name="adj" fmla="val 13782"/>
              </a:avLst>
            </a:prstGeom>
            <a:solidFill>
              <a:srgbClr val="FFCC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7422" name="AutoShape 14"/>
            <p:cNvSpPr>
              <a:spLocks noChangeArrowheads="1"/>
            </p:cNvSpPr>
            <p:nvPr/>
          </p:nvSpPr>
          <p:spPr bwMode="auto">
            <a:xfrm flipH="1">
              <a:off x="5311775" y="2625726"/>
              <a:ext cx="654050" cy="436563"/>
            </a:xfrm>
            <a:prstGeom prst="rightArrow">
              <a:avLst>
                <a:gd name="adj1" fmla="val 50000"/>
                <a:gd name="adj2" fmla="val 37455"/>
              </a:avLst>
            </a:prstGeom>
            <a:solidFill>
              <a:srgbClr val="BB7947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7439" name="Text Box 31"/>
            <p:cNvSpPr txBox="1">
              <a:spLocks noChangeArrowheads="1"/>
            </p:cNvSpPr>
            <p:nvPr/>
          </p:nvSpPr>
          <p:spPr bwMode="auto">
            <a:xfrm>
              <a:off x="5849938" y="2449513"/>
              <a:ext cx="1843088" cy="8683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altLang="en-US" sz="1700" b="1" dirty="0">
                  <a:latin typeface="Arial" charset="0"/>
                </a:rPr>
                <a:t>Employees</a:t>
              </a:r>
              <a:br>
                <a:rPr lang="en-GB" altLang="en-US" sz="1700" b="1" dirty="0">
                  <a:latin typeface="Arial" charset="0"/>
                </a:rPr>
              </a:br>
              <a:r>
                <a:rPr lang="en-GB" altLang="en-US" sz="1700" b="1" dirty="0">
                  <a:latin typeface="Arial" charset="0"/>
                </a:rPr>
                <a:t>and their representatives</a:t>
              </a:r>
            </a:p>
          </p:txBody>
        </p:sp>
      </p:grpSp>
      <p:grpSp>
        <p:nvGrpSpPr>
          <p:cNvPr id="10" name="Group 7"/>
          <p:cNvGrpSpPr/>
          <p:nvPr/>
        </p:nvGrpSpPr>
        <p:grpSpPr>
          <a:xfrm>
            <a:off x="3663950" y="773113"/>
            <a:ext cx="1781175" cy="1609726"/>
            <a:chOff x="3663950" y="773113"/>
            <a:chExt cx="1781175" cy="1609726"/>
          </a:xfrm>
        </p:grpSpPr>
        <p:sp>
          <p:nvSpPr>
            <p:cNvPr id="17424" name="AutoShape 16"/>
            <p:cNvSpPr>
              <a:spLocks noChangeArrowheads="1"/>
            </p:cNvSpPr>
            <p:nvPr/>
          </p:nvSpPr>
          <p:spPr bwMode="auto">
            <a:xfrm flipV="1">
              <a:off x="4249738" y="1838326"/>
              <a:ext cx="557213" cy="544513"/>
            </a:xfrm>
            <a:prstGeom prst="upArrow">
              <a:avLst>
                <a:gd name="adj1" fmla="val 50000"/>
                <a:gd name="adj2" fmla="val 25000"/>
              </a:avLst>
            </a:prstGeom>
            <a:solidFill>
              <a:srgbClr val="BB7947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grpSp>
          <p:nvGrpSpPr>
            <p:cNvPr id="11" name="Group 32"/>
            <p:cNvGrpSpPr>
              <a:grpSpLocks/>
            </p:cNvGrpSpPr>
            <p:nvPr/>
          </p:nvGrpSpPr>
          <p:grpSpPr bwMode="auto">
            <a:xfrm>
              <a:off x="3663950" y="773113"/>
              <a:ext cx="1781175" cy="1136650"/>
              <a:chOff x="2348" y="498"/>
              <a:chExt cx="1122" cy="716"/>
            </a:xfrm>
          </p:grpSpPr>
          <p:sp>
            <p:nvSpPr>
              <p:cNvPr id="17441" name="AutoShape 33"/>
              <p:cNvSpPr>
                <a:spLocks noChangeArrowheads="1"/>
              </p:cNvSpPr>
              <p:nvPr/>
            </p:nvSpPr>
            <p:spPr bwMode="auto">
              <a:xfrm>
                <a:off x="2348" y="498"/>
                <a:ext cx="1122" cy="716"/>
              </a:xfrm>
              <a:prstGeom prst="cube">
                <a:avLst>
                  <a:gd name="adj" fmla="val 13782"/>
                </a:avLst>
              </a:prstGeom>
              <a:solidFill>
                <a:srgbClr val="FFCC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7442" name="Text Box 34"/>
              <p:cNvSpPr txBox="1">
                <a:spLocks noChangeArrowheads="1"/>
              </p:cNvSpPr>
              <p:nvPr/>
            </p:nvSpPr>
            <p:spPr bwMode="auto">
              <a:xfrm>
                <a:off x="2363" y="777"/>
                <a:ext cx="101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GB" altLang="en-US" sz="1800" b="1" dirty="0">
                    <a:latin typeface="Arial" charset="0"/>
                  </a:rPr>
                  <a:t>Customers</a:t>
                </a:r>
              </a:p>
            </p:txBody>
          </p:sp>
        </p:grpSp>
      </p:grpSp>
      <p:grpSp>
        <p:nvGrpSpPr>
          <p:cNvPr id="12" name="Group 1"/>
          <p:cNvGrpSpPr/>
          <p:nvPr/>
        </p:nvGrpSpPr>
        <p:grpSpPr>
          <a:xfrm>
            <a:off x="1374775" y="773113"/>
            <a:ext cx="2500313" cy="1522413"/>
            <a:chOff x="1374775" y="773113"/>
            <a:chExt cx="2500313" cy="1522413"/>
          </a:xfrm>
        </p:grpSpPr>
        <p:sp>
          <p:nvSpPr>
            <p:cNvPr id="17443" name="AutoShape 35"/>
            <p:cNvSpPr>
              <a:spLocks noChangeArrowheads="1"/>
            </p:cNvSpPr>
            <p:nvPr/>
          </p:nvSpPr>
          <p:spPr bwMode="auto">
            <a:xfrm rot="18408593" flipH="1">
              <a:off x="3136900" y="1557338"/>
              <a:ext cx="420688" cy="1055688"/>
            </a:xfrm>
            <a:prstGeom prst="downArrow">
              <a:avLst>
                <a:gd name="adj1" fmla="val 50000"/>
                <a:gd name="adj2" fmla="val 62736"/>
              </a:avLst>
            </a:prstGeom>
            <a:solidFill>
              <a:srgbClr val="BB7947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grpSp>
          <p:nvGrpSpPr>
            <p:cNvPr id="13" name="Group 36"/>
            <p:cNvGrpSpPr>
              <a:grpSpLocks/>
            </p:cNvGrpSpPr>
            <p:nvPr/>
          </p:nvGrpSpPr>
          <p:grpSpPr bwMode="auto">
            <a:xfrm>
              <a:off x="1374775" y="773113"/>
              <a:ext cx="1779588" cy="1136650"/>
              <a:chOff x="906" y="498"/>
              <a:chExt cx="1121" cy="716"/>
            </a:xfrm>
          </p:grpSpPr>
          <p:sp>
            <p:nvSpPr>
              <p:cNvPr id="17445" name="AutoShape 37"/>
              <p:cNvSpPr>
                <a:spLocks noChangeArrowheads="1"/>
              </p:cNvSpPr>
              <p:nvPr/>
            </p:nvSpPr>
            <p:spPr bwMode="auto">
              <a:xfrm>
                <a:off x="906" y="498"/>
                <a:ext cx="1121" cy="716"/>
              </a:xfrm>
              <a:prstGeom prst="cube">
                <a:avLst>
                  <a:gd name="adj" fmla="val 13782"/>
                </a:avLst>
              </a:prstGeom>
              <a:solidFill>
                <a:srgbClr val="FFCC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7446" name="Text Box 38"/>
              <p:cNvSpPr txBox="1">
                <a:spLocks noChangeArrowheads="1"/>
              </p:cNvSpPr>
              <p:nvPr/>
            </p:nvSpPr>
            <p:spPr bwMode="auto">
              <a:xfrm>
                <a:off x="961" y="780"/>
                <a:ext cx="90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GB" altLang="en-US" sz="1800" b="1" dirty="0">
                    <a:latin typeface="Arial" charset="0"/>
                  </a:rPr>
                  <a:t>Owners</a:t>
                </a:r>
              </a:p>
            </p:txBody>
          </p:sp>
        </p:grpSp>
      </p:grpSp>
      <p:sp>
        <p:nvSpPr>
          <p:cNvPr id="17449" name="Text Box 41"/>
          <p:cNvSpPr txBox="1">
            <a:spLocks noChangeArrowheads="1"/>
          </p:cNvSpPr>
          <p:nvPr/>
        </p:nvSpPr>
        <p:spPr bwMode="auto">
          <a:xfrm>
            <a:off x="3046413" y="363538"/>
            <a:ext cx="58801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altLang="en-US"/>
          </a:p>
        </p:txBody>
      </p:sp>
      <p:sp>
        <p:nvSpPr>
          <p:cNvPr id="48" name="Slide Number Placeholder 4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11144-0A80-492E-A667-66F71C220181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73067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706" y="1152128"/>
            <a:ext cx="8229600" cy="1412776"/>
          </a:xfrm>
        </p:spPr>
        <p:txBody>
          <a:bodyPr/>
          <a:lstStyle/>
          <a:p>
            <a:r>
              <a:rPr lang="en-GB" sz="3600" dirty="0">
                <a:latin typeface="Calibri" panose="020F0502020204030204" pitchFamily="34" charset="0"/>
              </a:rPr>
              <a:t>Qualities that influence usefulness of Accounting information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B540C-44DA-4F69-89C9-7C84606640D3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856792" y="2474692"/>
            <a:ext cx="7848872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Calibri" panose="020F0502020204030204" pitchFamily="34" charset="0"/>
              </a:rPr>
              <a:t>Relevance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rgbClr val="7030A0"/>
                </a:solidFill>
                <a:latin typeface="Calibri" panose="020F0502020204030204" pitchFamily="34" charset="0"/>
              </a:rPr>
              <a:t>Confirmatory e.g. establishing last year’s profit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rgbClr val="7030A0"/>
                </a:solidFill>
                <a:latin typeface="Calibri" panose="020F0502020204030204" pitchFamily="34" charset="0"/>
              </a:rPr>
              <a:t>Predictive e.g. predicting next year’s profit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rgbClr val="7030A0"/>
                </a:solidFill>
                <a:latin typeface="Calibri" panose="020F0502020204030204" pitchFamily="34" charset="0"/>
              </a:rPr>
              <a:t>Materiality – information that is significant for decision making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2400" dirty="0">
              <a:solidFill>
                <a:srgbClr val="FF0000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Calibri" panose="020F0502020204030204" pitchFamily="34" charset="0"/>
              </a:rPr>
              <a:t>Reliability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rgbClr val="7030A0"/>
                </a:solidFill>
                <a:latin typeface="Calibri" panose="020F0502020204030204" pitchFamily="34" charset="0"/>
              </a:rPr>
              <a:t>Completeness – provide all the information needed to understand what is being portrayed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rgbClr val="7030A0"/>
                </a:solidFill>
                <a:latin typeface="Calibri" panose="020F0502020204030204" pitchFamily="34" charset="0"/>
              </a:rPr>
              <a:t>Neutrality – information presented and selected without bias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rgbClr val="7030A0"/>
                </a:solidFill>
                <a:latin typeface="Calibri" panose="020F0502020204030204" pitchFamily="34" charset="0"/>
              </a:rPr>
              <a:t>free from error – faithful representation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10067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980728"/>
            <a:ext cx="8229600" cy="1412776"/>
          </a:xfrm>
        </p:spPr>
        <p:txBody>
          <a:bodyPr/>
          <a:lstStyle/>
          <a:p>
            <a:r>
              <a:rPr lang="en-GB" sz="3600" dirty="0">
                <a:latin typeface="Calibri" panose="020F0502020204030204" pitchFamily="34" charset="0"/>
              </a:rPr>
              <a:t>Qualities that influence usefulness of Accounting information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11144-0A80-492E-A667-66F71C220181}" type="slidenum">
              <a:rPr lang="en-GB" smtClean="0"/>
              <a:pPr/>
              <a:t>6</a:t>
            </a:fld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683568" y="2564904"/>
            <a:ext cx="7848872" cy="4539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latin typeface="Calibri" panose="020F0502020204030204" pitchFamily="34" charset="0"/>
              </a:rPr>
              <a:t>Comparability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rgbClr val="7030A0"/>
                </a:solidFill>
                <a:latin typeface="Calibri" panose="020F0502020204030204" pitchFamily="34" charset="0"/>
              </a:rPr>
              <a:t>Standardisation; comparisons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latin typeface="Calibri" panose="020F0502020204030204" pitchFamily="34" charset="0"/>
              </a:rPr>
              <a:t>Verifiability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rgbClr val="7030A0"/>
                </a:solidFill>
                <a:latin typeface="Calibri" panose="020F0502020204030204" pitchFamily="34" charset="0"/>
              </a:rPr>
              <a:t>Subjective judgement, evidence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latin typeface="Calibri" panose="020F0502020204030204" pitchFamily="34" charset="0"/>
              </a:rPr>
              <a:t>Timeliness</a:t>
            </a:r>
          </a:p>
          <a:p>
            <a:pPr marL="7429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rgbClr val="7030A0"/>
                </a:solidFill>
                <a:latin typeface="Calibri" panose="020F0502020204030204" pitchFamily="34" charset="0"/>
              </a:rPr>
              <a:t>Up to date information, in time for decision making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2400" dirty="0" err="1">
                <a:latin typeface="Calibri" panose="020F0502020204030204" pitchFamily="34" charset="0"/>
              </a:rPr>
              <a:t>Understandability</a:t>
            </a:r>
            <a:endParaRPr lang="en-GB" sz="2400" dirty="0">
              <a:latin typeface="Calibri" panose="020F0502020204030204" pitchFamily="34" charset="0"/>
            </a:endParaRPr>
          </a:p>
          <a:p>
            <a:pPr marL="7429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rgbClr val="7030A0"/>
                </a:solidFill>
                <a:latin typeface="Calibri" panose="020F0502020204030204" pitchFamily="34" charset="0"/>
              </a:rPr>
              <a:t>For non-accountants; as clear as possible (myth or reality?)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latin typeface="Calibri" panose="020F0502020204030204" pitchFamily="34" charset="0"/>
              </a:rPr>
              <a:t>Cost constraint</a:t>
            </a:r>
          </a:p>
          <a:p>
            <a:pPr marL="7429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rgbClr val="7030A0"/>
                </a:solidFill>
                <a:latin typeface="Calibri" panose="020F0502020204030204" pitchFamily="34" charset="0"/>
              </a:rPr>
              <a:t>Benefits of information must outweigh cost of producing 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6647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2"/>
          <p:cNvSpPr txBox="1">
            <a:spLocks noChangeArrowheads="1"/>
          </p:cNvSpPr>
          <p:nvPr/>
        </p:nvSpPr>
        <p:spPr bwMode="auto">
          <a:xfrm>
            <a:off x="1178718" y="256486"/>
            <a:ext cx="8634413" cy="3539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1700" b="1" dirty="0">
                <a:solidFill>
                  <a:srgbClr val="CC0000"/>
                </a:solidFill>
                <a:latin typeface="Arial" charset="0"/>
                <a:cs typeface="Arial" charset="0"/>
              </a:rPr>
              <a:t>The qualities that influence the usefulness of accounting information</a:t>
            </a:r>
            <a:endParaRPr lang="en-GB" sz="1700" dirty="0">
              <a:solidFill>
                <a:srgbClr val="CC0000"/>
              </a:solidFill>
              <a:latin typeface="Arial" charset="0"/>
              <a:cs typeface="Arial" charset="0"/>
            </a:endParaRPr>
          </a:p>
        </p:txBody>
      </p:sp>
      <p:grpSp>
        <p:nvGrpSpPr>
          <p:cNvPr id="2" name="Group 66"/>
          <p:cNvGrpSpPr>
            <a:grpSpLocks/>
          </p:cNvGrpSpPr>
          <p:nvPr/>
        </p:nvGrpSpPr>
        <p:grpSpPr bwMode="auto">
          <a:xfrm>
            <a:off x="244475" y="790575"/>
            <a:ext cx="8661400" cy="5930900"/>
            <a:chOff x="160" y="336"/>
            <a:chExt cx="5456" cy="3736"/>
          </a:xfrm>
        </p:grpSpPr>
        <p:sp>
          <p:nvSpPr>
            <p:cNvPr id="16451" name="AutoShape 67"/>
            <p:cNvSpPr>
              <a:spLocks noChangeArrowheads="1"/>
            </p:cNvSpPr>
            <p:nvPr/>
          </p:nvSpPr>
          <p:spPr bwMode="auto">
            <a:xfrm>
              <a:off x="216" y="336"/>
              <a:ext cx="5400" cy="3680"/>
            </a:xfrm>
            <a:prstGeom prst="roundRect">
              <a:avLst>
                <a:gd name="adj" fmla="val 7588"/>
              </a:avLst>
            </a:prstGeom>
            <a:solidFill>
              <a:srgbClr val="E2C8A8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6452" name="Text Box 68"/>
            <p:cNvSpPr txBox="1">
              <a:spLocks noChangeArrowheads="1"/>
            </p:cNvSpPr>
            <p:nvPr/>
          </p:nvSpPr>
          <p:spPr bwMode="auto">
            <a:xfrm>
              <a:off x="328" y="456"/>
              <a:ext cx="1208" cy="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sz="2000" b="1">
                  <a:solidFill>
                    <a:srgbClr val="CC0000"/>
                  </a:solidFill>
                  <a:latin typeface="Arial" charset="0"/>
                  <a:cs typeface="Arial" charset="0"/>
                </a:rPr>
                <a:t>COST CONSTRAINT</a:t>
              </a:r>
            </a:p>
          </p:txBody>
        </p:sp>
        <p:sp>
          <p:nvSpPr>
            <p:cNvPr id="16453" name="AutoShape 69"/>
            <p:cNvSpPr>
              <a:spLocks noChangeArrowheads="1"/>
            </p:cNvSpPr>
            <p:nvPr/>
          </p:nvSpPr>
          <p:spPr bwMode="auto">
            <a:xfrm>
              <a:off x="160" y="2416"/>
              <a:ext cx="794" cy="480"/>
            </a:xfrm>
            <a:prstGeom prst="cube">
              <a:avLst>
                <a:gd name="adj" fmla="val 10833"/>
              </a:avLst>
            </a:prstGeom>
            <a:solidFill>
              <a:srgbClr val="FFCC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6454" name="AutoShape 70"/>
            <p:cNvSpPr>
              <a:spLocks noChangeArrowheads="1"/>
            </p:cNvSpPr>
            <p:nvPr/>
          </p:nvSpPr>
          <p:spPr bwMode="auto">
            <a:xfrm>
              <a:off x="1121" y="2416"/>
              <a:ext cx="794" cy="480"/>
            </a:xfrm>
            <a:prstGeom prst="cube">
              <a:avLst>
                <a:gd name="adj" fmla="val 11667"/>
              </a:avLst>
            </a:prstGeom>
            <a:solidFill>
              <a:srgbClr val="FFCC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6455" name="Rectangle 71"/>
            <p:cNvSpPr>
              <a:spLocks noChangeArrowheads="1"/>
            </p:cNvSpPr>
            <p:nvPr/>
          </p:nvSpPr>
          <p:spPr bwMode="auto">
            <a:xfrm>
              <a:off x="2187" y="656"/>
              <a:ext cx="875" cy="88"/>
            </a:xfrm>
            <a:prstGeom prst="rect">
              <a:avLst/>
            </a:prstGeom>
            <a:solidFill>
              <a:srgbClr val="6633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grpSp>
          <p:nvGrpSpPr>
            <p:cNvPr id="3" name="Group 72"/>
            <p:cNvGrpSpPr>
              <a:grpSpLocks/>
            </p:cNvGrpSpPr>
            <p:nvPr/>
          </p:nvGrpSpPr>
          <p:grpSpPr bwMode="auto">
            <a:xfrm>
              <a:off x="2942" y="440"/>
              <a:ext cx="1144" cy="480"/>
              <a:chOff x="2740" y="416"/>
              <a:chExt cx="1144" cy="480"/>
            </a:xfrm>
          </p:grpSpPr>
          <p:sp>
            <p:nvSpPr>
              <p:cNvPr id="16457" name="AutoShape 73"/>
              <p:cNvSpPr>
                <a:spLocks noChangeArrowheads="1"/>
              </p:cNvSpPr>
              <p:nvPr/>
            </p:nvSpPr>
            <p:spPr bwMode="auto">
              <a:xfrm>
                <a:off x="2862" y="416"/>
                <a:ext cx="958" cy="480"/>
              </a:xfrm>
              <a:prstGeom prst="cube">
                <a:avLst>
                  <a:gd name="adj" fmla="val 10000"/>
                </a:avLst>
              </a:prstGeom>
              <a:solidFill>
                <a:srgbClr val="FFCC9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6458" name="Text Box 74"/>
              <p:cNvSpPr txBox="1">
                <a:spLocks noChangeArrowheads="1"/>
              </p:cNvSpPr>
              <p:nvPr/>
            </p:nvSpPr>
            <p:spPr bwMode="auto">
              <a:xfrm>
                <a:off x="2740" y="558"/>
                <a:ext cx="1144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GB" sz="2000" b="1">
                    <a:latin typeface="Arial" charset="0"/>
                    <a:cs typeface="Arial" charset="0"/>
                  </a:rPr>
                  <a:t>Qualities</a:t>
                </a:r>
              </a:p>
            </p:txBody>
          </p:sp>
        </p:grpSp>
        <p:sp>
          <p:nvSpPr>
            <p:cNvPr id="16459" name="AutoShape 75"/>
            <p:cNvSpPr>
              <a:spLocks noChangeArrowheads="1"/>
            </p:cNvSpPr>
            <p:nvPr/>
          </p:nvSpPr>
          <p:spPr bwMode="auto">
            <a:xfrm>
              <a:off x="4478" y="1024"/>
              <a:ext cx="1000" cy="480"/>
            </a:xfrm>
            <a:prstGeom prst="cube">
              <a:avLst>
                <a:gd name="adj" fmla="val 11667"/>
              </a:avLst>
            </a:prstGeom>
            <a:solidFill>
              <a:srgbClr val="FFCC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6460" name="Text Box 76"/>
            <p:cNvSpPr txBox="1">
              <a:spLocks noChangeArrowheads="1"/>
            </p:cNvSpPr>
            <p:nvPr/>
          </p:nvSpPr>
          <p:spPr bwMode="auto">
            <a:xfrm>
              <a:off x="4430" y="1172"/>
              <a:ext cx="1048" cy="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sz="1700" b="1">
                  <a:latin typeface="Arial" charset="0"/>
                  <a:cs typeface="Arial" charset="0"/>
                </a:rPr>
                <a:t>Enhancing</a:t>
              </a:r>
            </a:p>
          </p:txBody>
        </p:sp>
        <p:sp>
          <p:nvSpPr>
            <p:cNvPr id="16461" name="AutoShape 77"/>
            <p:cNvSpPr>
              <a:spLocks noChangeArrowheads="1"/>
            </p:cNvSpPr>
            <p:nvPr/>
          </p:nvSpPr>
          <p:spPr bwMode="auto">
            <a:xfrm>
              <a:off x="666" y="1758"/>
              <a:ext cx="794" cy="480"/>
            </a:xfrm>
            <a:prstGeom prst="cube">
              <a:avLst>
                <a:gd name="adj" fmla="val 10833"/>
              </a:avLst>
            </a:prstGeom>
            <a:solidFill>
              <a:srgbClr val="FFCC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6462" name="Text Box 78"/>
            <p:cNvSpPr txBox="1">
              <a:spLocks noChangeArrowheads="1"/>
            </p:cNvSpPr>
            <p:nvPr/>
          </p:nvSpPr>
          <p:spPr bwMode="auto">
            <a:xfrm>
              <a:off x="654" y="1908"/>
              <a:ext cx="756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sz="1600" b="1">
                  <a:latin typeface="Arial" charset="0"/>
                  <a:cs typeface="Arial" charset="0"/>
                </a:rPr>
                <a:t>Relevance</a:t>
              </a:r>
            </a:p>
          </p:txBody>
        </p:sp>
        <p:sp>
          <p:nvSpPr>
            <p:cNvPr id="16463" name="AutoShape 79"/>
            <p:cNvSpPr>
              <a:spLocks noChangeArrowheads="1"/>
            </p:cNvSpPr>
            <p:nvPr/>
          </p:nvSpPr>
          <p:spPr bwMode="auto">
            <a:xfrm>
              <a:off x="3034" y="1764"/>
              <a:ext cx="950" cy="480"/>
            </a:xfrm>
            <a:prstGeom prst="cube">
              <a:avLst>
                <a:gd name="adj" fmla="val 11667"/>
              </a:avLst>
            </a:prstGeom>
            <a:solidFill>
              <a:srgbClr val="FFCC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6464" name="Text Box 80"/>
            <p:cNvSpPr txBox="1">
              <a:spLocks noChangeArrowheads="1"/>
            </p:cNvSpPr>
            <p:nvPr/>
          </p:nvSpPr>
          <p:spPr bwMode="auto">
            <a:xfrm>
              <a:off x="2986" y="1834"/>
              <a:ext cx="1012" cy="3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sz="1600" b="1">
                  <a:latin typeface="Arial" charset="0"/>
                  <a:cs typeface="Arial" charset="0"/>
                </a:rPr>
                <a:t>Faithful representation</a:t>
              </a:r>
            </a:p>
          </p:txBody>
        </p:sp>
        <p:sp>
          <p:nvSpPr>
            <p:cNvPr id="16465" name="Text Box 81"/>
            <p:cNvSpPr txBox="1">
              <a:spLocks noChangeArrowheads="1"/>
            </p:cNvSpPr>
            <p:nvPr/>
          </p:nvSpPr>
          <p:spPr bwMode="auto">
            <a:xfrm>
              <a:off x="1046" y="2532"/>
              <a:ext cx="892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sz="1400" b="1">
                  <a:latin typeface="Arial" charset="0"/>
                  <a:cs typeface="Arial" charset="0"/>
                </a:rPr>
                <a:t>Confirmatory value</a:t>
              </a:r>
            </a:p>
          </p:txBody>
        </p:sp>
        <p:sp>
          <p:nvSpPr>
            <p:cNvPr id="16466" name="Text Box 82"/>
            <p:cNvSpPr txBox="1">
              <a:spLocks noChangeArrowheads="1"/>
            </p:cNvSpPr>
            <p:nvPr/>
          </p:nvSpPr>
          <p:spPr bwMode="auto">
            <a:xfrm>
              <a:off x="178" y="2532"/>
              <a:ext cx="694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sz="1400" b="1">
                  <a:latin typeface="Arial" charset="0"/>
                  <a:cs typeface="Arial" charset="0"/>
                </a:rPr>
                <a:t>Predictive value</a:t>
              </a:r>
            </a:p>
          </p:txBody>
        </p:sp>
        <p:grpSp>
          <p:nvGrpSpPr>
            <p:cNvPr id="4" name="Group 83"/>
            <p:cNvGrpSpPr>
              <a:grpSpLocks/>
            </p:cNvGrpSpPr>
            <p:nvPr/>
          </p:nvGrpSpPr>
          <p:grpSpPr bwMode="auto">
            <a:xfrm>
              <a:off x="2104" y="2400"/>
              <a:ext cx="2638" cy="496"/>
              <a:chOff x="2070" y="2376"/>
              <a:chExt cx="2638" cy="496"/>
            </a:xfrm>
          </p:grpSpPr>
          <p:sp>
            <p:nvSpPr>
              <p:cNvPr id="16468" name="AutoShape 84"/>
              <p:cNvSpPr>
                <a:spLocks noChangeArrowheads="1"/>
              </p:cNvSpPr>
              <p:nvPr/>
            </p:nvSpPr>
            <p:spPr bwMode="auto">
              <a:xfrm>
                <a:off x="2103" y="2392"/>
                <a:ext cx="878" cy="480"/>
              </a:xfrm>
              <a:prstGeom prst="cube">
                <a:avLst>
                  <a:gd name="adj" fmla="val 11667"/>
                </a:avLst>
              </a:prstGeom>
              <a:solidFill>
                <a:srgbClr val="FFCC9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6469" name="AutoShape 85"/>
              <p:cNvSpPr>
                <a:spLocks noChangeArrowheads="1"/>
              </p:cNvSpPr>
              <p:nvPr/>
            </p:nvSpPr>
            <p:spPr bwMode="auto">
              <a:xfrm>
                <a:off x="3136" y="2382"/>
                <a:ext cx="662" cy="480"/>
              </a:xfrm>
              <a:prstGeom prst="cube">
                <a:avLst>
                  <a:gd name="adj" fmla="val 11667"/>
                </a:avLst>
              </a:prstGeom>
              <a:solidFill>
                <a:srgbClr val="FFCC9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6470" name="AutoShape 86"/>
              <p:cNvSpPr>
                <a:spLocks noChangeArrowheads="1"/>
              </p:cNvSpPr>
              <p:nvPr/>
            </p:nvSpPr>
            <p:spPr bwMode="auto">
              <a:xfrm>
                <a:off x="3964" y="2376"/>
                <a:ext cx="738" cy="480"/>
              </a:xfrm>
              <a:prstGeom prst="cube">
                <a:avLst>
                  <a:gd name="adj" fmla="val 11667"/>
                </a:avLst>
              </a:prstGeom>
              <a:solidFill>
                <a:srgbClr val="FFCC9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6471" name="Text Box 87"/>
              <p:cNvSpPr txBox="1">
                <a:spLocks noChangeArrowheads="1"/>
              </p:cNvSpPr>
              <p:nvPr/>
            </p:nvSpPr>
            <p:spPr bwMode="auto">
              <a:xfrm>
                <a:off x="3018" y="2550"/>
                <a:ext cx="832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GB" sz="1400" b="1">
                    <a:latin typeface="Arial" charset="0"/>
                    <a:cs typeface="Arial" charset="0"/>
                  </a:rPr>
                  <a:t>Neutrality</a:t>
                </a:r>
              </a:p>
            </p:txBody>
          </p:sp>
          <p:sp>
            <p:nvSpPr>
              <p:cNvPr id="16472" name="Text Box 88"/>
              <p:cNvSpPr txBox="1">
                <a:spLocks noChangeArrowheads="1"/>
              </p:cNvSpPr>
              <p:nvPr/>
            </p:nvSpPr>
            <p:spPr bwMode="auto">
              <a:xfrm>
                <a:off x="2070" y="2554"/>
                <a:ext cx="884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GB" sz="1400" b="1">
                    <a:latin typeface="Arial" charset="0"/>
                    <a:cs typeface="Arial" charset="0"/>
                  </a:rPr>
                  <a:t>Completeness</a:t>
                </a:r>
              </a:p>
            </p:txBody>
          </p:sp>
          <p:sp>
            <p:nvSpPr>
              <p:cNvPr id="16473" name="Text Box 89"/>
              <p:cNvSpPr txBox="1">
                <a:spLocks noChangeArrowheads="1"/>
              </p:cNvSpPr>
              <p:nvPr/>
            </p:nvSpPr>
            <p:spPr bwMode="auto">
              <a:xfrm>
                <a:off x="3880" y="2482"/>
                <a:ext cx="828" cy="3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GB" sz="1400" b="1">
                    <a:latin typeface="Arial" charset="0"/>
                    <a:cs typeface="Arial" charset="0"/>
                  </a:rPr>
                  <a:t>Freedom from error</a:t>
                </a:r>
              </a:p>
            </p:txBody>
          </p:sp>
        </p:grpSp>
        <p:sp>
          <p:nvSpPr>
            <p:cNvPr id="16474" name="AutoShape 90"/>
            <p:cNvSpPr>
              <a:spLocks noChangeArrowheads="1"/>
            </p:cNvSpPr>
            <p:nvPr/>
          </p:nvSpPr>
          <p:spPr bwMode="auto">
            <a:xfrm>
              <a:off x="3856" y="3592"/>
              <a:ext cx="794" cy="480"/>
            </a:xfrm>
            <a:prstGeom prst="cube">
              <a:avLst>
                <a:gd name="adj" fmla="val 11667"/>
              </a:avLst>
            </a:prstGeom>
            <a:solidFill>
              <a:srgbClr val="FFCC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6475" name="AutoShape 91"/>
            <p:cNvSpPr>
              <a:spLocks noChangeArrowheads="1"/>
            </p:cNvSpPr>
            <p:nvPr/>
          </p:nvSpPr>
          <p:spPr bwMode="auto">
            <a:xfrm>
              <a:off x="4817" y="3592"/>
              <a:ext cx="794" cy="480"/>
            </a:xfrm>
            <a:prstGeom prst="cube">
              <a:avLst>
                <a:gd name="adj" fmla="val 11667"/>
              </a:avLst>
            </a:prstGeom>
            <a:solidFill>
              <a:srgbClr val="FFCC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6476" name="AutoShape 92"/>
            <p:cNvSpPr>
              <a:spLocks noChangeArrowheads="1"/>
            </p:cNvSpPr>
            <p:nvPr/>
          </p:nvSpPr>
          <p:spPr bwMode="auto">
            <a:xfrm>
              <a:off x="1808" y="3592"/>
              <a:ext cx="914" cy="480"/>
            </a:xfrm>
            <a:prstGeom prst="cube">
              <a:avLst>
                <a:gd name="adj" fmla="val 11667"/>
              </a:avLst>
            </a:prstGeom>
            <a:solidFill>
              <a:srgbClr val="FFCC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6477" name="AutoShape 93"/>
            <p:cNvSpPr>
              <a:spLocks noChangeArrowheads="1"/>
            </p:cNvSpPr>
            <p:nvPr/>
          </p:nvSpPr>
          <p:spPr bwMode="auto">
            <a:xfrm>
              <a:off x="2889" y="3592"/>
              <a:ext cx="794" cy="480"/>
            </a:xfrm>
            <a:prstGeom prst="cube">
              <a:avLst>
                <a:gd name="adj" fmla="val 11667"/>
              </a:avLst>
            </a:prstGeom>
            <a:solidFill>
              <a:srgbClr val="FFCC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6478" name="Text Box 94"/>
            <p:cNvSpPr txBox="1">
              <a:spLocks noChangeArrowheads="1"/>
            </p:cNvSpPr>
            <p:nvPr/>
          </p:nvSpPr>
          <p:spPr bwMode="auto">
            <a:xfrm>
              <a:off x="1788" y="3768"/>
              <a:ext cx="88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sz="1400" b="1">
                  <a:latin typeface="Arial" charset="0"/>
                  <a:cs typeface="Arial" charset="0"/>
                </a:rPr>
                <a:t>Comparability</a:t>
              </a:r>
            </a:p>
          </p:txBody>
        </p:sp>
        <p:sp>
          <p:nvSpPr>
            <p:cNvPr id="16479" name="Text Box 95"/>
            <p:cNvSpPr txBox="1">
              <a:spLocks noChangeArrowheads="1"/>
            </p:cNvSpPr>
            <p:nvPr/>
          </p:nvSpPr>
          <p:spPr bwMode="auto">
            <a:xfrm>
              <a:off x="2828" y="3776"/>
              <a:ext cx="832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sz="1400" b="1">
                  <a:latin typeface="Arial" charset="0"/>
                  <a:cs typeface="Arial" charset="0"/>
                </a:rPr>
                <a:t>Timeliness</a:t>
              </a:r>
            </a:p>
          </p:txBody>
        </p:sp>
        <p:sp>
          <p:nvSpPr>
            <p:cNvPr id="16480" name="Text Box 96"/>
            <p:cNvSpPr txBox="1">
              <a:spLocks noChangeArrowheads="1"/>
            </p:cNvSpPr>
            <p:nvPr/>
          </p:nvSpPr>
          <p:spPr bwMode="auto">
            <a:xfrm>
              <a:off x="4784" y="3708"/>
              <a:ext cx="788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sz="1400" b="1">
                  <a:latin typeface="Arial" charset="0"/>
                  <a:cs typeface="Arial" charset="0"/>
                </a:rPr>
                <a:t>Understand-ability</a:t>
              </a:r>
            </a:p>
          </p:txBody>
        </p:sp>
        <p:sp>
          <p:nvSpPr>
            <p:cNvPr id="16481" name="Text Box 97"/>
            <p:cNvSpPr txBox="1">
              <a:spLocks noChangeArrowheads="1"/>
            </p:cNvSpPr>
            <p:nvPr/>
          </p:nvSpPr>
          <p:spPr bwMode="auto">
            <a:xfrm>
              <a:off x="3796" y="3772"/>
              <a:ext cx="832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sz="1400" b="1">
                  <a:latin typeface="Arial" charset="0"/>
                  <a:cs typeface="Arial" charset="0"/>
                </a:rPr>
                <a:t>Verifiability</a:t>
              </a:r>
            </a:p>
          </p:txBody>
        </p:sp>
        <p:sp>
          <p:nvSpPr>
            <p:cNvPr id="16482" name="AutoShape 98"/>
            <p:cNvSpPr>
              <a:spLocks noChangeArrowheads="1"/>
            </p:cNvSpPr>
            <p:nvPr/>
          </p:nvSpPr>
          <p:spPr bwMode="auto">
            <a:xfrm>
              <a:off x="1734" y="1030"/>
              <a:ext cx="998" cy="480"/>
            </a:xfrm>
            <a:prstGeom prst="cube">
              <a:avLst>
                <a:gd name="adj" fmla="val 10833"/>
              </a:avLst>
            </a:prstGeom>
            <a:solidFill>
              <a:srgbClr val="FFCC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6483" name="AutoShape 99"/>
            <p:cNvSpPr>
              <a:spLocks noChangeArrowheads="1"/>
            </p:cNvSpPr>
            <p:nvPr/>
          </p:nvSpPr>
          <p:spPr bwMode="auto">
            <a:xfrm>
              <a:off x="2140" y="720"/>
              <a:ext cx="176" cy="334"/>
            </a:xfrm>
            <a:prstGeom prst="downArrow">
              <a:avLst>
                <a:gd name="adj1" fmla="val 50000"/>
                <a:gd name="adj2" fmla="val 35064"/>
              </a:avLst>
            </a:prstGeom>
            <a:solidFill>
              <a:srgbClr val="6633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6484" name="AutoShape 100"/>
            <p:cNvSpPr>
              <a:spLocks noChangeArrowheads="1"/>
            </p:cNvSpPr>
            <p:nvPr/>
          </p:nvSpPr>
          <p:spPr bwMode="auto">
            <a:xfrm flipH="1">
              <a:off x="4874" y="704"/>
              <a:ext cx="176" cy="346"/>
            </a:xfrm>
            <a:prstGeom prst="downArrow">
              <a:avLst>
                <a:gd name="adj1" fmla="val 50000"/>
                <a:gd name="adj2" fmla="val 36324"/>
              </a:avLst>
            </a:prstGeom>
            <a:solidFill>
              <a:srgbClr val="6633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6485" name="Rectangle 101"/>
            <p:cNvSpPr>
              <a:spLocks noChangeArrowheads="1"/>
            </p:cNvSpPr>
            <p:nvPr/>
          </p:nvSpPr>
          <p:spPr bwMode="auto">
            <a:xfrm flipH="1">
              <a:off x="2708" y="1228"/>
              <a:ext cx="832" cy="86"/>
            </a:xfrm>
            <a:prstGeom prst="rect">
              <a:avLst/>
            </a:prstGeom>
            <a:solidFill>
              <a:srgbClr val="6633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6486" name="AutoShape 102"/>
            <p:cNvSpPr>
              <a:spLocks noChangeArrowheads="1"/>
            </p:cNvSpPr>
            <p:nvPr/>
          </p:nvSpPr>
          <p:spPr bwMode="auto">
            <a:xfrm flipH="1">
              <a:off x="3408" y="1308"/>
              <a:ext cx="176" cy="482"/>
            </a:xfrm>
            <a:prstGeom prst="downArrow">
              <a:avLst>
                <a:gd name="adj1" fmla="val 50000"/>
                <a:gd name="adj2" fmla="val 36376"/>
              </a:avLst>
            </a:prstGeom>
            <a:solidFill>
              <a:srgbClr val="6633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6487" name="Rectangle 103"/>
            <p:cNvSpPr>
              <a:spLocks noChangeArrowheads="1"/>
            </p:cNvSpPr>
            <p:nvPr/>
          </p:nvSpPr>
          <p:spPr bwMode="auto">
            <a:xfrm>
              <a:off x="1038" y="1226"/>
              <a:ext cx="698" cy="88"/>
            </a:xfrm>
            <a:prstGeom prst="rect">
              <a:avLst/>
            </a:prstGeom>
            <a:solidFill>
              <a:srgbClr val="6633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6488" name="AutoShape 104"/>
            <p:cNvSpPr>
              <a:spLocks noChangeArrowheads="1"/>
            </p:cNvSpPr>
            <p:nvPr/>
          </p:nvSpPr>
          <p:spPr bwMode="auto">
            <a:xfrm>
              <a:off x="995" y="1302"/>
              <a:ext cx="176" cy="482"/>
            </a:xfrm>
            <a:prstGeom prst="downArrow">
              <a:avLst>
                <a:gd name="adj1" fmla="val 50000"/>
                <a:gd name="adj2" fmla="val 36376"/>
              </a:avLst>
            </a:prstGeom>
            <a:solidFill>
              <a:srgbClr val="6633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6489" name="Rectangle 105"/>
            <p:cNvSpPr>
              <a:spLocks noChangeArrowheads="1"/>
            </p:cNvSpPr>
            <p:nvPr/>
          </p:nvSpPr>
          <p:spPr bwMode="auto">
            <a:xfrm rot="5400000">
              <a:off x="4104" y="2329"/>
              <a:ext cx="1723" cy="88"/>
            </a:xfrm>
            <a:prstGeom prst="rect">
              <a:avLst/>
            </a:prstGeom>
            <a:solidFill>
              <a:srgbClr val="6633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6490" name="Text Box 106"/>
            <p:cNvSpPr txBox="1">
              <a:spLocks noChangeArrowheads="1"/>
            </p:cNvSpPr>
            <p:nvPr/>
          </p:nvSpPr>
          <p:spPr bwMode="auto">
            <a:xfrm>
              <a:off x="1626" y="1180"/>
              <a:ext cx="1144" cy="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sz="1700" b="1">
                  <a:latin typeface="Arial" charset="0"/>
                  <a:cs typeface="Arial" charset="0"/>
                </a:rPr>
                <a:t>Fundamental</a:t>
              </a:r>
            </a:p>
          </p:txBody>
        </p:sp>
        <p:sp>
          <p:nvSpPr>
            <p:cNvPr id="16491" name="Rectangle 107"/>
            <p:cNvSpPr>
              <a:spLocks noChangeArrowheads="1"/>
            </p:cNvSpPr>
            <p:nvPr/>
          </p:nvSpPr>
          <p:spPr bwMode="auto">
            <a:xfrm flipH="1">
              <a:off x="4000" y="652"/>
              <a:ext cx="1012" cy="94"/>
            </a:xfrm>
            <a:prstGeom prst="rect">
              <a:avLst/>
            </a:prstGeom>
            <a:solidFill>
              <a:srgbClr val="6633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6492" name="Rectangle 108"/>
            <p:cNvSpPr>
              <a:spLocks noChangeArrowheads="1"/>
            </p:cNvSpPr>
            <p:nvPr/>
          </p:nvSpPr>
          <p:spPr bwMode="auto">
            <a:xfrm>
              <a:off x="456" y="1990"/>
              <a:ext cx="210" cy="94"/>
            </a:xfrm>
            <a:prstGeom prst="rect">
              <a:avLst/>
            </a:prstGeom>
            <a:solidFill>
              <a:srgbClr val="6633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6493" name="AutoShape 109"/>
            <p:cNvSpPr>
              <a:spLocks noChangeArrowheads="1"/>
            </p:cNvSpPr>
            <p:nvPr/>
          </p:nvSpPr>
          <p:spPr bwMode="auto">
            <a:xfrm>
              <a:off x="333" y="1990"/>
              <a:ext cx="176" cy="462"/>
            </a:xfrm>
            <a:prstGeom prst="downArrow">
              <a:avLst>
                <a:gd name="adj1" fmla="val 50000"/>
                <a:gd name="adj2" fmla="val 41866"/>
              </a:avLst>
            </a:prstGeom>
            <a:solidFill>
              <a:srgbClr val="6633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6494" name="Rectangle 110"/>
            <p:cNvSpPr>
              <a:spLocks noChangeArrowheads="1"/>
            </p:cNvSpPr>
            <p:nvPr/>
          </p:nvSpPr>
          <p:spPr bwMode="auto">
            <a:xfrm>
              <a:off x="1436" y="1986"/>
              <a:ext cx="210" cy="94"/>
            </a:xfrm>
            <a:prstGeom prst="rect">
              <a:avLst/>
            </a:prstGeom>
            <a:solidFill>
              <a:srgbClr val="6633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6495" name="AutoShape 111"/>
            <p:cNvSpPr>
              <a:spLocks noChangeArrowheads="1"/>
            </p:cNvSpPr>
            <p:nvPr/>
          </p:nvSpPr>
          <p:spPr bwMode="auto">
            <a:xfrm>
              <a:off x="1597" y="1987"/>
              <a:ext cx="176" cy="461"/>
            </a:xfrm>
            <a:prstGeom prst="downArrow">
              <a:avLst>
                <a:gd name="adj1" fmla="val 50000"/>
                <a:gd name="adj2" fmla="val 41776"/>
              </a:avLst>
            </a:prstGeom>
            <a:solidFill>
              <a:srgbClr val="6633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6496" name="AutoShape 112"/>
            <p:cNvSpPr>
              <a:spLocks noChangeArrowheads="1"/>
            </p:cNvSpPr>
            <p:nvPr/>
          </p:nvSpPr>
          <p:spPr bwMode="auto">
            <a:xfrm>
              <a:off x="2485" y="1984"/>
              <a:ext cx="176" cy="464"/>
            </a:xfrm>
            <a:prstGeom prst="downArrow">
              <a:avLst>
                <a:gd name="adj1" fmla="val 50000"/>
                <a:gd name="adj2" fmla="val 42048"/>
              </a:avLst>
            </a:prstGeom>
            <a:solidFill>
              <a:srgbClr val="6633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6497" name="AutoShape 113"/>
            <p:cNvSpPr>
              <a:spLocks noChangeArrowheads="1"/>
            </p:cNvSpPr>
            <p:nvPr/>
          </p:nvSpPr>
          <p:spPr bwMode="auto">
            <a:xfrm>
              <a:off x="4285" y="1970"/>
              <a:ext cx="176" cy="458"/>
            </a:xfrm>
            <a:prstGeom prst="downArrow">
              <a:avLst>
                <a:gd name="adj1" fmla="val 50000"/>
                <a:gd name="adj2" fmla="val 41504"/>
              </a:avLst>
            </a:prstGeom>
            <a:solidFill>
              <a:srgbClr val="6633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6498" name="Rectangle 114"/>
            <p:cNvSpPr>
              <a:spLocks noChangeArrowheads="1"/>
            </p:cNvSpPr>
            <p:nvPr/>
          </p:nvSpPr>
          <p:spPr bwMode="auto">
            <a:xfrm>
              <a:off x="2531" y="1982"/>
              <a:ext cx="501" cy="88"/>
            </a:xfrm>
            <a:prstGeom prst="rect">
              <a:avLst/>
            </a:prstGeom>
            <a:solidFill>
              <a:srgbClr val="6633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6499" name="Rectangle 115"/>
            <p:cNvSpPr>
              <a:spLocks noChangeArrowheads="1"/>
            </p:cNvSpPr>
            <p:nvPr/>
          </p:nvSpPr>
          <p:spPr bwMode="auto">
            <a:xfrm>
              <a:off x="3960" y="1970"/>
              <a:ext cx="456" cy="88"/>
            </a:xfrm>
            <a:prstGeom prst="rect">
              <a:avLst/>
            </a:prstGeom>
            <a:solidFill>
              <a:srgbClr val="6633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6500" name="AutoShape 116"/>
            <p:cNvSpPr>
              <a:spLocks noChangeArrowheads="1"/>
            </p:cNvSpPr>
            <p:nvPr/>
          </p:nvSpPr>
          <p:spPr bwMode="auto">
            <a:xfrm>
              <a:off x="3410" y="2248"/>
              <a:ext cx="170" cy="192"/>
            </a:xfrm>
            <a:prstGeom prst="downArrow">
              <a:avLst>
                <a:gd name="adj1" fmla="val 49407"/>
                <a:gd name="adj2" fmla="val 40586"/>
              </a:avLst>
            </a:prstGeom>
            <a:solidFill>
              <a:srgbClr val="6633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6501" name="AutoShape 117"/>
            <p:cNvSpPr>
              <a:spLocks noChangeArrowheads="1"/>
            </p:cNvSpPr>
            <p:nvPr/>
          </p:nvSpPr>
          <p:spPr bwMode="auto">
            <a:xfrm>
              <a:off x="5125" y="3160"/>
              <a:ext cx="176" cy="460"/>
            </a:xfrm>
            <a:prstGeom prst="downArrow">
              <a:avLst>
                <a:gd name="adj1" fmla="val 50000"/>
                <a:gd name="adj2" fmla="val 41685"/>
              </a:avLst>
            </a:prstGeom>
            <a:solidFill>
              <a:srgbClr val="6633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6502" name="Rectangle 118"/>
            <p:cNvSpPr>
              <a:spLocks noChangeArrowheads="1"/>
            </p:cNvSpPr>
            <p:nvPr/>
          </p:nvSpPr>
          <p:spPr bwMode="auto">
            <a:xfrm>
              <a:off x="2260" y="3162"/>
              <a:ext cx="2952" cy="88"/>
            </a:xfrm>
            <a:prstGeom prst="rect">
              <a:avLst/>
            </a:prstGeom>
            <a:solidFill>
              <a:srgbClr val="6633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6503" name="AutoShape 119"/>
            <p:cNvSpPr>
              <a:spLocks noChangeArrowheads="1"/>
            </p:cNvSpPr>
            <p:nvPr/>
          </p:nvSpPr>
          <p:spPr bwMode="auto">
            <a:xfrm>
              <a:off x="4161" y="3160"/>
              <a:ext cx="176" cy="460"/>
            </a:xfrm>
            <a:prstGeom prst="downArrow">
              <a:avLst>
                <a:gd name="adj1" fmla="val 50000"/>
                <a:gd name="adj2" fmla="val 41685"/>
              </a:avLst>
            </a:prstGeom>
            <a:solidFill>
              <a:srgbClr val="6633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6504" name="AutoShape 120"/>
            <p:cNvSpPr>
              <a:spLocks noChangeArrowheads="1"/>
            </p:cNvSpPr>
            <p:nvPr/>
          </p:nvSpPr>
          <p:spPr bwMode="auto">
            <a:xfrm>
              <a:off x="3197" y="3160"/>
              <a:ext cx="176" cy="460"/>
            </a:xfrm>
            <a:prstGeom prst="downArrow">
              <a:avLst>
                <a:gd name="adj1" fmla="val 50000"/>
                <a:gd name="adj2" fmla="val 41685"/>
              </a:avLst>
            </a:prstGeom>
            <a:solidFill>
              <a:srgbClr val="6633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6505" name="AutoShape 121"/>
            <p:cNvSpPr>
              <a:spLocks noChangeArrowheads="1"/>
            </p:cNvSpPr>
            <p:nvPr/>
          </p:nvSpPr>
          <p:spPr bwMode="auto">
            <a:xfrm>
              <a:off x="2173" y="3160"/>
              <a:ext cx="176" cy="460"/>
            </a:xfrm>
            <a:prstGeom prst="downArrow">
              <a:avLst>
                <a:gd name="adj1" fmla="val 50000"/>
                <a:gd name="adj2" fmla="val 41685"/>
              </a:avLst>
            </a:prstGeom>
            <a:solidFill>
              <a:srgbClr val="6633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6506" name="Rectangle 122"/>
            <p:cNvSpPr>
              <a:spLocks noChangeArrowheads="1"/>
            </p:cNvSpPr>
            <p:nvPr/>
          </p:nvSpPr>
          <p:spPr bwMode="auto">
            <a:xfrm rot="5400000">
              <a:off x="782" y="2447"/>
              <a:ext cx="504" cy="85"/>
            </a:xfrm>
            <a:prstGeom prst="rect">
              <a:avLst/>
            </a:prstGeom>
            <a:solidFill>
              <a:srgbClr val="6633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6507" name="Oval 123"/>
            <p:cNvSpPr>
              <a:spLocks noChangeArrowheads="1"/>
            </p:cNvSpPr>
            <p:nvPr/>
          </p:nvSpPr>
          <p:spPr bwMode="auto">
            <a:xfrm>
              <a:off x="536" y="3136"/>
              <a:ext cx="968" cy="544"/>
            </a:xfrm>
            <a:prstGeom prst="ellipse">
              <a:avLst/>
            </a:prstGeom>
            <a:solidFill>
              <a:srgbClr val="FF3300"/>
            </a:solidFill>
            <a:ln w="9525">
              <a:round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303200" prstMaterial="legacyMatte">
              <a:bevelT w="13500" h="13500" prst="angle"/>
              <a:bevelB w="13500" h="13500" prst="angle"/>
              <a:extrusionClr>
                <a:srgbClr val="FF3300"/>
              </a:extrusionClr>
            </a:sp3d>
          </p:spPr>
          <p:txBody>
            <a:bodyPr wrap="none" anchor="ctr">
              <a:flatTx/>
            </a:bodyPr>
            <a:lstStyle/>
            <a:p>
              <a:endParaRPr lang="en-GB"/>
            </a:p>
          </p:txBody>
        </p:sp>
        <p:sp>
          <p:nvSpPr>
            <p:cNvPr id="16508" name="AutoShape 124"/>
            <p:cNvSpPr>
              <a:spLocks noChangeArrowheads="1"/>
            </p:cNvSpPr>
            <p:nvPr/>
          </p:nvSpPr>
          <p:spPr bwMode="auto">
            <a:xfrm>
              <a:off x="946" y="2649"/>
              <a:ext cx="174" cy="464"/>
            </a:xfrm>
            <a:prstGeom prst="downArrow">
              <a:avLst>
                <a:gd name="adj1" fmla="val 50000"/>
                <a:gd name="adj2" fmla="val 42531"/>
              </a:avLst>
            </a:prstGeom>
            <a:solidFill>
              <a:srgbClr val="6633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6509" name="Text Box 125"/>
            <p:cNvSpPr txBox="1">
              <a:spLocks noChangeArrowheads="1"/>
            </p:cNvSpPr>
            <p:nvPr/>
          </p:nvSpPr>
          <p:spPr bwMode="auto">
            <a:xfrm>
              <a:off x="648" y="3224"/>
              <a:ext cx="756" cy="3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sz="1600" b="1">
                  <a:solidFill>
                    <a:srgbClr val="FFCC99"/>
                  </a:solidFill>
                  <a:latin typeface="Arial" charset="0"/>
                  <a:cs typeface="Arial" charset="0"/>
                </a:rPr>
                <a:t>Materiality threshold</a:t>
              </a:r>
            </a:p>
          </p:txBody>
        </p:sp>
      </p:grpSp>
      <p:sp>
        <p:nvSpPr>
          <p:cNvPr id="63" name="Slide Number Placeholder 6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11144-0A80-492E-A667-66F71C220181}" type="slidenum">
              <a:rPr lang="en-GB" smtClean="0"/>
              <a:pPr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57051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1236" y="1268760"/>
            <a:ext cx="8229600" cy="836712"/>
          </a:xfrm>
        </p:spPr>
        <p:txBody>
          <a:bodyPr/>
          <a:lstStyle/>
          <a:p>
            <a:r>
              <a:rPr lang="en-GB" sz="3600" dirty="0">
                <a:latin typeface="Calibri" panose="020F0502020204030204" pitchFamily="34" charset="0"/>
              </a:rPr>
              <a:t>Types of Accounting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11144-0A80-492E-A667-66F71C220181}" type="slidenum">
              <a:rPr lang="en-GB" smtClean="0"/>
              <a:pPr/>
              <a:t>8</a:t>
            </a:fld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450289" y="2433890"/>
            <a:ext cx="8136904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>
              <a:latin typeface="Calibri" panose="020F0502020204030204" pitchFamily="34" charset="0"/>
            </a:endParaRPr>
          </a:p>
          <a:p>
            <a:pPr marL="355600" indent="-355600">
              <a:buFont typeface="Arial" panose="020B0604020202020204" pitchFamily="34" charset="0"/>
              <a:buChar char="•"/>
            </a:pPr>
            <a:r>
              <a:rPr lang="en-GB" sz="2000" b="1" dirty="0">
                <a:latin typeface="Calibri" panose="020F0502020204030204" pitchFamily="34" charset="0"/>
              </a:rPr>
              <a:t>Management Accounting</a:t>
            </a:r>
          </a:p>
          <a:p>
            <a:pPr marL="355600"/>
            <a:r>
              <a:rPr lang="en-GB" sz="2000" dirty="0">
                <a:latin typeface="Calibri" panose="020F0502020204030204" pitchFamily="34" charset="0"/>
              </a:rPr>
              <a:t>Internal use (decision making for managers), cost analysis  (in year)</a:t>
            </a:r>
          </a:p>
          <a:p>
            <a:pPr marL="355600"/>
            <a:endParaRPr lang="en-GB" sz="2000" dirty="0">
              <a:latin typeface="Calibri" panose="020F0502020204030204" pitchFamily="34" charset="0"/>
            </a:endParaRPr>
          </a:p>
          <a:p>
            <a:pPr marL="355600" indent="-355600">
              <a:buFont typeface="Arial" panose="020B0604020202020204" pitchFamily="34" charset="0"/>
              <a:buChar char="•"/>
            </a:pPr>
            <a:r>
              <a:rPr lang="en-GB" sz="2000" b="1" dirty="0">
                <a:latin typeface="Calibri" panose="020F0502020204030204" pitchFamily="34" charset="0"/>
              </a:rPr>
              <a:t>Financial Reporting </a:t>
            </a:r>
          </a:p>
          <a:p>
            <a:pPr marL="355600"/>
            <a:r>
              <a:rPr lang="en-GB" sz="2000" dirty="0">
                <a:latin typeface="Calibri" panose="020F0502020204030204" pitchFamily="34" charset="0"/>
              </a:rPr>
              <a:t>External reporting, communicating company information for decision-making (year-end)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>
              <a:latin typeface="Calibri" panose="020F0502020204030204" pitchFamily="34" charset="0"/>
            </a:endParaRPr>
          </a:p>
          <a:p>
            <a:pPr marL="355600" indent="-355600">
              <a:buFont typeface="Arial" panose="020B0604020202020204" pitchFamily="34" charset="0"/>
              <a:buChar char="•"/>
            </a:pPr>
            <a:r>
              <a:rPr lang="en-GB" sz="2000" b="1" dirty="0">
                <a:latin typeface="Calibri" panose="020F0502020204030204" pitchFamily="34" charset="0"/>
              </a:rPr>
              <a:t>Auditing</a:t>
            </a:r>
          </a:p>
          <a:p>
            <a:pPr marL="355600"/>
            <a:r>
              <a:rPr lang="en-GB" sz="2000" dirty="0">
                <a:latin typeface="Calibri" panose="020F0502020204030204" pitchFamily="34" charset="0"/>
              </a:rPr>
              <a:t>External validation of financial statements  (post year-end)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>
              <a:latin typeface="Calibri" panose="020F0502020204030204" pitchFamily="34" charset="0"/>
            </a:endParaRPr>
          </a:p>
          <a:p>
            <a:pPr marL="355600" indent="-355600">
              <a:buFont typeface="Arial" panose="020B0604020202020204" pitchFamily="34" charset="0"/>
              <a:buChar char="•"/>
            </a:pPr>
            <a:r>
              <a:rPr lang="en-GB" sz="2000" b="1" dirty="0">
                <a:latin typeface="Calibri" panose="020F0502020204030204" pitchFamily="34" charset="0"/>
              </a:rPr>
              <a:t>Taxation</a:t>
            </a:r>
          </a:p>
          <a:p>
            <a:pPr marL="355600"/>
            <a:r>
              <a:rPr lang="en-GB" sz="2000" dirty="0">
                <a:latin typeface="Calibri" panose="020F0502020204030204" pitchFamily="34" charset="0"/>
              </a:rPr>
              <a:t>Tax computation and avoidance  (post year-end)</a:t>
            </a:r>
          </a:p>
        </p:txBody>
      </p:sp>
    </p:spTree>
    <p:extLst>
      <p:ext uri="{BB962C8B-B14F-4D97-AF65-F5344CB8AC3E}">
        <p14:creationId xmlns:p14="http://schemas.microsoft.com/office/powerpoint/2010/main" val="8901216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1124744"/>
            <a:ext cx="8075240" cy="720080"/>
          </a:xfrm>
        </p:spPr>
        <p:txBody>
          <a:bodyPr>
            <a:normAutofit/>
          </a:bodyPr>
          <a:lstStyle/>
          <a:p>
            <a:r>
              <a:rPr lang="en-GB" sz="3200" dirty="0"/>
              <a:t>Management &amp; Financial Accounting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4380" y="2420888"/>
            <a:ext cx="8075240" cy="3777283"/>
          </a:xfrm>
        </p:spPr>
        <p:txBody>
          <a:bodyPr>
            <a:normAutofit fontScale="85000" lnSpcReduction="20000"/>
          </a:bodyPr>
          <a:lstStyle/>
          <a:p>
            <a:r>
              <a:rPr lang="en-GB" b="1" dirty="0"/>
              <a:t>Management Accounting</a:t>
            </a:r>
          </a:p>
          <a:p>
            <a:pPr lvl="1"/>
            <a:r>
              <a:rPr lang="en-GB" dirty="0"/>
              <a:t>Internal info; addresses the need of the business</a:t>
            </a:r>
          </a:p>
          <a:p>
            <a:r>
              <a:rPr lang="en-GB" b="1" dirty="0"/>
              <a:t>Financial Accounting</a:t>
            </a:r>
          </a:p>
          <a:p>
            <a:pPr lvl="1"/>
            <a:r>
              <a:rPr lang="en-GB" dirty="0"/>
              <a:t>External info:  addresses the needs of others</a:t>
            </a:r>
          </a:p>
          <a:p>
            <a:r>
              <a:rPr lang="en-GB" b="1" dirty="0"/>
              <a:t>Differ in terms of</a:t>
            </a:r>
          </a:p>
          <a:p>
            <a:pPr lvl="1"/>
            <a:r>
              <a:rPr lang="en-GB" dirty="0"/>
              <a:t>Reports produced</a:t>
            </a:r>
          </a:p>
          <a:p>
            <a:pPr lvl="1"/>
            <a:r>
              <a:rPr lang="en-GB" dirty="0"/>
              <a:t>Level of reporting detail</a:t>
            </a:r>
          </a:p>
          <a:p>
            <a:pPr lvl="1"/>
            <a:r>
              <a:rPr lang="en-GB" dirty="0"/>
              <a:t>Time orientation</a:t>
            </a:r>
          </a:p>
          <a:p>
            <a:pPr lvl="1"/>
            <a:r>
              <a:rPr lang="en-GB" dirty="0"/>
              <a:t>Regulation requirements</a:t>
            </a:r>
          </a:p>
          <a:p>
            <a:pPr lvl="1"/>
            <a:r>
              <a:rPr lang="en-GB" dirty="0"/>
              <a:t>Information range and quality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11144-0A80-492E-A667-66F71C220181}" type="slidenum">
              <a:rPr lang="en-GB" smtClean="0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79779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/>
          <p:cNvSpPr txBox="1">
            <a:spLocks noChangeArrowheads="1"/>
          </p:cNvSpPr>
          <p:nvPr/>
        </p:nvSpPr>
        <p:spPr bwMode="auto">
          <a:xfrm>
            <a:off x="1503363" y="333376"/>
            <a:ext cx="792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b="1" dirty="0">
                <a:solidFill>
                  <a:srgbClr val="CC0000"/>
                </a:solidFill>
                <a:latin typeface="Arial" charset="0"/>
              </a:rPr>
              <a:t>Management and financial accounting compared</a:t>
            </a:r>
            <a:endParaRPr lang="en-GB" dirty="0">
              <a:solidFill>
                <a:srgbClr val="CC0000"/>
              </a:solidFill>
              <a:latin typeface="Arial" charset="0"/>
            </a:endParaRPr>
          </a:p>
        </p:txBody>
      </p:sp>
      <p:grpSp>
        <p:nvGrpSpPr>
          <p:cNvPr id="2" name="Group 124"/>
          <p:cNvGrpSpPr>
            <a:grpSpLocks/>
          </p:cNvGrpSpPr>
          <p:nvPr/>
        </p:nvGrpSpPr>
        <p:grpSpPr bwMode="auto">
          <a:xfrm>
            <a:off x="134937" y="1124744"/>
            <a:ext cx="8874125" cy="5889625"/>
            <a:chOff x="84" y="362"/>
            <a:chExt cx="5590" cy="3710"/>
          </a:xfrm>
        </p:grpSpPr>
        <p:sp>
          <p:nvSpPr>
            <p:cNvPr id="10283" name="AutoShape 43"/>
            <p:cNvSpPr>
              <a:spLocks noChangeArrowheads="1"/>
            </p:cNvSpPr>
            <p:nvPr/>
          </p:nvSpPr>
          <p:spPr bwMode="auto">
            <a:xfrm>
              <a:off x="90" y="716"/>
              <a:ext cx="5401" cy="439"/>
            </a:xfrm>
            <a:prstGeom prst="roundRect">
              <a:avLst>
                <a:gd name="adj" fmla="val 7505"/>
              </a:avLst>
            </a:prstGeom>
            <a:solidFill>
              <a:srgbClr val="DCB69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273" name="Text Box 33"/>
            <p:cNvSpPr txBox="1">
              <a:spLocks noChangeArrowheads="1"/>
            </p:cNvSpPr>
            <p:nvPr/>
          </p:nvSpPr>
          <p:spPr bwMode="auto">
            <a:xfrm>
              <a:off x="84" y="736"/>
              <a:ext cx="1417" cy="3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GB" sz="1700" b="1" i="1">
                  <a:latin typeface="Arial" charset="0"/>
                </a:rPr>
                <a:t>Nature of the</a:t>
              </a:r>
              <a:br>
                <a:rPr lang="en-GB" sz="1700" b="1" i="1">
                  <a:latin typeface="Arial" charset="0"/>
                </a:rPr>
              </a:br>
              <a:r>
                <a:rPr lang="en-GB" sz="1700" b="1" i="1">
                  <a:latin typeface="Arial" charset="0"/>
                </a:rPr>
                <a:t>reports produced</a:t>
              </a:r>
            </a:p>
          </p:txBody>
        </p:sp>
        <p:sp>
          <p:nvSpPr>
            <p:cNvPr id="10290" name="AutoShape 50"/>
            <p:cNvSpPr>
              <a:spLocks noChangeArrowheads="1"/>
            </p:cNvSpPr>
            <p:nvPr/>
          </p:nvSpPr>
          <p:spPr bwMode="auto">
            <a:xfrm>
              <a:off x="1490" y="362"/>
              <a:ext cx="2005" cy="3528"/>
            </a:xfrm>
            <a:prstGeom prst="roundRect">
              <a:avLst>
                <a:gd name="adj" fmla="val 7532"/>
              </a:avLst>
            </a:prstGeom>
            <a:solidFill>
              <a:srgbClr val="C98F55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272" name="AutoShape 32"/>
            <p:cNvSpPr>
              <a:spLocks noChangeArrowheads="1"/>
            </p:cNvSpPr>
            <p:nvPr/>
          </p:nvSpPr>
          <p:spPr bwMode="auto">
            <a:xfrm>
              <a:off x="1454" y="716"/>
              <a:ext cx="2036" cy="477"/>
            </a:xfrm>
            <a:prstGeom prst="cube">
              <a:avLst>
                <a:gd name="adj" fmla="val 7889"/>
              </a:avLst>
            </a:prstGeom>
            <a:solidFill>
              <a:srgbClr val="FFCC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293" name="Text Box 53"/>
            <p:cNvSpPr txBox="1">
              <a:spLocks noChangeArrowheads="1"/>
            </p:cNvSpPr>
            <p:nvPr/>
          </p:nvSpPr>
          <p:spPr bwMode="auto">
            <a:xfrm>
              <a:off x="1501" y="408"/>
              <a:ext cx="198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sz="1800" b="1">
                  <a:solidFill>
                    <a:srgbClr val="FFCC99"/>
                  </a:solidFill>
                  <a:latin typeface="Arial" charset="0"/>
                </a:rPr>
                <a:t>Management accounting</a:t>
              </a:r>
            </a:p>
          </p:txBody>
        </p:sp>
        <p:sp>
          <p:nvSpPr>
            <p:cNvPr id="10295" name="Text Box 55"/>
            <p:cNvSpPr txBox="1">
              <a:spLocks noChangeArrowheads="1"/>
            </p:cNvSpPr>
            <p:nvPr/>
          </p:nvSpPr>
          <p:spPr bwMode="auto">
            <a:xfrm>
              <a:off x="1437" y="854"/>
              <a:ext cx="2041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GB" sz="1800" b="1">
                  <a:latin typeface="Arial" charset="0"/>
                </a:rPr>
                <a:t>Tend to be specific purpose</a:t>
              </a:r>
            </a:p>
          </p:txBody>
        </p:sp>
        <p:sp>
          <p:nvSpPr>
            <p:cNvPr id="10301" name="AutoShape 61"/>
            <p:cNvSpPr>
              <a:spLocks noChangeArrowheads="1"/>
            </p:cNvSpPr>
            <p:nvPr/>
          </p:nvSpPr>
          <p:spPr bwMode="auto">
            <a:xfrm>
              <a:off x="3664" y="362"/>
              <a:ext cx="2005" cy="3528"/>
            </a:xfrm>
            <a:prstGeom prst="roundRect">
              <a:avLst>
                <a:gd name="adj" fmla="val 7532"/>
              </a:avLst>
            </a:prstGeom>
            <a:solidFill>
              <a:srgbClr val="C98F55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303" name="Text Box 63"/>
            <p:cNvSpPr txBox="1">
              <a:spLocks noChangeArrowheads="1"/>
            </p:cNvSpPr>
            <p:nvPr/>
          </p:nvSpPr>
          <p:spPr bwMode="auto">
            <a:xfrm>
              <a:off x="3651" y="408"/>
              <a:ext cx="198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sz="1800" b="1">
                  <a:solidFill>
                    <a:srgbClr val="FFCC99"/>
                  </a:solidFill>
                  <a:latin typeface="Arial" charset="0"/>
                </a:rPr>
                <a:t>Financial accounting</a:t>
              </a:r>
            </a:p>
          </p:txBody>
        </p:sp>
        <p:grpSp>
          <p:nvGrpSpPr>
            <p:cNvPr id="3" name="Group 121"/>
            <p:cNvGrpSpPr>
              <a:grpSpLocks/>
            </p:cNvGrpSpPr>
            <p:nvPr/>
          </p:nvGrpSpPr>
          <p:grpSpPr bwMode="auto">
            <a:xfrm>
              <a:off x="100" y="2734"/>
              <a:ext cx="5570" cy="547"/>
              <a:chOff x="96" y="2928"/>
              <a:chExt cx="5570" cy="547"/>
            </a:xfrm>
          </p:grpSpPr>
          <p:sp>
            <p:nvSpPr>
              <p:cNvPr id="10339" name="AutoShape 99"/>
              <p:cNvSpPr>
                <a:spLocks noChangeArrowheads="1"/>
              </p:cNvSpPr>
              <p:nvPr/>
            </p:nvSpPr>
            <p:spPr bwMode="auto">
              <a:xfrm>
                <a:off x="96" y="2940"/>
                <a:ext cx="5401" cy="439"/>
              </a:xfrm>
              <a:prstGeom prst="roundRect">
                <a:avLst>
                  <a:gd name="adj" fmla="val 7505"/>
                </a:avLst>
              </a:prstGeom>
              <a:solidFill>
                <a:srgbClr val="DCB690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0340" name="Text Box 100"/>
              <p:cNvSpPr txBox="1">
                <a:spLocks noChangeArrowheads="1"/>
              </p:cNvSpPr>
              <p:nvPr/>
            </p:nvSpPr>
            <p:spPr bwMode="auto">
              <a:xfrm>
                <a:off x="113" y="3040"/>
                <a:ext cx="1185" cy="2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GB" sz="1700" b="1" i="1">
                    <a:latin typeface="Arial" charset="0"/>
                  </a:rPr>
                  <a:t>Time horizon</a:t>
                </a:r>
              </a:p>
            </p:txBody>
          </p:sp>
          <p:sp>
            <p:nvSpPr>
              <p:cNvPr id="10341" name="AutoShape 101"/>
              <p:cNvSpPr>
                <a:spLocks noChangeArrowheads="1"/>
              </p:cNvSpPr>
              <p:nvPr/>
            </p:nvSpPr>
            <p:spPr bwMode="auto">
              <a:xfrm>
                <a:off x="1442" y="2940"/>
                <a:ext cx="2054" cy="507"/>
              </a:xfrm>
              <a:prstGeom prst="cube">
                <a:avLst>
                  <a:gd name="adj" fmla="val 9074"/>
                </a:avLst>
              </a:prstGeom>
              <a:solidFill>
                <a:srgbClr val="FFCC9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0342" name="Text Box 102"/>
              <p:cNvSpPr txBox="1">
                <a:spLocks noChangeArrowheads="1"/>
              </p:cNvSpPr>
              <p:nvPr/>
            </p:nvSpPr>
            <p:spPr bwMode="auto">
              <a:xfrm>
                <a:off x="1407" y="2928"/>
                <a:ext cx="2041" cy="54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GB" sz="1700" b="1">
                    <a:latin typeface="Arial" charset="0"/>
                  </a:rPr>
                  <a:t>Uses projected future information as well as past information</a:t>
                </a:r>
              </a:p>
            </p:txBody>
          </p:sp>
          <p:sp>
            <p:nvSpPr>
              <p:cNvPr id="10345" name="AutoShape 105"/>
              <p:cNvSpPr>
                <a:spLocks noChangeArrowheads="1"/>
              </p:cNvSpPr>
              <p:nvPr/>
            </p:nvSpPr>
            <p:spPr bwMode="auto">
              <a:xfrm>
                <a:off x="3612" y="2944"/>
                <a:ext cx="2054" cy="507"/>
              </a:xfrm>
              <a:prstGeom prst="cube">
                <a:avLst>
                  <a:gd name="adj" fmla="val 9074"/>
                </a:avLst>
              </a:prstGeom>
              <a:solidFill>
                <a:srgbClr val="FFCC9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0346" name="Text Box 106"/>
              <p:cNvSpPr txBox="1">
                <a:spLocks noChangeArrowheads="1"/>
              </p:cNvSpPr>
              <p:nvPr/>
            </p:nvSpPr>
            <p:spPr bwMode="auto">
              <a:xfrm>
                <a:off x="3577" y="3094"/>
                <a:ext cx="2041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GB" sz="1800" b="1">
                    <a:latin typeface="Arial" charset="0"/>
                  </a:rPr>
                  <a:t>Almost always historical</a:t>
                </a:r>
              </a:p>
            </p:txBody>
          </p:sp>
        </p:grpSp>
        <p:sp>
          <p:nvSpPr>
            <p:cNvPr id="10319" name="AutoShape 79"/>
            <p:cNvSpPr>
              <a:spLocks noChangeArrowheads="1"/>
            </p:cNvSpPr>
            <p:nvPr/>
          </p:nvSpPr>
          <p:spPr bwMode="auto">
            <a:xfrm>
              <a:off x="102" y="2150"/>
              <a:ext cx="5401" cy="439"/>
            </a:xfrm>
            <a:prstGeom prst="roundRect">
              <a:avLst>
                <a:gd name="adj" fmla="val 7505"/>
              </a:avLst>
            </a:prstGeom>
            <a:solidFill>
              <a:srgbClr val="DCB69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320" name="Text Box 80"/>
            <p:cNvSpPr txBox="1">
              <a:spLocks noChangeArrowheads="1"/>
            </p:cNvSpPr>
            <p:nvPr/>
          </p:nvSpPr>
          <p:spPr bwMode="auto">
            <a:xfrm>
              <a:off x="123" y="2164"/>
              <a:ext cx="1089" cy="3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GB" sz="1700" b="1" i="1">
                  <a:latin typeface="Arial" charset="0"/>
                </a:rPr>
                <a:t>Reporting</a:t>
              </a:r>
              <a:br>
                <a:rPr lang="en-GB" sz="1700" b="1" i="1">
                  <a:latin typeface="Arial" charset="0"/>
                </a:rPr>
              </a:br>
              <a:r>
                <a:rPr lang="en-GB" sz="1700" b="1" i="1">
                  <a:latin typeface="Arial" charset="0"/>
                </a:rPr>
                <a:t>interval</a:t>
              </a:r>
            </a:p>
          </p:txBody>
        </p:sp>
        <p:sp>
          <p:nvSpPr>
            <p:cNvPr id="10321" name="AutoShape 81"/>
            <p:cNvSpPr>
              <a:spLocks noChangeArrowheads="1"/>
            </p:cNvSpPr>
            <p:nvPr/>
          </p:nvSpPr>
          <p:spPr bwMode="auto">
            <a:xfrm>
              <a:off x="1442" y="2150"/>
              <a:ext cx="2054" cy="507"/>
            </a:xfrm>
            <a:prstGeom prst="cube">
              <a:avLst>
                <a:gd name="adj" fmla="val 9074"/>
              </a:avLst>
            </a:prstGeom>
            <a:solidFill>
              <a:srgbClr val="FFCC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322" name="Text Box 82"/>
            <p:cNvSpPr txBox="1">
              <a:spLocks noChangeArrowheads="1"/>
            </p:cNvSpPr>
            <p:nvPr/>
          </p:nvSpPr>
          <p:spPr bwMode="auto">
            <a:xfrm>
              <a:off x="1413" y="2210"/>
              <a:ext cx="2041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sz="1800" b="1">
                  <a:latin typeface="Arial" charset="0"/>
                </a:rPr>
                <a:t>As short as required</a:t>
              </a:r>
              <a:br>
                <a:rPr lang="en-GB" sz="1800" b="1">
                  <a:latin typeface="Arial" charset="0"/>
                </a:rPr>
              </a:br>
              <a:r>
                <a:rPr lang="en-GB" sz="1800" b="1">
                  <a:latin typeface="Arial" charset="0"/>
                </a:rPr>
                <a:t>by managers</a:t>
              </a:r>
            </a:p>
          </p:txBody>
        </p:sp>
        <p:sp>
          <p:nvSpPr>
            <p:cNvPr id="10347" name="AutoShape 107"/>
            <p:cNvSpPr>
              <a:spLocks noChangeArrowheads="1"/>
            </p:cNvSpPr>
            <p:nvPr/>
          </p:nvSpPr>
          <p:spPr bwMode="auto">
            <a:xfrm>
              <a:off x="3624" y="2148"/>
              <a:ext cx="2046" cy="507"/>
            </a:xfrm>
            <a:prstGeom prst="cube">
              <a:avLst>
                <a:gd name="adj" fmla="val 9074"/>
              </a:avLst>
            </a:prstGeom>
            <a:solidFill>
              <a:srgbClr val="FFCC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324" name="Text Box 84"/>
            <p:cNvSpPr txBox="1">
              <a:spLocks noChangeArrowheads="1"/>
            </p:cNvSpPr>
            <p:nvPr/>
          </p:nvSpPr>
          <p:spPr bwMode="auto">
            <a:xfrm>
              <a:off x="3633" y="2306"/>
              <a:ext cx="2041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GB" sz="1800" b="1">
                  <a:latin typeface="Arial" charset="0"/>
                </a:rPr>
                <a:t>Usually annual or bi-annual</a:t>
              </a:r>
            </a:p>
          </p:txBody>
        </p:sp>
        <p:sp>
          <p:nvSpPr>
            <p:cNvPr id="10348" name="AutoShape 108"/>
            <p:cNvSpPr>
              <a:spLocks noChangeArrowheads="1"/>
            </p:cNvSpPr>
            <p:nvPr/>
          </p:nvSpPr>
          <p:spPr bwMode="auto">
            <a:xfrm>
              <a:off x="96" y="3344"/>
              <a:ext cx="5401" cy="439"/>
            </a:xfrm>
            <a:prstGeom prst="roundRect">
              <a:avLst>
                <a:gd name="adj" fmla="val 7505"/>
              </a:avLst>
            </a:prstGeom>
            <a:solidFill>
              <a:srgbClr val="DCB69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349" name="Text Box 109"/>
            <p:cNvSpPr txBox="1">
              <a:spLocks noChangeArrowheads="1"/>
            </p:cNvSpPr>
            <p:nvPr/>
          </p:nvSpPr>
          <p:spPr bwMode="auto">
            <a:xfrm>
              <a:off x="97" y="3356"/>
              <a:ext cx="1465" cy="3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GB" sz="1700" b="1" i="1">
                  <a:latin typeface="Arial" charset="0"/>
                </a:rPr>
                <a:t>Range and quality</a:t>
              </a:r>
              <a:br>
                <a:rPr lang="en-GB" sz="1700" b="1" i="1">
                  <a:latin typeface="Arial" charset="0"/>
                </a:rPr>
              </a:br>
              <a:r>
                <a:rPr lang="en-GB" sz="1700" b="1" i="1">
                  <a:latin typeface="Arial" charset="0"/>
                </a:rPr>
                <a:t>of information</a:t>
              </a:r>
            </a:p>
          </p:txBody>
        </p:sp>
        <p:sp>
          <p:nvSpPr>
            <p:cNvPr id="10350" name="AutoShape 110"/>
            <p:cNvSpPr>
              <a:spLocks noChangeArrowheads="1"/>
            </p:cNvSpPr>
            <p:nvPr/>
          </p:nvSpPr>
          <p:spPr bwMode="auto">
            <a:xfrm>
              <a:off x="1442" y="3344"/>
              <a:ext cx="2054" cy="717"/>
            </a:xfrm>
            <a:prstGeom prst="cube">
              <a:avLst>
                <a:gd name="adj" fmla="val 5718"/>
              </a:avLst>
            </a:prstGeom>
            <a:solidFill>
              <a:srgbClr val="FFCC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351" name="Text Box 111"/>
            <p:cNvSpPr txBox="1">
              <a:spLocks noChangeArrowheads="1"/>
            </p:cNvSpPr>
            <p:nvPr/>
          </p:nvSpPr>
          <p:spPr bwMode="auto">
            <a:xfrm>
              <a:off x="1431" y="3360"/>
              <a:ext cx="2041" cy="7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sz="1700" b="1">
                  <a:latin typeface="Arial" charset="0"/>
                </a:rPr>
                <a:t>Contains financial and non-financial information. Uses information that cannot be verified</a:t>
              </a:r>
            </a:p>
          </p:txBody>
        </p:sp>
        <p:grpSp>
          <p:nvGrpSpPr>
            <p:cNvPr id="4" name="Group 120"/>
            <p:cNvGrpSpPr>
              <a:grpSpLocks/>
            </p:cNvGrpSpPr>
            <p:nvPr/>
          </p:nvGrpSpPr>
          <p:grpSpPr bwMode="auto">
            <a:xfrm>
              <a:off x="90" y="1280"/>
              <a:ext cx="5576" cy="802"/>
              <a:chOff x="0" y="1286"/>
              <a:chExt cx="5576" cy="802"/>
            </a:xfrm>
          </p:grpSpPr>
          <p:sp>
            <p:nvSpPr>
              <p:cNvPr id="10356" name="AutoShape 116"/>
              <p:cNvSpPr>
                <a:spLocks noChangeArrowheads="1"/>
              </p:cNvSpPr>
              <p:nvPr/>
            </p:nvSpPr>
            <p:spPr bwMode="auto">
              <a:xfrm>
                <a:off x="10" y="1722"/>
                <a:ext cx="5401" cy="303"/>
              </a:xfrm>
              <a:prstGeom prst="roundRect">
                <a:avLst>
                  <a:gd name="adj" fmla="val 7505"/>
                </a:avLst>
              </a:prstGeom>
              <a:solidFill>
                <a:srgbClr val="DCB690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0305" name="AutoShape 65"/>
              <p:cNvSpPr>
                <a:spLocks noChangeArrowheads="1"/>
              </p:cNvSpPr>
              <p:nvPr/>
            </p:nvSpPr>
            <p:spPr bwMode="auto">
              <a:xfrm>
                <a:off x="0" y="1286"/>
                <a:ext cx="5401" cy="303"/>
              </a:xfrm>
              <a:prstGeom prst="roundRect">
                <a:avLst>
                  <a:gd name="adj" fmla="val 7505"/>
                </a:avLst>
              </a:prstGeom>
              <a:solidFill>
                <a:srgbClr val="DCB690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0306" name="Text Box 66"/>
              <p:cNvSpPr txBox="1">
                <a:spLocks noChangeArrowheads="1"/>
              </p:cNvSpPr>
              <p:nvPr/>
            </p:nvSpPr>
            <p:spPr bwMode="auto">
              <a:xfrm>
                <a:off x="33" y="1318"/>
                <a:ext cx="1197" cy="2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GB" sz="1700" b="1" i="1">
                    <a:latin typeface="Arial" charset="0"/>
                  </a:rPr>
                  <a:t>Level of detail</a:t>
                </a:r>
              </a:p>
            </p:txBody>
          </p:sp>
          <p:sp>
            <p:nvSpPr>
              <p:cNvPr id="10307" name="AutoShape 67"/>
              <p:cNvSpPr>
                <a:spLocks noChangeArrowheads="1"/>
              </p:cNvSpPr>
              <p:nvPr/>
            </p:nvSpPr>
            <p:spPr bwMode="auto">
              <a:xfrm>
                <a:off x="1358" y="1286"/>
                <a:ext cx="2042" cy="343"/>
              </a:xfrm>
              <a:prstGeom prst="cube">
                <a:avLst>
                  <a:gd name="adj" fmla="val 11954"/>
                </a:avLst>
              </a:prstGeom>
              <a:solidFill>
                <a:srgbClr val="FFCC9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0308" name="Text Box 68"/>
              <p:cNvSpPr txBox="1">
                <a:spLocks noChangeArrowheads="1"/>
              </p:cNvSpPr>
              <p:nvPr/>
            </p:nvSpPr>
            <p:spPr bwMode="auto">
              <a:xfrm>
                <a:off x="1323" y="1358"/>
                <a:ext cx="2041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GB" sz="1800" b="1">
                    <a:latin typeface="Arial" charset="0"/>
                  </a:rPr>
                  <a:t>Often very detailed</a:t>
                </a:r>
              </a:p>
            </p:txBody>
          </p:sp>
          <p:sp>
            <p:nvSpPr>
              <p:cNvPr id="10313" name="Text Box 73"/>
              <p:cNvSpPr txBox="1">
                <a:spLocks noChangeArrowheads="1"/>
              </p:cNvSpPr>
              <p:nvPr/>
            </p:nvSpPr>
            <p:spPr bwMode="auto">
              <a:xfrm>
                <a:off x="39" y="1758"/>
                <a:ext cx="1119" cy="2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GB" sz="1700" b="1" i="1">
                    <a:latin typeface="Arial" charset="0"/>
                  </a:rPr>
                  <a:t>Regulations</a:t>
                </a:r>
              </a:p>
            </p:txBody>
          </p:sp>
          <p:sp>
            <p:nvSpPr>
              <p:cNvPr id="10314" name="AutoShape 74"/>
              <p:cNvSpPr>
                <a:spLocks noChangeArrowheads="1"/>
              </p:cNvSpPr>
              <p:nvPr/>
            </p:nvSpPr>
            <p:spPr bwMode="auto">
              <a:xfrm>
                <a:off x="1352" y="1720"/>
                <a:ext cx="2054" cy="339"/>
              </a:xfrm>
              <a:prstGeom prst="cube">
                <a:avLst>
                  <a:gd name="adj" fmla="val 12685"/>
                </a:avLst>
              </a:prstGeom>
              <a:solidFill>
                <a:srgbClr val="FFCC9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0315" name="Text Box 75"/>
              <p:cNvSpPr txBox="1">
                <a:spLocks noChangeArrowheads="1"/>
              </p:cNvSpPr>
              <p:nvPr/>
            </p:nvSpPr>
            <p:spPr bwMode="auto">
              <a:xfrm>
                <a:off x="1311" y="1786"/>
                <a:ext cx="2041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GB" sz="1800" b="1">
                    <a:latin typeface="Arial" charset="0"/>
                  </a:rPr>
                  <a:t>Unregulated</a:t>
                </a:r>
              </a:p>
            </p:txBody>
          </p:sp>
          <p:sp>
            <p:nvSpPr>
              <p:cNvPr id="10328" name="AutoShape 88"/>
              <p:cNvSpPr>
                <a:spLocks noChangeArrowheads="1"/>
              </p:cNvSpPr>
              <p:nvPr/>
            </p:nvSpPr>
            <p:spPr bwMode="auto">
              <a:xfrm>
                <a:off x="3534" y="1290"/>
                <a:ext cx="2042" cy="343"/>
              </a:xfrm>
              <a:prstGeom prst="cube">
                <a:avLst>
                  <a:gd name="adj" fmla="val 11954"/>
                </a:avLst>
              </a:prstGeom>
              <a:solidFill>
                <a:srgbClr val="FFCC9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0329" name="Text Box 89"/>
              <p:cNvSpPr txBox="1">
                <a:spLocks noChangeArrowheads="1"/>
              </p:cNvSpPr>
              <p:nvPr/>
            </p:nvSpPr>
            <p:spPr bwMode="auto">
              <a:xfrm>
                <a:off x="3493" y="1368"/>
                <a:ext cx="2041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GB" sz="1800" b="1">
                    <a:latin typeface="Arial" charset="0"/>
                  </a:rPr>
                  <a:t>Usually broad overview</a:t>
                </a:r>
              </a:p>
            </p:txBody>
          </p:sp>
          <p:sp>
            <p:nvSpPr>
              <p:cNvPr id="10357" name="AutoShape 117"/>
              <p:cNvSpPr>
                <a:spLocks noChangeArrowheads="1"/>
              </p:cNvSpPr>
              <p:nvPr/>
            </p:nvSpPr>
            <p:spPr bwMode="auto">
              <a:xfrm>
                <a:off x="3534" y="1724"/>
                <a:ext cx="2042" cy="339"/>
              </a:xfrm>
              <a:prstGeom prst="cube">
                <a:avLst>
                  <a:gd name="adj" fmla="val 12685"/>
                </a:avLst>
              </a:prstGeom>
              <a:solidFill>
                <a:srgbClr val="FFCC9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0317" name="Text Box 77"/>
              <p:cNvSpPr txBox="1">
                <a:spLocks noChangeArrowheads="1"/>
              </p:cNvSpPr>
              <p:nvPr/>
            </p:nvSpPr>
            <p:spPr bwMode="auto">
              <a:xfrm>
                <a:off x="3629" y="1704"/>
                <a:ext cx="1837" cy="38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GB" sz="1700" b="1">
                    <a:latin typeface="Arial" charset="0"/>
                  </a:rPr>
                  <a:t>Subject to accounting regulation</a:t>
                </a:r>
              </a:p>
            </p:txBody>
          </p:sp>
        </p:grpSp>
        <p:sp>
          <p:nvSpPr>
            <p:cNvPr id="10358" name="AutoShape 118"/>
            <p:cNvSpPr>
              <a:spLocks noChangeArrowheads="1"/>
            </p:cNvSpPr>
            <p:nvPr/>
          </p:nvSpPr>
          <p:spPr bwMode="auto">
            <a:xfrm>
              <a:off x="3624" y="714"/>
              <a:ext cx="2036" cy="477"/>
            </a:xfrm>
            <a:prstGeom prst="cube">
              <a:avLst>
                <a:gd name="adj" fmla="val 7889"/>
              </a:avLst>
            </a:prstGeom>
            <a:solidFill>
              <a:srgbClr val="FFCC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304" name="Text Box 64"/>
            <p:cNvSpPr txBox="1">
              <a:spLocks noChangeArrowheads="1"/>
            </p:cNvSpPr>
            <p:nvPr/>
          </p:nvSpPr>
          <p:spPr bwMode="auto">
            <a:xfrm>
              <a:off x="3621" y="854"/>
              <a:ext cx="2041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GB" sz="1800" b="1">
                  <a:latin typeface="Arial" charset="0"/>
                </a:rPr>
                <a:t>Tend to be general purpose</a:t>
              </a:r>
            </a:p>
          </p:txBody>
        </p:sp>
        <p:sp>
          <p:nvSpPr>
            <p:cNvPr id="10362" name="AutoShape 122"/>
            <p:cNvSpPr>
              <a:spLocks noChangeArrowheads="1"/>
            </p:cNvSpPr>
            <p:nvPr/>
          </p:nvSpPr>
          <p:spPr bwMode="auto">
            <a:xfrm>
              <a:off x="3618" y="3342"/>
              <a:ext cx="2048" cy="717"/>
            </a:xfrm>
            <a:prstGeom prst="cube">
              <a:avLst>
                <a:gd name="adj" fmla="val 5718"/>
              </a:avLst>
            </a:prstGeom>
            <a:solidFill>
              <a:srgbClr val="FFCC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353" name="Text Box 113"/>
            <p:cNvSpPr txBox="1">
              <a:spLocks noChangeArrowheads="1"/>
            </p:cNvSpPr>
            <p:nvPr/>
          </p:nvSpPr>
          <p:spPr bwMode="auto">
            <a:xfrm>
              <a:off x="3591" y="3362"/>
              <a:ext cx="2041" cy="7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sz="1700" b="1">
                  <a:latin typeface="Arial" charset="0"/>
                </a:rPr>
                <a:t>Focus on financial information. Emphasis on objective, verifiable</a:t>
              </a:r>
              <a:br>
                <a:rPr lang="en-GB" sz="1700" b="1">
                  <a:latin typeface="Arial" charset="0"/>
                </a:rPr>
              </a:br>
              <a:r>
                <a:rPr lang="en-GB" sz="1700" b="1">
                  <a:latin typeface="Arial" charset="0"/>
                </a:rPr>
                <a:t> evidence</a:t>
              </a:r>
            </a:p>
          </p:txBody>
        </p:sp>
      </p:grpSp>
      <p:sp>
        <p:nvSpPr>
          <p:cNvPr id="46" name="Slide Number Placeholder 4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11144-0A80-492E-A667-66F71C220181}" type="slidenum">
              <a:rPr lang="en-GB" smtClean="0"/>
              <a:pPr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31159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 bwMode="auto">
          <a:xfrm>
            <a:off x="641350" y="395982"/>
            <a:ext cx="7856538" cy="72876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ts val="5800"/>
              </a:lnSpc>
              <a:spcBef>
                <a:spcPct val="0"/>
              </a:spcBef>
              <a:buNone/>
              <a:defRPr sz="5400" kern="120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en-US" sz="4800" dirty="0">
                <a:solidFill>
                  <a:srgbClr val="7030A0"/>
                </a:solidFill>
                <a:latin typeface="Calibri" panose="020F0502020204030204" pitchFamily="34" charset="0"/>
                <a:ea typeface="ＭＳ Ｐゴシック" pitchFamily="34" charset="-128"/>
              </a:rPr>
              <a:t>Financial Reporting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990600" y="2590800"/>
            <a:ext cx="6705600" cy="3581400"/>
            <a:chOff x="990600" y="2590800"/>
            <a:chExt cx="6705600" cy="3581400"/>
          </a:xfrm>
        </p:grpSpPr>
        <p:sp>
          <p:nvSpPr>
            <p:cNvPr id="9" name="Oval 8"/>
            <p:cNvSpPr/>
            <p:nvPr/>
          </p:nvSpPr>
          <p:spPr>
            <a:xfrm>
              <a:off x="3352800" y="2590800"/>
              <a:ext cx="1905000" cy="1295400"/>
            </a:xfrm>
            <a:prstGeom prst="ellips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kumimoji="1" lang="en-US" sz="2000" dirty="0">
                  <a:solidFill>
                    <a:schemeClr val="tx1"/>
                  </a:solidFill>
                  <a:ea typeface="ＭＳ Ｐゴシック" charset="0"/>
                  <a:cs typeface="ＭＳ Ｐゴシック" charset="0"/>
                </a:rPr>
                <a:t>Company Pension</a:t>
              </a:r>
            </a:p>
          </p:txBody>
        </p:sp>
        <p:grpSp>
          <p:nvGrpSpPr>
            <p:cNvPr id="2" name="Group 18"/>
            <p:cNvGrpSpPr>
              <a:grpSpLocks/>
            </p:cNvGrpSpPr>
            <p:nvPr/>
          </p:nvGrpSpPr>
          <p:grpSpPr bwMode="auto">
            <a:xfrm>
              <a:off x="990600" y="3886200"/>
              <a:ext cx="3314700" cy="2286000"/>
              <a:chOff x="990600" y="3886200"/>
              <a:chExt cx="3314700" cy="2286000"/>
            </a:xfrm>
          </p:grpSpPr>
          <p:sp>
            <p:nvSpPr>
              <p:cNvPr id="11" name="Rectangle 10"/>
              <p:cNvSpPr/>
              <p:nvPr/>
            </p:nvSpPr>
            <p:spPr>
              <a:xfrm>
                <a:off x="990600" y="4800600"/>
                <a:ext cx="2209800" cy="137160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kumimoji="1" lang="en-US" sz="2000" dirty="0">
                    <a:solidFill>
                      <a:prstClr val="white"/>
                    </a:solidFill>
                  </a:rPr>
                  <a:t>Pension Assets</a:t>
                </a:r>
              </a:p>
              <a:p>
                <a:pPr algn="ctr">
                  <a:defRPr/>
                </a:pPr>
                <a:r>
                  <a:rPr kumimoji="1" lang="en-US" sz="2000" dirty="0">
                    <a:solidFill>
                      <a:prstClr val="white"/>
                    </a:solidFill>
                  </a:rPr>
                  <a:t>Financial Instruments</a:t>
                </a:r>
              </a:p>
              <a:p>
                <a:pPr algn="ctr">
                  <a:defRPr/>
                </a:pPr>
                <a:r>
                  <a:rPr kumimoji="1" lang="en-US" sz="2000" dirty="0">
                    <a:solidFill>
                      <a:prstClr val="white"/>
                    </a:solidFill>
                  </a:rPr>
                  <a:t>Value?</a:t>
                </a:r>
              </a:p>
            </p:txBody>
          </p:sp>
          <p:cxnSp>
            <p:nvCxnSpPr>
              <p:cNvPr id="12" name="Straight Arrow Connector 11"/>
              <p:cNvCxnSpPr>
                <a:stCxn id="9" idx="4"/>
                <a:endCxn id="11" idx="0"/>
              </p:cNvCxnSpPr>
              <p:nvPr/>
            </p:nvCxnSpPr>
            <p:spPr>
              <a:xfrm rot="5400000">
                <a:off x="2743200" y="3238500"/>
                <a:ext cx="914400" cy="2209800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" name="Group 19"/>
            <p:cNvGrpSpPr>
              <a:grpSpLocks/>
            </p:cNvGrpSpPr>
            <p:nvPr/>
          </p:nvGrpSpPr>
          <p:grpSpPr bwMode="auto">
            <a:xfrm>
              <a:off x="4305300" y="3886200"/>
              <a:ext cx="3390900" cy="2286000"/>
              <a:chOff x="4305300" y="3886200"/>
              <a:chExt cx="3390900" cy="2286000"/>
            </a:xfrm>
          </p:grpSpPr>
          <p:sp>
            <p:nvSpPr>
              <p:cNvPr id="14" name="Rectangle 13"/>
              <p:cNvSpPr/>
              <p:nvPr/>
            </p:nvSpPr>
            <p:spPr>
              <a:xfrm>
                <a:off x="5486400" y="4800600"/>
                <a:ext cx="2209800" cy="1371600"/>
              </a:xfrm>
              <a:prstGeom prst="rect">
                <a:avLst/>
              </a:prstGeom>
              <a:gradFill flip="none" rotWithShape="1">
                <a:gsLst>
                  <a:gs pos="0">
                    <a:srgbClr val="FF0000"/>
                  </a:gs>
                  <a:gs pos="100000">
                    <a:srgbClr val="FF5555"/>
                  </a:gs>
                  <a:gs pos="50000">
                    <a:srgbClr val="D80000"/>
                  </a:gs>
                </a:gsLst>
                <a:lin ang="16200000" scaled="0"/>
                <a:tileRect/>
              </a:gradFill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kumimoji="1" lang="en-US" sz="2000" dirty="0">
                  <a:solidFill>
                    <a:prstClr val="white"/>
                  </a:solidFill>
                </a:endParaRPr>
              </a:p>
              <a:p>
                <a:pPr algn="ctr">
                  <a:defRPr/>
                </a:pPr>
                <a:r>
                  <a:rPr kumimoji="1" lang="en-US" sz="2000" dirty="0">
                    <a:solidFill>
                      <a:prstClr val="white"/>
                    </a:solidFill>
                  </a:rPr>
                  <a:t>Pension Obligations</a:t>
                </a:r>
              </a:p>
              <a:p>
                <a:pPr algn="ctr">
                  <a:defRPr/>
                </a:pPr>
                <a:r>
                  <a:rPr kumimoji="1" lang="en-US" sz="2000" dirty="0">
                    <a:solidFill>
                      <a:prstClr val="white"/>
                    </a:solidFill>
                  </a:rPr>
                  <a:t>Defined Benefits</a:t>
                </a:r>
              </a:p>
              <a:p>
                <a:pPr algn="ctr">
                  <a:defRPr/>
                </a:pPr>
                <a:r>
                  <a:rPr kumimoji="1" lang="en-US" sz="2000" dirty="0">
                    <a:solidFill>
                      <a:prstClr val="white"/>
                    </a:solidFill>
                  </a:rPr>
                  <a:t>Value?</a:t>
                </a:r>
              </a:p>
              <a:p>
                <a:pPr algn="ctr">
                  <a:defRPr/>
                </a:pPr>
                <a:endParaRPr kumimoji="1" lang="en-US" sz="2000" dirty="0">
                  <a:solidFill>
                    <a:prstClr val="white"/>
                  </a:solidFill>
                </a:endParaRPr>
              </a:p>
            </p:txBody>
          </p:sp>
          <p:cxnSp>
            <p:nvCxnSpPr>
              <p:cNvPr id="15" name="Straight Arrow Connector 14"/>
              <p:cNvCxnSpPr>
                <a:stCxn id="9" idx="4"/>
                <a:endCxn id="14" idx="0"/>
              </p:cNvCxnSpPr>
              <p:nvPr/>
            </p:nvCxnSpPr>
            <p:spPr>
              <a:xfrm rot="16200000" flipH="1">
                <a:off x="4991100" y="3200400"/>
                <a:ext cx="914400" cy="2286000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0" name="Group 9"/>
          <p:cNvGrpSpPr/>
          <p:nvPr/>
        </p:nvGrpSpPr>
        <p:grpSpPr>
          <a:xfrm>
            <a:off x="990600" y="1742757"/>
            <a:ext cx="7781944" cy="492022"/>
            <a:chOff x="990600" y="1742757"/>
            <a:chExt cx="7781944" cy="492022"/>
          </a:xfrm>
        </p:grpSpPr>
        <p:sp>
          <p:nvSpPr>
            <p:cNvPr id="6" name="Rectangle 5"/>
            <p:cNvSpPr/>
            <p:nvPr/>
          </p:nvSpPr>
          <p:spPr>
            <a:xfrm>
              <a:off x="990600" y="1752600"/>
              <a:ext cx="2209800" cy="4572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sz="3200" dirty="0">
                  <a:solidFill>
                    <a:prstClr val="white"/>
                  </a:solidFill>
                </a:rPr>
                <a:t>Assets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4594448" y="1752600"/>
              <a:ext cx="2209800" cy="457200"/>
            </a:xfrm>
            <a:prstGeom prst="rect">
              <a:avLst/>
            </a:prstGeom>
            <a:gradFill flip="none" rotWithShape="1">
              <a:gsLst>
                <a:gs pos="0">
                  <a:srgbClr val="FF0000"/>
                </a:gs>
                <a:gs pos="100000">
                  <a:srgbClr val="FF5555"/>
                </a:gs>
                <a:gs pos="50000">
                  <a:srgbClr val="D80000"/>
                </a:gs>
              </a:gsLst>
              <a:lin ang="16200000" scaled="0"/>
              <a:tileRect/>
            </a:gradFill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sz="3200" dirty="0">
                  <a:solidFill>
                    <a:prstClr val="white"/>
                  </a:solidFill>
                </a:rPr>
                <a:t>Liabilities</a:t>
              </a:r>
            </a:p>
          </p:txBody>
        </p:sp>
        <p:sp>
          <p:nvSpPr>
            <p:cNvPr id="8" name="TextBox 5"/>
            <p:cNvSpPr txBox="1">
              <a:spLocks noChangeArrowheads="1"/>
            </p:cNvSpPr>
            <p:nvPr/>
          </p:nvSpPr>
          <p:spPr bwMode="auto">
            <a:xfrm>
              <a:off x="3851920" y="1772816"/>
              <a:ext cx="38100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32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eaLnBrk="1" fontAlgn="base" hangingPunct="1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en-US" sz="2400" dirty="0">
                  <a:latin typeface="Corbel" pitchFamily="34" charset="0"/>
                </a:rPr>
                <a:t>=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7332384" y="1742757"/>
              <a:ext cx="1440160" cy="467043"/>
            </a:xfrm>
            <a:prstGeom prst="rect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sz="3200" dirty="0">
                  <a:solidFill>
                    <a:prstClr val="white"/>
                  </a:solidFill>
                </a:rPr>
                <a:t>Equity</a:t>
              </a:r>
            </a:p>
          </p:txBody>
        </p:sp>
        <p:sp>
          <p:nvSpPr>
            <p:cNvPr id="17" name="TextBox 5"/>
            <p:cNvSpPr txBox="1">
              <a:spLocks noChangeArrowheads="1"/>
            </p:cNvSpPr>
            <p:nvPr/>
          </p:nvSpPr>
          <p:spPr bwMode="auto">
            <a:xfrm>
              <a:off x="6918364" y="1752600"/>
              <a:ext cx="38100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32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eaLnBrk="1" fontAlgn="base" hangingPunct="1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en-US" sz="2400" dirty="0">
                  <a:latin typeface="Corbel" pitchFamily="34" charset="0"/>
                </a:rPr>
                <a:t>+</a:t>
              </a:r>
            </a:p>
          </p:txBody>
        </p:sp>
      </p:grpSp>
      <p:sp>
        <p:nvSpPr>
          <p:cNvPr id="18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11144-0A80-492E-A667-66F71C220181}" type="slidenum">
              <a:rPr lang="en-GB" smtClean="0"/>
              <a:pPr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75332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140437"/>
            <a:ext cx="7410450" cy="531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 txBox="1">
            <a:spLocks/>
          </p:cNvSpPr>
          <p:nvPr/>
        </p:nvSpPr>
        <p:spPr bwMode="auto">
          <a:xfrm>
            <a:off x="641350" y="86425"/>
            <a:ext cx="7856538" cy="89430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ts val="5800"/>
              </a:lnSpc>
              <a:spcBef>
                <a:spcPct val="0"/>
              </a:spcBef>
              <a:buNone/>
              <a:defRPr sz="5400" kern="120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en-US" sz="4800" dirty="0">
                <a:solidFill>
                  <a:srgbClr val="7030A0"/>
                </a:solidFill>
                <a:latin typeface="Calibri" panose="020F0502020204030204" pitchFamily="34" charset="0"/>
                <a:ea typeface="ＭＳ Ｐゴシック" pitchFamily="34" charset="-128"/>
              </a:rPr>
              <a:t>Auditing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995936" y="2243290"/>
            <a:ext cx="1800200" cy="321614"/>
          </a:xfrm>
          <a:prstGeom prst="rect">
            <a:avLst/>
          </a:prstGeom>
          <a:noFill/>
          <a:ln w="444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sz="3200">
              <a:solidFill>
                <a:srgbClr val="FFFFFF"/>
              </a:solidFill>
              <a:ea typeface="新細明體" charset="0"/>
              <a:cs typeface="新細明體" charset="0"/>
            </a:endParaRPr>
          </a:p>
        </p:txBody>
      </p:sp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240" y="343485"/>
            <a:ext cx="188595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11144-0A80-492E-A667-66F71C220181}" type="slidenum">
              <a:rPr lang="en-GB" smtClean="0"/>
              <a:pPr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36976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771800" y="260648"/>
            <a:ext cx="8229600" cy="836712"/>
          </a:xfrm>
        </p:spPr>
        <p:txBody>
          <a:bodyPr/>
          <a:lstStyle/>
          <a:p>
            <a:r>
              <a:rPr lang="en-GB" sz="3600" dirty="0"/>
              <a:t>Annual Report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11144-0A80-492E-A667-66F71C220181}" type="slidenum">
              <a:rPr lang="en-GB" smtClean="0"/>
              <a:pPr/>
              <a:t>13</a:t>
            </a:fld>
            <a:endParaRPr lang="en-GB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1842277"/>
            <a:ext cx="4941937" cy="46966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912226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608" y="1340768"/>
            <a:ext cx="8229600" cy="836712"/>
          </a:xfrm>
        </p:spPr>
        <p:txBody>
          <a:bodyPr/>
          <a:lstStyle/>
          <a:p>
            <a:r>
              <a:rPr lang="en-GB" sz="3600" dirty="0">
                <a:latin typeface="Calibri" panose="020F0502020204030204" pitchFamily="34" charset="0"/>
              </a:rPr>
              <a:t>Why Study Accounting?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11144-0A80-492E-A667-66F71C220181}" type="slidenum">
              <a:rPr lang="en-GB" smtClean="0"/>
              <a:pPr/>
              <a:t>14</a:t>
            </a:fld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837928" y="2636912"/>
            <a:ext cx="7848872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Accountants provide information, but </a:t>
            </a:r>
            <a:r>
              <a:rPr lang="en-GB" sz="2400" dirty="0">
                <a:solidFill>
                  <a:srgbClr val="FF0000"/>
                </a:solidFill>
              </a:rPr>
              <a:t>managers</a:t>
            </a:r>
            <a:r>
              <a:rPr lang="en-GB" sz="2400" dirty="0"/>
              <a:t> make decisions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Understanding financial information will make you better managers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2000" dirty="0"/>
              <a:t>How accounting reports should be read and interpreted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2000" dirty="0"/>
              <a:t>How financial plans are made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2000" dirty="0"/>
              <a:t>How investment decisions are made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2000" dirty="0"/>
              <a:t>How businesses are financed</a:t>
            </a:r>
          </a:p>
        </p:txBody>
      </p:sp>
    </p:spTree>
    <p:extLst>
      <p:ext uri="{BB962C8B-B14F-4D97-AF65-F5344CB8AC3E}">
        <p14:creationId xmlns:p14="http://schemas.microsoft.com/office/powerpoint/2010/main" val="26417201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Maximisation of Owners’ wealth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Key business objective</a:t>
            </a:r>
          </a:p>
          <a:p>
            <a:r>
              <a:rPr lang="en-GB" dirty="0"/>
              <a:t>Long-term concept, not always ‘get rich quick’</a:t>
            </a:r>
          </a:p>
          <a:p>
            <a:r>
              <a:rPr lang="en-GB" dirty="0"/>
              <a:t>Balance this with needs of other stakeholders</a:t>
            </a:r>
          </a:p>
          <a:p>
            <a:pPr lvl="1"/>
            <a:r>
              <a:rPr lang="en-GB" dirty="0"/>
              <a:t>Human rights</a:t>
            </a:r>
          </a:p>
          <a:p>
            <a:pPr lvl="1"/>
            <a:r>
              <a:rPr lang="en-GB" dirty="0"/>
              <a:t>Working conditions</a:t>
            </a:r>
          </a:p>
          <a:p>
            <a:pPr lvl="1"/>
            <a:r>
              <a:rPr lang="en-GB" dirty="0"/>
              <a:t>Sustainability</a:t>
            </a:r>
          </a:p>
          <a:p>
            <a:pPr lvl="1"/>
            <a:r>
              <a:rPr lang="en-GB" dirty="0"/>
              <a:t>Mission statement</a:t>
            </a:r>
          </a:p>
          <a:p>
            <a:pPr marL="457200" lvl="1" indent="0"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11144-0A80-492E-A667-66F71C220181}" type="slidenum">
              <a:rPr lang="en-GB" smtClean="0"/>
              <a:pPr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92256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Costs – is it just about money??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Nike and Gap</a:t>
            </a:r>
          </a:p>
          <a:p>
            <a:pPr lvl="1"/>
            <a:r>
              <a:rPr lang="en-GB" dirty="0"/>
              <a:t>Improving work, pay and conditions of staff in Asia</a:t>
            </a:r>
          </a:p>
          <a:p>
            <a:pPr lvl="2"/>
            <a:r>
              <a:rPr lang="en-GB" dirty="0"/>
              <a:t>Initial higher costs</a:t>
            </a:r>
          </a:p>
          <a:p>
            <a:pPr lvl="2"/>
            <a:r>
              <a:rPr lang="en-GB" dirty="0"/>
              <a:t>Enhanced corporate reputation</a:t>
            </a:r>
          </a:p>
          <a:p>
            <a:pPr lvl="2"/>
            <a:r>
              <a:rPr lang="en-GB" dirty="0"/>
              <a:t>Happier employees</a:t>
            </a:r>
          </a:p>
          <a:p>
            <a:pPr lvl="2"/>
            <a:r>
              <a:rPr lang="en-GB" dirty="0"/>
              <a:t>Social responsibility!</a:t>
            </a:r>
          </a:p>
        </p:txBody>
      </p:sp>
    </p:spTree>
    <p:extLst>
      <p:ext uri="{BB962C8B-B14F-4D97-AF65-F5344CB8AC3E}">
        <p14:creationId xmlns:p14="http://schemas.microsoft.com/office/powerpoint/2010/main" val="19594120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55776" y="302896"/>
            <a:ext cx="8229600" cy="836712"/>
          </a:xfrm>
        </p:spPr>
        <p:txBody>
          <a:bodyPr/>
          <a:lstStyle/>
          <a:p>
            <a:r>
              <a:rPr lang="en-GB" sz="3600" dirty="0">
                <a:latin typeface="Calibri" panose="020F0502020204030204" pitchFamily="34" charset="0"/>
              </a:rPr>
              <a:t>Risk v Return (reward)</a:t>
            </a: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11144-0A80-492E-A667-66F71C220181}" type="slidenum">
              <a:rPr lang="en-GB" smtClean="0"/>
              <a:pPr/>
              <a:t>17</a:t>
            </a:fld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1187624" y="1476588"/>
            <a:ext cx="78488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Calibri" panose="020F0502020204030204" pitchFamily="34" charset="0"/>
              </a:rPr>
              <a:t>Investors require some return to induce them to invest money in a business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Calibri" panose="020F0502020204030204" pitchFamily="34" charset="0"/>
              </a:rPr>
              <a:t>The higher the risk the higher the required return</a:t>
            </a:r>
          </a:p>
        </p:txBody>
      </p:sp>
      <p:grpSp>
        <p:nvGrpSpPr>
          <p:cNvPr id="3" name="Group 4"/>
          <p:cNvGrpSpPr>
            <a:grpSpLocks/>
          </p:cNvGrpSpPr>
          <p:nvPr/>
        </p:nvGrpSpPr>
        <p:grpSpPr bwMode="auto">
          <a:xfrm>
            <a:off x="1475656" y="2924944"/>
            <a:ext cx="6500068" cy="3672408"/>
            <a:chOff x="906" y="850"/>
            <a:chExt cx="4033" cy="2677"/>
          </a:xfrm>
        </p:grpSpPr>
        <p:sp>
          <p:nvSpPr>
            <p:cNvPr id="8" name="AutoShape 5"/>
            <p:cNvSpPr>
              <a:spLocks noChangeArrowheads="1"/>
            </p:cNvSpPr>
            <p:nvPr/>
          </p:nvSpPr>
          <p:spPr bwMode="auto">
            <a:xfrm>
              <a:off x="988" y="851"/>
              <a:ext cx="3947" cy="2622"/>
            </a:xfrm>
            <a:prstGeom prst="roundRect">
              <a:avLst>
                <a:gd name="adj" fmla="val 6486"/>
              </a:avLst>
            </a:prstGeom>
            <a:solidFill>
              <a:srgbClr val="DFBCA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" name="AutoShape 6"/>
            <p:cNvSpPr>
              <a:spLocks noChangeArrowheads="1"/>
            </p:cNvSpPr>
            <p:nvPr/>
          </p:nvSpPr>
          <p:spPr bwMode="auto">
            <a:xfrm>
              <a:off x="906" y="850"/>
              <a:ext cx="310" cy="2673"/>
            </a:xfrm>
            <a:prstGeom prst="cube">
              <a:avLst>
                <a:gd name="adj" fmla="val 22560"/>
              </a:avLst>
            </a:prstGeom>
            <a:solidFill>
              <a:srgbClr val="FFCC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" name="AutoShape 7"/>
            <p:cNvSpPr>
              <a:spLocks noChangeArrowheads="1"/>
            </p:cNvSpPr>
            <p:nvPr/>
          </p:nvSpPr>
          <p:spPr bwMode="auto">
            <a:xfrm>
              <a:off x="1137" y="3222"/>
              <a:ext cx="3799" cy="302"/>
            </a:xfrm>
            <a:prstGeom prst="cube">
              <a:avLst>
                <a:gd name="adj" fmla="val 23130"/>
              </a:avLst>
            </a:prstGeom>
            <a:solidFill>
              <a:srgbClr val="FFCC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1" name="Text Box 8"/>
            <p:cNvSpPr txBox="1">
              <a:spLocks noChangeArrowheads="1"/>
            </p:cNvSpPr>
            <p:nvPr/>
          </p:nvSpPr>
          <p:spPr bwMode="auto">
            <a:xfrm>
              <a:off x="4191" y="3296"/>
              <a:ext cx="73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altLang="en-US" sz="1800" b="1">
                  <a:latin typeface="Arial" charset="0"/>
                </a:rPr>
                <a:t>Risk</a:t>
              </a:r>
            </a:p>
          </p:txBody>
        </p:sp>
        <p:sp>
          <p:nvSpPr>
            <p:cNvPr id="12" name="Line 9"/>
            <p:cNvSpPr>
              <a:spLocks noChangeShapeType="1"/>
            </p:cNvSpPr>
            <p:nvPr/>
          </p:nvSpPr>
          <p:spPr bwMode="auto">
            <a:xfrm rot="21274106" flipV="1">
              <a:off x="1160" y="2176"/>
              <a:ext cx="3779" cy="269"/>
            </a:xfrm>
            <a:prstGeom prst="line">
              <a:avLst/>
            </a:prstGeom>
            <a:noFill/>
            <a:ln w="127000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Text Box 10"/>
            <p:cNvSpPr txBox="1">
              <a:spLocks noChangeArrowheads="1"/>
            </p:cNvSpPr>
            <p:nvPr/>
          </p:nvSpPr>
          <p:spPr bwMode="auto">
            <a:xfrm rot="-5400000">
              <a:off x="686" y="1094"/>
              <a:ext cx="69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GB" altLang="en-US" sz="1800" b="1">
                  <a:latin typeface="Arial" charset="0"/>
                </a:rPr>
                <a:t>Return</a:t>
              </a:r>
              <a:r>
                <a:rPr lang="en-GB" altLang="en-US" sz="1600" b="1">
                  <a:latin typeface="Arial" charset="0"/>
                </a:rPr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475559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Accounting rules &amp; regulations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Companies are owned by shareholders but managed by directors</a:t>
            </a:r>
          </a:p>
          <a:p>
            <a:r>
              <a:rPr lang="en-GB" dirty="0"/>
              <a:t>Most shareholders of large companies are not involved in the daily operations </a:t>
            </a:r>
          </a:p>
          <a:p>
            <a:r>
              <a:rPr lang="en-GB" dirty="0"/>
              <a:t>Shareholders rely on financial reports for information to make important decisions</a:t>
            </a:r>
          </a:p>
          <a:p>
            <a:r>
              <a:rPr lang="en-GB" dirty="0"/>
              <a:t>Stakeholders rely on financial reports for information to make important decisions</a:t>
            </a:r>
          </a:p>
          <a:p>
            <a:r>
              <a:rPr lang="en-GB" dirty="0"/>
              <a:t>Regulations attempt to ensure financial reports provide a true and fair view</a:t>
            </a:r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11144-0A80-492E-A667-66F71C220181}" type="slidenum">
              <a:rPr lang="en-GB" smtClean="0"/>
              <a:pPr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29078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Enron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/>
              <a:t>Enron grew from small beginnings to become the 7</a:t>
            </a:r>
            <a:r>
              <a:rPr lang="en-GB" baseline="30000" dirty="0"/>
              <a:t>th</a:t>
            </a:r>
            <a:r>
              <a:rPr lang="en-GB" dirty="0"/>
              <a:t> largest company in the US.  It employed more than 21,000 staff in more than 40 countries.</a:t>
            </a:r>
          </a:p>
          <a:p>
            <a:r>
              <a:rPr lang="en-GB" dirty="0"/>
              <a:t>The success was not all it seemed.  Deception was prolific regarding profits, hidden debts and losses hidden in intricate deals.</a:t>
            </a:r>
          </a:p>
          <a:p>
            <a:r>
              <a:rPr lang="en-GB" dirty="0"/>
              <a:t>Investors and creditors forced the company into bankruptcy in 2001.</a:t>
            </a:r>
          </a:p>
          <a:p>
            <a:r>
              <a:rPr lang="en-GB" dirty="0"/>
              <a:t>Enron changed the business world and the accounting profession.</a:t>
            </a:r>
          </a:p>
          <a:p>
            <a:r>
              <a:rPr lang="en-GB" dirty="0"/>
              <a:t>Thousands of employees lost their jobs; pension rights were lost; investors lost $billions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11144-0A80-492E-A667-66F71C220181}" type="slidenum">
              <a:rPr lang="en-GB" smtClean="0"/>
              <a:pPr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50197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836712"/>
            <a:ext cx="8075240" cy="998984"/>
          </a:xfrm>
        </p:spPr>
        <p:txBody>
          <a:bodyPr>
            <a:normAutofit fontScale="90000"/>
          </a:bodyPr>
          <a:lstStyle/>
          <a:p>
            <a:r>
              <a:rPr lang="en-GB" dirty="0"/>
              <a:t>The accountants involved in Enron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2204865"/>
            <a:ext cx="8075240" cy="4320480"/>
          </a:xfrm>
        </p:spPr>
        <p:txBody>
          <a:bodyPr>
            <a:normAutofit/>
          </a:bodyPr>
          <a:lstStyle/>
          <a:p>
            <a:r>
              <a:rPr lang="en-GB" dirty="0"/>
              <a:t>The company directors and managers devised various fraudulent schemes.</a:t>
            </a:r>
          </a:p>
          <a:p>
            <a:pPr lvl="1"/>
            <a:r>
              <a:rPr lang="en-GB" dirty="0"/>
              <a:t> Several are now in prison.</a:t>
            </a:r>
          </a:p>
          <a:p>
            <a:endParaRPr lang="en-GB" dirty="0"/>
          </a:p>
          <a:p>
            <a:r>
              <a:rPr lang="en-GB" dirty="0"/>
              <a:t>One Enron employee became a ‘whistle blower’ and lead investigators into the trail of the crooked practices.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11144-0A80-492E-A667-66F71C220181}" type="slidenum">
              <a:rPr lang="en-GB" smtClean="0"/>
              <a:pPr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21499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836712"/>
            <a:ext cx="8075240" cy="998984"/>
          </a:xfrm>
        </p:spPr>
        <p:txBody>
          <a:bodyPr>
            <a:normAutofit fontScale="90000"/>
          </a:bodyPr>
          <a:lstStyle/>
          <a:p>
            <a:r>
              <a:rPr lang="en-GB" dirty="0"/>
              <a:t>The accountants involved in Enron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2204865"/>
            <a:ext cx="8075240" cy="4320480"/>
          </a:xfrm>
        </p:spPr>
        <p:txBody>
          <a:bodyPr>
            <a:normAutofit lnSpcReduction="10000"/>
          </a:bodyPr>
          <a:lstStyle/>
          <a:p>
            <a:r>
              <a:rPr lang="en-GB" dirty="0"/>
              <a:t>Enron’s auditor, Arthur Anderson was one of the ‘big 5’ firms of accountants in the world at the time and prided themselves as the number 1 firm.  </a:t>
            </a:r>
          </a:p>
          <a:p>
            <a:pPr lvl="1"/>
            <a:r>
              <a:rPr lang="en-GB" dirty="0"/>
              <a:t>They were found guilty of deliberately destroying evidence of its relationship with Enron (shredded the relevant files).</a:t>
            </a:r>
          </a:p>
          <a:p>
            <a:pPr lvl="1"/>
            <a:r>
              <a:rPr lang="en-GB" dirty="0"/>
              <a:t> AA collapsed.  </a:t>
            </a:r>
          </a:p>
          <a:p>
            <a:pPr lvl="1"/>
            <a:r>
              <a:rPr lang="en-GB" dirty="0"/>
              <a:t>The accounting profession came under huge public scrutiny as a result.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11144-0A80-492E-A667-66F71C220181}" type="slidenum">
              <a:rPr lang="en-GB" smtClean="0"/>
              <a:pPr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33382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Rules and Regulations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/>
              <a:t>Companies Act</a:t>
            </a:r>
          </a:p>
          <a:p>
            <a:r>
              <a:rPr lang="en-GB" dirty="0"/>
              <a:t>Accounting Standards – International and National</a:t>
            </a:r>
          </a:p>
          <a:p>
            <a:r>
              <a:rPr lang="en-GB" dirty="0"/>
              <a:t>Best practice and Generally Accepted Accounting Principles (GAAP)</a:t>
            </a:r>
          </a:p>
          <a:p>
            <a:r>
              <a:rPr lang="en-GB" dirty="0"/>
              <a:t>Commercial laws</a:t>
            </a:r>
          </a:p>
          <a:p>
            <a:r>
              <a:rPr lang="en-GB" dirty="0"/>
              <a:t>EU directives</a:t>
            </a:r>
          </a:p>
          <a:p>
            <a:r>
              <a:rPr lang="en-GB" dirty="0"/>
              <a:t>Stock Exchange requirements</a:t>
            </a:r>
          </a:p>
          <a:p>
            <a:r>
              <a:rPr lang="en-GB" dirty="0"/>
              <a:t>…the list goes on…and on….and on…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11144-0A80-492E-A667-66F71C220181}" type="slidenum">
              <a:rPr lang="en-GB" smtClean="0"/>
              <a:pPr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09979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Purpose of the Regulations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True and Fair view</a:t>
            </a:r>
          </a:p>
          <a:p>
            <a:r>
              <a:rPr lang="en-GB" dirty="0"/>
              <a:t>Requirement to produce accounting information in an approved format and timescale</a:t>
            </a:r>
          </a:p>
          <a:p>
            <a:r>
              <a:rPr lang="en-GB" dirty="0"/>
              <a:t>Do regulations guarantee anything?</a:t>
            </a:r>
          </a:p>
          <a:p>
            <a:r>
              <a:rPr lang="en-GB" dirty="0"/>
              <a:t>Do regulations cause their own problems?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11144-0A80-492E-A667-66F71C220181}" type="slidenum">
              <a:rPr lang="en-GB" smtClean="0"/>
              <a:pPr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24202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576" y="1052736"/>
            <a:ext cx="8229600" cy="836712"/>
          </a:xfrm>
        </p:spPr>
        <p:txBody>
          <a:bodyPr/>
          <a:lstStyle/>
          <a:p>
            <a:r>
              <a:rPr lang="en-GB" sz="3600" dirty="0">
                <a:latin typeface="Calibri" panose="020F0502020204030204" pitchFamily="34" charset="0"/>
              </a:rPr>
              <a:t>Sources of Accounting Rules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11144-0A80-492E-A667-66F71C220181}" type="slidenum">
              <a:rPr lang="en-GB" smtClean="0"/>
              <a:pPr/>
              <a:t>24</a:t>
            </a:fld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837928" y="2074049"/>
            <a:ext cx="7848872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Calibri" panose="020F0502020204030204" pitchFamily="34" charset="0"/>
              </a:rPr>
              <a:t>Corporate Governance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Calibri" panose="020F0502020204030204" pitchFamily="34" charset="0"/>
              </a:rPr>
              <a:t>International Accounting Standards Board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rgbClr val="FF0000"/>
                </a:solidFill>
                <a:latin typeface="Calibri" panose="020F0502020204030204" pitchFamily="34" charset="0"/>
              </a:rPr>
              <a:t>International Financial Reporting Standards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rgbClr val="FF0000"/>
                </a:solidFill>
                <a:latin typeface="Calibri" panose="020F0502020204030204" pitchFamily="34" charset="0"/>
              </a:rPr>
              <a:t>International Accounting Standards</a:t>
            </a:r>
          </a:p>
          <a:p>
            <a:pPr lvl="1"/>
            <a:endParaRPr lang="en-GB" sz="2400" dirty="0"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Calibri" panose="020F0502020204030204" pitchFamily="34" charset="0"/>
              </a:rPr>
              <a:t>Company law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Calibri" panose="020F0502020204030204" pitchFamily="34" charset="0"/>
              </a:rPr>
              <a:t>Disclosure of directors’ remuneration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Calibri" panose="020F0502020204030204" pitchFamily="34" charset="0"/>
              </a:rPr>
              <a:t>Disclosure of auditors’ fees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2000" dirty="0"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Calibri" panose="020F0502020204030204" pitchFamily="34" charset="0"/>
              </a:rPr>
              <a:t>Financial Conduct Authority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Calibri" panose="020F0502020204030204" pitchFamily="34" charset="0"/>
              </a:rPr>
              <a:t>Compliance with </a:t>
            </a:r>
            <a:r>
              <a:rPr lang="en-GB" sz="2000" dirty="0">
                <a:solidFill>
                  <a:srgbClr val="FF0000"/>
                </a:solidFill>
                <a:latin typeface="Calibri" panose="020F0502020204030204" pitchFamily="34" charset="0"/>
              </a:rPr>
              <a:t>UK Corporate Governance Code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Calibri" panose="020F0502020204030204" pitchFamily="34" charset="0"/>
              </a:rPr>
              <a:t>UK Corporate Governance Code sets out standards of good practice in relation to board leadership and effectiveness, remuneration, accountability and relations with shareholders.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20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04821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Accounting is concerned with collecting, analysing and communicating information.</a:t>
            </a:r>
          </a:p>
          <a:p>
            <a:r>
              <a:rPr lang="en-GB" dirty="0"/>
              <a:t>Accounting information may be used to make internal decisions or provide external information</a:t>
            </a:r>
          </a:p>
          <a:p>
            <a:r>
              <a:rPr lang="en-GB" dirty="0"/>
              <a:t>Regulations and rules surround the way accounting information is presented</a:t>
            </a:r>
          </a:p>
          <a:p>
            <a:r>
              <a:rPr lang="en-GB" dirty="0"/>
              <a:t>Fundamental concepts underpin accounting information</a:t>
            </a:r>
          </a:p>
          <a:p>
            <a:r>
              <a:rPr lang="en-GB" dirty="0"/>
              <a:t>Stakeholders may be interested in </a:t>
            </a:r>
            <a:r>
              <a:rPr lang="en-GB"/>
              <a:t>the accounts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7174047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Heriot-Watt">
      <a:dk1>
        <a:srgbClr val="5E6A71"/>
      </a:dk1>
      <a:lt1>
        <a:srgbClr val="FFFFFF"/>
      </a:lt1>
      <a:dk2>
        <a:srgbClr val="0098DB"/>
      </a:dk2>
      <a:lt2>
        <a:srgbClr val="00549F"/>
      </a:lt2>
      <a:accent1>
        <a:srgbClr val="0098DB"/>
      </a:accent1>
      <a:accent2>
        <a:srgbClr val="A5ACAF"/>
      </a:accent2>
      <a:accent3>
        <a:srgbClr val="5E6A71"/>
      </a:accent3>
      <a:accent4>
        <a:srgbClr val="00549F"/>
      </a:accent4>
      <a:accent5>
        <a:srgbClr val="72BCFF"/>
      </a:accent5>
      <a:accent6>
        <a:srgbClr val="BCC3C7"/>
      </a:accent6>
      <a:hlink>
        <a:srgbClr val="0098DB"/>
      </a:hlink>
      <a:folHlink>
        <a:srgbClr val="A5ACA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Heriot-Watt">
      <a:dk1>
        <a:srgbClr val="5E6A71"/>
      </a:dk1>
      <a:lt1>
        <a:srgbClr val="FFFFFF"/>
      </a:lt1>
      <a:dk2>
        <a:srgbClr val="0098DB"/>
      </a:dk2>
      <a:lt2>
        <a:srgbClr val="00549F"/>
      </a:lt2>
      <a:accent1>
        <a:srgbClr val="0098DB"/>
      </a:accent1>
      <a:accent2>
        <a:srgbClr val="A5ACAF"/>
      </a:accent2>
      <a:accent3>
        <a:srgbClr val="5E6A71"/>
      </a:accent3>
      <a:accent4>
        <a:srgbClr val="00549F"/>
      </a:accent4>
      <a:accent5>
        <a:srgbClr val="72BCFF"/>
      </a:accent5>
      <a:accent6>
        <a:srgbClr val="BCC3C7"/>
      </a:accent6>
      <a:hlink>
        <a:srgbClr val="0098DB"/>
      </a:hlink>
      <a:folHlink>
        <a:srgbClr val="A5ACA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4_Office Theme">
  <a:themeElements>
    <a:clrScheme name="Heriot-Watt">
      <a:dk1>
        <a:srgbClr val="5E6A71"/>
      </a:dk1>
      <a:lt1>
        <a:srgbClr val="FFFFFF"/>
      </a:lt1>
      <a:dk2>
        <a:srgbClr val="0098DB"/>
      </a:dk2>
      <a:lt2>
        <a:srgbClr val="00549F"/>
      </a:lt2>
      <a:accent1>
        <a:srgbClr val="0098DB"/>
      </a:accent1>
      <a:accent2>
        <a:srgbClr val="FFFFF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Office Theme">
  <a:themeElements>
    <a:clrScheme name="Heriot-Watt">
      <a:dk1>
        <a:srgbClr val="5E6A71"/>
      </a:dk1>
      <a:lt1>
        <a:srgbClr val="FFFFFF"/>
      </a:lt1>
      <a:dk2>
        <a:srgbClr val="0098DB"/>
      </a:dk2>
      <a:lt2>
        <a:srgbClr val="00549F"/>
      </a:lt2>
      <a:accent1>
        <a:srgbClr val="0098DB"/>
      </a:accent1>
      <a:accent2>
        <a:srgbClr val="FFFFF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5_Office Theme">
  <a:themeElements>
    <a:clrScheme name="Heriot-Watt">
      <a:dk1>
        <a:srgbClr val="5E6A71"/>
      </a:dk1>
      <a:lt1>
        <a:srgbClr val="FFFFFF"/>
      </a:lt1>
      <a:dk2>
        <a:srgbClr val="0098DB"/>
      </a:dk2>
      <a:lt2>
        <a:srgbClr val="00549F"/>
      </a:lt2>
      <a:accent1>
        <a:srgbClr val="0098DB"/>
      </a:accent1>
      <a:accent2>
        <a:srgbClr val="FFFFF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EE07C38512818468275603CD5E61BA0" ma:contentTypeVersion="0" ma:contentTypeDescription="Create a new document." ma:contentTypeScope="" ma:versionID="bffdf6d8b42402b1618094c717ddf4d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aa1222beb234debe96d12a98d24ff8a0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F7ACEBA-99EE-4B9A-99FE-F9695B41FA99}">
  <ds:schemaRefs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fopath/2007/PartnerControls"/>
    <ds:schemaRef ds:uri="http://www.w3.org/XML/1998/namespace"/>
    <ds:schemaRef ds:uri="http://purl.org/dc/dcmitype/"/>
    <ds:schemaRef ds:uri="http://schemas.microsoft.com/office/2006/metadata/properties"/>
    <ds:schemaRef ds:uri="http://schemas.microsoft.com/office/2006/documentManagement/types"/>
  </ds:schemaRefs>
</ds:datastoreItem>
</file>

<file path=customXml/itemProps2.xml><?xml version="1.0" encoding="utf-8"?>
<ds:datastoreItem xmlns:ds="http://schemas.openxmlformats.org/officeDocument/2006/customXml" ds:itemID="{279AB7AB-D87E-4CE6-8813-9B5D560C3A7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6FC14F33-A9A2-48F1-A0A9-DB146E88F93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332</TotalTime>
  <Words>1116</Words>
  <Application>Microsoft Office PowerPoint</Application>
  <PresentationFormat>On-screen Show (4:3)</PresentationFormat>
  <Paragraphs>234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25</vt:i4>
      </vt:variant>
    </vt:vector>
  </HeadingPairs>
  <TitlesOfParts>
    <vt:vector size="36" baseType="lpstr">
      <vt:lpstr>ＭＳ Ｐゴシック</vt:lpstr>
      <vt:lpstr>新細明體</vt:lpstr>
      <vt:lpstr>Arial</vt:lpstr>
      <vt:lpstr>Calibri</vt:lpstr>
      <vt:lpstr>Corbel</vt:lpstr>
      <vt:lpstr>Times New Roman</vt:lpstr>
      <vt:lpstr>1_Office Theme</vt:lpstr>
      <vt:lpstr>2_Office Theme</vt:lpstr>
      <vt:lpstr>4_Office Theme</vt:lpstr>
      <vt:lpstr>3_Office Theme</vt:lpstr>
      <vt:lpstr>5_Office Theme</vt:lpstr>
      <vt:lpstr>PowerPoint Presentation</vt:lpstr>
      <vt:lpstr>Is accounting cool?</vt:lpstr>
      <vt:lpstr>Intro to accounting and finance?</vt:lpstr>
      <vt:lpstr>PowerPoint Presentation</vt:lpstr>
      <vt:lpstr>Qualities that influence usefulness of Accounting information</vt:lpstr>
      <vt:lpstr>Qualities that influence usefulness of Accounting information</vt:lpstr>
      <vt:lpstr>PowerPoint Presentation</vt:lpstr>
      <vt:lpstr>Types of Accounting</vt:lpstr>
      <vt:lpstr>Management &amp; Financial Accounting</vt:lpstr>
      <vt:lpstr>PowerPoint Presentation</vt:lpstr>
      <vt:lpstr>PowerPoint Presentation</vt:lpstr>
      <vt:lpstr>PowerPoint Presentation</vt:lpstr>
      <vt:lpstr>Annual Report</vt:lpstr>
      <vt:lpstr>Why Study Accounting?</vt:lpstr>
      <vt:lpstr>Maximisation of Owners’ wealth</vt:lpstr>
      <vt:lpstr>Costs – is it just about money??</vt:lpstr>
      <vt:lpstr>Risk v Return (reward)</vt:lpstr>
      <vt:lpstr>Accounting rules &amp; regulations</vt:lpstr>
      <vt:lpstr>Enron</vt:lpstr>
      <vt:lpstr>The accountants involved in Enron</vt:lpstr>
      <vt:lpstr>The accountants involved in Enron</vt:lpstr>
      <vt:lpstr>Rules and Regulations</vt:lpstr>
      <vt:lpstr>Purpose of the Regulations</vt:lpstr>
      <vt:lpstr>Sources of Accounting Rules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Iain McGeary</dc:creator>
  <cp:lastModifiedBy>Samuel, Sunday</cp:lastModifiedBy>
  <cp:revision>32</cp:revision>
  <dcterms:created xsi:type="dcterms:W3CDTF">2016-02-11T16:23:53Z</dcterms:created>
  <dcterms:modified xsi:type="dcterms:W3CDTF">2025-01-06T19:32:27Z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0x0101006EE07C38512818468275603CD5E61BA0</vt:lpwstr>
  </property>
</Properties>
</file>