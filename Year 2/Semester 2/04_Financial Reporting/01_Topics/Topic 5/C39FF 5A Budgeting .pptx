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28"/>
  </p:notesMasterIdLst>
  <p:sldIdLst>
    <p:sldId id="257" r:id="rId9"/>
    <p:sldId id="258" r:id="rId10"/>
    <p:sldId id="329" r:id="rId11"/>
    <p:sldId id="328" r:id="rId12"/>
    <p:sldId id="317" r:id="rId13"/>
    <p:sldId id="318" r:id="rId14"/>
    <p:sldId id="320" r:id="rId15"/>
    <p:sldId id="267" r:id="rId16"/>
    <p:sldId id="330" r:id="rId17"/>
    <p:sldId id="331" r:id="rId18"/>
    <p:sldId id="324" r:id="rId19"/>
    <p:sldId id="325" r:id="rId20"/>
    <p:sldId id="326" r:id="rId21"/>
    <p:sldId id="327" r:id="rId22"/>
    <p:sldId id="321" r:id="rId23"/>
    <p:sldId id="322" r:id="rId24"/>
    <p:sldId id="323" r:id="rId25"/>
    <p:sldId id="271" r:id="rId26"/>
    <p:sldId id="315" r:id="rId27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80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FC9CA-7B78-4409-BE83-4F17C5F1D20A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BC246-25ED-47C5-BA89-587E387F7C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212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441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673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33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064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450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403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891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506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050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910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791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229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3526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660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847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5731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6339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332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BC246-25ED-47C5-BA89-587E387F7C7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33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16/01/2025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4471" y="1371600"/>
            <a:ext cx="8547696" cy="1927225"/>
          </a:xfrm>
        </p:spPr>
        <p:txBody>
          <a:bodyPr>
            <a:normAutofit/>
          </a:bodyPr>
          <a:lstStyle/>
          <a:p>
            <a:pPr algn="ctr"/>
            <a:r>
              <a:rPr lang="en-GB" sz="3100" b="1" dirty="0"/>
              <a:t>C39FF: Finance and Financial Reporting</a:t>
            </a:r>
            <a:br>
              <a:rPr lang="en-GB" sz="4400" b="1" dirty="0"/>
            </a:br>
            <a:br>
              <a:rPr lang="en-GB" sz="4400" b="1" dirty="0"/>
            </a:br>
            <a:r>
              <a:rPr lang="en-GB" sz="4400" b="1" dirty="0"/>
              <a:t> </a:t>
            </a:r>
            <a:r>
              <a:rPr lang="en-GB" sz="4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Budgeting</a:t>
            </a:r>
            <a:endParaRPr lang="en-GB" sz="4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700" y="4149080"/>
            <a:ext cx="7848600" cy="1752600"/>
          </a:xfrm>
        </p:spPr>
        <p:txBody>
          <a:bodyPr>
            <a:normAutofit/>
          </a:bodyPr>
          <a:lstStyle/>
          <a:p>
            <a:pPr algn="ctr"/>
            <a:r>
              <a:rPr lang="en-GB" sz="2800" dirty="0"/>
              <a:t>Management Accounting &amp;</a:t>
            </a:r>
          </a:p>
          <a:p>
            <a:pPr algn="ctr"/>
            <a:r>
              <a:rPr lang="en-GB" sz="2800" dirty="0"/>
              <a:t>Budgetary Control</a:t>
            </a:r>
          </a:p>
        </p:txBody>
      </p:sp>
    </p:spTree>
    <p:extLst>
      <p:ext uri="{BB962C8B-B14F-4D97-AF65-F5344CB8AC3E}">
        <p14:creationId xmlns:p14="http://schemas.microsoft.com/office/powerpoint/2010/main" val="705828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Interrelation between historic figures and forecasts</a:t>
            </a:r>
          </a:p>
          <a:p>
            <a:endParaRPr lang="en-GB" dirty="0"/>
          </a:p>
          <a:p>
            <a:r>
              <a:rPr lang="en-GB" dirty="0"/>
              <a:t>Forecasting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Budgetary Control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Decision making, diversification, improvements </a:t>
            </a:r>
            <a:r>
              <a:rPr lang="en-GB" dirty="0" err="1"/>
              <a:t>etc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Planning</a:t>
            </a:r>
          </a:p>
        </p:txBody>
      </p:sp>
    </p:spTree>
    <p:extLst>
      <p:ext uri="{BB962C8B-B14F-4D97-AF65-F5344CB8AC3E}">
        <p14:creationId xmlns:p14="http://schemas.microsoft.com/office/powerpoint/2010/main" val="166477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4512-14DB-4FB0-9E50-FD0709AA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Forecasting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55AA7-3A7F-447A-8E1A-E2CA880CF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Future predictions</a:t>
            </a:r>
          </a:p>
          <a:p>
            <a:r>
              <a:rPr lang="en-GB" dirty="0"/>
              <a:t>Trend analysis</a:t>
            </a:r>
          </a:p>
          <a:p>
            <a:r>
              <a:rPr lang="en-GB" dirty="0"/>
              <a:t>Historical data</a:t>
            </a:r>
          </a:p>
          <a:p>
            <a:r>
              <a:rPr lang="en-GB" dirty="0"/>
              <a:t>Assumptions</a:t>
            </a:r>
          </a:p>
          <a:p>
            <a:r>
              <a:rPr lang="en-GB" dirty="0"/>
              <a:t>Forecasting models</a:t>
            </a:r>
          </a:p>
          <a:p>
            <a:r>
              <a:rPr lang="en-GB" dirty="0"/>
              <a:t>Budgets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13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31C8-5A8E-429F-A2E1-220B8FF33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Purpose of Budgeting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A6B18-4988-4420-BEA2-91B3B1E47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Resource Allocation</a:t>
            </a:r>
          </a:p>
          <a:p>
            <a:r>
              <a:rPr lang="en-GB" dirty="0"/>
              <a:t>Planning</a:t>
            </a:r>
          </a:p>
          <a:p>
            <a:r>
              <a:rPr lang="en-GB" dirty="0"/>
              <a:t>Co-ordination</a:t>
            </a:r>
          </a:p>
          <a:p>
            <a:r>
              <a:rPr lang="en-GB" dirty="0"/>
              <a:t>Control</a:t>
            </a:r>
          </a:p>
          <a:p>
            <a:r>
              <a:rPr lang="en-GB" dirty="0"/>
              <a:t>Motivation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67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At least annually organisations prepare a forecast to show:</a:t>
            </a:r>
          </a:p>
          <a:p>
            <a:pPr lvl="1"/>
            <a:r>
              <a:rPr lang="en-GB" dirty="0"/>
              <a:t>Incomes, Costs, Margins, Profits</a:t>
            </a:r>
          </a:p>
          <a:p>
            <a:pPr marL="301943" lvl="1" indent="0">
              <a:buNone/>
            </a:pPr>
            <a:endParaRPr lang="en-GB" dirty="0"/>
          </a:p>
          <a:p>
            <a:r>
              <a:rPr lang="en-GB" dirty="0"/>
              <a:t>This forecast is usually known as the ‘budget’ and is one of the most important tools to monitor performance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Budgeting</a:t>
            </a:r>
          </a:p>
        </p:txBody>
      </p:sp>
    </p:spTree>
    <p:extLst>
      <p:ext uri="{BB962C8B-B14F-4D97-AF65-F5344CB8AC3E}">
        <p14:creationId xmlns:p14="http://schemas.microsoft.com/office/powerpoint/2010/main" val="211746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Cash-flow planning</a:t>
            </a:r>
          </a:p>
          <a:p>
            <a:pPr lvl="1"/>
            <a:r>
              <a:rPr lang="en-GB" dirty="0"/>
              <a:t>Based upon when sales and expenditure are expected, it is possible to also predict the cash requirements across the year</a:t>
            </a:r>
          </a:p>
          <a:p>
            <a:r>
              <a:rPr lang="en-GB" dirty="0"/>
              <a:t>Investment justification</a:t>
            </a:r>
          </a:p>
          <a:p>
            <a:pPr lvl="1"/>
            <a:r>
              <a:rPr lang="en-GB" dirty="0"/>
              <a:t>The basis of justifying additional expenditure is to show exactly what returns will accrue as a result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Reasons for Budgets</a:t>
            </a:r>
          </a:p>
        </p:txBody>
      </p:sp>
    </p:spTree>
    <p:extLst>
      <p:ext uri="{BB962C8B-B14F-4D97-AF65-F5344CB8AC3E}">
        <p14:creationId xmlns:p14="http://schemas.microsoft.com/office/powerpoint/2010/main" val="295248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CE0A-505E-4A52-8412-6B57BBCDF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Stages of Budgeting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4836E-1A7B-4F3A-AF20-B3F9E1CF8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vl="0"/>
            <a:r>
              <a:rPr lang="en-GB" sz="2900" dirty="0"/>
              <a:t>Communicating policy and guidelines.</a:t>
            </a:r>
            <a:endParaRPr lang="en-US" sz="2900" dirty="0"/>
          </a:p>
          <a:p>
            <a:pPr marL="0" indent="0">
              <a:buNone/>
            </a:pPr>
            <a:r>
              <a:rPr lang="en-GB" sz="2900" dirty="0"/>
              <a:t> </a:t>
            </a:r>
            <a:endParaRPr lang="en-US" sz="2900" dirty="0"/>
          </a:p>
          <a:p>
            <a:pPr lvl="0"/>
            <a:r>
              <a:rPr lang="en-GB" sz="2900" dirty="0"/>
              <a:t>Determining restrictive factors.</a:t>
            </a:r>
            <a:endParaRPr lang="en-US" sz="2900" dirty="0"/>
          </a:p>
          <a:p>
            <a:endParaRPr lang="en-US" sz="2900" dirty="0"/>
          </a:p>
          <a:p>
            <a:pPr lvl="0"/>
            <a:r>
              <a:rPr lang="en-GB" sz="2900" dirty="0"/>
              <a:t>Prepare the sales budget.</a:t>
            </a:r>
            <a:endParaRPr lang="en-US" sz="2900" dirty="0"/>
          </a:p>
          <a:p>
            <a:endParaRPr lang="en-US" sz="2900" dirty="0"/>
          </a:p>
          <a:p>
            <a:pPr lvl="0"/>
            <a:r>
              <a:rPr lang="en-GB" sz="2900" dirty="0"/>
              <a:t>Initial preparation of various budgets.</a:t>
            </a:r>
            <a:endParaRPr lang="en-US" sz="2900" dirty="0"/>
          </a:p>
          <a:p>
            <a:endParaRPr lang="en-US" sz="2900" dirty="0"/>
          </a:p>
          <a:p>
            <a:pPr lvl="0"/>
            <a:r>
              <a:rPr lang="en-GB" sz="2900" dirty="0"/>
              <a:t>Negotiation.</a:t>
            </a:r>
            <a:endParaRPr lang="en-US" sz="2900" dirty="0"/>
          </a:p>
          <a:p>
            <a:pPr marL="0" indent="0">
              <a:buNone/>
            </a:pPr>
            <a:r>
              <a:rPr lang="en-GB" sz="2900" dirty="0"/>
              <a:t> </a:t>
            </a:r>
            <a:endParaRPr lang="en-US" sz="2900" dirty="0"/>
          </a:p>
          <a:p>
            <a:pPr lvl="0"/>
            <a:r>
              <a:rPr lang="en-GB" sz="2900" dirty="0"/>
              <a:t>Co-ordination and review.</a:t>
            </a:r>
            <a:endParaRPr lang="en-US" sz="2900" dirty="0"/>
          </a:p>
          <a:p>
            <a:endParaRPr lang="en-US" sz="2900" dirty="0"/>
          </a:p>
          <a:p>
            <a:pPr lvl="0"/>
            <a:r>
              <a:rPr lang="en-GB" sz="2900" dirty="0"/>
              <a:t>Acceptance.</a:t>
            </a:r>
            <a:endParaRPr lang="en-US" sz="2900" dirty="0"/>
          </a:p>
          <a:p>
            <a:endParaRPr lang="en-US" sz="2900" dirty="0"/>
          </a:p>
          <a:p>
            <a:pPr lvl="0"/>
            <a:r>
              <a:rPr lang="en-GB" sz="2900" dirty="0"/>
              <a:t>Ongoing review.</a:t>
            </a:r>
            <a:endParaRPr lang="en-US" sz="29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28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11188" y="1937335"/>
          <a:ext cx="8148166" cy="4385674"/>
        </p:xfrm>
        <a:graphic>
          <a:graphicData uri="http://schemas.openxmlformats.org/drawingml/2006/table">
            <a:tbl>
              <a:tblPr/>
              <a:tblGrid>
                <a:gridCol w="1383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5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5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57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57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43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177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Month Budget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Actuals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 (+/-)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YTD Budget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YTD Actual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 (+/-)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 Month Comp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 (+/-)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Sales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£50,000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£48,000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£300,000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£280,000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£20,000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£46,000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CoS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£30,000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£30,000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£180,000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£169,000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£11,000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£28,000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Gross Margin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£20,000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£18,000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£120,000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£111,000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£9,000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£18,000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81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GP%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40.0%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37.5%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-2.5%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40.0%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39.6%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39.1%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-1.6%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Salaries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£13,500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£12,000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£1,500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£81,000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£76,000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£5,000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£13,000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£500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On Costs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£2,160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£1,800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£360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£12,960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£9,500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£3,460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£160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Rent &amp; Rates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£750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£750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£4,500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£4,500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£700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IT / Telephony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£375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£25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£2,100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£2,250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Marketing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£1,200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£6,000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£6,800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£800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£800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Other Costs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£750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£650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£4,500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£3,750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£750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£550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Total O/Heads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£18,510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£16,775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£1,735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£111,060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£102,800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£8,260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£17,400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£1,110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PBIT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£1,490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£1,225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£265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£8,940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£8,200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£740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£600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£3,110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8081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PBIT%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2.6%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2.9%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-1.7%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08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Interest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£335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£352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£2,100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£2,000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£357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5038"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PBT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£1,140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£890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£617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£6,840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£6,200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£840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£250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£2,753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241"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PBT%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1.9%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-0.4%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-0.1%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1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-1.7%</a:t>
                      </a:r>
                    </a:p>
                  </a:txBody>
                  <a:tcPr marL="11723" marR="11723" marT="11726" marB="0" anchor="b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915" y="188640"/>
            <a:ext cx="8075240" cy="998984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dirty="0">
                <a:ea typeface="+mj-ea"/>
                <a:cs typeface="+mj-cs"/>
              </a:rPr>
              <a:t>Budget Reports</a:t>
            </a:r>
          </a:p>
        </p:txBody>
      </p:sp>
    </p:spTree>
    <p:extLst>
      <p:ext uri="{BB962C8B-B14F-4D97-AF65-F5344CB8AC3E}">
        <p14:creationId xmlns:p14="http://schemas.microsoft.com/office/powerpoint/2010/main" val="1558882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DB4F-83E9-4F16-9684-DD89803E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Fixed Budgeting (Static Budget)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8C23F-6F7E-4554-99D2-8180C58BD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Remains constant</a:t>
            </a:r>
          </a:p>
          <a:p>
            <a:r>
              <a:rPr lang="en-GB" dirty="0"/>
              <a:t>Ignores volume changes</a:t>
            </a:r>
          </a:p>
          <a:p>
            <a:r>
              <a:rPr lang="en-GB" dirty="0"/>
              <a:t>Fixed ‘targets’</a:t>
            </a:r>
          </a:p>
          <a:p>
            <a:r>
              <a:rPr lang="en-GB" dirty="0"/>
              <a:t>Interaction with continuous budgeting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458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1914D-6AFA-4337-8B86-F6B7C4EBE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Flexible Budgeting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54F2B-28EA-4999-B92A-06A985935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Flexes with the activity levels</a:t>
            </a:r>
          </a:p>
          <a:p>
            <a:r>
              <a:rPr lang="en-GB" dirty="0"/>
              <a:t>Adjusts with any changes</a:t>
            </a:r>
          </a:p>
          <a:p>
            <a:r>
              <a:rPr lang="en-GB" dirty="0"/>
              <a:t>Costs flex to match actual income levels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886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8C69F-9B7E-456F-8408-3EC8A308B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Budgeting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0D01E-28C2-481C-A73A-E3ECAE263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This is a budget prepared using a previous period’s budget or actual performance as a basis with incremental amounts added for the new budget period</a:t>
            </a:r>
            <a:endParaRPr lang="en-US" dirty="0"/>
          </a:p>
          <a:p>
            <a:endParaRPr lang="en-US" dirty="0"/>
          </a:p>
          <a:p>
            <a:r>
              <a:rPr lang="en-GB" dirty="0"/>
              <a:t>The allocation of resources is based upon allocations from the previous period.</a:t>
            </a:r>
            <a:endParaRPr lang="en-US" dirty="0"/>
          </a:p>
          <a:p>
            <a:endParaRPr lang="en-US" dirty="0"/>
          </a:p>
          <a:p>
            <a:r>
              <a:rPr lang="en-GB" dirty="0"/>
              <a:t>This approach is not recommended as it fails to take into account changing circumstances</a:t>
            </a:r>
            <a:endParaRPr lang="en-US" dirty="0"/>
          </a:p>
          <a:p>
            <a:endParaRPr lang="en-US" dirty="0"/>
          </a:p>
          <a:p>
            <a:r>
              <a:rPr lang="en-GB" dirty="0"/>
              <a:t>Moreover it encourages “spending up to the budget” to ensure a reasonable allocation in the next period. It leads to a “spend it or lose” mentality.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31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1F037-064C-44FE-AEFF-82D15F35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Advantages of Incremental Budgeting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D3073-A4B3-4276-9804-2DE209466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GB" dirty="0"/>
              <a:t>The budget is stable and change is gradual.</a:t>
            </a:r>
            <a:endParaRPr lang="en-US" dirty="0"/>
          </a:p>
          <a:p>
            <a:endParaRPr lang="en-US" dirty="0"/>
          </a:p>
          <a:p>
            <a:pPr lvl="0"/>
            <a:r>
              <a:rPr lang="en-GB" dirty="0"/>
              <a:t>Managers can operate their departments on a consistent basis.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 </a:t>
            </a:r>
            <a:endParaRPr lang="en-US" dirty="0"/>
          </a:p>
          <a:p>
            <a:pPr lvl="0"/>
            <a:r>
              <a:rPr lang="en-GB" dirty="0"/>
              <a:t>The system is relatively simple to operate and easy to understand.</a:t>
            </a:r>
            <a:endParaRPr lang="en-US" dirty="0"/>
          </a:p>
          <a:p>
            <a:endParaRPr lang="en-US" dirty="0"/>
          </a:p>
          <a:p>
            <a:pPr lvl="0"/>
            <a:r>
              <a:rPr lang="en-GB" dirty="0"/>
              <a:t>Conflicts should be avoided if departments can be seen to be treated similarly.</a:t>
            </a:r>
            <a:endParaRPr lang="en-US" dirty="0"/>
          </a:p>
          <a:p>
            <a:endParaRPr lang="en-US" dirty="0"/>
          </a:p>
          <a:p>
            <a:pPr lvl="0"/>
            <a:r>
              <a:rPr lang="en-GB" dirty="0"/>
              <a:t>Co-ordination between budgets is easier to achieve.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 </a:t>
            </a:r>
            <a:endParaRPr lang="en-US" dirty="0"/>
          </a:p>
          <a:p>
            <a:pPr lvl="0"/>
            <a:r>
              <a:rPr lang="en-GB" dirty="0"/>
              <a:t>The impact of change can be seen quickly.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75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4970E-E14D-48A3-AF28-67F0589EE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Disadvantages of Incremental Budgeting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FBA38-64C9-4ED4-8677-A79A635B1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GB" dirty="0"/>
              <a:t>Assumes activities and methods of working will continue in the same way.</a:t>
            </a:r>
            <a:endParaRPr lang="en-US" dirty="0"/>
          </a:p>
          <a:p>
            <a:endParaRPr lang="en-US" dirty="0"/>
          </a:p>
          <a:p>
            <a:r>
              <a:rPr lang="en-GB" dirty="0"/>
              <a:t>No incentive for developing new ideas.</a:t>
            </a:r>
            <a:endParaRPr lang="en-US" dirty="0"/>
          </a:p>
          <a:p>
            <a:endParaRPr lang="en-US" dirty="0"/>
          </a:p>
          <a:p>
            <a:pPr lvl="0"/>
            <a:r>
              <a:rPr lang="en-GB" dirty="0"/>
              <a:t>No incentives to reduce costs.</a:t>
            </a:r>
            <a:endParaRPr lang="en-US" dirty="0"/>
          </a:p>
          <a:p>
            <a:endParaRPr lang="en-US" dirty="0"/>
          </a:p>
          <a:p>
            <a:pPr lvl="0"/>
            <a:r>
              <a:rPr lang="en-GB" dirty="0"/>
              <a:t>Encourages spending up to the budget so that the budget is maintained next year.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689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450D2-D8C1-40ED-B1EA-9A92C4C04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Disadvantages Continued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948E1-AE3A-4E02-8193-E6A4FB500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GB" dirty="0"/>
              <a:t>The budget may become out of date and no longer relate to the level of activity or type of work being carried out.</a:t>
            </a:r>
            <a:endParaRPr lang="en-US" dirty="0"/>
          </a:p>
          <a:p>
            <a:endParaRPr lang="en-US" dirty="0"/>
          </a:p>
          <a:p>
            <a:pPr lvl="0"/>
            <a:r>
              <a:rPr lang="en-GB" dirty="0"/>
              <a:t>The priority for resources may have changed since the budgets were set originally.</a:t>
            </a:r>
            <a:endParaRPr lang="en-US" dirty="0"/>
          </a:p>
          <a:p>
            <a:endParaRPr lang="en-US" dirty="0"/>
          </a:p>
          <a:p>
            <a:pPr lvl="0"/>
            <a:r>
              <a:rPr lang="en-GB" dirty="0"/>
              <a:t>There may be budgetary slack built into the budget, which is never reviewed-managers might have overestimated their requirements in the past in order to obtain a budget which is easier to work to, and which will allow them to achieve favourable results.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252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3016A-96FD-4051-87C7-55E3C077D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Zero Based Budgeting (ZBB)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03BFC-98DF-4B63-BA21-D83F40248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sz="3200" dirty="0"/>
              <a:t>Start each budget period afresh-not based on historical data</a:t>
            </a:r>
            <a:endParaRPr lang="en-US" sz="3200" dirty="0"/>
          </a:p>
          <a:p>
            <a:endParaRPr lang="en-US" sz="3200" dirty="0"/>
          </a:p>
          <a:p>
            <a:r>
              <a:rPr lang="en-GB" sz="3200" dirty="0"/>
              <a:t>Budgets are zero unless managers make the case for resources-the relevant manager must justify the whole of the budget allocation</a:t>
            </a:r>
            <a:endParaRPr lang="en-US" sz="3200" dirty="0"/>
          </a:p>
          <a:p>
            <a:pPr marL="0" indent="0">
              <a:buNone/>
            </a:pPr>
            <a:r>
              <a:rPr lang="en-GB" sz="3200" dirty="0"/>
              <a:t> </a:t>
            </a:r>
            <a:endParaRPr lang="en-US" sz="3200" dirty="0"/>
          </a:p>
          <a:p>
            <a:r>
              <a:rPr lang="en-GB" sz="3200" dirty="0"/>
              <a:t>It means that each activity is questioned as if it were new before any resources are allocated to it.</a:t>
            </a:r>
            <a:endParaRPr lang="en-US" sz="3200" dirty="0"/>
          </a:p>
          <a:p>
            <a:endParaRPr lang="en-GB" sz="3200" dirty="0"/>
          </a:p>
          <a:p>
            <a:r>
              <a:rPr lang="en-GB" sz="3200" dirty="0"/>
              <a:t>Each plan of action has to be justified in terms of total cost involved and total benefit to accrue, with no reference to past activities.</a:t>
            </a:r>
            <a:endParaRPr lang="en-US" sz="3200" dirty="0"/>
          </a:p>
          <a:p>
            <a:endParaRPr lang="en-GB" sz="3200" dirty="0"/>
          </a:p>
          <a:p>
            <a:r>
              <a:rPr lang="en-GB" sz="3200" dirty="0"/>
              <a:t>Zero based budgets are designed to prevent budgets creeping up each year with inflation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722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8C73D-9F0E-484D-A8FA-87D28D125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Advantages of ZBB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D891D-1E4C-4CE0-9322-CC934A659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Forces budget setters to examine every item.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 </a:t>
            </a:r>
            <a:endParaRPr lang="en-US" dirty="0"/>
          </a:p>
          <a:p>
            <a:r>
              <a:rPr lang="en-GB" dirty="0"/>
              <a:t>Allocation of resources linked to results and needs.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 </a:t>
            </a:r>
            <a:endParaRPr lang="en-US" dirty="0"/>
          </a:p>
          <a:p>
            <a:r>
              <a:rPr lang="en-GB" dirty="0"/>
              <a:t>Develops a questioning attitude.</a:t>
            </a:r>
            <a:endParaRPr lang="en-US" dirty="0"/>
          </a:p>
          <a:p>
            <a:pPr marL="0" indent="0">
              <a:buNone/>
            </a:pPr>
            <a:r>
              <a:rPr lang="en-GB" dirty="0"/>
              <a:t> </a:t>
            </a:r>
            <a:endParaRPr lang="en-US" dirty="0"/>
          </a:p>
          <a:p>
            <a:r>
              <a:rPr lang="en-GB" dirty="0"/>
              <a:t>Wastage and budget slack should be eliminated.</a:t>
            </a:r>
            <a:endParaRPr lang="en-US" dirty="0"/>
          </a:p>
          <a:p>
            <a:endParaRPr lang="en-US" dirty="0"/>
          </a:p>
          <a:p>
            <a:r>
              <a:rPr lang="en-GB" dirty="0"/>
              <a:t>Prevents creeping budgets based on previous year’s figures with an added on percentage.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Encourages managers to look for alternatives.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866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206DC-1519-4F93-885C-50DA9D8F9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Disadvantages of ZBB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D4F01-FEDD-4957-8230-184ADB0EB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a complex time consuming process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Short term benefits may be emphasised to the detriment of long term planning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Affected by internal politics - can result in annual conflicts over budget allocation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947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Part-time employees can be much more flexible and work only when needed</a:t>
            </a:r>
          </a:p>
          <a:p>
            <a:r>
              <a:rPr lang="en-GB" dirty="0"/>
              <a:t>Outsourcing can offer a pre-planned costs for specific tasks</a:t>
            </a:r>
          </a:p>
          <a:p>
            <a:r>
              <a:rPr lang="en-GB" dirty="0"/>
              <a:t>Outsourcing can also offer a payment as used service so if you don’t sell something you don’t use it and therefore there is no cost</a:t>
            </a:r>
          </a:p>
          <a:p>
            <a:pPr lvl="1"/>
            <a:r>
              <a:rPr lang="en-GB" dirty="0"/>
              <a:t>Distribution</a:t>
            </a:r>
          </a:p>
          <a:p>
            <a:pPr lvl="1"/>
            <a:r>
              <a:rPr lang="en-GB" dirty="0"/>
              <a:t>Call centres and Administration</a:t>
            </a:r>
          </a:p>
          <a:p>
            <a:pPr lvl="1"/>
            <a:r>
              <a:rPr lang="en-GB" dirty="0"/>
              <a:t>Aftercare and Repairs</a:t>
            </a:r>
          </a:p>
          <a:p>
            <a:pPr lvl="1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Ways to Manage Costs</a:t>
            </a:r>
          </a:p>
        </p:txBody>
      </p:sp>
    </p:spTree>
    <p:extLst>
      <p:ext uri="{BB962C8B-B14F-4D97-AF65-F5344CB8AC3E}">
        <p14:creationId xmlns:p14="http://schemas.microsoft.com/office/powerpoint/2010/main" val="34691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Your budget will be one of your most important tools </a:t>
            </a:r>
          </a:p>
          <a:p>
            <a:r>
              <a:rPr lang="en-GB" dirty="0"/>
              <a:t>Think carefully about what you commit to and keep reality very much in mind when you develop forecasts</a:t>
            </a:r>
          </a:p>
          <a:p>
            <a:r>
              <a:rPr lang="en-GB" dirty="0"/>
              <a:t>Re-forecasts are necessary when something major happens</a:t>
            </a:r>
          </a:p>
          <a:p>
            <a:r>
              <a:rPr lang="en-GB" dirty="0"/>
              <a:t>However a re-forecast should not be a way to try to hide fundamental business failings</a:t>
            </a:r>
          </a:p>
          <a:p>
            <a:r>
              <a:rPr lang="en-GB" dirty="0"/>
              <a:t>Budget comparisons rely on honesty and realism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107211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F7ACEBA-99EE-4B9A-99FE-F9695B41FA99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1133</Words>
  <Application>Microsoft Office PowerPoint</Application>
  <PresentationFormat>On-screen Show (4:3)</PresentationFormat>
  <Paragraphs>307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C39FF: Finance and Financial Reporting   Budgeting</vt:lpstr>
      <vt:lpstr>Planning</vt:lpstr>
      <vt:lpstr>Forecasting</vt:lpstr>
      <vt:lpstr>Purpose of Budgeting </vt:lpstr>
      <vt:lpstr>Budgeting</vt:lpstr>
      <vt:lpstr>Reasons for Budgets</vt:lpstr>
      <vt:lpstr>Key Stages of Budgeting</vt:lpstr>
      <vt:lpstr>Budget Reports</vt:lpstr>
      <vt:lpstr>Fixed Budgeting (Static Budget)</vt:lpstr>
      <vt:lpstr>Flexible Budgeting</vt:lpstr>
      <vt:lpstr>Incremental Budgeting</vt:lpstr>
      <vt:lpstr>Advantages of Incremental Budgeting</vt:lpstr>
      <vt:lpstr>Disadvantages of Incremental Budgeting</vt:lpstr>
      <vt:lpstr>Disadvantages Continued</vt:lpstr>
      <vt:lpstr>Zero Based Budgeting (ZBB)</vt:lpstr>
      <vt:lpstr>Advantages of ZBB</vt:lpstr>
      <vt:lpstr>Disadvantages of ZBB</vt:lpstr>
      <vt:lpstr>Other Ways to Manage Costs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Samuel, Sunday</cp:lastModifiedBy>
  <cp:revision>28</cp:revision>
  <cp:lastPrinted>2021-10-14T08:52:50Z</cp:lastPrinted>
  <dcterms:created xsi:type="dcterms:W3CDTF">2016-02-11T16:23:53Z</dcterms:created>
  <dcterms:modified xsi:type="dcterms:W3CDTF">2025-01-16T19:42:15Z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