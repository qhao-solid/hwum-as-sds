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4"/>
    <p:sldMasterId id="2147483702" r:id="rId5"/>
    <p:sldMasterId id="2147483685" r:id="rId6"/>
    <p:sldMasterId id="2147483684" r:id="rId7"/>
    <p:sldMasterId id="2147483686" r:id="rId8"/>
  </p:sldMasterIdLst>
  <p:notesMasterIdLst>
    <p:notesMasterId r:id="rId23"/>
  </p:notesMasterIdLst>
  <p:sldIdLst>
    <p:sldId id="256" r:id="rId9"/>
    <p:sldId id="257" r:id="rId10"/>
    <p:sldId id="262" r:id="rId11"/>
    <p:sldId id="331" r:id="rId12"/>
    <p:sldId id="269" r:id="rId13"/>
    <p:sldId id="271" r:id="rId14"/>
    <p:sldId id="273" r:id="rId15"/>
    <p:sldId id="280" r:id="rId16"/>
    <p:sldId id="275" r:id="rId17"/>
    <p:sldId id="277" r:id="rId18"/>
    <p:sldId id="278" r:id="rId19"/>
    <p:sldId id="282" r:id="rId20"/>
    <p:sldId id="281" r:id="rId21"/>
    <p:sldId id="286" r:id="rId2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5E6A71"/>
    <a:srgbClr val="0098DB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438481-CCDC-4BE1-B6E2-DA28276243FE}" v="7" dt="2026-02-04T23:13:36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8" d="100"/>
          <a:sy n="108" d="100"/>
        </p:scale>
        <p:origin x="1704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5C5F8E-1F3B-4020-9AD3-6664A9206B66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6A8F6-0324-429A-AF61-B1CEB2B21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94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0098DB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5424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985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5E6A7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98DB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726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05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782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1938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92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044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261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324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220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6400800" cy="1752600"/>
          </a:xfrm>
        </p:spPr>
        <p:txBody>
          <a:bodyPr/>
          <a:lstStyle>
            <a:lvl1pPr marL="0" indent="0" algn="l">
              <a:buNone/>
              <a:defRPr i="1">
                <a:solidFill>
                  <a:srgbClr val="5E6A7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623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248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5E6A7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59164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2560" y="2348880"/>
            <a:ext cx="3884240" cy="37772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89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57190"/>
            <a:ext cx="388582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560" y="3068960"/>
            <a:ext cx="3885828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9446" y="2357190"/>
            <a:ext cx="388735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9446" y="3068960"/>
            <a:ext cx="3887354" cy="305720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113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8559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88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7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420888"/>
            <a:ext cx="3008313" cy="3705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6301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4800600"/>
            <a:ext cx="515496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23728" y="612775"/>
            <a:ext cx="515496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23728" y="5367338"/>
            <a:ext cx="515496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5278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1034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2FAE-FC2F-47FD-82A7-D1DD5A1AC3E3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1E7B16-C11D-48A6-9FE1-93A9A96AC7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0257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919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65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02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284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0098D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rgbClr val="5E6A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1560" y="1268760"/>
            <a:ext cx="8075240" cy="9989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2348880"/>
            <a:ext cx="8075240" cy="3777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C1102FAE-FC2F-47FD-82A7-D1DD5A1AC3E3}" type="datetimeFigureOut">
              <a:rPr lang="en-GB" smtClean="0"/>
              <a:pPr/>
              <a:t>04/02/2026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91E7B16-C11D-48A6-9FE1-93A9A96AC7E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37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41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13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26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rgbClr val="5E6A7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5E6A71"/>
        </a:buClr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v.uk/government/publications/rates-and-allowances-corporation-tax/rates-and-allowances-corporation-tax#:~:text=There%20are%20different%20rates%20for%20ring%20fence,2025%2C%202024%2C%202023%2C%202022%2C%202021%2C%202020%2C%202019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800" y="1196753"/>
            <a:ext cx="7772400" cy="180020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600" dirty="0"/>
              <a:t>C39FF</a:t>
            </a:r>
            <a:r>
              <a:rPr lang="en-GB" dirty="0"/>
              <a:t> </a:t>
            </a:r>
            <a:br>
              <a:rPr lang="en-GB" dirty="0"/>
            </a:br>
            <a:br>
              <a:rPr lang="en-GB" dirty="0"/>
            </a:br>
            <a:r>
              <a:rPr lang="en-GB" sz="4900" dirty="0">
                <a:solidFill>
                  <a:srgbClr val="00549F"/>
                </a:solidFill>
              </a:rPr>
              <a:t>Taxation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683568" y="3645024"/>
            <a:ext cx="8208912" cy="1752600"/>
          </a:xfrm>
        </p:spPr>
        <p:txBody>
          <a:bodyPr/>
          <a:lstStyle/>
          <a:p>
            <a:r>
              <a:rPr lang="en-GB" i="0" dirty="0"/>
              <a:t>An overview of Personal and Company Taxes</a:t>
            </a:r>
          </a:p>
        </p:txBody>
      </p:sp>
    </p:spTree>
    <p:extLst>
      <p:ext uri="{BB962C8B-B14F-4D97-AF65-F5344CB8AC3E}">
        <p14:creationId xmlns:p14="http://schemas.microsoft.com/office/powerpoint/2010/main" val="427526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E990-A24C-4861-94DD-8702B3BDD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Government Authorities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0BA3D-3379-4F6A-9D7E-6D9897DE9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HMRC manage, collect and administer UK taxes</a:t>
            </a:r>
          </a:p>
          <a:p>
            <a:r>
              <a:rPr lang="en-GB" dirty="0"/>
              <a:t>Revenue Scotland manage and collect Scottish devolved taxes</a:t>
            </a:r>
          </a:p>
          <a:p>
            <a:r>
              <a:rPr lang="en-GB" dirty="0"/>
              <a:t>Tax is based on legislation, statute and various rules of precedent.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24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C571-753A-4E8F-93CC-B2A1856A6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Income 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FB45C-DB51-4CFA-BFEF-0D5A204A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altLang="en-US" dirty="0"/>
              <a:t>Individuals are charged on income (as distinct from capital receipts)</a:t>
            </a:r>
          </a:p>
          <a:p>
            <a:r>
              <a:rPr lang="en-GB" altLang="en-US" dirty="0"/>
              <a:t>Tax year (fiscal year/year of assessment) runs from 6 April until following 5 April</a:t>
            </a:r>
          </a:p>
          <a:p>
            <a:r>
              <a:rPr lang="en-GB" altLang="en-US" dirty="0"/>
              <a:t>Taxable income includes: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earnings from employment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earnings from self-employment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most pensions income (state, company and personal pensions)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interest on most savings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income from shares (dividends)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rental income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652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8E521F-FE2F-98AC-D011-1BD34794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462937"/>
            <a:ext cx="8564562" cy="625376"/>
          </a:xfrm>
        </p:spPr>
        <p:txBody>
          <a:bodyPr>
            <a:noAutofit/>
          </a:bodyPr>
          <a:lstStyle/>
          <a:p>
            <a:pPr algn="ctr"/>
            <a:r>
              <a:rPr lang="en-GB" sz="2400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Rates of Income Tax (2025/2026)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EF367E2-01FD-4DD9-6FC0-D7914C0E5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770" y="1206582"/>
            <a:ext cx="4276725" cy="432197"/>
          </a:xfrm>
        </p:spPr>
        <p:txBody>
          <a:bodyPr/>
          <a:lstStyle/>
          <a:p>
            <a:r>
              <a:rPr lang="en-GB" sz="2100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England, NI&amp;W Taxpayer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F19018C-5A28-0433-F319-0E20C58A20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76056" y="1267335"/>
            <a:ext cx="3342214" cy="432197"/>
          </a:xfrm>
        </p:spPr>
        <p:txBody>
          <a:bodyPr/>
          <a:lstStyle/>
          <a:p>
            <a:r>
              <a:rPr lang="en-GB" sz="2100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Scottish Taxpayer</a:t>
            </a:r>
          </a:p>
        </p:txBody>
      </p:sp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F9D7A123-9F06-E510-A20B-FCAAF0BB7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445346"/>
              </p:ext>
            </p:extLst>
          </p:nvPr>
        </p:nvGraphicFramePr>
        <p:xfrm>
          <a:off x="181770" y="1699532"/>
          <a:ext cx="4121944" cy="318257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61676">
                  <a:extLst>
                    <a:ext uri="{9D8B030D-6E8A-4147-A177-3AD203B41FA5}">
                      <a16:colId xmlns:a16="http://schemas.microsoft.com/office/drawing/2014/main" val="2601274473"/>
                    </a:ext>
                  </a:extLst>
                </a:gridCol>
                <a:gridCol w="1545881">
                  <a:extLst>
                    <a:ext uri="{9D8B030D-6E8A-4147-A177-3AD203B41FA5}">
                      <a16:colId xmlns:a16="http://schemas.microsoft.com/office/drawing/2014/main" val="2842296206"/>
                    </a:ext>
                  </a:extLst>
                </a:gridCol>
                <a:gridCol w="814387">
                  <a:extLst>
                    <a:ext uri="{9D8B030D-6E8A-4147-A177-3AD203B41FA5}">
                      <a16:colId xmlns:a16="http://schemas.microsoft.com/office/drawing/2014/main" val="3600500479"/>
                    </a:ext>
                  </a:extLst>
                </a:gridCol>
              </a:tblGrid>
              <a:tr h="402881">
                <a:tc>
                  <a:txBody>
                    <a:bodyPr/>
                    <a:lstStyle/>
                    <a:p>
                      <a:r>
                        <a:rPr lang="en-GB" sz="18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Band 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Income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Rates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976035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Basic rate </a:t>
                      </a:r>
                    </a:p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      (A)</a:t>
                      </a:r>
                    </a:p>
                    <a:p>
                      <a:endParaRPr lang="en-GB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£12,571 - £50,270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rgbClr val="00549F"/>
                        </a:solidFill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00549F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20%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91877"/>
                  </a:ext>
                </a:extLst>
              </a:tr>
              <a:tr h="909613">
                <a:tc>
                  <a:txBody>
                    <a:bodyPr/>
                    <a:lstStyle/>
                    <a:p>
                      <a:endParaRPr lang="en-GB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Higher Rate</a:t>
                      </a:r>
                    </a:p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     (B)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£50,271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to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£125,140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GB" sz="1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(Previously,£150,000)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rgbClr val="00549F"/>
                        </a:solidFill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00549F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40%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082312"/>
                  </a:ext>
                </a:extLst>
              </a:tr>
              <a:tr h="1115703">
                <a:tc>
                  <a:txBody>
                    <a:bodyPr/>
                    <a:lstStyle/>
                    <a:p>
                      <a:endParaRPr lang="en-GB" sz="1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Additional Rate </a:t>
                      </a:r>
                    </a:p>
                    <a:p>
                      <a:r>
                        <a:rPr lang="en-GB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      (C) 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Over £125,141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rgbClr val="00549F"/>
                        </a:solidFill>
                        <a:latin typeface="Times New Roman" panose="02020603050405020304" pitchFamily="18" charset="0"/>
                        <a:ea typeface="Verdana" panose="020B060403050404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GB" sz="1400" b="1" dirty="0">
                          <a:solidFill>
                            <a:srgbClr val="00549F"/>
                          </a:solidFill>
                          <a:latin typeface="Times New Roman" panose="02020603050405020304" pitchFamily="18" charset="0"/>
                          <a:ea typeface="Verdana" panose="020B0604030504040204" pitchFamily="34" charset="0"/>
                          <a:cs typeface="Times New Roman" panose="02020603050405020304" pitchFamily="18" charset="0"/>
                        </a:rPr>
                        <a:t>45%</a:t>
                      </a:r>
                    </a:p>
                  </a:txBody>
                  <a:tcPr marL="68580" marR="68580" marT="34290" marB="3429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034740"/>
                  </a:ext>
                </a:extLst>
              </a:tr>
            </a:tbl>
          </a:graphicData>
        </a:graphic>
      </p:graphicFrame>
      <p:sp>
        <p:nvSpPr>
          <p:cNvPr id="21" name="Text Box 4">
            <a:extLst>
              <a:ext uri="{FF2B5EF4-FFF2-40B4-BE49-F238E27FC236}">
                <a16:creationId xmlns:a16="http://schemas.microsoft.com/office/drawing/2014/main" id="{B673905B-A4BF-1D4F-2D18-1D30444D3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08" y="4942862"/>
            <a:ext cx="4121943" cy="1604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350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Personal Allowance £ 12,570</a:t>
            </a:r>
          </a:p>
          <a:p>
            <a:pPr>
              <a:spcBef>
                <a:spcPct val="50000"/>
              </a:spcBef>
              <a:defRPr/>
            </a:pPr>
            <a:r>
              <a:rPr lang="en-US" sz="1350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Tax Period: April6, 2025 to April 5, 2026</a:t>
            </a:r>
          </a:p>
          <a:p>
            <a:pPr>
              <a:spcBef>
                <a:spcPct val="50000"/>
              </a:spcBef>
              <a:defRPr/>
            </a:pPr>
            <a:r>
              <a:rPr lang="en-US" sz="1350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These rates apply only to </a:t>
            </a:r>
            <a:r>
              <a:rPr lang="en-US" sz="1500" b="1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Non-savings income</a:t>
            </a:r>
            <a:r>
              <a:rPr lang="en-US" sz="1500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US" sz="1350" dirty="0">
                <a:solidFill>
                  <a:srgbClr val="00549F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Savings income and dividends of Scottish taxpayers </a:t>
            </a:r>
            <a:r>
              <a:rPr lang="en-US" sz="135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are taxed in the same way as for other UK taxpayers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5A9806-0070-4F02-33C3-9F4286B01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303867"/>
              </p:ext>
            </p:extLst>
          </p:nvPr>
        </p:nvGraphicFramePr>
        <p:xfrm>
          <a:off x="4458496" y="1699532"/>
          <a:ext cx="4455060" cy="4249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318">
                  <a:extLst>
                    <a:ext uri="{9D8B030D-6E8A-4147-A177-3AD203B41FA5}">
                      <a16:colId xmlns:a16="http://schemas.microsoft.com/office/drawing/2014/main" val="120881172"/>
                    </a:ext>
                  </a:extLst>
                </a:gridCol>
                <a:gridCol w="2159051">
                  <a:extLst>
                    <a:ext uri="{9D8B030D-6E8A-4147-A177-3AD203B41FA5}">
                      <a16:colId xmlns:a16="http://schemas.microsoft.com/office/drawing/2014/main" val="2773981984"/>
                    </a:ext>
                  </a:extLst>
                </a:gridCol>
                <a:gridCol w="629691">
                  <a:extLst>
                    <a:ext uri="{9D8B030D-6E8A-4147-A177-3AD203B41FA5}">
                      <a16:colId xmlns:a16="http://schemas.microsoft.com/office/drawing/2014/main" val="1936800957"/>
                    </a:ext>
                  </a:extLst>
                </a:gridCol>
              </a:tblGrid>
              <a:tr h="6504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Band 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Income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Rates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15075019"/>
                  </a:ext>
                </a:extLst>
              </a:tr>
              <a:tr h="581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b="1" kern="100">
                          <a:effectLst/>
                          <a:latin typeface="Book Antiqua" panose="02040602050305030304" pitchFamily="18" charset="0"/>
                        </a:rPr>
                        <a:t>Starter rate</a:t>
                      </a:r>
                      <a:endParaRPr lang="en-GB" sz="1200" b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600" i="1" kern="100">
                          <a:effectLst/>
                          <a:latin typeface="Book Antiqua" panose="02040602050305030304" pitchFamily="18" charset="0"/>
                        </a:rPr>
                        <a:t>£12,571 to £15,397</a:t>
                      </a:r>
                      <a:endParaRPr lang="en-GB" sz="1600" i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19%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08912404"/>
                  </a:ext>
                </a:extLst>
              </a:tr>
              <a:tr h="6129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b="1" kern="100">
                          <a:effectLst/>
                          <a:latin typeface="Book Antiqua" panose="02040602050305030304" pitchFamily="18" charset="0"/>
                        </a:rPr>
                        <a:t>Basic rate</a:t>
                      </a:r>
                      <a:endParaRPr lang="en-GB" sz="1200" b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600" i="1" kern="100" dirty="0">
                          <a:effectLst/>
                          <a:latin typeface="Book Antiqua" panose="02040602050305030304" pitchFamily="18" charset="0"/>
                        </a:rPr>
                        <a:t>£15,398 to £27,491</a:t>
                      </a:r>
                      <a:endParaRPr lang="en-GB" sz="1600" i="1" kern="100" dirty="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20%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93882809"/>
                  </a:ext>
                </a:extLst>
              </a:tr>
              <a:tr h="6032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b="1" kern="100">
                          <a:effectLst/>
                          <a:latin typeface="Book Antiqua" panose="02040602050305030304" pitchFamily="18" charset="0"/>
                        </a:rPr>
                        <a:t>Intermediate Rate</a:t>
                      </a:r>
                      <a:endParaRPr lang="en-GB" sz="1200" b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600" i="1" kern="100">
                          <a:effectLst/>
                          <a:latin typeface="Book Antiqua" panose="02040602050305030304" pitchFamily="18" charset="0"/>
                        </a:rPr>
                        <a:t>£27,492 to £43,662</a:t>
                      </a:r>
                      <a:endParaRPr lang="en-GB" sz="1600" i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21%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9767898"/>
                  </a:ext>
                </a:extLst>
              </a:tr>
              <a:tr h="5813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b="1" kern="100">
                          <a:effectLst/>
                          <a:latin typeface="Book Antiqua" panose="02040602050305030304" pitchFamily="18" charset="0"/>
                        </a:rPr>
                        <a:t>Higher rate</a:t>
                      </a:r>
                      <a:endParaRPr lang="en-GB" sz="1200" b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600" i="1" kern="100">
                          <a:effectLst/>
                          <a:latin typeface="Book Antiqua" panose="02040602050305030304" pitchFamily="18" charset="0"/>
                        </a:rPr>
                        <a:t>£43,663 to £75,000</a:t>
                      </a:r>
                      <a:endParaRPr lang="en-GB" sz="1600" i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42%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24085985"/>
                  </a:ext>
                </a:extLst>
              </a:tr>
              <a:tr h="6046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b="1" kern="100">
                          <a:effectLst/>
                          <a:latin typeface="Book Antiqua" panose="02040602050305030304" pitchFamily="18" charset="0"/>
                        </a:rPr>
                        <a:t>Advanced rate</a:t>
                      </a:r>
                      <a:endParaRPr lang="en-GB" sz="1200" b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600" i="1" kern="100">
                          <a:effectLst/>
                          <a:latin typeface="Book Antiqua" panose="02040602050305030304" pitchFamily="18" charset="0"/>
                        </a:rPr>
                        <a:t>£75,001 to £125,140</a:t>
                      </a:r>
                      <a:endParaRPr lang="en-GB" sz="1600" i="1" kern="10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>
                          <a:effectLst/>
                        </a:rPr>
                        <a:t>45%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69163434"/>
                  </a:ext>
                </a:extLst>
              </a:tr>
              <a:tr h="6157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b="1" kern="100" dirty="0">
                          <a:effectLst/>
                          <a:latin typeface="Book Antiqua" panose="02040602050305030304" pitchFamily="18" charset="0"/>
                        </a:rPr>
                        <a:t>Top rate</a:t>
                      </a:r>
                      <a:endParaRPr lang="en-GB" sz="1200" b="1" kern="100" dirty="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600" i="1" kern="100" dirty="0">
                          <a:effectLst/>
                          <a:latin typeface="Book Antiqua" panose="02040602050305030304" pitchFamily="18" charset="0"/>
                        </a:rPr>
                        <a:t>Over £125,140</a:t>
                      </a:r>
                      <a:endParaRPr lang="en-GB" sz="1600" i="1" kern="100" dirty="0"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GB" sz="1200" kern="100" dirty="0">
                          <a:effectLst/>
                        </a:rPr>
                        <a:t>48%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053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411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94AC-ABDD-49AE-AEE2-F218FC646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Chargeable Gains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6FF21-66D6-4485-88FB-E687AAE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Assets are chargeable unless specifically exempt</a:t>
            </a:r>
          </a:p>
          <a:p>
            <a:r>
              <a:rPr lang="en-GB" dirty="0"/>
              <a:t>Charged on capital assets for </a:t>
            </a:r>
            <a:r>
              <a:rPr lang="en-GB" b="1" dirty="0"/>
              <a:t>individuals</a:t>
            </a:r>
            <a:r>
              <a:rPr lang="en-GB" dirty="0"/>
              <a:t> </a:t>
            </a:r>
          </a:p>
          <a:p>
            <a:r>
              <a:rPr lang="en-GB" dirty="0"/>
              <a:t>Companies calculate Chargeable Gains and include within their Corporation Tax.</a:t>
            </a:r>
          </a:p>
          <a:p>
            <a:endParaRPr lang="en-GB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815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8D14-EE93-4DBF-9B00-15A964D6E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Chargeable Gains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1EA3E-9456-4E8C-9F97-C5EC866D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Sales price		  X</a:t>
            </a:r>
          </a:p>
          <a:p>
            <a:r>
              <a:rPr lang="en-GB" dirty="0"/>
              <a:t>Less Purchase cost   </a:t>
            </a:r>
            <a:r>
              <a:rPr lang="en-GB" u="sng" dirty="0"/>
              <a:t>(Y)</a:t>
            </a:r>
          </a:p>
          <a:p>
            <a:r>
              <a:rPr lang="en-GB" dirty="0"/>
              <a:t>Chargeable Gain         </a:t>
            </a:r>
            <a:r>
              <a:rPr lang="en-GB" u="sng" dirty="0"/>
              <a:t>Z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77285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D71D1-6845-428B-9B7A-6E0DBA1E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Capital Gains 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7C09A-4DA4-4179-B0BE-E269A5836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Individuals pay Capital Gains Tax</a:t>
            </a:r>
          </a:p>
          <a:p>
            <a:r>
              <a:rPr lang="en-GB" dirty="0"/>
              <a:t>Annual Exemption of £12,300</a:t>
            </a:r>
          </a:p>
          <a:p>
            <a:r>
              <a:rPr lang="en-GB" dirty="0"/>
              <a:t>Tax rate varies between 10% - 28% depending on the asset and the taxpayers taxable income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2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EDBA-6FDA-4CFB-BBD7-40A325EA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Inheritance 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776DA-D95C-49C5-80F8-865CC9E92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Individuals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Payable on estates of more than £325,000 or combined £650,000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No tax to pay if estate is inherited by spouse or civil partner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Includes gifts made in 7 years prior to death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Some gifts exempt, including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Gifts between spouses and civil partners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Gifts to charities and political parties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Gifts – small cash gifts</a:t>
            </a:r>
          </a:p>
          <a:p>
            <a:pPr lvl="2"/>
            <a:r>
              <a:rPr lang="en-GB" altLang="en-US" dirty="0">
                <a:ea typeface="ＭＳ Ｐゴシック" panose="020B0600070205080204" pitchFamily="34" charset="-128"/>
              </a:rPr>
              <a:t>Gift up to £5,000 on child’s marriage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Tax payable at rate of between 20%, 36% and 40%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601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A79E-27DB-4AB0-BBFB-8C8805234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Corporation 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D6A48-731B-4330-BF12-4A6FEA1BE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Paid by companies on </a:t>
            </a:r>
            <a:r>
              <a:rPr lang="en-GB" b="1" dirty="0"/>
              <a:t>taxable</a:t>
            </a:r>
            <a:r>
              <a:rPr lang="en-GB" dirty="0"/>
              <a:t> profits (different to accounting profits)</a:t>
            </a:r>
          </a:p>
          <a:p>
            <a:r>
              <a:rPr lang="en-GB" dirty="0"/>
              <a:t>Tax year for companies runs from</a:t>
            </a:r>
          </a:p>
          <a:p>
            <a:pPr marL="0" indent="0">
              <a:buNone/>
            </a:pPr>
            <a:r>
              <a:rPr lang="en-GB" dirty="0"/>
              <a:t>    1 April to 31 March</a:t>
            </a:r>
          </a:p>
          <a:p>
            <a:r>
              <a:rPr lang="en-GB" dirty="0"/>
              <a:t>Taxable profits are allocated to the applicable tax year and tax rate</a:t>
            </a:r>
          </a:p>
          <a:p>
            <a:r>
              <a:rPr lang="en-GB" dirty="0"/>
              <a:t>Most companies pay their tax around 9 months after the year end</a:t>
            </a:r>
          </a:p>
          <a:p>
            <a:r>
              <a:rPr lang="en-GB" dirty="0"/>
              <a:t>Large companies pay tax every quarter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04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5C56-1476-41AA-93DD-C5AA6B57C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908720"/>
            <a:ext cx="8075240" cy="998984"/>
          </a:xfrm>
        </p:spPr>
        <p:txBody>
          <a:bodyPr/>
          <a:lstStyle/>
          <a:p>
            <a:r>
              <a:rPr lang="en-GB" dirty="0"/>
              <a:t>Profits chargeable to tax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87B8C-F942-4C73-9935-53C695EA1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060848"/>
            <a:ext cx="8075240" cy="3777283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Taxable profits includes:</a:t>
            </a:r>
          </a:p>
          <a:p>
            <a:pPr lvl="1"/>
            <a:r>
              <a:rPr lang="en-GB" dirty="0"/>
              <a:t>Adjusted accounting profits;</a:t>
            </a:r>
          </a:p>
          <a:p>
            <a:pPr lvl="1"/>
            <a:r>
              <a:rPr lang="en-GB" dirty="0"/>
              <a:t>Profit from property</a:t>
            </a:r>
          </a:p>
          <a:p>
            <a:pPr lvl="1"/>
            <a:r>
              <a:rPr lang="en-GB" dirty="0"/>
              <a:t>Chargeable gains; and </a:t>
            </a:r>
          </a:p>
          <a:p>
            <a:pPr lvl="1"/>
            <a:r>
              <a:rPr lang="en-GB" dirty="0"/>
              <a:t>Other sources of profit</a:t>
            </a:r>
          </a:p>
          <a:p>
            <a:r>
              <a:rPr lang="en-GB" dirty="0"/>
              <a:t>Tax rates for companies are:</a:t>
            </a:r>
          </a:p>
          <a:p>
            <a:pPr lvl="1"/>
            <a:r>
              <a:rPr lang="en-GB" dirty="0"/>
              <a:t>FY 2025/26 is 25%</a:t>
            </a:r>
          </a:p>
          <a:p>
            <a:pPr marL="457200" lvl="1" indent="0">
              <a:buNone/>
            </a:pPr>
            <a:endParaRPr lang="en-GB" dirty="0"/>
          </a:p>
          <a:p>
            <a:pPr lvl="1"/>
            <a:r>
              <a:rPr lang="en-GB" dirty="0">
                <a:hlinkClick r:id="rId2"/>
              </a:rPr>
              <a:t>https://www.gov.uk/government/publications/rates-and-allowances-corporation-tax/rates-and-allowances-corporation-tax#:~:text=There%20are%20different%20rates%20for%20ring%20fence,2025%2C%202024%2C%202023%2C%202022%2C%202021%2C%202020%2C%</a:t>
            </a:r>
            <a:r>
              <a:rPr lang="en-GB">
                <a:hlinkClick r:id="rId2"/>
              </a:rPr>
              <a:t>202019</a:t>
            </a:r>
            <a:r>
              <a:rPr lang="en-GB"/>
              <a:t>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1045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65A32-C956-4B1A-87EB-785E9F9D3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Double taxation relief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2843-B095-4ADA-B15B-8E7F580F1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Agreement with many countries allowing individuals and companies to offset any tax paid abroad against UK liability</a:t>
            </a:r>
          </a:p>
          <a:p>
            <a:r>
              <a:rPr lang="en-GB" altLang="en-US" dirty="0"/>
              <a:t>Avoids paying tax on the same income twice</a:t>
            </a:r>
          </a:p>
          <a:p>
            <a:r>
              <a:rPr lang="en-GB" altLang="en-US" dirty="0"/>
              <a:t>Applies to CT and IT (not CGT)</a:t>
            </a:r>
          </a:p>
          <a:p>
            <a:r>
              <a:rPr lang="en-GB" altLang="en-US" dirty="0"/>
              <a:t>Maximum offset is amount that would have been paid in UK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19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1CCB1-CB7A-45F2-BE0C-8AB8AB699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E2A7-11F4-4932-B6E9-ADC62959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Tax on consumer expenditure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VAT is payable if supplies of goods or services are made in the UK by a taxable person 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Taxable person is an individual or company which makes taxable supplies over a certain value (currently £85,000)</a:t>
            </a:r>
          </a:p>
          <a:p>
            <a:pPr lvl="1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Rates of VAT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Standard rate 20%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Reduced rate 5%</a:t>
            </a:r>
          </a:p>
          <a:p>
            <a:pPr lvl="2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Zero rate  0%</a:t>
            </a:r>
          </a:p>
          <a:p>
            <a:pPr lvl="2">
              <a:lnSpc>
                <a:spcPct val="90000"/>
              </a:lnSpc>
            </a:pPr>
            <a:endParaRPr lang="en-GB" altLang="en-US" dirty="0">
              <a:ea typeface="ＭＳ Ｐゴシック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GB" altLang="en-US" dirty="0">
                <a:ea typeface="ＭＳ Ｐゴシック" panose="020B0600070205080204" pitchFamily="34" charset="-128"/>
              </a:rPr>
              <a:t>Zero is not the same as exempt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008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5222-5DF6-4387-A600-9E121C7C8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altLang="en-US" dirty="0"/>
              <a:t>Stamp duty – LBTT in Scotland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CFDC5-ED7F-4211-9BE8-2E80D6BF6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A tax levied on documents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Historically, this included the majority of legal documents such as cheques, receipts, marriage licences and land transactions. 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A physical stamp was attached to or impressed upon the document to denote that stamp duty had been paid before the document was legally effective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Modern versions of the tax no longer require an actual stamp, and apply to UK property transactions</a:t>
            </a:r>
          </a:p>
          <a:p>
            <a:pPr lvl="1"/>
            <a:r>
              <a:rPr lang="en-GB" altLang="en-US" dirty="0">
                <a:ea typeface="ＭＳ Ｐゴシック" panose="020B0600070205080204" pitchFamily="34" charset="-128"/>
              </a:rPr>
              <a:t>Varies from 0% - 16% (including 4% ADS)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683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6A77C-FF8B-483F-875D-67F76E462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0FA48-DCCD-45CB-8512-000019CD0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main taxes in the UK we will consider are:</a:t>
            </a:r>
          </a:p>
          <a:p>
            <a:pPr lvl="1"/>
            <a:r>
              <a:rPr lang="en-GB" dirty="0"/>
              <a:t>Income Tax (Individuals)</a:t>
            </a:r>
          </a:p>
          <a:p>
            <a:pPr lvl="1"/>
            <a:r>
              <a:rPr lang="en-GB" dirty="0"/>
              <a:t>Capital Gains Tax (Individuals)</a:t>
            </a:r>
          </a:p>
          <a:p>
            <a:pPr lvl="1"/>
            <a:r>
              <a:rPr lang="en-GB" dirty="0"/>
              <a:t>Inheritance Tax (Individuals)</a:t>
            </a:r>
            <a:endParaRPr lang="en-US" dirty="0"/>
          </a:p>
          <a:p>
            <a:pPr lvl="1"/>
            <a:r>
              <a:rPr lang="en-GB" dirty="0"/>
              <a:t>Corporation Tax (Companies)</a:t>
            </a:r>
          </a:p>
          <a:p>
            <a:pPr lvl="1"/>
            <a:r>
              <a:rPr lang="en-GB" dirty="0"/>
              <a:t>VAT  (Individuals and Companies)</a:t>
            </a:r>
          </a:p>
          <a:p>
            <a:pPr lvl="1"/>
            <a:r>
              <a:rPr lang="en-GB" dirty="0"/>
              <a:t>Stamp Duty / LBTT </a:t>
            </a:r>
          </a:p>
        </p:txBody>
      </p:sp>
    </p:spTree>
    <p:extLst>
      <p:ext uri="{BB962C8B-B14F-4D97-AF65-F5344CB8AC3E}">
        <p14:creationId xmlns:p14="http://schemas.microsoft.com/office/powerpoint/2010/main" val="42597576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A5ACAF"/>
      </a:accent2>
      <a:accent3>
        <a:srgbClr val="5E6A71"/>
      </a:accent3>
      <a:accent4>
        <a:srgbClr val="00549F"/>
      </a:accent4>
      <a:accent5>
        <a:srgbClr val="72BCFF"/>
      </a:accent5>
      <a:accent6>
        <a:srgbClr val="BCC3C7"/>
      </a:accent6>
      <a:hlink>
        <a:srgbClr val="0098DB"/>
      </a:hlink>
      <a:folHlink>
        <a:srgbClr val="A5ACA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5_Office Theme">
  <a:themeElements>
    <a:clrScheme name="Heriot-Watt">
      <a:dk1>
        <a:srgbClr val="5E6A71"/>
      </a:dk1>
      <a:lt1>
        <a:srgbClr val="FFFFFF"/>
      </a:lt1>
      <a:dk2>
        <a:srgbClr val="0098DB"/>
      </a:dk2>
      <a:lt2>
        <a:srgbClr val="00549F"/>
      </a:lt2>
      <a:accent1>
        <a:srgbClr val="0098DB"/>
      </a:accent1>
      <a:accent2>
        <a:srgbClr val="FFFFF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E07C38512818468275603CD5E61BA0" ma:contentTypeVersion="0" ma:contentTypeDescription="Create a new document." ma:contentTypeScope="" ma:versionID="bffdf6d8b42402b1618094c717ddf4d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a1222beb234debe96d12a98d24ff8a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9AB7AB-D87E-4CE6-8813-9B5D560C3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FC14F33-A9A2-48F1-A0A9-DB146E88F9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7ACEBA-99EE-4B9A-99FE-F9695B41FA99}">
  <ds:schemaRefs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744</TotalTime>
  <Words>799</Words>
  <Application>Microsoft Office PowerPoint</Application>
  <PresentationFormat>On-screen Show (4:3)</PresentationFormat>
  <Paragraphs>137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MS PGothic</vt:lpstr>
      <vt:lpstr>Arial</vt:lpstr>
      <vt:lpstr>Book Antiqua</vt:lpstr>
      <vt:lpstr>Calibri</vt:lpstr>
      <vt:lpstr>Times New Roman</vt:lpstr>
      <vt:lpstr>Verdana</vt:lpstr>
      <vt:lpstr>1_Office Theme</vt:lpstr>
      <vt:lpstr>2_Office Theme</vt:lpstr>
      <vt:lpstr>4_Office Theme</vt:lpstr>
      <vt:lpstr>3_Office Theme</vt:lpstr>
      <vt:lpstr>5_Office Theme</vt:lpstr>
      <vt:lpstr>C39FF   Taxation</vt:lpstr>
      <vt:lpstr>Government Authorities </vt:lpstr>
      <vt:lpstr>Income Tax</vt:lpstr>
      <vt:lpstr>Rates of Income Tax (2025/2026)</vt:lpstr>
      <vt:lpstr>Chargeable Gains</vt:lpstr>
      <vt:lpstr>Chargeable Gains</vt:lpstr>
      <vt:lpstr>Capital Gains Tax</vt:lpstr>
      <vt:lpstr>Inheritance tax</vt:lpstr>
      <vt:lpstr>Corporation Tax</vt:lpstr>
      <vt:lpstr>Profits chargeable to tax </vt:lpstr>
      <vt:lpstr>Double taxation relief</vt:lpstr>
      <vt:lpstr>VAT</vt:lpstr>
      <vt:lpstr>Stamp duty – LBTT in Scotland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Iain McGeary</dc:creator>
  <cp:lastModifiedBy>Dey, Sajal Kumar</cp:lastModifiedBy>
  <cp:revision>40</cp:revision>
  <cp:lastPrinted>2019-10-28T17:22:08Z</cp:lastPrinted>
  <dcterms:created xsi:type="dcterms:W3CDTF">2016-02-11T16:23:53Z</dcterms:created>
  <dcterms:modified xsi:type="dcterms:W3CDTF">2026-02-04T23:13:40Z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0x0101006EE07C38512818468275603CD5E61BA0</vt:lpwstr>
  </property>
</Properties>
</file>