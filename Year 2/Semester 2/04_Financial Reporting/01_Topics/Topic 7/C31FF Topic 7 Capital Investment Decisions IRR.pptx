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26" r:id="rId3"/>
    <p:sldId id="327" r:id="rId4"/>
    <p:sldId id="328" r:id="rId5"/>
    <p:sldId id="359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60" r:id="rId15"/>
    <p:sldId id="337" r:id="rId16"/>
    <p:sldId id="338" r:id="rId17"/>
    <p:sldId id="362" r:id="rId18"/>
    <p:sldId id="339" r:id="rId19"/>
    <p:sldId id="358" r:id="rId20"/>
    <p:sldId id="340" r:id="rId21"/>
    <p:sldId id="341" r:id="rId22"/>
    <p:sldId id="342" r:id="rId23"/>
    <p:sldId id="343" r:id="rId24"/>
    <p:sldId id="361" r:id="rId25"/>
    <p:sldId id="344" r:id="rId26"/>
    <p:sldId id="363" r:id="rId27"/>
    <p:sldId id="345" r:id="rId28"/>
    <p:sldId id="36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606C"/>
    <a:srgbClr val="5E6971"/>
    <a:srgbClr val="039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3AAFD-05BB-1C4A-8B02-6E9460C930D9}" v="15" dt="2021-01-22T05:37:04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5"/>
    <p:restoredTop sz="93558"/>
  </p:normalViewPr>
  <p:slideViewPr>
    <p:cSldViewPr snapToGrid="0" snapToObjects="1" showGuides="1">
      <p:cViewPr varScale="1">
        <p:scale>
          <a:sx n="84" d="100"/>
          <a:sy n="84" d="100"/>
        </p:scale>
        <p:origin x="64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knife&#10;&#10;Description automatically generated">
            <a:extLst>
              <a:ext uri="{FF2B5EF4-FFF2-40B4-BE49-F238E27FC236}">
                <a16:creationId xmlns:a16="http://schemas.microsoft.com/office/drawing/2014/main" id="{D65A4844-F476-5E4E-A6DD-D807BBD62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FCA8C-1961-234B-9478-A7A7E4413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228" y="1527477"/>
            <a:ext cx="10556111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F4228-97AF-254C-8367-860417297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228" y="4007152"/>
            <a:ext cx="10556111" cy="1655762"/>
          </a:xfrm>
        </p:spPr>
        <p:txBody>
          <a:bodyPr/>
          <a:lstStyle>
            <a:lvl1pPr marL="0" indent="0" algn="l">
              <a:buNone/>
              <a:defRPr sz="2400" b="0" i="1">
                <a:solidFill>
                  <a:schemeClr val="tx2">
                    <a:lumMod val="7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073085-19D8-C14F-81C3-2184531277C0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5" y="286020"/>
            <a:ext cx="1438275" cy="7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3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CBF7-E222-C849-9A01-4E9E2D9F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54" y="1131349"/>
            <a:ext cx="10567686" cy="988830"/>
          </a:xfrm>
        </p:spPr>
        <p:txBody>
          <a:bodyPr anchor="ctr"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DA0B-0837-F342-9A1E-0D04F24C5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54" y="2222339"/>
            <a:ext cx="10567686" cy="416498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/>
            </a:lvl1pPr>
            <a:lvl2pPr>
              <a:lnSpc>
                <a:spcPct val="110000"/>
              </a:lnSpc>
              <a:defRPr sz="24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400"/>
            </a:lvl4pPr>
            <a:lvl5pPr>
              <a:lnSpc>
                <a:spcPct val="110000"/>
              </a:lnSpc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9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932E-DE4E-0343-B3A7-5716FDE8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69665"/>
          </a:xfrm>
        </p:spPr>
        <p:txBody>
          <a:bodyPr anchor="ctr">
            <a:normAutofit/>
          </a:bodyPr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23332-2281-3144-9A41-87237505A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22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69F8-ED47-BF41-BB1F-0E78378C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957" y="1290041"/>
            <a:ext cx="10515600" cy="988830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3930A-E771-0345-B1F1-634791CF0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957" y="2475639"/>
            <a:ext cx="5181600" cy="387360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26ABB-B15E-AE45-9703-2A391966A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957" y="2475639"/>
            <a:ext cx="5181600" cy="387360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751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242E-7F28-194C-A076-A2B1F677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705" y="1359947"/>
            <a:ext cx="10515600" cy="823912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CD9C9-3E1D-CF40-A646-14609E076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117" y="226008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93722-63FA-6B41-9FA8-AA75A472F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293" y="3160224"/>
            <a:ext cx="5157787" cy="3214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FA667-1D3C-6D45-B421-7C8FA0D2F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8705" y="225125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AAA9A-C696-6148-853E-A6409AA03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8705" y="3160224"/>
            <a:ext cx="5183188" cy="3214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218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2DF-22D5-204D-B968-4B08A910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7032"/>
            <a:ext cx="10515600" cy="98883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80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3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8F48-AF7A-F841-AF7C-0A0D415C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163256"/>
            <a:ext cx="3932237" cy="14989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0980-19E0-D44F-BBDD-380497BD0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63256"/>
            <a:ext cx="61722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11F2-8997-2644-A304-3DC133479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763456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789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CF328-3264-524D-A98E-3FB5F380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105383"/>
            <a:ext cx="3932237" cy="14989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26F02-F1DF-5248-A3AB-A625608B1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08960"/>
            <a:ext cx="6172200" cy="540821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11F46-83CB-9B43-860C-B2CCBE76D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70558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869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7646-41F9-7846-A62E-E9165B1A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6545"/>
            <a:ext cx="10515600" cy="98883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048FE-5B4A-0D45-8B84-BDC266174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418299"/>
            <a:ext cx="10515600" cy="395744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883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59825-03A3-7E40-9AAF-2D024FAC6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78601" y="1238490"/>
            <a:ext cx="2628900" cy="5366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1D0C4-7850-C543-AE0D-770AF7B56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1901" y="1238490"/>
            <a:ext cx="7734300" cy="536673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19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968793-B122-D243-BF40-3F29B3B7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763"/>
            <a:ext cx="10515600" cy="9888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DBCB6-6B16-DF4A-B11B-CDFAD0C68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19517"/>
            <a:ext cx="10515600" cy="3957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8D5FB9-14D8-2B46-A49F-135697A7AF39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5" y="286020"/>
            <a:ext cx="1438275" cy="7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7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6098-51E1-A24B-A98E-01CADC891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C37FF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F3188-43E3-8545-967D-E68CD25A1E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i="0" dirty="0">
                <a:solidFill>
                  <a:schemeClr val="tx1"/>
                </a:solidFill>
              </a:rPr>
              <a:t>Internal Rate of Return</a:t>
            </a:r>
          </a:p>
          <a:p>
            <a:endParaRPr lang="en-GB" sz="3200" i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83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E69158BB-1547-4E60-87CC-D4A49E27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altLang="en-US" dirty="0"/>
              <a:t>Internal rate of return – more than one future cash flow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6DB5B414-153D-4456-8783-78F13270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GB" altLang="en-US" dirty="0"/>
              <a:t>The ‘simple’ formula for % return can </a:t>
            </a:r>
            <a:r>
              <a:rPr lang="en-GB" altLang="en-US" b="1" i="1" dirty="0"/>
              <a:t>only</a:t>
            </a:r>
            <a:r>
              <a:rPr lang="en-GB" altLang="en-US" dirty="0"/>
              <a:t> work for </a:t>
            </a:r>
            <a:r>
              <a:rPr lang="en-GB" altLang="en-US" b="1" i="1" dirty="0"/>
              <a:t>one</a:t>
            </a:r>
            <a:r>
              <a:rPr lang="en-GB" altLang="en-US" dirty="0"/>
              <a:t> and </a:t>
            </a:r>
            <a:r>
              <a:rPr lang="en-GB" altLang="en-US" b="1" i="1" dirty="0"/>
              <a:t>only one</a:t>
            </a:r>
            <a:r>
              <a:rPr lang="en-GB" altLang="en-US" dirty="0"/>
              <a:t> future cash flow.</a:t>
            </a:r>
          </a:p>
          <a:p>
            <a:pPr algn="just">
              <a:spcBef>
                <a:spcPts val="0"/>
              </a:spcBef>
            </a:pPr>
            <a:r>
              <a:rPr lang="en-GB" altLang="en-US" dirty="0"/>
              <a:t>It is worth emphasising this point, as what we are about to do is complicated and not terribly intuitive</a:t>
            </a:r>
          </a:p>
          <a:p>
            <a:pPr algn="just">
              <a:spcBef>
                <a:spcPts val="0"/>
              </a:spcBef>
            </a:pPr>
            <a:r>
              <a:rPr lang="en-GB" altLang="en-US" dirty="0"/>
              <a:t>Keep in mind that we are still trying to find x% return, but for an investment project with </a:t>
            </a:r>
            <a:r>
              <a:rPr lang="en-GB" altLang="en-US" b="1" i="1" dirty="0"/>
              <a:t>many </a:t>
            </a:r>
            <a:r>
              <a:rPr lang="en-GB" altLang="en-US" dirty="0"/>
              <a:t>future cash flows</a:t>
            </a:r>
          </a:p>
          <a:p>
            <a:pPr algn="just"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8470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29"/>
    </mc:Choice>
    <mc:Fallback xmlns="">
      <p:transition spd="slow" advTm="444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AC31E043-610B-4BA8-B7A6-E680B7E2C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Rule for IRR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733E51A2-6F3E-4540-B87F-3A727E128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To find the IRR, we find the </a:t>
            </a:r>
            <a:r>
              <a:rPr lang="en-GB" altLang="en-US" b="1" dirty="0"/>
              <a:t>rate of return which makes the NPV=0</a:t>
            </a:r>
            <a:endParaRPr lang="en-GB" altLang="en-US" dirty="0"/>
          </a:p>
          <a:p>
            <a:pPr>
              <a:spcBef>
                <a:spcPts val="0"/>
              </a:spcBef>
            </a:pPr>
            <a:r>
              <a:rPr lang="en-GB" altLang="en-US" dirty="0"/>
              <a:t>Why does this work?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Consider the equation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altLang="en-US" dirty="0" err="1"/>
              <a:t>FV</a:t>
            </a:r>
            <a:r>
              <a:rPr lang="en-GB" altLang="en-US" baseline="-25000" dirty="0" err="1"/>
              <a:t>n</a:t>
            </a:r>
            <a:r>
              <a:rPr lang="en-GB" altLang="en-US" dirty="0"/>
              <a:t> = (1 + </a:t>
            </a:r>
            <a:r>
              <a:rPr lang="en-GB" altLang="en-US" b="1" dirty="0"/>
              <a:t>r</a:t>
            </a:r>
            <a:r>
              <a:rPr lang="en-GB" altLang="en-US" dirty="0"/>
              <a:t>)</a:t>
            </a:r>
            <a:r>
              <a:rPr lang="en-GB" altLang="en-US" baseline="30000" dirty="0"/>
              <a:t>n</a:t>
            </a:r>
            <a:r>
              <a:rPr lang="en-GB" altLang="en-US" dirty="0"/>
              <a:t> × PV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That is the future value is the result of applying compound interest to a present value</a:t>
            </a:r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9503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87"/>
    </mc:Choice>
    <mc:Fallback xmlns="">
      <p:transition spd="slow" advTm="3878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7DE55086-A231-4E8F-B333-8753ABBC2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Rule for IRR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8E54768-E7A4-45FE-9493-7488E3496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GB" altLang="en-US" dirty="0"/>
              <a:t>The previous equation finds </a:t>
            </a:r>
            <a:r>
              <a:rPr lang="en-GB" altLang="en-US" dirty="0" err="1"/>
              <a:t>FV</a:t>
            </a:r>
            <a:r>
              <a:rPr lang="en-GB" altLang="en-US" baseline="-25000" dirty="0" err="1"/>
              <a:t>n</a:t>
            </a:r>
            <a:r>
              <a:rPr lang="en-GB" altLang="en-US" dirty="0"/>
              <a:t> by inputting the known values of PV and r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However, suppose we already knew PV and </a:t>
            </a:r>
            <a:r>
              <a:rPr lang="en-GB" altLang="en-US" dirty="0" err="1"/>
              <a:t>FV</a:t>
            </a:r>
            <a:r>
              <a:rPr lang="en-GB" altLang="en-US" baseline="-25000" dirty="0" err="1"/>
              <a:t>n</a:t>
            </a:r>
            <a:r>
              <a:rPr lang="en-GB" altLang="en-US" dirty="0"/>
              <a:t>. What we don’t know is </a:t>
            </a:r>
            <a:r>
              <a:rPr lang="en-GB" altLang="en-US" b="1" dirty="0"/>
              <a:t>r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One way of solving for r is as follows – Next Slide</a:t>
            </a:r>
          </a:p>
          <a:p>
            <a:pPr>
              <a:spcBef>
                <a:spcPts val="0"/>
              </a:spcBef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4332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12"/>
    </mc:Choice>
    <mc:Fallback xmlns="">
      <p:transition spd="slow" advTm="421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C438-E732-4CEF-9CD7-8AE659FF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Rule for IRR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EA8DE-790E-4577-9596-68DD7B56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GB" altLang="en-US" dirty="0" err="1"/>
              <a:t>FV</a:t>
            </a:r>
            <a:r>
              <a:rPr lang="en-GB" altLang="en-US" baseline="-25000" dirty="0" err="1"/>
              <a:t>n</a:t>
            </a:r>
            <a:r>
              <a:rPr lang="en-GB" altLang="en-US" dirty="0"/>
              <a:t> /(1 + </a:t>
            </a:r>
            <a:r>
              <a:rPr lang="en-GB" altLang="en-US" b="1" dirty="0"/>
              <a:t>r</a:t>
            </a:r>
            <a:r>
              <a:rPr lang="en-GB" altLang="en-US" dirty="0"/>
              <a:t>)</a:t>
            </a:r>
            <a:r>
              <a:rPr lang="en-GB" altLang="en-US" baseline="30000" dirty="0"/>
              <a:t>n</a:t>
            </a:r>
            <a:r>
              <a:rPr lang="en-GB" altLang="en-US" dirty="0"/>
              <a:t> – PV = 0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In other words, Discounted future cash flow minus present value, i.e. NPV, equals zero.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Thus we solve for </a:t>
            </a:r>
            <a:r>
              <a:rPr lang="en-GB" altLang="en-US" b="1" dirty="0"/>
              <a:t>r</a:t>
            </a:r>
            <a:r>
              <a:rPr lang="en-GB" altLang="en-US" dirty="0"/>
              <a:t> using this approach.</a:t>
            </a:r>
            <a:endParaRPr lang="en-GB" altLang="en-US" b="1" dirty="0"/>
          </a:p>
          <a:p>
            <a:pPr>
              <a:spcBef>
                <a:spcPts val="0"/>
              </a:spcBef>
            </a:pPr>
            <a:r>
              <a:rPr lang="en-GB" dirty="0"/>
              <a:t>If you don’t understand the algebra, just focus on the rule. </a:t>
            </a:r>
          </a:p>
          <a:p>
            <a:pPr>
              <a:spcBef>
                <a:spcPts val="0"/>
              </a:spcBef>
            </a:pPr>
            <a:r>
              <a:rPr lang="en-GB" b="1" dirty="0"/>
              <a:t>The % return for any cash flow is the discount rate which makes NPV = 0 </a:t>
            </a:r>
          </a:p>
        </p:txBody>
      </p:sp>
    </p:spTree>
    <p:extLst>
      <p:ext uri="{BB962C8B-B14F-4D97-AF65-F5344CB8AC3E}">
        <p14:creationId xmlns:p14="http://schemas.microsoft.com/office/powerpoint/2010/main" val="369208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27"/>
    </mc:Choice>
    <mc:Fallback xmlns="">
      <p:transition spd="slow" advTm="5912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A110956-442B-45D9-B773-9FA792D5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Finding the Zero Point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3CE85B7-94F2-4BED-A3C9-F73A43EA1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altLang="en-US" dirty="0"/>
              <a:t>We </a:t>
            </a:r>
            <a:r>
              <a:rPr lang="en-GB" altLang="en-US" b="1" i="1" dirty="0"/>
              <a:t>know</a:t>
            </a:r>
            <a:r>
              <a:rPr lang="en-GB" altLang="en-US" dirty="0"/>
              <a:t> that £100 with 10% interest becomes 110 over one period. 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110/1.1-100 = 0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110/1.11-100 = -0.9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110/1.09-100 = 0.92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11% is too high and produces –NPV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9% is too low and produces +NPV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The correct answer is 10% which yields 0 NPV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5795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112"/>
    </mc:Choice>
    <mc:Fallback xmlns="">
      <p:transition spd="slow" advTm="8411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A3779129-A79F-4738-A748-9947D6E3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Finding the Zero Point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761256A-2303-4525-8134-ACB7668EA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We </a:t>
            </a:r>
            <a:r>
              <a:rPr lang="en-GB" altLang="en-US" b="1" i="1" dirty="0"/>
              <a:t>know</a:t>
            </a:r>
            <a:r>
              <a:rPr lang="en-GB" altLang="en-US" dirty="0"/>
              <a:t> that £100 with 10% interest becomes 121 over two periods. Suppose we didn’t?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r>
              <a:rPr lang="en-GB" altLang="en-US" dirty="0"/>
              <a:t>Try 11%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121/(1.11)</a:t>
            </a:r>
            <a:r>
              <a:rPr lang="en-GB" altLang="en-US" baseline="30000" dirty="0"/>
              <a:t>2</a:t>
            </a:r>
            <a:r>
              <a:rPr lang="en-GB" altLang="en-US" dirty="0"/>
              <a:t>-100 = -1.79 (+NPV 11% r too high)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r>
              <a:rPr lang="en-GB" altLang="en-US" dirty="0"/>
              <a:t>Try 9%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121/(1.09)-100 = 1.84 (-NPV 9% r too low)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7537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13"/>
    </mc:Choice>
    <mc:Fallback xmlns="">
      <p:transition spd="slow" advTm="5671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A1EAC404-D4BE-463D-8093-99DF9471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Finding the Zero Point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FD6441B-E449-49D0-BDEB-19E09F5E5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You may remember that for the Trattoria project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NPV at 10% was -£10,461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NPV at 5% was +16,474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So what can you say about where the IRR is likely to be?</a:t>
            </a:r>
          </a:p>
          <a:p>
            <a:pPr>
              <a:spcBef>
                <a:spcPts val="0"/>
              </a:spcBef>
            </a:pPr>
            <a:r>
              <a:rPr lang="en-GB" altLang="en-US" dirty="0">
                <a:solidFill>
                  <a:srgbClr val="FF0000"/>
                </a:solidFill>
              </a:rPr>
              <a:t>Learning Activity – Find the NPV for a % rate between 5 and 10. Are you any closer to IRR, where NPV = 0?</a:t>
            </a:r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0915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52"/>
    </mc:Choice>
    <mc:Fallback xmlns="">
      <p:transition spd="slow" advTm="5815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86FAA33-1794-442C-B70B-398104C4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NPV versus discount rate</a:t>
            </a:r>
          </a:p>
        </p:txBody>
      </p:sp>
      <p:pic>
        <p:nvPicPr>
          <p:cNvPr id="23555" name="Chart 1">
            <a:extLst>
              <a:ext uri="{FF2B5EF4-FFF2-40B4-BE49-F238E27FC236}">
                <a16:creationId xmlns:a16="http://schemas.microsoft.com/office/drawing/2014/main" id="{4ECDBBB5-963D-491D-A670-79D49ABF7EF3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54" y="2147282"/>
            <a:ext cx="7725571" cy="3889063"/>
          </a:xfrm>
        </p:spPr>
      </p:pic>
      <p:sp>
        <p:nvSpPr>
          <p:cNvPr id="23556" name="Text Placeholder 3">
            <a:extLst>
              <a:ext uri="{FF2B5EF4-FFF2-40B4-BE49-F238E27FC236}">
                <a16:creationId xmlns:a16="http://schemas.microsoft.com/office/drawing/2014/main" id="{2846ADEA-57D0-4184-B7DA-24E8592A4F14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451100" y="6126609"/>
            <a:ext cx="5154612" cy="478706"/>
          </a:xfrm>
        </p:spPr>
        <p:txBody>
          <a:bodyPr/>
          <a:lstStyle/>
          <a:p>
            <a:pPr marL="0" indent="0">
              <a:buNone/>
            </a:pPr>
            <a:r>
              <a:rPr lang="en-GB" altLang="en-US" dirty="0"/>
              <a:t>The IRR is where NPV equals zero.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6AB5C6-2B4E-4AE5-B2F7-F73E61E41A4F}"/>
              </a:ext>
            </a:extLst>
          </p:cNvPr>
          <p:cNvCxnSpPr>
            <a:cxnSpLocks/>
            <a:stCxn id="23558" idx="1"/>
          </p:cNvCxnSpPr>
          <p:nvPr/>
        </p:nvCxnSpPr>
        <p:spPr>
          <a:xfrm flipH="1">
            <a:off x="5397500" y="3052337"/>
            <a:ext cx="3306764" cy="1405363"/>
          </a:xfrm>
          <a:prstGeom prst="straightConnector1">
            <a:avLst/>
          </a:prstGeom>
          <a:ln w="476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58" name="TextBox 10">
            <a:extLst>
              <a:ext uri="{FF2B5EF4-FFF2-40B4-BE49-F238E27FC236}">
                <a16:creationId xmlns:a16="http://schemas.microsoft.com/office/drawing/2014/main" id="{CE2DDA69-DC5B-4C90-B213-C885BCC27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264" y="2636838"/>
            <a:ext cx="34877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rgbClr val="5E6A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chemeClr val="tx1"/>
                </a:solidFill>
              </a:rPr>
              <a:t>IRR where NPV =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chemeClr val="tx1"/>
                </a:solidFill>
              </a:rPr>
              <a:t>(In this case, IRR = 8%)</a:t>
            </a:r>
          </a:p>
        </p:txBody>
      </p:sp>
    </p:spTree>
    <p:extLst>
      <p:ext uri="{BB962C8B-B14F-4D97-AF65-F5344CB8AC3E}">
        <p14:creationId xmlns:p14="http://schemas.microsoft.com/office/powerpoint/2010/main" val="406316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654"/>
    </mc:Choice>
    <mc:Fallback xmlns="">
      <p:transition spd="slow" advTm="10965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7AEDEF21-1E5D-417B-B40B-005A833C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Trial and Error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62B679F1-4F8C-44C1-ACD3-F0CEA0D5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In other words, we take a guess at what %, r (IRR) is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If NPV remains positive (£16,474), our guess was too low (5%).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If NPV becomes negative </a:t>
            </a:r>
            <a:r>
              <a:rPr lang="en-GB" altLang="en-US" dirty="0">
                <a:solidFill>
                  <a:srgbClr val="FF0000"/>
                </a:solidFill>
              </a:rPr>
              <a:t>(-£10,461)</a:t>
            </a:r>
            <a:r>
              <a:rPr lang="en-GB" altLang="en-US" dirty="0"/>
              <a:t>, our guess was too high (10%)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3972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09"/>
    </mc:Choice>
    <mc:Fallback xmlns="">
      <p:transition spd="slow" advTm="1370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FA71C5F9-C80F-44B6-B1D9-92CAADCB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Trial and Error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3A583E8E-72FC-46F5-9534-AF0D80BA5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GB" altLang="en-US" dirty="0"/>
              <a:t>Trial and error is not recommended as a technique. </a:t>
            </a:r>
          </a:p>
          <a:p>
            <a:pPr algn="just">
              <a:spcBef>
                <a:spcPts val="0"/>
              </a:spcBef>
            </a:pPr>
            <a:r>
              <a:rPr lang="en-GB" altLang="en-US" dirty="0"/>
              <a:t>However, if you set up a discounted cashflow on a spreadsheet and watch the result of varying the discount rate, it will give you a feel for the underlying logic.</a:t>
            </a:r>
          </a:p>
          <a:p>
            <a:pPr algn="just">
              <a:spcBef>
                <a:spcPts val="0"/>
              </a:spcBef>
            </a:pPr>
            <a:r>
              <a:rPr lang="en-GB" altLang="en-US" dirty="0"/>
              <a:t>We can do this with the cashflow -100 in year 0, 121 in year 2 to watch it converge to 10%</a:t>
            </a:r>
          </a:p>
        </p:txBody>
      </p:sp>
    </p:spTree>
    <p:extLst>
      <p:ext uri="{BB962C8B-B14F-4D97-AF65-F5344CB8AC3E}">
        <p14:creationId xmlns:p14="http://schemas.microsoft.com/office/powerpoint/2010/main" val="399365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306"/>
    </mc:Choice>
    <mc:Fallback xmlns="">
      <p:transition spd="slow" advTm="523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52C5-E7EC-4151-B799-A908FAF9A7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dirty="0"/>
              <a:t>Finding the internal rate of return – Trial and Error</a:t>
            </a:r>
          </a:p>
        </p:txBody>
      </p:sp>
      <p:sp>
        <p:nvSpPr>
          <p:cNvPr id="26627" name="Text Placeholder 3">
            <a:extLst>
              <a:ext uri="{FF2B5EF4-FFF2-40B4-BE49-F238E27FC236}">
                <a16:creationId xmlns:a16="http://schemas.microsoft.com/office/drawing/2014/main" id="{CE459CAD-0DE9-42A1-8FA8-44A6DB135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0" y="2139848"/>
            <a:ext cx="4736940" cy="41649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altLang="en-US" dirty="0"/>
              <a:t>We know that the IRR of this project is 10%. 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Therefore a 5% discount rate will give a positive NPV. 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B9F20A0A-93C0-4439-8D1F-83185B24A686}"/>
              </a:ext>
            </a:extLst>
          </p:cNvPr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927260" y="2120179"/>
            <a:ext cx="5486400" cy="4184650"/>
          </a:xfrm>
        </p:spPr>
      </p:pic>
    </p:spTree>
    <p:extLst>
      <p:ext uri="{BB962C8B-B14F-4D97-AF65-F5344CB8AC3E}">
        <p14:creationId xmlns:p14="http://schemas.microsoft.com/office/powerpoint/2010/main" val="161157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66"/>
    </mc:Choice>
    <mc:Fallback xmlns="">
      <p:transition spd="slow" advTm="1166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61B2-EDB8-4EB9-8FEE-8EF2DA2A944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GB" dirty="0"/>
              <a:t>Finding the internal rate of return – Trial and Error</a:t>
            </a:r>
          </a:p>
        </p:txBody>
      </p:sp>
      <p:sp>
        <p:nvSpPr>
          <p:cNvPr id="27651" name="Text Placeholder 3">
            <a:extLst>
              <a:ext uri="{FF2B5EF4-FFF2-40B4-BE49-F238E27FC236}">
                <a16:creationId xmlns:a16="http://schemas.microsoft.com/office/drawing/2014/main" id="{2715ED7F-2C16-4BDA-8A33-90F062FC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900" y="2075979"/>
            <a:ext cx="4800600" cy="4311341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en-GB" altLang="en-US" dirty="0"/>
              <a:t>We know that the IRR of this project is 10%. </a:t>
            </a:r>
          </a:p>
          <a:p>
            <a:pPr eaLnBrk="1" hangingPunct="1">
              <a:spcBef>
                <a:spcPts val="0"/>
              </a:spcBef>
            </a:pPr>
            <a:r>
              <a:rPr lang="en-GB" altLang="en-US" dirty="0"/>
              <a:t>Therefore a 20% discount rate will give a  negative NPV. </a:t>
            </a:r>
          </a:p>
        </p:txBody>
      </p:sp>
      <p:pic>
        <p:nvPicPr>
          <p:cNvPr id="27652" name="Picture 3">
            <a:extLst>
              <a:ext uri="{FF2B5EF4-FFF2-40B4-BE49-F238E27FC236}">
                <a16:creationId xmlns:a16="http://schemas.microsoft.com/office/drawing/2014/main" id="{BB890A05-9443-4E79-8EB5-90209E4C867B}"/>
              </a:ext>
            </a:extLst>
          </p:cNvPr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825660" y="2075979"/>
            <a:ext cx="5943600" cy="4457700"/>
          </a:xfrm>
        </p:spPr>
      </p:pic>
    </p:spTree>
    <p:extLst>
      <p:ext uri="{BB962C8B-B14F-4D97-AF65-F5344CB8AC3E}">
        <p14:creationId xmlns:p14="http://schemas.microsoft.com/office/powerpoint/2010/main" val="413077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34"/>
    </mc:Choice>
    <mc:Fallback xmlns="">
      <p:transition spd="slow" advTm="2903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76B2-44BE-404D-BF33-73979794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Discount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91B88-A1F5-4B7C-9BD4-F96B613DA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b="1" dirty="0"/>
              <a:t>Note – In the following slides I have multiplied by the discount factor</a:t>
            </a:r>
            <a:endParaRPr lang="en-GB" dirty="0"/>
          </a:p>
          <a:p>
            <a:pPr>
              <a:spcBef>
                <a:spcPts val="0"/>
              </a:spcBef>
            </a:pPr>
            <a:r>
              <a:rPr lang="en-GB" dirty="0"/>
              <a:t>To me, it is more intuitively obvious just to divide by the interest multiple.</a:t>
            </a:r>
          </a:p>
          <a:p>
            <a:pPr>
              <a:spcBef>
                <a:spcPts val="0"/>
              </a:spcBef>
            </a:pPr>
            <a:r>
              <a:rPr lang="en-GB" dirty="0"/>
              <a:t>But it is common practice to multiply by the discount factor.</a:t>
            </a:r>
          </a:p>
          <a:p>
            <a:pPr>
              <a:spcBef>
                <a:spcPts val="0"/>
              </a:spcBef>
            </a:pPr>
            <a:r>
              <a:rPr lang="en-GB" dirty="0"/>
              <a:t>The discount factor is just one divided by the interest multiple.</a:t>
            </a:r>
          </a:p>
        </p:txBody>
      </p:sp>
    </p:spTree>
    <p:extLst>
      <p:ext uri="{BB962C8B-B14F-4D97-AF65-F5344CB8AC3E}">
        <p14:creationId xmlns:p14="http://schemas.microsoft.com/office/powerpoint/2010/main" val="157953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877"/>
    </mc:Choice>
    <mc:Fallback xmlns="">
      <p:transition spd="slow" advTm="4087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7130520-8989-4F83-95D5-41798FA5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Linear Interpolation for IRR – try 20%</a:t>
            </a:r>
            <a:br>
              <a:rPr lang="en-GB" altLang="en-US" dirty="0"/>
            </a:br>
            <a:endParaRPr lang="en-GB" altLang="en-US" dirty="0"/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574F5439-BCCE-4803-B868-D9A93B7863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54" y="2120179"/>
            <a:ext cx="5207000" cy="4165600"/>
          </a:xfrm>
        </p:spPr>
      </p:pic>
      <p:sp>
        <p:nvSpPr>
          <p:cNvPr id="35843" name="Text Placeholder 3">
            <a:extLst>
              <a:ext uri="{FF2B5EF4-FFF2-40B4-BE49-F238E27FC236}">
                <a16:creationId xmlns:a16="http://schemas.microsoft.com/office/drawing/2014/main" id="{5A57C1CD-14CD-45D6-AA36-EA0B837AF0B1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186348" y="2120179"/>
            <a:ext cx="5486400" cy="4165600"/>
          </a:xfrm>
        </p:spPr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GB" altLang="en-US" dirty="0"/>
              <a:t>The trial and error approach can be systemised as linear interpolation. We take two guesses at the IRR.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GB" altLang="en-US" dirty="0"/>
              <a:t>The </a:t>
            </a:r>
            <a:r>
              <a:rPr lang="en-GB" altLang="en-US" b="1" i="1" dirty="0"/>
              <a:t>first guess for r is higher than the true value and makes NPV negative</a:t>
            </a:r>
            <a:r>
              <a:rPr lang="en-GB" altLang="en-US" dirty="0"/>
              <a:t>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GB" altLang="en-US" dirty="0"/>
              <a:t>We might call these </a:t>
            </a:r>
            <a:r>
              <a:rPr lang="en-GB" altLang="en-US" dirty="0" err="1"/>
              <a:t>r</a:t>
            </a:r>
            <a:r>
              <a:rPr lang="en-GB" altLang="en-US" baseline="30000" dirty="0" err="1"/>
              <a:t>negative</a:t>
            </a:r>
            <a:r>
              <a:rPr lang="en-GB" altLang="en-US" dirty="0"/>
              <a:t> and </a:t>
            </a:r>
            <a:r>
              <a:rPr lang="en-GB" altLang="en-US" dirty="0" err="1"/>
              <a:t>NPV</a:t>
            </a:r>
            <a:r>
              <a:rPr lang="en-GB" altLang="en-US" baseline="30000" dirty="0" err="1"/>
              <a:t>negative</a:t>
            </a:r>
            <a:r>
              <a:rPr lang="en-GB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72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04"/>
    </mc:Choice>
    <mc:Fallback xmlns="">
      <p:transition spd="slow" advTm="2780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681C-EA85-4E42-8573-DD0C8696DAB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defRPr/>
            </a:pPr>
            <a:r>
              <a:rPr lang="en-GB" altLang="en-US" dirty="0"/>
              <a:t>Linear Interpolation for IRR – try 10%</a:t>
            </a:r>
          </a:p>
        </p:txBody>
      </p:sp>
      <p:pic>
        <p:nvPicPr>
          <p:cNvPr id="29699" name="Picture 19">
            <a:extLst>
              <a:ext uri="{FF2B5EF4-FFF2-40B4-BE49-F238E27FC236}">
                <a16:creationId xmlns:a16="http://schemas.microsoft.com/office/drawing/2014/main" id="{5B06FDEB-6C2D-435C-B85B-31D0F93960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54" y="2120179"/>
            <a:ext cx="5207000" cy="4165600"/>
          </a:xfrm>
        </p:spPr>
      </p:pic>
      <p:sp>
        <p:nvSpPr>
          <p:cNvPr id="29700" name="Text Placeholder 3">
            <a:extLst>
              <a:ext uri="{FF2B5EF4-FFF2-40B4-BE49-F238E27FC236}">
                <a16:creationId xmlns:a16="http://schemas.microsoft.com/office/drawing/2014/main" id="{2715E611-E176-4A7B-8A70-51AD4DA4561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186348" y="2120179"/>
            <a:ext cx="5486400" cy="41656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altLang="en-US" dirty="0"/>
              <a:t>The second guess  at the IRR (or r) </a:t>
            </a:r>
            <a:r>
              <a:rPr lang="en-GB" altLang="en-US" b="1" i="1" dirty="0"/>
              <a:t>is lower than the actual value and makes NPV positive.</a:t>
            </a:r>
            <a:r>
              <a:rPr lang="en-GB" altLang="en-US" dirty="0"/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altLang="en-US" dirty="0"/>
              <a:t>We might call these </a:t>
            </a:r>
            <a:r>
              <a:rPr lang="en-GB" altLang="en-US" dirty="0" err="1"/>
              <a:t>r</a:t>
            </a:r>
            <a:r>
              <a:rPr lang="en-GB" altLang="en-US" baseline="30000" dirty="0" err="1"/>
              <a:t>positive</a:t>
            </a:r>
            <a:r>
              <a:rPr lang="en-GB" altLang="en-US" dirty="0"/>
              <a:t> and </a:t>
            </a:r>
            <a:r>
              <a:rPr lang="en-GB" altLang="en-US" dirty="0" err="1"/>
              <a:t>NPV</a:t>
            </a:r>
            <a:r>
              <a:rPr lang="en-GB" altLang="en-US" baseline="30000" dirty="0" err="1"/>
              <a:t>positive</a:t>
            </a: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032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02"/>
    </mc:Choice>
    <mc:Fallback xmlns="">
      <p:transition spd="slow" advTm="1250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1ECB-1117-446B-A822-E60E4ACC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Learning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D910A-9EF4-486A-A876-AC68E5DE4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 the discount factors for r=10% over 1 and 2 years</a:t>
            </a:r>
          </a:p>
        </p:txBody>
      </p:sp>
    </p:spTree>
    <p:extLst>
      <p:ext uri="{BB962C8B-B14F-4D97-AF65-F5344CB8AC3E}">
        <p14:creationId xmlns:p14="http://schemas.microsoft.com/office/powerpoint/2010/main" val="1538480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21"/>
    </mc:Choice>
    <mc:Fallback xmlns="">
      <p:transition spd="slow" advTm="2432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52F758E-031D-4534-A81C-56788C78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GB" altLang="en-US" dirty="0"/>
              <a:t>Finding the internal rate of return – Trial and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7CDD-CEDE-4809-8BE6-2E7B6F1B9D7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GB" dirty="0"/>
              <a:t>Linear interpolation formula</a:t>
            </a:r>
          </a:p>
          <a:p>
            <a:pPr>
              <a:spcBef>
                <a:spcPts val="0"/>
              </a:spcBef>
              <a:defRPr/>
            </a:pPr>
            <a:r>
              <a:rPr lang="en-GB" dirty="0"/>
              <a:t>IRR = </a:t>
            </a:r>
            <a:r>
              <a:rPr lang="en-GB" dirty="0" err="1"/>
              <a:t>r</a:t>
            </a:r>
            <a:r>
              <a:rPr lang="en-GB" baseline="30000" dirty="0" err="1"/>
              <a:t>positive</a:t>
            </a:r>
            <a:r>
              <a:rPr lang="en-GB" dirty="0"/>
              <a:t>  + (Ratio)× ( </a:t>
            </a:r>
            <a:r>
              <a:rPr lang="en-GB" dirty="0" err="1"/>
              <a:t>r</a:t>
            </a:r>
            <a:r>
              <a:rPr lang="en-GB" baseline="30000" dirty="0" err="1"/>
              <a:t>negative</a:t>
            </a:r>
            <a:r>
              <a:rPr lang="en-GB" dirty="0"/>
              <a:t> – </a:t>
            </a:r>
            <a:r>
              <a:rPr lang="en-GB" dirty="0" err="1"/>
              <a:t>r</a:t>
            </a:r>
            <a:r>
              <a:rPr lang="en-GB" baseline="30000" dirty="0" err="1"/>
              <a:t>positive</a:t>
            </a:r>
            <a:r>
              <a:rPr lang="en-GB" dirty="0"/>
              <a:t>)</a:t>
            </a:r>
          </a:p>
          <a:p>
            <a:pPr>
              <a:spcBef>
                <a:spcPts val="0"/>
              </a:spcBef>
              <a:defRPr/>
            </a:pPr>
            <a:r>
              <a:rPr lang="en-GB" dirty="0"/>
              <a:t> Ratio =(</a:t>
            </a:r>
            <a:r>
              <a:rPr lang="en-GB" dirty="0" err="1"/>
              <a:t>NPV</a:t>
            </a:r>
            <a:r>
              <a:rPr lang="en-GB" baseline="30000" dirty="0" err="1"/>
              <a:t>positive</a:t>
            </a:r>
            <a:r>
              <a:rPr lang="en-GB" dirty="0"/>
              <a:t>/(</a:t>
            </a:r>
            <a:r>
              <a:rPr lang="en-GB" dirty="0" err="1"/>
              <a:t>NPV</a:t>
            </a:r>
            <a:r>
              <a:rPr lang="en-GB" baseline="30000" dirty="0" err="1"/>
              <a:t>positive</a:t>
            </a:r>
            <a:r>
              <a:rPr lang="en-GB" strike="sngStrike" dirty="0"/>
              <a:t>-</a:t>
            </a:r>
            <a:r>
              <a:rPr lang="en-GB" dirty="0"/>
              <a:t> – </a:t>
            </a:r>
            <a:r>
              <a:rPr lang="en-GB" dirty="0" err="1"/>
              <a:t>NPV</a:t>
            </a:r>
            <a:r>
              <a:rPr lang="en-GB" baseline="30000" dirty="0" err="1"/>
              <a:t>negative</a:t>
            </a:r>
            <a:r>
              <a:rPr lang="en-GB" dirty="0"/>
              <a:t>)) </a:t>
            </a:r>
          </a:p>
          <a:p>
            <a:pPr>
              <a:spcBef>
                <a:spcPts val="0"/>
              </a:spcBef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824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230"/>
    </mc:Choice>
    <mc:Fallback xmlns="">
      <p:transition spd="slow" advTm="6823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56A47DA-3EB6-433F-A795-7DA7038A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 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E0921C6E-40FE-4037-9959-A3AD445BC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e.g. For the example above;</a:t>
            </a:r>
          </a:p>
          <a:p>
            <a:pPr marL="0" indent="0">
              <a:spcBef>
                <a:spcPts val="0"/>
              </a:spcBef>
              <a:buNone/>
            </a:pPr>
            <a:endParaRPr lang="en-GB" alt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GB" altLang="en-US" dirty="0"/>
              <a:t>	10% + (Ratio)×(20% – 10%)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altLang="en-US" dirty="0"/>
              <a:t>				= 10% + (900.43/(900.43 + 320.83))×10%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altLang="en-US" dirty="0"/>
              <a:t>				= 10% + 0.737×10%  = 17.37%. </a:t>
            </a:r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66E40B-3398-6D4C-B561-75BE1B944B39}"/>
              </a:ext>
            </a:extLst>
          </p:cNvPr>
          <p:cNvSpPr txBox="1">
            <a:spLocks/>
          </p:cNvSpPr>
          <p:nvPr/>
        </p:nvSpPr>
        <p:spPr>
          <a:xfrm>
            <a:off x="798654" y="1233509"/>
            <a:ext cx="10567686" cy="98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GB" altLang="en-US" dirty="0"/>
              <a:t>Finding the internal rate of return – Trial and Error</a:t>
            </a:r>
          </a:p>
        </p:txBody>
      </p:sp>
    </p:spTree>
    <p:extLst>
      <p:ext uri="{BB962C8B-B14F-4D97-AF65-F5344CB8AC3E}">
        <p14:creationId xmlns:p14="http://schemas.microsoft.com/office/powerpoint/2010/main" val="4237556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558"/>
    </mc:Choice>
    <mc:Fallback xmlns="">
      <p:transition spd="slow" advTm="7455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E9289E20-D837-4E81-BD35-A9713C15E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IRR, The Decision Rule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961928E5-128E-4958-998A-740B5A251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u="sng" dirty="0"/>
              <a:t>Decision Rule</a:t>
            </a:r>
            <a:r>
              <a:rPr lang="en-GB" altLang="en-US" dirty="0"/>
              <a:t> If IRR ≥ k, (where k is the cost of capital) then accept the project. Otherwise reject.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Note that k is expressed as a percentage. i.e. It is the overall return on capital required by investors.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If capital is rationed, then rank projects by IRR</a:t>
            </a:r>
          </a:p>
          <a:p>
            <a:pPr>
              <a:spcBef>
                <a:spcPts val="0"/>
              </a:spcBef>
            </a:pPr>
            <a:endParaRPr lang="en-GB" altLang="en-US" dirty="0"/>
          </a:p>
          <a:p>
            <a:pPr>
              <a:spcBef>
                <a:spcPts val="0"/>
              </a:spcBef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6076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06"/>
    </mc:Choice>
    <mc:Fallback xmlns="">
      <p:transition spd="slow" advTm="4440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0550F021-5975-499D-BE94-4537BDF0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br>
              <a:rPr lang="en-GB" altLang="en-US" dirty="0"/>
            </a:br>
            <a:r>
              <a:rPr lang="en-GB" altLang="en-US" dirty="0"/>
              <a:t>Problems with the IRR (1)</a:t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C039F8E5-22A2-4F5C-B2A8-24A4E083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GB" altLang="en-US" b="1" dirty="0"/>
              <a:t>More than one change in cash flow sign from negative to positive can make the underlying problem to be solved highly non-linear. 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This in turn can lead to more than one root. 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That is,</a:t>
            </a:r>
          </a:p>
          <a:p>
            <a:pPr lvl="1">
              <a:spcBef>
                <a:spcPts val="0"/>
              </a:spcBef>
              <a:defRPr/>
            </a:pPr>
            <a:r>
              <a:rPr lang="en-GB" altLang="en-US" dirty="0"/>
              <a:t>More than one solution for the rate of discount which makes the NPV equal zero. </a:t>
            </a:r>
          </a:p>
          <a:p>
            <a:pPr lvl="1">
              <a:spcBef>
                <a:spcPts val="0"/>
              </a:spcBef>
              <a:defRPr/>
            </a:pPr>
            <a:r>
              <a:rPr lang="en-GB" altLang="en-US" dirty="0"/>
              <a:t>This makes no sense and IRR cannot be used.</a:t>
            </a:r>
          </a:p>
          <a:p>
            <a:pPr>
              <a:spcBef>
                <a:spcPts val="0"/>
              </a:spcBef>
              <a:defRPr/>
            </a:pPr>
            <a:r>
              <a:rPr lang="en-GB" altLang="en-US" dirty="0"/>
              <a:t>Situation is illustrated in next slide.</a:t>
            </a:r>
          </a:p>
          <a:p>
            <a:pPr>
              <a:spcBef>
                <a:spcPts val="0"/>
              </a:spcBef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7574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518"/>
    </mc:Choice>
    <mc:Fallback xmlns="">
      <p:transition spd="slow" advTm="7751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F6F7-3428-485B-9ADE-4A86F2D5902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/>
              <a:t>Unconventional cash flow</a:t>
            </a:r>
          </a:p>
        </p:txBody>
      </p:sp>
      <p:sp>
        <p:nvSpPr>
          <p:cNvPr id="35843" name="Text Placeholder 3">
            <a:extLst>
              <a:ext uri="{FF2B5EF4-FFF2-40B4-BE49-F238E27FC236}">
                <a16:creationId xmlns:a16="http://schemas.microsoft.com/office/drawing/2014/main" id="{D8BD79D2-6D5A-454C-A109-445F179E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100" y="2222339"/>
            <a:ext cx="4851240" cy="4164981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en-GB" altLang="en-US" dirty="0"/>
              <a:t>This is an unconventional cash flow with additional investment required at the end. </a:t>
            </a:r>
          </a:p>
          <a:p>
            <a:pPr eaLnBrk="1" hangingPunct="1">
              <a:spcBef>
                <a:spcPts val="0"/>
              </a:spcBef>
            </a:pPr>
            <a:r>
              <a:rPr lang="en-GB" altLang="en-US" dirty="0"/>
              <a:t>There are now two IRRs – a nonsensical result.</a:t>
            </a:r>
          </a:p>
        </p:txBody>
      </p:sp>
      <p:pic>
        <p:nvPicPr>
          <p:cNvPr id="35844" name="Picture 2">
            <a:extLst>
              <a:ext uri="{FF2B5EF4-FFF2-40B4-BE49-F238E27FC236}">
                <a16:creationId xmlns:a16="http://schemas.microsoft.com/office/drawing/2014/main" id="{35117471-6DCD-41D0-8D43-5B5446620FFA}"/>
              </a:ext>
            </a:extLst>
          </p:cNvPr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825660" y="2272520"/>
            <a:ext cx="5486400" cy="4114800"/>
          </a:xfrm>
        </p:spPr>
      </p:pic>
    </p:spTree>
    <p:extLst>
      <p:ext uri="{BB962C8B-B14F-4D97-AF65-F5344CB8AC3E}">
        <p14:creationId xmlns:p14="http://schemas.microsoft.com/office/powerpoint/2010/main" val="216015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20"/>
    </mc:Choice>
    <mc:Fallback xmlns="">
      <p:transition spd="slow" advTm="2172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096747C-2E2C-4455-B006-23FFB53C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Problems with IRR (2)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8D81BE1-BA2A-435E-96AE-13C0C0B0E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b="1" dirty="0"/>
              <a:t>Reinvestment assumption of the IRR</a:t>
            </a:r>
            <a:r>
              <a:rPr lang="en-US" altLang="en-US" dirty="0"/>
              <a:t> </a:t>
            </a:r>
            <a:endParaRPr lang="en-GB" altLang="en-US" dirty="0"/>
          </a:p>
          <a:p>
            <a:pPr>
              <a:spcBef>
                <a:spcPts val="0"/>
              </a:spcBef>
            </a:pPr>
            <a:r>
              <a:rPr lang="en-GB" altLang="en-US" dirty="0"/>
              <a:t>Recall that IRR is based on technique of finding rate of return where NPV is zero</a:t>
            </a:r>
          </a:p>
          <a:p>
            <a:pPr>
              <a:spcBef>
                <a:spcPts val="0"/>
              </a:spcBef>
            </a:pPr>
            <a:r>
              <a:rPr lang="en-GB" altLang="en-US" dirty="0"/>
              <a:t>It is possible to show that this is mathematically equivalent to the implicit assumption that all intermediate cashflows can be reinvested at the IRR.</a:t>
            </a:r>
          </a:p>
        </p:txBody>
      </p:sp>
    </p:spTree>
    <p:extLst>
      <p:ext uri="{BB962C8B-B14F-4D97-AF65-F5344CB8AC3E}">
        <p14:creationId xmlns:p14="http://schemas.microsoft.com/office/powerpoint/2010/main" val="185421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26"/>
    </mc:Choice>
    <mc:Fallback xmlns="">
      <p:transition spd="slow" advTm="4512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C3BA-F345-4EB2-9120-1F830EA4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Learning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0BEC-B212-4417-8DFD-1353E0D79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Trattoria Project, multiply the initial £200K investment in year 0 by 1.08^5 to bring it forward to year 5. </a:t>
            </a:r>
          </a:p>
          <a:p>
            <a:r>
              <a:rPr lang="en-GB" dirty="0"/>
              <a:t>Then do the same for the positive cash flows.</a:t>
            </a:r>
          </a:p>
          <a:p>
            <a:r>
              <a:rPr lang="en-GB" dirty="0" err="1"/>
              <a:t>Eg</a:t>
            </a:r>
            <a:r>
              <a:rPr lang="en-GB" dirty="0"/>
              <a:t> 50K in year 1, multiplied by 1.08^4</a:t>
            </a:r>
          </a:p>
          <a:p>
            <a:r>
              <a:rPr lang="en-GB" dirty="0" err="1"/>
              <a:t>Eg</a:t>
            </a:r>
            <a:r>
              <a:rPr lang="en-GB" dirty="0"/>
              <a:t> 50K in year 2, multiplied by 1.08^3 etc</a:t>
            </a:r>
          </a:p>
          <a:p>
            <a:r>
              <a:rPr lang="en-GB" dirty="0"/>
              <a:t>When you add up the future CF, they should be roughly equal to the initial investment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28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727"/>
    </mc:Choice>
    <mc:Fallback xmlns="">
      <p:transition spd="slow" advTm="6272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D034E364-5476-4838-AB6C-64443034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Problems with IRR (3)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37FECA18-2B4F-468D-A75E-2A367B339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IRRs can’t be added to get a sum total of the contribution to value of all projects. This is by contrast with NPV which can.</a:t>
            </a:r>
          </a:p>
        </p:txBody>
      </p:sp>
    </p:spTree>
    <p:extLst>
      <p:ext uri="{BB962C8B-B14F-4D97-AF65-F5344CB8AC3E}">
        <p14:creationId xmlns:p14="http://schemas.microsoft.com/office/powerpoint/2010/main" val="376780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28"/>
    </mc:Choice>
    <mc:Fallback xmlns="">
      <p:transition spd="slow" advTm="2472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D034E364-5476-4838-AB6C-64443034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Problems with IRR (4)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37FECA18-2B4F-468D-A75E-2A367B339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GB" altLang="en-US" dirty="0"/>
              <a:t>The NPV versus Discount Rate schedule for two different projects may crossover. In this case NPV and IRR can conflict in terms of decision making criteria.</a:t>
            </a:r>
          </a:p>
        </p:txBody>
      </p:sp>
    </p:spTree>
    <p:extLst>
      <p:ext uri="{BB962C8B-B14F-4D97-AF65-F5344CB8AC3E}">
        <p14:creationId xmlns:p14="http://schemas.microsoft.com/office/powerpoint/2010/main" val="322195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28"/>
    </mc:Choice>
    <mc:Fallback xmlns="">
      <p:transition spd="slow" advTm="2472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AED0FC7-F08C-46E4-8720-BAA0C76E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 </a:t>
            </a:r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20A2C379-500F-4197-86A2-92392E7FA9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7" b="13446"/>
          <a:stretch/>
        </p:blipFill>
        <p:spPr>
          <a:xfrm>
            <a:off x="1578240" y="1016000"/>
            <a:ext cx="9445360" cy="5486400"/>
          </a:xfrm>
        </p:spPr>
      </p:pic>
    </p:spTree>
    <p:extLst>
      <p:ext uri="{BB962C8B-B14F-4D97-AF65-F5344CB8AC3E}">
        <p14:creationId xmlns:p14="http://schemas.microsoft.com/office/powerpoint/2010/main" val="126840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406"/>
    </mc:Choice>
    <mc:Fallback xmlns="">
      <p:transition spd="slow" advTm="10440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9AC9-83AA-1777-6EEE-689B7010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Problems with IRR (5 and 6)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553CF-7669-1A54-3D79-3AB984684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5. The larger the range for linear interpolation, the greater the deviation from the true underlying IRR.</a:t>
            </a:r>
          </a:p>
          <a:p>
            <a:r>
              <a:rPr lang="en-GB" dirty="0"/>
              <a:t>6. A % tells you nothing about the relative contribution of the project in terms of cash.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4998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1314</Words>
  <Application>Microsoft Office PowerPoint</Application>
  <PresentationFormat>Widescreen</PresentationFormat>
  <Paragraphs>119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Arial Narrow</vt:lpstr>
      <vt:lpstr>Office Theme</vt:lpstr>
      <vt:lpstr>C37FF Finance</vt:lpstr>
      <vt:lpstr>Internal rate of return – more than one future cash flow</vt:lpstr>
      <vt:lpstr>The Rule for IRR</vt:lpstr>
      <vt:lpstr>The Rule for IRR</vt:lpstr>
      <vt:lpstr>The Rule for IRR</vt:lpstr>
      <vt:lpstr>Finding the Zero Point</vt:lpstr>
      <vt:lpstr>Finding the Zero Point</vt:lpstr>
      <vt:lpstr>Finding the Zero Point</vt:lpstr>
      <vt:lpstr>NPV versus discount rate</vt:lpstr>
      <vt:lpstr>Trial and Error</vt:lpstr>
      <vt:lpstr>Trial and Error</vt:lpstr>
      <vt:lpstr>Finding the internal rate of return – Trial and Error</vt:lpstr>
      <vt:lpstr>Finding the internal rate of return – Trial and Error</vt:lpstr>
      <vt:lpstr>The Discount Factor</vt:lpstr>
      <vt:lpstr>Linear Interpolation for IRR – try 20% </vt:lpstr>
      <vt:lpstr>Linear Interpolation for IRR – try 10%</vt:lpstr>
      <vt:lpstr>Learning Activity</vt:lpstr>
      <vt:lpstr>Finding the internal rate of return – Trial and Error</vt:lpstr>
      <vt:lpstr> </vt:lpstr>
      <vt:lpstr>IRR, The Decision Rule</vt:lpstr>
      <vt:lpstr> Problems with the IRR (1) </vt:lpstr>
      <vt:lpstr>Unconventional cash flow</vt:lpstr>
      <vt:lpstr>Problems with IRR (2)</vt:lpstr>
      <vt:lpstr>Learning Activity</vt:lpstr>
      <vt:lpstr>Problems with IRR (3)</vt:lpstr>
      <vt:lpstr>Problems with IRR (4)</vt:lpstr>
      <vt:lpstr> </vt:lpstr>
      <vt:lpstr>Problems with IRR (5 and 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Tam, Kok Chian</dc:creator>
  <cp:lastModifiedBy>Marney, John-Paul</cp:lastModifiedBy>
  <cp:revision>12</cp:revision>
  <dcterms:created xsi:type="dcterms:W3CDTF">2020-09-01T06:10:30Z</dcterms:created>
  <dcterms:modified xsi:type="dcterms:W3CDTF">2024-02-21T13:10:21Z</dcterms:modified>
</cp:coreProperties>
</file>