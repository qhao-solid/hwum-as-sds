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16"/>
  </p:notesMasterIdLst>
  <p:sldIdLst>
    <p:sldId id="256" r:id="rId9"/>
    <p:sldId id="292" r:id="rId10"/>
    <p:sldId id="258" r:id="rId11"/>
    <p:sldId id="260" r:id="rId12"/>
    <p:sldId id="293" r:id="rId13"/>
    <p:sldId id="294" r:id="rId14"/>
    <p:sldId id="303" r:id="rId1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C5E65-93EF-4041-8A9A-AD168B3A83F1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62165-26E7-4303-872C-CD3E88524B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8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40EFEA-DCC5-42FD-9868-4ACAB84B15C7}" type="slidenum">
              <a:rPr lang="en-GB" altLang="en-US" sz="1200"/>
              <a:pPr eaLnBrk="1" hangingPunct="1"/>
              <a:t>3</a:t>
            </a:fld>
            <a:endParaRPr lang="en-GB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59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931D0B5-9E42-4D49-8854-63B4C412B3F7}" type="slidenum">
              <a:rPr lang="en-GB" altLang="en-US" sz="1200"/>
              <a:pPr eaLnBrk="1" hangingPunct="1"/>
              <a:t>4</a:t>
            </a:fld>
            <a:endParaRPr lang="en-GB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51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29/10/2021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Capital Investment Decisions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Using investment appraisal techniques to aide decision </a:t>
            </a:r>
            <a:r>
              <a:rPr lang="en-GB" dirty="0" smtClean="0"/>
              <a:t>making</a:t>
            </a:r>
          </a:p>
          <a:p>
            <a:r>
              <a:rPr lang="en-GB" smtClean="0"/>
              <a:t>Project Fundamentals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229E-2C12-4474-AC1B-70CD146A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‘Project’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E838-21A5-4C06-816C-3813812FD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Definitive start and end point</a:t>
            </a:r>
          </a:p>
          <a:p>
            <a:r>
              <a:rPr lang="en-GB" dirty="0"/>
              <a:t>Clearly defined goal or purpose</a:t>
            </a:r>
          </a:p>
          <a:p>
            <a:r>
              <a:rPr lang="en-GB" dirty="0"/>
              <a:t>May create a product, service or result</a:t>
            </a:r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89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412776"/>
            <a:ext cx="7772400" cy="703385"/>
          </a:xfrm>
        </p:spPr>
        <p:txBody>
          <a:bodyPr/>
          <a:lstStyle/>
          <a:p>
            <a:pPr eaLnBrk="1" hangingPunct="1"/>
            <a:r>
              <a:rPr lang="en-GB" altLang="en-US" dirty="0"/>
              <a:t>Capital investment decisions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2636912"/>
            <a:ext cx="7772400" cy="4013688"/>
          </a:xfrm>
        </p:spPr>
        <p:txBody>
          <a:bodyPr/>
          <a:lstStyle/>
          <a:p>
            <a:pPr eaLnBrk="1" hangingPunct="1"/>
            <a:r>
              <a:rPr lang="en-GB" altLang="en-US" dirty="0"/>
              <a:t>New projects requiring significant initial outlay</a:t>
            </a:r>
          </a:p>
          <a:p>
            <a:pPr eaLnBrk="1" hangingPunct="1"/>
            <a:r>
              <a:rPr lang="en-GB" altLang="en-US" dirty="0"/>
              <a:t>Benefits may be spread over many years</a:t>
            </a:r>
          </a:p>
          <a:p>
            <a:pPr eaLnBrk="1" hangingPunct="1"/>
            <a:r>
              <a:rPr lang="en-GB" altLang="en-US" dirty="0"/>
              <a:t>Must ensure benefits exceed costs</a:t>
            </a:r>
          </a:p>
          <a:p>
            <a:pPr eaLnBrk="1" hangingPunct="1"/>
            <a:r>
              <a:rPr lang="en-GB" altLang="en-US" dirty="0"/>
              <a:t>Need to take into account time value of money</a:t>
            </a:r>
          </a:p>
          <a:p>
            <a:r>
              <a:rPr lang="en-GB" altLang="en-US" dirty="0"/>
              <a:t>Difficult to bail out once an investment has been made</a:t>
            </a:r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266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412776"/>
            <a:ext cx="7772400" cy="751743"/>
          </a:xfrm>
        </p:spPr>
        <p:txBody>
          <a:bodyPr/>
          <a:lstStyle/>
          <a:p>
            <a:pPr eaLnBrk="1" hangingPunct="1"/>
            <a:r>
              <a:rPr lang="en-GB" altLang="en-US" dirty="0"/>
              <a:t>Selecting projects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2565382"/>
            <a:ext cx="7772400" cy="431262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/>
              <a:t>Must be likely to make a profit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Exceptions are projects necessary for health or social welfare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Achieving synergy (compatibility) with other projects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Using scarce investing funds or management resources in the best way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Risks of project failure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39669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285E-044F-462B-906C-A4B48A6D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Cashflows and Profit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FC40-097E-47D5-AC25-7F9B04184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Income / Benefits</a:t>
            </a:r>
          </a:p>
          <a:p>
            <a:r>
              <a:rPr lang="en-GB" dirty="0"/>
              <a:t>Expenses</a:t>
            </a:r>
          </a:p>
          <a:p>
            <a:r>
              <a:rPr lang="en-GB" dirty="0"/>
              <a:t>Time periods of income and expenses</a:t>
            </a:r>
          </a:p>
          <a:p>
            <a:r>
              <a:rPr lang="en-GB" dirty="0"/>
              <a:t>Certainty and risk</a:t>
            </a:r>
          </a:p>
          <a:p>
            <a:r>
              <a:rPr lang="en-GB" dirty="0"/>
              <a:t>Forecasting techniques</a:t>
            </a:r>
          </a:p>
          <a:p>
            <a:pPr lvl="1"/>
            <a:r>
              <a:rPr lang="en-GB" dirty="0"/>
              <a:t>Probability analysis</a:t>
            </a:r>
          </a:p>
          <a:p>
            <a:pPr lvl="1"/>
            <a:r>
              <a:rPr lang="en-GB" dirty="0"/>
              <a:t>Regression analysis</a:t>
            </a:r>
          </a:p>
          <a:p>
            <a:pPr lvl="1"/>
            <a:r>
              <a:rPr lang="en-GB" dirty="0"/>
              <a:t>Sensitivity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0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3F6F-8C5A-4395-8EE7-8B562B97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Forecasting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0FB05-EF8F-44BC-8D93-D03EBAC4F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Quantitative</a:t>
            </a:r>
          </a:p>
          <a:p>
            <a:pPr lvl="1"/>
            <a:r>
              <a:rPr lang="en-GB" dirty="0"/>
              <a:t>Simple or multiple regression</a:t>
            </a:r>
          </a:p>
          <a:p>
            <a:pPr lvl="1"/>
            <a:r>
              <a:rPr lang="en-GB" dirty="0"/>
              <a:t>Time trends</a:t>
            </a:r>
          </a:p>
          <a:p>
            <a:pPr lvl="1"/>
            <a:r>
              <a:rPr lang="en-GB" dirty="0"/>
              <a:t>Moving averages</a:t>
            </a:r>
          </a:p>
          <a:p>
            <a:r>
              <a:rPr lang="en-GB" dirty="0"/>
              <a:t>Qualitative</a:t>
            </a:r>
          </a:p>
          <a:p>
            <a:pPr lvl="1"/>
            <a:r>
              <a:rPr lang="en-GB" dirty="0"/>
              <a:t>Delphi method</a:t>
            </a:r>
          </a:p>
          <a:p>
            <a:pPr lvl="1"/>
            <a:r>
              <a:rPr lang="en-GB" dirty="0"/>
              <a:t>Nominal group technique</a:t>
            </a:r>
          </a:p>
          <a:p>
            <a:pPr lvl="1"/>
            <a:r>
              <a:rPr lang="en-GB" dirty="0"/>
              <a:t>Jury of executive opinion</a:t>
            </a:r>
          </a:p>
          <a:p>
            <a:pPr lvl="1"/>
            <a:r>
              <a:rPr lang="en-GB" dirty="0"/>
              <a:t>Scenario projection</a:t>
            </a:r>
          </a:p>
        </p:txBody>
      </p:sp>
    </p:spTree>
    <p:extLst>
      <p:ext uri="{BB962C8B-B14F-4D97-AF65-F5344CB8AC3E}">
        <p14:creationId xmlns:p14="http://schemas.microsoft.com/office/powerpoint/2010/main" val="336704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BDC9-9C46-44E3-AA0A-0D647C73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80" y="908720"/>
            <a:ext cx="8075240" cy="998984"/>
          </a:xfrm>
        </p:spPr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DDA0B-29BA-4126-88EA-AB69209C4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07704"/>
            <a:ext cx="8075240" cy="4218459"/>
          </a:xfrm>
        </p:spPr>
        <p:txBody>
          <a:bodyPr>
            <a:normAutofit fontScale="32500" lnSpcReduction="20000"/>
          </a:bodyPr>
          <a:lstStyle/>
          <a:p>
            <a:r>
              <a:rPr lang="en-GB" sz="8600" dirty="0"/>
              <a:t>Capital projects are likely to be significant in both value and importance to organisations and may span several years</a:t>
            </a:r>
            <a:r>
              <a:rPr lang="en-GB" sz="8600" dirty="0" smtClean="0"/>
              <a:t>.</a:t>
            </a:r>
            <a:endParaRPr lang="en-GB" sz="8600" dirty="0"/>
          </a:p>
          <a:p>
            <a:endParaRPr lang="en-GB" sz="8600" dirty="0"/>
          </a:p>
          <a:p>
            <a:r>
              <a:rPr lang="en-GB" sz="8600" dirty="0" smtClean="0"/>
              <a:t>Cash inflows and outflows are critical to any project and require forecasting.</a:t>
            </a:r>
          </a:p>
          <a:p>
            <a:pPr marL="0" indent="0">
              <a:buNone/>
            </a:pPr>
            <a:endParaRPr lang="en-US" sz="8600" dirty="0" smtClean="0"/>
          </a:p>
          <a:p>
            <a:r>
              <a:rPr lang="en-GB" sz="8600" dirty="0" smtClean="0"/>
              <a:t>Forecasting techniques may be quantitative and qualitative.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954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7ACEBA-99EE-4B9A-99FE-F9695B41FA99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206</Words>
  <Application>Microsoft Office PowerPoint</Application>
  <PresentationFormat>On-screen Show (4:3)</PresentationFormat>
  <Paragraphs>46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Capital Investment Decisions</vt:lpstr>
      <vt:lpstr>‘Project’</vt:lpstr>
      <vt:lpstr>Capital investment decisions</vt:lpstr>
      <vt:lpstr>Selecting projects</vt:lpstr>
      <vt:lpstr>Cashflows and Profit</vt:lpstr>
      <vt:lpstr>Forecasting Techniques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Wilson, Melanie</cp:lastModifiedBy>
  <cp:revision>37</cp:revision>
  <cp:lastPrinted>2019-11-04T17:42:15Z</cp:lastPrinted>
  <dcterms:created xsi:type="dcterms:W3CDTF">2016-02-11T16:23:53Z</dcterms:created>
  <dcterms:modified xsi:type="dcterms:W3CDTF">2021-10-29T16:42:29Z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