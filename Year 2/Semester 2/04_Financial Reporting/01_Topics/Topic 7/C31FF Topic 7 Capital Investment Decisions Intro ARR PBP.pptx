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slideLayouts/slideLayout24.xml" ContentType="application/vnd.openxmlformats-officedocument.presentationml.slideLayout+xml"/>
  <Override PartName="/ppt/theme/theme4.xml" ContentType="application/vnd.openxmlformats-officedocument.theme+xml"/>
  <Override PartName="/ppt/slideLayouts/slideLayout2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4"/>
    <p:sldMasterId id="2147483702" r:id="rId5"/>
    <p:sldMasterId id="2147483685" r:id="rId6"/>
    <p:sldMasterId id="2147483684" r:id="rId7"/>
    <p:sldMasterId id="2147483686" r:id="rId8"/>
  </p:sldMasterIdLst>
  <p:notesMasterIdLst>
    <p:notesMasterId r:id="rId28"/>
  </p:notesMasterIdLst>
  <p:sldIdLst>
    <p:sldId id="256" r:id="rId9"/>
    <p:sldId id="257" r:id="rId10"/>
    <p:sldId id="292" r:id="rId11"/>
    <p:sldId id="258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305" r:id="rId20"/>
    <p:sldId id="268" r:id="rId21"/>
    <p:sldId id="269" r:id="rId22"/>
    <p:sldId id="270" r:id="rId23"/>
    <p:sldId id="271" r:id="rId24"/>
    <p:sldId id="272" r:id="rId25"/>
    <p:sldId id="274" r:id="rId26"/>
    <p:sldId id="303" r:id="rId27"/>
  </p:sldIdLst>
  <p:sldSz cx="9144000" cy="6858000" type="screen4x3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E6A71"/>
    <a:srgbClr val="0098DB"/>
    <a:srgbClr val="00549F"/>
    <a:srgbClr val="A5AC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834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3" Type="http://schemas.openxmlformats.org/officeDocument/2006/relationships/customXml" Target="../customXml/item3.xml"/><Relationship Id="rId21" Type="http://schemas.openxmlformats.org/officeDocument/2006/relationships/slide" Target="slides/slide13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AC5E65-93EF-4041-8A9A-AD168B3A83F1}" type="datetimeFigureOut">
              <a:rPr lang="en-GB" smtClean="0"/>
              <a:t>21/02/2024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1241425"/>
            <a:ext cx="446405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F62165-26E7-4303-872C-CD3E88524B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3843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7140EFEA-DCC5-42FD-9868-4ACAB84B15C7}" type="slidenum">
              <a:rPr lang="en-GB" altLang="en-US" sz="1200"/>
              <a:pPr eaLnBrk="1" hangingPunct="1"/>
              <a:t>4</a:t>
            </a:fld>
            <a:endParaRPr lang="en-GB" altLang="en-US" sz="120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85957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4931D0B5-9E42-4D49-8854-63B4C412B3F7}" type="slidenum">
              <a:rPr lang="en-GB" altLang="en-US" sz="1200"/>
              <a:pPr eaLnBrk="1" hangingPunct="1"/>
              <a:t>5</a:t>
            </a:fld>
            <a:endParaRPr lang="en-GB" altLang="en-US" sz="1200"/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95199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F041C4EF-9356-4923-953D-A1D2262A6C72}" type="slidenum">
              <a:rPr lang="en-GB" altLang="en-US" sz="1200"/>
              <a:pPr eaLnBrk="1" hangingPunct="1"/>
              <a:t>9</a:t>
            </a:fld>
            <a:endParaRPr lang="en-GB" altLang="en-US" sz="1200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67012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D9161ABD-8A94-4914-8D92-D2DFAB756FFA}" type="slidenum">
              <a:rPr lang="en-GB" altLang="en-US" sz="1200"/>
              <a:pPr eaLnBrk="1" hangingPunct="1"/>
              <a:t>15</a:t>
            </a:fld>
            <a:endParaRPr lang="en-GB" altLang="en-US" sz="120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36806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solidFill>
                  <a:srgbClr val="5E6A7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3568" y="3645024"/>
            <a:ext cx="6400800" cy="1752600"/>
          </a:xfrm>
        </p:spPr>
        <p:txBody>
          <a:bodyPr/>
          <a:lstStyle>
            <a:lvl1pPr marL="0" indent="0" algn="l">
              <a:buNone/>
              <a:defRPr i="1">
                <a:solidFill>
                  <a:srgbClr val="0098DB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21/02/2024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54240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21/02/2024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9858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rgbClr val="5E6A7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rgbClr val="0098DB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21/02/2024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2726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1560" y="2348880"/>
            <a:ext cx="3884240" cy="377728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2560" y="2348880"/>
            <a:ext cx="3884240" cy="377728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21/02/2024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7058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1560" y="2357190"/>
            <a:ext cx="388582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1560" y="3068960"/>
            <a:ext cx="3885828" cy="305720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99446" y="2357190"/>
            <a:ext cx="3887354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99446" y="3068960"/>
            <a:ext cx="3887354" cy="305720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21/02/2024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67821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21/02/2024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19381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21/02/2024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79224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6752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420888"/>
            <a:ext cx="3008313" cy="37052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21/02/2024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0446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3728" y="4800600"/>
            <a:ext cx="515496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123728" y="612775"/>
            <a:ext cx="515496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23728" y="5367338"/>
            <a:ext cx="515496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21/02/2024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8261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21/02/2024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3248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21/02/2024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52207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3568" y="3645024"/>
            <a:ext cx="6400800" cy="1752600"/>
          </a:xfrm>
        </p:spPr>
        <p:txBody>
          <a:bodyPr/>
          <a:lstStyle>
            <a:lvl1pPr marL="0" indent="0" algn="l">
              <a:buNone/>
              <a:defRPr i="1">
                <a:solidFill>
                  <a:srgbClr val="5E6A7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21/02/2024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10623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21/02/2024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4248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rgbClr val="5E6A7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21/02/2024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59164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1560" y="2348880"/>
            <a:ext cx="3884240" cy="377728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2560" y="2348880"/>
            <a:ext cx="3884240" cy="377728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21/02/2024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38995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1560" y="2357190"/>
            <a:ext cx="388582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1560" y="3068960"/>
            <a:ext cx="3885828" cy="305720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99446" y="2357190"/>
            <a:ext cx="3887354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99446" y="3068960"/>
            <a:ext cx="3887354" cy="305720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21/02/2024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91134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21/02/2024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485598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21/02/2024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788888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6752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420888"/>
            <a:ext cx="3008313" cy="37052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21/02/2024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26301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3728" y="4800600"/>
            <a:ext cx="515496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123728" y="612775"/>
            <a:ext cx="515496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23728" y="5367338"/>
            <a:ext cx="515496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21/02/2024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152787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21/02/2024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010346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21/02/2024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30257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739192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865446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3024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3.jp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2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1560" y="1268760"/>
            <a:ext cx="8075240" cy="99898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1560" y="2348880"/>
            <a:ext cx="8075240" cy="37772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C1102FAE-FC2F-47FD-82A7-D1DD5A1AC3E3}" type="datetimeFigureOut">
              <a:rPr lang="en-GB" smtClean="0"/>
              <a:pPr/>
              <a:t>21/02/2024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191E7B16-C11D-48A6-9FE1-93A9A96AC7E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6284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rgbClr val="0098DB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rgbClr val="5E6A7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rgbClr val="5E6A7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rgbClr val="5E6A7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rgbClr val="5E6A7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rgbClr val="5E6A7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1560" y="1268760"/>
            <a:ext cx="8075240" cy="99898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1560" y="2348880"/>
            <a:ext cx="8075240" cy="37772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C1102FAE-FC2F-47FD-82A7-D1DD5A1AC3E3}" type="datetimeFigureOut">
              <a:rPr lang="en-GB" smtClean="0"/>
              <a:pPr/>
              <a:t>21/02/2024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191E7B16-C11D-48A6-9FE1-93A9A96AC7E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7437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rgbClr val="5E6A7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6412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</p:sldLayoutIdLst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rgbClr val="5E6A7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•"/>
        <a:defRPr sz="32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–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–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»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2131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rgbClr val="5E6A7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•"/>
        <a:defRPr sz="32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–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–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»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0265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</p:sldLayoutIdLst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rgbClr val="5E6A7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•"/>
        <a:defRPr sz="32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–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–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»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Capital Investment Decisions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Using investment appraisal techniques to aide decision making</a:t>
            </a:r>
          </a:p>
          <a:p>
            <a:r>
              <a:rPr lang="en-GB" dirty="0"/>
              <a:t>Introducing techniques including ARR and PBP</a:t>
            </a:r>
          </a:p>
        </p:txBody>
      </p:sp>
    </p:spTree>
    <p:extLst>
      <p:ext uri="{BB962C8B-B14F-4D97-AF65-F5344CB8AC3E}">
        <p14:creationId xmlns:p14="http://schemas.microsoft.com/office/powerpoint/2010/main" val="42752655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2"/>
          <p:cNvSpPr txBox="1">
            <a:spLocks noChangeArrowheads="1"/>
          </p:cNvSpPr>
          <p:nvPr/>
        </p:nvSpPr>
        <p:spPr bwMode="auto">
          <a:xfrm>
            <a:off x="2133855" y="1070674"/>
            <a:ext cx="5811881" cy="433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2215" b="1" dirty="0">
                <a:latin typeface="Arial" panose="020B0604020202020204" pitchFamily="34" charset="0"/>
              </a:rPr>
              <a:t> </a:t>
            </a:r>
            <a:r>
              <a:rPr lang="en-GB" altLang="en-US" sz="2215" b="1" dirty="0">
                <a:solidFill>
                  <a:srgbClr val="CC0000"/>
                </a:solidFill>
                <a:latin typeface="Arial" panose="020B0604020202020204" pitchFamily="34" charset="0"/>
              </a:rPr>
              <a:t>Making capital investment decisions</a:t>
            </a:r>
            <a:endParaRPr lang="en-GB" altLang="en-US" sz="2215" dirty="0">
              <a:solidFill>
                <a:srgbClr val="CC0000"/>
              </a:solidFill>
              <a:latin typeface="Arial" panose="020B0604020202020204" pitchFamily="34" charset="0"/>
            </a:endParaRPr>
          </a:p>
        </p:txBody>
      </p:sp>
      <p:grpSp>
        <p:nvGrpSpPr>
          <p:cNvPr id="15363" name="Group 22"/>
          <p:cNvGrpSpPr>
            <a:grpSpLocks/>
          </p:cNvGrpSpPr>
          <p:nvPr/>
        </p:nvGrpSpPr>
        <p:grpSpPr bwMode="auto">
          <a:xfrm>
            <a:off x="1403648" y="2204864"/>
            <a:ext cx="6819900" cy="4246685"/>
            <a:chOff x="1240" y="1230"/>
            <a:chExt cx="4296" cy="2857"/>
          </a:xfrm>
        </p:grpSpPr>
        <p:sp>
          <p:nvSpPr>
            <p:cNvPr id="15364" name="AutoShape 6"/>
            <p:cNvSpPr>
              <a:spLocks noChangeArrowheads="1"/>
            </p:cNvSpPr>
            <p:nvPr/>
          </p:nvSpPr>
          <p:spPr bwMode="auto">
            <a:xfrm>
              <a:off x="1708" y="1977"/>
              <a:ext cx="3826" cy="612"/>
            </a:xfrm>
            <a:prstGeom prst="cube">
              <a:avLst>
                <a:gd name="adj" fmla="val 12917"/>
              </a:avLst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2215"/>
            </a:p>
          </p:txBody>
        </p:sp>
        <p:sp>
          <p:nvSpPr>
            <p:cNvPr id="15365" name="Text Box 7"/>
            <p:cNvSpPr txBox="1">
              <a:spLocks noChangeArrowheads="1"/>
            </p:cNvSpPr>
            <p:nvPr/>
          </p:nvSpPr>
          <p:spPr bwMode="auto">
            <a:xfrm>
              <a:off x="1941" y="2116"/>
              <a:ext cx="3344" cy="4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en-US" sz="1662" b="1">
                  <a:latin typeface="Arial" panose="020B0604020202020204" pitchFamily="34" charset="0"/>
                </a:rPr>
                <a:t>identify the four main investment appraisal methods used in practice;</a:t>
              </a:r>
            </a:p>
          </p:txBody>
        </p:sp>
        <p:sp>
          <p:nvSpPr>
            <p:cNvPr id="15366" name="AutoShape 8"/>
            <p:cNvSpPr>
              <a:spLocks noChangeArrowheads="1"/>
            </p:cNvSpPr>
            <p:nvPr/>
          </p:nvSpPr>
          <p:spPr bwMode="auto">
            <a:xfrm>
              <a:off x="1707" y="1231"/>
              <a:ext cx="3820" cy="612"/>
            </a:xfrm>
            <a:prstGeom prst="cube">
              <a:avLst>
                <a:gd name="adj" fmla="val 12917"/>
              </a:avLst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2215"/>
            </a:p>
          </p:txBody>
        </p:sp>
        <p:sp>
          <p:nvSpPr>
            <p:cNvPr id="15367" name="Text Box 9"/>
            <p:cNvSpPr txBox="1">
              <a:spLocks noChangeArrowheads="1"/>
            </p:cNvSpPr>
            <p:nvPr/>
          </p:nvSpPr>
          <p:spPr bwMode="auto">
            <a:xfrm>
              <a:off x="1786" y="1379"/>
              <a:ext cx="3611" cy="4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en-US" sz="1662" b="1">
                  <a:latin typeface="Arial" panose="020B0604020202020204" pitchFamily="34" charset="0"/>
                </a:rPr>
                <a:t>explain the nature and importance of investment decision making;</a:t>
              </a:r>
            </a:p>
          </p:txBody>
        </p:sp>
        <p:sp>
          <p:nvSpPr>
            <p:cNvPr id="15368" name="AutoShape 10"/>
            <p:cNvSpPr>
              <a:spLocks noChangeArrowheads="1"/>
            </p:cNvSpPr>
            <p:nvPr/>
          </p:nvSpPr>
          <p:spPr bwMode="auto">
            <a:xfrm>
              <a:off x="1240" y="1230"/>
              <a:ext cx="339" cy="330"/>
            </a:xfrm>
            <a:prstGeom prst="cube">
              <a:avLst>
                <a:gd name="adj" fmla="val 30681"/>
              </a:avLst>
            </a:pr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/>
              <a:endParaRPr lang="en-US" altLang="en-US" sz="2215">
                <a:solidFill>
                  <a:srgbClr val="CC0000"/>
                </a:solidFill>
              </a:endParaRPr>
            </a:p>
          </p:txBody>
        </p:sp>
        <p:sp>
          <p:nvSpPr>
            <p:cNvPr id="15369" name="AutoShape 11"/>
            <p:cNvSpPr>
              <a:spLocks noChangeArrowheads="1"/>
            </p:cNvSpPr>
            <p:nvPr/>
          </p:nvSpPr>
          <p:spPr bwMode="auto">
            <a:xfrm>
              <a:off x="1240" y="1978"/>
              <a:ext cx="339" cy="331"/>
            </a:xfrm>
            <a:prstGeom prst="cube">
              <a:avLst>
                <a:gd name="adj" fmla="val 30681"/>
              </a:avLst>
            </a:pr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/>
              <a:endParaRPr lang="en-US" altLang="en-US" sz="2215">
                <a:solidFill>
                  <a:srgbClr val="CC0000"/>
                </a:solidFill>
              </a:endParaRPr>
            </a:p>
          </p:txBody>
        </p:sp>
        <p:sp>
          <p:nvSpPr>
            <p:cNvPr id="15370" name="AutoShape 12"/>
            <p:cNvSpPr>
              <a:spLocks noChangeArrowheads="1"/>
            </p:cNvSpPr>
            <p:nvPr/>
          </p:nvSpPr>
          <p:spPr bwMode="auto">
            <a:xfrm>
              <a:off x="1708" y="3475"/>
              <a:ext cx="3825" cy="612"/>
            </a:xfrm>
            <a:prstGeom prst="cube">
              <a:avLst>
                <a:gd name="adj" fmla="val 12917"/>
              </a:avLst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2215"/>
            </a:p>
          </p:txBody>
        </p:sp>
        <p:sp>
          <p:nvSpPr>
            <p:cNvPr id="15371" name="Text Box 13"/>
            <p:cNvSpPr txBox="1">
              <a:spLocks noChangeArrowheads="1"/>
            </p:cNvSpPr>
            <p:nvPr/>
          </p:nvSpPr>
          <p:spPr bwMode="auto">
            <a:xfrm>
              <a:off x="1825" y="3677"/>
              <a:ext cx="3536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en-US" sz="1662" b="1">
                  <a:latin typeface="Arial" panose="020B0604020202020204" pitchFamily="34" charset="0"/>
                </a:rPr>
                <a:t>discuss the attributes of each of the methods.</a:t>
              </a:r>
            </a:p>
          </p:txBody>
        </p:sp>
        <p:sp>
          <p:nvSpPr>
            <p:cNvPr id="15372" name="AutoShape 14"/>
            <p:cNvSpPr>
              <a:spLocks noChangeArrowheads="1"/>
            </p:cNvSpPr>
            <p:nvPr/>
          </p:nvSpPr>
          <p:spPr bwMode="auto">
            <a:xfrm>
              <a:off x="1707" y="2730"/>
              <a:ext cx="3829" cy="612"/>
            </a:xfrm>
            <a:prstGeom prst="cube">
              <a:avLst>
                <a:gd name="adj" fmla="val 12917"/>
              </a:avLst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2215"/>
            </a:p>
          </p:txBody>
        </p:sp>
        <p:sp>
          <p:nvSpPr>
            <p:cNvPr id="15373" name="Text Box 15"/>
            <p:cNvSpPr txBox="1">
              <a:spLocks noChangeArrowheads="1"/>
            </p:cNvSpPr>
            <p:nvPr/>
          </p:nvSpPr>
          <p:spPr bwMode="auto">
            <a:xfrm>
              <a:off x="1798" y="2877"/>
              <a:ext cx="3611" cy="4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en-US" sz="1662" b="1">
                  <a:latin typeface="Arial" panose="020B0604020202020204" pitchFamily="34" charset="0"/>
                </a:rPr>
                <a:t>use each method to reach a decision on a particular practical investment opportunity;</a:t>
              </a:r>
            </a:p>
          </p:txBody>
        </p:sp>
        <p:sp>
          <p:nvSpPr>
            <p:cNvPr id="15374" name="AutoShape 16"/>
            <p:cNvSpPr>
              <a:spLocks noChangeArrowheads="1"/>
            </p:cNvSpPr>
            <p:nvPr/>
          </p:nvSpPr>
          <p:spPr bwMode="auto">
            <a:xfrm>
              <a:off x="1240" y="2728"/>
              <a:ext cx="339" cy="331"/>
            </a:xfrm>
            <a:prstGeom prst="cube">
              <a:avLst>
                <a:gd name="adj" fmla="val 30681"/>
              </a:avLst>
            </a:pr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/>
              <a:endParaRPr lang="en-US" altLang="en-US" sz="2215">
                <a:solidFill>
                  <a:srgbClr val="CC0000"/>
                </a:solidFill>
              </a:endParaRPr>
            </a:p>
          </p:txBody>
        </p:sp>
        <p:sp>
          <p:nvSpPr>
            <p:cNvPr id="15375" name="AutoShape 17"/>
            <p:cNvSpPr>
              <a:spLocks noChangeArrowheads="1"/>
            </p:cNvSpPr>
            <p:nvPr/>
          </p:nvSpPr>
          <p:spPr bwMode="auto">
            <a:xfrm>
              <a:off x="1240" y="3476"/>
              <a:ext cx="339" cy="331"/>
            </a:xfrm>
            <a:prstGeom prst="cube">
              <a:avLst>
                <a:gd name="adj" fmla="val 30681"/>
              </a:avLst>
            </a:pr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/>
              <a:endParaRPr lang="en-US" altLang="en-US" sz="2215">
                <a:solidFill>
                  <a:srgbClr val="CC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814348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F229E-2C12-4474-AC1B-70CD146AC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‘Project’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30E838-21A5-4C06-816C-3813812FDA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Definitive start and end point</a:t>
            </a:r>
          </a:p>
          <a:p>
            <a:r>
              <a:rPr lang="en-GB" dirty="0"/>
              <a:t>Clearly defined goal or purpose</a:t>
            </a:r>
          </a:p>
          <a:p>
            <a:r>
              <a:rPr lang="en-GB" dirty="0"/>
              <a:t>May create a product, service or result</a:t>
            </a:r>
          </a:p>
          <a:p>
            <a:pPr marL="0" indent="0">
              <a:buNone/>
            </a:pPr>
            <a:endParaRPr lang="en-GB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58965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611560" y="1412776"/>
            <a:ext cx="7772400" cy="703385"/>
          </a:xfrm>
        </p:spPr>
        <p:txBody>
          <a:bodyPr/>
          <a:lstStyle/>
          <a:p>
            <a:pPr eaLnBrk="1" hangingPunct="1"/>
            <a:r>
              <a:rPr lang="en-GB" altLang="en-US" dirty="0"/>
              <a:t>Capital investment decisions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560" y="2636912"/>
            <a:ext cx="7772400" cy="4013688"/>
          </a:xfrm>
        </p:spPr>
        <p:txBody>
          <a:bodyPr/>
          <a:lstStyle/>
          <a:p>
            <a:pPr eaLnBrk="1" hangingPunct="1"/>
            <a:r>
              <a:rPr lang="en-GB" altLang="en-US" dirty="0"/>
              <a:t>New projects requiring significant initial outlay</a:t>
            </a:r>
          </a:p>
          <a:p>
            <a:pPr eaLnBrk="1" hangingPunct="1"/>
            <a:r>
              <a:rPr lang="en-GB" altLang="en-US" dirty="0"/>
              <a:t>Benefits may be spread over many years</a:t>
            </a:r>
          </a:p>
          <a:p>
            <a:pPr eaLnBrk="1" hangingPunct="1"/>
            <a:r>
              <a:rPr lang="en-GB" altLang="en-US" dirty="0"/>
              <a:t>Must ensure benefits exceed costs</a:t>
            </a:r>
          </a:p>
          <a:p>
            <a:pPr eaLnBrk="1" hangingPunct="1"/>
            <a:r>
              <a:rPr lang="en-GB" altLang="en-US" dirty="0"/>
              <a:t>Need to take into account time value of money</a:t>
            </a:r>
          </a:p>
          <a:p>
            <a:r>
              <a:rPr lang="en-GB" altLang="en-US" dirty="0"/>
              <a:t>Difficult to bail out once an investment has been made</a:t>
            </a:r>
          </a:p>
          <a:p>
            <a:pPr eaLnBrk="1" hangingPunct="1">
              <a:buFontTx/>
              <a:buNone/>
            </a:pP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6326692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1187624" y="1412776"/>
            <a:ext cx="7772400" cy="751743"/>
          </a:xfrm>
        </p:spPr>
        <p:txBody>
          <a:bodyPr/>
          <a:lstStyle/>
          <a:p>
            <a:pPr eaLnBrk="1" hangingPunct="1"/>
            <a:r>
              <a:rPr lang="en-GB" altLang="en-US" dirty="0"/>
              <a:t>Selecting projects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9592" y="2565382"/>
            <a:ext cx="7772400" cy="4312626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GB" altLang="en-US" dirty="0"/>
              <a:t>Must be likely to make a profit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dirty="0"/>
              <a:t>Exceptions are projects necessary for health or social welfare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dirty="0"/>
              <a:t>Achieving synergy (compatibility) with other projects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dirty="0"/>
              <a:t>Using scarce investing funds or management resources in the best way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dirty="0"/>
              <a:t>Risks of project failure</a:t>
            </a:r>
          </a:p>
          <a:p>
            <a:pPr eaLnBrk="1" hangingPunct="1">
              <a:lnSpc>
                <a:spcPct val="90000"/>
              </a:lnSpc>
            </a:pPr>
            <a:endParaRPr lang="en-GB" altLang="en-US" dirty="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36396695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2"/>
          <p:cNvSpPr txBox="1">
            <a:spLocks noChangeArrowheads="1"/>
          </p:cNvSpPr>
          <p:nvPr/>
        </p:nvSpPr>
        <p:spPr bwMode="auto">
          <a:xfrm>
            <a:off x="1297838" y="738609"/>
            <a:ext cx="7105650" cy="433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sz="2215" b="1" dirty="0">
                <a:solidFill>
                  <a:srgbClr val="CC0000"/>
                </a:solidFill>
                <a:latin typeface="Arial" panose="020B0604020202020204" pitchFamily="34" charset="0"/>
              </a:rPr>
              <a:t>Methods of investment appraisal</a:t>
            </a:r>
            <a:endParaRPr lang="en-GB" altLang="en-US" sz="2215" dirty="0">
              <a:solidFill>
                <a:srgbClr val="CC0000"/>
              </a:solidFill>
              <a:latin typeface="Arial" panose="020B0604020202020204" pitchFamily="34" charset="0"/>
            </a:endParaRPr>
          </a:p>
        </p:txBody>
      </p:sp>
      <p:grpSp>
        <p:nvGrpSpPr>
          <p:cNvPr id="21507" name="Group 17"/>
          <p:cNvGrpSpPr>
            <a:grpSpLocks/>
          </p:cNvGrpSpPr>
          <p:nvPr/>
        </p:nvGrpSpPr>
        <p:grpSpPr bwMode="auto">
          <a:xfrm>
            <a:off x="2987824" y="1700808"/>
            <a:ext cx="3565280" cy="4784480"/>
            <a:chOff x="1701" y="511"/>
            <a:chExt cx="2245" cy="3265"/>
          </a:xfrm>
        </p:grpSpPr>
        <p:sp>
          <p:nvSpPr>
            <p:cNvPr id="21508" name="AutoShape 4"/>
            <p:cNvSpPr>
              <a:spLocks noChangeArrowheads="1"/>
            </p:cNvSpPr>
            <p:nvPr/>
          </p:nvSpPr>
          <p:spPr bwMode="auto">
            <a:xfrm>
              <a:off x="1810" y="511"/>
              <a:ext cx="2128" cy="3045"/>
            </a:xfrm>
            <a:prstGeom prst="roundRect">
              <a:avLst>
                <a:gd name="adj" fmla="val 10046"/>
              </a:avLst>
            </a:prstGeom>
            <a:solidFill>
              <a:srgbClr val="E0C0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2215"/>
            </a:p>
          </p:txBody>
        </p:sp>
        <p:sp>
          <p:nvSpPr>
            <p:cNvPr id="21509" name="Text Box 5"/>
            <p:cNvSpPr txBox="1">
              <a:spLocks noChangeArrowheads="1"/>
            </p:cNvSpPr>
            <p:nvPr/>
          </p:nvSpPr>
          <p:spPr bwMode="auto">
            <a:xfrm>
              <a:off x="1928" y="552"/>
              <a:ext cx="1900" cy="4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1846" b="1" i="1">
                  <a:solidFill>
                    <a:srgbClr val="CC0000"/>
                  </a:solidFill>
                  <a:latin typeface="Arial" panose="020B0604020202020204" pitchFamily="34" charset="0"/>
                </a:rPr>
                <a:t>Four methods of evaluation</a:t>
              </a:r>
            </a:p>
          </p:txBody>
        </p:sp>
        <p:sp>
          <p:nvSpPr>
            <p:cNvPr id="21510" name="AutoShape 6"/>
            <p:cNvSpPr>
              <a:spLocks noChangeArrowheads="1"/>
            </p:cNvSpPr>
            <p:nvPr/>
          </p:nvSpPr>
          <p:spPr bwMode="auto">
            <a:xfrm>
              <a:off x="1701" y="1144"/>
              <a:ext cx="2239" cy="557"/>
            </a:xfrm>
            <a:prstGeom prst="cube">
              <a:avLst>
                <a:gd name="adj" fmla="val 15208"/>
              </a:avLst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2215"/>
            </a:p>
          </p:txBody>
        </p:sp>
        <p:sp>
          <p:nvSpPr>
            <p:cNvPr id="21511" name="AutoShape 7"/>
            <p:cNvSpPr>
              <a:spLocks noChangeArrowheads="1"/>
            </p:cNvSpPr>
            <p:nvPr/>
          </p:nvSpPr>
          <p:spPr bwMode="auto">
            <a:xfrm>
              <a:off x="1714" y="1814"/>
              <a:ext cx="2232" cy="579"/>
            </a:xfrm>
            <a:prstGeom prst="cube">
              <a:avLst>
                <a:gd name="adj" fmla="val 15208"/>
              </a:avLst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2215"/>
            </a:p>
          </p:txBody>
        </p:sp>
        <p:sp>
          <p:nvSpPr>
            <p:cNvPr id="21512" name="Text Box 8"/>
            <p:cNvSpPr txBox="1">
              <a:spLocks noChangeArrowheads="1"/>
            </p:cNvSpPr>
            <p:nvPr/>
          </p:nvSpPr>
          <p:spPr bwMode="auto">
            <a:xfrm>
              <a:off x="1794" y="1239"/>
              <a:ext cx="2006" cy="4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en-US" sz="1846" b="1">
                  <a:latin typeface="Arial" panose="020B0604020202020204" pitchFamily="34" charset="0"/>
                </a:rPr>
                <a:t>Accounting rate of return (ARR)</a:t>
              </a:r>
            </a:p>
          </p:txBody>
        </p:sp>
        <p:sp>
          <p:nvSpPr>
            <p:cNvPr id="21513" name="Text Box 9"/>
            <p:cNvSpPr txBox="1">
              <a:spLocks noChangeArrowheads="1"/>
            </p:cNvSpPr>
            <p:nvPr/>
          </p:nvSpPr>
          <p:spPr bwMode="auto">
            <a:xfrm>
              <a:off x="1869" y="2008"/>
              <a:ext cx="1859" cy="2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en-US" sz="1846" b="1">
                  <a:latin typeface="Arial" panose="020B0604020202020204" pitchFamily="34" charset="0"/>
                </a:rPr>
                <a:t>Payback period (PP)</a:t>
              </a:r>
            </a:p>
          </p:txBody>
        </p:sp>
        <p:sp>
          <p:nvSpPr>
            <p:cNvPr id="21514" name="AutoShape 10"/>
            <p:cNvSpPr>
              <a:spLocks noChangeArrowheads="1"/>
            </p:cNvSpPr>
            <p:nvPr/>
          </p:nvSpPr>
          <p:spPr bwMode="auto">
            <a:xfrm>
              <a:off x="1701" y="2527"/>
              <a:ext cx="2239" cy="557"/>
            </a:xfrm>
            <a:prstGeom prst="cube">
              <a:avLst>
                <a:gd name="adj" fmla="val 15208"/>
              </a:avLst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2215"/>
            </a:p>
          </p:txBody>
        </p:sp>
        <p:sp>
          <p:nvSpPr>
            <p:cNvPr id="21515" name="AutoShape 11"/>
            <p:cNvSpPr>
              <a:spLocks noChangeArrowheads="1"/>
            </p:cNvSpPr>
            <p:nvPr/>
          </p:nvSpPr>
          <p:spPr bwMode="auto">
            <a:xfrm>
              <a:off x="1714" y="3197"/>
              <a:ext cx="2232" cy="579"/>
            </a:xfrm>
            <a:prstGeom prst="cube">
              <a:avLst>
                <a:gd name="adj" fmla="val 15208"/>
              </a:avLst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2215"/>
            </a:p>
          </p:txBody>
        </p:sp>
        <p:sp>
          <p:nvSpPr>
            <p:cNvPr id="21516" name="Text Box 12"/>
            <p:cNvSpPr txBox="1">
              <a:spLocks noChangeArrowheads="1"/>
            </p:cNvSpPr>
            <p:nvPr/>
          </p:nvSpPr>
          <p:spPr bwMode="auto">
            <a:xfrm>
              <a:off x="1984" y="2624"/>
              <a:ext cx="1620" cy="4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en-US" sz="1846" b="1">
                  <a:latin typeface="Arial" panose="020B0604020202020204" pitchFamily="34" charset="0"/>
                </a:rPr>
                <a:t>Net present value (NPV)</a:t>
              </a:r>
            </a:p>
          </p:txBody>
        </p:sp>
        <p:sp>
          <p:nvSpPr>
            <p:cNvPr id="21517" name="Text Box 13"/>
            <p:cNvSpPr txBox="1">
              <a:spLocks noChangeArrowheads="1"/>
            </p:cNvSpPr>
            <p:nvPr/>
          </p:nvSpPr>
          <p:spPr bwMode="auto">
            <a:xfrm>
              <a:off x="1898" y="3305"/>
              <a:ext cx="1786" cy="4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en-US" sz="1846" b="1">
                  <a:latin typeface="Arial" panose="020B0604020202020204" pitchFamily="34" charset="0"/>
                </a:rPr>
                <a:t>Internal rate of return (IRR)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457757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7"/>
          <p:cNvSpPr txBox="1">
            <a:spLocks noChangeArrowheads="1"/>
          </p:cNvSpPr>
          <p:nvPr/>
        </p:nvSpPr>
        <p:spPr bwMode="auto">
          <a:xfrm>
            <a:off x="1073974" y="1268760"/>
            <a:ext cx="7105650" cy="433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sz="2215" b="1" dirty="0">
                <a:solidFill>
                  <a:srgbClr val="CC0000"/>
                </a:solidFill>
                <a:latin typeface="Arial" panose="020B0604020202020204" pitchFamily="34" charset="0"/>
              </a:rPr>
              <a:t>Accounting rate of return (ARR)</a:t>
            </a:r>
            <a:endParaRPr lang="en-GB" altLang="en-US" sz="2215" dirty="0">
              <a:solidFill>
                <a:srgbClr val="CC0000"/>
              </a:solidFill>
              <a:latin typeface="Arial" panose="020B0604020202020204" pitchFamily="34" charset="0"/>
            </a:endParaRPr>
          </a:p>
        </p:txBody>
      </p:sp>
      <p:grpSp>
        <p:nvGrpSpPr>
          <p:cNvPr id="22531" name="Group 11"/>
          <p:cNvGrpSpPr>
            <a:grpSpLocks/>
          </p:cNvGrpSpPr>
          <p:nvPr/>
        </p:nvGrpSpPr>
        <p:grpSpPr bwMode="auto">
          <a:xfrm>
            <a:off x="945173" y="3573016"/>
            <a:ext cx="7249258" cy="1066800"/>
            <a:chOff x="598" y="1226"/>
            <a:chExt cx="4567" cy="728"/>
          </a:xfrm>
        </p:grpSpPr>
        <p:sp>
          <p:nvSpPr>
            <p:cNvPr id="22532" name="AutoShape 3"/>
            <p:cNvSpPr>
              <a:spLocks noChangeArrowheads="1"/>
            </p:cNvSpPr>
            <p:nvPr/>
          </p:nvSpPr>
          <p:spPr bwMode="auto">
            <a:xfrm>
              <a:off x="598" y="1226"/>
              <a:ext cx="795" cy="728"/>
            </a:xfrm>
            <a:prstGeom prst="cube">
              <a:avLst>
                <a:gd name="adj" fmla="val 15208"/>
              </a:avLst>
            </a:pr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2215"/>
            </a:p>
          </p:txBody>
        </p:sp>
        <p:sp>
          <p:nvSpPr>
            <p:cNvPr id="22533" name="AutoShape 4"/>
            <p:cNvSpPr>
              <a:spLocks noChangeArrowheads="1"/>
            </p:cNvSpPr>
            <p:nvPr/>
          </p:nvSpPr>
          <p:spPr bwMode="auto">
            <a:xfrm>
              <a:off x="1546" y="1226"/>
              <a:ext cx="3564" cy="728"/>
            </a:xfrm>
            <a:prstGeom prst="cube">
              <a:avLst>
                <a:gd name="adj" fmla="val 15208"/>
              </a:avLst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2215"/>
            </a:p>
          </p:txBody>
        </p:sp>
        <p:sp>
          <p:nvSpPr>
            <p:cNvPr id="22534" name="Text Box 5"/>
            <p:cNvSpPr txBox="1">
              <a:spLocks noChangeArrowheads="1"/>
            </p:cNvSpPr>
            <p:nvPr/>
          </p:nvSpPr>
          <p:spPr bwMode="auto">
            <a:xfrm>
              <a:off x="907" y="1409"/>
              <a:ext cx="4258" cy="4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en-US" sz="1846" b="1" u="sng">
                  <a:latin typeface="Arial" panose="020B0604020202020204" pitchFamily="34" charset="0"/>
                </a:rPr>
                <a:t>Average annual operating profit</a:t>
              </a:r>
              <a:r>
                <a:rPr lang="en-GB" altLang="en-US" sz="1846" b="1">
                  <a:latin typeface="Arial" panose="020B0604020202020204" pitchFamily="34" charset="0"/>
                </a:rPr>
                <a:t> </a:t>
              </a:r>
              <a:br>
                <a:rPr lang="en-GB" altLang="en-US" sz="1846" b="1">
                  <a:latin typeface="Arial" panose="020B0604020202020204" pitchFamily="34" charset="0"/>
                </a:rPr>
              </a:br>
              <a:r>
                <a:rPr lang="en-GB" altLang="en-US" sz="1846" b="1">
                  <a:latin typeface="Arial" panose="020B0604020202020204" pitchFamily="34" charset="0"/>
                </a:rPr>
                <a:t>Average investment to earn that profit</a:t>
              </a:r>
              <a:r>
                <a:rPr lang="en-GB" altLang="en-US" sz="1108" b="1">
                  <a:latin typeface="Arial" panose="020B0604020202020204" pitchFamily="34" charset="0"/>
                </a:rPr>
                <a:t>  </a:t>
              </a:r>
            </a:p>
          </p:txBody>
        </p:sp>
        <p:sp>
          <p:nvSpPr>
            <p:cNvPr id="22535" name="Text Box 6"/>
            <p:cNvSpPr txBox="1">
              <a:spLocks noChangeArrowheads="1"/>
            </p:cNvSpPr>
            <p:nvPr/>
          </p:nvSpPr>
          <p:spPr bwMode="auto">
            <a:xfrm>
              <a:off x="636" y="1460"/>
              <a:ext cx="661" cy="2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1846" b="1" i="1">
                  <a:solidFill>
                    <a:srgbClr val="FFCC99"/>
                  </a:solidFill>
                  <a:latin typeface="Arial" panose="020B0604020202020204" pitchFamily="34" charset="0"/>
                </a:rPr>
                <a:t>ARR =</a:t>
              </a:r>
              <a:r>
                <a:rPr lang="en-GB" altLang="en-US" sz="1477" b="1" i="1">
                  <a:solidFill>
                    <a:srgbClr val="FFCC99"/>
                  </a:solidFill>
                  <a:latin typeface="Arial" panose="020B0604020202020204" pitchFamily="34" charset="0"/>
                </a:rPr>
                <a:t> </a:t>
              </a:r>
              <a:r>
                <a:rPr lang="en-GB" altLang="en-US" sz="2215"/>
                <a:t> </a:t>
              </a:r>
            </a:p>
          </p:txBody>
        </p:sp>
        <p:sp>
          <p:nvSpPr>
            <p:cNvPr id="22536" name="Rectangle 10"/>
            <p:cNvSpPr>
              <a:spLocks noChangeArrowheads="1"/>
            </p:cNvSpPr>
            <p:nvPr/>
          </p:nvSpPr>
          <p:spPr bwMode="auto">
            <a:xfrm>
              <a:off x="4382" y="1470"/>
              <a:ext cx="621" cy="2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GB" altLang="en-US" sz="1846" b="1">
                  <a:latin typeface="Arial" panose="020B0604020202020204" pitchFamily="34" charset="0"/>
                </a:rPr>
                <a:t>x 100%</a:t>
              </a:r>
              <a:endParaRPr lang="en-US" altLang="en-US" sz="1846" b="1"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832090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4"/>
          <p:cNvSpPr txBox="1">
            <a:spLocks noChangeArrowheads="1"/>
          </p:cNvSpPr>
          <p:nvPr/>
        </p:nvSpPr>
        <p:spPr bwMode="auto">
          <a:xfrm>
            <a:off x="611560" y="1412776"/>
            <a:ext cx="8047892" cy="433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sz="2215" b="1" dirty="0">
                <a:solidFill>
                  <a:srgbClr val="CC0000"/>
                </a:solidFill>
                <a:latin typeface="Arial" panose="020B0604020202020204" pitchFamily="34" charset="0"/>
              </a:rPr>
              <a:t>ARR decision rule</a:t>
            </a:r>
            <a:endParaRPr lang="en-GB" altLang="en-US" sz="2215" dirty="0">
              <a:solidFill>
                <a:srgbClr val="CC0000"/>
              </a:solidFill>
              <a:latin typeface="Arial" panose="020B0604020202020204" pitchFamily="34" charset="0"/>
            </a:endParaRPr>
          </a:p>
        </p:txBody>
      </p:sp>
      <p:grpSp>
        <p:nvGrpSpPr>
          <p:cNvPr id="23555" name="Group 20"/>
          <p:cNvGrpSpPr>
            <a:grpSpLocks/>
          </p:cNvGrpSpPr>
          <p:nvPr/>
        </p:nvGrpSpPr>
        <p:grpSpPr bwMode="auto">
          <a:xfrm>
            <a:off x="1079256" y="3212976"/>
            <a:ext cx="6991350" cy="2598127"/>
            <a:chOff x="727" y="792"/>
            <a:chExt cx="4404" cy="1773"/>
          </a:xfrm>
        </p:grpSpPr>
        <p:sp>
          <p:nvSpPr>
            <p:cNvPr id="23556" name="AutoShape 18"/>
            <p:cNvSpPr>
              <a:spLocks noChangeArrowheads="1"/>
            </p:cNvSpPr>
            <p:nvPr/>
          </p:nvSpPr>
          <p:spPr bwMode="auto">
            <a:xfrm>
              <a:off x="1228" y="792"/>
              <a:ext cx="3903" cy="803"/>
            </a:xfrm>
            <a:prstGeom prst="cube">
              <a:avLst>
                <a:gd name="adj" fmla="val 12829"/>
              </a:avLst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2215"/>
            </a:p>
          </p:txBody>
        </p:sp>
        <p:sp>
          <p:nvSpPr>
            <p:cNvPr id="23557" name="AutoShape 10"/>
            <p:cNvSpPr>
              <a:spLocks noChangeArrowheads="1"/>
            </p:cNvSpPr>
            <p:nvPr/>
          </p:nvSpPr>
          <p:spPr bwMode="auto">
            <a:xfrm>
              <a:off x="1220" y="1762"/>
              <a:ext cx="3903" cy="803"/>
            </a:xfrm>
            <a:prstGeom prst="cube">
              <a:avLst>
                <a:gd name="adj" fmla="val 12829"/>
              </a:avLst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2215"/>
            </a:p>
          </p:txBody>
        </p:sp>
        <p:sp>
          <p:nvSpPr>
            <p:cNvPr id="23558" name="Text Box 11"/>
            <p:cNvSpPr txBox="1">
              <a:spLocks noChangeArrowheads="1"/>
            </p:cNvSpPr>
            <p:nvPr/>
          </p:nvSpPr>
          <p:spPr bwMode="auto">
            <a:xfrm>
              <a:off x="1312" y="1890"/>
              <a:ext cx="3658" cy="6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en-US" sz="1846" b="1">
                  <a:latin typeface="Arial" panose="020B0604020202020204" pitchFamily="34" charset="0"/>
                </a:rPr>
                <a:t>Where two (or more) competing projects exceed the minimum rate, the one with the higher (or highest) ARR should be selected</a:t>
              </a:r>
            </a:p>
          </p:txBody>
        </p:sp>
        <p:sp>
          <p:nvSpPr>
            <p:cNvPr id="23559" name="Text Box 12"/>
            <p:cNvSpPr txBox="1">
              <a:spLocks noChangeArrowheads="1"/>
            </p:cNvSpPr>
            <p:nvPr/>
          </p:nvSpPr>
          <p:spPr bwMode="auto">
            <a:xfrm>
              <a:off x="1293" y="1017"/>
              <a:ext cx="3665" cy="4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en-US" sz="1846" b="1">
                  <a:latin typeface="Arial" panose="020B0604020202020204" pitchFamily="34" charset="0"/>
                </a:rPr>
                <a:t>For a project to be acceptable, it must achieve a target ARR as a minimum</a:t>
              </a:r>
            </a:p>
          </p:txBody>
        </p:sp>
        <p:sp>
          <p:nvSpPr>
            <p:cNvPr id="23560" name="AutoShape 16"/>
            <p:cNvSpPr>
              <a:spLocks noChangeArrowheads="1"/>
            </p:cNvSpPr>
            <p:nvPr/>
          </p:nvSpPr>
          <p:spPr bwMode="auto">
            <a:xfrm>
              <a:off x="729" y="1086"/>
              <a:ext cx="339" cy="339"/>
            </a:xfrm>
            <a:prstGeom prst="cube">
              <a:avLst>
                <a:gd name="adj" fmla="val 25000"/>
              </a:avLst>
            </a:pr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2215"/>
            </a:p>
          </p:txBody>
        </p:sp>
        <p:sp>
          <p:nvSpPr>
            <p:cNvPr id="23561" name="AutoShape 17"/>
            <p:cNvSpPr>
              <a:spLocks noChangeArrowheads="1"/>
            </p:cNvSpPr>
            <p:nvPr/>
          </p:nvSpPr>
          <p:spPr bwMode="auto">
            <a:xfrm>
              <a:off x="727" y="1971"/>
              <a:ext cx="339" cy="339"/>
            </a:xfrm>
            <a:prstGeom prst="cube">
              <a:avLst>
                <a:gd name="adj" fmla="val 25000"/>
              </a:avLst>
            </a:pr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2215"/>
            </a:p>
          </p:txBody>
        </p:sp>
      </p:grpSp>
    </p:spTree>
    <p:extLst>
      <p:ext uri="{BB962C8B-B14F-4D97-AF65-F5344CB8AC3E}">
        <p14:creationId xmlns:p14="http://schemas.microsoft.com/office/powerpoint/2010/main" val="2907304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611560" y="1196752"/>
            <a:ext cx="8433288" cy="5472608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buFontTx/>
              <a:buNone/>
            </a:pPr>
            <a:r>
              <a:rPr lang="en-GB" altLang="en-US" dirty="0"/>
              <a:t>ARR – example</a:t>
            </a:r>
          </a:p>
          <a:p>
            <a:pPr eaLnBrk="1" hangingPunct="1">
              <a:buFontTx/>
              <a:buNone/>
            </a:pPr>
            <a:r>
              <a:rPr lang="en-GB" altLang="en-US" sz="2585" dirty="0"/>
              <a:t>B Ltd is considering buying some new machinery, costing £190k. The expected profits generated from the project are:</a:t>
            </a:r>
          </a:p>
          <a:p>
            <a:pPr eaLnBrk="1" hangingPunct="1">
              <a:buFontTx/>
              <a:buNone/>
            </a:pPr>
            <a:r>
              <a:rPr lang="en-GB" altLang="en-US" dirty="0"/>
              <a:t>	</a:t>
            </a:r>
            <a:r>
              <a:rPr lang="en-GB" altLang="en-US" sz="2585" dirty="0"/>
              <a:t>			     </a:t>
            </a:r>
            <a:r>
              <a:rPr lang="en-GB" altLang="en-US" sz="2215" dirty="0"/>
              <a:t>£’000</a:t>
            </a:r>
          </a:p>
          <a:p>
            <a:pPr eaLnBrk="1" hangingPunct="1">
              <a:buFontTx/>
              <a:buNone/>
            </a:pPr>
            <a:r>
              <a:rPr lang="en-GB" altLang="en-US" sz="2585" dirty="0"/>
              <a:t>Year 1			         70</a:t>
            </a:r>
          </a:p>
          <a:p>
            <a:pPr eaLnBrk="1" hangingPunct="1">
              <a:buFontTx/>
              <a:buNone/>
            </a:pPr>
            <a:r>
              <a:rPr lang="en-GB" altLang="en-US" sz="2585" dirty="0"/>
              <a:t>Year 2			         80</a:t>
            </a:r>
          </a:p>
          <a:p>
            <a:pPr eaLnBrk="1" hangingPunct="1">
              <a:buFontTx/>
              <a:buNone/>
            </a:pPr>
            <a:r>
              <a:rPr lang="en-GB" altLang="en-US" sz="2585" dirty="0"/>
              <a:t>Year 3		                  110</a:t>
            </a:r>
          </a:p>
          <a:p>
            <a:pPr eaLnBrk="1" hangingPunct="1">
              <a:buFontTx/>
              <a:buNone/>
            </a:pPr>
            <a:r>
              <a:rPr lang="en-GB" altLang="en-US" sz="2585" dirty="0"/>
              <a:t>Year 4			         30</a:t>
            </a:r>
          </a:p>
          <a:p>
            <a:pPr eaLnBrk="1" hangingPunct="1">
              <a:buFontTx/>
              <a:buNone/>
            </a:pPr>
            <a:r>
              <a:rPr lang="en-GB" altLang="en-US" sz="2585" dirty="0"/>
              <a:t>Year 5			         </a:t>
            </a:r>
            <a:r>
              <a:rPr lang="en-GB" altLang="en-US" sz="2585" u="sng" dirty="0"/>
              <a:t>10 </a:t>
            </a:r>
            <a:endParaRPr lang="en-GB" altLang="en-US" sz="2585" dirty="0"/>
          </a:p>
          <a:p>
            <a:pPr eaLnBrk="1" hangingPunct="1">
              <a:buFontTx/>
              <a:buNone/>
            </a:pPr>
            <a:r>
              <a:rPr lang="en-GB" altLang="en-US" sz="2585" dirty="0"/>
              <a:t>				       </a:t>
            </a:r>
            <a:r>
              <a:rPr lang="en-GB" altLang="en-US" sz="2585" u="sng" dirty="0"/>
              <a:t>300</a:t>
            </a:r>
          </a:p>
          <a:p>
            <a:pPr eaLnBrk="1" hangingPunct="1">
              <a:buFontTx/>
              <a:buNone/>
            </a:pPr>
            <a:endParaRPr lang="en-GB" altLang="en-US" sz="2585" u="sng" dirty="0"/>
          </a:p>
          <a:p>
            <a:pPr eaLnBrk="1" hangingPunct="1">
              <a:buFontTx/>
              <a:buNone/>
            </a:pPr>
            <a:r>
              <a:rPr lang="en-GB" altLang="en-US" sz="2585" dirty="0"/>
              <a:t>Average annual profits     =          300/5 = 60</a:t>
            </a:r>
          </a:p>
          <a:p>
            <a:pPr eaLnBrk="1" hangingPunct="1">
              <a:buFontTx/>
              <a:buNone/>
            </a:pPr>
            <a:endParaRPr lang="en-GB" altLang="en-US" sz="2585" dirty="0"/>
          </a:p>
          <a:p>
            <a:pPr algn="ctr" eaLnBrk="1" hangingPunct="1">
              <a:buFontTx/>
              <a:buNone/>
            </a:pPr>
            <a:r>
              <a:rPr lang="en-GB" altLang="en-US" sz="2585" dirty="0"/>
              <a:t>ARR is 60/190 x 100 = 32%</a:t>
            </a:r>
          </a:p>
        </p:txBody>
      </p:sp>
    </p:spTree>
    <p:extLst>
      <p:ext uri="{BB962C8B-B14F-4D97-AF65-F5344CB8AC3E}">
        <p14:creationId xmlns:p14="http://schemas.microsoft.com/office/powerpoint/2010/main" val="38814814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>
          <a:xfrm>
            <a:off x="405272" y="1268760"/>
            <a:ext cx="8075240" cy="998984"/>
          </a:xfrm>
        </p:spPr>
        <p:txBody>
          <a:bodyPr/>
          <a:lstStyle/>
          <a:p>
            <a:r>
              <a:rPr lang="en-GB" altLang="en-US" dirty="0"/>
              <a:t>Advantages</a:t>
            </a:r>
          </a:p>
        </p:txBody>
      </p:sp>
      <p:sp>
        <p:nvSpPr>
          <p:cNvPr id="26627" name="Content Placeholder 2"/>
          <p:cNvSpPr>
            <a:spLocks noGrp="1"/>
          </p:cNvSpPr>
          <p:nvPr>
            <p:ph idx="1"/>
          </p:nvPr>
        </p:nvSpPr>
        <p:spPr>
          <a:xfrm>
            <a:off x="405272" y="2780928"/>
            <a:ext cx="8176846" cy="3798277"/>
          </a:xfrm>
        </p:spPr>
        <p:txBody>
          <a:bodyPr>
            <a:normAutofit lnSpcReduction="10000"/>
          </a:bodyPr>
          <a:lstStyle/>
          <a:p>
            <a:pPr marL="316531" lvl="1" indent="-316531">
              <a:buFontTx/>
              <a:buChar char="•"/>
            </a:pPr>
            <a:r>
              <a:rPr lang="en-GB" altLang="en-US" dirty="0">
                <a:ea typeface="ＭＳ Ｐゴシック" panose="020B0600070205080204" pitchFamily="34" charset="-128"/>
              </a:rPr>
              <a:t>Easy to understand</a:t>
            </a:r>
          </a:p>
          <a:p>
            <a:pPr marL="316531" lvl="1" indent="-316531">
              <a:buFontTx/>
              <a:buChar char="•"/>
            </a:pPr>
            <a:r>
              <a:rPr lang="en-GB" altLang="en-US" dirty="0">
                <a:ea typeface="ＭＳ Ｐゴシック" panose="020B0600070205080204" pitchFamily="34" charset="-128"/>
              </a:rPr>
              <a:t>Easy to compute</a:t>
            </a:r>
          </a:p>
          <a:p>
            <a:pPr marL="316531" lvl="1" indent="-316531">
              <a:buFontTx/>
              <a:buChar char="•"/>
            </a:pPr>
            <a:r>
              <a:rPr lang="en-GB" altLang="en-US" dirty="0">
                <a:ea typeface="ＭＳ Ｐゴシック" panose="020B0600070205080204" pitchFamily="34" charset="-128"/>
              </a:rPr>
              <a:t>Draws attention to overall profit</a:t>
            </a:r>
          </a:p>
          <a:p>
            <a:pPr marL="316531" lvl="1" indent="-316531">
              <a:buFontTx/>
              <a:buChar char="•"/>
            </a:pPr>
            <a:r>
              <a:rPr lang="en-GB" altLang="en-US" dirty="0">
                <a:ea typeface="ＭＳ Ｐゴシック" panose="020B0600070205080204" pitchFamily="34" charset="-128"/>
              </a:rPr>
              <a:t>Similar to the widely used measure of performance ROCE</a:t>
            </a:r>
          </a:p>
          <a:p>
            <a:pPr marL="1107858" lvl="3" indent="-316531"/>
            <a:r>
              <a:rPr lang="en-GB" altLang="en-US" sz="2215" dirty="0">
                <a:ea typeface="ＭＳ Ｐゴシック" panose="020B0600070205080204" pitchFamily="34" charset="-128"/>
              </a:rPr>
              <a:t>Relates accounting profit to the cost of the assets invested to generate that profit</a:t>
            </a:r>
          </a:p>
          <a:p>
            <a:pPr marL="1107858" lvl="3" indent="-316531"/>
            <a:r>
              <a:rPr lang="en-GB" altLang="en-US" sz="2215" dirty="0">
                <a:ea typeface="ＭＳ Ｐゴシック" panose="020B0600070205080204" pitchFamily="34" charset="-128"/>
              </a:rPr>
              <a:t>ARR assesses this in advance, while ROCE assesses it retrospectively</a:t>
            </a:r>
          </a:p>
          <a:p>
            <a:pPr marL="316531" lvl="1" indent="-316531">
              <a:buFontTx/>
              <a:buChar char="•"/>
            </a:pPr>
            <a:endParaRPr lang="en-GB" altLang="en-US" dirty="0">
              <a:ea typeface="ＭＳ Ｐゴシック" panose="020B0600070205080204" pitchFamily="34" charset="-128"/>
            </a:endParaRPr>
          </a:p>
          <a:p>
            <a:pPr marL="316531" lvl="1" indent="-316531">
              <a:buFontTx/>
              <a:buChar char="•"/>
            </a:pPr>
            <a:endParaRPr lang="en-GB" altLang="en-US" dirty="0">
              <a:ea typeface="ＭＳ Ｐゴシック" panose="020B0600070205080204" pitchFamily="34" charset="-128"/>
            </a:endParaRPr>
          </a:p>
          <a:p>
            <a:pPr marL="316531" lvl="1" indent="-316531">
              <a:buFontTx/>
              <a:buChar char="•"/>
            </a:pPr>
            <a:endParaRPr lang="en-GB" altLang="en-US" dirty="0">
              <a:ea typeface="ＭＳ Ｐゴシック" panose="020B0600070205080204" pitchFamily="34" charset="-128"/>
            </a:endParaRPr>
          </a:p>
          <a:p>
            <a:pPr marL="316531" lvl="1" indent="-316531">
              <a:buNone/>
            </a:pPr>
            <a:endParaRPr lang="en-GB" altLang="en-US" dirty="0">
              <a:ea typeface="ＭＳ Ｐゴシック" panose="020B0600070205080204" pitchFamily="34" charset="-128"/>
            </a:endParaRPr>
          </a:p>
          <a:p>
            <a:pPr marL="316531" lvl="1" indent="-316531">
              <a:buFontTx/>
              <a:buChar char="•"/>
            </a:pPr>
            <a:endParaRPr lang="en-GB" altLang="en-US" dirty="0">
              <a:ea typeface="ＭＳ Ｐゴシック" panose="020B0600070205080204" pitchFamily="34" charset="-128"/>
            </a:endParaRPr>
          </a:p>
          <a:p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3489842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>
          <a:xfrm>
            <a:off x="611560" y="1268760"/>
            <a:ext cx="7772400" cy="638908"/>
          </a:xfrm>
        </p:spPr>
        <p:txBody>
          <a:bodyPr>
            <a:normAutofit fontScale="90000"/>
          </a:bodyPr>
          <a:lstStyle/>
          <a:p>
            <a:r>
              <a:rPr lang="en-GB" altLang="en-US" dirty="0"/>
              <a:t>Disadvantages</a:t>
            </a:r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>
          <a:xfrm>
            <a:off x="611560" y="2132856"/>
            <a:ext cx="7772400" cy="4333142"/>
          </a:xfrm>
        </p:spPr>
        <p:txBody>
          <a:bodyPr>
            <a:normAutofit/>
          </a:bodyPr>
          <a:lstStyle/>
          <a:p>
            <a:pPr marL="316531" lvl="1" indent="-316531">
              <a:buFontTx/>
              <a:buChar char="•"/>
            </a:pPr>
            <a:r>
              <a:rPr lang="en-GB" altLang="en-US" dirty="0">
                <a:ea typeface="ＭＳ Ｐゴシック" panose="020B0600070205080204" pitchFamily="34" charset="-128"/>
              </a:rPr>
              <a:t>Focuses on accounting profit and ignores cash flows generated.</a:t>
            </a:r>
          </a:p>
          <a:p>
            <a:pPr marL="316531" lvl="1" indent="-316531">
              <a:buFontTx/>
              <a:buChar char="•"/>
            </a:pPr>
            <a:endParaRPr lang="en-GB" altLang="en-US" dirty="0">
              <a:ea typeface="ＭＳ Ｐゴシック" panose="020B0600070205080204" pitchFamily="34" charset="-128"/>
            </a:endParaRPr>
          </a:p>
          <a:p>
            <a:pPr marL="316531" lvl="1" indent="-316531">
              <a:buFontTx/>
              <a:buChar char="•"/>
            </a:pPr>
            <a:r>
              <a:rPr lang="en-GB" altLang="en-US" dirty="0"/>
              <a:t>Accounting profit relative to may not correlate terribly well with Cash Flow and added value for shareholders. Includes non-cash items such as depreciation and amortisation</a:t>
            </a:r>
            <a:endParaRPr lang="en-GB" dirty="0"/>
          </a:p>
          <a:p>
            <a:pPr marL="316531" lvl="1" indent="-316531">
              <a:buFontTx/>
              <a:buChar char="•"/>
            </a:pPr>
            <a:endParaRPr lang="en-GB" altLang="en-US" dirty="0">
              <a:ea typeface="ＭＳ Ｐゴシック" panose="020B0600070205080204" pitchFamily="34" charset="-128"/>
            </a:endParaRPr>
          </a:p>
          <a:p>
            <a:pPr marL="316531" lvl="1" indent="-316531">
              <a:buNone/>
            </a:pPr>
            <a:endParaRPr lang="en-GB" altLang="en-US" dirty="0">
              <a:ea typeface="ＭＳ Ｐゴシック" panose="020B0600070205080204" pitchFamily="34" charset="-128"/>
            </a:endParaRPr>
          </a:p>
          <a:p>
            <a:pPr marL="316531" lvl="1" indent="-316531">
              <a:buFontTx/>
              <a:buChar char="•"/>
            </a:pPr>
            <a:endParaRPr lang="en-GB" altLang="en-US" dirty="0">
              <a:ea typeface="ＭＳ Ｐゴシック" panose="020B0600070205080204" pitchFamily="34" charset="-128"/>
            </a:endParaRPr>
          </a:p>
          <a:p>
            <a:pPr marL="316531" lvl="1" indent="-316531">
              <a:buNone/>
            </a:pPr>
            <a:endParaRPr lang="en-GB" altLang="en-US" dirty="0">
              <a:ea typeface="ＭＳ Ｐゴシック" panose="020B0600070205080204" pitchFamily="34" charset="-128"/>
            </a:endParaRPr>
          </a:p>
          <a:p>
            <a:pPr marL="316531" lvl="1" indent="-316531">
              <a:buFontTx/>
              <a:buChar char="•"/>
            </a:pPr>
            <a:endParaRPr lang="en-GB" altLang="en-US" dirty="0">
              <a:ea typeface="ＭＳ Ｐゴシック" panose="020B0600070205080204" pitchFamily="34" charset="-128"/>
            </a:endParaRPr>
          </a:p>
          <a:p>
            <a:pPr marL="316531" lvl="1" indent="-316531">
              <a:buFontTx/>
              <a:buChar char="•"/>
            </a:pPr>
            <a:endParaRPr lang="en-GB" altLang="en-US" dirty="0">
              <a:ea typeface="ＭＳ Ｐゴシック" panose="020B0600070205080204" pitchFamily="34" charset="-128"/>
            </a:endParaRPr>
          </a:p>
          <a:p>
            <a:pPr marL="316531" lvl="1" indent="-316531">
              <a:buFontTx/>
              <a:buChar char="•"/>
            </a:pPr>
            <a:endParaRPr lang="en-GB" altLang="en-US" dirty="0">
              <a:ea typeface="ＭＳ Ｐゴシック" panose="020B0600070205080204" pitchFamily="34" charset="-128"/>
            </a:endParaRPr>
          </a:p>
          <a:p>
            <a:pPr marL="316531" lvl="1" indent="-316531">
              <a:buNone/>
            </a:pPr>
            <a:endParaRPr lang="en-GB" altLang="en-US" dirty="0">
              <a:ea typeface="ＭＳ Ｐゴシック" panose="020B0600070205080204" pitchFamily="34" charset="-128"/>
            </a:endParaRPr>
          </a:p>
          <a:p>
            <a:pPr marL="316531" lvl="1" indent="-316531">
              <a:buNone/>
            </a:pPr>
            <a:endParaRPr lang="en-GB" altLang="en-US" dirty="0">
              <a:ea typeface="ＭＳ Ｐゴシック" panose="020B0600070205080204" pitchFamily="34" charset="-128"/>
            </a:endParaRPr>
          </a:p>
          <a:p>
            <a:pPr marL="316531" lvl="1" indent="-316531">
              <a:buFontTx/>
              <a:buChar char="•"/>
            </a:pPr>
            <a:endParaRPr lang="en-GB" altLang="en-US" dirty="0">
              <a:ea typeface="ＭＳ Ｐゴシック" panose="020B0600070205080204" pitchFamily="34" charset="-128"/>
            </a:endParaRPr>
          </a:p>
          <a:p>
            <a:pPr marL="316531" lvl="1" indent="-316531">
              <a:buFontTx/>
              <a:buChar char="•"/>
            </a:pPr>
            <a:endParaRPr lang="en-GB" altLang="en-US" dirty="0">
              <a:ea typeface="ＭＳ Ｐゴシック" panose="020B0600070205080204" pitchFamily="34" charset="-128"/>
            </a:endParaRPr>
          </a:p>
          <a:p>
            <a:pPr marL="316531" lvl="1" indent="-316531">
              <a:buFontTx/>
              <a:buChar char="•"/>
            </a:pPr>
            <a:endParaRPr lang="en-GB" altLang="en-US" dirty="0">
              <a:ea typeface="ＭＳ Ｐゴシック" panose="020B0600070205080204" pitchFamily="34" charset="-128"/>
            </a:endParaRPr>
          </a:p>
          <a:p>
            <a:pPr marL="316531" lvl="1" indent="-316531">
              <a:buFontTx/>
              <a:buChar char="•"/>
            </a:pPr>
            <a:endParaRPr lang="en-GB" altLang="en-US" dirty="0">
              <a:ea typeface="ＭＳ Ｐゴシック" panose="020B0600070205080204" pitchFamily="34" charset="-128"/>
            </a:endParaRPr>
          </a:p>
          <a:p>
            <a:pPr marL="316531" lvl="1" indent="-316531">
              <a:buFontTx/>
              <a:buChar char="•"/>
            </a:pPr>
            <a:endParaRPr lang="en-GB" altLang="en-US" dirty="0">
              <a:ea typeface="ＭＳ Ｐゴシック" panose="020B0600070205080204" pitchFamily="34" charset="-128"/>
            </a:endParaRPr>
          </a:p>
          <a:p>
            <a:pPr>
              <a:buFontTx/>
              <a:buNone/>
            </a:pP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33162148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C8CE2-6CEE-B842-5E63-A87510EFC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908720"/>
            <a:ext cx="8075240" cy="1359024"/>
          </a:xfrm>
        </p:spPr>
        <p:txBody>
          <a:bodyPr anchor="b">
            <a:normAutofit fontScale="90000"/>
          </a:bodyPr>
          <a:lstStyle/>
          <a:p>
            <a:br>
              <a:rPr lang="en-GB" altLang="en-US" b="1" dirty="0"/>
            </a:br>
            <a:br>
              <a:rPr lang="en-GB" altLang="en-US" b="1" dirty="0"/>
            </a:br>
            <a:r>
              <a:rPr lang="en-GB" altLang="en-US" b="1" dirty="0"/>
              <a:t>	</a:t>
            </a:r>
            <a:br>
              <a:rPr lang="en-GB" altLang="en-US" b="1" dirty="0"/>
            </a:br>
            <a:r>
              <a:rPr lang="en-GB" altLang="en-US" b="1" dirty="0"/>
              <a:t>Disadvantages</a:t>
            </a:r>
            <a:br>
              <a:rPr lang="en-GB" altLang="en-US" b="1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5445F8-8FE0-0CB1-FCF5-C29C79A092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316531" lvl="1" indent="-316531">
              <a:buFontTx/>
              <a:buChar char="•"/>
            </a:pPr>
            <a:r>
              <a:rPr lang="en-GB" altLang="en-US" dirty="0">
                <a:ea typeface="ＭＳ Ｐゴシック" panose="020B0600070205080204" pitchFamily="34" charset="-128"/>
              </a:rPr>
              <a:t>Does not take into account time value of money:</a:t>
            </a:r>
          </a:p>
          <a:p>
            <a:pPr marL="685817" lvl="2" indent="-316531"/>
            <a:r>
              <a:rPr lang="en-GB" altLang="en-US" dirty="0">
                <a:ea typeface="ＭＳ Ｐゴシック" panose="020B0600070205080204" pitchFamily="34" charset="-128"/>
              </a:rPr>
              <a:t>Project A costs £100k, generates profits of £110K in year 1 and £10 K in years 2 -5</a:t>
            </a:r>
          </a:p>
          <a:p>
            <a:pPr marL="685817" lvl="2" indent="-316531"/>
            <a:r>
              <a:rPr lang="en-GB" altLang="en-US" dirty="0">
                <a:ea typeface="ＭＳ Ｐゴシック" panose="020B0600070205080204" pitchFamily="34" charset="-128"/>
              </a:rPr>
              <a:t>Project B costs £100k, generates £30K in each of years 1-5</a:t>
            </a:r>
          </a:p>
          <a:p>
            <a:pPr marL="685817" lvl="2" indent="-316531"/>
            <a:r>
              <a:rPr lang="en-GB" altLang="en-US" dirty="0">
                <a:ea typeface="ＭＳ Ｐゴシック" panose="020B0600070205080204" pitchFamily="34" charset="-128"/>
              </a:rPr>
              <a:t>Both projects have same ARR, but clearly Project A is more attractive</a:t>
            </a:r>
          </a:p>
          <a:p>
            <a:pPr>
              <a:spcBef>
                <a:spcPts val="0"/>
              </a:spcBef>
            </a:pPr>
            <a:endParaRPr lang="en-GB" altLang="en-US" dirty="0"/>
          </a:p>
          <a:p>
            <a:pPr>
              <a:spcBef>
                <a:spcPts val="0"/>
              </a:spcBef>
            </a:pPr>
            <a:r>
              <a:rPr lang="en-GB" altLang="en-US" dirty="0"/>
              <a:t>No concept of the cost of capital</a:t>
            </a:r>
          </a:p>
          <a:p>
            <a:pPr>
              <a:spcBef>
                <a:spcPts val="0"/>
              </a:spcBef>
            </a:pPr>
            <a:endParaRPr lang="en-GB" altLang="en-US" dirty="0"/>
          </a:p>
          <a:p>
            <a:pPr>
              <a:spcBef>
                <a:spcPts val="0"/>
              </a:spcBef>
            </a:pPr>
            <a:r>
              <a:rPr lang="en-GB" altLang="en-US" dirty="0"/>
              <a:t>The ‘hurdle rate’ is ad-hoc. What constitutes a ‘good’ ARR? 5%, 12%?</a:t>
            </a:r>
          </a:p>
          <a:p>
            <a:pPr marL="0" indent="0">
              <a:spcBef>
                <a:spcPts val="0"/>
              </a:spcBef>
              <a:buNone/>
            </a:pPr>
            <a:endParaRPr lang="en-GB" altLang="en-US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514298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Box 2"/>
          <p:cNvSpPr txBox="1">
            <a:spLocks noChangeArrowheads="1"/>
          </p:cNvSpPr>
          <p:nvPr/>
        </p:nvSpPr>
        <p:spPr bwMode="auto">
          <a:xfrm>
            <a:off x="1043608" y="1124744"/>
            <a:ext cx="7105650" cy="433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sz="2215" b="1" dirty="0">
                <a:solidFill>
                  <a:srgbClr val="CC0000"/>
                </a:solidFill>
                <a:latin typeface="Arial" panose="020B0604020202020204" pitchFamily="34" charset="0"/>
              </a:rPr>
              <a:t>Payback period (PP)</a:t>
            </a:r>
            <a:endParaRPr lang="en-GB" altLang="en-US" sz="2215" dirty="0">
              <a:solidFill>
                <a:srgbClr val="CC0000"/>
              </a:solidFill>
              <a:latin typeface="Arial" panose="020B0604020202020204" pitchFamily="34" charset="0"/>
            </a:endParaRPr>
          </a:p>
        </p:txBody>
      </p:sp>
      <p:grpSp>
        <p:nvGrpSpPr>
          <p:cNvPr id="29699" name="Group 10"/>
          <p:cNvGrpSpPr>
            <a:grpSpLocks/>
          </p:cNvGrpSpPr>
          <p:nvPr/>
        </p:nvGrpSpPr>
        <p:grpSpPr bwMode="auto">
          <a:xfrm>
            <a:off x="1747471" y="3284984"/>
            <a:ext cx="5644662" cy="1688123"/>
            <a:chOff x="1112" y="1132"/>
            <a:chExt cx="3556" cy="1152"/>
          </a:xfrm>
        </p:grpSpPr>
        <p:sp>
          <p:nvSpPr>
            <p:cNvPr id="29700" name="AutoShape 4"/>
            <p:cNvSpPr>
              <a:spLocks noChangeArrowheads="1"/>
            </p:cNvSpPr>
            <p:nvPr/>
          </p:nvSpPr>
          <p:spPr bwMode="auto">
            <a:xfrm>
              <a:off x="2288" y="1132"/>
              <a:ext cx="2380" cy="1020"/>
            </a:xfrm>
            <a:prstGeom prst="roundRect">
              <a:avLst>
                <a:gd name="adj" fmla="val 16667"/>
              </a:avLst>
            </a:prstGeom>
            <a:solidFill>
              <a:srgbClr val="E0C0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2215"/>
            </a:p>
          </p:txBody>
        </p:sp>
        <p:sp>
          <p:nvSpPr>
            <p:cNvPr id="29701" name="AutoShape 5"/>
            <p:cNvSpPr>
              <a:spLocks noChangeArrowheads="1"/>
            </p:cNvSpPr>
            <p:nvPr/>
          </p:nvSpPr>
          <p:spPr bwMode="auto">
            <a:xfrm>
              <a:off x="1112" y="1132"/>
              <a:ext cx="1476" cy="1152"/>
            </a:xfrm>
            <a:prstGeom prst="cube">
              <a:avLst>
                <a:gd name="adj" fmla="val 9898"/>
              </a:avLst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2215"/>
            </a:p>
          </p:txBody>
        </p:sp>
        <p:sp>
          <p:nvSpPr>
            <p:cNvPr id="29702" name="Text Box 6"/>
            <p:cNvSpPr txBox="1">
              <a:spLocks noChangeArrowheads="1"/>
            </p:cNvSpPr>
            <p:nvPr/>
          </p:nvSpPr>
          <p:spPr bwMode="auto">
            <a:xfrm>
              <a:off x="1125" y="1531"/>
              <a:ext cx="1344" cy="4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en-US" sz="1846" b="1">
                  <a:latin typeface="Arial" panose="020B0604020202020204" pitchFamily="34" charset="0"/>
                </a:rPr>
                <a:t>Payback period (PP)</a:t>
              </a:r>
              <a:endParaRPr lang="en-GB" altLang="en-US" sz="1846">
                <a:latin typeface="Arial" panose="020B0604020202020204" pitchFamily="34" charset="0"/>
              </a:endParaRPr>
            </a:p>
          </p:txBody>
        </p:sp>
        <p:sp>
          <p:nvSpPr>
            <p:cNvPr id="29703" name="Text Box 7"/>
            <p:cNvSpPr txBox="1">
              <a:spLocks noChangeArrowheads="1"/>
            </p:cNvSpPr>
            <p:nvPr/>
          </p:nvSpPr>
          <p:spPr bwMode="auto">
            <a:xfrm>
              <a:off x="2625" y="1175"/>
              <a:ext cx="2000" cy="9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en-US" sz="1662" b="1" i="1">
                  <a:latin typeface="Arial" panose="020B0604020202020204" pitchFamily="34" charset="0"/>
                </a:rPr>
                <a:t>The payback period is the length of time it takes for the initial investment to be repaid out of the net cash inflows from the project</a:t>
              </a:r>
              <a:r>
                <a:rPr lang="en-GB" altLang="en-US" sz="1662" b="1">
                  <a:latin typeface="Arial" panose="020B0604020202020204" pitchFamily="34" charset="0"/>
                </a:rPr>
                <a:t> </a:t>
              </a:r>
              <a:endParaRPr lang="en-GB" altLang="en-US" sz="1662"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631276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4"/>
          <p:cNvSpPr txBox="1">
            <a:spLocks noChangeArrowheads="1"/>
          </p:cNvSpPr>
          <p:nvPr/>
        </p:nvSpPr>
        <p:spPr bwMode="auto">
          <a:xfrm>
            <a:off x="539552" y="1268760"/>
            <a:ext cx="8047892" cy="433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sz="2215" b="1" dirty="0">
                <a:solidFill>
                  <a:srgbClr val="CC0000"/>
                </a:solidFill>
                <a:latin typeface="Arial" panose="020B0604020202020204" pitchFamily="34" charset="0"/>
              </a:rPr>
              <a:t>PP decision rule</a:t>
            </a:r>
            <a:endParaRPr lang="en-GB" altLang="en-US" sz="2215" dirty="0">
              <a:solidFill>
                <a:srgbClr val="CC0000"/>
              </a:solidFill>
              <a:latin typeface="Arial" panose="020B0604020202020204" pitchFamily="34" charset="0"/>
            </a:endParaRPr>
          </a:p>
        </p:txBody>
      </p:sp>
      <p:grpSp>
        <p:nvGrpSpPr>
          <p:cNvPr id="30723" name="Group 12"/>
          <p:cNvGrpSpPr>
            <a:grpSpLocks/>
          </p:cNvGrpSpPr>
          <p:nvPr/>
        </p:nvGrpSpPr>
        <p:grpSpPr bwMode="auto">
          <a:xfrm>
            <a:off x="1071196" y="2996952"/>
            <a:ext cx="7007469" cy="2879481"/>
            <a:chOff x="718" y="792"/>
            <a:chExt cx="4414" cy="1965"/>
          </a:xfrm>
        </p:grpSpPr>
        <p:sp>
          <p:nvSpPr>
            <p:cNvPr id="30724" name="AutoShape 6"/>
            <p:cNvSpPr>
              <a:spLocks noChangeArrowheads="1"/>
            </p:cNvSpPr>
            <p:nvPr/>
          </p:nvSpPr>
          <p:spPr bwMode="auto">
            <a:xfrm>
              <a:off x="1228" y="792"/>
              <a:ext cx="3903" cy="803"/>
            </a:xfrm>
            <a:prstGeom prst="cube">
              <a:avLst>
                <a:gd name="adj" fmla="val 12829"/>
              </a:avLst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2215"/>
            </a:p>
          </p:txBody>
        </p:sp>
        <p:sp>
          <p:nvSpPr>
            <p:cNvPr id="30725" name="AutoShape 7"/>
            <p:cNvSpPr>
              <a:spLocks noChangeArrowheads="1"/>
            </p:cNvSpPr>
            <p:nvPr/>
          </p:nvSpPr>
          <p:spPr bwMode="auto">
            <a:xfrm>
              <a:off x="1229" y="1762"/>
              <a:ext cx="3903" cy="995"/>
            </a:xfrm>
            <a:prstGeom prst="cube">
              <a:avLst>
                <a:gd name="adj" fmla="val 10954"/>
              </a:avLst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2215"/>
            </a:p>
          </p:txBody>
        </p:sp>
        <p:sp>
          <p:nvSpPr>
            <p:cNvPr id="30726" name="Text Box 8"/>
            <p:cNvSpPr txBox="1">
              <a:spLocks noChangeArrowheads="1"/>
            </p:cNvSpPr>
            <p:nvPr/>
          </p:nvSpPr>
          <p:spPr bwMode="auto">
            <a:xfrm>
              <a:off x="1193" y="1881"/>
              <a:ext cx="3805" cy="8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en-US" sz="1846" b="1">
                  <a:latin typeface="Arial" panose="020B0604020202020204" pitchFamily="34" charset="0"/>
                </a:rPr>
                <a:t>If two (or more) competing projects have payback periods shorter than the maximum payback period, the project with the shortest payback period should be selected</a:t>
              </a:r>
            </a:p>
          </p:txBody>
        </p:sp>
        <p:sp>
          <p:nvSpPr>
            <p:cNvPr id="30727" name="Text Box 9"/>
            <p:cNvSpPr txBox="1">
              <a:spLocks noChangeArrowheads="1"/>
            </p:cNvSpPr>
            <p:nvPr/>
          </p:nvSpPr>
          <p:spPr bwMode="auto">
            <a:xfrm>
              <a:off x="1293" y="917"/>
              <a:ext cx="3665" cy="6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en-US" sz="1846" b="1">
                  <a:latin typeface="Arial" panose="020B0604020202020204" pitchFamily="34" charset="0"/>
                </a:rPr>
                <a:t>For a project to be acceptable, it should have a payback period shorter than the maximum payback period set by the business</a:t>
              </a:r>
            </a:p>
          </p:txBody>
        </p:sp>
        <p:sp>
          <p:nvSpPr>
            <p:cNvPr id="30728" name="AutoShape 10"/>
            <p:cNvSpPr>
              <a:spLocks noChangeArrowheads="1"/>
            </p:cNvSpPr>
            <p:nvPr/>
          </p:nvSpPr>
          <p:spPr bwMode="auto">
            <a:xfrm>
              <a:off x="720" y="1086"/>
              <a:ext cx="339" cy="339"/>
            </a:xfrm>
            <a:prstGeom prst="cube">
              <a:avLst>
                <a:gd name="adj" fmla="val 25000"/>
              </a:avLst>
            </a:pr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2215"/>
            </a:p>
          </p:txBody>
        </p:sp>
        <p:sp>
          <p:nvSpPr>
            <p:cNvPr id="30729" name="AutoShape 11"/>
            <p:cNvSpPr>
              <a:spLocks noChangeArrowheads="1"/>
            </p:cNvSpPr>
            <p:nvPr/>
          </p:nvSpPr>
          <p:spPr bwMode="auto">
            <a:xfrm>
              <a:off x="718" y="1971"/>
              <a:ext cx="339" cy="339"/>
            </a:xfrm>
            <a:prstGeom prst="cube">
              <a:avLst>
                <a:gd name="adj" fmla="val 25000"/>
              </a:avLst>
            </a:pr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2215"/>
            </a:p>
          </p:txBody>
        </p:sp>
      </p:grpSp>
    </p:spTree>
    <p:extLst>
      <p:ext uri="{BB962C8B-B14F-4D97-AF65-F5344CB8AC3E}">
        <p14:creationId xmlns:p14="http://schemas.microsoft.com/office/powerpoint/2010/main" val="2051557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576" y="1484784"/>
            <a:ext cx="7772400" cy="516548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GB" altLang="en-US" sz="2585" b="1" dirty="0"/>
              <a:t>Payback – example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GB" altLang="en-US" sz="2585" dirty="0"/>
              <a:t>	</a:t>
            </a:r>
            <a:r>
              <a:rPr lang="en-GB" altLang="en-US" sz="2215" dirty="0"/>
              <a:t>A Ltd is considering buying some new machinery, costing £25k. The expected income from the project is £5k for each of the first 3 years, and £10k for the last 2 years.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GB" altLang="en-US" sz="1477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GB" altLang="en-US" sz="2215" dirty="0"/>
              <a:t>Payback period is calculated: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GB" altLang="en-US" sz="1662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GB" altLang="en-US" sz="2215" dirty="0"/>
              <a:t>               Cumulative cash flow(£k)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GB" altLang="en-US" sz="2215" dirty="0"/>
              <a:t>Year 1			5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GB" altLang="en-US" sz="2215" dirty="0"/>
              <a:t>Year 2			10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GB" altLang="en-US" sz="2215" dirty="0"/>
              <a:t>Year 3			15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GB" altLang="en-US" sz="2215" dirty="0"/>
              <a:t>Year 4			25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GB" altLang="en-US" sz="2215" dirty="0"/>
              <a:t>Year 5			35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GB" altLang="en-US" sz="1662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GB" altLang="en-US" sz="2215" dirty="0"/>
              <a:t>The investment would therefore have paid for itself at the end of the fourth year.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GB" altLang="en-US" sz="2585" dirty="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GB" altLang="en-US" sz="2585" dirty="0"/>
          </a:p>
        </p:txBody>
      </p:sp>
    </p:spTree>
    <p:extLst>
      <p:ext uri="{BB962C8B-B14F-4D97-AF65-F5344CB8AC3E}">
        <p14:creationId xmlns:p14="http://schemas.microsoft.com/office/powerpoint/2010/main" val="18052787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Advantages</a:t>
            </a:r>
          </a:p>
        </p:txBody>
      </p:sp>
      <p:sp>
        <p:nvSpPr>
          <p:cNvPr id="3379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altLang="en-US"/>
              <a:t>Quick and easy to calculate</a:t>
            </a:r>
          </a:p>
          <a:p>
            <a:r>
              <a:rPr lang="en-GB" altLang="en-US"/>
              <a:t>Easily understood by managers with no accounting background</a:t>
            </a:r>
          </a:p>
          <a:p>
            <a:r>
              <a:rPr lang="en-GB" altLang="en-US"/>
              <a:t>Favours projects that can recoup their cost quickly, which is economically advantageous</a:t>
            </a:r>
          </a:p>
          <a:p>
            <a:r>
              <a:rPr lang="en-GB" altLang="en-US"/>
              <a:t>Improvement on ARR as it reflects the timing of the cash flows</a:t>
            </a:r>
          </a:p>
        </p:txBody>
      </p:sp>
    </p:spTree>
    <p:extLst>
      <p:ext uri="{BB962C8B-B14F-4D97-AF65-F5344CB8AC3E}">
        <p14:creationId xmlns:p14="http://schemas.microsoft.com/office/powerpoint/2010/main" val="22498688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/>
              <a:t>Disadvantages</a:t>
            </a:r>
          </a:p>
        </p:txBody>
      </p:sp>
      <p:sp>
        <p:nvSpPr>
          <p:cNvPr id="34819" name="Content Placeholder 2"/>
          <p:cNvSpPr>
            <a:spLocks noGrp="1"/>
          </p:cNvSpPr>
          <p:nvPr>
            <p:ph idx="1"/>
          </p:nvPr>
        </p:nvSpPr>
        <p:spPr>
          <a:xfrm>
            <a:off x="611560" y="2492896"/>
            <a:ext cx="7772400" cy="4044462"/>
          </a:xfrm>
        </p:spPr>
        <p:txBody>
          <a:bodyPr>
            <a:normAutofit lnSpcReduction="10000"/>
          </a:bodyPr>
          <a:lstStyle/>
          <a:p>
            <a:pPr lvl="1" eaLnBrk="1" hangingPunct="1"/>
            <a:r>
              <a:rPr lang="en-GB" altLang="en-US" dirty="0">
                <a:ea typeface="ＭＳ Ｐゴシック" panose="020B0600070205080204" pitchFamily="34" charset="-128"/>
              </a:rPr>
              <a:t>Difficult to calculate net cash flows, and period when they will be received (same problem for all methods)</a:t>
            </a:r>
          </a:p>
          <a:p>
            <a:pPr lvl="1" eaLnBrk="1" hangingPunct="1"/>
            <a:r>
              <a:rPr lang="en-GB" altLang="en-US" dirty="0">
                <a:ea typeface="ＭＳ Ｐゴシック" panose="020B0600070205080204" pitchFamily="34" charset="-128"/>
              </a:rPr>
              <a:t>Danger that projects with shortest payback period will be chosen over more profitable projects (measures cash flow, not profitability)</a:t>
            </a:r>
          </a:p>
          <a:p>
            <a:pPr lvl="1" eaLnBrk="1" hangingPunct="1"/>
            <a:r>
              <a:rPr lang="en-GB" altLang="en-US" dirty="0">
                <a:ea typeface="ＭＳ Ｐゴシック" panose="020B0600070205080204" pitchFamily="34" charset="-128"/>
              </a:rPr>
              <a:t>Ignores time value of money</a:t>
            </a:r>
          </a:p>
          <a:p>
            <a:pPr lvl="1" eaLnBrk="1" hangingPunct="1"/>
            <a:r>
              <a:rPr lang="en-GB" altLang="en-US" dirty="0">
                <a:ea typeface="ＭＳ Ｐゴシック" panose="020B0600070205080204" pitchFamily="34" charset="-128"/>
              </a:rPr>
              <a:t>Ignores cash flows after payback period</a:t>
            </a:r>
          </a:p>
          <a:p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1344024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 Box 2"/>
          <p:cNvSpPr txBox="1">
            <a:spLocks noChangeArrowheads="1"/>
          </p:cNvSpPr>
          <p:nvPr/>
        </p:nvSpPr>
        <p:spPr bwMode="auto">
          <a:xfrm>
            <a:off x="1873307" y="466213"/>
            <a:ext cx="7167479" cy="433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sz="2215" b="1" dirty="0">
                <a:solidFill>
                  <a:srgbClr val="CC0000"/>
                </a:solidFill>
                <a:latin typeface="Arial" panose="020B0604020202020204" pitchFamily="34" charset="0"/>
              </a:rPr>
              <a:t>The cumulative cash flows of different projects</a:t>
            </a:r>
            <a:endParaRPr lang="en-GB" altLang="en-US" sz="2215" dirty="0">
              <a:solidFill>
                <a:srgbClr val="CC0000"/>
              </a:solidFill>
              <a:latin typeface="Arial" panose="020B0604020202020204" pitchFamily="34" charset="0"/>
            </a:endParaRPr>
          </a:p>
        </p:txBody>
      </p:sp>
      <p:grpSp>
        <p:nvGrpSpPr>
          <p:cNvPr id="36867" name="Group 78"/>
          <p:cNvGrpSpPr>
            <a:grpSpLocks/>
          </p:cNvGrpSpPr>
          <p:nvPr/>
        </p:nvGrpSpPr>
        <p:grpSpPr bwMode="auto">
          <a:xfrm>
            <a:off x="296740" y="1700808"/>
            <a:ext cx="8560777" cy="5021873"/>
            <a:chOff x="144" y="497"/>
            <a:chExt cx="5392" cy="3427"/>
          </a:xfrm>
        </p:grpSpPr>
        <p:sp>
          <p:nvSpPr>
            <p:cNvPr id="36868" name="AutoShape 4"/>
            <p:cNvSpPr>
              <a:spLocks noChangeArrowheads="1"/>
            </p:cNvSpPr>
            <p:nvPr/>
          </p:nvSpPr>
          <p:spPr bwMode="auto">
            <a:xfrm>
              <a:off x="1026" y="622"/>
              <a:ext cx="924" cy="2488"/>
            </a:xfrm>
            <a:prstGeom prst="roundRect">
              <a:avLst>
                <a:gd name="adj" fmla="val 7847"/>
              </a:avLst>
            </a:prstGeom>
            <a:solidFill>
              <a:srgbClr val="E0C0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2215"/>
            </a:p>
          </p:txBody>
        </p:sp>
        <p:sp>
          <p:nvSpPr>
            <p:cNvPr id="36869" name="AutoShape 5"/>
            <p:cNvSpPr>
              <a:spLocks noChangeArrowheads="1"/>
            </p:cNvSpPr>
            <p:nvPr/>
          </p:nvSpPr>
          <p:spPr bwMode="auto">
            <a:xfrm>
              <a:off x="236" y="1148"/>
              <a:ext cx="675" cy="479"/>
            </a:xfrm>
            <a:prstGeom prst="cube">
              <a:avLst>
                <a:gd name="adj" fmla="val 12708"/>
              </a:avLst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2215"/>
            </a:p>
          </p:txBody>
        </p:sp>
        <p:sp>
          <p:nvSpPr>
            <p:cNvPr id="36870" name="Text Box 6"/>
            <p:cNvSpPr txBox="1">
              <a:spLocks noChangeArrowheads="1"/>
            </p:cNvSpPr>
            <p:nvPr/>
          </p:nvSpPr>
          <p:spPr bwMode="auto">
            <a:xfrm>
              <a:off x="144" y="1291"/>
              <a:ext cx="808" cy="2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en-US" sz="1569" b="1">
                  <a:latin typeface="Arial" panose="020B0604020202020204" pitchFamily="34" charset="0"/>
                </a:rPr>
                <a:t>Project 1</a:t>
              </a:r>
            </a:p>
          </p:txBody>
        </p:sp>
        <p:sp>
          <p:nvSpPr>
            <p:cNvPr id="36871" name="AutoShape 8"/>
            <p:cNvSpPr>
              <a:spLocks noChangeArrowheads="1"/>
            </p:cNvSpPr>
            <p:nvPr/>
          </p:nvSpPr>
          <p:spPr bwMode="auto">
            <a:xfrm>
              <a:off x="235" y="2666"/>
              <a:ext cx="676" cy="479"/>
            </a:xfrm>
            <a:prstGeom prst="cube">
              <a:avLst>
                <a:gd name="adj" fmla="val 12708"/>
              </a:avLst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2215"/>
            </a:p>
          </p:txBody>
        </p:sp>
        <p:sp>
          <p:nvSpPr>
            <p:cNvPr id="36872" name="Text Box 9"/>
            <p:cNvSpPr txBox="1">
              <a:spLocks noChangeArrowheads="1"/>
            </p:cNvSpPr>
            <p:nvPr/>
          </p:nvSpPr>
          <p:spPr bwMode="auto">
            <a:xfrm>
              <a:off x="144" y="2810"/>
              <a:ext cx="808" cy="2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en-US" sz="1569" b="1">
                  <a:latin typeface="Arial" panose="020B0604020202020204" pitchFamily="34" charset="0"/>
                </a:rPr>
                <a:t>Project 3</a:t>
              </a:r>
            </a:p>
          </p:txBody>
        </p:sp>
        <p:sp>
          <p:nvSpPr>
            <p:cNvPr id="36873" name="AutoShape 11"/>
            <p:cNvSpPr>
              <a:spLocks noChangeArrowheads="1"/>
            </p:cNvSpPr>
            <p:nvPr/>
          </p:nvSpPr>
          <p:spPr bwMode="auto">
            <a:xfrm>
              <a:off x="235" y="1916"/>
              <a:ext cx="676" cy="479"/>
            </a:xfrm>
            <a:prstGeom prst="cube">
              <a:avLst>
                <a:gd name="adj" fmla="val 12708"/>
              </a:avLst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2215"/>
            </a:p>
          </p:txBody>
        </p:sp>
        <p:sp>
          <p:nvSpPr>
            <p:cNvPr id="36874" name="Text Box 12"/>
            <p:cNvSpPr txBox="1">
              <a:spLocks noChangeArrowheads="1"/>
            </p:cNvSpPr>
            <p:nvPr/>
          </p:nvSpPr>
          <p:spPr bwMode="auto">
            <a:xfrm>
              <a:off x="144" y="2060"/>
              <a:ext cx="808" cy="2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en-US" sz="1569" b="1">
                  <a:latin typeface="Arial" panose="020B0604020202020204" pitchFamily="34" charset="0"/>
                </a:rPr>
                <a:t>Project 2</a:t>
              </a:r>
            </a:p>
          </p:txBody>
        </p:sp>
        <p:sp>
          <p:nvSpPr>
            <p:cNvPr id="36875" name="Text Box 13"/>
            <p:cNvSpPr txBox="1">
              <a:spLocks noChangeArrowheads="1"/>
            </p:cNvSpPr>
            <p:nvPr/>
          </p:nvSpPr>
          <p:spPr bwMode="auto">
            <a:xfrm>
              <a:off x="913" y="1985"/>
              <a:ext cx="243" cy="2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en-US" sz="1108" b="1">
                  <a:solidFill>
                    <a:srgbClr val="FFCC99"/>
                  </a:solidFill>
                  <a:latin typeface="Arial" panose="020B0604020202020204" pitchFamily="34" charset="0"/>
                </a:rPr>
                <a:t>Yr  1</a:t>
              </a:r>
            </a:p>
          </p:txBody>
        </p:sp>
        <p:sp>
          <p:nvSpPr>
            <p:cNvPr id="36876" name="AutoShape 14"/>
            <p:cNvSpPr>
              <a:spLocks noChangeArrowheads="1"/>
            </p:cNvSpPr>
            <p:nvPr/>
          </p:nvSpPr>
          <p:spPr bwMode="auto">
            <a:xfrm>
              <a:off x="853" y="3420"/>
              <a:ext cx="4683" cy="504"/>
            </a:xfrm>
            <a:prstGeom prst="cube">
              <a:avLst>
                <a:gd name="adj" fmla="val 8931"/>
              </a:avLst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2215"/>
            </a:p>
          </p:txBody>
        </p:sp>
        <p:sp>
          <p:nvSpPr>
            <p:cNvPr id="36877" name="Text Box 15"/>
            <p:cNvSpPr txBox="1">
              <a:spLocks noChangeArrowheads="1"/>
            </p:cNvSpPr>
            <p:nvPr/>
          </p:nvSpPr>
          <p:spPr bwMode="auto">
            <a:xfrm>
              <a:off x="3636" y="3681"/>
              <a:ext cx="1766" cy="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spcBef>
                  <a:spcPct val="50000"/>
                </a:spcBef>
              </a:pPr>
              <a:r>
                <a:rPr lang="en-GB" altLang="en-US" sz="1662" b="1">
                  <a:latin typeface="Arial" panose="020B0604020202020204" pitchFamily="34" charset="0"/>
                </a:rPr>
                <a:t>Cash flows (£000)</a:t>
              </a:r>
            </a:p>
          </p:txBody>
        </p:sp>
        <p:sp>
          <p:nvSpPr>
            <p:cNvPr id="36878" name="Text Box 16"/>
            <p:cNvSpPr txBox="1">
              <a:spLocks noChangeArrowheads="1"/>
            </p:cNvSpPr>
            <p:nvPr/>
          </p:nvSpPr>
          <p:spPr bwMode="auto">
            <a:xfrm>
              <a:off x="1703" y="3461"/>
              <a:ext cx="410" cy="2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en-US" sz="1569" b="1">
                  <a:latin typeface="Arial" panose="020B0604020202020204" pitchFamily="34" charset="0"/>
                </a:rPr>
                <a:t>200</a:t>
              </a:r>
            </a:p>
          </p:txBody>
        </p:sp>
        <p:sp>
          <p:nvSpPr>
            <p:cNvPr id="36879" name="Text Box 17"/>
            <p:cNvSpPr txBox="1">
              <a:spLocks noChangeArrowheads="1"/>
            </p:cNvSpPr>
            <p:nvPr/>
          </p:nvSpPr>
          <p:spPr bwMode="auto">
            <a:xfrm>
              <a:off x="4605" y="3463"/>
              <a:ext cx="410" cy="2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en-US" sz="1569" b="1">
                  <a:latin typeface="Arial" panose="020B0604020202020204" pitchFamily="34" charset="0"/>
                </a:rPr>
                <a:t>800</a:t>
              </a:r>
            </a:p>
          </p:txBody>
        </p:sp>
        <p:sp>
          <p:nvSpPr>
            <p:cNvPr id="36880" name="Text Box 18"/>
            <p:cNvSpPr txBox="1">
              <a:spLocks noChangeArrowheads="1"/>
            </p:cNvSpPr>
            <p:nvPr/>
          </p:nvSpPr>
          <p:spPr bwMode="auto">
            <a:xfrm>
              <a:off x="3646" y="3466"/>
              <a:ext cx="413" cy="2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en-US" sz="1569" b="1">
                  <a:latin typeface="Arial" panose="020B0604020202020204" pitchFamily="34" charset="0"/>
                </a:rPr>
                <a:t>600</a:t>
              </a:r>
            </a:p>
          </p:txBody>
        </p:sp>
        <p:sp>
          <p:nvSpPr>
            <p:cNvPr id="36881" name="Text Box 19"/>
            <p:cNvSpPr txBox="1">
              <a:spLocks noChangeArrowheads="1"/>
            </p:cNvSpPr>
            <p:nvPr/>
          </p:nvSpPr>
          <p:spPr bwMode="auto">
            <a:xfrm>
              <a:off x="2671" y="3466"/>
              <a:ext cx="410" cy="2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en-US" sz="1569" b="1">
                  <a:latin typeface="Arial" panose="020B0604020202020204" pitchFamily="34" charset="0"/>
                </a:rPr>
                <a:t>400</a:t>
              </a:r>
            </a:p>
          </p:txBody>
        </p:sp>
        <p:sp>
          <p:nvSpPr>
            <p:cNvPr id="36882" name="Text Box 20"/>
            <p:cNvSpPr txBox="1">
              <a:spLocks noChangeArrowheads="1"/>
            </p:cNvSpPr>
            <p:nvPr/>
          </p:nvSpPr>
          <p:spPr bwMode="auto">
            <a:xfrm>
              <a:off x="5076" y="3463"/>
              <a:ext cx="408" cy="2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en-US" sz="1569" b="1">
                  <a:latin typeface="Arial" panose="020B0604020202020204" pitchFamily="34" charset="0"/>
                </a:rPr>
                <a:t>900</a:t>
              </a:r>
            </a:p>
          </p:txBody>
        </p:sp>
        <p:sp>
          <p:nvSpPr>
            <p:cNvPr id="36883" name="AutoShape 21"/>
            <p:cNvSpPr>
              <a:spLocks noChangeArrowheads="1"/>
            </p:cNvSpPr>
            <p:nvPr/>
          </p:nvSpPr>
          <p:spPr bwMode="auto">
            <a:xfrm>
              <a:off x="1820" y="3343"/>
              <a:ext cx="217" cy="134"/>
            </a:xfrm>
            <a:prstGeom prst="cube">
              <a:avLst>
                <a:gd name="adj" fmla="val 27519"/>
              </a:avLst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2215"/>
            </a:p>
          </p:txBody>
        </p:sp>
        <p:sp>
          <p:nvSpPr>
            <p:cNvPr id="36884" name="AutoShape 22"/>
            <p:cNvSpPr>
              <a:spLocks noChangeArrowheads="1"/>
            </p:cNvSpPr>
            <p:nvPr/>
          </p:nvSpPr>
          <p:spPr bwMode="auto">
            <a:xfrm>
              <a:off x="2304" y="3343"/>
              <a:ext cx="217" cy="134"/>
            </a:xfrm>
            <a:prstGeom prst="cube">
              <a:avLst>
                <a:gd name="adj" fmla="val 30199"/>
              </a:avLst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2215"/>
            </a:p>
          </p:txBody>
        </p:sp>
        <p:sp>
          <p:nvSpPr>
            <p:cNvPr id="36885" name="AutoShape 23"/>
            <p:cNvSpPr>
              <a:spLocks noChangeArrowheads="1"/>
            </p:cNvSpPr>
            <p:nvPr/>
          </p:nvSpPr>
          <p:spPr bwMode="auto">
            <a:xfrm>
              <a:off x="5191" y="3343"/>
              <a:ext cx="218" cy="134"/>
            </a:xfrm>
            <a:prstGeom prst="cube">
              <a:avLst>
                <a:gd name="adj" fmla="val 30199"/>
              </a:avLst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2215"/>
            </a:p>
          </p:txBody>
        </p:sp>
        <p:sp>
          <p:nvSpPr>
            <p:cNvPr id="36886" name="AutoShape 24"/>
            <p:cNvSpPr>
              <a:spLocks noChangeArrowheads="1"/>
            </p:cNvSpPr>
            <p:nvPr/>
          </p:nvSpPr>
          <p:spPr bwMode="auto">
            <a:xfrm>
              <a:off x="3273" y="3343"/>
              <a:ext cx="218" cy="134"/>
            </a:xfrm>
            <a:prstGeom prst="cube">
              <a:avLst>
                <a:gd name="adj" fmla="val 30199"/>
              </a:avLst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2215"/>
            </a:p>
          </p:txBody>
        </p:sp>
        <p:sp>
          <p:nvSpPr>
            <p:cNvPr id="36887" name="AutoShape 25"/>
            <p:cNvSpPr>
              <a:spLocks noChangeArrowheads="1"/>
            </p:cNvSpPr>
            <p:nvPr/>
          </p:nvSpPr>
          <p:spPr bwMode="auto">
            <a:xfrm>
              <a:off x="4715" y="3340"/>
              <a:ext cx="217" cy="133"/>
            </a:xfrm>
            <a:prstGeom prst="cube">
              <a:avLst>
                <a:gd name="adj" fmla="val 30199"/>
              </a:avLst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2215"/>
            </a:p>
          </p:txBody>
        </p:sp>
        <p:sp>
          <p:nvSpPr>
            <p:cNvPr id="36888" name="AutoShape 26"/>
            <p:cNvSpPr>
              <a:spLocks noChangeArrowheads="1"/>
            </p:cNvSpPr>
            <p:nvPr/>
          </p:nvSpPr>
          <p:spPr bwMode="auto">
            <a:xfrm>
              <a:off x="852" y="3343"/>
              <a:ext cx="218" cy="134"/>
            </a:xfrm>
            <a:prstGeom prst="cube">
              <a:avLst>
                <a:gd name="adj" fmla="val 30199"/>
              </a:avLst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2215"/>
            </a:p>
          </p:txBody>
        </p:sp>
        <p:sp>
          <p:nvSpPr>
            <p:cNvPr id="36889" name="Text Box 27"/>
            <p:cNvSpPr txBox="1">
              <a:spLocks noChangeArrowheads="1"/>
            </p:cNvSpPr>
            <p:nvPr/>
          </p:nvSpPr>
          <p:spPr bwMode="auto">
            <a:xfrm>
              <a:off x="811" y="3461"/>
              <a:ext cx="259" cy="2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en-US" sz="1569" b="1">
                  <a:latin typeface="Arial" panose="020B0604020202020204" pitchFamily="34" charset="0"/>
                </a:rPr>
                <a:t>0</a:t>
              </a:r>
            </a:p>
          </p:txBody>
        </p:sp>
        <p:sp>
          <p:nvSpPr>
            <p:cNvPr id="36890" name="AutoShape 28"/>
            <p:cNvSpPr>
              <a:spLocks noChangeArrowheads="1"/>
            </p:cNvSpPr>
            <p:nvPr/>
          </p:nvSpPr>
          <p:spPr bwMode="auto">
            <a:xfrm>
              <a:off x="1333" y="3343"/>
              <a:ext cx="219" cy="134"/>
            </a:xfrm>
            <a:prstGeom prst="cube">
              <a:avLst>
                <a:gd name="adj" fmla="val 27519"/>
              </a:avLst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2215"/>
            </a:p>
          </p:txBody>
        </p:sp>
        <p:sp>
          <p:nvSpPr>
            <p:cNvPr id="36891" name="AutoShape 29"/>
            <p:cNvSpPr>
              <a:spLocks noChangeArrowheads="1"/>
            </p:cNvSpPr>
            <p:nvPr/>
          </p:nvSpPr>
          <p:spPr bwMode="auto">
            <a:xfrm>
              <a:off x="2792" y="3343"/>
              <a:ext cx="217" cy="134"/>
            </a:xfrm>
            <a:prstGeom prst="cube">
              <a:avLst>
                <a:gd name="adj" fmla="val 27519"/>
              </a:avLst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2215"/>
            </a:p>
          </p:txBody>
        </p:sp>
        <p:sp>
          <p:nvSpPr>
            <p:cNvPr id="36892" name="AutoShape 30"/>
            <p:cNvSpPr>
              <a:spLocks noChangeArrowheads="1"/>
            </p:cNvSpPr>
            <p:nvPr/>
          </p:nvSpPr>
          <p:spPr bwMode="auto">
            <a:xfrm>
              <a:off x="3757" y="3343"/>
              <a:ext cx="217" cy="134"/>
            </a:xfrm>
            <a:prstGeom prst="cube">
              <a:avLst>
                <a:gd name="adj" fmla="val 27519"/>
              </a:avLst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2215"/>
            </a:p>
          </p:txBody>
        </p:sp>
        <p:sp>
          <p:nvSpPr>
            <p:cNvPr id="36893" name="AutoShape 31"/>
            <p:cNvSpPr>
              <a:spLocks noChangeArrowheads="1"/>
            </p:cNvSpPr>
            <p:nvPr/>
          </p:nvSpPr>
          <p:spPr bwMode="auto">
            <a:xfrm>
              <a:off x="4236" y="3343"/>
              <a:ext cx="217" cy="134"/>
            </a:xfrm>
            <a:prstGeom prst="cube">
              <a:avLst>
                <a:gd name="adj" fmla="val 27519"/>
              </a:avLst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2215"/>
            </a:p>
          </p:txBody>
        </p:sp>
        <p:sp>
          <p:nvSpPr>
            <p:cNvPr id="36894" name="Text Box 32"/>
            <p:cNvSpPr txBox="1">
              <a:spLocks noChangeArrowheads="1"/>
            </p:cNvSpPr>
            <p:nvPr/>
          </p:nvSpPr>
          <p:spPr bwMode="auto">
            <a:xfrm>
              <a:off x="3155" y="3463"/>
              <a:ext cx="411" cy="2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en-US" sz="1569" b="1">
                  <a:latin typeface="Arial" panose="020B0604020202020204" pitchFamily="34" charset="0"/>
                </a:rPr>
                <a:t>500</a:t>
              </a:r>
            </a:p>
          </p:txBody>
        </p:sp>
        <p:sp>
          <p:nvSpPr>
            <p:cNvPr id="36895" name="Text Box 33"/>
            <p:cNvSpPr txBox="1">
              <a:spLocks noChangeArrowheads="1"/>
            </p:cNvSpPr>
            <p:nvPr/>
          </p:nvSpPr>
          <p:spPr bwMode="auto">
            <a:xfrm>
              <a:off x="2191" y="3463"/>
              <a:ext cx="409" cy="2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en-US" sz="1569" b="1">
                  <a:latin typeface="Arial" panose="020B0604020202020204" pitchFamily="34" charset="0"/>
                </a:rPr>
                <a:t>300</a:t>
              </a:r>
            </a:p>
          </p:txBody>
        </p:sp>
        <p:sp>
          <p:nvSpPr>
            <p:cNvPr id="36896" name="Text Box 34"/>
            <p:cNvSpPr txBox="1">
              <a:spLocks noChangeArrowheads="1"/>
            </p:cNvSpPr>
            <p:nvPr/>
          </p:nvSpPr>
          <p:spPr bwMode="auto">
            <a:xfrm>
              <a:off x="1197" y="3461"/>
              <a:ext cx="408" cy="2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en-US" sz="1569" b="1">
                  <a:latin typeface="Arial" panose="020B0604020202020204" pitchFamily="34" charset="0"/>
                </a:rPr>
                <a:t>100</a:t>
              </a:r>
            </a:p>
          </p:txBody>
        </p:sp>
        <p:sp>
          <p:nvSpPr>
            <p:cNvPr id="36897" name="Text Box 35"/>
            <p:cNvSpPr txBox="1">
              <a:spLocks noChangeArrowheads="1"/>
            </p:cNvSpPr>
            <p:nvPr/>
          </p:nvSpPr>
          <p:spPr bwMode="auto">
            <a:xfrm>
              <a:off x="4117" y="3463"/>
              <a:ext cx="409" cy="2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en-US" sz="1569" b="1">
                  <a:latin typeface="Arial" panose="020B0604020202020204" pitchFamily="34" charset="0"/>
                </a:rPr>
                <a:t>700</a:t>
              </a:r>
            </a:p>
          </p:txBody>
        </p:sp>
        <p:sp>
          <p:nvSpPr>
            <p:cNvPr id="36898" name="AutoShape 36"/>
            <p:cNvSpPr>
              <a:spLocks noChangeArrowheads="1"/>
            </p:cNvSpPr>
            <p:nvPr/>
          </p:nvSpPr>
          <p:spPr bwMode="auto">
            <a:xfrm>
              <a:off x="971" y="1910"/>
              <a:ext cx="128" cy="475"/>
            </a:xfrm>
            <a:prstGeom prst="cube">
              <a:avLst>
                <a:gd name="adj" fmla="val 35199"/>
              </a:avLst>
            </a:pr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2215"/>
            </a:p>
          </p:txBody>
        </p:sp>
        <p:sp>
          <p:nvSpPr>
            <p:cNvPr id="36899" name="AutoShape 37"/>
            <p:cNvSpPr>
              <a:spLocks noChangeArrowheads="1"/>
            </p:cNvSpPr>
            <p:nvPr/>
          </p:nvSpPr>
          <p:spPr bwMode="auto">
            <a:xfrm>
              <a:off x="1086" y="1910"/>
              <a:ext cx="127" cy="477"/>
            </a:xfrm>
            <a:prstGeom prst="cube">
              <a:avLst>
                <a:gd name="adj" fmla="val 35000"/>
              </a:avLst>
            </a:pr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2215"/>
            </a:p>
          </p:txBody>
        </p:sp>
        <p:sp>
          <p:nvSpPr>
            <p:cNvPr id="36900" name="Text Box 38"/>
            <p:cNvSpPr txBox="1">
              <a:spLocks noChangeArrowheads="1"/>
            </p:cNvSpPr>
            <p:nvPr/>
          </p:nvSpPr>
          <p:spPr bwMode="auto">
            <a:xfrm>
              <a:off x="985" y="2017"/>
              <a:ext cx="304" cy="2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en-US" sz="1108" b="1">
                  <a:solidFill>
                    <a:srgbClr val="FFCC99"/>
                  </a:solidFill>
                  <a:latin typeface="Arial" panose="020B0604020202020204" pitchFamily="34" charset="0"/>
                </a:rPr>
                <a:t>Yr  2</a:t>
              </a:r>
            </a:p>
          </p:txBody>
        </p:sp>
        <p:sp>
          <p:nvSpPr>
            <p:cNvPr id="36901" name="AutoShape 39"/>
            <p:cNvSpPr>
              <a:spLocks noChangeArrowheads="1"/>
            </p:cNvSpPr>
            <p:nvPr/>
          </p:nvSpPr>
          <p:spPr bwMode="auto">
            <a:xfrm>
              <a:off x="1207" y="1910"/>
              <a:ext cx="785" cy="475"/>
            </a:xfrm>
            <a:prstGeom prst="cube">
              <a:avLst>
                <a:gd name="adj" fmla="val 10968"/>
              </a:avLst>
            </a:pr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2215"/>
            </a:p>
          </p:txBody>
        </p:sp>
        <p:sp>
          <p:nvSpPr>
            <p:cNvPr id="36902" name="Text Box 40"/>
            <p:cNvSpPr txBox="1">
              <a:spLocks noChangeArrowheads="1"/>
            </p:cNvSpPr>
            <p:nvPr/>
          </p:nvSpPr>
          <p:spPr bwMode="auto">
            <a:xfrm>
              <a:off x="1460" y="1989"/>
              <a:ext cx="275" cy="3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en-US" sz="1477" b="1">
                  <a:solidFill>
                    <a:srgbClr val="FFCC99"/>
                  </a:solidFill>
                  <a:latin typeface="Arial" panose="020B0604020202020204" pitchFamily="34" charset="0"/>
                </a:rPr>
                <a:t>Yr  3</a:t>
              </a:r>
            </a:p>
          </p:txBody>
        </p:sp>
        <p:sp>
          <p:nvSpPr>
            <p:cNvPr id="36903" name="AutoShape 41"/>
            <p:cNvSpPr>
              <a:spLocks noChangeArrowheads="1"/>
            </p:cNvSpPr>
            <p:nvPr/>
          </p:nvSpPr>
          <p:spPr bwMode="auto">
            <a:xfrm>
              <a:off x="971" y="1149"/>
              <a:ext cx="383" cy="474"/>
            </a:xfrm>
            <a:prstGeom prst="cube">
              <a:avLst>
                <a:gd name="adj" fmla="val 13880"/>
              </a:avLst>
            </a:pr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2215"/>
            </a:p>
          </p:txBody>
        </p:sp>
        <p:sp>
          <p:nvSpPr>
            <p:cNvPr id="36904" name="Text Box 42"/>
            <p:cNvSpPr txBox="1">
              <a:spLocks noChangeArrowheads="1"/>
            </p:cNvSpPr>
            <p:nvPr/>
          </p:nvSpPr>
          <p:spPr bwMode="auto">
            <a:xfrm>
              <a:off x="995" y="1219"/>
              <a:ext cx="267" cy="3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en-US" sz="1477" b="1">
                  <a:solidFill>
                    <a:srgbClr val="FFCC99"/>
                  </a:solidFill>
                  <a:latin typeface="Arial" panose="020B0604020202020204" pitchFamily="34" charset="0"/>
                </a:rPr>
                <a:t>Yr  1</a:t>
              </a:r>
            </a:p>
          </p:txBody>
        </p:sp>
        <p:sp>
          <p:nvSpPr>
            <p:cNvPr id="36905" name="AutoShape 43"/>
            <p:cNvSpPr>
              <a:spLocks noChangeArrowheads="1"/>
            </p:cNvSpPr>
            <p:nvPr/>
          </p:nvSpPr>
          <p:spPr bwMode="auto">
            <a:xfrm>
              <a:off x="1333" y="1149"/>
              <a:ext cx="343" cy="472"/>
            </a:xfrm>
            <a:prstGeom prst="cube">
              <a:avLst>
                <a:gd name="adj" fmla="val 12537"/>
              </a:avLst>
            </a:pr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2215"/>
            </a:p>
          </p:txBody>
        </p:sp>
        <p:sp>
          <p:nvSpPr>
            <p:cNvPr id="36906" name="Text Box 44"/>
            <p:cNvSpPr txBox="1">
              <a:spLocks noChangeArrowheads="1"/>
            </p:cNvSpPr>
            <p:nvPr/>
          </p:nvSpPr>
          <p:spPr bwMode="auto">
            <a:xfrm>
              <a:off x="1353" y="1219"/>
              <a:ext cx="259" cy="3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en-US" sz="1477" b="1">
                  <a:solidFill>
                    <a:srgbClr val="FFCC99"/>
                  </a:solidFill>
                  <a:latin typeface="Arial" panose="020B0604020202020204" pitchFamily="34" charset="0"/>
                </a:rPr>
                <a:t>Yr  2</a:t>
              </a:r>
            </a:p>
          </p:txBody>
        </p:sp>
        <p:sp>
          <p:nvSpPr>
            <p:cNvPr id="36907" name="AutoShape 45"/>
            <p:cNvSpPr>
              <a:spLocks noChangeArrowheads="1"/>
            </p:cNvSpPr>
            <p:nvPr/>
          </p:nvSpPr>
          <p:spPr bwMode="auto">
            <a:xfrm>
              <a:off x="971" y="2667"/>
              <a:ext cx="356" cy="475"/>
            </a:xfrm>
            <a:prstGeom prst="cube">
              <a:avLst>
                <a:gd name="adj" fmla="val 15838"/>
              </a:avLst>
            </a:pr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2215"/>
            </a:p>
          </p:txBody>
        </p:sp>
        <p:sp>
          <p:nvSpPr>
            <p:cNvPr id="36908" name="Text Box 46"/>
            <p:cNvSpPr txBox="1">
              <a:spLocks noChangeArrowheads="1"/>
            </p:cNvSpPr>
            <p:nvPr/>
          </p:nvSpPr>
          <p:spPr bwMode="auto">
            <a:xfrm>
              <a:off x="1002" y="2751"/>
              <a:ext cx="262" cy="3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en-US" sz="1477" b="1">
                  <a:solidFill>
                    <a:srgbClr val="FFCC99"/>
                  </a:solidFill>
                  <a:latin typeface="Arial" panose="020B0604020202020204" pitchFamily="34" charset="0"/>
                </a:rPr>
                <a:t>Yr  1</a:t>
              </a:r>
            </a:p>
          </p:txBody>
        </p:sp>
        <p:sp>
          <p:nvSpPr>
            <p:cNvPr id="36909" name="AutoShape 47"/>
            <p:cNvSpPr>
              <a:spLocks noChangeArrowheads="1"/>
            </p:cNvSpPr>
            <p:nvPr/>
          </p:nvSpPr>
          <p:spPr bwMode="auto">
            <a:xfrm>
              <a:off x="1303" y="2667"/>
              <a:ext cx="491" cy="475"/>
            </a:xfrm>
            <a:prstGeom prst="cube">
              <a:avLst>
                <a:gd name="adj" fmla="val 11829"/>
              </a:avLst>
            </a:pr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2215"/>
            </a:p>
          </p:txBody>
        </p:sp>
        <p:sp>
          <p:nvSpPr>
            <p:cNvPr id="36910" name="Text Box 48"/>
            <p:cNvSpPr txBox="1">
              <a:spLocks noChangeArrowheads="1"/>
            </p:cNvSpPr>
            <p:nvPr/>
          </p:nvSpPr>
          <p:spPr bwMode="auto">
            <a:xfrm>
              <a:off x="1350" y="2751"/>
              <a:ext cx="349" cy="3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en-US" sz="1477" b="1">
                  <a:solidFill>
                    <a:srgbClr val="FFCC99"/>
                  </a:solidFill>
                  <a:latin typeface="Arial" panose="020B0604020202020204" pitchFamily="34" charset="0"/>
                </a:rPr>
                <a:t>Yr   2</a:t>
              </a:r>
            </a:p>
          </p:txBody>
        </p:sp>
        <p:sp>
          <p:nvSpPr>
            <p:cNvPr id="36911" name="AutoShape 49"/>
            <p:cNvSpPr>
              <a:spLocks noChangeArrowheads="1"/>
            </p:cNvSpPr>
            <p:nvPr/>
          </p:nvSpPr>
          <p:spPr bwMode="auto">
            <a:xfrm>
              <a:off x="1770" y="2667"/>
              <a:ext cx="210" cy="477"/>
            </a:xfrm>
            <a:prstGeom prst="cube">
              <a:avLst>
                <a:gd name="adj" fmla="val 30769"/>
              </a:avLst>
            </a:pr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2215"/>
            </a:p>
          </p:txBody>
        </p:sp>
        <p:sp>
          <p:nvSpPr>
            <p:cNvPr id="36912" name="Text Box 50"/>
            <p:cNvSpPr txBox="1">
              <a:spLocks noChangeArrowheads="1"/>
            </p:cNvSpPr>
            <p:nvPr/>
          </p:nvSpPr>
          <p:spPr bwMode="auto">
            <a:xfrm>
              <a:off x="1685" y="2751"/>
              <a:ext cx="304" cy="3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en-US" sz="1477" b="1">
                  <a:solidFill>
                    <a:srgbClr val="FFCC99"/>
                  </a:solidFill>
                  <a:latin typeface="Arial" panose="020B0604020202020204" pitchFamily="34" charset="0"/>
                </a:rPr>
                <a:t>Yr   3</a:t>
              </a:r>
            </a:p>
          </p:txBody>
        </p:sp>
        <p:grpSp>
          <p:nvGrpSpPr>
            <p:cNvPr id="36913" name="Group 51"/>
            <p:cNvGrpSpPr>
              <a:grpSpLocks/>
            </p:cNvGrpSpPr>
            <p:nvPr/>
          </p:nvGrpSpPr>
          <p:grpSpPr bwMode="auto">
            <a:xfrm>
              <a:off x="1954" y="2667"/>
              <a:ext cx="996" cy="475"/>
              <a:chOff x="2134" y="1927"/>
              <a:chExt cx="898" cy="428"/>
            </a:xfrm>
          </p:grpSpPr>
          <p:sp>
            <p:nvSpPr>
              <p:cNvPr id="36932" name="AutoShape 52"/>
              <p:cNvSpPr>
                <a:spLocks noChangeArrowheads="1"/>
              </p:cNvSpPr>
              <p:nvPr/>
            </p:nvSpPr>
            <p:spPr bwMode="auto">
              <a:xfrm>
                <a:off x="2134" y="1927"/>
                <a:ext cx="898" cy="428"/>
              </a:xfrm>
              <a:prstGeom prst="cube">
                <a:avLst>
                  <a:gd name="adj" fmla="val 11917"/>
                </a:avLst>
              </a:prstGeom>
              <a:solidFill>
                <a:srgbClr val="CC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37931725" indent="-37474525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en-US" altLang="en-US" sz="2215"/>
              </a:p>
            </p:txBody>
          </p:sp>
          <p:sp>
            <p:nvSpPr>
              <p:cNvPr id="36933" name="Text Box 53"/>
              <p:cNvSpPr txBox="1">
                <a:spLocks noChangeArrowheads="1"/>
              </p:cNvSpPr>
              <p:nvPr/>
            </p:nvSpPr>
            <p:spPr bwMode="auto">
              <a:xfrm>
                <a:off x="2380" y="2003"/>
                <a:ext cx="303" cy="3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37931725" indent="-37474525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GB" altLang="en-US" sz="1477" b="1">
                    <a:solidFill>
                      <a:srgbClr val="FFCC99"/>
                    </a:solidFill>
                    <a:latin typeface="Arial" panose="020B0604020202020204" pitchFamily="34" charset="0"/>
                  </a:rPr>
                  <a:t>Yr   4</a:t>
                </a:r>
              </a:p>
            </p:txBody>
          </p:sp>
        </p:grpSp>
        <p:sp>
          <p:nvSpPr>
            <p:cNvPr id="36914" name="AutoShape 54"/>
            <p:cNvSpPr>
              <a:spLocks noChangeArrowheads="1"/>
            </p:cNvSpPr>
            <p:nvPr/>
          </p:nvSpPr>
          <p:spPr bwMode="auto">
            <a:xfrm>
              <a:off x="2926" y="2667"/>
              <a:ext cx="2240" cy="475"/>
            </a:xfrm>
            <a:prstGeom prst="cube">
              <a:avLst>
                <a:gd name="adj" fmla="val 11917"/>
              </a:avLst>
            </a:pr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2215"/>
            </a:p>
          </p:txBody>
        </p:sp>
        <p:sp>
          <p:nvSpPr>
            <p:cNvPr id="36915" name="Text Box 55"/>
            <p:cNvSpPr txBox="1">
              <a:spLocks noChangeArrowheads="1"/>
            </p:cNvSpPr>
            <p:nvPr/>
          </p:nvSpPr>
          <p:spPr bwMode="auto">
            <a:xfrm>
              <a:off x="4030" y="2770"/>
              <a:ext cx="336" cy="3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en-US" sz="1477" b="1">
                  <a:solidFill>
                    <a:srgbClr val="FFCC99"/>
                  </a:solidFill>
                  <a:latin typeface="Arial" panose="020B0604020202020204" pitchFamily="34" charset="0"/>
                </a:rPr>
                <a:t>Yr   5</a:t>
              </a:r>
            </a:p>
          </p:txBody>
        </p:sp>
        <p:sp>
          <p:nvSpPr>
            <p:cNvPr id="36916" name="Text Box 56"/>
            <p:cNvSpPr txBox="1">
              <a:spLocks noChangeArrowheads="1"/>
            </p:cNvSpPr>
            <p:nvPr/>
          </p:nvSpPr>
          <p:spPr bwMode="auto">
            <a:xfrm>
              <a:off x="911" y="2011"/>
              <a:ext cx="219" cy="2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en-US" sz="1108" b="1">
                  <a:solidFill>
                    <a:srgbClr val="FFCC99"/>
                  </a:solidFill>
                  <a:latin typeface="Arial" panose="020B0604020202020204" pitchFamily="34" charset="0"/>
                </a:rPr>
                <a:t>Yr1</a:t>
              </a:r>
            </a:p>
          </p:txBody>
        </p:sp>
        <p:sp>
          <p:nvSpPr>
            <p:cNvPr id="36917" name="Text Box 57"/>
            <p:cNvSpPr txBox="1">
              <a:spLocks noChangeArrowheads="1"/>
            </p:cNvSpPr>
            <p:nvPr/>
          </p:nvSpPr>
          <p:spPr bwMode="auto">
            <a:xfrm>
              <a:off x="1082" y="634"/>
              <a:ext cx="811" cy="3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en-US" sz="1569" b="1" i="1">
                  <a:latin typeface="Arial" panose="020B0604020202020204" pitchFamily="34" charset="0"/>
                </a:rPr>
                <a:t>Payback period</a:t>
              </a:r>
            </a:p>
          </p:txBody>
        </p:sp>
        <p:sp>
          <p:nvSpPr>
            <p:cNvPr id="36918" name="AutoShape 58"/>
            <p:cNvSpPr>
              <a:spLocks noChangeArrowheads="1"/>
            </p:cNvSpPr>
            <p:nvPr/>
          </p:nvSpPr>
          <p:spPr bwMode="auto">
            <a:xfrm>
              <a:off x="2267" y="497"/>
              <a:ext cx="914" cy="289"/>
            </a:xfrm>
            <a:prstGeom prst="roundRect">
              <a:avLst>
                <a:gd name="adj" fmla="val 16667"/>
              </a:avLst>
            </a:prstGeom>
            <a:solidFill>
              <a:srgbClr val="E0C0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2215"/>
            </a:p>
          </p:txBody>
        </p:sp>
        <p:sp>
          <p:nvSpPr>
            <p:cNvPr id="36919" name="Text Box 59"/>
            <p:cNvSpPr txBox="1">
              <a:spLocks noChangeArrowheads="1"/>
            </p:cNvSpPr>
            <p:nvPr/>
          </p:nvSpPr>
          <p:spPr bwMode="auto">
            <a:xfrm>
              <a:off x="2214" y="535"/>
              <a:ext cx="1027" cy="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en-US" sz="1477" b="1" i="1">
                  <a:latin typeface="Arial" panose="020B0604020202020204" pitchFamily="34" charset="0"/>
                </a:rPr>
                <a:t>Initial outlay</a:t>
              </a:r>
            </a:p>
          </p:txBody>
        </p:sp>
        <p:sp>
          <p:nvSpPr>
            <p:cNvPr id="36920" name="AutoShape 60"/>
            <p:cNvSpPr>
              <a:spLocks noChangeArrowheads="1"/>
            </p:cNvSpPr>
            <p:nvPr/>
          </p:nvSpPr>
          <p:spPr bwMode="auto">
            <a:xfrm>
              <a:off x="1965" y="518"/>
              <a:ext cx="306" cy="262"/>
            </a:xfrm>
            <a:prstGeom prst="leftArrow">
              <a:avLst>
                <a:gd name="adj1" fmla="val 49620"/>
                <a:gd name="adj2" fmla="val 38547"/>
              </a:avLst>
            </a:prstGeom>
            <a:solidFill>
              <a:srgbClr val="E0C0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2215"/>
            </a:p>
          </p:txBody>
        </p:sp>
        <p:sp>
          <p:nvSpPr>
            <p:cNvPr id="36921" name="AutoShape 61"/>
            <p:cNvSpPr>
              <a:spLocks noChangeArrowheads="1"/>
            </p:cNvSpPr>
            <p:nvPr/>
          </p:nvSpPr>
          <p:spPr bwMode="auto">
            <a:xfrm>
              <a:off x="1665" y="1145"/>
              <a:ext cx="328" cy="476"/>
            </a:xfrm>
            <a:prstGeom prst="cube">
              <a:avLst>
                <a:gd name="adj" fmla="val 11778"/>
              </a:avLst>
            </a:pr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2215"/>
            </a:p>
          </p:txBody>
        </p:sp>
        <p:sp>
          <p:nvSpPr>
            <p:cNvPr id="36922" name="Line 62"/>
            <p:cNvSpPr>
              <a:spLocks noChangeShapeType="1"/>
            </p:cNvSpPr>
            <p:nvPr/>
          </p:nvSpPr>
          <p:spPr bwMode="auto">
            <a:xfrm flipV="1">
              <a:off x="1957" y="499"/>
              <a:ext cx="0" cy="2855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1662"/>
            </a:p>
          </p:txBody>
        </p:sp>
        <p:sp>
          <p:nvSpPr>
            <p:cNvPr id="36923" name="Text Box 63"/>
            <p:cNvSpPr txBox="1">
              <a:spLocks noChangeArrowheads="1"/>
            </p:cNvSpPr>
            <p:nvPr/>
          </p:nvSpPr>
          <p:spPr bwMode="auto">
            <a:xfrm>
              <a:off x="1677" y="1224"/>
              <a:ext cx="267" cy="3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en-US" sz="1477" b="1">
                  <a:solidFill>
                    <a:srgbClr val="FFCC99"/>
                  </a:solidFill>
                  <a:latin typeface="Arial" panose="020B0604020202020204" pitchFamily="34" charset="0"/>
                </a:rPr>
                <a:t>Yr  3</a:t>
              </a:r>
            </a:p>
          </p:txBody>
        </p:sp>
        <p:sp>
          <p:nvSpPr>
            <p:cNvPr id="36924" name="AutoShape 64"/>
            <p:cNvSpPr>
              <a:spLocks noChangeArrowheads="1"/>
            </p:cNvSpPr>
            <p:nvPr/>
          </p:nvSpPr>
          <p:spPr bwMode="auto">
            <a:xfrm>
              <a:off x="1987" y="1145"/>
              <a:ext cx="441" cy="478"/>
            </a:xfrm>
            <a:prstGeom prst="cube">
              <a:avLst>
                <a:gd name="adj" fmla="val 13380"/>
              </a:avLst>
            </a:pr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2215"/>
            </a:p>
          </p:txBody>
        </p:sp>
        <p:sp>
          <p:nvSpPr>
            <p:cNvPr id="36925" name="AutoShape 65"/>
            <p:cNvSpPr>
              <a:spLocks noChangeArrowheads="1"/>
            </p:cNvSpPr>
            <p:nvPr/>
          </p:nvSpPr>
          <p:spPr bwMode="auto">
            <a:xfrm>
              <a:off x="2415" y="1149"/>
              <a:ext cx="424" cy="474"/>
            </a:xfrm>
            <a:prstGeom prst="cube">
              <a:avLst>
                <a:gd name="adj" fmla="val 12981"/>
              </a:avLst>
            </a:pr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2215"/>
            </a:p>
          </p:txBody>
        </p:sp>
        <p:sp>
          <p:nvSpPr>
            <p:cNvPr id="36926" name="Text Box 66"/>
            <p:cNvSpPr txBox="1">
              <a:spLocks noChangeArrowheads="1"/>
            </p:cNvSpPr>
            <p:nvPr/>
          </p:nvSpPr>
          <p:spPr bwMode="auto">
            <a:xfrm>
              <a:off x="2039" y="1227"/>
              <a:ext cx="274" cy="3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en-US" sz="1477" b="1">
                  <a:solidFill>
                    <a:srgbClr val="FFCC99"/>
                  </a:solidFill>
                  <a:latin typeface="Arial" panose="020B0604020202020204" pitchFamily="34" charset="0"/>
                </a:rPr>
                <a:t>Yr  4</a:t>
              </a:r>
            </a:p>
          </p:txBody>
        </p:sp>
        <p:sp>
          <p:nvSpPr>
            <p:cNvPr id="36927" name="Text Box 67"/>
            <p:cNvSpPr txBox="1">
              <a:spLocks noChangeArrowheads="1"/>
            </p:cNvSpPr>
            <p:nvPr/>
          </p:nvSpPr>
          <p:spPr bwMode="auto">
            <a:xfrm>
              <a:off x="2438" y="1226"/>
              <a:ext cx="336" cy="3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en-US" sz="1477" b="1">
                  <a:solidFill>
                    <a:srgbClr val="FFCC99"/>
                  </a:solidFill>
                  <a:latin typeface="Arial" panose="020B0604020202020204" pitchFamily="34" charset="0"/>
                </a:rPr>
                <a:t>Yr   5</a:t>
              </a:r>
            </a:p>
          </p:txBody>
        </p:sp>
        <p:sp>
          <p:nvSpPr>
            <p:cNvPr id="36928" name="AutoShape 68"/>
            <p:cNvSpPr>
              <a:spLocks noChangeArrowheads="1"/>
            </p:cNvSpPr>
            <p:nvPr/>
          </p:nvSpPr>
          <p:spPr bwMode="auto">
            <a:xfrm>
              <a:off x="1980" y="1910"/>
              <a:ext cx="128" cy="475"/>
            </a:xfrm>
            <a:prstGeom prst="cube">
              <a:avLst>
                <a:gd name="adj" fmla="val 38398"/>
              </a:avLst>
            </a:pr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2215"/>
            </a:p>
          </p:txBody>
        </p:sp>
        <p:sp>
          <p:nvSpPr>
            <p:cNvPr id="36929" name="AutoShape 69"/>
            <p:cNvSpPr>
              <a:spLocks noChangeArrowheads="1"/>
            </p:cNvSpPr>
            <p:nvPr/>
          </p:nvSpPr>
          <p:spPr bwMode="auto">
            <a:xfrm>
              <a:off x="2095" y="1910"/>
              <a:ext cx="184" cy="477"/>
            </a:xfrm>
            <a:prstGeom prst="cube">
              <a:avLst>
                <a:gd name="adj" fmla="val 25000"/>
              </a:avLst>
            </a:pr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2215"/>
            </a:p>
          </p:txBody>
        </p:sp>
        <p:sp>
          <p:nvSpPr>
            <p:cNvPr id="36930" name="Text Box 70"/>
            <p:cNvSpPr txBox="1">
              <a:spLocks noChangeArrowheads="1"/>
            </p:cNvSpPr>
            <p:nvPr/>
          </p:nvSpPr>
          <p:spPr bwMode="auto">
            <a:xfrm>
              <a:off x="1982" y="2021"/>
              <a:ext cx="376" cy="2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en-US" sz="1108" b="1">
                  <a:solidFill>
                    <a:srgbClr val="FFCC99"/>
                  </a:solidFill>
                  <a:latin typeface="Arial" panose="020B0604020202020204" pitchFamily="34" charset="0"/>
                </a:rPr>
                <a:t>Yr </a:t>
              </a:r>
              <a:br>
                <a:rPr lang="en-GB" altLang="en-US" sz="1108" b="1">
                  <a:solidFill>
                    <a:srgbClr val="FFCC99"/>
                  </a:solidFill>
                  <a:latin typeface="Arial" panose="020B0604020202020204" pitchFamily="34" charset="0"/>
                </a:rPr>
              </a:br>
              <a:r>
                <a:rPr lang="en-GB" altLang="en-US" sz="1108" b="1">
                  <a:solidFill>
                    <a:srgbClr val="FFCC99"/>
                  </a:solidFill>
                  <a:latin typeface="Arial" panose="020B0604020202020204" pitchFamily="34" charset="0"/>
                </a:rPr>
                <a:t>5</a:t>
              </a:r>
            </a:p>
          </p:txBody>
        </p:sp>
        <p:sp>
          <p:nvSpPr>
            <p:cNvPr id="36931" name="Text Box 71"/>
            <p:cNvSpPr txBox="1">
              <a:spLocks noChangeArrowheads="1"/>
            </p:cNvSpPr>
            <p:nvPr/>
          </p:nvSpPr>
          <p:spPr bwMode="auto">
            <a:xfrm>
              <a:off x="1884" y="2025"/>
              <a:ext cx="278" cy="2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en-US" sz="1108" b="1">
                  <a:solidFill>
                    <a:srgbClr val="FFCC99"/>
                  </a:solidFill>
                  <a:latin typeface="Arial" panose="020B0604020202020204" pitchFamily="34" charset="0"/>
                </a:rPr>
                <a:t>Yr</a:t>
              </a:r>
              <a:br>
                <a:rPr lang="en-GB" altLang="en-US" sz="1108" b="1">
                  <a:solidFill>
                    <a:srgbClr val="FFCC99"/>
                  </a:solidFill>
                  <a:latin typeface="Arial" panose="020B0604020202020204" pitchFamily="34" charset="0"/>
                </a:rPr>
              </a:br>
              <a:r>
                <a:rPr lang="en-GB" altLang="en-US" sz="1108" b="1">
                  <a:solidFill>
                    <a:srgbClr val="FFCC99"/>
                  </a:solidFill>
                  <a:latin typeface="Arial" panose="020B0604020202020204" pitchFamily="34" charset="0"/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538298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0BDC9-9C46-44E3-AA0A-0D647C73E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380" y="908720"/>
            <a:ext cx="8075240" cy="998984"/>
          </a:xfrm>
        </p:spPr>
        <p:txBody>
          <a:bodyPr/>
          <a:lstStyle/>
          <a:p>
            <a:r>
              <a:rPr lang="en-GB" dirty="0"/>
              <a:t>Summary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EDDA0B-29BA-4126-88EA-AB69209C46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60" y="1907704"/>
            <a:ext cx="8075240" cy="4218459"/>
          </a:xfrm>
        </p:spPr>
        <p:txBody>
          <a:bodyPr>
            <a:normAutofit fontScale="25000" lnSpcReduction="20000"/>
          </a:bodyPr>
          <a:lstStyle/>
          <a:p>
            <a:r>
              <a:rPr lang="en-GB" sz="9600" dirty="0"/>
              <a:t>Capital projects are likely to be significant in both value and importance to organisations and may span several years.</a:t>
            </a:r>
          </a:p>
          <a:p>
            <a:endParaRPr lang="en-GB" sz="9600" dirty="0"/>
          </a:p>
          <a:p>
            <a:r>
              <a:rPr lang="en-GB" sz="9600" dirty="0"/>
              <a:t>Cash flows are estimated considering certainty and risk using forecasting techniques.</a:t>
            </a:r>
          </a:p>
          <a:p>
            <a:endParaRPr lang="en-GB" sz="9600" dirty="0"/>
          </a:p>
          <a:p>
            <a:r>
              <a:rPr lang="en-GB" sz="9600" dirty="0"/>
              <a:t>Appraisal techniques are used to aide decision making.</a:t>
            </a:r>
          </a:p>
          <a:p>
            <a:pPr marL="0" indent="0">
              <a:buNone/>
            </a:pPr>
            <a:endParaRPr lang="en-US" sz="9600" dirty="0"/>
          </a:p>
          <a:p>
            <a:r>
              <a:rPr lang="en-GB" sz="9600" dirty="0"/>
              <a:t>The most common techniques are ARR, Payback, NPV and IRR. </a:t>
            </a:r>
            <a:endParaRPr lang="en-US" sz="9600" dirty="0"/>
          </a:p>
          <a:p>
            <a:endParaRPr lang="en-US" sz="86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679548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Heriot-Watt">
      <a:dk1>
        <a:srgbClr val="5E6A71"/>
      </a:dk1>
      <a:lt1>
        <a:srgbClr val="FFFFFF"/>
      </a:lt1>
      <a:dk2>
        <a:srgbClr val="0098DB"/>
      </a:dk2>
      <a:lt2>
        <a:srgbClr val="00549F"/>
      </a:lt2>
      <a:accent1>
        <a:srgbClr val="0098DB"/>
      </a:accent1>
      <a:accent2>
        <a:srgbClr val="A5ACAF"/>
      </a:accent2>
      <a:accent3>
        <a:srgbClr val="5E6A71"/>
      </a:accent3>
      <a:accent4>
        <a:srgbClr val="00549F"/>
      </a:accent4>
      <a:accent5>
        <a:srgbClr val="72BCFF"/>
      </a:accent5>
      <a:accent6>
        <a:srgbClr val="BCC3C7"/>
      </a:accent6>
      <a:hlink>
        <a:srgbClr val="0098DB"/>
      </a:hlink>
      <a:folHlink>
        <a:srgbClr val="A5ACA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Theme">
  <a:themeElements>
    <a:clrScheme name="Heriot-Watt">
      <a:dk1>
        <a:srgbClr val="5E6A71"/>
      </a:dk1>
      <a:lt1>
        <a:srgbClr val="FFFFFF"/>
      </a:lt1>
      <a:dk2>
        <a:srgbClr val="0098DB"/>
      </a:dk2>
      <a:lt2>
        <a:srgbClr val="00549F"/>
      </a:lt2>
      <a:accent1>
        <a:srgbClr val="0098DB"/>
      </a:accent1>
      <a:accent2>
        <a:srgbClr val="A5ACAF"/>
      </a:accent2>
      <a:accent3>
        <a:srgbClr val="5E6A71"/>
      </a:accent3>
      <a:accent4>
        <a:srgbClr val="00549F"/>
      </a:accent4>
      <a:accent5>
        <a:srgbClr val="72BCFF"/>
      </a:accent5>
      <a:accent6>
        <a:srgbClr val="BCC3C7"/>
      </a:accent6>
      <a:hlink>
        <a:srgbClr val="0098DB"/>
      </a:hlink>
      <a:folHlink>
        <a:srgbClr val="A5ACA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4_Office Theme">
  <a:themeElements>
    <a:clrScheme name="Heriot-Watt">
      <a:dk1>
        <a:srgbClr val="5E6A71"/>
      </a:dk1>
      <a:lt1>
        <a:srgbClr val="FFFFFF"/>
      </a:lt1>
      <a:dk2>
        <a:srgbClr val="0098DB"/>
      </a:dk2>
      <a:lt2>
        <a:srgbClr val="00549F"/>
      </a:lt2>
      <a:accent1>
        <a:srgbClr val="0098DB"/>
      </a:accent1>
      <a:accent2>
        <a:srgbClr val="FFFFF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Office Theme">
  <a:themeElements>
    <a:clrScheme name="Heriot-Watt">
      <a:dk1>
        <a:srgbClr val="5E6A71"/>
      </a:dk1>
      <a:lt1>
        <a:srgbClr val="FFFFFF"/>
      </a:lt1>
      <a:dk2>
        <a:srgbClr val="0098DB"/>
      </a:dk2>
      <a:lt2>
        <a:srgbClr val="00549F"/>
      </a:lt2>
      <a:accent1>
        <a:srgbClr val="0098DB"/>
      </a:accent1>
      <a:accent2>
        <a:srgbClr val="FFFFF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5_Office Theme">
  <a:themeElements>
    <a:clrScheme name="Heriot-Watt">
      <a:dk1>
        <a:srgbClr val="5E6A71"/>
      </a:dk1>
      <a:lt1>
        <a:srgbClr val="FFFFFF"/>
      </a:lt1>
      <a:dk2>
        <a:srgbClr val="0098DB"/>
      </a:dk2>
      <a:lt2>
        <a:srgbClr val="00549F"/>
      </a:lt2>
      <a:accent1>
        <a:srgbClr val="0098DB"/>
      </a:accent1>
      <a:accent2>
        <a:srgbClr val="FFFFF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EE07C38512818468275603CD5E61BA0" ma:contentTypeVersion="0" ma:contentTypeDescription="Create a new document." ma:contentTypeScope="" ma:versionID="bffdf6d8b42402b1618094c717ddf4d4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aa1222beb234debe96d12a98d24ff8a0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79AB7AB-D87E-4CE6-8813-9B5D560C3A7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6FC14F33-A9A2-48F1-A0A9-DB146E88F93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F7ACEBA-99EE-4B9A-99FE-F9695B41FA99}">
  <ds:schemaRefs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569</TotalTime>
  <Words>941</Words>
  <Application>Microsoft Office PowerPoint</Application>
  <PresentationFormat>On-screen Show (4:3)</PresentationFormat>
  <Paragraphs>161</Paragraphs>
  <Slides>19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ＭＳ Ｐゴシック</vt:lpstr>
      <vt:lpstr>Arial</vt:lpstr>
      <vt:lpstr>Calibri</vt:lpstr>
      <vt:lpstr>Times New Roman</vt:lpstr>
      <vt:lpstr>1_Office Theme</vt:lpstr>
      <vt:lpstr>2_Office Theme</vt:lpstr>
      <vt:lpstr>4_Office Theme</vt:lpstr>
      <vt:lpstr>3_Office Theme</vt:lpstr>
      <vt:lpstr>5_Office Theme</vt:lpstr>
      <vt:lpstr>Capital Investment Decisions</vt:lpstr>
      <vt:lpstr>PowerPoint Presentation</vt:lpstr>
      <vt:lpstr>‘Project’</vt:lpstr>
      <vt:lpstr>Capital investment decisions</vt:lpstr>
      <vt:lpstr>Selecting projects</vt:lpstr>
      <vt:lpstr>PowerPoint Presentation</vt:lpstr>
      <vt:lpstr>PowerPoint Presentation</vt:lpstr>
      <vt:lpstr>PowerPoint Presentation</vt:lpstr>
      <vt:lpstr>PowerPoint Presentation</vt:lpstr>
      <vt:lpstr>Advantages</vt:lpstr>
      <vt:lpstr>Disadvantages</vt:lpstr>
      <vt:lpstr>    Disadvantages </vt:lpstr>
      <vt:lpstr>PowerPoint Presentation</vt:lpstr>
      <vt:lpstr>PowerPoint Presentation</vt:lpstr>
      <vt:lpstr>PowerPoint Presentation</vt:lpstr>
      <vt:lpstr>Advantages</vt:lpstr>
      <vt:lpstr>Disadvantages</vt:lpstr>
      <vt:lpstr>PowerPoint Presentation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Iain McGeary</dc:creator>
  <cp:lastModifiedBy>Marney, John-Paul</cp:lastModifiedBy>
  <cp:revision>38</cp:revision>
  <cp:lastPrinted>2019-11-04T17:42:15Z</cp:lastPrinted>
  <dcterms:created xsi:type="dcterms:W3CDTF">2016-02-11T16:23:53Z</dcterms:created>
  <dcterms:modified xsi:type="dcterms:W3CDTF">2024-02-21T12:57:57Z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0x0101006EE07C38512818468275603CD5E61BA0</vt:lpwstr>
  </property>
</Properties>
</file>