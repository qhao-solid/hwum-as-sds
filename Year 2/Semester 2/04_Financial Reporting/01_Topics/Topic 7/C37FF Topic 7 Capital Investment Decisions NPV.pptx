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318" r:id="rId10"/>
    <p:sldId id="264" r:id="rId11"/>
    <p:sldId id="266" r:id="rId12"/>
    <p:sldId id="267" r:id="rId13"/>
    <p:sldId id="268" r:id="rId14"/>
    <p:sldId id="270" r:id="rId15"/>
    <p:sldId id="275" r:id="rId16"/>
    <p:sldId id="265" r:id="rId17"/>
    <p:sldId id="269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3" r:id="rId38"/>
    <p:sldId id="297" r:id="rId39"/>
    <p:sldId id="319" r:id="rId40"/>
    <p:sldId id="320" r:id="rId41"/>
    <p:sldId id="32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606C"/>
    <a:srgbClr val="5E6971"/>
    <a:srgbClr val="039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1305B-19E1-A74C-BCB7-C4F213BF3DE6}" v="247" dt="2021-01-15T05:42:16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2"/>
    <p:restoredTop sz="93558"/>
  </p:normalViewPr>
  <p:slideViewPr>
    <p:cSldViewPr snapToGrid="0" snapToObjects="1" showGuides="1">
      <p:cViewPr varScale="1">
        <p:scale>
          <a:sx n="84" d="100"/>
          <a:sy n="84" d="100"/>
        </p:scale>
        <p:origin x="64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A0EED3-1BD7-394E-9D35-583DF8BC86DC}" type="doc">
      <dgm:prSet loTypeId="urn:microsoft.com/office/officeart/2005/8/layout/arrow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7CA4FB-28DF-0B43-90CE-B23106B2DC8B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/>
            <a:t>£10,000 Today</a:t>
          </a:r>
        </a:p>
      </dgm:t>
    </dgm:pt>
    <dgm:pt modelId="{8BC60EB7-9C4D-8541-85B3-A5899A707D17}" type="parTrans" cxnId="{BAE306C2-49F9-9547-A778-13F55CA32ECC}">
      <dgm:prSet/>
      <dgm:spPr/>
      <dgm:t>
        <a:bodyPr/>
        <a:lstStyle/>
        <a:p>
          <a:endParaRPr lang="en-US"/>
        </a:p>
      </dgm:t>
    </dgm:pt>
    <dgm:pt modelId="{18D507C5-61BF-4443-B9E9-557906D73881}" type="sibTrans" cxnId="{BAE306C2-49F9-9547-A778-13F55CA32ECC}">
      <dgm:prSet/>
      <dgm:spPr/>
      <dgm:t>
        <a:bodyPr/>
        <a:lstStyle/>
        <a:p>
          <a:endParaRPr lang="en-US"/>
        </a:p>
      </dgm:t>
    </dgm:pt>
    <dgm:pt modelId="{1DDC2E6A-43F1-7540-A2CE-DE0099BCF8CF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/>
            <a:t>£11,424 Next Year</a:t>
          </a:r>
        </a:p>
      </dgm:t>
    </dgm:pt>
    <dgm:pt modelId="{30D4E89F-BDFA-8F4C-A860-7D6DA3C836B1}" type="parTrans" cxnId="{EE8F54F6-6F0B-A147-BD99-23E53F9D3DED}">
      <dgm:prSet/>
      <dgm:spPr/>
      <dgm:t>
        <a:bodyPr/>
        <a:lstStyle/>
        <a:p>
          <a:endParaRPr lang="en-US"/>
        </a:p>
      </dgm:t>
    </dgm:pt>
    <dgm:pt modelId="{73A17DFB-E732-4E4C-96CD-FB99C660CE62}" type="sibTrans" cxnId="{EE8F54F6-6F0B-A147-BD99-23E53F9D3DED}">
      <dgm:prSet/>
      <dgm:spPr/>
      <dgm:t>
        <a:bodyPr/>
        <a:lstStyle/>
        <a:p>
          <a:endParaRPr lang="en-US"/>
        </a:p>
      </dgm:t>
    </dgm:pt>
    <dgm:pt modelId="{8743CD66-98E0-024F-8032-ABCC9B353AA9}" type="pres">
      <dgm:prSet presAssocID="{6EA0EED3-1BD7-394E-9D35-583DF8BC86DC}" presName="diagram" presStyleCnt="0">
        <dgm:presLayoutVars>
          <dgm:dir/>
          <dgm:resizeHandles val="exact"/>
        </dgm:presLayoutVars>
      </dgm:prSet>
      <dgm:spPr/>
    </dgm:pt>
    <dgm:pt modelId="{8A117F30-7BAA-4746-9C55-55615DC5C95D}" type="pres">
      <dgm:prSet presAssocID="{F17CA4FB-28DF-0B43-90CE-B23106B2DC8B}" presName="arrow" presStyleLbl="node1" presStyleIdx="0" presStyleCnt="2">
        <dgm:presLayoutVars>
          <dgm:bulletEnabled val="1"/>
        </dgm:presLayoutVars>
      </dgm:prSet>
      <dgm:spPr/>
    </dgm:pt>
    <dgm:pt modelId="{08148F9F-A8EB-9D40-96B3-E46A838CDC47}" type="pres">
      <dgm:prSet presAssocID="{1DDC2E6A-43F1-7540-A2CE-DE0099BCF8CF}" presName="arrow" presStyleLbl="node1" presStyleIdx="1" presStyleCnt="2">
        <dgm:presLayoutVars>
          <dgm:bulletEnabled val="1"/>
        </dgm:presLayoutVars>
      </dgm:prSet>
      <dgm:spPr/>
    </dgm:pt>
  </dgm:ptLst>
  <dgm:cxnLst>
    <dgm:cxn modelId="{482E6349-BE87-AE4E-A1CD-4D97D9D5393E}" type="presOf" srcId="{6EA0EED3-1BD7-394E-9D35-583DF8BC86DC}" destId="{8743CD66-98E0-024F-8032-ABCC9B353AA9}" srcOrd="0" destOrd="0" presId="urn:microsoft.com/office/officeart/2005/8/layout/arrow5"/>
    <dgm:cxn modelId="{AF77776A-CC11-6E42-B81E-414ADAEE00A7}" type="presOf" srcId="{1DDC2E6A-43F1-7540-A2CE-DE0099BCF8CF}" destId="{08148F9F-A8EB-9D40-96B3-E46A838CDC47}" srcOrd="0" destOrd="0" presId="urn:microsoft.com/office/officeart/2005/8/layout/arrow5"/>
    <dgm:cxn modelId="{469BA756-6F69-7745-8519-C93E5D6D8970}" type="presOf" srcId="{F17CA4FB-28DF-0B43-90CE-B23106B2DC8B}" destId="{8A117F30-7BAA-4746-9C55-55615DC5C95D}" srcOrd="0" destOrd="0" presId="urn:microsoft.com/office/officeart/2005/8/layout/arrow5"/>
    <dgm:cxn modelId="{BAE306C2-49F9-9547-A778-13F55CA32ECC}" srcId="{6EA0EED3-1BD7-394E-9D35-583DF8BC86DC}" destId="{F17CA4FB-28DF-0B43-90CE-B23106B2DC8B}" srcOrd="0" destOrd="0" parTransId="{8BC60EB7-9C4D-8541-85B3-A5899A707D17}" sibTransId="{18D507C5-61BF-4443-B9E9-557906D73881}"/>
    <dgm:cxn modelId="{EE8F54F6-6F0B-A147-BD99-23E53F9D3DED}" srcId="{6EA0EED3-1BD7-394E-9D35-583DF8BC86DC}" destId="{1DDC2E6A-43F1-7540-A2CE-DE0099BCF8CF}" srcOrd="1" destOrd="0" parTransId="{30D4E89F-BDFA-8F4C-A860-7D6DA3C836B1}" sibTransId="{73A17DFB-E732-4E4C-96CD-FB99C660CE62}"/>
    <dgm:cxn modelId="{72BD0EE8-42ED-7C4B-8947-547F34F411F5}" type="presParOf" srcId="{8743CD66-98E0-024F-8032-ABCC9B353AA9}" destId="{8A117F30-7BAA-4746-9C55-55615DC5C95D}" srcOrd="0" destOrd="0" presId="urn:microsoft.com/office/officeart/2005/8/layout/arrow5"/>
    <dgm:cxn modelId="{E1DC6CC4-6C88-6046-8C51-6B2DB71E97DF}" type="presParOf" srcId="{8743CD66-98E0-024F-8032-ABCC9B353AA9}" destId="{08148F9F-A8EB-9D40-96B3-E46A838CDC47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A0EED3-1BD7-394E-9D35-583DF8BC86DC}" type="doc">
      <dgm:prSet loTypeId="urn:microsoft.com/office/officeart/2005/8/layout/arrow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7CA4FB-28DF-0B43-90CE-B23106B2DC8B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/>
            <a:t>£10,000 Today</a:t>
          </a:r>
        </a:p>
      </dgm:t>
    </dgm:pt>
    <dgm:pt modelId="{8BC60EB7-9C4D-8541-85B3-A5899A707D17}" type="parTrans" cxnId="{BAE306C2-49F9-9547-A778-13F55CA32ECC}">
      <dgm:prSet/>
      <dgm:spPr/>
      <dgm:t>
        <a:bodyPr/>
        <a:lstStyle/>
        <a:p>
          <a:endParaRPr lang="en-US"/>
        </a:p>
      </dgm:t>
    </dgm:pt>
    <dgm:pt modelId="{18D507C5-61BF-4443-B9E9-557906D73881}" type="sibTrans" cxnId="{BAE306C2-49F9-9547-A778-13F55CA32ECC}">
      <dgm:prSet/>
      <dgm:spPr/>
      <dgm:t>
        <a:bodyPr/>
        <a:lstStyle/>
        <a:p>
          <a:endParaRPr lang="en-US"/>
        </a:p>
      </dgm:t>
    </dgm:pt>
    <dgm:pt modelId="{1DDC2E6A-43F1-7540-A2CE-DE0099BCF8CF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/>
            <a:t>£11,424 Next Year</a:t>
          </a:r>
        </a:p>
      </dgm:t>
    </dgm:pt>
    <dgm:pt modelId="{30D4E89F-BDFA-8F4C-A860-7D6DA3C836B1}" type="parTrans" cxnId="{EE8F54F6-6F0B-A147-BD99-23E53F9D3DED}">
      <dgm:prSet/>
      <dgm:spPr/>
      <dgm:t>
        <a:bodyPr/>
        <a:lstStyle/>
        <a:p>
          <a:endParaRPr lang="en-US"/>
        </a:p>
      </dgm:t>
    </dgm:pt>
    <dgm:pt modelId="{73A17DFB-E732-4E4C-96CD-FB99C660CE62}" type="sibTrans" cxnId="{EE8F54F6-6F0B-A147-BD99-23E53F9D3DED}">
      <dgm:prSet/>
      <dgm:spPr/>
      <dgm:t>
        <a:bodyPr/>
        <a:lstStyle/>
        <a:p>
          <a:endParaRPr lang="en-US"/>
        </a:p>
      </dgm:t>
    </dgm:pt>
    <dgm:pt modelId="{8743CD66-98E0-024F-8032-ABCC9B353AA9}" type="pres">
      <dgm:prSet presAssocID="{6EA0EED3-1BD7-394E-9D35-583DF8BC86DC}" presName="diagram" presStyleCnt="0">
        <dgm:presLayoutVars>
          <dgm:dir/>
          <dgm:resizeHandles val="exact"/>
        </dgm:presLayoutVars>
      </dgm:prSet>
      <dgm:spPr/>
    </dgm:pt>
    <dgm:pt modelId="{8A117F30-7BAA-4746-9C55-55615DC5C95D}" type="pres">
      <dgm:prSet presAssocID="{F17CA4FB-28DF-0B43-90CE-B23106B2DC8B}" presName="arrow" presStyleLbl="node1" presStyleIdx="0" presStyleCnt="2">
        <dgm:presLayoutVars>
          <dgm:bulletEnabled val="1"/>
        </dgm:presLayoutVars>
      </dgm:prSet>
      <dgm:spPr/>
    </dgm:pt>
    <dgm:pt modelId="{08148F9F-A8EB-9D40-96B3-E46A838CDC47}" type="pres">
      <dgm:prSet presAssocID="{1DDC2E6A-43F1-7540-A2CE-DE0099BCF8CF}" presName="arrow" presStyleLbl="node1" presStyleIdx="1" presStyleCnt="2">
        <dgm:presLayoutVars>
          <dgm:bulletEnabled val="1"/>
        </dgm:presLayoutVars>
      </dgm:prSet>
      <dgm:spPr/>
    </dgm:pt>
  </dgm:ptLst>
  <dgm:cxnLst>
    <dgm:cxn modelId="{482E6349-BE87-AE4E-A1CD-4D97D9D5393E}" type="presOf" srcId="{6EA0EED3-1BD7-394E-9D35-583DF8BC86DC}" destId="{8743CD66-98E0-024F-8032-ABCC9B353AA9}" srcOrd="0" destOrd="0" presId="urn:microsoft.com/office/officeart/2005/8/layout/arrow5"/>
    <dgm:cxn modelId="{AF77776A-CC11-6E42-B81E-414ADAEE00A7}" type="presOf" srcId="{1DDC2E6A-43F1-7540-A2CE-DE0099BCF8CF}" destId="{08148F9F-A8EB-9D40-96B3-E46A838CDC47}" srcOrd="0" destOrd="0" presId="urn:microsoft.com/office/officeart/2005/8/layout/arrow5"/>
    <dgm:cxn modelId="{469BA756-6F69-7745-8519-C93E5D6D8970}" type="presOf" srcId="{F17CA4FB-28DF-0B43-90CE-B23106B2DC8B}" destId="{8A117F30-7BAA-4746-9C55-55615DC5C95D}" srcOrd="0" destOrd="0" presId="urn:microsoft.com/office/officeart/2005/8/layout/arrow5"/>
    <dgm:cxn modelId="{BAE306C2-49F9-9547-A778-13F55CA32ECC}" srcId="{6EA0EED3-1BD7-394E-9D35-583DF8BC86DC}" destId="{F17CA4FB-28DF-0B43-90CE-B23106B2DC8B}" srcOrd="0" destOrd="0" parTransId="{8BC60EB7-9C4D-8541-85B3-A5899A707D17}" sibTransId="{18D507C5-61BF-4443-B9E9-557906D73881}"/>
    <dgm:cxn modelId="{EE8F54F6-6F0B-A147-BD99-23E53F9D3DED}" srcId="{6EA0EED3-1BD7-394E-9D35-583DF8BC86DC}" destId="{1DDC2E6A-43F1-7540-A2CE-DE0099BCF8CF}" srcOrd="1" destOrd="0" parTransId="{30D4E89F-BDFA-8F4C-A860-7D6DA3C836B1}" sibTransId="{73A17DFB-E732-4E4C-96CD-FB99C660CE62}"/>
    <dgm:cxn modelId="{72BD0EE8-42ED-7C4B-8947-547F34F411F5}" type="presParOf" srcId="{8743CD66-98E0-024F-8032-ABCC9B353AA9}" destId="{8A117F30-7BAA-4746-9C55-55615DC5C95D}" srcOrd="0" destOrd="0" presId="urn:microsoft.com/office/officeart/2005/8/layout/arrow5"/>
    <dgm:cxn modelId="{E1DC6CC4-6C88-6046-8C51-6B2DB71E97DF}" type="presParOf" srcId="{8743CD66-98E0-024F-8032-ABCC9B353AA9}" destId="{08148F9F-A8EB-9D40-96B3-E46A838CDC47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17F30-7BAA-4746-9C55-55615DC5C95D}">
      <dsp:nvSpPr>
        <dsp:cNvPr id="0" name=""/>
        <dsp:cNvSpPr/>
      </dsp:nvSpPr>
      <dsp:spPr>
        <a:xfrm rot="16200000">
          <a:off x="939" y="679"/>
          <a:ext cx="4164240" cy="4164240"/>
        </a:xfrm>
        <a:prstGeom prst="downArrow">
          <a:avLst>
            <a:gd name="adj1" fmla="val 50000"/>
            <a:gd name="adj2" fmla="val 35000"/>
          </a:avLst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£10,000 Today</a:t>
          </a:r>
        </a:p>
      </dsp:txBody>
      <dsp:txXfrm rot="5400000">
        <a:off x="939" y="1041739"/>
        <a:ext cx="3435498" cy="2082120"/>
      </dsp:txXfrm>
    </dsp:sp>
    <dsp:sp modelId="{08148F9F-A8EB-9D40-96B3-E46A838CDC47}">
      <dsp:nvSpPr>
        <dsp:cNvPr id="0" name=""/>
        <dsp:cNvSpPr/>
      </dsp:nvSpPr>
      <dsp:spPr>
        <a:xfrm rot="5400000">
          <a:off x="6402806" y="679"/>
          <a:ext cx="4164240" cy="4164240"/>
        </a:xfrm>
        <a:prstGeom prst="downArrow">
          <a:avLst>
            <a:gd name="adj1" fmla="val 50000"/>
            <a:gd name="adj2" fmla="val 35000"/>
          </a:avLst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£11,424 Next Year</a:t>
          </a:r>
        </a:p>
      </dsp:txBody>
      <dsp:txXfrm rot="-5400000">
        <a:off x="7131548" y="1041739"/>
        <a:ext cx="3435498" cy="2082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117F30-7BAA-4746-9C55-55615DC5C95D}">
      <dsp:nvSpPr>
        <dsp:cNvPr id="0" name=""/>
        <dsp:cNvSpPr/>
      </dsp:nvSpPr>
      <dsp:spPr>
        <a:xfrm rot="16200000">
          <a:off x="939" y="679"/>
          <a:ext cx="4164240" cy="4164240"/>
        </a:xfrm>
        <a:prstGeom prst="downArrow">
          <a:avLst>
            <a:gd name="adj1" fmla="val 50000"/>
            <a:gd name="adj2" fmla="val 35000"/>
          </a:avLst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£10,000 Today</a:t>
          </a:r>
        </a:p>
      </dsp:txBody>
      <dsp:txXfrm rot="5400000">
        <a:off x="939" y="1041739"/>
        <a:ext cx="3435498" cy="2082120"/>
      </dsp:txXfrm>
    </dsp:sp>
    <dsp:sp modelId="{08148F9F-A8EB-9D40-96B3-E46A838CDC47}">
      <dsp:nvSpPr>
        <dsp:cNvPr id="0" name=""/>
        <dsp:cNvSpPr/>
      </dsp:nvSpPr>
      <dsp:spPr>
        <a:xfrm rot="5400000">
          <a:off x="6402806" y="679"/>
          <a:ext cx="4164240" cy="4164240"/>
        </a:xfrm>
        <a:prstGeom prst="downArrow">
          <a:avLst>
            <a:gd name="adj1" fmla="val 50000"/>
            <a:gd name="adj2" fmla="val 35000"/>
          </a:avLst>
        </a:prstGeom>
        <a:solidFill>
          <a:schemeClr val="tx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8488" tIns="348488" rIns="348488" bIns="348488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£11,424 Next Year</a:t>
          </a:r>
        </a:p>
      </dsp:txBody>
      <dsp:txXfrm rot="-5400000">
        <a:off x="7131548" y="1041739"/>
        <a:ext cx="3435498" cy="2082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knife&#10;&#10;Description automatically generated">
            <a:extLst>
              <a:ext uri="{FF2B5EF4-FFF2-40B4-BE49-F238E27FC236}">
                <a16:creationId xmlns:a16="http://schemas.microsoft.com/office/drawing/2014/main" id="{D65A4844-F476-5E4E-A6DD-D807BBD62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FCA8C-1961-234B-9478-A7A7E4413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228" y="1527477"/>
            <a:ext cx="10556111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F4228-97AF-254C-8367-860417297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228" y="4007152"/>
            <a:ext cx="10556111" cy="1655762"/>
          </a:xfrm>
        </p:spPr>
        <p:txBody>
          <a:bodyPr/>
          <a:lstStyle>
            <a:lvl1pPr marL="0" indent="0" algn="l">
              <a:buNone/>
              <a:defRPr sz="2400" b="0" i="1">
                <a:solidFill>
                  <a:schemeClr val="tx2">
                    <a:lumMod val="7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073085-19D8-C14F-81C3-2184531277C0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5" y="286020"/>
            <a:ext cx="1438275" cy="7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3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CBF7-E222-C849-9A01-4E9E2D9F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54" y="1131349"/>
            <a:ext cx="10567686" cy="988830"/>
          </a:xfrm>
        </p:spPr>
        <p:txBody>
          <a:bodyPr anchor="ctr"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5DA0B-0837-F342-9A1E-0D04F24C5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54" y="2222339"/>
            <a:ext cx="10567686" cy="416498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/>
            </a:lvl1pPr>
            <a:lvl2pPr>
              <a:lnSpc>
                <a:spcPct val="110000"/>
              </a:lnSpc>
              <a:defRPr sz="24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400"/>
            </a:lvl4pPr>
            <a:lvl5pPr>
              <a:lnSpc>
                <a:spcPct val="110000"/>
              </a:lnSpc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591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932E-DE4E-0343-B3A7-5716FDE8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69665"/>
          </a:xfrm>
        </p:spPr>
        <p:txBody>
          <a:bodyPr anchor="ctr">
            <a:normAutofit/>
          </a:bodyPr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23332-2281-3144-9A41-87237505A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22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69F8-ED47-BF41-BB1F-0E78378C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957" y="1290041"/>
            <a:ext cx="10515600" cy="988830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3930A-E771-0345-B1F1-634791CF0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957" y="2475639"/>
            <a:ext cx="5181600" cy="387360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26ABB-B15E-AE45-9703-2A391966A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957" y="2475639"/>
            <a:ext cx="5181600" cy="387360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751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7242E-7F28-194C-A076-A2B1F6771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705" y="1359947"/>
            <a:ext cx="10515600" cy="823912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CD9C9-3E1D-CF40-A646-14609E076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3117" y="226008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93722-63FA-6B41-9FA8-AA75A472F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293" y="3160224"/>
            <a:ext cx="5157787" cy="3214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FA667-1D3C-6D45-B421-7C8FA0D2F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8705" y="225125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AAA9A-C696-6148-853E-A6409AA03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8705" y="3160224"/>
            <a:ext cx="5183188" cy="3214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218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2DF-22D5-204D-B968-4B08A9102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7032"/>
            <a:ext cx="10515600" cy="98883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80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3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8F48-AF7A-F841-AF7C-0A0D415C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163256"/>
            <a:ext cx="3932237" cy="14989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0980-19E0-D44F-BBDD-380497BD0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63256"/>
            <a:ext cx="61722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11F2-8997-2644-A304-3DC133479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763456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789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CF328-3264-524D-A98E-3FB5F380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105383"/>
            <a:ext cx="3932237" cy="14989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26F02-F1DF-5248-A3AB-A625608B1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08960"/>
            <a:ext cx="6172200" cy="540821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11F46-83CB-9B43-860C-B2CCBE76D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70558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869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7646-41F9-7846-A62E-E9165B1A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6545"/>
            <a:ext cx="10515600" cy="98883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048FE-5B4A-0D45-8B84-BDC266174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418299"/>
            <a:ext cx="10515600" cy="395744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883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59825-03A3-7E40-9AAF-2D024FAC6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78601" y="1238490"/>
            <a:ext cx="2628900" cy="5366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1D0C4-7850-C543-AE0D-770AF7B56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1901" y="1238490"/>
            <a:ext cx="7734300" cy="536673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19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968793-B122-D243-BF40-3F29B3B7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763"/>
            <a:ext cx="10515600" cy="9888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DBCB6-6B16-DF4A-B11B-CDFAD0C68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19517"/>
            <a:ext cx="10515600" cy="3957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8D5FB9-14D8-2B46-A49F-135697A7AF39}"/>
              </a:ext>
            </a:extLst>
          </p:cNvPr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5" y="286020"/>
            <a:ext cx="1438275" cy="7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7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2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diagramLayout" Target="../diagrams/layout1.xml"/><Relationship Id="rId7" Type="http://schemas.openxmlformats.org/officeDocument/2006/relationships/oleObject" Target="../embeddings/oleObject1.bin"/><Relationship Id="rId12" Type="http://schemas.openxmlformats.org/officeDocument/2006/relationships/image" Target="../media/image6.em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oleObject" Target="../embeddings/oleObject3.bin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emf"/><Relationship Id="rId4" Type="http://schemas.openxmlformats.org/officeDocument/2006/relationships/diagramQuickStyle" Target="../diagrams/quickStyle1.xml"/><Relationship Id="rId9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diagramLayout" Target="../diagrams/layout2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9.em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oleObject" Target="../embeddings/oleObject6.bin"/><Relationship Id="rId5" Type="http://schemas.openxmlformats.org/officeDocument/2006/relationships/diagramColors" Target="../diagrams/colors2.xml"/><Relationship Id="rId10" Type="http://schemas.openxmlformats.org/officeDocument/2006/relationships/image" Target="../media/image8.emf"/><Relationship Id="rId4" Type="http://schemas.openxmlformats.org/officeDocument/2006/relationships/diagramQuickStyle" Target="../diagrams/quickStyle2.xml"/><Relationship Id="rId9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c/cfat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6098-51E1-A24B-A98E-01CADC891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C37ff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F3188-43E3-8545-967D-E68CD25A1E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i="0" dirty="0">
                <a:solidFill>
                  <a:schemeClr val="tx1"/>
                </a:solidFill>
              </a:rPr>
              <a:t>Time Value of Money and Net Present Value </a:t>
            </a:r>
          </a:p>
        </p:txBody>
      </p:sp>
    </p:spTree>
    <p:extLst>
      <p:ext uri="{BB962C8B-B14F-4D97-AF65-F5344CB8AC3E}">
        <p14:creationId xmlns:p14="http://schemas.microsoft.com/office/powerpoint/2010/main" val="85683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75550-8684-EB4A-9BEB-17A16AF9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7ABBD-CB0E-7E4F-8AC9-4543E585E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Valuation: The One-Period Case</a:t>
            </a:r>
          </a:p>
          <a:p>
            <a:r>
              <a:rPr lang="en-GB" dirty="0"/>
              <a:t>Valuation: The Multi-Period Case</a:t>
            </a:r>
          </a:p>
          <a:p>
            <a:r>
              <a:rPr lang="en-GB" dirty="0"/>
              <a:t>Compounding Periods</a:t>
            </a:r>
          </a:p>
          <a:p>
            <a:r>
              <a:rPr lang="en-GB" dirty="0"/>
              <a:t>Simplifications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76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8B78-45C3-A346-9D34-4106D10BC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dirty="0"/>
              <a:t>Valuation: </a:t>
            </a:r>
            <a:br>
              <a:rPr lang="en-GB" dirty="0"/>
            </a:br>
            <a:r>
              <a:rPr lang="en-GB" dirty="0"/>
              <a:t>The One-Period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58203-99A0-7745-B36A-DA961E911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Introducing the time value of money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412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477-5687-DC43-85C9-6138E900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36B7E-DD38-2F40-974F-DA3E91809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Money has time value</a:t>
            </a:r>
          </a:p>
          <a:p>
            <a:r>
              <a:rPr lang="en-GB" dirty="0"/>
              <a:t>That is, £100 receivable in two years does not have the same value as £100 now.</a:t>
            </a:r>
          </a:p>
          <a:p>
            <a:r>
              <a:rPr lang="en-GB" dirty="0"/>
              <a:t>Generally £100 now ≠ £100 in 1 year ≠ £100 in 2 years</a:t>
            </a:r>
          </a:p>
          <a:p>
            <a:r>
              <a:rPr lang="en-GB" dirty="0"/>
              <a:t>Therefore given the following cashflow, we cannot simply add everything up, and calculate a monetary return.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188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5144-0743-F949-B588-BC2ECF004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7800" y="1371600"/>
            <a:ext cx="3568540" cy="5015721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dirty="0"/>
              <a:t>One cannot say that this project returns a net sum of  +£50,000 as one cannot add unadjusted cashflow occurring at different points in time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GB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04D06DD7-5237-5A45-A2D5-87263A7C9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1079660" y="1371600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477-5687-DC43-85C9-6138E900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Time Value Of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36B7E-DD38-2F40-974F-DA3E91809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dirty="0"/>
              <a:t>Because a given amount of money receivable in the future does not have the same value as the same quantity receivable now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dirty="0"/>
              <a:t>Therefore Investment Analysis requires that sums receivable at different times in the future are adjusted using discounting before they can be added together.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dirty="0"/>
              <a:t>Discounting is the process of adjusting to a common time value.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dirty="0"/>
              <a:t>We could adjust everything to a common point in the future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dirty="0"/>
              <a:t>However, custom and practice is to adjust everything to year 0 equivalent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GB" dirty="0"/>
              <a:t>What is a future value worth in today’s £s?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23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B21A-11A8-6542-9E57-39E2B5A1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Year Zero Equivalence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768EA-2398-924D-94C6-595C453EA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Cash flows occurring at different points of time cannot be added together. </a:t>
            </a:r>
          </a:p>
          <a:p>
            <a:r>
              <a:rPr lang="en-GB" dirty="0"/>
              <a:t>2026 £s are not the same thing as 2025 £s are not the same as £s now.</a:t>
            </a:r>
          </a:p>
          <a:p>
            <a:r>
              <a:rPr lang="en-GB" dirty="0"/>
              <a:t>Therefore all future cash flow must be adjusted to the present or year 0 equivalent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539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39BC9-B311-5241-8516-670CFF97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Discounting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F46BB-F7D4-A948-B9EE-6C642892A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This is done using a technique called discounting</a:t>
            </a:r>
          </a:p>
          <a:p>
            <a:r>
              <a:rPr lang="en-GB" altLang="en-US" dirty="0"/>
              <a:t>Discounting takes a future value and converts it to a current or present value equivalent</a:t>
            </a:r>
          </a:p>
          <a:p>
            <a:r>
              <a:rPr lang="en-GB" altLang="en-US" dirty="0" err="1"/>
              <a:t>eg</a:t>
            </a:r>
            <a:r>
              <a:rPr lang="en-GB" altLang="en-US" dirty="0"/>
              <a:t> If ‘now’ is 2024, and you know that you will receive £100 in 2025 what is that worth in 2024 £s?</a:t>
            </a:r>
          </a:p>
          <a:p>
            <a:r>
              <a:rPr lang="en-GB" altLang="en-US" dirty="0"/>
              <a:t>It’s based on the idea that you have a minimum acceptable % rate of return called a discount rate.</a:t>
            </a:r>
          </a:p>
          <a:p>
            <a:r>
              <a:rPr lang="en-GB" altLang="en-US" dirty="0"/>
              <a:t>This helps you choose whether to invest or hold on to your money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354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2C24-C84F-A243-9123-A1775049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Discount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E194-D354-5C05-17E5-E9AB92CB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Discounting is based on the idea that you have a minimum acceptable % rate of return called a discount rate.</a:t>
            </a:r>
          </a:p>
          <a:p>
            <a:r>
              <a:rPr lang="en-GB" altLang="en-US" dirty="0"/>
              <a:t>This helps you choose whether to invest or hold on to your money.</a:t>
            </a:r>
          </a:p>
          <a:p>
            <a:r>
              <a:rPr lang="en-GB" altLang="en-US" dirty="0"/>
              <a:t>From the POV of the investor it covers time impatience, inflation and risk</a:t>
            </a:r>
          </a:p>
          <a:p>
            <a:r>
              <a:rPr lang="en-GB" altLang="en-US" dirty="0"/>
              <a:t>From the POV it covers the % demanded by investors to provide capital</a:t>
            </a:r>
          </a:p>
          <a:p>
            <a:r>
              <a:rPr lang="en-GB" altLang="en-US" dirty="0"/>
              <a:t>Given that your reference rate or discount rate is 12%, would you undertake the following investment?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4396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7037-B54E-F247-A1DA-E14F0F32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Cash Flow do You Prefer?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A00C1F-AB16-FF47-A807-DBE453EBF0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633040"/>
              </p:ext>
            </p:extLst>
          </p:nvPr>
        </p:nvGraphicFramePr>
        <p:xfrm>
          <a:off x="798513" y="2222500"/>
          <a:ext cx="10567987" cy="41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69D8EE-ECAA-C84F-A03D-23DD7F8E288C}"/>
              </a:ext>
            </a:extLst>
          </p:cNvPr>
          <p:cNvSpPr txBox="1"/>
          <p:nvPr/>
        </p:nvSpPr>
        <p:spPr>
          <a:xfrm>
            <a:off x="4729947" y="2598003"/>
            <a:ext cx="2705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12%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6F6372D-85CA-784E-8079-9A5BB44C3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046686"/>
              </p:ext>
            </p:extLst>
          </p:nvPr>
        </p:nvGraphicFramePr>
        <p:xfrm>
          <a:off x="4475781" y="5403654"/>
          <a:ext cx="3240437" cy="830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800" imgH="241300" progId="Equation.DSMT4">
                  <p:embed/>
                </p:oleObj>
              </mc:Choice>
              <mc:Fallback>
                <p:oleObj name="Equation" r:id="rId7" imgW="939800" imgH="2413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6F6372D-85CA-784E-8079-9A5BB44C35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5781" y="5403654"/>
                        <a:ext cx="3240437" cy="830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9B2247C-3882-734E-B232-6E0C96A91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97250"/>
              </p:ext>
            </p:extLst>
          </p:nvPr>
        </p:nvGraphicFramePr>
        <p:xfrm>
          <a:off x="8687479" y="5496410"/>
          <a:ext cx="2678861" cy="699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100" imgH="241300" progId="Equation.DSMT4">
                  <p:embed/>
                </p:oleObj>
              </mc:Choice>
              <mc:Fallback>
                <p:oleObj name="Equation" r:id="rId9" imgW="927100" imgH="2413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9B2247C-3882-734E-B232-6E0C96A912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687479" y="5496410"/>
                        <a:ext cx="2678861" cy="699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F9B4CFD-8369-B440-BC3C-EEDDA815F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738304"/>
              </p:ext>
            </p:extLst>
          </p:nvPr>
        </p:nvGraphicFramePr>
        <p:xfrm>
          <a:off x="456545" y="5649979"/>
          <a:ext cx="2896255" cy="30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17700" imgH="203200" progId="Equation.DSMT4">
                  <p:embed/>
                </p:oleObj>
              </mc:Choice>
              <mc:Fallback>
                <p:oleObj name="Equation" r:id="rId11" imgW="1917700" imgH="2032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F9B4CFD-8369-B440-BC3C-EEDDA815F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6545" y="5649979"/>
                        <a:ext cx="2896255" cy="307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8910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C50B-6A1D-EB4C-A6F9-06F1CCD22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Convert to Year 1 Equivalents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03353-2E5B-4A4B-BBFA-FB1E034DE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Start with </a:t>
            </a:r>
            <a:r>
              <a:rPr lang="en-US" b="1" dirty="0">
                <a:cs typeface="Calibri"/>
              </a:rPr>
              <a:t>Future Value</a:t>
            </a:r>
            <a:r>
              <a:rPr lang="en-US" dirty="0">
                <a:cs typeface="Calibri"/>
              </a:rPr>
              <a:t>  - the result of applying an interest multiple to a present value.</a:t>
            </a:r>
          </a:p>
          <a:p>
            <a:r>
              <a:rPr lang="en-US" dirty="0">
                <a:cs typeface="Calibri"/>
              </a:rPr>
              <a:t>The present value is the sum you start off with = £10,000</a:t>
            </a:r>
          </a:p>
          <a:p>
            <a:r>
              <a:rPr lang="en-US" dirty="0">
                <a:cs typeface="Calibri"/>
              </a:rPr>
              <a:t>The interest multiple is one plus the interest rate = 1+12% = 1.12</a:t>
            </a:r>
          </a:p>
          <a:p>
            <a:r>
              <a:rPr lang="en-US" dirty="0">
                <a:cs typeface="Calibri"/>
              </a:rPr>
              <a:t>£11,200 = 1.12*£10,000</a:t>
            </a:r>
          </a:p>
          <a:p>
            <a:r>
              <a:rPr lang="en-US" dirty="0">
                <a:cs typeface="Calibri"/>
              </a:rPr>
              <a:t>Your £10k now is the equivalent of £11,200 in 1 year.</a:t>
            </a:r>
          </a:p>
          <a:p>
            <a:r>
              <a:rPr lang="en-US" dirty="0">
                <a:cs typeface="Calibri"/>
              </a:rPr>
              <a:t>But you’re being offered £11,424</a:t>
            </a:r>
          </a:p>
          <a:p>
            <a:r>
              <a:rPr lang="en-US" dirty="0" err="1">
                <a:cs typeface="Calibri"/>
              </a:rPr>
              <a:t>Sooo</a:t>
            </a:r>
            <a:r>
              <a:rPr lang="en-US" dirty="0">
                <a:cs typeface="Calibri"/>
              </a:rPr>
              <a:t>….would you take this investment?</a:t>
            </a:r>
          </a:p>
          <a:p>
            <a:endParaRPr lang="en-US" dirty="0"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22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C823-9E4A-CE4B-AC04-CC55A82D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The Formula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0415-381F-D842-9357-2B192DDE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£11,200 = 1.12*£10,000</a:t>
            </a:r>
          </a:p>
          <a:p>
            <a:r>
              <a:rPr lang="en-US" dirty="0">
                <a:cs typeface="Calibri"/>
              </a:rPr>
              <a:t>Convention FV = (1+r)*C</a:t>
            </a:r>
            <a:r>
              <a:rPr lang="en-US" baseline="-25000" dirty="0">
                <a:cs typeface="Calibri"/>
              </a:rPr>
              <a:t>0</a:t>
            </a:r>
          </a:p>
          <a:p>
            <a:r>
              <a:rPr lang="en-US" dirty="0">
                <a:cs typeface="Calibri"/>
              </a:rPr>
              <a:t>FV = IM*PV</a:t>
            </a:r>
          </a:p>
          <a:p>
            <a:r>
              <a:rPr lang="en-US" dirty="0">
                <a:cs typeface="Calibri"/>
              </a:rPr>
              <a:t>r = interest rate</a:t>
            </a:r>
            <a:endParaRPr lang="en-US" dirty="0"/>
          </a:p>
          <a:p>
            <a:r>
              <a:rPr lang="en-US" dirty="0">
                <a:cs typeface="Calibri"/>
              </a:rPr>
              <a:t>FV = Future Value</a:t>
            </a:r>
          </a:p>
          <a:p>
            <a:r>
              <a:rPr lang="en-US" dirty="0">
                <a:cs typeface="Calibri"/>
              </a:rPr>
              <a:t>IM =Interest Multiple</a:t>
            </a:r>
          </a:p>
          <a:p>
            <a:r>
              <a:rPr lang="en-US" dirty="0">
                <a:cs typeface="Calibri"/>
              </a:rPr>
              <a:t>PV = Present Value or Initial Cash Flow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3608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D1E4-3FDE-944C-8E80-3EF7F931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Future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72897-26B5-0943-916E-D8AF73C08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multiplying a present value by an interest multiple, </a:t>
            </a:r>
            <a:r>
              <a:rPr lang="en-GB" b="1" dirty="0"/>
              <a:t>today's</a:t>
            </a:r>
            <a:r>
              <a:rPr lang="en-GB" dirty="0"/>
              <a:t> £s become </a:t>
            </a:r>
            <a:r>
              <a:rPr lang="en-GB" b="1" dirty="0"/>
              <a:t>tomorrow's </a:t>
            </a:r>
            <a:r>
              <a:rPr lang="en-GB" dirty="0"/>
              <a:t>£s</a:t>
            </a:r>
          </a:p>
          <a:p>
            <a:r>
              <a:rPr lang="en-GB" dirty="0" err="1"/>
              <a:t>Eg</a:t>
            </a:r>
            <a:r>
              <a:rPr lang="en-GB" dirty="0"/>
              <a:t> £10,000 in 2024 £s becomes £11,200 in 2025 £s </a:t>
            </a:r>
            <a:r>
              <a:rPr lang="en-GB" u="sng" dirty="0"/>
              <a:t>provided of course that the interest rate is 12%.</a:t>
            </a:r>
          </a:p>
          <a:p>
            <a:r>
              <a:rPr lang="en-GB" dirty="0"/>
              <a:t>Your £10,000 now is the equivalent of £11,200 in 1 year.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4929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0466-E16A-2B44-BD8B-D9FE7599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Present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3484-22B2-E94D-A1A2-89F39FBDD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However, it’s mor usual to convert all future values to their Year 0 equivalent or present value. </a:t>
            </a:r>
          </a:p>
          <a:p>
            <a:r>
              <a:rPr lang="en-US" dirty="0">
                <a:cs typeface="Calibri"/>
              </a:rPr>
              <a:t>When looking at investment, we consider future cash flow.</a:t>
            </a:r>
          </a:p>
          <a:p>
            <a:r>
              <a:rPr lang="en-US" dirty="0">
                <a:cs typeface="Calibri"/>
              </a:rPr>
              <a:t>We translate future £s back to £s now by dividing by the appropriate interest multiple.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32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65CD-5779-894B-B358-CA91D24D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The Formula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E0CEE-69A0-5B4F-95B5-57194C4FE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£10,000 = 11,200/1.12</a:t>
            </a:r>
          </a:p>
          <a:p>
            <a:r>
              <a:rPr lang="en-US" dirty="0">
                <a:cs typeface="Calibri"/>
              </a:rPr>
              <a:t>Convention C</a:t>
            </a:r>
            <a:r>
              <a:rPr lang="en-US" baseline="-25000" dirty="0">
                <a:cs typeface="Calibri"/>
              </a:rPr>
              <a:t>0 </a:t>
            </a:r>
            <a:r>
              <a:rPr lang="en-US" dirty="0">
                <a:cs typeface="Calibri"/>
              </a:rPr>
              <a:t>=FV/(1+r)</a:t>
            </a:r>
          </a:p>
          <a:p>
            <a:r>
              <a:rPr lang="en-US" dirty="0">
                <a:cs typeface="Calibri"/>
              </a:rPr>
              <a:t>PV = FV/IM</a:t>
            </a:r>
          </a:p>
          <a:p>
            <a:r>
              <a:rPr lang="en-US" dirty="0">
                <a:cs typeface="Calibri"/>
              </a:rPr>
              <a:t>r = interest rate</a:t>
            </a:r>
            <a:endParaRPr lang="en-US" dirty="0"/>
          </a:p>
          <a:p>
            <a:r>
              <a:rPr lang="en-US" dirty="0">
                <a:cs typeface="Calibri"/>
              </a:rPr>
              <a:t>FV = Future Value</a:t>
            </a:r>
          </a:p>
          <a:p>
            <a:r>
              <a:rPr lang="en-US" dirty="0">
                <a:cs typeface="Calibri"/>
              </a:rPr>
              <a:t>IM =Interest Multiple</a:t>
            </a:r>
          </a:p>
          <a:p>
            <a:r>
              <a:rPr lang="en-US" dirty="0">
                <a:cs typeface="Calibri"/>
              </a:rPr>
              <a:t>PV = Present Value or Initial Cash Flow</a:t>
            </a:r>
          </a:p>
          <a:p>
            <a:endParaRPr lang="en-US" dirty="0"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637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7037-B54E-F247-A1DA-E14F0F32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Cash Flow do You Prefer?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A00C1F-AB16-FF47-A807-DBE453EBF0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98513" y="2222500"/>
          <a:ext cx="10567987" cy="41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69D8EE-ECAA-C84F-A03D-23DD7F8E288C}"/>
              </a:ext>
            </a:extLst>
          </p:cNvPr>
          <p:cNvSpPr txBox="1"/>
          <p:nvPr/>
        </p:nvSpPr>
        <p:spPr>
          <a:xfrm>
            <a:off x="4729947" y="2598003"/>
            <a:ext cx="2705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12%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EE07B06B-A3E7-BF43-B37A-C5CF8B69B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68943"/>
              </p:ext>
            </p:extLst>
          </p:nvPr>
        </p:nvGraphicFramePr>
        <p:xfrm>
          <a:off x="5016500" y="5076130"/>
          <a:ext cx="2159000" cy="1349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11200" imgH="444500" progId="Equation.DSMT4">
                  <p:embed/>
                </p:oleObj>
              </mc:Choice>
              <mc:Fallback>
                <p:oleObj name="Equation" r:id="rId7" imgW="711200" imgH="4445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EE07B06B-A3E7-BF43-B37A-C5CF8B69B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16500" y="5076130"/>
                        <a:ext cx="2159000" cy="1349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7EADE04-D749-F049-A786-6C62BE321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234339"/>
              </p:ext>
            </p:extLst>
          </p:nvPr>
        </p:nvGraphicFramePr>
        <p:xfrm>
          <a:off x="8724900" y="5550157"/>
          <a:ext cx="2781300" cy="712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300" imgH="419100" progId="Equation.DSMT4">
                  <p:embed/>
                </p:oleObj>
              </mc:Choice>
              <mc:Fallback>
                <p:oleObj name="Equation" r:id="rId9" imgW="1638300" imgH="419100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07EADE04-D749-F049-A786-6C62BE3216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24900" y="5550157"/>
                        <a:ext cx="2781300" cy="712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C154F900-9F4C-3440-B1A8-46F0EA9F4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267018"/>
              </p:ext>
            </p:extLst>
          </p:nvPr>
        </p:nvGraphicFramePr>
        <p:xfrm>
          <a:off x="798513" y="5550157"/>
          <a:ext cx="2485007" cy="51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14400" imgH="190500" progId="Equation.DSMT4">
                  <p:embed/>
                </p:oleObj>
              </mc:Choice>
              <mc:Fallback>
                <p:oleObj name="Equation" r:id="rId11" imgW="914400" imgH="19050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C154F900-9F4C-3440-B1A8-46F0EA9F4C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8513" y="5550157"/>
                        <a:ext cx="2485007" cy="518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7127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57EC-DCFE-AA44-B212-5A7750D4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96DAD-497A-3841-83A1-3CA474410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remind ourselves. Why does money have a time value and what does this imply for investment cash flows?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59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98BB-119E-814A-815B-AD3428B85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Present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DB1B-60FC-0D43-8FB7-B0B5E9861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The reason why this is done is to compensate for </a:t>
            </a:r>
          </a:p>
          <a:p>
            <a:r>
              <a:rPr lang="en-US" dirty="0">
                <a:cs typeface="Calibri"/>
              </a:rPr>
              <a:t>Time Value – </a:t>
            </a:r>
            <a:r>
              <a:rPr lang="en-US" dirty="0" err="1">
                <a:cs typeface="Calibri"/>
              </a:rPr>
              <a:t>Ii.e</a:t>
            </a:r>
            <a:r>
              <a:rPr lang="en-US" dirty="0">
                <a:cs typeface="Calibri"/>
              </a:rPr>
              <a:t>. impatience to have money now rather than later</a:t>
            </a:r>
          </a:p>
          <a:p>
            <a:r>
              <a:rPr lang="en-US" dirty="0">
                <a:cs typeface="Calibri"/>
              </a:rPr>
              <a:t>Inflation</a:t>
            </a:r>
          </a:p>
          <a:p>
            <a:r>
              <a:rPr lang="en-US" dirty="0">
                <a:cs typeface="Calibri"/>
              </a:rPr>
              <a:t>Risk – Will the expected sum actually </a:t>
            </a:r>
            <a:r>
              <a:rPr lang="en-US" dirty="0" err="1">
                <a:cs typeface="Calibri"/>
              </a:rPr>
              <a:t>materialise</a:t>
            </a:r>
            <a:endParaRPr lang="en-US" dirty="0">
              <a:cs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531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79CB-F536-1A4D-AC64-08741759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Present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45AC8-F35B-8947-AABA-674967DB5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So to convert a future value to a present value, you divide the future value by an interest multiple.</a:t>
            </a:r>
          </a:p>
          <a:p>
            <a:r>
              <a:rPr lang="en-US" dirty="0">
                <a:cs typeface="Calibri"/>
              </a:rPr>
              <a:t>You need to start of course with an interest rate known in this context as a discount rate.</a:t>
            </a:r>
          </a:p>
          <a:p>
            <a:r>
              <a:rPr lang="en-US" dirty="0">
                <a:cs typeface="Calibri"/>
              </a:rPr>
              <a:t>Your discount rate reflects time, risk and inflation</a:t>
            </a:r>
          </a:p>
          <a:p>
            <a:r>
              <a:rPr lang="en-US" dirty="0">
                <a:cs typeface="Calibri"/>
              </a:rPr>
              <a:t>From the firm's POV it is the % cost of capital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708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80C6-A40A-464F-A013-CEFB5D6A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Present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26150-04CC-9C45-B111-75E93FE8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In the example above you are asked to choose between £11,200 OR £11,420 in </a:t>
            </a:r>
            <a:r>
              <a:rPr lang="en-US" b="1" dirty="0">
                <a:cs typeface="Calibri"/>
              </a:rPr>
              <a:t>year one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>
                <a:cs typeface="Calibri"/>
              </a:rPr>
              <a:t>If your discount rate is 12%, the present value or </a:t>
            </a:r>
            <a:r>
              <a:rPr lang="en-US" b="1" dirty="0">
                <a:cs typeface="Calibri"/>
              </a:rPr>
              <a:t>year 0 equivalents are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£11,200/1.12 = £10,000</a:t>
            </a:r>
          </a:p>
          <a:p>
            <a:r>
              <a:rPr lang="en-US" dirty="0">
                <a:cs typeface="Calibri"/>
              </a:rPr>
              <a:t>£11,420/1.12 = £10,200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8190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77EB-27E9-5743-9FFE-33BE02DA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Discounting to Year 0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480E-6508-6744-8D2A-18C2CA3D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So £11,420 in</a:t>
            </a:r>
            <a:r>
              <a:rPr lang="en-US" b="1" dirty="0">
                <a:cs typeface="Calibri"/>
              </a:rPr>
              <a:t> year 1 £s</a:t>
            </a:r>
            <a:r>
              <a:rPr lang="en-US" dirty="0">
                <a:cs typeface="Calibri"/>
              </a:rPr>
              <a:t> is worth £10,200 in </a:t>
            </a:r>
            <a:r>
              <a:rPr lang="en-US" b="1" dirty="0">
                <a:cs typeface="Calibri"/>
              </a:rPr>
              <a:t>£s now</a:t>
            </a:r>
            <a:r>
              <a:rPr lang="en-US" dirty="0">
                <a:cs typeface="Calibri"/>
              </a:rPr>
              <a:t> </a:t>
            </a:r>
          </a:p>
          <a:p>
            <a:r>
              <a:rPr lang="en-US" dirty="0">
                <a:cs typeface="Calibri"/>
              </a:rPr>
              <a:t>This is better than £10,000</a:t>
            </a:r>
          </a:p>
          <a:p>
            <a:r>
              <a:rPr lang="en-US" b="1" dirty="0">
                <a:cs typeface="Calibri"/>
              </a:rPr>
              <a:t>Provided of course your discount rate is 12%</a:t>
            </a:r>
          </a:p>
          <a:p>
            <a:r>
              <a:rPr lang="en-US" dirty="0">
                <a:cs typeface="Calibri"/>
              </a:rPr>
              <a:t>Learning Activity - Would £11,420 in one year still be better than £10,000 now if the discount rate was 100%?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337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3C12-410E-5043-AF58-2E80C1689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 method for </a:t>
            </a:r>
            <a:r>
              <a:rPr lang="en-US" dirty="0" err="1">
                <a:cs typeface="Calibri"/>
              </a:rPr>
              <a:t>analysing</a:t>
            </a:r>
            <a:r>
              <a:rPr lang="en-US" dirty="0">
                <a:cs typeface="Calibri"/>
              </a:rPr>
              <a:t> investment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2CE5F-AAB3-6C44-9F22-CC90EA9E9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You put in £10,000, you get back £11,420 in one year.</a:t>
            </a:r>
          </a:p>
          <a:p>
            <a:r>
              <a:rPr lang="en-US" dirty="0">
                <a:cs typeface="Calibri"/>
              </a:rPr>
              <a:t>Provided your reference rate was 12%, you would go ahead, as you are clearly getting a bit more than 12%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4012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6D10-3744-ED4D-B875-A523A4CE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 Present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1B1A7-BEAC-BE40-A295-7795EE31F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 present value is any year zero equivalent of a future value, I.e. its discounted value.</a:t>
            </a:r>
          </a:p>
          <a:p>
            <a:r>
              <a:rPr lang="en-US" u="sng" dirty="0">
                <a:cs typeface="Calibri"/>
              </a:rPr>
              <a:t>Net</a:t>
            </a:r>
            <a:r>
              <a:rPr lang="en-US" dirty="0">
                <a:cs typeface="Calibri"/>
              </a:rPr>
              <a:t> present value is the sum of </a:t>
            </a:r>
            <a:r>
              <a:rPr lang="en-US" b="1" dirty="0">
                <a:cs typeface="Calibri"/>
              </a:rPr>
              <a:t>all</a:t>
            </a:r>
            <a:r>
              <a:rPr lang="en-US" dirty="0">
                <a:cs typeface="Calibri"/>
              </a:rPr>
              <a:t> discounted future </a:t>
            </a:r>
            <a:r>
              <a:rPr lang="en-US" u="sng" dirty="0">
                <a:cs typeface="Calibri"/>
              </a:rPr>
              <a:t>CF</a:t>
            </a:r>
            <a:r>
              <a:rPr lang="en-US" dirty="0">
                <a:cs typeface="Calibri"/>
              </a:rPr>
              <a:t> minus any initial investment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594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A2FB-A364-6F4E-89F5-8C1EE0BE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Net Present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7BEB6-609B-164D-89C0-04FF7DEF6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NPV = C</a:t>
            </a:r>
            <a:r>
              <a:rPr lang="en-US" baseline="-25000" dirty="0">
                <a:cs typeface="Calibri"/>
              </a:rPr>
              <a:t>0 </a:t>
            </a:r>
            <a:r>
              <a:rPr lang="en-US" dirty="0">
                <a:cs typeface="Calibri"/>
              </a:rPr>
              <a:t>+ C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 /(1+r)</a:t>
            </a:r>
          </a:p>
          <a:p>
            <a:r>
              <a:rPr lang="en-US" dirty="0">
                <a:ea typeface="+mn-lt"/>
                <a:cs typeface="+mn-lt"/>
              </a:rPr>
              <a:t>C</a:t>
            </a:r>
            <a:r>
              <a:rPr lang="en-US" baseline="-25000" dirty="0">
                <a:ea typeface="+mn-lt"/>
                <a:cs typeface="+mn-lt"/>
              </a:rPr>
              <a:t>0 </a:t>
            </a:r>
            <a:r>
              <a:rPr lang="en-US" dirty="0">
                <a:ea typeface="+mn-lt"/>
                <a:cs typeface="+mn-lt"/>
              </a:rPr>
              <a:t>is CF in year 0 (now). Aka Present Value. This is negative as it’s outgoing, not incoming. </a:t>
            </a:r>
          </a:p>
          <a:p>
            <a:r>
              <a:rPr lang="en-US" dirty="0">
                <a:ea typeface="+mn-lt"/>
                <a:cs typeface="+mn-lt"/>
              </a:rPr>
              <a:t>C</a:t>
            </a:r>
            <a:r>
              <a:rPr lang="en-US" baseline="-25000" dirty="0">
                <a:ea typeface="+mn-lt"/>
                <a:cs typeface="+mn-lt"/>
              </a:rPr>
              <a:t>1</a:t>
            </a:r>
            <a:r>
              <a:rPr lang="en-US" dirty="0">
                <a:ea typeface="+mn-lt"/>
                <a:cs typeface="+mn-lt"/>
              </a:rPr>
              <a:t> is the</a:t>
            </a:r>
            <a:r>
              <a:rPr lang="en-US" dirty="0">
                <a:cs typeface="Calibri"/>
              </a:rPr>
              <a:t> expected CF one year ahead</a:t>
            </a:r>
          </a:p>
          <a:p>
            <a:r>
              <a:rPr lang="en-US" dirty="0">
                <a:cs typeface="Calibri"/>
              </a:rPr>
              <a:t>(1+r) is the interest multiple</a:t>
            </a:r>
          </a:p>
          <a:p>
            <a:r>
              <a:rPr lang="en-US" dirty="0">
                <a:cs typeface="Calibri"/>
              </a:rPr>
              <a:t>NPV = -£10000 + £11,420/1.12 = £200</a:t>
            </a:r>
          </a:p>
          <a:p>
            <a:r>
              <a:rPr lang="en-US" dirty="0">
                <a:cs typeface="Calibri"/>
              </a:rPr>
              <a:t>Firm would go ahead with this project</a:t>
            </a:r>
          </a:p>
          <a:p>
            <a:r>
              <a:rPr lang="en-US" dirty="0">
                <a:cs typeface="Calibri"/>
              </a:rPr>
              <a:t>NPV is positive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5552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C610-30B9-394E-A3C0-192D12C7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Net Present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2623-3002-DD4B-BE5D-1C6E46CCB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NPV = -£10000 + £11,420/1.12 = £200</a:t>
            </a:r>
          </a:p>
          <a:p>
            <a:r>
              <a:rPr lang="en-US" dirty="0">
                <a:cs typeface="Calibri"/>
              </a:rPr>
              <a:t>Firm would go ahead with this project</a:t>
            </a:r>
          </a:p>
          <a:p>
            <a:r>
              <a:rPr lang="en-US" dirty="0">
                <a:cs typeface="Calibri"/>
              </a:rPr>
              <a:t>NPV is positive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68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EDC3-97B5-4B4A-9F0D-F12B34A5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Valuation: The One-Period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53B7-571A-E943-871A-293A7FE86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Does a Potential Investment Add Value?</a:t>
            </a:r>
          </a:p>
          <a:p>
            <a:r>
              <a:rPr lang="en-US" dirty="0"/>
              <a:t>A piece of land costs €85,000. Next year the land will be worth €91,000, a sure €6,000 gain. Given that the guaranteed interest rate in the bank is 10 per cent, should you undertake the investment? </a:t>
            </a:r>
          </a:p>
          <a:p>
            <a:endParaRPr lang="en-GB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BC3CF87-AB4C-0344-AB7D-FE563CFC3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313155"/>
              </p:ext>
            </p:extLst>
          </p:nvPr>
        </p:nvGraphicFramePr>
        <p:xfrm>
          <a:off x="1549400" y="4304829"/>
          <a:ext cx="8763000" cy="944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27500" imgH="444500" progId="Equation.DSMT4">
                  <p:embed/>
                </p:oleObj>
              </mc:Choice>
              <mc:Fallback>
                <p:oleObj name="Equation" r:id="rId2" imgW="4127500" imgH="4445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BC3CF87-AB4C-0344-AB7D-FE563CFC3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9400" y="4304829"/>
                        <a:ext cx="8763000" cy="944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7044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922E-82AB-A24F-91F5-3FCCDF1B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Net Present Value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D2F9-93E3-4F4F-AF06-6241E821E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NPV = C</a:t>
            </a:r>
            <a:r>
              <a:rPr lang="en-GB" baseline="-25000" dirty="0"/>
              <a:t>0</a:t>
            </a:r>
            <a:r>
              <a:rPr lang="en-GB" dirty="0"/>
              <a:t> + C</a:t>
            </a:r>
            <a:r>
              <a:rPr lang="en-GB" baseline="-25000" dirty="0"/>
              <a:t>1</a:t>
            </a:r>
            <a:r>
              <a:rPr lang="en-GB" dirty="0"/>
              <a:t> /(1+r)</a:t>
            </a:r>
          </a:p>
          <a:p>
            <a:r>
              <a:rPr lang="en-GB" dirty="0"/>
              <a:t>Note that in this second example, the discount rate is 10% and the interest multiple IM or (1+r) is 1.1</a:t>
            </a:r>
          </a:p>
          <a:p>
            <a:r>
              <a:rPr lang="en-GB" dirty="0"/>
              <a:t>NPV = -£85,0000 + £91,0000/1.1 = -£2,273</a:t>
            </a:r>
          </a:p>
          <a:p>
            <a:r>
              <a:rPr lang="en-GB" dirty="0"/>
              <a:t>Firm would NOT go ahead with this project</a:t>
            </a:r>
          </a:p>
          <a:p>
            <a:r>
              <a:rPr lang="en-GB" dirty="0"/>
              <a:t>NPV is negative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7748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B4C0-628E-FA40-8EED-AE62F95B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Decision Rule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448B-2F37-824C-94E7-BE7AD81BD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If capital is not limited, accept all projects where NPV ≥ 0</a:t>
            </a:r>
          </a:p>
          <a:p>
            <a:r>
              <a:rPr lang="en-US" dirty="0">
                <a:cs typeface="Calibri"/>
              </a:rPr>
              <a:t>If capital is 'rationed', then rank projects by NPV.</a:t>
            </a:r>
          </a:p>
          <a:p>
            <a:r>
              <a:rPr lang="en-US" dirty="0">
                <a:cs typeface="Calibri"/>
              </a:rPr>
              <a:t>NPV is fundamental to valuation.</a:t>
            </a:r>
          </a:p>
          <a:p>
            <a:r>
              <a:rPr lang="en-US" dirty="0" err="1">
                <a:cs typeface="Calibri"/>
              </a:rPr>
              <a:t>Eg</a:t>
            </a:r>
            <a:r>
              <a:rPr lang="en-US" dirty="0">
                <a:cs typeface="Calibri"/>
              </a:rPr>
              <a:t> The value of the firm can be seen as the discounted sum of it future cash flows.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465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CE85-0D74-F84F-8698-B3E5B554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GB" dirty="0"/>
              <a:t>Valuation: </a:t>
            </a:r>
            <a:br>
              <a:rPr lang="en-GB" dirty="0"/>
            </a:br>
            <a:r>
              <a:rPr lang="en-GB" dirty="0"/>
              <a:t>The Multi-Period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5AE19-B105-EB4E-A0C1-B786FAA1A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 value of money over many periods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143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A673-A18D-2841-A9F1-9152684B4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Valuation: The Multi-Period Case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1B80EF9-ED10-E549-841A-6C7FDDDC5F2E}"/>
              </a:ext>
            </a:extLst>
          </p:cNvPr>
          <p:cNvGrpSpPr/>
          <p:nvPr/>
        </p:nvGrpSpPr>
        <p:grpSpPr>
          <a:xfrm>
            <a:off x="798654" y="2120179"/>
            <a:ext cx="8923723" cy="3810000"/>
            <a:chOff x="245179" y="1534834"/>
            <a:chExt cx="8923723" cy="381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66C4F1B-F3EF-5C42-B86D-146FBD426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5179" y="1534834"/>
              <a:ext cx="7572176" cy="38100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D5E111B-72F9-F14F-ACBA-8A647129C909}"/>
                </a:ext>
              </a:extLst>
            </p:cNvPr>
            <p:cNvCxnSpPr/>
            <p:nvPr/>
          </p:nvCxnSpPr>
          <p:spPr>
            <a:xfrm flipH="1">
              <a:off x="6096000" y="4343400"/>
              <a:ext cx="167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216208-91D9-374C-A297-C78E5F7BC918}"/>
                </a:ext>
              </a:extLst>
            </p:cNvPr>
            <p:cNvSpPr txBox="1"/>
            <p:nvPr/>
          </p:nvSpPr>
          <p:spPr>
            <a:xfrm>
              <a:off x="7696200" y="4038600"/>
              <a:ext cx="144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Original Amount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E6BF971-1350-4644-AB0A-B6DAC9405F3F}"/>
                </a:ext>
              </a:extLst>
            </p:cNvPr>
            <p:cNvCxnSpPr/>
            <p:nvPr/>
          </p:nvCxnSpPr>
          <p:spPr>
            <a:xfrm flipH="1">
              <a:off x="6120902" y="3048000"/>
              <a:ext cx="167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271681-54F7-F540-BBAD-3876D9EB7284}"/>
                </a:ext>
              </a:extLst>
            </p:cNvPr>
            <p:cNvSpPr txBox="1"/>
            <p:nvPr/>
          </p:nvSpPr>
          <p:spPr>
            <a:xfrm>
              <a:off x="7721102" y="2743200"/>
              <a:ext cx="144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Simple Interest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58C60B5-0FF4-1D46-A6B8-65691493FA79}"/>
                </a:ext>
              </a:extLst>
            </p:cNvPr>
            <p:cNvCxnSpPr/>
            <p:nvPr/>
          </p:nvCxnSpPr>
          <p:spPr>
            <a:xfrm flipH="1">
              <a:off x="6096000" y="2057400"/>
              <a:ext cx="1676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631C60-E351-0F43-870D-606F0B10CF24}"/>
                </a:ext>
              </a:extLst>
            </p:cNvPr>
            <p:cNvSpPr txBox="1"/>
            <p:nvPr/>
          </p:nvSpPr>
          <p:spPr>
            <a:xfrm>
              <a:off x="7696200" y="1752600"/>
              <a:ext cx="1447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Compound Interest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9610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0893-D292-BA4D-9DB5-0FA3AA3F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Valuation: The Multi-Period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28F9-8722-A34D-94DD-6F6AFF60F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Generalised Formula for Cash Flow Future Value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pl-PL" sz="4800" i="1" dirty="0"/>
              <a:t>FV</a:t>
            </a:r>
            <a:r>
              <a:rPr lang="pl-PL" sz="4800" i="1" baseline="-25000" dirty="0"/>
              <a:t>T</a:t>
            </a:r>
            <a:r>
              <a:rPr lang="pl-PL" sz="4800" i="1" dirty="0"/>
              <a:t> </a:t>
            </a:r>
            <a:r>
              <a:rPr lang="pl-PL" sz="4800" dirty="0"/>
              <a:t>= </a:t>
            </a:r>
            <a:r>
              <a:rPr lang="pl-PL" sz="4800" i="1" dirty="0"/>
              <a:t>C</a:t>
            </a:r>
            <a:r>
              <a:rPr lang="pl-PL" sz="4800" baseline="-25000" dirty="0"/>
              <a:t>0</a:t>
            </a:r>
            <a:r>
              <a:rPr lang="pl-PL" sz="4800" dirty="0"/>
              <a:t> × (1 + </a:t>
            </a:r>
            <a:r>
              <a:rPr lang="pl-PL" sz="4800" i="1" dirty="0"/>
              <a:t>r</a:t>
            </a:r>
            <a:r>
              <a:rPr lang="pl-PL" sz="4800" dirty="0"/>
              <a:t>)</a:t>
            </a:r>
            <a:r>
              <a:rPr lang="pl-PL" sz="4800" i="1" baseline="30000" dirty="0"/>
              <a:t>T</a:t>
            </a:r>
            <a:r>
              <a:rPr lang="pl-PL" sz="4800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167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0893-D292-BA4D-9DB5-0FA3AA3FF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Valuation: The Multi-Period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28F9-8722-A34D-94DD-6F6AFF60F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Generalised Formula for Cash Flow Present Value</a:t>
            </a:r>
          </a:p>
          <a:p>
            <a:pPr marL="0" indent="0">
              <a:buNone/>
            </a:pPr>
            <a:endParaRPr lang="en-GB" dirty="0"/>
          </a:p>
          <a:p>
            <a:pPr marL="0" lvl="0" indent="0" algn="ctr">
              <a:buNone/>
            </a:pPr>
            <a:r>
              <a:rPr lang="pl-PL" sz="4800" i="1" dirty="0"/>
              <a:t>PV</a:t>
            </a:r>
            <a:r>
              <a:rPr lang="pl-PL" sz="4800" i="1" baseline="-25000" dirty="0"/>
              <a:t>0</a:t>
            </a:r>
            <a:r>
              <a:rPr lang="pl-PL" sz="4800" i="1" dirty="0"/>
              <a:t> </a:t>
            </a:r>
            <a:r>
              <a:rPr lang="pl-PL" sz="4800" dirty="0"/>
              <a:t>= </a:t>
            </a:r>
            <a:r>
              <a:rPr lang="pl-PL" sz="4800" i="1" dirty="0"/>
              <a:t>C</a:t>
            </a:r>
            <a:r>
              <a:rPr lang="pl-PL" sz="4800" i="1" baseline="-25000" dirty="0"/>
              <a:t>T</a:t>
            </a:r>
            <a:r>
              <a:rPr lang="pl-PL" sz="4800" i="1" dirty="0"/>
              <a:t>/</a:t>
            </a:r>
            <a:r>
              <a:rPr lang="pl-PL" sz="4800" dirty="0"/>
              <a:t>(1 + </a:t>
            </a:r>
            <a:r>
              <a:rPr lang="pl-PL" sz="4800" i="1" dirty="0"/>
              <a:t>r</a:t>
            </a:r>
            <a:r>
              <a:rPr lang="pl-PL" sz="4800" dirty="0"/>
              <a:t>)</a:t>
            </a:r>
            <a:r>
              <a:rPr lang="pl-PL" sz="4800" i="1" baseline="30000" dirty="0"/>
              <a:t>T</a:t>
            </a:r>
            <a:r>
              <a:rPr lang="pl-PL" sz="4800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4775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DB8E-CF7D-7E43-BE14-60821FD0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35A5-2C87-C845-8518-9AA490886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start with £100 now.</a:t>
            </a:r>
          </a:p>
          <a:p>
            <a:r>
              <a:rPr lang="en-US" dirty="0"/>
              <a:t>Then you get 10% interest after a year</a:t>
            </a:r>
          </a:p>
          <a:p>
            <a:r>
              <a:rPr lang="en-US" dirty="0"/>
              <a:t>You have £110 at the start of year 1</a:t>
            </a:r>
          </a:p>
          <a:p>
            <a:r>
              <a:rPr lang="en-US" dirty="0"/>
              <a:t>Now suppose you get another 10% interest</a:t>
            </a:r>
          </a:p>
          <a:p>
            <a:r>
              <a:rPr lang="en-US" dirty="0"/>
              <a:t>Your £110 would be £121 by the start of year 2.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09243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7216-5D9E-4E4F-B6FB-B500FC35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13884-6C1B-CE41-8454-B63C00A31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i.e. £121 = 110*1.1 = 1.1*1.1*£100</a:t>
            </a:r>
            <a:endParaRPr lang="en-GB" dirty="0"/>
          </a:p>
          <a:p>
            <a:r>
              <a:rPr lang="en-GB" dirty="0"/>
              <a:t>In other words the interest multiple, is applied twice. £121 = 1.1</a:t>
            </a:r>
            <a:r>
              <a:rPr lang="en-GB" baseline="30000" dirty="0"/>
              <a:t>2</a:t>
            </a:r>
            <a:r>
              <a:rPr lang="en-GB" dirty="0"/>
              <a:t>*£100</a:t>
            </a:r>
          </a:p>
          <a:p>
            <a:r>
              <a:rPr lang="en-GB" dirty="0"/>
              <a:t>This is compound interest – which is interest paid on top of previously accumulated interest</a:t>
            </a:r>
          </a:p>
          <a:p>
            <a:r>
              <a:rPr lang="en-GB" dirty="0"/>
              <a:t>1.1</a:t>
            </a:r>
            <a:r>
              <a:rPr lang="en-GB" baseline="30000" dirty="0"/>
              <a:t>2</a:t>
            </a:r>
            <a:r>
              <a:rPr lang="en-GB" dirty="0"/>
              <a:t> is the compound interest multiple over 2 periods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357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65D1-3147-D94A-8469-55F39143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 Interest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5DA10-E09F-4740-B7D6-975131385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applied the multiple of 1.1.again</a:t>
            </a:r>
          </a:p>
          <a:p>
            <a:r>
              <a:rPr lang="en-US" dirty="0"/>
              <a:t>i.e. £133.1 = 121*1.1 = 1.1*1.1*1.1*£100</a:t>
            </a:r>
            <a:endParaRPr lang="en-GB" dirty="0"/>
          </a:p>
          <a:p>
            <a:r>
              <a:rPr lang="en-GB" dirty="0"/>
              <a:t>In other words the interest multiple, is applied three times. </a:t>
            </a:r>
          </a:p>
          <a:p>
            <a:r>
              <a:rPr lang="en-GB" dirty="0"/>
              <a:t>£133.1 = 1.1</a:t>
            </a:r>
            <a:r>
              <a:rPr lang="en-GB" baseline="30000" dirty="0"/>
              <a:t>3</a:t>
            </a:r>
            <a:r>
              <a:rPr lang="en-GB" dirty="0"/>
              <a:t>*£100</a:t>
            </a:r>
          </a:p>
          <a:p>
            <a:r>
              <a:rPr lang="en-GB" dirty="0"/>
              <a:t>1.1</a:t>
            </a:r>
            <a:r>
              <a:rPr lang="en-GB" baseline="30000" dirty="0"/>
              <a:t>3</a:t>
            </a:r>
            <a:r>
              <a:rPr lang="en-GB" dirty="0"/>
              <a:t> is the compound interest multiple over 3 periods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6707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117E-5397-CA46-B67E-F0505A1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put it more simply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4F95-BAF6-9A45-B3FD-9685145C7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FV</a:t>
            </a:r>
            <a:r>
              <a:rPr lang="en-GB" baseline="-25000" dirty="0"/>
              <a:t>T</a:t>
            </a:r>
            <a:r>
              <a:rPr lang="en-GB" dirty="0"/>
              <a:t> = IM</a:t>
            </a:r>
            <a:r>
              <a:rPr lang="en-GB" baseline="30000" dirty="0"/>
              <a:t>T</a:t>
            </a:r>
            <a:r>
              <a:rPr lang="en-GB" dirty="0"/>
              <a:t>*PV</a:t>
            </a:r>
          </a:p>
          <a:p>
            <a:r>
              <a:rPr lang="en-GB" dirty="0"/>
              <a:t>FV</a:t>
            </a:r>
            <a:r>
              <a:rPr lang="en-GB" baseline="-25000" dirty="0"/>
              <a:t>T </a:t>
            </a:r>
            <a:r>
              <a:rPr lang="en-GB" dirty="0"/>
              <a:t> = Future value in T years</a:t>
            </a:r>
          </a:p>
          <a:p>
            <a:r>
              <a:rPr lang="en-GB" dirty="0"/>
              <a:t>IM</a:t>
            </a:r>
            <a:r>
              <a:rPr lang="en-GB" baseline="30000" dirty="0"/>
              <a:t>T </a:t>
            </a:r>
            <a:r>
              <a:rPr lang="en-GB" dirty="0"/>
              <a:t>= Compound Interest Multiple </a:t>
            </a:r>
          </a:p>
          <a:p>
            <a:r>
              <a:rPr lang="en-GB" dirty="0"/>
              <a:t>(Basic IM compounded T times)</a:t>
            </a:r>
          </a:p>
          <a:p>
            <a:r>
              <a:rPr lang="en-GB" dirty="0"/>
              <a:t>PV = Present Value – i.e. The value you start with in Year 0 (Now)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4132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4150-BFA6-6B4D-AB29-7432F2D9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simplify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491E1-BFCC-4A42-8666-4B6B7B611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find the year 0 equivalent of a future CF</a:t>
            </a:r>
          </a:p>
          <a:p>
            <a:r>
              <a:rPr lang="en-GB" dirty="0"/>
              <a:t>Divide the CF by the appropriate compound interest multiple</a:t>
            </a:r>
          </a:p>
          <a:p>
            <a:r>
              <a:rPr lang="en-GB" dirty="0"/>
              <a:t>Learning Activity -  Suppose you expect to receive £110 in one year and £121 in two years.</a:t>
            </a:r>
          </a:p>
          <a:p>
            <a:r>
              <a:rPr lang="en-GB" dirty="0"/>
              <a:t>What are the present values if r = 10%?</a:t>
            </a:r>
          </a:p>
          <a:p>
            <a:r>
              <a:rPr lang="en-GB" dirty="0"/>
              <a:t>What is the NPV if you pay £100 for this investment now?</a:t>
            </a:r>
          </a:p>
          <a:p>
            <a:r>
              <a:rPr lang="en-GB" dirty="0"/>
              <a:t>What is the NPV at r=0, r=5% and r=100%?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524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C40B-94FF-6249-8526-0EDE29C9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Case of More than One Cash Flow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6155BEA-1D9B-B941-B664-5C9956C63A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331499"/>
              </p:ext>
            </p:extLst>
          </p:nvPr>
        </p:nvGraphicFramePr>
        <p:xfrm>
          <a:off x="825660" y="2120179"/>
          <a:ext cx="8587408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876300" progId="Equation.DSMT4">
                  <p:embed/>
                </p:oleObj>
              </mc:Choice>
              <mc:Fallback>
                <p:oleObj name="Equation" r:id="rId2" imgW="2743200" imgH="8763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155BEA-1D9B-B941-B664-5C9956C63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5660" y="2120179"/>
                        <a:ext cx="8587408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537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019300" y="1102718"/>
            <a:ext cx="8648700" cy="77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</a:rPr>
              <a:t>Present value of </a:t>
            </a:r>
            <a:r>
              <a:rPr lang="en-GB" altLang="en-US" sz="2215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£1 receivable at various times in the future, assuming an annual financing cost of 20%</a:t>
            </a:r>
          </a:p>
        </p:txBody>
      </p:sp>
      <p:grpSp>
        <p:nvGrpSpPr>
          <p:cNvPr id="40963" name="Group 83"/>
          <p:cNvGrpSpPr>
            <a:grpSpLocks/>
          </p:cNvGrpSpPr>
          <p:nvPr/>
        </p:nvGrpSpPr>
        <p:grpSpPr bwMode="auto">
          <a:xfrm>
            <a:off x="2414893" y="2060849"/>
            <a:ext cx="7353423" cy="4668715"/>
            <a:chOff x="402" y="838"/>
            <a:chExt cx="4632" cy="3186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auto">
            <a:xfrm>
              <a:off x="403" y="3576"/>
              <a:ext cx="4631" cy="440"/>
            </a:xfrm>
            <a:prstGeom prst="cube">
              <a:avLst>
                <a:gd name="adj" fmla="val 13634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65" name="Text Box 5"/>
            <p:cNvSpPr txBox="1">
              <a:spLocks noChangeArrowheads="1"/>
            </p:cNvSpPr>
            <p:nvPr/>
          </p:nvSpPr>
          <p:spPr bwMode="auto">
            <a:xfrm>
              <a:off x="735" y="3626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auto">
            <a:xfrm>
              <a:off x="1186" y="844"/>
              <a:ext cx="288" cy="2797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67" name="AutoShape 7"/>
            <p:cNvSpPr>
              <a:spLocks noChangeArrowheads="1"/>
            </p:cNvSpPr>
            <p:nvPr/>
          </p:nvSpPr>
          <p:spPr bwMode="auto">
            <a:xfrm>
              <a:off x="1576" y="1375"/>
              <a:ext cx="288" cy="2266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68" name="AutoShape 9"/>
            <p:cNvSpPr>
              <a:spLocks noChangeArrowheads="1"/>
            </p:cNvSpPr>
            <p:nvPr/>
          </p:nvSpPr>
          <p:spPr bwMode="auto">
            <a:xfrm>
              <a:off x="1968" y="1735"/>
              <a:ext cx="288" cy="1906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69" name="AutoShape 10"/>
            <p:cNvSpPr>
              <a:spLocks noChangeArrowheads="1"/>
            </p:cNvSpPr>
            <p:nvPr/>
          </p:nvSpPr>
          <p:spPr bwMode="auto">
            <a:xfrm>
              <a:off x="2354" y="2043"/>
              <a:ext cx="288" cy="1598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0" name="AutoShape 11"/>
            <p:cNvSpPr>
              <a:spLocks noChangeArrowheads="1"/>
            </p:cNvSpPr>
            <p:nvPr/>
          </p:nvSpPr>
          <p:spPr bwMode="auto">
            <a:xfrm>
              <a:off x="2748" y="2341"/>
              <a:ext cx="288" cy="1300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1" name="AutoShape 12"/>
            <p:cNvSpPr>
              <a:spLocks noChangeArrowheads="1"/>
            </p:cNvSpPr>
            <p:nvPr/>
          </p:nvSpPr>
          <p:spPr bwMode="auto">
            <a:xfrm>
              <a:off x="3150" y="2559"/>
              <a:ext cx="288" cy="1082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2" name="AutoShape 13"/>
            <p:cNvSpPr>
              <a:spLocks noChangeArrowheads="1"/>
            </p:cNvSpPr>
            <p:nvPr/>
          </p:nvSpPr>
          <p:spPr bwMode="auto">
            <a:xfrm>
              <a:off x="3542" y="2658"/>
              <a:ext cx="288" cy="983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3" name="AutoShape 14"/>
            <p:cNvSpPr>
              <a:spLocks noChangeArrowheads="1"/>
            </p:cNvSpPr>
            <p:nvPr/>
          </p:nvSpPr>
          <p:spPr bwMode="auto">
            <a:xfrm>
              <a:off x="3942" y="2957"/>
              <a:ext cx="288" cy="684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4" name="AutoShape 15"/>
            <p:cNvSpPr>
              <a:spLocks noChangeArrowheads="1"/>
            </p:cNvSpPr>
            <p:nvPr/>
          </p:nvSpPr>
          <p:spPr bwMode="auto">
            <a:xfrm>
              <a:off x="4346" y="3124"/>
              <a:ext cx="288" cy="517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5" name="AutoShape 16"/>
            <p:cNvSpPr>
              <a:spLocks noChangeArrowheads="1"/>
            </p:cNvSpPr>
            <p:nvPr/>
          </p:nvSpPr>
          <p:spPr bwMode="auto">
            <a:xfrm>
              <a:off x="4744" y="3196"/>
              <a:ext cx="288" cy="445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76" name="Text Box 17"/>
            <p:cNvSpPr txBox="1">
              <a:spLocks noChangeArrowheads="1"/>
            </p:cNvSpPr>
            <p:nvPr/>
          </p:nvSpPr>
          <p:spPr bwMode="auto">
            <a:xfrm>
              <a:off x="3141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40977" name="Text Box 18"/>
            <p:cNvSpPr txBox="1">
              <a:spLocks noChangeArrowheads="1"/>
            </p:cNvSpPr>
            <p:nvPr/>
          </p:nvSpPr>
          <p:spPr bwMode="auto">
            <a:xfrm>
              <a:off x="2739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0978" name="Text Box 19"/>
            <p:cNvSpPr txBox="1">
              <a:spLocks noChangeArrowheads="1"/>
            </p:cNvSpPr>
            <p:nvPr/>
          </p:nvSpPr>
          <p:spPr bwMode="auto">
            <a:xfrm>
              <a:off x="2345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40979" name="Text Box 20"/>
            <p:cNvSpPr txBox="1">
              <a:spLocks noChangeArrowheads="1"/>
            </p:cNvSpPr>
            <p:nvPr/>
          </p:nvSpPr>
          <p:spPr bwMode="auto">
            <a:xfrm>
              <a:off x="1953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0980" name="Text Box 21"/>
            <p:cNvSpPr txBox="1">
              <a:spLocks noChangeArrowheads="1"/>
            </p:cNvSpPr>
            <p:nvPr/>
          </p:nvSpPr>
          <p:spPr bwMode="auto">
            <a:xfrm>
              <a:off x="1573" y="3626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0981" name="Text Box 22"/>
            <p:cNvSpPr txBox="1">
              <a:spLocks noChangeArrowheads="1"/>
            </p:cNvSpPr>
            <p:nvPr/>
          </p:nvSpPr>
          <p:spPr bwMode="auto">
            <a:xfrm>
              <a:off x="1179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0982" name="Text Box 23"/>
            <p:cNvSpPr txBox="1">
              <a:spLocks noChangeArrowheads="1"/>
            </p:cNvSpPr>
            <p:nvPr/>
          </p:nvSpPr>
          <p:spPr bwMode="auto">
            <a:xfrm>
              <a:off x="3527" y="3626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40983" name="Text Box 24"/>
            <p:cNvSpPr txBox="1">
              <a:spLocks noChangeArrowheads="1"/>
            </p:cNvSpPr>
            <p:nvPr/>
          </p:nvSpPr>
          <p:spPr bwMode="auto">
            <a:xfrm>
              <a:off x="3927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40984" name="Text Box 25"/>
            <p:cNvSpPr txBox="1">
              <a:spLocks noChangeArrowheads="1"/>
            </p:cNvSpPr>
            <p:nvPr/>
          </p:nvSpPr>
          <p:spPr bwMode="auto">
            <a:xfrm>
              <a:off x="4331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40985" name="Text Box 26"/>
            <p:cNvSpPr txBox="1">
              <a:spLocks noChangeArrowheads="1"/>
            </p:cNvSpPr>
            <p:nvPr/>
          </p:nvSpPr>
          <p:spPr bwMode="auto">
            <a:xfrm>
              <a:off x="4717" y="3620"/>
              <a:ext cx="2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40986" name="Text Box 28"/>
            <p:cNvSpPr txBox="1">
              <a:spLocks noChangeArrowheads="1"/>
            </p:cNvSpPr>
            <p:nvPr/>
          </p:nvSpPr>
          <p:spPr bwMode="auto">
            <a:xfrm>
              <a:off x="3277" y="3796"/>
              <a:ext cx="167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Years into the future</a:t>
              </a:r>
            </a:p>
          </p:txBody>
        </p:sp>
        <p:sp>
          <p:nvSpPr>
            <p:cNvPr id="40987" name="AutoShape 8"/>
            <p:cNvSpPr>
              <a:spLocks noChangeArrowheads="1"/>
            </p:cNvSpPr>
            <p:nvPr/>
          </p:nvSpPr>
          <p:spPr bwMode="auto">
            <a:xfrm>
              <a:off x="628" y="2363"/>
              <a:ext cx="288" cy="1238"/>
            </a:xfrm>
            <a:prstGeom prst="cube">
              <a:avLst>
                <a:gd name="adj" fmla="val 22569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88" name="AutoShape 33"/>
            <p:cNvSpPr>
              <a:spLocks noChangeArrowheads="1"/>
            </p:cNvSpPr>
            <p:nvPr/>
          </p:nvSpPr>
          <p:spPr bwMode="auto">
            <a:xfrm>
              <a:off x="405" y="838"/>
              <a:ext cx="542" cy="2805"/>
            </a:xfrm>
            <a:prstGeom prst="cube">
              <a:avLst>
                <a:gd name="adj" fmla="val 10519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89" name="Text Box 36"/>
            <p:cNvSpPr txBox="1">
              <a:spLocks noChangeArrowheads="1"/>
            </p:cNvSpPr>
            <p:nvPr/>
          </p:nvSpPr>
          <p:spPr bwMode="auto">
            <a:xfrm>
              <a:off x="662" y="3307"/>
              <a:ext cx="31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40990" name="Text Box 37"/>
            <p:cNvSpPr txBox="1">
              <a:spLocks noChangeArrowheads="1"/>
            </p:cNvSpPr>
            <p:nvPr/>
          </p:nvSpPr>
          <p:spPr bwMode="auto">
            <a:xfrm>
              <a:off x="640" y="3020"/>
              <a:ext cx="31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20</a:t>
              </a:r>
            </a:p>
          </p:txBody>
        </p:sp>
        <p:sp>
          <p:nvSpPr>
            <p:cNvPr id="40991" name="Text Box 38"/>
            <p:cNvSpPr txBox="1">
              <a:spLocks noChangeArrowheads="1"/>
            </p:cNvSpPr>
            <p:nvPr/>
          </p:nvSpPr>
          <p:spPr bwMode="auto">
            <a:xfrm>
              <a:off x="645" y="2744"/>
              <a:ext cx="30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40992" name="Text Box 40"/>
            <p:cNvSpPr txBox="1">
              <a:spLocks noChangeArrowheads="1"/>
            </p:cNvSpPr>
            <p:nvPr/>
          </p:nvSpPr>
          <p:spPr bwMode="auto">
            <a:xfrm>
              <a:off x="656" y="2476"/>
              <a:ext cx="278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40</a:t>
              </a:r>
            </a:p>
          </p:txBody>
        </p:sp>
        <p:sp>
          <p:nvSpPr>
            <p:cNvPr id="40993" name="Text Box 46"/>
            <p:cNvSpPr txBox="1">
              <a:spLocks noChangeArrowheads="1"/>
            </p:cNvSpPr>
            <p:nvPr/>
          </p:nvSpPr>
          <p:spPr bwMode="auto">
            <a:xfrm>
              <a:off x="636" y="2198"/>
              <a:ext cx="311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50</a:t>
              </a:r>
            </a:p>
          </p:txBody>
        </p:sp>
        <p:sp>
          <p:nvSpPr>
            <p:cNvPr id="40994" name="Text Box 47"/>
            <p:cNvSpPr txBox="1">
              <a:spLocks noChangeArrowheads="1"/>
            </p:cNvSpPr>
            <p:nvPr/>
          </p:nvSpPr>
          <p:spPr bwMode="auto">
            <a:xfrm>
              <a:off x="645" y="1930"/>
              <a:ext cx="30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60</a:t>
              </a:r>
            </a:p>
          </p:txBody>
        </p:sp>
        <p:sp>
          <p:nvSpPr>
            <p:cNvPr id="40995" name="Text Box 48"/>
            <p:cNvSpPr txBox="1">
              <a:spLocks noChangeArrowheads="1"/>
            </p:cNvSpPr>
            <p:nvPr/>
          </p:nvSpPr>
          <p:spPr bwMode="auto">
            <a:xfrm>
              <a:off x="648" y="1647"/>
              <a:ext cx="29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70</a:t>
              </a:r>
            </a:p>
          </p:txBody>
        </p:sp>
        <p:sp>
          <p:nvSpPr>
            <p:cNvPr id="40996" name="AutoShape 39"/>
            <p:cNvSpPr>
              <a:spLocks noChangeArrowheads="1"/>
            </p:cNvSpPr>
            <p:nvPr/>
          </p:nvSpPr>
          <p:spPr bwMode="auto">
            <a:xfrm>
              <a:off x="895" y="2496"/>
              <a:ext cx="112" cy="130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97" name="AutoShape 63"/>
            <p:cNvSpPr>
              <a:spLocks noChangeArrowheads="1"/>
            </p:cNvSpPr>
            <p:nvPr/>
          </p:nvSpPr>
          <p:spPr bwMode="auto">
            <a:xfrm>
              <a:off x="889" y="1670"/>
              <a:ext cx="112" cy="130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98" name="AutoShape 64"/>
            <p:cNvSpPr>
              <a:spLocks noChangeArrowheads="1"/>
            </p:cNvSpPr>
            <p:nvPr/>
          </p:nvSpPr>
          <p:spPr bwMode="auto">
            <a:xfrm>
              <a:off x="893" y="1937"/>
              <a:ext cx="112" cy="130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0999" name="AutoShape 65"/>
            <p:cNvSpPr>
              <a:spLocks noChangeArrowheads="1"/>
            </p:cNvSpPr>
            <p:nvPr/>
          </p:nvSpPr>
          <p:spPr bwMode="auto">
            <a:xfrm>
              <a:off x="893" y="2221"/>
              <a:ext cx="112" cy="130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0" name="AutoShape 66"/>
            <p:cNvSpPr>
              <a:spLocks noChangeArrowheads="1"/>
            </p:cNvSpPr>
            <p:nvPr/>
          </p:nvSpPr>
          <p:spPr bwMode="auto">
            <a:xfrm>
              <a:off x="893" y="3321"/>
              <a:ext cx="112" cy="129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1" name="AutoShape 67"/>
            <p:cNvSpPr>
              <a:spLocks noChangeArrowheads="1"/>
            </p:cNvSpPr>
            <p:nvPr/>
          </p:nvSpPr>
          <p:spPr bwMode="auto">
            <a:xfrm>
              <a:off x="891" y="2762"/>
              <a:ext cx="112" cy="129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2" name="AutoShape 68"/>
            <p:cNvSpPr>
              <a:spLocks noChangeArrowheads="1"/>
            </p:cNvSpPr>
            <p:nvPr/>
          </p:nvSpPr>
          <p:spPr bwMode="auto">
            <a:xfrm>
              <a:off x="891" y="3046"/>
              <a:ext cx="112" cy="129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3" name="AutoShape 72"/>
            <p:cNvSpPr>
              <a:spLocks noChangeArrowheads="1"/>
            </p:cNvSpPr>
            <p:nvPr/>
          </p:nvSpPr>
          <p:spPr bwMode="auto">
            <a:xfrm>
              <a:off x="893" y="1120"/>
              <a:ext cx="112" cy="129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4" name="AutoShape 73"/>
            <p:cNvSpPr>
              <a:spLocks noChangeArrowheads="1"/>
            </p:cNvSpPr>
            <p:nvPr/>
          </p:nvSpPr>
          <p:spPr bwMode="auto">
            <a:xfrm>
              <a:off x="893" y="1404"/>
              <a:ext cx="112" cy="129"/>
            </a:xfrm>
            <a:prstGeom prst="cube">
              <a:avLst>
                <a:gd name="adj" fmla="val 3833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5" name="AutoShape 76"/>
            <p:cNvSpPr>
              <a:spLocks noChangeArrowheads="1"/>
            </p:cNvSpPr>
            <p:nvPr/>
          </p:nvSpPr>
          <p:spPr bwMode="auto">
            <a:xfrm>
              <a:off x="889" y="838"/>
              <a:ext cx="112" cy="130"/>
            </a:xfrm>
            <a:prstGeom prst="cube">
              <a:avLst>
                <a:gd name="adj" fmla="val 49106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2215"/>
            </a:p>
          </p:txBody>
        </p:sp>
        <p:sp>
          <p:nvSpPr>
            <p:cNvPr id="41006" name="Text Box 77"/>
            <p:cNvSpPr txBox="1">
              <a:spLocks noChangeArrowheads="1"/>
            </p:cNvSpPr>
            <p:nvPr/>
          </p:nvSpPr>
          <p:spPr bwMode="auto">
            <a:xfrm>
              <a:off x="648" y="1383"/>
              <a:ext cx="29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80</a:t>
              </a:r>
            </a:p>
          </p:txBody>
        </p:sp>
        <p:sp>
          <p:nvSpPr>
            <p:cNvPr id="41007" name="Text Box 78"/>
            <p:cNvSpPr txBox="1">
              <a:spLocks noChangeArrowheads="1"/>
            </p:cNvSpPr>
            <p:nvPr/>
          </p:nvSpPr>
          <p:spPr bwMode="auto">
            <a:xfrm>
              <a:off x="652" y="1103"/>
              <a:ext cx="29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90</a:t>
              </a:r>
            </a:p>
          </p:txBody>
        </p:sp>
        <p:sp>
          <p:nvSpPr>
            <p:cNvPr id="41008" name="Text Box 79"/>
            <p:cNvSpPr txBox="1">
              <a:spLocks noChangeArrowheads="1"/>
            </p:cNvSpPr>
            <p:nvPr/>
          </p:nvSpPr>
          <p:spPr bwMode="auto">
            <a:xfrm>
              <a:off x="572" y="851"/>
              <a:ext cx="366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41009" name="Text Box 80"/>
            <p:cNvSpPr txBox="1">
              <a:spLocks noChangeArrowheads="1"/>
            </p:cNvSpPr>
            <p:nvPr/>
          </p:nvSpPr>
          <p:spPr bwMode="auto">
            <a:xfrm rot="16200000">
              <a:off x="204" y="1183"/>
              <a:ext cx="60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569" b="1">
                  <a:latin typeface="Arial" panose="020B0604020202020204" pitchFamily="34" charset="0"/>
                </a:rPr>
                <a:t>Pence</a:t>
              </a:r>
            </a:p>
          </p:txBody>
        </p:sp>
        <p:sp>
          <p:nvSpPr>
            <p:cNvPr id="41010" name="Text Box 82"/>
            <p:cNvSpPr txBox="1">
              <a:spLocks noChangeArrowheads="1"/>
            </p:cNvSpPr>
            <p:nvPr/>
          </p:nvSpPr>
          <p:spPr bwMode="auto">
            <a:xfrm>
              <a:off x="1137" y="924"/>
              <a:ext cx="343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altLang="en-US" sz="1662" b="1" i="1">
                  <a:solidFill>
                    <a:srgbClr val="FFCC99"/>
                  </a:solidFill>
                  <a:latin typeface="Arial" panose="020B0604020202020204" pitchFamily="34" charset="0"/>
                </a:rPr>
                <a:t>£1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6136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9696" y="2420888"/>
            <a:ext cx="6537080" cy="3890596"/>
          </a:xfrm>
          <a:noFill/>
        </p:spPr>
      </p:pic>
      <p:sp>
        <p:nvSpPr>
          <p:cNvPr id="4403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Present Value Tables</a:t>
            </a:r>
          </a:p>
        </p:txBody>
      </p:sp>
    </p:spTree>
    <p:extLst>
      <p:ext uri="{BB962C8B-B14F-4D97-AF65-F5344CB8AC3E}">
        <p14:creationId xmlns:p14="http://schemas.microsoft.com/office/powerpoint/2010/main" val="3159628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A4C5-5CCA-B10B-C3ED-7E8E00BA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cash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8C89-A6FB-15C3-71FE-3BBD27EC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deciding as what counts as cash flow there are a few rules such as </a:t>
            </a:r>
          </a:p>
          <a:p>
            <a:r>
              <a:rPr lang="en-GB" dirty="0"/>
              <a:t>You don’t count sunk cost</a:t>
            </a:r>
          </a:p>
          <a:p>
            <a:r>
              <a:rPr lang="en-GB" dirty="0"/>
              <a:t>But you do include any opportunity cost.</a:t>
            </a:r>
          </a:p>
          <a:p>
            <a:r>
              <a:rPr lang="en-GB" dirty="0"/>
              <a:t>Reported net income on the company accounts may bear little relation to actual cash flow</a:t>
            </a:r>
          </a:p>
          <a:p>
            <a:r>
              <a:rPr lang="en-GB" dirty="0"/>
              <a:t>However, it is possible to adjust.</a:t>
            </a:r>
          </a:p>
          <a:p>
            <a:r>
              <a:rPr lang="en-GB" dirty="0">
                <a:hlinkClick r:id="rId2"/>
              </a:rPr>
              <a:t>https://www.investopedia.com/terms/c/cfat.asp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696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1806</Words>
  <Application>Microsoft Office PowerPoint</Application>
  <PresentationFormat>Widescreen</PresentationFormat>
  <Paragraphs>210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Arial Narrow</vt:lpstr>
      <vt:lpstr>Calibri</vt:lpstr>
      <vt:lpstr>Office Theme</vt:lpstr>
      <vt:lpstr>Equation</vt:lpstr>
      <vt:lpstr>C37ff Finance</vt:lpstr>
      <vt:lpstr>Overview</vt:lpstr>
      <vt:lpstr>Valuation:  The One-Period Case</vt:lpstr>
      <vt:lpstr>The Time Value Of Money</vt:lpstr>
      <vt:lpstr>PowerPoint Presentation</vt:lpstr>
      <vt:lpstr>The Time Value Of Money</vt:lpstr>
      <vt:lpstr>Year Zero Equivalence</vt:lpstr>
      <vt:lpstr>Discounting</vt:lpstr>
      <vt:lpstr>The Discount Rate</vt:lpstr>
      <vt:lpstr>Which Cash Flow do You Prefer?</vt:lpstr>
      <vt:lpstr>Convert to Year 1 Equivalents</vt:lpstr>
      <vt:lpstr>The Formula</vt:lpstr>
      <vt:lpstr>Future Value</vt:lpstr>
      <vt:lpstr>Present Value</vt:lpstr>
      <vt:lpstr>The Formula</vt:lpstr>
      <vt:lpstr>Which Cash Flow do You Prefer?</vt:lpstr>
      <vt:lpstr>Learning Activity</vt:lpstr>
      <vt:lpstr>Present Value</vt:lpstr>
      <vt:lpstr>Present Value</vt:lpstr>
      <vt:lpstr>Present Value</vt:lpstr>
      <vt:lpstr>Discounting to Year 0</vt:lpstr>
      <vt:lpstr>A method for analysing investment</vt:lpstr>
      <vt:lpstr>Net Present Value</vt:lpstr>
      <vt:lpstr>Net Present Value</vt:lpstr>
      <vt:lpstr> Net Present Value</vt:lpstr>
      <vt:lpstr>Valuation: The One-Period Case</vt:lpstr>
      <vt:lpstr>Net Present Value</vt:lpstr>
      <vt:lpstr>Decision Rule</vt:lpstr>
      <vt:lpstr>Valuation:  The Multi-Period Case</vt:lpstr>
      <vt:lpstr>Valuation: The Multi-Period Case</vt:lpstr>
      <vt:lpstr>Valuation: The Multi-Period Case</vt:lpstr>
      <vt:lpstr>Valuation: The Multi-Period Case</vt:lpstr>
      <vt:lpstr>Compound Interest</vt:lpstr>
      <vt:lpstr>Compound interest</vt:lpstr>
      <vt:lpstr>Compound Interest</vt:lpstr>
      <vt:lpstr>To put it more simply</vt:lpstr>
      <vt:lpstr>To simplify</vt:lpstr>
      <vt:lpstr>The Case of More than One Cash Flow</vt:lpstr>
      <vt:lpstr>PowerPoint Presentation</vt:lpstr>
      <vt:lpstr>Present Value Tables</vt:lpstr>
      <vt:lpstr>Incremental cash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Tam, Kok Chian</dc:creator>
  <cp:lastModifiedBy>Marney, John-Paul</cp:lastModifiedBy>
  <cp:revision>12</cp:revision>
  <dcterms:created xsi:type="dcterms:W3CDTF">2020-09-01T06:10:30Z</dcterms:created>
  <dcterms:modified xsi:type="dcterms:W3CDTF">2024-02-21T12:21:37Z</dcterms:modified>
</cp:coreProperties>
</file>