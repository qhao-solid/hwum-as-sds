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 id="2147483702" r:id="rId5"/>
    <p:sldMasterId id="2147483685" r:id="rId6"/>
    <p:sldMasterId id="2147483684" r:id="rId7"/>
    <p:sldMasterId id="2147483686" r:id="rId8"/>
  </p:sldMasterIdLst>
  <p:notesMasterIdLst>
    <p:notesMasterId r:id="rId32"/>
  </p:notesMasterIdLst>
  <p:sldIdLst>
    <p:sldId id="256" r:id="rId9"/>
    <p:sldId id="363" r:id="rId10"/>
    <p:sldId id="364" r:id="rId11"/>
    <p:sldId id="379" r:id="rId12"/>
    <p:sldId id="365" r:id="rId13"/>
    <p:sldId id="366" r:id="rId14"/>
    <p:sldId id="367" r:id="rId15"/>
    <p:sldId id="380" r:id="rId16"/>
    <p:sldId id="368" r:id="rId17"/>
    <p:sldId id="369" r:id="rId18"/>
    <p:sldId id="370" r:id="rId19"/>
    <p:sldId id="371" r:id="rId20"/>
    <p:sldId id="381" r:id="rId21"/>
    <p:sldId id="382" r:id="rId22"/>
    <p:sldId id="383" r:id="rId23"/>
    <p:sldId id="372" r:id="rId24"/>
    <p:sldId id="373" r:id="rId25"/>
    <p:sldId id="374" r:id="rId26"/>
    <p:sldId id="375" r:id="rId27"/>
    <p:sldId id="376" r:id="rId28"/>
    <p:sldId id="377" r:id="rId29"/>
    <p:sldId id="334" r:id="rId30"/>
    <p:sldId id="37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6A71"/>
    <a:srgbClr val="0098DB"/>
    <a:srgbClr val="00549F"/>
    <a:srgbClr val="A5AC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188"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9EED6-E795-4558-8D13-A9FFBFD8C95A}" type="datetimeFigureOut">
              <a:rPr lang="en-US" smtClean="0"/>
              <a:t>11/16/2020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A0A3B-D086-4606-A9C2-7F165FD04211}" type="slidenum">
              <a:rPr lang="en-US" smtClean="0"/>
              <a:t>‹#›</a:t>
            </a:fld>
            <a:endParaRPr lang="en-US"/>
          </a:p>
        </p:txBody>
      </p:sp>
    </p:spTree>
    <p:extLst>
      <p:ext uri="{BB962C8B-B14F-4D97-AF65-F5344CB8AC3E}">
        <p14:creationId xmlns:p14="http://schemas.microsoft.com/office/powerpoint/2010/main" val="378236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8892B29-568F-44D9-A087-05DC10E22E9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2B74762-D636-4F21-89F1-587D5C5F1A54}" type="slidenum">
              <a:rPr lang="en-GB" altLang="en-US">
                <a:latin typeface="Times New Roman" panose="02020603050405020304" pitchFamily="18" charset="0"/>
              </a:rPr>
              <a:pPr>
                <a:spcBef>
                  <a:spcPct val="0"/>
                </a:spcBef>
              </a:pPr>
              <a:t>22</a:t>
            </a:fld>
            <a:endParaRPr lang="en-GB"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0DBF8E74-DB77-442F-A404-3364D8F24A4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a:extLst>
              <a:ext uri="{FF2B5EF4-FFF2-40B4-BE49-F238E27FC236}">
                <a16:creationId xmlns:a16="http://schemas.microsoft.com/office/drawing/2014/main" id="{67BDD2D9-5EBD-4CD6-8E3E-3F063CF1CE7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5E6A7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683568" y="3645024"/>
            <a:ext cx="6400800" cy="1752600"/>
          </a:xfrm>
        </p:spPr>
        <p:txBody>
          <a:bodyPr/>
          <a:lstStyle>
            <a:lvl1pPr marL="0" indent="0" algn="l">
              <a:buNone/>
              <a:defRPr i="1">
                <a:solidFill>
                  <a:srgbClr val="0098DB"/>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555424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70985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5E6A71"/>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0098D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58272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11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802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007058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11560" y="2357190"/>
            <a:ext cx="3885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11560" y="3068960"/>
            <a:ext cx="3885828"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799446" y="2357190"/>
            <a:ext cx="38873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9446" y="3068960"/>
            <a:ext cx="3887354"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C1102FAE-FC2F-47FD-82A7-D1DD5A1AC3E3}" type="datetimeFigureOut">
              <a:rPr lang="en-GB" smtClean="0"/>
              <a:t>16/11/2020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06678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1102FAE-FC2F-47FD-82A7-D1DD5A1AC3E3}" type="datetimeFigureOut">
              <a:rPr lang="en-GB" smtClean="0"/>
              <a:t>16/11/2020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341938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02FAE-FC2F-47FD-82A7-D1DD5A1AC3E3}" type="datetimeFigureOut">
              <a:rPr lang="en-GB" smtClean="0"/>
              <a:t>16/11/2020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4117922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96752"/>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99044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23728" y="4800600"/>
            <a:ext cx="515496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123728" y="612775"/>
            <a:ext cx="5154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123728" y="5367338"/>
            <a:ext cx="5154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408261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23248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155220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bg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683568" y="3645024"/>
            <a:ext cx="6400800" cy="1752600"/>
          </a:xfrm>
        </p:spPr>
        <p:txBody>
          <a:bodyPr/>
          <a:lstStyle>
            <a:lvl1pPr marL="0" indent="0" algn="l">
              <a:buNone/>
              <a:defRPr i="1">
                <a:solidFill>
                  <a:srgbClr val="5E6A71"/>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81062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80424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bg1"/>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5E6A7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695916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11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802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063899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11560" y="2357190"/>
            <a:ext cx="3885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11560" y="3068960"/>
            <a:ext cx="3885828"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799446" y="2357190"/>
            <a:ext cx="38873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9446" y="3068960"/>
            <a:ext cx="3887354"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C1102FAE-FC2F-47FD-82A7-D1DD5A1AC3E3}" type="datetimeFigureOut">
              <a:rPr lang="en-GB" smtClean="0"/>
              <a:t>16/11/2020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4209113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1102FAE-FC2F-47FD-82A7-D1DD5A1AC3E3}" type="datetimeFigureOut">
              <a:rPr lang="en-GB" smtClean="0"/>
              <a:t>16/11/2020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744855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02FAE-FC2F-47FD-82A7-D1DD5A1AC3E3}" type="datetimeFigureOut">
              <a:rPr lang="en-GB" smtClean="0"/>
              <a:t>16/11/2020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1178888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96752"/>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762630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23728" y="4800600"/>
            <a:ext cx="515496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123728" y="612775"/>
            <a:ext cx="5154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123728" y="5367338"/>
            <a:ext cx="5154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791527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40103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9230257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391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65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024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560" y="1268760"/>
            <a:ext cx="8075240" cy="998984"/>
          </a:xfrm>
          <a:prstGeom prst="rect">
            <a:avLst/>
          </a:prstGeom>
        </p:spPr>
        <p:txBody>
          <a:bodyPr vert="horz" lIns="91440" tIns="45720" rIns="91440" bIns="45720" rtlCol="0" anchor="b">
            <a:normAutofit/>
          </a:bodyPr>
          <a:lstStyle/>
          <a:p>
            <a:r>
              <a:rPr lang="en-US" dirty="0"/>
              <a:t>Click to add title</a:t>
            </a:r>
            <a:endParaRPr lang="en-GB" dirty="0"/>
          </a:p>
        </p:txBody>
      </p:sp>
      <p:sp>
        <p:nvSpPr>
          <p:cNvPr id="3" name="Text Placeholder 2"/>
          <p:cNvSpPr>
            <a:spLocks noGrp="1"/>
          </p:cNvSpPr>
          <p:nvPr>
            <p:ph type="body" idx="1"/>
          </p:nvPr>
        </p:nvSpPr>
        <p:spPr>
          <a:xfrm>
            <a:off x="611560" y="2348880"/>
            <a:ext cx="8075240" cy="37772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bg1"/>
                </a:solidFill>
              </a:defRPr>
            </a:lvl1pPr>
          </a:lstStyle>
          <a:p>
            <a:fld id="{C1102FAE-FC2F-47FD-82A7-D1DD5A1AC3E3}" type="datetimeFigureOut">
              <a:rPr lang="en-GB" smtClean="0"/>
              <a:pPr/>
              <a:t>16/11/2020</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bg1"/>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1"/>
                </a:solidFill>
              </a:defRPr>
            </a:lvl1pPr>
          </a:lstStyle>
          <a:p>
            <a:fld id="{191E7B16-C11D-48A6-9FE1-93A9A96AC7E6}" type="slidenum">
              <a:rPr lang="en-GB" smtClean="0"/>
              <a:pPr/>
              <a:t>‹#›</a:t>
            </a:fld>
            <a:endParaRPr lang="en-GB"/>
          </a:p>
        </p:txBody>
      </p:sp>
    </p:spTree>
    <p:extLst>
      <p:ext uri="{BB962C8B-B14F-4D97-AF65-F5344CB8AC3E}">
        <p14:creationId xmlns:p14="http://schemas.microsoft.com/office/powerpoint/2010/main" val="376628410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spcBef>
          <a:spcPct val="0"/>
        </a:spcBef>
        <a:buNone/>
        <a:defRPr sz="4000" b="1" kern="1200">
          <a:solidFill>
            <a:srgbClr val="0098DB"/>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rgbClr val="5E6A7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5E6A7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5E6A7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5E6A7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5E6A7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560" y="1268760"/>
            <a:ext cx="8075240" cy="998984"/>
          </a:xfrm>
          <a:prstGeom prst="rect">
            <a:avLst/>
          </a:prstGeom>
        </p:spPr>
        <p:txBody>
          <a:bodyPr vert="horz" lIns="91440" tIns="45720" rIns="91440" bIns="45720" rtlCol="0" anchor="b">
            <a:normAutofit/>
          </a:bodyPr>
          <a:lstStyle/>
          <a:p>
            <a:r>
              <a:rPr lang="en-US" dirty="0"/>
              <a:t>Click to add title</a:t>
            </a:r>
            <a:endParaRPr lang="en-GB" dirty="0"/>
          </a:p>
        </p:txBody>
      </p:sp>
      <p:sp>
        <p:nvSpPr>
          <p:cNvPr id="3" name="Text Placeholder 2"/>
          <p:cNvSpPr>
            <a:spLocks noGrp="1"/>
          </p:cNvSpPr>
          <p:nvPr>
            <p:ph type="body" idx="1"/>
          </p:nvPr>
        </p:nvSpPr>
        <p:spPr>
          <a:xfrm>
            <a:off x="611560" y="2348880"/>
            <a:ext cx="8075240" cy="37772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bg1"/>
                </a:solidFill>
              </a:defRPr>
            </a:lvl1pPr>
          </a:lstStyle>
          <a:p>
            <a:fld id="{C1102FAE-FC2F-47FD-82A7-D1DD5A1AC3E3}" type="datetimeFigureOut">
              <a:rPr lang="en-GB" smtClean="0"/>
              <a:pPr/>
              <a:t>16/11/2020</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bg1"/>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1"/>
                </a:solidFill>
              </a:defRPr>
            </a:lvl1pPr>
          </a:lstStyle>
          <a:p>
            <a:fld id="{191E7B16-C11D-48A6-9FE1-93A9A96AC7E6}" type="slidenum">
              <a:rPr lang="en-GB" smtClean="0"/>
              <a:pPr/>
              <a:t>‹#›</a:t>
            </a:fld>
            <a:endParaRPr lang="en-GB"/>
          </a:p>
        </p:txBody>
      </p:sp>
    </p:spTree>
    <p:extLst>
      <p:ext uri="{BB962C8B-B14F-4D97-AF65-F5344CB8AC3E}">
        <p14:creationId xmlns:p14="http://schemas.microsoft.com/office/powerpoint/2010/main" val="253743720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412809"/>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131767"/>
      </p:ext>
    </p:extLst>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265032"/>
      </p:ext>
    </p:extLst>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GB" dirty="0"/>
              <a:t>Financial Institutions and Derivatives</a:t>
            </a:r>
          </a:p>
        </p:txBody>
      </p:sp>
      <p:sp>
        <p:nvSpPr>
          <p:cNvPr id="7" name="Subtitle 6"/>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4275265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86115-30FF-48DC-A187-E33CE82E69FF}"/>
              </a:ext>
            </a:extLst>
          </p:cNvPr>
          <p:cNvSpPr>
            <a:spLocks noGrp="1"/>
          </p:cNvSpPr>
          <p:nvPr>
            <p:ph type="title"/>
          </p:nvPr>
        </p:nvSpPr>
        <p:spPr/>
        <p:txBody>
          <a:bodyPr/>
          <a:lstStyle/>
          <a:p>
            <a:r>
              <a:rPr lang="en-GB" altLang="en-US" dirty="0"/>
              <a:t>Derivatives</a:t>
            </a:r>
            <a:endParaRPr lang="en-US" dirty="0"/>
          </a:p>
        </p:txBody>
      </p:sp>
      <p:sp>
        <p:nvSpPr>
          <p:cNvPr id="3" name="Content Placeholder 2">
            <a:extLst>
              <a:ext uri="{FF2B5EF4-FFF2-40B4-BE49-F238E27FC236}">
                <a16:creationId xmlns:a16="http://schemas.microsoft.com/office/drawing/2014/main" id="{0B878117-9E27-4478-ABBE-899ECD1598A8}"/>
              </a:ext>
            </a:extLst>
          </p:cNvPr>
          <p:cNvSpPr>
            <a:spLocks noGrp="1"/>
          </p:cNvSpPr>
          <p:nvPr>
            <p:ph idx="1"/>
          </p:nvPr>
        </p:nvSpPr>
        <p:spPr/>
        <p:txBody>
          <a:bodyPr/>
          <a:lstStyle/>
          <a:p>
            <a:r>
              <a:rPr lang="en-GB" altLang="en-US" dirty="0"/>
              <a:t>Three main types:</a:t>
            </a:r>
          </a:p>
          <a:p>
            <a:pPr lvl="1"/>
            <a:r>
              <a:rPr lang="en-GB" altLang="en-US" dirty="0"/>
              <a:t>Financial futures</a:t>
            </a:r>
          </a:p>
          <a:p>
            <a:pPr lvl="1"/>
            <a:r>
              <a:rPr lang="en-GB" altLang="en-US" dirty="0"/>
              <a:t>Options</a:t>
            </a:r>
          </a:p>
          <a:p>
            <a:pPr lvl="1"/>
            <a:r>
              <a:rPr lang="en-GB" altLang="en-US" dirty="0"/>
              <a:t>Interest rate and currency swaps</a:t>
            </a:r>
          </a:p>
          <a:p>
            <a:endParaRPr lang="en-US" dirty="0"/>
          </a:p>
        </p:txBody>
      </p:sp>
    </p:spTree>
    <p:extLst>
      <p:ext uri="{BB962C8B-B14F-4D97-AF65-F5344CB8AC3E}">
        <p14:creationId xmlns:p14="http://schemas.microsoft.com/office/powerpoint/2010/main" val="406737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0148-2393-4397-B991-16949EBF7211}"/>
              </a:ext>
            </a:extLst>
          </p:cNvPr>
          <p:cNvSpPr>
            <a:spLocks noGrp="1"/>
          </p:cNvSpPr>
          <p:nvPr>
            <p:ph type="title"/>
          </p:nvPr>
        </p:nvSpPr>
        <p:spPr/>
        <p:txBody>
          <a:bodyPr/>
          <a:lstStyle/>
          <a:p>
            <a:r>
              <a:rPr lang="en-GB" dirty="0"/>
              <a:t>Definition</a:t>
            </a:r>
            <a:endParaRPr lang="en-US" dirty="0"/>
          </a:p>
        </p:txBody>
      </p:sp>
      <p:sp>
        <p:nvSpPr>
          <p:cNvPr id="3" name="Content Placeholder 2">
            <a:extLst>
              <a:ext uri="{FF2B5EF4-FFF2-40B4-BE49-F238E27FC236}">
                <a16:creationId xmlns:a16="http://schemas.microsoft.com/office/drawing/2014/main" id="{EEF7D6FB-C310-445F-BEB6-44999F6DAFC2}"/>
              </a:ext>
            </a:extLst>
          </p:cNvPr>
          <p:cNvSpPr>
            <a:spLocks noGrp="1"/>
          </p:cNvSpPr>
          <p:nvPr>
            <p:ph idx="1"/>
          </p:nvPr>
        </p:nvSpPr>
        <p:spPr/>
        <p:txBody>
          <a:bodyPr>
            <a:normAutofit fontScale="92500" lnSpcReduction="20000"/>
          </a:bodyPr>
          <a:lstStyle/>
          <a:p>
            <a:r>
              <a:rPr lang="en-GB" altLang="en-US" dirty="0"/>
              <a:t>A type of financial instrument (= an agreement between two parties)</a:t>
            </a:r>
          </a:p>
          <a:p>
            <a:r>
              <a:rPr lang="en-GB" altLang="en-US" dirty="0"/>
              <a:t>Derive their value from the price or rate of some underlying item, e.g.:</a:t>
            </a:r>
          </a:p>
          <a:p>
            <a:pPr lvl="1"/>
            <a:r>
              <a:rPr lang="en-GB" altLang="en-US" sz="1938" dirty="0"/>
              <a:t>commodities</a:t>
            </a:r>
          </a:p>
          <a:p>
            <a:pPr lvl="1"/>
            <a:r>
              <a:rPr lang="en-GB" altLang="en-US" sz="1938" dirty="0"/>
              <a:t>interest rates</a:t>
            </a:r>
          </a:p>
          <a:p>
            <a:pPr lvl="1"/>
            <a:r>
              <a:rPr lang="en-GB" altLang="en-US" sz="1938" dirty="0"/>
              <a:t>exchange rates</a:t>
            </a:r>
          </a:p>
          <a:p>
            <a:pPr lvl="1"/>
            <a:r>
              <a:rPr lang="en-GB" altLang="en-US" sz="1938" dirty="0"/>
              <a:t>stock market indices</a:t>
            </a:r>
          </a:p>
          <a:p>
            <a:r>
              <a:rPr lang="en-GB" altLang="en-US" dirty="0"/>
              <a:t>Used by companies to minimise risk of price fluctuations</a:t>
            </a:r>
          </a:p>
          <a:p>
            <a:r>
              <a:rPr lang="en-GB" altLang="en-US" dirty="0"/>
              <a:t>Also provide opportunities for speculation</a:t>
            </a:r>
          </a:p>
          <a:p>
            <a:endParaRPr lang="en-US" dirty="0"/>
          </a:p>
        </p:txBody>
      </p:sp>
    </p:spTree>
    <p:extLst>
      <p:ext uri="{BB962C8B-B14F-4D97-AF65-F5344CB8AC3E}">
        <p14:creationId xmlns:p14="http://schemas.microsoft.com/office/powerpoint/2010/main" val="78510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Three main types</a:t>
            </a:r>
            <a:endParaRPr lang="en-GB" dirty="0"/>
          </a:p>
        </p:txBody>
      </p:sp>
      <p:sp>
        <p:nvSpPr>
          <p:cNvPr id="3" name="Content Placeholder 2"/>
          <p:cNvSpPr>
            <a:spLocks noGrp="1"/>
          </p:cNvSpPr>
          <p:nvPr>
            <p:ph idx="1"/>
          </p:nvPr>
        </p:nvSpPr>
        <p:spPr/>
        <p:txBody>
          <a:bodyPr/>
          <a:lstStyle/>
          <a:p>
            <a:r>
              <a:rPr lang="en-GB" dirty="0" smtClean="0"/>
              <a:t>Financial futures</a:t>
            </a:r>
          </a:p>
          <a:p>
            <a:r>
              <a:rPr lang="en-GB" dirty="0" smtClean="0"/>
              <a:t>Options</a:t>
            </a:r>
          </a:p>
          <a:p>
            <a:r>
              <a:rPr lang="en-GB" dirty="0" smtClean="0"/>
              <a:t>Interest rate and currency swaps</a:t>
            </a:r>
            <a:endParaRPr lang="en-GB" dirty="0"/>
          </a:p>
        </p:txBody>
      </p:sp>
    </p:spTree>
    <p:extLst>
      <p:ext uri="{BB962C8B-B14F-4D97-AF65-F5344CB8AC3E}">
        <p14:creationId xmlns:p14="http://schemas.microsoft.com/office/powerpoint/2010/main" val="294388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CC90D-09E1-499C-8922-BCA40DAFEFFB}"/>
              </a:ext>
            </a:extLst>
          </p:cNvPr>
          <p:cNvSpPr>
            <a:spLocks noGrp="1"/>
          </p:cNvSpPr>
          <p:nvPr>
            <p:ph type="title"/>
          </p:nvPr>
        </p:nvSpPr>
        <p:spPr/>
        <p:txBody>
          <a:bodyPr/>
          <a:lstStyle/>
          <a:p>
            <a:r>
              <a:rPr lang="en-GB" altLang="en-US" dirty="0"/>
              <a:t>Uses of derivatives</a:t>
            </a:r>
            <a:endParaRPr lang="en-US" dirty="0"/>
          </a:p>
        </p:txBody>
      </p:sp>
      <p:sp>
        <p:nvSpPr>
          <p:cNvPr id="3" name="Content Placeholder 2">
            <a:extLst>
              <a:ext uri="{FF2B5EF4-FFF2-40B4-BE49-F238E27FC236}">
                <a16:creationId xmlns:a16="http://schemas.microsoft.com/office/drawing/2014/main" id="{2C2168ED-5F9B-4C2A-8528-85C80BE6093C}"/>
              </a:ext>
            </a:extLst>
          </p:cNvPr>
          <p:cNvSpPr>
            <a:spLocks noGrp="1"/>
          </p:cNvSpPr>
          <p:nvPr>
            <p:ph idx="1"/>
          </p:nvPr>
        </p:nvSpPr>
        <p:spPr/>
        <p:txBody>
          <a:bodyPr>
            <a:normAutofit fontScale="92500" lnSpcReduction="20000"/>
          </a:bodyPr>
          <a:lstStyle/>
          <a:p>
            <a:r>
              <a:rPr lang="en-GB" altLang="en-US" dirty="0"/>
              <a:t>Hedge against risk by entering into a contract whose value moves in the opposite direction to their underlying position and cancels part or all of it out</a:t>
            </a:r>
          </a:p>
          <a:p>
            <a:r>
              <a:rPr lang="en-GB" altLang="en-US" dirty="0"/>
              <a:t>Speculate and make a profit if the value of the underlying asset moves the way they expect </a:t>
            </a:r>
            <a:r>
              <a:rPr lang="en-GB" altLang="en-US" dirty="0" smtClean="0"/>
              <a:t>    (e.g. </a:t>
            </a:r>
            <a:r>
              <a:rPr lang="en-GB" altLang="en-US" dirty="0"/>
              <a:t>moves in a given direction, stays in or out of a specified range, reaches a certain level)</a:t>
            </a:r>
          </a:p>
          <a:p>
            <a:r>
              <a:rPr lang="en-GB" altLang="en-US" dirty="0"/>
              <a:t>Obtain exposure to the underlying asset where it is not possible to trade in it (</a:t>
            </a:r>
            <a:r>
              <a:rPr lang="en-GB" altLang="en-US" dirty="0" smtClean="0"/>
              <a:t>e.g. </a:t>
            </a:r>
            <a:r>
              <a:rPr lang="en-GB" altLang="en-US" dirty="0"/>
              <a:t>weather derivatives); </a:t>
            </a:r>
          </a:p>
          <a:p>
            <a:endParaRPr lang="en-US" dirty="0"/>
          </a:p>
        </p:txBody>
      </p:sp>
    </p:spTree>
    <p:extLst>
      <p:ext uri="{BB962C8B-B14F-4D97-AF65-F5344CB8AC3E}">
        <p14:creationId xmlns:p14="http://schemas.microsoft.com/office/powerpoint/2010/main" val="2157551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AD3A-62BD-434B-8724-1E77DAEFA01B}"/>
              </a:ext>
            </a:extLst>
          </p:cNvPr>
          <p:cNvSpPr>
            <a:spLocks noGrp="1"/>
          </p:cNvSpPr>
          <p:nvPr>
            <p:ph type="title"/>
          </p:nvPr>
        </p:nvSpPr>
        <p:spPr>
          <a:xfrm>
            <a:off x="611560" y="1268760"/>
            <a:ext cx="8075240" cy="998984"/>
          </a:xfrm>
        </p:spPr>
        <p:txBody>
          <a:bodyPr/>
          <a:lstStyle/>
          <a:p>
            <a:r>
              <a:rPr lang="en-GB" altLang="en-US" dirty="0"/>
              <a:t>Transfer of risk</a:t>
            </a:r>
            <a:endParaRPr lang="en-US" dirty="0"/>
          </a:p>
        </p:txBody>
      </p:sp>
      <p:sp>
        <p:nvSpPr>
          <p:cNvPr id="3" name="Content Placeholder 2">
            <a:extLst>
              <a:ext uri="{FF2B5EF4-FFF2-40B4-BE49-F238E27FC236}">
                <a16:creationId xmlns:a16="http://schemas.microsoft.com/office/drawing/2014/main" id="{52B7AC8A-5760-4A9D-A5FE-B0F8B6FC0FF3}"/>
              </a:ext>
            </a:extLst>
          </p:cNvPr>
          <p:cNvSpPr>
            <a:spLocks noGrp="1"/>
          </p:cNvSpPr>
          <p:nvPr>
            <p:ph idx="1"/>
          </p:nvPr>
        </p:nvSpPr>
        <p:spPr/>
        <p:txBody>
          <a:bodyPr/>
          <a:lstStyle/>
          <a:p>
            <a:r>
              <a:rPr lang="en-GB" altLang="en-US" sz="1938" dirty="0"/>
              <a:t>Derivatives allow risk related to the price of the underlying asset to be transferred from one party to another</a:t>
            </a:r>
          </a:p>
          <a:p>
            <a:r>
              <a:rPr lang="en-GB" altLang="en-US" sz="1938" dirty="0"/>
              <a:t>For example, a wheat farmer and a miller could sign a contract to exchange a specified amount of cash for a specified amount of wheat in the future</a:t>
            </a:r>
          </a:p>
          <a:p>
            <a:r>
              <a:rPr lang="en-GB" altLang="en-US" sz="1938" dirty="0"/>
              <a:t>Both parties have reduced a future risk:</a:t>
            </a:r>
          </a:p>
          <a:p>
            <a:pPr lvl="1"/>
            <a:r>
              <a:rPr lang="en-GB" altLang="en-US" sz="1662" dirty="0"/>
              <a:t>for the wheat farmer, the uncertainty of the price,</a:t>
            </a:r>
          </a:p>
          <a:p>
            <a:pPr lvl="1"/>
            <a:r>
              <a:rPr lang="en-GB" altLang="en-US" sz="1662" dirty="0"/>
              <a:t>for the miller, the availability of wheat. </a:t>
            </a:r>
          </a:p>
          <a:p>
            <a:r>
              <a:rPr lang="en-GB" altLang="en-US" sz="1938" dirty="0"/>
              <a:t>However, there is still the risk that no wheat will be available because of events unspecified by the contract, such as the weather, or that one party will renege on the contract.</a:t>
            </a:r>
          </a:p>
          <a:p>
            <a:endParaRPr lang="en-US" dirty="0"/>
          </a:p>
        </p:txBody>
      </p:sp>
    </p:spTree>
    <p:extLst>
      <p:ext uri="{BB962C8B-B14F-4D97-AF65-F5344CB8AC3E}">
        <p14:creationId xmlns:p14="http://schemas.microsoft.com/office/powerpoint/2010/main" val="879525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A7DAC-1B55-48E9-BC5E-7E4F359A4AD3}"/>
              </a:ext>
            </a:extLst>
          </p:cNvPr>
          <p:cNvSpPr>
            <a:spLocks noGrp="1"/>
          </p:cNvSpPr>
          <p:nvPr>
            <p:ph type="title"/>
          </p:nvPr>
        </p:nvSpPr>
        <p:spPr/>
        <p:txBody>
          <a:bodyPr/>
          <a:lstStyle/>
          <a:p>
            <a:r>
              <a:rPr lang="en-US" dirty="0" smtClean="0"/>
              <a:t>Transfer of risk</a:t>
            </a:r>
            <a:endParaRPr lang="en-US" dirty="0"/>
          </a:p>
        </p:txBody>
      </p:sp>
      <p:sp>
        <p:nvSpPr>
          <p:cNvPr id="3" name="Content Placeholder 2">
            <a:extLst>
              <a:ext uri="{FF2B5EF4-FFF2-40B4-BE49-F238E27FC236}">
                <a16:creationId xmlns:a16="http://schemas.microsoft.com/office/drawing/2014/main" id="{6B2C2D39-86B3-455E-8F12-BACC7EA29071}"/>
              </a:ext>
            </a:extLst>
          </p:cNvPr>
          <p:cNvSpPr>
            <a:spLocks noGrp="1"/>
          </p:cNvSpPr>
          <p:nvPr>
            <p:ph idx="1"/>
          </p:nvPr>
        </p:nvSpPr>
        <p:spPr/>
        <p:txBody>
          <a:bodyPr>
            <a:normAutofit fontScale="55000" lnSpcReduction="20000"/>
          </a:bodyPr>
          <a:lstStyle/>
          <a:p>
            <a:r>
              <a:rPr lang="en-GB" altLang="en-US" sz="3800" dirty="0"/>
              <a:t>The farmer and the miller both reduce a risk and acquire a risk when they sign the contract </a:t>
            </a:r>
          </a:p>
          <a:p>
            <a:r>
              <a:rPr lang="en-GB" altLang="en-US" sz="3800" dirty="0"/>
              <a:t>The farmer reduces the risk that the price of wheat will fall below the price specified in the contract and acquires the risk that the price of wheat will rise above the price specified in the contract (thereby losing additional income that he could have earned)</a:t>
            </a:r>
          </a:p>
          <a:p>
            <a:r>
              <a:rPr lang="en-GB" altLang="en-US" sz="3800" dirty="0"/>
              <a:t>The miller acquires the risk that the price of wheat will fall (thereby paying more in the future than he otherwise would have) and reduces the risk that the price of wheat will rise </a:t>
            </a:r>
          </a:p>
          <a:p>
            <a:r>
              <a:rPr lang="en-GB" altLang="en-US" sz="3800" dirty="0"/>
              <a:t>In this sense, one party is the insurer (risk taker) for one type of risk, and the counter-party is the insurer (risk taker) for another type of risk.</a:t>
            </a:r>
          </a:p>
          <a:p>
            <a:endParaRPr lang="en-US" dirty="0"/>
          </a:p>
        </p:txBody>
      </p:sp>
    </p:spTree>
    <p:extLst>
      <p:ext uri="{BB962C8B-B14F-4D97-AF65-F5344CB8AC3E}">
        <p14:creationId xmlns:p14="http://schemas.microsoft.com/office/powerpoint/2010/main" val="122317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Forward</a:t>
            </a:r>
            <a:endParaRPr lang="en-GB" dirty="0"/>
          </a:p>
        </p:txBody>
      </p:sp>
      <p:sp>
        <p:nvSpPr>
          <p:cNvPr id="3" name="Content Placeholder 2"/>
          <p:cNvSpPr>
            <a:spLocks noGrp="1"/>
          </p:cNvSpPr>
          <p:nvPr>
            <p:ph idx="1"/>
          </p:nvPr>
        </p:nvSpPr>
        <p:spPr/>
        <p:txBody>
          <a:bodyPr/>
          <a:lstStyle/>
          <a:p>
            <a:r>
              <a:rPr lang="en-GB" dirty="0" smtClean="0"/>
              <a:t>A forward, or forward contract, is an agreement between a buyer and a seller to exchange a commodity or financial instrument for a specified amount of cash on a prearranged future date.</a:t>
            </a:r>
          </a:p>
          <a:p>
            <a:r>
              <a:rPr lang="en-GB" dirty="0" smtClean="0"/>
              <a:t>Forwards are customised and therefore very difficult to resell.</a:t>
            </a:r>
          </a:p>
          <a:p>
            <a:r>
              <a:rPr lang="en-GB" dirty="0" smtClean="0"/>
              <a:t>They are binding.</a:t>
            </a:r>
            <a:endParaRPr lang="en-GB" dirty="0"/>
          </a:p>
        </p:txBody>
      </p:sp>
    </p:spTree>
    <p:extLst>
      <p:ext uri="{BB962C8B-B14F-4D97-AF65-F5344CB8AC3E}">
        <p14:creationId xmlns:p14="http://schemas.microsoft.com/office/powerpoint/2010/main" val="2526369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C508-1C70-4663-8F86-27C80308CF27}"/>
              </a:ext>
            </a:extLst>
          </p:cNvPr>
          <p:cNvSpPr>
            <a:spLocks noGrp="1"/>
          </p:cNvSpPr>
          <p:nvPr>
            <p:ph type="title"/>
          </p:nvPr>
        </p:nvSpPr>
        <p:spPr/>
        <p:txBody>
          <a:bodyPr/>
          <a:lstStyle/>
          <a:p>
            <a:r>
              <a:rPr lang="en-GB" altLang="en-US" dirty="0"/>
              <a:t>Financial futures</a:t>
            </a:r>
            <a:endParaRPr lang="en-US" dirty="0"/>
          </a:p>
        </p:txBody>
      </p:sp>
      <p:sp>
        <p:nvSpPr>
          <p:cNvPr id="3" name="Content Placeholder 2">
            <a:extLst>
              <a:ext uri="{FF2B5EF4-FFF2-40B4-BE49-F238E27FC236}">
                <a16:creationId xmlns:a16="http://schemas.microsoft.com/office/drawing/2014/main" id="{7A106B7D-EBA8-43D8-A47C-671DB14587EB}"/>
              </a:ext>
            </a:extLst>
          </p:cNvPr>
          <p:cNvSpPr>
            <a:spLocks noGrp="1"/>
          </p:cNvSpPr>
          <p:nvPr>
            <p:ph idx="1"/>
          </p:nvPr>
        </p:nvSpPr>
        <p:spPr/>
        <p:txBody>
          <a:bodyPr>
            <a:normAutofit fontScale="92500" lnSpcReduction="10000"/>
          </a:bodyPr>
          <a:lstStyle/>
          <a:p>
            <a:pPr>
              <a:lnSpc>
                <a:spcPct val="90000"/>
              </a:lnSpc>
            </a:pPr>
            <a:r>
              <a:rPr lang="en-GB" altLang="en-US" dirty="0"/>
              <a:t>Contract promising to buy or sell a specified amount of an asset (</a:t>
            </a:r>
            <a:r>
              <a:rPr lang="en-GB" altLang="en-US" dirty="0" smtClean="0"/>
              <a:t>e.g. </a:t>
            </a:r>
            <a:r>
              <a:rPr lang="en-GB" altLang="en-US" dirty="0"/>
              <a:t>gold, oranges, oil) on a specified date in the future</a:t>
            </a:r>
          </a:p>
          <a:p>
            <a:pPr>
              <a:lnSpc>
                <a:spcPct val="90000"/>
              </a:lnSpc>
              <a:buNone/>
            </a:pPr>
            <a:endParaRPr lang="en-GB" altLang="en-US" dirty="0"/>
          </a:p>
          <a:p>
            <a:pPr>
              <a:lnSpc>
                <a:spcPct val="90000"/>
              </a:lnSpc>
            </a:pPr>
            <a:r>
              <a:rPr lang="en-GB" altLang="en-US" dirty="0"/>
              <a:t>Used to minimise risk of adverse price movements affecting future contracts</a:t>
            </a:r>
          </a:p>
          <a:p>
            <a:pPr>
              <a:lnSpc>
                <a:spcPct val="90000"/>
              </a:lnSpc>
              <a:buNone/>
            </a:pPr>
            <a:endParaRPr lang="en-GB" altLang="en-US" dirty="0"/>
          </a:p>
          <a:p>
            <a:r>
              <a:rPr lang="en-GB" altLang="en-US" dirty="0"/>
              <a:t>A company can use financial futures to “lock in” the value of assets or liabilities, or to guarantee the value of receipts and payments</a:t>
            </a:r>
          </a:p>
          <a:p>
            <a:endParaRPr lang="en-US" dirty="0"/>
          </a:p>
        </p:txBody>
      </p:sp>
    </p:spTree>
    <p:extLst>
      <p:ext uri="{BB962C8B-B14F-4D97-AF65-F5344CB8AC3E}">
        <p14:creationId xmlns:p14="http://schemas.microsoft.com/office/powerpoint/2010/main" val="507751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5FBA-35B1-401A-81B7-C5A004D54635}"/>
              </a:ext>
            </a:extLst>
          </p:cNvPr>
          <p:cNvSpPr>
            <a:spLocks noGrp="1"/>
          </p:cNvSpPr>
          <p:nvPr>
            <p:ph type="title"/>
          </p:nvPr>
        </p:nvSpPr>
        <p:spPr/>
        <p:txBody>
          <a:bodyPr/>
          <a:lstStyle/>
          <a:p>
            <a:r>
              <a:rPr lang="en-US" dirty="0" smtClean="0"/>
              <a:t>Example 1</a:t>
            </a:r>
            <a:endParaRPr lang="en-US" dirty="0"/>
          </a:p>
        </p:txBody>
      </p:sp>
      <p:sp>
        <p:nvSpPr>
          <p:cNvPr id="3" name="Content Placeholder 2">
            <a:extLst>
              <a:ext uri="{FF2B5EF4-FFF2-40B4-BE49-F238E27FC236}">
                <a16:creationId xmlns:a16="http://schemas.microsoft.com/office/drawing/2014/main" id="{5174854F-B3BF-45C0-A5EE-CF38745C015B}"/>
              </a:ext>
            </a:extLst>
          </p:cNvPr>
          <p:cNvSpPr>
            <a:spLocks noGrp="1"/>
          </p:cNvSpPr>
          <p:nvPr>
            <p:ph idx="1"/>
          </p:nvPr>
        </p:nvSpPr>
        <p:spPr/>
        <p:txBody>
          <a:bodyPr>
            <a:normAutofit/>
          </a:bodyPr>
          <a:lstStyle/>
          <a:p>
            <a:pPr lvl="1">
              <a:lnSpc>
                <a:spcPct val="90000"/>
              </a:lnSpc>
              <a:buFont typeface="Arial" panose="020B0604020202020204" pitchFamily="34" charset="0"/>
              <a:buChar char="•"/>
            </a:pPr>
            <a:r>
              <a:rPr lang="en-GB" altLang="en-US" dirty="0" smtClean="0"/>
              <a:t>UK </a:t>
            </a:r>
            <a:r>
              <a:rPr lang="en-GB" altLang="en-US" dirty="0"/>
              <a:t>importer buys goods from Germany</a:t>
            </a:r>
          </a:p>
          <a:p>
            <a:pPr lvl="1">
              <a:lnSpc>
                <a:spcPct val="90000"/>
              </a:lnSpc>
              <a:buFont typeface="Arial" panose="020B0604020202020204" pitchFamily="34" charset="0"/>
              <a:buChar char="•"/>
            </a:pPr>
            <a:r>
              <a:rPr lang="en-GB" altLang="en-US" dirty="0"/>
              <a:t>Contract is to pay in 3 months time in euros at current prices</a:t>
            </a:r>
          </a:p>
          <a:p>
            <a:pPr lvl="1">
              <a:lnSpc>
                <a:spcPct val="90000"/>
              </a:lnSpc>
              <a:buFont typeface="Arial" panose="020B0604020202020204" pitchFamily="34" charset="0"/>
              <a:buChar char="•"/>
            </a:pPr>
            <a:r>
              <a:rPr lang="en-GB" altLang="en-US" dirty="0"/>
              <a:t>Risk: if £ declines in value against euro, importer will have to pay more to meet cost</a:t>
            </a:r>
          </a:p>
          <a:p>
            <a:pPr lvl="1">
              <a:lnSpc>
                <a:spcPct val="90000"/>
              </a:lnSpc>
              <a:buFont typeface="Arial" panose="020B0604020202020204" pitchFamily="34" charset="0"/>
              <a:buChar char="•"/>
            </a:pPr>
            <a:r>
              <a:rPr lang="en-GB" altLang="en-US" dirty="0"/>
              <a:t>Limit risk by contracting to buy equivalent amount of euros in 3 months time, at today’s exchange rate</a:t>
            </a:r>
          </a:p>
          <a:p>
            <a:endParaRPr lang="en-US" dirty="0"/>
          </a:p>
        </p:txBody>
      </p:sp>
    </p:spTree>
    <p:extLst>
      <p:ext uri="{BB962C8B-B14F-4D97-AF65-F5344CB8AC3E}">
        <p14:creationId xmlns:p14="http://schemas.microsoft.com/office/powerpoint/2010/main" val="4005419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9775-2396-485E-B9A6-33C3EFAEBE18}"/>
              </a:ext>
            </a:extLst>
          </p:cNvPr>
          <p:cNvSpPr>
            <a:spLocks noGrp="1"/>
          </p:cNvSpPr>
          <p:nvPr>
            <p:ph type="title"/>
          </p:nvPr>
        </p:nvSpPr>
        <p:spPr/>
        <p:txBody>
          <a:bodyPr/>
          <a:lstStyle/>
          <a:p>
            <a:r>
              <a:rPr lang="en-US" dirty="0" smtClean="0"/>
              <a:t>Example 2</a:t>
            </a:r>
            <a:endParaRPr lang="en-US" dirty="0"/>
          </a:p>
        </p:txBody>
      </p:sp>
      <p:sp>
        <p:nvSpPr>
          <p:cNvPr id="3" name="Content Placeholder 2">
            <a:extLst>
              <a:ext uri="{FF2B5EF4-FFF2-40B4-BE49-F238E27FC236}">
                <a16:creationId xmlns:a16="http://schemas.microsoft.com/office/drawing/2014/main" id="{BF3A19D5-058F-4890-A223-895FD9DDEC80}"/>
              </a:ext>
            </a:extLst>
          </p:cNvPr>
          <p:cNvSpPr>
            <a:spLocks noGrp="1"/>
          </p:cNvSpPr>
          <p:nvPr>
            <p:ph idx="1"/>
          </p:nvPr>
        </p:nvSpPr>
        <p:spPr/>
        <p:txBody>
          <a:bodyPr>
            <a:normAutofit/>
          </a:bodyPr>
          <a:lstStyle/>
          <a:p>
            <a:pPr lvl="1">
              <a:buFont typeface="Arial" panose="020B0604020202020204" pitchFamily="34" charset="0"/>
              <a:buChar char="•"/>
            </a:pPr>
            <a:r>
              <a:rPr lang="en-GB" altLang="en-US" dirty="0" smtClean="0"/>
              <a:t>UK </a:t>
            </a:r>
            <a:r>
              <a:rPr lang="en-GB" altLang="en-US" dirty="0"/>
              <a:t>exporter sells goods to US customer at today’s prices. </a:t>
            </a:r>
          </a:p>
          <a:p>
            <a:pPr lvl="1">
              <a:buFont typeface="Arial" panose="020B0604020202020204" pitchFamily="34" charset="0"/>
              <a:buChar char="•"/>
            </a:pPr>
            <a:r>
              <a:rPr lang="en-GB" altLang="en-US" dirty="0"/>
              <a:t>Will receive payment in $ in 2 months time</a:t>
            </a:r>
          </a:p>
          <a:p>
            <a:pPr lvl="1">
              <a:buFont typeface="Arial" panose="020B0604020202020204" pitchFamily="34" charset="0"/>
              <a:buChar char="•"/>
            </a:pPr>
            <a:r>
              <a:rPr lang="en-GB" altLang="en-US" dirty="0"/>
              <a:t>Risk: if £ strengthens against $, exporter will receive less in £s</a:t>
            </a:r>
          </a:p>
          <a:p>
            <a:pPr lvl="1">
              <a:buFont typeface="Arial" panose="020B0604020202020204" pitchFamily="34" charset="0"/>
              <a:buChar char="•"/>
            </a:pPr>
            <a:r>
              <a:rPr lang="en-GB" altLang="en-US" dirty="0"/>
              <a:t>Offset risk by contracting to sell equivalent amount of $ in 2 months, at today’s exchange rate</a:t>
            </a:r>
          </a:p>
          <a:p>
            <a:endParaRPr lang="en-US" dirty="0"/>
          </a:p>
        </p:txBody>
      </p:sp>
    </p:spTree>
    <p:extLst>
      <p:ext uri="{BB962C8B-B14F-4D97-AF65-F5344CB8AC3E}">
        <p14:creationId xmlns:p14="http://schemas.microsoft.com/office/powerpoint/2010/main" val="3013616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A8AF5-D739-41A9-A698-BC34C718EBE5}"/>
              </a:ext>
            </a:extLst>
          </p:cNvPr>
          <p:cNvSpPr>
            <a:spLocks noGrp="1"/>
          </p:cNvSpPr>
          <p:nvPr>
            <p:ph type="title"/>
          </p:nvPr>
        </p:nvSpPr>
        <p:spPr/>
        <p:txBody>
          <a:bodyPr/>
          <a:lstStyle/>
          <a:p>
            <a:r>
              <a:rPr lang="en-GB" altLang="en-US" dirty="0"/>
              <a:t>Characteristics of futures</a:t>
            </a:r>
            <a:endParaRPr lang="en-US" dirty="0"/>
          </a:p>
        </p:txBody>
      </p:sp>
      <p:sp>
        <p:nvSpPr>
          <p:cNvPr id="3" name="Content Placeholder 2">
            <a:extLst>
              <a:ext uri="{FF2B5EF4-FFF2-40B4-BE49-F238E27FC236}">
                <a16:creationId xmlns:a16="http://schemas.microsoft.com/office/drawing/2014/main" id="{E5F8A258-4AA7-47B5-9CD9-CFCC5873E465}"/>
              </a:ext>
            </a:extLst>
          </p:cNvPr>
          <p:cNvSpPr>
            <a:spLocks noGrp="1"/>
          </p:cNvSpPr>
          <p:nvPr>
            <p:ph idx="1"/>
          </p:nvPr>
        </p:nvSpPr>
        <p:spPr/>
        <p:txBody>
          <a:bodyPr>
            <a:normAutofit fontScale="85000" lnSpcReduction="10000"/>
          </a:bodyPr>
          <a:lstStyle/>
          <a:p>
            <a:pPr lvl="1">
              <a:buFont typeface="Arial" panose="020B0604020202020204" pitchFamily="34" charset="0"/>
              <a:buChar char="•"/>
              <a:defRPr/>
            </a:pPr>
            <a:r>
              <a:rPr lang="en-GB" dirty="0"/>
              <a:t>Contracts are standardised</a:t>
            </a:r>
          </a:p>
          <a:p>
            <a:pPr lvl="1">
              <a:buFont typeface="Arial" panose="020B0604020202020204" pitchFamily="34" charset="0"/>
              <a:buChar char="•"/>
              <a:defRPr/>
            </a:pPr>
            <a:r>
              <a:rPr lang="en-GB" dirty="0"/>
              <a:t>Business is open and prices published</a:t>
            </a:r>
          </a:p>
          <a:p>
            <a:pPr lvl="1">
              <a:buFont typeface="Arial" panose="020B0604020202020204" pitchFamily="34" charset="0"/>
              <a:buChar char="•"/>
              <a:defRPr/>
            </a:pPr>
            <a:r>
              <a:rPr lang="en-GB" dirty="0"/>
              <a:t>Contracts can be traded</a:t>
            </a:r>
          </a:p>
          <a:p>
            <a:pPr lvl="1">
              <a:buFont typeface="Arial" panose="020B0604020202020204" pitchFamily="34" charset="0"/>
              <a:buChar char="•"/>
              <a:defRPr/>
            </a:pPr>
            <a:r>
              <a:rPr lang="en-GB" dirty="0"/>
              <a:t>Dealings usually through a clearing house, which guarantees payment to participants </a:t>
            </a:r>
          </a:p>
          <a:p>
            <a:pPr lvl="1">
              <a:buFont typeface="Arial" panose="020B0604020202020204" pitchFamily="34" charset="0"/>
              <a:buChar char="•"/>
              <a:defRPr/>
            </a:pPr>
            <a:r>
              <a:rPr lang="en-GB" dirty="0"/>
              <a:t>Each party to a futures contract must deposit a sum of money known as </a:t>
            </a:r>
            <a:r>
              <a:rPr lang="en-GB" b="1" dirty="0"/>
              <a:t>margin</a:t>
            </a:r>
            <a:r>
              <a:rPr lang="en-GB" i="1" dirty="0"/>
              <a:t> </a:t>
            </a:r>
            <a:r>
              <a:rPr lang="en-GB" dirty="0"/>
              <a:t>with the clearing house. </a:t>
            </a:r>
          </a:p>
          <a:p>
            <a:pPr lvl="1">
              <a:buFont typeface="Arial" panose="020B0604020202020204" pitchFamily="34" charset="0"/>
              <a:buChar char="•"/>
              <a:defRPr/>
            </a:pPr>
            <a:r>
              <a:rPr lang="en-GB" dirty="0"/>
              <a:t>Margin payments act as a cushion against potential losses which the parties may suffer from future adverse price movements.</a:t>
            </a:r>
          </a:p>
          <a:p>
            <a:endParaRPr lang="en-US" dirty="0"/>
          </a:p>
        </p:txBody>
      </p:sp>
    </p:spTree>
    <p:extLst>
      <p:ext uri="{BB962C8B-B14F-4D97-AF65-F5344CB8AC3E}">
        <p14:creationId xmlns:p14="http://schemas.microsoft.com/office/powerpoint/2010/main" val="2276401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Margin Accounts and Marking to Market</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The clearing corporation also posts daily gains and losses on the contract to the margin account of the parties involved.</a:t>
            </a:r>
          </a:p>
          <a:p>
            <a:pPr lvl="1"/>
            <a:r>
              <a:rPr lang="en-GB" dirty="0" smtClean="0"/>
              <a:t>This is called marking to market.</a:t>
            </a:r>
          </a:p>
          <a:p>
            <a:r>
              <a:rPr lang="en-GB" dirty="0" smtClean="0"/>
              <a:t>Doing this each day ensures that sellers always have the resources to make delivery and buyers can always pay.</a:t>
            </a:r>
          </a:p>
          <a:p>
            <a:r>
              <a:rPr lang="en-GB" dirty="0" smtClean="0"/>
              <a:t>If a margin account falls below the minimum, the clearing corporation will sell the contracts, ending the persons participation in the market.</a:t>
            </a:r>
            <a:endParaRPr lang="en-GB" dirty="0"/>
          </a:p>
        </p:txBody>
      </p:sp>
    </p:spTree>
    <p:extLst>
      <p:ext uri="{BB962C8B-B14F-4D97-AF65-F5344CB8AC3E}">
        <p14:creationId xmlns:p14="http://schemas.microsoft.com/office/powerpoint/2010/main" val="1328810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Hedging and speculating with Futures</a:t>
            </a:r>
            <a:endParaRPr lang="en-GB" dirty="0"/>
          </a:p>
        </p:txBody>
      </p:sp>
      <p:sp>
        <p:nvSpPr>
          <p:cNvPr id="3" name="Content Placeholder 2"/>
          <p:cNvSpPr>
            <a:spLocks noGrp="1"/>
          </p:cNvSpPr>
          <p:nvPr>
            <p:ph idx="1"/>
          </p:nvPr>
        </p:nvSpPr>
        <p:spPr/>
        <p:txBody>
          <a:bodyPr/>
          <a:lstStyle/>
          <a:p>
            <a:r>
              <a:rPr lang="en-GB" dirty="0" smtClean="0"/>
              <a:t>Buying a futures contract fixes the price that the fund will need to pay.</a:t>
            </a:r>
          </a:p>
          <a:p>
            <a:pPr lvl="1"/>
            <a:r>
              <a:rPr lang="en-GB" dirty="0" smtClean="0"/>
              <a:t>In this example, both sides use the futures contract as a hedge – they are both hedgers.</a:t>
            </a:r>
          </a:p>
          <a:p>
            <a:r>
              <a:rPr lang="en-GB" dirty="0" smtClean="0"/>
              <a:t>Producers and users of commodities employ futures markets to hedge their risks as well: farmers, mining companies, oil drillers etc.</a:t>
            </a:r>
          </a:p>
          <a:p>
            <a:pPr marL="457200" lvl="1" indent="0">
              <a:buNone/>
            </a:pPr>
            <a:endParaRPr lang="en-GB" dirty="0"/>
          </a:p>
        </p:txBody>
      </p:sp>
    </p:spTree>
    <p:extLst>
      <p:ext uri="{BB962C8B-B14F-4D97-AF65-F5344CB8AC3E}">
        <p14:creationId xmlns:p14="http://schemas.microsoft.com/office/powerpoint/2010/main" val="2209838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Hedging and speculating with Futures</a:t>
            </a:r>
          </a:p>
        </p:txBody>
      </p:sp>
      <p:sp>
        <p:nvSpPr>
          <p:cNvPr id="3" name="Content Placeholder 2"/>
          <p:cNvSpPr>
            <a:spLocks noGrp="1"/>
          </p:cNvSpPr>
          <p:nvPr>
            <p:ph idx="1"/>
          </p:nvPr>
        </p:nvSpPr>
        <p:spPr/>
        <p:txBody>
          <a:bodyPr/>
          <a:lstStyle/>
          <a:p>
            <a:r>
              <a:rPr lang="en-GB" dirty="0" smtClean="0"/>
              <a:t>Speculators are trying to make a profits.</a:t>
            </a:r>
          </a:p>
          <a:p>
            <a:r>
              <a:rPr lang="en-GB" dirty="0" smtClean="0"/>
              <a:t>They bet on price movements</a:t>
            </a:r>
          </a:p>
          <a:p>
            <a:r>
              <a:rPr lang="en-GB" dirty="0" smtClean="0"/>
              <a:t>Future contracts are popular tools for speculation because they are cheap.</a:t>
            </a:r>
          </a:p>
          <a:p>
            <a:r>
              <a:rPr lang="en-GB" dirty="0" smtClean="0"/>
              <a:t>An investor needs only a small amount to invest – the margin – to purchase the future contract.</a:t>
            </a:r>
            <a:endParaRPr lang="en-GB" dirty="0"/>
          </a:p>
        </p:txBody>
      </p:sp>
    </p:spTree>
    <p:extLst>
      <p:ext uri="{BB962C8B-B14F-4D97-AF65-F5344CB8AC3E}">
        <p14:creationId xmlns:p14="http://schemas.microsoft.com/office/powerpoint/2010/main" val="303080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1CBEC-F2ED-4069-A00F-05B6D8CB78DD}"/>
              </a:ext>
            </a:extLst>
          </p:cNvPr>
          <p:cNvSpPr>
            <a:spLocks noGrp="1"/>
          </p:cNvSpPr>
          <p:nvPr>
            <p:ph type="title"/>
          </p:nvPr>
        </p:nvSpPr>
        <p:spPr/>
        <p:txBody>
          <a:bodyPr/>
          <a:lstStyle/>
          <a:p>
            <a:r>
              <a:rPr lang="en-GB" altLang="en-US" dirty="0"/>
              <a:t>Options</a:t>
            </a:r>
            <a:endParaRPr lang="en-US" dirty="0"/>
          </a:p>
        </p:txBody>
      </p:sp>
      <p:sp>
        <p:nvSpPr>
          <p:cNvPr id="3" name="Content Placeholder 2">
            <a:extLst>
              <a:ext uri="{FF2B5EF4-FFF2-40B4-BE49-F238E27FC236}">
                <a16:creationId xmlns:a16="http://schemas.microsoft.com/office/drawing/2014/main" id="{75C3A00B-4EDB-4CEC-9079-80ECF1223E1F}"/>
              </a:ext>
            </a:extLst>
          </p:cNvPr>
          <p:cNvSpPr>
            <a:spLocks noGrp="1"/>
          </p:cNvSpPr>
          <p:nvPr>
            <p:ph idx="1"/>
          </p:nvPr>
        </p:nvSpPr>
        <p:spPr/>
        <p:txBody>
          <a:bodyPr/>
          <a:lstStyle/>
          <a:p>
            <a:pPr>
              <a:defRPr/>
            </a:pPr>
            <a:r>
              <a:rPr lang="en-GB" sz="1938" dirty="0"/>
              <a:t>Give holder right (but not the obligation) to buy or sell an asset at a pre-agreed price (</a:t>
            </a:r>
            <a:r>
              <a:rPr lang="en-GB" sz="1938" dirty="0" err="1"/>
              <a:t>eg</a:t>
            </a:r>
            <a:r>
              <a:rPr lang="en-GB" sz="1938" dirty="0"/>
              <a:t> employee share options)</a:t>
            </a:r>
          </a:p>
          <a:p>
            <a:pPr>
              <a:defRPr/>
            </a:pPr>
            <a:r>
              <a:rPr lang="en-GB" sz="1938" dirty="0"/>
              <a:t>May be fixed date in future, or range of dates</a:t>
            </a:r>
          </a:p>
          <a:p>
            <a:pPr>
              <a:defRPr/>
            </a:pPr>
            <a:r>
              <a:rPr lang="en-GB" sz="1938" dirty="0"/>
              <a:t>Two types </a:t>
            </a:r>
          </a:p>
          <a:p>
            <a:pPr lvl="1">
              <a:defRPr/>
            </a:pPr>
            <a:r>
              <a:rPr lang="en-GB" sz="1662" dirty="0"/>
              <a:t>A call option gives the right to buy a specified asset on a set date in the future for a specified price</a:t>
            </a:r>
          </a:p>
          <a:p>
            <a:pPr lvl="1">
              <a:defRPr/>
            </a:pPr>
            <a:r>
              <a:rPr lang="en-GB" sz="1662" dirty="0"/>
              <a:t>A put option gives the right to sell a specified asset on a set date in the future for a specified price. </a:t>
            </a:r>
          </a:p>
          <a:p>
            <a:pPr marL="237390" lvl="1" indent="-237390">
              <a:buFontTx/>
              <a:buChar char="•"/>
              <a:defRPr/>
            </a:pPr>
            <a:r>
              <a:rPr lang="en-GB" sz="1900" dirty="0"/>
              <a:t>Allow a company to protect itself against adverse movements in the finance environment, and also retain ability to profit from favourable movements</a:t>
            </a:r>
          </a:p>
          <a:p>
            <a:endParaRPr lang="en-US" dirty="0"/>
          </a:p>
        </p:txBody>
      </p:sp>
    </p:spTree>
    <p:extLst>
      <p:ext uri="{BB962C8B-B14F-4D97-AF65-F5344CB8AC3E}">
        <p14:creationId xmlns:p14="http://schemas.microsoft.com/office/powerpoint/2010/main" val="2134885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95F04-D921-46D6-A103-0524DD1B4F69}"/>
              </a:ext>
            </a:extLst>
          </p:cNvPr>
          <p:cNvSpPr>
            <a:spLocks noGrp="1"/>
          </p:cNvSpPr>
          <p:nvPr>
            <p:ph type="title"/>
          </p:nvPr>
        </p:nvSpPr>
        <p:spPr/>
        <p:txBody>
          <a:bodyPr/>
          <a:lstStyle/>
          <a:p>
            <a:r>
              <a:rPr lang="en-US" dirty="0" smtClean="0"/>
              <a:t>Example 1</a:t>
            </a:r>
            <a:endParaRPr lang="en-US" dirty="0"/>
          </a:p>
        </p:txBody>
      </p:sp>
      <p:sp>
        <p:nvSpPr>
          <p:cNvPr id="3" name="Content Placeholder 2">
            <a:extLst>
              <a:ext uri="{FF2B5EF4-FFF2-40B4-BE49-F238E27FC236}">
                <a16:creationId xmlns:a16="http://schemas.microsoft.com/office/drawing/2014/main" id="{90185FA7-0624-4B83-9B94-83C551250BE2}"/>
              </a:ext>
            </a:extLst>
          </p:cNvPr>
          <p:cNvSpPr>
            <a:spLocks noGrp="1"/>
          </p:cNvSpPr>
          <p:nvPr>
            <p:ph idx="1"/>
          </p:nvPr>
        </p:nvSpPr>
        <p:spPr/>
        <p:txBody>
          <a:bodyPr>
            <a:normAutofit fontScale="92500"/>
          </a:bodyPr>
          <a:lstStyle/>
          <a:p>
            <a:pPr lvl="1">
              <a:buFont typeface="Arial" panose="020B0604020202020204" pitchFamily="34" charset="0"/>
              <a:buChar char="•"/>
            </a:pPr>
            <a:r>
              <a:rPr lang="en-GB" altLang="en-US" dirty="0" smtClean="0"/>
              <a:t>Shareholder </a:t>
            </a:r>
            <a:r>
              <a:rPr lang="en-GB" altLang="en-US" dirty="0"/>
              <a:t>owns 10,000 shares in a company</a:t>
            </a:r>
          </a:p>
          <a:p>
            <a:pPr lvl="1">
              <a:buFont typeface="Arial" panose="020B0604020202020204" pitchFamily="34" charset="0"/>
              <a:buChar char="•"/>
            </a:pPr>
            <a:r>
              <a:rPr lang="en-GB" altLang="en-US" dirty="0"/>
              <a:t>Risk: price may fall</a:t>
            </a:r>
          </a:p>
          <a:p>
            <a:pPr lvl="1">
              <a:buFont typeface="Arial" panose="020B0604020202020204" pitchFamily="34" charset="0"/>
              <a:buChar char="•"/>
            </a:pPr>
            <a:r>
              <a:rPr lang="en-GB" altLang="en-US" dirty="0"/>
              <a:t>Can offset risk by buying a ‘put option’ </a:t>
            </a:r>
            <a:r>
              <a:rPr lang="en-GB" altLang="en-US" dirty="0" err="1"/>
              <a:t>ie</a:t>
            </a:r>
            <a:r>
              <a:rPr lang="en-GB" altLang="en-US" dirty="0"/>
              <a:t> right to sell the shares at an agreed price (strike price)</a:t>
            </a:r>
          </a:p>
          <a:p>
            <a:pPr lvl="1">
              <a:buFont typeface="Arial" panose="020B0604020202020204" pitchFamily="34" charset="0"/>
              <a:buChar char="•"/>
            </a:pPr>
            <a:r>
              <a:rPr lang="en-GB" altLang="en-US" dirty="0"/>
              <a:t>If price goes down, can sell shares at agreed price</a:t>
            </a:r>
          </a:p>
          <a:p>
            <a:pPr lvl="1">
              <a:buFont typeface="Arial" panose="020B0604020202020204" pitchFamily="34" charset="0"/>
              <a:buChar char="•"/>
            </a:pPr>
            <a:r>
              <a:rPr lang="en-GB" altLang="en-US" dirty="0"/>
              <a:t>Can also sell the option at a profit (put options rise in value as price declines)</a:t>
            </a:r>
          </a:p>
          <a:p>
            <a:endParaRPr lang="en-US" dirty="0"/>
          </a:p>
        </p:txBody>
      </p:sp>
    </p:spTree>
    <p:extLst>
      <p:ext uri="{BB962C8B-B14F-4D97-AF65-F5344CB8AC3E}">
        <p14:creationId xmlns:p14="http://schemas.microsoft.com/office/powerpoint/2010/main" val="3031142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FAAA-7F49-4D60-B477-4CB42B8A5BE3}"/>
              </a:ext>
            </a:extLst>
          </p:cNvPr>
          <p:cNvSpPr>
            <a:spLocks noGrp="1"/>
          </p:cNvSpPr>
          <p:nvPr>
            <p:ph type="title"/>
          </p:nvPr>
        </p:nvSpPr>
        <p:spPr/>
        <p:txBody>
          <a:bodyPr/>
          <a:lstStyle/>
          <a:p>
            <a:r>
              <a:rPr lang="en-US" dirty="0" smtClean="0"/>
              <a:t>Example 2</a:t>
            </a:r>
            <a:endParaRPr lang="en-US" dirty="0"/>
          </a:p>
        </p:txBody>
      </p:sp>
      <p:sp>
        <p:nvSpPr>
          <p:cNvPr id="3" name="Content Placeholder 2">
            <a:extLst>
              <a:ext uri="{FF2B5EF4-FFF2-40B4-BE49-F238E27FC236}">
                <a16:creationId xmlns:a16="http://schemas.microsoft.com/office/drawing/2014/main" id="{321602F3-816F-4E3D-A7A0-0EFD60F5D3E6}"/>
              </a:ext>
            </a:extLst>
          </p:cNvPr>
          <p:cNvSpPr>
            <a:spLocks noGrp="1"/>
          </p:cNvSpPr>
          <p:nvPr>
            <p:ph idx="1"/>
          </p:nvPr>
        </p:nvSpPr>
        <p:spPr/>
        <p:txBody>
          <a:bodyPr>
            <a:normAutofit fontScale="92500"/>
          </a:bodyPr>
          <a:lstStyle/>
          <a:p>
            <a:pPr lvl="1">
              <a:buFont typeface="Arial" panose="020B0604020202020204" pitchFamily="34" charset="0"/>
              <a:buChar char="•"/>
            </a:pPr>
            <a:r>
              <a:rPr lang="en-GB" altLang="en-US" dirty="0" smtClean="0"/>
              <a:t>Investor </a:t>
            </a:r>
            <a:r>
              <a:rPr lang="en-GB" altLang="en-US" dirty="0"/>
              <a:t>expects a share price to rise, but does not have the cash to buy now</a:t>
            </a:r>
          </a:p>
          <a:p>
            <a:pPr lvl="1">
              <a:buFont typeface="Arial" panose="020B0604020202020204" pitchFamily="34" charset="0"/>
              <a:buChar char="•"/>
            </a:pPr>
            <a:r>
              <a:rPr lang="en-GB" altLang="en-US" dirty="0"/>
              <a:t>Offset risk of losing out by buying a call option</a:t>
            </a:r>
          </a:p>
          <a:p>
            <a:pPr lvl="1">
              <a:buFont typeface="Arial" panose="020B0604020202020204" pitchFamily="34" charset="0"/>
              <a:buChar char="•"/>
            </a:pPr>
            <a:r>
              <a:rPr lang="en-GB" altLang="en-US" dirty="0"/>
              <a:t>Gives the right to buy shares at an agreed price on a future date</a:t>
            </a:r>
          </a:p>
          <a:p>
            <a:pPr lvl="1">
              <a:buFont typeface="Arial" panose="020B0604020202020204" pitchFamily="34" charset="0"/>
              <a:buChar char="•"/>
            </a:pPr>
            <a:r>
              <a:rPr lang="en-GB" altLang="en-US" dirty="0"/>
              <a:t>If the price rises, can take up these rights to buy at a favourable price</a:t>
            </a:r>
          </a:p>
          <a:p>
            <a:pPr lvl="1">
              <a:buFont typeface="Arial" panose="020B0604020202020204" pitchFamily="34" charset="0"/>
              <a:buChar char="•"/>
            </a:pPr>
            <a:r>
              <a:rPr lang="en-GB" altLang="en-US" dirty="0"/>
              <a:t>Could alternatively sell the options for a profit</a:t>
            </a:r>
          </a:p>
          <a:p>
            <a:endParaRPr lang="en-US" dirty="0"/>
          </a:p>
        </p:txBody>
      </p:sp>
    </p:spTree>
    <p:extLst>
      <p:ext uri="{BB962C8B-B14F-4D97-AF65-F5344CB8AC3E}">
        <p14:creationId xmlns:p14="http://schemas.microsoft.com/office/powerpoint/2010/main" val="2474402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6894-C2B8-4DA8-B110-55FEAABE61DE}"/>
              </a:ext>
            </a:extLst>
          </p:cNvPr>
          <p:cNvSpPr>
            <a:spLocks noGrp="1"/>
          </p:cNvSpPr>
          <p:nvPr>
            <p:ph type="title"/>
          </p:nvPr>
        </p:nvSpPr>
        <p:spPr/>
        <p:txBody>
          <a:bodyPr/>
          <a:lstStyle/>
          <a:p>
            <a:r>
              <a:rPr lang="en-GB" altLang="en-US" dirty="0"/>
              <a:t>Swaps</a:t>
            </a:r>
            <a:endParaRPr lang="en-US" dirty="0"/>
          </a:p>
        </p:txBody>
      </p:sp>
      <p:sp>
        <p:nvSpPr>
          <p:cNvPr id="3" name="Content Placeholder 2">
            <a:extLst>
              <a:ext uri="{FF2B5EF4-FFF2-40B4-BE49-F238E27FC236}">
                <a16:creationId xmlns:a16="http://schemas.microsoft.com/office/drawing/2014/main" id="{8036AB48-BB28-4C2B-B4E0-734E3707F141}"/>
              </a:ext>
            </a:extLst>
          </p:cNvPr>
          <p:cNvSpPr>
            <a:spLocks noGrp="1"/>
          </p:cNvSpPr>
          <p:nvPr>
            <p:ph idx="1"/>
          </p:nvPr>
        </p:nvSpPr>
        <p:spPr/>
        <p:txBody>
          <a:bodyPr>
            <a:normAutofit fontScale="77500" lnSpcReduction="20000"/>
          </a:bodyPr>
          <a:lstStyle/>
          <a:p>
            <a:r>
              <a:rPr lang="en-GB" altLang="en-US" dirty="0"/>
              <a:t>Allow a company to change the characteristics of its underlying business to manage risk</a:t>
            </a:r>
          </a:p>
          <a:p>
            <a:pPr>
              <a:buNone/>
            </a:pPr>
            <a:endParaRPr lang="en-GB" altLang="en-US" dirty="0"/>
          </a:p>
          <a:p>
            <a:r>
              <a:rPr lang="en-GB" altLang="en-US" dirty="0"/>
              <a:t>Two main types </a:t>
            </a:r>
          </a:p>
          <a:p>
            <a:pPr lvl="1"/>
            <a:r>
              <a:rPr lang="en-GB" altLang="en-US" dirty="0"/>
              <a:t>Currency swaps</a:t>
            </a:r>
          </a:p>
          <a:p>
            <a:pPr lvl="1"/>
            <a:r>
              <a:rPr lang="en-GB" altLang="en-US" dirty="0"/>
              <a:t>Interest rate swaps</a:t>
            </a:r>
          </a:p>
          <a:p>
            <a:pPr lvl="1">
              <a:buNone/>
            </a:pPr>
            <a:endParaRPr lang="en-GB" altLang="en-US" dirty="0"/>
          </a:p>
          <a:p>
            <a:r>
              <a:rPr lang="en-GB" altLang="en-US" dirty="0"/>
              <a:t>Currency swap</a:t>
            </a:r>
          </a:p>
          <a:p>
            <a:pPr lvl="1"/>
            <a:r>
              <a:rPr lang="en-GB" altLang="en-US" dirty="0"/>
              <a:t>Hedges against the risk of adverse foreign exchange movements</a:t>
            </a:r>
          </a:p>
          <a:p>
            <a:pPr lvl="1"/>
            <a:r>
              <a:rPr lang="en-GB" altLang="en-US" dirty="0"/>
              <a:t>Usually arranged through a bank as intermediary</a:t>
            </a:r>
          </a:p>
          <a:p>
            <a:endParaRPr lang="en-US" dirty="0"/>
          </a:p>
        </p:txBody>
      </p:sp>
    </p:spTree>
    <p:extLst>
      <p:ext uri="{BB962C8B-B14F-4D97-AF65-F5344CB8AC3E}">
        <p14:creationId xmlns:p14="http://schemas.microsoft.com/office/powerpoint/2010/main" val="623590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BF22-E710-461D-8B12-37C4FE00F197}"/>
              </a:ext>
            </a:extLst>
          </p:cNvPr>
          <p:cNvSpPr>
            <a:spLocks noGrp="1"/>
          </p:cNvSpPr>
          <p:nvPr>
            <p:ph type="title"/>
          </p:nvPr>
        </p:nvSpPr>
        <p:spPr/>
        <p:txBody>
          <a:bodyPr/>
          <a:lstStyle/>
          <a:p>
            <a:r>
              <a:rPr lang="en-US" dirty="0" smtClean="0"/>
              <a:t>Example</a:t>
            </a:r>
            <a:endParaRPr lang="en-US" dirty="0"/>
          </a:p>
        </p:txBody>
      </p:sp>
      <p:sp>
        <p:nvSpPr>
          <p:cNvPr id="3" name="Content Placeholder 2">
            <a:extLst>
              <a:ext uri="{FF2B5EF4-FFF2-40B4-BE49-F238E27FC236}">
                <a16:creationId xmlns:a16="http://schemas.microsoft.com/office/drawing/2014/main" id="{F6BC6521-204A-4D93-A940-1D96589CF5FC}"/>
              </a:ext>
            </a:extLst>
          </p:cNvPr>
          <p:cNvSpPr>
            <a:spLocks noGrp="1"/>
          </p:cNvSpPr>
          <p:nvPr>
            <p:ph idx="1"/>
          </p:nvPr>
        </p:nvSpPr>
        <p:spPr/>
        <p:txBody>
          <a:bodyPr>
            <a:normAutofit fontScale="92500" lnSpcReduction="10000"/>
          </a:bodyPr>
          <a:lstStyle/>
          <a:p>
            <a:pPr>
              <a:lnSpc>
                <a:spcPct val="90000"/>
              </a:lnSpc>
              <a:buNone/>
            </a:pPr>
            <a:endParaRPr lang="en-GB" altLang="en-US" dirty="0"/>
          </a:p>
          <a:p>
            <a:pPr>
              <a:lnSpc>
                <a:spcPct val="90000"/>
              </a:lnSpc>
              <a:buNone/>
            </a:pPr>
            <a:r>
              <a:rPr lang="en-GB" altLang="en-US" dirty="0"/>
              <a:t>Portuguese Company A pays its costs in euros. The majority of its sales are in the USA, and its income is in US$.</a:t>
            </a:r>
          </a:p>
          <a:p>
            <a:pPr>
              <a:lnSpc>
                <a:spcPct val="90000"/>
              </a:lnSpc>
              <a:buNone/>
            </a:pPr>
            <a:r>
              <a:rPr lang="en-GB" altLang="en-US" dirty="0"/>
              <a:t>American company B has its costs in US$, but makes the majority of its sales in Europe. </a:t>
            </a:r>
          </a:p>
          <a:p>
            <a:pPr>
              <a:lnSpc>
                <a:spcPct val="90000"/>
              </a:lnSpc>
              <a:buNone/>
            </a:pPr>
            <a:endParaRPr lang="en-GB" altLang="en-US" dirty="0"/>
          </a:p>
          <a:p>
            <a:pPr>
              <a:lnSpc>
                <a:spcPct val="90000"/>
              </a:lnSpc>
              <a:buNone/>
            </a:pPr>
            <a:r>
              <a:rPr lang="en-GB" altLang="en-US" dirty="0"/>
              <a:t>Companies A and B agree to swap their incomes over the next year at pre-agreed exchange rates, based on the current rates and future expectations</a:t>
            </a:r>
          </a:p>
          <a:p>
            <a:endParaRPr lang="en-US" dirty="0"/>
          </a:p>
        </p:txBody>
      </p:sp>
    </p:spTree>
    <p:extLst>
      <p:ext uri="{BB962C8B-B14F-4D97-AF65-F5344CB8AC3E}">
        <p14:creationId xmlns:p14="http://schemas.microsoft.com/office/powerpoint/2010/main" val="948058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0E65-544B-4B45-8183-FAFB6DD52DCF}"/>
              </a:ext>
            </a:extLst>
          </p:cNvPr>
          <p:cNvSpPr>
            <a:spLocks noGrp="1"/>
          </p:cNvSpPr>
          <p:nvPr>
            <p:ph type="title"/>
          </p:nvPr>
        </p:nvSpPr>
        <p:spPr/>
        <p:txBody>
          <a:bodyPr/>
          <a:lstStyle/>
          <a:p>
            <a:r>
              <a:rPr lang="en-GB" dirty="0"/>
              <a:t>Interest Rate Swap</a:t>
            </a:r>
            <a:endParaRPr lang="en-US" dirty="0"/>
          </a:p>
        </p:txBody>
      </p:sp>
      <p:sp>
        <p:nvSpPr>
          <p:cNvPr id="3" name="Content Placeholder 2">
            <a:extLst>
              <a:ext uri="{FF2B5EF4-FFF2-40B4-BE49-F238E27FC236}">
                <a16:creationId xmlns:a16="http://schemas.microsoft.com/office/drawing/2014/main" id="{4B901C53-2BA1-4173-8A9C-E7838C201862}"/>
              </a:ext>
            </a:extLst>
          </p:cNvPr>
          <p:cNvSpPr>
            <a:spLocks noGrp="1"/>
          </p:cNvSpPr>
          <p:nvPr>
            <p:ph idx="1"/>
          </p:nvPr>
        </p:nvSpPr>
        <p:spPr/>
        <p:txBody>
          <a:bodyPr>
            <a:normAutofit fontScale="47500" lnSpcReduction="20000"/>
          </a:bodyPr>
          <a:lstStyle/>
          <a:p>
            <a:pPr lvl="1">
              <a:defRPr/>
            </a:pPr>
            <a:r>
              <a:rPr lang="en-GB" sz="4600" dirty="0"/>
              <a:t>Hedges against risk of adverse interest rate movements</a:t>
            </a:r>
          </a:p>
          <a:p>
            <a:pPr lvl="1">
              <a:defRPr/>
            </a:pPr>
            <a:r>
              <a:rPr lang="en-GB" sz="4600" dirty="0"/>
              <a:t>Two parties exchange a fixed interest payment for a floating rate payment, on a notional capital sum </a:t>
            </a:r>
          </a:p>
          <a:p>
            <a:pPr lvl="1">
              <a:defRPr/>
            </a:pPr>
            <a:r>
              <a:rPr lang="en-GB" sz="4600" dirty="0"/>
              <a:t>fixed payments can be thought of as interest payments on a deposit at a fixed rate, while the variable payments are the interest on the same deposit at a floating rate</a:t>
            </a:r>
          </a:p>
          <a:p>
            <a:pPr lvl="1">
              <a:defRPr/>
            </a:pPr>
            <a:r>
              <a:rPr lang="en-GB" sz="4600" dirty="0"/>
              <a:t>The deposit is purely a notional one, no exchange of principal takes place</a:t>
            </a:r>
          </a:p>
          <a:p>
            <a:pPr lvl="1">
              <a:defRPr/>
            </a:pPr>
            <a:r>
              <a:rPr lang="en-GB" sz="4600" dirty="0"/>
              <a:t>Used to limit exposure to fluctuations in interest rates</a:t>
            </a:r>
          </a:p>
          <a:p>
            <a:endParaRPr lang="en-US" dirty="0"/>
          </a:p>
        </p:txBody>
      </p:sp>
    </p:spTree>
    <p:extLst>
      <p:ext uri="{BB962C8B-B14F-4D97-AF65-F5344CB8AC3E}">
        <p14:creationId xmlns:p14="http://schemas.microsoft.com/office/powerpoint/2010/main" val="602404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99B526C2-04F7-49D8-819D-ED57FFB095FC}"/>
              </a:ext>
            </a:extLst>
          </p:cNvPr>
          <p:cNvSpPr>
            <a:spLocks noGrp="1" noChangeArrowheads="1"/>
          </p:cNvSpPr>
          <p:nvPr>
            <p:ph type="body" idx="1"/>
          </p:nvPr>
        </p:nvSpPr>
        <p:spPr>
          <a:xfrm>
            <a:off x="2051720" y="1124744"/>
            <a:ext cx="5112567" cy="5216905"/>
          </a:xfrm>
        </p:spPr>
        <p:txBody>
          <a:bodyPr>
            <a:normAutofit lnSpcReduction="10000"/>
          </a:bodyPr>
          <a:lstStyle/>
          <a:p>
            <a:pPr eaLnBrk="1" hangingPunct="1">
              <a:lnSpc>
                <a:spcPct val="90000"/>
              </a:lnSpc>
              <a:buFontTx/>
              <a:buNone/>
            </a:pPr>
            <a:endParaRPr lang="en-GB" altLang="en-US" sz="1938" dirty="0"/>
          </a:p>
          <a:p>
            <a:pPr eaLnBrk="1" hangingPunct="1">
              <a:lnSpc>
                <a:spcPct val="90000"/>
              </a:lnSpc>
              <a:buFontTx/>
              <a:buNone/>
            </a:pPr>
            <a:r>
              <a:rPr lang="en-GB" altLang="en-US" sz="1938" dirty="0"/>
              <a:t>Example </a:t>
            </a:r>
          </a:p>
          <a:p>
            <a:pPr eaLnBrk="1" hangingPunct="1">
              <a:lnSpc>
                <a:spcPct val="90000"/>
              </a:lnSpc>
              <a:buFontTx/>
              <a:buNone/>
            </a:pPr>
            <a:endParaRPr lang="en-GB" altLang="en-US" sz="1938" dirty="0"/>
          </a:p>
          <a:p>
            <a:pPr eaLnBrk="1" hangingPunct="1">
              <a:lnSpc>
                <a:spcPct val="90000"/>
              </a:lnSpc>
              <a:buFontTx/>
              <a:buNone/>
            </a:pPr>
            <a:r>
              <a:rPr lang="en-GB" altLang="en-US" sz="1938" dirty="0"/>
              <a:t>Company A can only obtain variable interest rate loans, but expects rates to rise and wants to minimise its exposure. </a:t>
            </a:r>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endParaRPr lang="en-GB" altLang="en-US" sz="1938" dirty="0"/>
          </a:p>
          <a:p>
            <a:pPr eaLnBrk="1" hangingPunct="1">
              <a:lnSpc>
                <a:spcPct val="90000"/>
              </a:lnSpc>
              <a:buFontTx/>
              <a:buNone/>
            </a:pPr>
            <a:r>
              <a:rPr lang="en-GB" altLang="en-US" sz="1938" dirty="0"/>
              <a:t>The two variable cash flows offset each other, achieving a fixed rate for the company</a:t>
            </a:r>
          </a:p>
          <a:p>
            <a:pPr eaLnBrk="1" hangingPunct="1">
              <a:lnSpc>
                <a:spcPct val="90000"/>
              </a:lnSpc>
              <a:buFontTx/>
              <a:buNone/>
            </a:pPr>
            <a:endParaRPr lang="en-GB" altLang="en-US" sz="1938" dirty="0"/>
          </a:p>
          <a:p>
            <a:pPr eaLnBrk="1" hangingPunct="1">
              <a:lnSpc>
                <a:spcPct val="90000"/>
              </a:lnSpc>
              <a:buFontTx/>
              <a:buNone/>
            </a:pPr>
            <a:endParaRPr lang="en-GB" altLang="en-US" sz="1938" dirty="0"/>
          </a:p>
        </p:txBody>
      </p:sp>
      <p:sp>
        <p:nvSpPr>
          <p:cNvPr id="29699" name="Text Box 5">
            <a:extLst>
              <a:ext uri="{FF2B5EF4-FFF2-40B4-BE49-F238E27FC236}">
                <a16:creationId xmlns:a16="http://schemas.microsoft.com/office/drawing/2014/main" id="{7AA9AF2B-AE6A-44F9-BF3E-35F0123BA127}"/>
              </a:ext>
            </a:extLst>
          </p:cNvPr>
          <p:cNvSpPr txBox="1">
            <a:spLocks noChangeArrowheads="1"/>
          </p:cNvSpPr>
          <p:nvPr/>
        </p:nvSpPr>
        <p:spPr bwMode="auto">
          <a:xfrm>
            <a:off x="2831123" y="3112477"/>
            <a:ext cx="1266092" cy="348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dirty="0"/>
              <a:t>Lender</a:t>
            </a:r>
          </a:p>
        </p:txBody>
      </p:sp>
      <p:sp>
        <p:nvSpPr>
          <p:cNvPr id="29700" name="Text Box 6">
            <a:extLst>
              <a:ext uri="{FF2B5EF4-FFF2-40B4-BE49-F238E27FC236}">
                <a16:creationId xmlns:a16="http://schemas.microsoft.com/office/drawing/2014/main" id="{60DAB274-0C2F-42DC-B320-1317301CA907}"/>
              </a:ext>
            </a:extLst>
          </p:cNvPr>
          <p:cNvSpPr txBox="1">
            <a:spLocks noChangeArrowheads="1"/>
          </p:cNvSpPr>
          <p:nvPr/>
        </p:nvSpPr>
        <p:spPr bwMode="auto">
          <a:xfrm>
            <a:off x="2567355" y="4273062"/>
            <a:ext cx="1477107" cy="7318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a:t>Company A</a:t>
            </a:r>
          </a:p>
          <a:p>
            <a:pPr eaLnBrk="1" hangingPunct="1">
              <a:spcBef>
                <a:spcPct val="50000"/>
              </a:spcBef>
              <a:buFontTx/>
              <a:buNone/>
            </a:pPr>
            <a:endParaRPr lang="en-GB" altLang="en-US" sz="1662"/>
          </a:p>
        </p:txBody>
      </p:sp>
      <p:sp>
        <p:nvSpPr>
          <p:cNvPr id="29701" name="Text Box 9">
            <a:extLst>
              <a:ext uri="{FF2B5EF4-FFF2-40B4-BE49-F238E27FC236}">
                <a16:creationId xmlns:a16="http://schemas.microsoft.com/office/drawing/2014/main" id="{35030545-5961-43CA-A9B5-68FEDECF7727}"/>
              </a:ext>
            </a:extLst>
          </p:cNvPr>
          <p:cNvSpPr txBox="1">
            <a:spLocks noChangeArrowheads="1"/>
          </p:cNvSpPr>
          <p:nvPr/>
        </p:nvSpPr>
        <p:spPr bwMode="auto">
          <a:xfrm>
            <a:off x="5220071" y="4273061"/>
            <a:ext cx="1266092" cy="7318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a:t>Bank</a:t>
            </a:r>
          </a:p>
          <a:p>
            <a:pPr eaLnBrk="1" hangingPunct="1">
              <a:spcBef>
                <a:spcPct val="50000"/>
              </a:spcBef>
              <a:buFontTx/>
              <a:buNone/>
            </a:pPr>
            <a:endParaRPr lang="en-GB" altLang="en-US" sz="1662"/>
          </a:p>
        </p:txBody>
      </p:sp>
      <p:sp>
        <p:nvSpPr>
          <p:cNvPr id="29702" name="Text Box 11">
            <a:extLst>
              <a:ext uri="{FF2B5EF4-FFF2-40B4-BE49-F238E27FC236}">
                <a16:creationId xmlns:a16="http://schemas.microsoft.com/office/drawing/2014/main" id="{195E2244-AD3B-43DA-AF8F-9A9B3D64FAFA}"/>
              </a:ext>
            </a:extLst>
          </p:cNvPr>
          <p:cNvSpPr txBox="1">
            <a:spLocks noChangeArrowheads="1"/>
          </p:cNvSpPr>
          <p:nvPr/>
        </p:nvSpPr>
        <p:spPr bwMode="auto">
          <a:xfrm>
            <a:off x="2657835" y="3745523"/>
            <a:ext cx="648073"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dirty="0"/>
              <a:t>VR</a:t>
            </a:r>
          </a:p>
        </p:txBody>
      </p:sp>
      <p:sp>
        <p:nvSpPr>
          <p:cNvPr id="29703" name="Line 12">
            <a:extLst>
              <a:ext uri="{FF2B5EF4-FFF2-40B4-BE49-F238E27FC236}">
                <a16:creationId xmlns:a16="http://schemas.microsoft.com/office/drawing/2014/main" id="{5380EDB0-DE36-4416-B7B9-223BA9DD272C}"/>
              </a:ext>
            </a:extLst>
          </p:cNvPr>
          <p:cNvSpPr>
            <a:spLocks noChangeShapeType="1"/>
          </p:cNvSpPr>
          <p:nvPr/>
        </p:nvSpPr>
        <p:spPr bwMode="auto">
          <a:xfrm flipV="1">
            <a:off x="3464169" y="3429000"/>
            <a:ext cx="0" cy="844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246"/>
          </a:p>
        </p:txBody>
      </p:sp>
      <p:sp>
        <p:nvSpPr>
          <p:cNvPr id="29704" name="Line 13">
            <a:extLst>
              <a:ext uri="{FF2B5EF4-FFF2-40B4-BE49-F238E27FC236}">
                <a16:creationId xmlns:a16="http://schemas.microsoft.com/office/drawing/2014/main" id="{1BF9608D-F270-4AD1-8FA9-45B4C8AE98C6}"/>
              </a:ext>
            </a:extLst>
          </p:cNvPr>
          <p:cNvSpPr>
            <a:spLocks noChangeShapeType="1"/>
          </p:cNvSpPr>
          <p:nvPr/>
        </p:nvSpPr>
        <p:spPr bwMode="auto">
          <a:xfrm flipV="1">
            <a:off x="4059486" y="4437111"/>
            <a:ext cx="1160585" cy="1196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246"/>
          </a:p>
        </p:txBody>
      </p:sp>
      <p:sp>
        <p:nvSpPr>
          <p:cNvPr id="29705" name="Text Box 14">
            <a:extLst>
              <a:ext uri="{FF2B5EF4-FFF2-40B4-BE49-F238E27FC236}">
                <a16:creationId xmlns:a16="http://schemas.microsoft.com/office/drawing/2014/main" id="{6DD6B795-9504-4482-A000-C32A858D95CE}"/>
              </a:ext>
            </a:extLst>
          </p:cNvPr>
          <p:cNvSpPr txBox="1">
            <a:spLocks noChangeArrowheads="1"/>
          </p:cNvSpPr>
          <p:nvPr/>
        </p:nvSpPr>
        <p:spPr bwMode="auto">
          <a:xfrm>
            <a:off x="4270504" y="4036494"/>
            <a:ext cx="633044"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a:t>FR</a:t>
            </a:r>
          </a:p>
        </p:txBody>
      </p:sp>
      <p:sp>
        <p:nvSpPr>
          <p:cNvPr id="29706" name="Line 15">
            <a:extLst>
              <a:ext uri="{FF2B5EF4-FFF2-40B4-BE49-F238E27FC236}">
                <a16:creationId xmlns:a16="http://schemas.microsoft.com/office/drawing/2014/main" id="{73A64C29-7286-4A97-9CD7-B00837FE994A}"/>
              </a:ext>
            </a:extLst>
          </p:cNvPr>
          <p:cNvSpPr>
            <a:spLocks noChangeShapeType="1"/>
          </p:cNvSpPr>
          <p:nvPr/>
        </p:nvSpPr>
        <p:spPr bwMode="auto">
          <a:xfrm flipH="1">
            <a:off x="4044460" y="4766851"/>
            <a:ext cx="117561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246"/>
          </a:p>
        </p:txBody>
      </p:sp>
      <p:sp>
        <p:nvSpPr>
          <p:cNvPr id="29707" name="Text Box 16">
            <a:extLst>
              <a:ext uri="{FF2B5EF4-FFF2-40B4-BE49-F238E27FC236}">
                <a16:creationId xmlns:a16="http://schemas.microsoft.com/office/drawing/2014/main" id="{AB6CB9BE-54A2-44DA-9BD1-8440F7707035}"/>
              </a:ext>
            </a:extLst>
          </p:cNvPr>
          <p:cNvSpPr txBox="1">
            <a:spLocks noChangeArrowheads="1"/>
          </p:cNvSpPr>
          <p:nvPr/>
        </p:nvSpPr>
        <p:spPr bwMode="auto">
          <a:xfrm>
            <a:off x="4342718" y="4878392"/>
            <a:ext cx="648071"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1662"/>
              <a:t>VR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75067-E1EE-4CD1-BAE6-CF64FAB07C7A}"/>
              </a:ext>
            </a:extLst>
          </p:cNvPr>
          <p:cNvSpPr>
            <a:spLocks noGrp="1"/>
          </p:cNvSpPr>
          <p:nvPr>
            <p:ph type="title"/>
          </p:nvPr>
        </p:nvSpPr>
        <p:spPr/>
        <p:txBody>
          <a:bodyPr/>
          <a:lstStyle/>
          <a:p>
            <a:r>
              <a:rPr lang="en-GB" dirty="0"/>
              <a:t>Summary</a:t>
            </a:r>
            <a:endParaRPr lang="en-US" dirty="0"/>
          </a:p>
        </p:txBody>
      </p:sp>
      <p:sp>
        <p:nvSpPr>
          <p:cNvPr id="3" name="Content Placeholder 2">
            <a:extLst>
              <a:ext uri="{FF2B5EF4-FFF2-40B4-BE49-F238E27FC236}">
                <a16:creationId xmlns:a16="http://schemas.microsoft.com/office/drawing/2014/main" id="{8A50D9EB-AD78-4910-9778-5AD0EBB50329}"/>
              </a:ext>
            </a:extLst>
          </p:cNvPr>
          <p:cNvSpPr>
            <a:spLocks noGrp="1"/>
          </p:cNvSpPr>
          <p:nvPr>
            <p:ph idx="1"/>
          </p:nvPr>
        </p:nvSpPr>
        <p:spPr/>
        <p:txBody>
          <a:bodyPr>
            <a:normAutofit/>
          </a:bodyPr>
          <a:lstStyle/>
          <a:p>
            <a:r>
              <a:rPr lang="en-GB" dirty="0"/>
              <a:t>Four key types of financial markets are </a:t>
            </a:r>
          </a:p>
          <a:p>
            <a:pPr lvl="1"/>
            <a:r>
              <a:rPr lang="en-GB" dirty="0"/>
              <a:t>Securities markets</a:t>
            </a:r>
          </a:p>
          <a:p>
            <a:pPr lvl="1"/>
            <a:r>
              <a:rPr lang="en-GB" dirty="0"/>
              <a:t>Money markets</a:t>
            </a:r>
          </a:p>
          <a:p>
            <a:pPr lvl="1"/>
            <a:r>
              <a:rPr lang="en-GB" dirty="0"/>
              <a:t>Foreign exchange markets</a:t>
            </a:r>
          </a:p>
          <a:p>
            <a:pPr lvl="1"/>
            <a:r>
              <a:rPr lang="en-GB" dirty="0"/>
              <a:t>Futures and options markets</a:t>
            </a:r>
          </a:p>
          <a:p>
            <a:r>
              <a:rPr lang="en-GB" dirty="0"/>
              <a:t>Significant market regulation exists</a:t>
            </a:r>
          </a:p>
          <a:p>
            <a:r>
              <a:rPr lang="en-GB" dirty="0"/>
              <a:t>Derivatives may be used to reduce risk</a:t>
            </a:r>
          </a:p>
        </p:txBody>
      </p:sp>
    </p:spTree>
    <p:extLst>
      <p:ext uri="{BB962C8B-B14F-4D97-AF65-F5344CB8AC3E}">
        <p14:creationId xmlns:p14="http://schemas.microsoft.com/office/powerpoint/2010/main" val="595885222"/>
      </p:ext>
    </p:extLst>
  </p:cSld>
  <p:clrMapOvr>
    <a:masterClrMapping/>
  </p:clrMapOvr>
</p:sld>
</file>

<file path=ppt/theme/theme1.xml><?xml version="1.0" encoding="utf-8"?>
<a:theme xmlns:a="http://schemas.openxmlformats.org/drawingml/2006/main" name="1_Office Theme">
  <a:themeElements>
    <a:clrScheme name="Heriot-Watt">
      <a:dk1>
        <a:srgbClr val="5E6A71"/>
      </a:dk1>
      <a:lt1>
        <a:srgbClr val="FFFFFF"/>
      </a:lt1>
      <a:dk2>
        <a:srgbClr val="0098DB"/>
      </a:dk2>
      <a:lt2>
        <a:srgbClr val="00549F"/>
      </a:lt2>
      <a:accent1>
        <a:srgbClr val="0098DB"/>
      </a:accent1>
      <a:accent2>
        <a:srgbClr val="A5ACAF"/>
      </a:accent2>
      <a:accent3>
        <a:srgbClr val="5E6A71"/>
      </a:accent3>
      <a:accent4>
        <a:srgbClr val="00549F"/>
      </a:accent4>
      <a:accent5>
        <a:srgbClr val="72BCFF"/>
      </a:accent5>
      <a:accent6>
        <a:srgbClr val="BCC3C7"/>
      </a:accent6>
      <a:hlink>
        <a:srgbClr val="0098DB"/>
      </a:hlink>
      <a:folHlink>
        <a:srgbClr val="A5ACA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Heriot-Watt">
      <a:dk1>
        <a:srgbClr val="5E6A71"/>
      </a:dk1>
      <a:lt1>
        <a:srgbClr val="FFFFFF"/>
      </a:lt1>
      <a:dk2>
        <a:srgbClr val="0098DB"/>
      </a:dk2>
      <a:lt2>
        <a:srgbClr val="00549F"/>
      </a:lt2>
      <a:accent1>
        <a:srgbClr val="0098DB"/>
      </a:accent1>
      <a:accent2>
        <a:srgbClr val="A5ACAF"/>
      </a:accent2>
      <a:accent3>
        <a:srgbClr val="5E6A71"/>
      </a:accent3>
      <a:accent4>
        <a:srgbClr val="00549F"/>
      </a:accent4>
      <a:accent5>
        <a:srgbClr val="72BCFF"/>
      </a:accent5>
      <a:accent6>
        <a:srgbClr val="BCC3C7"/>
      </a:accent6>
      <a:hlink>
        <a:srgbClr val="0098DB"/>
      </a:hlink>
      <a:folHlink>
        <a:srgbClr val="A5ACA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EE07C38512818468275603CD5E61BA0" ma:contentTypeVersion="0" ma:contentTypeDescription="Create a new document." ma:contentTypeScope="" ma:versionID="bffdf6d8b42402b1618094c717ddf4d4">
  <xsd:schema xmlns:xsd="http://www.w3.org/2001/XMLSchema" xmlns:xs="http://www.w3.org/2001/XMLSchema" xmlns:p="http://schemas.microsoft.com/office/2006/metadata/properties" targetNamespace="http://schemas.microsoft.com/office/2006/metadata/properties" ma:root="true" ma:fieldsID="aa1222beb234debe96d12a98d24ff8a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7ACEBA-99EE-4B9A-99FE-F9695B41FA99}">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2.xml><?xml version="1.0" encoding="utf-8"?>
<ds:datastoreItem xmlns:ds="http://schemas.openxmlformats.org/officeDocument/2006/customXml" ds:itemID="{6FC14F33-A9A2-48F1-A0A9-DB146E88F93D}">
  <ds:schemaRefs>
    <ds:schemaRef ds:uri="http://schemas.microsoft.com/sharepoint/v3/contenttype/forms"/>
  </ds:schemaRefs>
</ds:datastoreItem>
</file>

<file path=customXml/itemProps3.xml><?xml version="1.0" encoding="utf-8"?>
<ds:datastoreItem xmlns:ds="http://schemas.openxmlformats.org/officeDocument/2006/customXml" ds:itemID="{279AB7AB-D87E-4CE6-8813-9B5D560C3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600</TotalTime>
  <Words>1429</Words>
  <Application>Microsoft Office PowerPoint</Application>
  <PresentationFormat>On-screen Show (4:3)</PresentationFormat>
  <Paragraphs>146</Paragraphs>
  <Slides>23</Slides>
  <Notes>1</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23</vt:i4>
      </vt:variant>
    </vt:vector>
  </HeadingPairs>
  <TitlesOfParts>
    <vt:vector size="31" baseType="lpstr">
      <vt:lpstr>Arial</vt:lpstr>
      <vt:lpstr>Calibri</vt:lpstr>
      <vt:lpstr>Times New Roman</vt:lpstr>
      <vt:lpstr>1_Office Theme</vt:lpstr>
      <vt:lpstr>2_Office Theme</vt:lpstr>
      <vt:lpstr>4_Office Theme</vt:lpstr>
      <vt:lpstr>3_Office Theme</vt:lpstr>
      <vt:lpstr>5_Office Theme</vt:lpstr>
      <vt:lpstr>Financial Institutions and Derivatives</vt:lpstr>
      <vt:lpstr>Derivatives</vt:lpstr>
      <vt:lpstr>Definition</vt:lpstr>
      <vt:lpstr>Three main types</vt:lpstr>
      <vt:lpstr>Uses of derivatives</vt:lpstr>
      <vt:lpstr>Transfer of risk</vt:lpstr>
      <vt:lpstr>Transfer of risk</vt:lpstr>
      <vt:lpstr>Forward</vt:lpstr>
      <vt:lpstr>Financial futures</vt:lpstr>
      <vt:lpstr>Example 1</vt:lpstr>
      <vt:lpstr>Example 2</vt:lpstr>
      <vt:lpstr>Characteristics of futures</vt:lpstr>
      <vt:lpstr>Margin Accounts and Marking to Market</vt:lpstr>
      <vt:lpstr>Hedging and speculating with Futures</vt:lpstr>
      <vt:lpstr>Hedging and speculating with Futures</vt:lpstr>
      <vt:lpstr>Options</vt:lpstr>
      <vt:lpstr>Example 1</vt:lpstr>
      <vt:lpstr>Example 2</vt:lpstr>
      <vt:lpstr>Swaps</vt:lpstr>
      <vt:lpstr>Example</vt:lpstr>
      <vt:lpstr>Interest Rate Swap</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McGeary</dc:creator>
  <cp:lastModifiedBy>Wilson, Melanie</cp:lastModifiedBy>
  <cp:revision>42</cp:revision>
  <dcterms:created xsi:type="dcterms:W3CDTF">2016-02-11T16:23:53Z</dcterms:created>
  <dcterms:modified xsi:type="dcterms:W3CDTF">2020-11-16T18:30:35Z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0x0101006EE07C38512818468275603CD5E61BA0</vt:lpwstr>
  </property>
</Properties>
</file>