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34"/>
  </p:notesMasterIdLst>
  <p:sldIdLst>
    <p:sldId id="256" r:id="rId9"/>
    <p:sldId id="335" r:id="rId10"/>
    <p:sldId id="281" r:id="rId11"/>
    <p:sldId id="336" r:id="rId12"/>
    <p:sldId id="282" r:id="rId13"/>
    <p:sldId id="285" r:id="rId14"/>
    <p:sldId id="339" r:id="rId15"/>
    <p:sldId id="340" r:id="rId16"/>
    <p:sldId id="293" r:id="rId17"/>
    <p:sldId id="297" r:id="rId18"/>
    <p:sldId id="343" r:id="rId19"/>
    <p:sldId id="345" r:id="rId20"/>
    <p:sldId id="347" r:id="rId21"/>
    <p:sldId id="348" r:id="rId22"/>
    <p:sldId id="349" r:id="rId23"/>
    <p:sldId id="350" r:id="rId24"/>
    <p:sldId id="304" r:id="rId25"/>
    <p:sldId id="354" r:id="rId26"/>
    <p:sldId id="356" r:id="rId27"/>
    <p:sldId id="357" r:id="rId28"/>
    <p:sldId id="359" r:id="rId29"/>
    <p:sldId id="360" r:id="rId30"/>
    <p:sldId id="361" r:id="rId31"/>
    <p:sldId id="362" r:id="rId32"/>
    <p:sldId id="37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1738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9EED6-E795-4558-8D13-A9FFBFD8C95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A0A3B-D086-4606-A9C2-7F165FD04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61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Financial Institutions and Derivatives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3284-FB00-47F8-9329-E145F972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Markets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0B06-ACC0-4409-894B-2F1FF6E4C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Securities markets</a:t>
            </a:r>
          </a:p>
          <a:p>
            <a:r>
              <a:rPr lang="en-GB" dirty="0"/>
              <a:t>Money markets</a:t>
            </a:r>
          </a:p>
          <a:p>
            <a:r>
              <a:rPr lang="en-GB" dirty="0"/>
              <a:t>Foreign exchange markets (Forex)</a:t>
            </a:r>
          </a:p>
          <a:p>
            <a:r>
              <a:rPr lang="en-GB" dirty="0"/>
              <a:t>Futures and options markets (Derivatives)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2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D0AFBB-8465-475E-925A-2AFAC0B36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1143" y="1196752"/>
            <a:ext cx="7168018" cy="867141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Financial markets cont’d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3522066-EFE6-469E-BE0C-4C98A959D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2132856"/>
            <a:ext cx="8136903" cy="4619259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1938" dirty="0"/>
              <a:t>Securities markets</a:t>
            </a:r>
          </a:p>
          <a:p>
            <a:pPr lvl="2"/>
            <a:r>
              <a:rPr lang="en-GB" altLang="en-US" sz="1800" dirty="0"/>
              <a:t>Raises new capital (primary market)</a:t>
            </a:r>
          </a:p>
          <a:p>
            <a:pPr lvl="2"/>
            <a:r>
              <a:rPr lang="en-GB" altLang="en-US" sz="1800" dirty="0"/>
              <a:t>Trades in existing shares and bonds (secondary market)</a:t>
            </a:r>
          </a:p>
          <a:p>
            <a:pPr lvl="2"/>
            <a:r>
              <a:rPr lang="en-GB" altLang="en-US" sz="1800" dirty="0"/>
              <a:t>Various stock exchanges world-wide – </a:t>
            </a:r>
            <a:r>
              <a:rPr lang="en-GB" altLang="en-US" sz="1800" dirty="0" err="1"/>
              <a:t>eg</a:t>
            </a:r>
            <a:endParaRPr lang="en-GB" altLang="en-US" sz="1800" dirty="0"/>
          </a:p>
          <a:p>
            <a:pPr lvl="3"/>
            <a:r>
              <a:rPr lang="en-GB" altLang="en-US" sz="1600" dirty="0"/>
              <a:t>London</a:t>
            </a:r>
          </a:p>
          <a:p>
            <a:pPr lvl="3"/>
            <a:r>
              <a:rPr lang="en-GB" altLang="en-US" sz="1600" dirty="0"/>
              <a:t>New York</a:t>
            </a:r>
          </a:p>
          <a:p>
            <a:pPr lvl="3"/>
            <a:r>
              <a:rPr lang="en-GB" altLang="en-US" sz="1600" dirty="0"/>
              <a:t>Tokyo</a:t>
            </a:r>
          </a:p>
          <a:p>
            <a:pPr lvl="3"/>
            <a:r>
              <a:rPr lang="en-GB" altLang="en-US" sz="1600" dirty="0"/>
              <a:t>Hong Kong </a:t>
            </a:r>
          </a:p>
          <a:p>
            <a:pPr lvl="3"/>
            <a:r>
              <a:rPr lang="en-GB" altLang="en-US" sz="1600" dirty="0"/>
              <a:t>Frankfurt</a:t>
            </a:r>
          </a:p>
          <a:p>
            <a:pPr marL="1371600" lvl="3" indent="0">
              <a:buNone/>
            </a:pPr>
            <a:endParaRPr lang="en-GB" altLang="en-US" sz="1108" dirty="0"/>
          </a:p>
          <a:p>
            <a:pPr eaLnBrk="1" hangingPunct="1"/>
            <a:r>
              <a:rPr lang="en-GB" altLang="en-US" sz="1938" dirty="0"/>
              <a:t>Money markets</a:t>
            </a:r>
          </a:p>
          <a:p>
            <a:pPr lvl="2" eaLnBrk="1" hangingPunct="1"/>
            <a:r>
              <a:rPr lang="en-GB" altLang="en-US" sz="1600" dirty="0"/>
              <a:t>Highly liquid financial instruments are traded</a:t>
            </a:r>
          </a:p>
          <a:p>
            <a:pPr lvl="2" eaLnBrk="1" hangingPunct="1"/>
            <a:r>
              <a:rPr lang="en-GB" altLang="en-US" sz="1600" dirty="0"/>
              <a:t>Covers bank deposits and short-term securities – </a:t>
            </a:r>
            <a:r>
              <a:rPr lang="en-GB" altLang="en-US" sz="1600" dirty="0" err="1"/>
              <a:t>eg</a:t>
            </a:r>
            <a:r>
              <a:rPr lang="en-GB" altLang="en-US" sz="1600" dirty="0"/>
              <a:t> Treasury bills</a:t>
            </a:r>
          </a:p>
          <a:p>
            <a:pPr lvl="1" eaLnBrk="1" hangingPunct="1"/>
            <a:endParaRPr lang="en-GB" altLang="en-US" sz="1662" dirty="0"/>
          </a:p>
          <a:p>
            <a:pPr lvl="2" eaLnBrk="1" hangingPunct="1"/>
            <a:endParaRPr lang="en-GB" altLang="en-US" sz="13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E6F6E-2F09-4C55-A462-103110BC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Financial markets 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9EAD3-2403-4A65-9E5F-724FA94AA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Foreign exchange markets</a:t>
            </a:r>
          </a:p>
          <a:p>
            <a:pPr lvl="2"/>
            <a:r>
              <a:rPr lang="en-GB" altLang="en-US" sz="1800" dirty="0"/>
              <a:t>Currencies bought and sold</a:t>
            </a:r>
          </a:p>
          <a:p>
            <a:pPr lvl="2"/>
            <a:r>
              <a:rPr lang="en-GB" altLang="en-US" sz="1800" dirty="0"/>
              <a:t>Primarily carried out by banks</a:t>
            </a:r>
          </a:p>
          <a:p>
            <a:pPr lvl="1"/>
            <a:endParaRPr lang="en-GB" dirty="0"/>
          </a:p>
          <a:p>
            <a:r>
              <a:rPr lang="en-GB" dirty="0"/>
              <a:t>Futures and options markets</a:t>
            </a:r>
          </a:p>
          <a:p>
            <a:pPr lvl="2"/>
            <a:r>
              <a:rPr lang="en-GB" altLang="en-US" sz="1800" dirty="0"/>
              <a:t>Derivatives used to hedge or speculate</a:t>
            </a:r>
          </a:p>
          <a:p>
            <a:pPr marL="457200" lvl="1" indent="0">
              <a:buNone/>
            </a:pPr>
            <a:endParaRPr lang="en-GB" altLang="en-US" sz="24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50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06F8DCC-FD4E-46B5-A32B-2EFECD56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Stock Exchange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31C3530C-DE9A-40D2-B425-7537A8061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altLang="en-US"/>
              <a:t>UK securities market</a:t>
            </a:r>
          </a:p>
          <a:p>
            <a:pPr lvl="1"/>
            <a:r>
              <a:rPr lang="en-GB" altLang="en-US"/>
              <a:t>Ordinary shares</a:t>
            </a:r>
          </a:p>
          <a:p>
            <a:pPr lvl="1"/>
            <a:r>
              <a:rPr lang="en-GB" altLang="en-US"/>
              <a:t>Preference shares</a:t>
            </a:r>
          </a:p>
          <a:p>
            <a:pPr lvl="1"/>
            <a:r>
              <a:rPr lang="en-GB" altLang="en-US"/>
              <a:t>Debentures</a:t>
            </a:r>
          </a:p>
          <a:p>
            <a:pPr lvl="1"/>
            <a:r>
              <a:rPr lang="en-GB" altLang="en-US"/>
              <a:t>Loan stocks</a:t>
            </a:r>
          </a:p>
          <a:p>
            <a:pPr lvl="1"/>
            <a:r>
              <a:rPr lang="en-GB" altLang="en-US"/>
              <a:t>Eurobonds</a:t>
            </a:r>
          </a:p>
          <a:p>
            <a:pPr lvl="1"/>
            <a:r>
              <a:rPr lang="en-GB" altLang="en-US"/>
              <a:t>Gilts</a:t>
            </a:r>
          </a:p>
          <a:p>
            <a:pPr lvl="1"/>
            <a:r>
              <a:rPr lang="en-GB" altLang="en-US"/>
              <a:t>Local authority bonds</a:t>
            </a:r>
          </a:p>
          <a:p>
            <a:pPr lvl="1"/>
            <a:endParaRPr lang="en-GB" altLang="en-US"/>
          </a:p>
          <a:p>
            <a:pPr lvl="1">
              <a:buFontTx/>
              <a:buNone/>
            </a:pPr>
            <a:r>
              <a:rPr lang="en-GB" altLang="en-US"/>
              <a:t>Ordinary shares most important in terms of highest market value</a:t>
            </a:r>
          </a:p>
          <a:p>
            <a:pPr lvl="1">
              <a:buFontTx/>
              <a:buNone/>
            </a:pPr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C13EC0DD-E143-48E2-81A5-FCFD6DA1C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63" y="1412776"/>
            <a:ext cx="8031361" cy="1137504"/>
          </a:xfrm>
        </p:spPr>
        <p:txBody>
          <a:bodyPr>
            <a:normAutofit/>
          </a:bodyPr>
          <a:lstStyle/>
          <a:p>
            <a:r>
              <a:rPr lang="en-GB" altLang="en-US" dirty="0"/>
              <a:t>Regulating the Stock Exchange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75E7CC82-E011-42A0-9B7A-027F45FFD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442" y="2708920"/>
            <a:ext cx="8280919" cy="3528392"/>
          </a:xfrm>
        </p:spPr>
        <p:txBody>
          <a:bodyPr>
            <a:normAutofit/>
          </a:bodyPr>
          <a:lstStyle/>
          <a:p>
            <a:r>
              <a:rPr lang="en-GB" altLang="en-US" dirty="0"/>
              <a:t>Recognised investment exchange under the Financial Services and Markets Act 2000</a:t>
            </a:r>
          </a:p>
          <a:p>
            <a:r>
              <a:rPr lang="en-GB" altLang="en-US" dirty="0"/>
              <a:t>Responsible for ensuring that business takes place in an orderly manner and investors are afforded proper protection</a:t>
            </a:r>
          </a:p>
          <a:p>
            <a:r>
              <a:rPr lang="en-GB" altLang="en-US" dirty="0"/>
              <a:t>Supervised by the Financial Conduct Authority (FCA)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DE49-9778-48D8-8F0B-14F966B5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A8646-1CE5-4035-8514-CD9C18E89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GB" dirty="0"/>
              <a:t>Providing investors with information</a:t>
            </a:r>
          </a:p>
          <a:p>
            <a:pPr lvl="1">
              <a:defRPr/>
            </a:pPr>
            <a:r>
              <a:rPr lang="en-GB" dirty="0"/>
              <a:t>The SE also publishes information which is of interest to investors</a:t>
            </a:r>
          </a:p>
          <a:p>
            <a:pPr lvl="1">
              <a:defRPr/>
            </a:pPr>
            <a:r>
              <a:rPr lang="en-GB" dirty="0"/>
              <a:t>Much information can be accessed via its website</a:t>
            </a:r>
          </a:p>
          <a:p>
            <a:pPr lvl="1">
              <a:buFontTx/>
              <a:buNone/>
              <a:defRPr/>
            </a:pPr>
            <a:endParaRPr lang="en-GB" sz="692" dirty="0"/>
          </a:p>
          <a:p>
            <a:pPr lvl="2">
              <a:buFontTx/>
              <a:buNone/>
              <a:defRPr/>
            </a:pPr>
            <a:r>
              <a:rPr lang="en-GB" dirty="0"/>
              <a:t>www.londonstockexchange.com</a:t>
            </a:r>
          </a:p>
          <a:p>
            <a:pPr lvl="2">
              <a:buFontTx/>
              <a:buNone/>
              <a:defRPr/>
            </a:pPr>
            <a:endParaRPr lang="en-GB" dirty="0"/>
          </a:p>
          <a:p>
            <a:pPr lvl="1">
              <a:defRPr/>
            </a:pPr>
            <a:r>
              <a:rPr lang="en-GB" dirty="0"/>
              <a:t> The Stock Exchange Official List Shows details such as price and volume of transactions in all the securities listed on the Stock Exchange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712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2CD4-FCCE-4A2B-9D27-BA87DAC5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Settlement of trades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6332-99CD-48DA-B9E5-C09F59AE6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1938" dirty="0"/>
              <a:t>When one investor has agreed to sell (or buy) a security to (or from) another investor or a market maker, the registrar must be informed</a:t>
            </a:r>
          </a:p>
          <a:p>
            <a:r>
              <a:rPr lang="en-GB" altLang="en-US" sz="1938" dirty="0"/>
              <a:t> the share certificate or bond must be transferred, and money needs to change hands</a:t>
            </a:r>
          </a:p>
          <a:p>
            <a:r>
              <a:rPr lang="en-GB" altLang="en-US" sz="1938" dirty="0"/>
              <a:t>These administrative processes are known as settlement</a:t>
            </a:r>
          </a:p>
          <a:p>
            <a:r>
              <a:rPr lang="en-GB" altLang="en-US" sz="1938" dirty="0"/>
              <a:t>Share transactions agreed on a particular day will be settled three working days later</a:t>
            </a:r>
          </a:p>
          <a:p>
            <a:pPr marL="237390" lvl="1" indent="-237390">
              <a:buFontTx/>
              <a:buChar char="•"/>
            </a:pPr>
            <a:r>
              <a:rPr lang="en-GB" altLang="en-US" sz="1900" dirty="0"/>
              <a:t>This is done using a computerised system called CREST which records the holding of securities and the settlement of trades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69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139D7A4-1D73-4154-BEE2-C7B201FD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37" y="1628800"/>
            <a:ext cx="4035669" cy="593481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Central Banks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7FDD55F7-36EB-42D6-BDB2-62ADC4FEF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784" y="2798118"/>
            <a:ext cx="8279672" cy="3387169"/>
          </a:xfrm>
        </p:spPr>
        <p:txBody>
          <a:bodyPr>
            <a:normAutofit lnSpcReduction="10000"/>
          </a:bodyPr>
          <a:lstStyle/>
          <a:p>
            <a:r>
              <a:rPr lang="en-GB" altLang="en-US" dirty="0"/>
              <a:t>UK – Bank of England</a:t>
            </a:r>
          </a:p>
          <a:p>
            <a:r>
              <a:rPr lang="en-GB" altLang="en-US" dirty="0"/>
              <a:t>Agent of UK government</a:t>
            </a:r>
          </a:p>
          <a:p>
            <a:r>
              <a:rPr lang="en-GB" altLang="en-US" dirty="0"/>
              <a:t>Aims</a:t>
            </a:r>
          </a:p>
          <a:p>
            <a:pPr lvl="1"/>
            <a:r>
              <a:rPr lang="en-GB" altLang="en-US" dirty="0"/>
              <a:t>Maintain the value of money</a:t>
            </a:r>
          </a:p>
          <a:p>
            <a:pPr lvl="1"/>
            <a:r>
              <a:rPr lang="en-GB" altLang="en-US" dirty="0"/>
              <a:t>Ensure the soundness of the financial system</a:t>
            </a:r>
          </a:p>
          <a:p>
            <a:pPr lvl="1"/>
            <a:r>
              <a:rPr lang="en-GB" altLang="en-US" dirty="0"/>
              <a:t>Promote the efficiency and competitiveness of financial markets</a:t>
            </a:r>
          </a:p>
          <a:p>
            <a:pPr lvl="1"/>
            <a:endParaRPr lang="en-GB" altLang="en-US" dirty="0"/>
          </a:p>
          <a:p>
            <a:endParaRPr lang="en-GB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3865CD4-DBAC-4C96-9BC3-2520E9CA2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54" y="1700808"/>
            <a:ext cx="7992887" cy="741851"/>
          </a:xfrm>
        </p:spPr>
        <p:txBody>
          <a:bodyPr>
            <a:normAutofit/>
          </a:bodyPr>
          <a:lstStyle/>
          <a:p>
            <a:r>
              <a:rPr lang="en-GB" altLang="en-US" dirty="0"/>
              <a:t>Debt Management Office (DMO)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D85E09D3-7C75-4C40-A5EA-7E101A8CC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636912"/>
            <a:ext cx="7992888" cy="3240360"/>
          </a:xfrm>
        </p:spPr>
        <p:txBody>
          <a:bodyPr>
            <a:normAutofit fontScale="85000" lnSpcReduction="20000"/>
          </a:bodyPr>
          <a:lstStyle/>
          <a:p>
            <a:r>
              <a:rPr lang="en-GB" altLang="en-US" dirty="0"/>
              <a:t>Deals with government's debt and cash management activities</a:t>
            </a:r>
          </a:p>
          <a:p>
            <a:r>
              <a:rPr lang="en-GB" altLang="en-US" dirty="0"/>
              <a:t>Issues treasury bills</a:t>
            </a:r>
          </a:p>
          <a:p>
            <a:pPr lvl="1"/>
            <a:r>
              <a:rPr lang="en-GB" altLang="en-US" dirty="0"/>
              <a:t>Used to cover government’s short term needs</a:t>
            </a:r>
          </a:p>
          <a:p>
            <a:pPr lvl="1"/>
            <a:r>
              <a:rPr lang="en-GB" altLang="en-US" dirty="0"/>
              <a:t>Usually 90 days </a:t>
            </a:r>
          </a:p>
          <a:p>
            <a:r>
              <a:rPr lang="en-GB" altLang="en-US" dirty="0"/>
              <a:t>Issues gilts</a:t>
            </a:r>
          </a:p>
          <a:p>
            <a:pPr lvl="1"/>
            <a:r>
              <a:rPr lang="en-GB" altLang="en-US" dirty="0"/>
              <a:t>Bonds issued by the government </a:t>
            </a:r>
          </a:p>
          <a:p>
            <a:pPr lvl="1"/>
            <a:r>
              <a:rPr lang="en-GB" altLang="en-US" dirty="0"/>
              <a:t>Pays a fixed amount (coupon) every six months until maturity</a:t>
            </a:r>
          </a:p>
          <a:p>
            <a:pPr>
              <a:buFontTx/>
              <a:buNone/>
            </a:pPr>
            <a:endParaRPr lang="en-GB" altLang="en-US" dirty="0"/>
          </a:p>
          <a:p>
            <a:endParaRPr lang="en-GB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5ADF-08AC-43D9-8D17-4DFD826D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Investment banks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4CE51-09F6-4616-A142-0774E7FA5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GB" dirty="0"/>
              <a:t>Specialise in giving financial advice to companies and in fund management</a:t>
            </a:r>
          </a:p>
          <a:p>
            <a:pPr>
              <a:defRPr/>
            </a:pPr>
            <a:r>
              <a:rPr lang="en-GB" dirty="0"/>
              <a:t>Roles of a typical investment bank are</a:t>
            </a:r>
          </a:p>
          <a:p>
            <a:pPr lvl="1">
              <a:defRPr/>
            </a:pPr>
            <a:r>
              <a:rPr lang="en-GB" dirty="0"/>
              <a:t>Financial advisers to companies</a:t>
            </a:r>
          </a:p>
          <a:p>
            <a:pPr lvl="2">
              <a:defRPr/>
            </a:pPr>
            <a:r>
              <a:rPr lang="en-GB" dirty="0"/>
              <a:t>give advice on takeover and merger strategies and defences</a:t>
            </a:r>
          </a:p>
          <a:p>
            <a:pPr lvl="2">
              <a:defRPr/>
            </a:pPr>
            <a:r>
              <a:rPr lang="en-GB" dirty="0"/>
              <a:t>give advice on investment projects</a:t>
            </a:r>
          </a:p>
          <a:p>
            <a:pPr lvl="2">
              <a:defRPr/>
            </a:pPr>
            <a:r>
              <a:rPr lang="en-GB" dirty="0"/>
              <a:t> give advice on the best ways to raise capital</a:t>
            </a:r>
          </a:p>
          <a:p>
            <a:pPr lvl="2">
              <a:defRPr/>
            </a:pPr>
            <a:r>
              <a:rPr lang="en-GB" dirty="0"/>
              <a:t>act as issuing houses</a:t>
            </a:r>
          </a:p>
          <a:p>
            <a:pPr lvl="2">
              <a:defRPr/>
            </a:pPr>
            <a:r>
              <a:rPr lang="en-GB" dirty="0"/>
              <a:t>arrange underwriting of new issues</a:t>
            </a:r>
          </a:p>
          <a:p>
            <a:pPr lvl="2">
              <a:defRPr/>
            </a:pPr>
            <a:r>
              <a:rPr lang="en-GB" dirty="0"/>
              <a:t>issue Eurobonds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933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083C-8285-4C95-BDA3-C4205ACB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Clearing banks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A22DF-BAF2-4F9A-A55F-C139BE05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altLang="en-US" dirty="0"/>
              <a:t>Clearing banks carry out a multitude of roles</a:t>
            </a:r>
          </a:p>
          <a:p>
            <a:r>
              <a:rPr lang="en-GB" altLang="en-US" dirty="0"/>
              <a:t>Obtain the bulk of their finance from private individuals through high street outlets</a:t>
            </a:r>
          </a:p>
          <a:p>
            <a:r>
              <a:rPr lang="en-GB" altLang="en-US" dirty="0"/>
              <a:t>Provide means for customers to transfer money to third parties</a:t>
            </a:r>
          </a:p>
          <a:p>
            <a:r>
              <a:rPr lang="en-GB" altLang="en-US" dirty="0"/>
              <a:t>Most of a bank’s funds come from current accounts, deposit accounts and savings accounts</a:t>
            </a:r>
          </a:p>
          <a:p>
            <a:r>
              <a:rPr lang="en-GB" altLang="en-US" dirty="0"/>
              <a:t>Banks use some of the money to give bank loans which may have terms of a few years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82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511B-5FE1-4846-BA17-C236A40C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Building Societies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187DC-EBB9-46C4-9EA7-A35F890F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GB" dirty="0"/>
              <a:t>The role of building societies is similar to that of banks, although there are some differences</a:t>
            </a:r>
          </a:p>
          <a:p>
            <a:pPr lvl="1">
              <a:defRPr/>
            </a:pPr>
            <a:r>
              <a:rPr lang="en-GB" dirty="0"/>
              <a:t>have not entered the commercial money markets to the same extent as banks</a:t>
            </a:r>
          </a:p>
          <a:p>
            <a:pPr lvl="1">
              <a:defRPr/>
            </a:pPr>
            <a:r>
              <a:rPr lang="en-GB" dirty="0"/>
              <a:t>lending is dominated by house-purchase mortgages</a:t>
            </a:r>
          </a:p>
          <a:p>
            <a:pPr lvl="1">
              <a:defRPr/>
            </a:pPr>
            <a:r>
              <a:rPr lang="en-GB" dirty="0"/>
              <a:t>individually and collectively are smaller, and thus exert less influence than banks on the markets</a:t>
            </a:r>
          </a:p>
          <a:p>
            <a:pPr>
              <a:buFontTx/>
              <a:buNone/>
              <a:defRPr/>
            </a:pPr>
            <a:r>
              <a:rPr lang="en-GB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39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E371-49BD-40FB-A2EC-70F72493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Money multiplier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3E1DF-21B1-49E0-B998-30FBBB2F9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When bank (or building society) receives a deposit, it retains some in case depositor wants it back</a:t>
            </a:r>
          </a:p>
          <a:p>
            <a:r>
              <a:rPr lang="en-GB" altLang="en-US" dirty="0"/>
              <a:t>Lends the rest of the money to a borrower</a:t>
            </a:r>
          </a:p>
          <a:p>
            <a:r>
              <a:rPr lang="en-GB" altLang="en-US" dirty="0"/>
              <a:t>Borrower spends the money on an item</a:t>
            </a:r>
          </a:p>
          <a:p>
            <a:r>
              <a:rPr lang="en-GB" altLang="en-US" dirty="0"/>
              <a:t>Seller redeposits the money in a bank</a:t>
            </a:r>
          </a:p>
          <a:p>
            <a:r>
              <a:rPr lang="en-GB" altLang="en-US" dirty="0"/>
              <a:t>Cycle continues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628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9BAD-55CF-47B7-8D45-9B7B8622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Money multiplier 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2662-5025-455D-A09C-0EED0B4C7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Result is that all banks are highly geared</a:t>
            </a:r>
          </a:p>
          <a:p>
            <a:r>
              <a:rPr lang="en-GB" altLang="en-US" dirty="0"/>
              <a:t>Substantial % of capital made up of borrowed funds</a:t>
            </a:r>
          </a:p>
          <a:p>
            <a:r>
              <a:rPr lang="en-GB" altLang="en-US" dirty="0"/>
              <a:t>Critical that they lend soundly</a:t>
            </a:r>
          </a:p>
          <a:p>
            <a:r>
              <a:rPr lang="en-GB" altLang="en-US" dirty="0"/>
              <a:t>Large credit failure by one (or more) borrowers could have devastating influence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59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089B-A162-4CC7-A7D1-14CADAF1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Northern Rock in 2007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E0E93-D41E-452E-B765-FBF669BCB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altLang="en-US" sz="2000" dirty="0"/>
              <a:t>UK market leader in mortgages</a:t>
            </a:r>
          </a:p>
          <a:p>
            <a:pPr lvl="1"/>
            <a:r>
              <a:rPr lang="en-GB" altLang="en-US" sz="2000" dirty="0"/>
              <a:t>Funded its mortgages through lending from other banks</a:t>
            </a:r>
          </a:p>
          <a:p>
            <a:pPr lvl="1"/>
            <a:r>
              <a:rPr lang="en-GB" altLang="en-US" sz="2000" dirty="0"/>
              <a:t>US sub-prime market led to interbank markets freezing</a:t>
            </a:r>
          </a:p>
          <a:p>
            <a:pPr lvl="1"/>
            <a:r>
              <a:rPr lang="en-GB" altLang="en-US" sz="2000" dirty="0"/>
              <a:t>NR faced increasing costs to continue borrowing</a:t>
            </a:r>
          </a:p>
          <a:p>
            <a:pPr lvl="1"/>
            <a:r>
              <a:rPr lang="en-GB" altLang="en-US" sz="2000" dirty="0"/>
              <a:t>Had to ask Bank of England for assistance</a:t>
            </a:r>
          </a:p>
          <a:p>
            <a:pPr lvl="1"/>
            <a:r>
              <a:rPr lang="en-GB" altLang="en-US" sz="2000" dirty="0"/>
              <a:t>Next day NR Customers queued to withdraw their deposits</a:t>
            </a:r>
          </a:p>
          <a:p>
            <a:pPr lvl="1"/>
            <a:r>
              <a:rPr lang="en-GB" altLang="en-US" sz="2000" dirty="0"/>
              <a:t>NR share price plummeted</a:t>
            </a:r>
          </a:p>
          <a:p>
            <a:pPr lvl="1"/>
            <a:r>
              <a:rPr lang="en-GB" altLang="en-US" sz="2000" dirty="0"/>
              <a:t>Chancellor of the Exchequer forced to announce the government would guarantee all deposits held at the bank </a:t>
            </a:r>
          </a:p>
          <a:p>
            <a:pPr lvl="1"/>
            <a:r>
              <a:rPr lang="en-GB" altLang="en-US" sz="2000" dirty="0"/>
              <a:t>NR so badly damaged it was soon after nationalised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79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1698444-6631-4A19-8A95-B3BA3352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556792"/>
            <a:ext cx="5328592" cy="692394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Investment trusts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46F93082-BDA5-4371-B457-C812F4259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636912"/>
            <a:ext cx="8352928" cy="3517342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dirty="0"/>
              <a:t>An investment trust is a company</a:t>
            </a:r>
          </a:p>
          <a:p>
            <a:r>
              <a:rPr lang="en-GB" altLang="en-US" dirty="0"/>
              <a:t>Most investment trusts are listed on the Stock Exchange</a:t>
            </a:r>
          </a:p>
          <a:p>
            <a:r>
              <a:rPr lang="en-GB" altLang="en-US" dirty="0"/>
              <a:t>Raise equity and debt capital</a:t>
            </a:r>
          </a:p>
          <a:p>
            <a:r>
              <a:rPr lang="en-GB" altLang="en-US" dirty="0"/>
              <a:t>The money raised is often invested in the shares of other UK companies</a:t>
            </a:r>
          </a:p>
          <a:p>
            <a:r>
              <a:rPr lang="en-GB" altLang="en-US" dirty="0"/>
              <a:t>Some investment trusts buy other assets such as gilts, property and overseas equities</a:t>
            </a:r>
          </a:p>
          <a:p>
            <a:pPr>
              <a:buFontTx/>
              <a:buNone/>
            </a:pPr>
            <a:endParaRPr lang="en-GB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1836-F9F2-417A-9E1C-DD22F863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Trusts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62097-AC6C-41E3-B43B-CE4EBF7B7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altLang="en-US" dirty="0"/>
              <a:t>Unit trusts are trusts in the legal sense</a:t>
            </a:r>
          </a:p>
          <a:p>
            <a:r>
              <a:rPr lang="en-GB" altLang="en-US" dirty="0"/>
              <a:t>Set up and run by a management company</a:t>
            </a:r>
          </a:p>
          <a:p>
            <a:r>
              <a:rPr lang="en-GB" altLang="en-US" dirty="0"/>
              <a:t>Unit trusts are not companies</a:t>
            </a:r>
          </a:p>
          <a:p>
            <a:r>
              <a:rPr lang="en-GB" altLang="en-US" dirty="0"/>
              <a:t>They are not quoted on the Stock Exchange</a:t>
            </a:r>
          </a:p>
          <a:p>
            <a:r>
              <a:rPr lang="en-GB" altLang="en-US" dirty="0"/>
              <a:t>Units are bought from and sold to the management company, not from other investors</a:t>
            </a:r>
          </a:p>
          <a:p>
            <a:r>
              <a:rPr lang="en-GB" altLang="en-US" dirty="0"/>
              <a:t>The only money that unit trusts raise is the money that investors pay for units</a:t>
            </a:r>
          </a:p>
          <a:p>
            <a:r>
              <a:rPr lang="en-GB" altLang="en-US" dirty="0"/>
              <a:t>They do not raise equity or debt capital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772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67E4D-3AC0-4498-83A1-A78FBBEA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Investment management companies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683D3-FF67-4A31-8456-BBF1FECBE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altLang="en-US" dirty="0"/>
              <a:t>Often referred to as </a:t>
            </a:r>
            <a:r>
              <a:rPr lang="en-GB" altLang="en-US" i="1" dirty="0"/>
              <a:t>fund managers</a:t>
            </a:r>
          </a:p>
          <a:p>
            <a:r>
              <a:rPr lang="en-GB" altLang="en-US" dirty="0"/>
              <a:t>Perform a range of activities centred around the core service of investing client assets</a:t>
            </a:r>
          </a:p>
          <a:p>
            <a:r>
              <a:rPr lang="en-GB" altLang="en-US" dirty="0"/>
              <a:t>This includes buying and selling investments, cash management and transaction processing and settlement</a:t>
            </a:r>
          </a:p>
          <a:p>
            <a:r>
              <a:rPr lang="en-GB" altLang="en-US" dirty="0"/>
              <a:t>The industry is also, typically, very concentrated with a small number of firms dominating the market</a:t>
            </a:r>
          </a:p>
          <a:p>
            <a:r>
              <a:rPr lang="en-GB" altLang="en-US" dirty="0"/>
              <a:t>Short-term fund performance is often a key factor in attracting and retaining clients.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94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5FD1-DDFF-4EB5-AE20-CD026B3C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Self-administered pension funds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7ECBC-D82B-485B-A139-B5276AD32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altLang="en-US" dirty="0"/>
              <a:t>Many employers set up pension schemes as part of the benefits provided for their workforce</a:t>
            </a:r>
          </a:p>
          <a:p>
            <a:r>
              <a:rPr lang="en-GB" altLang="en-US" dirty="0"/>
              <a:t>The aim of the pension fund is to provide pensions for the workforce when they retire</a:t>
            </a:r>
          </a:p>
          <a:p>
            <a:r>
              <a:rPr lang="en-GB" altLang="en-US" dirty="0"/>
              <a:t>A self-administered pension scheme is one that is responsible for its own investment strategy</a:t>
            </a:r>
          </a:p>
          <a:p>
            <a:r>
              <a:rPr lang="en-GB" altLang="en-US" dirty="0"/>
              <a:t>Pension funds are largest investors in the UK in shares and gilts</a:t>
            </a:r>
          </a:p>
          <a:p>
            <a:r>
              <a:rPr lang="en-GB" altLang="en-US" dirty="0"/>
              <a:t>Private sector schemes are funded by the employer (and usually employees too) making contributions over the working lives of members</a:t>
            </a:r>
          </a:p>
          <a:p>
            <a:pPr>
              <a:buFontTx/>
              <a:buNone/>
            </a:pPr>
            <a:r>
              <a:rPr lang="en-GB" alt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718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0D4B-8CCB-44CE-9EE7-F54A38D4C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main parties involved in a pension scheme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EA680-8D80-4073-B9FE-12421462E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>
              <a:defRPr/>
            </a:pPr>
            <a:r>
              <a:rPr lang="en-GB" sz="2000" dirty="0"/>
              <a:t>Employer, who sets up the pension scheme and makes contributions</a:t>
            </a:r>
          </a:p>
          <a:p>
            <a:pPr lvl="1">
              <a:defRPr/>
            </a:pPr>
            <a:r>
              <a:rPr lang="en-GB" sz="2000" dirty="0"/>
              <a:t>Employee, who usually makes contributions as well. Will eventually receive benefits</a:t>
            </a:r>
          </a:p>
          <a:p>
            <a:pPr lvl="1">
              <a:defRPr/>
            </a:pPr>
            <a:r>
              <a:rPr lang="en-GB" sz="2000" dirty="0"/>
              <a:t>Trustees, who are responsible for checking that the trust is run according to the terms of the trust deed and trust law. Responsibility to ensure members’ pensions are safeguarded</a:t>
            </a:r>
          </a:p>
          <a:p>
            <a:pPr lvl="1">
              <a:defRPr/>
            </a:pPr>
            <a:r>
              <a:rPr lang="en-GB" sz="2000" dirty="0"/>
              <a:t> Fund managers, needed to invest a scheme’s assets. A typical fund invests mostly in UK equities, longer dated gilts and company debt. There may be some investment in overseas securities. A small proportion of the assets might be invested in property, money market investments and index-linked gilts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18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2CDF-E312-4CA2-9E5E-44F09398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Life insurance companies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3B7B3-D46A-4011-9568-FD7D8CE4C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altLang="en-US" sz="3400" dirty="0"/>
              <a:t>Life insurance is a contract between the policy owner and the insurer, where the insurer agrees to pay a designated beneficiary a sum of money upon the occurrence of the insured individual's death</a:t>
            </a:r>
          </a:p>
          <a:p>
            <a:r>
              <a:rPr lang="en-GB" altLang="en-US" sz="3400" dirty="0"/>
              <a:t>Legislation requires life companies to maintain an excess of assets over liabilities</a:t>
            </a:r>
          </a:p>
          <a:p>
            <a:r>
              <a:rPr lang="en-GB" altLang="en-US" sz="3400" dirty="0"/>
              <a:t>The need to meet this capital adequacy requirement means that many companies have to choose assets which match their liabilities quite closely</a:t>
            </a:r>
          </a:p>
          <a:p>
            <a:r>
              <a:rPr lang="en-GB" altLang="en-US" sz="3400" dirty="0"/>
              <a:t>A typical fund invests largely in a mixture of UK equities and fixed interest securities. It may also invest in overseas securities, property, money market investments and index-linked bonds.</a:t>
            </a:r>
          </a:p>
          <a:p>
            <a:endParaRPr lang="en-GB" altLang="en-US" sz="3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337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3A2B-895C-4DB3-B2A9-15ED34FB8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General insurance companies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942C1-BB11-433E-9578-DF60C78F7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Most insurance companies in the UK are licensed to carry out general business only (such as motor, household and commercial insurance)</a:t>
            </a:r>
          </a:p>
          <a:p>
            <a:pPr>
              <a:defRPr/>
            </a:pPr>
            <a:r>
              <a:rPr lang="en-GB" sz="2400" dirty="0"/>
              <a:t>There are two key characteristics of general insurance:</a:t>
            </a:r>
          </a:p>
          <a:p>
            <a:pPr lvl="1">
              <a:defRPr/>
            </a:pPr>
            <a:r>
              <a:rPr lang="en-GB" sz="2000" dirty="0"/>
              <a:t>Short term: Almost all policies provide cover for one year, and most claims are settled within a few months or a year or two</a:t>
            </a:r>
          </a:p>
          <a:p>
            <a:pPr lvl="1">
              <a:defRPr/>
            </a:pPr>
            <a:r>
              <a:rPr lang="en-GB" sz="2000" dirty="0"/>
              <a:t>Variable claim amounts and number: General insurers are vulnerable to catastrophes (e.g. a hurricane or an oil rig disaster) which can result in a large number and/or very large payments.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85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E6237-ACC5-4270-AC4F-CE04DB9B9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General insurance companies 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1383A-DD21-4DC3-94CD-D3F9F0337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altLang="en-US" dirty="0"/>
              <a:t>A general insurer’s liabilities are almost all short term</a:t>
            </a:r>
          </a:p>
          <a:p>
            <a:r>
              <a:rPr lang="en-GB" altLang="en-US" dirty="0"/>
              <a:t>General insurers are required to keep an excess of assets over liabilities</a:t>
            </a:r>
          </a:p>
          <a:p>
            <a:r>
              <a:rPr lang="en-GB" altLang="en-US" dirty="0"/>
              <a:t>This, together with the variability of their claims, means that they do not want to take much investment risk</a:t>
            </a:r>
          </a:p>
          <a:p>
            <a:r>
              <a:rPr lang="en-GB" altLang="en-US" dirty="0"/>
              <a:t>A typical insurer invests mainly in short-dated fixed interest and money market investments. They may also invest quite large amounts in UK equities.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07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5067-E1EE-4CD1-BAE6-CF64FAB07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0D9EB-AD78-4910-9778-5AD0EBB50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Four key types of financial markets are </a:t>
            </a:r>
          </a:p>
          <a:p>
            <a:pPr lvl="1"/>
            <a:r>
              <a:rPr lang="en-GB" dirty="0"/>
              <a:t>Securities markets</a:t>
            </a:r>
          </a:p>
          <a:p>
            <a:pPr lvl="1"/>
            <a:r>
              <a:rPr lang="en-GB" dirty="0"/>
              <a:t>Money markets</a:t>
            </a:r>
          </a:p>
          <a:p>
            <a:pPr lvl="1"/>
            <a:r>
              <a:rPr lang="en-GB" dirty="0"/>
              <a:t>Foreign exchange markets</a:t>
            </a:r>
          </a:p>
          <a:p>
            <a:pPr lvl="1"/>
            <a:r>
              <a:rPr lang="en-GB" dirty="0"/>
              <a:t>Futures and options markets</a:t>
            </a:r>
          </a:p>
          <a:p>
            <a:r>
              <a:rPr lang="en-GB" dirty="0"/>
              <a:t>Significant market regulation exists</a:t>
            </a:r>
          </a:p>
          <a:p>
            <a:r>
              <a:rPr lang="en-GB" dirty="0"/>
              <a:t>Derivatives may be used to reduce risk</a:t>
            </a:r>
          </a:p>
        </p:txBody>
      </p:sp>
    </p:spTree>
    <p:extLst>
      <p:ext uri="{BB962C8B-B14F-4D97-AF65-F5344CB8AC3E}">
        <p14:creationId xmlns:p14="http://schemas.microsoft.com/office/powerpoint/2010/main" val="5958852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7ACEBA-99EE-4B9A-99FE-F9695B41FA99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1430</Words>
  <Application>Microsoft Office PowerPoint</Application>
  <PresentationFormat>On-screen Show (4:3)</PresentationFormat>
  <Paragraphs>169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Financial Institutions and Derivatives</vt:lpstr>
      <vt:lpstr>Financial Markets</vt:lpstr>
      <vt:lpstr>Financial markets cont’d</vt:lpstr>
      <vt:lpstr>Financial markets cont’d</vt:lpstr>
      <vt:lpstr>The Stock Exchange</vt:lpstr>
      <vt:lpstr>Regulating the Stock Exchange</vt:lpstr>
      <vt:lpstr>Information</vt:lpstr>
      <vt:lpstr>Settlement of trades</vt:lpstr>
      <vt:lpstr>Central Banks</vt:lpstr>
      <vt:lpstr>Debt Management Office (DMO)</vt:lpstr>
      <vt:lpstr>Investment banks</vt:lpstr>
      <vt:lpstr>Clearing banks</vt:lpstr>
      <vt:lpstr>Building Societies</vt:lpstr>
      <vt:lpstr>Money multiplier</vt:lpstr>
      <vt:lpstr>Money multiplier cont’d</vt:lpstr>
      <vt:lpstr>Northern Rock in 2007</vt:lpstr>
      <vt:lpstr>Investment trusts</vt:lpstr>
      <vt:lpstr>Unit Trusts</vt:lpstr>
      <vt:lpstr>Investment management companies</vt:lpstr>
      <vt:lpstr>Self-administered pension funds</vt:lpstr>
      <vt:lpstr>The main parties involved in a pension scheme</vt:lpstr>
      <vt:lpstr>Life insurance companies</vt:lpstr>
      <vt:lpstr>General insurance companies</vt:lpstr>
      <vt:lpstr>General insurance companies cont’d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Wilson, Melanie J</cp:lastModifiedBy>
  <cp:revision>41</cp:revision>
  <dcterms:created xsi:type="dcterms:W3CDTF">2016-02-11T16:23:53Z</dcterms:created>
  <dcterms:modified xsi:type="dcterms:W3CDTF">2022-11-21T17:18:57Z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