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4"/>
    <p:sldMasterId id="2147483702" r:id="rId5"/>
    <p:sldMasterId id="2147483685" r:id="rId6"/>
    <p:sldMasterId id="2147483684" r:id="rId7"/>
    <p:sldMasterId id="2147483686" r:id="rId8"/>
  </p:sldMasterIdLst>
  <p:sldIdLst>
    <p:sldId id="257" r:id="rId9"/>
    <p:sldId id="258" r:id="rId10"/>
    <p:sldId id="259" r:id="rId11"/>
    <p:sldId id="275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6A71"/>
    <a:srgbClr val="0098DB"/>
    <a:srgbClr val="00549F"/>
    <a:srgbClr val="A5AC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1806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viewProps" Target="view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rgbClr val="5E6A7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6400800" cy="1752600"/>
          </a:xfrm>
        </p:spPr>
        <p:txBody>
          <a:bodyPr/>
          <a:lstStyle>
            <a:lvl1pPr marL="0" indent="0" algn="l">
              <a:buNone/>
              <a:defRPr i="1">
                <a:solidFill>
                  <a:srgbClr val="0098D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424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858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5E6A7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0098DB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726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2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7058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57190"/>
            <a:ext cx="3885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560" y="3068960"/>
            <a:ext cx="3885828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9446" y="2357190"/>
            <a:ext cx="38873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9446" y="3068960"/>
            <a:ext cx="3887354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6782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1938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922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0446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4800600"/>
            <a:ext cx="515496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23728" y="612775"/>
            <a:ext cx="515496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3728" y="5367338"/>
            <a:ext cx="515496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261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248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220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6400800" cy="1752600"/>
          </a:xfrm>
        </p:spPr>
        <p:txBody>
          <a:bodyPr/>
          <a:lstStyle>
            <a:lvl1pPr marL="0" indent="0" algn="l">
              <a:buNone/>
              <a:defRPr i="1">
                <a:solidFill>
                  <a:srgbClr val="5E6A7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0623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248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5E6A7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9164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2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8995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57190"/>
            <a:ext cx="3885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560" y="3068960"/>
            <a:ext cx="3885828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9446" y="2357190"/>
            <a:ext cx="38873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9446" y="3068960"/>
            <a:ext cx="3887354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1134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8559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8888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26301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4800600"/>
            <a:ext cx="515496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23728" y="612775"/>
            <a:ext cx="515496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3728" y="5367338"/>
            <a:ext cx="515496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15278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1034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30257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73919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6544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3024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1268760"/>
            <a:ext cx="8075240" cy="998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48880"/>
            <a:ext cx="8075240" cy="377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1102FAE-FC2F-47FD-82A7-D1DD5A1AC3E3}" type="datetimeFigureOut">
              <a:rPr lang="en-GB" smtClean="0"/>
              <a:pPr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91E7B16-C11D-48A6-9FE1-93A9A96AC7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284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0098DB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1268760"/>
            <a:ext cx="8075240" cy="998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48880"/>
            <a:ext cx="8075240" cy="377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1102FAE-FC2F-47FD-82A7-D1DD5A1AC3E3}" type="datetimeFigureOut">
              <a:rPr lang="en-GB" smtClean="0"/>
              <a:pPr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91E7B16-C11D-48A6-9FE1-93A9A96AC7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7437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412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131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0265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Cash Flow Statements</a:t>
            </a:r>
            <a:br>
              <a:rPr lang="en-GB" dirty="0"/>
            </a:b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The role of Cash Flow Statements</a:t>
            </a:r>
          </a:p>
          <a:p>
            <a:r>
              <a:rPr lang="en-GB" dirty="0"/>
              <a:t>The importance of Cash Flow to any Organisation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071E-C48F-4A5E-A1A6-037FAC585F31}" type="slidenum">
              <a:rPr lang="en-GB" altLang="en-US" smtClean="0"/>
              <a:pPr/>
              <a:t>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27473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b="1"/>
              <a:t>Statements of Cash Flows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GB" altLang="en-US" sz="2600" dirty="0"/>
              <a:t>Provide additional information on movement of cash balances</a:t>
            </a:r>
          </a:p>
          <a:p>
            <a:pPr lvl="1">
              <a:lnSpc>
                <a:spcPct val="90000"/>
              </a:lnSpc>
            </a:pPr>
            <a:r>
              <a:rPr lang="en-GB" altLang="en-US" sz="2600" dirty="0">
                <a:ea typeface="ＭＳ Ｐゴシック" panose="020B0600070205080204" pitchFamily="34" charset="-128"/>
              </a:rPr>
              <a:t>Several entries in the income statement account do not involve movement of funds</a:t>
            </a:r>
          </a:p>
          <a:p>
            <a:pPr lvl="2">
              <a:lnSpc>
                <a:spcPct val="90000"/>
              </a:lnSpc>
            </a:pPr>
            <a:r>
              <a:rPr lang="en-GB" altLang="en-US" sz="2200" dirty="0">
                <a:ea typeface="ＭＳ Ｐゴシック" panose="020B0600070205080204" pitchFamily="34" charset="-128"/>
              </a:rPr>
              <a:t>Depreciation</a:t>
            </a:r>
          </a:p>
          <a:p>
            <a:pPr lvl="2">
              <a:lnSpc>
                <a:spcPct val="90000"/>
              </a:lnSpc>
            </a:pPr>
            <a:r>
              <a:rPr lang="en-GB" altLang="en-US" sz="2200" dirty="0">
                <a:ea typeface="ＭＳ Ｐゴシック" panose="020B0600070205080204" pitchFamily="34" charset="-128"/>
              </a:rPr>
              <a:t>Accruals and prepayments</a:t>
            </a:r>
          </a:p>
          <a:p>
            <a:pPr lvl="1">
              <a:lnSpc>
                <a:spcPct val="90000"/>
              </a:lnSpc>
            </a:pPr>
            <a:r>
              <a:rPr lang="en-GB" altLang="en-US" sz="2600" dirty="0">
                <a:ea typeface="ＭＳ Ｐゴシック" panose="020B0600070205080204" pitchFamily="34" charset="-128"/>
              </a:rPr>
              <a:t>Income statement recognises sales and purchases before any cash changes hands</a:t>
            </a:r>
          </a:p>
          <a:p>
            <a:pPr lvl="1">
              <a:lnSpc>
                <a:spcPct val="90000"/>
              </a:lnSpc>
            </a:pPr>
            <a:r>
              <a:rPr lang="en-GB" altLang="en-US" sz="2600" dirty="0">
                <a:ea typeface="ＭＳ Ｐゴシック" panose="020B0600070205080204" pitchFamily="34" charset="-128"/>
              </a:rPr>
              <a:t>Many cash transactions have no impact on profit:</a:t>
            </a:r>
          </a:p>
          <a:p>
            <a:pPr lvl="2">
              <a:lnSpc>
                <a:spcPct val="90000"/>
              </a:lnSpc>
            </a:pPr>
            <a:r>
              <a:rPr lang="en-GB" altLang="en-US" sz="2200" dirty="0">
                <a:ea typeface="ＭＳ Ｐゴシック" panose="020B0600070205080204" pitchFamily="34" charset="-128"/>
              </a:rPr>
              <a:t>Share issues </a:t>
            </a:r>
          </a:p>
          <a:p>
            <a:pPr lvl="2">
              <a:lnSpc>
                <a:spcPct val="90000"/>
              </a:lnSpc>
            </a:pPr>
            <a:r>
              <a:rPr lang="en-GB" altLang="en-US" sz="2200" dirty="0">
                <a:ea typeface="ＭＳ Ｐゴシック" panose="020B0600070205080204" pitchFamily="34" charset="-128"/>
              </a:rPr>
              <a:t>Purchase of fixed assets</a:t>
            </a:r>
          </a:p>
          <a:p>
            <a:pPr lvl="2">
              <a:lnSpc>
                <a:spcPct val="90000"/>
              </a:lnSpc>
              <a:buFontTx/>
              <a:buNone/>
            </a:pPr>
            <a:endParaRPr lang="en-GB" altLang="en-US" dirty="0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endParaRPr lang="en-GB" altLang="en-US" dirty="0"/>
          </a:p>
          <a:p>
            <a:pPr>
              <a:lnSpc>
                <a:spcPct val="90000"/>
              </a:lnSpc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4268555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 b="1">
                <a:solidFill>
                  <a:srgbClr val="CC0000"/>
                </a:solidFill>
                <a:latin typeface="Arial" panose="020B0604020202020204" pitchFamily="34" charset="0"/>
              </a:rPr>
              <a:t>Measuring and reporting cash flows</a:t>
            </a:r>
            <a:br>
              <a:rPr lang="en-GB" altLang="en-US">
                <a:solidFill>
                  <a:srgbClr val="CC0000"/>
                </a:solidFill>
                <a:latin typeface="Arial" panose="020B0604020202020204" pitchFamily="34" charset="0"/>
              </a:rPr>
            </a:br>
            <a:endParaRPr lang="en-GB" altLang="en-US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2554166" y="2687150"/>
            <a:ext cx="4035669" cy="3409217"/>
          </a:xfrm>
        </p:spPr>
        <p:txBody>
          <a:bodyPr/>
          <a:lstStyle/>
          <a:p>
            <a:endParaRPr lang="en-US" altLang="en-US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6260133" indent="-25943614"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31652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63303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94955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266078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24122073-88D7-4CD9-B50F-2E24E30683CB}" type="slidenum">
              <a:rPr lang="en-GB" altLang="en-US" sz="969"/>
              <a:pPr/>
              <a:t>3</a:t>
            </a:fld>
            <a:endParaRPr lang="en-GB" altLang="en-US" sz="969"/>
          </a:p>
        </p:txBody>
      </p:sp>
      <p:grpSp>
        <p:nvGrpSpPr>
          <p:cNvPr id="16389" name="Group 23"/>
          <p:cNvGrpSpPr>
            <a:grpSpLocks/>
          </p:cNvGrpSpPr>
          <p:nvPr/>
        </p:nvGrpSpPr>
        <p:grpSpPr bwMode="auto">
          <a:xfrm>
            <a:off x="2395904" y="1747471"/>
            <a:ext cx="4302736" cy="4608879"/>
            <a:chOff x="1216" y="674"/>
            <a:chExt cx="4304" cy="3401"/>
          </a:xfrm>
        </p:grpSpPr>
        <p:sp>
          <p:nvSpPr>
            <p:cNvPr id="16390" name="AutoShape 5"/>
            <p:cNvSpPr>
              <a:spLocks noChangeArrowheads="1"/>
            </p:cNvSpPr>
            <p:nvPr/>
          </p:nvSpPr>
          <p:spPr bwMode="auto">
            <a:xfrm>
              <a:off x="1323" y="990"/>
              <a:ext cx="4197" cy="2951"/>
            </a:xfrm>
            <a:prstGeom prst="roundRect">
              <a:avLst>
                <a:gd name="adj" fmla="val 8565"/>
              </a:avLst>
            </a:prstGeom>
            <a:solidFill>
              <a:srgbClr val="DEBF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16391" name="AutoShape 6"/>
            <p:cNvSpPr>
              <a:spLocks noChangeArrowheads="1"/>
            </p:cNvSpPr>
            <p:nvPr/>
          </p:nvSpPr>
          <p:spPr bwMode="auto">
            <a:xfrm>
              <a:off x="1699" y="3512"/>
              <a:ext cx="3820" cy="563"/>
            </a:xfrm>
            <a:prstGeom prst="cube">
              <a:avLst>
                <a:gd name="adj" fmla="val 17227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16392" name="AutoShape 7"/>
            <p:cNvSpPr>
              <a:spLocks noChangeArrowheads="1"/>
            </p:cNvSpPr>
            <p:nvPr/>
          </p:nvSpPr>
          <p:spPr bwMode="auto">
            <a:xfrm>
              <a:off x="1691" y="2816"/>
              <a:ext cx="3820" cy="563"/>
            </a:xfrm>
            <a:prstGeom prst="cube">
              <a:avLst>
                <a:gd name="adj" fmla="val 17227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16393" name="AutoShape 8"/>
            <p:cNvSpPr>
              <a:spLocks noChangeArrowheads="1"/>
            </p:cNvSpPr>
            <p:nvPr/>
          </p:nvSpPr>
          <p:spPr bwMode="auto">
            <a:xfrm>
              <a:off x="1691" y="1955"/>
              <a:ext cx="3820" cy="718"/>
            </a:xfrm>
            <a:prstGeom prst="cube">
              <a:avLst>
                <a:gd name="adj" fmla="val 12917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16394" name="Text Box 9"/>
            <p:cNvSpPr txBox="1">
              <a:spLocks noChangeArrowheads="1"/>
            </p:cNvSpPr>
            <p:nvPr/>
          </p:nvSpPr>
          <p:spPr bwMode="auto">
            <a:xfrm>
              <a:off x="1255" y="674"/>
              <a:ext cx="211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lang="en-US" altLang="en-US" sz="1246" b="1">
                <a:latin typeface="Arial" panose="020B0604020202020204" pitchFamily="34" charset="0"/>
              </a:endParaRPr>
            </a:p>
          </p:txBody>
        </p:sp>
        <p:sp>
          <p:nvSpPr>
            <p:cNvPr id="16395" name="Text Box 11"/>
            <p:cNvSpPr txBox="1">
              <a:spLocks noChangeArrowheads="1"/>
            </p:cNvSpPr>
            <p:nvPr/>
          </p:nvSpPr>
          <p:spPr bwMode="auto">
            <a:xfrm>
              <a:off x="1691" y="2070"/>
              <a:ext cx="3741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sz="1246" b="1">
                  <a:latin typeface="Arial" panose="020B0604020202020204" pitchFamily="34" charset="0"/>
                </a:rPr>
                <a:t>explain the nature of the cash flow statement and discuss how it can be helpful in identifying cash flow problems;</a:t>
              </a:r>
            </a:p>
          </p:txBody>
        </p:sp>
        <p:sp>
          <p:nvSpPr>
            <p:cNvPr id="16396" name="AutoShape 12"/>
            <p:cNvSpPr>
              <a:spLocks noChangeArrowheads="1"/>
            </p:cNvSpPr>
            <p:nvPr/>
          </p:nvSpPr>
          <p:spPr bwMode="auto">
            <a:xfrm>
              <a:off x="1691" y="1251"/>
              <a:ext cx="3820" cy="563"/>
            </a:xfrm>
            <a:prstGeom prst="cube">
              <a:avLst>
                <a:gd name="adj" fmla="val 15810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16397" name="Text Box 13"/>
            <p:cNvSpPr txBox="1">
              <a:spLocks noChangeArrowheads="1"/>
            </p:cNvSpPr>
            <p:nvPr/>
          </p:nvSpPr>
          <p:spPr bwMode="auto">
            <a:xfrm>
              <a:off x="2129" y="1370"/>
              <a:ext cx="2871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GB" altLang="en-US" sz="1246" b="1">
                  <a:latin typeface="Arial" panose="020B0604020202020204" pitchFamily="34" charset="0"/>
                </a:rPr>
                <a:t>discuss the crucial importance of cash to a business;</a:t>
              </a:r>
            </a:p>
          </p:txBody>
        </p:sp>
        <p:sp>
          <p:nvSpPr>
            <p:cNvPr id="16398" name="AutoShape 14"/>
            <p:cNvSpPr>
              <a:spLocks noChangeArrowheads="1"/>
            </p:cNvSpPr>
            <p:nvPr/>
          </p:nvSpPr>
          <p:spPr bwMode="auto">
            <a:xfrm>
              <a:off x="1216" y="1409"/>
              <a:ext cx="339" cy="339"/>
            </a:xfrm>
            <a:prstGeom prst="cube">
              <a:avLst>
                <a:gd name="adj" fmla="val 30681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en-US" altLang="en-US" sz="1662">
                <a:solidFill>
                  <a:srgbClr val="CC0000"/>
                </a:solidFill>
              </a:endParaRPr>
            </a:p>
          </p:txBody>
        </p:sp>
        <p:sp>
          <p:nvSpPr>
            <p:cNvPr id="16399" name="AutoShape 15"/>
            <p:cNvSpPr>
              <a:spLocks noChangeArrowheads="1"/>
            </p:cNvSpPr>
            <p:nvPr/>
          </p:nvSpPr>
          <p:spPr bwMode="auto">
            <a:xfrm>
              <a:off x="1216" y="2128"/>
              <a:ext cx="339" cy="339"/>
            </a:xfrm>
            <a:prstGeom prst="cube">
              <a:avLst>
                <a:gd name="adj" fmla="val 30681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en-US" altLang="en-US" sz="1662">
                <a:solidFill>
                  <a:srgbClr val="CC0000"/>
                </a:solidFill>
              </a:endParaRPr>
            </a:p>
          </p:txBody>
        </p:sp>
        <p:sp>
          <p:nvSpPr>
            <p:cNvPr id="16400" name="Text Box 16"/>
            <p:cNvSpPr txBox="1">
              <a:spLocks noChangeArrowheads="1"/>
            </p:cNvSpPr>
            <p:nvPr/>
          </p:nvSpPr>
          <p:spPr bwMode="auto">
            <a:xfrm>
              <a:off x="1741" y="3710"/>
              <a:ext cx="366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sz="1246" b="1">
                  <a:latin typeface="Arial" panose="020B0604020202020204" pitchFamily="34" charset="0"/>
                </a:rPr>
                <a:t>interpret a cash flow statement.</a:t>
              </a:r>
            </a:p>
          </p:txBody>
        </p:sp>
        <p:sp>
          <p:nvSpPr>
            <p:cNvPr id="16401" name="Text Box 17"/>
            <p:cNvSpPr txBox="1">
              <a:spLocks noChangeArrowheads="1"/>
            </p:cNvSpPr>
            <p:nvPr/>
          </p:nvSpPr>
          <p:spPr bwMode="auto">
            <a:xfrm>
              <a:off x="1709" y="3017"/>
              <a:ext cx="3726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sz="1246" b="1" dirty="0">
                  <a:latin typeface="Arial" panose="020B0604020202020204" pitchFamily="34" charset="0"/>
                </a:rPr>
                <a:t>prepare a cash flow statement</a:t>
              </a:r>
              <a:endParaRPr lang="en-GB" altLang="en-US" sz="1246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402" name="AutoShape 18"/>
            <p:cNvSpPr>
              <a:spLocks noChangeArrowheads="1"/>
            </p:cNvSpPr>
            <p:nvPr/>
          </p:nvSpPr>
          <p:spPr bwMode="auto">
            <a:xfrm>
              <a:off x="1216" y="2998"/>
              <a:ext cx="339" cy="339"/>
            </a:xfrm>
            <a:prstGeom prst="cube">
              <a:avLst>
                <a:gd name="adj" fmla="val 30681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en-US" altLang="en-US" sz="1662">
                <a:solidFill>
                  <a:srgbClr val="CC0000"/>
                </a:solidFill>
              </a:endParaRPr>
            </a:p>
          </p:txBody>
        </p:sp>
        <p:sp>
          <p:nvSpPr>
            <p:cNvPr id="16403" name="AutoShape 19"/>
            <p:cNvSpPr>
              <a:spLocks noChangeArrowheads="1"/>
            </p:cNvSpPr>
            <p:nvPr/>
          </p:nvSpPr>
          <p:spPr bwMode="auto">
            <a:xfrm>
              <a:off x="1224" y="3701"/>
              <a:ext cx="339" cy="339"/>
            </a:xfrm>
            <a:prstGeom prst="cube">
              <a:avLst>
                <a:gd name="adj" fmla="val 30681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en-US" altLang="en-US" sz="1662">
                <a:solidFill>
                  <a:srgbClr val="CC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8902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 dirty="0"/>
              <a:t>Questions to be answered include: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How successful is the company at generating cash from operations?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Why has the overdraft increased</a:t>
            </a:r>
            <a:r>
              <a:rPr lang="en-GB" altLang="en-US" dirty="0">
                <a:ea typeface="ＭＳ Ｐゴシック" panose="020B0600070205080204" pitchFamily="34" charset="-128"/>
                <a:sym typeface="Wingdings" panose="05000000000000000000" pitchFamily="2" charset="2"/>
              </a:rPr>
              <a:t> when the company made profits?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Can company generate cash, as opposed to profits, from trading activities?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What was done with a loan taken out in year?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Is the company selling many non-current assets? Does this mean the business is running down?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2699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Overtrading</a:t>
            </a:r>
          </a:p>
        </p:txBody>
      </p:sp>
      <p:sp>
        <p:nvSpPr>
          <p:cNvPr id="18435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/>
              <a:t>Problem when businesses are growing</a:t>
            </a:r>
          </a:p>
          <a:p>
            <a:r>
              <a:rPr lang="en-GB" altLang="en-US"/>
              <a:t>Normally companies must pay for goods before they receive cash from customers</a:t>
            </a:r>
          </a:p>
          <a:p>
            <a:r>
              <a:rPr lang="en-GB" altLang="en-US"/>
              <a:t>The more popular the product, the bigger the problem</a:t>
            </a:r>
          </a:p>
          <a:p>
            <a:r>
              <a:rPr lang="en-GB" altLang="en-US"/>
              <a:t>More businesses collapse because of lack of cash rather than profits</a:t>
            </a:r>
          </a:p>
        </p:txBody>
      </p:sp>
    </p:spTree>
    <p:extLst>
      <p:ext uri="{BB962C8B-B14F-4D97-AF65-F5344CB8AC3E}">
        <p14:creationId xmlns:p14="http://schemas.microsoft.com/office/powerpoint/2010/main" val="2449501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683568" y="1838723"/>
            <a:ext cx="8075240" cy="998984"/>
          </a:xfrm>
        </p:spPr>
        <p:txBody>
          <a:bodyPr>
            <a:normAutofit fontScale="90000"/>
          </a:bodyPr>
          <a:lstStyle/>
          <a:p>
            <a:r>
              <a:rPr lang="en-GB" altLang="en-US" b="1" dirty="0">
                <a:solidFill>
                  <a:srgbClr val="CC0000"/>
                </a:solidFill>
                <a:latin typeface="Arial" panose="020B0604020202020204" pitchFamily="34" charset="0"/>
              </a:rPr>
              <a:t>Standard layout of the cash flow statement</a:t>
            </a:r>
            <a:br>
              <a:rPr lang="en-GB" altLang="en-US" dirty="0">
                <a:latin typeface="Arial" panose="020B0604020202020204" pitchFamily="34" charset="0"/>
              </a:rPr>
            </a:br>
            <a:endParaRPr lang="en-GB" altLang="en-US" dirty="0"/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6260133" indent="-25943614"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31652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63303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94955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266078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37AEBC6B-3988-4F6D-81A4-A4F545D0BEDA}" type="slidenum">
              <a:rPr lang="en-GB" altLang="en-US" sz="969"/>
              <a:pPr/>
              <a:t>6</a:t>
            </a:fld>
            <a:endParaRPr lang="en-GB" altLang="en-US" sz="969"/>
          </a:p>
        </p:txBody>
      </p:sp>
      <p:grpSp>
        <p:nvGrpSpPr>
          <p:cNvPr id="19460" name="Group 67"/>
          <p:cNvGrpSpPr>
            <a:grpSpLocks noGrp="1"/>
          </p:cNvGrpSpPr>
          <p:nvPr/>
        </p:nvGrpSpPr>
        <p:grpSpPr bwMode="auto">
          <a:xfrm>
            <a:off x="2843808" y="2440042"/>
            <a:ext cx="4035669" cy="4098870"/>
            <a:chOff x="1407" y="482"/>
            <a:chExt cx="3448" cy="3345"/>
          </a:xfrm>
        </p:grpSpPr>
        <p:sp>
          <p:nvSpPr>
            <p:cNvPr id="19461" name="AutoShape 44"/>
            <p:cNvSpPr>
              <a:spLocks noChangeArrowheads="1"/>
            </p:cNvSpPr>
            <p:nvPr/>
          </p:nvSpPr>
          <p:spPr bwMode="auto">
            <a:xfrm>
              <a:off x="2703" y="2740"/>
              <a:ext cx="2036" cy="499"/>
            </a:xfrm>
            <a:prstGeom prst="roundRect">
              <a:avLst>
                <a:gd name="adj" fmla="val 16667"/>
              </a:avLst>
            </a:prstGeom>
            <a:solidFill>
              <a:srgbClr val="E4CA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19462" name="AutoShape 45"/>
            <p:cNvSpPr>
              <a:spLocks noChangeArrowheads="1"/>
            </p:cNvSpPr>
            <p:nvPr/>
          </p:nvSpPr>
          <p:spPr bwMode="auto">
            <a:xfrm>
              <a:off x="1440" y="3130"/>
              <a:ext cx="2568" cy="697"/>
            </a:xfrm>
            <a:prstGeom prst="cube">
              <a:avLst>
                <a:gd name="adj" fmla="val 13782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19463" name="AutoShape 46"/>
            <p:cNvSpPr>
              <a:spLocks noChangeArrowheads="1"/>
            </p:cNvSpPr>
            <p:nvPr/>
          </p:nvSpPr>
          <p:spPr bwMode="auto">
            <a:xfrm rot="5400000">
              <a:off x="2471" y="2797"/>
              <a:ext cx="445" cy="349"/>
            </a:xfrm>
            <a:prstGeom prst="rightArrow">
              <a:avLst>
                <a:gd name="adj1" fmla="val 59407"/>
                <a:gd name="adj2" fmla="val 26918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19464" name="Text Box 47"/>
            <p:cNvSpPr txBox="1">
              <a:spLocks noChangeArrowheads="1"/>
            </p:cNvSpPr>
            <p:nvPr/>
          </p:nvSpPr>
          <p:spPr bwMode="auto">
            <a:xfrm>
              <a:off x="3984" y="2864"/>
              <a:ext cx="798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sz="1246" b="1" i="1">
                  <a:latin typeface="Arial" panose="020B0604020202020204" pitchFamily="34" charset="0"/>
                </a:rPr>
                <a:t>equals</a:t>
              </a:r>
            </a:p>
          </p:txBody>
        </p:sp>
        <p:sp>
          <p:nvSpPr>
            <p:cNvPr id="19465" name="AutoShape 48"/>
            <p:cNvSpPr>
              <a:spLocks noChangeArrowheads="1"/>
            </p:cNvSpPr>
            <p:nvPr/>
          </p:nvSpPr>
          <p:spPr bwMode="auto">
            <a:xfrm>
              <a:off x="2690" y="1887"/>
              <a:ext cx="2052" cy="468"/>
            </a:xfrm>
            <a:prstGeom prst="roundRect">
              <a:avLst>
                <a:gd name="adj" fmla="val 16667"/>
              </a:avLst>
            </a:prstGeom>
            <a:solidFill>
              <a:srgbClr val="E4CA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19466" name="Text Box 49"/>
            <p:cNvSpPr txBox="1">
              <a:spLocks noChangeArrowheads="1"/>
            </p:cNvSpPr>
            <p:nvPr/>
          </p:nvSpPr>
          <p:spPr bwMode="auto">
            <a:xfrm>
              <a:off x="3914" y="1916"/>
              <a:ext cx="933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sz="1246" b="1" i="1">
                  <a:latin typeface="Arial" panose="020B0604020202020204" pitchFamily="34" charset="0"/>
                </a:rPr>
                <a:t>plus or minus</a:t>
              </a:r>
            </a:p>
          </p:txBody>
        </p:sp>
        <p:sp>
          <p:nvSpPr>
            <p:cNvPr id="19467" name="AutoShape 50"/>
            <p:cNvSpPr>
              <a:spLocks noChangeArrowheads="1"/>
            </p:cNvSpPr>
            <p:nvPr/>
          </p:nvSpPr>
          <p:spPr bwMode="auto">
            <a:xfrm>
              <a:off x="2703" y="971"/>
              <a:ext cx="2044" cy="499"/>
            </a:xfrm>
            <a:prstGeom prst="roundRect">
              <a:avLst>
                <a:gd name="adj" fmla="val 16667"/>
              </a:avLst>
            </a:prstGeom>
            <a:solidFill>
              <a:srgbClr val="E4CA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19468" name="Text Box 51"/>
            <p:cNvSpPr txBox="1">
              <a:spLocks noChangeArrowheads="1"/>
            </p:cNvSpPr>
            <p:nvPr/>
          </p:nvSpPr>
          <p:spPr bwMode="auto">
            <a:xfrm>
              <a:off x="1407" y="3206"/>
              <a:ext cx="2545" cy="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sz="1385" b="1">
                  <a:solidFill>
                    <a:srgbClr val="FFCC99"/>
                  </a:solidFill>
                  <a:latin typeface="Arial" panose="020B0604020202020204" pitchFamily="34" charset="0"/>
                </a:rPr>
                <a:t>Net increase (or decrease) in cash and cash equivalents over the period</a:t>
              </a:r>
            </a:p>
          </p:txBody>
        </p:sp>
        <p:sp>
          <p:nvSpPr>
            <p:cNvPr id="19469" name="AutoShape 52"/>
            <p:cNvSpPr>
              <a:spLocks noChangeArrowheads="1"/>
            </p:cNvSpPr>
            <p:nvPr/>
          </p:nvSpPr>
          <p:spPr bwMode="auto">
            <a:xfrm>
              <a:off x="1440" y="2264"/>
              <a:ext cx="2568" cy="585"/>
            </a:xfrm>
            <a:prstGeom prst="cube">
              <a:avLst>
                <a:gd name="adj" fmla="val 13782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19470" name="AutoShape 54"/>
            <p:cNvSpPr>
              <a:spLocks noChangeArrowheads="1"/>
            </p:cNvSpPr>
            <p:nvPr/>
          </p:nvSpPr>
          <p:spPr bwMode="auto">
            <a:xfrm rot="5400000">
              <a:off x="2461" y="1884"/>
              <a:ext cx="493" cy="349"/>
            </a:xfrm>
            <a:prstGeom prst="rightArrow">
              <a:avLst>
                <a:gd name="adj1" fmla="val 59407"/>
                <a:gd name="adj2" fmla="val 29822"/>
              </a:avLst>
            </a:prstGeom>
            <a:solidFill>
              <a:srgbClr val="CC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19471" name="AutoShape 55"/>
            <p:cNvSpPr>
              <a:spLocks noChangeArrowheads="1"/>
            </p:cNvSpPr>
            <p:nvPr/>
          </p:nvSpPr>
          <p:spPr bwMode="auto">
            <a:xfrm>
              <a:off x="1428" y="1379"/>
              <a:ext cx="2568" cy="586"/>
            </a:xfrm>
            <a:prstGeom prst="cube">
              <a:avLst>
                <a:gd name="adj" fmla="val 13782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19472" name="AutoShape 58"/>
            <p:cNvSpPr>
              <a:spLocks noChangeArrowheads="1"/>
            </p:cNvSpPr>
            <p:nvPr/>
          </p:nvSpPr>
          <p:spPr bwMode="auto">
            <a:xfrm rot="5400000">
              <a:off x="2461" y="1031"/>
              <a:ext cx="493" cy="349"/>
            </a:xfrm>
            <a:prstGeom prst="rightArrow">
              <a:avLst>
                <a:gd name="adj1" fmla="val 59407"/>
                <a:gd name="adj2" fmla="val 29822"/>
              </a:avLst>
            </a:prstGeom>
            <a:solidFill>
              <a:srgbClr val="CC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19473" name="AutoShape 59"/>
            <p:cNvSpPr>
              <a:spLocks noChangeArrowheads="1"/>
            </p:cNvSpPr>
            <p:nvPr/>
          </p:nvSpPr>
          <p:spPr bwMode="auto">
            <a:xfrm>
              <a:off x="1430" y="482"/>
              <a:ext cx="2570" cy="585"/>
            </a:xfrm>
            <a:prstGeom prst="cube">
              <a:avLst>
                <a:gd name="adj" fmla="val 13782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19474" name="Text Box 60"/>
            <p:cNvSpPr txBox="1">
              <a:spLocks noChangeArrowheads="1"/>
            </p:cNvSpPr>
            <p:nvPr/>
          </p:nvSpPr>
          <p:spPr bwMode="auto">
            <a:xfrm>
              <a:off x="1445" y="597"/>
              <a:ext cx="2485" cy="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sz="1385" b="1">
                  <a:latin typeface="Arial" panose="020B0604020202020204" pitchFamily="34" charset="0"/>
                </a:rPr>
                <a:t>Cash flow</a:t>
              </a:r>
              <a:br>
                <a:rPr lang="en-GB" altLang="en-US" sz="1385" b="1">
                  <a:latin typeface="Arial" panose="020B0604020202020204" pitchFamily="34" charset="0"/>
                </a:rPr>
              </a:br>
              <a:r>
                <a:rPr lang="en-GB" altLang="en-US" sz="1385" b="1">
                  <a:latin typeface="Arial" panose="020B0604020202020204" pitchFamily="34" charset="0"/>
                </a:rPr>
                <a:t>from operating activities</a:t>
              </a:r>
            </a:p>
          </p:txBody>
        </p:sp>
        <p:sp>
          <p:nvSpPr>
            <p:cNvPr id="19475" name="Text Box 61"/>
            <p:cNvSpPr txBox="1">
              <a:spLocks noChangeArrowheads="1"/>
            </p:cNvSpPr>
            <p:nvPr/>
          </p:nvSpPr>
          <p:spPr bwMode="auto">
            <a:xfrm>
              <a:off x="1437" y="1501"/>
              <a:ext cx="2485" cy="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sz="1385" b="1">
                  <a:latin typeface="Arial" panose="020B0604020202020204" pitchFamily="34" charset="0"/>
                </a:rPr>
                <a:t>Cash flow</a:t>
              </a:r>
              <a:br>
                <a:rPr lang="en-GB" altLang="en-US" sz="1385" b="1">
                  <a:latin typeface="Arial" panose="020B0604020202020204" pitchFamily="34" charset="0"/>
                </a:rPr>
              </a:br>
              <a:r>
                <a:rPr lang="en-GB" altLang="en-US" sz="1385" b="1">
                  <a:latin typeface="Arial" panose="020B0604020202020204" pitchFamily="34" charset="0"/>
                </a:rPr>
                <a:t>from investing activities</a:t>
              </a:r>
            </a:p>
          </p:txBody>
        </p:sp>
        <p:sp>
          <p:nvSpPr>
            <p:cNvPr id="19476" name="Text Box 62"/>
            <p:cNvSpPr txBox="1">
              <a:spLocks noChangeArrowheads="1"/>
            </p:cNvSpPr>
            <p:nvPr/>
          </p:nvSpPr>
          <p:spPr bwMode="auto">
            <a:xfrm>
              <a:off x="1453" y="2381"/>
              <a:ext cx="2485" cy="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sz="1385" b="1">
                  <a:latin typeface="Arial" panose="020B0604020202020204" pitchFamily="34" charset="0"/>
                </a:rPr>
                <a:t>Cash flow</a:t>
              </a:r>
              <a:br>
                <a:rPr lang="en-GB" altLang="en-US" sz="1385" b="1">
                  <a:latin typeface="Arial" panose="020B0604020202020204" pitchFamily="34" charset="0"/>
                </a:rPr>
              </a:br>
              <a:r>
                <a:rPr lang="en-GB" altLang="en-US" sz="1385" b="1">
                  <a:latin typeface="Arial" panose="020B0604020202020204" pitchFamily="34" charset="0"/>
                </a:rPr>
                <a:t>from financing activities</a:t>
              </a:r>
            </a:p>
          </p:txBody>
        </p:sp>
        <p:sp>
          <p:nvSpPr>
            <p:cNvPr id="19477" name="Text Box 64"/>
            <p:cNvSpPr txBox="1">
              <a:spLocks noChangeArrowheads="1"/>
            </p:cNvSpPr>
            <p:nvPr/>
          </p:nvSpPr>
          <p:spPr bwMode="auto">
            <a:xfrm>
              <a:off x="3922" y="1004"/>
              <a:ext cx="933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sz="1246" b="1" i="1">
                  <a:latin typeface="Arial" panose="020B0604020202020204" pitchFamily="34" charset="0"/>
                </a:rPr>
                <a:t>plus or minus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0413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Text Box 60"/>
          <p:cNvSpPr>
            <a:spLocks noGrp="1" noChangeArrowheads="1"/>
          </p:cNvSpPr>
          <p:nvPr>
            <p:ph type="title"/>
          </p:nvPr>
        </p:nvSpPr>
        <p:spPr>
          <a:xfrm>
            <a:off x="242786" y="1268760"/>
            <a:ext cx="8901214" cy="1323439"/>
          </a:xfr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dirty="0"/>
              <a:t>Cash flow from operating activities</a:t>
            </a:r>
            <a:br>
              <a:rPr lang="en-GB" altLang="en-US" dirty="0"/>
            </a:br>
            <a:endParaRPr lang="en-GB" altLang="en-US" dirty="0"/>
          </a:p>
        </p:txBody>
      </p:sp>
      <p:sp>
        <p:nvSpPr>
          <p:cNvPr id="20482" name="Content Placeholder 2"/>
          <p:cNvSpPr>
            <a:spLocks noGrp="1"/>
          </p:cNvSpPr>
          <p:nvPr>
            <p:ph idx="1"/>
          </p:nvPr>
        </p:nvSpPr>
        <p:spPr>
          <a:xfrm>
            <a:off x="1187624" y="2410191"/>
            <a:ext cx="6554338" cy="4447809"/>
          </a:xfrm>
        </p:spPr>
        <p:txBody>
          <a:bodyPr>
            <a:normAutofit fontScale="92500" lnSpcReduction="10000"/>
          </a:bodyPr>
          <a:lstStyle/>
          <a:p>
            <a:pPr>
              <a:buFontTx/>
              <a:buNone/>
            </a:pPr>
            <a:r>
              <a:rPr lang="en-GB" altLang="en-US" dirty="0"/>
              <a:t>Net cash flows arising from normal day-to-day trading activities</a:t>
            </a:r>
          </a:p>
          <a:p>
            <a:pPr>
              <a:buFontTx/>
              <a:buNone/>
            </a:pPr>
            <a:endParaRPr lang="en-GB" altLang="en-US" sz="1385" dirty="0"/>
          </a:p>
          <a:p>
            <a:pPr>
              <a:buFontTx/>
              <a:buNone/>
            </a:pPr>
            <a:r>
              <a:rPr lang="en-GB" altLang="en-US" dirty="0"/>
              <a:t>Cash received from customers</a:t>
            </a:r>
          </a:p>
          <a:p>
            <a:pPr>
              <a:buFontTx/>
              <a:buNone/>
            </a:pPr>
            <a:r>
              <a:rPr lang="en-GB" altLang="en-US" u="sng" dirty="0"/>
              <a:t>Less</a:t>
            </a:r>
            <a:r>
              <a:rPr lang="en-GB" altLang="en-US" dirty="0"/>
              <a:t>:	cash paid for expenses –</a:t>
            </a:r>
          </a:p>
          <a:p>
            <a:pPr>
              <a:buFontTx/>
              <a:buNone/>
            </a:pPr>
            <a:r>
              <a:rPr lang="en-GB" altLang="en-US" dirty="0"/>
              <a:t>			</a:t>
            </a:r>
            <a:r>
              <a:rPr lang="en-GB" altLang="en-US" sz="1938" dirty="0"/>
              <a:t>inventories</a:t>
            </a:r>
          </a:p>
          <a:p>
            <a:pPr>
              <a:buFontTx/>
              <a:buNone/>
            </a:pPr>
            <a:r>
              <a:rPr lang="en-GB" altLang="en-US" sz="1938" dirty="0"/>
              <a:t>			rent</a:t>
            </a:r>
          </a:p>
          <a:p>
            <a:pPr>
              <a:buFontTx/>
              <a:buNone/>
            </a:pPr>
            <a:r>
              <a:rPr lang="en-GB" altLang="en-US" sz="1938" dirty="0"/>
              <a:t>			wages</a:t>
            </a:r>
          </a:p>
          <a:p>
            <a:pPr>
              <a:buFontTx/>
              <a:buNone/>
            </a:pPr>
            <a:r>
              <a:rPr lang="en-GB" altLang="en-US" sz="1938" dirty="0"/>
              <a:t>			interest</a:t>
            </a:r>
          </a:p>
          <a:p>
            <a:pPr>
              <a:buFontTx/>
              <a:buNone/>
            </a:pPr>
            <a:r>
              <a:rPr lang="en-GB" altLang="en-US" sz="1938" dirty="0"/>
              <a:t>			tax</a:t>
            </a:r>
          </a:p>
          <a:p>
            <a:pPr>
              <a:buFontTx/>
              <a:buNone/>
            </a:pPr>
            <a:r>
              <a:rPr lang="en-GB" altLang="en-US" sz="1938" dirty="0"/>
              <a:t>			dividends</a:t>
            </a:r>
          </a:p>
          <a:p>
            <a:pPr>
              <a:buFontTx/>
              <a:buNone/>
            </a:pPr>
            <a:r>
              <a:rPr lang="en-GB" altLang="en-US" sz="1938" dirty="0"/>
              <a:t>				</a:t>
            </a:r>
            <a:r>
              <a:rPr lang="en-GB" altLang="en-US" sz="1938" dirty="0" err="1"/>
              <a:t>etc</a:t>
            </a:r>
            <a:endParaRPr lang="en-GB" altLang="en-US" sz="1938" dirty="0"/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6260133" indent="-25943614"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31652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63303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94955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266078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52D1940F-5976-4DC7-975A-0A5729F608F1}" type="slidenum">
              <a:rPr lang="en-GB" altLang="en-US" sz="969"/>
              <a:pPr/>
              <a:t>7</a:t>
            </a:fld>
            <a:endParaRPr lang="en-GB" altLang="en-US" sz="969"/>
          </a:p>
        </p:txBody>
      </p:sp>
    </p:spTree>
    <p:extLst>
      <p:ext uri="{BB962C8B-B14F-4D97-AF65-F5344CB8AC3E}">
        <p14:creationId xmlns:p14="http://schemas.microsoft.com/office/powerpoint/2010/main" val="664759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ext Box 2"/>
          <p:cNvSpPr>
            <a:spLocks noGrp="1" noChangeArrowheads="1"/>
          </p:cNvSpPr>
          <p:nvPr>
            <p:ph type="title"/>
          </p:nvPr>
        </p:nvSpPr>
        <p:spPr>
          <a:xfrm>
            <a:off x="899592" y="1529143"/>
            <a:ext cx="8075240" cy="1323439"/>
          </a:xfrm>
          <a:noFill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b="1" dirty="0">
                <a:solidFill>
                  <a:srgbClr val="CC0000"/>
                </a:solidFill>
                <a:latin typeface="Arial" panose="020B0604020202020204" pitchFamily="34" charset="0"/>
              </a:rPr>
              <a:t>Deducing net cash inflows from operating activities</a:t>
            </a:r>
            <a:endParaRPr lang="en-GB" altLang="en-US" dirty="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2150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6260133" indent="-25943614"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31652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63303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94955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266078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2D5B4520-C84A-44E0-9498-49ECE0D34B69}" type="slidenum">
              <a:rPr lang="en-GB" altLang="en-US" sz="969"/>
              <a:pPr/>
              <a:t>8</a:t>
            </a:fld>
            <a:endParaRPr lang="en-GB" altLang="en-US" sz="969"/>
          </a:p>
        </p:txBody>
      </p:sp>
      <p:grpSp>
        <p:nvGrpSpPr>
          <p:cNvPr id="21508" name="Group 16"/>
          <p:cNvGrpSpPr>
            <a:grpSpLocks noGrp="1"/>
          </p:cNvGrpSpPr>
          <p:nvPr/>
        </p:nvGrpSpPr>
        <p:grpSpPr bwMode="auto">
          <a:xfrm>
            <a:off x="2631345" y="3585674"/>
            <a:ext cx="4035669" cy="2770676"/>
            <a:chOff x="1647" y="1671"/>
            <a:chExt cx="2368" cy="1184"/>
          </a:xfrm>
        </p:grpSpPr>
        <p:sp>
          <p:nvSpPr>
            <p:cNvPr id="21509" name="AutoShape 6"/>
            <p:cNvSpPr>
              <a:spLocks noChangeArrowheads="1"/>
            </p:cNvSpPr>
            <p:nvPr/>
          </p:nvSpPr>
          <p:spPr bwMode="auto">
            <a:xfrm>
              <a:off x="1647" y="1682"/>
              <a:ext cx="440" cy="440"/>
            </a:xfrm>
            <a:prstGeom prst="cube">
              <a:avLst>
                <a:gd name="adj" fmla="val 16153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en-US" altLang="en-US" sz="1662">
                <a:solidFill>
                  <a:srgbClr val="CC0000"/>
                </a:solidFill>
              </a:endParaRPr>
            </a:p>
          </p:txBody>
        </p:sp>
        <p:sp>
          <p:nvSpPr>
            <p:cNvPr id="21510" name="AutoShape 7"/>
            <p:cNvSpPr>
              <a:spLocks noChangeArrowheads="1"/>
            </p:cNvSpPr>
            <p:nvPr/>
          </p:nvSpPr>
          <p:spPr bwMode="auto">
            <a:xfrm>
              <a:off x="2244" y="1671"/>
              <a:ext cx="1765" cy="592"/>
            </a:xfrm>
            <a:prstGeom prst="cube">
              <a:avLst>
                <a:gd name="adj" fmla="val 15208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21511" name="Text Box 8"/>
            <p:cNvSpPr txBox="1">
              <a:spLocks noChangeArrowheads="1"/>
            </p:cNvSpPr>
            <p:nvPr/>
          </p:nvSpPr>
          <p:spPr bwMode="auto">
            <a:xfrm>
              <a:off x="2287" y="1794"/>
              <a:ext cx="1660" cy="4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sz="1385" b="1" dirty="0">
                  <a:latin typeface="Arial" panose="020B0604020202020204" pitchFamily="34" charset="0"/>
                </a:rPr>
                <a:t>The direct method</a:t>
              </a:r>
            </a:p>
            <a:p>
              <a:pPr algn="ctr">
                <a:spcBef>
                  <a:spcPct val="50000"/>
                </a:spcBef>
              </a:pPr>
              <a:r>
                <a:rPr lang="en-GB" altLang="en-US" sz="1385" b="1" dirty="0">
                  <a:latin typeface="Arial" panose="020B0604020202020204" pitchFamily="34" charset="0"/>
                </a:rPr>
                <a:t>(Summary of all payments and receipts relating to operating activities)</a:t>
              </a:r>
            </a:p>
          </p:txBody>
        </p:sp>
        <p:sp>
          <p:nvSpPr>
            <p:cNvPr id="21512" name="AutoShape 9"/>
            <p:cNvSpPr>
              <a:spLocks noChangeArrowheads="1"/>
            </p:cNvSpPr>
            <p:nvPr/>
          </p:nvSpPr>
          <p:spPr bwMode="auto">
            <a:xfrm>
              <a:off x="2250" y="2298"/>
              <a:ext cx="1765" cy="557"/>
            </a:xfrm>
            <a:prstGeom prst="cube">
              <a:avLst>
                <a:gd name="adj" fmla="val 15208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21513" name="Text Box 10"/>
            <p:cNvSpPr txBox="1">
              <a:spLocks noChangeArrowheads="1"/>
            </p:cNvSpPr>
            <p:nvPr/>
          </p:nvSpPr>
          <p:spPr bwMode="auto">
            <a:xfrm>
              <a:off x="2199" y="2417"/>
              <a:ext cx="1813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sz="1385" b="1">
                  <a:latin typeface="Arial" panose="020B0604020202020204" pitchFamily="34" charset="0"/>
                </a:rPr>
                <a:t>The indirect method</a:t>
              </a:r>
            </a:p>
          </p:txBody>
        </p:sp>
        <p:sp>
          <p:nvSpPr>
            <p:cNvPr id="21514" name="AutoShape 11"/>
            <p:cNvSpPr>
              <a:spLocks noChangeArrowheads="1"/>
            </p:cNvSpPr>
            <p:nvPr/>
          </p:nvSpPr>
          <p:spPr bwMode="auto">
            <a:xfrm>
              <a:off x="1652" y="2309"/>
              <a:ext cx="440" cy="440"/>
            </a:xfrm>
            <a:prstGeom prst="cube">
              <a:avLst>
                <a:gd name="adj" fmla="val 16153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en-US" altLang="en-US" sz="1662">
                <a:solidFill>
                  <a:srgbClr val="CC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7382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2572989" y="927877"/>
            <a:ext cx="4035669" cy="395654"/>
          </a:xfrm>
        </p:spPr>
        <p:txBody>
          <a:bodyPr>
            <a:normAutofit fontScale="90000"/>
          </a:bodyPr>
          <a:lstStyle/>
          <a:p>
            <a:r>
              <a:rPr lang="en-GB" altLang="en-US" b="1" dirty="0">
                <a:solidFill>
                  <a:srgbClr val="CC0000"/>
                </a:solidFill>
                <a:latin typeface="Arial" panose="020B0604020202020204" pitchFamily="34" charset="0"/>
              </a:rPr>
              <a:t>The indirect method</a:t>
            </a:r>
            <a:endParaRPr lang="en-GB" altLang="en-US" dirty="0"/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6260133" indent="-25943614"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31652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63303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94955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266078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130EB047-FB83-462A-858F-EFEB2F08426D}" type="slidenum">
              <a:rPr lang="en-GB" altLang="en-US" sz="969"/>
              <a:pPr/>
              <a:t>9</a:t>
            </a:fld>
            <a:endParaRPr lang="en-GB" altLang="en-US" sz="969"/>
          </a:p>
        </p:txBody>
      </p:sp>
      <p:grpSp>
        <p:nvGrpSpPr>
          <p:cNvPr id="22532" name="Group 128"/>
          <p:cNvGrpSpPr>
            <a:grpSpLocks noGrp="1"/>
          </p:cNvGrpSpPr>
          <p:nvPr/>
        </p:nvGrpSpPr>
        <p:grpSpPr bwMode="auto">
          <a:xfrm>
            <a:off x="2554166" y="1610271"/>
            <a:ext cx="4035669" cy="5189660"/>
            <a:chOff x="1641" y="702"/>
            <a:chExt cx="2474" cy="3332"/>
          </a:xfrm>
        </p:grpSpPr>
        <p:sp>
          <p:nvSpPr>
            <p:cNvPr id="22533" name="AutoShape 50"/>
            <p:cNvSpPr>
              <a:spLocks noChangeArrowheads="1"/>
            </p:cNvSpPr>
            <p:nvPr/>
          </p:nvSpPr>
          <p:spPr bwMode="auto">
            <a:xfrm>
              <a:off x="1667" y="3738"/>
              <a:ext cx="2434" cy="296"/>
            </a:xfrm>
            <a:prstGeom prst="cube">
              <a:avLst>
                <a:gd name="adj" fmla="val 13782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22534" name="Text Box 52"/>
            <p:cNvSpPr txBox="1">
              <a:spLocks noChangeArrowheads="1"/>
            </p:cNvSpPr>
            <p:nvPr/>
          </p:nvSpPr>
          <p:spPr bwMode="auto">
            <a:xfrm>
              <a:off x="1645" y="3809"/>
              <a:ext cx="2410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sz="1385" b="1">
                  <a:solidFill>
                    <a:srgbClr val="FFCC99"/>
                  </a:solidFill>
                  <a:latin typeface="Arial" panose="020B0604020202020204" pitchFamily="34" charset="0"/>
                </a:rPr>
                <a:t>Net cash flows from operating activities</a:t>
              </a:r>
            </a:p>
          </p:txBody>
        </p:sp>
        <p:grpSp>
          <p:nvGrpSpPr>
            <p:cNvPr id="22535" name="Group 98"/>
            <p:cNvGrpSpPr>
              <a:grpSpLocks/>
            </p:cNvGrpSpPr>
            <p:nvPr/>
          </p:nvGrpSpPr>
          <p:grpSpPr bwMode="auto">
            <a:xfrm>
              <a:off x="1668" y="1332"/>
              <a:ext cx="2430" cy="204"/>
              <a:chOff x="1388" y="1311"/>
              <a:chExt cx="2659" cy="223"/>
            </a:xfrm>
          </p:grpSpPr>
          <p:sp>
            <p:nvSpPr>
              <p:cNvPr id="22578" name="AutoShape 65"/>
              <p:cNvSpPr>
                <a:spLocks noChangeArrowheads="1"/>
              </p:cNvSpPr>
              <p:nvPr/>
            </p:nvSpPr>
            <p:spPr bwMode="auto">
              <a:xfrm>
                <a:off x="1388" y="1311"/>
                <a:ext cx="2659" cy="223"/>
              </a:xfrm>
              <a:prstGeom prst="cube">
                <a:avLst>
                  <a:gd name="adj" fmla="val 15597"/>
                </a:avLst>
              </a:pr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662"/>
              </a:p>
            </p:txBody>
          </p:sp>
          <p:sp>
            <p:nvSpPr>
              <p:cNvPr id="22579" name="Text Box 66"/>
              <p:cNvSpPr txBox="1">
                <a:spLocks noChangeArrowheads="1"/>
              </p:cNvSpPr>
              <p:nvPr/>
            </p:nvSpPr>
            <p:spPr bwMode="auto">
              <a:xfrm>
                <a:off x="1389" y="1325"/>
                <a:ext cx="2640" cy="1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GB" altLang="en-US" sz="1246" b="1">
                    <a:latin typeface="Arial" panose="020B0604020202020204" pitchFamily="34" charset="0"/>
                  </a:rPr>
                  <a:t>Interest expense</a:t>
                </a:r>
              </a:p>
            </p:txBody>
          </p:sp>
        </p:grpSp>
        <p:grpSp>
          <p:nvGrpSpPr>
            <p:cNvPr id="22536" name="Group 87"/>
            <p:cNvGrpSpPr>
              <a:grpSpLocks/>
            </p:cNvGrpSpPr>
            <p:nvPr/>
          </p:nvGrpSpPr>
          <p:grpSpPr bwMode="auto">
            <a:xfrm>
              <a:off x="1641" y="1628"/>
              <a:ext cx="2460" cy="329"/>
              <a:chOff x="1359" y="1624"/>
              <a:chExt cx="2692" cy="360"/>
            </a:xfrm>
          </p:grpSpPr>
          <p:sp>
            <p:nvSpPr>
              <p:cNvPr id="22576" name="AutoShape 63"/>
              <p:cNvSpPr>
                <a:spLocks noChangeArrowheads="1"/>
              </p:cNvSpPr>
              <p:nvPr/>
            </p:nvSpPr>
            <p:spPr bwMode="auto">
              <a:xfrm>
                <a:off x="1393" y="1624"/>
                <a:ext cx="2658" cy="325"/>
              </a:xfrm>
              <a:prstGeom prst="cube">
                <a:avLst>
                  <a:gd name="adj" fmla="val 13782"/>
                </a:avLst>
              </a:pr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662"/>
              </a:p>
            </p:txBody>
          </p:sp>
          <p:sp>
            <p:nvSpPr>
              <p:cNvPr id="22577" name="Text Box 67"/>
              <p:cNvSpPr txBox="1">
                <a:spLocks noChangeArrowheads="1"/>
              </p:cNvSpPr>
              <p:nvPr/>
            </p:nvSpPr>
            <p:spPr bwMode="auto">
              <a:xfrm>
                <a:off x="1359" y="1650"/>
                <a:ext cx="2637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GB" altLang="en-US" sz="1246" b="1">
                    <a:latin typeface="Arial" panose="020B0604020202020204" pitchFamily="34" charset="0"/>
                  </a:rPr>
                  <a:t>Increase (minus) or decrease (plus) in</a:t>
                </a:r>
                <a:br>
                  <a:rPr lang="en-GB" altLang="en-US" sz="1246" b="1">
                    <a:latin typeface="Arial" panose="020B0604020202020204" pitchFamily="34" charset="0"/>
                  </a:rPr>
                </a:br>
                <a:r>
                  <a:rPr lang="en-GB" altLang="en-US" sz="1246" b="1">
                    <a:latin typeface="Arial" panose="020B0604020202020204" pitchFamily="34" charset="0"/>
                  </a:rPr>
                  <a:t>inventories</a:t>
                </a:r>
              </a:p>
            </p:txBody>
          </p:sp>
        </p:grpSp>
        <p:grpSp>
          <p:nvGrpSpPr>
            <p:cNvPr id="22537" name="Group 91"/>
            <p:cNvGrpSpPr>
              <a:grpSpLocks/>
            </p:cNvGrpSpPr>
            <p:nvPr/>
          </p:nvGrpSpPr>
          <p:grpSpPr bwMode="auto">
            <a:xfrm>
              <a:off x="1671" y="2827"/>
              <a:ext cx="2430" cy="204"/>
              <a:chOff x="1398" y="2814"/>
              <a:chExt cx="2659" cy="223"/>
            </a:xfrm>
          </p:grpSpPr>
          <p:sp>
            <p:nvSpPr>
              <p:cNvPr id="22574" name="AutoShape 90"/>
              <p:cNvSpPr>
                <a:spLocks noChangeArrowheads="1"/>
              </p:cNvSpPr>
              <p:nvPr/>
            </p:nvSpPr>
            <p:spPr bwMode="auto">
              <a:xfrm>
                <a:off x="1398" y="2814"/>
                <a:ext cx="2659" cy="223"/>
              </a:xfrm>
              <a:prstGeom prst="cube">
                <a:avLst>
                  <a:gd name="adj" fmla="val 15597"/>
                </a:avLst>
              </a:pr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662"/>
              </a:p>
            </p:txBody>
          </p:sp>
          <p:sp>
            <p:nvSpPr>
              <p:cNvPr id="22575" name="Text Box 70"/>
              <p:cNvSpPr txBox="1">
                <a:spLocks noChangeArrowheads="1"/>
              </p:cNvSpPr>
              <p:nvPr/>
            </p:nvSpPr>
            <p:spPr bwMode="auto">
              <a:xfrm>
                <a:off x="1469" y="2836"/>
                <a:ext cx="2503" cy="1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GB" altLang="en-US" sz="1246" b="1">
                    <a:latin typeface="Arial" panose="020B0604020202020204" pitchFamily="34" charset="0"/>
                  </a:rPr>
                  <a:t>Interest paid</a:t>
                </a:r>
              </a:p>
            </p:txBody>
          </p:sp>
        </p:grpSp>
        <p:grpSp>
          <p:nvGrpSpPr>
            <p:cNvPr id="22538" name="Group 95"/>
            <p:cNvGrpSpPr>
              <a:grpSpLocks/>
            </p:cNvGrpSpPr>
            <p:nvPr/>
          </p:nvGrpSpPr>
          <p:grpSpPr bwMode="auto">
            <a:xfrm>
              <a:off x="1660" y="3133"/>
              <a:ext cx="2441" cy="206"/>
              <a:chOff x="1362" y="3126"/>
              <a:chExt cx="2659" cy="226"/>
            </a:xfrm>
          </p:grpSpPr>
          <p:sp>
            <p:nvSpPr>
              <p:cNvPr id="22572" name="AutoShape 92"/>
              <p:cNvSpPr>
                <a:spLocks noChangeArrowheads="1"/>
              </p:cNvSpPr>
              <p:nvPr/>
            </p:nvSpPr>
            <p:spPr bwMode="auto">
              <a:xfrm>
                <a:off x="1362" y="3126"/>
                <a:ext cx="2659" cy="223"/>
              </a:xfrm>
              <a:prstGeom prst="cube">
                <a:avLst>
                  <a:gd name="adj" fmla="val 15597"/>
                </a:avLst>
              </a:pr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662"/>
              </a:p>
            </p:txBody>
          </p:sp>
          <p:sp>
            <p:nvSpPr>
              <p:cNvPr id="22573" name="Text Box 71"/>
              <p:cNvSpPr txBox="1">
                <a:spLocks noChangeArrowheads="1"/>
              </p:cNvSpPr>
              <p:nvPr/>
            </p:nvSpPr>
            <p:spPr bwMode="auto">
              <a:xfrm>
                <a:off x="1380" y="3152"/>
                <a:ext cx="2637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GB" altLang="en-US" sz="1246" b="1">
                    <a:latin typeface="Arial" panose="020B0604020202020204" pitchFamily="34" charset="0"/>
                  </a:rPr>
                  <a:t>Taxation paid</a:t>
                </a:r>
              </a:p>
            </p:txBody>
          </p:sp>
        </p:grpSp>
        <p:grpSp>
          <p:nvGrpSpPr>
            <p:cNvPr id="22539" name="Group 94"/>
            <p:cNvGrpSpPr>
              <a:grpSpLocks/>
            </p:cNvGrpSpPr>
            <p:nvPr/>
          </p:nvGrpSpPr>
          <p:grpSpPr bwMode="auto">
            <a:xfrm>
              <a:off x="1669" y="3437"/>
              <a:ext cx="2430" cy="205"/>
              <a:chOff x="1378" y="3544"/>
              <a:chExt cx="2659" cy="225"/>
            </a:xfrm>
          </p:grpSpPr>
          <p:sp>
            <p:nvSpPr>
              <p:cNvPr id="22570" name="AutoShape 93"/>
              <p:cNvSpPr>
                <a:spLocks noChangeArrowheads="1"/>
              </p:cNvSpPr>
              <p:nvPr/>
            </p:nvSpPr>
            <p:spPr bwMode="auto">
              <a:xfrm>
                <a:off x="1378" y="3544"/>
                <a:ext cx="2659" cy="223"/>
              </a:xfrm>
              <a:prstGeom prst="cube">
                <a:avLst>
                  <a:gd name="adj" fmla="val 15597"/>
                </a:avLst>
              </a:pr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662"/>
              </a:p>
            </p:txBody>
          </p:sp>
          <p:sp>
            <p:nvSpPr>
              <p:cNvPr id="22571" name="Text Box 72"/>
              <p:cNvSpPr txBox="1">
                <a:spLocks noChangeArrowheads="1"/>
              </p:cNvSpPr>
              <p:nvPr/>
            </p:nvSpPr>
            <p:spPr bwMode="auto">
              <a:xfrm>
                <a:off x="1398" y="3569"/>
                <a:ext cx="2637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GB" altLang="en-US" sz="1246" b="1">
                    <a:latin typeface="Arial" panose="020B0604020202020204" pitchFamily="34" charset="0"/>
                  </a:rPr>
                  <a:t>Dividend paid</a:t>
                </a:r>
              </a:p>
            </p:txBody>
          </p:sp>
        </p:grpSp>
        <p:sp>
          <p:nvSpPr>
            <p:cNvPr id="22540" name="Text Box 74"/>
            <p:cNvSpPr txBox="1">
              <a:spLocks noChangeArrowheads="1"/>
            </p:cNvSpPr>
            <p:nvPr/>
          </p:nvSpPr>
          <p:spPr bwMode="auto">
            <a:xfrm>
              <a:off x="2997" y="877"/>
              <a:ext cx="1065" cy="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 sz="831" b="1" i="1">
                  <a:latin typeface="Arial" panose="020B0604020202020204" pitchFamily="34" charset="0"/>
                </a:rPr>
                <a:t>plus </a:t>
              </a:r>
            </a:p>
          </p:txBody>
        </p:sp>
        <p:grpSp>
          <p:nvGrpSpPr>
            <p:cNvPr id="22541" name="Group 97"/>
            <p:cNvGrpSpPr>
              <a:grpSpLocks/>
            </p:cNvGrpSpPr>
            <p:nvPr/>
          </p:nvGrpSpPr>
          <p:grpSpPr bwMode="auto">
            <a:xfrm>
              <a:off x="1670" y="1024"/>
              <a:ext cx="2429" cy="203"/>
              <a:chOff x="1385" y="942"/>
              <a:chExt cx="2658" cy="223"/>
            </a:xfrm>
          </p:grpSpPr>
          <p:sp>
            <p:nvSpPr>
              <p:cNvPr id="22568" name="AutoShape 78"/>
              <p:cNvSpPr>
                <a:spLocks noChangeArrowheads="1"/>
              </p:cNvSpPr>
              <p:nvPr/>
            </p:nvSpPr>
            <p:spPr bwMode="auto">
              <a:xfrm>
                <a:off x="1385" y="942"/>
                <a:ext cx="2658" cy="223"/>
              </a:xfrm>
              <a:prstGeom prst="cube">
                <a:avLst>
                  <a:gd name="adj" fmla="val 13782"/>
                </a:avLst>
              </a:pr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969"/>
              </a:p>
            </p:txBody>
          </p:sp>
          <p:sp>
            <p:nvSpPr>
              <p:cNvPr id="22569" name="Text Box 82"/>
              <p:cNvSpPr txBox="1">
                <a:spLocks noChangeArrowheads="1"/>
              </p:cNvSpPr>
              <p:nvPr/>
            </p:nvSpPr>
            <p:spPr bwMode="auto">
              <a:xfrm>
                <a:off x="1395" y="957"/>
                <a:ext cx="2637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GB" altLang="en-US" sz="1246" b="1">
                    <a:latin typeface="Arial" panose="020B0604020202020204" pitchFamily="34" charset="0"/>
                  </a:rPr>
                  <a:t>Depreciation expense</a:t>
                </a:r>
              </a:p>
            </p:txBody>
          </p:sp>
        </p:grpSp>
        <p:grpSp>
          <p:nvGrpSpPr>
            <p:cNvPr id="22542" name="Group 88"/>
            <p:cNvGrpSpPr>
              <a:grpSpLocks/>
            </p:cNvGrpSpPr>
            <p:nvPr/>
          </p:nvGrpSpPr>
          <p:grpSpPr bwMode="auto">
            <a:xfrm>
              <a:off x="1670" y="2026"/>
              <a:ext cx="2445" cy="319"/>
              <a:chOff x="1397" y="2006"/>
              <a:chExt cx="2675" cy="349"/>
            </a:xfrm>
          </p:grpSpPr>
          <p:sp>
            <p:nvSpPr>
              <p:cNvPr id="22566" name="AutoShape 85"/>
              <p:cNvSpPr>
                <a:spLocks noChangeArrowheads="1"/>
              </p:cNvSpPr>
              <p:nvPr/>
            </p:nvSpPr>
            <p:spPr bwMode="auto">
              <a:xfrm>
                <a:off x="1397" y="2006"/>
                <a:ext cx="2658" cy="325"/>
              </a:xfrm>
              <a:prstGeom prst="cube">
                <a:avLst>
                  <a:gd name="adj" fmla="val 13782"/>
                </a:avLst>
              </a:pr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662"/>
              </a:p>
            </p:txBody>
          </p:sp>
          <p:sp>
            <p:nvSpPr>
              <p:cNvPr id="22567" name="Text Box 83"/>
              <p:cNvSpPr txBox="1">
                <a:spLocks noChangeArrowheads="1"/>
              </p:cNvSpPr>
              <p:nvPr/>
            </p:nvSpPr>
            <p:spPr bwMode="auto">
              <a:xfrm>
                <a:off x="1435" y="2021"/>
                <a:ext cx="2637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GB" altLang="en-US" sz="1246" b="1">
                    <a:latin typeface="Arial" panose="020B0604020202020204" pitchFamily="34" charset="0"/>
                  </a:rPr>
                  <a:t>Increase (minus) or decrease (plus) in</a:t>
                </a:r>
                <a:br>
                  <a:rPr lang="en-GB" altLang="en-US" sz="1246" b="1">
                    <a:latin typeface="Arial" panose="020B0604020202020204" pitchFamily="34" charset="0"/>
                  </a:rPr>
                </a:br>
                <a:r>
                  <a:rPr lang="en-GB" altLang="en-US" sz="1246" b="1">
                    <a:latin typeface="Arial" panose="020B0604020202020204" pitchFamily="34" charset="0"/>
                  </a:rPr>
                  <a:t>receivables</a:t>
                </a:r>
              </a:p>
            </p:txBody>
          </p:sp>
        </p:grpSp>
        <p:grpSp>
          <p:nvGrpSpPr>
            <p:cNvPr id="22543" name="Group 89"/>
            <p:cNvGrpSpPr>
              <a:grpSpLocks/>
            </p:cNvGrpSpPr>
            <p:nvPr/>
          </p:nvGrpSpPr>
          <p:grpSpPr bwMode="auto">
            <a:xfrm>
              <a:off x="1670" y="2434"/>
              <a:ext cx="2429" cy="321"/>
              <a:chOff x="1379" y="2372"/>
              <a:chExt cx="2658" cy="351"/>
            </a:xfrm>
          </p:grpSpPr>
          <p:sp>
            <p:nvSpPr>
              <p:cNvPr id="22564" name="AutoShape 86"/>
              <p:cNvSpPr>
                <a:spLocks noChangeArrowheads="1"/>
              </p:cNvSpPr>
              <p:nvPr/>
            </p:nvSpPr>
            <p:spPr bwMode="auto">
              <a:xfrm>
                <a:off x="1379" y="2372"/>
                <a:ext cx="2658" cy="325"/>
              </a:xfrm>
              <a:prstGeom prst="cube">
                <a:avLst>
                  <a:gd name="adj" fmla="val 13782"/>
                </a:avLst>
              </a:pr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662"/>
              </a:p>
            </p:txBody>
          </p:sp>
          <p:sp>
            <p:nvSpPr>
              <p:cNvPr id="22565" name="Text Box 84"/>
              <p:cNvSpPr txBox="1">
                <a:spLocks noChangeArrowheads="1"/>
              </p:cNvSpPr>
              <p:nvPr/>
            </p:nvSpPr>
            <p:spPr bwMode="auto">
              <a:xfrm>
                <a:off x="1499" y="2389"/>
                <a:ext cx="2348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GB" altLang="en-US" sz="1246" b="1">
                    <a:latin typeface="Arial" panose="020B0604020202020204" pitchFamily="34" charset="0"/>
                  </a:rPr>
                  <a:t>Increase (plus) or decrease (minus) in payables</a:t>
                </a:r>
              </a:p>
            </p:txBody>
          </p:sp>
        </p:grpSp>
        <p:grpSp>
          <p:nvGrpSpPr>
            <p:cNvPr id="22544" name="Group 96"/>
            <p:cNvGrpSpPr>
              <a:grpSpLocks/>
            </p:cNvGrpSpPr>
            <p:nvPr/>
          </p:nvGrpSpPr>
          <p:grpSpPr bwMode="auto">
            <a:xfrm>
              <a:off x="1668" y="702"/>
              <a:ext cx="2430" cy="209"/>
              <a:chOff x="1388" y="574"/>
              <a:chExt cx="2659" cy="229"/>
            </a:xfrm>
          </p:grpSpPr>
          <p:sp>
            <p:nvSpPr>
              <p:cNvPr id="22562" name="AutoShape 80"/>
              <p:cNvSpPr>
                <a:spLocks noChangeArrowheads="1"/>
              </p:cNvSpPr>
              <p:nvPr/>
            </p:nvSpPr>
            <p:spPr bwMode="auto">
              <a:xfrm>
                <a:off x="1388" y="574"/>
                <a:ext cx="2659" cy="229"/>
              </a:xfrm>
              <a:prstGeom prst="cube">
                <a:avLst>
                  <a:gd name="adj" fmla="val 15597"/>
                </a:avLst>
              </a:pr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662"/>
              </a:p>
            </p:txBody>
          </p:sp>
          <p:sp>
            <p:nvSpPr>
              <p:cNvPr id="22563" name="Text Box 81"/>
              <p:cNvSpPr txBox="1">
                <a:spLocks noChangeArrowheads="1"/>
              </p:cNvSpPr>
              <p:nvPr/>
            </p:nvSpPr>
            <p:spPr bwMode="auto">
              <a:xfrm>
                <a:off x="1599" y="600"/>
                <a:ext cx="2177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GB" altLang="en-US" sz="1246" b="1">
                    <a:latin typeface="Arial" panose="020B0604020202020204" pitchFamily="34" charset="0"/>
                  </a:rPr>
                  <a:t>Net profit before taxation</a:t>
                </a:r>
              </a:p>
            </p:txBody>
          </p:sp>
        </p:grpSp>
        <p:sp>
          <p:nvSpPr>
            <p:cNvPr id="22545" name="AutoShape 101"/>
            <p:cNvSpPr>
              <a:spLocks noChangeArrowheads="1"/>
            </p:cNvSpPr>
            <p:nvPr/>
          </p:nvSpPr>
          <p:spPr bwMode="auto">
            <a:xfrm rot="5400000">
              <a:off x="2809" y="1207"/>
              <a:ext cx="132" cy="164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22546" name="AutoShape 102"/>
            <p:cNvSpPr>
              <a:spLocks noChangeArrowheads="1"/>
            </p:cNvSpPr>
            <p:nvPr/>
          </p:nvSpPr>
          <p:spPr bwMode="auto">
            <a:xfrm rot="5400000">
              <a:off x="2808" y="893"/>
              <a:ext cx="133" cy="164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22547" name="AutoShape 103"/>
            <p:cNvSpPr>
              <a:spLocks noChangeArrowheads="1"/>
            </p:cNvSpPr>
            <p:nvPr/>
          </p:nvSpPr>
          <p:spPr bwMode="auto">
            <a:xfrm rot="5400000">
              <a:off x="2812" y="1511"/>
              <a:ext cx="125" cy="164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22548" name="AutoShape 104"/>
            <p:cNvSpPr>
              <a:spLocks noChangeArrowheads="1"/>
            </p:cNvSpPr>
            <p:nvPr/>
          </p:nvSpPr>
          <p:spPr bwMode="auto">
            <a:xfrm rot="5400000">
              <a:off x="2812" y="1905"/>
              <a:ext cx="126" cy="164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22549" name="AutoShape 105"/>
            <p:cNvSpPr>
              <a:spLocks noChangeArrowheads="1"/>
            </p:cNvSpPr>
            <p:nvPr/>
          </p:nvSpPr>
          <p:spPr bwMode="auto">
            <a:xfrm rot="5400000">
              <a:off x="2812" y="2300"/>
              <a:ext cx="125" cy="164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22550" name="AutoShape 106"/>
            <p:cNvSpPr>
              <a:spLocks noChangeArrowheads="1"/>
            </p:cNvSpPr>
            <p:nvPr/>
          </p:nvSpPr>
          <p:spPr bwMode="auto">
            <a:xfrm rot="5400000">
              <a:off x="2809" y="2706"/>
              <a:ext cx="125" cy="163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22551" name="AutoShape 107"/>
            <p:cNvSpPr>
              <a:spLocks noChangeArrowheads="1"/>
            </p:cNvSpPr>
            <p:nvPr/>
          </p:nvSpPr>
          <p:spPr bwMode="auto">
            <a:xfrm rot="5400000">
              <a:off x="2809" y="3009"/>
              <a:ext cx="125" cy="163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22552" name="AutoShape 108"/>
            <p:cNvSpPr>
              <a:spLocks noChangeArrowheads="1"/>
            </p:cNvSpPr>
            <p:nvPr/>
          </p:nvSpPr>
          <p:spPr bwMode="auto">
            <a:xfrm rot="5400000">
              <a:off x="2809" y="3309"/>
              <a:ext cx="125" cy="163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22553" name="AutoShape 109"/>
            <p:cNvSpPr>
              <a:spLocks noChangeArrowheads="1"/>
            </p:cNvSpPr>
            <p:nvPr/>
          </p:nvSpPr>
          <p:spPr bwMode="auto">
            <a:xfrm rot="5400000">
              <a:off x="2812" y="3616"/>
              <a:ext cx="125" cy="164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22554" name="Text Box 114"/>
            <p:cNvSpPr txBox="1">
              <a:spLocks noChangeArrowheads="1"/>
            </p:cNvSpPr>
            <p:nvPr/>
          </p:nvSpPr>
          <p:spPr bwMode="auto">
            <a:xfrm>
              <a:off x="2997" y="1194"/>
              <a:ext cx="1065" cy="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 sz="831" b="1" i="1">
                  <a:latin typeface="Arial" panose="020B0604020202020204" pitchFamily="34" charset="0"/>
                </a:rPr>
                <a:t>plus </a:t>
              </a:r>
            </a:p>
          </p:txBody>
        </p:sp>
        <p:sp>
          <p:nvSpPr>
            <p:cNvPr id="22555" name="Text Box 115"/>
            <p:cNvSpPr txBox="1">
              <a:spLocks noChangeArrowheads="1"/>
            </p:cNvSpPr>
            <p:nvPr/>
          </p:nvSpPr>
          <p:spPr bwMode="auto">
            <a:xfrm>
              <a:off x="2997" y="1498"/>
              <a:ext cx="1065" cy="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 sz="831" b="1" i="1">
                  <a:latin typeface="Arial" panose="020B0604020202020204" pitchFamily="34" charset="0"/>
                </a:rPr>
                <a:t>plus or minus </a:t>
              </a:r>
            </a:p>
          </p:txBody>
        </p:sp>
        <p:sp>
          <p:nvSpPr>
            <p:cNvPr id="22556" name="Text Box 118"/>
            <p:cNvSpPr txBox="1">
              <a:spLocks noChangeArrowheads="1"/>
            </p:cNvSpPr>
            <p:nvPr/>
          </p:nvSpPr>
          <p:spPr bwMode="auto">
            <a:xfrm>
              <a:off x="2997" y="2684"/>
              <a:ext cx="1065" cy="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 sz="831" b="1" i="1">
                  <a:latin typeface="Arial" panose="020B0604020202020204" pitchFamily="34" charset="0"/>
                </a:rPr>
                <a:t>less </a:t>
              </a:r>
            </a:p>
          </p:txBody>
        </p:sp>
        <p:sp>
          <p:nvSpPr>
            <p:cNvPr id="22557" name="Text Box 122"/>
            <p:cNvSpPr txBox="1">
              <a:spLocks noChangeArrowheads="1"/>
            </p:cNvSpPr>
            <p:nvPr/>
          </p:nvSpPr>
          <p:spPr bwMode="auto">
            <a:xfrm>
              <a:off x="2997" y="3594"/>
              <a:ext cx="1065" cy="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 sz="831" b="1" i="1">
                  <a:latin typeface="Arial" panose="020B0604020202020204" pitchFamily="34" charset="0"/>
                </a:rPr>
                <a:t>equals</a:t>
              </a:r>
            </a:p>
          </p:txBody>
        </p:sp>
        <p:sp>
          <p:nvSpPr>
            <p:cNvPr id="22558" name="Text Box 123"/>
            <p:cNvSpPr txBox="1">
              <a:spLocks noChangeArrowheads="1"/>
            </p:cNvSpPr>
            <p:nvPr/>
          </p:nvSpPr>
          <p:spPr bwMode="auto">
            <a:xfrm>
              <a:off x="2997" y="1881"/>
              <a:ext cx="1065" cy="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 sz="831" b="1" i="1">
                  <a:latin typeface="Arial" panose="020B0604020202020204" pitchFamily="34" charset="0"/>
                </a:rPr>
                <a:t>plus or minus </a:t>
              </a:r>
            </a:p>
          </p:txBody>
        </p:sp>
        <p:sp>
          <p:nvSpPr>
            <p:cNvPr id="22559" name="Text Box 124"/>
            <p:cNvSpPr txBox="1">
              <a:spLocks noChangeArrowheads="1"/>
            </p:cNvSpPr>
            <p:nvPr/>
          </p:nvSpPr>
          <p:spPr bwMode="auto">
            <a:xfrm>
              <a:off x="2997" y="2286"/>
              <a:ext cx="1065" cy="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 sz="831" b="1" i="1">
                  <a:latin typeface="Arial" panose="020B0604020202020204" pitchFamily="34" charset="0"/>
                </a:rPr>
                <a:t>plus or minus </a:t>
              </a:r>
            </a:p>
          </p:txBody>
        </p:sp>
        <p:sp>
          <p:nvSpPr>
            <p:cNvPr id="22560" name="Text Box 125"/>
            <p:cNvSpPr txBox="1">
              <a:spLocks noChangeArrowheads="1"/>
            </p:cNvSpPr>
            <p:nvPr/>
          </p:nvSpPr>
          <p:spPr bwMode="auto">
            <a:xfrm>
              <a:off x="2997" y="2993"/>
              <a:ext cx="1065" cy="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 sz="831" b="1" i="1">
                  <a:latin typeface="Arial" panose="020B0604020202020204" pitchFamily="34" charset="0"/>
                </a:rPr>
                <a:t>less </a:t>
              </a:r>
            </a:p>
          </p:txBody>
        </p:sp>
        <p:sp>
          <p:nvSpPr>
            <p:cNvPr id="22561" name="Text Box 126"/>
            <p:cNvSpPr txBox="1">
              <a:spLocks noChangeArrowheads="1"/>
            </p:cNvSpPr>
            <p:nvPr/>
          </p:nvSpPr>
          <p:spPr bwMode="auto">
            <a:xfrm>
              <a:off x="2997" y="3298"/>
              <a:ext cx="1065" cy="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 sz="831" b="1" i="1">
                  <a:latin typeface="Arial" panose="020B0604020202020204" pitchFamily="34" charset="0"/>
                </a:rPr>
                <a:t>less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2452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/>
              <a:t>Cash flows from investing activities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GB" altLang="en-US"/>
              <a:t>Cash payments to acquire non-current assets, and cash receipts from the disposal of non-current assets</a:t>
            </a:r>
          </a:p>
          <a:p>
            <a:pPr>
              <a:buFontTx/>
              <a:buNone/>
            </a:pPr>
            <a:r>
              <a:rPr lang="en-GB" altLang="en-US"/>
              <a:t>Also, cash flows from making new investments, or disposing of existing investments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6260133" indent="-25943614"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31652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63303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94955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266078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489AD893-FBB4-433B-BB8C-35468C8FA478}" type="slidenum">
              <a:rPr lang="en-GB" altLang="en-US" sz="969"/>
              <a:pPr/>
              <a:t>10</a:t>
            </a:fld>
            <a:endParaRPr lang="en-GB" altLang="en-US" sz="969"/>
          </a:p>
        </p:txBody>
      </p:sp>
    </p:spTree>
    <p:extLst>
      <p:ext uri="{BB962C8B-B14F-4D97-AF65-F5344CB8AC3E}">
        <p14:creationId xmlns:p14="http://schemas.microsoft.com/office/powerpoint/2010/main" val="1078145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 dirty="0"/>
              <a:t>Cash flows from financing activities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592696" y="2761629"/>
            <a:ext cx="8075240" cy="3777283"/>
          </a:xfrm>
        </p:spPr>
        <p:txBody>
          <a:bodyPr/>
          <a:lstStyle/>
          <a:p>
            <a:pPr>
              <a:buFontTx/>
              <a:buNone/>
            </a:pPr>
            <a:r>
              <a:rPr lang="en-GB" altLang="en-US" dirty="0"/>
              <a:t>Cash received from share issues and long-term loans</a:t>
            </a:r>
          </a:p>
          <a:p>
            <a:pPr>
              <a:buFontTx/>
              <a:buNone/>
            </a:pPr>
            <a:r>
              <a:rPr lang="en-GB" altLang="en-US" dirty="0"/>
              <a:t>Repayment/redemption of shares and long-term loans</a:t>
            </a:r>
          </a:p>
          <a:p>
            <a:pPr>
              <a:buFontTx/>
              <a:buNone/>
            </a:pPr>
            <a:endParaRPr lang="en-GB" altLang="en-US" dirty="0"/>
          </a:p>
          <a:p>
            <a:pPr>
              <a:buFontTx/>
              <a:buNone/>
            </a:pPr>
            <a:endParaRPr lang="en-GB" altLang="en-US" dirty="0"/>
          </a:p>
          <a:p>
            <a:endParaRPr lang="en-GB" altLang="en-US" dirty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6260133" indent="-25943614"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31652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63303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94955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266078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3DC77B0F-947B-48F6-8725-053D0F26B3DC}" type="slidenum">
              <a:rPr lang="en-GB" altLang="en-US" sz="969"/>
              <a:pPr/>
              <a:t>11</a:t>
            </a:fld>
            <a:endParaRPr lang="en-GB" altLang="en-US" sz="969"/>
          </a:p>
        </p:txBody>
      </p:sp>
    </p:spTree>
    <p:extLst>
      <p:ext uri="{BB962C8B-B14F-4D97-AF65-F5344CB8AC3E}">
        <p14:creationId xmlns:p14="http://schemas.microsoft.com/office/powerpoint/2010/main" val="3140791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611560" y="1474664"/>
            <a:ext cx="8075240" cy="998984"/>
          </a:xfrm>
        </p:spPr>
        <p:txBody>
          <a:bodyPr>
            <a:normAutofit fontScale="90000"/>
          </a:bodyPr>
          <a:lstStyle/>
          <a:p>
            <a:r>
              <a:rPr lang="en-GB" altLang="en-US" dirty="0"/>
              <a:t>Cash flows from investing and financing activities 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611560" y="2708920"/>
            <a:ext cx="8075240" cy="3777283"/>
          </a:xfrm>
        </p:spPr>
        <p:txBody>
          <a:bodyPr>
            <a:normAutofit fontScale="92500"/>
          </a:bodyPr>
          <a:lstStyle/>
          <a:p>
            <a:pPr>
              <a:buFontTx/>
              <a:buNone/>
            </a:pPr>
            <a:r>
              <a:rPr lang="en-GB" altLang="en-US" dirty="0"/>
              <a:t>Calculate using available information </a:t>
            </a:r>
          </a:p>
          <a:p>
            <a:pPr>
              <a:buFontTx/>
              <a:buNone/>
            </a:pPr>
            <a:endParaRPr lang="en-GB" altLang="en-US" dirty="0"/>
          </a:p>
          <a:p>
            <a:pPr>
              <a:buFontTx/>
              <a:buNone/>
            </a:pPr>
            <a:r>
              <a:rPr lang="en-GB" altLang="en-US" dirty="0" err="1"/>
              <a:t>Eg</a:t>
            </a:r>
            <a:r>
              <a:rPr lang="en-GB" altLang="en-US" dirty="0"/>
              <a:t>  Flora Ltd issued £100,000 shares during the year, £80,000 of which it used to repay a long-term loan.</a:t>
            </a:r>
          </a:p>
          <a:p>
            <a:pPr>
              <a:buFontTx/>
              <a:buNone/>
            </a:pPr>
            <a:endParaRPr lang="en-GB" altLang="en-US" dirty="0"/>
          </a:p>
          <a:p>
            <a:pPr>
              <a:buFontTx/>
              <a:buNone/>
            </a:pPr>
            <a:r>
              <a:rPr lang="en-GB" altLang="en-US" dirty="0"/>
              <a:t>	Cash inflow from financing activities</a:t>
            </a:r>
          </a:p>
          <a:p>
            <a:pPr>
              <a:buFontTx/>
              <a:buNone/>
            </a:pPr>
            <a:r>
              <a:rPr lang="en-GB" altLang="en-US" dirty="0"/>
              <a:t>	 = £100,000  -  £80,000 </a:t>
            </a:r>
          </a:p>
          <a:p>
            <a:pPr>
              <a:buFontTx/>
              <a:buNone/>
            </a:pPr>
            <a:r>
              <a:rPr lang="en-GB" altLang="en-US" dirty="0"/>
              <a:t>	 = £20,000</a:t>
            </a: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6260133" indent="-25943614"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31652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63303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94955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266078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2D9CC34D-0F0F-4EF4-A3CE-D2D0A9298B9F}" type="slidenum">
              <a:rPr lang="en-GB" altLang="en-US" sz="969"/>
              <a:pPr/>
              <a:t>12</a:t>
            </a:fld>
            <a:endParaRPr lang="en-GB" altLang="en-US" sz="969"/>
          </a:p>
        </p:txBody>
      </p:sp>
    </p:spTree>
    <p:extLst>
      <p:ext uri="{BB962C8B-B14F-4D97-AF65-F5344CB8AC3E}">
        <p14:creationId xmlns:p14="http://schemas.microsoft.com/office/powerpoint/2010/main" val="1262057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611560" y="1467814"/>
            <a:ext cx="8075240" cy="998984"/>
          </a:xfrm>
        </p:spPr>
        <p:txBody>
          <a:bodyPr>
            <a:normAutofit fontScale="90000"/>
          </a:bodyPr>
          <a:lstStyle/>
          <a:p>
            <a:r>
              <a:rPr lang="en-GB" altLang="en-US" dirty="0"/>
              <a:t>Net increase or decrease in cash and cash equivalents</a:t>
            </a:r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6260133" indent="-25943614"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31652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63303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94955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266078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D7E6A303-60D2-44C8-A3E3-2F1840FAF790}" type="slidenum">
              <a:rPr lang="en-GB" altLang="en-US" sz="969"/>
              <a:pPr/>
              <a:t>13</a:t>
            </a:fld>
            <a:endParaRPr lang="en-GB" altLang="en-US" sz="969"/>
          </a:p>
        </p:txBody>
      </p:sp>
      <p:grpSp>
        <p:nvGrpSpPr>
          <p:cNvPr id="26628" name="Content Placeholder 4"/>
          <p:cNvGrpSpPr>
            <a:grpSpLocks noGrp="1"/>
          </p:cNvGrpSpPr>
          <p:nvPr/>
        </p:nvGrpSpPr>
        <p:grpSpPr bwMode="auto">
          <a:xfrm>
            <a:off x="2554166" y="2089273"/>
            <a:ext cx="4035669" cy="4007094"/>
            <a:chOff x="1096" y="626"/>
            <a:chExt cx="3845" cy="2749"/>
          </a:xfrm>
        </p:grpSpPr>
        <p:sp>
          <p:nvSpPr>
            <p:cNvPr id="26629" name="AutoShape 5"/>
            <p:cNvSpPr>
              <a:spLocks noChangeArrowheads="1"/>
            </p:cNvSpPr>
            <p:nvPr/>
          </p:nvSpPr>
          <p:spPr bwMode="auto">
            <a:xfrm>
              <a:off x="2322" y="2403"/>
              <a:ext cx="2599" cy="859"/>
            </a:xfrm>
            <a:prstGeom prst="roundRect">
              <a:avLst>
                <a:gd name="adj" fmla="val 16667"/>
              </a:avLst>
            </a:prstGeom>
            <a:solidFill>
              <a:srgbClr val="E5CE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26630" name="AutoShape 7"/>
            <p:cNvSpPr>
              <a:spLocks noChangeArrowheads="1"/>
            </p:cNvSpPr>
            <p:nvPr/>
          </p:nvSpPr>
          <p:spPr bwMode="auto">
            <a:xfrm>
              <a:off x="1213" y="2397"/>
              <a:ext cx="1687" cy="978"/>
            </a:xfrm>
            <a:prstGeom prst="cube">
              <a:avLst>
                <a:gd name="adj" fmla="val 11556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26631" name="AutoShape 8"/>
            <p:cNvSpPr>
              <a:spLocks noChangeArrowheads="1"/>
            </p:cNvSpPr>
            <p:nvPr/>
          </p:nvSpPr>
          <p:spPr bwMode="auto">
            <a:xfrm>
              <a:off x="2508" y="1218"/>
              <a:ext cx="2433" cy="877"/>
            </a:xfrm>
            <a:prstGeom prst="roundRect">
              <a:avLst>
                <a:gd name="adj" fmla="val 16667"/>
              </a:avLst>
            </a:prstGeom>
            <a:solidFill>
              <a:srgbClr val="E5CE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26632" name="Text Box 9"/>
            <p:cNvSpPr txBox="1">
              <a:spLocks noChangeArrowheads="1"/>
            </p:cNvSpPr>
            <p:nvPr/>
          </p:nvSpPr>
          <p:spPr bwMode="auto">
            <a:xfrm>
              <a:off x="2880" y="1286"/>
              <a:ext cx="2018" cy="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sz="1246" b="1" i="1">
                  <a:latin typeface="Arial" panose="020B0604020202020204" pitchFamily="34" charset="0"/>
                </a:rPr>
                <a:t>Notes and coins in hand, and deposits in banks and similar institutions that are accessible on demand</a:t>
              </a:r>
              <a:r>
                <a:rPr lang="en-GB" altLang="en-US" sz="969" b="1">
                  <a:latin typeface="Arial" panose="020B0604020202020204" pitchFamily="34" charset="0"/>
                </a:rPr>
                <a:t> </a:t>
              </a:r>
            </a:p>
          </p:txBody>
        </p:sp>
        <p:sp>
          <p:nvSpPr>
            <p:cNvPr id="26633" name="Text Box 10"/>
            <p:cNvSpPr txBox="1">
              <a:spLocks noChangeArrowheads="1"/>
            </p:cNvSpPr>
            <p:nvPr/>
          </p:nvSpPr>
          <p:spPr bwMode="auto">
            <a:xfrm>
              <a:off x="2890" y="2456"/>
              <a:ext cx="1970" cy="5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sz="1246" b="1" i="1">
                  <a:latin typeface="Arial" panose="020B0604020202020204" pitchFamily="34" charset="0"/>
                </a:rPr>
                <a:t>Short-term, highly liquid investments that are readily convertible to known amounts of cash</a:t>
              </a:r>
            </a:p>
          </p:txBody>
        </p:sp>
        <p:sp>
          <p:nvSpPr>
            <p:cNvPr id="26634" name="AutoShape 11"/>
            <p:cNvSpPr>
              <a:spLocks noChangeArrowheads="1"/>
            </p:cNvSpPr>
            <p:nvPr/>
          </p:nvSpPr>
          <p:spPr bwMode="auto">
            <a:xfrm>
              <a:off x="1214" y="1219"/>
              <a:ext cx="1678" cy="978"/>
            </a:xfrm>
            <a:prstGeom prst="cube">
              <a:avLst>
                <a:gd name="adj" fmla="val 11556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26635" name="Text Box 12"/>
            <p:cNvSpPr txBox="1">
              <a:spLocks noChangeArrowheads="1"/>
            </p:cNvSpPr>
            <p:nvPr/>
          </p:nvSpPr>
          <p:spPr bwMode="auto">
            <a:xfrm>
              <a:off x="1096" y="1614"/>
              <a:ext cx="170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sz="1523" b="1">
                  <a:latin typeface="Arial" panose="020B0604020202020204" pitchFamily="34" charset="0"/>
                </a:rPr>
                <a:t>Cash</a:t>
              </a:r>
            </a:p>
          </p:txBody>
        </p:sp>
        <p:sp>
          <p:nvSpPr>
            <p:cNvPr id="26636" name="Text Box 13"/>
            <p:cNvSpPr txBox="1">
              <a:spLocks noChangeArrowheads="1"/>
            </p:cNvSpPr>
            <p:nvPr/>
          </p:nvSpPr>
          <p:spPr bwMode="auto">
            <a:xfrm>
              <a:off x="1149" y="2769"/>
              <a:ext cx="170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sz="1523" b="1">
                  <a:latin typeface="Arial" panose="020B0604020202020204" pitchFamily="34" charset="0"/>
                </a:rPr>
                <a:t>Cash equivalents</a:t>
              </a:r>
            </a:p>
          </p:txBody>
        </p:sp>
        <p:sp>
          <p:nvSpPr>
            <p:cNvPr id="26637" name="Text Box 14"/>
            <p:cNvSpPr txBox="1">
              <a:spLocks noChangeArrowheads="1"/>
            </p:cNvSpPr>
            <p:nvPr/>
          </p:nvSpPr>
          <p:spPr bwMode="auto">
            <a:xfrm>
              <a:off x="1325" y="626"/>
              <a:ext cx="1606" cy="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lang="en-US" altLang="en-US" sz="969" b="1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3856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/>
          <p:cNvSpPr txBox="1">
            <a:spLocks noChangeArrowheads="1"/>
          </p:cNvSpPr>
          <p:nvPr/>
        </p:nvSpPr>
        <p:spPr bwMode="auto">
          <a:xfrm>
            <a:off x="2270614" y="164856"/>
            <a:ext cx="5181706" cy="774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GB" altLang="en-US" sz="1662" b="1" dirty="0">
                <a:solidFill>
                  <a:srgbClr val="CC0000"/>
                </a:solidFill>
                <a:latin typeface="Arial" panose="020B0604020202020204" pitchFamily="34" charset="0"/>
              </a:rPr>
              <a:t>J. Sainsbury plc</a:t>
            </a:r>
            <a:br>
              <a:rPr lang="en-GB" altLang="en-US" sz="1662" b="1" dirty="0">
                <a:solidFill>
                  <a:srgbClr val="CC0000"/>
                </a:solidFill>
                <a:latin typeface="Arial" panose="020B0604020202020204" pitchFamily="34" charset="0"/>
              </a:rPr>
            </a:br>
            <a:r>
              <a:rPr lang="en-GB" altLang="en-US" sz="1385" b="1" dirty="0">
                <a:solidFill>
                  <a:srgbClr val="CC0000"/>
                </a:solidFill>
                <a:latin typeface="Arial" panose="020B0604020202020204" pitchFamily="34" charset="0"/>
              </a:rPr>
              <a:t>Summarised cash flow statement for the 52 week period to 6 March 2021 and 7 March 2020</a:t>
            </a:r>
            <a:endParaRPr lang="en-GB" altLang="en-US" sz="1385" dirty="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1410" name="Group 1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635823"/>
              </p:ext>
            </p:extLst>
          </p:nvPr>
        </p:nvGraphicFramePr>
        <p:xfrm>
          <a:off x="2556364" y="1302361"/>
          <a:ext cx="4895956" cy="4621482"/>
        </p:xfrm>
        <a:graphic>
          <a:graphicData uri="http://schemas.openxmlformats.org/drawingml/2006/table">
            <a:tbl>
              <a:tblPr/>
              <a:tblGrid>
                <a:gridCol w="3516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9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797469534"/>
                    </a:ext>
                  </a:extLst>
                </a:gridCol>
              </a:tblGrid>
              <a:tr h="47045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47478" marR="4747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D7B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2021     £m</a:t>
                      </a:r>
                    </a:p>
                  </a:txBody>
                  <a:tcPr marL="47478" marR="4747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D7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2020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£m</a:t>
                      </a:r>
                    </a:p>
                  </a:txBody>
                  <a:tcPr marL="47478" marR="4747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D7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25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Net cash inflow from operating activities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47478" marR="4747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     2,343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47478" marR="4747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1,372</a:t>
                      </a:r>
                    </a:p>
                  </a:txBody>
                  <a:tcPr marL="47478" marR="4747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Net cash used in investing activities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47478" marR="4747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D7B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(553)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47478" marR="4747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D7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(426)</a:t>
                      </a:r>
                    </a:p>
                  </a:txBody>
                  <a:tcPr marL="47478" marR="4747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D7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6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Net cash used in financing activities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47478" marR="4747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4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(1,308)</a:t>
                      </a:r>
                      <a:endParaRPr kumimoji="0" lang="en-US" altLang="en-US" sz="14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47478" marR="4747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(1,072)</a:t>
                      </a:r>
                    </a:p>
                  </a:txBody>
                  <a:tcPr marL="47478" marR="4747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25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Net increase / (decrease) in cash and cash equivalents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47478" marR="4747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D7B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         482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47478" marR="4747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D7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(126)</a:t>
                      </a:r>
                    </a:p>
                  </a:txBody>
                  <a:tcPr marL="47478" marR="4747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D7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25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Opening Cash and cash equivalents (start of the period)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47478" marR="4747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     994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47478" marR="4747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1,120</a:t>
                      </a:r>
                    </a:p>
                  </a:txBody>
                  <a:tcPr marL="47478" marR="4747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5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Closing Cash and cash equivalents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(end of period)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47478" marR="4747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D7B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en-US" sz="14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en-US" sz="14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1,476</a:t>
                      </a:r>
                      <a:endParaRPr kumimoji="0" lang="en-US" altLang="en-US" sz="14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4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  </a:t>
                      </a:r>
                      <a:endParaRPr kumimoji="0" lang="en-US" altLang="en-US" sz="14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47478" marR="4747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D7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994</a:t>
                      </a:r>
                    </a:p>
                  </a:txBody>
                  <a:tcPr marL="47478" marR="4747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D7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6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47478" marR="4747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     </a:t>
                      </a:r>
                      <a:endParaRPr kumimoji="0" lang="en-US" altLang="en-US" sz="14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47478" marR="4747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47478" marR="4747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529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01418" y="1340768"/>
            <a:ext cx="8075240" cy="998984"/>
          </a:xfrm>
        </p:spPr>
        <p:txBody>
          <a:bodyPr/>
          <a:lstStyle/>
          <a:p>
            <a:r>
              <a:rPr lang="en-GB" altLang="en-US" dirty="0"/>
              <a:t>Managing cash flows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601418" y="2636912"/>
            <a:ext cx="8075240" cy="3777283"/>
          </a:xfrm>
        </p:spPr>
        <p:txBody>
          <a:bodyPr/>
          <a:lstStyle/>
          <a:p>
            <a:r>
              <a:rPr lang="en-GB" altLang="en-US" dirty="0"/>
              <a:t>Useful to predict future cash flows</a:t>
            </a:r>
          </a:p>
          <a:p>
            <a:r>
              <a:rPr lang="en-GB" altLang="en-US" dirty="0"/>
              <a:t>Plan ahead for periods when business will require a bank loan</a:t>
            </a:r>
          </a:p>
          <a:p>
            <a:r>
              <a:rPr lang="en-GB" altLang="en-US" dirty="0"/>
              <a:t>Cash flow forecasts show anticipated inflows and outflows</a:t>
            </a:r>
          </a:p>
          <a:p>
            <a:pPr>
              <a:buFontTx/>
              <a:buNone/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399529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483768" y="1052736"/>
            <a:ext cx="3312368" cy="998984"/>
          </a:xfrm>
        </p:spPr>
        <p:txBody>
          <a:bodyPr/>
          <a:lstStyle/>
          <a:p>
            <a:r>
              <a:rPr lang="en-GB" altLang="en-US" dirty="0"/>
              <a:t>Carron Ltd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1475656" y="2360735"/>
            <a:ext cx="5834259" cy="449726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GB" altLang="en-US" dirty="0"/>
              <a:t>See 6-month cash flow forecast</a:t>
            </a:r>
          </a:p>
          <a:p>
            <a:pPr>
              <a:lnSpc>
                <a:spcPct val="90000"/>
              </a:lnSpc>
            </a:pPr>
            <a:r>
              <a:rPr lang="en-GB" altLang="en-US" dirty="0"/>
              <a:t>Each month’s closing cash balance is the next month’s opening balance</a:t>
            </a:r>
          </a:p>
          <a:p>
            <a:pPr>
              <a:lnSpc>
                <a:spcPct val="90000"/>
              </a:lnSpc>
            </a:pPr>
            <a:r>
              <a:rPr lang="en-GB" altLang="en-US" dirty="0"/>
              <a:t>Deficit in February, March and April</a:t>
            </a:r>
          </a:p>
          <a:p>
            <a:pPr>
              <a:lnSpc>
                <a:spcPct val="90000"/>
              </a:lnSpc>
            </a:pPr>
            <a:r>
              <a:rPr lang="en-GB" altLang="en-US" dirty="0"/>
              <a:t>May be possible to bring receipts forward, or delay payments</a:t>
            </a:r>
          </a:p>
          <a:p>
            <a:pPr>
              <a:lnSpc>
                <a:spcPct val="90000"/>
              </a:lnSpc>
            </a:pPr>
            <a:r>
              <a:rPr lang="en-GB" altLang="en-US" dirty="0"/>
              <a:t>Could delay non-current asset purchase for one month, to be funded by share issue</a:t>
            </a:r>
          </a:p>
        </p:txBody>
      </p:sp>
    </p:spTree>
    <p:extLst>
      <p:ext uri="{BB962C8B-B14F-4D97-AF65-F5344CB8AC3E}">
        <p14:creationId xmlns:p14="http://schemas.microsoft.com/office/powerpoint/2010/main" val="2086205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2544275" y="214313"/>
          <a:ext cx="4203822" cy="6520596"/>
        </p:xfrm>
        <a:graphic>
          <a:graphicData uri="http://schemas.openxmlformats.org/drawingml/2006/table">
            <a:tbl>
              <a:tblPr/>
              <a:tblGrid>
                <a:gridCol w="1534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1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5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40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51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51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090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 Jan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 Feb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 Mar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 Apr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 May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 Jun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4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 £000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 £000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 £000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 £000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 £000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 £000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4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 Cash sales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240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260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255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270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260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265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4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 Credit sales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110 </a:t>
                      </a:r>
                      <a:endParaRPr kumimoji="0" lang="en-GB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105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115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120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125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130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4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 Share issue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400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4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350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365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370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390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785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395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4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 Payments to suppliers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(120)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(130)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(135)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(145)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(125)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(120)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4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 Wages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(55)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(54)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(56)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(52)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(58)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(55)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24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 Other expenses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(11)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(13)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(12)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(14)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(16)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(15)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4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 Tax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(200)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41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 Non-current asset purchases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(270)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24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 Loan repayment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(350)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24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 Overdraft interest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(1)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(2)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(6)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24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(186)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(547)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(404)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(483)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(205)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(190)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24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24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 Net cash flow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164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(182)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(34)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(93)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580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205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24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441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 Balance at start of month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5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169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(13)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(47)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(140)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440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441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 Balance at end of month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169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(13)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(47)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(140)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440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645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9564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   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3188" marR="13188" marT="0" marB="0" horzOverflow="overflow">
                    <a:lnL>
                      <a:noFill/>
                    </a:lnL>
                    <a:lnR>
                      <a:noFill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3087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6260133" indent="-25943614"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31652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63303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94955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266078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FB3307D6-5A09-42E7-9FD0-8CC27E562966}" type="slidenum">
              <a:rPr lang="en-GB" altLang="en-US" sz="969"/>
              <a:pPr/>
              <a:t>17</a:t>
            </a:fld>
            <a:endParaRPr lang="en-GB" altLang="en-US" sz="969"/>
          </a:p>
        </p:txBody>
      </p:sp>
    </p:spTree>
    <p:extLst>
      <p:ext uri="{BB962C8B-B14F-4D97-AF65-F5344CB8AC3E}">
        <p14:creationId xmlns:p14="http://schemas.microsoft.com/office/powerpoint/2010/main" val="20795626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ACD15-CBAA-43F4-A036-7CDE49ECF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5C28A-4779-4073-BD3B-6B401CBB3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Cash flow is not the same as profit.</a:t>
            </a:r>
          </a:p>
          <a:p>
            <a:r>
              <a:rPr lang="en-GB" dirty="0"/>
              <a:t>Lack of cash flow is the cause of the majority of business failures.</a:t>
            </a:r>
          </a:p>
          <a:p>
            <a:r>
              <a:rPr lang="en-GB" dirty="0"/>
              <a:t>Two core methods of preparing a cash flow – direct and indirect methods.</a:t>
            </a:r>
          </a:p>
          <a:p>
            <a:r>
              <a:rPr lang="en-GB" dirty="0"/>
              <a:t>Cash flows are separated into those arising from Operating; Financing; and </a:t>
            </a:r>
            <a:r>
              <a:rPr lang="en-GB"/>
              <a:t>Investing activities.</a:t>
            </a:r>
          </a:p>
        </p:txBody>
      </p:sp>
    </p:spTree>
    <p:extLst>
      <p:ext uri="{BB962C8B-B14F-4D97-AF65-F5344CB8AC3E}">
        <p14:creationId xmlns:p14="http://schemas.microsoft.com/office/powerpoint/2010/main" val="368343161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A5ACAF"/>
      </a:accent2>
      <a:accent3>
        <a:srgbClr val="5E6A71"/>
      </a:accent3>
      <a:accent4>
        <a:srgbClr val="00549F"/>
      </a:accent4>
      <a:accent5>
        <a:srgbClr val="72BCFF"/>
      </a:accent5>
      <a:accent6>
        <a:srgbClr val="BCC3C7"/>
      </a:accent6>
      <a:hlink>
        <a:srgbClr val="0098DB"/>
      </a:hlink>
      <a:folHlink>
        <a:srgbClr val="A5AC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A5ACAF"/>
      </a:accent2>
      <a:accent3>
        <a:srgbClr val="5E6A71"/>
      </a:accent3>
      <a:accent4>
        <a:srgbClr val="00549F"/>
      </a:accent4>
      <a:accent5>
        <a:srgbClr val="72BCFF"/>
      </a:accent5>
      <a:accent6>
        <a:srgbClr val="BCC3C7"/>
      </a:accent6>
      <a:hlink>
        <a:srgbClr val="0098DB"/>
      </a:hlink>
      <a:folHlink>
        <a:srgbClr val="A5AC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5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E07C38512818468275603CD5E61BA0" ma:contentTypeVersion="0" ma:contentTypeDescription="Create a new document." ma:contentTypeScope="" ma:versionID="bffdf6d8b42402b1618094c717ddf4d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a1222beb234debe96d12a98d24ff8a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7ACEBA-99EE-4B9A-99FE-F9695B41FA99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FC14F33-A9A2-48F1-A0A9-DB146E88F9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79AB7AB-D87E-4CE6-8813-9B5D560C3A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1055</Words>
  <Application>Microsoft Office PowerPoint</Application>
  <PresentationFormat>On-screen Show (4:3)</PresentationFormat>
  <Paragraphs>242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ＭＳ Ｐゴシック</vt:lpstr>
      <vt:lpstr>Arial</vt:lpstr>
      <vt:lpstr>Calibri</vt:lpstr>
      <vt:lpstr>Times New Roman</vt:lpstr>
      <vt:lpstr>1_Office Theme</vt:lpstr>
      <vt:lpstr>2_Office Theme</vt:lpstr>
      <vt:lpstr>4_Office Theme</vt:lpstr>
      <vt:lpstr>3_Office Theme</vt:lpstr>
      <vt:lpstr>5_Office Theme</vt:lpstr>
      <vt:lpstr>Cash Flow Statements </vt:lpstr>
      <vt:lpstr>Statements of Cash Flows</vt:lpstr>
      <vt:lpstr>Measuring and reporting cash flows </vt:lpstr>
      <vt:lpstr>Questions to be answered include:</vt:lpstr>
      <vt:lpstr>Overtrading</vt:lpstr>
      <vt:lpstr>Standard layout of the cash flow statement </vt:lpstr>
      <vt:lpstr>Cash flow from operating activities </vt:lpstr>
      <vt:lpstr>Deducing net cash inflows from operating activities</vt:lpstr>
      <vt:lpstr>The indirect method</vt:lpstr>
      <vt:lpstr>Cash flows from investing activities</vt:lpstr>
      <vt:lpstr>Cash flows from financing activities</vt:lpstr>
      <vt:lpstr>Cash flows from investing and financing activities </vt:lpstr>
      <vt:lpstr>Net increase or decrease in cash and cash equivalents</vt:lpstr>
      <vt:lpstr>PowerPoint Presentation</vt:lpstr>
      <vt:lpstr>Managing cash flows</vt:lpstr>
      <vt:lpstr>Carron Ltd</vt:lpstr>
      <vt:lpstr>PowerPoint Presentation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Iain McGeary</dc:creator>
  <cp:lastModifiedBy>Samuel, Sunday</cp:lastModifiedBy>
  <cp:revision>27</cp:revision>
  <dcterms:created xsi:type="dcterms:W3CDTF">2016-02-11T16:23:53Z</dcterms:created>
  <dcterms:modified xsi:type="dcterms:W3CDTF">2025-01-16T19:30:05Z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0x0101006EE07C38512818468275603CD5E61BA0</vt:lpwstr>
  </property>
</Properties>
</file>