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9"/>
  </p:notesMasterIdLst>
  <p:handoutMasterIdLst>
    <p:handoutMasterId r:id="rId30"/>
  </p:handoutMasterIdLst>
  <p:sldIdLst>
    <p:sldId id="256" r:id="rId9"/>
    <p:sldId id="272" r:id="rId10"/>
    <p:sldId id="281" r:id="rId11"/>
    <p:sldId id="257" r:id="rId12"/>
    <p:sldId id="258" r:id="rId13"/>
    <p:sldId id="274" r:id="rId14"/>
    <p:sldId id="259" r:id="rId15"/>
    <p:sldId id="261" r:id="rId16"/>
    <p:sldId id="264" r:id="rId17"/>
    <p:sldId id="265" r:id="rId18"/>
    <p:sldId id="282" r:id="rId19"/>
    <p:sldId id="287" r:id="rId20"/>
    <p:sldId id="266" r:id="rId21"/>
    <p:sldId id="268" r:id="rId22"/>
    <p:sldId id="289" r:id="rId23"/>
    <p:sldId id="280" r:id="rId24"/>
    <p:sldId id="290" r:id="rId25"/>
    <p:sldId id="277" r:id="rId26"/>
    <p:sldId id="278" r:id="rId27"/>
    <p:sldId id="288" r:id="rId28"/>
  </p:sldIdLst>
  <p:sldSz cx="9144000" cy="6858000" type="screen4x3"/>
  <p:notesSz cx="6797675" cy="9926638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microsoft.com/office/2016/11/relationships/changesInfo" Target="changesInfos/changesInfo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Gwee Wen Hong" userId="55bcf56a11f402f5" providerId="LiveId" clId="{12D6F974-A4E5-4CF9-BD78-7064FF6A2891}"/>
    <pc:docChg chg="modSld">
      <pc:chgData name="Marcus Gwee Wen Hong" userId="55bcf56a11f402f5" providerId="LiveId" clId="{12D6F974-A4E5-4CF9-BD78-7064FF6A2891}" dt="2026-01-30T08:12:40.708" v="4" actId="20577"/>
      <pc:docMkLst>
        <pc:docMk/>
      </pc:docMkLst>
      <pc:sldChg chg="modSp mod">
        <pc:chgData name="Marcus Gwee Wen Hong" userId="55bcf56a11f402f5" providerId="LiveId" clId="{12D6F974-A4E5-4CF9-BD78-7064FF6A2891}" dt="2026-01-30T08:12:40.708" v="4" actId="20577"/>
        <pc:sldMkLst>
          <pc:docMk/>
          <pc:sldMk cId="3047701827" sldId="268"/>
        </pc:sldMkLst>
        <pc:spChg chg="mod">
          <ac:chgData name="Marcus Gwee Wen Hong" userId="55bcf56a11f402f5" providerId="LiveId" clId="{12D6F974-A4E5-4CF9-BD78-7064FF6A2891}" dt="2026-01-30T08:12:40.708" v="4" actId="20577"/>
          <ac:spMkLst>
            <pc:docMk/>
            <pc:sldMk cId="3047701827" sldId="268"/>
            <ac:spMk id="133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EC0F6-1AD7-4287-BC84-1A587BAD45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C77D-2EE7-4D91-8BCB-B6DDFBEDE2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503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70BE4-5B24-4462-AB82-01E3514FFBC1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34BAF-9533-440C-A2B0-5F95E5C10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152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1DADA6-FA22-4506-B774-51AC82823E46}" type="slidenum">
              <a:rPr lang="en-GB" altLang="en-US" sz="1200"/>
              <a:pPr/>
              <a:t>5</a:t>
            </a:fld>
            <a:endParaRPr lang="en-GB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1007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DD4563-128D-4261-A5FE-C07EAE381977}" type="slidenum">
              <a:rPr lang="en-GB" altLang="en-US" sz="1200"/>
              <a:pPr/>
              <a:t>7</a:t>
            </a:fld>
            <a:endParaRPr lang="en-GB" alt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92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A748C6-2824-40EA-AD9F-AAA4211D5DAA}" type="slidenum">
              <a:rPr lang="en-GB" altLang="en-US" sz="1200"/>
              <a:pPr/>
              <a:t>8</a:t>
            </a:fld>
            <a:endParaRPr lang="en-GB" alt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90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2C81A1-15B2-499D-8D21-F6117B4245B5}" type="slidenum">
              <a:rPr lang="en-GB" altLang="en-US" sz="1200"/>
              <a:pPr/>
              <a:t>9</a:t>
            </a:fld>
            <a:endParaRPr lang="en-GB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596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430F8F-35C8-41A1-8401-3946B60CB8C1}" type="slidenum">
              <a:rPr lang="en-GB" altLang="en-US" sz="1200"/>
              <a:pPr/>
              <a:t>10</a:t>
            </a:fld>
            <a:endParaRPr lang="en-GB" altLang="en-US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055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DF95ACC-5616-403E-B4CA-B4ECBDCDD36D}" type="slidenum">
              <a:rPr lang="en-GB" altLang="en-US" sz="1200"/>
              <a:pPr/>
              <a:t>14</a:t>
            </a:fld>
            <a:endParaRPr lang="en-GB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305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pPr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91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14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1500" y="1196752"/>
            <a:ext cx="9001000" cy="1470025"/>
          </a:xfrm>
        </p:spPr>
        <p:txBody>
          <a:bodyPr/>
          <a:lstStyle/>
          <a:p>
            <a:r>
              <a:rPr lang="en-GB" sz="3600" dirty="0"/>
              <a:t>C39FF: Finance and Financial Reporting	</a:t>
            </a:r>
            <a:r>
              <a:rPr lang="en-GB" dirty="0"/>
              <a:t>	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7920880" cy="1752600"/>
          </a:xfrm>
        </p:spPr>
        <p:txBody>
          <a:bodyPr>
            <a:normAutofit/>
          </a:bodyPr>
          <a:lstStyle/>
          <a:p>
            <a:pPr algn="ctr"/>
            <a:r>
              <a:rPr lang="en-GB" sz="4800" b="1" i="0" dirty="0"/>
              <a:t>Consolidated Accounts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Consolidated Accounts?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Combined results of relevant groups of medium and large companies</a:t>
            </a:r>
          </a:p>
          <a:p>
            <a:r>
              <a:rPr lang="en-GB" dirty="0"/>
              <a:t>Relevant companies include the parent or holding company and the subsidiaries</a:t>
            </a:r>
          </a:p>
          <a:p>
            <a:r>
              <a:rPr lang="en-GB" dirty="0"/>
              <a:t>Small companies are exempt from the requirement to produce consolidated accounts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4199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FB9F-4579-48FB-A080-42AAF36D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832" y="404664"/>
            <a:ext cx="6264696" cy="998984"/>
          </a:xfrm>
        </p:spPr>
        <p:txBody>
          <a:bodyPr/>
          <a:lstStyle/>
          <a:p>
            <a:r>
              <a:rPr lang="en-GB" dirty="0"/>
              <a:t>Group Definition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F62EE-CF6C-48CF-8FCE-CF569AA1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424965"/>
            <a:ext cx="8075240" cy="1788012"/>
          </a:xfrm>
        </p:spPr>
        <p:txBody>
          <a:bodyPr/>
          <a:lstStyle/>
          <a:p>
            <a:r>
              <a:rPr lang="en-GB" dirty="0"/>
              <a:t>Combination of organisations</a:t>
            </a:r>
          </a:p>
          <a:p>
            <a:r>
              <a:rPr lang="en-GB" dirty="0"/>
              <a:t>Criteria as to the accounting treatment within groups.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787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Content Placeholder 2"/>
          <p:cNvSpPr>
            <a:spLocks noGrp="1"/>
          </p:cNvSpPr>
          <p:nvPr>
            <p:ph idx="1"/>
          </p:nvPr>
        </p:nvSpPr>
        <p:spPr>
          <a:xfrm>
            <a:off x="539552" y="1641971"/>
            <a:ext cx="8507288" cy="2723133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Company with controlling interest in other companies is the </a:t>
            </a:r>
            <a:r>
              <a:rPr lang="en-GB" altLang="en-US" b="1" dirty="0"/>
              <a:t>‘holding company’</a:t>
            </a:r>
          </a:p>
          <a:p>
            <a:pPr eaLnBrk="1" hangingPunct="1"/>
            <a:r>
              <a:rPr lang="en-GB" altLang="en-US" dirty="0"/>
              <a:t>Companies controlled by the holding company are </a:t>
            </a:r>
            <a:r>
              <a:rPr lang="en-GB" altLang="en-US" b="1" dirty="0"/>
              <a:t>‘subsidiaries’</a:t>
            </a:r>
          </a:p>
          <a:p>
            <a:pPr eaLnBrk="1" hangingPunct="1"/>
            <a:r>
              <a:rPr lang="en-GB" altLang="en-US" b="1" dirty="0"/>
              <a:t>Control </a:t>
            </a:r>
            <a:r>
              <a:rPr lang="en-GB" altLang="en-US" dirty="0"/>
              <a:t>may be derived from ownership or control </a:t>
            </a:r>
          </a:p>
          <a:p>
            <a:pPr eaLnBrk="1" hangingPunct="1"/>
            <a:endParaRPr lang="en-GB" altLang="en-US" b="1" dirty="0"/>
          </a:p>
          <a:p>
            <a:pPr lvl="1"/>
            <a:endParaRPr lang="en-GB" altLang="en-US" dirty="0"/>
          </a:p>
          <a:p>
            <a:pPr lvl="1"/>
            <a:endParaRPr lang="en-GB" altLang="en-US" dirty="0"/>
          </a:p>
        </p:txBody>
      </p:sp>
      <p:sp>
        <p:nvSpPr>
          <p:cNvPr id="20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44" indent="-197825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791299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0781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2433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40858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05737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37389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90416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30058C-B5D9-45AE-AF1D-D0A5E3E40191}" type="slidenum">
              <a:rPr lang="en-GB" altLang="en-US" sz="969"/>
              <a:pPr/>
              <a:t>4</a:t>
            </a:fld>
            <a:endParaRPr lang="en-GB" altLang="en-US" sz="969"/>
          </a:p>
        </p:txBody>
      </p:sp>
      <p:sp>
        <p:nvSpPr>
          <p:cNvPr id="2052" name="Title 1"/>
          <p:cNvSpPr>
            <a:spLocks noGrp="1"/>
          </p:cNvSpPr>
          <p:nvPr>
            <p:ph type="title"/>
          </p:nvPr>
        </p:nvSpPr>
        <p:spPr>
          <a:xfrm>
            <a:off x="2627784" y="558080"/>
            <a:ext cx="4536504" cy="998984"/>
          </a:xfrm>
        </p:spPr>
        <p:txBody>
          <a:bodyPr>
            <a:normAutofit/>
          </a:bodyPr>
          <a:lstStyle/>
          <a:p>
            <a:r>
              <a:rPr lang="en-GB" dirty="0"/>
              <a:t>Subsidiaries</a:t>
            </a: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1AD35-0CA6-DB65-6BE0-FB1AE0129915}"/>
              </a:ext>
            </a:extLst>
          </p:cNvPr>
          <p:cNvSpPr txBox="1"/>
          <p:nvPr/>
        </p:nvSpPr>
        <p:spPr>
          <a:xfrm>
            <a:off x="1475656" y="4716957"/>
            <a:ext cx="7211144" cy="1945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en-GB" sz="1800" dirty="0">
                <a:latin typeface="Arial"/>
                <a:cs typeface="Arial"/>
              </a:rPr>
              <a:t>IFRS10 includes the following key</a:t>
            </a:r>
            <a:r>
              <a:rPr lang="en-GB" sz="1800" spc="-135" dirty="0">
                <a:latin typeface="Arial"/>
                <a:cs typeface="Arial"/>
              </a:rPr>
              <a:t> </a:t>
            </a:r>
            <a:r>
              <a:rPr lang="en-GB" sz="1800" dirty="0">
                <a:latin typeface="Arial"/>
                <a:cs typeface="Arial"/>
              </a:rPr>
              <a:t>definitions:</a:t>
            </a:r>
          </a:p>
          <a:p>
            <a:pPr>
              <a:lnSpc>
                <a:spcPct val="200000"/>
              </a:lnSpc>
              <a:buFont typeface="Times New Roman"/>
              <a:buChar char="•"/>
              <a:tabLst>
                <a:tab pos="288290" algn="l"/>
                <a:tab pos="288925" algn="l"/>
              </a:tabLst>
            </a:pPr>
            <a:r>
              <a:rPr lang="en-GB" sz="1800" b="1" spc="-2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spc="-90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en-GB" sz="1800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spc="-12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1800" spc="35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GB" sz="1800" i="1" spc="3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1800" i="1" spc="-130" dirty="0">
                <a:latin typeface="Arial" panose="020B0604020202020204" pitchFamily="34" charset="0"/>
                <a:cs typeface="Arial" panose="020B0604020202020204" pitchFamily="34" charset="0"/>
              </a:rPr>
              <a:t>parent </a:t>
            </a:r>
            <a:r>
              <a:rPr lang="en-GB" sz="1800" i="1" spc="-7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1800" i="1" spc="-145" dirty="0">
                <a:latin typeface="Arial" panose="020B0604020202020204" pitchFamily="34" charset="0"/>
                <a:cs typeface="Arial" panose="020B0604020202020204" pitchFamily="34" charset="0"/>
              </a:rPr>
              <a:t>its </a:t>
            </a:r>
            <a:r>
              <a:rPr lang="en-GB" sz="1800" i="1" spc="-55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800" i="1" spc="-95" dirty="0">
                <a:latin typeface="Arial" panose="020B0604020202020204" pitchFamily="34" charset="0"/>
                <a:cs typeface="Arial" panose="020B0604020202020204" pitchFamily="34" charset="0"/>
              </a:rPr>
              <a:t>subsidiaries</a:t>
            </a:r>
            <a:r>
              <a:rPr lang="en-GB" sz="1800" spc="-95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5080">
              <a:lnSpc>
                <a:spcPct val="200000"/>
              </a:lnSpc>
              <a:buFont typeface="Times New Roman"/>
              <a:buChar char="•"/>
              <a:tabLst>
                <a:tab pos="288290" algn="l"/>
                <a:tab pos="288925" algn="l"/>
              </a:tabLst>
            </a:pPr>
            <a:r>
              <a:rPr lang="en-GB" sz="1800" b="1" spc="-65" dirty="0">
                <a:latin typeface="Arial" panose="020B0604020202020204" pitchFamily="34" charset="0"/>
                <a:cs typeface="Arial" panose="020B0604020202020204" pitchFamily="34" charset="0"/>
              </a:rPr>
              <a:t> Parent/holding </a:t>
            </a:r>
            <a:r>
              <a:rPr lang="en-GB" sz="1800" spc="-12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1800" spc="-5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GB" sz="1800" i="1" spc="-5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GB" sz="1800" i="1" spc="-160" dirty="0">
                <a:latin typeface="Arial" panose="020B0604020202020204" pitchFamily="34" charset="0"/>
                <a:cs typeface="Arial" panose="020B0604020202020204" pitchFamily="34" charset="0"/>
              </a:rPr>
              <a:t>entity </a:t>
            </a:r>
            <a:r>
              <a:rPr lang="en-GB" sz="1800" i="1" spc="-135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GB" sz="1800" i="1" spc="-125" dirty="0">
                <a:latin typeface="Arial" panose="020B0604020202020204" pitchFamily="34" charset="0"/>
                <a:cs typeface="Arial" panose="020B0604020202020204" pitchFamily="34" charset="0"/>
              </a:rPr>
              <a:t>controls </a:t>
            </a:r>
            <a:r>
              <a:rPr lang="en-GB" sz="1800" i="1" spc="-95" dirty="0"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GB" sz="1800" i="1" spc="-5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i="1" spc="-120" dirty="0">
                <a:latin typeface="Arial" panose="020B0604020202020204" pitchFamily="34" charset="0"/>
                <a:cs typeface="Arial" panose="020B0604020202020204" pitchFamily="34" charset="0"/>
              </a:rPr>
              <a:t>or more entities</a:t>
            </a:r>
            <a:r>
              <a:rPr lang="en-GB" sz="1800" spc="-12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277495">
              <a:lnSpc>
                <a:spcPct val="200000"/>
              </a:lnSpc>
              <a:buFont typeface="Times New Roman"/>
              <a:buChar char="•"/>
              <a:tabLst>
                <a:tab pos="288290" algn="l"/>
                <a:tab pos="288925" algn="l"/>
              </a:tabLst>
            </a:pPr>
            <a:r>
              <a:rPr lang="en-GB" sz="1800" b="1" spc="-215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en-GB" sz="1800" b="1" spc="-105" dirty="0">
                <a:latin typeface="Arial" panose="020B0604020202020204" pitchFamily="34" charset="0"/>
                <a:cs typeface="Arial" panose="020B0604020202020204" pitchFamily="34" charset="0"/>
              </a:rPr>
              <a:t>ubsidiary </a:t>
            </a:r>
            <a:r>
              <a:rPr lang="en-GB" sz="1800" spc="-12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1800" spc="-5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GB" sz="1800" i="1" spc="-5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GB" sz="1800" i="1" spc="-160" dirty="0">
                <a:latin typeface="Arial" panose="020B0604020202020204" pitchFamily="34" charset="0"/>
                <a:cs typeface="Arial" panose="020B0604020202020204" pitchFamily="34" charset="0"/>
              </a:rPr>
              <a:t>entity </a:t>
            </a:r>
            <a:r>
              <a:rPr lang="en-GB" sz="1800" i="1" spc="-135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GB" sz="1800" i="1" spc="-114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GB" sz="1800" i="1" spc="-145" dirty="0">
                <a:latin typeface="Arial" panose="020B0604020202020204" pitchFamily="34" charset="0"/>
                <a:cs typeface="Arial" panose="020B0604020202020204" pitchFamily="34" charset="0"/>
              </a:rPr>
              <a:t>controlled</a:t>
            </a:r>
            <a:r>
              <a:rPr lang="en-GB" sz="1800" i="1" spc="-4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i="1" spc="-114" dirty="0">
                <a:latin typeface="Arial" panose="020B0604020202020204" pitchFamily="34" charset="0"/>
                <a:cs typeface="Arial" panose="020B0604020202020204" pitchFamily="34" charset="0"/>
              </a:rPr>
              <a:t>by another</a:t>
            </a:r>
            <a:r>
              <a:rPr lang="en-GB" sz="1800" i="1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i="1" spc="-114" dirty="0">
                <a:latin typeface="Arial" panose="020B0604020202020204" pitchFamily="34" charset="0"/>
                <a:cs typeface="Arial" panose="020B0604020202020204" pitchFamily="34" charset="0"/>
              </a:rPr>
              <a:t>entity</a:t>
            </a:r>
            <a:r>
              <a:rPr lang="en-GB" sz="1800" spc="-114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70198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232345"/>
            <a:ext cx="8075240" cy="998984"/>
          </a:xfrm>
        </p:spPr>
        <p:txBody>
          <a:bodyPr/>
          <a:lstStyle/>
          <a:p>
            <a:pPr eaLnBrk="1" hangingPunct="1"/>
            <a:r>
              <a:rPr lang="en-GB" altLang="en-US" dirty="0"/>
              <a:t>Controlling interest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628800"/>
            <a:ext cx="9036496" cy="4996855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GB" altLang="en-US" sz="3600" dirty="0"/>
              <a:t>Controlling interest is usually when a company holds </a:t>
            </a:r>
            <a:r>
              <a:rPr lang="en-GB" altLang="en-US" sz="3600" b="1" dirty="0"/>
              <a:t>&gt;</a:t>
            </a:r>
            <a:r>
              <a:rPr lang="en-GB" altLang="en-US" sz="3600" dirty="0"/>
              <a:t> </a:t>
            </a:r>
            <a:r>
              <a:rPr lang="en-GB" altLang="en-US" sz="3600" b="1" dirty="0"/>
              <a:t>50%</a:t>
            </a:r>
            <a:r>
              <a:rPr lang="en-GB" altLang="en-US" sz="3600" dirty="0"/>
              <a:t> of voting rights (ordinary shares)</a:t>
            </a:r>
          </a:p>
          <a:p>
            <a:pPr eaLnBrk="1" hangingPunct="1"/>
            <a:endParaRPr lang="en-GB" altLang="en-US" sz="3600" dirty="0"/>
          </a:p>
          <a:p>
            <a:pPr eaLnBrk="1" hangingPunct="1"/>
            <a:r>
              <a:rPr lang="en-GB" altLang="en-US" sz="3600" dirty="0"/>
              <a:t>Other means of control:</a:t>
            </a:r>
          </a:p>
          <a:p>
            <a:pPr marL="1081088" marR="722630" indent="-457200">
              <a:lnSpc>
                <a:spcPct val="120100"/>
              </a:lnSpc>
              <a:buFont typeface="Wingdings" panose="05000000000000000000" pitchFamily="2" charset="2"/>
              <a:buChar char="ü"/>
              <a:tabLst>
                <a:tab pos="307975" algn="l"/>
                <a:tab pos="308610" algn="l"/>
              </a:tabLst>
            </a:pPr>
            <a:r>
              <a:rPr lang="en-GB" sz="3600" spc="-120" dirty="0">
                <a:latin typeface="Arial"/>
                <a:cs typeface="Arial"/>
              </a:rPr>
              <a:t>Agreement </a:t>
            </a:r>
            <a:r>
              <a:rPr lang="en-GB" sz="3600" spc="15" dirty="0">
                <a:latin typeface="Arial"/>
                <a:cs typeface="Arial"/>
              </a:rPr>
              <a:t>with </a:t>
            </a:r>
            <a:r>
              <a:rPr lang="en-GB" sz="3600" spc="-35" dirty="0">
                <a:latin typeface="Arial"/>
                <a:cs typeface="Arial"/>
              </a:rPr>
              <a:t>other </a:t>
            </a:r>
            <a:r>
              <a:rPr lang="en-GB" sz="3600" spc="-125" dirty="0">
                <a:latin typeface="Arial"/>
                <a:cs typeface="Arial"/>
              </a:rPr>
              <a:t>investors </a:t>
            </a:r>
            <a:r>
              <a:rPr lang="en-GB" sz="3600" spc="-175" dirty="0">
                <a:latin typeface="Arial"/>
                <a:cs typeface="Arial"/>
              </a:rPr>
              <a:t>gives</a:t>
            </a:r>
            <a:r>
              <a:rPr lang="en-GB" sz="3600" spc="-395" dirty="0">
                <a:latin typeface="Arial"/>
                <a:cs typeface="Arial"/>
              </a:rPr>
              <a:t> </a:t>
            </a:r>
            <a:r>
              <a:rPr lang="en-GB" sz="3600" spc="-75" dirty="0">
                <a:latin typeface="Arial"/>
                <a:cs typeface="Arial"/>
              </a:rPr>
              <a:t>power  </a:t>
            </a:r>
            <a:r>
              <a:rPr lang="en-GB" sz="3600" spc="-100" dirty="0">
                <a:latin typeface="Arial"/>
                <a:cs typeface="Arial"/>
              </a:rPr>
              <a:t>over</a:t>
            </a:r>
            <a:r>
              <a:rPr lang="en-GB" sz="3600" spc="-150" dirty="0">
                <a:latin typeface="Arial"/>
                <a:cs typeface="Arial"/>
              </a:rPr>
              <a:t> </a:t>
            </a:r>
            <a:r>
              <a:rPr lang="en-GB" sz="3600" spc="-225" dirty="0">
                <a:latin typeface="Arial"/>
                <a:cs typeface="Arial"/>
              </a:rPr>
              <a:t>&gt; 50%.</a:t>
            </a:r>
            <a:endParaRPr lang="en-GB" sz="3600" dirty="0">
              <a:latin typeface="Arial"/>
              <a:cs typeface="Arial"/>
            </a:endParaRPr>
          </a:p>
          <a:p>
            <a:pPr marL="1081088" marR="914400" indent="-457200">
              <a:lnSpc>
                <a:spcPts val="3020"/>
              </a:lnSpc>
              <a:spcBef>
                <a:spcPts val="1045"/>
              </a:spcBef>
              <a:buFont typeface="Wingdings" panose="05000000000000000000" pitchFamily="2" charset="2"/>
              <a:buChar char="ü"/>
              <a:tabLst>
                <a:tab pos="307975" algn="l"/>
                <a:tab pos="308610" algn="l"/>
              </a:tabLst>
            </a:pPr>
            <a:r>
              <a:rPr lang="en-GB" sz="3600" spc="-150" dirty="0">
                <a:latin typeface="Arial"/>
                <a:cs typeface="Arial"/>
              </a:rPr>
              <a:t>Power </a:t>
            </a:r>
            <a:r>
              <a:rPr lang="en-GB" sz="3600" spc="-100" dirty="0">
                <a:latin typeface="Arial"/>
                <a:cs typeface="Arial"/>
              </a:rPr>
              <a:t>over </a:t>
            </a:r>
            <a:r>
              <a:rPr lang="en-GB" sz="3600" spc="-85" dirty="0">
                <a:latin typeface="Arial"/>
                <a:cs typeface="Arial"/>
              </a:rPr>
              <a:t>financial </a:t>
            </a:r>
            <a:r>
              <a:rPr lang="en-GB" sz="3600" spc="-135" dirty="0">
                <a:latin typeface="Arial"/>
                <a:cs typeface="Arial"/>
              </a:rPr>
              <a:t>and </a:t>
            </a:r>
            <a:r>
              <a:rPr lang="en-GB" sz="3600" spc="-90" dirty="0">
                <a:latin typeface="Arial"/>
                <a:cs typeface="Arial"/>
              </a:rPr>
              <a:t>operating</a:t>
            </a:r>
            <a:r>
              <a:rPr lang="en-GB" sz="3600" spc="-210" dirty="0">
                <a:latin typeface="Arial"/>
                <a:cs typeface="Arial"/>
              </a:rPr>
              <a:t> </a:t>
            </a:r>
            <a:r>
              <a:rPr lang="en-GB" sz="3600" spc="-105" dirty="0">
                <a:latin typeface="Arial"/>
                <a:cs typeface="Arial"/>
              </a:rPr>
              <a:t>policies  </a:t>
            </a:r>
            <a:r>
              <a:rPr lang="en-GB" sz="3600" spc="-125" dirty="0">
                <a:latin typeface="Arial"/>
                <a:cs typeface="Arial"/>
              </a:rPr>
              <a:t>by </a:t>
            </a:r>
            <a:r>
              <a:rPr lang="en-GB" sz="3600" spc="-155" dirty="0">
                <a:latin typeface="Arial"/>
                <a:cs typeface="Arial"/>
              </a:rPr>
              <a:t>an </a:t>
            </a:r>
            <a:r>
              <a:rPr lang="en-GB" sz="3600" spc="-110" dirty="0">
                <a:latin typeface="Arial"/>
                <a:cs typeface="Arial"/>
              </a:rPr>
              <a:t>agreement.</a:t>
            </a:r>
            <a:endParaRPr lang="en-GB" sz="3600" dirty="0">
              <a:latin typeface="Arial"/>
              <a:cs typeface="Arial"/>
            </a:endParaRPr>
          </a:p>
          <a:p>
            <a:pPr marL="1081088" marR="443865" indent="-457200">
              <a:lnSpc>
                <a:spcPts val="3020"/>
              </a:lnSpc>
              <a:spcBef>
                <a:spcPts val="1005"/>
              </a:spcBef>
              <a:buFont typeface="Wingdings" panose="05000000000000000000" pitchFamily="2" charset="2"/>
              <a:buChar char="ü"/>
              <a:tabLst>
                <a:tab pos="307975" algn="l"/>
                <a:tab pos="308610" algn="l"/>
              </a:tabLst>
            </a:pPr>
            <a:r>
              <a:rPr lang="en-GB" sz="3600" spc="-150" dirty="0">
                <a:latin typeface="Arial"/>
                <a:cs typeface="Arial"/>
              </a:rPr>
              <a:t>Power</a:t>
            </a:r>
            <a:r>
              <a:rPr lang="en-GB" sz="3600" spc="-145" dirty="0">
                <a:latin typeface="Arial"/>
                <a:cs typeface="Arial"/>
              </a:rPr>
              <a:t> </a:t>
            </a:r>
            <a:r>
              <a:rPr lang="en-GB" sz="3600" spc="20" dirty="0">
                <a:latin typeface="Arial"/>
                <a:cs typeface="Arial"/>
              </a:rPr>
              <a:t>to</a:t>
            </a:r>
            <a:r>
              <a:rPr lang="en-GB" sz="3600" spc="-150" dirty="0">
                <a:latin typeface="Arial"/>
                <a:cs typeface="Arial"/>
              </a:rPr>
              <a:t> </a:t>
            </a:r>
            <a:r>
              <a:rPr lang="en-GB" sz="3600" spc="-65" dirty="0">
                <a:latin typeface="Arial"/>
                <a:cs typeface="Arial"/>
              </a:rPr>
              <a:t>appoint</a:t>
            </a:r>
            <a:r>
              <a:rPr lang="en-GB" sz="3600" spc="-130" dirty="0">
                <a:latin typeface="Arial"/>
                <a:cs typeface="Arial"/>
              </a:rPr>
              <a:t> </a:t>
            </a:r>
            <a:r>
              <a:rPr lang="en-GB" sz="3600" spc="-25" dirty="0">
                <a:latin typeface="Arial"/>
                <a:cs typeface="Arial"/>
              </a:rPr>
              <a:t>or</a:t>
            </a:r>
            <a:r>
              <a:rPr lang="en-GB" sz="3600" spc="-150" dirty="0">
                <a:latin typeface="Arial"/>
                <a:cs typeface="Arial"/>
              </a:rPr>
              <a:t> </a:t>
            </a:r>
            <a:r>
              <a:rPr lang="en-GB" sz="3600" spc="-114" dirty="0">
                <a:latin typeface="Arial"/>
                <a:cs typeface="Arial"/>
              </a:rPr>
              <a:t>remove</a:t>
            </a:r>
            <a:r>
              <a:rPr lang="en-GB" sz="3600" spc="-150" dirty="0">
                <a:latin typeface="Arial"/>
                <a:cs typeface="Arial"/>
              </a:rPr>
              <a:t> </a:t>
            </a:r>
            <a:r>
              <a:rPr lang="en-GB" sz="3600" spc="-40" dirty="0">
                <a:latin typeface="Arial"/>
                <a:cs typeface="Arial"/>
              </a:rPr>
              <a:t>majority</a:t>
            </a:r>
            <a:r>
              <a:rPr lang="en-GB" sz="3600" spc="-140" dirty="0">
                <a:latin typeface="Arial"/>
                <a:cs typeface="Arial"/>
              </a:rPr>
              <a:t> </a:t>
            </a:r>
            <a:r>
              <a:rPr lang="en-GB" sz="3600" spc="-10" dirty="0">
                <a:latin typeface="Arial"/>
                <a:cs typeface="Arial"/>
              </a:rPr>
              <a:t>of</a:t>
            </a:r>
            <a:r>
              <a:rPr lang="en-GB" sz="3600" spc="-155" dirty="0">
                <a:latin typeface="Arial"/>
                <a:cs typeface="Arial"/>
              </a:rPr>
              <a:t> </a:t>
            </a:r>
            <a:r>
              <a:rPr lang="en-GB" sz="3600" spc="-100" dirty="0">
                <a:latin typeface="Arial"/>
                <a:cs typeface="Arial"/>
              </a:rPr>
              <a:t>board  </a:t>
            </a:r>
            <a:r>
              <a:rPr lang="en-GB" sz="3600" spc="-130" dirty="0">
                <a:latin typeface="Arial"/>
                <a:cs typeface="Arial"/>
              </a:rPr>
              <a:t>members.</a:t>
            </a:r>
            <a:endParaRPr lang="en-GB" sz="3600" dirty="0">
              <a:latin typeface="Arial"/>
              <a:cs typeface="Arial"/>
            </a:endParaRPr>
          </a:p>
          <a:p>
            <a:pPr marL="1081088" marR="520700" indent="-457200">
              <a:lnSpc>
                <a:spcPts val="3020"/>
              </a:lnSpc>
              <a:spcBef>
                <a:spcPts val="1015"/>
              </a:spcBef>
              <a:buFont typeface="Wingdings" panose="05000000000000000000" pitchFamily="2" charset="2"/>
              <a:buChar char="ü"/>
              <a:tabLst>
                <a:tab pos="307975" algn="l"/>
                <a:tab pos="308610" algn="l"/>
              </a:tabLst>
            </a:pPr>
            <a:r>
              <a:rPr lang="en-GB" sz="3600" spc="-150" dirty="0">
                <a:latin typeface="Arial"/>
                <a:cs typeface="Arial"/>
              </a:rPr>
              <a:t>Power </a:t>
            </a:r>
            <a:r>
              <a:rPr lang="en-GB" sz="3600" spc="20" dirty="0">
                <a:latin typeface="Arial"/>
                <a:cs typeface="Arial"/>
              </a:rPr>
              <a:t>to</a:t>
            </a:r>
            <a:r>
              <a:rPr lang="en-GB" sz="3600" spc="-590" dirty="0">
                <a:latin typeface="Arial"/>
                <a:cs typeface="Arial"/>
              </a:rPr>
              <a:t> </a:t>
            </a:r>
            <a:r>
              <a:rPr lang="en-GB" sz="3600" spc="-160" dirty="0">
                <a:latin typeface="Arial"/>
                <a:cs typeface="Arial"/>
              </a:rPr>
              <a:t>cast </a:t>
            </a:r>
            <a:r>
              <a:rPr lang="en-GB" sz="3600" spc="-35" dirty="0">
                <a:latin typeface="Arial"/>
                <a:cs typeface="Arial"/>
              </a:rPr>
              <a:t>the majority </a:t>
            </a:r>
            <a:r>
              <a:rPr lang="en-GB" sz="3600" spc="-10" dirty="0">
                <a:latin typeface="Arial"/>
                <a:cs typeface="Arial"/>
              </a:rPr>
              <a:t>of </a:t>
            </a:r>
            <a:r>
              <a:rPr lang="en-GB" sz="3600" spc="-120" dirty="0">
                <a:latin typeface="Arial"/>
                <a:cs typeface="Arial"/>
              </a:rPr>
              <a:t>votes </a:t>
            </a:r>
            <a:r>
              <a:rPr lang="en-GB" sz="3600" spc="-40" dirty="0">
                <a:latin typeface="Arial"/>
                <a:cs typeface="Arial"/>
              </a:rPr>
              <a:t>at </a:t>
            </a:r>
            <a:r>
              <a:rPr lang="en-GB" sz="3600" spc="-220" dirty="0">
                <a:latin typeface="Arial"/>
                <a:cs typeface="Arial"/>
              </a:rPr>
              <a:t>a </a:t>
            </a:r>
            <a:r>
              <a:rPr lang="en-GB" sz="3600" spc="-100" dirty="0">
                <a:latin typeface="Arial"/>
                <a:cs typeface="Arial"/>
              </a:rPr>
              <a:t>board  </a:t>
            </a:r>
            <a:r>
              <a:rPr lang="en-GB" sz="3600" spc="-90" dirty="0">
                <a:latin typeface="Arial"/>
                <a:cs typeface="Arial"/>
              </a:rPr>
              <a:t>meeting.</a:t>
            </a:r>
            <a:endParaRPr lang="en-GB" sz="3600" dirty="0">
              <a:latin typeface="Arial"/>
              <a:cs typeface="Arial"/>
            </a:endParaRP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0710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Associates and Joint ventures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>
                    <a:lumMod val="50000"/>
                  </a:schemeClr>
                </a:solidFill>
              </a:rPr>
              <a:t>Associate</a:t>
            </a:r>
          </a:p>
          <a:p>
            <a:pPr lvl="1"/>
            <a:r>
              <a:rPr lang="en-GB" dirty="0"/>
              <a:t>20% - 50% voting rights</a:t>
            </a:r>
          </a:p>
          <a:p>
            <a:pPr lvl="1"/>
            <a:r>
              <a:rPr lang="en-GB" dirty="0"/>
              <a:t>Significant influence but not control</a:t>
            </a:r>
          </a:p>
          <a:p>
            <a:pPr lvl="1"/>
            <a:r>
              <a:rPr lang="en-GB" b="1" dirty="0"/>
              <a:t>Not</a:t>
            </a:r>
            <a:r>
              <a:rPr lang="en-GB" dirty="0"/>
              <a:t> </a:t>
            </a:r>
            <a:r>
              <a:rPr lang="en-GB" b="1" dirty="0"/>
              <a:t>consolidated</a:t>
            </a:r>
            <a:r>
              <a:rPr lang="en-GB" dirty="0"/>
              <a:t> in group accounts</a:t>
            </a:r>
          </a:p>
          <a:p>
            <a:r>
              <a:rPr lang="en-GB" b="1" dirty="0">
                <a:solidFill>
                  <a:schemeClr val="accent5">
                    <a:lumMod val="50000"/>
                  </a:schemeClr>
                </a:solidFill>
              </a:rPr>
              <a:t>Joint Venture</a:t>
            </a:r>
          </a:p>
          <a:p>
            <a:pPr lvl="1"/>
            <a:r>
              <a:rPr lang="en-GB" dirty="0"/>
              <a:t>Jointly owned by two or more companies</a:t>
            </a:r>
          </a:p>
          <a:p>
            <a:pPr lvl="1"/>
            <a:r>
              <a:rPr lang="en-GB" b="1" dirty="0"/>
              <a:t>Not consolidated</a:t>
            </a:r>
            <a:r>
              <a:rPr lang="en-GB" dirty="0"/>
              <a:t> in group accounts</a:t>
            </a:r>
          </a:p>
        </p:txBody>
      </p:sp>
    </p:spTree>
    <p:extLst>
      <p:ext uri="{BB962C8B-B14F-4D97-AF65-F5344CB8AC3E}">
        <p14:creationId xmlns:p14="http://schemas.microsoft.com/office/powerpoint/2010/main" val="370928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54166" y="609967"/>
            <a:ext cx="4035669" cy="8143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en-US"/>
              <a:t>Group structures</a:t>
            </a:r>
          </a:p>
        </p:txBody>
      </p:sp>
      <p:graphicFrame>
        <p:nvGraphicFramePr>
          <p:cNvPr id="39007" name="Group 95"/>
          <p:cNvGraphicFramePr>
            <a:graphicFrameLocks noGrp="1"/>
          </p:cNvGraphicFramePr>
          <p:nvPr/>
        </p:nvGraphicFramePr>
        <p:xfrm>
          <a:off x="2514600" y="1371600"/>
          <a:ext cx="4167554" cy="5275384"/>
        </p:xfrm>
        <a:graphic>
          <a:graphicData uri="http://schemas.openxmlformats.org/drawingml/2006/table">
            <a:tbl>
              <a:tblPr/>
              <a:tblGrid>
                <a:gridCol w="208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88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         75%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S</a:t>
                      </a:r>
                    </a:p>
                  </a:txBody>
                  <a:tcPr marL="63305" marR="63305" marT="31652" marB="316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60%               80%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S                       S</a:t>
                      </a:r>
                    </a:p>
                  </a:txBody>
                  <a:tcPr marL="63305" marR="63305" marT="31652" marB="316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80%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60%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SS</a:t>
                      </a:r>
                    </a:p>
                  </a:txBody>
                  <a:tcPr marL="63305" marR="63305" marT="31652" marB="316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    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          60%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40%         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          40%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                   B</a:t>
                      </a:r>
                    </a:p>
                  </a:txBody>
                  <a:tcPr marL="63305" marR="63305" marT="31652" marB="316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3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305" marR="63305" marT="31652" marB="31652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63305" marR="63305" marT="31652" marB="31652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12" name="Text Box 35"/>
          <p:cNvSpPr txBox="1">
            <a:spLocks noChangeArrowheads="1"/>
          </p:cNvSpPr>
          <p:nvPr/>
        </p:nvSpPr>
        <p:spPr bwMode="auto">
          <a:xfrm>
            <a:off x="3305908" y="1400175"/>
            <a:ext cx="58029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4113" name="Line 38"/>
          <p:cNvSpPr>
            <a:spLocks noChangeShapeType="1"/>
          </p:cNvSpPr>
          <p:nvPr/>
        </p:nvSpPr>
        <p:spPr bwMode="auto">
          <a:xfrm>
            <a:off x="3516923" y="1635369"/>
            <a:ext cx="0" cy="7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4" name="Line 39"/>
          <p:cNvSpPr>
            <a:spLocks noChangeShapeType="1"/>
          </p:cNvSpPr>
          <p:nvPr/>
        </p:nvSpPr>
        <p:spPr bwMode="auto">
          <a:xfrm>
            <a:off x="3516923" y="2426677"/>
            <a:ext cx="0" cy="1055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5" name="Line 40"/>
          <p:cNvSpPr>
            <a:spLocks noChangeShapeType="1"/>
          </p:cNvSpPr>
          <p:nvPr/>
        </p:nvSpPr>
        <p:spPr bwMode="auto">
          <a:xfrm flipH="1">
            <a:off x="4888523" y="1635369"/>
            <a:ext cx="685800" cy="9495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6" name="Line 42"/>
          <p:cNvSpPr>
            <a:spLocks noChangeShapeType="1"/>
          </p:cNvSpPr>
          <p:nvPr/>
        </p:nvSpPr>
        <p:spPr bwMode="auto">
          <a:xfrm>
            <a:off x="5574323" y="1688123"/>
            <a:ext cx="738554" cy="844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7" name="Line 43"/>
          <p:cNvSpPr>
            <a:spLocks noChangeShapeType="1"/>
          </p:cNvSpPr>
          <p:nvPr/>
        </p:nvSpPr>
        <p:spPr bwMode="auto">
          <a:xfrm>
            <a:off x="3516923" y="3323492"/>
            <a:ext cx="0" cy="5802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8" name="Line 44"/>
          <p:cNvSpPr>
            <a:spLocks noChangeShapeType="1"/>
          </p:cNvSpPr>
          <p:nvPr/>
        </p:nvSpPr>
        <p:spPr bwMode="auto">
          <a:xfrm>
            <a:off x="3516923" y="4062046"/>
            <a:ext cx="0" cy="633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19" name="Line 82"/>
          <p:cNvSpPr>
            <a:spLocks noChangeShapeType="1"/>
          </p:cNvSpPr>
          <p:nvPr/>
        </p:nvSpPr>
        <p:spPr bwMode="auto">
          <a:xfrm>
            <a:off x="5890846" y="3323492"/>
            <a:ext cx="0" cy="5802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20" name="Line 83"/>
          <p:cNvSpPr>
            <a:spLocks noChangeShapeType="1"/>
          </p:cNvSpPr>
          <p:nvPr/>
        </p:nvSpPr>
        <p:spPr bwMode="auto">
          <a:xfrm>
            <a:off x="5890846" y="4062046"/>
            <a:ext cx="0" cy="52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21" name="Line 87"/>
          <p:cNvSpPr>
            <a:spLocks noChangeShapeType="1"/>
          </p:cNvSpPr>
          <p:nvPr/>
        </p:nvSpPr>
        <p:spPr bwMode="auto">
          <a:xfrm flipH="1">
            <a:off x="4994031" y="3217985"/>
            <a:ext cx="791308" cy="6330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  <p:sp>
        <p:nvSpPr>
          <p:cNvPr id="4122" name="Line 88"/>
          <p:cNvSpPr>
            <a:spLocks noChangeShapeType="1"/>
          </p:cNvSpPr>
          <p:nvPr/>
        </p:nvSpPr>
        <p:spPr bwMode="auto">
          <a:xfrm>
            <a:off x="4994031" y="4009292"/>
            <a:ext cx="949569" cy="7385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246"/>
          </a:p>
        </p:txBody>
      </p:sp>
    </p:spTree>
    <p:extLst>
      <p:ext uri="{BB962C8B-B14F-4D97-AF65-F5344CB8AC3E}">
        <p14:creationId xmlns:p14="http://schemas.microsoft.com/office/powerpoint/2010/main" val="335725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need for group accounts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Central holding company means that economically there is only one real business entity</a:t>
            </a:r>
          </a:p>
          <a:p>
            <a:pPr eaLnBrk="1" hangingPunct="1"/>
            <a:r>
              <a:rPr lang="en-GB" altLang="en-US"/>
              <a:t>Must look at total assets and liabilities under unified control</a:t>
            </a:r>
          </a:p>
          <a:p>
            <a:pPr eaLnBrk="1" hangingPunct="1"/>
            <a:r>
              <a:rPr lang="en-GB" altLang="en-US"/>
              <a:t>Only looking at holding company may mislead about the strength of the group</a:t>
            </a:r>
          </a:p>
        </p:txBody>
      </p:sp>
    </p:spTree>
    <p:extLst>
      <p:ext uri="{BB962C8B-B14F-4D97-AF65-F5344CB8AC3E}">
        <p14:creationId xmlns:p14="http://schemas.microsoft.com/office/powerpoint/2010/main" val="16095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Rules for group accounting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Each company retains legal independence</a:t>
            </a:r>
          </a:p>
          <a:p>
            <a:pPr eaLnBrk="1" hangingPunct="1"/>
            <a:r>
              <a:rPr lang="en-GB" altLang="en-US"/>
              <a:t>For accounting purposes, the group is treated as a single economic entity</a:t>
            </a:r>
          </a:p>
          <a:p>
            <a:pPr eaLnBrk="1" hangingPunct="1"/>
            <a:r>
              <a:rPr lang="en-GB" altLang="en-US"/>
              <a:t>Subsidiaries publish individual accounts</a:t>
            </a:r>
          </a:p>
          <a:p>
            <a:pPr eaLnBrk="1" hangingPunct="1"/>
            <a:r>
              <a:rPr lang="en-GB" altLang="en-US"/>
              <a:t>Holding company publishes accounts for the group as a whole</a:t>
            </a:r>
          </a:p>
        </p:txBody>
      </p:sp>
    </p:spTree>
    <p:extLst>
      <p:ext uri="{BB962C8B-B14F-4D97-AF65-F5344CB8AC3E}">
        <p14:creationId xmlns:p14="http://schemas.microsoft.com/office/powerpoint/2010/main" val="2049574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484784"/>
            <a:ext cx="4035669" cy="708879"/>
          </a:xfrm>
        </p:spPr>
        <p:txBody>
          <a:bodyPr/>
          <a:lstStyle/>
          <a:p>
            <a:pPr eaLnBrk="1" hangingPunct="1"/>
            <a:r>
              <a:rPr lang="en-GB" altLang="en-US" dirty="0"/>
              <a:t>Consolidation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2492896"/>
            <a:ext cx="8424936" cy="407362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dirty="0"/>
              <a:t>Adds together various items in the income statements, and statements of financial position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/>
              <a:t>Inter group transactions and balances are cancelled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i="1" dirty="0"/>
              <a:t>Items requiring cancellation include: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Investment in subsidiaries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Loans to/from companies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Inter-company trading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/>
              <a:t>Dividends paid to/from companies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591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9D97-C4C6-46DF-9856-E86193B7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Group with one wholly owned subsidiary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880E-2252-4573-A31B-CE07AC15D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effectLst/>
                <a:latin typeface="Arial" panose="020B0604020202020204" pitchFamily="34" charset="0"/>
              </a:rPr>
              <a:t>Parent Company Accounts</a:t>
            </a: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Non-current assets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Investment in subs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assets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assets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capital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Reserves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liabilities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equity and liabilities 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56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653E-A32E-4E17-AA0A-2CEBE943E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Subsidiary individual accounts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2D19C2-F1A4-49EE-8880-B3EDE5758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2349500"/>
            <a:ext cx="8075612" cy="3776663"/>
          </a:xfrm>
        </p:spPr>
        <p:txBody>
          <a:bodyPr>
            <a:normAutofit fontScale="62500" lnSpcReduction="20000"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effectLst/>
                <a:latin typeface="Arial" panose="020B0604020202020204" pitchFamily="34" charset="0"/>
              </a:rPr>
              <a:t>Subsidiary Company Accounts</a:t>
            </a: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effectLst/>
                <a:latin typeface="Arial" panose="020B0604020202020204" pitchFamily="34" charset="0"/>
              </a:rPr>
              <a:t>S</a:t>
            </a: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Non-current asset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assets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assets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capital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Reserves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 liabilities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0" i="0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Total equity and liabilities 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r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2800" b="1" i="1" u="none" strike="noStrike" kern="1200" dirty="0">
                <a:solidFill>
                  <a:srgbClr val="5E6A7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28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94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554166" y="362683"/>
            <a:ext cx="6050282" cy="69239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Consolidated accounting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428172"/>
              </p:ext>
            </p:extLst>
          </p:nvPr>
        </p:nvGraphicFramePr>
        <p:xfrm>
          <a:off x="611560" y="1500188"/>
          <a:ext cx="7848872" cy="4358586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5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dirty="0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dirty="0">
                          <a:latin typeface="Times New Roman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dirty="0" err="1">
                          <a:latin typeface="Times New Roman"/>
                          <a:ea typeface="Times New Roman"/>
                          <a:cs typeface="Times New Roman"/>
                        </a:rPr>
                        <a:t>Adj</a:t>
                      </a:r>
                      <a:endParaRPr lang="en-GB" sz="17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dirty="0">
                          <a:latin typeface="Times New Roman"/>
                          <a:ea typeface="Times New Roman"/>
                          <a:cs typeface="Times New Roman"/>
                        </a:rPr>
                        <a:t>Group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Non-current assets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100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120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Investment in subs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25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(25)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Current assets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40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 b="1" i="1">
                          <a:latin typeface="Times New Roman"/>
                          <a:ea typeface="Times New Roman"/>
                          <a:cs typeface="Times New Roman"/>
                        </a:rPr>
                        <a:t>Total assets</a:t>
                      </a: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>
                          <a:latin typeface="Times New Roman"/>
                          <a:ea typeface="Times New Roman"/>
                          <a:cs typeface="Times New Roman"/>
                        </a:rPr>
                        <a:t>155</a:t>
                      </a: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>
                          <a:latin typeface="Times New Roman"/>
                          <a:ea typeface="Times New Roman"/>
                          <a:cs typeface="Times New Roman"/>
                        </a:rPr>
                        <a:t>(25)</a:t>
                      </a: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160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5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1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Share capital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70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25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(25)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70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5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Reserves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11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GB" sz="1700" kern="120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liabilities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55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dirty="0">
                          <a:latin typeface="Times New Roman"/>
                          <a:ea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667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Total equity and liabilities 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155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>
                          <a:latin typeface="Times New Roman"/>
                          <a:ea typeface="Times New Roman"/>
                          <a:cs typeface="Times New Roman"/>
                        </a:rPr>
                        <a:t>(25)</a:t>
                      </a:r>
                      <a:endParaRPr lang="en-GB" sz="17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GB" sz="1700" b="1" i="1" dirty="0">
                          <a:latin typeface="Times New Roman"/>
                          <a:ea typeface="Times New Roman"/>
                          <a:cs typeface="Times New Roman"/>
                        </a:rPr>
                        <a:t>160</a:t>
                      </a:r>
                      <a:endParaRPr lang="en-GB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7478" marR="474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3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44" indent="-197825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791299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0781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24338" indent="-158260"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40858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05737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373897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690416" indent="-15826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255362-C034-4147-9A4E-D3C850F4BACD}" type="slidenum">
              <a:rPr lang="en-GB" altLang="en-US" sz="969"/>
              <a:pPr/>
              <a:t>13</a:t>
            </a:fld>
            <a:endParaRPr lang="en-GB" altLang="en-US" sz="969"/>
          </a:p>
        </p:txBody>
      </p:sp>
      <p:sp>
        <p:nvSpPr>
          <p:cNvPr id="11336" name="Rectangle 1"/>
          <p:cNvSpPr>
            <a:spLocks noChangeArrowheads="1"/>
          </p:cNvSpPr>
          <p:nvPr/>
        </p:nvSpPr>
        <p:spPr bwMode="auto">
          <a:xfrm>
            <a:off x="2198077" y="7291"/>
            <a:ext cx="184731" cy="301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662"/>
          </a:p>
        </p:txBody>
      </p:sp>
    </p:spTree>
    <p:extLst>
      <p:ext uri="{BB962C8B-B14F-4D97-AF65-F5344CB8AC3E}">
        <p14:creationId xmlns:p14="http://schemas.microsoft.com/office/powerpoint/2010/main" val="341086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96753"/>
            <a:ext cx="4035669" cy="720080"/>
          </a:xfrm>
        </p:spPr>
        <p:txBody>
          <a:bodyPr/>
          <a:lstStyle/>
          <a:p>
            <a:pPr eaLnBrk="1" hangingPunct="1"/>
            <a:r>
              <a:rPr lang="en-GB" altLang="en-US" dirty="0"/>
              <a:t>Goodwill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916834"/>
            <a:ext cx="8640960" cy="4625424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1938" dirty="0"/>
              <a:t>Difference between value placed on a company (price paid), and the sum of the fair value of its assets and liabilities</a:t>
            </a:r>
          </a:p>
          <a:p>
            <a:pPr eaLnBrk="1" hangingPunct="1"/>
            <a:r>
              <a:rPr lang="en-GB" altLang="en-US" sz="1938" dirty="0"/>
              <a:t>Book value often taken for fair value</a:t>
            </a:r>
          </a:p>
          <a:p>
            <a:pPr eaLnBrk="1" hangingPunct="1"/>
            <a:r>
              <a:rPr lang="en-GB" altLang="en-US" sz="1938" dirty="0"/>
              <a:t>Recognises ‘the whole is greater than the sum of its parts’</a:t>
            </a:r>
          </a:p>
          <a:p>
            <a:pPr eaLnBrk="1" hangingPunct="1"/>
            <a:r>
              <a:rPr lang="en-GB" altLang="en-US" sz="1938" dirty="0"/>
              <a:t>Recognises intangibles missing from the statement of financial position:</a:t>
            </a:r>
          </a:p>
          <a:p>
            <a:pPr lvl="1" eaLnBrk="1" hangingPunct="1"/>
            <a:r>
              <a:rPr lang="en-GB" altLang="en-US" sz="1662" dirty="0"/>
              <a:t>Managerial ability</a:t>
            </a:r>
          </a:p>
          <a:p>
            <a:pPr lvl="1" eaLnBrk="1" hangingPunct="1"/>
            <a:r>
              <a:rPr lang="en-GB" altLang="en-US" sz="1662" dirty="0"/>
              <a:t>Regional monopoly</a:t>
            </a:r>
          </a:p>
          <a:p>
            <a:pPr lvl="1" eaLnBrk="1" hangingPunct="1"/>
            <a:r>
              <a:rPr lang="en-GB" altLang="en-US" sz="1662" dirty="0"/>
              <a:t>Highly efficient workforce</a:t>
            </a:r>
          </a:p>
          <a:p>
            <a:pPr lvl="1" eaLnBrk="1" hangingPunct="1"/>
            <a:r>
              <a:rPr lang="en-GB" altLang="en-US" sz="1662" dirty="0"/>
              <a:t>Customer loyalty</a:t>
            </a:r>
          </a:p>
          <a:p>
            <a:pPr eaLnBrk="1" hangingPunct="1"/>
            <a:r>
              <a:rPr lang="en-GB" altLang="en-US" sz="1938" dirty="0"/>
              <a:t>Accounting treatment - shown in the  group statement of financial position as an ‘intangible non-current asset’</a:t>
            </a:r>
          </a:p>
          <a:p>
            <a:pPr eaLnBrk="1" hangingPunct="1"/>
            <a:r>
              <a:rPr lang="en-GB" altLang="en-US" sz="1938" dirty="0"/>
              <a:t>Goodwill is deemed to have a useful </a:t>
            </a:r>
            <a:r>
              <a:rPr lang="en-GB" altLang="en-US" sz="1938"/>
              <a:t>economic life. </a:t>
            </a:r>
            <a:endParaRPr lang="en-GB" altLang="en-US" sz="1938" dirty="0"/>
          </a:p>
          <a:p>
            <a:pPr eaLnBrk="1" hangingPunct="1">
              <a:buFontTx/>
              <a:buNone/>
            </a:pPr>
            <a:endParaRPr lang="en-GB" altLang="en-US" sz="1938" dirty="0"/>
          </a:p>
          <a:p>
            <a:pPr lvl="1" eaLnBrk="1" hangingPunct="1">
              <a:buFontTx/>
              <a:buNone/>
            </a:pPr>
            <a:endParaRPr lang="en-GB" altLang="en-US" sz="1662" dirty="0"/>
          </a:p>
          <a:p>
            <a:pPr lvl="1" eaLnBrk="1" hangingPunct="1">
              <a:buFontTx/>
              <a:buNone/>
            </a:pPr>
            <a:endParaRPr lang="en-GB" altLang="en-US" sz="1662" dirty="0"/>
          </a:p>
          <a:p>
            <a:pPr eaLnBrk="1" hangingPunct="1"/>
            <a:endParaRPr lang="en-GB" altLang="en-US" sz="1938" dirty="0"/>
          </a:p>
        </p:txBody>
      </p:sp>
    </p:spTree>
    <p:extLst>
      <p:ext uri="{BB962C8B-B14F-4D97-AF65-F5344CB8AC3E}">
        <p14:creationId xmlns:p14="http://schemas.microsoft.com/office/powerpoint/2010/main" val="3047701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8477" y="392379"/>
            <a:ext cx="6335523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10" dirty="0">
                <a:latin typeface="Arial" panose="020B0604020202020204" pitchFamily="34" charset="0"/>
                <a:cs typeface="Arial" panose="020B0604020202020204" pitchFamily="34" charset="0"/>
              </a:rPr>
              <a:t>Goodwill </a:t>
            </a:r>
            <a:r>
              <a:rPr sz="3200" spc="-120" dirty="0">
                <a:latin typeface="Arial" panose="020B0604020202020204" pitchFamily="34" charset="0"/>
                <a:cs typeface="Arial" panose="020B0604020202020204" pitchFamily="34" charset="0"/>
              </a:rPr>
              <a:t>arising </a:t>
            </a:r>
            <a:r>
              <a:rPr sz="3200" spc="-105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3200" spc="-3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consolidation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1" y="1274190"/>
            <a:ext cx="8763000" cy="4923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400" b="1" dirty="0"/>
              <a:t>IFRS3</a:t>
            </a:r>
            <a:r>
              <a:rPr lang="en-GB" sz="2400" b="1" dirty="0"/>
              <a:t> (Business Combinations)</a:t>
            </a:r>
            <a:r>
              <a:rPr sz="2400" b="1" dirty="0"/>
              <a:t> </a:t>
            </a:r>
            <a:r>
              <a:rPr sz="2400" b="1" spc="-5" dirty="0"/>
              <a:t>requires that </a:t>
            </a:r>
            <a:r>
              <a:rPr sz="2400" b="1" spc="-10" dirty="0"/>
              <a:t>goodwill </a:t>
            </a:r>
            <a:r>
              <a:rPr sz="2400" b="1" spc="-5" dirty="0"/>
              <a:t>arising on</a:t>
            </a:r>
            <a:r>
              <a:rPr sz="2400" b="1" spc="85" dirty="0"/>
              <a:t> </a:t>
            </a:r>
            <a:r>
              <a:rPr sz="2400" b="1" spc="-5" dirty="0"/>
              <a:t>consolidation</a:t>
            </a:r>
            <a:r>
              <a:rPr lang="en-GB" sz="2400" b="1" spc="-5" dirty="0"/>
              <a:t> </a:t>
            </a:r>
            <a:r>
              <a:rPr sz="2400" b="1" spc="-5" dirty="0"/>
              <a:t>should be calculated as</a:t>
            </a:r>
            <a:r>
              <a:rPr sz="2400" b="1" spc="15" dirty="0"/>
              <a:t> </a:t>
            </a:r>
            <a:r>
              <a:rPr sz="2400" b="1" spc="-10" dirty="0"/>
              <a:t>follows</a:t>
            </a:r>
            <a:r>
              <a:rPr sz="2400" spc="-10" dirty="0"/>
              <a:t>:</a:t>
            </a:r>
            <a:endParaRPr lang="en-GB" sz="2400" spc="-10" dirty="0"/>
          </a:p>
          <a:p>
            <a:pPr marL="51435">
              <a:lnSpc>
                <a:spcPct val="100000"/>
              </a:lnSpc>
              <a:spcBef>
                <a:spcPts val="100"/>
              </a:spcBef>
            </a:pPr>
            <a:endParaRPr spc="-10" dirty="0"/>
          </a:p>
          <a:p>
            <a:pPr marL="714375" marR="5080" indent="-269875">
              <a:lnSpc>
                <a:spcPct val="90100"/>
              </a:lnSpc>
              <a:buFont typeface="Times New Roman"/>
              <a:buChar char="•"/>
              <a:tabLst>
                <a:tab pos="384175" algn="l"/>
                <a:tab pos="384810" algn="l"/>
              </a:tabLst>
            </a:pPr>
            <a:r>
              <a:rPr sz="2600" spc="-215" dirty="0"/>
              <a:t>Each </a:t>
            </a:r>
            <a:r>
              <a:rPr sz="2600" spc="-5" dirty="0"/>
              <a:t>of </a:t>
            </a:r>
            <a:r>
              <a:rPr sz="2600" spc="-30" dirty="0"/>
              <a:t>the </a:t>
            </a:r>
            <a:r>
              <a:rPr sz="2600" spc="-95" dirty="0"/>
              <a:t>subsidiary's </a:t>
            </a:r>
            <a:r>
              <a:rPr sz="2600" spc="-155" dirty="0"/>
              <a:t>assets </a:t>
            </a:r>
            <a:r>
              <a:rPr sz="2600" spc="-105" dirty="0"/>
              <a:t>and </a:t>
            </a:r>
            <a:r>
              <a:rPr sz="2600" spc="-40" dirty="0"/>
              <a:t>liabilities </a:t>
            </a:r>
            <a:r>
              <a:rPr sz="2600" spc="-114" dirty="0"/>
              <a:t>is  </a:t>
            </a:r>
            <a:r>
              <a:rPr sz="2600" spc="-80" dirty="0"/>
              <a:t>adjusted </a:t>
            </a:r>
            <a:r>
              <a:rPr sz="2600" spc="10" dirty="0"/>
              <a:t>to </a:t>
            </a:r>
            <a:r>
              <a:rPr sz="2600" spc="-35" dirty="0"/>
              <a:t>its </a:t>
            </a:r>
            <a:r>
              <a:rPr sz="2600" spc="-30" dirty="0"/>
              <a:t>fair </a:t>
            </a:r>
            <a:r>
              <a:rPr sz="2600" spc="-105" dirty="0"/>
              <a:t>value </a:t>
            </a:r>
            <a:r>
              <a:rPr sz="2600" spc="-75" dirty="0"/>
              <a:t>on </a:t>
            </a:r>
            <a:r>
              <a:rPr sz="2600" spc="-30" dirty="0"/>
              <a:t>the </a:t>
            </a:r>
            <a:r>
              <a:rPr sz="2600" spc="-80" dirty="0"/>
              <a:t>date </a:t>
            </a:r>
            <a:r>
              <a:rPr sz="2600" spc="-5" dirty="0"/>
              <a:t>that </a:t>
            </a:r>
            <a:r>
              <a:rPr sz="2600" spc="-30" dirty="0"/>
              <a:t>the  </a:t>
            </a:r>
            <a:r>
              <a:rPr sz="2600" spc="-60" dirty="0"/>
              <a:t>parent </a:t>
            </a:r>
            <a:r>
              <a:rPr sz="2600" spc="-114" dirty="0"/>
              <a:t>company </a:t>
            </a:r>
            <a:r>
              <a:rPr sz="2600" spc="-85" dirty="0"/>
              <a:t>acquired </a:t>
            </a:r>
            <a:r>
              <a:rPr sz="2600" spc="-30" dirty="0"/>
              <a:t>the </a:t>
            </a:r>
            <a:r>
              <a:rPr sz="2600" spc="-95" dirty="0"/>
              <a:t>subsidiary's</a:t>
            </a:r>
            <a:r>
              <a:rPr sz="2600" spc="-340" dirty="0"/>
              <a:t> </a:t>
            </a:r>
            <a:r>
              <a:rPr sz="2600" spc="-130" dirty="0"/>
              <a:t>shares.</a:t>
            </a:r>
            <a:endParaRPr lang="en-GB" sz="2600" spc="-130" dirty="0"/>
          </a:p>
          <a:p>
            <a:pPr marL="714375" marR="5080" indent="-269875">
              <a:lnSpc>
                <a:spcPct val="90100"/>
              </a:lnSpc>
              <a:buFont typeface="Times New Roman"/>
              <a:buChar char="•"/>
              <a:tabLst>
                <a:tab pos="384175" algn="l"/>
                <a:tab pos="384810" algn="l"/>
              </a:tabLst>
            </a:pPr>
            <a:endParaRPr sz="2600" dirty="0"/>
          </a:p>
          <a:p>
            <a:pPr marL="714375" marR="35560" indent="-269875">
              <a:lnSpc>
                <a:spcPct val="90000"/>
              </a:lnSpc>
              <a:buFont typeface="Times New Roman"/>
              <a:buChar char="•"/>
              <a:tabLst>
                <a:tab pos="384175" algn="l"/>
                <a:tab pos="384810" algn="l"/>
              </a:tabLst>
            </a:pPr>
            <a:r>
              <a:rPr sz="2600" dirty="0"/>
              <a:t>If </a:t>
            </a:r>
            <a:r>
              <a:rPr sz="2600" spc="-30" dirty="0"/>
              <a:t>the </a:t>
            </a:r>
            <a:r>
              <a:rPr sz="2600" spc="-60" dirty="0"/>
              <a:t>parent </a:t>
            </a:r>
            <a:r>
              <a:rPr sz="2600" spc="-114" dirty="0"/>
              <a:t>company </a:t>
            </a:r>
            <a:r>
              <a:rPr sz="2600" spc="-165" dirty="0"/>
              <a:t>has </a:t>
            </a:r>
            <a:r>
              <a:rPr sz="2600" spc="-80" dirty="0"/>
              <a:t>paid </a:t>
            </a:r>
            <a:r>
              <a:rPr sz="2600" spc="-70" dirty="0"/>
              <a:t>more </a:t>
            </a:r>
            <a:r>
              <a:rPr sz="2600" spc="-50" dirty="0"/>
              <a:t>than </a:t>
            </a:r>
            <a:r>
              <a:rPr sz="2600" spc="-30" dirty="0"/>
              <a:t>fair </a:t>
            </a:r>
            <a:r>
              <a:rPr sz="2600" spc="-105" dirty="0"/>
              <a:t>value </a:t>
            </a:r>
            <a:r>
              <a:rPr sz="2600" spc="10" dirty="0"/>
              <a:t>to </a:t>
            </a:r>
            <a:r>
              <a:rPr sz="2600" spc="-85" dirty="0"/>
              <a:t>acquire </a:t>
            </a:r>
            <a:r>
              <a:rPr sz="2600" spc="-40" dirty="0"/>
              <a:t>its </a:t>
            </a:r>
            <a:r>
              <a:rPr sz="2600" spc="-135" dirty="0"/>
              <a:t>stake </a:t>
            </a:r>
            <a:r>
              <a:rPr sz="2600" spc="-30" dirty="0"/>
              <a:t>in </a:t>
            </a:r>
            <a:r>
              <a:rPr sz="2600" spc="-175" dirty="0"/>
              <a:t>a </a:t>
            </a:r>
            <a:r>
              <a:rPr sz="2600" spc="-110" dirty="0"/>
              <a:t>subsidiary, </a:t>
            </a:r>
            <a:r>
              <a:rPr sz="2600" spc="-30" dirty="0"/>
              <a:t>the  </a:t>
            </a:r>
            <a:r>
              <a:rPr sz="2600" spc="-195" dirty="0"/>
              <a:t>excess </a:t>
            </a:r>
            <a:r>
              <a:rPr sz="2600" spc="-114" dirty="0"/>
              <a:t>is </a:t>
            </a:r>
            <a:r>
              <a:rPr sz="2600" spc="-35" dirty="0">
                <a:solidFill>
                  <a:srgbClr val="FF0000"/>
                </a:solidFill>
              </a:rPr>
              <a:t>"goodwill </a:t>
            </a:r>
            <a:r>
              <a:rPr sz="2600" spc="-90" dirty="0">
                <a:solidFill>
                  <a:srgbClr val="FF0000"/>
                </a:solidFill>
              </a:rPr>
              <a:t>arising </a:t>
            </a:r>
            <a:r>
              <a:rPr sz="2600" spc="-70" dirty="0">
                <a:solidFill>
                  <a:srgbClr val="FF0000"/>
                </a:solidFill>
              </a:rPr>
              <a:t>on </a:t>
            </a:r>
            <a:r>
              <a:rPr sz="2600" spc="-60" dirty="0">
                <a:solidFill>
                  <a:srgbClr val="FF0000"/>
                </a:solidFill>
              </a:rPr>
              <a:t>consolidation". </a:t>
            </a:r>
            <a:r>
              <a:rPr sz="2600" spc="-150" dirty="0"/>
              <a:t>This  </a:t>
            </a:r>
            <a:r>
              <a:rPr sz="2600" spc="-114" dirty="0"/>
              <a:t>is </a:t>
            </a:r>
            <a:r>
              <a:rPr sz="2600" spc="-100" dirty="0"/>
              <a:t>shown </a:t>
            </a:r>
            <a:r>
              <a:rPr sz="2600" spc="-210" dirty="0"/>
              <a:t>as </a:t>
            </a:r>
            <a:r>
              <a:rPr sz="2600" spc="-125" dirty="0"/>
              <a:t>an </a:t>
            </a:r>
            <a:r>
              <a:rPr sz="2600" spc="-135" dirty="0"/>
              <a:t>asset </a:t>
            </a:r>
            <a:r>
              <a:rPr sz="2600" spc="-30" dirty="0"/>
              <a:t>in the </a:t>
            </a:r>
            <a:r>
              <a:rPr sz="2600" spc="-85" dirty="0"/>
              <a:t>consolidated  </a:t>
            </a:r>
            <a:r>
              <a:rPr sz="2600" spc="-65" dirty="0"/>
              <a:t>statement </a:t>
            </a:r>
            <a:r>
              <a:rPr sz="2600" spc="-5" dirty="0"/>
              <a:t>of </a:t>
            </a:r>
            <a:r>
              <a:rPr sz="2600" spc="-70" dirty="0"/>
              <a:t>financial</a:t>
            </a:r>
            <a:r>
              <a:rPr sz="2600" spc="-270" dirty="0"/>
              <a:t> </a:t>
            </a:r>
            <a:r>
              <a:rPr sz="2600" spc="-50" dirty="0"/>
              <a:t>position.</a:t>
            </a:r>
            <a:endParaRPr lang="en-GB" sz="2600" spc="-50" dirty="0"/>
          </a:p>
          <a:p>
            <a:pPr marL="714375" marR="35560" indent="-269875">
              <a:lnSpc>
                <a:spcPct val="90000"/>
              </a:lnSpc>
              <a:buFont typeface="Times New Roman"/>
              <a:buChar char="•"/>
              <a:tabLst>
                <a:tab pos="384175" algn="l"/>
                <a:tab pos="384810" algn="l"/>
              </a:tabLst>
            </a:pPr>
            <a:endParaRPr sz="2600" dirty="0"/>
          </a:p>
          <a:p>
            <a:pPr marL="714375" indent="-269875">
              <a:lnSpc>
                <a:spcPts val="2510"/>
              </a:lnSpc>
              <a:buFont typeface="Times New Roman"/>
              <a:buChar char="•"/>
              <a:tabLst>
                <a:tab pos="384175" algn="l"/>
                <a:tab pos="384810" algn="l"/>
              </a:tabLst>
            </a:pPr>
            <a:r>
              <a:rPr sz="2600" spc="-65" dirty="0">
                <a:latin typeface="Arial" panose="020B0604020202020204" pitchFamily="34" charset="0"/>
                <a:cs typeface="Arial" panose="020B0604020202020204" pitchFamily="34" charset="0"/>
              </a:rPr>
              <a:t>Goodwill </a:t>
            </a:r>
            <a:r>
              <a:rPr sz="2600" spc="-90" dirty="0">
                <a:latin typeface="Arial" panose="020B0604020202020204" pitchFamily="34" charset="0"/>
                <a:cs typeface="Arial" panose="020B0604020202020204" pitchFamily="34" charset="0"/>
              </a:rPr>
              <a:t>should </a:t>
            </a:r>
            <a:r>
              <a:rPr sz="2600" spc="-105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2600" spc="-70" dirty="0">
                <a:latin typeface="Arial" panose="020B0604020202020204" pitchFamily="34" charset="0"/>
                <a:cs typeface="Arial" panose="020B0604020202020204" pitchFamily="34" charset="0"/>
              </a:rPr>
              <a:t>tested </a:t>
            </a:r>
            <a:r>
              <a:rPr sz="2600" spc="-80" dirty="0">
                <a:latin typeface="Arial" panose="020B0604020202020204" pitchFamily="34" charset="0"/>
                <a:cs typeface="Arial" panose="020B0604020202020204" pitchFamily="34" charset="0"/>
              </a:rPr>
              <a:t>annually</a:t>
            </a:r>
            <a:r>
              <a:rPr sz="2600" spc="-2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45" dirty="0">
                <a:latin typeface="Arial" panose="020B0604020202020204" pitchFamily="34" charset="0"/>
                <a:cs typeface="Arial" panose="020B0604020202020204" pitchFamily="34" charset="0"/>
              </a:rPr>
              <a:t>impairment </a:t>
            </a:r>
            <a:r>
              <a:rPr sz="2600" spc="-10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600" dirty="0">
                <a:latin typeface="Arial" panose="020B0604020202020204" pitchFamily="34" charset="0"/>
                <a:cs typeface="Arial" panose="020B0604020202020204" pitchFamily="34" charset="0"/>
              </a:rPr>
              <a:t>written </a:t>
            </a:r>
            <a:r>
              <a:rPr sz="2600" spc="-60" dirty="0">
                <a:latin typeface="Arial" panose="020B0604020202020204" pitchFamily="34" charset="0"/>
                <a:cs typeface="Arial" panose="020B0604020202020204" pitchFamily="34" charset="0"/>
              </a:rPr>
              <a:t>down </a:t>
            </a:r>
            <a:r>
              <a:rPr sz="2600" spc="-21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GB" sz="260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3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600" spc="-145" dirty="0">
                <a:latin typeface="Arial" panose="020B0604020202020204" pitchFamily="34" charset="0"/>
                <a:cs typeface="Arial" panose="020B0604020202020204" pitchFamily="34" charset="0"/>
              </a:rPr>
              <a:t>necessary.</a:t>
            </a:r>
            <a:endParaRPr lang="en-GB" sz="2200" spc="-14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1720" y="92547"/>
            <a:ext cx="709228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3600" b="1" spc="-190" dirty="0">
                <a:solidFill>
                  <a:srgbClr val="3BABA3"/>
                </a:solidFill>
                <a:latin typeface="Trebuchet MS"/>
                <a:cs typeface="Trebuchet MS"/>
              </a:rPr>
              <a:t>Treatment of Consolidated Goodwill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7504" y="1139478"/>
            <a:ext cx="8856984" cy="5625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statement of financial position of A and B as at 31 December 2015 are as follows:                                          A		               B</a:t>
            </a:r>
          </a:p>
          <a:p>
            <a:pPr marL="0" indent="0">
              <a:buNone/>
            </a:pPr>
            <a:r>
              <a:rPr lang="en-GB" sz="2000" dirty="0"/>
              <a:t>				       £		                £</a:t>
            </a:r>
          </a:p>
          <a:p>
            <a:pPr marL="0" indent="0" algn="l">
              <a:buNone/>
            </a:pPr>
            <a:r>
              <a:rPr lang="en-GB" sz="2000" dirty="0"/>
              <a:t>Tangible non-current assets	140,000		45,000</a:t>
            </a:r>
          </a:p>
          <a:p>
            <a:pPr marL="0" indent="0">
              <a:buNone/>
            </a:pPr>
            <a:r>
              <a:rPr lang="en-GB" sz="2000" dirty="0"/>
              <a:t>Investment in B			  75,000		    -</a:t>
            </a:r>
          </a:p>
          <a:p>
            <a:pPr marL="0" indent="0">
              <a:buNone/>
            </a:pPr>
            <a:r>
              <a:rPr lang="en-GB" sz="2000" dirty="0"/>
              <a:t>Net current assets		  20,000		15,000</a:t>
            </a:r>
          </a:p>
          <a:p>
            <a:pPr marL="0" indent="0">
              <a:buNone/>
            </a:pPr>
            <a:r>
              <a:rPr lang="en-GB" sz="2000" dirty="0"/>
              <a:t>				</a:t>
            </a:r>
            <a:r>
              <a:rPr lang="en-GB" sz="2000" u="sng" dirty="0"/>
              <a:t>235,000</a:t>
            </a:r>
            <a:r>
              <a:rPr lang="en-GB" sz="2000" dirty="0"/>
              <a:t>		</a:t>
            </a:r>
            <a:r>
              <a:rPr lang="en-GB" sz="2000" u="sng" dirty="0"/>
              <a:t>60,000</a:t>
            </a:r>
            <a:r>
              <a:rPr lang="en-GB" sz="2000" dirty="0"/>
              <a:t>	</a:t>
            </a:r>
          </a:p>
          <a:p>
            <a:pPr marL="0" indent="0">
              <a:buNone/>
            </a:pPr>
            <a:r>
              <a:rPr lang="en-GB" sz="2000" dirty="0"/>
              <a:t>Share capital			150,000		50,000</a:t>
            </a:r>
          </a:p>
          <a:p>
            <a:pPr marL="0" indent="0">
              <a:buNone/>
            </a:pPr>
            <a:r>
              <a:rPr lang="en-GB" sz="2000" dirty="0"/>
              <a:t>Reserves			  85,000		10,000</a:t>
            </a:r>
          </a:p>
          <a:p>
            <a:pPr marL="0" indent="0">
              <a:buNone/>
            </a:pPr>
            <a:r>
              <a:rPr lang="en-GB" sz="2000" dirty="0"/>
              <a:t>				</a:t>
            </a:r>
            <a:r>
              <a:rPr lang="en-GB" sz="2000" u="sng" dirty="0"/>
              <a:t>235,000</a:t>
            </a:r>
            <a:r>
              <a:rPr lang="en-GB" sz="2000" dirty="0"/>
              <a:t>		</a:t>
            </a:r>
            <a:r>
              <a:rPr lang="en-GB" sz="2000" u="sng" dirty="0"/>
              <a:t>60,000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A acquired the whole of the share capital of B for cash on 31 December 2015. The fair value of B’s net assets at this date were £67,000.</a:t>
            </a:r>
          </a:p>
          <a:p>
            <a:pPr marL="0" indent="0">
              <a:buNone/>
            </a:pPr>
            <a:r>
              <a:rPr lang="en-GB" sz="1800" b="1" dirty="0"/>
              <a:t>Required: </a:t>
            </a:r>
          </a:p>
          <a:p>
            <a:pPr marL="0" indent="0">
              <a:buNone/>
            </a:pPr>
            <a:r>
              <a:rPr lang="en-GB" sz="1800" dirty="0"/>
              <a:t>Prepare the consolidated statement of the financial position of A group as at 31 December 2015.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object 3"/>
          <p:cNvSpPr txBox="1"/>
          <p:nvPr/>
        </p:nvSpPr>
        <p:spPr>
          <a:xfrm>
            <a:off x="3707904" y="634574"/>
            <a:ext cx="43249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1" spc="-114" dirty="0">
                <a:solidFill>
                  <a:srgbClr val="FF0000"/>
                </a:solidFill>
                <a:latin typeface="Trebuchet MS"/>
                <a:cs typeface="Trebuchet MS"/>
              </a:rPr>
              <a:t>Example:</a:t>
            </a:r>
            <a:endParaRPr sz="32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851920" y="4436113"/>
            <a:ext cx="93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516240" y="4437112"/>
            <a:ext cx="9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79912" y="3284984"/>
            <a:ext cx="93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6588224" y="3284984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425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8600" y="74134"/>
            <a:ext cx="228600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3600" b="1" spc="-190" dirty="0">
                <a:solidFill>
                  <a:srgbClr val="FF0000"/>
                </a:solidFill>
                <a:latin typeface="Trebuchet MS"/>
                <a:cs typeface="Trebuchet MS"/>
              </a:rPr>
              <a:t>Solution</a:t>
            </a:r>
            <a:endParaRPr sz="36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11560" y="1248518"/>
            <a:ext cx="8456240" cy="5609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600" dirty="0"/>
              <a:t>To do this, we must calculate goodwill; revalue the net asset of the subsidiary B to fair value and then consolidate A and B.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sz="1900" b="1" dirty="0">
                <a:solidFill>
                  <a:srgbClr val="00B0F0"/>
                </a:solidFill>
              </a:rPr>
              <a:t>Calculation of goodwill: </a:t>
            </a:r>
            <a:r>
              <a:rPr lang="en-GB" sz="1600" b="1" dirty="0"/>
              <a:t>			  </a:t>
            </a:r>
            <a:r>
              <a:rPr lang="en-GB" sz="1600" dirty="0"/>
              <a:t>£</a:t>
            </a:r>
          </a:p>
          <a:p>
            <a:pPr marL="0" indent="0">
              <a:buNone/>
            </a:pPr>
            <a:r>
              <a:rPr lang="en-GB" sz="1600" dirty="0"/>
              <a:t>Fair value of purchase price			75,000</a:t>
            </a:r>
          </a:p>
          <a:p>
            <a:pPr marL="0" indent="0">
              <a:buNone/>
            </a:pPr>
            <a:r>
              <a:rPr lang="en-GB" sz="1600" dirty="0"/>
              <a:t>Fair value of 100% net asset acquired		67,000</a:t>
            </a:r>
          </a:p>
          <a:p>
            <a:pPr marL="0" indent="0">
              <a:buNone/>
            </a:pPr>
            <a:r>
              <a:rPr lang="en-GB" sz="1600" b="1" dirty="0">
                <a:solidFill>
                  <a:srgbClr val="FF0000"/>
                </a:solidFill>
              </a:rPr>
              <a:t>Goodwill					  8,000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900" b="1" dirty="0">
                <a:solidFill>
                  <a:srgbClr val="00B0F0"/>
                </a:solidFill>
              </a:rPr>
              <a:t>B revalued statement of financial position</a:t>
            </a:r>
          </a:p>
          <a:p>
            <a:pPr marL="0" indent="0">
              <a:buNone/>
            </a:pPr>
            <a:r>
              <a:rPr lang="en-GB" sz="1600" dirty="0"/>
              <a:t>Net asset					67,000</a:t>
            </a:r>
          </a:p>
          <a:p>
            <a:pPr marL="0" indent="0">
              <a:buNone/>
            </a:pPr>
            <a:r>
              <a:rPr lang="en-GB" sz="1600" dirty="0"/>
              <a:t>Share capital 				50,000</a:t>
            </a:r>
          </a:p>
          <a:p>
            <a:pPr marL="0" indent="0">
              <a:buNone/>
            </a:pPr>
            <a:r>
              <a:rPr lang="en-GB" sz="1600" dirty="0"/>
              <a:t>Reserves					10,000</a:t>
            </a:r>
          </a:p>
          <a:p>
            <a:pPr marL="0" indent="0">
              <a:buNone/>
            </a:pPr>
            <a:r>
              <a:rPr lang="en-GB" sz="1600" dirty="0"/>
              <a:t>Revaluation reserve			  	  7,000</a:t>
            </a:r>
          </a:p>
          <a:p>
            <a:pPr marL="0" indent="0">
              <a:buNone/>
            </a:pPr>
            <a:r>
              <a:rPr lang="en-GB" sz="1600" dirty="0"/>
              <a:t>					67,000</a:t>
            </a:r>
          </a:p>
          <a:p>
            <a:pPr marL="0" indent="0">
              <a:buNone/>
            </a:pPr>
            <a:r>
              <a:rPr lang="en-GB" sz="2200" b="1" dirty="0">
                <a:solidFill>
                  <a:srgbClr val="00B0F0"/>
                </a:solidFill>
              </a:rPr>
              <a:t>Group Consolidated statement of financial position</a:t>
            </a:r>
          </a:p>
          <a:p>
            <a:pPr marL="0" indent="0">
              <a:buNone/>
            </a:pPr>
            <a:r>
              <a:rPr lang="en-GB" sz="1600" dirty="0"/>
              <a:t>Net asset (140,000+20,000+67,000)		227,000</a:t>
            </a:r>
          </a:p>
          <a:p>
            <a:pPr marL="0" indent="0">
              <a:buNone/>
            </a:pPr>
            <a:r>
              <a:rPr lang="en-GB" sz="1600" dirty="0"/>
              <a:t>Goodwill on acquisition			    8,000</a:t>
            </a:r>
          </a:p>
          <a:p>
            <a:pPr marL="0" indent="0">
              <a:buNone/>
            </a:pPr>
            <a:r>
              <a:rPr lang="en-GB" sz="1600" dirty="0"/>
              <a:t>					</a:t>
            </a:r>
            <a:r>
              <a:rPr lang="en-GB" sz="1600" b="1" dirty="0"/>
              <a:t>235,000</a:t>
            </a:r>
          </a:p>
          <a:p>
            <a:pPr marL="0" indent="0">
              <a:buNone/>
            </a:pPr>
            <a:r>
              <a:rPr lang="en-GB" sz="1600" dirty="0"/>
              <a:t>Share capital 				150,000</a:t>
            </a:r>
          </a:p>
          <a:p>
            <a:pPr marL="0" indent="0">
              <a:buNone/>
            </a:pPr>
            <a:r>
              <a:rPr lang="en-GB" sz="1600" dirty="0"/>
              <a:t>Reserves				  	  85,000</a:t>
            </a:r>
          </a:p>
          <a:p>
            <a:pPr marL="0" indent="0">
              <a:buNone/>
            </a:pPr>
            <a:r>
              <a:rPr lang="en-GB" sz="1600" dirty="0"/>
              <a:t>					</a:t>
            </a:r>
            <a:r>
              <a:rPr lang="en-GB" sz="1600" b="1" dirty="0"/>
              <a:t>235,000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57800" y="2780928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257800" y="2996952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99800" y="56388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99800" y="54102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57800" y="6093296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257800" y="64008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257800" y="44196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181600" y="37338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257800" y="4648200"/>
            <a:ext cx="7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87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8210" y="280873"/>
            <a:ext cx="527139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30" dirty="0">
                <a:latin typeface="Arial" panose="020B0604020202020204" pitchFamily="34" charset="0"/>
                <a:cs typeface="Arial" panose="020B0604020202020204" pitchFamily="34" charset="0"/>
              </a:rPr>
              <a:t>Intra-group</a:t>
            </a:r>
            <a:r>
              <a:rPr sz="3200" spc="-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35" dirty="0">
                <a:latin typeface="Arial" panose="020B0604020202020204" pitchFamily="34" charset="0"/>
                <a:cs typeface="Arial" panose="020B0604020202020204" pitchFamily="34" charset="0"/>
              </a:rPr>
              <a:t>balances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43220"/>
            <a:ext cx="8610600" cy="4948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5459">
              <a:lnSpc>
                <a:spcPct val="100000"/>
              </a:lnSpc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Intra-group balances are cancelled out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preparing a  group statement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financial position. Such balances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may 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arise as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follows: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8470" marR="163195" indent="-266700">
              <a:lnSpc>
                <a:spcPts val="2160"/>
              </a:lnSpc>
              <a:buChar char="•"/>
              <a:tabLst>
                <a:tab pos="458470" algn="l"/>
                <a:tab pos="459105" algn="l"/>
              </a:tabLst>
            </a:pP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lend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money 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another</a:t>
            </a:r>
            <a:r>
              <a:rPr sz="2400" spc="-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 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company. </a:t>
            </a:r>
            <a:r>
              <a:rPr sz="2400" spc="-14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loan 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asset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lending 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liability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borrowing</a:t>
            </a:r>
            <a:r>
              <a:rPr sz="2400" spc="-3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company.</a:t>
            </a:r>
            <a:endParaRPr lang="en-GB" sz="2400" spc="-11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8470" marR="163195" indent="-266700">
              <a:lnSpc>
                <a:spcPts val="2160"/>
              </a:lnSpc>
              <a:buChar char="•"/>
              <a:tabLst>
                <a:tab pos="458470" algn="l"/>
                <a:tab pos="459105" algn="l"/>
              </a:tabLst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8470" marR="5080" indent="-266700">
              <a:lnSpc>
                <a:spcPct val="90000"/>
              </a:lnSpc>
              <a:buChar char="•"/>
              <a:tabLst>
                <a:tab pos="458470" algn="l"/>
                <a:tab pos="459105" algn="l"/>
              </a:tabLst>
            </a:pP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buy 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goods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services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spc="-3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credit 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another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company. </a:t>
            </a:r>
            <a:r>
              <a:rPr sz="2400" spc="-14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supplier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400" spc="-3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will 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trade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receivable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sz="2400" spc="5" dirty="0">
                <a:latin typeface="Arial" panose="020B0604020202020204" pitchFamily="34" charset="0"/>
                <a:cs typeface="Arial" panose="020B0604020202020204" pitchFamily="34" charset="0"/>
              </a:rPr>
              <a:t>will 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trade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payable.</a:t>
            </a:r>
            <a:endParaRPr lang="en-GB" sz="2400" spc="-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8470" marR="5080" indent="-266700">
              <a:lnSpc>
                <a:spcPct val="90000"/>
              </a:lnSpc>
              <a:buChar char="•"/>
              <a:tabLst>
                <a:tab pos="458470" algn="l"/>
                <a:tab pos="459105" algn="l"/>
              </a:tabLst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8470" marR="153670" indent="-266700">
              <a:lnSpc>
                <a:spcPts val="2160"/>
              </a:lnSpc>
              <a:buChar char="•"/>
              <a:tabLst>
                <a:tab pos="458470" algn="l"/>
                <a:tab pos="459105" algn="l"/>
              </a:tabLst>
            </a:pPr>
            <a:r>
              <a:rPr sz="2400" spc="-135" dirty="0"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company 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have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account </a:t>
            </a:r>
            <a:r>
              <a:rPr sz="2400" spc="10" dirty="0">
                <a:latin typeface="Arial" panose="020B0604020202020204" pitchFamily="34" charset="0"/>
                <a:cs typeface="Arial" panose="020B0604020202020204" pitchFamily="34" charset="0"/>
              </a:rPr>
              <a:t>with 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another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114" dirty="0">
                <a:latin typeface="Arial" panose="020B0604020202020204" pitchFamily="34" charset="0"/>
                <a:cs typeface="Arial" panose="020B0604020202020204" pitchFamily="34" charset="0"/>
              </a:rPr>
              <a:t>company. </a:t>
            </a:r>
            <a:r>
              <a:rPr sz="2400" spc="-145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balance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sz="2400" spc="-3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is  an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z="2400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5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liability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other.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9760" y="228600"/>
            <a:ext cx="535863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35" dirty="0">
                <a:latin typeface="Arial" panose="020B0604020202020204" pitchFamily="34" charset="0"/>
                <a:cs typeface="Arial" panose="020B0604020202020204" pitchFamily="34" charset="0"/>
              </a:rPr>
              <a:t>Unrealised</a:t>
            </a:r>
            <a:r>
              <a:rPr sz="3200" spc="-2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-125" dirty="0">
                <a:latin typeface="Arial" panose="020B0604020202020204" pitchFamily="34" charset="0"/>
                <a:cs typeface="Arial" panose="020B0604020202020204" pitchFamily="34" charset="0"/>
              </a:rPr>
              <a:t>profits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143823"/>
            <a:ext cx="8991600" cy="51841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/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assets 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shown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the financial statements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 a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group  company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may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items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acquired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another group  company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 price in excess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original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cost. The 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unrealised profit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be eliminated in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sz="24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accounts.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marR="440690" indent="-255588">
              <a:buChar char="•"/>
              <a:tabLst>
                <a:tab pos="268605" algn="l"/>
                <a:tab pos="269240" algn="l"/>
              </a:tabLst>
            </a:pPr>
            <a:r>
              <a:rPr sz="2400" spc="-210" dirty="0">
                <a:latin typeface="Arial" panose="020B0604020202020204" pitchFamily="34" charset="0"/>
                <a:cs typeface="Arial" panose="020B0604020202020204" pitchFamily="34" charset="0"/>
              </a:rPr>
              <a:t>IFRS10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requires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sz="2400" spc="-25" dirty="0">
                <a:latin typeface="Arial" panose="020B0604020202020204" pitchFamily="34" charset="0"/>
                <a:cs typeface="Arial" panose="020B0604020202020204" pitchFamily="34" charset="0"/>
              </a:rPr>
              <a:t>profits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losses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b="1" spc="-100" dirty="0">
                <a:latin typeface="Arial" panose="020B0604020202020204" pitchFamily="34" charset="0"/>
                <a:cs typeface="Arial" panose="020B0604020202020204" pitchFamily="34" charset="0"/>
              </a:rPr>
              <a:t>intra-group  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transactions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must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eliminated </a:t>
            </a:r>
            <a:r>
              <a:rPr sz="2400" spc="-3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consolidation,  irrespective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whether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subsidiary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companies</a:t>
            </a:r>
            <a:r>
              <a:rPr sz="2400" spc="-2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involved 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wholly-owned </a:t>
            </a:r>
            <a:r>
              <a:rPr sz="2400" spc="-15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partly-owned.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marR="393700" indent="-255588">
              <a:buChar char="•"/>
              <a:tabLst>
                <a:tab pos="26924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asset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sold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parent 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spc="-90" dirty="0">
                <a:latin typeface="Arial" panose="020B0604020202020204" pitchFamily="34" charset="0"/>
                <a:cs typeface="Arial" panose="020B0604020202020204" pitchFamily="34" charset="0"/>
              </a:rPr>
              <a:t>subsidiary,</a:t>
            </a:r>
            <a:r>
              <a:rPr sz="2400" spc="-3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  <a:r>
              <a:rPr sz="2400" b="1" spc="-105" dirty="0">
                <a:latin typeface="Arial" panose="020B0604020202020204" pitchFamily="34" charset="0"/>
                <a:cs typeface="Arial" panose="020B0604020202020204" pitchFamily="34" charset="0"/>
              </a:rPr>
              <a:t>unrealised  </a:t>
            </a:r>
            <a:r>
              <a:rPr sz="2400" b="1" spc="-100" dirty="0">
                <a:latin typeface="Arial" panose="020B0604020202020204" pitchFamily="34" charset="0"/>
                <a:cs typeface="Arial" panose="020B0604020202020204" pitchFamily="34" charset="0"/>
              </a:rPr>
              <a:t>profit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transaction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subtracted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sz="2400" spc="-3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retained 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earnings.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marR="391160" indent="-255588">
              <a:buChar char="•"/>
              <a:tabLst>
                <a:tab pos="268605" algn="l"/>
                <a:tab pos="269240" algn="l"/>
              </a:tabLst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asset 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sold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sz="2400" spc="-80" dirty="0">
                <a:latin typeface="Arial" panose="020B0604020202020204" pitchFamily="34" charset="0"/>
                <a:cs typeface="Arial" panose="020B0604020202020204" pitchFamily="34" charset="0"/>
              </a:rPr>
              <a:t>subsidiary </a:t>
            </a:r>
            <a:r>
              <a:rPr sz="2400" spc="15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parent, </a:t>
            </a:r>
            <a:r>
              <a:rPr sz="2400" spc="-105" dirty="0"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sz="2400" spc="-3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5" dirty="0">
                <a:latin typeface="Arial" panose="020B0604020202020204" pitchFamily="34" charset="0"/>
                <a:cs typeface="Arial" panose="020B0604020202020204" pitchFamily="34" charset="0"/>
              </a:rPr>
              <a:t>unrealised  </a:t>
            </a:r>
            <a:r>
              <a:rPr sz="2400" b="1" spc="-100" dirty="0">
                <a:latin typeface="Arial" panose="020B0604020202020204" pitchFamily="34" charset="0"/>
                <a:cs typeface="Arial" panose="020B0604020202020204" pitchFamily="34" charset="0"/>
              </a:rPr>
              <a:t>profit </a:t>
            </a:r>
            <a:r>
              <a:rPr sz="2400" spc="-6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transaction </a:t>
            </a:r>
            <a:r>
              <a:rPr sz="2400" spc="-95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allocated </a:t>
            </a:r>
            <a:r>
              <a:rPr sz="2400" spc="-35" dirty="0">
                <a:latin typeface="Arial" panose="020B0604020202020204" pitchFamily="34" charset="0"/>
                <a:cs typeface="Arial" panose="020B0604020202020204" pitchFamily="34" charset="0"/>
              </a:rPr>
              <a:t>proportionately  </a:t>
            </a:r>
            <a:r>
              <a:rPr sz="2400" spc="-55" dirty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sz="2400" spc="-65" dirty="0">
                <a:latin typeface="Arial" panose="020B0604020202020204" pitchFamily="34" charset="0"/>
                <a:cs typeface="Arial" panose="020B0604020202020204" pitchFamily="34" charset="0"/>
              </a:rPr>
              <a:t>group </a:t>
            </a:r>
            <a:r>
              <a:rPr sz="2400" spc="-50" dirty="0">
                <a:latin typeface="Arial" panose="020B0604020202020204" pitchFamily="34" charset="0"/>
                <a:cs typeface="Arial" panose="020B0604020202020204" pitchFamily="34" charset="0"/>
              </a:rPr>
              <a:t>retained 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earnings and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2400" spc="-45" dirty="0">
                <a:latin typeface="Arial" panose="020B0604020202020204" pitchFamily="34" charset="0"/>
                <a:cs typeface="Arial" panose="020B0604020202020204" pitchFamily="34" charset="0"/>
              </a:rPr>
              <a:t>non-controlling  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interest.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8BE90-31D9-43F2-B515-7F8249A9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332656"/>
            <a:ext cx="8075240" cy="998984"/>
          </a:xfrm>
        </p:spPr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EC25-7C03-4286-8473-F254EDEBD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28800"/>
            <a:ext cx="8075240" cy="449736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Consolidated accounts are prepared for medium and large groups of companies</a:t>
            </a:r>
            <a:r>
              <a:rPr lang="en-US" dirty="0"/>
              <a:t>.</a:t>
            </a:r>
          </a:p>
          <a:p>
            <a:r>
              <a:rPr lang="en-US" dirty="0"/>
              <a:t>The aim of consolidated accounts is to present a true and fair view of the group excluding inter-group transactions.</a:t>
            </a:r>
          </a:p>
          <a:p>
            <a:r>
              <a:rPr lang="en-US" dirty="0"/>
              <a:t>It is important to identify ownership and control and any minority interests.</a:t>
            </a:r>
          </a:p>
          <a:p>
            <a:r>
              <a:rPr lang="en-US" dirty="0"/>
              <a:t>The ownership or control level will classify the </a:t>
            </a:r>
            <a:r>
              <a:rPr lang="en-US" dirty="0" err="1"/>
              <a:t>organisation</a:t>
            </a:r>
            <a:r>
              <a:rPr lang="en-US" dirty="0"/>
              <a:t> as either:</a:t>
            </a:r>
          </a:p>
          <a:p>
            <a:pPr lvl="1"/>
            <a:r>
              <a:rPr lang="en-US" dirty="0"/>
              <a:t>A subsidiary</a:t>
            </a:r>
          </a:p>
          <a:p>
            <a:pPr lvl="1"/>
            <a:r>
              <a:rPr lang="en-US" dirty="0"/>
              <a:t>An associate</a:t>
            </a:r>
          </a:p>
          <a:p>
            <a:pPr lvl="1"/>
            <a:r>
              <a:rPr lang="en-GB"/>
              <a:t>An investment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7837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590ca584-f883-4593-89f2-a6cf8df5cb61"/>
  <p:tag name="TPVERSION" val="8"/>
  <p:tag name="TPFULLVERSION" val="8.6.1.4"/>
  <p:tag name="PPTVERSION" val="16"/>
  <p:tag name="TPOS" val="2"/>
  <p:tag name="TPLASTSAVEVERSION" val="6.4 PC"/>
</p:tagLst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1347</Words>
  <Application>Microsoft Office PowerPoint</Application>
  <PresentationFormat>On-screen Show (4:3)</PresentationFormat>
  <Paragraphs>245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Times New Roman</vt:lpstr>
      <vt:lpstr>Trebuchet MS</vt:lpstr>
      <vt:lpstr>Wingdings</vt:lpstr>
      <vt:lpstr>1_Office Theme</vt:lpstr>
      <vt:lpstr>2_Office Theme</vt:lpstr>
      <vt:lpstr>4_Office Theme</vt:lpstr>
      <vt:lpstr>3_Office Theme</vt:lpstr>
      <vt:lpstr>5_Office Theme</vt:lpstr>
      <vt:lpstr>C39FF: Finance and Financial Reporting  </vt:lpstr>
      <vt:lpstr>Consolidated Accounts?</vt:lpstr>
      <vt:lpstr>Group Definition</vt:lpstr>
      <vt:lpstr>Subsidiaries</vt:lpstr>
      <vt:lpstr>Controlling interest</vt:lpstr>
      <vt:lpstr>Associates and Joint ventures</vt:lpstr>
      <vt:lpstr>Group structures</vt:lpstr>
      <vt:lpstr>The need for group accounts</vt:lpstr>
      <vt:lpstr>Rules for group accounting</vt:lpstr>
      <vt:lpstr>Consolidation</vt:lpstr>
      <vt:lpstr>Group with one wholly owned subsidiary example</vt:lpstr>
      <vt:lpstr>Subsidiary individual accounts</vt:lpstr>
      <vt:lpstr>Consolidated accounting</vt:lpstr>
      <vt:lpstr>Goodwill</vt:lpstr>
      <vt:lpstr>Goodwill arising on consolidation</vt:lpstr>
      <vt:lpstr>PowerPoint Presentation</vt:lpstr>
      <vt:lpstr>PowerPoint Presentation</vt:lpstr>
      <vt:lpstr>Intra-group balances</vt:lpstr>
      <vt:lpstr>Unrealised profits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Marcus Gwee Wen Hong</cp:lastModifiedBy>
  <cp:revision>39</cp:revision>
  <cp:lastPrinted>2021-10-04T15:45:35Z</cp:lastPrinted>
  <dcterms:created xsi:type="dcterms:W3CDTF">2016-02-11T16:23:53Z</dcterms:created>
  <dcterms:modified xsi:type="dcterms:W3CDTF">2026-01-30T08:12:50Z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