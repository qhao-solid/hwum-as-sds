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  <p:sldMasterId id="2147483702" r:id="rId5"/>
    <p:sldMasterId id="2147483685" r:id="rId6"/>
    <p:sldMasterId id="2147483684" r:id="rId7"/>
    <p:sldMasterId id="2147483686" r:id="rId8"/>
  </p:sldMasterIdLst>
  <p:sldIdLst>
    <p:sldId id="256" r:id="rId9"/>
    <p:sldId id="301" r:id="rId10"/>
    <p:sldId id="304" r:id="rId11"/>
    <p:sldId id="278" r:id="rId12"/>
    <p:sldId id="279" r:id="rId13"/>
    <p:sldId id="302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303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6A71"/>
    <a:srgbClr val="0098DB"/>
    <a:srgbClr val="00549F"/>
    <a:srgbClr val="A5A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188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0098D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424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5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98DB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72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05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782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93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92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44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261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248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220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5E6A7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62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24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E6A7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916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899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113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855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8888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630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5278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1034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05/11/2021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0257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3919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65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024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05/11/2021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28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0098D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05/11/2021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437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41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131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26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C31FF Finance &amp; Financial Reporting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3600" b="1" i="0" dirty="0"/>
              <a:t>Financing Limited Companies</a:t>
            </a:r>
          </a:p>
        </p:txBody>
      </p:sp>
    </p:spTree>
    <p:extLst>
      <p:ext uri="{BB962C8B-B14F-4D97-AF65-F5344CB8AC3E}">
        <p14:creationId xmlns:p14="http://schemas.microsoft.com/office/powerpoint/2010/main" val="4275265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 dirty="0"/>
              <a:t>Payment ranking when a company is wound up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altLang="en-US" sz="1800" dirty="0"/>
              <a:t>Fixed charge creditors</a:t>
            </a:r>
          </a:p>
          <a:p>
            <a:r>
              <a:rPr lang="en-GB" altLang="en-US" sz="1800" dirty="0"/>
              <a:t>Floating charge creditors</a:t>
            </a:r>
          </a:p>
          <a:p>
            <a:r>
              <a:rPr lang="en-GB" altLang="en-US" sz="1800" dirty="0"/>
              <a:t>Preferential Creditors</a:t>
            </a:r>
          </a:p>
          <a:p>
            <a:pPr lvl="1"/>
            <a:r>
              <a:rPr lang="en-GB" altLang="en-US" sz="1800" dirty="0">
                <a:ea typeface="ＭＳ Ｐゴシック" panose="020B0600070205080204" pitchFamily="34" charset="-128"/>
              </a:rPr>
              <a:t>Include employees’ claims for arrears of wages, holiday pay and pension payments (limited by law)</a:t>
            </a:r>
          </a:p>
          <a:p>
            <a:pPr lvl="1"/>
            <a:r>
              <a:rPr lang="en-GB" altLang="en-US" sz="1800" dirty="0">
                <a:ea typeface="ＭＳ Ｐゴシック" panose="020B0600070205080204" pitchFamily="34" charset="-128"/>
              </a:rPr>
              <a:t>Also any unpaid taxes </a:t>
            </a:r>
          </a:p>
          <a:p>
            <a:r>
              <a:rPr lang="en-GB" altLang="en-US" sz="1800" dirty="0"/>
              <a:t>Unsecured creditors</a:t>
            </a:r>
          </a:p>
          <a:p>
            <a:pPr lvl="1"/>
            <a:r>
              <a:rPr lang="en-GB" altLang="en-US" sz="1800" dirty="0">
                <a:ea typeface="ＭＳ Ｐゴシック" panose="020B0600070205080204" pitchFamily="34" charset="-128"/>
              </a:rPr>
              <a:t>This includes trade payables </a:t>
            </a:r>
          </a:p>
          <a:p>
            <a:r>
              <a:rPr lang="en-GB" altLang="en-US" sz="1800" dirty="0"/>
              <a:t>Connected creditors</a:t>
            </a:r>
          </a:p>
          <a:p>
            <a:pPr lvl="1"/>
            <a:r>
              <a:rPr lang="en-GB" altLang="en-US" sz="1800" dirty="0">
                <a:ea typeface="ＭＳ Ｐゴシック" panose="020B0600070205080204" pitchFamily="34" charset="-128"/>
              </a:rPr>
              <a:t>Loans or unpaid salary for directors and their spouses and close family</a:t>
            </a:r>
          </a:p>
          <a:p>
            <a:r>
              <a:rPr lang="en-GB" altLang="en-US" sz="1800" dirty="0"/>
              <a:t>Preference Shareholders</a:t>
            </a:r>
          </a:p>
          <a:p>
            <a:r>
              <a:rPr lang="en-GB" altLang="en-US" sz="1800" dirty="0"/>
              <a:t>Ordinary shareholders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8933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Raising Finance on the Stock Market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Issue of Shares</a:t>
            </a:r>
          </a:p>
          <a:p>
            <a:r>
              <a:rPr lang="en-GB" dirty="0" smtClean="0"/>
              <a:t>Re-structure of share capital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7675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DC5661C-ACF9-42EB-A7F5-F36A1AEE2E89}" type="slidenum">
              <a:rPr lang="en-GB" altLang="en-US" sz="969"/>
              <a:pPr/>
              <a:t>4</a:t>
            </a:fld>
            <a:endParaRPr lang="en-GB" altLang="en-US" sz="969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/>
              <a:t>Obtaining a stock exchange quotation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GB" altLang="en-US"/>
              <a:t>Advantages</a:t>
            </a:r>
          </a:p>
          <a:p>
            <a:pPr lvl="1">
              <a:lnSpc>
                <a:spcPct val="90000"/>
              </a:lnSpc>
            </a:pPr>
            <a:r>
              <a:rPr lang="en-GB" altLang="en-US">
                <a:ea typeface="ＭＳ Ｐゴシック" panose="020B0600070205080204" pitchFamily="34" charset="-128"/>
              </a:rPr>
              <a:t>raise capital now</a:t>
            </a:r>
          </a:p>
          <a:p>
            <a:pPr lvl="1">
              <a:lnSpc>
                <a:spcPct val="90000"/>
              </a:lnSpc>
            </a:pPr>
            <a:r>
              <a:rPr lang="en-GB" altLang="en-US">
                <a:ea typeface="ＭＳ Ｐゴシック" panose="020B0600070205080204" pitchFamily="34" charset="-128"/>
              </a:rPr>
              <a:t>easier to raise capital in the future</a:t>
            </a:r>
          </a:p>
          <a:p>
            <a:pPr lvl="1">
              <a:lnSpc>
                <a:spcPct val="90000"/>
              </a:lnSpc>
            </a:pPr>
            <a:r>
              <a:rPr lang="en-GB" altLang="en-US">
                <a:ea typeface="ＭＳ Ｐゴシック" panose="020B0600070205080204" pitchFamily="34" charset="-128"/>
              </a:rPr>
              <a:t>provide an exit route for existing shareholders</a:t>
            </a:r>
          </a:p>
          <a:p>
            <a:pPr lvl="1">
              <a:lnSpc>
                <a:spcPct val="90000"/>
              </a:lnSpc>
            </a:pPr>
            <a:r>
              <a:rPr lang="en-GB" altLang="en-US">
                <a:ea typeface="ＭＳ Ｐゴシック" panose="020B0600070205080204" pitchFamily="34" charset="-128"/>
              </a:rPr>
              <a:t>improve marketability of shares</a:t>
            </a:r>
          </a:p>
          <a:p>
            <a:pPr lvl="1">
              <a:lnSpc>
                <a:spcPct val="90000"/>
              </a:lnSpc>
            </a:pPr>
            <a:endParaRPr lang="en-GB" altLang="en-US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GB" altLang="en-US"/>
              <a:t>Disadvantages</a:t>
            </a:r>
          </a:p>
          <a:p>
            <a:pPr lvl="1">
              <a:lnSpc>
                <a:spcPct val="90000"/>
              </a:lnSpc>
            </a:pPr>
            <a:r>
              <a:rPr lang="en-GB" altLang="en-US">
                <a:ea typeface="ＭＳ Ｐゴシック" panose="020B0600070205080204" pitchFamily="34" charset="-128"/>
              </a:rPr>
              <a:t>expensive</a:t>
            </a:r>
          </a:p>
          <a:p>
            <a:pPr lvl="1">
              <a:lnSpc>
                <a:spcPct val="90000"/>
              </a:lnSpc>
            </a:pPr>
            <a:r>
              <a:rPr lang="en-GB" altLang="en-US">
                <a:ea typeface="ＭＳ Ｐゴシック" panose="020B0600070205080204" pitchFamily="34" charset="-128"/>
              </a:rPr>
              <a:t>extra disclosure requirements</a:t>
            </a:r>
          </a:p>
          <a:p>
            <a:pPr lvl="1">
              <a:lnSpc>
                <a:spcPct val="90000"/>
              </a:lnSpc>
            </a:pPr>
            <a:r>
              <a:rPr lang="en-GB" altLang="en-US">
                <a:ea typeface="ＭＳ Ｐゴシック" panose="020B0600070205080204" pitchFamily="34" charset="-128"/>
              </a:rPr>
              <a:t>investor pressure</a:t>
            </a:r>
          </a:p>
          <a:p>
            <a:pPr lvl="1">
              <a:lnSpc>
                <a:spcPct val="90000"/>
              </a:lnSpc>
            </a:pPr>
            <a:r>
              <a:rPr lang="en-GB" altLang="en-US">
                <a:ea typeface="ＭＳ Ｐゴシック" panose="020B0600070205080204" pitchFamily="34" charset="-128"/>
              </a:rPr>
              <a:t>rules on insider dealing</a:t>
            </a:r>
          </a:p>
          <a:p>
            <a:pPr lvl="1">
              <a:lnSpc>
                <a:spcPct val="90000"/>
              </a:lnSpc>
            </a:pPr>
            <a:endParaRPr lang="en-GB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8364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7ADB3B1A-36B9-4757-9CF1-E2AD7DD38059}" type="slidenum">
              <a:rPr lang="en-GB" altLang="en-US" sz="969"/>
              <a:pPr/>
              <a:t>5</a:t>
            </a:fld>
            <a:endParaRPr lang="en-GB" altLang="en-US" sz="969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414630" y="2043295"/>
            <a:ext cx="4022481" cy="761633"/>
          </a:xfrm>
        </p:spPr>
        <p:txBody>
          <a:bodyPr>
            <a:normAutofit fontScale="90000"/>
          </a:bodyPr>
          <a:lstStyle/>
          <a:p>
            <a:r>
              <a:rPr lang="en-GB" altLang="en-US" dirty="0"/>
              <a:t>Routes to listing</a:t>
            </a:r>
            <a:br>
              <a:rPr lang="en-GB" altLang="en-US" dirty="0"/>
            </a:br>
            <a:endParaRPr lang="en-GB" altLang="en-US" dirty="0"/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2424112"/>
            <a:ext cx="8208912" cy="4114800"/>
          </a:xfrm>
        </p:spPr>
        <p:txBody>
          <a:bodyPr>
            <a:normAutofit/>
          </a:bodyPr>
          <a:lstStyle/>
          <a:p>
            <a:r>
              <a:rPr lang="en-GB" altLang="en-US" dirty="0"/>
              <a:t>Offer for sale at a fixed price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most common method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predetermined number of shares offered to the public at a specified price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shares sold first to an issuing house, which then sells to public (underwriting)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issuing houses usually part of an investment bank</a:t>
            </a:r>
          </a:p>
        </p:txBody>
      </p:sp>
    </p:spTree>
    <p:extLst>
      <p:ext uri="{BB962C8B-B14F-4D97-AF65-F5344CB8AC3E}">
        <p14:creationId xmlns:p14="http://schemas.microsoft.com/office/powerpoint/2010/main" val="2397508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Process of an offer for sale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1938" dirty="0"/>
              <a:t>issuing house advises on price of shares</a:t>
            </a:r>
          </a:p>
          <a:p>
            <a:pPr>
              <a:lnSpc>
                <a:spcPct val="90000"/>
              </a:lnSpc>
            </a:pPr>
            <a:r>
              <a:rPr lang="en-GB" altLang="en-US" sz="1938" dirty="0"/>
              <a:t>prospectus issued to public containing detailed information on company</a:t>
            </a:r>
          </a:p>
          <a:p>
            <a:pPr lvl="1">
              <a:lnSpc>
                <a:spcPct val="90000"/>
              </a:lnSpc>
            </a:pPr>
            <a:r>
              <a:rPr lang="en-GB" altLang="en-US" sz="1662" dirty="0">
                <a:ea typeface="ＭＳ Ｐゴシック" panose="020B0600070205080204" pitchFamily="34" charset="-128"/>
              </a:rPr>
              <a:t>Financial position</a:t>
            </a:r>
          </a:p>
          <a:p>
            <a:pPr lvl="1">
              <a:lnSpc>
                <a:spcPct val="90000"/>
              </a:lnSpc>
            </a:pPr>
            <a:r>
              <a:rPr lang="en-GB" altLang="en-US" sz="1662" dirty="0">
                <a:ea typeface="ＭＳ Ｐゴシック" panose="020B0600070205080204" pitchFamily="34" charset="-128"/>
              </a:rPr>
              <a:t>Activities</a:t>
            </a:r>
          </a:p>
          <a:p>
            <a:pPr lvl="1">
              <a:lnSpc>
                <a:spcPct val="90000"/>
              </a:lnSpc>
            </a:pPr>
            <a:r>
              <a:rPr lang="en-GB" altLang="en-US" sz="1662" dirty="0">
                <a:ea typeface="ＭＳ Ｐゴシック" panose="020B0600070205080204" pitchFamily="34" charset="-128"/>
              </a:rPr>
              <a:t>Reason for listing</a:t>
            </a:r>
          </a:p>
          <a:p>
            <a:pPr lvl="1">
              <a:lnSpc>
                <a:spcPct val="90000"/>
              </a:lnSpc>
            </a:pPr>
            <a:r>
              <a:rPr lang="en-GB" altLang="en-US" sz="1662" dirty="0">
                <a:ea typeface="ＭＳ Ｐゴシック" panose="020B0600070205080204" pitchFamily="34" charset="-128"/>
              </a:rPr>
              <a:t>People</a:t>
            </a:r>
          </a:p>
          <a:p>
            <a:pPr>
              <a:lnSpc>
                <a:spcPct val="90000"/>
              </a:lnSpc>
            </a:pPr>
            <a:r>
              <a:rPr lang="en-GB" altLang="en-US" sz="1938" dirty="0"/>
              <a:t>applications to buy shares  received from the public</a:t>
            </a:r>
          </a:p>
          <a:p>
            <a:pPr>
              <a:lnSpc>
                <a:spcPct val="90000"/>
              </a:lnSpc>
            </a:pPr>
            <a:r>
              <a:rPr lang="en-GB" altLang="en-US" sz="1938" dirty="0"/>
              <a:t>usually, issues are oversubscribed, so must be scaled down</a:t>
            </a:r>
          </a:p>
          <a:p>
            <a:pPr>
              <a:lnSpc>
                <a:spcPct val="90000"/>
              </a:lnSpc>
            </a:pPr>
            <a:r>
              <a:rPr lang="en-GB" altLang="en-US" sz="1938" dirty="0"/>
              <a:t>letters of acceptance, refund cheques and share certificates issued</a:t>
            </a:r>
          </a:p>
          <a:p>
            <a:pPr>
              <a:lnSpc>
                <a:spcPct val="90000"/>
              </a:lnSpc>
            </a:pPr>
            <a:r>
              <a:rPr lang="en-GB" altLang="en-US" sz="1938" dirty="0"/>
              <a:t>Shares are then tradable on the Stock Exchange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8334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4AAD31FA-401E-489C-81C0-324398D6EECE}" type="slidenum">
              <a:rPr lang="en-GB" altLang="en-US" sz="969"/>
              <a:pPr/>
              <a:t>7</a:t>
            </a:fld>
            <a:endParaRPr lang="en-GB" altLang="en-US" sz="969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1412776"/>
            <a:ext cx="7200800" cy="761633"/>
          </a:xfrm>
        </p:spPr>
        <p:txBody>
          <a:bodyPr>
            <a:normAutofit/>
          </a:bodyPr>
          <a:lstStyle/>
          <a:p>
            <a:r>
              <a:rPr lang="en-GB" altLang="en-US" dirty="0"/>
              <a:t>Offer for sale by tender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2348880"/>
            <a:ext cx="8507288" cy="4114800"/>
          </a:xfrm>
        </p:spPr>
        <p:txBody>
          <a:bodyPr>
            <a:normAutofit/>
          </a:bodyPr>
          <a:lstStyle/>
          <a:p>
            <a:r>
              <a:rPr lang="en-GB" altLang="en-US" sz="1938" dirty="0"/>
              <a:t>Issuing house asks for offers from public, stating</a:t>
            </a:r>
          </a:p>
          <a:p>
            <a:pPr lvl="1"/>
            <a:r>
              <a:rPr lang="en-GB" altLang="en-US" sz="1662" dirty="0">
                <a:ea typeface="ＭＳ Ｐゴシック" panose="020B0600070205080204" pitchFamily="34" charset="-128"/>
              </a:rPr>
              <a:t>how many shares they will buy</a:t>
            </a:r>
          </a:p>
          <a:p>
            <a:pPr lvl="1"/>
            <a:r>
              <a:rPr lang="en-GB" altLang="en-US" sz="1662" dirty="0">
                <a:ea typeface="ＭＳ Ｐゴシック" panose="020B0600070205080204" pitchFamily="34" charset="-128"/>
              </a:rPr>
              <a:t>how much they will pay</a:t>
            </a:r>
          </a:p>
          <a:p>
            <a:pPr lvl="1"/>
            <a:endParaRPr lang="en-GB" altLang="en-US" sz="1662" dirty="0">
              <a:ea typeface="ＭＳ Ｐゴシック" panose="020B0600070205080204" pitchFamily="34" charset="-128"/>
            </a:endParaRPr>
          </a:p>
          <a:p>
            <a:r>
              <a:rPr lang="en-GB" altLang="en-US" sz="1938" dirty="0"/>
              <a:t>After offer closes, issuing house determines ‘strike price’</a:t>
            </a:r>
          </a:p>
          <a:p>
            <a:pPr lvl="1"/>
            <a:r>
              <a:rPr lang="en-GB" altLang="en-US" sz="1662" dirty="0">
                <a:ea typeface="ＭＳ Ｐゴシック" panose="020B0600070205080204" pitchFamily="34" charset="-128"/>
              </a:rPr>
              <a:t>strike price chosen to ensure all shares sold</a:t>
            </a:r>
          </a:p>
          <a:p>
            <a:pPr lvl="1"/>
            <a:r>
              <a:rPr lang="en-GB" altLang="en-US" sz="1662" dirty="0">
                <a:ea typeface="ＭＳ Ｐゴシック" panose="020B0600070205080204" pitchFamily="34" charset="-128"/>
              </a:rPr>
              <a:t>all applicants who bid at least as much as the strike price are accepted</a:t>
            </a:r>
          </a:p>
          <a:p>
            <a:pPr lvl="1"/>
            <a:r>
              <a:rPr lang="en-GB" altLang="en-US" sz="1662" dirty="0">
                <a:ea typeface="ＭＳ Ｐゴシック" panose="020B0600070205080204" pitchFamily="34" charset="-128"/>
              </a:rPr>
              <a:t>all applicants pay the strike price (even if bid was higher) </a:t>
            </a:r>
          </a:p>
        </p:txBody>
      </p:sp>
    </p:spTree>
    <p:extLst>
      <p:ext uri="{BB962C8B-B14F-4D97-AF65-F5344CB8AC3E}">
        <p14:creationId xmlns:p14="http://schemas.microsoft.com/office/powerpoint/2010/main" val="3860784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5F33DF41-5244-4EFE-A1CA-39CFAE51375D}" type="slidenum">
              <a:rPr lang="en-GB" altLang="en-US" sz="969"/>
              <a:pPr/>
              <a:t>8</a:t>
            </a:fld>
            <a:endParaRPr lang="en-GB" altLang="en-US" sz="969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771800" y="692696"/>
            <a:ext cx="4009292" cy="527538"/>
          </a:xfrm>
        </p:spPr>
        <p:txBody>
          <a:bodyPr>
            <a:normAutofit fontScale="90000"/>
          </a:bodyPr>
          <a:lstStyle/>
          <a:p>
            <a:r>
              <a:rPr lang="en-GB" altLang="en-US" dirty="0">
                <a:solidFill>
                  <a:schemeClr val="accent5">
                    <a:lumMod val="75000"/>
                  </a:schemeClr>
                </a:solidFill>
              </a:rPr>
              <a:t>Example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7504" y="1942797"/>
            <a:ext cx="8928992" cy="4778678"/>
          </a:xfrm>
        </p:spPr>
        <p:txBody>
          <a:bodyPr/>
          <a:lstStyle/>
          <a:p>
            <a:pPr algn="l"/>
            <a:r>
              <a:rPr lang="en-GB" altLang="en-US" sz="1662" dirty="0"/>
              <a:t>BCG plc wants to issue 1,000,000  £1 shares by way of an offer for sale by tender. It receives applications from four members of the public to buy shares as follows:</a:t>
            </a:r>
          </a:p>
          <a:p>
            <a:pPr algn="l"/>
            <a:endParaRPr lang="en-GB" altLang="en-US" sz="1662" dirty="0"/>
          </a:p>
          <a:p>
            <a:pPr algn="l"/>
            <a:r>
              <a:rPr lang="en-GB" altLang="en-US" sz="1662" dirty="0"/>
              <a:t>Miss A - 400,000 shares at £1.10</a:t>
            </a:r>
          </a:p>
          <a:p>
            <a:pPr algn="l"/>
            <a:r>
              <a:rPr lang="en-GB" altLang="en-US" sz="1662" dirty="0"/>
              <a:t>Mr B - 300,000 shares at £1.30</a:t>
            </a:r>
          </a:p>
          <a:p>
            <a:pPr algn="l"/>
            <a:r>
              <a:rPr lang="en-GB" altLang="en-US" sz="1662" dirty="0"/>
              <a:t>C Ltd - 800,000 shares at £1.15</a:t>
            </a:r>
          </a:p>
          <a:p>
            <a:pPr algn="l"/>
            <a:r>
              <a:rPr lang="en-GB" altLang="en-US" sz="1662" dirty="0"/>
              <a:t>Ms D - 100,000 shares at £1.40</a:t>
            </a:r>
          </a:p>
          <a:p>
            <a:pPr algn="l"/>
            <a:endParaRPr lang="en-GB" altLang="en-US" sz="1662" dirty="0"/>
          </a:p>
          <a:p>
            <a:pPr algn="l"/>
            <a:r>
              <a:rPr lang="en-GB" altLang="en-US" sz="1662" dirty="0"/>
              <a:t>The company would rank the applications, and grant shares as follows:</a:t>
            </a:r>
          </a:p>
          <a:p>
            <a:pPr algn="l"/>
            <a:r>
              <a:rPr lang="en-GB" altLang="en-US" sz="1662" dirty="0"/>
              <a:t>Ms D - 100,000 shares (bid £1.40)</a:t>
            </a:r>
          </a:p>
          <a:p>
            <a:pPr algn="l"/>
            <a:r>
              <a:rPr lang="en-GB" altLang="en-US" sz="1662" dirty="0"/>
              <a:t>Mr B - 300,000 shares (bid £1.30)</a:t>
            </a:r>
          </a:p>
          <a:p>
            <a:pPr algn="l"/>
            <a:r>
              <a:rPr lang="en-GB" altLang="en-US" sz="1662" dirty="0"/>
              <a:t>C Ltd - 600,000 shares (bid £1.15)</a:t>
            </a:r>
          </a:p>
          <a:p>
            <a:pPr algn="l"/>
            <a:endParaRPr lang="en-GB" altLang="en-US" sz="1662" dirty="0"/>
          </a:p>
          <a:p>
            <a:pPr algn="l"/>
            <a:r>
              <a:rPr lang="en-GB" altLang="en-US" sz="1662" dirty="0"/>
              <a:t>All subscribers would pay £1.15 for their shares, despite Ms D and Mr B being prepared to pay more. Miss A would not receive any shares in the company</a:t>
            </a:r>
          </a:p>
          <a:p>
            <a:pPr algn="l"/>
            <a:endParaRPr lang="en-GB" altLang="en-US" sz="1662" dirty="0"/>
          </a:p>
        </p:txBody>
      </p:sp>
    </p:spTree>
    <p:extLst>
      <p:ext uri="{BB962C8B-B14F-4D97-AF65-F5344CB8AC3E}">
        <p14:creationId xmlns:p14="http://schemas.microsoft.com/office/powerpoint/2010/main" val="3748127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9709598C-D0DF-476E-828B-90AEE1440781}" type="slidenum">
              <a:rPr lang="en-GB" altLang="en-US" sz="969"/>
              <a:pPr/>
              <a:t>9</a:t>
            </a:fld>
            <a:endParaRPr lang="en-GB" altLang="en-US" sz="969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1052736"/>
            <a:ext cx="8075240" cy="998984"/>
          </a:xfrm>
        </p:spPr>
        <p:txBody>
          <a:bodyPr>
            <a:normAutofit fontScale="90000"/>
          </a:bodyPr>
          <a:lstStyle/>
          <a:p>
            <a:r>
              <a:rPr lang="en-GB" altLang="en-US" dirty="0"/>
              <a:t>Other methods of obtaining a listing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4704" y="2204864"/>
            <a:ext cx="8568952" cy="425574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1938" dirty="0"/>
              <a:t>Offer for subscription</a:t>
            </a:r>
          </a:p>
          <a:p>
            <a:pPr lvl="1">
              <a:lnSpc>
                <a:spcPct val="90000"/>
              </a:lnSpc>
            </a:pPr>
            <a:r>
              <a:rPr lang="en-GB" altLang="en-US" sz="1662" dirty="0">
                <a:ea typeface="ＭＳ Ｐゴシック" panose="020B0600070205080204" pitchFamily="34" charset="-128"/>
              </a:rPr>
              <a:t>similar to offers for sale</a:t>
            </a:r>
          </a:p>
          <a:p>
            <a:pPr lvl="1">
              <a:lnSpc>
                <a:spcPct val="90000"/>
              </a:lnSpc>
            </a:pPr>
            <a:r>
              <a:rPr lang="en-GB" altLang="en-US" sz="1662" dirty="0">
                <a:ea typeface="ＭＳ Ｐゴシック" panose="020B0600070205080204" pitchFamily="34" charset="-128"/>
              </a:rPr>
              <a:t>normally at a fixed price</a:t>
            </a:r>
          </a:p>
          <a:p>
            <a:pPr lvl="1">
              <a:lnSpc>
                <a:spcPct val="90000"/>
              </a:lnSpc>
            </a:pPr>
            <a:r>
              <a:rPr lang="en-GB" altLang="en-US" sz="1662" dirty="0">
                <a:ea typeface="ＭＳ Ｐゴシック" panose="020B0600070205080204" pitchFamily="34" charset="-128"/>
              </a:rPr>
              <a:t>the whole issue is not underwritten</a:t>
            </a:r>
          </a:p>
          <a:p>
            <a:pPr lvl="1">
              <a:lnSpc>
                <a:spcPct val="90000"/>
              </a:lnSpc>
            </a:pPr>
            <a:r>
              <a:rPr lang="en-GB" altLang="en-US" sz="1662" dirty="0">
                <a:ea typeface="ＭＳ Ｐゴシック" panose="020B0600070205080204" pitchFamily="34" charset="-128"/>
              </a:rPr>
              <a:t>company sells shares directly to the public</a:t>
            </a:r>
          </a:p>
          <a:p>
            <a:pPr lvl="1">
              <a:lnSpc>
                <a:spcPct val="90000"/>
              </a:lnSpc>
            </a:pPr>
            <a:r>
              <a:rPr lang="en-GB" altLang="en-US" sz="1662" dirty="0">
                <a:ea typeface="ＭＳ Ｐゴシック" panose="020B0600070205080204" pitchFamily="34" charset="-128"/>
              </a:rPr>
              <a:t>issuing company bears risk of undersubscription</a:t>
            </a:r>
          </a:p>
          <a:p>
            <a:pPr lvl="1">
              <a:lnSpc>
                <a:spcPct val="90000"/>
              </a:lnSpc>
            </a:pPr>
            <a:endParaRPr lang="en-GB" altLang="en-US" sz="1662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GB" altLang="en-US" sz="1938" dirty="0"/>
              <a:t>Placing (or selective marketing)</a:t>
            </a:r>
          </a:p>
          <a:p>
            <a:pPr lvl="1">
              <a:lnSpc>
                <a:spcPct val="90000"/>
              </a:lnSpc>
            </a:pPr>
            <a:r>
              <a:rPr lang="en-GB" altLang="en-US" sz="1662" dirty="0">
                <a:ea typeface="ＭＳ Ｐゴシック" panose="020B0600070205080204" pitchFamily="34" charset="-128"/>
              </a:rPr>
              <a:t>cheaper, simpler method of making small issues </a:t>
            </a:r>
          </a:p>
          <a:p>
            <a:pPr lvl="1">
              <a:lnSpc>
                <a:spcPct val="90000"/>
              </a:lnSpc>
            </a:pPr>
            <a:r>
              <a:rPr lang="en-GB" altLang="en-US" sz="1662" dirty="0">
                <a:ea typeface="ＭＳ Ｐゴシック" panose="020B0600070205080204" pitchFamily="34" charset="-128"/>
              </a:rPr>
              <a:t>issuing house first buys shares from company, then sells directly to institutional investors</a:t>
            </a:r>
          </a:p>
          <a:p>
            <a:pPr lvl="1">
              <a:lnSpc>
                <a:spcPct val="90000"/>
              </a:lnSpc>
            </a:pPr>
            <a:r>
              <a:rPr lang="en-GB" altLang="en-US" sz="1662" dirty="0">
                <a:ea typeface="ＭＳ Ｐゴシック" panose="020B0600070205080204" pitchFamily="34" charset="-128"/>
              </a:rPr>
              <a:t>public are not involved</a:t>
            </a:r>
          </a:p>
        </p:txBody>
      </p:sp>
    </p:spTree>
    <p:extLst>
      <p:ext uri="{BB962C8B-B14F-4D97-AF65-F5344CB8AC3E}">
        <p14:creationId xmlns:p14="http://schemas.microsoft.com/office/powerpoint/2010/main" val="1233200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Content Placeholder 2"/>
          <p:cNvSpPr>
            <a:spLocks noGrp="1"/>
          </p:cNvSpPr>
          <p:nvPr>
            <p:ph idx="1"/>
          </p:nvPr>
        </p:nvSpPr>
        <p:spPr>
          <a:xfrm>
            <a:off x="2434" y="1690732"/>
            <a:ext cx="8579296" cy="5041290"/>
          </a:xfrm>
        </p:spPr>
        <p:txBody>
          <a:bodyPr>
            <a:normAutofit/>
          </a:bodyPr>
          <a:lstStyle/>
          <a:p>
            <a:r>
              <a:rPr lang="en-GB" altLang="en-US" dirty="0"/>
              <a:t>Introduction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does not involve the sale of any shares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existing shares become quoted on stock exchange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used where shares are already widely held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aim is not immediate fundraising, but increased share marketability</a:t>
            </a:r>
          </a:p>
          <a:p>
            <a:endParaRPr lang="en-GB" altLang="en-US" dirty="0"/>
          </a:p>
        </p:txBody>
      </p:sp>
      <p:sp>
        <p:nvSpPr>
          <p:cNvPr id="4301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461DFB38-8391-4080-A056-C8C3F7D1CEA3}" type="slidenum">
              <a:rPr lang="en-GB" altLang="en-US" sz="969"/>
              <a:pPr/>
              <a:t>10</a:t>
            </a:fld>
            <a:endParaRPr lang="en-GB" altLang="en-US" sz="969"/>
          </a:p>
        </p:txBody>
      </p:sp>
    </p:spTree>
    <p:extLst>
      <p:ext uri="{BB962C8B-B14F-4D97-AF65-F5344CB8AC3E}">
        <p14:creationId xmlns:p14="http://schemas.microsoft.com/office/powerpoint/2010/main" val="4149555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4FD8D901-3A52-43B2-8DD1-DA112E6E665C}" type="slidenum">
              <a:rPr lang="en-GB" altLang="en-US" sz="969"/>
              <a:pPr/>
              <a:t>11</a:t>
            </a:fld>
            <a:endParaRPr lang="en-GB" altLang="en-US" sz="969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240256" y="1484784"/>
            <a:ext cx="4075235" cy="603372"/>
          </a:xfrm>
        </p:spPr>
        <p:txBody>
          <a:bodyPr>
            <a:normAutofit fontScale="90000"/>
          </a:bodyPr>
          <a:lstStyle/>
          <a:p>
            <a:r>
              <a:rPr lang="en-GB" altLang="en-US"/>
              <a:t>Underwriting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1737" y="2492896"/>
            <a:ext cx="8640960" cy="4114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sz="2400" dirty="0"/>
              <a:t>always used for an offer for sale, often used for other share issues</a:t>
            </a:r>
          </a:p>
          <a:p>
            <a:pPr>
              <a:lnSpc>
                <a:spcPct val="90000"/>
              </a:lnSpc>
            </a:pPr>
            <a:r>
              <a:rPr lang="en-GB" altLang="en-US" sz="2400" dirty="0"/>
              <a:t>avoids risk of not selling all shares</a:t>
            </a:r>
          </a:p>
          <a:p>
            <a:pPr>
              <a:lnSpc>
                <a:spcPct val="90000"/>
              </a:lnSpc>
            </a:pPr>
            <a:r>
              <a:rPr lang="en-GB" altLang="en-US" sz="2400" dirty="0"/>
              <a:t>company sells shares at agreed price to issuing house</a:t>
            </a:r>
          </a:p>
          <a:p>
            <a:pPr>
              <a:lnSpc>
                <a:spcPct val="90000"/>
              </a:lnSpc>
            </a:pPr>
            <a:r>
              <a:rPr lang="en-GB" altLang="en-US" sz="2400" dirty="0"/>
              <a:t>issuing house gets a fee, or % of value of shares</a:t>
            </a:r>
          </a:p>
          <a:p>
            <a:pPr>
              <a:lnSpc>
                <a:spcPct val="90000"/>
              </a:lnSpc>
            </a:pPr>
            <a:r>
              <a:rPr lang="en-GB" altLang="en-US" sz="2400" dirty="0"/>
              <a:t>issuing house may arrange sub-underwriting to spread risk</a:t>
            </a:r>
          </a:p>
          <a:p>
            <a:pPr>
              <a:lnSpc>
                <a:spcPct val="90000"/>
              </a:lnSpc>
            </a:pPr>
            <a:r>
              <a:rPr lang="en-GB" altLang="en-US" sz="2400" dirty="0"/>
              <a:t>issuing houses take care not to overprice issues, so they are successful</a:t>
            </a:r>
          </a:p>
          <a:p>
            <a:pPr>
              <a:lnSpc>
                <a:spcPct val="90000"/>
              </a:lnSpc>
            </a:pPr>
            <a:r>
              <a:rPr lang="en-GB" altLang="en-US" sz="2400" dirty="0"/>
              <a:t>main risk is unexpected event between agreeing to accept the underwriting and the closing date for the offer for sale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GB" altLang="en-US" sz="200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39287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F17EA0CE-1BFB-4115-B7D2-FE965ADD4C29}" type="slidenum">
              <a:rPr lang="en-GB" altLang="en-US" sz="969"/>
              <a:pPr/>
              <a:t>12</a:t>
            </a:fld>
            <a:endParaRPr lang="en-GB" altLang="en-US" sz="969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Rights issues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dirty="0"/>
              <a:t>Required to maintain existing shareholders’ proportions of shares</a:t>
            </a:r>
          </a:p>
          <a:p>
            <a:r>
              <a:rPr lang="en-GB" altLang="en-US" dirty="0"/>
              <a:t>If a company has 1m shares in issue, then issues a further 1m shares, a shareholder owning 25% of the company will end up owning only 12.5%</a:t>
            </a:r>
          </a:p>
          <a:p>
            <a:r>
              <a:rPr lang="en-GB" altLang="en-US" dirty="0"/>
              <a:t>Must offer new shares to existing shareholders first</a:t>
            </a:r>
          </a:p>
          <a:p>
            <a:pPr>
              <a:buFontTx/>
              <a:buNone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336298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3EA7482A-2C79-4461-82D0-041F19AEC8F3}" type="slidenum">
              <a:rPr lang="en-GB" altLang="en-US" sz="969"/>
              <a:pPr/>
              <a:t>13</a:t>
            </a:fld>
            <a:endParaRPr lang="en-GB" altLang="en-US" sz="969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2060848"/>
            <a:ext cx="8856984" cy="3971046"/>
          </a:xfrm>
        </p:spPr>
        <p:txBody>
          <a:bodyPr>
            <a:normAutofit/>
          </a:bodyPr>
          <a:lstStyle/>
          <a:p>
            <a:r>
              <a:rPr lang="en-GB" altLang="en-US" dirty="0"/>
              <a:t>Price is at a discount to market value</a:t>
            </a:r>
          </a:p>
          <a:p>
            <a:r>
              <a:rPr lang="en-GB" altLang="en-US" dirty="0"/>
              <a:t>Price cannot be below nominal value</a:t>
            </a:r>
          </a:p>
          <a:p>
            <a:r>
              <a:rPr lang="en-GB" altLang="en-US" dirty="0"/>
              <a:t>Main purpose is to raise money</a:t>
            </a:r>
          </a:p>
          <a:p>
            <a:r>
              <a:rPr lang="en-GB" altLang="en-US" dirty="0"/>
              <a:t>Share price will fall after issue, depending on the extent of the discount and number of new shares</a:t>
            </a:r>
          </a:p>
          <a:p>
            <a:r>
              <a:rPr lang="en-GB" altLang="en-US" dirty="0"/>
              <a:t>Shareholders can decide not to exercise their rights, which can then be sold.</a:t>
            </a:r>
          </a:p>
        </p:txBody>
      </p:sp>
    </p:spTree>
    <p:extLst>
      <p:ext uri="{BB962C8B-B14F-4D97-AF65-F5344CB8AC3E}">
        <p14:creationId xmlns:p14="http://schemas.microsoft.com/office/powerpoint/2010/main" val="552680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2554166" y="609967"/>
            <a:ext cx="6410322" cy="840764"/>
          </a:xfrm>
        </p:spPr>
        <p:txBody>
          <a:bodyPr>
            <a:normAutofit fontScale="90000"/>
          </a:bodyPr>
          <a:lstStyle/>
          <a:p>
            <a:r>
              <a:rPr lang="en-GB" altLang="en-US" dirty="0"/>
              <a:t>Calculating the value of a rights offer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328612" y="1882271"/>
            <a:ext cx="8203827" cy="4648933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GB" altLang="en-US" sz="1938" dirty="0"/>
              <a:t>Company has 10 million ordinary shares of £1 in issue. </a:t>
            </a:r>
          </a:p>
          <a:p>
            <a:pPr>
              <a:buFontTx/>
              <a:buNone/>
            </a:pPr>
            <a:r>
              <a:rPr lang="en-GB" altLang="en-US" sz="1938" dirty="0"/>
              <a:t>Current market value of the shares is £1.30</a:t>
            </a:r>
          </a:p>
          <a:p>
            <a:pPr>
              <a:buFontTx/>
              <a:buNone/>
            </a:pPr>
            <a:r>
              <a:rPr lang="en-GB" altLang="en-US" sz="1938" dirty="0"/>
              <a:t>Directors have decided to make a 1-for-5 issue at £1.20 per share.</a:t>
            </a:r>
          </a:p>
          <a:p>
            <a:pPr>
              <a:buFontTx/>
              <a:buNone/>
            </a:pPr>
            <a:r>
              <a:rPr lang="en-GB" altLang="en-US" dirty="0"/>
              <a:t>Ex-rights price:</a:t>
            </a:r>
          </a:p>
          <a:p>
            <a:pPr>
              <a:buFontTx/>
              <a:buNone/>
            </a:pPr>
            <a:r>
              <a:rPr lang="en-GB" altLang="en-US" dirty="0"/>
              <a:t>	</a:t>
            </a:r>
            <a:r>
              <a:rPr lang="en-GB" altLang="en-US" sz="1662" dirty="0"/>
              <a:t>Price of 5 shares before the issue =  £6.50</a:t>
            </a:r>
          </a:p>
          <a:p>
            <a:pPr>
              <a:buFontTx/>
              <a:buNone/>
            </a:pPr>
            <a:r>
              <a:rPr lang="en-GB" altLang="en-US" sz="1662" dirty="0"/>
              <a:t>	Price of taking up 1 rights share         </a:t>
            </a:r>
            <a:r>
              <a:rPr lang="en-GB" altLang="en-US" sz="1662" u="sng" dirty="0"/>
              <a:t>1.20 </a:t>
            </a:r>
            <a:endParaRPr lang="en-GB" altLang="en-US" sz="1662" dirty="0"/>
          </a:p>
          <a:p>
            <a:pPr>
              <a:buFontTx/>
              <a:buNone/>
            </a:pPr>
            <a:r>
              <a:rPr lang="en-GB" altLang="en-US" sz="1662" dirty="0"/>
              <a:t>					  </a:t>
            </a:r>
            <a:r>
              <a:rPr lang="en-GB" altLang="en-US" sz="1662" u="sng" dirty="0"/>
              <a:t> 7.70</a:t>
            </a:r>
          </a:p>
          <a:p>
            <a:pPr>
              <a:buFontTx/>
              <a:buNone/>
            </a:pPr>
            <a:endParaRPr lang="en-GB" altLang="en-US" sz="1662" u="sng" dirty="0"/>
          </a:p>
          <a:p>
            <a:pPr>
              <a:buFontTx/>
              <a:buNone/>
            </a:pPr>
            <a:r>
              <a:rPr lang="en-GB" altLang="en-US" sz="1662" dirty="0"/>
              <a:t>	Theoretical ex-rights price = £7.70/6 = £1.28  </a:t>
            </a:r>
          </a:p>
          <a:p>
            <a:pPr>
              <a:buFontTx/>
              <a:buNone/>
            </a:pPr>
            <a:endParaRPr lang="en-GB" altLang="en-US" sz="1662" dirty="0"/>
          </a:p>
          <a:p>
            <a:pPr>
              <a:buFontTx/>
              <a:buNone/>
            </a:pPr>
            <a:r>
              <a:rPr lang="en-GB" altLang="en-US" sz="1662" dirty="0"/>
              <a:t>	Value of rights issue 	      = £1.28 - £1.20 </a:t>
            </a:r>
          </a:p>
          <a:p>
            <a:pPr>
              <a:buFontTx/>
              <a:buNone/>
            </a:pPr>
            <a:r>
              <a:rPr lang="en-GB" altLang="en-US" sz="1662" dirty="0"/>
              <a:t>				      = £0.08 per share   </a:t>
            </a: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5A4337A-FD52-4918-9B38-FA41018251D2}" type="slidenum">
              <a:rPr lang="en-GB" altLang="en-US" sz="969"/>
              <a:pPr/>
              <a:t>14</a:t>
            </a:fld>
            <a:endParaRPr lang="en-GB" altLang="en-US" sz="969"/>
          </a:p>
        </p:txBody>
      </p:sp>
    </p:spTree>
    <p:extLst>
      <p:ext uri="{BB962C8B-B14F-4D97-AF65-F5344CB8AC3E}">
        <p14:creationId xmlns:p14="http://schemas.microsoft.com/office/powerpoint/2010/main" val="1928457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0519B92E-43BD-4A3F-AA83-4BA182CA0E70}" type="slidenum">
              <a:rPr lang="en-GB" altLang="en-US" sz="969"/>
              <a:pPr/>
              <a:t>15</a:t>
            </a:fld>
            <a:endParaRPr lang="en-GB" altLang="en-US" sz="969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Scrip (bonus) issues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Company issues free shares in proportion to existing shareholders (eg 1 for 4 shares)</a:t>
            </a:r>
          </a:p>
          <a:p>
            <a:r>
              <a:rPr lang="en-GB" altLang="en-US"/>
              <a:t>No money raised, and value of company unchanged</a:t>
            </a:r>
          </a:p>
          <a:p>
            <a:r>
              <a:rPr lang="en-GB" altLang="en-US"/>
              <a:t>Share price will fall in proportion to number of new shares</a:t>
            </a:r>
          </a:p>
          <a:p>
            <a:pPr>
              <a:buFontTx/>
              <a:buNone/>
            </a:pPr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1400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EFADDE0-529D-4A4F-A27B-F6709529759C}" type="slidenum">
              <a:rPr lang="en-GB" altLang="en-US" sz="969"/>
              <a:pPr/>
              <a:t>16</a:t>
            </a:fld>
            <a:endParaRPr lang="en-GB" altLang="en-US" sz="969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1556792"/>
            <a:ext cx="8784976" cy="4799558"/>
          </a:xfrm>
        </p:spPr>
        <p:txBody>
          <a:bodyPr>
            <a:normAutofit fontScale="92500"/>
          </a:bodyPr>
          <a:lstStyle/>
          <a:p>
            <a:r>
              <a:rPr lang="en-GB" altLang="en-US" dirty="0"/>
              <a:t>Purpose: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Increases marketability of shares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Psychology of ‘something for nothing’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Use of large accounting reserves when no cash is available 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Future confidence</a:t>
            </a:r>
          </a:p>
          <a:p>
            <a:pPr lvl="2"/>
            <a:r>
              <a:rPr lang="en-GB" altLang="en-US" dirty="0">
                <a:ea typeface="ＭＳ Ｐゴシック" panose="020B0600070205080204" pitchFamily="34" charset="-128"/>
              </a:rPr>
              <a:t>A scrip issue reduces the price of a share.</a:t>
            </a:r>
          </a:p>
          <a:p>
            <a:pPr lvl="2"/>
            <a:r>
              <a:rPr lang="en-GB" altLang="en-US" dirty="0">
                <a:ea typeface="ＭＳ Ｐゴシック" panose="020B0600070205080204" pitchFamily="34" charset="-128"/>
              </a:rPr>
              <a:t>If it reduces to below nominal value, the company could not make a future rights issue</a:t>
            </a:r>
          </a:p>
          <a:p>
            <a:pPr lvl="2"/>
            <a:r>
              <a:rPr lang="en-GB" altLang="en-US" dirty="0">
                <a:ea typeface="ＭＳ Ｐゴシック" panose="020B0600070205080204" pitchFamily="34" charset="-128"/>
              </a:rPr>
              <a:t>Therefore, if the directors decide to have a scrip issue, they must be confident about the company’s future prospects.</a:t>
            </a:r>
          </a:p>
        </p:txBody>
      </p:sp>
    </p:spTree>
    <p:extLst>
      <p:ext uri="{BB962C8B-B14F-4D97-AF65-F5344CB8AC3E}">
        <p14:creationId xmlns:p14="http://schemas.microsoft.com/office/powerpoint/2010/main" val="2043148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en-US"/>
              <a:t>Alternative Investment Market (AIM)</a:t>
            </a:r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>
          <a:xfrm>
            <a:off x="611560" y="2430301"/>
            <a:ext cx="8075240" cy="3777283"/>
          </a:xfrm>
        </p:spPr>
        <p:txBody>
          <a:bodyPr/>
          <a:lstStyle/>
          <a:p>
            <a:r>
              <a:rPr lang="en-GB" altLang="en-US" dirty="0"/>
              <a:t>Managed by the London Stock Exchange</a:t>
            </a:r>
          </a:p>
          <a:p>
            <a:r>
              <a:rPr lang="en-GB" altLang="en-US" dirty="0"/>
              <a:t>Suitable for smaller, growing companies</a:t>
            </a:r>
          </a:p>
          <a:p>
            <a:r>
              <a:rPr lang="en-GB" altLang="en-US" dirty="0"/>
              <a:t>Cheaper to obtain than a full listing</a:t>
            </a:r>
          </a:p>
          <a:p>
            <a:r>
              <a:rPr lang="en-GB" altLang="en-US" dirty="0"/>
              <a:t>Listing requirements less stringent</a:t>
            </a:r>
          </a:p>
          <a:p>
            <a:endParaRPr lang="en-GB" altLang="en-US" dirty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6260133" indent="-25943614"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316520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63303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949559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266078" eaLnBrk="0" fontAlgn="base" hangingPunct="0">
              <a:spcBef>
                <a:spcPct val="0"/>
              </a:spcBef>
              <a:spcAft>
                <a:spcPct val="0"/>
              </a:spcAft>
              <a:defRPr sz="1662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9F7DAC9-AF0E-4DB2-AC24-791A2ADA0E58}" type="slidenum">
              <a:rPr lang="en-GB" altLang="en-US" sz="969"/>
              <a:pPr/>
              <a:t>17</a:t>
            </a:fld>
            <a:endParaRPr lang="en-GB" altLang="en-US" sz="969"/>
          </a:p>
        </p:txBody>
      </p:sp>
    </p:spTree>
    <p:extLst>
      <p:ext uri="{BB962C8B-B14F-4D97-AF65-F5344CB8AC3E}">
        <p14:creationId xmlns:p14="http://schemas.microsoft.com/office/powerpoint/2010/main" val="649654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Summary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smtClean="0"/>
              <a:t>An organisation may wish to consider the preferential settlement order on cessation of the company.</a:t>
            </a:r>
          </a:p>
          <a:p>
            <a:r>
              <a:rPr lang="en-GB" dirty="0"/>
              <a:t>Companies may seek to float or raise </a:t>
            </a:r>
            <a:r>
              <a:rPr lang="en-GB" dirty="0" smtClean="0"/>
              <a:t>finance via the stock market.</a:t>
            </a:r>
            <a:endParaRPr lang="en-GB" dirty="0"/>
          </a:p>
          <a:p>
            <a:r>
              <a:rPr lang="en-GB" dirty="0" smtClean="0"/>
              <a:t>The issue or re-structure of share capital may be an appropriate source of finance including:</a:t>
            </a:r>
          </a:p>
          <a:p>
            <a:pPr lvl="1"/>
            <a:r>
              <a:rPr lang="en-GB" dirty="0" smtClean="0"/>
              <a:t>Issues</a:t>
            </a:r>
          </a:p>
          <a:p>
            <a:pPr lvl="1"/>
            <a:r>
              <a:rPr lang="en-GB" dirty="0" smtClean="0"/>
              <a:t>Rights issues</a:t>
            </a:r>
          </a:p>
          <a:p>
            <a:pPr lvl="1"/>
            <a:r>
              <a:rPr lang="en-GB" dirty="0" smtClean="0"/>
              <a:t>Bonus issues </a:t>
            </a:r>
            <a:r>
              <a:rPr lang="en-GB" smtClean="0"/>
              <a:t>(Scrips)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39883116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E07C38512818468275603CD5E61BA0" ma:contentTypeVersion="0" ma:contentTypeDescription="Create a new document." ma:contentTypeScope="" ma:versionID="bffdf6d8b42402b1618094c717ddf4d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a1222beb234debe96d12a98d24ff8a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79AB7AB-D87E-4CE6-8813-9B5D560C3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FC14F33-A9A2-48F1-A0A9-DB146E88F9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7ACEBA-99EE-4B9A-99FE-F9695B41FA99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1058</Words>
  <Application>Microsoft Office PowerPoint</Application>
  <PresentationFormat>On-screen Show (4:3)</PresentationFormat>
  <Paragraphs>153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ＭＳ Ｐゴシック</vt:lpstr>
      <vt:lpstr>Arial</vt:lpstr>
      <vt:lpstr>Calibri</vt:lpstr>
      <vt:lpstr>Times New Roman</vt:lpstr>
      <vt:lpstr>1_Office Theme</vt:lpstr>
      <vt:lpstr>2_Office Theme</vt:lpstr>
      <vt:lpstr>4_Office Theme</vt:lpstr>
      <vt:lpstr>3_Office Theme</vt:lpstr>
      <vt:lpstr>5_Office Theme</vt:lpstr>
      <vt:lpstr>C31FF Finance &amp; Financial Reporting</vt:lpstr>
      <vt:lpstr>Payment ranking when a company is wound up</vt:lpstr>
      <vt:lpstr>Raising Finance on the Stock Market</vt:lpstr>
      <vt:lpstr>Obtaining a stock exchange quotation</vt:lpstr>
      <vt:lpstr>Routes to listing </vt:lpstr>
      <vt:lpstr>Process of an offer for sale</vt:lpstr>
      <vt:lpstr>Offer for sale by tender</vt:lpstr>
      <vt:lpstr>Example</vt:lpstr>
      <vt:lpstr>Other methods of obtaining a listing</vt:lpstr>
      <vt:lpstr>PowerPoint Presentation</vt:lpstr>
      <vt:lpstr>Underwriting</vt:lpstr>
      <vt:lpstr>Rights issues</vt:lpstr>
      <vt:lpstr>PowerPoint Presentation</vt:lpstr>
      <vt:lpstr>Calculating the value of a rights offer</vt:lpstr>
      <vt:lpstr>Scrip (bonus) issues</vt:lpstr>
      <vt:lpstr>PowerPoint Presentation</vt:lpstr>
      <vt:lpstr>Alternative Investment Market (AIM)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Iain McGeary</dc:creator>
  <cp:lastModifiedBy>Wilson, Melanie</cp:lastModifiedBy>
  <cp:revision>24</cp:revision>
  <dcterms:created xsi:type="dcterms:W3CDTF">2016-02-11T16:23:53Z</dcterms:created>
  <dcterms:modified xsi:type="dcterms:W3CDTF">2021-11-05T17:20:01Z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0x0101006EE07C38512818468275603CD5E61BA0</vt:lpwstr>
  </property>
</Properties>
</file>