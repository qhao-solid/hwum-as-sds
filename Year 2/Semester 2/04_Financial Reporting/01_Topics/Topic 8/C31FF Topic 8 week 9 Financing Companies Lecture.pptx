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  <p:sldMasterId id="2147483702" r:id="rId5"/>
    <p:sldMasterId id="2147483685" r:id="rId6"/>
    <p:sldMasterId id="2147483684" r:id="rId7"/>
    <p:sldMasterId id="2147483686" r:id="rId8"/>
  </p:sldMasterIdLst>
  <p:sldIdLst>
    <p:sldId id="256" r:id="rId9"/>
    <p:sldId id="304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93" r:id="rId18"/>
    <p:sldId id="292" r:id="rId19"/>
    <p:sldId id="266" r:id="rId20"/>
    <p:sldId id="296" r:id="rId21"/>
    <p:sldId id="271" r:id="rId22"/>
    <p:sldId id="298" r:id="rId23"/>
    <p:sldId id="273" r:id="rId24"/>
    <p:sldId id="303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6A71"/>
    <a:srgbClr val="0098DB"/>
    <a:srgbClr val="00549F"/>
    <a:srgbClr val="A5AC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188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0098D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424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858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98DB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726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05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782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938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92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044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261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248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220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5E6A7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062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248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E6A7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916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899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113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8559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8888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6301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5278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1034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30257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73919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6544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024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05/11/2021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28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0098D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05/11/2021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437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41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131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0265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C31FF Finance &amp; Financial Reporting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3600" b="1" i="0" dirty="0"/>
              <a:t>Financing Limited Companies</a:t>
            </a:r>
          </a:p>
        </p:txBody>
      </p:sp>
    </p:spTree>
    <p:extLst>
      <p:ext uri="{BB962C8B-B14F-4D97-AF65-F5344CB8AC3E}">
        <p14:creationId xmlns:p14="http://schemas.microsoft.com/office/powerpoint/2010/main" val="4275265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Financial Decision Making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Business objectives</a:t>
            </a:r>
          </a:p>
          <a:p>
            <a:r>
              <a:rPr lang="en-GB" dirty="0" smtClean="0"/>
              <a:t>Finance objectives</a:t>
            </a:r>
          </a:p>
          <a:p>
            <a:r>
              <a:rPr lang="en-GB" dirty="0" smtClean="0"/>
              <a:t>Agency issues</a:t>
            </a:r>
          </a:p>
          <a:p>
            <a:r>
              <a:rPr lang="en-GB" dirty="0" smtClean="0"/>
              <a:t>Behavioural finance</a:t>
            </a:r>
          </a:p>
          <a:p>
            <a:r>
              <a:rPr lang="en-GB" dirty="0" smtClean="0"/>
              <a:t>Capital rationing</a:t>
            </a:r>
          </a:p>
          <a:p>
            <a:r>
              <a:rPr lang="en-GB" dirty="0" smtClean="0"/>
              <a:t>Systemic and specific risk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6268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altLang="en-US" dirty="0"/>
              <a:t>Internal sources of finance</a:t>
            </a:r>
          </a:p>
          <a:p>
            <a:pPr>
              <a:buFontTx/>
              <a:buNone/>
            </a:pPr>
            <a:endParaRPr lang="en-GB" altLang="en-US" dirty="0"/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Long term finance</a:t>
            </a:r>
          </a:p>
          <a:p>
            <a:pPr lvl="2"/>
            <a:r>
              <a:rPr lang="en-GB" altLang="en-US" dirty="0">
                <a:ea typeface="ＭＳ Ｐゴシック" panose="020B0600070205080204" pitchFamily="34" charset="-128"/>
              </a:rPr>
              <a:t>Retained </a:t>
            </a:r>
            <a:r>
              <a:rPr lang="en-GB" altLang="en-US" dirty="0" smtClean="0">
                <a:ea typeface="ＭＳ Ｐゴシック" panose="020B0600070205080204" pitchFamily="34" charset="-128"/>
              </a:rPr>
              <a:t>profits</a:t>
            </a:r>
          </a:p>
          <a:p>
            <a:pPr lvl="1"/>
            <a:r>
              <a:rPr lang="en-GB" altLang="en-US" dirty="0" smtClean="0">
                <a:ea typeface="ＭＳ Ｐゴシック" panose="020B0600070205080204" pitchFamily="34" charset="-128"/>
              </a:rPr>
              <a:t>Short-term </a:t>
            </a:r>
            <a:r>
              <a:rPr lang="en-GB" altLang="en-US" dirty="0">
                <a:ea typeface="ＭＳ Ｐゴシック" panose="020B0600070205080204" pitchFamily="34" charset="-128"/>
              </a:rPr>
              <a:t>finance</a:t>
            </a:r>
          </a:p>
          <a:p>
            <a:pPr lvl="2"/>
            <a:r>
              <a:rPr lang="en-GB" altLang="en-US" dirty="0">
                <a:ea typeface="ＭＳ Ｐゴシック" panose="020B0600070205080204" pitchFamily="34" charset="-128"/>
              </a:rPr>
              <a:t>Tight credit control of receivables</a:t>
            </a:r>
          </a:p>
          <a:p>
            <a:pPr lvl="2"/>
            <a:r>
              <a:rPr lang="en-GB" altLang="en-US" dirty="0">
                <a:ea typeface="ＭＳ Ｐゴシック" panose="020B0600070205080204" pitchFamily="34" charset="-128"/>
              </a:rPr>
              <a:t>Reducing inventories</a:t>
            </a:r>
          </a:p>
          <a:p>
            <a:pPr lvl="2"/>
            <a:r>
              <a:rPr lang="en-GB" altLang="en-US" dirty="0">
                <a:ea typeface="ＭＳ Ｐゴシック" panose="020B0600070205080204" pitchFamily="34" charset="-128"/>
              </a:rPr>
              <a:t>Delaying payments to suppliers</a:t>
            </a:r>
          </a:p>
          <a:p>
            <a:pPr lvl="1"/>
            <a:endParaRPr lang="en-GB" altLang="en-US" dirty="0">
              <a:ea typeface="ＭＳ Ｐゴシック" panose="020B0600070205080204" pitchFamily="34" charset="-128"/>
            </a:endParaRPr>
          </a:p>
          <a:p>
            <a:pPr lvl="1"/>
            <a:endParaRPr lang="en-GB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536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6260133" indent="-25943614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1652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3303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94955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266078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DAC3BBAE-E160-4A2A-8363-858C48AC1F68}" type="slidenum">
              <a:rPr lang="en-GB" altLang="en-US" sz="969"/>
              <a:pPr/>
              <a:t>3</a:t>
            </a:fld>
            <a:endParaRPr lang="en-GB" altLang="en-US" sz="969"/>
          </a:p>
        </p:txBody>
      </p:sp>
      <p:sp>
        <p:nvSpPr>
          <p:cNvPr id="15364" name="Title 1"/>
          <p:cNvSpPr>
            <a:spLocks noGrp="1"/>
          </p:cNvSpPr>
          <p:nvPr>
            <p:ph type="title"/>
          </p:nvPr>
        </p:nvSpPr>
        <p:spPr>
          <a:xfrm>
            <a:off x="467544" y="1234803"/>
            <a:ext cx="8075240" cy="998984"/>
          </a:xfrm>
        </p:spPr>
        <p:txBody>
          <a:bodyPr/>
          <a:lstStyle/>
          <a:p>
            <a:r>
              <a:rPr lang="en-GB" altLang="en-US" dirty="0"/>
              <a:t>Sources of Finance</a:t>
            </a:r>
          </a:p>
        </p:txBody>
      </p:sp>
    </p:spTree>
    <p:extLst>
      <p:ext uri="{BB962C8B-B14F-4D97-AF65-F5344CB8AC3E}">
        <p14:creationId xmlns:p14="http://schemas.microsoft.com/office/powerpoint/2010/main" val="1244633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6260133" indent="-25943614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1652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3303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94955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266078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602F6F2E-C703-4A2A-81D5-EA6335C742FD}" type="slidenum">
              <a:rPr lang="en-GB" altLang="en-US" sz="969"/>
              <a:pPr/>
              <a:t>4</a:t>
            </a:fld>
            <a:endParaRPr lang="en-GB" altLang="en-US" sz="969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GB" altLang="en-US" dirty="0"/>
              <a:t>Capital = the long-term financing of a company</a:t>
            </a:r>
          </a:p>
          <a:p>
            <a:pPr>
              <a:buFontTx/>
              <a:buNone/>
            </a:pPr>
            <a:r>
              <a:rPr lang="en-GB" altLang="en-US" dirty="0"/>
              <a:t>	Share capital</a:t>
            </a:r>
          </a:p>
          <a:p>
            <a:pPr>
              <a:buFontTx/>
              <a:buNone/>
            </a:pPr>
            <a:r>
              <a:rPr lang="en-GB" altLang="en-US" dirty="0"/>
              <a:t>	</a:t>
            </a:r>
            <a:r>
              <a:rPr lang="en-GB" altLang="en-US" sz="1938" dirty="0"/>
              <a:t>Funds are raised by selling shares in the company. </a:t>
            </a:r>
          </a:p>
          <a:p>
            <a:pPr>
              <a:buFontTx/>
              <a:buNone/>
            </a:pPr>
            <a:r>
              <a:rPr lang="en-GB" altLang="en-US" sz="1938" dirty="0"/>
              <a:t>	The shareholders are the owners of the company.</a:t>
            </a:r>
          </a:p>
          <a:p>
            <a:pPr>
              <a:buFontTx/>
              <a:buNone/>
            </a:pPr>
            <a:r>
              <a:rPr lang="en-GB" altLang="en-US" dirty="0"/>
              <a:t>	Loan capital</a:t>
            </a:r>
          </a:p>
          <a:p>
            <a:pPr>
              <a:buFontTx/>
              <a:buNone/>
            </a:pPr>
            <a:r>
              <a:rPr lang="en-GB" altLang="en-US" sz="1938" dirty="0"/>
              <a:t>	Funds are raised by obtaining a loan.</a:t>
            </a:r>
          </a:p>
          <a:p>
            <a:pPr>
              <a:buFontTx/>
              <a:buNone/>
            </a:pPr>
            <a:r>
              <a:rPr lang="en-GB" altLang="en-US" sz="1938" dirty="0"/>
              <a:t>	Lenders are not owners but creditors of the company.</a:t>
            </a:r>
          </a:p>
        </p:txBody>
      </p:sp>
      <p:sp>
        <p:nvSpPr>
          <p:cNvPr id="16388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External sources of finance</a:t>
            </a:r>
          </a:p>
        </p:txBody>
      </p:sp>
    </p:spTree>
    <p:extLst>
      <p:ext uri="{BB962C8B-B14F-4D97-AF65-F5344CB8AC3E}">
        <p14:creationId xmlns:p14="http://schemas.microsoft.com/office/powerpoint/2010/main" val="524687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19"/>
          <p:cNvGrpSpPr>
            <a:grpSpLocks/>
          </p:cNvGrpSpPr>
          <p:nvPr/>
        </p:nvGrpSpPr>
        <p:grpSpPr bwMode="auto">
          <a:xfrm>
            <a:off x="2692644" y="1181467"/>
            <a:ext cx="3956538" cy="4495067"/>
            <a:chOff x="1151" y="776"/>
            <a:chExt cx="3627" cy="2832"/>
          </a:xfrm>
        </p:grpSpPr>
        <p:sp>
          <p:nvSpPr>
            <p:cNvPr id="17412" name="AutoShape 4"/>
            <p:cNvSpPr>
              <a:spLocks noChangeArrowheads="1"/>
            </p:cNvSpPr>
            <p:nvPr/>
          </p:nvSpPr>
          <p:spPr bwMode="auto">
            <a:xfrm>
              <a:off x="1190" y="776"/>
              <a:ext cx="550" cy="2832"/>
            </a:xfrm>
            <a:prstGeom prst="cube">
              <a:avLst>
                <a:gd name="adj" fmla="val 13806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17413" name="Text Box 5"/>
            <p:cNvSpPr txBox="1">
              <a:spLocks noChangeArrowheads="1"/>
            </p:cNvSpPr>
            <p:nvPr/>
          </p:nvSpPr>
          <p:spPr bwMode="auto">
            <a:xfrm>
              <a:off x="1151" y="966"/>
              <a:ext cx="57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sz="1177" b="1">
                  <a:latin typeface="Arial" panose="020B0604020202020204" pitchFamily="34" charset="0"/>
                </a:rPr>
                <a:t>Return</a:t>
              </a:r>
            </a:p>
          </p:txBody>
        </p:sp>
        <p:sp>
          <p:nvSpPr>
            <p:cNvPr id="17414" name="AutoShape 6"/>
            <p:cNvSpPr>
              <a:spLocks noChangeArrowheads="1"/>
            </p:cNvSpPr>
            <p:nvPr/>
          </p:nvSpPr>
          <p:spPr bwMode="auto">
            <a:xfrm>
              <a:off x="1660" y="3206"/>
              <a:ext cx="3118" cy="402"/>
            </a:xfrm>
            <a:prstGeom prst="cube">
              <a:avLst>
                <a:gd name="adj" fmla="val 19153"/>
              </a:avLst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17415" name="Text Box 7"/>
            <p:cNvSpPr txBox="1">
              <a:spLocks noChangeArrowheads="1"/>
            </p:cNvSpPr>
            <p:nvPr/>
          </p:nvSpPr>
          <p:spPr bwMode="auto">
            <a:xfrm>
              <a:off x="4146" y="3364"/>
              <a:ext cx="574" cy="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sz="1177" b="1">
                  <a:latin typeface="Arial" panose="020B0604020202020204" pitchFamily="34" charset="0"/>
                </a:rPr>
                <a:t>Risk</a:t>
              </a:r>
            </a:p>
          </p:txBody>
        </p:sp>
        <p:sp>
          <p:nvSpPr>
            <p:cNvPr id="17416" name="AutoShape 8"/>
            <p:cNvSpPr>
              <a:spLocks noChangeArrowheads="1"/>
            </p:cNvSpPr>
            <p:nvPr/>
          </p:nvSpPr>
          <p:spPr bwMode="auto">
            <a:xfrm>
              <a:off x="2172" y="1615"/>
              <a:ext cx="590" cy="1677"/>
            </a:xfrm>
            <a:prstGeom prst="cube">
              <a:avLst>
                <a:gd name="adj" fmla="val 13898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17417" name="AutoShape 9"/>
            <p:cNvSpPr>
              <a:spLocks noChangeArrowheads="1"/>
            </p:cNvSpPr>
            <p:nvPr/>
          </p:nvSpPr>
          <p:spPr bwMode="auto">
            <a:xfrm>
              <a:off x="2972" y="1400"/>
              <a:ext cx="590" cy="1887"/>
            </a:xfrm>
            <a:prstGeom prst="cube">
              <a:avLst>
                <a:gd name="adj" fmla="val 13898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17418" name="AutoShape 10"/>
            <p:cNvSpPr>
              <a:spLocks noChangeArrowheads="1"/>
            </p:cNvSpPr>
            <p:nvPr/>
          </p:nvSpPr>
          <p:spPr bwMode="auto">
            <a:xfrm>
              <a:off x="3795" y="1180"/>
              <a:ext cx="590" cy="2107"/>
            </a:xfrm>
            <a:prstGeom prst="cube">
              <a:avLst>
                <a:gd name="adj" fmla="val 13898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17419" name="Text Box 11"/>
            <p:cNvSpPr txBox="1">
              <a:spLocks noChangeArrowheads="1"/>
            </p:cNvSpPr>
            <p:nvPr/>
          </p:nvSpPr>
          <p:spPr bwMode="auto">
            <a:xfrm rot="16200000">
              <a:off x="2104" y="1906"/>
              <a:ext cx="675" cy="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sz="1246" b="1" i="1">
                  <a:solidFill>
                    <a:srgbClr val="FFCC99"/>
                  </a:solidFill>
                  <a:latin typeface="Arial" panose="020B0604020202020204" pitchFamily="34" charset="0"/>
                </a:rPr>
                <a:t>Loan capital</a:t>
              </a:r>
            </a:p>
          </p:txBody>
        </p:sp>
        <p:sp>
          <p:nvSpPr>
            <p:cNvPr id="17420" name="Text Box 12"/>
            <p:cNvSpPr txBox="1">
              <a:spLocks noChangeArrowheads="1"/>
            </p:cNvSpPr>
            <p:nvPr/>
          </p:nvSpPr>
          <p:spPr bwMode="auto">
            <a:xfrm rot="16200000">
              <a:off x="2796" y="1871"/>
              <a:ext cx="907" cy="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sz="1246" b="1" i="1">
                  <a:solidFill>
                    <a:srgbClr val="FFCC99"/>
                  </a:solidFill>
                  <a:latin typeface="Arial" panose="020B0604020202020204" pitchFamily="34" charset="0"/>
                </a:rPr>
                <a:t>Preference shares</a:t>
              </a:r>
            </a:p>
          </p:txBody>
        </p:sp>
        <p:sp>
          <p:nvSpPr>
            <p:cNvPr id="17421" name="Text Box 13"/>
            <p:cNvSpPr txBox="1">
              <a:spLocks noChangeArrowheads="1"/>
            </p:cNvSpPr>
            <p:nvPr/>
          </p:nvSpPr>
          <p:spPr bwMode="auto">
            <a:xfrm rot="16200000">
              <a:off x="3675" y="1577"/>
              <a:ext cx="803" cy="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GB" altLang="en-US" sz="1246" b="1" i="1">
                  <a:solidFill>
                    <a:srgbClr val="FFCC99"/>
                  </a:solidFill>
                  <a:latin typeface="Arial" panose="020B0604020202020204" pitchFamily="34" charset="0"/>
                </a:rPr>
                <a:t>Ordinary shares</a:t>
              </a:r>
            </a:p>
          </p:txBody>
        </p:sp>
        <p:sp>
          <p:nvSpPr>
            <p:cNvPr id="17422" name="Line 14"/>
            <p:cNvSpPr>
              <a:spLocks noChangeShapeType="1"/>
            </p:cNvSpPr>
            <p:nvPr/>
          </p:nvSpPr>
          <p:spPr bwMode="auto">
            <a:xfrm flipV="1">
              <a:off x="1698" y="1103"/>
              <a:ext cx="2966" cy="79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246"/>
            </a:p>
          </p:txBody>
        </p:sp>
        <p:sp>
          <p:nvSpPr>
            <p:cNvPr id="17423" name="AutoShape 15"/>
            <p:cNvSpPr>
              <a:spLocks noChangeArrowheads="1"/>
            </p:cNvSpPr>
            <p:nvPr/>
          </p:nvSpPr>
          <p:spPr bwMode="auto">
            <a:xfrm rot="5558357">
              <a:off x="2355" y="1390"/>
              <a:ext cx="174" cy="566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17424" name="AutoShape 16"/>
            <p:cNvSpPr>
              <a:spLocks noChangeArrowheads="1"/>
            </p:cNvSpPr>
            <p:nvPr/>
          </p:nvSpPr>
          <p:spPr bwMode="auto">
            <a:xfrm rot="5558357">
              <a:off x="3165" y="1168"/>
              <a:ext cx="174" cy="566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17425" name="AutoShape 17"/>
            <p:cNvSpPr>
              <a:spLocks noChangeArrowheads="1"/>
            </p:cNvSpPr>
            <p:nvPr/>
          </p:nvSpPr>
          <p:spPr bwMode="auto">
            <a:xfrm rot="5558357">
              <a:off x="3987" y="952"/>
              <a:ext cx="174" cy="566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</p:grpSp>
      <p:sp>
        <p:nvSpPr>
          <p:cNvPr id="17411" name="Text Box 18"/>
          <p:cNvSpPr txBox="1">
            <a:spLocks noChangeArrowheads="1"/>
          </p:cNvSpPr>
          <p:nvPr/>
        </p:nvSpPr>
        <p:spPr bwMode="auto">
          <a:xfrm>
            <a:off x="2627802" y="267067"/>
            <a:ext cx="3887299" cy="603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GB" altLang="en-US" sz="1662" b="1">
                <a:solidFill>
                  <a:srgbClr val="CC0000"/>
                </a:solidFill>
                <a:latin typeface="Arial" panose="020B0604020202020204" pitchFamily="34" charset="0"/>
              </a:rPr>
              <a:t>The risk/return characteristics of long-term capital</a:t>
            </a:r>
            <a:endParaRPr lang="en-GB" altLang="en-US" sz="1662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898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6260133" indent="-25943614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1652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3303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94955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266078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C64FED68-C94B-491B-8FEC-FF6948876862}" type="slidenum">
              <a:rPr lang="en-GB" altLang="en-US" sz="969"/>
              <a:pPr/>
              <a:t>6</a:t>
            </a:fld>
            <a:endParaRPr lang="en-GB" altLang="en-US" sz="969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264708" y="1786572"/>
            <a:ext cx="4035669" cy="791308"/>
          </a:xfrm>
        </p:spPr>
        <p:txBody>
          <a:bodyPr>
            <a:normAutofit fontScale="90000"/>
          </a:bodyPr>
          <a:lstStyle/>
          <a:p>
            <a:r>
              <a:rPr lang="en-GB" altLang="en-US" dirty="0"/>
              <a:t>Share capital</a:t>
            </a:r>
            <a:br>
              <a:rPr lang="en-GB" altLang="en-US" dirty="0"/>
            </a:br>
            <a:endParaRPr lang="en-GB" altLang="en-US" dirty="0"/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4708" y="2364789"/>
            <a:ext cx="8640960" cy="4174123"/>
          </a:xfrm>
        </p:spPr>
        <p:txBody>
          <a:bodyPr>
            <a:normAutofit fontScale="92500" lnSpcReduction="20000"/>
          </a:bodyPr>
          <a:lstStyle/>
          <a:p>
            <a:r>
              <a:rPr lang="en-GB" altLang="en-US" dirty="0">
                <a:solidFill>
                  <a:schemeClr val="accent5">
                    <a:lumMod val="75000"/>
                  </a:schemeClr>
                </a:solidFill>
              </a:rPr>
              <a:t>Ordinary Shares</a:t>
            </a:r>
            <a:r>
              <a:rPr lang="en-GB" altLang="en-US" dirty="0"/>
              <a:t>	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returns from dividends and increased share value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give voting rights at meetings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irredeemable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dividends are at discretion of directors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rank after all other creditors in a winding up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authorised and issued capital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nominal value and market value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variations - </a:t>
            </a:r>
            <a:r>
              <a:rPr lang="en-GB" altLang="en-US" dirty="0" err="1">
                <a:ea typeface="ＭＳ Ｐゴシック" panose="020B0600070205080204" pitchFamily="34" charset="-128"/>
              </a:rPr>
              <a:t>eg</a:t>
            </a:r>
            <a:r>
              <a:rPr lang="en-GB" altLang="en-US" dirty="0">
                <a:ea typeface="ＭＳ Ｐゴシック" panose="020B0600070205080204" pitchFamily="34" charset="-128"/>
              </a:rPr>
              <a:t> redeemable, non-voting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high risk/high reward</a:t>
            </a:r>
          </a:p>
          <a:p>
            <a:pPr lvl="1"/>
            <a:endParaRPr lang="en-GB" altLang="en-US" dirty="0">
              <a:ea typeface="ＭＳ Ｐゴシック" panose="020B0600070205080204" pitchFamily="34" charset="-128"/>
            </a:endParaRPr>
          </a:p>
          <a:p>
            <a:pPr lvl="1"/>
            <a:endParaRPr lang="en-GB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30802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6260133" indent="-25943614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1652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3303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94955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266078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98D798A6-FDFF-4F11-89D6-079F73F1EE54}" type="slidenum">
              <a:rPr lang="en-GB" altLang="en-US" sz="969"/>
              <a:pPr/>
              <a:t>7</a:t>
            </a:fld>
            <a:endParaRPr lang="en-GB" altLang="en-US" sz="969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5962" y="1952914"/>
            <a:ext cx="8435280" cy="4608513"/>
          </a:xfrm>
        </p:spPr>
        <p:txBody>
          <a:bodyPr>
            <a:normAutofit fontScale="92500" lnSpcReduction="10000"/>
          </a:bodyPr>
          <a:lstStyle/>
          <a:p>
            <a:r>
              <a:rPr lang="en-GB" altLang="en-US" dirty="0">
                <a:solidFill>
                  <a:schemeClr val="accent5">
                    <a:lumMod val="75000"/>
                  </a:schemeClr>
                </a:solidFill>
              </a:rPr>
              <a:t>Preference shares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fixed dividend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usually no voting rights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usually cumulative and irredeemable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risk is less than for ordinary shares but more than for loan capital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Rank ahead of ordinary shares if company is wound up.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Variations:</a:t>
            </a:r>
          </a:p>
          <a:p>
            <a:pPr lvl="2"/>
            <a:r>
              <a:rPr lang="en-GB" altLang="en-US" sz="1938" dirty="0">
                <a:ea typeface="ＭＳ Ｐゴシック" panose="020B0600070205080204" pitchFamily="34" charset="-128"/>
              </a:rPr>
              <a:t>Participating (right to share of profits over a certain amount)</a:t>
            </a:r>
          </a:p>
          <a:p>
            <a:pPr lvl="2"/>
            <a:r>
              <a:rPr lang="en-GB" altLang="en-US" sz="1938" dirty="0">
                <a:ea typeface="ＭＳ Ｐゴシック" panose="020B0600070205080204" pitchFamily="34" charset="-128"/>
              </a:rPr>
              <a:t>Convertible (right to convert into ordinary shares in the future)</a:t>
            </a:r>
          </a:p>
        </p:txBody>
      </p:sp>
    </p:spTree>
    <p:extLst>
      <p:ext uri="{BB962C8B-B14F-4D97-AF65-F5344CB8AC3E}">
        <p14:creationId xmlns:p14="http://schemas.microsoft.com/office/powerpoint/2010/main" val="1509306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6260133" indent="-25943614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1652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3303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94955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266078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2E170D25-2308-4EA6-9D34-71184FE45DF4}" type="slidenum">
              <a:rPr lang="en-GB" altLang="en-US" sz="969"/>
              <a:pPr/>
              <a:t>8</a:t>
            </a:fld>
            <a:endParaRPr lang="en-GB" altLang="en-US" sz="969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322919" y="1459599"/>
            <a:ext cx="4035669" cy="1055077"/>
          </a:xfrm>
        </p:spPr>
        <p:txBody>
          <a:bodyPr/>
          <a:lstStyle/>
          <a:p>
            <a:r>
              <a:rPr lang="en-GB" altLang="en-US" dirty="0"/>
              <a:t>Loan Capital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2276872"/>
            <a:ext cx="8568952" cy="4154869"/>
          </a:xfrm>
        </p:spPr>
        <p:txBody>
          <a:bodyPr>
            <a:normAutofit/>
          </a:bodyPr>
          <a:lstStyle/>
          <a:p>
            <a:endParaRPr lang="en-GB" altLang="en-US" dirty="0"/>
          </a:p>
          <a:p>
            <a:r>
              <a:rPr lang="en-GB" altLang="en-US" dirty="0"/>
              <a:t>Loans = Debt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return to investor is interest (plus repayment of capital)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Pattern of interest and capital payments determined at outset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may be listed on stock exchange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lenders do not have voting rights</a:t>
            </a:r>
          </a:p>
          <a:p>
            <a:pPr lvl="1">
              <a:buFontTx/>
              <a:buNone/>
            </a:pPr>
            <a:endParaRPr lang="en-GB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9190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2329962" y="267067"/>
            <a:ext cx="4480780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GB" altLang="en-US" sz="1662" b="1">
                <a:solidFill>
                  <a:srgbClr val="CC0000"/>
                </a:solidFill>
                <a:latin typeface="Arial" panose="020B0604020202020204" pitchFamily="34" charset="0"/>
              </a:rPr>
              <a:t>Loan covenants</a:t>
            </a:r>
            <a:endParaRPr lang="en-GB" altLang="en-US" sz="1662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grpSp>
        <p:nvGrpSpPr>
          <p:cNvPr id="21507" name="Group 20"/>
          <p:cNvGrpSpPr>
            <a:grpSpLocks/>
          </p:cNvGrpSpPr>
          <p:nvPr/>
        </p:nvGrpSpPr>
        <p:grpSpPr bwMode="auto">
          <a:xfrm>
            <a:off x="3123468" y="1053978"/>
            <a:ext cx="2899263" cy="4756638"/>
            <a:chOff x="1106" y="640"/>
            <a:chExt cx="3518" cy="2996"/>
          </a:xfrm>
        </p:grpSpPr>
        <p:sp>
          <p:nvSpPr>
            <p:cNvPr id="21508" name="AutoShape 4"/>
            <p:cNvSpPr>
              <a:spLocks noChangeArrowheads="1"/>
            </p:cNvSpPr>
            <p:nvPr/>
          </p:nvSpPr>
          <p:spPr bwMode="auto">
            <a:xfrm>
              <a:off x="1192" y="640"/>
              <a:ext cx="3432" cy="2916"/>
            </a:xfrm>
            <a:prstGeom prst="roundRect">
              <a:avLst>
                <a:gd name="adj" fmla="val 11019"/>
              </a:avLst>
            </a:prstGeom>
            <a:solidFill>
              <a:srgbClr val="DBB3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21509" name="AutoShape 11"/>
            <p:cNvSpPr>
              <a:spLocks noChangeArrowheads="1"/>
            </p:cNvSpPr>
            <p:nvPr/>
          </p:nvSpPr>
          <p:spPr bwMode="auto">
            <a:xfrm>
              <a:off x="1106" y="2589"/>
              <a:ext cx="456" cy="456"/>
            </a:xfrm>
            <a:prstGeom prst="cube">
              <a:avLst>
                <a:gd name="adj" fmla="val 17856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21510" name="AutoShape 12"/>
            <p:cNvSpPr>
              <a:spLocks noChangeArrowheads="1"/>
            </p:cNvSpPr>
            <p:nvPr/>
          </p:nvSpPr>
          <p:spPr bwMode="auto">
            <a:xfrm>
              <a:off x="1106" y="1973"/>
              <a:ext cx="456" cy="456"/>
            </a:xfrm>
            <a:prstGeom prst="cube">
              <a:avLst>
                <a:gd name="adj" fmla="val 17856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21511" name="AutoShape 13"/>
            <p:cNvSpPr>
              <a:spLocks noChangeArrowheads="1"/>
            </p:cNvSpPr>
            <p:nvPr/>
          </p:nvSpPr>
          <p:spPr bwMode="auto">
            <a:xfrm>
              <a:off x="1106" y="1357"/>
              <a:ext cx="456" cy="456"/>
            </a:xfrm>
            <a:prstGeom prst="cube">
              <a:avLst>
                <a:gd name="adj" fmla="val 17856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  <p:sp>
          <p:nvSpPr>
            <p:cNvPr id="21512" name="Text Box 14"/>
            <p:cNvSpPr txBox="1">
              <a:spLocks noChangeArrowheads="1"/>
            </p:cNvSpPr>
            <p:nvPr/>
          </p:nvSpPr>
          <p:spPr bwMode="auto">
            <a:xfrm>
              <a:off x="1711" y="726"/>
              <a:ext cx="275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50000"/>
                </a:spcBef>
              </a:pPr>
              <a:r>
                <a:rPr lang="en-GB" altLang="en-US" sz="1385" b="1" i="1">
                  <a:solidFill>
                    <a:srgbClr val="CC0000"/>
                  </a:solidFill>
                  <a:latin typeface="Arial" panose="020B0604020202020204" pitchFamily="34" charset="0"/>
                </a:rPr>
                <a:t>May deal with matters such as the following:</a:t>
              </a:r>
            </a:p>
          </p:txBody>
        </p:sp>
        <p:grpSp>
          <p:nvGrpSpPr>
            <p:cNvPr id="21513" name="Group 19"/>
            <p:cNvGrpSpPr>
              <a:grpSpLocks/>
            </p:cNvGrpSpPr>
            <p:nvPr/>
          </p:nvGrpSpPr>
          <p:grpSpPr bwMode="auto">
            <a:xfrm>
              <a:off x="1690" y="1348"/>
              <a:ext cx="2932" cy="2288"/>
              <a:chOff x="1602" y="1452"/>
              <a:chExt cx="3276" cy="2288"/>
            </a:xfrm>
          </p:grpSpPr>
          <p:sp>
            <p:nvSpPr>
              <p:cNvPr id="21515" name="AutoShape 5"/>
              <p:cNvSpPr>
                <a:spLocks noChangeArrowheads="1"/>
              </p:cNvSpPr>
              <p:nvPr/>
            </p:nvSpPr>
            <p:spPr bwMode="auto">
              <a:xfrm>
                <a:off x="1660" y="1452"/>
                <a:ext cx="3217" cy="464"/>
              </a:xfrm>
              <a:prstGeom prst="cube">
                <a:avLst>
                  <a:gd name="adj" fmla="val 18750"/>
                </a:avLst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662"/>
              </a:p>
            </p:txBody>
          </p:sp>
          <p:sp>
            <p:nvSpPr>
              <p:cNvPr id="21516" name="AutoShape 6"/>
              <p:cNvSpPr>
                <a:spLocks noChangeArrowheads="1"/>
              </p:cNvSpPr>
              <p:nvPr/>
            </p:nvSpPr>
            <p:spPr bwMode="auto">
              <a:xfrm>
                <a:off x="1660" y="2070"/>
                <a:ext cx="3217" cy="464"/>
              </a:xfrm>
              <a:prstGeom prst="cube">
                <a:avLst>
                  <a:gd name="adj" fmla="val 18750"/>
                </a:avLst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662"/>
              </a:p>
            </p:txBody>
          </p:sp>
          <p:sp>
            <p:nvSpPr>
              <p:cNvPr id="21517" name="Text Box 7"/>
              <p:cNvSpPr txBox="1">
                <a:spLocks noChangeArrowheads="1"/>
              </p:cNvSpPr>
              <p:nvPr/>
            </p:nvSpPr>
            <p:spPr bwMode="auto">
              <a:xfrm>
                <a:off x="1602" y="2208"/>
                <a:ext cx="3205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 sz="1385" b="1">
                    <a:latin typeface="Arial" panose="020B0604020202020204" pitchFamily="34" charset="0"/>
                  </a:rPr>
                  <a:t>Other loans</a:t>
                </a:r>
              </a:p>
            </p:txBody>
          </p:sp>
          <p:sp>
            <p:nvSpPr>
              <p:cNvPr id="21518" name="AutoShape 8"/>
              <p:cNvSpPr>
                <a:spLocks noChangeArrowheads="1"/>
              </p:cNvSpPr>
              <p:nvPr/>
            </p:nvSpPr>
            <p:spPr bwMode="auto">
              <a:xfrm>
                <a:off x="1660" y="2689"/>
                <a:ext cx="3218" cy="463"/>
              </a:xfrm>
              <a:prstGeom prst="cube">
                <a:avLst>
                  <a:gd name="adj" fmla="val 18750"/>
                </a:avLst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662"/>
              </a:p>
            </p:txBody>
          </p:sp>
          <p:sp>
            <p:nvSpPr>
              <p:cNvPr id="21519" name="Text Box 9"/>
              <p:cNvSpPr txBox="1">
                <a:spLocks noChangeArrowheads="1"/>
              </p:cNvSpPr>
              <p:nvPr/>
            </p:nvSpPr>
            <p:spPr bwMode="auto">
              <a:xfrm>
                <a:off x="1639" y="2822"/>
                <a:ext cx="310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 sz="1385" b="1">
                    <a:latin typeface="Arial" panose="020B0604020202020204" pitchFamily="34" charset="0"/>
                  </a:rPr>
                  <a:t>Dividend payments</a:t>
                </a:r>
              </a:p>
            </p:txBody>
          </p:sp>
          <p:sp>
            <p:nvSpPr>
              <p:cNvPr id="21520" name="Text Box 10"/>
              <p:cNvSpPr txBox="1">
                <a:spLocks noChangeArrowheads="1"/>
              </p:cNvSpPr>
              <p:nvPr/>
            </p:nvSpPr>
            <p:spPr bwMode="auto">
              <a:xfrm>
                <a:off x="1679" y="1599"/>
                <a:ext cx="310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 sz="1385" b="1">
                    <a:latin typeface="Arial" panose="020B0604020202020204" pitchFamily="34" charset="0"/>
                  </a:rPr>
                  <a:t>Access to financial statements</a:t>
                </a:r>
              </a:p>
            </p:txBody>
          </p:sp>
          <p:sp>
            <p:nvSpPr>
              <p:cNvPr id="21521" name="AutoShape 15"/>
              <p:cNvSpPr>
                <a:spLocks noChangeArrowheads="1"/>
              </p:cNvSpPr>
              <p:nvPr/>
            </p:nvSpPr>
            <p:spPr bwMode="auto">
              <a:xfrm>
                <a:off x="1660" y="3277"/>
                <a:ext cx="3218" cy="463"/>
              </a:xfrm>
              <a:prstGeom prst="cube">
                <a:avLst>
                  <a:gd name="adj" fmla="val 18750"/>
                </a:avLst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662"/>
              </a:p>
            </p:txBody>
          </p:sp>
          <p:sp>
            <p:nvSpPr>
              <p:cNvPr id="21522" name="Text Box 16"/>
              <p:cNvSpPr txBox="1">
                <a:spLocks noChangeArrowheads="1"/>
              </p:cNvSpPr>
              <p:nvPr/>
            </p:nvSpPr>
            <p:spPr bwMode="auto">
              <a:xfrm>
                <a:off x="1639" y="3410"/>
                <a:ext cx="310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 sz="1385" b="1">
                    <a:latin typeface="Arial" panose="020B0604020202020204" pitchFamily="34" charset="0"/>
                  </a:rPr>
                  <a:t>Liquidity.</a:t>
                </a:r>
              </a:p>
            </p:txBody>
          </p:sp>
        </p:grpSp>
        <p:sp>
          <p:nvSpPr>
            <p:cNvPr id="21514" name="AutoShape 17"/>
            <p:cNvSpPr>
              <a:spLocks noChangeArrowheads="1"/>
            </p:cNvSpPr>
            <p:nvPr/>
          </p:nvSpPr>
          <p:spPr bwMode="auto">
            <a:xfrm>
              <a:off x="1106" y="3177"/>
              <a:ext cx="456" cy="456"/>
            </a:xfrm>
            <a:prstGeom prst="cube">
              <a:avLst>
                <a:gd name="adj" fmla="val 17856"/>
              </a:avLst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1662"/>
            </a:p>
          </p:txBody>
        </p:sp>
      </p:grpSp>
    </p:spTree>
    <p:extLst>
      <p:ext uri="{BB962C8B-B14F-4D97-AF65-F5344CB8AC3E}">
        <p14:creationId xmlns:p14="http://schemas.microsoft.com/office/powerpoint/2010/main" val="2505807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Debentures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Loans secured on some or all of company’s assets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Mortgage debenture is secured by a specific asset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Floating charge debenture allows company to use assets in trading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Risks include non-payment, inflation and low marketability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0928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en-US" dirty="0"/>
              <a:t>Unsecured loan stocks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No specific security for loan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Greater risk, reflected in market value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May be convertible (right to convert into ordinary shares at a later date)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6094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6260133" indent="-25943614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1652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3303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94955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266078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754441BC-CD94-445C-8A72-9B98B3669B07}" type="slidenum">
              <a:rPr lang="en-GB" altLang="en-US" sz="969"/>
              <a:pPr/>
              <a:t>12</a:t>
            </a:fld>
            <a:endParaRPr lang="en-GB" altLang="en-US" sz="969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236955" y="652495"/>
            <a:ext cx="8337789" cy="1436444"/>
          </a:xfrm>
        </p:spPr>
        <p:txBody>
          <a:bodyPr>
            <a:normAutofit/>
          </a:bodyPr>
          <a:lstStyle/>
          <a:p>
            <a:r>
              <a:rPr lang="en-GB" altLang="en-US" dirty="0"/>
              <a:t>Medium term company finance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6955" y="2420888"/>
            <a:ext cx="8075240" cy="2736304"/>
          </a:xfrm>
        </p:spPr>
        <p:txBody>
          <a:bodyPr>
            <a:normAutofit fontScale="92500" lnSpcReduction="10000"/>
          </a:bodyPr>
          <a:lstStyle/>
          <a:p>
            <a:r>
              <a:rPr lang="en-GB" altLang="en-US" dirty="0"/>
              <a:t>Hire </a:t>
            </a:r>
            <a:r>
              <a:rPr lang="en-GB" altLang="en-US" dirty="0" smtClean="0"/>
              <a:t>purchase</a:t>
            </a:r>
          </a:p>
          <a:p>
            <a:pPr lvl="1"/>
            <a:r>
              <a:rPr lang="en-GB" altLang="en-US" dirty="0" smtClean="0"/>
              <a:t>Rental then ownership passes</a:t>
            </a:r>
            <a:endParaRPr lang="en-GB" altLang="en-US" dirty="0" smtClean="0"/>
          </a:p>
          <a:p>
            <a:r>
              <a:rPr lang="en-GB" altLang="en-US" dirty="0" smtClean="0"/>
              <a:t>Leasing</a:t>
            </a:r>
          </a:p>
          <a:p>
            <a:pPr lvl="1"/>
            <a:r>
              <a:rPr lang="en-GB" altLang="en-US" dirty="0" smtClean="0">
                <a:ea typeface="ＭＳ Ｐゴシック" panose="020B0600070205080204" pitchFamily="34" charset="-128"/>
              </a:rPr>
              <a:t>Rent without ownership passing</a:t>
            </a:r>
          </a:p>
          <a:p>
            <a:pPr lvl="1"/>
            <a:r>
              <a:rPr lang="en-GB" altLang="en-US" dirty="0" smtClean="0">
                <a:ea typeface="ＭＳ Ｐゴシック" panose="020B0600070205080204" pitchFamily="34" charset="-128"/>
              </a:rPr>
              <a:t>Finance Lease</a:t>
            </a:r>
          </a:p>
          <a:p>
            <a:pPr lvl="1"/>
            <a:r>
              <a:rPr lang="en-GB" altLang="en-US" dirty="0" smtClean="0">
                <a:ea typeface="ＭＳ Ｐゴシック" panose="020B0600070205080204" pitchFamily="34" charset="-128"/>
              </a:rPr>
              <a:t>Operating Lease</a:t>
            </a:r>
            <a:endParaRPr lang="en-GB" altLang="en-US" dirty="0">
              <a:ea typeface="ＭＳ Ｐゴシック" panose="020B0600070205080204" pitchFamily="34" charset="-128"/>
            </a:endParaRPr>
          </a:p>
          <a:p>
            <a:pPr lvl="1">
              <a:buFontTx/>
              <a:buNone/>
            </a:pPr>
            <a:endParaRPr lang="en-GB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5468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en-US" dirty="0" smtClean="0"/>
              <a:t>Short to medium ter</a:t>
            </a:r>
            <a:r>
              <a:rPr lang="en-GB" altLang="en-US" dirty="0"/>
              <a:t>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GB" altLang="en-US" dirty="0" smtClean="0">
                <a:ea typeface="ＭＳ Ｐゴシック" panose="020B0600070205080204" pitchFamily="34" charset="-128"/>
              </a:rPr>
              <a:t>Credit purchase</a:t>
            </a:r>
          </a:p>
          <a:p>
            <a:pPr lvl="2"/>
            <a:r>
              <a:rPr lang="en-GB" altLang="en-US" dirty="0" smtClean="0">
                <a:ea typeface="ＭＳ Ｐゴシック" panose="020B0600070205080204" pitchFamily="34" charset="-128"/>
              </a:rPr>
              <a:t>Ownership passes</a:t>
            </a:r>
          </a:p>
          <a:p>
            <a:pPr lvl="2"/>
            <a:r>
              <a:rPr lang="en-GB" altLang="en-US" dirty="0" smtClean="0">
                <a:ea typeface="ＭＳ Ｐゴシック" panose="020B0600070205080204" pitchFamily="34" charset="-128"/>
              </a:rPr>
              <a:t>Payment in instalments</a:t>
            </a:r>
          </a:p>
          <a:p>
            <a:pPr lvl="1"/>
            <a:r>
              <a:rPr lang="en-GB" dirty="0" smtClean="0">
                <a:ea typeface="ＭＳ Ｐゴシック" panose="020B0600070205080204" pitchFamily="34" charset="-128"/>
              </a:rPr>
              <a:t>Bank loan</a:t>
            </a:r>
          </a:p>
          <a:p>
            <a:pPr lvl="2"/>
            <a:r>
              <a:rPr lang="en-GB" dirty="0" smtClean="0">
                <a:ea typeface="ＭＳ Ｐゴシック" panose="020B0600070205080204" pitchFamily="34" charset="-128"/>
              </a:rPr>
              <a:t>Security required</a:t>
            </a:r>
          </a:p>
          <a:p>
            <a:pPr lvl="2"/>
            <a:r>
              <a:rPr lang="en-GB" dirty="0" smtClean="0">
                <a:ea typeface="ＭＳ Ｐゴシック" panose="020B0600070205080204" pitchFamily="34" charset="-128"/>
              </a:rPr>
              <a:t>Interest may be fixed or variable</a:t>
            </a:r>
          </a:p>
          <a:p>
            <a:pPr lvl="2"/>
            <a:r>
              <a:rPr lang="en-GB" dirty="0" smtClean="0">
                <a:ea typeface="ＭＳ Ｐゴシック" panose="020B0600070205080204" pitchFamily="34" charset="-128"/>
              </a:rPr>
              <a:t>Repayment profile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0454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6260133" indent="-25943614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1652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3303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94955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266078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09CE4EC5-757D-4F6D-99AF-050B3B09705A}" type="slidenum">
              <a:rPr lang="en-GB" altLang="en-US" sz="969"/>
              <a:pPr/>
              <a:t>14</a:t>
            </a:fld>
            <a:endParaRPr lang="en-GB" altLang="en-US" sz="969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Short term company finance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altLang="en-US"/>
              <a:t>Bank overdrafts</a:t>
            </a:r>
          </a:p>
          <a:p>
            <a:pPr lvl="1"/>
            <a:r>
              <a:rPr lang="en-GB" altLang="en-US">
                <a:ea typeface="ＭＳ Ｐゴシック" panose="020B0600070205080204" pitchFamily="34" charset="-128"/>
              </a:rPr>
              <a:t>immediate payment can be demanded</a:t>
            </a:r>
          </a:p>
          <a:p>
            <a:pPr lvl="1"/>
            <a:r>
              <a:rPr lang="en-GB" altLang="en-US">
                <a:ea typeface="ＭＳ Ｐゴシック" panose="020B0600070205080204" pitchFamily="34" charset="-128"/>
              </a:rPr>
              <a:t>interest payable on overdrawn amount only</a:t>
            </a:r>
          </a:p>
          <a:p>
            <a:pPr lvl="1"/>
            <a:endParaRPr lang="en-GB" altLang="en-US">
              <a:ea typeface="ＭＳ Ｐゴシック" panose="020B0600070205080204" pitchFamily="34" charset="-128"/>
            </a:endParaRPr>
          </a:p>
          <a:p>
            <a:r>
              <a:rPr lang="en-GB" altLang="en-US"/>
              <a:t>Trade credit</a:t>
            </a:r>
          </a:p>
          <a:p>
            <a:pPr lvl="1"/>
            <a:r>
              <a:rPr lang="en-GB" altLang="en-US">
                <a:ea typeface="ＭＳ Ｐゴシック" panose="020B0600070205080204" pitchFamily="34" charset="-128"/>
              </a:rPr>
              <a:t>an agreement between a company and suppliers to pay later</a:t>
            </a:r>
          </a:p>
          <a:p>
            <a:pPr lvl="1"/>
            <a:r>
              <a:rPr lang="en-GB" altLang="en-US">
                <a:ea typeface="ＭＳ Ｐゴシック" panose="020B0600070205080204" pitchFamily="34" charset="-128"/>
              </a:rPr>
              <a:t>no interest normally charged (may give discount for paying on time)</a:t>
            </a:r>
          </a:p>
          <a:p>
            <a:pPr lvl="1"/>
            <a:endParaRPr lang="en-GB" altLang="en-US">
              <a:ea typeface="ＭＳ Ｐゴシック" panose="020B0600070205080204" pitchFamily="34" charset="-128"/>
            </a:endParaRPr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69997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90000"/>
              </a:lnSpc>
            </a:pPr>
            <a:r>
              <a:rPr lang="en-GB" altLang="en-US" dirty="0">
                <a:ea typeface="ＭＳ Ｐゴシック" panose="020B0600070205080204" pitchFamily="34" charset="-128"/>
              </a:rPr>
              <a:t>non-recourse factoring</a:t>
            </a:r>
          </a:p>
          <a:p>
            <a:pPr lvl="2">
              <a:lnSpc>
                <a:spcPct val="90000"/>
              </a:lnSpc>
            </a:pPr>
            <a:r>
              <a:rPr lang="en-GB" altLang="en-US" dirty="0">
                <a:ea typeface="ＭＳ Ｐゴシック" panose="020B0600070205080204" pitchFamily="34" charset="-128"/>
              </a:rPr>
              <a:t>company sells its accounts receivable to a factor</a:t>
            </a:r>
          </a:p>
          <a:p>
            <a:pPr lvl="2">
              <a:lnSpc>
                <a:spcPct val="90000"/>
              </a:lnSpc>
            </a:pPr>
            <a:r>
              <a:rPr lang="en-GB" altLang="en-US" dirty="0">
                <a:ea typeface="ＭＳ Ｐゴシック" panose="020B0600070205080204" pitchFamily="34" charset="-128"/>
              </a:rPr>
              <a:t>factor takes on responsibility for collection</a:t>
            </a:r>
          </a:p>
          <a:p>
            <a:pPr lvl="1">
              <a:lnSpc>
                <a:spcPct val="90000"/>
              </a:lnSpc>
            </a:pPr>
            <a:r>
              <a:rPr lang="en-GB" altLang="en-US" dirty="0">
                <a:ea typeface="ＭＳ Ｐゴシック" panose="020B0600070205080204" pitchFamily="34" charset="-128"/>
              </a:rPr>
              <a:t>recourse factoring</a:t>
            </a:r>
          </a:p>
          <a:p>
            <a:pPr lvl="2">
              <a:lnSpc>
                <a:spcPct val="90000"/>
              </a:lnSpc>
            </a:pPr>
            <a:r>
              <a:rPr lang="en-GB" altLang="en-US" dirty="0">
                <a:ea typeface="ＭＳ Ｐゴシック" panose="020B0600070205080204" pitchFamily="34" charset="-128"/>
              </a:rPr>
              <a:t>loan secured against outstanding invoices</a:t>
            </a:r>
          </a:p>
          <a:p>
            <a:pPr lvl="2">
              <a:lnSpc>
                <a:spcPct val="90000"/>
              </a:lnSpc>
            </a:pPr>
            <a:r>
              <a:rPr lang="en-GB" altLang="en-US" dirty="0">
                <a:ea typeface="ＭＳ Ｐゴシック" panose="020B0600070205080204" pitchFamily="34" charset="-128"/>
              </a:rPr>
              <a:t>credit risk remains with the original seller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2033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2522294" y="124192"/>
            <a:ext cx="4095017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GB" altLang="en-US" sz="1662" b="1">
                <a:solidFill>
                  <a:srgbClr val="CC0000"/>
                </a:solidFill>
                <a:latin typeface="Arial" panose="020B0604020202020204" pitchFamily="34" charset="0"/>
              </a:rPr>
              <a:t>The factoring process</a:t>
            </a:r>
            <a:endParaRPr lang="en-GB" altLang="en-US" sz="1662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grpSp>
        <p:nvGrpSpPr>
          <p:cNvPr id="31747" name="Group 62"/>
          <p:cNvGrpSpPr>
            <a:grpSpLocks/>
          </p:cNvGrpSpPr>
          <p:nvPr/>
        </p:nvGrpSpPr>
        <p:grpSpPr bwMode="auto">
          <a:xfrm>
            <a:off x="2166754" y="1025403"/>
            <a:ext cx="4897047" cy="5121519"/>
            <a:chOff x="-38" y="644"/>
            <a:chExt cx="5850" cy="3226"/>
          </a:xfrm>
        </p:grpSpPr>
        <p:grpSp>
          <p:nvGrpSpPr>
            <p:cNvPr id="31748" name="Group 63"/>
            <p:cNvGrpSpPr>
              <a:grpSpLocks/>
            </p:cNvGrpSpPr>
            <p:nvPr/>
          </p:nvGrpSpPr>
          <p:grpSpPr bwMode="auto">
            <a:xfrm>
              <a:off x="196" y="644"/>
              <a:ext cx="5616" cy="3226"/>
              <a:chOff x="196" y="644"/>
              <a:chExt cx="5616" cy="3226"/>
            </a:xfrm>
          </p:grpSpPr>
          <p:sp>
            <p:nvSpPr>
              <p:cNvPr id="31750" name="AutoShape 64"/>
              <p:cNvSpPr>
                <a:spLocks noChangeArrowheads="1"/>
              </p:cNvSpPr>
              <p:nvPr/>
            </p:nvSpPr>
            <p:spPr bwMode="auto">
              <a:xfrm>
                <a:off x="196" y="1994"/>
                <a:ext cx="1267" cy="1191"/>
              </a:xfrm>
              <a:prstGeom prst="roundRect">
                <a:avLst>
                  <a:gd name="adj" fmla="val 16667"/>
                </a:avLst>
              </a:prstGeom>
              <a:solidFill>
                <a:srgbClr val="DBB3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662"/>
              </a:p>
            </p:txBody>
          </p:sp>
          <p:sp>
            <p:nvSpPr>
              <p:cNvPr id="31751" name="AutoShape 65"/>
              <p:cNvSpPr>
                <a:spLocks noChangeArrowheads="1"/>
              </p:cNvSpPr>
              <p:nvPr/>
            </p:nvSpPr>
            <p:spPr bwMode="auto">
              <a:xfrm>
                <a:off x="1837" y="1808"/>
                <a:ext cx="1022" cy="892"/>
              </a:xfrm>
              <a:prstGeom prst="roundRect">
                <a:avLst>
                  <a:gd name="adj" fmla="val 16667"/>
                </a:avLst>
              </a:prstGeom>
              <a:solidFill>
                <a:srgbClr val="DBB3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662"/>
              </a:p>
            </p:txBody>
          </p:sp>
          <p:sp>
            <p:nvSpPr>
              <p:cNvPr id="31752" name="AutoShape 66"/>
              <p:cNvSpPr>
                <a:spLocks noChangeArrowheads="1"/>
              </p:cNvSpPr>
              <p:nvPr/>
            </p:nvSpPr>
            <p:spPr bwMode="auto">
              <a:xfrm>
                <a:off x="3262" y="1813"/>
                <a:ext cx="1036" cy="884"/>
              </a:xfrm>
              <a:prstGeom prst="roundRect">
                <a:avLst>
                  <a:gd name="adj" fmla="val 16667"/>
                </a:avLst>
              </a:prstGeom>
              <a:solidFill>
                <a:srgbClr val="DBB3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662"/>
              </a:p>
            </p:txBody>
          </p:sp>
          <p:sp>
            <p:nvSpPr>
              <p:cNvPr id="31753" name="AutoShape 67"/>
              <p:cNvSpPr>
                <a:spLocks noChangeArrowheads="1"/>
              </p:cNvSpPr>
              <p:nvPr/>
            </p:nvSpPr>
            <p:spPr bwMode="auto">
              <a:xfrm>
                <a:off x="4611" y="1990"/>
                <a:ext cx="1149" cy="1055"/>
              </a:xfrm>
              <a:prstGeom prst="roundRect">
                <a:avLst>
                  <a:gd name="adj" fmla="val 16667"/>
                </a:avLst>
              </a:prstGeom>
              <a:solidFill>
                <a:srgbClr val="DBB3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662"/>
              </a:p>
            </p:txBody>
          </p:sp>
          <p:sp>
            <p:nvSpPr>
              <p:cNvPr id="31754" name="AutoShape 68"/>
              <p:cNvSpPr>
                <a:spLocks noChangeArrowheads="1"/>
              </p:cNvSpPr>
              <p:nvPr/>
            </p:nvSpPr>
            <p:spPr bwMode="auto">
              <a:xfrm>
                <a:off x="2357" y="644"/>
                <a:ext cx="1333" cy="654"/>
              </a:xfrm>
              <a:prstGeom prst="roundRect">
                <a:avLst>
                  <a:gd name="adj" fmla="val 16667"/>
                </a:avLst>
              </a:prstGeom>
              <a:solidFill>
                <a:srgbClr val="DBB3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662"/>
              </a:p>
            </p:txBody>
          </p:sp>
          <p:sp>
            <p:nvSpPr>
              <p:cNvPr id="31755" name="AutoShape 69"/>
              <p:cNvSpPr>
                <a:spLocks noChangeArrowheads="1"/>
              </p:cNvSpPr>
              <p:nvPr/>
            </p:nvSpPr>
            <p:spPr bwMode="auto">
              <a:xfrm>
                <a:off x="937" y="799"/>
                <a:ext cx="1228" cy="781"/>
              </a:xfrm>
              <a:prstGeom prst="cube">
                <a:avLst>
                  <a:gd name="adj" fmla="val 16773"/>
                </a:avLst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662"/>
              </a:p>
            </p:txBody>
          </p:sp>
          <p:sp>
            <p:nvSpPr>
              <p:cNvPr id="31756" name="Text Box 70"/>
              <p:cNvSpPr txBox="1">
                <a:spLocks noChangeArrowheads="1"/>
              </p:cNvSpPr>
              <p:nvPr/>
            </p:nvSpPr>
            <p:spPr bwMode="auto">
              <a:xfrm>
                <a:off x="875" y="985"/>
                <a:ext cx="115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 sz="1385" b="1">
                    <a:latin typeface="Arial" panose="020B0604020202020204" pitchFamily="34" charset="0"/>
                  </a:rPr>
                  <a:t>Client business</a:t>
                </a:r>
              </a:p>
            </p:txBody>
          </p:sp>
          <p:sp>
            <p:nvSpPr>
              <p:cNvPr id="31757" name="AutoShape 71"/>
              <p:cNvSpPr>
                <a:spLocks noChangeArrowheads="1"/>
              </p:cNvSpPr>
              <p:nvPr/>
            </p:nvSpPr>
            <p:spPr bwMode="auto">
              <a:xfrm>
                <a:off x="4054" y="804"/>
                <a:ext cx="1228" cy="781"/>
              </a:xfrm>
              <a:prstGeom prst="cube">
                <a:avLst>
                  <a:gd name="adj" fmla="val 16773"/>
                </a:avLst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662"/>
              </a:p>
            </p:txBody>
          </p:sp>
          <p:sp>
            <p:nvSpPr>
              <p:cNvPr id="31758" name="Text Box 72"/>
              <p:cNvSpPr txBox="1">
                <a:spLocks noChangeArrowheads="1"/>
              </p:cNvSpPr>
              <p:nvPr/>
            </p:nvSpPr>
            <p:spPr bwMode="auto">
              <a:xfrm>
                <a:off x="4066" y="989"/>
                <a:ext cx="121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 sz="1385" b="1">
                    <a:latin typeface="Arial" panose="020B0604020202020204" pitchFamily="34" charset="0"/>
                  </a:rPr>
                  <a:t>Credit customer</a:t>
                </a:r>
              </a:p>
            </p:txBody>
          </p:sp>
          <p:sp>
            <p:nvSpPr>
              <p:cNvPr id="31759" name="AutoShape 73"/>
              <p:cNvSpPr>
                <a:spLocks noChangeArrowheads="1"/>
              </p:cNvSpPr>
              <p:nvPr/>
            </p:nvSpPr>
            <p:spPr bwMode="auto">
              <a:xfrm>
                <a:off x="2486" y="2849"/>
                <a:ext cx="1228" cy="1021"/>
              </a:xfrm>
              <a:prstGeom prst="cube">
                <a:avLst>
                  <a:gd name="adj" fmla="val 13319"/>
                </a:avLst>
              </a:prstGeom>
              <a:solidFill>
                <a:srgbClr val="FF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662"/>
              </a:p>
            </p:txBody>
          </p:sp>
          <p:sp>
            <p:nvSpPr>
              <p:cNvPr id="31760" name="Text Box 74"/>
              <p:cNvSpPr txBox="1">
                <a:spLocks noChangeArrowheads="1"/>
              </p:cNvSpPr>
              <p:nvPr/>
            </p:nvSpPr>
            <p:spPr bwMode="auto">
              <a:xfrm>
                <a:off x="2498" y="3257"/>
                <a:ext cx="1088" cy="2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 sz="1523" b="1">
                    <a:latin typeface="Arial" panose="020B0604020202020204" pitchFamily="34" charset="0"/>
                  </a:rPr>
                  <a:t>Factor</a:t>
                </a:r>
              </a:p>
            </p:txBody>
          </p:sp>
          <p:sp>
            <p:nvSpPr>
              <p:cNvPr id="31761" name="AutoShape 75"/>
              <p:cNvSpPr>
                <a:spLocks noChangeArrowheads="1"/>
              </p:cNvSpPr>
              <p:nvPr/>
            </p:nvSpPr>
            <p:spPr bwMode="auto">
              <a:xfrm>
                <a:off x="2102" y="1142"/>
                <a:ext cx="1945" cy="348"/>
              </a:xfrm>
              <a:prstGeom prst="rightArrow">
                <a:avLst>
                  <a:gd name="adj1" fmla="val 56898"/>
                  <a:gd name="adj2" fmla="val 37364"/>
                </a:avLst>
              </a:prstGeom>
              <a:solidFill>
                <a:srgbClr val="CC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662"/>
              </a:p>
            </p:txBody>
          </p:sp>
          <p:sp>
            <p:nvSpPr>
              <p:cNvPr id="31762" name="Text Box 76"/>
              <p:cNvSpPr txBox="1">
                <a:spLocks noChangeArrowheads="1"/>
              </p:cNvSpPr>
              <p:nvPr/>
            </p:nvSpPr>
            <p:spPr bwMode="auto">
              <a:xfrm>
                <a:off x="2324" y="676"/>
                <a:ext cx="1382" cy="4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GB" altLang="en-US" sz="1108" b="1" i="1">
                    <a:latin typeface="Arial" panose="020B0604020202020204" pitchFamily="34" charset="0"/>
                  </a:rPr>
                  <a:t>Goods supplied on credit</a:t>
                </a:r>
                <a:br>
                  <a:rPr lang="en-GB" altLang="en-US" sz="1108" b="1" i="1">
                    <a:latin typeface="Arial" panose="020B0604020202020204" pitchFamily="34" charset="0"/>
                  </a:rPr>
                </a:br>
                <a:r>
                  <a:rPr lang="en-GB" altLang="en-US" sz="1108" b="1" i="1">
                    <a:latin typeface="Arial" panose="020B0604020202020204" pitchFamily="34" charset="0"/>
                  </a:rPr>
                  <a:t> (1)</a:t>
                </a:r>
              </a:p>
            </p:txBody>
          </p:sp>
          <p:sp>
            <p:nvSpPr>
              <p:cNvPr id="31763" name="AutoShape 77"/>
              <p:cNvSpPr>
                <a:spLocks noChangeArrowheads="1"/>
              </p:cNvSpPr>
              <p:nvPr/>
            </p:nvSpPr>
            <p:spPr bwMode="auto">
              <a:xfrm>
                <a:off x="4034" y="1579"/>
                <a:ext cx="460" cy="1601"/>
              </a:xfrm>
              <a:prstGeom prst="upArrow">
                <a:avLst>
                  <a:gd name="adj1" fmla="val 43917"/>
                  <a:gd name="adj2" fmla="val 34498"/>
                </a:avLst>
              </a:prstGeom>
              <a:solidFill>
                <a:srgbClr val="CC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662"/>
              </a:p>
            </p:txBody>
          </p:sp>
          <p:sp>
            <p:nvSpPr>
              <p:cNvPr id="31764" name="Rectangle 78"/>
              <p:cNvSpPr>
                <a:spLocks noChangeArrowheads="1"/>
              </p:cNvSpPr>
              <p:nvPr/>
            </p:nvSpPr>
            <p:spPr bwMode="auto">
              <a:xfrm>
                <a:off x="3651" y="2975"/>
                <a:ext cx="703" cy="205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662"/>
              </a:p>
            </p:txBody>
          </p:sp>
          <p:sp>
            <p:nvSpPr>
              <p:cNvPr id="31765" name="AutoShape 79"/>
              <p:cNvSpPr>
                <a:spLocks noChangeArrowheads="1"/>
              </p:cNvSpPr>
              <p:nvPr/>
            </p:nvSpPr>
            <p:spPr bwMode="auto">
              <a:xfrm>
                <a:off x="3637" y="3334"/>
                <a:ext cx="960" cy="410"/>
              </a:xfrm>
              <a:prstGeom prst="leftArrow">
                <a:avLst>
                  <a:gd name="adj1" fmla="val 49759"/>
                  <a:gd name="adj2" fmla="val 39762"/>
                </a:avLst>
              </a:prstGeom>
              <a:solidFill>
                <a:srgbClr val="CC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662"/>
              </a:p>
            </p:txBody>
          </p:sp>
          <p:sp>
            <p:nvSpPr>
              <p:cNvPr id="31766" name="Rectangle 80"/>
              <p:cNvSpPr>
                <a:spLocks noChangeArrowheads="1"/>
              </p:cNvSpPr>
              <p:nvPr/>
            </p:nvSpPr>
            <p:spPr bwMode="auto">
              <a:xfrm>
                <a:off x="4559" y="1579"/>
                <a:ext cx="205" cy="2066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662"/>
              </a:p>
            </p:txBody>
          </p:sp>
          <p:sp>
            <p:nvSpPr>
              <p:cNvPr id="31767" name="Text Box 81"/>
              <p:cNvSpPr txBox="1">
                <a:spLocks noChangeArrowheads="1"/>
              </p:cNvSpPr>
              <p:nvPr/>
            </p:nvSpPr>
            <p:spPr bwMode="auto">
              <a:xfrm>
                <a:off x="4780" y="2028"/>
                <a:ext cx="1032" cy="7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GB" altLang="en-US" sz="1108" b="1" i="1" dirty="0">
                    <a:latin typeface="Arial" panose="020B0604020202020204" pitchFamily="34" charset="0"/>
                  </a:rPr>
                  <a:t>Customer</a:t>
                </a:r>
                <a:br>
                  <a:rPr lang="en-GB" altLang="en-US" sz="1108" b="1" i="1" dirty="0">
                    <a:latin typeface="Arial" panose="020B0604020202020204" pitchFamily="34" charset="0"/>
                  </a:rPr>
                </a:br>
                <a:r>
                  <a:rPr lang="en-GB" altLang="en-US" sz="1108" b="1" i="1" dirty="0">
                    <a:latin typeface="Arial" panose="020B0604020202020204" pitchFamily="34" charset="0"/>
                  </a:rPr>
                  <a:t>pays</a:t>
                </a:r>
                <a:br>
                  <a:rPr lang="en-GB" altLang="en-US" sz="1108" b="1" i="1" dirty="0">
                    <a:latin typeface="Arial" panose="020B0604020202020204" pitchFamily="34" charset="0"/>
                  </a:rPr>
                </a:br>
                <a:r>
                  <a:rPr lang="en-GB" altLang="en-US" sz="1108" b="1" i="1" dirty="0">
                    <a:latin typeface="Arial" panose="020B0604020202020204" pitchFamily="34" charset="0"/>
                  </a:rPr>
                  <a:t>amount</a:t>
                </a:r>
                <a:br>
                  <a:rPr lang="en-GB" altLang="en-US" sz="1108" b="1" i="1" dirty="0">
                    <a:latin typeface="Arial" panose="020B0604020202020204" pitchFamily="34" charset="0"/>
                  </a:rPr>
                </a:br>
                <a:r>
                  <a:rPr lang="en-GB" altLang="en-US" sz="1108" b="1" i="1" dirty="0">
                    <a:latin typeface="Arial" panose="020B0604020202020204" pitchFamily="34" charset="0"/>
                  </a:rPr>
                  <a:t>owing </a:t>
                </a:r>
                <a:br>
                  <a:rPr lang="en-GB" altLang="en-US" sz="1108" b="1" i="1" dirty="0">
                    <a:latin typeface="Arial" panose="020B0604020202020204" pitchFamily="34" charset="0"/>
                  </a:rPr>
                </a:br>
                <a:r>
                  <a:rPr lang="en-GB" altLang="en-US" sz="1108" b="1" i="1" dirty="0">
                    <a:latin typeface="Arial" panose="020B0604020202020204" pitchFamily="34" charset="0"/>
                  </a:rPr>
                  <a:t>to factor</a:t>
                </a:r>
                <a:br>
                  <a:rPr lang="en-GB" altLang="en-US" sz="1108" b="1" i="1" dirty="0">
                    <a:latin typeface="Arial" panose="020B0604020202020204" pitchFamily="34" charset="0"/>
                  </a:rPr>
                </a:br>
                <a:r>
                  <a:rPr lang="en-GB" altLang="en-US" sz="1108" b="1" i="1" dirty="0">
                    <a:latin typeface="Arial" panose="020B0604020202020204" pitchFamily="34" charset="0"/>
                  </a:rPr>
                  <a:t>(4)</a:t>
                </a:r>
              </a:p>
            </p:txBody>
          </p:sp>
          <p:sp>
            <p:nvSpPr>
              <p:cNvPr id="31768" name="Text Box 82"/>
              <p:cNvSpPr txBox="1">
                <a:spLocks noChangeArrowheads="1"/>
              </p:cNvSpPr>
              <p:nvPr/>
            </p:nvSpPr>
            <p:spPr bwMode="auto">
              <a:xfrm>
                <a:off x="3064" y="1843"/>
                <a:ext cx="1039" cy="5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r">
                  <a:spcBef>
                    <a:spcPct val="50000"/>
                  </a:spcBef>
                </a:pPr>
                <a:r>
                  <a:rPr lang="en-GB" altLang="en-US" sz="1108" b="1" i="1" dirty="0">
                    <a:latin typeface="Arial" panose="020B0604020202020204" pitchFamily="34" charset="0"/>
                  </a:rPr>
                  <a:t>Factor </a:t>
                </a:r>
                <a:br>
                  <a:rPr lang="en-GB" altLang="en-US" sz="1108" b="1" i="1" dirty="0">
                    <a:latin typeface="Arial" panose="020B0604020202020204" pitchFamily="34" charset="0"/>
                  </a:rPr>
                </a:br>
                <a:r>
                  <a:rPr lang="en-GB" altLang="en-US" sz="1108" b="1" i="1" dirty="0">
                    <a:latin typeface="Arial" panose="020B0604020202020204" pitchFamily="34" charset="0"/>
                  </a:rPr>
                  <a:t>invoices</a:t>
                </a:r>
                <a:br>
                  <a:rPr lang="en-GB" altLang="en-US" sz="1108" b="1" i="1" dirty="0">
                    <a:latin typeface="Arial" panose="020B0604020202020204" pitchFamily="34" charset="0"/>
                  </a:rPr>
                </a:br>
                <a:r>
                  <a:rPr lang="en-GB" altLang="en-US" sz="1108" b="1" i="1" dirty="0">
                    <a:latin typeface="Arial" panose="020B0604020202020204" pitchFamily="34" charset="0"/>
                  </a:rPr>
                  <a:t> credit</a:t>
                </a:r>
                <a:br>
                  <a:rPr lang="en-GB" altLang="en-US" sz="1108" b="1" i="1" dirty="0">
                    <a:latin typeface="Arial" panose="020B0604020202020204" pitchFamily="34" charset="0"/>
                  </a:rPr>
                </a:br>
                <a:r>
                  <a:rPr lang="en-GB" altLang="en-US" sz="1108" b="1" i="1" dirty="0">
                    <a:latin typeface="Arial" panose="020B0604020202020204" pitchFamily="34" charset="0"/>
                  </a:rPr>
                  <a:t>customer</a:t>
                </a:r>
                <a:br>
                  <a:rPr lang="en-GB" altLang="en-US" sz="1108" b="1" i="1" dirty="0">
                    <a:latin typeface="Arial" panose="020B0604020202020204" pitchFamily="34" charset="0"/>
                  </a:rPr>
                </a:br>
                <a:r>
                  <a:rPr lang="en-GB" altLang="en-US" sz="1108" b="1" i="1" dirty="0">
                    <a:latin typeface="Arial" panose="020B0604020202020204" pitchFamily="34" charset="0"/>
                  </a:rPr>
                  <a:t> (2)</a:t>
                </a:r>
              </a:p>
            </p:txBody>
          </p:sp>
          <p:sp>
            <p:nvSpPr>
              <p:cNvPr id="31769" name="AutoShape 83"/>
              <p:cNvSpPr>
                <a:spLocks noChangeArrowheads="1"/>
              </p:cNvSpPr>
              <p:nvPr/>
            </p:nvSpPr>
            <p:spPr bwMode="auto">
              <a:xfrm flipH="1">
                <a:off x="1641" y="1589"/>
                <a:ext cx="460" cy="1595"/>
              </a:xfrm>
              <a:prstGeom prst="upArrow">
                <a:avLst>
                  <a:gd name="adj1" fmla="val 43917"/>
                  <a:gd name="adj2" fmla="val 34369"/>
                </a:avLst>
              </a:prstGeom>
              <a:solidFill>
                <a:srgbClr val="CC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662"/>
              </a:p>
            </p:txBody>
          </p:sp>
          <p:sp>
            <p:nvSpPr>
              <p:cNvPr id="31770" name="Rectangle 84"/>
              <p:cNvSpPr>
                <a:spLocks noChangeArrowheads="1"/>
              </p:cNvSpPr>
              <p:nvPr/>
            </p:nvSpPr>
            <p:spPr bwMode="auto">
              <a:xfrm flipH="1">
                <a:off x="1781" y="2985"/>
                <a:ext cx="703" cy="205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662"/>
              </a:p>
            </p:txBody>
          </p:sp>
          <p:sp>
            <p:nvSpPr>
              <p:cNvPr id="31771" name="Text Box 85"/>
              <p:cNvSpPr txBox="1">
                <a:spLocks noChangeArrowheads="1"/>
              </p:cNvSpPr>
              <p:nvPr/>
            </p:nvSpPr>
            <p:spPr bwMode="auto">
              <a:xfrm>
                <a:off x="1992" y="1840"/>
                <a:ext cx="1205" cy="5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GB" altLang="en-US" sz="1108" b="1" i="1" dirty="0">
                    <a:latin typeface="Arial" panose="020B0604020202020204" pitchFamily="34" charset="0"/>
                  </a:rPr>
                  <a:t>Factor </a:t>
                </a:r>
                <a:br>
                  <a:rPr lang="en-GB" altLang="en-US" sz="1108" b="1" i="1" dirty="0">
                    <a:latin typeface="Arial" panose="020B0604020202020204" pitchFamily="34" charset="0"/>
                  </a:rPr>
                </a:br>
                <a:r>
                  <a:rPr lang="en-GB" altLang="en-US" sz="1108" b="1" i="1" dirty="0">
                    <a:latin typeface="Arial" panose="020B0604020202020204" pitchFamily="34" charset="0"/>
                  </a:rPr>
                  <a:t>pays 80%</a:t>
                </a:r>
                <a:br>
                  <a:rPr lang="en-GB" altLang="en-US" sz="1108" b="1" i="1" dirty="0">
                    <a:latin typeface="Arial" panose="020B0604020202020204" pitchFamily="34" charset="0"/>
                  </a:rPr>
                </a:br>
                <a:r>
                  <a:rPr lang="en-GB" altLang="en-US" sz="1108" b="1" i="1" dirty="0">
                    <a:latin typeface="Arial" panose="020B0604020202020204" pitchFamily="34" charset="0"/>
                  </a:rPr>
                  <a:t>to client immediately</a:t>
                </a:r>
                <a:br>
                  <a:rPr lang="en-GB" altLang="en-US" sz="1108" b="1" i="1" dirty="0">
                    <a:latin typeface="Arial" panose="020B0604020202020204" pitchFamily="34" charset="0"/>
                  </a:rPr>
                </a:br>
                <a:r>
                  <a:rPr lang="en-GB" altLang="en-US" sz="1108" b="1" i="1" dirty="0">
                    <a:latin typeface="Arial" panose="020B0604020202020204" pitchFamily="34" charset="0"/>
                  </a:rPr>
                  <a:t>(3)</a:t>
                </a:r>
              </a:p>
            </p:txBody>
          </p:sp>
          <p:sp>
            <p:nvSpPr>
              <p:cNvPr id="31772" name="AutoShape 86"/>
              <p:cNvSpPr>
                <a:spLocks noChangeArrowheads="1"/>
              </p:cNvSpPr>
              <p:nvPr/>
            </p:nvSpPr>
            <p:spPr bwMode="auto">
              <a:xfrm>
                <a:off x="1165" y="1592"/>
                <a:ext cx="460" cy="1863"/>
              </a:xfrm>
              <a:prstGeom prst="upArrow">
                <a:avLst>
                  <a:gd name="adj1" fmla="val 43917"/>
                  <a:gd name="adj2" fmla="val 33694"/>
                </a:avLst>
              </a:prstGeom>
              <a:solidFill>
                <a:srgbClr val="CC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662"/>
              </a:p>
            </p:txBody>
          </p:sp>
          <p:sp>
            <p:nvSpPr>
              <p:cNvPr id="31773" name="Rectangle 87"/>
              <p:cNvSpPr>
                <a:spLocks noChangeArrowheads="1"/>
              </p:cNvSpPr>
              <p:nvPr/>
            </p:nvSpPr>
            <p:spPr bwMode="auto">
              <a:xfrm>
                <a:off x="1299" y="3428"/>
                <a:ext cx="1185" cy="205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662"/>
              </a:p>
            </p:txBody>
          </p:sp>
        </p:grpSp>
        <p:sp>
          <p:nvSpPr>
            <p:cNvPr id="31749" name="Text Box 88"/>
            <p:cNvSpPr txBox="1">
              <a:spLocks noChangeArrowheads="1"/>
            </p:cNvSpPr>
            <p:nvPr/>
          </p:nvSpPr>
          <p:spPr bwMode="auto">
            <a:xfrm>
              <a:off x="-38" y="2028"/>
              <a:ext cx="1340" cy="1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50000"/>
                </a:spcBef>
              </a:pPr>
              <a:r>
                <a:rPr lang="en-GB" altLang="en-US" sz="1108" b="1" i="1" dirty="0">
                  <a:latin typeface="Arial" panose="020B0604020202020204" pitchFamily="34" charset="0"/>
                </a:rPr>
                <a:t> Factor pays 20% </a:t>
              </a:r>
              <a:br>
                <a:rPr lang="en-GB" altLang="en-US" sz="1108" b="1" i="1" dirty="0">
                  <a:latin typeface="Arial" panose="020B0604020202020204" pitchFamily="34" charset="0"/>
                </a:rPr>
              </a:br>
              <a:r>
                <a:rPr lang="en-GB" altLang="en-US" sz="1108" b="1" i="1" dirty="0">
                  <a:latin typeface="Arial" panose="020B0604020202020204" pitchFamily="34" charset="0"/>
                </a:rPr>
                <a:t>balance to </a:t>
              </a:r>
              <a:br>
                <a:rPr lang="en-GB" altLang="en-US" sz="1108" b="1" i="1" dirty="0">
                  <a:latin typeface="Arial" panose="020B0604020202020204" pitchFamily="34" charset="0"/>
                </a:rPr>
              </a:br>
              <a:r>
                <a:rPr lang="en-GB" altLang="en-US" sz="1108" b="1" i="1" dirty="0">
                  <a:latin typeface="Arial" panose="020B0604020202020204" pitchFamily="34" charset="0"/>
                </a:rPr>
                <a:t>    client (less fees)</a:t>
              </a:r>
              <a:br>
                <a:rPr lang="en-GB" altLang="en-US" sz="1108" b="1" i="1" dirty="0">
                  <a:latin typeface="Arial" panose="020B0604020202020204" pitchFamily="34" charset="0"/>
                </a:rPr>
              </a:br>
              <a:r>
                <a:rPr lang="en-GB" altLang="en-US" sz="1108" b="1" i="1" dirty="0">
                  <a:latin typeface="Arial" panose="020B0604020202020204" pitchFamily="34" charset="0"/>
                </a:rPr>
                <a:t> when credit</a:t>
              </a:r>
              <a:br>
                <a:rPr lang="en-GB" altLang="en-US" sz="1108" b="1" i="1" dirty="0">
                  <a:latin typeface="Arial" panose="020B0604020202020204" pitchFamily="34" charset="0"/>
                </a:rPr>
              </a:br>
              <a:r>
                <a:rPr lang="en-GB" altLang="en-US" sz="1108" b="1" i="1" dirty="0">
                  <a:latin typeface="Arial" panose="020B0604020202020204" pitchFamily="34" charset="0"/>
                </a:rPr>
                <a:t> customer pays</a:t>
              </a:r>
              <a:br>
                <a:rPr lang="en-GB" altLang="en-US" sz="1108" b="1" i="1" dirty="0">
                  <a:latin typeface="Arial" panose="020B0604020202020204" pitchFamily="34" charset="0"/>
                </a:rPr>
              </a:br>
              <a:r>
                <a:rPr lang="en-GB" altLang="en-US" sz="1108" b="1" i="1" dirty="0">
                  <a:latin typeface="Arial" panose="020B0604020202020204" pitchFamily="34" charset="0"/>
                </a:rPr>
                <a:t> amount owing</a:t>
              </a:r>
              <a:br>
                <a:rPr lang="en-GB" altLang="en-US" sz="1108" b="1" i="1" dirty="0">
                  <a:latin typeface="Arial" panose="020B0604020202020204" pitchFamily="34" charset="0"/>
                </a:rPr>
              </a:br>
              <a:r>
                <a:rPr lang="en-GB" altLang="en-US" sz="1108" b="1" i="1" dirty="0">
                  <a:latin typeface="Arial" panose="020B0604020202020204" pitchFamily="34" charset="0"/>
                </a:rPr>
                <a:t> (5)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7665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Summary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Various sources and duration of finance are available.</a:t>
            </a:r>
          </a:p>
          <a:p>
            <a:r>
              <a:rPr lang="en-GB" dirty="0" smtClean="0"/>
              <a:t>Organisations should consider the need and application before selecting the type and source of finance</a:t>
            </a:r>
            <a:r>
              <a:rPr lang="en-GB" dirty="0" smtClean="0"/>
              <a:t>.</a:t>
            </a:r>
          </a:p>
          <a:p>
            <a:r>
              <a:rPr lang="en-GB" dirty="0" smtClean="0"/>
              <a:t>Risk and reward is an important factor to </a:t>
            </a:r>
            <a:r>
              <a:rPr lang="en-GB" smtClean="0"/>
              <a:t>many stakeholders.</a:t>
            </a:r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883116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E07C38512818468275603CD5E61BA0" ma:contentTypeVersion="0" ma:contentTypeDescription="Create a new document." ma:contentTypeScope="" ma:versionID="bffdf6d8b42402b1618094c717ddf4d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a1222beb234debe96d12a98d24ff8a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7ACEBA-99EE-4B9A-99FE-F9695B41FA99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www.w3.org/XML/1998/namespace"/>
    <ds:schemaRef ds:uri="http://purl.org/dc/terms/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FC14F33-A9A2-48F1-A0A9-DB146E88F9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9AB7AB-D87E-4CE6-8813-9B5D560C3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609</Words>
  <Application>Microsoft Office PowerPoint</Application>
  <PresentationFormat>On-screen Show (4:3)</PresentationFormat>
  <Paragraphs>124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ＭＳ Ｐゴシック</vt:lpstr>
      <vt:lpstr>Arial</vt:lpstr>
      <vt:lpstr>Calibri</vt:lpstr>
      <vt:lpstr>Times New Roman</vt:lpstr>
      <vt:lpstr>1_Office Theme</vt:lpstr>
      <vt:lpstr>2_Office Theme</vt:lpstr>
      <vt:lpstr>4_Office Theme</vt:lpstr>
      <vt:lpstr>3_Office Theme</vt:lpstr>
      <vt:lpstr>5_Office Theme</vt:lpstr>
      <vt:lpstr>C31FF Finance &amp; Financial Reporting</vt:lpstr>
      <vt:lpstr>Financial Decision Making</vt:lpstr>
      <vt:lpstr>Sources of Finance</vt:lpstr>
      <vt:lpstr>External sources of finance</vt:lpstr>
      <vt:lpstr>PowerPoint Presentation</vt:lpstr>
      <vt:lpstr>Share capital </vt:lpstr>
      <vt:lpstr>PowerPoint Presentation</vt:lpstr>
      <vt:lpstr>Loan Capital</vt:lpstr>
      <vt:lpstr>PowerPoint Presentation</vt:lpstr>
      <vt:lpstr>Debentures</vt:lpstr>
      <vt:lpstr>Unsecured loan stocks</vt:lpstr>
      <vt:lpstr>Medium term company finance</vt:lpstr>
      <vt:lpstr>Short to medium term</vt:lpstr>
      <vt:lpstr>Short term company finance</vt:lpstr>
      <vt:lpstr>Factoring</vt:lpstr>
      <vt:lpstr>PowerPoint Presentation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Iain McGeary</dc:creator>
  <cp:lastModifiedBy>Wilson, Melanie</cp:lastModifiedBy>
  <cp:revision>25</cp:revision>
  <dcterms:created xsi:type="dcterms:W3CDTF">2016-02-11T16:23:53Z</dcterms:created>
  <dcterms:modified xsi:type="dcterms:W3CDTF">2021-11-05T17:20:44Z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0x0101006EE07C38512818468275603CD5E61BA0</vt:lpwstr>
  </property>
</Properties>
</file>