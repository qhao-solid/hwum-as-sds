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27"/>
  </p:notesMasterIdLst>
  <p:sldIdLst>
    <p:sldId id="256" r:id="rId9"/>
    <p:sldId id="311" r:id="rId10"/>
    <p:sldId id="309" r:id="rId11"/>
    <p:sldId id="295" r:id="rId12"/>
    <p:sldId id="281" r:id="rId13"/>
    <p:sldId id="283" r:id="rId14"/>
    <p:sldId id="284" r:id="rId15"/>
    <p:sldId id="285" r:id="rId16"/>
    <p:sldId id="286" r:id="rId17"/>
    <p:sldId id="287" r:id="rId18"/>
    <p:sldId id="289" r:id="rId19"/>
    <p:sldId id="294" r:id="rId20"/>
    <p:sldId id="292" r:id="rId21"/>
    <p:sldId id="297" r:id="rId22"/>
    <p:sldId id="301" r:id="rId23"/>
    <p:sldId id="303" r:id="rId24"/>
    <p:sldId id="304" r:id="rId25"/>
    <p:sldId id="280" r:id="rId26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A0B"/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2" autoAdjust="0"/>
  </p:normalViewPr>
  <p:slideViewPr>
    <p:cSldViewPr>
      <p:cViewPr varScale="1">
        <p:scale>
          <a:sx n="102" d="100"/>
          <a:sy n="102" d="100"/>
        </p:scale>
        <p:origin x="180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0F1CF-38F0-4B3E-BA98-EE47A1EE936A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22DC6-D898-4D02-B84C-BF8DD9F0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594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726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39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105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805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015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134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50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458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808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206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025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29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818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325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009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658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375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07504" y="2130425"/>
            <a:ext cx="8784976" cy="1470025"/>
          </a:xfrm>
        </p:spPr>
        <p:txBody>
          <a:bodyPr/>
          <a:lstStyle/>
          <a:p>
            <a:pPr algn="ctr"/>
            <a:r>
              <a:rPr lang="en-GB" dirty="0"/>
              <a:t>C39FF Finance and Financial Reporting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7200800" cy="175260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Financial Statements</a:t>
            </a:r>
          </a:p>
          <a:p>
            <a:pPr algn="ctr"/>
            <a:r>
              <a:rPr lang="en-GB" dirty="0"/>
              <a:t>Income Statement (Profit &amp; Loss Account)</a:t>
            </a:r>
          </a:p>
          <a:p>
            <a:pPr algn="ctr"/>
            <a:r>
              <a:rPr lang="en-GB" dirty="0"/>
              <a:t>Statement of Financial Position (Balance Sheet)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345" y="428152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The Main Financial Statements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2</a:t>
            </a:fld>
            <a:endParaRPr lang="en-GB"/>
          </a:p>
        </p:txBody>
      </p:sp>
      <p:grpSp>
        <p:nvGrpSpPr>
          <p:cNvPr id="3" name="Group 24"/>
          <p:cNvGrpSpPr/>
          <p:nvPr/>
        </p:nvGrpSpPr>
        <p:grpSpPr>
          <a:xfrm>
            <a:off x="1410447" y="3189413"/>
            <a:ext cx="6545929" cy="1094884"/>
            <a:chOff x="1403648" y="2798963"/>
            <a:chExt cx="6545929" cy="1094884"/>
          </a:xfrm>
        </p:grpSpPr>
        <p:sp>
          <p:nvSpPr>
            <p:cNvPr id="18" name="Rounded Rectangle 17"/>
            <p:cNvSpPr/>
            <p:nvPr/>
          </p:nvSpPr>
          <p:spPr>
            <a:xfrm>
              <a:off x="2593817" y="2798963"/>
              <a:ext cx="5355760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Statement of Financial Position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403648" y="2802702"/>
              <a:ext cx="781898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1410447" y="4531589"/>
            <a:ext cx="6545929" cy="1098619"/>
            <a:chOff x="1410447" y="3986565"/>
            <a:chExt cx="6545929" cy="1098619"/>
          </a:xfrm>
        </p:grpSpPr>
        <p:sp>
          <p:nvSpPr>
            <p:cNvPr id="20" name="Rounded Rectangle 19"/>
            <p:cNvSpPr/>
            <p:nvPr/>
          </p:nvSpPr>
          <p:spPr>
            <a:xfrm>
              <a:off x="2600616" y="3986565"/>
              <a:ext cx="5355760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Cash Flow Statement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410447" y="3994039"/>
              <a:ext cx="781898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3</a:t>
              </a:r>
            </a:p>
          </p:txBody>
        </p:sp>
      </p:grpSp>
      <p:grpSp>
        <p:nvGrpSpPr>
          <p:cNvPr id="5" name="Group 23"/>
          <p:cNvGrpSpPr/>
          <p:nvPr/>
        </p:nvGrpSpPr>
        <p:grpSpPr>
          <a:xfrm>
            <a:off x="1410447" y="1822815"/>
            <a:ext cx="6539130" cy="1091147"/>
            <a:chOff x="1410447" y="1611362"/>
            <a:chExt cx="6539130" cy="1091147"/>
          </a:xfrm>
        </p:grpSpPr>
        <p:sp>
          <p:nvSpPr>
            <p:cNvPr id="17" name="Rounded Rectangle 16"/>
            <p:cNvSpPr/>
            <p:nvPr/>
          </p:nvSpPr>
          <p:spPr>
            <a:xfrm>
              <a:off x="1410447" y="1611364"/>
              <a:ext cx="781898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593817" y="1611362"/>
              <a:ext cx="5355760" cy="10911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Income Statement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5597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B2E95-FB96-7183-A44C-8A3147462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Capex v </a:t>
            </a:r>
            <a:r>
              <a:rPr lang="en-GB" dirty="0" err="1"/>
              <a:t>Opex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C3238-8885-349A-5A07-D0CD8E76E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Capital expenditure</a:t>
            </a:r>
          </a:p>
          <a:p>
            <a:r>
              <a:rPr lang="en-GB" dirty="0"/>
              <a:t>Revenue or operating expenditure</a:t>
            </a:r>
          </a:p>
          <a:p>
            <a:r>
              <a:rPr lang="en-GB" dirty="0"/>
              <a:t>Which Statement?!</a:t>
            </a:r>
          </a:p>
        </p:txBody>
      </p:sp>
    </p:spTree>
    <p:extLst>
      <p:ext uri="{BB962C8B-B14F-4D97-AF65-F5344CB8AC3E}">
        <p14:creationId xmlns:p14="http://schemas.microsoft.com/office/powerpoint/2010/main" val="866857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BDBA8-BA93-4D07-B8C5-55C7C8AF3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28" y="-99392"/>
            <a:ext cx="8075240" cy="998984"/>
          </a:xfrm>
        </p:spPr>
        <p:txBody>
          <a:bodyPr>
            <a:normAutofit/>
          </a:bodyPr>
          <a:lstStyle/>
          <a:p>
            <a:r>
              <a:rPr lang="en-GB" altLang="en-US" sz="3600" dirty="0">
                <a:ea typeface="ＭＳ Ｐゴシック" panose="020B0600070205080204" pitchFamily="34" charset="-128"/>
              </a:rPr>
              <a:t>Income Statement</a:t>
            </a:r>
            <a:endParaRPr lang="en-US" sz="3600" dirty="0"/>
          </a:p>
        </p:txBody>
      </p:sp>
      <p:grpSp>
        <p:nvGrpSpPr>
          <p:cNvPr id="4" name="Group 29">
            <a:extLst>
              <a:ext uri="{FF2B5EF4-FFF2-40B4-BE49-F238E27FC236}">
                <a16:creationId xmlns:a16="http://schemas.microsoft.com/office/drawing/2014/main" id="{C7E6B14F-F7ED-4EDF-AD26-ECB9D2CFD4DB}"/>
              </a:ext>
            </a:extLst>
          </p:cNvPr>
          <p:cNvGrpSpPr>
            <a:grpSpLocks/>
          </p:cNvGrpSpPr>
          <p:nvPr/>
        </p:nvGrpSpPr>
        <p:grpSpPr bwMode="auto">
          <a:xfrm>
            <a:off x="1763688" y="1339851"/>
            <a:ext cx="5929313" cy="4786312"/>
            <a:chOff x="1259" y="1124"/>
            <a:chExt cx="3774" cy="2705"/>
          </a:xfrm>
        </p:grpSpPr>
        <p:sp>
          <p:nvSpPr>
            <p:cNvPr id="5" name="AutoShape 8">
              <a:extLst>
                <a:ext uri="{FF2B5EF4-FFF2-40B4-BE49-F238E27FC236}">
                  <a16:creationId xmlns:a16="http://schemas.microsoft.com/office/drawing/2014/main" id="{77C00606-70E1-42CF-8FDC-71D285426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1124"/>
              <a:ext cx="3257" cy="539"/>
            </a:xfrm>
            <a:prstGeom prst="cube">
              <a:avLst>
                <a:gd name="adj" fmla="val 1875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" name="AutoShape 9">
              <a:extLst>
                <a:ext uri="{FF2B5EF4-FFF2-40B4-BE49-F238E27FC236}">
                  <a16:creationId xmlns:a16="http://schemas.microsoft.com/office/drawing/2014/main" id="{E821626F-1EAB-4D4B-95CA-9B619FC61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1842"/>
              <a:ext cx="3257" cy="539"/>
            </a:xfrm>
            <a:prstGeom prst="cube">
              <a:avLst>
                <a:gd name="adj" fmla="val 1875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501C0089-A952-47AF-A212-6ABCCF122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3" y="1940"/>
              <a:ext cx="2958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2000" b="1" dirty="0">
                  <a:latin typeface="Arial" panose="020B0604020202020204" pitchFamily="34" charset="0"/>
                </a:rPr>
                <a:t>It can provide a basis for assessing the market position of the business</a:t>
              </a:r>
            </a:p>
          </p:txBody>
        </p:sp>
        <p:sp>
          <p:nvSpPr>
            <p:cNvPr id="8" name="AutoShape 11">
              <a:extLst>
                <a:ext uri="{FF2B5EF4-FFF2-40B4-BE49-F238E27FC236}">
                  <a16:creationId xmlns:a16="http://schemas.microsoft.com/office/drawing/2014/main" id="{C0B23DBC-0446-451F-983D-86BD3019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2561"/>
              <a:ext cx="3257" cy="538"/>
            </a:xfrm>
            <a:prstGeom prst="cube">
              <a:avLst>
                <a:gd name="adj" fmla="val 1875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8A56B07E-D405-4862-9604-2524A95A7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2658"/>
              <a:ext cx="3031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2000" b="1" dirty="0">
                  <a:latin typeface="Arial" panose="020B0604020202020204" pitchFamily="34" charset="0"/>
                </a:rPr>
                <a:t>It enables a review of the income generated and payments made</a:t>
              </a:r>
            </a:p>
          </p:txBody>
        </p:sp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117E2C65-037B-485A-9944-98DEEF495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1" y="1212"/>
              <a:ext cx="3074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2000" b="1" dirty="0">
                  <a:latin typeface="Arial" panose="020B0604020202020204" pitchFamily="34" charset="0"/>
                </a:rPr>
                <a:t>It shows how the business is controlling costs</a:t>
              </a:r>
            </a:p>
          </p:txBody>
        </p:sp>
        <p:sp>
          <p:nvSpPr>
            <p:cNvPr id="11" name="AutoShape 14">
              <a:extLst>
                <a:ext uri="{FF2B5EF4-FFF2-40B4-BE49-F238E27FC236}">
                  <a16:creationId xmlns:a16="http://schemas.microsoft.com/office/drawing/2014/main" id="{BBE850F6-982B-4FC0-AD5C-39B97909C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3291"/>
              <a:ext cx="3265" cy="538"/>
            </a:xfrm>
            <a:prstGeom prst="cube">
              <a:avLst>
                <a:gd name="adj" fmla="val 1875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1D2905A2-4DEE-46AD-9B66-BBC38D21A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8" y="3477"/>
              <a:ext cx="31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2000" b="1" dirty="0">
                  <a:latin typeface="Arial" panose="020B0604020202020204" pitchFamily="34" charset="0"/>
                </a:rPr>
                <a:t>Performance can be better assessed</a:t>
              </a:r>
            </a:p>
          </p:txBody>
        </p:sp>
        <p:sp>
          <p:nvSpPr>
            <p:cNvPr id="13" name="AutoShape 24">
              <a:extLst>
                <a:ext uri="{FF2B5EF4-FFF2-40B4-BE49-F238E27FC236}">
                  <a16:creationId xmlns:a16="http://schemas.microsoft.com/office/drawing/2014/main" id="{518D54DF-BB4E-48ED-8DAD-451056E11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" y="1271"/>
              <a:ext cx="338" cy="338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4" name="AutoShape 25">
              <a:extLst>
                <a:ext uri="{FF2B5EF4-FFF2-40B4-BE49-F238E27FC236}">
                  <a16:creationId xmlns:a16="http://schemas.microsoft.com/office/drawing/2014/main" id="{3D4EE1FD-1959-4DF7-BA90-2353ED517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" y="1993"/>
              <a:ext cx="338" cy="338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5" name="AutoShape 26">
              <a:extLst>
                <a:ext uri="{FF2B5EF4-FFF2-40B4-BE49-F238E27FC236}">
                  <a16:creationId xmlns:a16="http://schemas.microsoft.com/office/drawing/2014/main" id="{B99A280B-4012-48A4-B605-F8BB72D93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723"/>
              <a:ext cx="338" cy="338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6" name="AutoShape 27">
              <a:extLst>
                <a:ext uri="{FF2B5EF4-FFF2-40B4-BE49-F238E27FC236}">
                  <a16:creationId xmlns:a16="http://schemas.microsoft.com/office/drawing/2014/main" id="{A049DF6D-0044-45D4-887A-4065F62B5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3446"/>
              <a:ext cx="338" cy="338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526245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1CB37-7DD9-471B-A71E-C706CDB36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19" y="1484784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Measuring and reporting financial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694A5-C586-4763-B78D-7D26DC15E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80" y="2701615"/>
            <a:ext cx="8075240" cy="3777283"/>
          </a:xfrm>
        </p:spPr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Income statement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Profit (or loss) = total revenue for the period minus total expenses for the period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Provides information on: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 how effective the business has been in generating wealth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how the profit was made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398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54114-CD2A-4E61-A421-9C410F35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Grouping types of expenses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2E53-CC62-43FD-A5F1-F2838B793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Cost of sales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Selling and distribution costs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Selling costs 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Advertising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Delivery costs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Administrative expenses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Telephone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Electricity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Insurance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Legal fees 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Any other expenses that are not allocated elsewhere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29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C54D-A1AA-46AD-9A53-51DC15C35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908720"/>
            <a:ext cx="8075240" cy="998984"/>
          </a:xfrm>
        </p:spPr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Recognising expenses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0C821-9B82-4B39-9AEC-778A4F8ED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altLang="en-US" b="1" dirty="0">
                <a:ea typeface="ＭＳ Ｐゴシック" panose="020B0600070205080204" pitchFamily="34" charset="-128"/>
              </a:rPr>
              <a:t>Accrued expenses (accruals)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Arise when the expense for the period is more than the cash paid during the period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Example :</a:t>
            </a:r>
          </a:p>
          <a:p>
            <a:pPr lvl="2">
              <a:buFontTx/>
              <a:buNone/>
            </a:pPr>
            <a:r>
              <a:rPr lang="en-GB" altLang="en-US" dirty="0">
                <a:ea typeface="ＭＳ Ｐゴシック" panose="020B0600070205080204" pitchFamily="34" charset="-128"/>
              </a:rPr>
              <a:t>Company A paid £4,000 electricity in the year to 31 Dec 2020. At the year end, it had not paid its final electricity bill which arrived in January 2021, amounting to £1,500.</a:t>
            </a:r>
          </a:p>
          <a:p>
            <a:pPr lvl="2">
              <a:buFontTx/>
              <a:buNone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lvl="2">
              <a:buFontTx/>
              <a:buNone/>
            </a:pPr>
            <a:r>
              <a:rPr lang="en-GB" altLang="en-US" dirty="0">
                <a:ea typeface="ＭＳ Ｐゴシック" panose="020B0600070205080204" pitchFamily="34" charset="-128"/>
              </a:rPr>
              <a:t>Must increase electricity expense by £1,500, and create a new current liability called </a:t>
            </a:r>
            <a:r>
              <a:rPr lang="en-GB" altLang="en-US" u="sng" dirty="0">
                <a:ea typeface="ＭＳ Ｐゴシック" panose="020B0600070205080204" pitchFamily="34" charset="-128"/>
              </a:rPr>
              <a:t>accrued expenses </a:t>
            </a:r>
            <a:r>
              <a:rPr lang="en-GB" altLang="en-US" dirty="0">
                <a:ea typeface="ＭＳ Ｐゴシック" panose="020B0600070205080204" pitchFamily="34" charset="-128"/>
              </a:rPr>
              <a:t>of £1,500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557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BC4B-335B-436D-B91B-FC6052395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1296144"/>
          </a:xfrm>
        </p:spPr>
        <p:txBody>
          <a:bodyPr>
            <a:normAutofit fontScale="90000"/>
          </a:bodyPr>
          <a:lstStyle/>
          <a:p>
            <a:br>
              <a:rPr lang="en-GB" altLang="en-US" dirty="0">
                <a:ea typeface="ＭＳ Ｐゴシック" panose="020B0600070205080204" pitchFamily="34" charset="-128"/>
              </a:rPr>
            </a:br>
            <a:br>
              <a:rPr lang="en-GB" altLang="en-US" dirty="0">
                <a:ea typeface="ＭＳ Ｐゴシック" panose="020B0600070205080204" pitchFamily="34" charset="-128"/>
              </a:rPr>
            </a:br>
            <a:r>
              <a:rPr lang="en-GB" altLang="en-US" dirty="0">
                <a:ea typeface="ＭＳ Ｐゴシック" panose="020B0600070205080204" pitchFamily="34" charset="-128"/>
              </a:rPr>
              <a:t>Prepaid expenses (prepayments)</a:t>
            </a:r>
            <a:br>
              <a:rPr lang="en-GB" altLang="en-US" dirty="0">
                <a:ea typeface="ＭＳ Ｐゴシック" panose="020B0600070205080204" pitchFamily="34" charset="-128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87147-E018-4C66-B664-3F3C9B5BC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Arise when the amount paid for the period is more than the expense for the period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Example :</a:t>
            </a:r>
          </a:p>
          <a:p>
            <a:pPr lvl="2">
              <a:buFontTx/>
              <a:buNone/>
            </a:pPr>
            <a:r>
              <a:rPr lang="en-GB" altLang="en-US" dirty="0">
                <a:ea typeface="ＭＳ Ｐゴシック" panose="020B0600070205080204" pitchFamily="34" charset="-128"/>
              </a:rPr>
              <a:t>Company B also has a year end of 31 December 2020. During the year, it paid £24,000 for an annual insurance premium, which covers the period 1 April 2020 until 31 March 2021.</a:t>
            </a:r>
          </a:p>
          <a:p>
            <a:pPr lvl="2">
              <a:buFontTx/>
              <a:buNone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lvl="2">
              <a:buFontTx/>
              <a:buNone/>
            </a:pPr>
            <a:r>
              <a:rPr lang="en-GB" altLang="en-US" dirty="0">
                <a:ea typeface="ＭＳ Ｐゴシック" panose="020B0600070205080204" pitchFamily="34" charset="-128"/>
              </a:rPr>
              <a:t>Must reduce insurance expense by £6,000, and create a new current asset called </a:t>
            </a:r>
            <a:r>
              <a:rPr lang="en-GB" altLang="en-US" u="sng" dirty="0">
                <a:ea typeface="ＭＳ Ｐゴシック" panose="020B0600070205080204" pitchFamily="34" charset="-128"/>
              </a:rPr>
              <a:t>prepaid expenses </a:t>
            </a:r>
            <a:r>
              <a:rPr lang="en-GB" altLang="en-US" dirty="0">
                <a:ea typeface="ＭＳ Ｐゴシック" panose="020B0600070205080204" pitchFamily="34" charset="-128"/>
              </a:rPr>
              <a:t>of £6,000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5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D1DB-CEE0-4DFC-9B98-D089C2C82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188640"/>
            <a:ext cx="8075240" cy="998984"/>
          </a:xfrm>
        </p:spPr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Depreciation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E5B7A-6729-4606-83E9-AC6B5D05C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412776"/>
            <a:ext cx="8075240" cy="2736304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Spreads the cost of an asset over its estimated useful life</a:t>
            </a: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Avoids under or over stating profit</a:t>
            </a: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Example: company usually makes £10,000 profit each year. It buys a lorry costing £30,000 in year 4.</a:t>
            </a:r>
          </a:p>
          <a:p>
            <a:endParaRPr lang="en-US" dirty="0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CA2490C-957E-49E6-9688-694CB6469B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795750"/>
              </p:ext>
            </p:extLst>
          </p:nvPr>
        </p:nvGraphicFramePr>
        <p:xfrm>
          <a:off x="2627784" y="3947092"/>
          <a:ext cx="4676775" cy="271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677236" imgH="2715065" progId="Excel.Chart.8">
                  <p:embed/>
                </p:oleObj>
              </mc:Choice>
              <mc:Fallback>
                <p:oleObj name="Chart" r:id="rId3" imgW="4677236" imgH="2715065" progId="Excel.Chart.8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ACA2490C-957E-49E6-9688-694CB6469B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3947092"/>
                        <a:ext cx="4676775" cy="271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3411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3982-0532-466D-B52E-2C40819A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07" y="1412776"/>
            <a:ext cx="8075240" cy="998984"/>
          </a:xfrm>
        </p:spPr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Calculating depreciation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4055E-2126-4B5E-877C-D10BE02C8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27" y="2780928"/>
            <a:ext cx="8075240" cy="2592288"/>
          </a:xfrm>
        </p:spPr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Car purchased for £10,000. Estimated useful life 5 years, with no scrap value anticipated.</a:t>
            </a:r>
          </a:p>
          <a:p>
            <a:endParaRPr lang="en-GB" altLang="en-US" dirty="0"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080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2A4F-FF7F-4AF1-B741-863152D9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Effect of depreciation on accounts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AE9D0-B62C-49B9-B722-6862C4D98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Each year, the depreciation charge is included as an expense in the income statement 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The asset in the statement of financial position is reduced by the same amount</a:t>
            </a:r>
          </a:p>
          <a:p>
            <a:r>
              <a:rPr lang="en-GB" altLang="en-US" dirty="0">
                <a:ea typeface="ＭＳ Ｐゴシック" panose="020B0600070205080204" pitchFamily="34" charset="-128"/>
              </a:rPr>
              <a:t>Over several years, the written-down value of the asset will get lower and lower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49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BDBA8-BA93-4D07-B8C5-55C7C8AF3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28" y="-99392"/>
            <a:ext cx="8075240" cy="998984"/>
          </a:xfrm>
        </p:spPr>
        <p:txBody>
          <a:bodyPr>
            <a:normAutofit/>
          </a:bodyPr>
          <a:lstStyle/>
          <a:p>
            <a:r>
              <a:rPr lang="en-GB" altLang="en-US" sz="3600" dirty="0">
                <a:ea typeface="ＭＳ Ｐゴシック" panose="020B0600070205080204" pitchFamily="34" charset="-128"/>
              </a:rPr>
              <a:t>Statement of financial position</a:t>
            </a:r>
            <a:endParaRPr lang="en-US" sz="3600" dirty="0"/>
          </a:p>
        </p:txBody>
      </p:sp>
      <p:grpSp>
        <p:nvGrpSpPr>
          <p:cNvPr id="4" name="Group 29">
            <a:extLst>
              <a:ext uri="{FF2B5EF4-FFF2-40B4-BE49-F238E27FC236}">
                <a16:creationId xmlns:a16="http://schemas.microsoft.com/office/drawing/2014/main" id="{C7E6B14F-F7ED-4EDF-AD26-ECB9D2CFD4DB}"/>
              </a:ext>
            </a:extLst>
          </p:cNvPr>
          <p:cNvGrpSpPr>
            <a:grpSpLocks/>
          </p:cNvGrpSpPr>
          <p:nvPr/>
        </p:nvGrpSpPr>
        <p:grpSpPr bwMode="auto">
          <a:xfrm>
            <a:off x="1763688" y="1339851"/>
            <a:ext cx="5929313" cy="4786312"/>
            <a:chOff x="1259" y="1124"/>
            <a:chExt cx="3774" cy="2705"/>
          </a:xfrm>
        </p:grpSpPr>
        <p:sp>
          <p:nvSpPr>
            <p:cNvPr id="5" name="AutoShape 8">
              <a:extLst>
                <a:ext uri="{FF2B5EF4-FFF2-40B4-BE49-F238E27FC236}">
                  <a16:creationId xmlns:a16="http://schemas.microsoft.com/office/drawing/2014/main" id="{77C00606-70E1-42CF-8FDC-71D285426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1124"/>
              <a:ext cx="3257" cy="539"/>
            </a:xfrm>
            <a:prstGeom prst="cube">
              <a:avLst>
                <a:gd name="adj" fmla="val 1875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6" name="AutoShape 9">
              <a:extLst>
                <a:ext uri="{FF2B5EF4-FFF2-40B4-BE49-F238E27FC236}">
                  <a16:creationId xmlns:a16="http://schemas.microsoft.com/office/drawing/2014/main" id="{E821626F-1EAB-4D4B-95CA-9B619FC61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1842"/>
              <a:ext cx="3257" cy="539"/>
            </a:xfrm>
            <a:prstGeom prst="cube">
              <a:avLst>
                <a:gd name="adj" fmla="val 1875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501C0089-A952-47AF-A212-6ABCCF122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3" y="1940"/>
              <a:ext cx="295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2000" b="1">
                  <a:latin typeface="Arial" panose="020B0604020202020204" pitchFamily="34" charset="0"/>
                </a:rPr>
                <a:t>It can provide a basis for assessing the value of the business</a:t>
              </a:r>
            </a:p>
          </p:txBody>
        </p:sp>
        <p:sp>
          <p:nvSpPr>
            <p:cNvPr id="8" name="AutoShape 11">
              <a:extLst>
                <a:ext uri="{FF2B5EF4-FFF2-40B4-BE49-F238E27FC236}">
                  <a16:creationId xmlns:a16="http://schemas.microsoft.com/office/drawing/2014/main" id="{C0B23DBC-0446-451F-983D-86BD3019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2561"/>
              <a:ext cx="3257" cy="538"/>
            </a:xfrm>
            <a:prstGeom prst="cube">
              <a:avLst>
                <a:gd name="adj" fmla="val 1875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8A56B07E-D405-4862-9604-2524A95A7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2658"/>
              <a:ext cx="303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2000" b="1">
                  <a:latin typeface="Arial" panose="020B0604020202020204" pitchFamily="34" charset="0"/>
                </a:rPr>
                <a:t>Relationships between assets and claims can be assessed</a:t>
              </a:r>
            </a:p>
          </p:txBody>
        </p:sp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117E2C65-037B-485A-9944-98DEEF495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1" y="1212"/>
              <a:ext cx="307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2000" b="1">
                  <a:latin typeface="Arial" panose="020B0604020202020204" pitchFamily="34" charset="0"/>
                </a:rPr>
                <a:t>It shows how the business is financed and how these funds are deployed</a:t>
              </a:r>
            </a:p>
          </p:txBody>
        </p:sp>
        <p:sp>
          <p:nvSpPr>
            <p:cNvPr id="11" name="AutoShape 14">
              <a:extLst>
                <a:ext uri="{FF2B5EF4-FFF2-40B4-BE49-F238E27FC236}">
                  <a16:creationId xmlns:a16="http://schemas.microsoft.com/office/drawing/2014/main" id="{BBE850F6-982B-4FC0-AD5C-39B97909C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3291"/>
              <a:ext cx="3265" cy="538"/>
            </a:xfrm>
            <a:prstGeom prst="cube">
              <a:avLst>
                <a:gd name="adj" fmla="val 18750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1D2905A2-4DEE-46AD-9B66-BBC38D21A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8" y="3477"/>
              <a:ext cx="31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GB" altLang="en-US" sz="2000" b="1">
                  <a:latin typeface="Arial" panose="020B0604020202020204" pitchFamily="34" charset="0"/>
                </a:rPr>
                <a:t>Performance can be better assessed</a:t>
              </a:r>
            </a:p>
          </p:txBody>
        </p:sp>
        <p:sp>
          <p:nvSpPr>
            <p:cNvPr id="13" name="AutoShape 24">
              <a:extLst>
                <a:ext uri="{FF2B5EF4-FFF2-40B4-BE49-F238E27FC236}">
                  <a16:creationId xmlns:a16="http://schemas.microsoft.com/office/drawing/2014/main" id="{518D54DF-BB4E-48ED-8DAD-451056E11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" y="1271"/>
              <a:ext cx="338" cy="338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4" name="AutoShape 25">
              <a:extLst>
                <a:ext uri="{FF2B5EF4-FFF2-40B4-BE49-F238E27FC236}">
                  <a16:creationId xmlns:a16="http://schemas.microsoft.com/office/drawing/2014/main" id="{3D4EE1FD-1959-4DF7-BA90-2353ED517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" y="1993"/>
              <a:ext cx="338" cy="338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5" name="AutoShape 26">
              <a:extLst>
                <a:ext uri="{FF2B5EF4-FFF2-40B4-BE49-F238E27FC236}">
                  <a16:creationId xmlns:a16="http://schemas.microsoft.com/office/drawing/2014/main" id="{B99A280B-4012-48A4-B605-F8BB72D93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723"/>
              <a:ext cx="338" cy="338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6" name="AutoShape 27">
              <a:extLst>
                <a:ext uri="{FF2B5EF4-FFF2-40B4-BE49-F238E27FC236}">
                  <a16:creationId xmlns:a16="http://schemas.microsoft.com/office/drawing/2014/main" id="{A049DF6D-0044-45D4-887A-4065F62B5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3446"/>
              <a:ext cx="338" cy="338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009376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53D67-8E41-47DD-AF7C-74465A6F0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5AF0B-FC60-4A15-BCB6-60B18465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item owned which is expected to bring future economic value to the organisation.</a:t>
            </a:r>
          </a:p>
          <a:p>
            <a:r>
              <a:rPr lang="en-GB" dirty="0"/>
              <a:t>Increases a firms value.</a:t>
            </a:r>
          </a:p>
          <a:p>
            <a:r>
              <a:rPr lang="en-GB" dirty="0"/>
              <a:t>Tangible Assets</a:t>
            </a:r>
          </a:p>
          <a:p>
            <a:r>
              <a:rPr lang="en-GB" dirty="0"/>
              <a:t>Intangible Assets</a:t>
            </a:r>
          </a:p>
          <a:p>
            <a:r>
              <a:rPr lang="en-GB" dirty="0"/>
              <a:t>Fixed or Non-current Assets</a:t>
            </a:r>
          </a:p>
          <a:p>
            <a:r>
              <a:rPr lang="en-GB" dirty="0"/>
              <a:t>Current Assets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093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7012-60FB-4B5F-BE76-21846E39F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80" y="908720"/>
            <a:ext cx="8075240" cy="998984"/>
          </a:xfrm>
        </p:spPr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Classification of assets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87DF-ABA9-41EF-8A81-7DDB65AB3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907704"/>
            <a:ext cx="8075240" cy="4218459"/>
          </a:xfrm>
        </p:spPr>
        <p:txBody>
          <a:bodyPr>
            <a:normAutofit fontScale="85000" lnSpcReduction="2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Assets are divided into 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non-current (fixed) (&gt; 1 year)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current assets (&lt; 1 year)</a:t>
            </a:r>
          </a:p>
          <a:p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Typical business assets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Property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Plant and equipment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Fixtures and fittings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Patents and trademarks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Investments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Inventory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Trade receivables</a:t>
            </a:r>
          </a:p>
          <a:p>
            <a:pPr lvl="1">
              <a:buFontTx/>
              <a:buNone/>
            </a:pPr>
            <a:endParaRPr lang="en-GB" altLang="en-US" dirty="0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98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F4E6C-2D49-4504-917D-60C2D6A7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76" y="116632"/>
            <a:ext cx="8075240" cy="998984"/>
          </a:xfrm>
        </p:spPr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Valuation of assets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582F7-14C2-4477-B5E5-3532DC28C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556792"/>
            <a:ext cx="8075240" cy="4569371"/>
          </a:xfrm>
        </p:spPr>
        <p:txBody>
          <a:bodyPr>
            <a:normAutofit lnSpcReduction="10000"/>
          </a:bodyPr>
          <a:lstStyle/>
          <a:p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Usually included at </a:t>
            </a:r>
            <a:r>
              <a:rPr lang="en-GB" altLang="en-US" u="sng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historic cost</a:t>
            </a:r>
          </a:p>
          <a:p>
            <a:endParaRPr lang="en-GB" altLang="en-US" dirty="0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Non-current assets</a:t>
            </a:r>
          </a:p>
          <a:p>
            <a:pPr lvl="1"/>
            <a:r>
              <a:rPr lang="en-GB" altLang="en-US" i="1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depreciated</a:t>
            </a:r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 each year, over their expected useful lives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Can be revalued  to current market value</a:t>
            </a:r>
          </a:p>
          <a:p>
            <a:pPr lvl="2"/>
            <a:r>
              <a:rPr lang="en-GB" altLang="en-US" dirty="0" err="1">
                <a:ea typeface="ＭＳ Ｐゴシック" panose="020B0600070205080204" pitchFamily="34" charset="-128"/>
                <a:cs typeface="Times New Roman" panose="02020603050405020304" pitchFamily="18" charset="0"/>
              </a:rPr>
              <a:t>Eg</a:t>
            </a:r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 rise in property prices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If significant drop in value, reduce figure to recoverable amount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Drop in value of shares owned by a company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982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10E6-6523-43C4-882C-4B0559D5A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556792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Liabilities</a:t>
            </a:r>
            <a:br>
              <a:rPr lang="en-GB" sz="40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2EDB4-2FD8-4BFF-9192-90E223438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Claims of anyone else against the business, such as: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Loans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Trade payables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Tax due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14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49FE-D0F2-4251-B515-6BD51E73C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Classification of liabilities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1D752-8189-4265-BE8D-96E27BE9C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Liabilities are classified dependent on their payment / repayment / settlement terms</a:t>
            </a:r>
          </a:p>
          <a:p>
            <a:r>
              <a:rPr lang="en-GB" dirty="0"/>
              <a:t>Current Liabilities </a:t>
            </a:r>
          </a:p>
          <a:p>
            <a:pPr lvl="1"/>
            <a:r>
              <a:rPr lang="en-GB" dirty="0"/>
              <a:t>Repayable within 1 year</a:t>
            </a:r>
          </a:p>
          <a:p>
            <a:r>
              <a:rPr lang="en-GB" dirty="0"/>
              <a:t>Non-Current Liabilities</a:t>
            </a:r>
          </a:p>
          <a:p>
            <a:pPr lvl="1"/>
            <a:r>
              <a:rPr lang="en-GB" dirty="0"/>
              <a:t>Repayable after 1 year</a:t>
            </a:r>
          </a:p>
        </p:txBody>
      </p:sp>
    </p:spTree>
    <p:extLst>
      <p:ext uri="{BB962C8B-B14F-4D97-AF65-F5344CB8AC3E}">
        <p14:creationId xmlns:p14="http://schemas.microsoft.com/office/powerpoint/2010/main" val="1721365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B4C4-264D-4107-9570-31C2E8D0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A76BF-054C-48A7-A4BB-633D95B27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The Financial Statements may be used to assess performance.</a:t>
            </a:r>
          </a:p>
          <a:p>
            <a:r>
              <a:rPr lang="en-GB" dirty="0"/>
              <a:t>The Income Statement (Profit &amp; Loss Account) shows the sales generated, costs incurred and surplus or deficit remaining. </a:t>
            </a:r>
          </a:p>
          <a:p>
            <a:r>
              <a:rPr lang="en-GB" dirty="0"/>
              <a:t>Expenses are classified into groups to simplify presentation.</a:t>
            </a:r>
          </a:p>
          <a:p>
            <a:r>
              <a:rPr lang="en-GB" dirty="0"/>
              <a:t>The ‘accruals concept’ matches the cost to the activity.</a:t>
            </a:r>
          </a:p>
          <a:p>
            <a:r>
              <a:rPr lang="en-GB" dirty="0"/>
              <a:t>Depreciation spreads the cost of an asset over its useful economic life.</a:t>
            </a:r>
          </a:p>
          <a:p>
            <a:r>
              <a:rPr lang="en-GB" dirty="0"/>
              <a:t>The Statement of Financial Position (Balance Sheet) shows the total assets, liabilities, equity </a:t>
            </a:r>
            <a:r>
              <a:rPr lang="en-GB"/>
              <a:t>and the </a:t>
            </a:r>
            <a:r>
              <a:rPr lang="en-GB" dirty="0"/>
              <a:t>business value.</a:t>
            </a:r>
          </a:p>
          <a:p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0174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7ACEBA-99EE-4B9A-99FE-F9695B41FA99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754</Words>
  <Application>Microsoft Office PowerPoint</Application>
  <PresentationFormat>On-screen Show (4:3)</PresentationFormat>
  <Paragraphs>130</Paragraphs>
  <Slides>18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ＭＳ Ｐゴシック</vt:lpstr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Chart</vt:lpstr>
      <vt:lpstr>C39FF Finance and Financial Reporting</vt:lpstr>
      <vt:lpstr>The Main Financial Statements</vt:lpstr>
      <vt:lpstr>Capex v Opex</vt:lpstr>
      <vt:lpstr>Income Statement</vt:lpstr>
      <vt:lpstr>Measuring and reporting financial performance</vt:lpstr>
      <vt:lpstr>Grouping types of expenses</vt:lpstr>
      <vt:lpstr>Recognising expenses</vt:lpstr>
      <vt:lpstr>  Prepaid expenses (prepayments) </vt:lpstr>
      <vt:lpstr>Depreciation</vt:lpstr>
      <vt:lpstr>Calculating depreciation</vt:lpstr>
      <vt:lpstr>Effect of depreciation on accounts</vt:lpstr>
      <vt:lpstr>Statement of financial position</vt:lpstr>
      <vt:lpstr>Assets</vt:lpstr>
      <vt:lpstr>Classification of assets</vt:lpstr>
      <vt:lpstr>Valuation of assets</vt:lpstr>
      <vt:lpstr>Liabilities </vt:lpstr>
      <vt:lpstr>Classification of liabilities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Samuel, Sunday</cp:lastModifiedBy>
  <cp:revision>61</cp:revision>
  <cp:lastPrinted>2020-09-30T15:30:30Z</cp:lastPrinted>
  <dcterms:created xsi:type="dcterms:W3CDTF">2016-02-11T16:23:53Z</dcterms:created>
  <dcterms:modified xsi:type="dcterms:W3CDTF">2025-01-16T19:23:57Z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