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48"/>
  </p:notesMasterIdLst>
  <p:sldIdLst>
    <p:sldId id="258" r:id="rId10"/>
    <p:sldId id="722" r:id="rId11"/>
    <p:sldId id="691" r:id="rId12"/>
    <p:sldId id="261" r:id="rId13"/>
    <p:sldId id="688" r:id="rId14"/>
    <p:sldId id="425" r:id="rId15"/>
    <p:sldId id="703" r:id="rId16"/>
    <p:sldId id="416" r:id="rId17"/>
    <p:sldId id="689" r:id="rId18"/>
    <p:sldId id="705" r:id="rId19"/>
    <p:sldId id="706" r:id="rId20"/>
    <p:sldId id="418" r:id="rId21"/>
    <p:sldId id="419" r:id="rId22"/>
    <p:sldId id="421" r:id="rId23"/>
    <p:sldId id="719" r:id="rId24"/>
    <p:sldId id="692" r:id="rId25"/>
    <p:sldId id="693" r:id="rId26"/>
    <p:sldId id="422" r:id="rId27"/>
    <p:sldId id="694" r:id="rId28"/>
    <p:sldId id="394" r:id="rId29"/>
    <p:sldId id="710" r:id="rId30"/>
    <p:sldId id="395" r:id="rId31"/>
    <p:sldId id="711" r:id="rId32"/>
    <p:sldId id="671" r:id="rId33"/>
    <p:sldId id="396" r:id="rId34"/>
    <p:sldId id="673" r:id="rId35"/>
    <p:sldId id="397" r:id="rId36"/>
    <p:sldId id="674" r:id="rId37"/>
    <p:sldId id="675" r:id="rId38"/>
    <p:sldId id="453" r:id="rId39"/>
    <p:sldId id="409" r:id="rId40"/>
    <p:sldId id="399" r:id="rId41"/>
    <p:sldId id="400" r:id="rId42"/>
    <p:sldId id="402" r:id="rId43"/>
    <p:sldId id="685" r:id="rId44"/>
    <p:sldId id="714" r:id="rId45"/>
    <p:sldId id="716" r:id="rId46"/>
    <p:sldId id="71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6143"/>
  </p:normalViewPr>
  <p:slideViewPr>
    <p:cSldViewPr snapToGrid="0" snapToObjects="1">
      <p:cViewPr varScale="1">
        <p:scale>
          <a:sx n="79" d="100"/>
          <a:sy n="79"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presProps" Target="presProp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06D40-0E8C-424B-991F-69AF8DB1782A}" type="datetimeFigureOut">
              <a:rPr lang="en-GB" smtClean="0"/>
              <a:t>29/08/2025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14004-77EB-460B-9551-8DB9690EF2DA}" type="slidenum">
              <a:rPr lang="en-GB" smtClean="0"/>
              <a:t>‹#›</a:t>
            </a:fld>
            <a:endParaRPr lang="en-GB"/>
          </a:p>
        </p:txBody>
      </p:sp>
    </p:spTree>
    <p:extLst>
      <p:ext uri="{BB962C8B-B14F-4D97-AF65-F5344CB8AC3E}">
        <p14:creationId xmlns:p14="http://schemas.microsoft.com/office/powerpoint/2010/main" val="397106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66E727C-5B7D-4EF1-A91D-E2148C1BFFA6}"/>
              </a:ext>
            </a:extLst>
          </p:cNvPr>
          <p:cNvSpPr>
            <a:spLocks noGrp="1" noChangeArrowheads="1"/>
          </p:cNvSpPr>
          <p:nvPr>
            <p:ph type="sldNum" sz="quarter" idx="5"/>
          </p:nvPr>
        </p:nvSpPr>
        <p:spPr>
          <a:ln/>
        </p:spPr>
        <p:txBody>
          <a:bodyPr/>
          <a:lstStyle/>
          <a:p>
            <a:fld id="{9A3361A8-7890-494F-91B9-4CCDF13479B3}" type="slidenum">
              <a:rPr lang="en-GB" altLang="en-US"/>
              <a:pPr/>
              <a:t>6</a:t>
            </a:fld>
            <a:endParaRPr lang="en-GB" altLang="en-US"/>
          </a:p>
        </p:txBody>
      </p:sp>
      <p:sp>
        <p:nvSpPr>
          <p:cNvPr id="401410" name="Rectangle 2">
            <a:extLst>
              <a:ext uri="{FF2B5EF4-FFF2-40B4-BE49-F238E27FC236}">
                <a16:creationId xmlns:a16="http://schemas.microsoft.com/office/drawing/2014/main" id="{095EDFDB-204C-419E-A7D8-8F76C7D707F2}"/>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1" name="Rectangle 3">
            <a:extLst>
              <a:ext uri="{FF2B5EF4-FFF2-40B4-BE49-F238E27FC236}">
                <a16:creationId xmlns:a16="http://schemas.microsoft.com/office/drawing/2014/main" id="{A5280EC9-02E4-4772-9C94-664CC6E01908}"/>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01412" name="Rectangle 4">
            <a:extLst>
              <a:ext uri="{FF2B5EF4-FFF2-40B4-BE49-F238E27FC236}">
                <a16:creationId xmlns:a16="http://schemas.microsoft.com/office/drawing/2014/main" id="{81E2637E-CCE9-4017-A0F9-96E30E94137D}"/>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3" name="Rectangle 5">
            <a:extLst>
              <a:ext uri="{FF2B5EF4-FFF2-40B4-BE49-F238E27FC236}">
                <a16:creationId xmlns:a16="http://schemas.microsoft.com/office/drawing/2014/main" id="{2A064234-2DB8-406B-9218-68A5BB8D82C7}"/>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4" name="Rectangle 6">
            <a:extLst>
              <a:ext uri="{FF2B5EF4-FFF2-40B4-BE49-F238E27FC236}">
                <a16:creationId xmlns:a16="http://schemas.microsoft.com/office/drawing/2014/main" id="{674CF8E5-E205-4826-9F14-66A96E02DB86}"/>
              </a:ext>
            </a:extLst>
          </p:cNvPr>
          <p:cNvSpPr>
            <a:spLocks noGrp="1" noChangeArrowheads="1"/>
          </p:cNvSpPr>
          <p:nvPr>
            <p:ph type="body" idx="1"/>
          </p:nvPr>
        </p:nvSpPr>
        <p:spPr>
          <a:ln/>
        </p:spPr>
        <p:txBody>
          <a:bodyPr lIns="92075" tIns="46038" rIns="92075" bIns="46038"/>
          <a:lstStyle/>
          <a:p>
            <a:endParaRPr lang="en-GB" altLang="en-US" noProof="1"/>
          </a:p>
        </p:txBody>
      </p:sp>
      <p:sp>
        <p:nvSpPr>
          <p:cNvPr id="401415" name="Rectangle 7">
            <a:extLst>
              <a:ext uri="{FF2B5EF4-FFF2-40B4-BE49-F238E27FC236}">
                <a16:creationId xmlns:a16="http://schemas.microsoft.com/office/drawing/2014/main" id="{AE925556-7A53-4BFD-9586-9E10ED0086A0}"/>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626643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6CD0950-51FE-4C4F-AC66-88AEAE875515}"/>
              </a:ext>
            </a:extLst>
          </p:cNvPr>
          <p:cNvSpPr>
            <a:spLocks noGrp="1" noChangeArrowheads="1"/>
          </p:cNvSpPr>
          <p:nvPr>
            <p:ph type="sldNum" sz="quarter" idx="5"/>
          </p:nvPr>
        </p:nvSpPr>
        <p:spPr>
          <a:ln/>
        </p:spPr>
        <p:txBody>
          <a:bodyPr/>
          <a:lstStyle/>
          <a:p>
            <a:fld id="{CF7C70D7-494C-4F70-A08A-3E66E07A3929}" type="slidenum">
              <a:rPr lang="en-GB" altLang="en-US"/>
              <a:pPr/>
              <a:t>7</a:t>
            </a:fld>
            <a:endParaRPr lang="en-GB" altLang="en-US"/>
          </a:p>
        </p:txBody>
      </p:sp>
      <p:sp>
        <p:nvSpPr>
          <p:cNvPr id="434178" name="Rectangle 2">
            <a:extLst>
              <a:ext uri="{FF2B5EF4-FFF2-40B4-BE49-F238E27FC236}">
                <a16:creationId xmlns:a16="http://schemas.microsoft.com/office/drawing/2014/main" id="{42EC422D-6402-4626-A63C-21EAA0C57544}"/>
              </a:ext>
            </a:extLst>
          </p:cNvPr>
          <p:cNvSpPr>
            <a:spLocks noGrp="1" noRot="1" noChangeAspect="1" noChangeArrowheads="1" noTextEdit="1"/>
          </p:cNvSpPr>
          <p:nvPr>
            <p:ph type="sldImg"/>
          </p:nvPr>
        </p:nvSpPr>
        <p:spPr>
          <a:xfrm>
            <a:off x="381000" y="685800"/>
            <a:ext cx="6096000" cy="3429000"/>
          </a:xfrm>
          <a:ln/>
        </p:spPr>
      </p:sp>
      <p:sp>
        <p:nvSpPr>
          <p:cNvPr id="434179" name="Rectangle 3">
            <a:extLst>
              <a:ext uri="{FF2B5EF4-FFF2-40B4-BE49-F238E27FC236}">
                <a16:creationId xmlns:a16="http://schemas.microsoft.com/office/drawing/2014/main" id="{938188F0-3C68-4261-B037-5A4183648CA5}"/>
              </a:ext>
            </a:extLst>
          </p:cNvPr>
          <p:cNvSpPr>
            <a:spLocks noGrp="1" noChangeArrowheads="1"/>
          </p:cNvSpPr>
          <p:nvPr>
            <p:ph type="body" idx="1"/>
          </p:nvPr>
        </p:nvSpPr>
        <p:spPr>
          <a:ln/>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lstStyle/>
          <a:p>
            <a:endParaRPr lang="en-GB" altLang="en-US" noProof="1"/>
          </a:p>
        </p:txBody>
      </p:sp>
    </p:spTree>
    <p:extLst>
      <p:ext uri="{BB962C8B-B14F-4D97-AF65-F5344CB8AC3E}">
        <p14:creationId xmlns:p14="http://schemas.microsoft.com/office/powerpoint/2010/main" val="2196929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6FB9C389-D5BA-4B2F-9307-F7D42E50EDC5}"/>
              </a:ext>
            </a:extLst>
          </p:cNvPr>
          <p:cNvSpPr>
            <a:spLocks noGrp="1" noChangeArrowheads="1"/>
          </p:cNvSpPr>
          <p:nvPr>
            <p:ph type="sldNum" sz="quarter" idx="5"/>
          </p:nvPr>
        </p:nvSpPr>
        <p:spPr>
          <a:ln/>
        </p:spPr>
        <p:txBody>
          <a:bodyPr/>
          <a:lstStyle/>
          <a:p>
            <a:fld id="{39C913DB-4BD5-4DA1-A895-5F554F264814}" type="slidenum">
              <a:rPr lang="en-GB" altLang="en-US"/>
              <a:pPr/>
              <a:t>8</a:t>
            </a:fld>
            <a:endParaRPr lang="en-GB" altLang="en-US"/>
          </a:p>
        </p:txBody>
      </p:sp>
      <p:sp>
        <p:nvSpPr>
          <p:cNvPr id="405506" name="Rectangle 2">
            <a:extLst>
              <a:ext uri="{FF2B5EF4-FFF2-40B4-BE49-F238E27FC236}">
                <a16:creationId xmlns:a16="http://schemas.microsoft.com/office/drawing/2014/main" id="{856E36EA-B8DC-4AB2-BA39-360AB56DC92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3FFD0098-35A9-49F5-B167-8BBD2B1C8B8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05508" name="Rectangle 4">
            <a:extLst>
              <a:ext uri="{FF2B5EF4-FFF2-40B4-BE49-F238E27FC236}">
                <a16:creationId xmlns:a16="http://schemas.microsoft.com/office/drawing/2014/main" id="{3AB70A23-9211-41F3-AB07-1F05E2E1BD1D}"/>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072E9B8A-F40E-44D9-92C3-68F4E9AB262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E69EB348-4831-4773-9113-F0A909D174C2}"/>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37F915BE-4A38-4C3C-AD8E-95655E929C48}"/>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112542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02895E7-24F7-4D16-A93D-1A254298EBBB}"/>
              </a:ext>
            </a:extLst>
          </p:cNvPr>
          <p:cNvSpPr>
            <a:spLocks noGrp="1" noChangeArrowheads="1"/>
          </p:cNvSpPr>
          <p:nvPr>
            <p:ph type="sldNum" sz="quarter" idx="5"/>
          </p:nvPr>
        </p:nvSpPr>
        <p:spPr>
          <a:ln/>
        </p:spPr>
        <p:txBody>
          <a:bodyPr/>
          <a:lstStyle/>
          <a:p>
            <a:fld id="{906BD12B-B52D-4E6E-9AAF-5F9F22E37BE3}" type="slidenum">
              <a:rPr lang="en-GB" altLang="en-US"/>
              <a:pPr/>
              <a:t>12</a:t>
            </a:fld>
            <a:endParaRPr lang="en-GB" altLang="en-US"/>
          </a:p>
        </p:txBody>
      </p:sp>
      <p:sp>
        <p:nvSpPr>
          <p:cNvPr id="409602" name="Rectangle 2">
            <a:extLst>
              <a:ext uri="{FF2B5EF4-FFF2-40B4-BE49-F238E27FC236}">
                <a16:creationId xmlns:a16="http://schemas.microsoft.com/office/drawing/2014/main" id="{009AE5F1-F3E5-4CC9-9A17-2542EE8BED3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3" name="Rectangle 3">
            <a:extLst>
              <a:ext uri="{FF2B5EF4-FFF2-40B4-BE49-F238E27FC236}">
                <a16:creationId xmlns:a16="http://schemas.microsoft.com/office/drawing/2014/main" id="{838FD6A4-EF2D-497B-9D11-8743AFD45F7E}"/>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409604" name="Rectangle 4">
            <a:extLst>
              <a:ext uri="{FF2B5EF4-FFF2-40B4-BE49-F238E27FC236}">
                <a16:creationId xmlns:a16="http://schemas.microsoft.com/office/drawing/2014/main" id="{3E290749-6EE5-4002-B79B-B29CAC93662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5" name="Rectangle 5">
            <a:extLst>
              <a:ext uri="{FF2B5EF4-FFF2-40B4-BE49-F238E27FC236}">
                <a16:creationId xmlns:a16="http://schemas.microsoft.com/office/drawing/2014/main" id="{342168A7-FC01-4E53-B5B3-220F5CBB2E4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06" name="Rectangle 6">
            <a:extLst>
              <a:ext uri="{FF2B5EF4-FFF2-40B4-BE49-F238E27FC236}">
                <a16:creationId xmlns:a16="http://schemas.microsoft.com/office/drawing/2014/main" id="{2C8FEB41-D7CE-4A67-8940-8B7194FE3172}"/>
              </a:ext>
            </a:extLst>
          </p:cNvPr>
          <p:cNvSpPr>
            <a:spLocks noGrp="1" noChangeArrowheads="1"/>
          </p:cNvSpPr>
          <p:nvPr>
            <p:ph type="body" idx="1"/>
          </p:nvPr>
        </p:nvSpPr>
        <p:spPr>
          <a:ln/>
        </p:spPr>
        <p:txBody>
          <a:bodyPr lIns="92075" tIns="46038" rIns="92075" bIns="46038"/>
          <a:lstStyle/>
          <a:p>
            <a:endParaRPr lang="en-GB" altLang="en-US" noProof="1"/>
          </a:p>
        </p:txBody>
      </p:sp>
      <p:sp>
        <p:nvSpPr>
          <p:cNvPr id="409607" name="Rectangle 7">
            <a:extLst>
              <a:ext uri="{FF2B5EF4-FFF2-40B4-BE49-F238E27FC236}">
                <a16:creationId xmlns:a16="http://schemas.microsoft.com/office/drawing/2014/main" id="{DCA1D9D0-E9C4-4AA8-8BD0-025686482115}"/>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755999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2D3FE8F-38D7-4E92-AEC1-7AFB7E82C957}"/>
              </a:ext>
            </a:extLst>
          </p:cNvPr>
          <p:cNvSpPr>
            <a:spLocks noGrp="1" noChangeArrowheads="1"/>
          </p:cNvSpPr>
          <p:nvPr>
            <p:ph type="sldNum" sz="quarter" idx="5"/>
          </p:nvPr>
        </p:nvSpPr>
        <p:spPr>
          <a:ln/>
        </p:spPr>
        <p:txBody>
          <a:bodyPr/>
          <a:lstStyle/>
          <a:p>
            <a:fld id="{22339F64-60B0-4AA9-BB19-2D359AC3A636}" type="slidenum">
              <a:rPr lang="en-GB" altLang="en-US"/>
              <a:pPr/>
              <a:t>13</a:t>
            </a:fld>
            <a:endParaRPr lang="en-GB" altLang="en-US"/>
          </a:p>
        </p:txBody>
      </p:sp>
      <p:sp>
        <p:nvSpPr>
          <p:cNvPr id="423938" name="Rectangle 2">
            <a:extLst>
              <a:ext uri="{FF2B5EF4-FFF2-40B4-BE49-F238E27FC236}">
                <a16:creationId xmlns:a16="http://schemas.microsoft.com/office/drawing/2014/main" id="{A8BE5BF6-4888-419C-A9C1-897C5D6B6080}"/>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3939" name="Rectangle 3">
            <a:extLst>
              <a:ext uri="{FF2B5EF4-FFF2-40B4-BE49-F238E27FC236}">
                <a16:creationId xmlns:a16="http://schemas.microsoft.com/office/drawing/2014/main" id="{1C8B52FA-DA42-45ED-A7F4-F1EBDEC205A9}"/>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423940" name="Rectangle 4">
            <a:extLst>
              <a:ext uri="{FF2B5EF4-FFF2-40B4-BE49-F238E27FC236}">
                <a16:creationId xmlns:a16="http://schemas.microsoft.com/office/drawing/2014/main" id="{8D51086F-C39E-4984-B702-827119F6F46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3941" name="Rectangle 5">
            <a:extLst>
              <a:ext uri="{FF2B5EF4-FFF2-40B4-BE49-F238E27FC236}">
                <a16:creationId xmlns:a16="http://schemas.microsoft.com/office/drawing/2014/main" id="{3FAD9DF4-962F-4325-A4DA-6A15AE92DF6E}"/>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3942" name="Rectangle 6">
            <a:extLst>
              <a:ext uri="{FF2B5EF4-FFF2-40B4-BE49-F238E27FC236}">
                <a16:creationId xmlns:a16="http://schemas.microsoft.com/office/drawing/2014/main" id="{6FF92C4C-D17F-4DD7-8FCF-008DF4D544B6}"/>
              </a:ext>
            </a:extLst>
          </p:cNvPr>
          <p:cNvSpPr>
            <a:spLocks noGrp="1" noChangeArrowheads="1"/>
          </p:cNvSpPr>
          <p:nvPr>
            <p:ph type="body" idx="1"/>
          </p:nvPr>
        </p:nvSpPr>
        <p:spPr>
          <a:ln/>
        </p:spPr>
        <p:txBody>
          <a:bodyPr lIns="92075" tIns="46038" rIns="92075" bIns="46038"/>
          <a:lstStyle/>
          <a:p>
            <a:endParaRPr lang="en-GB" altLang="en-US" noProof="1"/>
          </a:p>
        </p:txBody>
      </p:sp>
      <p:sp>
        <p:nvSpPr>
          <p:cNvPr id="423943" name="Rectangle 7">
            <a:extLst>
              <a:ext uri="{FF2B5EF4-FFF2-40B4-BE49-F238E27FC236}">
                <a16:creationId xmlns:a16="http://schemas.microsoft.com/office/drawing/2014/main" id="{F243A511-EA94-4902-985E-E47997386EE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864297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BFD12ECF-F9D7-469F-B1A5-95722BCE22BF}"/>
              </a:ext>
            </a:extLst>
          </p:cNvPr>
          <p:cNvSpPr>
            <a:spLocks noGrp="1" noChangeArrowheads="1"/>
          </p:cNvSpPr>
          <p:nvPr>
            <p:ph type="sldNum" sz="quarter" idx="5"/>
          </p:nvPr>
        </p:nvSpPr>
        <p:spPr>
          <a:ln/>
        </p:spPr>
        <p:txBody>
          <a:bodyPr/>
          <a:lstStyle/>
          <a:p>
            <a:fld id="{492E1D35-889F-46CC-842B-43DFD9A5ED33}" type="slidenum">
              <a:rPr lang="en-GB" altLang="en-US"/>
              <a:pPr/>
              <a:t>14</a:t>
            </a:fld>
            <a:endParaRPr lang="en-GB" altLang="en-US"/>
          </a:p>
        </p:txBody>
      </p:sp>
      <p:sp>
        <p:nvSpPr>
          <p:cNvPr id="411650" name="Rectangle 2">
            <a:extLst>
              <a:ext uri="{FF2B5EF4-FFF2-40B4-BE49-F238E27FC236}">
                <a16:creationId xmlns:a16="http://schemas.microsoft.com/office/drawing/2014/main" id="{1339834D-8490-4257-8FF2-4C034470942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1" name="Rectangle 3">
            <a:extLst>
              <a:ext uri="{FF2B5EF4-FFF2-40B4-BE49-F238E27FC236}">
                <a16:creationId xmlns:a16="http://schemas.microsoft.com/office/drawing/2014/main" id="{29D27F83-10F4-4BBF-9305-55D84AD79054}"/>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1652" name="Rectangle 4">
            <a:extLst>
              <a:ext uri="{FF2B5EF4-FFF2-40B4-BE49-F238E27FC236}">
                <a16:creationId xmlns:a16="http://schemas.microsoft.com/office/drawing/2014/main" id="{1ECE0D37-4245-48E3-95EF-F0D16D21F7F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3" name="Rectangle 5">
            <a:extLst>
              <a:ext uri="{FF2B5EF4-FFF2-40B4-BE49-F238E27FC236}">
                <a16:creationId xmlns:a16="http://schemas.microsoft.com/office/drawing/2014/main" id="{A3F56384-AC15-4AC5-B5B3-5B7B7BD0C6D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4" name="Rectangle 6">
            <a:extLst>
              <a:ext uri="{FF2B5EF4-FFF2-40B4-BE49-F238E27FC236}">
                <a16:creationId xmlns:a16="http://schemas.microsoft.com/office/drawing/2014/main" id="{A565C4B4-7F20-4340-87E2-FBED27FC9CC4}"/>
              </a:ext>
            </a:extLst>
          </p:cNvPr>
          <p:cNvSpPr>
            <a:spLocks noGrp="1" noChangeArrowheads="1"/>
          </p:cNvSpPr>
          <p:nvPr>
            <p:ph type="body" idx="1"/>
          </p:nvPr>
        </p:nvSpPr>
        <p:spPr>
          <a:ln/>
        </p:spPr>
        <p:txBody>
          <a:bodyPr lIns="92075" tIns="46038" rIns="92075" bIns="46038"/>
          <a:lstStyle/>
          <a:p>
            <a:endParaRPr lang="en-GB" altLang="en-US" noProof="1"/>
          </a:p>
        </p:txBody>
      </p:sp>
      <p:sp>
        <p:nvSpPr>
          <p:cNvPr id="411655" name="Rectangle 7">
            <a:extLst>
              <a:ext uri="{FF2B5EF4-FFF2-40B4-BE49-F238E27FC236}">
                <a16:creationId xmlns:a16="http://schemas.microsoft.com/office/drawing/2014/main" id="{9E512791-A75D-454C-9BB2-A86AF359F3EE}"/>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932402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BFD12ECF-F9D7-469F-B1A5-95722BCE22BF}"/>
              </a:ext>
            </a:extLst>
          </p:cNvPr>
          <p:cNvSpPr>
            <a:spLocks noGrp="1" noChangeArrowheads="1"/>
          </p:cNvSpPr>
          <p:nvPr>
            <p:ph type="sldNum" sz="quarter" idx="5"/>
          </p:nvPr>
        </p:nvSpPr>
        <p:spPr>
          <a:ln/>
        </p:spPr>
        <p:txBody>
          <a:bodyPr/>
          <a:lstStyle/>
          <a:p>
            <a:fld id="{492E1D35-889F-46CC-842B-43DFD9A5ED33}" type="slidenum">
              <a:rPr lang="en-GB" altLang="en-US"/>
              <a:pPr/>
              <a:t>15</a:t>
            </a:fld>
            <a:endParaRPr lang="en-GB" altLang="en-US"/>
          </a:p>
        </p:txBody>
      </p:sp>
      <p:sp>
        <p:nvSpPr>
          <p:cNvPr id="411650" name="Rectangle 2">
            <a:extLst>
              <a:ext uri="{FF2B5EF4-FFF2-40B4-BE49-F238E27FC236}">
                <a16:creationId xmlns:a16="http://schemas.microsoft.com/office/drawing/2014/main" id="{1339834D-8490-4257-8FF2-4C034470942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1" name="Rectangle 3">
            <a:extLst>
              <a:ext uri="{FF2B5EF4-FFF2-40B4-BE49-F238E27FC236}">
                <a16:creationId xmlns:a16="http://schemas.microsoft.com/office/drawing/2014/main" id="{29D27F83-10F4-4BBF-9305-55D84AD79054}"/>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1652" name="Rectangle 4">
            <a:extLst>
              <a:ext uri="{FF2B5EF4-FFF2-40B4-BE49-F238E27FC236}">
                <a16:creationId xmlns:a16="http://schemas.microsoft.com/office/drawing/2014/main" id="{1ECE0D37-4245-48E3-95EF-F0D16D21F7F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3" name="Rectangle 5">
            <a:extLst>
              <a:ext uri="{FF2B5EF4-FFF2-40B4-BE49-F238E27FC236}">
                <a16:creationId xmlns:a16="http://schemas.microsoft.com/office/drawing/2014/main" id="{A3F56384-AC15-4AC5-B5B3-5B7B7BD0C6D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4" name="Rectangle 6">
            <a:extLst>
              <a:ext uri="{FF2B5EF4-FFF2-40B4-BE49-F238E27FC236}">
                <a16:creationId xmlns:a16="http://schemas.microsoft.com/office/drawing/2014/main" id="{A565C4B4-7F20-4340-87E2-FBED27FC9CC4}"/>
              </a:ext>
            </a:extLst>
          </p:cNvPr>
          <p:cNvSpPr>
            <a:spLocks noGrp="1" noChangeArrowheads="1"/>
          </p:cNvSpPr>
          <p:nvPr>
            <p:ph type="body" idx="1"/>
          </p:nvPr>
        </p:nvSpPr>
        <p:spPr>
          <a:ln/>
        </p:spPr>
        <p:txBody>
          <a:bodyPr lIns="92075" tIns="46038" rIns="92075" bIns="46038"/>
          <a:lstStyle/>
          <a:p>
            <a:endParaRPr lang="en-GB" altLang="en-US" noProof="1"/>
          </a:p>
        </p:txBody>
      </p:sp>
      <p:sp>
        <p:nvSpPr>
          <p:cNvPr id="411655" name="Rectangle 7">
            <a:extLst>
              <a:ext uri="{FF2B5EF4-FFF2-40B4-BE49-F238E27FC236}">
                <a16:creationId xmlns:a16="http://schemas.microsoft.com/office/drawing/2014/main" id="{9E512791-A75D-454C-9BB2-A86AF359F3EE}"/>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737199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BFD12ECF-F9D7-469F-B1A5-95722BCE22BF}"/>
              </a:ext>
            </a:extLst>
          </p:cNvPr>
          <p:cNvSpPr>
            <a:spLocks noGrp="1" noChangeArrowheads="1"/>
          </p:cNvSpPr>
          <p:nvPr>
            <p:ph type="sldNum" sz="quarter" idx="5"/>
          </p:nvPr>
        </p:nvSpPr>
        <p:spPr>
          <a:ln/>
        </p:spPr>
        <p:txBody>
          <a:bodyPr/>
          <a:lstStyle/>
          <a:p>
            <a:fld id="{492E1D35-889F-46CC-842B-43DFD9A5ED33}" type="slidenum">
              <a:rPr lang="en-GB" altLang="en-US"/>
              <a:pPr/>
              <a:t>16</a:t>
            </a:fld>
            <a:endParaRPr lang="en-GB" altLang="en-US"/>
          </a:p>
        </p:txBody>
      </p:sp>
      <p:sp>
        <p:nvSpPr>
          <p:cNvPr id="411650" name="Rectangle 2">
            <a:extLst>
              <a:ext uri="{FF2B5EF4-FFF2-40B4-BE49-F238E27FC236}">
                <a16:creationId xmlns:a16="http://schemas.microsoft.com/office/drawing/2014/main" id="{1339834D-8490-4257-8FF2-4C034470942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1" name="Rectangle 3">
            <a:extLst>
              <a:ext uri="{FF2B5EF4-FFF2-40B4-BE49-F238E27FC236}">
                <a16:creationId xmlns:a16="http://schemas.microsoft.com/office/drawing/2014/main" id="{29D27F83-10F4-4BBF-9305-55D84AD79054}"/>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1652" name="Rectangle 4">
            <a:extLst>
              <a:ext uri="{FF2B5EF4-FFF2-40B4-BE49-F238E27FC236}">
                <a16:creationId xmlns:a16="http://schemas.microsoft.com/office/drawing/2014/main" id="{1ECE0D37-4245-48E3-95EF-F0D16D21F7F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3" name="Rectangle 5">
            <a:extLst>
              <a:ext uri="{FF2B5EF4-FFF2-40B4-BE49-F238E27FC236}">
                <a16:creationId xmlns:a16="http://schemas.microsoft.com/office/drawing/2014/main" id="{A3F56384-AC15-4AC5-B5B3-5B7B7BD0C6D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4" name="Rectangle 6">
            <a:extLst>
              <a:ext uri="{FF2B5EF4-FFF2-40B4-BE49-F238E27FC236}">
                <a16:creationId xmlns:a16="http://schemas.microsoft.com/office/drawing/2014/main" id="{A565C4B4-7F20-4340-87E2-FBED27FC9CC4}"/>
              </a:ext>
            </a:extLst>
          </p:cNvPr>
          <p:cNvSpPr>
            <a:spLocks noGrp="1" noChangeArrowheads="1"/>
          </p:cNvSpPr>
          <p:nvPr>
            <p:ph type="body" idx="1"/>
          </p:nvPr>
        </p:nvSpPr>
        <p:spPr>
          <a:ln/>
        </p:spPr>
        <p:txBody>
          <a:bodyPr lIns="92075" tIns="46038" rIns="92075" bIns="46038"/>
          <a:lstStyle/>
          <a:p>
            <a:endParaRPr lang="en-GB" altLang="en-US" noProof="1"/>
          </a:p>
        </p:txBody>
      </p:sp>
      <p:sp>
        <p:nvSpPr>
          <p:cNvPr id="411655" name="Rectangle 7">
            <a:extLst>
              <a:ext uri="{FF2B5EF4-FFF2-40B4-BE49-F238E27FC236}">
                <a16:creationId xmlns:a16="http://schemas.microsoft.com/office/drawing/2014/main" id="{9E512791-A75D-454C-9BB2-A86AF359F3EE}"/>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844644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BFD12ECF-F9D7-469F-B1A5-95722BCE22BF}"/>
              </a:ext>
            </a:extLst>
          </p:cNvPr>
          <p:cNvSpPr>
            <a:spLocks noGrp="1" noChangeArrowheads="1"/>
          </p:cNvSpPr>
          <p:nvPr>
            <p:ph type="sldNum" sz="quarter" idx="5"/>
          </p:nvPr>
        </p:nvSpPr>
        <p:spPr>
          <a:ln/>
        </p:spPr>
        <p:txBody>
          <a:bodyPr/>
          <a:lstStyle/>
          <a:p>
            <a:fld id="{492E1D35-889F-46CC-842B-43DFD9A5ED33}" type="slidenum">
              <a:rPr lang="en-GB" altLang="en-US"/>
              <a:pPr/>
              <a:t>17</a:t>
            </a:fld>
            <a:endParaRPr lang="en-GB" altLang="en-US"/>
          </a:p>
        </p:txBody>
      </p:sp>
      <p:sp>
        <p:nvSpPr>
          <p:cNvPr id="411650" name="Rectangle 2">
            <a:extLst>
              <a:ext uri="{FF2B5EF4-FFF2-40B4-BE49-F238E27FC236}">
                <a16:creationId xmlns:a16="http://schemas.microsoft.com/office/drawing/2014/main" id="{1339834D-8490-4257-8FF2-4C034470942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1" name="Rectangle 3">
            <a:extLst>
              <a:ext uri="{FF2B5EF4-FFF2-40B4-BE49-F238E27FC236}">
                <a16:creationId xmlns:a16="http://schemas.microsoft.com/office/drawing/2014/main" id="{29D27F83-10F4-4BBF-9305-55D84AD79054}"/>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1652" name="Rectangle 4">
            <a:extLst>
              <a:ext uri="{FF2B5EF4-FFF2-40B4-BE49-F238E27FC236}">
                <a16:creationId xmlns:a16="http://schemas.microsoft.com/office/drawing/2014/main" id="{1ECE0D37-4245-48E3-95EF-F0D16D21F7F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3" name="Rectangle 5">
            <a:extLst>
              <a:ext uri="{FF2B5EF4-FFF2-40B4-BE49-F238E27FC236}">
                <a16:creationId xmlns:a16="http://schemas.microsoft.com/office/drawing/2014/main" id="{A3F56384-AC15-4AC5-B5B3-5B7B7BD0C6D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4" name="Rectangle 6">
            <a:extLst>
              <a:ext uri="{FF2B5EF4-FFF2-40B4-BE49-F238E27FC236}">
                <a16:creationId xmlns:a16="http://schemas.microsoft.com/office/drawing/2014/main" id="{A565C4B4-7F20-4340-87E2-FBED27FC9CC4}"/>
              </a:ext>
            </a:extLst>
          </p:cNvPr>
          <p:cNvSpPr>
            <a:spLocks noGrp="1" noChangeArrowheads="1"/>
          </p:cNvSpPr>
          <p:nvPr>
            <p:ph type="body" idx="1"/>
          </p:nvPr>
        </p:nvSpPr>
        <p:spPr>
          <a:ln/>
        </p:spPr>
        <p:txBody>
          <a:bodyPr lIns="92075" tIns="46038" rIns="92075" bIns="46038"/>
          <a:lstStyle/>
          <a:p>
            <a:endParaRPr lang="en-GB" altLang="en-US" noProof="1"/>
          </a:p>
        </p:txBody>
      </p:sp>
      <p:sp>
        <p:nvSpPr>
          <p:cNvPr id="411655" name="Rectangle 7">
            <a:extLst>
              <a:ext uri="{FF2B5EF4-FFF2-40B4-BE49-F238E27FC236}">
                <a16:creationId xmlns:a16="http://schemas.microsoft.com/office/drawing/2014/main" id="{9E512791-A75D-454C-9BB2-A86AF359F3EE}"/>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711716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867A3FA-2C13-4F0A-92EF-AE73B3842CDA}"/>
              </a:ext>
            </a:extLst>
          </p:cNvPr>
          <p:cNvSpPr>
            <a:spLocks noGrp="1" noChangeArrowheads="1"/>
          </p:cNvSpPr>
          <p:nvPr>
            <p:ph type="sldNum" sz="quarter" idx="5"/>
          </p:nvPr>
        </p:nvSpPr>
        <p:spPr>
          <a:ln/>
        </p:spPr>
        <p:txBody>
          <a:bodyPr/>
          <a:lstStyle/>
          <a:p>
            <a:fld id="{473512F3-AFD2-45DD-94B0-99B538D872D8}" type="slidenum">
              <a:rPr lang="en-GB" altLang="en-US"/>
              <a:pPr/>
              <a:t>18</a:t>
            </a:fld>
            <a:endParaRPr lang="en-GB" altLang="en-US"/>
          </a:p>
        </p:txBody>
      </p:sp>
      <p:sp>
        <p:nvSpPr>
          <p:cNvPr id="413698" name="Rectangle 2">
            <a:extLst>
              <a:ext uri="{FF2B5EF4-FFF2-40B4-BE49-F238E27FC236}">
                <a16:creationId xmlns:a16="http://schemas.microsoft.com/office/drawing/2014/main" id="{5DB03441-56DB-4DB9-855C-612A8D36F12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699" name="Rectangle 3">
            <a:extLst>
              <a:ext uri="{FF2B5EF4-FFF2-40B4-BE49-F238E27FC236}">
                <a16:creationId xmlns:a16="http://schemas.microsoft.com/office/drawing/2014/main" id="{EC362DB2-02C1-47D4-BB62-CC23D23BEAC5}"/>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3700" name="Rectangle 4">
            <a:extLst>
              <a:ext uri="{FF2B5EF4-FFF2-40B4-BE49-F238E27FC236}">
                <a16:creationId xmlns:a16="http://schemas.microsoft.com/office/drawing/2014/main" id="{B9C47A70-F676-4B27-A209-E3CE1DCA1A68}"/>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1" name="Rectangle 5">
            <a:extLst>
              <a:ext uri="{FF2B5EF4-FFF2-40B4-BE49-F238E27FC236}">
                <a16:creationId xmlns:a16="http://schemas.microsoft.com/office/drawing/2014/main" id="{2659C434-7D6F-413E-B8D8-BABE90966B17}"/>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2" name="Rectangle 6">
            <a:extLst>
              <a:ext uri="{FF2B5EF4-FFF2-40B4-BE49-F238E27FC236}">
                <a16:creationId xmlns:a16="http://schemas.microsoft.com/office/drawing/2014/main" id="{23946D72-E9BC-4295-BF60-098CE7F0EBEA}"/>
              </a:ext>
            </a:extLst>
          </p:cNvPr>
          <p:cNvSpPr>
            <a:spLocks noGrp="1" noChangeArrowheads="1"/>
          </p:cNvSpPr>
          <p:nvPr>
            <p:ph type="body" idx="1"/>
          </p:nvPr>
        </p:nvSpPr>
        <p:spPr>
          <a:ln/>
        </p:spPr>
        <p:txBody>
          <a:bodyPr lIns="92075" tIns="46038" rIns="92075" bIns="46038"/>
          <a:lstStyle/>
          <a:p>
            <a:endParaRPr lang="en-GB" altLang="en-US" noProof="1"/>
          </a:p>
        </p:txBody>
      </p:sp>
      <p:sp>
        <p:nvSpPr>
          <p:cNvPr id="413703" name="Rectangle 7">
            <a:extLst>
              <a:ext uri="{FF2B5EF4-FFF2-40B4-BE49-F238E27FC236}">
                <a16:creationId xmlns:a16="http://schemas.microsoft.com/office/drawing/2014/main" id="{7A93ECE5-149E-4B63-AEF6-CA1157D83EB2}"/>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567949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867A3FA-2C13-4F0A-92EF-AE73B3842CDA}"/>
              </a:ext>
            </a:extLst>
          </p:cNvPr>
          <p:cNvSpPr>
            <a:spLocks noGrp="1" noChangeArrowheads="1"/>
          </p:cNvSpPr>
          <p:nvPr>
            <p:ph type="sldNum" sz="quarter" idx="5"/>
          </p:nvPr>
        </p:nvSpPr>
        <p:spPr>
          <a:ln/>
        </p:spPr>
        <p:txBody>
          <a:bodyPr/>
          <a:lstStyle/>
          <a:p>
            <a:fld id="{473512F3-AFD2-45DD-94B0-99B538D872D8}" type="slidenum">
              <a:rPr lang="en-GB" altLang="en-US"/>
              <a:pPr/>
              <a:t>19</a:t>
            </a:fld>
            <a:endParaRPr lang="en-GB" altLang="en-US"/>
          </a:p>
        </p:txBody>
      </p:sp>
      <p:sp>
        <p:nvSpPr>
          <p:cNvPr id="413698" name="Rectangle 2">
            <a:extLst>
              <a:ext uri="{FF2B5EF4-FFF2-40B4-BE49-F238E27FC236}">
                <a16:creationId xmlns:a16="http://schemas.microsoft.com/office/drawing/2014/main" id="{5DB03441-56DB-4DB9-855C-612A8D36F12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699" name="Rectangle 3">
            <a:extLst>
              <a:ext uri="{FF2B5EF4-FFF2-40B4-BE49-F238E27FC236}">
                <a16:creationId xmlns:a16="http://schemas.microsoft.com/office/drawing/2014/main" id="{EC362DB2-02C1-47D4-BB62-CC23D23BEAC5}"/>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3700" name="Rectangle 4">
            <a:extLst>
              <a:ext uri="{FF2B5EF4-FFF2-40B4-BE49-F238E27FC236}">
                <a16:creationId xmlns:a16="http://schemas.microsoft.com/office/drawing/2014/main" id="{B9C47A70-F676-4B27-A209-E3CE1DCA1A68}"/>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1" name="Rectangle 5">
            <a:extLst>
              <a:ext uri="{FF2B5EF4-FFF2-40B4-BE49-F238E27FC236}">
                <a16:creationId xmlns:a16="http://schemas.microsoft.com/office/drawing/2014/main" id="{2659C434-7D6F-413E-B8D8-BABE90966B17}"/>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02" name="Rectangle 6">
            <a:extLst>
              <a:ext uri="{FF2B5EF4-FFF2-40B4-BE49-F238E27FC236}">
                <a16:creationId xmlns:a16="http://schemas.microsoft.com/office/drawing/2014/main" id="{23946D72-E9BC-4295-BF60-098CE7F0EBEA}"/>
              </a:ext>
            </a:extLst>
          </p:cNvPr>
          <p:cNvSpPr>
            <a:spLocks noGrp="1" noChangeArrowheads="1"/>
          </p:cNvSpPr>
          <p:nvPr>
            <p:ph type="body" idx="1"/>
          </p:nvPr>
        </p:nvSpPr>
        <p:spPr>
          <a:ln/>
        </p:spPr>
        <p:txBody>
          <a:bodyPr lIns="92075" tIns="46038" rIns="92075" bIns="46038"/>
          <a:lstStyle/>
          <a:p>
            <a:endParaRPr lang="en-GB" altLang="en-US" noProof="1"/>
          </a:p>
        </p:txBody>
      </p:sp>
      <p:sp>
        <p:nvSpPr>
          <p:cNvPr id="413703" name="Rectangle 7">
            <a:extLst>
              <a:ext uri="{FF2B5EF4-FFF2-40B4-BE49-F238E27FC236}">
                <a16:creationId xmlns:a16="http://schemas.microsoft.com/office/drawing/2014/main" id="{7A93ECE5-149E-4B63-AEF6-CA1157D83EB2}"/>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75753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D9D2630-E0AB-45E7-ADBF-4726B1090AFB}"/>
              </a:ext>
            </a:extLst>
          </p:cNvPr>
          <p:cNvSpPr>
            <a:spLocks noGrp="1" noChangeArrowheads="1"/>
          </p:cNvSpPr>
          <p:nvPr>
            <p:ph type="sldNum" sz="quarter" idx="5"/>
          </p:nvPr>
        </p:nvSpPr>
        <p:spPr>
          <a:ln/>
        </p:spPr>
        <p:txBody>
          <a:bodyPr/>
          <a:lstStyle/>
          <a:p>
            <a:fld id="{E781F450-0755-401F-92D4-C483B6DEBCE4}" type="slidenum">
              <a:rPr lang="en-GB" altLang="en-US"/>
              <a:pPr/>
              <a:t>20</a:t>
            </a:fld>
            <a:endParaRPr lang="en-GB" altLang="en-US"/>
          </a:p>
        </p:txBody>
      </p:sp>
      <p:sp>
        <p:nvSpPr>
          <p:cNvPr id="401410" name="Rectangle 2">
            <a:extLst>
              <a:ext uri="{FF2B5EF4-FFF2-40B4-BE49-F238E27FC236}">
                <a16:creationId xmlns:a16="http://schemas.microsoft.com/office/drawing/2014/main" id="{1781BDE7-D7D2-4990-9A39-612BA3AAABCD}"/>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1" name="Rectangle 3">
            <a:extLst>
              <a:ext uri="{FF2B5EF4-FFF2-40B4-BE49-F238E27FC236}">
                <a16:creationId xmlns:a16="http://schemas.microsoft.com/office/drawing/2014/main" id="{59D13504-C190-417E-9BCC-FE80E66A3FC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01412" name="Rectangle 4">
            <a:extLst>
              <a:ext uri="{FF2B5EF4-FFF2-40B4-BE49-F238E27FC236}">
                <a16:creationId xmlns:a16="http://schemas.microsoft.com/office/drawing/2014/main" id="{93208080-00BA-4F5A-92CB-D747D5672D3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3" name="Rectangle 5">
            <a:extLst>
              <a:ext uri="{FF2B5EF4-FFF2-40B4-BE49-F238E27FC236}">
                <a16:creationId xmlns:a16="http://schemas.microsoft.com/office/drawing/2014/main" id="{6C7F8274-8D02-4224-94F9-7FE56EABAE83}"/>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4" name="Rectangle 6">
            <a:extLst>
              <a:ext uri="{FF2B5EF4-FFF2-40B4-BE49-F238E27FC236}">
                <a16:creationId xmlns:a16="http://schemas.microsoft.com/office/drawing/2014/main" id="{EA921CE8-E24A-49E6-B6D1-AF4B3C88D64C}"/>
              </a:ext>
            </a:extLst>
          </p:cNvPr>
          <p:cNvSpPr>
            <a:spLocks noGrp="1" noChangeArrowheads="1"/>
          </p:cNvSpPr>
          <p:nvPr>
            <p:ph type="body" idx="1"/>
          </p:nvPr>
        </p:nvSpPr>
        <p:spPr>
          <a:ln/>
        </p:spPr>
        <p:txBody>
          <a:bodyPr lIns="92075" tIns="46038" rIns="92075" bIns="46038"/>
          <a:lstStyle/>
          <a:p>
            <a:endParaRPr lang="en-GB" altLang="en-US" noProof="1"/>
          </a:p>
        </p:txBody>
      </p:sp>
      <p:sp>
        <p:nvSpPr>
          <p:cNvPr id="401415" name="Rectangle 7">
            <a:extLst>
              <a:ext uri="{FF2B5EF4-FFF2-40B4-BE49-F238E27FC236}">
                <a16:creationId xmlns:a16="http://schemas.microsoft.com/office/drawing/2014/main" id="{0DEB8BAD-2654-4201-B66B-DAFB938EC96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158979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D9D2630-E0AB-45E7-ADBF-4726B1090AFB}"/>
              </a:ext>
            </a:extLst>
          </p:cNvPr>
          <p:cNvSpPr>
            <a:spLocks noGrp="1" noChangeArrowheads="1"/>
          </p:cNvSpPr>
          <p:nvPr>
            <p:ph type="sldNum" sz="quarter" idx="5"/>
          </p:nvPr>
        </p:nvSpPr>
        <p:spPr>
          <a:ln/>
        </p:spPr>
        <p:txBody>
          <a:bodyPr/>
          <a:lstStyle/>
          <a:p>
            <a:fld id="{E781F450-0755-401F-92D4-C483B6DEBCE4}" type="slidenum">
              <a:rPr lang="en-GB" altLang="en-US"/>
              <a:pPr/>
              <a:t>21</a:t>
            </a:fld>
            <a:endParaRPr lang="en-GB" altLang="en-US"/>
          </a:p>
        </p:txBody>
      </p:sp>
      <p:sp>
        <p:nvSpPr>
          <p:cNvPr id="401410" name="Rectangle 2">
            <a:extLst>
              <a:ext uri="{FF2B5EF4-FFF2-40B4-BE49-F238E27FC236}">
                <a16:creationId xmlns:a16="http://schemas.microsoft.com/office/drawing/2014/main" id="{1781BDE7-D7D2-4990-9A39-612BA3AAABCD}"/>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1" name="Rectangle 3">
            <a:extLst>
              <a:ext uri="{FF2B5EF4-FFF2-40B4-BE49-F238E27FC236}">
                <a16:creationId xmlns:a16="http://schemas.microsoft.com/office/drawing/2014/main" id="{59D13504-C190-417E-9BCC-FE80E66A3FC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01412" name="Rectangle 4">
            <a:extLst>
              <a:ext uri="{FF2B5EF4-FFF2-40B4-BE49-F238E27FC236}">
                <a16:creationId xmlns:a16="http://schemas.microsoft.com/office/drawing/2014/main" id="{93208080-00BA-4F5A-92CB-D747D5672D3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3" name="Rectangle 5">
            <a:extLst>
              <a:ext uri="{FF2B5EF4-FFF2-40B4-BE49-F238E27FC236}">
                <a16:creationId xmlns:a16="http://schemas.microsoft.com/office/drawing/2014/main" id="{6C7F8274-8D02-4224-94F9-7FE56EABAE83}"/>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4" name="Rectangle 6">
            <a:extLst>
              <a:ext uri="{FF2B5EF4-FFF2-40B4-BE49-F238E27FC236}">
                <a16:creationId xmlns:a16="http://schemas.microsoft.com/office/drawing/2014/main" id="{EA921CE8-E24A-49E6-B6D1-AF4B3C88D64C}"/>
              </a:ext>
            </a:extLst>
          </p:cNvPr>
          <p:cNvSpPr>
            <a:spLocks noGrp="1" noChangeArrowheads="1"/>
          </p:cNvSpPr>
          <p:nvPr>
            <p:ph type="body" idx="1"/>
          </p:nvPr>
        </p:nvSpPr>
        <p:spPr>
          <a:ln/>
        </p:spPr>
        <p:txBody>
          <a:bodyPr lIns="92075" tIns="46038" rIns="92075" bIns="46038"/>
          <a:lstStyle/>
          <a:p>
            <a:endParaRPr lang="en-GB" altLang="en-US" noProof="1"/>
          </a:p>
        </p:txBody>
      </p:sp>
      <p:sp>
        <p:nvSpPr>
          <p:cNvPr id="401415" name="Rectangle 7">
            <a:extLst>
              <a:ext uri="{FF2B5EF4-FFF2-40B4-BE49-F238E27FC236}">
                <a16:creationId xmlns:a16="http://schemas.microsoft.com/office/drawing/2014/main" id="{0DEB8BAD-2654-4201-B66B-DAFB938EC96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287154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D98EB1F-A916-44C1-8791-D42B2BFCB73A}"/>
              </a:ext>
            </a:extLst>
          </p:cNvPr>
          <p:cNvSpPr>
            <a:spLocks noGrp="1" noChangeArrowheads="1"/>
          </p:cNvSpPr>
          <p:nvPr>
            <p:ph type="sldNum" sz="quarter" idx="5"/>
          </p:nvPr>
        </p:nvSpPr>
        <p:spPr>
          <a:ln/>
        </p:spPr>
        <p:txBody>
          <a:bodyPr/>
          <a:lstStyle/>
          <a:p>
            <a:fld id="{240089FA-9916-4D63-8348-746FE67DB25B}" type="slidenum">
              <a:rPr lang="en-GB" altLang="en-US"/>
              <a:pPr/>
              <a:t>22</a:t>
            </a:fld>
            <a:endParaRPr lang="en-GB" altLang="en-US"/>
          </a:p>
        </p:txBody>
      </p:sp>
      <p:sp>
        <p:nvSpPr>
          <p:cNvPr id="403458" name="Rectangle 2">
            <a:extLst>
              <a:ext uri="{FF2B5EF4-FFF2-40B4-BE49-F238E27FC236}">
                <a16:creationId xmlns:a16="http://schemas.microsoft.com/office/drawing/2014/main" id="{059A08C7-4850-43B7-A4C0-1E282F2A05B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7BA81953-1B01-4009-98ED-6816ED35CA5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03460" name="Rectangle 4">
            <a:extLst>
              <a:ext uri="{FF2B5EF4-FFF2-40B4-BE49-F238E27FC236}">
                <a16:creationId xmlns:a16="http://schemas.microsoft.com/office/drawing/2014/main" id="{924DF1DF-E841-4E09-8BC3-C45A2AD519A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C21FED9C-CEE7-4AD9-91F6-304D61FB444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AF98A00C-A803-4899-86F6-5099C65E907B}"/>
              </a:ext>
            </a:extLst>
          </p:cNvPr>
          <p:cNvSpPr>
            <a:spLocks noGrp="1" noChangeArrowheads="1"/>
          </p:cNvSpPr>
          <p:nvPr>
            <p:ph type="body" idx="1"/>
          </p:nvPr>
        </p:nvSpPr>
        <p:spPr>
          <a:ln/>
        </p:spPr>
        <p:txBody>
          <a:bodyPr lIns="92075" tIns="46038" rIns="92075" bIns="46038"/>
          <a:lstStyle/>
          <a:p>
            <a:pPr defTabSz="762000"/>
            <a:endParaRPr lang="en-GB" altLang="en-US" noProof="1"/>
          </a:p>
        </p:txBody>
      </p:sp>
      <p:sp>
        <p:nvSpPr>
          <p:cNvPr id="403463" name="Rectangle 7">
            <a:extLst>
              <a:ext uri="{FF2B5EF4-FFF2-40B4-BE49-F238E27FC236}">
                <a16:creationId xmlns:a16="http://schemas.microsoft.com/office/drawing/2014/main" id="{62623E70-FF07-4C19-9262-C5C6DD67012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23377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D98EB1F-A916-44C1-8791-D42B2BFCB73A}"/>
              </a:ext>
            </a:extLst>
          </p:cNvPr>
          <p:cNvSpPr>
            <a:spLocks noGrp="1" noChangeArrowheads="1"/>
          </p:cNvSpPr>
          <p:nvPr>
            <p:ph type="sldNum" sz="quarter" idx="5"/>
          </p:nvPr>
        </p:nvSpPr>
        <p:spPr>
          <a:ln/>
        </p:spPr>
        <p:txBody>
          <a:bodyPr/>
          <a:lstStyle/>
          <a:p>
            <a:fld id="{240089FA-9916-4D63-8348-746FE67DB25B}" type="slidenum">
              <a:rPr lang="en-GB" altLang="en-US"/>
              <a:pPr/>
              <a:t>23</a:t>
            </a:fld>
            <a:endParaRPr lang="en-GB" altLang="en-US"/>
          </a:p>
        </p:txBody>
      </p:sp>
      <p:sp>
        <p:nvSpPr>
          <p:cNvPr id="403458" name="Rectangle 2">
            <a:extLst>
              <a:ext uri="{FF2B5EF4-FFF2-40B4-BE49-F238E27FC236}">
                <a16:creationId xmlns:a16="http://schemas.microsoft.com/office/drawing/2014/main" id="{059A08C7-4850-43B7-A4C0-1E282F2A05B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7BA81953-1B01-4009-98ED-6816ED35CA5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03460" name="Rectangle 4">
            <a:extLst>
              <a:ext uri="{FF2B5EF4-FFF2-40B4-BE49-F238E27FC236}">
                <a16:creationId xmlns:a16="http://schemas.microsoft.com/office/drawing/2014/main" id="{924DF1DF-E841-4E09-8BC3-C45A2AD519A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C21FED9C-CEE7-4AD9-91F6-304D61FB444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AF98A00C-A803-4899-86F6-5099C65E907B}"/>
              </a:ext>
            </a:extLst>
          </p:cNvPr>
          <p:cNvSpPr>
            <a:spLocks noGrp="1" noChangeArrowheads="1"/>
          </p:cNvSpPr>
          <p:nvPr>
            <p:ph type="body" idx="1"/>
          </p:nvPr>
        </p:nvSpPr>
        <p:spPr>
          <a:ln/>
        </p:spPr>
        <p:txBody>
          <a:bodyPr lIns="92075" tIns="46038" rIns="92075" bIns="46038"/>
          <a:lstStyle/>
          <a:p>
            <a:pPr defTabSz="762000"/>
            <a:endParaRPr lang="en-GB" altLang="en-US" noProof="1"/>
          </a:p>
        </p:txBody>
      </p:sp>
      <p:sp>
        <p:nvSpPr>
          <p:cNvPr id="403463" name="Rectangle 7">
            <a:extLst>
              <a:ext uri="{FF2B5EF4-FFF2-40B4-BE49-F238E27FC236}">
                <a16:creationId xmlns:a16="http://schemas.microsoft.com/office/drawing/2014/main" id="{62623E70-FF07-4C19-9262-C5C6DD67012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675531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D98EB1F-A916-44C1-8791-D42B2BFCB73A}"/>
              </a:ext>
            </a:extLst>
          </p:cNvPr>
          <p:cNvSpPr>
            <a:spLocks noGrp="1" noChangeArrowheads="1"/>
          </p:cNvSpPr>
          <p:nvPr>
            <p:ph type="sldNum" sz="quarter" idx="5"/>
          </p:nvPr>
        </p:nvSpPr>
        <p:spPr>
          <a:ln/>
        </p:spPr>
        <p:txBody>
          <a:bodyPr/>
          <a:lstStyle/>
          <a:p>
            <a:fld id="{240089FA-9916-4D63-8348-746FE67DB25B}" type="slidenum">
              <a:rPr lang="en-GB" altLang="en-US"/>
              <a:pPr/>
              <a:t>24</a:t>
            </a:fld>
            <a:endParaRPr lang="en-GB" altLang="en-US"/>
          </a:p>
        </p:txBody>
      </p:sp>
      <p:sp>
        <p:nvSpPr>
          <p:cNvPr id="403458" name="Rectangle 2">
            <a:extLst>
              <a:ext uri="{FF2B5EF4-FFF2-40B4-BE49-F238E27FC236}">
                <a16:creationId xmlns:a16="http://schemas.microsoft.com/office/drawing/2014/main" id="{059A08C7-4850-43B7-A4C0-1E282F2A05B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7BA81953-1B01-4009-98ED-6816ED35CA5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03460" name="Rectangle 4">
            <a:extLst>
              <a:ext uri="{FF2B5EF4-FFF2-40B4-BE49-F238E27FC236}">
                <a16:creationId xmlns:a16="http://schemas.microsoft.com/office/drawing/2014/main" id="{924DF1DF-E841-4E09-8BC3-C45A2AD519A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C21FED9C-CEE7-4AD9-91F6-304D61FB444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AF98A00C-A803-4899-86F6-5099C65E907B}"/>
              </a:ext>
            </a:extLst>
          </p:cNvPr>
          <p:cNvSpPr>
            <a:spLocks noGrp="1" noChangeArrowheads="1"/>
          </p:cNvSpPr>
          <p:nvPr>
            <p:ph type="body" idx="1"/>
          </p:nvPr>
        </p:nvSpPr>
        <p:spPr>
          <a:ln/>
        </p:spPr>
        <p:txBody>
          <a:bodyPr lIns="92075" tIns="46038" rIns="92075" bIns="46038"/>
          <a:lstStyle/>
          <a:p>
            <a:pPr defTabSz="762000"/>
            <a:endParaRPr lang="en-GB" altLang="en-US" noProof="1"/>
          </a:p>
        </p:txBody>
      </p:sp>
      <p:sp>
        <p:nvSpPr>
          <p:cNvPr id="403463" name="Rectangle 7">
            <a:extLst>
              <a:ext uri="{FF2B5EF4-FFF2-40B4-BE49-F238E27FC236}">
                <a16:creationId xmlns:a16="http://schemas.microsoft.com/office/drawing/2014/main" id="{62623E70-FF07-4C19-9262-C5C6DD67012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9117936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8BC6EEC-E5B0-41F1-9415-A77F1B3A39F4}"/>
              </a:ext>
            </a:extLst>
          </p:cNvPr>
          <p:cNvSpPr>
            <a:spLocks noGrp="1" noChangeArrowheads="1"/>
          </p:cNvSpPr>
          <p:nvPr>
            <p:ph type="sldNum" sz="quarter" idx="5"/>
          </p:nvPr>
        </p:nvSpPr>
        <p:spPr>
          <a:ln/>
        </p:spPr>
        <p:txBody>
          <a:bodyPr/>
          <a:lstStyle/>
          <a:p>
            <a:fld id="{D83AD2AA-909D-4AAF-8133-5EA11A84E24E}" type="slidenum">
              <a:rPr lang="en-GB" altLang="en-US"/>
              <a:pPr/>
              <a:t>25</a:t>
            </a:fld>
            <a:endParaRPr lang="en-GB" altLang="en-US"/>
          </a:p>
        </p:txBody>
      </p:sp>
      <p:sp>
        <p:nvSpPr>
          <p:cNvPr id="405506" name="Rectangle 2">
            <a:extLst>
              <a:ext uri="{FF2B5EF4-FFF2-40B4-BE49-F238E27FC236}">
                <a16:creationId xmlns:a16="http://schemas.microsoft.com/office/drawing/2014/main" id="{F5CB093B-66D4-4472-8C72-F02CC22A1EF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77E106D4-F02A-4208-A949-1396A219C15E}"/>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3</a:t>
            </a:r>
          </a:p>
        </p:txBody>
      </p:sp>
      <p:sp>
        <p:nvSpPr>
          <p:cNvPr id="405508" name="Rectangle 4">
            <a:extLst>
              <a:ext uri="{FF2B5EF4-FFF2-40B4-BE49-F238E27FC236}">
                <a16:creationId xmlns:a16="http://schemas.microsoft.com/office/drawing/2014/main" id="{4193E58F-EE51-4078-A0BA-3B625989E60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F098AE28-DDEF-43ED-86EA-B0661C6E469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7775FE9D-BF6B-499F-91E1-C580FC261470}"/>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0C815DF8-4E14-49CB-93FD-0ACE3F83F7A0}"/>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817087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8BC6EEC-E5B0-41F1-9415-A77F1B3A39F4}"/>
              </a:ext>
            </a:extLst>
          </p:cNvPr>
          <p:cNvSpPr>
            <a:spLocks noGrp="1" noChangeArrowheads="1"/>
          </p:cNvSpPr>
          <p:nvPr>
            <p:ph type="sldNum" sz="quarter" idx="5"/>
          </p:nvPr>
        </p:nvSpPr>
        <p:spPr>
          <a:ln/>
        </p:spPr>
        <p:txBody>
          <a:bodyPr/>
          <a:lstStyle/>
          <a:p>
            <a:fld id="{D83AD2AA-909D-4AAF-8133-5EA11A84E24E}" type="slidenum">
              <a:rPr lang="en-GB" altLang="en-US"/>
              <a:pPr/>
              <a:t>26</a:t>
            </a:fld>
            <a:endParaRPr lang="en-GB" altLang="en-US"/>
          </a:p>
        </p:txBody>
      </p:sp>
      <p:sp>
        <p:nvSpPr>
          <p:cNvPr id="405506" name="Rectangle 2">
            <a:extLst>
              <a:ext uri="{FF2B5EF4-FFF2-40B4-BE49-F238E27FC236}">
                <a16:creationId xmlns:a16="http://schemas.microsoft.com/office/drawing/2014/main" id="{F5CB093B-66D4-4472-8C72-F02CC22A1EF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77E106D4-F02A-4208-A949-1396A219C15E}"/>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3</a:t>
            </a:r>
          </a:p>
        </p:txBody>
      </p:sp>
      <p:sp>
        <p:nvSpPr>
          <p:cNvPr id="405508" name="Rectangle 4">
            <a:extLst>
              <a:ext uri="{FF2B5EF4-FFF2-40B4-BE49-F238E27FC236}">
                <a16:creationId xmlns:a16="http://schemas.microsoft.com/office/drawing/2014/main" id="{4193E58F-EE51-4078-A0BA-3B625989E60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F098AE28-DDEF-43ED-86EA-B0661C6E469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7775FE9D-BF6B-499F-91E1-C580FC261470}"/>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0C815DF8-4E14-49CB-93FD-0ACE3F83F7A0}"/>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877549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AD59B0-0CCA-4561-B517-5A7EE898033F}"/>
              </a:ext>
            </a:extLst>
          </p:cNvPr>
          <p:cNvSpPr>
            <a:spLocks noGrp="1" noChangeArrowheads="1"/>
          </p:cNvSpPr>
          <p:nvPr>
            <p:ph type="sldNum" sz="quarter" idx="5"/>
          </p:nvPr>
        </p:nvSpPr>
        <p:spPr>
          <a:ln/>
        </p:spPr>
        <p:txBody>
          <a:bodyPr/>
          <a:lstStyle/>
          <a:p>
            <a:fld id="{B7E8FCF3-6B19-4400-95DF-16EC6F3BACCC}" type="slidenum">
              <a:rPr lang="en-GB" altLang="en-US"/>
              <a:pPr/>
              <a:t>27</a:t>
            </a:fld>
            <a:endParaRPr lang="en-GB" altLang="en-US"/>
          </a:p>
        </p:txBody>
      </p:sp>
      <p:sp>
        <p:nvSpPr>
          <p:cNvPr id="407554" name="Rectangle 2">
            <a:extLst>
              <a:ext uri="{FF2B5EF4-FFF2-40B4-BE49-F238E27FC236}">
                <a16:creationId xmlns:a16="http://schemas.microsoft.com/office/drawing/2014/main" id="{3D180695-82DC-48FD-BF9C-DF67D7DFD596}"/>
              </a:ext>
            </a:extLst>
          </p:cNvPr>
          <p:cNvSpPr>
            <a:spLocks noGrp="1" noRot="1" noChangeAspect="1" noChangeArrowheads="1" noTextEdit="1"/>
          </p:cNvSpPr>
          <p:nvPr>
            <p:ph type="sldImg"/>
          </p:nvPr>
        </p:nvSpPr>
        <p:spPr>
          <a:xfrm>
            <a:off x="387350" y="712788"/>
            <a:ext cx="6081713" cy="3421062"/>
          </a:xfrm>
          <a:ln/>
        </p:spPr>
      </p:sp>
      <p:sp>
        <p:nvSpPr>
          <p:cNvPr id="407555" name="Rectangle 3">
            <a:extLst>
              <a:ext uri="{FF2B5EF4-FFF2-40B4-BE49-F238E27FC236}">
                <a16:creationId xmlns:a16="http://schemas.microsoft.com/office/drawing/2014/main" id="{3A421D32-6819-4BB6-92C9-E463E00F2AB5}"/>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430937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AD59B0-0CCA-4561-B517-5A7EE898033F}"/>
              </a:ext>
            </a:extLst>
          </p:cNvPr>
          <p:cNvSpPr>
            <a:spLocks noGrp="1" noChangeArrowheads="1"/>
          </p:cNvSpPr>
          <p:nvPr>
            <p:ph type="sldNum" sz="quarter" idx="5"/>
          </p:nvPr>
        </p:nvSpPr>
        <p:spPr>
          <a:ln/>
        </p:spPr>
        <p:txBody>
          <a:bodyPr/>
          <a:lstStyle/>
          <a:p>
            <a:fld id="{B7E8FCF3-6B19-4400-95DF-16EC6F3BACCC}" type="slidenum">
              <a:rPr lang="en-GB" altLang="en-US"/>
              <a:pPr/>
              <a:t>28</a:t>
            </a:fld>
            <a:endParaRPr lang="en-GB" altLang="en-US"/>
          </a:p>
        </p:txBody>
      </p:sp>
      <p:sp>
        <p:nvSpPr>
          <p:cNvPr id="407554" name="Rectangle 2">
            <a:extLst>
              <a:ext uri="{FF2B5EF4-FFF2-40B4-BE49-F238E27FC236}">
                <a16:creationId xmlns:a16="http://schemas.microsoft.com/office/drawing/2014/main" id="{3D180695-82DC-48FD-BF9C-DF67D7DFD596}"/>
              </a:ext>
            </a:extLst>
          </p:cNvPr>
          <p:cNvSpPr>
            <a:spLocks noGrp="1" noRot="1" noChangeAspect="1" noChangeArrowheads="1" noTextEdit="1"/>
          </p:cNvSpPr>
          <p:nvPr>
            <p:ph type="sldImg"/>
          </p:nvPr>
        </p:nvSpPr>
        <p:spPr>
          <a:xfrm>
            <a:off x="387350" y="712788"/>
            <a:ext cx="6081713" cy="3421062"/>
          </a:xfrm>
          <a:ln/>
        </p:spPr>
      </p:sp>
      <p:sp>
        <p:nvSpPr>
          <p:cNvPr id="407555" name="Rectangle 3">
            <a:extLst>
              <a:ext uri="{FF2B5EF4-FFF2-40B4-BE49-F238E27FC236}">
                <a16:creationId xmlns:a16="http://schemas.microsoft.com/office/drawing/2014/main" id="{3A421D32-6819-4BB6-92C9-E463E00F2AB5}"/>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036629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AD59B0-0CCA-4561-B517-5A7EE898033F}"/>
              </a:ext>
            </a:extLst>
          </p:cNvPr>
          <p:cNvSpPr>
            <a:spLocks noGrp="1" noChangeArrowheads="1"/>
          </p:cNvSpPr>
          <p:nvPr>
            <p:ph type="sldNum" sz="quarter" idx="5"/>
          </p:nvPr>
        </p:nvSpPr>
        <p:spPr>
          <a:ln/>
        </p:spPr>
        <p:txBody>
          <a:bodyPr/>
          <a:lstStyle/>
          <a:p>
            <a:fld id="{B7E8FCF3-6B19-4400-95DF-16EC6F3BACCC}" type="slidenum">
              <a:rPr lang="en-GB" altLang="en-US"/>
              <a:pPr/>
              <a:t>29</a:t>
            </a:fld>
            <a:endParaRPr lang="en-GB" altLang="en-US"/>
          </a:p>
        </p:txBody>
      </p:sp>
      <p:sp>
        <p:nvSpPr>
          <p:cNvPr id="407554" name="Rectangle 2">
            <a:extLst>
              <a:ext uri="{FF2B5EF4-FFF2-40B4-BE49-F238E27FC236}">
                <a16:creationId xmlns:a16="http://schemas.microsoft.com/office/drawing/2014/main" id="{3D180695-82DC-48FD-BF9C-DF67D7DFD596}"/>
              </a:ext>
            </a:extLst>
          </p:cNvPr>
          <p:cNvSpPr>
            <a:spLocks noGrp="1" noRot="1" noChangeAspect="1" noChangeArrowheads="1" noTextEdit="1"/>
          </p:cNvSpPr>
          <p:nvPr>
            <p:ph type="sldImg"/>
          </p:nvPr>
        </p:nvSpPr>
        <p:spPr>
          <a:xfrm>
            <a:off x="387350" y="712788"/>
            <a:ext cx="6081713" cy="3421062"/>
          </a:xfrm>
          <a:ln/>
        </p:spPr>
      </p:sp>
      <p:sp>
        <p:nvSpPr>
          <p:cNvPr id="407555" name="Rectangle 3">
            <a:extLst>
              <a:ext uri="{FF2B5EF4-FFF2-40B4-BE49-F238E27FC236}">
                <a16:creationId xmlns:a16="http://schemas.microsoft.com/office/drawing/2014/main" id="{3A421D32-6819-4BB6-92C9-E463E00F2AB5}"/>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373036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AD59B0-0CCA-4561-B517-5A7EE898033F}"/>
              </a:ext>
            </a:extLst>
          </p:cNvPr>
          <p:cNvSpPr>
            <a:spLocks noGrp="1" noChangeArrowheads="1"/>
          </p:cNvSpPr>
          <p:nvPr>
            <p:ph type="sldNum" sz="quarter" idx="5"/>
          </p:nvPr>
        </p:nvSpPr>
        <p:spPr>
          <a:ln/>
        </p:spPr>
        <p:txBody>
          <a:bodyPr/>
          <a:lstStyle/>
          <a:p>
            <a:fld id="{B7E8FCF3-6B19-4400-95DF-16EC6F3BACCC}" type="slidenum">
              <a:rPr lang="en-GB" altLang="en-US"/>
              <a:pPr/>
              <a:t>30</a:t>
            </a:fld>
            <a:endParaRPr lang="en-GB" altLang="en-US"/>
          </a:p>
        </p:txBody>
      </p:sp>
      <p:sp>
        <p:nvSpPr>
          <p:cNvPr id="407554" name="Rectangle 2">
            <a:extLst>
              <a:ext uri="{FF2B5EF4-FFF2-40B4-BE49-F238E27FC236}">
                <a16:creationId xmlns:a16="http://schemas.microsoft.com/office/drawing/2014/main" id="{3D180695-82DC-48FD-BF9C-DF67D7DFD596}"/>
              </a:ext>
            </a:extLst>
          </p:cNvPr>
          <p:cNvSpPr>
            <a:spLocks noGrp="1" noRot="1" noChangeAspect="1" noChangeArrowheads="1" noTextEdit="1"/>
          </p:cNvSpPr>
          <p:nvPr>
            <p:ph type="sldImg"/>
          </p:nvPr>
        </p:nvSpPr>
        <p:spPr>
          <a:xfrm>
            <a:off x="387350" y="712788"/>
            <a:ext cx="6081713" cy="3421062"/>
          </a:xfrm>
          <a:ln/>
        </p:spPr>
      </p:sp>
      <p:sp>
        <p:nvSpPr>
          <p:cNvPr id="407555" name="Rectangle 3">
            <a:extLst>
              <a:ext uri="{FF2B5EF4-FFF2-40B4-BE49-F238E27FC236}">
                <a16:creationId xmlns:a16="http://schemas.microsoft.com/office/drawing/2014/main" id="{3A421D32-6819-4BB6-92C9-E463E00F2AB5}"/>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8548271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4799E5-7F52-4ECD-B773-A7E69AE11A66}"/>
              </a:ext>
            </a:extLst>
          </p:cNvPr>
          <p:cNvSpPr>
            <a:spLocks noGrp="1" noChangeArrowheads="1"/>
          </p:cNvSpPr>
          <p:nvPr>
            <p:ph type="sldNum" sz="quarter" idx="5"/>
          </p:nvPr>
        </p:nvSpPr>
        <p:spPr>
          <a:ln/>
        </p:spPr>
        <p:txBody>
          <a:bodyPr/>
          <a:lstStyle/>
          <a:p>
            <a:fld id="{99B13089-3000-46AC-8A1E-82ED70FB23B1}" type="slidenum">
              <a:rPr lang="en-GB" altLang="en-US"/>
              <a:pPr/>
              <a:t>31</a:t>
            </a:fld>
            <a:endParaRPr lang="en-GB" altLang="en-US"/>
          </a:p>
        </p:txBody>
      </p:sp>
      <p:sp>
        <p:nvSpPr>
          <p:cNvPr id="432130" name="Rectangle 7">
            <a:extLst>
              <a:ext uri="{FF2B5EF4-FFF2-40B4-BE49-F238E27FC236}">
                <a16:creationId xmlns:a16="http://schemas.microsoft.com/office/drawing/2014/main" id="{828CDDBD-FD0C-4366-96B6-6067F6BA5800}"/>
              </a:ext>
            </a:extLst>
          </p:cNvPr>
          <p:cNvSpPr txBox="1">
            <a:spLocks noGrp="1" noChangeArrowheads="1"/>
          </p:cNvSpPr>
          <p:nvPr/>
        </p:nvSpPr>
        <p:spPr bwMode="auto">
          <a:xfrm>
            <a:off x="3886200" y="8696325"/>
            <a:ext cx="29718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1A9152A0-7E66-4B8F-9CA0-2B86D238C01E}" type="slidenum">
              <a:rPr lang="en-GB" altLang="en-US" sz="1200"/>
              <a:pPr algn="r"/>
              <a:t>31</a:t>
            </a:fld>
            <a:endParaRPr lang="en-GB" altLang="en-US" sz="1200"/>
          </a:p>
        </p:txBody>
      </p:sp>
      <p:sp>
        <p:nvSpPr>
          <p:cNvPr id="432131" name="Rectangle 2">
            <a:extLst>
              <a:ext uri="{FF2B5EF4-FFF2-40B4-BE49-F238E27FC236}">
                <a16:creationId xmlns:a16="http://schemas.microsoft.com/office/drawing/2014/main" id="{57CD3F4D-B46C-40A1-8A63-30C54F001797}"/>
              </a:ext>
            </a:extLst>
          </p:cNvPr>
          <p:cNvSpPr>
            <a:spLocks noGrp="1" noRot="1" noChangeAspect="1" noChangeArrowheads="1" noTextEdit="1"/>
          </p:cNvSpPr>
          <p:nvPr>
            <p:ph type="sldImg"/>
          </p:nvPr>
        </p:nvSpPr>
        <p:spPr>
          <a:xfrm>
            <a:off x="388938" y="712788"/>
            <a:ext cx="6081712" cy="3421062"/>
          </a:xfrm>
          <a:ln/>
        </p:spPr>
      </p:sp>
      <p:sp>
        <p:nvSpPr>
          <p:cNvPr id="432132" name="Rectangle 3">
            <a:extLst>
              <a:ext uri="{FF2B5EF4-FFF2-40B4-BE49-F238E27FC236}">
                <a16:creationId xmlns:a16="http://schemas.microsoft.com/office/drawing/2014/main" id="{4C331E7D-ADF0-404B-B80A-802C1CEFB5DB}"/>
              </a:ext>
            </a:extLst>
          </p:cNvPr>
          <p:cNvSpPr>
            <a:spLocks noGrp="1" noChangeArrowheads="1"/>
          </p:cNvSpPr>
          <p:nvPr>
            <p:ph type="body" idx="1"/>
          </p:nvPr>
        </p:nvSpPr>
        <p:spPr>
          <a:xfrm>
            <a:off x="914400" y="4348163"/>
            <a:ext cx="5029200" cy="4135437"/>
          </a:xfrm>
          <a:noFill/>
        </p:spPr>
        <p:txBody>
          <a:bodyPr/>
          <a:lstStyle/>
          <a:p>
            <a:endParaRPr lang="en-US" altLang="en-US"/>
          </a:p>
        </p:txBody>
      </p:sp>
    </p:spTree>
    <p:extLst>
      <p:ext uri="{BB962C8B-B14F-4D97-AF65-F5344CB8AC3E}">
        <p14:creationId xmlns:p14="http://schemas.microsoft.com/office/powerpoint/2010/main" val="21643453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0D44D65-4BD8-468E-8BFD-F1E1BEDE9A1F}"/>
              </a:ext>
            </a:extLst>
          </p:cNvPr>
          <p:cNvSpPr>
            <a:spLocks noGrp="1" noChangeArrowheads="1"/>
          </p:cNvSpPr>
          <p:nvPr>
            <p:ph type="sldNum" sz="quarter" idx="5"/>
          </p:nvPr>
        </p:nvSpPr>
        <p:spPr>
          <a:ln/>
        </p:spPr>
        <p:txBody>
          <a:bodyPr/>
          <a:lstStyle/>
          <a:p>
            <a:fld id="{F1BC7AE3-4C2E-46AC-AFBC-186BEE7DE3A6}" type="slidenum">
              <a:rPr lang="en-GB" altLang="en-US"/>
              <a:pPr/>
              <a:t>32</a:t>
            </a:fld>
            <a:endParaRPr lang="en-GB" altLang="en-US"/>
          </a:p>
        </p:txBody>
      </p:sp>
      <p:sp>
        <p:nvSpPr>
          <p:cNvPr id="411650" name="Rectangle 2">
            <a:extLst>
              <a:ext uri="{FF2B5EF4-FFF2-40B4-BE49-F238E27FC236}">
                <a16:creationId xmlns:a16="http://schemas.microsoft.com/office/drawing/2014/main" id="{13F307C8-F528-41D3-B6EA-DE892E90D24C}"/>
              </a:ext>
            </a:extLst>
          </p:cNvPr>
          <p:cNvSpPr>
            <a:spLocks noGrp="1" noRot="1" noChangeAspect="1" noChangeArrowheads="1" noTextEdit="1"/>
          </p:cNvSpPr>
          <p:nvPr>
            <p:ph type="sldImg"/>
          </p:nvPr>
        </p:nvSpPr>
        <p:spPr>
          <a:xfrm>
            <a:off x="387350" y="712788"/>
            <a:ext cx="6081713" cy="3421062"/>
          </a:xfrm>
          <a:ln/>
        </p:spPr>
      </p:sp>
      <p:sp>
        <p:nvSpPr>
          <p:cNvPr id="411651" name="Rectangle 3">
            <a:extLst>
              <a:ext uri="{FF2B5EF4-FFF2-40B4-BE49-F238E27FC236}">
                <a16:creationId xmlns:a16="http://schemas.microsoft.com/office/drawing/2014/main" id="{78DAC25D-406D-4739-A11F-A8161F76FC77}"/>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6210274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D19D894-2841-45A4-A5B1-A2ACE9195D2B}"/>
              </a:ext>
            </a:extLst>
          </p:cNvPr>
          <p:cNvSpPr>
            <a:spLocks noGrp="1" noChangeArrowheads="1"/>
          </p:cNvSpPr>
          <p:nvPr>
            <p:ph type="sldNum" sz="quarter" idx="5"/>
          </p:nvPr>
        </p:nvSpPr>
        <p:spPr>
          <a:ln/>
        </p:spPr>
        <p:txBody>
          <a:bodyPr/>
          <a:lstStyle/>
          <a:p>
            <a:fld id="{93A06DB7-D9A1-4667-9A37-D6B251E3878D}" type="slidenum">
              <a:rPr lang="en-GB" altLang="en-US"/>
              <a:pPr/>
              <a:t>33</a:t>
            </a:fld>
            <a:endParaRPr lang="en-GB" altLang="en-US"/>
          </a:p>
        </p:txBody>
      </p:sp>
      <p:sp>
        <p:nvSpPr>
          <p:cNvPr id="413698" name="Rectangle 2">
            <a:extLst>
              <a:ext uri="{FF2B5EF4-FFF2-40B4-BE49-F238E27FC236}">
                <a16:creationId xmlns:a16="http://schemas.microsoft.com/office/drawing/2014/main" id="{2627C120-06EE-4CD1-90DA-3F764F70894F}"/>
              </a:ext>
            </a:extLst>
          </p:cNvPr>
          <p:cNvSpPr>
            <a:spLocks noGrp="1" noRot="1" noChangeAspect="1" noChangeArrowheads="1" noTextEdit="1"/>
          </p:cNvSpPr>
          <p:nvPr>
            <p:ph type="sldImg"/>
          </p:nvPr>
        </p:nvSpPr>
        <p:spPr>
          <a:xfrm>
            <a:off x="387350" y="712788"/>
            <a:ext cx="6081713" cy="3421062"/>
          </a:xfrm>
          <a:ln/>
        </p:spPr>
      </p:sp>
      <p:sp>
        <p:nvSpPr>
          <p:cNvPr id="413699" name="Rectangle 3">
            <a:extLst>
              <a:ext uri="{FF2B5EF4-FFF2-40B4-BE49-F238E27FC236}">
                <a16:creationId xmlns:a16="http://schemas.microsoft.com/office/drawing/2014/main" id="{CC74A386-C175-4043-8BBD-13BE7EBD0094}"/>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1341011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79F603D-8C75-413A-8D5B-6D2366CCF3D7}"/>
              </a:ext>
            </a:extLst>
          </p:cNvPr>
          <p:cNvSpPr>
            <a:spLocks noGrp="1" noChangeArrowheads="1"/>
          </p:cNvSpPr>
          <p:nvPr>
            <p:ph type="sldNum" sz="quarter" idx="5"/>
          </p:nvPr>
        </p:nvSpPr>
        <p:spPr>
          <a:ln/>
        </p:spPr>
        <p:txBody>
          <a:bodyPr/>
          <a:lstStyle/>
          <a:p>
            <a:fld id="{7A09B0F5-EB4B-4DE9-96D7-1987670EB9FC}" type="slidenum">
              <a:rPr lang="en-GB" altLang="en-US"/>
              <a:pPr/>
              <a:t>34</a:t>
            </a:fld>
            <a:endParaRPr lang="en-GB" altLang="en-US"/>
          </a:p>
        </p:txBody>
      </p:sp>
      <p:sp>
        <p:nvSpPr>
          <p:cNvPr id="417794" name="Rectangle 2">
            <a:extLst>
              <a:ext uri="{FF2B5EF4-FFF2-40B4-BE49-F238E27FC236}">
                <a16:creationId xmlns:a16="http://schemas.microsoft.com/office/drawing/2014/main" id="{1BFAEFCE-0E40-4715-B317-44B13A5B861E}"/>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5" name="Rectangle 3">
            <a:extLst>
              <a:ext uri="{FF2B5EF4-FFF2-40B4-BE49-F238E27FC236}">
                <a16:creationId xmlns:a16="http://schemas.microsoft.com/office/drawing/2014/main" id="{D8CB9768-E156-4264-B3DA-45B37731DF6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7796" name="Rectangle 4">
            <a:extLst>
              <a:ext uri="{FF2B5EF4-FFF2-40B4-BE49-F238E27FC236}">
                <a16:creationId xmlns:a16="http://schemas.microsoft.com/office/drawing/2014/main" id="{A8AEF1E1-9C98-4685-8277-816D4E75400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7" name="Rectangle 5">
            <a:extLst>
              <a:ext uri="{FF2B5EF4-FFF2-40B4-BE49-F238E27FC236}">
                <a16:creationId xmlns:a16="http://schemas.microsoft.com/office/drawing/2014/main" id="{CD8F763F-3908-4119-99B2-486DE56B1E2B}"/>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8" name="Rectangle 6">
            <a:extLst>
              <a:ext uri="{FF2B5EF4-FFF2-40B4-BE49-F238E27FC236}">
                <a16:creationId xmlns:a16="http://schemas.microsoft.com/office/drawing/2014/main" id="{572F5D46-FF78-488E-B630-A5AF123ED527}"/>
              </a:ext>
            </a:extLst>
          </p:cNvPr>
          <p:cNvSpPr>
            <a:spLocks noGrp="1" noChangeArrowheads="1"/>
          </p:cNvSpPr>
          <p:nvPr>
            <p:ph type="body" idx="1"/>
          </p:nvPr>
        </p:nvSpPr>
        <p:spPr>
          <a:ln/>
        </p:spPr>
        <p:txBody>
          <a:bodyPr lIns="92075" tIns="46038" rIns="92075" bIns="46038"/>
          <a:lstStyle/>
          <a:p>
            <a:endParaRPr lang="en-GB" altLang="en-US" noProof="1"/>
          </a:p>
        </p:txBody>
      </p:sp>
      <p:sp>
        <p:nvSpPr>
          <p:cNvPr id="417799" name="Rectangle 7">
            <a:extLst>
              <a:ext uri="{FF2B5EF4-FFF2-40B4-BE49-F238E27FC236}">
                <a16:creationId xmlns:a16="http://schemas.microsoft.com/office/drawing/2014/main" id="{AA2154C7-D3C6-4125-BD40-986E37164FA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975329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79F603D-8C75-413A-8D5B-6D2366CCF3D7}"/>
              </a:ext>
            </a:extLst>
          </p:cNvPr>
          <p:cNvSpPr>
            <a:spLocks noGrp="1" noChangeArrowheads="1"/>
          </p:cNvSpPr>
          <p:nvPr>
            <p:ph type="sldNum" sz="quarter" idx="5"/>
          </p:nvPr>
        </p:nvSpPr>
        <p:spPr>
          <a:ln/>
        </p:spPr>
        <p:txBody>
          <a:bodyPr/>
          <a:lstStyle/>
          <a:p>
            <a:fld id="{7A09B0F5-EB4B-4DE9-96D7-1987670EB9FC}" type="slidenum">
              <a:rPr lang="en-GB" altLang="en-US"/>
              <a:pPr/>
              <a:t>35</a:t>
            </a:fld>
            <a:endParaRPr lang="en-GB" altLang="en-US"/>
          </a:p>
        </p:txBody>
      </p:sp>
      <p:sp>
        <p:nvSpPr>
          <p:cNvPr id="417794" name="Rectangle 2">
            <a:extLst>
              <a:ext uri="{FF2B5EF4-FFF2-40B4-BE49-F238E27FC236}">
                <a16:creationId xmlns:a16="http://schemas.microsoft.com/office/drawing/2014/main" id="{1BFAEFCE-0E40-4715-B317-44B13A5B861E}"/>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5" name="Rectangle 3">
            <a:extLst>
              <a:ext uri="{FF2B5EF4-FFF2-40B4-BE49-F238E27FC236}">
                <a16:creationId xmlns:a16="http://schemas.microsoft.com/office/drawing/2014/main" id="{D8CB9768-E156-4264-B3DA-45B37731DF6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7796" name="Rectangle 4">
            <a:extLst>
              <a:ext uri="{FF2B5EF4-FFF2-40B4-BE49-F238E27FC236}">
                <a16:creationId xmlns:a16="http://schemas.microsoft.com/office/drawing/2014/main" id="{A8AEF1E1-9C98-4685-8277-816D4E75400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7" name="Rectangle 5">
            <a:extLst>
              <a:ext uri="{FF2B5EF4-FFF2-40B4-BE49-F238E27FC236}">
                <a16:creationId xmlns:a16="http://schemas.microsoft.com/office/drawing/2014/main" id="{CD8F763F-3908-4119-99B2-486DE56B1E2B}"/>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8" name="Rectangle 6">
            <a:extLst>
              <a:ext uri="{FF2B5EF4-FFF2-40B4-BE49-F238E27FC236}">
                <a16:creationId xmlns:a16="http://schemas.microsoft.com/office/drawing/2014/main" id="{572F5D46-FF78-488E-B630-A5AF123ED527}"/>
              </a:ext>
            </a:extLst>
          </p:cNvPr>
          <p:cNvSpPr>
            <a:spLocks noGrp="1" noChangeArrowheads="1"/>
          </p:cNvSpPr>
          <p:nvPr>
            <p:ph type="body" idx="1"/>
          </p:nvPr>
        </p:nvSpPr>
        <p:spPr>
          <a:ln/>
        </p:spPr>
        <p:txBody>
          <a:bodyPr lIns="92075" tIns="46038" rIns="92075" bIns="46038"/>
          <a:lstStyle/>
          <a:p>
            <a:endParaRPr lang="en-GB" altLang="en-US" noProof="1"/>
          </a:p>
        </p:txBody>
      </p:sp>
      <p:sp>
        <p:nvSpPr>
          <p:cNvPr id="417799" name="Rectangle 7">
            <a:extLst>
              <a:ext uri="{FF2B5EF4-FFF2-40B4-BE49-F238E27FC236}">
                <a16:creationId xmlns:a16="http://schemas.microsoft.com/office/drawing/2014/main" id="{AA2154C7-D3C6-4125-BD40-986E37164FA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972966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79F603D-8C75-413A-8D5B-6D2366CCF3D7}"/>
              </a:ext>
            </a:extLst>
          </p:cNvPr>
          <p:cNvSpPr>
            <a:spLocks noGrp="1" noChangeArrowheads="1"/>
          </p:cNvSpPr>
          <p:nvPr>
            <p:ph type="sldNum" sz="quarter" idx="5"/>
          </p:nvPr>
        </p:nvSpPr>
        <p:spPr>
          <a:ln/>
        </p:spPr>
        <p:txBody>
          <a:bodyPr/>
          <a:lstStyle/>
          <a:p>
            <a:fld id="{7A09B0F5-EB4B-4DE9-96D7-1987670EB9FC}" type="slidenum">
              <a:rPr lang="en-GB" altLang="en-US"/>
              <a:pPr/>
              <a:t>36</a:t>
            </a:fld>
            <a:endParaRPr lang="en-GB" altLang="en-US"/>
          </a:p>
        </p:txBody>
      </p:sp>
      <p:sp>
        <p:nvSpPr>
          <p:cNvPr id="417794" name="Rectangle 2">
            <a:extLst>
              <a:ext uri="{FF2B5EF4-FFF2-40B4-BE49-F238E27FC236}">
                <a16:creationId xmlns:a16="http://schemas.microsoft.com/office/drawing/2014/main" id="{1BFAEFCE-0E40-4715-B317-44B13A5B861E}"/>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5" name="Rectangle 3">
            <a:extLst>
              <a:ext uri="{FF2B5EF4-FFF2-40B4-BE49-F238E27FC236}">
                <a16:creationId xmlns:a16="http://schemas.microsoft.com/office/drawing/2014/main" id="{D8CB9768-E156-4264-B3DA-45B37731DF6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7796" name="Rectangle 4">
            <a:extLst>
              <a:ext uri="{FF2B5EF4-FFF2-40B4-BE49-F238E27FC236}">
                <a16:creationId xmlns:a16="http://schemas.microsoft.com/office/drawing/2014/main" id="{A8AEF1E1-9C98-4685-8277-816D4E75400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7" name="Rectangle 5">
            <a:extLst>
              <a:ext uri="{FF2B5EF4-FFF2-40B4-BE49-F238E27FC236}">
                <a16:creationId xmlns:a16="http://schemas.microsoft.com/office/drawing/2014/main" id="{CD8F763F-3908-4119-99B2-486DE56B1E2B}"/>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8" name="Rectangle 6">
            <a:extLst>
              <a:ext uri="{FF2B5EF4-FFF2-40B4-BE49-F238E27FC236}">
                <a16:creationId xmlns:a16="http://schemas.microsoft.com/office/drawing/2014/main" id="{572F5D46-FF78-488E-B630-A5AF123ED527}"/>
              </a:ext>
            </a:extLst>
          </p:cNvPr>
          <p:cNvSpPr>
            <a:spLocks noGrp="1" noChangeArrowheads="1"/>
          </p:cNvSpPr>
          <p:nvPr>
            <p:ph type="body" idx="1"/>
          </p:nvPr>
        </p:nvSpPr>
        <p:spPr>
          <a:ln/>
        </p:spPr>
        <p:txBody>
          <a:bodyPr lIns="92075" tIns="46038" rIns="92075" bIns="46038"/>
          <a:lstStyle/>
          <a:p>
            <a:endParaRPr lang="en-GB" altLang="en-US" noProof="1"/>
          </a:p>
        </p:txBody>
      </p:sp>
      <p:sp>
        <p:nvSpPr>
          <p:cNvPr id="417799" name="Rectangle 7">
            <a:extLst>
              <a:ext uri="{FF2B5EF4-FFF2-40B4-BE49-F238E27FC236}">
                <a16:creationId xmlns:a16="http://schemas.microsoft.com/office/drawing/2014/main" id="{AA2154C7-D3C6-4125-BD40-986E37164FA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1851806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79F603D-8C75-413A-8D5B-6D2366CCF3D7}"/>
              </a:ext>
            </a:extLst>
          </p:cNvPr>
          <p:cNvSpPr>
            <a:spLocks noGrp="1" noChangeArrowheads="1"/>
          </p:cNvSpPr>
          <p:nvPr>
            <p:ph type="sldNum" sz="quarter" idx="5"/>
          </p:nvPr>
        </p:nvSpPr>
        <p:spPr>
          <a:ln/>
        </p:spPr>
        <p:txBody>
          <a:bodyPr/>
          <a:lstStyle/>
          <a:p>
            <a:fld id="{7A09B0F5-EB4B-4DE9-96D7-1987670EB9FC}" type="slidenum">
              <a:rPr lang="en-GB" altLang="en-US"/>
              <a:pPr/>
              <a:t>37</a:t>
            </a:fld>
            <a:endParaRPr lang="en-GB" altLang="en-US"/>
          </a:p>
        </p:txBody>
      </p:sp>
      <p:sp>
        <p:nvSpPr>
          <p:cNvPr id="417794" name="Rectangle 2">
            <a:extLst>
              <a:ext uri="{FF2B5EF4-FFF2-40B4-BE49-F238E27FC236}">
                <a16:creationId xmlns:a16="http://schemas.microsoft.com/office/drawing/2014/main" id="{1BFAEFCE-0E40-4715-B317-44B13A5B861E}"/>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5" name="Rectangle 3">
            <a:extLst>
              <a:ext uri="{FF2B5EF4-FFF2-40B4-BE49-F238E27FC236}">
                <a16:creationId xmlns:a16="http://schemas.microsoft.com/office/drawing/2014/main" id="{D8CB9768-E156-4264-B3DA-45B37731DF6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417796" name="Rectangle 4">
            <a:extLst>
              <a:ext uri="{FF2B5EF4-FFF2-40B4-BE49-F238E27FC236}">
                <a16:creationId xmlns:a16="http://schemas.microsoft.com/office/drawing/2014/main" id="{A8AEF1E1-9C98-4685-8277-816D4E754009}"/>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7" name="Rectangle 5">
            <a:extLst>
              <a:ext uri="{FF2B5EF4-FFF2-40B4-BE49-F238E27FC236}">
                <a16:creationId xmlns:a16="http://schemas.microsoft.com/office/drawing/2014/main" id="{CD8F763F-3908-4119-99B2-486DE56B1E2B}"/>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8" name="Rectangle 6">
            <a:extLst>
              <a:ext uri="{FF2B5EF4-FFF2-40B4-BE49-F238E27FC236}">
                <a16:creationId xmlns:a16="http://schemas.microsoft.com/office/drawing/2014/main" id="{572F5D46-FF78-488E-B630-A5AF123ED527}"/>
              </a:ext>
            </a:extLst>
          </p:cNvPr>
          <p:cNvSpPr>
            <a:spLocks noGrp="1" noChangeArrowheads="1"/>
          </p:cNvSpPr>
          <p:nvPr>
            <p:ph type="body" idx="1"/>
          </p:nvPr>
        </p:nvSpPr>
        <p:spPr>
          <a:ln/>
        </p:spPr>
        <p:txBody>
          <a:bodyPr lIns="92075" tIns="46038" rIns="92075" bIns="46038"/>
          <a:lstStyle/>
          <a:p>
            <a:endParaRPr lang="en-GB" altLang="en-US" noProof="1"/>
          </a:p>
        </p:txBody>
      </p:sp>
      <p:sp>
        <p:nvSpPr>
          <p:cNvPr id="417799" name="Rectangle 7">
            <a:extLst>
              <a:ext uri="{FF2B5EF4-FFF2-40B4-BE49-F238E27FC236}">
                <a16:creationId xmlns:a16="http://schemas.microsoft.com/office/drawing/2014/main" id="{AA2154C7-D3C6-4125-BD40-986E37164FA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0748459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646290DF-46B0-4AC0-82A3-058C6E89ADDF}" type="slidenum">
              <a:rPr lang="en-GB" altLang="en-US"/>
              <a:pPr/>
              <a:t>38</a:t>
            </a:fld>
            <a:endParaRPr lang="en-GB" altLang="en-US"/>
          </a:p>
        </p:txBody>
      </p:sp>
      <p:sp>
        <p:nvSpPr>
          <p:cNvPr id="38297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7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8</a:t>
            </a:r>
          </a:p>
        </p:txBody>
      </p:sp>
      <p:sp>
        <p:nvSpPr>
          <p:cNvPr id="38298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2" name="Rectangle 6"/>
          <p:cNvSpPr>
            <a:spLocks noGrp="1" noChangeArrowheads="1"/>
          </p:cNvSpPr>
          <p:nvPr>
            <p:ph type="body" idx="1"/>
          </p:nvPr>
        </p:nvSpPr>
        <p:spPr>
          <a:ln/>
        </p:spPr>
        <p:txBody>
          <a:bodyPr lIns="92075" tIns="46038" rIns="92075" bIns="46038"/>
          <a:lstStyle/>
          <a:p>
            <a:endParaRPr lang="en-GB" altLang="en-US" noProof="1"/>
          </a:p>
        </p:txBody>
      </p:sp>
      <p:sp>
        <p:nvSpPr>
          <p:cNvPr id="38298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015114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endParaRPr lang="en-US" dirty="0"/>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Only">
    <p:bg>
      <p:bgPr>
        <a:solidFill>
          <a:srgbClr val="E0E6E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F28744-865A-4CC2-95C1-2D805F522F18}"/>
              </a:ext>
            </a:extLst>
          </p:cNvPr>
          <p:cNvSpPr>
            <a:spLocks noGrp="1"/>
          </p:cNvSpPr>
          <p:nvPr>
            <p:ph type="title"/>
          </p:nvPr>
        </p:nvSpPr>
        <p:spPr>
          <a:xfrm>
            <a:off x="402167" y="228603"/>
            <a:ext cx="11379200" cy="758825"/>
          </a:xfrm>
          <a:effectLst/>
        </p:spPr>
        <p:txBody>
          <a:bodyPr/>
          <a:lstStyle>
            <a:lvl1pPr>
              <a:defRPr>
                <a:effectLst>
                  <a:outerShdw blurRad="25400" dist="38100" dir="2700000" algn="ctr" rotWithShape="0">
                    <a:schemeClr val="tx1"/>
                  </a:outerShdw>
                </a:effectLst>
              </a:defRPr>
            </a:lvl1pPr>
          </a:lstStyle>
          <a:p>
            <a:r>
              <a:rPr lang="en-US" dirty="0"/>
              <a:t>Click to edit Master title style</a:t>
            </a:r>
            <a:endParaRPr lang="en-GB" dirty="0"/>
          </a:p>
        </p:txBody>
      </p:sp>
    </p:spTree>
    <p:extLst>
      <p:ext uri="{BB962C8B-B14F-4D97-AF65-F5344CB8AC3E}">
        <p14:creationId xmlns:p14="http://schemas.microsoft.com/office/powerpoint/2010/main" val="7376280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endParaRPr lang="en-US" dirty="0"/>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22" r:id="rId6"/>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endParaRPr lang="en-US" dirty="0"/>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7rH_W5PN8ns" TargetMode="External"/><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OiJSEZYCljU" TargetMode="External"/><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dirty="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p:txBody>
          <a:bodyPr/>
          <a:lstStyle/>
          <a:p>
            <a:r>
              <a:rPr lang="en-GB" altLang="en-US" sz="2400" dirty="0"/>
              <a:t>Week 5 – </a:t>
            </a:r>
            <a:r>
              <a:rPr lang="en-GB" altLang="en-US" dirty="0"/>
              <a:t>Market Structure and Profit Maximisation</a:t>
            </a:r>
            <a:endParaRPr lang="en-GB" altLang="en-US" sz="2400" dirty="0"/>
          </a:p>
          <a:p>
            <a:r>
              <a:rPr lang="en-GB" altLang="en-US" sz="2000" dirty="0"/>
              <a:t>Sloman </a:t>
            </a:r>
            <a:r>
              <a:rPr lang="en-GB" altLang="en-US" sz="2000" i="1" dirty="0"/>
              <a:t>et al</a:t>
            </a:r>
            <a:r>
              <a:rPr lang="en-GB" altLang="en-US" sz="2000" dirty="0"/>
              <a:t>., 2023, Chapters 11 &amp; 12</a:t>
            </a:r>
          </a:p>
          <a:p>
            <a:endParaRPr lang="en-GB" dirty="0"/>
          </a:p>
        </p:txBody>
      </p:sp>
    </p:spTree>
    <p:extLst>
      <p:ext uri="{BB962C8B-B14F-4D97-AF65-F5344CB8AC3E}">
        <p14:creationId xmlns:p14="http://schemas.microsoft.com/office/powerpoint/2010/main" val="155620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469A-482A-6AA1-B654-2A0291684685}"/>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26068D52-6276-4F36-8569-8B0B87E697B9}"/>
              </a:ext>
            </a:extLst>
          </p:cNvPr>
          <p:cNvSpPr>
            <a:spLocks noGrp="1"/>
          </p:cNvSpPr>
          <p:nvPr>
            <p:ph idx="1"/>
          </p:nvPr>
        </p:nvSpPr>
        <p:spPr/>
        <p:txBody>
          <a:bodyPr/>
          <a:lstStyle/>
          <a:p>
            <a:pPr marL="0" indent="0">
              <a:buNone/>
            </a:pPr>
            <a:r>
              <a:rPr lang="en-MY" dirty="0"/>
              <a:t>Session Aims</a:t>
            </a:r>
          </a:p>
          <a:p>
            <a:r>
              <a:rPr lang="en-MY" sz="2000" dirty="0"/>
              <a:t>To understand the different types of market structures (perfect competition, monopoly and imperfect competition (oligopoly, monopolistic competition)</a:t>
            </a:r>
          </a:p>
          <a:p>
            <a:pPr lvl="1"/>
            <a:r>
              <a:rPr lang="en-MY" dirty="0"/>
              <a:t>What are the assumptions for a type market structure?</a:t>
            </a:r>
          </a:p>
          <a:p>
            <a:pPr lvl="1"/>
            <a:r>
              <a:rPr lang="en-MY" dirty="0"/>
              <a:t>What are the implications of these assumptions? How do firms behave?</a:t>
            </a:r>
          </a:p>
          <a:p>
            <a:pPr lvl="1"/>
            <a:r>
              <a:rPr lang="en-MY" dirty="0"/>
              <a:t>Are there any advantages or disadvantages for a particular type of market structure? Is the market structure favourable to consumers?</a:t>
            </a:r>
          </a:p>
          <a:p>
            <a:r>
              <a:rPr lang="en-MY" sz="2000" dirty="0"/>
              <a:t>To compare/contrast the different types of market structure – what are the main characteristics of the market structures?</a:t>
            </a:r>
          </a:p>
          <a:p>
            <a:r>
              <a:rPr lang="en-MY" sz="2000" dirty="0"/>
              <a:t>To provide some examples of market structures</a:t>
            </a:r>
          </a:p>
          <a:p>
            <a:pPr lvl="1"/>
            <a:endParaRPr lang="en-MY" dirty="0"/>
          </a:p>
          <a:p>
            <a:endParaRPr lang="en-MY" dirty="0"/>
          </a:p>
        </p:txBody>
      </p:sp>
    </p:spTree>
    <p:extLst>
      <p:ext uri="{BB962C8B-B14F-4D97-AF65-F5344CB8AC3E}">
        <p14:creationId xmlns:p14="http://schemas.microsoft.com/office/powerpoint/2010/main" val="2043369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8526-D4E2-3B02-226F-AC762A5C77FF}"/>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DEEFEBE0-DBF2-29D7-C4C6-F701E2695E99}"/>
              </a:ext>
            </a:extLst>
          </p:cNvPr>
          <p:cNvSpPr>
            <a:spLocks noGrp="1"/>
          </p:cNvSpPr>
          <p:nvPr>
            <p:ph idx="1"/>
          </p:nvPr>
        </p:nvSpPr>
        <p:spPr/>
        <p:txBody>
          <a:bodyPr>
            <a:normAutofit/>
          </a:bodyPr>
          <a:lstStyle/>
          <a:p>
            <a:r>
              <a:rPr lang="en-MY" dirty="0">
                <a:latin typeface="+mn-lt"/>
              </a:rPr>
              <a:t>Sloman et al (2023) </a:t>
            </a:r>
          </a:p>
          <a:p>
            <a:pPr lvl="1"/>
            <a:r>
              <a:rPr lang="en-MY" dirty="0">
                <a:latin typeface="+mn-lt"/>
              </a:rPr>
              <a:t>Chapter 11.1 – 11.3 </a:t>
            </a:r>
          </a:p>
          <a:p>
            <a:pPr lvl="1"/>
            <a:r>
              <a:rPr lang="en-MY" dirty="0">
                <a:latin typeface="+mn-lt"/>
              </a:rPr>
              <a:t>Boxes 11.1 &amp; 11.2 </a:t>
            </a:r>
          </a:p>
          <a:p>
            <a:pPr lvl="1"/>
            <a:r>
              <a:rPr lang="en-MY" dirty="0">
                <a:latin typeface="+mn-lt"/>
              </a:rPr>
              <a:t>Chapter 12.1 – 12.2 </a:t>
            </a:r>
          </a:p>
          <a:p>
            <a:pPr lvl="1"/>
            <a:r>
              <a:rPr lang="en-MY" dirty="0">
                <a:latin typeface="+mn-lt"/>
              </a:rPr>
              <a:t>Box 12.1 	</a:t>
            </a:r>
          </a:p>
          <a:p>
            <a:pPr lvl="1"/>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5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pPr marL="457200" lvl="1" indent="0">
              <a:buNone/>
            </a:pPr>
            <a:endParaRPr lang="en-MY" dirty="0"/>
          </a:p>
          <a:p>
            <a:pPr lvl="1"/>
            <a:endParaRPr lang="en-MY" dirty="0"/>
          </a:p>
        </p:txBody>
      </p:sp>
    </p:spTree>
    <p:extLst>
      <p:ext uri="{BB962C8B-B14F-4D97-AF65-F5344CB8AC3E}">
        <p14:creationId xmlns:p14="http://schemas.microsoft.com/office/powerpoint/2010/main" val="330730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54763-687E-402A-5278-BCEF2048910D}"/>
              </a:ext>
            </a:extLst>
          </p:cNvPr>
          <p:cNvSpPr>
            <a:spLocks noGrp="1"/>
          </p:cNvSpPr>
          <p:nvPr>
            <p:ph type="title"/>
          </p:nvPr>
        </p:nvSpPr>
        <p:spPr>
          <a:xfrm>
            <a:off x="838200" y="365126"/>
            <a:ext cx="10725260" cy="908198"/>
          </a:xfrm>
        </p:spPr>
        <p:txBody>
          <a:bodyPr>
            <a:normAutofit/>
          </a:bodyPr>
          <a:lstStyle/>
          <a:p>
            <a:r>
              <a:rPr lang="en-US" sz="3200" dirty="0"/>
              <a:t>Alternative market structures (consumer perspective)</a:t>
            </a:r>
          </a:p>
        </p:txBody>
      </p:sp>
      <p:sp>
        <p:nvSpPr>
          <p:cNvPr id="6" name="Content Placeholder 5">
            <a:extLst>
              <a:ext uri="{FF2B5EF4-FFF2-40B4-BE49-F238E27FC236}">
                <a16:creationId xmlns:a16="http://schemas.microsoft.com/office/drawing/2014/main" id="{703B1729-4CFD-9D98-77B8-B1216030C19D}"/>
              </a:ext>
            </a:extLst>
          </p:cNvPr>
          <p:cNvSpPr>
            <a:spLocks noGrp="1"/>
          </p:cNvSpPr>
          <p:nvPr>
            <p:ph idx="1"/>
          </p:nvPr>
        </p:nvSpPr>
        <p:spPr>
          <a:xfrm>
            <a:off x="838200" y="1390625"/>
            <a:ext cx="10515600" cy="4621628"/>
          </a:xfrm>
        </p:spPr>
        <p:txBody>
          <a:bodyPr>
            <a:normAutofit fontScale="92500"/>
          </a:bodyPr>
          <a:lstStyle/>
          <a:p>
            <a:pPr marL="0" indent="0" eaLnBrk="1" hangingPunct="1">
              <a:lnSpc>
                <a:spcPct val="150000"/>
              </a:lnSpc>
              <a:spcBef>
                <a:spcPts val="0"/>
              </a:spcBef>
              <a:buClr>
                <a:srgbClr val="CE6312"/>
              </a:buClr>
              <a:buSzPct val="85000"/>
              <a:buNone/>
            </a:pPr>
            <a:r>
              <a:rPr lang="en-GB" altLang="en-US" sz="2400" dirty="0">
                <a:solidFill>
                  <a:srgbClr val="003B3A"/>
                </a:solidFill>
                <a:highlight>
                  <a:srgbClr val="FFFF00"/>
                </a:highlight>
                <a:latin typeface="Calibri" panose="020F0502020204030204" pitchFamily="34" charset="0"/>
                <a:cs typeface="Calibri" panose="020F0502020204030204" pitchFamily="34" charset="0"/>
              </a:rPr>
              <a:t>Activity - discuss with the person next to you, or write down, answers to the following</a:t>
            </a:r>
            <a:r>
              <a:rPr lang="en-GB" altLang="en-US" sz="2400" kern="1200" dirty="0">
                <a:solidFill>
                  <a:srgbClr val="003B3A"/>
                </a:solidFill>
                <a:highlight>
                  <a:srgbClr val="FFFF00"/>
                </a:highlight>
                <a:latin typeface="Calibri" panose="020F0502020204030204" pitchFamily="34" charset="0"/>
                <a:cs typeface="Calibri" panose="020F0502020204030204" pitchFamily="34" charset="0"/>
              </a:rPr>
              <a:t>:</a:t>
            </a:r>
          </a:p>
          <a:p>
            <a:pPr marL="171450" indent="-171450" eaLnBrk="1" hangingPunct="1">
              <a:lnSpc>
                <a:spcPct val="150000"/>
              </a:lnSpc>
              <a:spcBef>
                <a:spcPts val="0"/>
              </a:spcBef>
              <a:buClr>
                <a:srgbClr val="CE6312"/>
              </a:buClr>
              <a:buSzPct val="85000"/>
              <a:buFont typeface="Arial" panose="020B0604020202020204" pitchFamily="34" charset="0"/>
              <a:buChar char="•"/>
            </a:pPr>
            <a:r>
              <a:rPr lang="en-GB" altLang="en-US" sz="2400" kern="1200" dirty="0">
                <a:solidFill>
                  <a:srgbClr val="003B3A"/>
                </a:solidFill>
                <a:latin typeface="Calibri" panose="020F0502020204030204" pitchFamily="34" charset="0"/>
                <a:cs typeface="Calibri" panose="020F0502020204030204" pitchFamily="34" charset="0"/>
              </a:rPr>
              <a:t>How many places are there within a few miles of where you live that you could get a coffee?</a:t>
            </a:r>
          </a:p>
          <a:p>
            <a:pPr marL="171450" indent="-171450" eaLnBrk="1" hangingPunct="1">
              <a:lnSpc>
                <a:spcPct val="150000"/>
              </a:lnSpc>
              <a:spcBef>
                <a:spcPts val="0"/>
              </a:spcBef>
              <a:buClr>
                <a:srgbClr val="CE6312"/>
              </a:buClr>
              <a:buSzPct val="85000"/>
              <a:buFont typeface="Arial" panose="020B0604020202020204" pitchFamily="34" charset="0"/>
              <a:buChar char="•"/>
            </a:pPr>
            <a:r>
              <a:rPr lang="en-GB" altLang="en-US" sz="2400" dirty="0">
                <a:solidFill>
                  <a:srgbClr val="003B3A"/>
                </a:solidFill>
                <a:latin typeface="Calibri" panose="020F0502020204030204" pitchFamily="34" charset="0"/>
                <a:cs typeface="Calibri" panose="020F0502020204030204" pitchFamily="34" charset="0"/>
              </a:rPr>
              <a:t>How many hair salons/barbers are there within a few miles of where you live?</a:t>
            </a:r>
          </a:p>
          <a:p>
            <a:pPr marL="171450" indent="-171450" eaLnBrk="1" hangingPunct="1">
              <a:lnSpc>
                <a:spcPct val="150000"/>
              </a:lnSpc>
              <a:spcBef>
                <a:spcPts val="0"/>
              </a:spcBef>
              <a:buClr>
                <a:srgbClr val="CE6312"/>
              </a:buClr>
              <a:buSzPct val="85000"/>
              <a:buFont typeface="Arial" panose="020B0604020202020204" pitchFamily="34" charset="0"/>
              <a:buChar char="•"/>
            </a:pPr>
            <a:r>
              <a:rPr lang="en-GB" altLang="en-US" sz="2400" dirty="0">
                <a:solidFill>
                  <a:srgbClr val="003B3A"/>
                </a:solidFill>
                <a:latin typeface="Calibri" panose="020F0502020204030204" pitchFamily="34" charset="0"/>
                <a:cs typeface="Calibri" panose="020F0502020204030204" pitchFamily="34" charset="0"/>
              </a:rPr>
              <a:t>Where would you go to do a food shop?</a:t>
            </a:r>
          </a:p>
          <a:p>
            <a:pPr marL="171450" indent="-171450" eaLnBrk="1" hangingPunct="1">
              <a:lnSpc>
                <a:spcPct val="150000"/>
              </a:lnSpc>
              <a:spcBef>
                <a:spcPts val="0"/>
              </a:spcBef>
              <a:buClr>
                <a:srgbClr val="CE6312"/>
              </a:buClr>
              <a:buSzPct val="85000"/>
              <a:buFont typeface="Arial" panose="020B0604020202020204" pitchFamily="34" charset="0"/>
              <a:buChar char="•"/>
            </a:pPr>
            <a:r>
              <a:rPr lang="en-GB" altLang="en-US" sz="2400" dirty="0">
                <a:solidFill>
                  <a:srgbClr val="003B3A"/>
                </a:solidFill>
                <a:latin typeface="Calibri" panose="020F0502020204030204" pitchFamily="34" charset="0"/>
                <a:cs typeface="Calibri" panose="020F0502020204030204" pitchFamily="34" charset="0"/>
              </a:rPr>
              <a:t>Would you ever ask for a cola rather than a Coke?</a:t>
            </a:r>
          </a:p>
          <a:p>
            <a:pPr marL="171450" indent="-171450" eaLnBrk="1" hangingPunct="1">
              <a:lnSpc>
                <a:spcPct val="150000"/>
              </a:lnSpc>
              <a:spcBef>
                <a:spcPts val="0"/>
              </a:spcBef>
              <a:buClr>
                <a:srgbClr val="CE6312"/>
              </a:buClr>
              <a:buSzPct val="85000"/>
              <a:buFont typeface="Arial" panose="020B0604020202020204" pitchFamily="34" charset="0"/>
              <a:buChar char="•"/>
            </a:pPr>
            <a:r>
              <a:rPr lang="en-GB" altLang="en-US" sz="2400" dirty="0">
                <a:solidFill>
                  <a:srgbClr val="003B3A"/>
                </a:solidFill>
                <a:latin typeface="Calibri" panose="020F0502020204030204" pitchFamily="34" charset="0"/>
                <a:cs typeface="Calibri" panose="020F0502020204030204" pitchFamily="34" charset="0"/>
              </a:rPr>
              <a:t>H</a:t>
            </a:r>
            <a:r>
              <a:rPr lang="en-GB" altLang="en-US" sz="2400" kern="1200" dirty="0">
                <a:solidFill>
                  <a:srgbClr val="003B3A"/>
                </a:solidFill>
                <a:latin typeface="Calibri" panose="020F0502020204030204" pitchFamily="34" charset="0"/>
                <a:cs typeface="Calibri" panose="020F0502020204030204" pitchFamily="34" charset="0"/>
              </a:rPr>
              <a:t>ave you ever used the term ‘I will google’ it to research something on the web?</a:t>
            </a:r>
          </a:p>
          <a:p>
            <a:pPr marL="171450" indent="-171450" eaLnBrk="1" hangingPunct="1">
              <a:lnSpc>
                <a:spcPct val="150000"/>
              </a:lnSpc>
              <a:spcBef>
                <a:spcPts val="0"/>
              </a:spcBef>
              <a:buClr>
                <a:srgbClr val="CE6312"/>
              </a:buClr>
              <a:buSzPct val="85000"/>
              <a:buFont typeface="Arial" panose="020B0604020202020204" pitchFamily="34" charset="0"/>
              <a:buChar char="•"/>
            </a:pPr>
            <a:r>
              <a:rPr lang="en-GB" altLang="en-US" sz="2400" dirty="0">
                <a:solidFill>
                  <a:srgbClr val="003B3A"/>
                </a:solidFill>
                <a:latin typeface="Calibri" panose="020F0502020204030204" pitchFamily="34" charset="0"/>
                <a:cs typeface="Calibri" panose="020F0502020204030204" pitchFamily="34" charset="0"/>
              </a:rPr>
              <a:t>W</a:t>
            </a:r>
            <a:r>
              <a:rPr lang="en-GB" altLang="en-US" sz="2400" kern="1200" dirty="0">
                <a:solidFill>
                  <a:srgbClr val="003B3A"/>
                </a:solidFill>
                <a:latin typeface="Calibri" panose="020F0502020204030204" pitchFamily="34" charset="0"/>
                <a:cs typeface="Calibri" panose="020F0502020204030204" pitchFamily="34" charset="0"/>
              </a:rPr>
              <a:t>ould you consider upgrading your mobile to anything other than an iPhone?</a:t>
            </a:r>
          </a:p>
          <a:p>
            <a:pPr marL="171450" indent="-171450" eaLnBrk="1" hangingPunct="1">
              <a:lnSpc>
                <a:spcPct val="150000"/>
              </a:lnSpc>
              <a:spcBef>
                <a:spcPts val="0"/>
              </a:spcBef>
              <a:buClr>
                <a:srgbClr val="CE6312"/>
              </a:buClr>
              <a:buSzPct val="85000"/>
              <a:buFont typeface="Arial" panose="020B0604020202020204" pitchFamily="34" charset="0"/>
              <a:buChar char="•"/>
            </a:pPr>
            <a:r>
              <a:rPr lang="en-GB" altLang="en-US" sz="2400" dirty="0">
                <a:solidFill>
                  <a:srgbClr val="003B3A"/>
                </a:solidFill>
                <a:latin typeface="Calibri" panose="020F0502020204030204" pitchFamily="34" charset="0"/>
                <a:cs typeface="Calibri" panose="020F0502020204030204" pitchFamily="34" charset="0"/>
              </a:rPr>
              <a:t>H</a:t>
            </a:r>
            <a:r>
              <a:rPr lang="en-GB" altLang="en-US" sz="2400" kern="1200" dirty="0">
                <a:solidFill>
                  <a:srgbClr val="003B3A"/>
                </a:solidFill>
                <a:latin typeface="Calibri" panose="020F0502020204030204" pitchFamily="34" charset="0"/>
                <a:cs typeface="Calibri" panose="020F0502020204030204" pitchFamily="34" charset="0"/>
              </a:rPr>
              <a:t>ave you bought anything from Amazon in the last couple of weeks?</a:t>
            </a:r>
          </a:p>
          <a:p>
            <a:pPr>
              <a:lnSpc>
                <a:spcPct val="80000"/>
              </a:lnSpc>
              <a:spcBef>
                <a:spcPct val="55000"/>
              </a:spcBef>
            </a:pPr>
            <a:endParaRPr lang="en-GB" dirty="0"/>
          </a:p>
        </p:txBody>
      </p:sp>
    </p:spTree>
    <p:extLst>
      <p:ext uri="{BB962C8B-B14F-4D97-AF65-F5344CB8AC3E}">
        <p14:creationId xmlns:p14="http://schemas.microsoft.com/office/powerpoint/2010/main" val="110134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ED4DCFD-37C9-A9A2-4768-C1C26264B8AB}"/>
              </a:ext>
            </a:extLst>
          </p:cNvPr>
          <p:cNvSpPr>
            <a:spLocks noGrp="1"/>
          </p:cNvSpPr>
          <p:nvPr>
            <p:ph type="title"/>
          </p:nvPr>
        </p:nvSpPr>
        <p:spPr>
          <a:xfrm>
            <a:off x="605336" y="296969"/>
            <a:ext cx="10515600" cy="908198"/>
          </a:xfrm>
        </p:spPr>
        <p:txBody>
          <a:bodyPr/>
          <a:lstStyle/>
          <a:p>
            <a:r>
              <a:rPr lang="en-US" sz="3200" dirty="0"/>
              <a:t>Alternative market structures (firm perspective)</a:t>
            </a:r>
          </a:p>
        </p:txBody>
      </p:sp>
      <p:sp>
        <p:nvSpPr>
          <p:cNvPr id="2" name="Content Placeholder 1">
            <a:extLst>
              <a:ext uri="{FF2B5EF4-FFF2-40B4-BE49-F238E27FC236}">
                <a16:creationId xmlns:a16="http://schemas.microsoft.com/office/drawing/2014/main" id="{05CB5615-7C9B-8FB6-83AD-B2398C84E7A7}"/>
              </a:ext>
            </a:extLst>
          </p:cNvPr>
          <p:cNvSpPr>
            <a:spLocks noGrp="1"/>
          </p:cNvSpPr>
          <p:nvPr>
            <p:ph idx="1"/>
          </p:nvPr>
        </p:nvSpPr>
        <p:spPr>
          <a:xfrm>
            <a:off x="590668" y="1337795"/>
            <a:ext cx="11339061" cy="5020337"/>
          </a:xfrm>
        </p:spPr>
        <p:txBody>
          <a:bodyPr/>
          <a:lstStyle/>
          <a:p>
            <a:pPr marL="0" indent="0">
              <a:lnSpc>
                <a:spcPct val="100000"/>
              </a:lnSpc>
              <a:spcBef>
                <a:spcPts val="1200"/>
              </a:spcBef>
              <a:buNone/>
            </a:pPr>
            <a:r>
              <a:rPr lang="en-GB" altLang="en-US" sz="2000" b="1" dirty="0">
                <a:solidFill>
                  <a:srgbClr val="003B3A"/>
                </a:solidFill>
                <a:latin typeface="Calibri" panose="020F0502020204030204" pitchFamily="34" charset="0"/>
                <a:cs typeface="Calibri" panose="020F0502020204030204" pitchFamily="34" charset="0"/>
              </a:rPr>
              <a:t>What links the following important questions?</a:t>
            </a:r>
          </a:p>
          <a:p>
            <a:pPr>
              <a:lnSpc>
                <a:spcPct val="100000"/>
              </a:lnSpc>
              <a:spcBef>
                <a:spcPts val="1200"/>
              </a:spcBef>
            </a:pPr>
            <a:r>
              <a:rPr lang="en-GB" altLang="en-US" sz="2000" dirty="0">
                <a:solidFill>
                  <a:srgbClr val="003B3A"/>
                </a:solidFill>
                <a:latin typeface="Calibri" panose="020F0502020204030204" pitchFamily="34" charset="0"/>
                <a:cs typeface="Calibri" panose="020F0502020204030204" pitchFamily="34" charset="0"/>
              </a:rPr>
              <a:t>Will profits be large, or just enough for a firm to survive, or so low they will be forced out of business?</a:t>
            </a:r>
          </a:p>
          <a:p>
            <a:pPr>
              <a:lnSpc>
                <a:spcPct val="100000"/>
              </a:lnSpc>
              <a:spcBef>
                <a:spcPts val="1200"/>
              </a:spcBef>
            </a:pPr>
            <a:r>
              <a:rPr lang="en-GB" altLang="en-US" sz="2000" dirty="0">
                <a:solidFill>
                  <a:srgbClr val="003B3A"/>
                </a:solidFill>
                <a:latin typeface="Calibri" panose="020F0502020204030204" pitchFamily="34" charset="0"/>
                <a:cs typeface="Calibri" panose="020F0502020204030204" pitchFamily="34" charset="0"/>
              </a:rPr>
              <a:t>Will the firm produce a high level of output or a low level? </a:t>
            </a:r>
            <a:r>
              <a:rPr lang="en-GB" altLang="en-US" sz="2000" kern="1200" dirty="0">
                <a:solidFill>
                  <a:srgbClr val="003B3A"/>
                </a:solidFill>
                <a:latin typeface="Calibri" panose="020F0502020204030204" pitchFamily="34" charset="0"/>
                <a:cs typeface="Calibri" panose="020F0502020204030204" pitchFamily="34" charset="0"/>
              </a:rPr>
              <a:t>Will it be producing efficiently?</a:t>
            </a:r>
            <a:endParaRPr lang="en-GB" altLang="en-US" sz="2000" dirty="0">
              <a:solidFill>
                <a:srgbClr val="003B3A"/>
              </a:solidFill>
              <a:latin typeface="Calibri" panose="020F0502020204030204" pitchFamily="34" charset="0"/>
              <a:cs typeface="Calibri" panose="020F0502020204030204" pitchFamily="34" charset="0"/>
            </a:endParaRPr>
          </a:p>
          <a:p>
            <a:pPr>
              <a:lnSpc>
                <a:spcPct val="100000"/>
              </a:lnSpc>
              <a:spcBef>
                <a:spcPts val="1200"/>
              </a:spcBef>
            </a:pPr>
            <a:r>
              <a:rPr lang="en-GB" altLang="en-US" sz="2000" dirty="0">
                <a:solidFill>
                  <a:srgbClr val="003B3A"/>
                </a:solidFill>
                <a:latin typeface="Calibri" panose="020F0502020204030204" pitchFamily="34" charset="0"/>
                <a:cs typeface="Calibri" panose="020F0502020204030204" pitchFamily="34" charset="0"/>
              </a:rPr>
              <a:t>Will the price charged to the consumer be high or low?</a:t>
            </a:r>
          </a:p>
          <a:p>
            <a:pPr>
              <a:lnSpc>
                <a:spcPct val="100000"/>
              </a:lnSpc>
              <a:spcBef>
                <a:spcPts val="1200"/>
              </a:spcBef>
            </a:pPr>
            <a:r>
              <a:rPr lang="en-GB" altLang="en-US" sz="2000" dirty="0">
                <a:solidFill>
                  <a:srgbClr val="003B3A"/>
                </a:solidFill>
                <a:latin typeface="Calibri" panose="020F0502020204030204" pitchFamily="34" charset="0"/>
                <a:cs typeface="Calibri" panose="020F0502020204030204" pitchFamily="34" charset="0"/>
              </a:rPr>
              <a:t>Why do we see constant advertising and innovation in some products, while others are rarely promoted?</a:t>
            </a:r>
          </a:p>
          <a:p>
            <a:pPr>
              <a:lnSpc>
                <a:spcPct val="100000"/>
              </a:lnSpc>
              <a:spcBef>
                <a:spcPts val="1200"/>
              </a:spcBef>
            </a:pPr>
            <a:r>
              <a:rPr lang="en-GB" altLang="en-US" sz="2000" dirty="0">
                <a:solidFill>
                  <a:srgbClr val="003B3A"/>
                </a:solidFill>
                <a:latin typeface="Calibri" panose="020F0502020204030204" pitchFamily="34" charset="0"/>
                <a:cs typeface="Calibri" panose="020F0502020204030204" pitchFamily="34" charset="0"/>
              </a:rPr>
              <a:t>Why do prices fall in some industries and rise in others?</a:t>
            </a:r>
          </a:p>
          <a:p>
            <a:pPr>
              <a:lnSpc>
                <a:spcPct val="100000"/>
              </a:lnSpc>
              <a:spcBef>
                <a:spcPts val="1200"/>
              </a:spcBef>
            </a:pPr>
            <a:r>
              <a:rPr lang="en-GB" altLang="en-US" sz="2000" dirty="0">
                <a:solidFill>
                  <a:srgbClr val="003B3A"/>
                </a:solidFill>
                <a:latin typeface="Calibri" panose="020F0502020204030204" pitchFamily="34" charset="0"/>
                <a:cs typeface="Calibri" panose="020F0502020204030204" pitchFamily="34" charset="0"/>
              </a:rPr>
              <a:t>Why is the government more concerned with the behaviour of firms in just some industries?</a:t>
            </a:r>
          </a:p>
          <a:p>
            <a:pPr>
              <a:lnSpc>
                <a:spcPct val="100000"/>
              </a:lnSpc>
              <a:spcBef>
                <a:spcPts val="1200"/>
              </a:spcBef>
            </a:pPr>
            <a:r>
              <a:rPr lang="en-GB" altLang="en-US" sz="2000" dirty="0">
                <a:solidFill>
                  <a:srgbClr val="003B3A"/>
                </a:solidFill>
                <a:latin typeface="Calibri" panose="020F0502020204030204" pitchFamily="34" charset="0"/>
                <a:cs typeface="Calibri" panose="020F0502020204030204" pitchFamily="34" charset="0"/>
              </a:rPr>
              <a:t>We see markets with many competitors and others with few. Why does this happen?</a:t>
            </a:r>
            <a:endParaRPr lang="en-GB" altLang="en-US" sz="2000" dirty="0">
              <a:latin typeface="Calibri" panose="020F0502020204030204" pitchFamily="34" charset="0"/>
              <a:cs typeface="Calibri" panose="020F0502020204030204" pitchFamily="34" charset="0"/>
            </a:endParaRPr>
          </a:p>
          <a:p>
            <a:pPr marL="0" indent="0">
              <a:lnSpc>
                <a:spcPct val="100000"/>
              </a:lnSpc>
              <a:spcBef>
                <a:spcPts val="1200"/>
              </a:spcBef>
              <a:buNone/>
            </a:pPr>
            <a:endParaRPr lang="en-GB" altLang="en-US" sz="1900" dirty="0">
              <a:solidFill>
                <a:srgbClr val="003B3A"/>
              </a:solidFill>
              <a:latin typeface="Calibri" panose="020F0502020204030204" pitchFamily="34" charset="0"/>
              <a:cs typeface="Calibri" panose="020F0502020204030204" pitchFamily="34" charset="0"/>
            </a:endParaRPr>
          </a:p>
          <a:p>
            <a:pPr marL="0" indent="0">
              <a:lnSpc>
                <a:spcPct val="100000"/>
              </a:lnSpc>
              <a:spcBef>
                <a:spcPts val="1200"/>
              </a:spcBef>
              <a:buNone/>
            </a:pPr>
            <a:r>
              <a:rPr lang="en-GB" altLang="en-US" sz="2000" dirty="0">
                <a:solidFill>
                  <a:srgbClr val="003B3A"/>
                </a:solidFill>
                <a:latin typeface="Calibri" panose="020F0502020204030204" pitchFamily="34" charset="0"/>
                <a:cs typeface="Calibri" panose="020F0502020204030204" pitchFamily="34" charset="0"/>
              </a:rPr>
              <a:t>These questions can all be answered by looking at the </a:t>
            </a:r>
            <a:r>
              <a:rPr lang="en-GB" altLang="en-US" sz="2000" b="1" dirty="0">
                <a:solidFill>
                  <a:srgbClr val="003B3A"/>
                </a:solidFill>
                <a:latin typeface="Calibri" panose="020F0502020204030204" pitchFamily="34" charset="0"/>
                <a:cs typeface="Calibri" panose="020F0502020204030204" pitchFamily="34" charset="0"/>
              </a:rPr>
              <a:t>structure of an industry </a:t>
            </a:r>
            <a:r>
              <a:rPr lang="en-GB" altLang="en-US" sz="2000" dirty="0">
                <a:solidFill>
                  <a:srgbClr val="003B3A"/>
                </a:solidFill>
                <a:latin typeface="Calibri" panose="020F0502020204030204" pitchFamily="34" charset="0"/>
                <a:cs typeface="Calibri" panose="020F0502020204030204" pitchFamily="34" charset="0"/>
              </a:rPr>
              <a:t>and the </a:t>
            </a:r>
            <a:r>
              <a:rPr lang="en-GB" altLang="en-US" sz="2000" b="1" dirty="0">
                <a:solidFill>
                  <a:srgbClr val="003B3A"/>
                </a:solidFill>
                <a:latin typeface="Calibri" panose="020F0502020204030204" pitchFamily="34" charset="0"/>
                <a:cs typeface="Calibri" panose="020F0502020204030204" pitchFamily="34" charset="0"/>
              </a:rPr>
              <a:t>degree of competition</a:t>
            </a:r>
            <a:r>
              <a:rPr lang="en-GB" altLang="en-US" sz="1900" dirty="0">
                <a:solidFill>
                  <a:srgbClr val="003B3A"/>
                </a:solidFill>
                <a:latin typeface="Calibri" panose="020F0502020204030204" pitchFamily="34" charset="0"/>
                <a:cs typeface="Calibri" panose="020F0502020204030204" pitchFamily="34" charset="0"/>
              </a:rPr>
              <a:t>.</a:t>
            </a:r>
          </a:p>
          <a:p>
            <a:pPr marL="0" indent="0">
              <a:lnSpc>
                <a:spcPct val="100000"/>
              </a:lnSpc>
              <a:spcBef>
                <a:spcPts val="1200"/>
              </a:spcBef>
              <a:buNone/>
            </a:pPr>
            <a:endParaRPr lang="en-GB" altLang="en-US" sz="2000" dirty="0">
              <a:latin typeface="Calibri" panose="020F0502020204030204" pitchFamily="34" charset="0"/>
              <a:cs typeface="Calibri" panose="020F0502020204030204" pitchFamily="34" charset="0"/>
            </a:endParaRPr>
          </a:p>
          <a:p>
            <a:pPr marL="0" indent="0">
              <a:lnSpc>
                <a:spcPct val="100000"/>
              </a:lnSpc>
              <a:spcBef>
                <a:spcPts val="1200"/>
              </a:spcBef>
              <a:buNone/>
            </a:pPr>
            <a:endParaRPr lang="en-GB" altLang="en-US" sz="1800" dirty="0">
              <a:latin typeface="Calibri" panose="020F0502020204030204" pitchFamily="34" charset="0"/>
              <a:cs typeface="Calibri" panose="020F0502020204030204" pitchFamily="34" charset="0"/>
            </a:endParaRPr>
          </a:p>
          <a:p>
            <a:pPr marL="0" indent="0">
              <a:lnSpc>
                <a:spcPct val="100000"/>
              </a:lnSpc>
              <a:spcBef>
                <a:spcPts val="1200"/>
              </a:spcBef>
              <a:buNone/>
            </a:pPr>
            <a:endParaRPr lang="en-GB" altLang="en-US" sz="2000" dirty="0"/>
          </a:p>
          <a:p>
            <a:pPr marL="0" indent="0">
              <a:lnSpc>
                <a:spcPct val="100000"/>
              </a:lnSpc>
              <a:spcBef>
                <a:spcPts val="1200"/>
              </a:spcBef>
              <a:buNone/>
            </a:pPr>
            <a:endParaRPr lang="en-GB" altLang="en-US" sz="2000" dirty="0">
              <a:solidFill>
                <a:srgbClr val="003B3A"/>
              </a:solidFill>
              <a:latin typeface="Calibri" panose="020F0502020204030204" pitchFamily="34" charset="0"/>
              <a:cs typeface="Calibri" panose="020F0502020204030204" pitchFamily="34" charset="0"/>
            </a:endParaRPr>
          </a:p>
          <a:p>
            <a:pPr marL="285750" indent="-285750" eaLnBrk="1" hangingPunct="1">
              <a:lnSpc>
                <a:spcPct val="100000"/>
              </a:lnSpc>
              <a:spcBef>
                <a:spcPts val="1200"/>
              </a:spcBef>
              <a:buClr>
                <a:srgbClr val="CE6312"/>
              </a:buClr>
              <a:buSzPct val="85000"/>
              <a:buFont typeface="Arial" panose="020B0604020202020204" pitchFamily="34" charset="0"/>
              <a:buChar char="•"/>
            </a:pPr>
            <a:endParaRPr lang="en-GB" altLang="en-US" sz="2000" dirty="0">
              <a:solidFill>
                <a:srgbClr val="003B3A"/>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9538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7A88EDF8-948D-4182-B691-F9F5DE96C21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87" name="Rectangle 3">
            <a:extLst>
              <a:ext uri="{FF2B5EF4-FFF2-40B4-BE49-F238E27FC236}">
                <a16:creationId xmlns:a16="http://schemas.microsoft.com/office/drawing/2014/main" id="{A7A39626-A3AB-4335-902E-DBED99CA0B1A}"/>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88" name="Rectangle 4">
            <a:extLst>
              <a:ext uri="{FF2B5EF4-FFF2-40B4-BE49-F238E27FC236}">
                <a16:creationId xmlns:a16="http://schemas.microsoft.com/office/drawing/2014/main" id="{55904147-1409-4A9B-8241-9F50921F0100}"/>
              </a:ext>
            </a:extLst>
          </p:cNvPr>
          <p:cNvSpPr>
            <a:spLocks noGrp="1"/>
          </p:cNvSpPr>
          <p:nvPr>
            <p:ph type="title"/>
          </p:nvPr>
        </p:nvSpPr>
        <p:spPr>
          <a:xfrm>
            <a:off x="423588" y="365126"/>
            <a:ext cx="10515600" cy="908198"/>
          </a:xfrm>
        </p:spPr>
        <p:txBody>
          <a:bodyPr/>
          <a:lstStyle/>
          <a:p>
            <a:r>
              <a:rPr lang="en-GB" altLang="en-US" dirty="0"/>
              <a:t>Alternative Market Structures</a:t>
            </a:r>
          </a:p>
        </p:txBody>
      </p:sp>
      <p:sp>
        <p:nvSpPr>
          <p:cNvPr id="400389" name="Rectangle 5">
            <a:extLst>
              <a:ext uri="{FF2B5EF4-FFF2-40B4-BE49-F238E27FC236}">
                <a16:creationId xmlns:a16="http://schemas.microsoft.com/office/drawing/2014/main" id="{25532C84-D0F0-4FEF-A843-6CF82A1E02E7}"/>
              </a:ext>
            </a:extLst>
          </p:cNvPr>
          <p:cNvSpPr>
            <a:spLocks noGrp="1"/>
          </p:cNvSpPr>
          <p:nvPr>
            <p:ph idx="1"/>
          </p:nvPr>
        </p:nvSpPr>
        <p:spPr>
          <a:xfrm>
            <a:off x="402167" y="1385779"/>
            <a:ext cx="11379200" cy="5004387"/>
          </a:xfrm>
        </p:spPr>
        <p:txBody>
          <a:bodyPr/>
          <a:lstStyle/>
          <a:p>
            <a:pPr marL="0" indent="0">
              <a:lnSpc>
                <a:spcPct val="100000"/>
              </a:lnSpc>
              <a:spcBef>
                <a:spcPts val="1200"/>
              </a:spcBef>
              <a:buNone/>
            </a:pPr>
            <a:r>
              <a:rPr lang="en-GB" altLang="en-US" sz="2100" b="1" dirty="0">
                <a:latin typeface="Calibri" panose="020F0502020204030204" pitchFamily="34" charset="0"/>
                <a:cs typeface="Calibri" panose="020F0502020204030204" pitchFamily="34" charset="0"/>
              </a:rPr>
              <a:t>Factors affecting the degree of competition</a:t>
            </a:r>
          </a:p>
          <a:p>
            <a:pPr>
              <a:lnSpc>
                <a:spcPct val="100000"/>
              </a:lnSpc>
              <a:spcBef>
                <a:spcPts val="1200"/>
              </a:spcBef>
            </a:pPr>
            <a:r>
              <a:rPr lang="en-GB" altLang="en-US" sz="2000" b="1" dirty="0">
                <a:latin typeface="Calibri" panose="020F0502020204030204" pitchFamily="34" charset="0"/>
                <a:cs typeface="Calibri" panose="020F0502020204030204" pitchFamily="34" charset="0"/>
              </a:rPr>
              <a:t>Number of firms </a:t>
            </a:r>
            <a:r>
              <a:rPr lang="en-GB" altLang="en-US" sz="2000" dirty="0">
                <a:latin typeface="Calibri" panose="020F0502020204030204" pitchFamily="34" charset="0"/>
                <a:cs typeface="Calibri" panose="020F0502020204030204" pitchFamily="34" charset="0"/>
              </a:rPr>
              <a:t>- the more firms there are competing against each other, the more competitive any market is likely to be, with each firm trying to steal customers from its rivals.</a:t>
            </a:r>
          </a:p>
          <a:p>
            <a:pPr lvl="1">
              <a:lnSpc>
                <a:spcPct val="100000"/>
              </a:lnSpc>
              <a:spcBef>
                <a:spcPts val="1200"/>
              </a:spcBef>
            </a:pPr>
            <a:r>
              <a:rPr lang="en-GB" altLang="en-US" sz="1800" dirty="0">
                <a:latin typeface="Calibri" panose="020F0502020204030204" pitchFamily="34" charset="0"/>
                <a:cs typeface="Calibri" panose="020F0502020204030204" pitchFamily="34" charset="0"/>
              </a:rPr>
              <a:t>One strategy will be to keep prices low, which will generally be in the consumer’s interest.</a:t>
            </a:r>
            <a:endParaRPr lang="en-GB" altLang="en-US" sz="1800" b="1" dirty="0">
              <a:latin typeface="Calibri" panose="020F0502020204030204" pitchFamily="34" charset="0"/>
              <a:cs typeface="Calibri" panose="020F0502020204030204" pitchFamily="34" charset="0"/>
            </a:endParaRPr>
          </a:p>
          <a:p>
            <a:pPr>
              <a:lnSpc>
                <a:spcPct val="100000"/>
              </a:lnSpc>
              <a:spcBef>
                <a:spcPts val="1200"/>
              </a:spcBef>
            </a:pPr>
            <a:r>
              <a:rPr lang="en-GB" altLang="en-US" sz="2000" b="1" dirty="0">
                <a:latin typeface="Calibri" panose="020F0502020204030204" pitchFamily="34" charset="0"/>
                <a:cs typeface="Calibri" panose="020F0502020204030204" pitchFamily="34" charset="0"/>
              </a:rPr>
              <a:t>Freedom of entry and exit of firms into the industry </a:t>
            </a:r>
            <a:r>
              <a:rPr lang="en-GB" altLang="en-US" sz="2000" dirty="0">
                <a:latin typeface="Calibri" panose="020F0502020204030204" pitchFamily="34" charset="0"/>
                <a:cs typeface="Calibri" panose="020F0502020204030204" pitchFamily="34" charset="0"/>
              </a:rPr>
              <a:t>- free, restricted or blocked?</a:t>
            </a:r>
          </a:p>
          <a:p>
            <a:pPr lvl="1">
              <a:lnSpc>
                <a:spcPct val="100000"/>
              </a:lnSpc>
              <a:spcBef>
                <a:spcPts val="1200"/>
              </a:spcBef>
            </a:pPr>
            <a:r>
              <a:rPr lang="en-GB" altLang="en-US" sz="1800" dirty="0">
                <a:latin typeface="Calibri" panose="020F0502020204030204" pitchFamily="34" charset="0"/>
                <a:cs typeface="Calibri" panose="020F0502020204030204" pitchFamily="34" charset="0"/>
              </a:rPr>
              <a:t>No barriers to entry – easier for new firms to set up</a:t>
            </a:r>
            <a:endParaRPr lang="en-GB" altLang="en-US" sz="1800" b="1" dirty="0">
              <a:latin typeface="Calibri" panose="020F0502020204030204" pitchFamily="34" charset="0"/>
              <a:cs typeface="Calibri" panose="020F0502020204030204" pitchFamily="34" charset="0"/>
            </a:endParaRPr>
          </a:p>
          <a:p>
            <a:pPr>
              <a:lnSpc>
                <a:spcPct val="100000"/>
              </a:lnSpc>
              <a:spcBef>
                <a:spcPts val="1200"/>
              </a:spcBef>
            </a:pPr>
            <a:r>
              <a:rPr lang="en-GB" altLang="en-US" sz="2000" b="1" dirty="0">
                <a:latin typeface="Calibri" panose="020F0502020204030204" pitchFamily="34" charset="0"/>
                <a:cs typeface="Calibri" panose="020F0502020204030204" pitchFamily="34" charset="0"/>
              </a:rPr>
              <a:t>Nature of product </a:t>
            </a:r>
            <a:r>
              <a:rPr lang="en-GB" altLang="en-US" sz="2000" dirty="0">
                <a:latin typeface="Calibri" panose="020F0502020204030204" pitchFamily="34" charset="0"/>
                <a:cs typeface="Calibri" panose="020F0502020204030204" pitchFamily="34" charset="0"/>
              </a:rPr>
              <a:t>- homogeneous or differentiated? </a:t>
            </a:r>
          </a:p>
          <a:p>
            <a:pPr lvl="1">
              <a:lnSpc>
                <a:spcPct val="100000"/>
              </a:lnSpc>
              <a:spcBef>
                <a:spcPts val="1200"/>
              </a:spcBef>
            </a:pPr>
            <a:r>
              <a:rPr lang="en-GB" altLang="en-US" sz="1800" dirty="0">
                <a:latin typeface="Calibri" panose="020F0502020204030204" pitchFamily="34" charset="0"/>
                <a:cs typeface="Calibri" panose="020F0502020204030204" pitchFamily="34" charset="0"/>
              </a:rPr>
              <a:t>If firms produce an identical product, there is little a firm can do to gain an advantage over its rivals. If firms produce their own brand/model/variety, they may be able to charge a higher price and/or gain market share.</a:t>
            </a:r>
            <a:endParaRPr lang="en-GB" altLang="en-US" sz="1800" b="1" dirty="0">
              <a:latin typeface="Calibri" panose="020F0502020204030204" pitchFamily="34" charset="0"/>
              <a:cs typeface="Calibri" panose="020F0502020204030204" pitchFamily="34" charset="0"/>
            </a:endParaRPr>
          </a:p>
          <a:p>
            <a:pPr>
              <a:lnSpc>
                <a:spcPct val="100000"/>
              </a:lnSpc>
              <a:spcBef>
                <a:spcPts val="1200"/>
              </a:spcBef>
            </a:pPr>
            <a:r>
              <a:rPr lang="en-GB" altLang="en-US" sz="2000" b="1" dirty="0">
                <a:latin typeface="Calibri" panose="020F0502020204030204" pitchFamily="34" charset="0"/>
                <a:cs typeface="Calibri" panose="020F0502020204030204" pitchFamily="34" charset="0"/>
              </a:rPr>
              <a:t>Nature of demand curve </a:t>
            </a:r>
            <a:r>
              <a:rPr lang="en-GB" altLang="en-US" sz="2000" dirty="0">
                <a:latin typeface="Calibri" panose="020F0502020204030204" pitchFamily="34" charset="0"/>
                <a:cs typeface="Calibri" panose="020F0502020204030204" pitchFamily="34" charset="0"/>
              </a:rPr>
              <a:t>- degree of control the firm has over price. </a:t>
            </a:r>
          </a:p>
          <a:p>
            <a:pPr lvl="1">
              <a:lnSpc>
                <a:spcPct val="100000"/>
              </a:lnSpc>
              <a:spcBef>
                <a:spcPts val="1200"/>
              </a:spcBef>
            </a:pPr>
            <a:r>
              <a:rPr lang="en-GB" altLang="en-US" sz="1800" dirty="0">
                <a:latin typeface="Calibri" panose="020F0502020204030204" pitchFamily="34" charset="0"/>
                <a:cs typeface="Calibri" panose="020F0502020204030204" pitchFamily="34" charset="0"/>
              </a:rPr>
              <a:t>Is it a price taker or price maker. How elastic is the demand curve?</a:t>
            </a:r>
          </a:p>
        </p:txBody>
      </p:sp>
    </p:spTree>
    <p:extLst>
      <p:ext uri="{BB962C8B-B14F-4D97-AF65-F5344CB8AC3E}">
        <p14:creationId xmlns:p14="http://schemas.microsoft.com/office/powerpoint/2010/main" val="315897510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0389">
                                            <p:txEl>
                                              <p:pRg st="0" end="0"/>
                                            </p:txEl>
                                          </p:spTgt>
                                        </p:tgtEl>
                                        <p:attrNameLst>
                                          <p:attrName>style.visibility</p:attrName>
                                        </p:attrNameLst>
                                      </p:cBhvr>
                                      <p:to>
                                        <p:strVal val="visible"/>
                                      </p:to>
                                    </p:set>
                                    <p:anim calcmode="lin" valueType="num">
                                      <p:cBhvr additive="base">
                                        <p:cTn id="7" dur="500"/>
                                        <p:tgtEl>
                                          <p:spTgt spid="40038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038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0389">
                                            <p:txEl>
                                              <p:pRg st="1" end="1"/>
                                            </p:txEl>
                                          </p:spTgt>
                                        </p:tgtEl>
                                        <p:attrNameLst>
                                          <p:attrName>style.visibility</p:attrName>
                                        </p:attrNameLst>
                                      </p:cBhvr>
                                      <p:to>
                                        <p:strVal val="visible"/>
                                      </p:to>
                                    </p:set>
                                    <p:anim calcmode="lin" valueType="num">
                                      <p:cBhvr additive="base">
                                        <p:cTn id="13" dur="500"/>
                                        <p:tgtEl>
                                          <p:spTgt spid="40038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038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0389">
                                            <p:txEl>
                                              <p:pRg st="2" end="2"/>
                                            </p:txEl>
                                          </p:spTgt>
                                        </p:tgtEl>
                                        <p:attrNameLst>
                                          <p:attrName>style.visibility</p:attrName>
                                        </p:attrNameLst>
                                      </p:cBhvr>
                                      <p:to>
                                        <p:strVal val="visible"/>
                                      </p:to>
                                    </p:set>
                                    <p:anim calcmode="lin" valueType="num">
                                      <p:cBhvr additive="base">
                                        <p:cTn id="19" dur="500"/>
                                        <p:tgtEl>
                                          <p:spTgt spid="40038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038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0389">
                                            <p:txEl>
                                              <p:pRg st="3" end="3"/>
                                            </p:txEl>
                                          </p:spTgt>
                                        </p:tgtEl>
                                        <p:attrNameLst>
                                          <p:attrName>style.visibility</p:attrName>
                                        </p:attrNameLst>
                                      </p:cBhvr>
                                      <p:to>
                                        <p:strVal val="visible"/>
                                      </p:to>
                                    </p:set>
                                    <p:anim calcmode="lin" valueType="num">
                                      <p:cBhvr additive="base">
                                        <p:cTn id="25" dur="500"/>
                                        <p:tgtEl>
                                          <p:spTgt spid="40038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038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0389">
                                            <p:txEl>
                                              <p:pRg st="4" end="4"/>
                                            </p:txEl>
                                          </p:spTgt>
                                        </p:tgtEl>
                                        <p:attrNameLst>
                                          <p:attrName>style.visibility</p:attrName>
                                        </p:attrNameLst>
                                      </p:cBhvr>
                                      <p:to>
                                        <p:strVal val="visible"/>
                                      </p:to>
                                    </p:set>
                                    <p:anim calcmode="lin" valueType="num">
                                      <p:cBhvr additive="base">
                                        <p:cTn id="31" dur="500"/>
                                        <p:tgtEl>
                                          <p:spTgt spid="40038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038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0389">
                                            <p:txEl>
                                              <p:pRg st="5" end="5"/>
                                            </p:txEl>
                                          </p:spTgt>
                                        </p:tgtEl>
                                        <p:attrNameLst>
                                          <p:attrName>style.visibility</p:attrName>
                                        </p:attrNameLst>
                                      </p:cBhvr>
                                      <p:to>
                                        <p:strVal val="visible"/>
                                      </p:to>
                                    </p:set>
                                    <p:anim calcmode="lin" valueType="num">
                                      <p:cBhvr additive="base">
                                        <p:cTn id="37" dur="500"/>
                                        <p:tgtEl>
                                          <p:spTgt spid="40038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038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0389">
                                            <p:txEl>
                                              <p:pRg st="6" end="6"/>
                                            </p:txEl>
                                          </p:spTgt>
                                        </p:tgtEl>
                                        <p:attrNameLst>
                                          <p:attrName>style.visibility</p:attrName>
                                        </p:attrNameLst>
                                      </p:cBhvr>
                                      <p:to>
                                        <p:strVal val="visible"/>
                                      </p:to>
                                    </p:set>
                                    <p:anim calcmode="lin" valueType="num">
                                      <p:cBhvr additive="base">
                                        <p:cTn id="43" dur="500"/>
                                        <p:tgtEl>
                                          <p:spTgt spid="40038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038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0389">
                                            <p:txEl>
                                              <p:pRg st="7" end="7"/>
                                            </p:txEl>
                                          </p:spTgt>
                                        </p:tgtEl>
                                        <p:attrNameLst>
                                          <p:attrName>style.visibility</p:attrName>
                                        </p:attrNameLst>
                                      </p:cBhvr>
                                      <p:to>
                                        <p:strVal val="visible"/>
                                      </p:to>
                                    </p:set>
                                    <p:anim calcmode="lin" valueType="num">
                                      <p:cBhvr additive="base">
                                        <p:cTn id="49" dur="500"/>
                                        <p:tgtEl>
                                          <p:spTgt spid="40038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0389">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00389">
                                            <p:txEl>
                                              <p:pRg st="8" end="8"/>
                                            </p:txEl>
                                          </p:spTgt>
                                        </p:tgtEl>
                                        <p:attrNameLst>
                                          <p:attrName>style.visibility</p:attrName>
                                        </p:attrNameLst>
                                      </p:cBhvr>
                                      <p:to>
                                        <p:strVal val="visible"/>
                                      </p:to>
                                    </p:set>
                                    <p:anim calcmode="lin" valueType="num">
                                      <p:cBhvr additive="base">
                                        <p:cTn id="55" dur="500"/>
                                        <p:tgtEl>
                                          <p:spTgt spid="400389">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0038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9"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a:extLst>
              <a:ext uri="{FF2B5EF4-FFF2-40B4-BE49-F238E27FC236}">
                <a16:creationId xmlns:a16="http://schemas.microsoft.com/office/drawing/2014/main" id="{BD1EA622-A40D-4EA6-87B4-DEB670268E16}"/>
              </a:ext>
            </a:extLst>
          </p:cNvPr>
          <p:cNvSpPr>
            <a:spLocks noChangeArrowheads="1"/>
          </p:cNvSpPr>
          <p:nvPr/>
        </p:nvSpPr>
        <p:spPr bwMode="auto">
          <a:xfrm>
            <a:off x="0" y="132905"/>
            <a:ext cx="9840433" cy="508152"/>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92075" tIns="91440"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dirty="0">
                <a:latin typeface="Arial" panose="020B0604020202020204" pitchFamily="34" charset="0"/>
              </a:rPr>
              <a:t>Features of the four market structures</a:t>
            </a:r>
          </a:p>
        </p:txBody>
      </p:sp>
      <p:graphicFrame>
        <p:nvGraphicFramePr>
          <p:cNvPr id="433155" name="Object 3">
            <a:extLst>
              <a:ext uri="{FF2B5EF4-FFF2-40B4-BE49-F238E27FC236}">
                <a16:creationId xmlns:a16="http://schemas.microsoft.com/office/drawing/2014/main" id="{287485AB-293C-46E7-AE47-087FD120969C}"/>
              </a:ext>
            </a:extLst>
          </p:cNvPr>
          <p:cNvGraphicFramePr>
            <a:graphicFrameLocks/>
          </p:cNvGraphicFramePr>
          <p:nvPr/>
        </p:nvGraphicFramePr>
        <p:xfrm>
          <a:off x="553964" y="820479"/>
          <a:ext cx="9562917" cy="5792972"/>
        </p:xfrm>
        <a:graphic>
          <a:graphicData uri="http://schemas.openxmlformats.org/presentationml/2006/ole">
            <mc:AlternateContent xmlns:mc="http://schemas.openxmlformats.org/markup-compatibility/2006">
              <mc:Choice xmlns:v="urn:schemas-microsoft-com:vml" Requires="v">
                <p:oleObj name="Document" r:id="rId3" imgW="5478547" imgH="3366169" progId="Word.Document.12">
                  <p:embed/>
                </p:oleObj>
              </mc:Choice>
              <mc:Fallback>
                <p:oleObj name="Document" r:id="rId3" imgW="5478547" imgH="3366169" progId="Word.Document.12">
                  <p:embed/>
                  <p:pic>
                    <p:nvPicPr>
                      <p:cNvPr id="433155" name="Object 3">
                        <a:extLst>
                          <a:ext uri="{FF2B5EF4-FFF2-40B4-BE49-F238E27FC236}">
                            <a16:creationId xmlns:a16="http://schemas.microsoft.com/office/drawing/2014/main" id="{287485AB-293C-46E7-AE47-087FD120969C}"/>
                          </a:ext>
                        </a:extLst>
                      </p:cNvPr>
                      <p:cNvPicPr>
                        <a:picLocks noChangeArrowheads="1"/>
                      </p:cNvPicPr>
                      <p:nvPr/>
                    </p:nvPicPr>
                    <p:blipFill>
                      <a:blip r:embed="rId4"/>
                      <a:srcRect l="571" r="-81" b="4031"/>
                      <a:stretch>
                        <a:fillRect/>
                      </a:stretch>
                    </p:blipFill>
                    <p:spPr bwMode="auto">
                      <a:xfrm>
                        <a:off x="553964" y="820479"/>
                        <a:ext cx="9562917" cy="5792972"/>
                      </a:xfrm>
                      <a:prstGeom prst="rect">
                        <a:avLst/>
                      </a:prstGeom>
                      <a:noFill/>
                      <a:ln>
                        <a:noFill/>
                      </a:ln>
                      <a:effectLst/>
                    </p:spPr>
                  </p:pic>
                </p:oleObj>
              </mc:Fallback>
            </mc:AlternateContent>
          </a:graphicData>
        </a:graphic>
      </p:graphicFrame>
      <p:sp>
        <p:nvSpPr>
          <p:cNvPr id="3" name="TextBox 2">
            <a:extLst>
              <a:ext uri="{FF2B5EF4-FFF2-40B4-BE49-F238E27FC236}">
                <a16:creationId xmlns:a16="http://schemas.microsoft.com/office/drawing/2014/main" id="{53156FAB-1306-97B5-2024-27F4D709692A}"/>
              </a:ext>
            </a:extLst>
          </p:cNvPr>
          <p:cNvSpPr txBox="1"/>
          <p:nvPr/>
        </p:nvSpPr>
        <p:spPr>
          <a:xfrm>
            <a:off x="10308266" y="2594344"/>
            <a:ext cx="1557669" cy="2185214"/>
          </a:xfrm>
          <a:prstGeom prst="rect">
            <a:avLst/>
          </a:prstGeom>
          <a:solidFill>
            <a:srgbClr val="FFFF00"/>
          </a:solidFill>
        </p:spPr>
        <p:txBody>
          <a:bodyPr wrap="square" rtlCol="0">
            <a:spAutoFit/>
          </a:bodyPr>
          <a:lstStyle/>
          <a:p>
            <a:r>
              <a:rPr lang="en-GB" sz="1700" b="1" dirty="0">
                <a:latin typeface="Calibri" panose="020F0502020204030204" pitchFamily="34" charset="0"/>
                <a:cs typeface="Calibri" panose="020F0502020204030204" pitchFamily="34" charset="0"/>
              </a:rPr>
              <a:t>Activity</a:t>
            </a:r>
            <a:r>
              <a:rPr lang="en-GB" sz="1700" dirty="0">
                <a:latin typeface="Calibri" panose="020F0502020204030204" pitchFamily="34" charset="0"/>
                <a:cs typeface="Calibri" panose="020F0502020204030204" pitchFamily="34" charset="0"/>
              </a:rPr>
              <a:t> – Discuss with a partner what you think the demand curve for each type of market will look like.</a:t>
            </a:r>
          </a:p>
        </p:txBody>
      </p:sp>
    </p:spTree>
    <p:extLst>
      <p:ext uri="{BB962C8B-B14F-4D97-AF65-F5344CB8AC3E}">
        <p14:creationId xmlns:p14="http://schemas.microsoft.com/office/powerpoint/2010/main" val="3047082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C11DFB30-FCB5-49C0-ACCD-50D9D76FEEC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FD93EA04-6C93-4699-93BC-E9B9A11A00D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6" name="Rectangle 6">
            <a:extLst>
              <a:ext uri="{FF2B5EF4-FFF2-40B4-BE49-F238E27FC236}">
                <a16:creationId xmlns:a16="http://schemas.microsoft.com/office/drawing/2014/main" id="{6483348A-614B-4047-871B-2C85831B855B}"/>
              </a:ext>
            </a:extLst>
          </p:cNvPr>
          <p:cNvSpPr>
            <a:spLocks noGrp="1"/>
          </p:cNvSpPr>
          <p:nvPr>
            <p:ph type="title"/>
          </p:nvPr>
        </p:nvSpPr>
        <p:spPr>
          <a:xfrm>
            <a:off x="508782" y="234489"/>
            <a:ext cx="10515600" cy="908198"/>
          </a:xfrm>
        </p:spPr>
        <p:txBody>
          <a:bodyPr/>
          <a:lstStyle/>
          <a:p>
            <a:r>
              <a:rPr lang="en-GB" altLang="en-US" dirty="0"/>
              <a:t>Perfect Competition</a:t>
            </a:r>
          </a:p>
        </p:txBody>
      </p:sp>
      <p:sp>
        <p:nvSpPr>
          <p:cNvPr id="404487" name="Rectangle 7">
            <a:extLst>
              <a:ext uri="{FF2B5EF4-FFF2-40B4-BE49-F238E27FC236}">
                <a16:creationId xmlns:a16="http://schemas.microsoft.com/office/drawing/2014/main" id="{3E0747D4-2BE6-4FAA-8297-0E1BEC6D7DF9}"/>
              </a:ext>
            </a:extLst>
          </p:cNvPr>
          <p:cNvSpPr>
            <a:spLocks noGrp="1"/>
          </p:cNvSpPr>
          <p:nvPr>
            <p:ph idx="1"/>
          </p:nvPr>
        </p:nvSpPr>
        <p:spPr>
          <a:xfrm>
            <a:off x="402167" y="1262741"/>
            <a:ext cx="11379200" cy="4889500"/>
          </a:xfrm>
        </p:spPr>
        <p:txBody>
          <a:bodyPr/>
          <a:lstStyle/>
          <a:p>
            <a:pPr>
              <a:spcBef>
                <a:spcPct val="50000"/>
              </a:spcBef>
            </a:pPr>
            <a:r>
              <a:rPr lang="en-GB" altLang="en-US" sz="2000" b="1" dirty="0">
                <a:latin typeface="Calibri" panose="020F0502020204030204" pitchFamily="34" charset="0"/>
                <a:cs typeface="Calibri" panose="020F0502020204030204" pitchFamily="34" charset="0"/>
              </a:rPr>
              <a:t>Most firms in the real world operate under imperfect competition</a:t>
            </a:r>
          </a:p>
          <a:p>
            <a:pPr lvl="1">
              <a:spcBef>
                <a:spcPct val="50000"/>
              </a:spcBef>
            </a:pPr>
            <a:r>
              <a:rPr lang="en-GB" altLang="en-US" dirty="0">
                <a:latin typeface="Calibri" panose="020F0502020204030204" pitchFamily="34" charset="0"/>
                <a:cs typeface="Calibri" panose="020F0502020204030204" pitchFamily="34" charset="0"/>
              </a:rPr>
              <a:t>It is still worth studying the two extreme cases (perfect competition and monopoly)</a:t>
            </a:r>
          </a:p>
          <a:p>
            <a:pPr lvl="1">
              <a:spcBef>
                <a:spcPct val="50000"/>
              </a:spcBef>
            </a:pPr>
            <a:r>
              <a:rPr lang="en-GB" altLang="en-US" dirty="0">
                <a:latin typeface="Calibri" panose="020F0502020204030204" pitchFamily="34" charset="0"/>
                <a:cs typeface="Calibri" panose="020F0502020204030204" pitchFamily="34" charset="0"/>
              </a:rPr>
              <a:t>They provide a framework within which to understand the real world and benchmarks for comparison</a:t>
            </a:r>
          </a:p>
          <a:p>
            <a:pPr marL="0" indent="0">
              <a:spcBef>
                <a:spcPct val="50000"/>
              </a:spcBef>
              <a:buNone/>
            </a:pPr>
            <a:endParaRPr lang="en-GB" altLang="en-US" sz="19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3C1F4C54-89D1-7BC1-D77F-0856EE6EBD76}"/>
              </a:ext>
            </a:extLst>
          </p:cNvPr>
          <p:cNvSpPr txBox="1"/>
          <p:nvPr/>
        </p:nvSpPr>
        <p:spPr>
          <a:xfrm>
            <a:off x="8995144" y="3726711"/>
            <a:ext cx="2695361" cy="2723823"/>
          </a:xfrm>
          <a:prstGeom prst="rect">
            <a:avLst/>
          </a:prstGeom>
          <a:noFill/>
          <a:ln>
            <a:solidFill>
              <a:schemeClr val="accent1"/>
            </a:solidFill>
          </a:ln>
        </p:spPr>
        <p:txBody>
          <a:bodyPr wrap="square" rtlCol="0">
            <a:spAutoFit/>
          </a:bodyPr>
          <a:lstStyle/>
          <a:p>
            <a:r>
              <a:rPr lang="en-GB" altLang="en-US" sz="1700" dirty="0">
                <a:latin typeface="Calibri" panose="020F0502020204030204" pitchFamily="34" charset="0"/>
                <a:cs typeface="Calibri" panose="020F0502020204030204" pitchFamily="34" charset="0"/>
              </a:rPr>
              <a:t>*These assumptions are very strict. Few, if any, industries in the real world meet these conditions. Certain agricultural markets, perhaps, are closest to perfect competition. For e.g., the market for fresh vegetables.</a:t>
            </a:r>
          </a:p>
          <a:p>
            <a:endParaRPr lang="en-GB" dirty="0"/>
          </a:p>
        </p:txBody>
      </p:sp>
      <p:sp>
        <p:nvSpPr>
          <p:cNvPr id="5" name="TextBox 4">
            <a:extLst>
              <a:ext uri="{FF2B5EF4-FFF2-40B4-BE49-F238E27FC236}">
                <a16:creationId xmlns:a16="http://schemas.microsoft.com/office/drawing/2014/main" id="{2AAFB317-A39F-F6AF-4805-B6D65C66AF19}"/>
              </a:ext>
            </a:extLst>
          </p:cNvPr>
          <p:cNvSpPr txBox="1"/>
          <p:nvPr/>
        </p:nvSpPr>
        <p:spPr>
          <a:xfrm>
            <a:off x="356191" y="2699175"/>
            <a:ext cx="8532628" cy="3508653"/>
          </a:xfrm>
          <a:prstGeom prst="rect">
            <a:avLst/>
          </a:prstGeom>
          <a:noFill/>
        </p:spPr>
        <p:txBody>
          <a:bodyPr wrap="square" rtlCol="0">
            <a:spAutoFit/>
          </a:bodyPr>
          <a:lstStyle/>
          <a:p>
            <a:pPr marL="342900" indent="-342900" eaLnBrk="1" hangingPunct="1">
              <a:lnSpc>
                <a:spcPct val="90000"/>
              </a:lnSpc>
              <a:spcBef>
                <a:spcPct val="50000"/>
              </a:spcBef>
              <a:buClr>
                <a:srgbClr val="CE6312"/>
              </a:buClr>
              <a:buSzPct val="85000"/>
              <a:buFont typeface="Wingdings 2" panose="05020102010507070707" pitchFamily="18" charset="2"/>
              <a:buChar char=""/>
            </a:pPr>
            <a:r>
              <a:rPr lang="en-GB" altLang="en-US" sz="2000" b="1" dirty="0">
                <a:latin typeface="Calibri" panose="020F0502020204030204" pitchFamily="34" charset="0"/>
                <a:cs typeface="Calibri" panose="020F0502020204030204" pitchFamily="34" charset="0"/>
              </a:rPr>
              <a:t>Perfect Competition – Assumptions</a:t>
            </a:r>
          </a:p>
          <a:p>
            <a:pPr marL="742950" lvl="1" indent="-285750" eaLnBrk="1" hangingPunct="1">
              <a:lnSpc>
                <a:spcPct val="90000"/>
              </a:lnSpc>
              <a:spcBef>
                <a:spcPct val="50000"/>
              </a:spcBef>
              <a:buClr>
                <a:srgbClr val="BCA600"/>
              </a:buClr>
              <a:buSzPct val="70000"/>
              <a:buFont typeface="Wingdings" panose="05000000000000000000" pitchFamily="2" charset="2"/>
              <a:buChar char="¡"/>
            </a:pPr>
            <a:r>
              <a:rPr lang="en-GB" altLang="en-US" sz="2000" dirty="0">
                <a:solidFill>
                  <a:srgbClr val="014946"/>
                </a:solidFill>
                <a:latin typeface="Calibri" panose="020F0502020204030204" pitchFamily="34" charset="0"/>
                <a:cs typeface="Calibri" panose="020F0502020204030204" pitchFamily="34" charset="0"/>
              </a:rPr>
              <a:t>Firms are price takers </a:t>
            </a:r>
          </a:p>
          <a:p>
            <a:pPr marL="742950" lvl="1" indent="-285750" eaLnBrk="1" hangingPunct="1">
              <a:lnSpc>
                <a:spcPct val="90000"/>
              </a:lnSpc>
              <a:spcBef>
                <a:spcPct val="50000"/>
              </a:spcBef>
              <a:buClr>
                <a:srgbClr val="BCA600"/>
              </a:buClr>
              <a:buSzPct val="70000"/>
              <a:buFont typeface="Wingdings" panose="05000000000000000000" pitchFamily="2" charset="2"/>
              <a:buChar char="¡"/>
            </a:pPr>
            <a:r>
              <a:rPr lang="en-GB" altLang="en-US" sz="2000" dirty="0">
                <a:solidFill>
                  <a:srgbClr val="014946"/>
                </a:solidFill>
                <a:latin typeface="Calibri" panose="020F0502020204030204" pitchFamily="34" charset="0"/>
                <a:cs typeface="Calibri" panose="020F0502020204030204" pitchFamily="34" charset="0"/>
              </a:rPr>
              <a:t>There is complete freedom of entry of firms into the industry for new firms</a:t>
            </a:r>
          </a:p>
          <a:p>
            <a:pPr marL="742950" lvl="1" indent="-285750" eaLnBrk="1" hangingPunct="1">
              <a:lnSpc>
                <a:spcPct val="90000"/>
              </a:lnSpc>
              <a:spcBef>
                <a:spcPct val="50000"/>
              </a:spcBef>
              <a:buClr>
                <a:srgbClr val="BCA600"/>
              </a:buClr>
              <a:buSzPct val="70000"/>
              <a:buFont typeface="Wingdings" panose="05000000000000000000" pitchFamily="2" charset="2"/>
              <a:buChar char="¡"/>
            </a:pPr>
            <a:r>
              <a:rPr lang="en-GB" altLang="en-US" sz="2000" dirty="0">
                <a:solidFill>
                  <a:srgbClr val="014946"/>
                </a:solidFill>
                <a:latin typeface="Calibri" panose="020F0502020204030204" pitchFamily="34" charset="0"/>
                <a:cs typeface="Calibri" panose="020F0502020204030204" pitchFamily="34" charset="0"/>
              </a:rPr>
              <a:t>All firms produce an identical product</a:t>
            </a:r>
          </a:p>
          <a:p>
            <a:pPr marL="742950" lvl="1" indent="-285750" eaLnBrk="1" hangingPunct="1">
              <a:lnSpc>
                <a:spcPct val="90000"/>
              </a:lnSpc>
              <a:spcBef>
                <a:spcPct val="50000"/>
              </a:spcBef>
              <a:buClr>
                <a:srgbClr val="BCA600"/>
              </a:buClr>
              <a:buSzPct val="70000"/>
              <a:buFont typeface="Wingdings" panose="05000000000000000000" pitchFamily="2" charset="2"/>
              <a:buChar char="¡"/>
            </a:pPr>
            <a:r>
              <a:rPr lang="en-GB" altLang="en-US" sz="2000" dirty="0">
                <a:solidFill>
                  <a:srgbClr val="014946"/>
                </a:solidFill>
                <a:latin typeface="Calibri" panose="020F0502020204030204" pitchFamily="34" charset="0"/>
                <a:cs typeface="Calibri" panose="020F0502020204030204" pitchFamily="34" charset="0"/>
              </a:rPr>
              <a:t>Producers and consumers have perfect knowledge of the market</a:t>
            </a:r>
          </a:p>
          <a:p>
            <a:pPr marL="742950" lvl="1" indent="-285750" eaLnBrk="1" hangingPunct="1">
              <a:lnSpc>
                <a:spcPct val="90000"/>
              </a:lnSpc>
              <a:spcBef>
                <a:spcPct val="50000"/>
              </a:spcBef>
              <a:buClr>
                <a:srgbClr val="BCA600"/>
              </a:buClr>
              <a:buSzPct val="70000"/>
              <a:buFont typeface="Wingdings" panose="05000000000000000000" pitchFamily="2" charset="2"/>
              <a:buChar char="¡"/>
            </a:pPr>
            <a:r>
              <a:rPr lang="en-GB" altLang="en-US" sz="2000" dirty="0">
                <a:solidFill>
                  <a:srgbClr val="014946"/>
                </a:solidFill>
                <a:latin typeface="Calibri" panose="020F0502020204030204" pitchFamily="34" charset="0"/>
                <a:cs typeface="Calibri" panose="020F0502020204030204" pitchFamily="34" charset="0"/>
              </a:rPr>
              <a:t>Producers are fully aware of prices, costs, technology and market opportunities</a:t>
            </a:r>
          </a:p>
          <a:p>
            <a:pPr marL="742950" lvl="1" indent="-285750" eaLnBrk="1" hangingPunct="1">
              <a:lnSpc>
                <a:spcPct val="90000"/>
              </a:lnSpc>
              <a:spcBef>
                <a:spcPct val="50000"/>
              </a:spcBef>
              <a:buClr>
                <a:srgbClr val="BCA600"/>
              </a:buClr>
              <a:buSzPct val="70000"/>
              <a:buFont typeface="Wingdings" panose="05000000000000000000" pitchFamily="2" charset="2"/>
              <a:buChar char="¡"/>
            </a:pPr>
            <a:r>
              <a:rPr lang="en-GB" altLang="en-US" sz="2000" dirty="0">
                <a:solidFill>
                  <a:srgbClr val="014946"/>
                </a:solidFill>
                <a:latin typeface="Calibri" panose="020F0502020204030204" pitchFamily="34" charset="0"/>
                <a:cs typeface="Calibri" panose="020F0502020204030204" pitchFamily="34" charset="0"/>
              </a:rPr>
              <a:t>Consumers are fully aware of price, quality and availability of the product</a:t>
            </a:r>
          </a:p>
        </p:txBody>
      </p:sp>
    </p:spTree>
    <p:extLst>
      <p:ext uri="{BB962C8B-B14F-4D97-AF65-F5344CB8AC3E}">
        <p14:creationId xmlns:p14="http://schemas.microsoft.com/office/powerpoint/2010/main" val="1212514316"/>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4487">
                                            <p:txEl>
                                              <p:pRg st="0" end="0"/>
                                            </p:txEl>
                                          </p:spTgt>
                                        </p:tgtEl>
                                        <p:attrNameLst>
                                          <p:attrName>style.visibility</p:attrName>
                                        </p:attrNameLst>
                                      </p:cBhvr>
                                      <p:to>
                                        <p:strVal val="visible"/>
                                      </p:to>
                                    </p:set>
                                    <p:anim calcmode="lin" valueType="num">
                                      <p:cBhvr additive="base">
                                        <p:cTn id="7" dur="500"/>
                                        <p:tgtEl>
                                          <p:spTgt spid="4044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4487">
                                            <p:txEl>
                                              <p:pRg st="1" end="1"/>
                                            </p:txEl>
                                          </p:spTgt>
                                        </p:tgtEl>
                                        <p:attrNameLst>
                                          <p:attrName>style.visibility</p:attrName>
                                        </p:attrNameLst>
                                      </p:cBhvr>
                                      <p:to>
                                        <p:strVal val="visible"/>
                                      </p:to>
                                    </p:set>
                                    <p:anim calcmode="lin" valueType="num">
                                      <p:cBhvr additive="base">
                                        <p:cTn id="13" dur="500"/>
                                        <p:tgtEl>
                                          <p:spTgt spid="40448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448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4487">
                                            <p:txEl>
                                              <p:pRg st="2" end="2"/>
                                            </p:txEl>
                                          </p:spTgt>
                                        </p:tgtEl>
                                        <p:attrNameLst>
                                          <p:attrName>style.visibility</p:attrName>
                                        </p:attrNameLst>
                                      </p:cBhvr>
                                      <p:to>
                                        <p:strVal val="visible"/>
                                      </p:to>
                                    </p:set>
                                    <p:anim calcmode="lin" valueType="num">
                                      <p:cBhvr additive="base">
                                        <p:cTn id="19" dur="500"/>
                                        <p:tgtEl>
                                          <p:spTgt spid="40448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44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7" grpId="0" build="p" bldLvl="2"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16250-51FB-305C-ABB9-3F1632F327ED}"/>
              </a:ext>
            </a:extLst>
          </p:cNvPr>
          <p:cNvSpPr>
            <a:spLocks noGrp="1"/>
          </p:cNvSpPr>
          <p:nvPr>
            <p:ph type="title"/>
          </p:nvPr>
        </p:nvSpPr>
        <p:spPr/>
        <p:txBody>
          <a:bodyPr/>
          <a:lstStyle/>
          <a:p>
            <a:r>
              <a:rPr lang="en-GB" altLang="en-US" dirty="0"/>
              <a:t>Perfect Competition</a:t>
            </a:r>
            <a:endParaRPr lang="en-GB" dirty="0"/>
          </a:p>
        </p:txBody>
      </p:sp>
      <p:pic>
        <p:nvPicPr>
          <p:cNvPr id="3" name="Picture 2">
            <a:extLst>
              <a:ext uri="{FF2B5EF4-FFF2-40B4-BE49-F238E27FC236}">
                <a16:creationId xmlns:a16="http://schemas.microsoft.com/office/drawing/2014/main" id="{454941A4-7FF9-A457-7410-520C511AE8C9}"/>
              </a:ext>
            </a:extLst>
          </p:cNvPr>
          <p:cNvPicPr>
            <a:picLocks noChangeAspect="1"/>
          </p:cNvPicPr>
          <p:nvPr/>
        </p:nvPicPr>
        <p:blipFill>
          <a:blip r:embed="rId2"/>
          <a:stretch>
            <a:fillRect/>
          </a:stretch>
        </p:blipFill>
        <p:spPr>
          <a:xfrm>
            <a:off x="435336" y="1589568"/>
            <a:ext cx="5779396" cy="4022384"/>
          </a:xfrm>
          <a:prstGeom prst="rect">
            <a:avLst/>
          </a:prstGeom>
        </p:spPr>
      </p:pic>
      <p:sp>
        <p:nvSpPr>
          <p:cNvPr id="5" name="TextBox 4">
            <a:extLst>
              <a:ext uri="{FF2B5EF4-FFF2-40B4-BE49-F238E27FC236}">
                <a16:creationId xmlns:a16="http://schemas.microsoft.com/office/drawing/2014/main" id="{D46FB356-AC97-F2C4-A58E-A82FB1196098}"/>
              </a:ext>
            </a:extLst>
          </p:cNvPr>
          <p:cNvSpPr txBox="1"/>
          <p:nvPr/>
        </p:nvSpPr>
        <p:spPr>
          <a:xfrm>
            <a:off x="6289158" y="324610"/>
            <a:ext cx="5672470" cy="6093335"/>
          </a:xfrm>
          <a:prstGeom prst="rect">
            <a:avLst/>
          </a:prstGeom>
          <a:noFill/>
        </p:spPr>
        <p:txBody>
          <a:bodyPr wrap="square" rtlCol="0">
            <a:spAutoFit/>
          </a:bodyPr>
          <a:lstStyle/>
          <a:p>
            <a:pPr>
              <a:lnSpc>
                <a:spcPct val="80000"/>
              </a:lnSpc>
              <a:spcBef>
                <a:spcPct val="40000"/>
              </a:spcBef>
            </a:pPr>
            <a:r>
              <a:rPr lang="en-GB" altLang="en-US" sz="2000" dirty="0">
                <a:latin typeface="Calibri" panose="020F0502020204030204" pitchFamily="34" charset="0"/>
                <a:cs typeface="Calibri" panose="020F0502020204030204" pitchFamily="34" charset="0"/>
              </a:rPr>
              <a:t>Short-run equilibrium of the firm</a:t>
            </a:r>
          </a:p>
          <a:p>
            <a:pPr marL="285750" indent="-285750">
              <a:lnSpc>
                <a:spcPct val="80000"/>
              </a:lnSpc>
              <a:spcBef>
                <a:spcPct val="40000"/>
              </a:spcBef>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Assumption that there is no time for new firms to enter the market</a:t>
            </a:r>
          </a:p>
          <a:p>
            <a:pPr>
              <a:lnSpc>
                <a:spcPct val="80000"/>
              </a:lnSpc>
              <a:spcBef>
                <a:spcPct val="40000"/>
              </a:spcBef>
            </a:pPr>
            <a:endParaRPr lang="en-GB" altLang="en-US" sz="2000" dirty="0">
              <a:latin typeface="Calibri" panose="020F0502020204030204" pitchFamily="34" charset="0"/>
              <a:cs typeface="Calibri" panose="020F0502020204030204" pitchFamily="34" charset="0"/>
            </a:endParaRPr>
          </a:p>
          <a:p>
            <a:pPr marL="285750" indent="-285750">
              <a:lnSpc>
                <a:spcPct val="80000"/>
              </a:lnSpc>
              <a:spcBef>
                <a:spcPct val="40000"/>
              </a:spcBef>
              <a:buFont typeface="Arial" panose="020B0604020202020204" pitchFamily="34" charset="0"/>
              <a:buChar char="•"/>
            </a:pPr>
            <a:r>
              <a:rPr lang="en-GB" altLang="en-US" sz="2000" b="1" dirty="0">
                <a:latin typeface="Calibri" panose="020F0502020204030204" pitchFamily="34" charset="0"/>
                <a:cs typeface="Calibri" panose="020F0502020204030204" pitchFamily="34" charset="0"/>
              </a:rPr>
              <a:t>Price</a:t>
            </a:r>
          </a:p>
          <a:p>
            <a:pPr marL="742950" lvl="1" indent="-285750">
              <a:lnSpc>
                <a:spcPct val="80000"/>
              </a:lnSpc>
              <a:spcBef>
                <a:spcPct val="40000"/>
              </a:spcBef>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Determined in the industry by the intersection of market demand and supply</a:t>
            </a:r>
          </a:p>
          <a:p>
            <a:pPr marL="742950" lvl="1" indent="-285750">
              <a:lnSpc>
                <a:spcPct val="80000"/>
              </a:lnSpc>
              <a:spcBef>
                <a:spcPct val="40000"/>
              </a:spcBef>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The firm faces a horizontal demand (or AR) ‘curve’ at this price</a:t>
            </a:r>
          </a:p>
          <a:p>
            <a:pPr marL="742950" lvl="1" indent="-285750">
              <a:lnSpc>
                <a:spcPct val="80000"/>
              </a:lnSpc>
              <a:spcBef>
                <a:spcPct val="40000"/>
              </a:spcBef>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Since the price is not affected by the firm’s output, MR will equal price (price is constant at P</a:t>
            </a:r>
            <a:r>
              <a:rPr lang="en-GB" altLang="en-US" sz="2000" baseline="-25000" dirty="0">
                <a:latin typeface="Calibri" panose="020F0502020204030204" pitchFamily="34" charset="0"/>
                <a:cs typeface="Calibri" panose="020F0502020204030204" pitchFamily="34" charset="0"/>
              </a:rPr>
              <a:t>e</a:t>
            </a:r>
            <a:r>
              <a:rPr lang="en-GB" altLang="en-US" sz="2000" dirty="0">
                <a:latin typeface="Calibri" panose="020F0502020204030204" pitchFamily="34" charset="0"/>
                <a:cs typeface="Calibri" panose="020F0502020204030204" pitchFamily="34" charset="0"/>
              </a:rPr>
              <a:t>)</a:t>
            </a:r>
          </a:p>
          <a:p>
            <a:pPr lvl="1">
              <a:lnSpc>
                <a:spcPct val="80000"/>
              </a:lnSpc>
              <a:spcBef>
                <a:spcPct val="40000"/>
              </a:spcBef>
            </a:pPr>
            <a:endParaRPr lang="en-GB" altLang="en-US" sz="2000" dirty="0">
              <a:latin typeface="Calibri" panose="020F0502020204030204" pitchFamily="34" charset="0"/>
              <a:cs typeface="Calibri" panose="020F0502020204030204" pitchFamily="34" charset="0"/>
            </a:endParaRPr>
          </a:p>
          <a:p>
            <a:pPr marL="285750" indent="-285750">
              <a:lnSpc>
                <a:spcPct val="80000"/>
              </a:lnSpc>
              <a:spcBef>
                <a:spcPct val="40000"/>
              </a:spcBef>
              <a:buFont typeface="Arial" panose="020B0604020202020204" pitchFamily="34" charset="0"/>
              <a:buChar char="•"/>
            </a:pPr>
            <a:r>
              <a:rPr lang="en-GB" altLang="en-US" sz="2000" b="1" dirty="0">
                <a:latin typeface="Calibri" panose="020F0502020204030204" pitchFamily="34" charset="0"/>
                <a:cs typeface="Calibri" panose="020F0502020204030204" pitchFamily="34" charset="0"/>
              </a:rPr>
              <a:t>Output</a:t>
            </a:r>
          </a:p>
          <a:p>
            <a:pPr marL="742950" lvl="1" indent="-285750">
              <a:lnSpc>
                <a:spcPct val="80000"/>
              </a:lnSpc>
              <a:spcBef>
                <a:spcPct val="40000"/>
              </a:spcBef>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The firm will maximise profits where MR = MC, at an output of Qₑ</a:t>
            </a:r>
          </a:p>
          <a:p>
            <a:pPr marL="742950" lvl="1" indent="-285750">
              <a:lnSpc>
                <a:spcPct val="80000"/>
              </a:lnSpc>
              <a:spcBef>
                <a:spcPct val="40000"/>
              </a:spcBef>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As MR = P, the firm will produce where P = MC</a:t>
            </a:r>
          </a:p>
          <a:p>
            <a:pPr marL="742950" lvl="1" indent="-285750">
              <a:lnSpc>
                <a:spcPct val="80000"/>
              </a:lnSpc>
              <a:spcBef>
                <a:spcPct val="40000"/>
              </a:spcBef>
              <a:buFont typeface="Arial" panose="020B0604020202020204" pitchFamily="34" charset="0"/>
              <a:buChar char="•"/>
            </a:pPr>
            <a:endParaRPr lang="en-GB" altLang="en-US" sz="1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71AF478-C96E-D6B1-388A-EBA795D0AAB5}"/>
              </a:ext>
            </a:extLst>
          </p:cNvPr>
          <p:cNvSpPr txBox="1"/>
          <p:nvPr/>
        </p:nvSpPr>
        <p:spPr>
          <a:xfrm>
            <a:off x="356191" y="5884644"/>
            <a:ext cx="6709111" cy="400110"/>
          </a:xfrm>
          <a:prstGeom prst="rect">
            <a:avLst/>
          </a:prstGeom>
          <a:solidFill>
            <a:srgbClr val="FFFF00"/>
          </a:solidFill>
        </p:spPr>
        <p:txBody>
          <a:bodyPr wrap="square" rtlCol="0">
            <a:spAutoFit/>
          </a:bodyPr>
          <a:lstStyle/>
          <a:p>
            <a:r>
              <a:rPr lang="en-GB" sz="2000" b="1" dirty="0">
                <a:latin typeface="Calibri" panose="020F0502020204030204" pitchFamily="34" charset="0"/>
                <a:ea typeface="Calibri" panose="020F0502020204030204" pitchFamily="34" charset="0"/>
                <a:cs typeface="Calibri" panose="020F0502020204030204" pitchFamily="34" charset="0"/>
              </a:rPr>
              <a:t>Activity</a:t>
            </a:r>
            <a:r>
              <a:rPr lang="en-GB" sz="2000" dirty="0">
                <a:latin typeface="Calibri" panose="020F0502020204030204" pitchFamily="34" charset="0"/>
                <a:ea typeface="Calibri" panose="020F0502020204030204" pitchFamily="34" charset="0"/>
                <a:cs typeface="Calibri" panose="020F0502020204030204" pitchFamily="34" charset="0"/>
              </a:rPr>
              <a:t> – Add an MC and AC curve to the diagram on the right.</a:t>
            </a:r>
          </a:p>
        </p:txBody>
      </p:sp>
    </p:spTree>
    <p:extLst>
      <p:ext uri="{BB962C8B-B14F-4D97-AF65-F5344CB8AC3E}">
        <p14:creationId xmlns:p14="http://schemas.microsoft.com/office/powerpoint/2010/main" val="1563106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16250-51FB-305C-ABB9-3F1632F327ED}"/>
              </a:ext>
            </a:extLst>
          </p:cNvPr>
          <p:cNvSpPr>
            <a:spLocks noGrp="1"/>
          </p:cNvSpPr>
          <p:nvPr>
            <p:ph type="title"/>
          </p:nvPr>
        </p:nvSpPr>
        <p:spPr/>
        <p:txBody>
          <a:bodyPr/>
          <a:lstStyle/>
          <a:p>
            <a:r>
              <a:rPr lang="en-GB" altLang="en-US" dirty="0"/>
              <a:t>Perfect Competition</a:t>
            </a:r>
            <a:endParaRPr lang="en-GB" dirty="0"/>
          </a:p>
        </p:txBody>
      </p:sp>
      <p:pic>
        <p:nvPicPr>
          <p:cNvPr id="4" name="Picture 3">
            <a:extLst>
              <a:ext uri="{FF2B5EF4-FFF2-40B4-BE49-F238E27FC236}">
                <a16:creationId xmlns:a16="http://schemas.microsoft.com/office/drawing/2014/main" id="{7F7BA49C-5CAA-645D-FEB8-C6DBEAE1811A}"/>
              </a:ext>
            </a:extLst>
          </p:cNvPr>
          <p:cNvPicPr>
            <a:picLocks noChangeAspect="1"/>
          </p:cNvPicPr>
          <p:nvPr/>
        </p:nvPicPr>
        <p:blipFill>
          <a:blip r:embed="rId2"/>
          <a:stretch>
            <a:fillRect/>
          </a:stretch>
        </p:blipFill>
        <p:spPr>
          <a:xfrm>
            <a:off x="5172740" y="1175997"/>
            <a:ext cx="6557851" cy="4540051"/>
          </a:xfrm>
          <a:prstGeom prst="rect">
            <a:avLst/>
          </a:prstGeom>
        </p:spPr>
      </p:pic>
      <p:sp>
        <p:nvSpPr>
          <p:cNvPr id="5" name="TextBox 4">
            <a:extLst>
              <a:ext uri="{FF2B5EF4-FFF2-40B4-BE49-F238E27FC236}">
                <a16:creationId xmlns:a16="http://schemas.microsoft.com/office/drawing/2014/main" id="{FB09B1C8-1984-B437-2CCC-225176DE954E}"/>
              </a:ext>
            </a:extLst>
          </p:cNvPr>
          <p:cNvSpPr txBox="1"/>
          <p:nvPr/>
        </p:nvSpPr>
        <p:spPr>
          <a:xfrm>
            <a:off x="221502" y="1329347"/>
            <a:ext cx="4743904" cy="4355038"/>
          </a:xfrm>
          <a:prstGeom prst="rect">
            <a:avLst/>
          </a:prstGeom>
          <a:noFill/>
        </p:spPr>
        <p:txBody>
          <a:bodyPr wrap="square" rtlCol="0">
            <a:spAutoFit/>
          </a:bodyPr>
          <a:lstStyle/>
          <a:p>
            <a:r>
              <a:rPr lang="en-GB" sz="2000" b="1" dirty="0">
                <a:latin typeface="Calibri" panose="020F0502020204030204" pitchFamily="34" charset="0"/>
                <a:cs typeface="Calibri" panose="020F0502020204030204" pitchFamily="34" charset="0"/>
              </a:rPr>
              <a:t>Profit</a:t>
            </a:r>
          </a:p>
          <a:p>
            <a:endParaRPr lang="en-GB" sz="2000" b="1"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If the AC curve (which includes normal profit) dips below the AR ‘curve’, the firm will earn supernormal profits</a:t>
            </a:r>
          </a:p>
          <a:p>
            <a:pPr marL="285750" indent="-285750">
              <a:buFont typeface="Arial" panose="020B0604020202020204" pitchFamily="34" charset="0"/>
              <a:buChar char="•"/>
            </a:pPr>
            <a:endParaRPr lang="en-GB" altLang="en-US" sz="2000" b="1"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Supernormal profit per unit at Q</a:t>
            </a:r>
            <a:r>
              <a:rPr lang="en-GB" altLang="en-US" sz="2000" baseline="-25000" dirty="0">
                <a:latin typeface="Calibri" panose="020F0502020204030204" pitchFamily="34" charset="0"/>
                <a:cs typeface="Calibri" panose="020F0502020204030204" pitchFamily="34" charset="0"/>
              </a:rPr>
              <a:t>e</a:t>
            </a:r>
            <a:r>
              <a:rPr lang="en-GB" altLang="en-US" sz="2000" dirty="0">
                <a:latin typeface="Calibri" panose="020F0502020204030204" pitchFamily="34" charset="0"/>
                <a:cs typeface="Calibri" panose="020F0502020204030204" pitchFamily="34" charset="0"/>
              </a:rPr>
              <a:t> is the vertical distance between AR and AC at Q</a:t>
            </a:r>
            <a:r>
              <a:rPr lang="en-GB" altLang="en-US" sz="2000" baseline="-25000" dirty="0">
                <a:latin typeface="Calibri" panose="020F0502020204030204" pitchFamily="34" charset="0"/>
                <a:cs typeface="Calibri" panose="020F0502020204030204" pitchFamily="34" charset="0"/>
              </a:rPr>
              <a:t>e</a:t>
            </a:r>
            <a:r>
              <a:rPr lang="en-GB" altLang="en-US" sz="20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Total supernormal profit is the shaded rectangle.</a:t>
            </a:r>
          </a:p>
          <a:p>
            <a:endParaRPr lang="en-GB" altLang="en-US" sz="2000" dirty="0">
              <a:latin typeface="Calibri" panose="020F0502020204030204" pitchFamily="34" charset="0"/>
              <a:cs typeface="Calibri" panose="020F0502020204030204" pitchFamily="34" charset="0"/>
            </a:endParaRPr>
          </a:p>
          <a:p>
            <a:endParaRPr lang="en-GB" sz="1700" dirty="0"/>
          </a:p>
        </p:txBody>
      </p:sp>
    </p:spTree>
    <p:extLst>
      <p:ext uri="{BB962C8B-B14F-4D97-AF65-F5344CB8AC3E}">
        <p14:creationId xmlns:p14="http://schemas.microsoft.com/office/powerpoint/2010/main" val="1203159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16250-51FB-305C-ABB9-3F1632F327ED}"/>
              </a:ext>
            </a:extLst>
          </p:cNvPr>
          <p:cNvSpPr>
            <a:spLocks noGrp="1"/>
          </p:cNvSpPr>
          <p:nvPr>
            <p:ph type="title"/>
          </p:nvPr>
        </p:nvSpPr>
        <p:spPr/>
        <p:txBody>
          <a:bodyPr/>
          <a:lstStyle/>
          <a:p>
            <a:r>
              <a:rPr lang="en-GB" altLang="en-US" dirty="0"/>
              <a:t>Perfect Competition</a:t>
            </a:r>
            <a:endParaRPr lang="en-GB" dirty="0"/>
          </a:p>
        </p:txBody>
      </p:sp>
      <p:sp>
        <p:nvSpPr>
          <p:cNvPr id="5" name="TextBox 4">
            <a:extLst>
              <a:ext uri="{FF2B5EF4-FFF2-40B4-BE49-F238E27FC236}">
                <a16:creationId xmlns:a16="http://schemas.microsoft.com/office/drawing/2014/main" id="{FB09B1C8-1984-B437-2CCC-225176DE954E}"/>
              </a:ext>
            </a:extLst>
          </p:cNvPr>
          <p:cNvSpPr txBox="1"/>
          <p:nvPr/>
        </p:nvSpPr>
        <p:spPr>
          <a:xfrm>
            <a:off x="637953" y="2073017"/>
            <a:ext cx="4789968" cy="2816156"/>
          </a:xfrm>
          <a:prstGeom prst="rect">
            <a:avLst/>
          </a:prstGeom>
          <a:noFill/>
        </p:spPr>
        <p:txBody>
          <a:bodyPr wrap="square" rtlCol="0">
            <a:spAutoFit/>
          </a:bodyPr>
          <a:lstStyle/>
          <a:p>
            <a:r>
              <a:rPr lang="en-GB" sz="2000" b="1" dirty="0">
                <a:latin typeface="Calibri" panose="020F0502020204030204" pitchFamily="34" charset="0"/>
                <a:cs typeface="Calibri" panose="020F0502020204030204" pitchFamily="34" charset="0"/>
              </a:rPr>
              <a:t>Profit</a:t>
            </a:r>
          </a:p>
          <a:p>
            <a:endParaRPr lang="en-GB" sz="2000" b="1"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If the firm cannot make a profit at </a:t>
            </a:r>
            <a:r>
              <a:rPr lang="en-GB" altLang="en-US" sz="2000" i="1" dirty="0">
                <a:latin typeface="Calibri" panose="020F0502020204030204" pitchFamily="34" charset="0"/>
                <a:cs typeface="Calibri" panose="020F0502020204030204" pitchFamily="34" charset="0"/>
              </a:rPr>
              <a:t>any</a:t>
            </a:r>
            <a:r>
              <a:rPr lang="en-GB" altLang="en-US" sz="2000" dirty="0">
                <a:latin typeface="Calibri" panose="020F0502020204030204" pitchFamily="34" charset="0"/>
                <a:cs typeface="Calibri" panose="020F0502020204030204" pitchFamily="34" charset="0"/>
              </a:rPr>
              <a:t> level of output (i.e., the AC curve is above the AR curve at all points, then MR = MC will represent the loss-minimising point.</a:t>
            </a:r>
          </a:p>
          <a:p>
            <a:endParaRPr lang="en-GB" altLang="en-US" sz="2000" b="1" dirty="0">
              <a:latin typeface="Calibri" panose="020F0502020204030204" pitchFamily="34" charset="0"/>
              <a:cs typeface="Calibri" panose="020F0502020204030204" pitchFamily="34" charset="0"/>
            </a:endParaRPr>
          </a:p>
          <a:p>
            <a:endParaRPr lang="en-GB" altLang="en-US" sz="2000" dirty="0">
              <a:latin typeface="Calibri" panose="020F0502020204030204" pitchFamily="34" charset="0"/>
              <a:cs typeface="Calibri" panose="020F0502020204030204" pitchFamily="34" charset="0"/>
            </a:endParaRPr>
          </a:p>
          <a:p>
            <a:endParaRPr lang="en-GB" sz="1700" dirty="0"/>
          </a:p>
        </p:txBody>
      </p:sp>
      <p:pic>
        <p:nvPicPr>
          <p:cNvPr id="3" name="Picture 2">
            <a:extLst>
              <a:ext uri="{FF2B5EF4-FFF2-40B4-BE49-F238E27FC236}">
                <a16:creationId xmlns:a16="http://schemas.microsoft.com/office/drawing/2014/main" id="{C3C2BA44-6F07-16E6-E54E-559EF125641B}"/>
              </a:ext>
            </a:extLst>
          </p:cNvPr>
          <p:cNvPicPr>
            <a:picLocks noChangeAspect="1"/>
          </p:cNvPicPr>
          <p:nvPr/>
        </p:nvPicPr>
        <p:blipFill>
          <a:blip r:embed="rId2"/>
          <a:stretch>
            <a:fillRect/>
          </a:stretch>
        </p:blipFill>
        <p:spPr>
          <a:xfrm>
            <a:off x="5715001" y="1777678"/>
            <a:ext cx="5967744" cy="4131515"/>
          </a:xfrm>
          <a:prstGeom prst="rect">
            <a:avLst/>
          </a:prstGeom>
        </p:spPr>
      </p:pic>
    </p:spTree>
    <p:extLst>
      <p:ext uri="{BB962C8B-B14F-4D97-AF65-F5344CB8AC3E}">
        <p14:creationId xmlns:p14="http://schemas.microsoft.com/office/powerpoint/2010/main" val="2155690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C3447E09-D098-47B1-8098-7AD85D2B67FD}"/>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79" name="Rectangle 3">
            <a:extLst>
              <a:ext uri="{FF2B5EF4-FFF2-40B4-BE49-F238E27FC236}">
                <a16:creationId xmlns:a16="http://schemas.microsoft.com/office/drawing/2014/main" id="{66EB705D-F1EE-4B76-B8FB-24EE0FC66FA2}"/>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82" name="Rectangle 6">
            <a:extLst>
              <a:ext uri="{FF2B5EF4-FFF2-40B4-BE49-F238E27FC236}">
                <a16:creationId xmlns:a16="http://schemas.microsoft.com/office/drawing/2014/main" id="{C0193EDC-AA32-4CA3-9BCB-6F8CBB8CA66D}"/>
              </a:ext>
            </a:extLst>
          </p:cNvPr>
          <p:cNvSpPr>
            <a:spLocks noGrp="1"/>
          </p:cNvSpPr>
          <p:nvPr>
            <p:ph type="title"/>
          </p:nvPr>
        </p:nvSpPr>
        <p:spPr>
          <a:xfrm>
            <a:off x="400871" y="365126"/>
            <a:ext cx="10515600" cy="908198"/>
          </a:xfrm>
        </p:spPr>
        <p:txBody>
          <a:bodyPr/>
          <a:lstStyle/>
          <a:p>
            <a:r>
              <a:rPr lang="en-GB" altLang="en-US" dirty="0"/>
              <a:t>Perfect Competition</a:t>
            </a:r>
          </a:p>
        </p:txBody>
      </p:sp>
      <p:sp>
        <p:nvSpPr>
          <p:cNvPr id="408583" name="Rectangle 7">
            <a:extLst>
              <a:ext uri="{FF2B5EF4-FFF2-40B4-BE49-F238E27FC236}">
                <a16:creationId xmlns:a16="http://schemas.microsoft.com/office/drawing/2014/main" id="{9EC4A4C3-B89E-4B73-99B6-CEAEA6A7686E}"/>
              </a:ext>
            </a:extLst>
          </p:cNvPr>
          <p:cNvSpPr>
            <a:spLocks noGrp="1"/>
          </p:cNvSpPr>
          <p:nvPr>
            <p:ph idx="1"/>
          </p:nvPr>
        </p:nvSpPr>
        <p:spPr>
          <a:xfrm>
            <a:off x="402167" y="1398684"/>
            <a:ext cx="11379200" cy="4889500"/>
          </a:xfrm>
        </p:spPr>
        <p:txBody>
          <a:bodyPr/>
          <a:lstStyle/>
          <a:p>
            <a:pPr>
              <a:spcBef>
                <a:spcPct val="45000"/>
              </a:spcBef>
            </a:pPr>
            <a:r>
              <a:rPr lang="en-GB" altLang="en-US" sz="2000" dirty="0">
                <a:latin typeface="Calibri" panose="020F0502020204030204" pitchFamily="34" charset="0"/>
                <a:cs typeface="Calibri" panose="020F0502020204030204" pitchFamily="34" charset="0"/>
              </a:rPr>
              <a:t>Long-run equilibrium of the firm</a:t>
            </a:r>
          </a:p>
          <a:p>
            <a:pPr lvl="1">
              <a:spcBef>
                <a:spcPct val="45000"/>
              </a:spcBef>
            </a:pPr>
            <a:r>
              <a:rPr lang="en-GB" altLang="en-US" sz="2000" dirty="0">
                <a:latin typeface="Calibri" panose="020F0502020204030204" pitchFamily="34" charset="0"/>
                <a:cs typeface="Calibri" panose="020F0502020204030204" pitchFamily="34" charset="0"/>
              </a:rPr>
              <a:t>If typical firms are making supernormal profits, new firms will be attracted to the industry and existing firms will increase their operations resulting in a higher quantity being produced at every price level</a:t>
            </a:r>
          </a:p>
          <a:p>
            <a:pPr lvl="1">
              <a:spcBef>
                <a:spcPct val="45000"/>
              </a:spcBef>
            </a:pPr>
            <a:r>
              <a:rPr lang="en-GB" altLang="en-US" sz="2000" dirty="0">
                <a:latin typeface="Calibri" panose="020F0502020204030204" pitchFamily="34" charset="0"/>
                <a:cs typeface="Calibri" panose="020F0502020204030204" pitchFamily="34" charset="0"/>
              </a:rPr>
              <a:t>The industry supply curve will shift to the right, which in turn, leads to a fall in price</a:t>
            </a:r>
          </a:p>
          <a:p>
            <a:pPr lvl="1">
              <a:spcBef>
                <a:spcPct val="45000"/>
              </a:spcBef>
            </a:pPr>
            <a:r>
              <a:rPr lang="en-GB" altLang="en-US" sz="2000" dirty="0">
                <a:latin typeface="Calibri" panose="020F0502020204030204" pitchFamily="34" charset="0"/>
                <a:cs typeface="Calibri" panose="020F0502020204030204" pitchFamily="34" charset="0"/>
              </a:rPr>
              <a:t>Supply will go on increasing and price falling, until firms are only making normal profit</a:t>
            </a:r>
          </a:p>
          <a:p>
            <a:pPr lvl="1">
              <a:spcBef>
                <a:spcPct val="45000"/>
              </a:spcBef>
            </a:pPr>
            <a:r>
              <a:rPr lang="en-GB" altLang="en-US" sz="2000" dirty="0">
                <a:latin typeface="Calibri" panose="020F0502020204030204" pitchFamily="34" charset="0"/>
                <a:cs typeface="Calibri" panose="020F0502020204030204" pitchFamily="34" charset="0"/>
              </a:rPr>
              <a:t>All supernormal profits are competed away</a:t>
            </a:r>
          </a:p>
          <a:p>
            <a:pPr marL="914400" lvl="2" indent="0">
              <a:spcBef>
                <a:spcPct val="45000"/>
              </a:spcBef>
              <a:buNone/>
            </a:pPr>
            <a:endParaRPr lang="en-GB" altLang="en-US" sz="2000" b="1" dirty="0">
              <a:latin typeface="Calibri" panose="020F0502020204030204" pitchFamily="34" charset="0"/>
              <a:cs typeface="Calibri" panose="020F0502020204030204" pitchFamily="34" charset="0"/>
            </a:endParaRPr>
          </a:p>
          <a:p>
            <a:pPr>
              <a:spcBef>
                <a:spcPct val="45000"/>
              </a:spcBef>
            </a:pPr>
            <a:r>
              <a:rPr lang="en-GB" altLang="en-US" sz="2000" dirty="0">
                <a:latin typeface="Calibri" panose="020F0502020204030204" pitchFamily="34" charset="0"/>
                <a:cs typeface="Calibri" panose="020F0502020204030204" pitchFamily="34" charset="0"/>
              </a:rPr>
              <a:t>Incompatibility of economies of scale with perfect competition</a:t>
            </a:r>
          </a:p>
          <a:p>
            <a:pPr lvl="1">
              <a:spcBef>
                <a:spcPct val="45000"/>
              </a:spcBef>
            </a:pPr>
            <a:r>
              <a:rPr lang="en-GB" altLang="en-US" sz="2000" dirty="0">
                <a:latin typeface="Calibri" panose="020F0502020204030204" pitchFamily="34" charset="0"/>
                <a:cs typeface="Calibri" panose="020F0502020204030204" pitchFamily="34" charset="0"/>
              </a:rPr>
              <a:t>In most cases, firms are too small to achieve economies of scale</a:t>
            </a:r>
          </a:p>
          <a:p>
            <a:pPr lvl="1">
              <a:spcBef>
                <a:spcPct val="45000"/>
              </a:spcBef>
            </a:pPr>
            <a:r>
              <a:rPr lang="en-GB" altLang="en-US" sz="2000" dirty="0">
                <a:latin typeface="Calibri" panose="020F0502020204030204" pitchFamily="34" charset="0"/>
                <a:cs typeface="Calibri" panose="020F0502020204030204" pitchFamily="34" charset="0"/>
              </a:rPr>
              <a:t>Once a firm expands sufficiently to achieve economies of scale, it will usually gain market power. Smaller firms will be driven out of business and perfect competition destroyed.</a:t>
            </a:r>
          </a:p>
        </p:txBody>
      </p:sp>
    </p:spTree>
    <p:extLst>
      <p:ext uri="{BB962C8B-B14F-4D97-AF65-F5344CB8AC3E}">
        <p14:creationId xmlns:p14="http://schemas.microsoft.com/office/powerpoint/2010/main" val="74227001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8583">
                                            <p:txEl>
                                              <p:pRg st="0" end="0"/>
                                            </p:txEl>
                                          </p:spTgt>
                                        </p:tgtEl>
                                        <p:attrNameLst>
                                          <p:attrName>style.visibility</p:attrName>
                                        </p:attrNameLst>
                                      </p:cBhvr>
                                      <p:to>
                                        <p:strVal val="visible"/>
                                      </p:to>
                                    </p:set>
                                    <p:anim calcmode="lin" valueType="num">
                                      <p:cBhvr additive="base">
                                        <p:cTn id="7" dur="500"/>
                                        <p:tgtEl>
                                          <p:spTgt spid="40858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858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8583">
                                            <p:txEl>
                                              <p:pRg st="1" end="1"/>
                                            </p:txEl>
                                          </p:spTgt>
                                        </p:tgtEl>
                                        <p:attrNameLst>
                                          <p:attrName>style.visibility</p:attrName>
                                        </p:attrNameLst>
                                      </p:cBhvr>
                                      <p:to>
                                        <p:strVal val="visible"/>
                                      </p:to>
                                    </p:set>
                                    <p:anim calcmode="lin" valueType="num">
                                      <p:cBhvr additive="base">
                                        <p:cTn id="13" dur="500"/>
                                        <p:tgtEl>
                                          <p:spTgt spid="40858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858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8583">
                                            <p:txEl>
                                              <p:pRg st="2" end="2"/>
                                            </p:txEl>
                                          </p:spTgt>
                                        </p:tgtEl>
                                        <p:attrNameLst>
                                          <p:attrName>style.visibility</p:attrName>
                                        </p:attrNameLst>
                                      </p:cBhvr>
                                      <p:to>
                                        <p:strVal val="visible"/>
                                      </p:to>
                                    </p:set>
                                    <p:anim calcmode="lin" valueType="num">
                                      <p:cBhvr additive="base">
                                        <p:cTn id="19" dur="500"/>
                                        <p:tgtEl>
                                          <p:spTgt spid="40858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858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8583">
                                            <p:txEl>
                                              <p:pRg st="3" end="3"/>
                                            </p:txEl>
                                          </p:spTgt>
                                        </p:tgtEl>
                                        <p:attrNameLst>
                                          <p:attrName>style.visibility</p:attrName>
                                        </p:attrNameLst>
                                      </p:cBhvr>
                                      <p:to>
                                        <p:strVal val="visible"/>
                                      </p:to>
                                    </p:set>
                                    <p:anim calcmode="lin" valueType="num">
                                      <p:cBhvr additive="base">
                                        <p:cTn id="25" dur="500"/>
                                        <p:tgtEl>
                                          <p:spTgt spid="40858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858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8583">
                                            <p:txEl>
                                              <p:pRg st="4" end="4"/>
                                            </p:txEl>
                                          </p:spTgt>
                                        </p:tgtEl>
                                        <p:attrNameLst>
                                          <p:attrName>style.visibility</p:attrName>
                                        </p:attrNameLst>
                                      </p:cBhvr>
                                      <p:to>
                                        <p:strVal val="visible"/>
                                      </p:to>
                                    </p:set>
                                    <p:anim calcmode="lin" valueType="num">
                                      <p:cBhvr additive="base">
                                        <p:cTn id="31" dur="500"/>
                                        <p:tgtEl>
                                          <p:spTgt spid="40858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858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8583">
                                            <p:txEl>
                                              <p:pRg st="6" end="6"/>
                                            </p:txEl>
                                          </p:spTgt>
                                        </p:tgtEl>
                                        <p:attrNameLst>
                                          <p:attrName>style.visibility</p:attrName>
                                        </p:attrNameLst>
                                      </p:cBhvr>
                                      <p:to>
                                        <p:strVal val="visible"/>
                                      </p:to>
                                    </p:set>
                                    <p:anim calcmode="lin" valueType="num">
                                      <p:cBhvr additive="base">
                                        <p:cTn id="37" dur="500"/>
                                        <p:tgtEl>
                                          <p:spTgt spid="408583">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858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8583">
                                            <p:txEl>
                                              <p:pRg st="7" end="7"/>
                                            </p:txEl>
                                          </p:spTgt>
                                        </p:tgtEl>
                                        <p:attrNameLst>
                                          <p:attrName>style.visibility</p:attrName>
                                        </p:attrNameLst>
                                      </p:cBhvr>
                                      <p:to>
                                        <p:strVal val="visible"/>
                                      </p:to>
                                    </p:set>
                                    <p:anim calcmode="lin" valueType="num">
                                      <p:cBhvr additive="base">
                                        <p:cTn id="43" dur="500"/>
                                        <p:tgtEl>
                                          <p:spTgt spid="408583">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8583">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8583">
                                            <p:txEl>
                                              <p:pRg st="8" end="8"/>
                                            </p:txEl>
                                          </p:spTgt>
                                        </p:tgtEl>
                                        <p:attrNameLst>
                                          <p:attrName>style.visibility</p:attrName>
                                        </p:attrNameLst>
                                      </p:cBhvr>
                                      <p:to>
                                        <p:strVal val="visible"/>
                                      </p:to>
                                    </p:set>
                                    <p:anim calcmode="lin" valueType="num">
                                      <p:cBhvr additive="base">
                                        <p:cTn id="49" dur="500"/>
                                        <p:tgtEl>
                                          <p:spTgt spid="408583">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85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3" grpId="0" build="p" bldLvl="3"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CD730940-C818-418B-8527-D20B354A9F6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915" name="Rectangle 3">
            <a:extLst>
              <a:ext uri="{FF2B5EF4-FFF2-40B4-BE49-F238E27FC236}">
                <a16:creationId xmlns:a16="http://schemas.microsoft.com/office/drawing/2014/main" id="{4B1596C1-739F-4B73-8719-C7FAF7E683F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918" name="Rectangle 6">
            <a:extLst>
              <a:ext uri="{FF2B5EF4-FFF2-40B4-BE49-F238E27FC236}">
                <a16:creationId xmlns:a16="http://schemas.microsoft.com/office/drawing/2014/main" id="{40C0E601-8C05-4B79-A7C5-9A33EF4D35FA}"/>
              </a:ext>
            </a:extLst>
          </p:cNvPr>
          <p:cNvSpPr>
            <a:spLocks noGrp="1"/>
          </p:cNvSpPr>
          <p:nvPr>
            <p:ph type="title"/>
          </p:nvPr>
        </p:nvSpPr>
        <p:spPr>
          <a:xfrm>
            <a:off x="304318" y="285610"/>
            <a:ext cx="10515600" cy="908198"/>
          </a:xfrm>
        </p:spPr>
        <p:txBody>
          <a:bodyPr/>
          <a:lstStyle/>
          <a:p>
            <a:r>
              <a:rPr lang="en-GB" altLang="en-US" dirty="0"/>
              <a:t>Perfect Competition</a:t>
            </a:r>
          </a:p>
        </p:txBody>
      </p:sp>
      <p:sp>
        <p:nvSpPr>
          <p:cNvPr id="422919" name="Rectangle 7">
            <a:extLst>
              <a:ext uri="{FF2B5EF4-FFF2-40B4-BE49-F238E27FC236}">
                <a16:creationId xmlns:a16="http://schemas.microsoft.com/office/drawing/2014/main" id="{6183DC35-61B3-4FC7-B12B-BCE9B95CF937}"/>
              </a:ext>
            </a:extLst>
          </p:cNvPr>
          <p:cNvSpPr>
            <a:spLocks noGrp="1"/>
          </p:cNvSpPr>
          <p:nvPr>
            <p:ph idx="1"/>
          </p:nvPr>
        </p:nvSpPr>
        <p:spPr>
          <a:xfrm>
            <a:off x="168252" y="1246921"/>
            <a:ext cx="11788059" cy="4889500"/>
          </a:xfrm>
        </p:spPr>
        <p:txBody>
          <a:bodyPr/>
          <a:lstStyle/>
          <a:p>
            <a:pPr>
              <a:lnSpc>
                <a:spcPct val="100000"/>
              </a:lnSpc>
              <a:spcBef>
                <a:spcPts val="1200"/>
              </a:spcBef>
            </a:pPr>
            <a:r>
              <a:rPr lang="en-GB" altLang="en-US" sz="2000" dirty="0">
                <a:latin typeface="Calibri" panose="020F0502020204030204" pitchFamily="34" charset="0"/>
                <a:cs typeface="Calibri" panose="020F0502020204030204" pitchFamily="34" charset="0"/>
              </a:rPr>
              <a:t>Does the firm benefit from operating under perfect competition?</a:t>
            </a:r>
          </a:p>
          <a:p>
            <a:pPr lvl="1">
              <a:lnSpc>
                <a:spcPct val="100000"/>
              </a:lnSpc>
              <a:spcBef>
                <a:spcPts val="1200"/>
              </a:spcBef>
            </a:pPr>
            <a:r>
              <a:rPr lang="en-GB" altLang="en-US" sz="2000" b="1" dirty="0">
                <a:latin typeface="Calibri" panose="020F0502020204030204" pitchFamily="34" charset="0"/>
                <a:cs typeface="Calibri" panose="020F0502020204030204" pitchFamily="34" charset="0"/>
              </a:rPr>
              <a:t>Constant battle for survival </a:t>
            </a:r>
            <a:r>
              <a:rPr lang="en-GB" altLang="en-US" sz="2000" dirty="0">
                <a:latin typeface="Calibri" panose="020F0502020204030204" pitchFamily="34" charset="0"/>
                <a:cs typeface="Calibri" panose="020F0502020204030204" pitchFamily="34" charset="0"/>
              </a:rPr>
              <a:t>– if it becomes less efficient that other firms, it will make less normal profits and be driven out of business. If it becomes more efficient, it will earn supernormal profits, but they will not last for long as other firms will copy.</a:t>
            </a:r>
          </a:p>
          <a:p>
            <a:pPr>
              <a:lnSpc>
                <a:spcPct val="100000"/>
              </a:lnSpc>
              <a:spcBef>
                <a:spcPts val="1200"/>
              </a:spcBef>
            </a:pPr>
            <a:r>
              <a:rPr lang="en-GB" altLang="en-US" sz="2000" dirty="0">
                <a:latin typeface="Calibri" panose="020F0502020204030204" pitchFamily="34" charset="0"/>
                <a:cs typeface="Calibri" panose="020F0502020204030204" pitchFamily="34" charset="0"/>
              </a:rPr>
              <a:t>Does the consumer benefit from perfect competition?</a:t>
            </a:r>
          </a:p>
          <a:p>
            <a:pPr lvl="1">
              <a:lnSpc>
                <a:spcPct val="100000"/>
              </a:lnSpc>
              <a:spcBef>
                <a:spcPts val="1200"/>
              </a:spcBef>
            </a:pPr>
            <a:r>
              <a:rPr lang="en-GB" altLang="en-US" sz="2000" b="1" dirty="0">
                <a:latin typeface="Calibri" panose="020F0502020204030204" pitchFamily="34" charset="0"/>
                <a:cs typeface="Calibri" panose="020F0502020204030204" pitchFamily="34" charset="0"/>
              </a:rPr>
              <a:t>Productive efficiency </a:t>
            </a:r>
            <a:r>
              <a:rPr lang="en-GB" altLang="en-US" sz="2000" dirty="0">
                <a:latin typeface="Calibri" panose="020F0502020204030204" pitchFamily="34" charset="0"/>
                <a:cs typeface="Calibri" panose="020F0502020204030204" pitchFamily="34" charset="0"/>
              </a:rPr>
              <a:t>– firms are producing the maximum output for a given amount of inputs, or producing a given output at the least cost</a:t>
            </a:r>
          </a:p>
          <a:p>
            <a:pPr lvl="1">
              <a:lnSpc>
                <a:spcPct val="100000"/>
              </a:lnSpc>
              <a:spcBef>
                <a:spcPts val="1200"/>
              </a:spcBef>
            </a:pPr>
            <a:r>
              <a:rPr lang="en-GB" altLang="en-US" sz="2000" b="1" dirty="0">
                <a:latin typeface="Calibri" panose="020F0502020204030204" pitchFamily="34" charset="0"/>
                <a:cs typeface="Calibri" panose="020F0502020204030204" pitchFamily="34" charset="0"/>
              </a:rPr>
              <a:t>Low prices</a:t>
            </a:r>
          </a:p>
          <a:p>
            <a:pPr>
              <a:lnSpc>
                <a:spcPct val="100000"/>
              </a:lnSpc>
              <a:spcBef>
                <a:spcPts val="1200"/>
              </a:spcBef>
            </a:pPr>
            <a:r>
              <a:rPr lang="en-GB" altLang="en-US" sz="2000" dirty="0">
                <a:latin typeface="Calibri" panose="020F0502020204030204" pitchFamily="34" charset="0"/>
                <a:cs typeface="Calibri" panose="020F0502020204030204" pitchFamily="34" charset="0"/>
              </a:rPr>
              <a:t>The role of e-commerce</a:t>
            </a:r>
          </a:p>
          <a:p>
            <a:pPr lvl="1">
              <a:lnSpc>
                <a:spcPct val="100000"/>
              </a:lnSpc>
              <a:spcBef>
                <a:spcPts val="1200"/>
              </a:spcBef>
            </a:pPr>
            <a:r>
              <a:rPr lang="en-GB" altLang="en-US" sz="2000" dirty="0">
                <a:latin typeface="Calibri" panose="020F0502020204030204" pitchFamily="34" charset="0"/>
                <a:cs typeface="Calibri" panose="020F0502020204030204" pitchFamily="34" charset="0"/>
              </a:rPr>
              <a:t>Is e-commerce like perfect competition? Many new firms have been able to set up small businesses (for e.g., on eBay), start-up costs tend to be low, the Internet has added to consumer knowledge.</a:t>
            </a:r>
          </a:p>
          <a:p>
            <a:pPr lvl="1">
              <a:lnSpc>
                <a:spcPct val="100000"/>
              </a:lnSpc>
              <a:spcBef>
                <a:spcPts val="1200"/>
              </a:spcBef>
            </a:pPr>
            <a:r>
              <a:rPr lang="en-GB" altLang="en-US" sz="2000" dirty="0">
                <a:latin typeface="Calibri" panose="020F0502020204030204" pitchFamily="34" charset="0"/>
                <a:cs typeface="Calibri" panose="020F0502020204030204" pitchFamily="34" charset="0"/>
              </a:rPr>
              <a:t>The future? Online retailers predicted to represent 25% of the retail market by 2025.</a:t>
            </a:r>
          </a:p>
        </p:txBody>
      </p:sp>
    </p:spTree>
    <p:extLst>
      <p:ext uri="{BB962C8B-B14F-4D97-AF65-F5344CB8AC3E}">
        <p14:creationId xmlns:p14="http://schemas.microsoft.com/office/powerpoint/2010/main" val="263925456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22919">
                                            <p:txEl>
                                              <p:pRg st="0" end="0"/>
                                            </p:txEl>
                                          </p:spTgt>
                                        </p:tgtEl>
                                        <p:attrNameLst>
                                          <p:attrName>style.visibility</p:attrName>
                                        </p:attrNameLst>
                                      </p:cBhvr>
                                      <p:to>
                                        <p:strVal val="visible"/>
                                      </p:to>
                                    </p:set>
                                    <p:anim calcmode="lin" valueType="num">
                                      <p:cBhvr additive="base">
                                        <p:cTn id="7" dur="500"/>
                                        <p:tgtEl>
                                          <p:spTgt spid="42291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22919">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22919">
                                            <p:txEl>
                                              <p:pRg st="1" end="1"/>
                                            </p:txEl>
                                          </p:spTgt>
                                        </p:tgtEl>
                                        <p:attrNameLst>
                                          <p:attrName>style.visibility</p:attrName>
                                        </p:attrNameLst>
                                      </p:cBhvr>
                                      <p:to>
                                        <p:strVal val="visible"/>
                                      </p:to>
                                    </p:set>
                                    <p:anim calcmode="lin" valueType="num">
                                      <p:cBhvr additive="base">
                                        <p:cTn id="13" dur="500"/>
                                        <p:tgtEl>
                                          <p:spTgt spid="42291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22919">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22919">
                                            <p:txEl>
                                              <p:pRg st="2" end="2"/>
                                            </p:txEl>
                                          </p:spTgt>
                                        </p:tgtEl>
                                        <p:attrNameLst>
                                          <p:attrName>style.visibility</p:attrName>
                                        </p:attrNameLst>
                                      </p:cBhvr>
                                      <p:to>
                                        <p:strVal val="visible"/>
                                      </p:to>
                                    </p:set>
                                    <p:anim calcmode="lin" valueType="num">
                                      <p:cBhvr additive="base">
                                        <p:cTn id="19" dur="500"/>
                                        <p:tgtEl>
                                          <p:spTgt spid="42291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22919">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22919">
                                            <p:txEl>
                                              <p:pRg st="3" end="3"/>
                                            </p:txEl>
                                          </p:spTgt>
                                        </p:tgtEl>
                                        <p:attrNameLst>
                                          <p:attrName>style.visibility</p:attrName>
                                        </p:attrNameLst>
                                      </p:cBhvr>
                                      <p:to>
                                        <p:strVal val="visible"/>
                                      </p:to>
                                    </p:set>
                                    <p:anim calcmode="lin" valueType="num">
                                      <p:cBhvr additive="base">
                                        <p:cTn id="25" dur="500"/>
                                        <p:tgtEl>
                                          <p:spTgt spid="42291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2291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22919">
                                            <p:txEl>
                                              <p:pRg st="4" end="4"/>
                                            </p:txEl>
                                          </p:spTgt>
                                        </p:tgtEl>
                                        <p:attrNameLst>
                                          <p:attrName>style.visibility</p:attrName>
                                        </p:attrNameLst>
                                      </p:cBhvr>
                                      <p:to>
                                        <p:strVal val="visible"/>
                                      </p:to>
                                    </p:set>
                                    <p:anim calcmode="lin" valueType="num">
                                      <p:cBhvr additive="base">
                                        <p:cTn id="31" dur="500"/>
                                        <p:tgtEl>
                                          <p:spTgt spid="42291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2291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22919">
                                            <p:txEl>
                                              <p:pRg st="5" end="5"/>
                                            </p:txEl>
                                          </p:spTgt>
                                        </p:tgtEl>
                                        <p:attrNameLst>
                                          <p:attrName>style.visibility</p:attrName>
                                        </p:attrNameLst>
                                      </p:cBhvr>
                                      <p:to>
                                        <p:strVal val="visible"/>
                                      </p:to>
                                    </p:set>
                                    <p:anim calcmode="lin" valueType="num">
                                      <p:cBhvr additive="base">
                                        <p:cTn id="37" dur="500"/>
                                        <p:tgtEl>
                                          <p:spTgt spid="42291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2291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22919">
                                            <p:txEl>
                                              <p:pRg st="6" end="6"/>
                                            </p:txEl>
                                          </p:spTgt>
                                        </p:tgtEl>
                                        <p:attrNameLst>
                                          <p:attrName>style.visibility</p:attrName>
                                        </p:attrNameLst>
                                      </p:cBhvr>
                                      <p:to>
                                        <p:strVal val="visible"/>
                                      </p:to>
                                    </p:set>
                                    <p:anim calcmode="lin" valueType="num">
                                      <p:cBhvr additive="base">
                                        <p:cTn id="43" dur="500"/>
                                        <p:tgtEl>
                                          <p:spTgt spid="42291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2291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22919">
                                            <p:txEl>
                                              <p:pRg st="7" end="7"/>
                                            </p:txEl>
                                          </p:spTgt>
                                        </p:tgtEl>
                                        <p:attrNameLst>
                                          <p:attrName>style.visibility</p:attrName>
                                        </p:attrNameLst>
                                      </p:cBhvr>
                                      <p:to>
                                        <p:strVal val="visible"/>
                                      </p:to>
                                    </p:set>
                                    <p:anim calcmode="lin" valueType="num">
                                      <p:cBhvr additive="base">
                                        <p:cTn id="49" dur="500"/>
                                        <p:tgtEl>
                                          <p:spTgt spid="42291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229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9" grpId="0" build="p" bldLvl="3"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58303D18-8DF8-41FA-9DE7-6D91F0B201D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27" name="Rectangle 3">
            <a:extLst>
              <a:ext uri="{FF2B5EF4-FFF2-40B4-BE49-F238E27FC236}">
                <a16:creationId xmlns:a16="http://schemas.microsoft.com/office/drawing/2014/main" id="{5C4A8FCA-672E-42D4-8C38-13B36F29209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30" name="Rectangle 6">
            <a:extLst>
              <a:ext uri="{FF2B5EF4-FFF2-40B4-BE49-F238E27FC236}">
                <a16:creationId xmlns:a16="http://schemas.microsoft.com/office/drawing/2014/main" id="{8CA895E9-8D7B-4BD9-A0AB-BF270FC7464D}"/>
              </a:ext>
            </a:extLst>
          </p:cNvPr>
          <p:cNvSpPr>
            <a:spLocks noGrp="1"/>
          </p:cNvSpPr>
          <p:nvPr>
            <p:ph type="title"/>
          </p:nvPr>
        </p:nvSpPr>
        <p:spPr>
          <a:xfrm>
            <a:off x="542861" y="365126"/>
            <a:ext cx="10515600" cy="908198"/>
          </a:xfrm>
        </p:spPr>
        <p:txBody>
          <a:bodyPr/>
          <a:lstStyle/>
          <a:p>
            <a:r>
              <a:rPr lang="en-GB" altLang="en-US" dirty="0"/>
              <a:t>Monopoly</a:t>
            </a:r>
          </a:p>
        </p:txBody>
      </p:sp>
      <p:sp>
        <p:nvSpPr>
          <p:cNvPr id="410631" name="Rectangle 7">
            <a:extLst>
              <a:ext uri="{FF2B5EF4-FFF2-40B4-BE49-F238E27FC236}">
                <a16:creationId xmlns:a16="http://schemas.microsoft.com/office/drawing/2014/main" id="{CE6B27E9-FFFD-42B3-809D-7066CA45D6D1}"/>
              </a:ext>
            </a:extLst>
          </p:cNvPr>
          <p:cNvSpPr>
            <a:spLocks noGrp="1"/>
          </p:cNvSpPr>
          <p:nvPr>
            <p:ph idx="1"/>
          </p:nvPr>
        </p:nvSpPr>
        <p:spPr>
          <a:xfrm>
            <a:off x="402167" y="1422992"/>
            <a:ext cx="11379200" cy="4889500"/>
          </a:xfrm>
        </p:spPr>
        <p:txBody>
          <a:bodyPr/>
          <a:lstStyle/>
          <a:p>
            <a:pPr>
              <a:lnSpc>
                <a:spcPct val="100000"/>
              </a:lnSpc>
              <a:spcBef>
                <a:spcPts val="1200"/>
              </a:spcBef>
            </a:pPr>
            <a:r>
              <a:rPr lang="en-GB" altLang="en-US" sz="2200" dirty="0">
                <a:highlight>
                  <a:srgbClr val="FFFF00"/>
                </a:highlight>
                <a:latin typeface="Calibri" panose="020F0502020204030204" pitchFamily="34" charset="0"/>
                <a:cs typeface="Calibri" panose="020F0502020204030204" pitchFamily="34" charset="0"/>
              </a:rPr>
              <a:t>Activity </a:t>
            </a:r>
            <a:r>
              <a:rPr lang="en-GB" altLang="en-US" sz="2200" dirty="0">
                <a:latin typeface="Calibri" panose="020F0502020204030204" pitchFamily="34" charset="0"/>
                <a:cs typeface="Calibri" panose="020F0502020204030204" pitchFamily="34" charset="0"/>
              </a:rPr>
              <a:t>– discuss with the person next to you or write down:</a:t>
            </a:r>
          </a:p>
          <a:p>
            <a:pPr lvl="1">
              <a:lnSpc>
                <a:spcPct val="100000"/>
              </a:lnSpc>
              <a:spcBef>
                <a:spcPts val="1200"/>
              </a:spcBef>
            </a:pPr>
            <a:r>
              <a:rPr lang="en-GB" altLang="en-US" sz="2200" dirty="0">
                <a:latin typeface="Calibri" panose="020F0502020204030204" pitchFamily="34" charset="0"/>
                <a:cs typeface="Calibri" panose="020F0502020204030204" pitchFamily="34" charset="0"/>
              </a:rPr>
              <a:t>1. What you think a monopoly is</a:t>
            </a:r>
          </a:p>
          <a:p>
            <a:pPr lvl="1">
              <a:lnSpc>
                <a:spcPct val="100000"/>
              </a:lnSpc>
              <a:spcBef>
                <a:spcPts val="1200"/>
              </a:spcBef>
            </a:pPr>
            <a:r>
              <a:rPr lang="en-GB" altLang="en-US" sz="2200" dirty="0">
                <a:latin typeface="Calibri" panose="020F0502020204030204" pitchFamily="34" charset="0"/>
                <a:cs typeface="Calibri" panose="020F0502020204030204" pitchFamily="34" charset="0"/>
              </a:rPr>
              <a:t>2. An example of a real-world monopoly</a:t>
            </a:r>
          </a:p>
          <a:p>
            <a:pPr lvl="1">
              <a:lnSpc>
                <a:spcPct val="100000"/>
              </a:lnSpc>
              <a:spcBef>
                <a:spcPts val="1200"/>
              </a:spcBef>
            </a:pPr>
            <a:endParaRPr lang="en-GB" altLang="en-US" sz="2200" dirty="0">
              <a:latin typeface="Calibri" panose="020F0502020204030204" pitchFamily="34" charset="0"/>
              <a:cs typeface="Calibri" panose="020F0502020204030204" pitchFamily="34" charset="0"/>
            </a:endParaRPr>
          </a:p>
          <a:p>
            <a:pPr marL="457200" lvl="1" indent="0">
              <a:lnSpc>
                <a:spcPct val="100000"/>
              </a:lnSpc>
              <a:spcBef>
                <a:spcPts val="1200"/>
              </a:spcBef>
              <a:buNone/>
            </a:pPr>
            <a:r>
              <a:rPr lang="en-GB" altLang="en-US" sz="2200" dirty="0">
                <a:latin typeface="Calibri" panose="020F0502020204030204" pitchFamily="34" charset="0"/>
                <a:cs typeface="Calibri" panose="020F0502020204030204" pitchFamily="34" charset="0"/>
              </a:rPr>
              <a:t>Real life example:</a:t>
            </a:r>
          </a:p>
          <a:p>
            <a:pPr marL="457200" lvl="1" indent="0">
              <a:lnSpc>
                <a:spcPct val="100000"/>
              </a:lnSpc>
              <a:spcBef>
                <a:spcPts val="1200"/>
              </a:spcBef>
              <a:buNone/>
            </a:pPr>
            <a:r>
              <a:rPr lang="en-GB" sz="2200" dirty="0">
                <a:latin typeface="Calibri" panose="020F0502020204030204" pitchFamily="34" charset="0"/>
                <a:ea typeface="Calibri" panose="020F0502020204030204" pitchFamily="34" charset="0"/>
                <a:cs typeface="Calibri" panose="020F0502020204030204" pitchFamily="34" charset="0"/>
                <a:hlinkClick r:id="rId3"/>
              </a:rPr>
              <a:t>landlords-v3 (youtube.com)</a:t>
            </a:r>
            <a:endParaRPr lang="en-GB" altLang="en-US"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564963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31">
                                            <p:txEl>
                                              <p:pRg st="0" end="0"/>
                                            </p:txEl>
                                          </p:spTgt>
                                        </p:tgtEl>
                                        <p:attrNameLst>
                                          <p:attrName>style.visibility</p:attrName>
                                        </p:attrNameLst>
                                      </p:cBhvr>
                                      <p:to>
                                        <p:strVal val="visible"/>
                                      </p:to>
                                    </p:set>
                                    <p:anim calcmode="lin" valueType="num">
                                      <p:cBhvr additive="base">
                                        <p:cTn id="7" dur="500"/>
                                        <p:tgtEl>
                                          <p:spTgt spid="4106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0631">
                                            <p:txEl>
                                              <p:pRg st="1" end="1"/>
                                            </p:txEl>
                                          </p:spTgt>
                                        </p:tgtEl>
                                        <p:attrNameLst>
                                          <p:attrName>style.visibility</p:attrName>
                                        </p:attrNameLst>
                                      </p:cBhvr>
                                      <p:to>
                                        <p:strVal val="visible"/>
                                      </p:to>
                                    </p:set>
                                    <p:anim calcmode="lin" valueType="num">
                                      <p:cBhvr additive="base">
                                        <p:cTn id="13" dur="500"/>
                                        <p:tgtEl>
                                          <p:spTgt spid="41063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063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0631">
                                            <p:txEl>
                                              <p:pRg st="2" end="2"/>
                                            </p:txEl>
                                          </p:spTgt>
                                        </p:tgtEl>
                                        <p:attrNameLst>
                                          <p:attrName>style.visibility</p:attrName>
                                        </p:attrNameLst>
                                      </p:cBhvr>
                                      <p:to>
                                        <p:strVal val="visible"/>
                                      </p:to>
                                    </p:set>
                                    <p:anim calcmode="lin" valueType="num">
                                      <p:cBhvr additive="base">
                                        <p:cTn id="19" dur="500"/>
                                        <p:tgtEl>
                                          <p:spTgt spid="41063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063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0631">
                                            <p:txEl>
                                              <p:pRg st="4" end="4"/>
                                            </p:txEl>
                                          </p:spTgt>
                                        </p:tgtEl>
                                        <p:attrNameLst>
                                          <p:attrName>style.visibility</p:attrName>
                                        </p:attrNameLst>
                                      </p:cBhvr>
                                      <p:to>
                                        <p:strVal val="visible"/>
                                      </p:to>
                                    </p:set>
                                    <p:anim calcmode="lin" valueType="num">
                                      <p:cBhvr additive="base">
                                        <p:cTn id="25" dur="500"/>
                                        <p:tgtEl>
                                          <p:spTgt spid="41063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063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0631">
                                            <p:txEl>
                                              <p:pRg st="5" end="5"/>
                                            </p:txEl>
                                          </p:spTgt>
                                        </p:tgtEl>
                                        <p:attrNameLst>
                                          <p:attrName>style.visibility</p:attrName>
                                        </p:attrNameLst>
                                      </p:cBhvr>
                                      <p:to>
                                        <p:strVal val="visible"/>
                                      </p:to>
                                    </p:set>
                                    <p:anim calcmode="lin" valueType="num">
                                      <p:cBhvr additive="base">
                                        <p:cTn id="31" dur="500"/>
                                        <p:tgtEl>
                                          <p:spTgt spid="41063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06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31"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58303D18-8DF8-41FA-9DE7-6D91F0B201D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27" name="Rectangle 3">
            <a:extLst>
              <a:ext uri="{FF2B5EF4-FFF2-40B4-BE49-F238E27FC236}">
                <a16:creationId xmlns:a16="http://schemas.microsoft.com/office/drawing/2014/main" id="{5C4A8FCA-672E-42D4-8C38-13B36F29209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30" name="Rectangle 6">
            <a:extLst>
              <a:ext uri="{FF2B5EF4-FFF2-40B4-BE49-F238E27FC236}">
                <a16:creationId xmlns:a16="http://schemas.microsoft.com/office/drawing/2014/main" id="{8CA895E9-8D7B-4BD9-A0AB-BF270FC7464D}"/>
              </a:ext>
            </a:extLst>
          </p:cNvPr>
          <p:cNvSpPr>
            <a:spLocks noGrp="1"/>
          </p:cNvSpPr>
          <p:nvPr>
            <p:ph type="title"/>
          </p:nvPr>
        </p:nvSpPr>
        <p:spPr>
          <a:xfrm>
            <a:off x="446305" y="268569"/>
            <a:ext cx="10515600" cy="908198"/>
          </a:xfrm>
        </p:spPr>
        <p:txBody>
          <a:bodyPr/>
          <a:lstStyle/>
          <a:p>
            <a:r>
              <a:rPr lang="en-GB" altLang="en-US" dirty="0"/>
              <a:t>Monopoly</a:t>
            </a:r>
          </a:p>
        </p:txBody>
      </p:sp>
      <p:sp>
        <p:nvSpPr>
          <p:cNvPr id="410631" name="Rectangle 7">
            <a:extLst>
              <a:ext uri="{FF2B5EF4-FFF2-40B4-BE49-F238E27FC236}">
                <a16:creationId xmlns:a16="http://schemas.microsoft.com/office/drawing/2014/main" id="{CE6B27E9-FFFD-42B3-809D-7066CA45D6D1}"/>
              </a:ext>
            </a:extLst>
          </p:cNvPr>
          <p:cNvSpPr>
            <a:spLocks noGrp="1"/>
          </p:cNvSpPr>
          <p:nvPr>
            <p:ph idx="1"/>
          </p:nvPr>
        </p:nvSpPr>
        <p:spPr>
          <a:xfrm>
            <a:off x="402167" y="1216527"/>
            <a:ext cx="11379200" cy="5095965"/>
          </a:xfrm>
        </p:spPr>
        <p:txBody>
          <a:bodyPr/>
          <a:lstStyle/>
          <a:p>
            <a:pPr>
              <a:lnSpc>
                <a:spcPct val="100000"/>
              </a:lnSpc>
              <a:spcBef>
                <a:spcPts val="1200"/>
              </a:spcBef>
            </a:pPr>
            <a:r>
              <a:rPr lang="en-GB" altLang="en-US" sz="2000" dirty="0">
                <a:latin typeface="Calibri" panose="020F0502020204030204" pitchFamily="34" charset="0"/>
                <a:cs typeface="Calibri" panose="020F0502020204030204" pitchFamily="34" charset="0"/>
              </a:rPr>
              <a:t>In simple terms – a monopoly exists when there is only one firm in the industry</a:t>
            </a:r>
          </a:p>
          <a:p>
            <a:pPr>
              <a:lnSpc>
                <a:spcPct val="100000"/>
              </a:lnSpc>
              <a:spcBef>
                <a:spcPts val="1200"/>
              </a:spcBef>
            </a:pPr>
            <a:r>
              <a:rPr lang="en-GB" altLang="en-US" sz="2000" dirty="0">
                <a:latin typeface="Calibri" panose="020F0502020204030204" pitchFamily="34" charset="0"/>
                <a:cs typeface="Calibri" panose="020F0502020204030204" pitchFamily="34" charset="0"/>
              </a:rPr>
              <a:t>However, whether an industry can be classed as a monopoly is not always clear – it depends on how narrowly the industry is defined</a:t>
            </a:r>
          </a:p>
          <a:p>
            <a:pPr lvl="1">
              <a:lnSpc>
                <a:spcPct val="100000"/>
              </a:lnSpc>
              <a:spcBef>
                <a:spcPts val="1200"/>
              </a:spcBef>
            </a:pPr>
            <a:r>
              <a:rPr lang="en-GB" altLang="en-US" dirty="0">
                <a:latin typeface="Calibri" panose="020F0502020204030204" pitchFamily="34" charset="0"/>
                <a:cs typeface="Calibri" panose="020F0502020204030204" pitchFamily="34" charset="0"/>
              </a:rPr>
              <a:t>For example, a textile company may have a monopoly on certain types of fabric, but it does not have a monopoly on fabrics in general</a:t>
            </a:r>
          </a:p>
          <a:p>
            <a:pPr lvl="1">
              <a:lnSpc>
                <a:spcPct val="100000"/>
              </a:lnSpc>
              <a:spcBef>
                <a:spcPts val="1200"/>
              </a:spcBef>
            </a:pPr>
            <a:r>
              <a:rPr lang="en-GB" altLang="en-US" dirty="0">
                <a:latin typeface="Calibri" panose="020F0502020204030204" pitchFamily="34" charset="0"/>
                <a:cs typeface="Calibri" panose="020F0502020204030204" pitchFamily="34" charset="0"/>
              </a:rPr>
              <a:t>For example, an ice cream company may have a monopoly on the sale of ice cream in a particular theatre, but it does not have a monopoly on ice cream in general.</a:t>
            </a:r>
          </a:p>
          <a:p>
            <a:pPr>
              <a:lnSpc>
                <a:spcPct val="100000"/>
              </a:lnSpc>
              <a:spcBef>
                <a:spcPts val="1200"/>
              </a:spcBef>
            </a:pPr>
            <a:r>
              <a:rPr lang="en-GB" altLang="en-US" sz="2000" dirty="0">
                <a:latin typeface="Calibri" panose="020F0502020204030204" pitchFamily="34" charset="0"/>
                <a:cs typeface="Calibri" panose="020F0502020204030204" pitchFamily="34" charset="0"/>
              </a:rPr>
              <a:t>Importance of market power</a:t>
            </a:r>
          </a:p>
          <a:p>
            <a:pPr lvl="1">
              <a:lnSpc>
                <a:spcPct val="100000"/>
              </a:lnSpc>
              <a:spcBef>
                <a:spcPts val="1200"/>
              </a:spcBef>
            </a:pPr>
            <a:r>
              <a:rPr lang="en-GB" altLang="en-US" dirty="0">
                <a:latin typeface="Calibri" panose="020F0502020204030204" pitchFamily="34" charset="0"/>
                <a:cs typeface="Calibri" panose="020F0502020204030204" pitchFamily="34" charset="0"/>
              </a:rPr>
              <a:t>To some extent, the boundaries of an industry are arbitrary.</a:t>
            </a:r>
          </a:p>
          <a:p>
            <a:pPr lvl="1">
              <a:lnSpc>
                <a:spcPct val="100000"/>
              </a:lnSpc>
              <a:spcBef>
                <a:spcPts val="1200"/>
              </a:spcBef>
            </a:pPr>
            <a:r>
              <a:rPr lang="en-GB" altLang="en-US" dirty="0">
                <a:latin typeface="Calibri" panose="020F0502020204030204" pitchFamily="34" charset="0"/>
                <a:cs typeface="Calibri" panose="020F0502020204030204" pitchFamily="34" charset="0"/>
              </a:rPr>
              <a:t>Importance of </a:t>
            </a:r>
            <a:r>
              <a:rPr lang="en-GB" altLang="en-US" b="1" dirty="0">
                <a:latin typeface="Calibri" panose="020F0502020204030204" pitchFamily="34" charset="0"/>
                <a:cs typeface="Calibri" panose="020F0502020204030204" pitchFamily="34" charset="0"/>
              </a:rPr>
              <a:t>closeness of substitutes produced by rival industries.</a:t>
            </a:r>
          </a:p>
          <a:p>
            <a:pPr lvl="1">
              <a:lnSpc>
                <a:spcPct val="100000"/>
              </a:lnSpc>
              <a:spcBef>
                <a:spcPts val="1200"/>
              </a:spcBef>
            </a:pPr>
            <a:r>
              <a:rPr lang="en-GB" altLang="en-US" dirty="0">
                <a:latin typeface="Calibri" panose="020F0502020204030204" pitchFamily="34" charset="0"/>
                <a:cs typeface="Calibri" panose="020F0502020204030204" pitchFamily="34" charset="0"/>
              </a:rPr>
              <a:t>A train company may have a monopoly over railway journeys between two towns, but it may face competition in transport from cars, coaches and sometimes planes.</a:t>
            </a:r>
          </a:p>
          <a:p>
            <a:pPr marL="0" indent="0">
              <a:spcBef>
                <a:spcPct val="15000"/>
              </a:spcBef>
              <a:buNone/>
            </a:pPr>
            <a:endParaRPr lang="en-GB" altLang="en-US" sz="2000" dirty="0"/>
          </a:p>
        </p:txBody>
      </p:sp>
    </p:spTree>
    <p:extLst>
      <p:ext uri="{BB962C8B-B14F-4D97-AF65-F5344CB8AC3E}">
        <p14:creationId xmlns:p14="http://schemas.microsoft.com/office/powerpoint/2010/main" val="90890855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31">
                                            <p:txEl>
                                              <p:pRg st="0" end="0"/>
                                            </p:txEl>
                                          </p:spTgt>
                                        </p:tgtEl>
                                        <p:attrNameLst>
                                          <p:attrName>style.visibility</p:attrName>
                                        </p:attrNameLst>
                                      </p:cBhvr>
                                      <p:to>
                                        <p:strVal val="visible"/>
                                      </p:to>
                                    </p:set>
                                    <p:anim calcmode="lin" valueType="num">
                                      <p:cBhvr additive="base">
                                        <p:cTn id="7" dur="500"/>
                                        <p:tgtEl>
                                          <p:spTgt spid="4106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0631">
                                            <p:txEl>
                                              <p:pRg st="1" end="1"/>
                                            </p:txEl>
                                          </p:spTgt>
                                        </p:tgtEl>
                                        <p:attrNameLst>
                                          <p:attrName>style.visibility</p:attrName>
                                        </p:attrNameLst>
                                      </p:cBhvr>
                                      <p:to>
                                        <p:strVal val="visible"/>
                                      </p:to>
                                    </p:set>
                                    <p:anim calcmode="lin" valueType="num">
                                      <p:cBhvr additive="base">
                                        <p:cTn id="13" dur="500"/>
                                        <p:tgtEl>
                                          <p:spTgt spid="41063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063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0631">
                                            <p:txEl>
                                              <p:pRg st="2" end="2"/>
                                            </p:txEl>
                                          </p:spTgt>
                                        </p:tgtEl>
                                        <p:attrNameLst>
                                          <p:attrName>style.visibility</p:attrName>
                                        </p:attrNameLst>
                                      </p:cBhvr>
                                      <p:to>
                                        <p:strVal val="visible"/>
                                      </p:to>
                                    </p:set>
                                    <p:anim calcmode="lin" valueType="num">
                                      <p:cBhvr additive="base">
                                        <p:cTn id="19" dur="500"/>
                                        <p:tgtEl>
                                          <p:spTgt spid="41063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063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0631">
                                            <p:txEl>
                                              <p:pRg st="3" end="3"/>
                                            </p:txEl>
                                          </p:spTgt>
                                        </p:tgtEl>
                                        <p:attrNameLst>
                                          <p:attrName>style.visibility</p:attrName>
                                        </p:attrNameLst>
                                      </p:cBhvr>
                                      <p:to>
                                        <p:strVal val="visible"/>
                                      </p:to>
                                    </p:set>
                                    <p:anim calcmode="lin" valueType="num">
                                      <p:cBhvr additive="base">
                                        <p:cTn id="25" dur="500"/>
                                        <p:tgtEl>
                                          <p:spTgt spid="41063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063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0631">
                                            <p:txEl>
                                              <p:pRg st="4" end="4"/>
                                            </p:txEl>
                                          </p:spTgt>
                                        </p:tgtEl>
                                        <p:attrNameLst>
                                          <p:attrName>style.visibility</p:attrName>
                                        </p:attrNameLst>
                                      </p:cBhvr>
                                      <p:to>
                                        <p:strVal val="visible"/>
                                      </p:to>
                                    </p:set>
                                    <p:anim calcmode="lin" valueType="num">
                                      <p:cBhvr additive="base">
                                        <p:cTn id="31" dur="500"/>
                                        <p:tgtEl>
                                          <p:spTgt spid="41063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063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0631">
                                            <p:txEl>
                                              <p:pRg st="5" end="5"/>
                                            </p:txEl>
                                          </p:spTgt>
                                        </p:tgtEl>
                                        <p:attrNameLst>
                                          <p:attrName>style.visibility</p:attrName>
                                        </p:attrNameLst>
                                      </p:cBhvr>
                                      <p:to>
                                        <p:strVal val="visible"/>
                                      </p:to>
                                    </p:set>
                                    <p:anim calcmode="lin" valueType="num">
                                      <p:cBhvr additive="base">
                                        <p:cTn id="37" dur="500"/>
                                        <p:tgtEl>
                                          <p:spTgt spid="41063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063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10631">
                                            <p:txEl>
                                              <p:pRg st="6" end="6"/>
                                            </p:txEl>
                                          </p:spTgt>
                                        </p:tgtEl>
                                        <p:attrNameLst>
                                          <p:attrName>style.visibility</p:attrName>
                                        </p:attrNameLst>
                                      </p:cBhvr>
                                      <p:to>
                                        <p:strVal val="visible"/>
                                      </p:to>
                                    </p:set>
                                    <p:anim calcmode="lin" valueType="num">
                                      <p:cBhvr additive="base">
                                        <p:cTn id="43" dur="500"/>
                                        <p:tgtEl>
                                          <p:spTgt spid="41063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063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10631">
                                            <p:txEl>
                                              <p:pRg st="7" end="7"/>
                                            </p:txEl>
                                          </p:spTgt>
                                        </p:tgtEl>
                                        <p:attrNameLst>
                                          <p:attrName>style.visibility</p:attrName>
                                        </p:attrNameLst>
                                      </p:cBhvr>
                                      <p:to>
                                        <p:strVal val="visible"/>
                                      </p:to>
                                    </p:set>
                                    <p:anim calcmode="lin" valueType="num">
                                      <p:cBhvr additive="base">
                                        <p:cTn id="49" dur="500"/>
                                        <p:tgtEl>
                                          <p:spTgt spid="41063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106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31"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58303D18-8DF8-41FA-9DE7-6D91F0B201D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27" name="Rectangle 3">
            <a:extLst>
              <a:ext uri="{FF2B5EF4-FFF2-40B4-BE49-F238E27FC236}">
                <a16:creationId xmlns:a16="http://schemas.microsoft.com/office/drawing/2014/main" id="{5C4A8FCA-672E-42D4-8C38-13B36F29209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30" name="Rectangle 6">
            <a:extLst>
              <a:ext uri="{FF2B5EF4-FFF2-40B4-BE49-F238E27FC236}">
                <a16:creationId xmlns:a16="http://schemas.microsoft.com/office/drawing/2014/main" id="{8CA895E9-8D7B-4BD9-A0AB-BF270FC7464D}"/>
              </a:ext>
            </a:extLst>
          </p:cNvPr>
          <p:cNvSpPr>
            <a:spLocks noGrp="1"/>
          </p:cNvSpPr>
          <p:nvPr>
            <p:ph type="title"/>
          </p:nvPr>
        </p:nvSpPr>
        <p:spPr>
          <a:xfrm>
            <a:off x="275919" y="274248"/>
            <a:ext cx="10515600" cy="908198"/>
          </a:xfrm>
        </p:spPr>
        <p:txBody>
          <a:bodyPr/>
          <a:lstStyle/>
          <a:p>
            <a:r>
              <a:rPr lang="en-GB" altLang="en-US" dirty="0"/>
              <a:t>Monopoly</a:t>
            </a:r>
          </a:p>
        </p:txBody>
      </p:sp>
      <p:sp>
        <p:nvSpPr>
          <p:cNvPr id="410631" name="Rectangle 7">
            <a:extLst>
              <a:ext uri="{FF2B5EF4-FFF2-40B4-BE49-F238E27FC236}">
                <a16:creationId xmlns:a16="http://schemas.microsoft.com/office/drawing/2014/main" id="{CE6B27E9-FFFD-42B3-809D-7066CA45D6D1}"/>
              </a:ext>
            </a:extLst>
          </p:cNvPr>
          <p:cNvSpPr>
            <a:spLocks noGrp="1"/>
          </p:cNvSpPr>
          <p:nvPr>
            <p:ph idx="1"/>
          </p:nvPr>
        </p:nvSpPr>
        <p:spPr>
          <a:xfrm>
            <a:off x="232859" y="1227887"/>
            <a:ext cx="11680921" cy="5170508"/>
          </a:xfrm>
        </p:spPr>
        <p:txBody>
          <a:bodyPr>
            <a:normAutofit lnSpcReduction="10000"/>
          </a:bodyPr>
          <a:lstStyle/>
          <a:p>
            <a:pPr>
              <a:lnSpc>
                <a:spcPct val="100000"/>
              </a:lnSpc>
              <a:spcBef>
                <a:spcPts val="600"/>
              </a:spcBef>
            </a:pPr>
            <a:r>
              <a:rPr lang="en-GB" altLang="en-US" sz="2000" b="1" dirty="0">
                <a:latin typeface="Calibri" panose="020F0502020204030204" pitchFamily="34" charset="0"/>
                <a:cs typeface="Calibri" panose="020F0502020204030204" pitchFamily="34" charset="0"/>
              </a:rPr>
              <a:t>Barriers to entry</a:t>
            </a:r>
            <a:r>
              <a:rPr lang="en-GB" altLang="en-US" sz="2000" dirty="0">
                <a:latin typeface="Calibri" panose="020F0502020204030204" pitchFamily="34" charset="0"/>
                <a:cs typeface="Calibri" panose="020F0502020204030204" pitchFamily="34" charset="0"/>
              </a:rPr>
              <a:t>: for a firm to maintain its monopoly position, there must be barriers to entry of new firms.</a:t>
            </a:r>
            <a:endParaRPr lang="en-GB" altLang="en-US" sz="2000" dirty="0">
              <a:solidFill>
                <a:srgbClr val="02477A"/>
              </a:solidFill>
              <a:latin typeface="Calibri" panose="020F0502020204030204" pitchFamily="34" charset="0"/>
              <a:cs typeface="Calibri" panose="020F0502020204030204" pitchFamily="34" charset="0"/>
            </a:endParaRPr>
          </a:p>
          <a:p>
            <a:pPr lvl="1">
              <a:lnSpc>
                <a:spcPct val="100000"/>
              </a:lnSpc>
              <a:spcBef>
                <a:spcPts val="600"/>
              </a:spcBef>
            </a:pPr>
            <a:r>
              <a:rPr lang="en-GB" altLang="en-US" b="1" dirty="0">
                <a:solidFill>
                  <a:srgbClr val="006C2C"/>
                </a:solidFill>
                <a:latin typeface="Calibri" panose="020F0502020204030204" pitchFamily="34" charset="0"/>
                <a:cs typeface="Calibri" panose="020F0502020204030204" pitchFamily="34" charset="0"/>
              </a:rPr>
              <a:t>Economies of scale</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If the monopolist’s AC go on falling significantly up to the output that satisfies the whole industry, </a:t>
            </a:r>
            <a:r>
              <a:rPr lang="en-GB" altLang="en-US" sz="2000" b="1" dirty="0">
                <a:latin typeface="Calibri" panose="020F0502020204030204" pitchFamily="34" charset="0"/>
                <a:cs typeface="Calibri" panose="020F0502020204030204" pitchFamily="34" charset="0"/>
              </a:rPr>
              <a:t>the industry may not be able to support more than one producer</a:t>
            </a:r>
            <a:r>
              <a:rPr lang="en-GB" altLang="en-US" sz="2000" dirty="0">
                <a:latin typeface="Calibri" panose="020F0502020204030204" pitchFamily="34" charset="0"/>
                <a:cs typeface="Calibri" panose="020F0502020204030204" pitchFamily="34" charset="0"/>
              </a:rPr>
              <a:t> (natural monopoly).</a:t>
            </a:r>
          </a:p>
          <a:p>
            <a:pPr lvl="3">
              <a:lnSpc>
                <a:spcPct val="100000"/>
              </a:lnSpc>
              <a:spcBef>
                <a:spcPts val="600"/>
              </a:spcBef>
            </a:pPr>
            <a:r>
              <a:rPr lang="en-GB" altLang="en-US" sz="2000" dirty="0">
                <a:latin typeface="Calibri" panose="020F0502020204030204" pitchFamily="34" charset="0"/>
                <a:cs typeface="Calibri" panose="020F0502020204030204" pitchFamily="34" charset="0"/>
              </a:rPr>
              <a:t>For example, the network of pipelines that supply gas to homes and businesses.</a:t>
            </a:r>
          </a:p>
          <a:p>
            <a:pPr lvl="1">
              <a:lnSpc>
                <a:spcPct val="100000"/>
              </a:lnSpc>
              <a:spcBef>
                <a:spcPts val="600"/>
              </a:spcBef>
            </a:pPr>
            <a:r>
              <a:rPr lang="en-GB" altLang="en-US" b="1" dirty="0">
                <a:solidFill>
                  <a:srgbClr val="006C2C"/>
                </a:solidFill>
                <a:latin typeface="Calibri" panose="020F0502020204030204" pitchFamily="34" charset="0"/>
                <a:cs typeface="Calibri" panose="020F0502020204030204" pitchFamily="34" charset="0"/>
              </a:rPr>
              <a:t>Economies of scope</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For example, shared research, marketing, storage and transport facilities across a range of products</a:t>
            </a:r>
          </a:p>
          <a:p>
            <a:pPr lvl="1">
              <a:lnSpc>
                <a:spcPct val="100000"/>
              </a:lnSpc>
              <a:spcBef>
                <a:spcPts val="600"/>
              </a:spcBef>
            </a:pPr>
            <a:r>
              <a:rPr lang="en-GB" altLang="en-US" b="1" dirty="0">
                <a:solidFill>
                  <a:srgbClr val="006C2C"/>
                </a:solidFill>
                <a:latin typeface="Calibri" panose="020F0502020204030204" pitchFamily="34" charset="0"/>
                <a:cs typeface="Calibri" panose="020F0502020204030204" pitchFamily="34" charset="0"/>
              </a:rPr>
              <a:t>Product differentiation and brand loyalty</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Consumers associate the product with a </a:t>
            </a:r>
            <a:r>
              <a:rPr lang="en-GB" altLang="en-US" sz="2000" b="1" dirty="0">
                <a:latin typeface="Calibri" panose="020F0502020204030204" pitchFamily="34" charset="0"/>
                <a:cs typeface="Calibri" panose="020F0502020204030204" pitchFamily="34" charset="0"/>
              </a:rPr>
              <a:t>brand,</a:t>
            </a:r>
            <a:r>
              <a:rPr lang="en-GB" altLang="en-US" sz="2000" dirty="0">
                <a:latin typeface="Calibri" panose="020F0502020204030204" pitchFamily="34" charset="0"/>
                <a:cs typeface="Calibri" panose="020F0502020204030204" pitchFamily="34" charset="0"/>
              </a:rPr>
              <a:t> for example ‘Hoover their carpet’ or ‘Google it’</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The monopolist may also have </a:t>
            </a:r>
            <a:r>
              <a:rPr lang="en-GB" altLang="en-US" sz="2000" b="1" dirty="0">
                <a:latin typeface="Calibri" panose="020F0502020204030204" pitchFamily="34" charset="0"/>
                <a:cs typeface="Calibri" panose="020F0502020204030204" pitchFamily="34" charset="0"/>
              </a:rPr>
              <a:t>access to superior technology </a:t>
            </a:r>
          </a:p>
          <a:p>
            <a:pPr lvl="1">
              <a:lnSpc>
                <a:spcPct val="100000"/>
              </a:lnSpc>
              <a:spcBef>
                <a:spcPts val="600"/>
              </a:spcBef>
            </a:pPr>
            <a:r>
              <a:rPr lang="en-GB" altLang="en-US" b="1" dirty="0">
                <a:solidFill>
                  <a:srgbClr val="006C2C"/>
                </a:solidFill>
                <a:latin typeface="Calibri" panose="020F0502020204030204" pitchFamily="34" charset="0"/>
                <a:cs typeface="Calibri" panose="020F0502020204030204" pitchFamily="34" charset="0"/>
              </a:rPr>
              <a:t>Lower costs for an established firm</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An established monopoly is likely to have developed the most </a:t>
            </a:r>
            <a:r>
              <a:rPr lang="en-GB" altLang="en-US" sz="2000" b="1" dirty="0">
                <a:latin typeface="Calibri" panose="020F0502020204030204" pitchFamily="34" charset="0"/>
                <a:cs typeface="Calibri" panose="020F0502020204030204" pitchFamily="34" charset="0"/>
              </a:rPr>
              <a:t>efficient </a:t>
            </a:r>
            <a:r>
              <a:rPr lang="en-GB" altLang="en-US" sz="2000" dirty="0">
                <a:latin typeface="Calibri" panose="020F0502020204030204" pitchFamily="34" charset="0"/>
                <a:cs typeface="Calibri" panose="020F0502020204030204" pitchFamily="34" charset="0"/>
              </a:rPr>
              <a:t>way of producing and marketing its product and this will be difficult for other competitors to replicate. </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It may also be aware of the </a:t>
            </a:r>
            <a:r>
              <a:rPr lang="en-GB" altLang="en-US" sz="2000" b="1" dirty="0">
                <a:latin typeface="Calibri" panose="020F0502020204030204" pitchFamily="34" charset="0"/>
                <a:cs typeface="Calibri" panose="020F0502020204030204" pitchFamily="34" charset="0"/>
              </a:rPr>
              <a:t>cheapest suppliers </a:t>
            </a:r>
            <a:r>
              <a:rPr lang="en-GB" altLang="en-US" sz="2000" dirty="0">
                <a:latin typeface="Calibri" panose="020F0502020204030204" pitchFamily="34" charset="0"/>
                <a:cs typeface="Calibri" panose="020F0502020204030204" pitchFamily="34" charset="0"/>
              </a:rPr>
              <a:t>and have access to </a:t>
            </a:r>
            <a:r>
              <a:rPr lang="en-GB" altLang="en-US" sz="2000" b="1" dirty="0">
                <a:latin typeface="Calibri" panose="020F0502020204030204" pitchFamily="34" charset="0"/>
                <a:cs typeface="Calibri" panose="020F0502020204030204" pitchFamily="34" charset="0"/>
              </a:rPr>
              <a:t>cheaper finance</a:t>
            </a:r>
          </a:p>
        </p:txBody>
      </p:sp>
    </p:spTree>
    <p:extLst>
      <p:ext uri="{BB962C8B-B14F-4D97-AF65-F5344CB8AC3E}">
        <p14:creationId xmlns:p14="http://schemas.microsoft.com/office/powerpoint/2010/main" val="837438216"/>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31">
                                            <p:txEl>
                                              <p:pRg st="0" end="0"/>
                                            </p:txEl>
                                          </p:spTgt>
                                        </p:tgtEl>
                                        <p:attrNameLst>
                                          <p:attrName>style.visibility</p:attrName>
                                        </p:attrNameLst>
                                      </p:cBhvr>
                                      <p:to>
                                        <p:strVal val="visible"/>
                                      </p:to>
                                    </p:set>
                                    <p:anim calcmode="lin" valueType="num">
                                      <p:cBhvr additive="base">
                                        <p:cTn id="7" dur="500"/>
                                        <p:tgtEl>
                                          <p:spTgt spid="4106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0631">
                                            <p:txEl>
                                              <p:pRg st="1" end="1"/>
                                            </p:txEl>
                                          </p:spTgt>
                                        </p:tgtEl>
                                        <p:attrNameLst>
                                          <p:attrName>style.visibility</p:attrName>
                                        </p:attrNameLst>
                                      </p:cBhvr>
                                      <p:to>
                                        <p:strVal val="visible"/>
                                      </p:to>
                                    </p:set>
                                    <p:anim calcmode="lin" valueType="num">
                                      <p:cBhvr additive="base">
                                        <p:cTn id="13" dur="500"/>
                                        <p:tgtEl>
                                          <p:spTgt spid="41063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0631">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10631">
                                            <p:txEl>
                                              <p:pRg st="2" end="2"/>
                                            </p:txEl>
                                          </p:spTgt>
                                        </p:tgtEl>
                                        <p:attrNameLst>
                                          <p:attrName>style.visibility</p:attrName>
                                        </p:attrNameLst>
                                      </p:cBhvr>
                                      <p:to>
                                        <p:strVal val="visible"/>
                                      </p:to>
                                    </p:set>
                                    <p:anim calcmode="lin" valueType="num">
                                      <p:cBhvr additive="base">
                                        <p:cTn id="17" dur="500"/>
                                        <p:tgtEl>
                                          <p:spTgt spid="410631">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10631">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10631">
                                            <p:txEl>
                                              <p:pRg st="3" end="3"/>
                                            </p:txEl>
                                          </p:spTgt>
                                        </p:tgtEl>
                                        <p:attrNameLst>
                                          <p:attrName>style.visibility</p:attrName>
                                        </p:attrNameLst>
                                      </p:cBhvr>
                                      <p:to>
                                        <p:strVal val="visible"/>
                                      </p:to>
                                    </p:set>
                                    <p:anim calcmode="lin" valueType="num">
                                      <p:cBhvr additive="base">
                                        <p:cTn id="21" dur="500"/>
                                        <p:tgtEl>
                                          <p:spTgt spid="410631">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106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10631">
                                            <p:txEl>
                                              <p:pRg st="4" end="4"/>
                                            </p:txEl>
                                          </p:spTgt>
                                        </p:tgtEl>
                                        <p:attrNameLst>
                                          <p:attrName>style.visibility</p:attrName>
                                        </p:attrNameLst>
                                      </p:cBhvr>
                                      <p:to>
                                        <p:strVal val="visible"/>
                                      </p:to>
                                    </p:set>
                                    <p:anim calcmode="lin" valueType="num">
                                      <p:cBhvr additive="base">
                                        <p:cTn id="27" dur="500"/>
                                        <p:tgtEl>
                                          <p:spTgt spid="410631">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10631">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10631">
                                            <p:txEl>
                                              <p:pRg st="5" end="5"/>
                                            </p:txEl>
                                          </p:spTgt>
                                        </p:tgtEl>
                                        <p:attrNameLst>
                                          <p:attrName>style.visibility</p:attrName>
                                        </p:attrNameLst>
                                      </p:cBhvr>
                                      <p:to>
                                        <p:strVal val="visible"/>
                                      </p:to>
                                    </p:set>
                                    <p:anim calcmode="lin" valueType="num">
                                      <p:cBhvr additive="base">
                                        <p:cTn id="31" dur="500"/>
                                        <p:tgtEl>
                                          <p:spTgt spid="41063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06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0631">
                                            <p:txEl>
                                              <p:pRg st="6" end="6"/>
                                            </p:txEl>
                                          </p:spTgt>
                                        </p:tgtEl>
                                        <p:attrNameLst>
                                          <p:attrName>style.visibility</p:attrName>
                                        </p:attrNameLst>
                                      </p:cBhvr>
                                      <p:to>
                                        <p:strVal val="visible"/>
                                      </p:to>
                                    </p:set>
                                    <p:anim calcmode="lin" valueType="num">
                                      <p:cBhvr additive="base">
                                        <p:cTn id="37" dur="500"/>
                                        <p:tgtEl>
                                          <p:spTgt spid="41063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0631">
                                            <p:txEl>
                                              <p:pRg st="6" end="6"/>
                                            </p:txEl>
                                          </p:spTgt>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410631">
                                            <p:txEl>
                                              <p:pRg st="7" end="7"/>
                                            </p:txEl>
                                          </p:spTgt>
                                        </p:tgtEl>
                                        <p:attrNameLst>
                                          <p:attrName>style.visibility</p:attrName>
                                        </p:attrNameLst>
                                      </p:cBhvr>
                                      <p:to>
                                        <p:strVal val="visible"/>
                                      </p:to>
                                    </p:set>
                                    <p:anim calcmode="lin" valueType="num">
                                      <p:cBhvr additive="base">
                                        <p:cTn id="41" dur="500"/>
                                        <p:tgtEl>
                                          <p:spTgt spid="410631">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410631">
                                            <p:txEl>
                                              <p:pRg st="7" end="7"/>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410631">
                                            <p:txEl>
                                              <p:pRg st="8" end="8"/>
                                            </p:txEl>
                                          </p:spTgt>
                                        </p:tgtEl>
                                        <p:attrNameLst>
                                          <p:attrName>style.visibility</p:attrName>
                                        </p:attrNameLst>
                                      </p:cBhvr>
                                      <p:to>
                                        <p:strVal val="visible"/>
                                      </p:to>
                                    </p:set>
                                    <p:anim calcmode="lin" valueType="num">
                                      <p:cBhvr additive="base">
                                        <p:cTn id="45" dur="500"/>
                                        <p:tgtEl>
                                          <p:spTgt spid="410631">
                                            <p:txEl>
                                              <p:pRg st="8" end="8"/>
                                            </p:txEl>
                                          </p:spTgt>
                                        </p:tgtEl>
                                        <p:attrNameLst>
                                          <p:attrName>ppt_y</p:attrName>
                                        </p:attrNameLst>
                                      </p:cBhvr>
                                      <p:tavLst>
                                        <p:tav tm="0">
                                          <p:val>
                                            <p:strVal val="#ppt_y+#ppt_h*1.125000"/>
                                          </p:val>
                                        </p:tav>
                                        <p:tav tm="100000">
                                          <p:val>
                                            <p:strVal val="#ppt_y"/>
                                          </p:val>
                                        </p:tav>
                                      </p:tavLst>
                                    </p:anim>
                                    <p:animEffect transition="in" filter="wipe(up)">
                                      <p:cBhvr>
                                        <p:cTn id="46" dur="500"/>
                                        <p:tgtEl>
                                          <p:spTgt spid="410631">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410631">
                                            <p:txEl>
                                              <p:pRg st="9" end="9"/>
                                            </p:txEl>
                                          </p:spTgt>
                                        </p:tgtEl>
                                        <p:attrNameLst>
                                          <p:attrName>style.visibility</p:attrName>
                                        </p:attrNameLst>
                                      </p:cBhvr>
                                      <p:to>
                                        <p:strVal val="visible"/>
                                      </p:to>
                                    </p:set>
                                    <p:anim calcmode="lin" valueType="num">
                                      <p:cBhvr additive="base">
                                        <p:cTn id="51" dur="500"/>
                                        <p:tgtEl>
                                          <p:spTgt spid="410631">
                                            <p:txEl>
                                              <p:pRg st="9" end="9"/>
                                            </p:txEl>
                                          </p:spTgt>
                                        </p:tgtEl>
                                        <p:attrNameLst>
                                          <p:attrName>ppt_y</p:attrName>
                                        </p:attrNameLst>
                                      </p:cBhvr>
                                      <p:tavLst>
                                        <p:tav tm="0">
                                          <p:val>
                                            <p:strVal val="#ppt_y+#ppt_h*1.125000"/>
                                          </p:val>
                                        </p:tav>
                                        <p:tav tm="100000">
                                          <p:val>
                                            <p:strVal val="#ppt_y"/>
                                          </p:val>
                                        </p:tav>
                                      </p:tavLst>
                                    </p:anim>
                                    <p:animEffect transition="in" filter="wipe(up)">
                                      <p:cBhvr>
                                        <p:cTn id="52" dur="500"/>
                                        <p:tgtEl>
                                          <p:spTgt spid="410631">
                                            <p:txEl>
                                              <p:pRg st="9" end="9"/>
                                            </p:txEl>
                                          </p:spTgt>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410631">
                                            <p:txEl>
                                              <p:pRg st="10" end="10"/>
                                            </p:txEl>
                                          </p:spTgt>
                                        </p:tgtEl>
                                        <p:attrNameLst>
                                          <p:attrName>style.visibility</p:attrName>
                                        </p:attrNameLst>
                                      </p:cBhvr>
                                      <p:to>
                                        <p:strVal val="visible"/>
                                      </p:to>
                                    </p:set>
                                    <p:anim calcmode="lin" valueType="num">
                                      <p:cBhvr additive="base">
                                        <p:cTn id="55" dur="500"/>
                                        <p:tgtEl>
                                          <p:spTgt spid="410631">
                                            <p:txEl>
                                              <p:pRg st="10" end="10"/>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10631">
                                            <p:txEl>
                                              <p:pRg st="10" end="10"/>
                                            </p:txEl>
                                          </p:spTgt>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410631">
                                            <p:txEl>
                                              <p:pRg st="11" end="11"/>
                                            </p:txEl>
                                          </p:spTgt>
                                        </p:tgtEl>
                                        <p:attrNameLst>
                                          <p:attrName>style.visibility</p:attrName>
                                        </p:attrNameLst>
                                      </p:cBhvr>
                                      <p:to>
                                        <p:strVal val="visible"/>
                                      </p:to>
                                    </p:set>
                                    <p:anim calcmode="lin" valueType="num">
                                      <p:cBhvr additive="base">
                                        <p:cTn id="59" dur="500"/>
                                        <p:tgtEl>
                                          <p:spTgt spid="410631">
                                            <p:txEl>
                                              <p:pRg st="11" end="11"/>
                                            </p:txEl>
                                          </p:spTgt>
                                        </p:tgtEl>
                                        <p:attrNameLst>
                                          <p:attrName>ppt_y</p:attrName>
                                        </p:attrNameLst>
                                      </p:cBhvr>
                                      <p:tavLst>
                                        <p:tav tm="0">
                                          <p:val>
                                            <p:strVal val="#ppt_y+#ppt_h*1.125000"/>
                                          </p:val>
                                        </p:tav>
                                        <p:tav tm="100000">
                                          <p:val>
                                            <p:strVal val="#ppt_y"/>
                                          </p:val>
                                        </p:tav>
                                      </p:tavLst>
                                    </p:anim>
                                    <p:animEffect transition="in" filter="wipe(up)">
                                      <p:cBhvr>
                                        <p:cTn id="60" dur="500"/>
                                        <p:tgtEl>
                                          <p:spTgt spid="41063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31"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58303D18-8DF8-41FA-9DE7-6D91F0B201D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27" name="Rectangle 3">
            <a:extLst>
              <a:ext uri="{FF2B5EF4-FFF2-40B4-BE49-F238E27FC236}">
                <a16:creationId xmlns:a16="http://schemas.microsoft.com/office/drawing/2014/main" id="{5C4A8FCA-672E-42D4-8C38-13B36F29209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30" name="Rectangle 6">
            <a:extLst>
              <a:ext uri="{FF2B5EF4-FFF2-40B4-BE49-F238E27FC236}">
                <a16:creationId xmlns:a16="http://schemas.microsoft.com/office/drawing/2014/main" id="{8CA895E9-8D7B-4BD9-A0AB-BF270FC7464D}"/>
              </a:ext>
            </a:extLst>
          </p:cNvPr>
          <p:cNvSpPr>
            <a:spLocks noGrp="1"/>
          </p:cNvSpPr>
          <p:nvPr>
            <p:ph type="title"/>
          </p:nvPr>
        </p:nvSpPr>
        <p:spPr>
          <a:xfrm>
            <a:off x="434950" y="166338"/>
            <a:ext cx="10515600" cy="908198"/>
          </a:xfrm>
        </p:spPr>
        <p:txBody>
          <a:bodyPr/>
          <a:lstStyle/>
          <a:p>
            <a:r>
              <a:rPr lang="en-GB" altLang="en-US" dirty="0"/>
              <a:t>Monopoly</a:t>
            </a:r>
          </a:p>
        </p:txBody>
      </p:sp>
      <p:sp>
        <p:nvSpPr>
          <p:cNvPr id="410631" name="Rectangle 7">
            <a:extLst>
              <a:ext uri="{FF2B5EF4-FFF2-40B4-BE49-F238E27FC236}">
                <a16:creationId xmlns:a16="http://schemas.microsoft.com/office/drawing/2014/main" id="{CE6B27E9-FFFD-42B3-809D-7066CA45D6D1}"/>
              </a:ext>
            </a:extLst>
          </p:cNvPr>
          <p:cNvSpPr>
            <a:spLocks noGrp="1"/>
          </p:cNvSpPr>
          <p:nvPr>
            <p:ph idx="1"/>
          </p:nvPr>
        </p:nvSpPr>
        <p:spPr>
          <a:xfrm>
            <a:off x="-92055" y="1071220"/>
            <a:ext cx="11877024" cy="5142616"/>
          </a:xfrm>
        </p:spPr>
        <p:txBody>
          <a:bodyPr>
            <a:noAutofit/>
          </a:bodyPr>
          <a:lstStyle/>
          <a:p>
            <a:pPr lvl="1">
              <a:lnSpc>
                <a:spcPct val="100000"/>
              </a:lnSpc>
              <a:spcBef>
                <a:spcPts val="600"/>
              </a:spcBef>
            </a:pPr>
            <a:r>
              <a:rPr lang="en-GB" b="1" dirty="0">
                <a:solidFill>
                  <a:srgbClr val="006C2C"/>
                </a:solidFill>
                <a:latin typeface="Calibri" panose="020F0502020204030204" pitchFamily="34" charset="0"/>
                <a:cs typeface="Calibri" panose="020F0502020204030204" pitchFamily="34" charset="0"/>
              </a:rPr>
              <a:t>Access to, control over or ownership of key inputs or outlets</a:t>
            </a:r>
          </a:p>
          <a:p>
            <a:pPr lvl="2">
              <a:lnSpc>
                <a:spcPct val="100000"/>
              </a:lnSpc>
              <a:spcBef>
                <a:spcPts val="600"/>
              </a:spcBef>
            </a:pPr>
            <a:r>
              <a:rPr lang="en-GB" sz="2000" dirty="0">
                <a:latin typeface="Calibri" panose="020F0502020204030204" pitchFamily="34" charset="0"/>
                <a:cs typeface="Calibri" panose="020F0502020204030204" pitchFamily="34" charset="0"/>
              </a:rPr>
              <a:t>For instance, Amazon purchased Kiva Systems (the leading supplier of robotics for warehouse operators and retailers)</a:t>
            </a:r>
          </a:p>
          <a:p>
            <a:pPr lvl="1">
              <a:lnSpc>
                <a:spcPct val="100000"/>
              </a:lnSpc>
              <a:spcBef>
                <a:spcPts val="600"/>
              </a:spcBef>
            </a:pPr>
            <a:r>
              <a:rPr lang="en-GB" altLang="en-US" b="1" dirty="0">
                <a:solidFill>
                  <a:srgbClr val="006C2C"/>
                </a:solidFill>
                <a:latin typeface="Calibri" panose="020F0502020204030204" pitchFamily="34" charset="0"/>
                <a:cs typeface="Calibri" panose="020F0502020204030204" pitchFamily="34" charset="0"/>
              </a:rPr>
              <a:t>Legal protection</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The firm’s monopoly position may be protected by patents on essential processes, by copyright, by various forms of licensing and by tariffs and other trade restrictions to keep out foreign competitors. </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For example, most new medicines developed by pharmaceutical companies are protected by patents</a:t>
            </a:r>
          </a:p>
          <a:p>
            <a:pPr lvl="1">
              <a:lnSpc>
                <a:spcPct val="100000"/>
              </a:lnSpc>
              <a:spcBef>
                <a:spcPts val="600"/>
              </a:spcBef>
            </a:pPr>
            <a:r>
              <a:rPr lang="en-GB" altLang="en-US" b="1" dirty="0">
                <a:solidFill>
                  <a:srgbClr val="006C2C"/>
                </a:solidFill>
                <a:latin typeface="Calibri" panose="020F0502020204030204" pitchFamily="34" charset="0"/>
                <a:cs typeface="Calibri" panose="020F0502020204030204" pitchFamily="34" charset="0"/>
              </a:rPr>
              <a:t>Mergers, takeovers and aggressive tactics</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The sheer threat of takeovers may discourage new entrants</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An established monopolist is likely to have some retained profits behind it which it can use to help sustain losses whilst it engages in a price war, mounts an advertising campaign or offers deals</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New entrants may struggle to access customers, if customers incur costs when moving supplier</a:t>
            </a:r>
          </a:p>
          <a:p>
            <a:pPr lvl="2">
              <a:lnSpc>
                <a:spcPct val="100000"/>
              </a:lnSpc>
              <a:spcBef>
                <a:spcPts val="600"/>
              </a:spcBef>
            </a:pPr>
            <a:r>
              <a:rPr lang="en-GB" altLang="en-US" sz="2000" dirty="0">
                <a:latin typeface="Calibri" panose="020F0502020204030204" pitchFamily="34" charset="0"/>
                <a:cs typeface="Calibri" panose="020F0502020204030204" pitchFamily="34" charset="0"/>
              </a:rPr>
              <a:t>Consumers may decide not to switch due to network economies, for example, people sell on eBay, because it is used by so many people. </a:t>
            </a:r>
          </a:p>
        </p:txBody>
      </p:sp>
    </p:spTree>
    <p:extLst>
      <p:ext uri="{BB962C8B-B14F-4D97-AF65-F5344CB8AC3E}">
        <p14:creationId xmlns:p14="http://schemas.microsoft.com/office/powerpoint/2010/main" val="211374473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31">
                                            <p:txEl>
                                              <p:pRg st="0" end="0"/>
                                            </p:txEl>
                                          </p:spTgt>
                                        </p:tgtEl>
                                        <p:attrNameLst>
                                          <p:attrName>style.visibility</p:attrName>
                                        </p:attrNameLst>
                                      </p:cBhvr>
                                      <p:to>
                                        <p:strVal val="visible"/>
                                      </p:to>
                                    </p:set>
                                    <p:anim calcmode="lin" valueType="num">
                                      <p:cBhvr additive="base">
                                        <p:cTn id="7" dur="500"/>
                                        <p:tgtEl>
                                          <p:spTgt spid="4106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31">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410631">
                                            <p:txEl>
                                              <p:pRg st="1" end="1"/>
                                            </p:txEl>
                                          </p:spTgt>
                                        </p:tgtEl>
                                        <p:attrNameLst>
                                          <p:attrName>style.visibility</p:attrName>
                                        </p:attrNameLst>
                                      </p:cBhvr>
                                      <p:to>
                                        <p:strVal val="visible"/>
                                      </p:to>
                                    </p:set>
                                    <p:anim calcmode="lin" valueType="num">
                                      <p:cBhvr additive="base">
                                        <p:cTn id="11" dur="500"/>
                                        <p:tgtEl>
                                          <p:spTgt spid="410631">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4106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10631">
                                            <p:txEl>
                                              <p:pRg st="2" end="2"/>
                                            </p:txEl>
                                          </p:spTgt>
                                        </p:tgtEl>
                                        <p:attrNameLst>
                                          <p:attrName>style.visibility</p:attrName>
                                        </p:attrNameLst>
                                      </p:cBhvr>
                                      <p:to>
                                        <p:strVal val="visible"/>
                                      </p:to>
                                    </p:set>
                                    <p:anim calcmode="lin" valueType="num">
                                      <p:cBhvr additive="base">
                                        <p:cTn id="17" dur="500"/>
                                        <p:tgtEl>
                                          <p:spTgt spid="410631">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10631">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10631">
                                            <p:txEl>
                                              <p:pRg st="3" end="3"/>
                                            </p:txEl>
                                          </p:spTgt>
                                        </p:tgtEl>
                                        <p:attrNameLst>
                                          <p:attrName>style.visibility</p:attrName>
                                        </p:attrNameLst>
                                      </p:cBhvr>
                                      <p:to>
                                        <p:strVal val="visible"/>
                                      </p:to>
                                    </p:set>
                                    <p:anim calcmode="lin" valueType="num">
                                      <p:cBhvr additive="base">
                                        <p:cTn id="21" dur="500"/>
                                        <p:tgtEl>
                                          <p:spTgt spid="410631">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10631">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410631">
                                            <p:txEl>
                                              <p:pRg st="4" end="4"/>
                                            </p:txEl>
                                          </p:spTgt>
                                        </p:tgtEl>
                                        <p:attrNameLst>
                                          <p:attrName>style.visibility</p:attrName>
                                        </p:attrNameLst>
                                      </p:cBhvr>
                                      <p:to>
                                        <p:strVal val="visible"/>
                                      </p:to>
                                    </p:set>
                                    <p:anim calcmode="lin" valueType="num">
                                      <p:cBhvr additive="base">
                                        <p:cTn id="25" dur="500"/>
                                        <p:tgtEl>
                                          <p:spTgt spid="41063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0631">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0631">
                                            <p:txEl>
                                              <p:pRg st="5" end="5"/>
                                            </p:txEl>
                                          </p:spTgt>
                                        </p:tgtEl>
                                        <p:attrNameLst>
                                          <p:attrName>style.visibility</p:attrName>
                                        </p:attrNameLst>
                                      </p:cBhvr>
                                      <p:to>
                                        <p:strVal val="visible"/>
                                      </p:to>
                                    </p:set>
                                    <p:anim calcmode="lin" valueType="num">
                                      <p:cBhvr additive="base">
                                        <p:cTn id="31" dur="500"/>
                                        <p:tgtEl>
                                          <p:spTgt spid="41063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0631">
                                            <p:txEl>
                                              <p:pRg st="5" end="5"/>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410631">
                                            <p:txEl>
                                              <p:pRg st="6" end="6"/>
                                            </p:txEl>
                                          </p:spTgt>
                                        </p:tgtEl>
                                        <p:attrNameLst>
                                          <p:attrName>style.visibility</p:attrName>
                                        </p:attrNameLst>
                                      </p:cBhvr>
                                      <p:to>
                                        <p:strVal val="visible"/>
                                      </p:to>
                                    </p:set>
                                    <p:anim calcmode="lin" valueType="num">
                                      <p:cBhvr additive="base">
                                        <p:cTn id="35" dur="500"/>
                                        <p:tgtEl>
                                          <p:spTgt spid="410631">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410631">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410631">
                                            <p:txEl>
                                              <p:pRg st="7" end="7"/>
                                            </p:txEl>
                                          </p:spTgt>
                                        </p:tgtEl>
                                        <p:attrNameLst>
                                          <p:attrName>style.visibility</p:attrName>
                                        </p:attrNameLst>
                                      </p:cBhvr>
                                      <p:to>
                                        <p:strVal val="visible"/>
                                      </p:to>
                                    </p:set>
                                    <p:anim calcmode="lin" valueType="num">
                                      <p:cBhvr additive="base">
                                        <p:cTn id="39" dur="500"/>
                                        <p:tgtEl>
                                          <p:spTgt spid="410631">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410631">
                                            <p:txEl>
                                              <p:pRg st="7" end="7"/>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410631">
                                            <p:txEl>
                                              <p:pRg st="8" end="8"/>
                                            </p:txEl>
                                          </p:spTgt>
                                        </p:tgtEl>
                                        <p:attrNameLst>
                                          <p:attrName>style.visibility</p:attrName>
                                        </p:attrNameLst>
                                      </p:cBhvr>
                                      <p:to>
                                        <p:strVal val="visible"/>
                                      </p:to>
                                    </p:set>
                                    <p:anim calcmode="lin" valueType="num">
                                      <p:cBhvr additive="base">
                                        <p:cTn id="43" dur="500"/>
                                        <p:tgtEl>
                                          <p:spTgt spid="410631">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0631">
                                            <p:txEl>
                                              <p:pRg st="8" end="8"/>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410631">
                                            <p:txEl>
                                              <p:pRg st="9" end="9"/>
                                            </p:txEl>
                                          </p:spTgt>
                                        </p:tgtEl>
                                        <p:attrNameLst>
                                          <p:attrName>style.visibility</p:attrName>
                                        </p:attrNameLst>
                                      </p:cBhvr>
                                      <p:to>
                                        <p:strVal val="visible"/>
                                      </p:to>
                                    </p:set>
                                    <p:anim calcmode="lin" valueType="num">
                                      <p:cBhvr additive="base">
                                        <p:cTn id="47" dur="500"/>
                                        <p:tgtEl>
                                          <p:spTgt spid="410631">
                                            <p:txEl>
                                              <p:pRg st="9" end="9"/>
                                            </p:txEl>
                                          </p:spTgt>
                                        </p:tgtEl>
                                        <p:attrNameLst>
                                          <p:attrName>ppt_y</p:attrName>
                                        </p:attrNameLst>
                                      </p:cBhvr>
                                      <p:tavLst>
                                        <p:tav tm="0">
                                          <p:val>
                                            <p:strVal val="#ppt_y+#ppt_h*1.125000"/>
                                          </p:val>
                                        </p:tav>
                                        <p:tav tm="100000">
                                          <p:val>
                                            <p:strVal val="#ppt_y"/>
                                          </p:val>
                                        </p:tav>
                                      </p:tavLst>
                                    </p:anim>
                                    <p:animEffect transition="in" filter="wipe(up)">
                                      <p:cBhvr>
                                        <p:cTn id="48" dur="500"/>
                                        <p:tgtEl>
                                          <p:spTgt spid="4106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31"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4" name="Rectangle 2">
            <a:extLst>
              <a:ext uri="{FF2B5EF4-FFF2-40B4-BE49-F238E27FC236}">
                <a16:creationId xmlns:a16="http://schemas.microsoft.com/office/drawing/2014/main" id="{984559DF-37EF-49F4-AD25-BA8B857D51B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5" name="Rectangle 3">
            <a:extLst>
              <a:ext uri="{FF2B5EF4-FFF2-40B4-BE49-F238E27FC236}">
                <a16:creationId xmlns:a16="http://schemas.microsoft.com/office/drawing/2014/main" id="{689FFC77-B18B-48EB-8099-A970A26489E9}"/>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6" name="Rectangle 4">
            <a:extLst>
              <a:ext uri="{FF2B5EF4-FFF2-40B4-BE49-F238E27FC236}">
                <a16:creationId xmlns:a16="http://schemas.microsoft.com/office/drawing/2014/main" id="{60C32488-3DE5-447E-9A71-0332F6304B5C}"/>
              </a:ext>
            </a:extLst>
          </p:cNvPr>
          <p:cNvSpPr>
            <a:spLocks noGrp="1"/>
          </p:cNvSpPr>
          <p:nvPr>
            <p:ph type="title"/>
          </p:nvPr>
        </p:nvSpPr>
        <p:spPr/>
        <p:txBody>
          <a:bodyPr/>
          <a:lstStyle/>
          <a:p>
            <a:r>
              <a:rPr lang="en-GB" altLang="en-US"/>
              <a:t>Monopoly</a:t>
            </a:r>
          </a:p>
        </p:txBody>
      </p:sp>
      <p:sp>
        <p:nvSpPr>
          <p:cNvPr id="412677" name="Rectangle 5">
            <a:extLst>
              <a:ext uri="{FF2B5EF4-FFF2-40B4-BE49-F238E27FC236}">
                <a16:creationId xmlns:a16="http://schemas.microsoft.com/office/drawing/2014/main" id="{67A01F5E-F875-47DF-B761-61CE90A1574C}"/>
              </a:ext>
            </a:extLst>
          </p:cNvPr>
          <p:cNvSpPr>
            <a:spLocks noGrp="1"/>
          </p:cNvSpPr>
          <p:nvPr>
            <p:ph idx="1"/>
          </p:nvPr>
        </p:nvSpPr>
        <p:spPr>
          <a:xfrm>
            <a:off x="5932573" y="374452"/>
            <a:ext cx="6014584" cy="5765091"/>
          </a:xfrm>
        </p:spPr>
        <p:txBody>
          <a:bodyPr>
            <a:noAutofit/>
          </a:bodyPr>
          <a:lstStyle/>
          <a:p>
            <a:pPr marL="0" indent="0">
              <a:lnSpc>
                <a:spcPct val="100000"/>
              </a:lnSpc>
              <a:spcBef>
                <a:spcPts val="600"/>
              </a:spcBef>
              <a:buNone/>
            </a:pPr>
            <a:r>
              <a:rPr lang="en-GB" altLang="en-US" sz="2000" b="1" dirty="0">
                <a:latin typeface="Calibri" panose="020F0502020204030204" pitchFamily="34" charset="0"/>
                <a:cs typeface="Calibri" panose="020F0502020204030204" pitchFamily="34" charset="0"/>
              </a:rPr>
              <a:t>The monopolist’s demand curve</a:t>
            </a:r>
          </a:p>
          <a:p>
            <a:pPr>
              <a:lnSpc>
                <a:spcPct val="100000"/>
              </a:lnSpc>
              <a:spcBef>
                <a:spcPts val="600"/>
              </a:spcBef>
            </a:pPr>
            <a:r>
              <a:rPr lang="en-GB" altLang="en-US" sz="2000" dirty="0">
                <a:latin typeface="Calibri" panose="020F0502020204030204" pitchFamily="34" charset="0"/>
                <a:cs typeface="Calibri" panose="020F0502020204030204" pitchFamily="34" charset="0"/>
              </a:rPr>
              <a:t>One firm in the industry means </a:t>
            </a:r>
            <a:r>
              <a:rPr lang="en-GB" altLang="en-US" sz="2000" b="1" dirty="0">
                <a:latin typeface="Calibri" panose="020F0502020204030204" pitchFamily="34" charset="0"/>
                <a:cs typeface="Calibri" panose="020F0502020204030204" pitchFamily="34" charset="0"/>
              </a:rPr>
              <a:t>the firm’s demand curve is also the industry demand curve</a:t>
            </a:r>
          </a:p>
          <a:p>
            <a:pPr>
              <a:lnSpc>
                <a:spcPct val="100000"/>
              </a:lnSpc>
              <a:spcBef>
                <a:spcPts val="600"/>
              </a:spcBef>
            </a:pPr>
            <a:r>
              <a:rPr lang="en-GB" altLang="en-US" sz="2000" dirty="0">
                <a:latin typeface="Calibri" panose="020F0502020204030204" pitchFamily="34" charset="0"/>
                <a:cs typeface="Calibri" panose="020F0502020204030204" pitchFamily="34" charset="0"/>
              </a:rPr>
              <a:t>Elasticity will depend on </a:t>
            </a:r>
            <a:r>
              <a:rPr lang="en-GB" altLang="en-US" sz="2000" b="1" dirty="0">
                <a:latin typeface="Calibri" panose="020F0502020204030204" pitchFamily="34" charset="0"/>
                <a:cs typeface="Calibri" panose="020F0502020204030204" pitchFamily="34" charset="0"/>
              </a:rPr>
              <a:t>availability of substitutes in </a:t>
            </a:r>
            <a:r>
              <a:rPr lang="en-GB" altLang="en-US" sz="2000" b="1" i="1" dirty="0">
                <a:latin typeface="Calibri" panose="020F0502020204030204" pitchFamily="34" charset="0"/>
                <a:cs typeface="Calibri" panose="020F0502020204030204" pitchFamily="34" charset="0"/>
              </a:rPr>
              <a:t>other</a:t>
            </a:r>
            <a:r>
              <a:rPr lang="en-GB" altLang="en-US" sz="2000" b="1" dirty="0">
                <a:latin typeface="Calibri" panose="020F0502020204030204" pitchFamily="34" charset="0"/>
                <a:cs typeface="Calibri" panose="020F0502020204030204" pitchFamily="34" charset="0"/>
              </a:rPr>
              <a:t> industries</a:t>
            </a:r>
            <a:r>
              <a:rPr lang="en-GB" altLang="en-US" sz="2000" dirty="0">
                <a:latin typeface="Calibri" panose="020F0502020204030204" pitchFamily="34" charset="0"/>
                <a:cs typeface="Calibri" panose="020F0502020204030204" pitchFamily="34" charset="0"/>
              </a:rPr>
              <a:t>)</a:t>
            </a:r>
          </a:p>
          <a:p>
            <a:pPr>
              <a:lnSpc>
                <a:spcPct val="100000"/>
              </a:lnSpc>
              <a:spcBef>
                <a:spcPts val="600"/>
              </a:spcBef>
            </a:pPr>
            <a:r>
              <a:rPr lang="en-GB" altLang="en-US" sz="2000" dirty="0">
                <a:latin typeface="Calibri" panose="020F0502020204030204" pitchFamily="34" charset="0"/>
                <a:cs typeface="Calibri" panose="020F0502020204030204" pitchFamily="34" charset="0"/>
              </a:rPr>
              <a:t>The monopolist is a ‘</a:t>
            </a:r>
            <a:r>
              <a:rPr lang="en-GB" altLang="en-US" sz="2000" b="1" dirty="0">
                <a:latin typeface="Calibri" panose="020F0502020204030204" pitchFamily="34" charset="0"/>
                <a:cs typeface="Calibri" panose="020F0502020204030204" pitchFamily="34" charset="0"/>
              </a:rPr>
              <a:t>price maker</a:t>
            </a:r>
            <a:r>
              <a:rPr lang="en-GB" altLang="en-US" sz="2000" dirty="0">
                <a:latin typeface="Calibri" panose="020F0502020204030204" pitchFamily="34" charset="0"/>
                <a:cs typeface="Calibri" panose="020F0502020204030204" pitchFamily="34" charset="0"/>
              </a:rPr>
              <a:t>’, but it is still constrained by its demand curve (a rise in P, will lead to a fall in Q)</a:t>
            </a:r>
          </a:p>
          <a:p>
            <a:pPr>
              <a:lnSpc>
                <a:spcPct val="100000"/>
              </a:lnSpc>
              <a:spcBef>
                <a:spcPts val="600"/>
              </a:spcBef>
            </a:pPr>
            <a:r>
              <a:rPr lang="en-GB" altLang="en-US" sz="2000" dirty="0">
                <a:latin typeface="Calibri" panose="020F0502020204030204" pitchFamily="34" charset="0"/>
                <a:cs typeface="Calibri" panose="020F0502020204030204" pitchFamily="34" charset="0"/>
              </a:rPr>
              <a:t>So, </a:t>
            </a:r>
            <a:r>
              <a:rPr lang="en-GB" altLang="en-US" sz="2000" b="1" dirty="0">
                <a:latin typeface="Calibri" panose="020F0502020204030204" pitchFamily="34" charset="0"/>
                <a:cs typeface="Calibri" panose="020F0502020204030204" pitchFamily="34" charset="0"/>
              </a:rPr>
              <a:t>MR lies below </a:t>
            </a:r>
            <a:r>
              <a:rPr lang="en-GB" altLang="en-US" sz="2000" b="1" i="1" dirty="0">
                <a:latin typeface="Calibri" panose="020F0502020204030204" pitchFamily="34" charset="0"/>
                <a:cs typeface="Calibri" panose="020F0502020204030204" pitchFamily="34" charset="0"/>
              </a:rPr>
              <a:t>AR</a:t>
            </a:r>
            <a:endParaRPr lang="en-GB" altLang="en-US" sz="2000" b="1" dirty="0">
              <a:latin typeface="Calibri" panose="020F0502020204030204" pitchFamily="34" charset="0"/>
              <a:cs typeface="Calibri" panose="020F0502020204030204" pitchFamily="34" charset="0"/>
            </a:endParaRPr>
          </a:p>
          <a:p>
            <a:pPr marL="0" indent="0">
              <a:lnSpc>
                <a:spcPct val="100000"/>
              </a:lnSpc>
              <a:spcBef>
                <a:spcPts val="600"/>
              </a:spcBef>
              <a:buNone/>
            </a:pPr>
            <a:r>
              <a:rPr lang="en-GB" altLang="en-US" sz="2000" b="1" dirty="0">
                <a:latin typeface="Calibri" panose="020F0502020204030204" pitchFamily="34" charset="0"/>
                <a:cs typeface="Calibri" panose="020F0502020204030204" pitchFamily="34" charset="0"/>
              </a:rPr>
              <a:t>Equilibrium price and output</a:t>
            </a:r>
          </a:p>
          <a:p>
            <a:pPr>
              <a:lnSpc>
                <a:spcPct val="100000"/>
              </a:lnSpc>
              <a:spcBef>
                <a:spcPts val="600"/>
              </a:spcBef>
            </a:pPr>
            <a:r>
              <a:rPr lang="en-GB" altLang="en-US" sz="2000" dirty="0">
                <a:latin typeface="Calibri" panose="020F0502020204030204" pitchFamily="34" charset="0"/>
                <a:cs typeface="Calibri" panose="020F0502020204030204" pitchFamily="34" charset="0"/>
              </a:rPr>
              <a:t>Monopolist will </a:t>
            </a:r>
            <a:r>
              <a:rPr lang="en-GB" altLang="en-US" sz="2000" b="1" dirty="0">
                <a:latin typeface="Calibri" panose="020F0502020204030204" pitchFamily="34" charset="0"/>
                <a:cs typeface="Calibri" panose="020F0502020204030204" pitchFamily="34" charset="0"/>
              </a:rPr>
              <a:t>maximise profits where </a:t>
            </a:r>
            <a:r>
              <a:rPr lang="en-GB" altLang="en-US" sz="2000" b="1" i="1" dirty="0">
                <a:latin typeface="Calibri" panose="020F0502020204030204" pitchFamily="34" charset="0"/>
                <a:cs typeface="Calibri" panose="020F0502020204030204" pitchFamily="34" charset="0"/>
              </a:rPr>
              <a:t>MC</a:t>
            </a:r>
            <a:r>
              <a:rPr lang="en-GB" altLang="en-US" sz="2000" b="1" dirty="0">
                <a:latin typeface="Calibri" panose="020F0502020204030204" pitchFamily="34" charset="0"/>
                <a:cs typeface="Calibri" panose="020F0502020204030204" pitchFamily="34" charset="0"/>
              </a:rPr>
              <a:t> = </a:t>
            </a:r>
            <a:r>
              <a:rPr lang="en-GB" altLang="en-US" sz="2000" b="1" i="1" dirty="0">
                <a:latin typeface="Calibri" panose="020F0502020204030204" pitchFamily="34" charset="0"/>
                <a:cs typeface="Calibri" panose="020F0502020204030204" pitchFamily="34" charset="0"/>
              </a:rPr>
              <a:t>MR </a:t>
            </a:r>
            <a:endParaRPr lang="en-GB" altLang="en-US" sz="2000" b="1" dirty="0">
              <a:latin typeface="Calibri" panose="020F0502020204030204" pitchFamily="34" charset="0"/>
              <a:cs typeface="Calibri" panose="020F0502020204030204" pitchFamily="34" charset="0"/>
            </a:endParaRPr>
          </a:p>
          <a:p>
            <a:pPr>
              <a:lnSpc>
                <a:spcPct val="100000"/>
              </a:lnSpc>
              <a:spcBef>
                <a:spcPts val="600"/>
              </a:spcBef>
            </a:pPr>
            <a:r>
              <a:rPr lang="en-GB" altLang="en-US" sz="2000" dirty="0">
                <a:latin typeface="Calibri" panose="020F0502020204030204" pitchFamily="34" charset="0"/>
                <a:cs typeface="Calibri" panose="020F0502020204030204" pitchFamily="34" charset="0"/>
              </a:rPr>
              <a:t>Profits will tend to be larger the less elastic the demand curve</a:t>
            </a:r>
          </a:p>
          <a:p>
            <a:pPr>
              <a:lnSpc>
                <a:spcPct val="100000"/>
              </a:lnSpc>
              <a:spcBef>
                <a:spcPts val="600"/>
              </a:spcBef>
            </a:pPr>
            <a:r>
              <a:rPr lang="en-GB" altLang="en-US" sz="2000" dirty="0">
                <a:latin typeface="Calibri" panose="020F0502020204030204" pitchFamily="34" charset="0"/>
                <a:cs typeface="Calibri" panose="020F0502020204030204" pitchFamily="34" charset="0"/>
              </a:rPr>
              <a:t>Barriers to entry of new firms - a monopolist’s supernormal profits will not be competed away in the long run</a:t>
            </a:r>
          </a:p>
        </p:txBody>
      </p:sp>
      <p:pic>
        <p:nvPicPr>
          <p:cNvPr id="2" name="Picture 1">
            <a:extLst>
              <a:ext uri="{FF2B5EF4-FFF2-40B4-BE49-F238E27FC236}">
                <a16:creationId xmlns:a16="http://schemas.microsoft.com/office/drawing/2014/main" id="{5C7E7F71-E360-75BC-4DBE-066A39C6216C}"/>
              </a:ext>
            </a:extLst>
          </p:cNvPr>
          <p:cNvPicPr>
            <a:picLocks noChangeAspect="1"/>
          </p:cNvPicPr>
          <p:nvPr/>
        </p:nvPicPr>
        <p:blipFill>
          <a:blip r:embed="rId3"/>
          <a:stretch>
            <a:fillRect/>
          </a:stretch>
        </p:blipFill>
        <p:spPr>
          <a:xfrm>
            <a:off x="-16687" y="1499390"/>
            <a:ext cx="6037943" cy="4180114"/>
          </a:xfrm>
          <a:prstGeom prst="rect">
            <a:avLst/>
          </a:prstGeom>
        </p:spPr>
      </p:pic>
    </p:spTree>
    <p:extLst>
      <p:ext uri="{BB962C8B-B14F-4D97-AF65-F5344CB8AC3E}">
        <p14:creationId xmlns:p14="http://schemas.microsoft.com/office/powerpoint/2010/main" val="3914955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2677">
                                            <p:txEl>
                                              <p:pRg st="0" end="0"/>
                                            </p:txEl>
                                          </p:spTgt>
                                        </p:tgtEl>
                                        <p:attrNameLst>
                                          <p:attrName>style.visibility</p:attrName>
                                        </p:attrNameLst>
                                      </p:cBhvr>
                                      <p:to>
                                        <p:strVal val="visible"/>
                                      </p:to>
                                    </p:set>
                                    <p:anim calcmode="lin" valueType="num">
                                      <p:cBhvr additive="base">
                                        <p:cTn id="7" dur="500"/>
                                        <p:tgtEl>
                                          <p:spTgt spid="41267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267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2677">
                                            <p:txEl>
                                              <p:pRg st="1" end="1"/>
                                            </p:txEl>
                                          </p:spTgt>
                                        </p:tgtEl>
                                        <p:attrNameLst>
                                          <p:attrName>style.visibility</p:attrName>
                                        </p:attrNameLst>
                                      </p:cBhvr>
                                      <p:to>
                                        <p:strVal val="visible"/>
                                      </p:to>
                                    </p:set>
                                    <p:anim calcmode="lin" valueType="num">
                                      <p:cBhvr additive="base">
                                        <p:cTn id="13" dur="500"/>
                                        <p:tgtEl>
                                          <p:spTgt spid="41267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267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2677">
                                            <p:txEl>
                                              <p:pRg st="2" end="2"/>
                                            </p:txEl>
                                          </p:spTgt>
                                        </p:tgtEl>
                                        <p:attrNameLst>
                                          <p:attrName>style.visibility</p:attrName>
                                        </p:attrNameLst>
                                      </p:cBhvr>
                                      <p:to>
                                        <p:strVal val="visible"/>
                                      </p:to>
                                    </p:set>
                                    <p:anim calcmode="lin" valueType="num">
                                      <p:cBhvr additive="base">
                                        <p:cTn id="19" dur="500"/>
                                        <p:tgtEl>
                                          <p:spTgt spid="41267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267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2677">
                                            <p:txEl>
                                              <p:pRg st="3" end="3"/>
                                            </p:txEl>
                                          </p:spTgt>
                                        </p:tgtEl>
                                        <p:attrNameLst>
                                          <p:attrName>style.visibility</p:attrName>
                                        </p:attrNameLst>
                                      </p:cBhvr>
                                      <p:to>
                                        <p:strVal val="visible"/>
                                      </p:to>
                                    </p:set>
                                    <p:anim calcmode="lin" valueType="num">
                                      <p:cBhvr additive="base">
                                        <p:cTn id="25" dur="500"/>
                                        <p:tgtEl>
                                          <p:spTgt spid="41267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267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2677">
                                            <p:txEl>
                                              <p:pRg st="4" end="4"/>
                                            </p:txEl>
                                          </p:spTgt>
                                        </p:tgtEl>
                                        <p:attrNameLst>
                                          <p:attrName>style.visibility</p:attrName>
                                        </p:attrNameLst>
                                      </p:cBhvr>
                                      <p:to>
                                        <p:strVal val="visible"/>
                                      </p:to>
                                    </p:set>
                                    <p:anim calcmode="lin" valueType="num">
                                      <p:cBhvr additive="base">
                                        <p:cTn id="31" dur="500"/>
                                        <p:tgtEl>
                                          <p:spTgt spid="41267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267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2677">
                                            <p:txEl>
                                              <p:pRg st="5" end="5"/>
                                            </p:txEl>
                                          </p:spTgt>
                                        </p:tgtEl>
                                        <p:attrNameLst>
                                          <p:attrName>style.visibility</p:attrName>
                                        </p:attrNameLst>
                                      </p:cBhvr>
                                      <p:to>
                                        <p:strVal val="visible"/>
                                      </p:to>
                                    </p:set>
                                    <p:anim calcmode="lin" valueType="num">
                                      <p:cBhvr additive="base">
                                        <p:cTn id="37" dur="500"/>
                                        <p:tgtEl>
                                          <p:spTgt spid="41267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267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12677">
                                            <p:txEl>
                                              <p:pRg st="6" end="6"/>
                                            </p:txEl>
                                          </p:spTgt>
                                        </p:tgtEl>
                                        <p:attrNameLst>
                                          <p:attrName>style.visibility</p:attrName>
                                        </p:attrNameLst>
                                      </p:cBhvr>
                                      <p:to>
                                        <p:strVal val="visible"/>
                                      </p:to>
                                    </p:set>
                                    <p:anim calcmode="lin" valueType="num">
                                      <p:cBhvr additive="base">
                                        <p:cTn id="43" dur="500"/>
                                        <p:tgtEl>
                                          <p:spTgt spid="41267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267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12677">
                                            <p:txEl>
                                              <p:pRg st="7" end="7"/>
                                            </p:txEl>
                                          </p:spTgt>
                                        </p:tgtEl>
                                        <p:attrNameLst>
                                          <p:attrName>style.visibility</p:attrName>
                                        </p:attrNameLst>
                                      </p:cBhvr>
                                      <p:to>
                                        <p:strVal val="visible"/>
                                      </p:to>
                                    </p:set>
                                    <p:anim calcmode="lin" valueType="num">
                                      <p:cBhvr additive="base">
                                        <p:cTn id="49" dur="500"/>
                                        <p:tgtEl>
                                          <p:spTgt spid="41267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12677">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12677">
                                            <p:txEl>
                                              <p:pRg st="8" end="8"/>
                                            </p:txEl>
                                          </p:spTgt>
                                        </p:tgtEl>
                                        <p:attrNameLst>
                                          <p:attrName>style.visibility</p:attrName>
                                        </p:attrNameLst>
                                      </p:cBhvr>
                                      <p:to>
                                        <p:strVal val="visible"/>
                                      </p:to>
                                    </p:set>
                                    <p:anim calcmode="lin" valueType="num">
                                      <p:cBhvr additive="base">
                                        <p:cTn id="55" dur="500"/>
                                        <p:tgtEl>
                                          <p:spTgt spid="412677">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1267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build="p" bldLvl="3"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4" name="Rectangle 2">
            <a:extLst>
              <a:ext uri="{FF2B5EF4-FFF2-40B4-BE49-F238E27FC236}">
                <a16:creationId xmlns:a16="http://schemas.microsoft.com/office/drawing/2014/main" id="{984559DF-37EF-49F4-AD25-BA8B857D51B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5" name="Rectangle 3">
            <a:extLst>
              <a:ext uri="{FF2B5EF4-FFF2-40B4-BE49-F238E27FC236}">
                <a16:creationId xmlns:a16="http://schemas.microsoft.com/office/drawing/2014/main" id="{689FFC77-B18B-48EB-8099-A970A26489E9}"/>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2676" name="Rectangle 4">
            <a:extLst>
              <a:ext uri="{FF2B5EF4-FFF2-40B4-BE49-F238E27FC236}">
                <a16:creationId xmlns:a16="http://schemas.microsoft.com/office/drawing/2014/main" id="{60C32488-3DE5-447E-9A71-0332F6304B5C}"/>
              </a:ext>
            </a:extLst>
          </p:cNvPr>
          <p:cNvSpPr>
            <a:spLocks noGrp="1"/>
          </p:cNvSpPr>
          <p:nvPr>
            <p:ph type="title"/>
          </p:nvPr>
        </p:nvSpPr>
        <p:spPr>
          <a:xfrm>
            <a:off x="395193" y="217454"/>
            <a:ext cx="10515600" cy="908198"/>
          </a:xfrm>
        </p:spPr>
        <p:txBody>
          <a:bodyPr/>
          <a:lstStyle/>
          <a:p>
            <a:r>
              <a:rPr lang="en-GB" altLang="en-US" sz="3200" dirty="0"/>
              <a:t>Monopoly versus Perfect Competition</a:t>
            </a:r>
          </a:p>
        </p:txBody>
      </p:sp>
      <p:sp>
        <p:nvSpPr>
          <p:cNvPr id="2" name="TextBox 1">
            <a:extLst>
              <a:ext uri="{FF2B5EF4-FFF2-40B4-BE49-F238E27FC236}">
                <a16:creationId xmlns:a16="http://schemas.microsoft.com/office/drawing/2014/main" id="{B89F4D4B-5C12-5EB0-C870-DB898CEB39B6}"/>
              </a:ext>
            </a:extLst>
          </p:cNvPr>
          <p:cNvSpPr txBox="1"/>
          <p:nvPr/>
        </p:nvSpPr>
        <p:spPr>
          <a:xfrm>
            <a:off x="365282" y="1161635"/>
            <a:ext cx="11520868" cy="5893921"/>
          </a:xfrm>
          <a:prstGeom prst="rect">
            <a:avLst/>
          </a:prstGeom>
          <a:noFill/>
        </p:spPr>
        <p:txBody>
          <a:bodyPr wrap="square" rtlCol="0">
            <a:spAutoFit/>
          </a:bodyPr>
          <a:lstStyle/>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The monopolist will often produce a lower output at a higher price in the short-run than a firm under perfect competition</a:t>
            </a:r>
          </a:p>
          <a:p>
            <a:pPr marL="742950" lvl="1" indent="-285750">
              <a:buFont typeface="Arial" panose="020B0604020202020204" pitchFamily="34" charset="0"/>
              <a:buChar char="•"/>
            </a:pPr>
            <a:r>
              <a:rPr lang="en-GB" altLang="en-US" sz="2000" dirty="0">
                <a:solidFill>
                  <a:srgbClr val="02477A"/>
                </a:solidFill>
                <a:latin typeface="Calibri" panose="020F0502020204030204" pitchFamily="34" charset="0"/>
                <a:cs typeface="Calibri" panose="020F0502020204030204" pitchFamily="34" charset="0"/>
              </a:rPr>
              <a:t>The profit maximising price is higher, and the profit-maximising level of output is lower under monopoly than under perfect competition (assuming the same cost curves)</a:t>
            </a:r>
            <a:endParaRPr lang="en-GB" altLang="en-US" sz="2000" dirty="0">
              <a:latin typeface="Calibri" panose="020F0502020204030204" pitchFamily="34" charset="0"/>
              <a:cs typeface="Calibri" panose="020F0502020204030204" pitchFamily="34" charset="0"/>
            </a:endParaRPr>
          </a:p>
          <a:p>
            <a:pPr lvl="1"/>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The monopolist may also produce a lower output at a higher price in the long run</a:t>
            </a:r>
          </a:p>
          <a:p>
            <a:pPr marL="742950" lvl="1" indent="-285750">
              <a:buFont typeface="Arial" panose="020B0604020202020204" pitchFamily="34" charset="0"/>
              <a:buChar char="•"/>
            </a:pPr>
            <a:r>
              <a:rPr lang="en-GB" altLang="en-US" sz="1900" dirty="0">
                <a:solidFill>
                  <a:srgbClr val="02477A"/>
                </a:solidFill>
                <a:latin typeface="Calibri" panose="020F0502020204030204" pitchFamily="34" charset="0"/>
                <a:cs typeface="Calibri" panose="020F0502020204030204" pitchFamily="34" charset="0"/>
              </a:rPr>
              <a:t>barriers to entry allow supernormal profits in the long run</a:t>
            </a:r>
          </a:p>
          <a:p>
            <a:pPr lvl="1"/>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On the other hand, the monopolist may be able to achieve substantial economies of scale and pass these on to consumers in the form of lower prices.</a:t>
            </a:r>
          </a:p>
          <a:p>
            <a:pPr marL="285750" indent="-285750">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altLang="en-US" sz="2000" dirty="0">
                <a:latin typeface="Calibri" panose="020F0502020204030204" pitchFamily="34" charset="0"/>
                <a:cs typeface="Calibri" panose="020F0502020204030204" pitchFamily="34" charset="0"/>
              </a:rPr>
              <a:t>A monopolist may not have the same </a:t>
            </a:r>
            <a:r>
              <a:rPr lang="en-GB" altLang="en-US" sz="2000" b="1" dirty="0">
                <a:latin typeface="Calibri" panose="020F0502020204030204" pitchFamily="34" charset="0"/>
                <a:cs typeface="Calibri" panose="020F0502020204030204" pitchFamily="34" charset="0"/>
              </a:rPr>
              <a:t>incentive</a:t>
            </a:r>
            <a:r>
              <a:rPr lang="en-GB" altLang="en-US" sz="2000" dirty="0">
                <a:latin typeface="Calibri" panose="020F0502020204030204" pitchFamily="34" charset="0"/>
                <a:cs typeface="Calibri" panose="020F0502020204030204" pitchFamily="34" charset="0"/>
              </a:rPr>
              <a:t> to become efficient as a perfectly competitive firm, but it may have much greater </a:t>
            </a:r>
            <a:r>
              <a:rPr lang="en-GB" altLang="en-US" sz="2000" b="1" dirty="0">
                <a:latin typeface="Calibri" panose="020F0502020204030204" pitchFamily="34" charset="0"/>
                <a:cs typeface="Calibri" panose="020F0502020204030204" pitchFamily="34" charset="0"/>
              </a:rPr>
              <a:t>ability</a:t>
            </a:r>
            <a:r>
              <a:rPr lang="en-GB" altLang="en-US" sz="20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altLang="en-US" sz="2000" dirty="0">
              <a:latin typeface="Calibri" panose="020F0502020204030204" pitchFamily="34" charset="0"/>
              <a:cs typeface="Calibri" panose="020F0502020204030204" pitchFamily="34" charset="0"/>
            </a:endParaRPr>
          </a:p>
          <a:p>
            <a:endParaRPr lang="en-GB" dirty="0"/>
          </a:p>
        </p:txBody>
      </p:sp>
    </p:spTree>
    <p:extLst>
      <p:ext uri="{BB962C8B-B14F-4D97-AF65-F5344CB8AC3E}">
        <p14:creationId xmlns:p14="http://schemas.microsoft.com/office/powerpoint/2010/main" val="2164708970"/>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64460586-8A6D-48E4-BBD5-1EE5FD849EAC}"/>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87" name="Rectangle 3">
            <a:extLst>
              <a:ext uri="{FF2B5EF4-FFF2-40B4-BE49-F238E27FC236}">
                <a16:creationId xmlns:a16="http://schemas.microsoft.com/office/drawing/2014/main" id="{25CF5EA9-9489-4046-926D-9A6DC89D90A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88" name="Rectangle 4">
            <a:extLst>
              <a:ext uri="{FF2B5EF4-FFF2-40B4-BE49-F238E27FC236}">
                <a16:creationId xmlns:a16="http://schemas.microsoft.com/office/drawing/2014/main" id="{BEDEE2FA-73A5-4048-9EC3-B8210DFE9468}"/>
              </a:ext>
            </a:extLst>
          </p:cNvPr>
          <p:cNvSpPr>
            <a:spLocks noGrp="1"/>
          </p:cNvSpPr>
          <p:nvPr>
            <p:ph type="title"/>
          </p:nvPr>
        </p:nvSpPr>
        <p:spPr>
          <a:xfrm>
            <a:off x="554216" y="365126"/>
            <a:ext cx="10515600" cy="908198"/>
          </a:xfrm>
        </p:spPr>
        <p:txBody>
          <a:bodyPr/>
          <a:lstStyle/>
          <a:p>
            <a:r>
              <a:rPr lang="en-GB" altLang="en-US" dirty="0"/>
              <a:t>Monopolistic Competition</a:t>
            </a:r>
          </a:p>
        </p:txBody>
      </p:sp>
      <p:sp>
        <p:nvSpPr>
          <p:cNvPr id="400389" name="Rectangle 5">
            <a:extLst>
              <a:ext uri="{FF2B5EF4-FFF2-40B4-BE49-F238E27FC236}">
                <a16:creationId xmlns:a16="http://schemas.microsoft.com/office/drawing/2014/main" id="{DD5BC59C-6E0D-4660-8BBD-1E251EFD7F97}"/>
              </a:ext>
            </a:extLst>
          </p:cNvPr>
          <p:cNvSpPr>
            <a:spLocks noGrp="1"/>
          </p:cNvSpPr>
          <p:nvPr>
            <p:ph idx="1"/>
          </p:nvPr>
        </p:nvSpPr>
        <p:spPr>
          <a:xfrm>
            <a:off x="402167" y="1524000"/>
            <a:ext cx="11325545" cy="4889500"/>
          </a:xfrm>
        </p:spPr>
        <p:txBody>
          <a:bodyPr/>
          <a:lstStyle/>
          <a:p>
            <a:pPr>
              <a:lnSpc>
                <a:spcPct val="100000"/>
              </a:lnSpc>
              <a:spcBef>
                <a:spcPts val="0"/>
              </a:spcBef>
              <a:spcAft>
                <a:spcPts val="1800"/>
              </a:spcAft>
            </a:pPr>
            <a:r>
              <a:rPr lang="en-GB" altLang="en-US" sz="2000" dirty="0">
                <a:latin typeface="Calibri" panose="020F0502020204030204" pitchFamily="34" charset="0"/>
                <a:cs typeface="Calibri" panose="020F0502020204030204" pitchFamily="34" charset="0"/>
              </a:rPr>
              <a:t>Very few markets in practice can be classified as perfectly competitive or as a pure monopoly. </a:t>
            </a:r>
          </a:p>
          <a:p>
            <a:pPr>
              <a:lnSpc>
                <a:spcPct val="100000"/>
              </a:lnSpc>
              <a:spcBef>
                <a:spcPts val="0"/>
              </a:spcBef>
              <a:spcAft>
                <a:spcPts val="1800"/>
              </a:spcAft>
            </a:pPr>
            <a:r>
              <a:rPr lang="en-GB" altLang="en-US" sz="2000" b="1" dirty="0">
                <a:latin typeface="Calibri" panose="020F0502020204030204" pitchFamily="34" charset="0"/>
                <a:cs typeface="Calibri" panose="020F0502020204030204" pitchFamily="34" charset="0"/>
              </a:rPr>
              <a:t>Most firms do compete with other firms</a:t>
            </a:r>
            <a:r>
              <a:rPr lang="en-GB" altLang="en-US" sz="2000" dirty="0">
                <a:latin typeface="Calibri" panose="020F0502020204030204" pitchFamily="34" charset="0"/>
                <a:cs typeface="Calibri" panose="020F0502020204030204" pitchFamily="34" charset="0"/>
              </a:rPr>
              <a:t>, often quite aggressively, and yet they are not price takers: they do have </a:t>
            </a:r>
            <a:r>
              <a:rPr lang="en-GB" altLang="en-US" sz="2000" b="1" dirty="0">
                <a:latin typeface="Calibri" panose="020F0502020204030204" pitchFamily="34" charset="0"/>
                <a:cs typeface="Calibri" panose="020F0502020204030204" pitchFamily="34" charset="0"/>
              </a:rPr>
              <a:t>some degree of market power</a:t>
            </a:r>
            <a:r>
              <a:rPr lang="en-GB" altLang="en-US" sz="2000" dirty="0">
                <a:latin typeface="Calibri" panose="020F0502020204030204" pitchFamily="34" charset="0"/>
                <a:cs typeface="Calibri" panose="020F0502020204030204" pitchFamily="34" charset="0"/>
              </a:rPr>
              <a:t>.</a:t>
            </a:r>
          </a:p>
          <a:p>
            <a:pPr>
              <a:lnSpc>
                <a:spcPct val="100000"/>
              </a:lnSpc>
              <a:spcBef>
                <a:spcPts val="0"/>
              </a:spcBef>
              <a:spcAft>
                <a:spcPts val="1800"/>
              </a:spcAft>
            </a:pPr>
            <a:r>
              <a:rPr lang="en-GB" altLang="en-US" sz="2000" dirty="0">
                <a:latin typeface="Calibri" panose="020F0502020204030204" pitchFamily="34" charset="0"/>
                <a:cs typeface="Calibri" panose="020F0502020204030204" pitchFamily="34" charset="0"/>
              </a:rPr>
              <a:t>Most markets lie between the two extremes of monopoly and perfect competition.</a:t>
            </a:r>
          </a:p>
          <a:p>
            <a:pPr>
              <a:lnSpc>
                <a:spcPct val="100000"/>
              </a:lnSpc>
              <a:spcBef>
                <a:spcPts val="0"/>
              </a:spcBef>
              <a:spcAft>
                <a:spcPts val="1800"/>
              </a:spcAft>
            </a:pPr>
            <a:r>
              <a:rPr lang="en-GB" altLang="en-US" sz="2000" dirty="0">
                <a:latin typeface="Calibri" panose="020F0502020204030204" pitchFamily="34" charset="0"/>
                <a:cs typeface="Calibri" panose="020F0502020204030204" pitchFamily="34" charset="0"/>
              </a:rPr>
              <a:t>Monopolistic competition combines some of the characteristics of monopoly and some of the characteristics of perfect competition.</a:t>
            </a:r>
          </a:p>
          <a:p>
            <a:pPr>
              <a:lnSpc>
                <a:spcPct val="100000"/>
              </a:lnSpc>
              <a:spcBef>
                <a:spcPts val="0"/>
              </a:spcBef>
              <a:spcAft>
                <a:spcPts val="1800"/>
              </a:spcAft>
            </a:pPr>
            <a:r>
              <a:rPr lang="en-GB" altLang="en-US" sz="2000" dirty="0">
                <a:latin typeface="Calibri" panose="020F0502020204030204" pitchFamily="34" charset="0"/>
                <a:cs typeface="Calibri" panose="020F0502020204030204" pitchFamily="34" charset="0"/>
              </a:rPr>
              <a:t>Monopolistic competition is a form of ‘</a:t>
            </a:r>
            <a:r>
              <a:rPr lang="en-GB" altLang="en-US" sz="2000" b="1" dirty="0">
                <a:latin typeface="Calibri" panose="020F0502020204030204" pitchFamily="34" charset="0"/>
                <a:cs typeface="Calibri" panose="020F0502020204030204" pitchFamily="34" charset="0"/>
              </a:rPr>
              <a:t>imperfect competition</a:t>
            </a:r>
            <a:r>
              <a:rPr lang="en-GB" altLang="en-US" sz="2000" dirty="0">
                <a:latin typeface="Calibri" panose="020F0502020204030204" pitchFamily="34" charset="0"/>
                <a:cs typeface="Calibri" panose="020F0502020204030204" pitchFamily="34" charset="0"/>
              </a:rPr>
              <a:t>’.</a:t>
            </a:r>
          </a:p>
          <a:p>
            <a:pPr>
              <a:lnSpc>
                <a:spcPct val="100000"/>
              </a:lnSpc>
              <a:spcBef>
                <a:spcPts val="0"/>
              </a:spcBef>
              <a:spcAft>
                <a:spcPts val="1800"/>
              </a:spcAft>
            </a:pPr>
            <a:endParaRPr lang="en-GB" altLang="en-US" sz="2000" dirty="0">
              <a:latin typeface="Calibri" panose="020F0502020204030204" pitchFamily="34" charset="0"/>
              <a:cs typeface="Calibri" panose="020F0502020204030204" pitchFamily="34" charset="0"/>
            </a:endParaRPr>
          </a:p>
          <a:p>
            <a:pPr>
              <a:lnSpc>
                <a:spcPct val="100000"/>
              </a:lnSpc>
              <a:spcBef>
                <a:spcPts val="1200"/>
              </a:spcBef>
            </a:pPr>
            <a:endParaRPr lang="en-GB" alt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284845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0389">
                                            <p:txEl>
                                              <p:pRg st="0" end="0"/>
                                            </p:txEl>
                                          </p:spTgt>
                                        </p:tgtEl>
                                        <p:attrNameLst>
                                          <p:attrName>style.visibility</p:attrName>
                                        </p:attrNameLst>
                                      </p:cBhvr>
                                      <p:to>
                                        <p:strVal val="visible"/>
                                      </p:to>
                                    </p:set>
                                    <p:anim calcmode="lin" valueType="num">
                                      <p:cBhvr additive="base">
                                        <p:cTn id="7" dur="500"/>
                                        <p:tgtEl>
                                          <p:spTgt spid="40038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038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0389">
                                            <p:txEl>
                                              <p:pRg st="1" end="1"/>
                                            </p:txEl>
                                          </p:spTgt>
                                        </p:tgtEl>
                                        <p:attrNameLst>
                                          <p:attrName>style.visibility</p:attrName>
                                        </p:attrNameLst>
                                      </p:cBhvr>
                                      <p:to>
                                        <p:strVal val="visible"/>
                                      </p:to>
                                    </p:set>
                                    <p:anim calcmode="lin" valueType="num">
                                      <p:cBhvr additive="base">
                                        <p:cTn id="13" dur="500"/>
                                        <p:tgtEl>
                                          <p:spTgt spid="40038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038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0389">
                                            <p:txEl>
                                              <p:pRg st="2" end="2"/>
                                            </p:txEl>
                                          </p:spTgt>
                                        </p:tgtEl>
                                        <p:attrNameLst>
                                          <p:attrName>style.visibility</p:attrName>
                                        </p:attrNameLst>
                                      </p:cBhvr>
                                      <p:to>
                                        <p:strVal val="visible"/>
                                      </p:to>
                                    </p:set>
                                    <p:anim calcmode="lin" valueType="num">
                                      <p:cBhvr additive="base">
                                        <p:cTn id="19" dur="500"/>
                                        <p:tgtEl>
                                          <p:spTgt spid="40038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038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0389">
                                            <p:txEl>
                                              <p:pRg st="3" end="3"/>
                                            </p:txEl>
                                          </p:spTgt>
                                        </p:tgtEl>
                                        <p:attrNameLst>
                                          <p:attrName>style.visibility</p:attrName>
                                        </p:attrNameLst>
                                      </p:cBhvr>
                                      <p:to>
                                        <p:strVal val="visible"/>
                                      </p:to>
                                    </p:set>
                                    <p:anim calcmode="lin" valueType="num">
                                      <p:cBhvr additive="base">
                                        <p:cTn id="25" dur="500"/>
                                        <p:tgtEl>
                                          <p:spTgt spid="40038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038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0389">
                                            <p:txEl>
                                              <p:pRg st="4" end="4"/>
                                            </p:txEl>
                                          </p:spTgt>
                                        </p:tgtEl>
                                        <p:attrNameLst>
                                          <p:attrName>style.visibility</p:attrName>
                                        </p:attrNameLst>
                                      </p:cBhvr>
                                      <p:to>
                                        <p:strVal val="visible"/>
                                      </p:to>
                                    </p:set>
                                    <p:anim calcmode="lin" valueType="num">
                                      <p:cBhvr additive="base">
                                        <p:cTn id="31" dur="500"/>
                                        <p:tgtEl>
                                          <p:spTgt spid="40038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03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9"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64460586-8A6D-48E4-BBD5-1EE5FD849EAC}"/>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87" name="Rectangle 3">
            <a:extLst>
              <a:ext uri="{FF2B5EF4-FFF2-40B4-BE49-F238E27FC236}">
                <a16:creationId xmlns:a16="http://schemas.microsoft.com/office/drawing/2014/main" id="{25CF5EA9-9489-4046-926D-9A6DC89D90A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88" name="Rectangle 4">
            <a:extLst>
              <a:ext uri="{FF2B5EF4-FFF2-40B4-BE49-F238E27FC236}">
                <a16:creationId xmlns:a16="http://schemas.microsoft.com/office/drawing/2014/main" id="{BEDEE2FA-73A5-4048-9EC3-B8210DFE9468}"/>
              </a:ext>
            </a:extLst>
          </p:cNvPr>
          <p:cNvSpPr>
            <a:spLocks noGrp="1"/>
          </p:cNvSpPr>
          <p:nvPr>
            <p:ph type="title"/>
          </p:nvPr>
        </p:nvSpPr>
        <p:spPr>
          <a:xfrm>
            <a:off x="310000" y="365126"/>
            <a:ext cx="10515600" cy="908198"/>
          </a:xfrm>
        </p:spPr>
        <p:txBody>
          <a:bodyPr/>
          <a:lstStyle/>
          <a:p>
            <a:r>
              <a:rPr lang="en-GB" altLang="en-US" dirty="0"/>
              <a:t>Monopolistic Competition</a:t>
            </a:r>
          </a:p>
        </p:txBody>
      </p:sp>
      <p:sp>
        <p:nvSpPr>
          <p:cNvPr id="400389" name="Rectangle 5">
            <a:extLst>
              <a:ext uri="{FF2B5EF4-FFF2-40B4-BE49-F238E27FC236}">
                <a16:creationId xmlns:a16="http://schemas.microsoft.com/office/drawing/2014/main" id="{DD5BC59C-6E0D-4660-8BBD-1E251EFD7F97}"/>
              </a:ext>
            </a:extLst>
          </p:cNvPr>
          <p:cNvSpPr>
            <a:spLocks noGrp="1"/>
          </p:cNvSpPr>
          <p:nvPr>
            <p:ph idx="1"/>
          </p:nvPr>
        </p:nvSpPr>
        <p:spPr>
          <a:xfrm>
            <a:off x="301157" y="1412358"/>
            <a:ext cx="11325545" cy="4945912"/>
          </a:xfrm>
        </p:spPr>
        <p:txBody>
          <a:bodyPr/>
          <a:lstStyle/>
          <a:p>
            <a:pPr marL="0" indent="0">
              <a:lnSpc>
                <a:spcPct val="100000"/>
              </a:lnSpc>
              <a:spcBef>
                <a:spcPts val="1200"/>
              </a:spcBef>
              <a:buNone/>
            </a:pPr>
            <a:r>
              <a:rPr lang="en-GB" altLang="en-US" sz="2000" b="1" dirty="0">
                <a:latin typeface="Calibri" panose="020F0502020204030204" pitchFamily="34" charset="0"/>
                <a:cs typeface="Calibri" panose="020F0502020204030204" pitchFamily="34" charset="0"/>
              </a:rPr>
              <a:t>Assumptions of monopolistic competition</a:t>
            </a:r>
          </a:p>
          <a:p>
            <a:pPr>
              <a:lnSpc>
                <a:spcPct val="100000"/>
              </a:lnSpc>
              <a:spcBef>
                <a:spcPts val="1200"/>
              </a:spcBef>
            </a:pPr>
            <a:r>
              <a:rPr lang="en-GB" altLang="en-US" sz="2000" b="1" dirty="0">
                <a:latin typeface="Calibri" panose="020F0502020204030204" pitchFamily="34" charset="0"/>
                <a:cs typeface="Calibri" panose="020F0502020204030204" pitchFamily="34" charset="0"/>
              </a:rPr>
              <a:t>Large number of firms</a:t>
            </a:r>
          </a:p>
          <a:p>
            <a:pPr lvl="1">
              <a:lnSpc>
                <a:spcPct val="100000"/>
              </a:lnSpc>
              <a:spcBef>
                <a:spcPts val="1200"/>
              </a:spcBef>
            </a:pPr>
            <a:r>
              <a:rPr lang="en-GB" altLang="en-US" sz="2000" dirty="0">
                <a:latin typeface="Calibri" panose="020F0502020204030204" pitchFamily="34" charset="0"/>
                <a:cs typeface="Calibri" panose="020F0502020204030204" pitchFamily="34" charset="0"/>
              </a:rPr>
              <a:t>Each firm does have some degree of market power though</a:t>
            </a:r>
          </a:p>
          <a:p>
            <a:pPr lvl="1">
              <a:lnSpc>
                <a:spcPct val="100000"/>
              </a:lnSpc>
              <a:spcBef>
                <a:spcPts val="1200"/>
              </a:spcBef>
            </a:pPr>
            <a:r>
              <a:rPr lang="en-GB" altLang="en-US" sz="2000" dirty="0">
                <a:latin typeface="Calibri" panose="020F0502020204030204" pitchFamily="34" charset="0"/>
                <a:cs typeface="Calibri" panose="020F0502020204030204" pitchFamily="34" charset="0"/>
              </a:rPr>
              <a:t>Small market shares – one firm’s actions are unlikely to affect its rivals to any great extent</a:t>
            </a:r>
          </a:p>
          <a:p>
            <a:pPr lvl="1">
              <a:lnSpc>
                <a:spcPct val="100000"/>
              </a:lnSpc>
              <a:spcBef>
                <a:spcPts val="1200"/>
              </a:spcBef>
            </a:pPr>
            <a:r>
              <a:rPr lang="en-GB" altLang="en-US" sz="2000" dirty="0">
                <a:latin typeface="Calibri" panose="020F0502020204030204" pitchFamily="34" charset="0"/>
                <a:cs typeface="Calibri" panose="020F0502020204030204" pitchFamily="34" charset="0"/>
              </a:rPr>
              <a:t>Independence of firms – when a firm makes a decision, it will not have to worry about how its rivals will react</a:t>
            </a:r>
          </a:p>
          <a:p>
            <a:pPr>
              <a:lnSpc>
                <a:spcPct val="100000"/>
              </a:lnSpc>
              <a:spcBef>
                <a:spcPts val="1200"/>
              </a:spcBef>
            </a:pPr>
            <a:r>
              <a:rPr lang="en-GB" altLang="en-US" sz="2000" b="1" dirty="0">
                <a:latin typeface="Calibri" panose="020F0502020204030204" pitchFamily="34" charset="0"/>
                <a:cs typeface="Calibri" panose="020F0502020204030204" pitchFamily="34" charset="0"/>
              </a:rPr>
              <a:t>Freedom of entry </a:t>
            </a:r>
            <a:r>
              <a:rPr lang="en-GB" altLang="en-US" sz="2000" dirty="0">
                <a:latin typeface="Calibri" panose="020F0502020204030204" pitchFamily="34" charset="0"/>
                <a:cs typeface="Calibri" panose="020F0502020204030204" pitchFamily="34" charset="0"/>
              </a:rPr>
              <a:t>- if any firm wants to set up in business in this market, it is free to do so</a:t>
            </a:r>
          </a:p>
          <a:p>
            <a:pPr>
              <a:lnSpc>
                <a:spcPct val="100000"/>
              </a:lnSpc>
              <a:spcBef>
                <a:spcPts val="1200"/>
              </a:spcBef>
            </a:pPr>
            <a:r>
              <a:rPr lang="en-GB" altLang="en-US" sz="2000" b="1" dirty="0">
                <a:latin typeface="Calibri" panose="020F0502020204030204" pitchFamily="34" charset="0"/>
                <a:cs typeface="Calibri" panose="020F0502020204030204" pitchFamily="34" charset="0"/>
              </a:rPr>
              <a:t>Differentiated product </a:t>
            </a:r>
            <a:r>
              <a:rPr lang="en-GB" altLang="en-US" sz="2000" dirty="0">
                <a:latin typeface="Calibri" panose="020F0502020204030204" pitchFamily="34" charset="0"/>
                <a:cs typeface="Calibri" panose="020F0502020204030204" pitchFamily="34" charset="0"/>
              </a:rPr>
              <a:t>- each firm produces a good or service that is in some way different from its rivals, for e.g., petrol stations, restaurants, hairdressers, builders </a:t>
            </a:r>
          </a:p>
          <a:p>
            <a:pPr>
              <a:lnSpc>
                <a:spcPct val="100000"/>
              </a:lnSpc>
              <a:spcBef>
                <a:spcPts val="1200"/>
              </a:spcBef>
            </a:pPr>
            <a:r>
              <a:rPr lang="en-GB" altLang="en-US" sz="2000" b="1" dirty="0">
                <a:latin typeface="Calibri" panose="020F0502020204030204" pitchFamily="34" charset="0"/>
                <a:cs typeface="Calibri" panose="020F0502020204030204" pitchFamily="34" charset="0"/>
              </a:rPr>
              <a:t>Downward-sloping demand curve </a:t>
            </a:r>
            <a:r>
              <a:rPr lang="en-GB" altLang="en-US" sz="2000" dirty="0">
                <a:latin typeface="Calibri" panose="020F0502020204030204" pitchFamily="34" charset="0"/>
                <a:cs typeface="Calibri" panose="020F0502020204030204" pitchFamily="34" charset="0"/>
              </a:rPr>
              <a:t>- demand elasticity depends on degree of product differentiation – can raise price without losing all its customers</a:t>
            </a:r>
          </a:p>
        </p:txBody>
      </p:sp>
    </p:spTree>
    <p:extLst>
      <p:ext uri="{BB962C8B-B14F-4D97-AF65-F5344CB8AC3E}">
        <p14:creationId xmlns:p14="http://schemas.microsoft.com/office/powerpoint/2010/main" val="360267030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0389">
                                            <p:txEl>
                                              <p:pRg st="0" end="0"/>
                                            </p:txEl>
                                          </p:spTgt>
                                        </p:tgtEl>
                                        <p:attrNameLst>
                                          <p:attrName>style.visibility</p:attrName>
                                        </p:attrNameLst>
                                      </p:cBhvr>
                                      <p:to>
                                        <p:strVal val="visible"/>
                                      </p:to>
                                    </p:set>
                                    <p:anim calcmode="lin" valueType="num">
                                      <p:cBhvr additive="base">
                                        <p:cTn id="7" dur="500"/>
                                        <p:tgtEl>
                                          <p:spTgt spid="40038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038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0389">
                                            <p:txEl>
                                              <p:pRg st="1" end="1"/>
                                            </p:txEl>
                                          </p:spTgt>
                                        </p:tgtEl>
                                        <p:attrNameLst>
                                          <p:attrName>style.visibility</p:attrName>
                                        </p:attrNameLst>
                                      </p:cBhvr>
                                      <p:to>
                                        <p:strVal val="visible"/>
                                      </p:to>
                                    </p:set>
                                    <p:anim calcmode="lin" valueType="num">
                                      <p:cBhvr additive="base">
                                        <p:cTn id="13" dur="500"/>
                                        <p:tgtEl>
                                          <p:spTgt spid="40038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038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0389">
                                            <p:txEl>
                                              <p:pRg st="2" end="2"/>
                                            </p:txEl>
                                          </p:spTgt>
                                        </p:tgtEl>
                                        <p:attrNameLst>
                                          <p:attrName>style.visibility</p:attrName>
                                        </p:attrNameLst>
                                      </p:cBhvr>
                                      <p:to>
                                        <p:strVal val="visible"/>
                                      </p:to>
                                    </p:set>
                                    <p:anim calcmode="lin" valueType="num">
                                      <p:cBhvr additive="base">
                                        <p:cTn id="19" dur="500"/>
                                        <p:tgtEl>
                                          <p:spTgt spid="40038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038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0389">
                                            <p:txEl>
                                              <p:pRg st="3" end="3"/>
                                            </p:txEl>
                                          </p:spTgt>
                                        </p:tgtEl>
                                        <p:attrNameLst>
                                          <p:attrName>style.visibility</p:attrName>
                                        </p:attrNameLst>
                                      </p:cBhvr>
                                      <p:to>
                                        <p:strVal val="visible"/>
                                      </p:to>
                                    </p:set>
                                    <p:anim calcmode="lin" valueType="num">
                                      <p:cBhvr additive="base">
                                        <p:cTn id="25" dur="500"/>
                                        <p:tgtEl>
                                          <p:spTgt spid="40038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038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0389">
                                            <p:txEl>
                                              <p:pRg st="4" end="4"/>
                                            </p:txEl>
                                          </p:spTgt>
                                        </p:tgtEl>
                                        <p:attrNameLst>
                                          <p:attrName>style.visibility</p:attrName>
                                        </p:attrNameLst>
                                      </p:cBhvr>
                                      <p:to>
                                        <p:strVal val="visible"/>
                                      </p:to>
                                    </p:set>
                                    <p:anim calcmode="lin" valueType="num">
                                      <p:cBhvr additive="base">
                                        <p:cTn id="31" dur="500"/>
                                        <p:tgtEl>
                                          <p:spTgt spid="40038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038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0389">
                                            <p:txEl>
                                              <p:pRg st="5" end="5"/>
                                            </p:txEl>
                                          </p:spTgt>
                                        </p:tgtEl>
                                        <p:attrNameLst>
                                          <p:attrName>style.visibility</p:attrName>
                                        </p:attrNameLst>
                                      </p:cBhvr>
                                      <p:to>
                                        <p:strVal val="visible"/>
                                      </p:to>
                                    </p:set>
                                    <p:anim calcmode="lin" valueType="num">
                                      <p:cBhvr additive="base">
                                        <p:cTn id="37" dur="500"/>
                                        <p:tgtEl>
                                          <p:spTgt spid="40038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038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0389">
                                            <p:txEl>
                                              <p:pRg st="6" end="6"/>
                                            </p:txEl>
                                          </p:spTgt>
                                        </p:tgtEl>
                                        <p:attrNameLst>
                                          <p:attrName>style.visibility</p:attrName>
                                        </p:attrNameLst>
                                      </p:cBhvr>
                                      <p:to>
                                        <p:strVal val="visible"/>
                                      </p:to>
                                    </p:set>
                                    <p:anim calcmode="lin" valueType="num">
                                      <p:cBhvr additive="base">
                                        <p:cTn id="43" dur="500"/>
                                        <p:tgtEl>
                                          <p:spTgt spid="40038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038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0389">
                                            <p:txEl>
                                              <p:pRg st="7" end="7"/>
                                            </p:txEl>
                                          </p:spTgt>
                                        </p:tgtEl>
                                        <p:attrNameLst>
                                          <p:attrName>style.visibility</p:attrName>
                                        </p:attrNameLst>
                                      </p:cBhvr>
                                      <p:to>
                                        <p:strVal val="visible"/>
                                      </p:to>
                                    </p:set>
                                    <p:anim calcmode="lin" valueType="num">
                                      <p:cBhvr additive="base">
                                        <p:cTn id="49" dur="500"/>
                                        <p:tgtEl>
                                          <p:spTgt spid="40038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038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9" grpId="0" build="p" bldLvl="2"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144BF536-1D7A-4A28-82A4-2CCC714C9F0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F6B42040-9430-441B-AA93-E4EDF9CB47B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6" name="Rectangle 4">
            <a:extLst>
              <a:ext uri="{FF2B5EF4-FFF2-40B4-BE49-F238E27FC236}">
                <a16:creationId xmlns:a16="http://schemas.microsoft.com/office/drawing/2014/main" id="{A90AFA81-E5F5-401C-A635-808A28842C9E}"/>
              </a:ext>
            </a:extLst>
          </p:cNvPr>
          <p:cNvSpPr>
            <a:spLocks noGrp="1"/>
          </p:cNvSpPr>
          <p:nvPr>
            <p:ph type="title"/>
          </p:nvPr>
        </p:nvSpPr>
        <p:spPr>
          <a:xfrm>
            <a:off x="491744" y="365126"/>
            <a:ext cx="10515600" cy="908198"/>
          </a:xfrm>
        </p:spPr>
        <p:txBody>
          <a:bodyPr/>
          <a:lstStyle/>
          <a:p>
            <a:r>
              <a:rPr lang="en-GB" altLang="en-US" dirty="0"/>
              <a:t>Monopolistic Competition</a:t>
            </a:r>
          </a:p>
        </p:txBody>
      </p:sp>
      <p:sp>
        <p:nvSpPr>
          <p:cNvPr id="402437" name="Rectangle 5">
            <a:extLst>
              <a:ext uri="{FF2B5EF4-FFF2-40B4-BE49-F238E27FC236}">
                <a16:creationId xmlns:a16="http://schemas.microsoft.com/office/drawing/2014/main" id="{6A05136F-2DC8-4D78-83EB-E37D5B68A7CF}"/>
              </a:ext>
            </a:extLst>
          </p:cNvPr>
          <p:cNvSpPr>
            <a:spLocks noGrp="1"/>
          </p:cNvSpPr>
          <p:nvPr>
            <p:ph idx="1"/>
          </p:nvPr>
        </p:nvSpPr>
        <p:spPr>
          <a:xfrm>
            <a:off x="402166" y="1524000"/>
            <a:ext cx="11325545" cy="4889500"/>
          </a:xfrm>
          <a:noFill/>
        </p:spPr>
        <p:txBody>
          <a:bodyPr>
            <a:normAutofit/>
          </a:bodyPr>
          <a:lstStyle/>
          <a:p>
            <a:pPr>
              <a:lnSpc>
                <a:spcPct val="100000"/>
              </a:lnSpc>
              <a:spcBef>
                <a:spcPts val="1200"/>
              </a:spcBef>
            </a:pPr>
            <a:r>
              <a:rPr lang="en-GB" altLang="en-US" sz="2000" dirty="0">
                <a:latin typeface="Calibri" panose="020F0502020204030204" pitchFamily="34" charset="0"/>
                <a:cs typeface="Calibri" panose="020F0502020204030204" pitchFamily="34" charset="0"/>
              </a:rPr>
              <a:t>Equilibrium of the </a:t>
            </a:r>
            <a:r>
              <a:rPr lang="en-GB" altLang="en-US" sz="2000" i="1" dirty="0">
                <a:latin typeface="Calibri" panose="020F0502020204030204" pitchFamily="34" charset="0"/>
                <a:cs typeface="Calibri" panose="020F0502020204030204" pitchFamily="34" charset="0"/>
              </a:rPr>
              <a:t>firm</a:t>
            </a:r>
            <a:endParaRPr lang="en-GB" altLang="en-US" sz="2000" b="1" dirty="0">
              <a:latin typeface="Calibri" panose="020F0502020204030204" pitchFamily="34" charset="0"/>
              <a:cs typeface="Calibri" panose="020F0502020204030204" pitchFamily="34" charset="0"/>
            </a:endParaRPr>
          </a:p>
          <a:p>
            <a:pPr lvl="1">
              <a:lnSpc>
                <a:spcPct val="100000"/>
              </a:lnSpc>
              <a:spcBef>
                <a:spcPts val="1200"/>
              </a:spcBef>
            </a:pPr>
            <a:r>
              <a:rPr lang="en-GB" altLang="en-US" dirty="0">
                <a:latin typeface="Calibri" panose="020F0502020204030204" pitchFamily="34" charset="0"/>
                <a:cs typeface="Calibri" panose="020F0502020204030204" pitchFamily="34" charset="0"/>
              </a:rPr>
              <a:t>As all firms under monopolistic competition are producing a slightly differentiated product, we cannot create an industry demand or supply curve. </a:t>
            </a:r>
          </a:p>
          <a:p>
            <a:pPr marL="457200" lvl="1" indent="0">
              <a:lnSpc>
                <a:spcPct val="100000"/>
              </a:lnSpc>
              <a:spcBef>
                <a:spcPts val="1200"/>
              </a:spcBef>
              <a:buNone/>
            </a:pPr>
            <a:endParaRPr lang="en-GB" altLang="en-US" dirty="0">
              <a:latin typeface="Calibri" panose="020F0502020204030204" pitchFamily="34" charset="0"/>
              <a:cs typeface="Calibri" panose="020F0502020204030204" pitchFamily="34" charset="0"/>
            </a:endParaRPr>
          </a:p>
          <a:p>
            <a:pPr lvl="1">
              <a:lnSpc>
                <a:spcPct val="100000"/>
              </a:lnSpc>
              <a:spcBef>
                <a:spcPts val="1200"/>
              </a:spcBef>
            </a:pPr>
            <a:r>
              <a:rPr lang="en-GB" altLang="en-US" dirty="0">
                <a:highlight>
                  <a:srgbClr val="FFFF00"/>
                </a:highlight>
                <a:latin typeface="Calibri" panose="020F0502020204030204" pitchFamily="34" charset="0"/>
                <a:cs typeface="Calibri" panose="020F0502020204030204" pitchFamily="34" charset="0"/>
              </a:rPr>
              <a:t>Activity – sketch the short-run equilibrium of the firm under monopolistic competition.</a:t>
            </a:r>
          </a:p>
          <a:p>
            <a:pPr lvl="1">
              <a:lnSpc>
                <a:spcPct val="100000"/>
              </a:lnSpc>
              <a:spcBef>
                <a:spcPts val="1200"/>
              </a:spcBef>
            </a:pPr>
            <a:r>
              <a:rPr lang="en-GB" altLang="en-US" dirty="0">
                <a:latin typeface="Calibri" panose="020F0502020204030204" pitchFamily="34" charset="0"/>
                <a:cs typeface="Calibri" panose="020F0502020204030204" pitchFamily="34" charset="0"/>
              </a:rPr>
              <a:t>Hints</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Look back to the diagram showing the equilibrium of a monopolist and think about the difference(s) between a monopolist and a firm under monopolistic competition. </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You will need P (price) on the y-axis and Q (quantity) on the y-axis of your diagram and you will need to include: the AR curve, the MR curve, the MC curve and the AC curve.</a:t>
            </a:r>
          </a:p>
        </p:txBody>
      </p:sp>
    </p:spTree>
    <p:extLst>
      <p:ext uri="{BB962C8B-B14F-4D97-AF65-F5344CB8AC3E}">
        <p14:creationId xmlns:p14="http://schemas.microsoft.com/office/powerpoint/2010/main" val="289719169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37">
                                            <p:txEl>
                                              <p:pRg st="0" end="0"/>
                                            </p:txEl>
                                          </p:spTgt>
                                        </p:tgtEl>
                                        <p:attrNameLst>
                                          <p:attrName>style.visibility</p:attrName>
                                        </p:attrNameLst>
                                      </p:cBhvr>
                                      <p:to>
                                        <p:strVal val="visible"/>
                                      </p:to>
                                    </p:set>
                                    <p:anim calcmode="lin" valueType="num">
                                      <p:cBhvr additive="base">
                                        <p:cTn id="7" dur="500"/>
                                        <p:tgtEl>
                                          <p:spTgt spid="40243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3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37">
                                            <p:txEl>
                                              <p:pRg st="1" end="1"/>
                                            </p:txEl>
                                          </p:spTgt>
                                        </p:tgtEl>
                                        <p:attrNameLst>
                                          <p:attrName>style.visibility</p:attrName>
                                        </p:attrNameLst>
                                      </p:cBhvr>
                                      <p:to>
                                        <p:strVal val="visible"/>
                                      </p:to>
                                    </p:set>
                                    <p:anim calcmode="lin" valueType="num">
                                      <p:cBhvr additive="base">
                                        <p:cTn id="13" dur="500"/>
                                        <p:tgtEl>
                                          <p:spTgt spid="40243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3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37">
                                            <p:txEl>
                                              <p:pRg st="3" end="3"/>
                                            </p:txEl>
                                          </p:spTgt>
                                        </p:tgtEl>
                                        <p:attrNameLst>
                                          <p:attrName>style.visibility</p:attrName>
                                        </p:attrNameLst>
                                      </p:cBhvr>
                                      <p:to>
                                        <p:strVal val="visible"/>
                                      </p:to>
                                    </p:set>
                                    <p:anim calcmode="lin" valueType="num">
                                      <p:cBhvr additive="base">
                                        <p:cTn id="19" dur="500"/>
                                        <p:tgtEl>
                                          <p:spTgt spid="402437">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3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37">
                                            <p:txEl>
                                              <p:pRg st="4" end="4"/>
                                            </p:txEl>
                                          </p:spTgt>
                                        </p:tgtEl>
                                        <p:attrNameLst>
                                          <p:attrName>style.visibility</p:attrName>
                                        </p:attrNameLst>
                                      </p:cBhvr>
                                      <p:to>
                                        <p:strVal val="visible"/>
                                      </p:to>
                                    </p:set>
                                    <p:anim calcmode="lin" valueType="num">
                                      <p:cBhvr additive="base">
                                        <p:cTn id="25" dur="500"/>
                                        <p:tgtEl>
                                          <p:spTgt spid="402437">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37">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37">
                                            <p:txEl>
                                              <p:pRg st="5" end="5"/>
                                            </p:txEl>
                                          </p:spTgt>
                                        </p:tgtEl>
                                        <p:attrNameLst>
                                          <p:attrName>style.visibility</p:attrName>
                                        </p:attrNameLst>
                                      </p:cBhvr>
                                      <p:to>
                                        <p:strVal val="visible"/>
                                      </p:to>
                                    </p:set>
                                    <p:anim calcmode="lin" valueType="num">
                                      <p:cBhvr additive="base">
                                        <p:cTn id="31" dur="500"/>
                                        <p:tgtEl>
                                          <p:spTgt spid="402437">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3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2437">
                                            <p:txEl>
                                              <p:pRg st="6" end="6"/>
                                            </p:txEl>
                                          </p:spTgt>
                                        </p:tgtEl>
                                        <p:attrNameLst>
                                          <p:attrName>style.visibility</p:attrName>
                                        </p:attrNameLst>
                                      </p:cBhvr>
                                      <p:to>
                                        <p:strVal val="visible"/>
                                      </p:to>
                                    </p:set>
                                    <p:anim calcmode="lin" valueType="num">
                                      <p:cBhvr additive="base">
                                        <p:cTn id="37" dur="500"/>
                                        <p:tgtEl>
                                          <p:spTgt spid="402437">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24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build="p" bldLvl="4"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144BF536-1D7A-4A28-82A4-2CCC714C9F0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F6B42040-9430-441B-AA93-E4EDF9CB47B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6" name="Rectangle 4">
            <a:extLst>
              <a:ext uri="{FF2B5EF4-FFF2-40B4-BE49-F238E27FC236}">
                <a16:creationId xmlns:a16="http://schemas.microsoft.com/office/drawing/2014/main" id="{A90AFA81-E5F5-401C-A635-808A28842C9E}"/>
              </a:ext>
            </a:extLst>
          </p:cNvPr>
          <p:cNvSpPr>
            <a:spLocks noGrp="1"/>
          </p:cNvSpPr>
          <p:nvPr>
            <p:ph type="title"/>
          </p:nvPr>
        </p:nvSpPr>
        <p:spPr>
          <a:xfrm>
            <a:off x="275921" y="365126"/>
            <a:ext cx="6448607" cy="908198"/>
          </a:xfrm>
        </p:spPr>
        <p:txBody>
          <a:bodyPr>
            <a:normAutofit/>
          </a:bodyPr>
          <a:lstStyle/>
          <a:p>
            <a:r>
              <a:rPr lang="en-GB" altLang="en-US" sz="3600" dirty="0"/>
              <a:t>Monopolistic Competition</a:t>
            </a:r>
          </a:p>
        </p:txBody>
      </p:sp>
      <p:sp>
        <p:nvSpPr>
          <p:cNvPr id="402437" name="Rectangle 5">
            <a:extLst>
              <a:ext uri="{FF2B5EF4-FFF2-40B4-BE49-F238E27FC236}">
                <a16:creationId xmlns:a16="http://schemas.microsoft.com/office/drawing/2014/main" id="{6A05136F-2DC8-4D78-83EB-E37D5B68A7CF}"/>
              </a:ext>
            </a:extLst>
          </p:cNvPr>
          <p:cNvSpPr>
            <a:spLocks noGrp="1"/>
          </p:cNvSpPr>
          <p:nvPr>
            <p:ph idx="1"/>
          </p:nvPr>
        </p:nvSpPr>
        <p:spPr>
          <a:xfrm>
            <a:off x="6203265" y="1217306"/>
            <a:ext cx="5468114" cy="4695065"/>
          </a:xfrm>
        </p:spPr>
        <p:txBody>
          <a:bodyPr>
            <a:normAutofit/>
          </a:bodyPr>
          <a:lstStyle/>
          <a:p>
            <a:pPr marL="0" indent="0">
              <a:lnSpc>
                <a:spcPct val="100000"/>
              </a:lnSpc>
              <a:spcBef>
                <a:spcPts val="1200"/>
              </a:spcBef>
              <a:buNone/>
            </a:pPr>
            <a:r>
              <a:rPr lang="en-GB" altLang="en-US" sz="2000" b="1" dirty="0">
                <a:latin typeface="Calibri" panose="020F0502020204030204" pitchFamily="34" charset="0"/>
                <a:cs typeface="Calibri" panose="020F0502020204030204" pitchFamily="34" charset="0"/>
              </a:rPr>
              <a:t>Equilibrium</a:t>
            </a:r>
            <a:r>
              <a:rPr lang="en-GB" altLang="en-US" sz="2000" dirty="0">
                <a:latin typeface="Calibri" panose="020F0502020204030204" pitchFamily="34" charset="0"/>
                <a:cs typeface="Calibri" panose="020F0502020204030204" pitchFamily="34" charset="0"/>
              </a:rPr>
              <a:t> of the </a:t>
            </a:r>
            <a:r>
              <a:rPr lang="en-GB" altLang="en-US" sz="2000" b="1" dirty="0">
                <a:latin typeface="Calibri" panose="020F0502020204030204" pitchFamily="34" charset="0"/>
                <a:cs typeface="Calibri" panose="020F0502020204030204" pitchFamily="34" charset="0"/>
              </a:rPr>
              <a:t>firm</a:t>
            </a:r>
            <a:r>
              <a:rPr lang="en-GB" altLang="en-US" sz="2000" dirty="0">
                <a:latin typeface="Calibri" panose="020F0502020204030204" pitchFamily="34" charset="0"/>
                <a:cs typeface="Calibri" panose="020F0502020204030204" pitchFamily="34" charset="0"/>
              </a:rPr>
              <a:t> in the </a:t>
            </a:r>
            <a:r>
              <a:rPr lang="en-GB" altLang="en-US" sz="2000" b="1" dirty="0">
                <a:latin typeface="Calibri" panose="020F0502020204030204" pitchFamily="34" charset="0"/>
                <a:cs typeface="Calibri" panose="020F0502020204030204" pitchFamily="34" charset="0"/>
              </a:rPr>
              <a:t>short run</a:t>
            </a:r>
          </a:p>
          <a:p>
            <a:pPr>
              <a:lnSpc>
                <a:spcPct val="100000"/>
              </a:lnSpc>
              <a:spcBef>
                <a:spcPts val="1200"/>
              </a:spcBef>
            </a:pPr>
            <a:r>
              <a:rPr lang="en-GB" altLang="en-US" sz="2000" dirty="0">
                <a:latin typeface="Calibri" panose="020F0502020204030204" pitchFamily="34" charset="0"/>
                <a:cs typeface="Calibri" panose="020F0502020204030204" pitchFamily="34" charset="0"/>
              </a:rPr>
              <a:t>As all firms under monopolistic competition are producing a slightly differentiated product, we cannot create an industry demand or supply curve. </a:t>
            </a:r>
          </a:p>
          <a:p>
            <a:pPr>
              <a:lnSpc>
                <a:spcPct val="100000"/>
              </a:lnSpc>
              <a:spcBef>
                <a:spcPts val="1200"/>
              </a:spcBef>
            </a:pPr>
            <a:r>
              <a:rPr lang="en-GB" altLang="en-US" sz="2000" b="1" dirty="0">
                <a:latin typeface="Calibri" panose="020F0502020204030204" pitchFamily="34" charset="0"/>
                <a:cs typeface="Calibri" panose="020F0502020204030204" pitchFamily="34" charset="0"/>
              </a:rPr>
              <a:t>Profits are maximised </a:t>
            </a:r>
            <a:r>
              <a:rPr lang="en-GB" altLang="en-US" sz="2000" dirty="0">
                <a:latin typeface="Calibri" panose="020F0502020204030204" pitchFamily="34" charset="0"/>
                <a:cs typeface="Calibri" panose="020F0502020204030204" pitchFamily="34" charset="0"/>
              </a:rPr>
              <a:t>at the output where </a:t>
            </a:r>
            <a:r>
              <a:rPr lang="en-GB" altLang="en-US" sz="2000" b="1" i="1" dirty="0">
                <a:latin typeface="Calibri" panose="020F0502020204030204" pitchFamily="34" charset="0"/>
                <a:cs typeface="Calibri" panose="020F0502020204030204" pitchFamily="34" charset="0"/>
              </a:rPr>
              <a:t>MC = MR</a:t>
            </a:r>
          </a:p>
          <a:p>
            <a:pPr>
              <a:lnSpc>
                <a:spcPct val="100000"/>
              </a:lnSpc>
              <a:spcBef>
                <a:spcPts val="1200"/>
              </a:spcBef>
            </a:pPr>
            <a:r>
              <a:rPr lang="en-GB" altLang="en-US" sz="2000" dirty="0">
                <a:latin typeface="Calibri" panose="020F0502020204030204" pitchFamily="34" charset="0"/>
                <a:cs typeface="Calibri" panose="020F0502020204030204" pitchFamily="34" charset="0"/>
              </a:rPr>
              <a:t>The diagram will be the same as for the monopolist, except the </a:t>
            </a:r>
            <a:r>
              <a:rPr lang="en-GB" altLang="en-US" sz="2000" b="1" dirty="0">
                <a:latin typeface="Calibri" panose="020F0502020204030204" pitchFamily="34" charset="0"/>
                <a:cs typeface="Calibri" panose="020F0502020204030204" pitchFamily="34" charset="0"/>
              </a:rPr>
              <a:t>AR and MR curves will be more elastic</a:t>
            </a:r>
            <a:r>
              <a:rPr lang="en-GB" altLang="en-US" sz="2000" dirty="0">
                <a:latin typeface="Calibri" panose="020F0502020204030204" pitchFamily="34" charset="0"/>
                <a:cs typeface="Calibri" panose="020F0502020204030204" pitchFamily="34" charset="0"/>
              </a:rPr>
              <a:t>, due to more competition.</a:t>
            </a:r>
          </a:p>
          <a:p>
            <a:pPr>
              <a:lnSpc>
                <a:spcPct val="100000"/>
              </a:lnSpc>
              <a:spcBef>
                <a:spcPts val="1200"/>
              </a:spcBef>
            </a:pPr>
            <a:r>
              <a:rPr lang="en-GB" altLang="en-US" sz="2000" dirty="0">
                <a:latin typeface="Calibri" panose="020F0502020204030204" pitchFamily="34" charset="0"/>
                <a:cs typeface="Calibri" panose="020F0502020204030204" pitchFamily="34" charset="0"/>
              </a:rPr>
              <a:t>Level of supernormal profit depends on demand the position and elasticity of demand curve.</a:t>
            </a:r>
          </a:p>
        </p:txBody>
      </p:sp>
      <p:pic>
        <p:nvPicPr>
          <p:cNvPr id="2" name="Picture 1">
            <a:extLst>
              <a:ext uri="{FF2B5EF4-FFF2-40B4-BE49-F238E27FC236}">
                <a16:creationId xmlns:a16="http://schemas.microsoft.com/office/drawing/2014/main" id="{0091BBAE-B643-2629-A607-DA54E102E5FF}"/>
              </a:ext>
            </a:extLst>
          </p:cNvPr>
          <p:cNvPicPr>
            <a:picLocks noChangeAspect="1"/>
          </p:cNvPicPr>
          <p:nvPr/>
        </p:nvPicPr>
        <p:blipFill>
          <a:blip r:embed="rId3"/>
          <a:stretch>
            <a:fillRect/>
          </a:stretch>
        </p:blipFill>
        <p:spPr>
          <a:xfrm>
            <a:off x="152575" y="1578902"/>
            <a:ext cx="5985863" cy="4150296"/>
          </a:xfrm>
          <a:prstGeom prst="rect">
            <a:avLst/>
          </a:prstGeom>
        </p:spPr>
      </p:pic>
    </p:spTree>
    <p:extLst>
      <p:ext uri="{BB962C8B-B14F-4D97-AF65-F5344CB8AC3E}">
        <p14:creationId xmlns:p14="http://schemas.microsoft.com/office/powerpoint/2010/main" val="17293753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37">
                                            <p:txEl>
                                              <p:pRg st="0" end="0"/>
                                            </p:txEl>
                                          </p:spTgt>
                                        </p:tgtEl>
                                        <p:attrNameLst>
                                          <p:attrName>style.visibility</p:attrName>
                                        </p:attrNameLst>
                                      </p:cBhvr>
                                      <p:to>
                                        <p:strVal val="visible"/>
                                      </p:to>
                                    </p:set>
                                    <p:anim calcmode="lin" valueType="num">
                                      <p:cBhvr additive="base">
                                        <p:cTn id="7" dur="500"/>
                                        <p:tgtEl>
                                          <p:spTgt spid="40243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3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37">
                                            <p:txEl>
                                              <p:pRg st="1" end="1"/>
                                            </p:txEl>
                                          </p:spTgt>
                                        </p:tgtEl>
                                        <p:attrNameLst>
                                          <p:attrName>style.visibility</p:attrName>
                                        </p:attrNameLst>
                                      </p:cBhvr>
                                      <p:to>
                                        <p:strVal val="visible"/>
                                      </p:to>
                                    </p:set>
                                    <p:anim calcmode="lin" valueType="num">
                                      <p:cBhvr additive="base">
                                        <p:cTn id="13" dur="500"/>
                                        <p:tgtEl>
                                          <p:spTgt spid="40243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3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37">
                                            <p:txEl>
                                              <p:pRg st="2" end="2"/>
                                            </p:txEl>
                                          </p:spTgt>
                                        </p:tgtEl>
                                        <p:attrNameLst>
                                          <p:attrName>style.visibility</p:attrName>
                                        </p:attrNameLst>
                                      </p:cBhvr>
                                      <p:to>
                                        <p:strVal val="visible"/>
                                      </p:to>
                                    </p:set>
                                    <p:anim calcmode="lin" valueType="num">
                                      <p:cBhvr additive="base">
                                        <p:cTn id="19" dur="500"/>
                                        <p:tgtEl>
                                          <p:spTgt spid="40243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3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37">
                                            <p:txEl>
                                              <p:pRg st="3" end="3"/>
                                            </p:txEl>
                                          </p:spTgt>
                                        </p:tgtEl>
                                        <p:attrNameLst>
                                          <p:attrName>style.visibility</p:attrName>
                                        </p:attrNameLst>
                                      </p:cBhvr>
                                      <p:to>
                                        <p:strVal val="visible"/>
                                      </p:to>
                                    </p:set>
                                    <p:anim calcmode="lin" valueType="num">
                                      <p:cBhvr additive="base">
                                        <p:cTn id="25" dur="500"/>
                                        <p:tgtEl>
                                          <p:spTgt spid="40243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3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37">
                                            <p:txEl>
                                              <p:pRg st="4" end="4"/>
                                            </p:txEl>
                                          </p:spTgt>
                                        </p:tgtEl>
                                        <p:attrNameLst>
                                          <p:attrName>style.visibility</p:attrName>
                                        </p:attrNameLst>
                                      </p:cBhvr>
                                      <p:to>
                                        <p:strVal val="visible"/>
                                      </p:to>
                                    </p:set>
                                    <p:anim calcmode="lin" valueType="num">
                                      <p:cBhvr additive="base">
                                        <p:cTn id="31" dur="500"/>
                                        <p:tgtEl>
                                          <p:spTgt spid="40243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3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build="p" bldLvl="4"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144BF536-1D7A-4A28-82A4-2CCC714C9F0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6" name="Rectangle 4">
            <a:extLst>
              <a:ext uri="{FF2B5EF4-FFF2-40B4-BE49-F238E27FC236}">
                <a16:creationId xmlns:a16="http://schemas.microsoft.com/office/drawing/2014/main" id="{A90AFA81-E5F5-401C-A635-808A28842C9E}"/>
              </a:ext>
            </a:extLst>
          </p:cNvPr>
          <p:cNvSpPr>
            <a:spLocks noGrp="1"/>
          </p:cNvSpPr>
          <p:nvPr>
            <p:ph type="title"/>
          </p:nvPr>
        </p:nvSpPr>
        <p:spPr>
          <a:xfrm>
            <a:off x="247528" y="189055"/>
            <a:ext cx="10515600" cy="908198"/>
          </a:xfrm>
        </p:spPr>
        <p:txBody>
          <a:bodyPr/>
          <a:lstStyle/>
          <a:p>
            <a:r>
              <a:rPr lang="en-GB" altLang="en-US" dirty="0"/>
              <a:t>Monopolistic Competition</a:t>
            </a:r>
          </a:p>
        </p:txBody>
      </p:sp>
      <p:sp>
        <p:nvSpPr>
          <p:cNvPr id="402437" name="Rectangle 5">
            <a:extLst>
              <a:ext uri="{FF2B5EF4-FFF2-40B4-BE49-F238E27FC236}">
                <a16:creationId xmlns:a16="http://schemas.microsoft.com/office/drawing/2014/main" id="{6A05136F-2DC8-4D78-83EB-E37D5B68A7CF}"/>
              </a:ext>
            </a:extLst>
          </p:cNvPr>
          <p:cNvSpPr>
            <a:spLocks noGrp="1"/>
          </p:cNvSpPr>
          <p:nvPr>
            <p:ph idx="1"/>
          </p:nvPr>
        </p:nvSpPr>
        <p:spPr>
          <a:xfrm>
            <a:off x="358372" y="1214165"/>
            <a:ext cx="4809976" cy="4889500"/>
          </a:xfrm>
        </p:spPr>
        <p:txBody>
          <a:bodyPr>
            <a:noAutofit/>
          </a:bodyPr>
          <a:lstStyle/>
          <a:p>
            <a:pPr marL="0" indent="0">
              <a:lnSpc>
                <a:spcPct val="100000"/>
              </a:lnSpc>
              <a:spcBef>
                <a:spcPts val="1200"/>
              </a:spcBef>
              <a:buNone/>
            </a:pPr>
            <a:r>
              <a:rPr lang="en-GB" altLang="en-US" sz="2000" b="1" dirty="0">
                <a:latin typeface="Calibri" panose="020F0502020204030204" pitchFamily="34" charset="0"/>
                <a:cs typeface="Calibri" panose="020F0502020204030204" pitchFamily="34" charset="0"/>
              </a:rPr>
              <a:t>Equilibrium</a:t>
            </a:r>
            <a:r>
              <a:rPr lang="en-GB" altLang="en-US" sz="2000" dirty="0">
                <a:latin typeface="Calibri" panose="020F0502020204030204" pitchFamily="34" charset="0"/>
                <a:cs typeface="Calibri" panose="020F0502020204030204" pitchFamily="34" charset="0"/>
              </a:rPr>
              <a:t> of the </a:t>
            </a:r>
            <a:r>
              <a:rPr lang="en-GB" altLang="en-US" sz="2000" b="1" dirty="0">
                <a:latin typeface="Calibri" panose="020F0502020204030204" pitchFamily="34" charset="0"/>
                <a:cs typeface="Calibri" panose="020F0502020204030204" pitchFamily="34" charset="0"/>
              </a:rPr>
              <a:t>firm</a:t>
            </a:r>
            <a:r>
              <a:rPr lang="en-GB" altLang="en-US" sz="2000" dirty="0">
                <a:latin typeface="Calibri" panose="020F0502020204030204" pitchFamily="34" charset="0"/>
                <a:cs typeface="Calibri" panose="020F0502020204030204" pitchFamily="34" charset="0"/>
              </a:rPr>
              <a:t> in the </a:t>
            </a:r>
            <a:r>
              <a:rPr lang="en-GB" altLang="en-US" sz="2000" b="1" dirty="0">
                <a:latin typeface="Calibri" panose="020F0502020204030204" pitchFamily="34" charset="0"/>
                <a:cs typeface="Calibri" panose="020F0502020204030204" pitchFamily="34" charset="0"/>
              </a:rPr>
              <a:t>long run</a:t>
            </a:r>
          </a:p>
          <a:p>
            <a:pPr>
              <a:lnSpc>
                <a:spcPct val="100000"/>
              </a:lnSpc>
              <a:spcBef>
                <a:spcPts val="1200"/>
              </a:spcBef>
            </a:pPr>
            <a:r>
              <a:rPr lang="en-GB" altLang="en-US" sz="2000" dirty="0">
                <a:latin typeface="Calibri" panose="020F0502020204030204" pitchFamily="34" charset="0"/>
                <a:cs typeface="Calibri" panose="020F0502020204030204" pitchFamily="34" charset="0"/>
              </a:rPr>
              <a:t>If typical firms are earning supernormal profits, new firms will enter the industry in the long run.</a:t>
            </a:r>
          </a:p>
          <a:p>
            <a:pPr>
              <a:lnSpc>
                <a:spcPct val="100000"/>
              </a:lnSpc>
              <a:spcBef>
                <a:spcPts val="1200"/>
              </a:spcBef>
            </a:pPr>
            <a:r>
              <a:rPr lang="en-GB" altLang="en-US" sz="2000" dirty="0">
                <a:latin typeface="Calibri" panose="020F0502020204030204" pitchFamily="34" charset="0"/>
                <a:cs typeface="Calibri" panose="020F0502020204030204" pitchFamily="34" charset="0"/>
              </a:rPr>
              <a:t>The demand (AR) curve for the established firms’ products will therefore shift to the left (as demand for their product falls)</a:t>
            </a:r>
          </a:p>
          <a:p>
            <a:pPr>
              <a:lnSpc>
                <a:spcPct val="100000"/>
              </a:lnSpc>
              <a:spcBef>
                <a:spcPts val="1200"/>
              </a:spcBef>
            </a:pPr>
            <a:r>
              <a:rPr lang="en-GB" altLang="en-US" sz="2000" dirty="0">
                <a:latin typeface="Calibri" panose="020F0502020204030204" pitchFamily="34" charset="0"/>
                <a:cs typeface="Calibri" panose="020F0502020204030204" pitchFamily="34" charset="0"/>
              </a:rPr>
              <a:t>All supernormal profits are competed away</a:t>
            </a:r>
          </a:p>
          <a:p>
            <a:pPr>
              <a:lnSpc>
                <a:spcPct val="100000"/>
              </a:lnSpc>
              <a:spcBef>
                <a:spcPts val="1200"/>
              </a:spcBef>
            </a:pPr>
            <a:r>
              <a:rPr lang="en-GB" altLang="en-US" sz="2000" dirty="0">
                <a:latin typeface="Calibri" panose="020F0502020204030204" pitchFamily="34" charset="0"/>
                <a:cs typeface="Calibri" panose="020F0502020204030204" pitchFamily="34" charset="0"/>
              </a:rPr>
              <a:t>Long-run equilibrium will be reached when only normal profits remain – when there is no incentive for new firms to enter.</a:t>
            </a:r>
          </a:p>
        </p:txBody>
      </p:sp>
      <p:pic>
        <p:nvPicPr>
          <p:cNvPr id="2" name="Picture 1">
            <a:extLst>
              <a:ext uri="{FF2B5EF4-FFF2-40B4-BE49-F238E27FC236}">
                <a16:creationId xmlns:a16="http://schemas.microsoft.com/office/drawing/2014/main" id="{F0CB95EB-6880-E450-3301-E80E6575814A}"/>
              </a:ext>
            </a:extLst>
          </p:cNvPr>
          <p:cNvPicPr>
            <a:picLocks noChangeAspect="1"/>
          </p:cNvPicPr>
          <p:nvPr/>
        </p:nvPicPr>
        <p:blipFill>
          <a:blip r:embed="rId3"/>
          <a:stretch>
            <a:fillRect/>
          </a:stretch>
        </p:blipFill>
        <p:spPr>
          <a:xfrm>
            <a:off x="5251218" y="1583452"/>
            <a:ext cx="6530150" cy="4519636"/>
          </a:xfrm>
          <a:prstGeom prst="rect">
            <a:avLst/>
          </a:prstGeom>
        </p:spPr>
      </p:pic>
    </p:spTree>
    <p:extLst>
      <p:ext uri="{BB962C8B-B14F-4D97-AF65-F5344CB8AC3E}">
        <p14:creationId xmlns:p14="http://schemas.microsoft.com/office/powerpoint/2010/main" val="50567600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37">
                                            <p:txEl>
                                              <p:pRg st="0" end="0"/>
                                            </p:txEl>
                                          </p:spTgt>
                                        </p:tgtEl>
                                        <p:attrNameLst>
                                          <p:attrName>style.visibility</p:attrName>
                                        </p:attrNameLst>
                                      </p:cBhvr>
                                      <p:to>
                                        <p:strVal val="visible"/>
                                      </p:to>
                                    </p:set>
                                    <p:anim calcmode="lin" valueType="num">
                                      <p:cBhvr additive="base">
                                        <p:cTn id="7" dur="500"/>
                                        <p:tgtEl>
                                          <p:spTgt spid="40243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3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37">
                                            <p:txEl>
                                              <p:pRg st="1" end="1"/>
                                            </p:txEl>
                                          </p:spTgt>
                                        </p:tgtEl>
                                        <p:attrNameLst>
                                          <p:attrName>style.visibility</p:attrName>
                                        </p:attrNameLst>
                                      </p:cBhvr>
                                      <p:to>
                                        <p:strVal val="visible"/>
                                      </p:to>
                                    </p:set>
                                    <p:anim calcmode="lin" valueType="num">
                                      <p:cBhvr additive="base">
                                        <p:cTn id="13" dur="500"/>
                                        <p:tgtEl>
                                          <p:spTgt spid="40243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3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37">
                                            <p:txEl>
                                              <p:pRg st="2" end="2"/>
                                            </p:txEl>
                                          </p:spTgt>
                                        </p:tgtEl>
                                        <p:attrNameLst>
                                          <p:attrName>style.visibility</p:attrName>
                                        </p:attrNameLst>
                                      </p:cBhvr>
                                      <p:to>
                                        <p:strVal val="visible"/>
                                      </p:to>
                                    </p:set>
                                    <p:anim calcmode="lin" valueType="num">
                                      <p:cBhvr additive="base">
                                        <p:cTn id="19" dur="500"/>
                                        <p:tgtEl>
                                          <p:spTgt spid="40243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3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37">
                                            <p:txEl>
                                              <p:pRg st="3" end="3"/>
                                            </p:txEl>
                                          </p:spTgt>
                                        </p:tgtEl>
                                        <p:attrNameLst>
                                          <p:attrName>style.visibility</p:attrName>
                                        </p:attrNameLst>
                                      </p:cBhvr>
                                      <p:to>
                                        <p:strVal val="visible"/>
                                      </p:to>
                                    </p:set>
                                    <p:anim calcmode="lin" valueType="num">
                                      <p:cBhvr additive="base">
                                        <p:cTn id="25" dur="500"/>
                                        <p:tgtEl>
                                          <p:spTgt spid="40243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3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37">
                                            <p:txEl>
                                              <p:pRg st="4" end="4"/>
                                            </p:txEl>
                                          </p:spTgt>
                                        </p:tgtEl>
                                        <p:attrNameLst>
                                          <p:attrName>style.visibility</p:attrName>
                                        </p:attrNameLst>
                                      </p:cBhvr>
                                      <p:to>
                                        <p:strVal val="visible"/>
                                      </p:to>
                                    </p:set>
                                    <p:anim calcmode="lin" valueType="num">
                                      <p:cBhvr additive="base">
                                        <p:cTn id="31" dur="500"/>
                                        <p:tgtEl>
                                          <p:spTgt spid="40243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3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build="p" bldLvl="4"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F7AA4D78-6CDE-415D-A583-DFE4B1C1F5E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089EAAA8-3F4A-4F5F-9B51-915181DB868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4" name="Rectangle 4">
            <a:extLst>
              <a:ext uri="{FF2B5EF4-FFF2-40B4-BE49-F238E27FC236}">
                <a16:creationId xmlns:a16="http://schemas.microsoft.com/office/drawing/2014/main" id="{26FD9362-5670-4F2E-9DF3-5B7DD6AF8C4D}"/>
              </a:ext>
            </a:extLst>
          </p:cNvPr>
          <p:cNvSpPr>
            <a:spLocks noGrp="1"/>
          </p:cNvSpPr>
          <p:nvPr>
            <p:ph type="title"/>
          </p:nvPr>
        </p:nvSpPr>
        <p:spPr>
          <a:xfrm>
            <a:off x="474702" y="365126"/>
            <a:ext cx="10515600" cy="908198"/>
          </a:xfrm>
        </p:spPr>
        <p:txBody>
          <a:bodyPr/>
          <a:lstStyle/>
          <a:p>
            <a:r>
              <a:rPr lang="en-GB" altLang="en-US" dirty="0"/>
              <a:t>Monopolistic Competition</a:t>
            </a:r>
          </a:p>
        </p:txBody>
      </p:sp>
      <p:sp>
        <p:nvSpPr>
          <p:cNvPr id="404485" name="Rectangle 5">
            <a:extLst>
              <a:ext uri="{FF2B5EF4-FFF2-40B4-BE49-F238E27FC236}">
                <a16:creationId xmlns:a16="http://schemas.microsoft.com/office/drawing/2014/main" id="{1DC3B5E7-0A46-4C49-AC15-3094185FAAA8}"/>
              </a:ext>
            </a:extLst>
          </p:cNvPr>
          <p:cNvSpPr>
            <a:spLocks noGrp="1"/>
          </p:cNvSpPr>
          <p:nvPr>
            <p:ph idx="1"/>
          </p:nvPr>
        </p:nvSpPr>
        <p:spPr>
          <a:xfrm>
            <a:off x="334925" y="1497421"/>
            <a:ext cx="11531010" cy="4889500"/>
          </a:xfrm>
        </p:spPr>
        <p:txBody>
          <a:bodyPr>
            <a:normAutofit/>
          </a:bodyPr>
          <a:lstStyle/>
          <a:p>
            <a:pPr>
              <a:lnSpc>
                <a:spcPct val="100000"/>
              </a:lnSpc>
              <a:spcBef>
                <a:spcPts val="1200"/>
              </a:spcBef>
            </a:pPr>
            <a:r>
              <a:rPr lang="en-GB" altLang="en-US" sz="2000" b="1" dirty="0">
                <a:latin typeface="Calibri" panose="020F0502020204030204" pitchFamily="34" charset="0"/>
                <a:cs typeface="Calibri" panose="020F0502020204030204" pitchFamily="34" charset="0"/>
              </a:rPr>
              <a:t>Limitations of the model when trying to apply it to the real world:</a:t>
            </a:r>
          </a:p>
          <a:p>
            <a:pPr lvl="1">
              <a:lnSpc>
                <a:spcPct val="100000"/>
              </a:lnSpc>
              <a:spcBef>
                <a:spcPts val="1200"/>
              </a:spcBef>
            </a:pPr>
            <a:r>
              <a:rPr lang="en-GB" altLang="en-US" b="1" dirty="0">
                <a:latin typeface="Calibri" panose="020F0502020204030204" pitchFamily="34" charset="0"/>
                <a:cs typeface="Calibri" panose="020F0502020204030204" pitchFamily="34" charset="0"/>
              </a:rPr>
              <a:t>Imperfect information </a:t>
            </a:r>
            <a:r>
              <a:rPr lang="en-GB" altLang="en-US" dirty="0">
                <a:latin typeface="Calibri" panose="020F0502020204030204" pitchFamily="34" charset="0"/>
                <a:cs typeface="Calibri" panose="020F0502020204030204" pitchFamily="34" charset="0"/>
              </a:rPr>
              <a:t>– firms may not know that supernormal profits are currently being made in an industry or what the demand is for the product they are considering selling</a:t>
            </a:r>
          </a:p>
          <a:p>
            <a:pPr lvl="1">
              <a:lnSpc>
                <a:spcPct val="100000"/>
              </a:lnSpc>
              <a:spcBef>
                <a:spcPts val="1200"/>
              </a:spcBef>
            </a:pPr>
            <a:r>
              <a:rPr lang="en-GB" altLang="en-US" b="1" dirty="0">
                <a:latin typeface="Calibri" panose="020F0502020204030204" pitchFamily="34" charset="0"/>
                <a:cs typeface="Calibri" panose="020F0502020204030204" pitchFamily="34" charset="0"/>
              </a:rPr>
              <a:t>Entry may not be totally free </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For e.g., two petrol stations could not set up in the same place because of local authority planning controls</a:t>
            </a:r>
          </a:p>
          <a:p>
            <a:pPr lvl="1">
              <a:lnSpc>
                <a:spcPct val="100000"/>
              </a:lnSpc>
              <a:spcBef>
                <a:spcPts val="1200"/>
              </a:spcBef>
            </a:pPr>
            <a:r>
              <a:rPr lang="en-GB" altLang="en-US" b="1" dirty="0">
                <a:latin typeface="Calibri" panose="020F0502020204030204" pitchFamily="34" charset="0"/>
                <a:cs typeface="Calibri" panose="020F0502020204030204" pitchFamily="34" charset="0"/>
              </a:rPr>
              <a:t>Indivisibilities</a:t>
            </a:r>
            <a:r>
              <a:rPr lang="en-GB" altLang="en-US" dirty="0">
                <a:latin typeface="Calibri" panose="020F0502020204030204" pitchFamily="34" charset="0"/>
                <a:cs typeface="Calibri" panose="020F0502020204030204" pitchFamily="34" charset="0"/>
              </a:rPr>
              <a:t> – existing firms may make supernormal profits, but if a new firm entered, this might reduce everyone’s profits below the normal level.  Thus, a new firm will not enter, and supernormal profits will persist into the long run.</a:t>
            </a:r>
          </a:p>
          <a:p>
            <a:pPr lvl="1">
              <a:lnSpc>
                <a:spcPct val="100000"/>
              </a:lnSpc>
              <a:spcBef>
                <a:spcPts val="1200"/>
              </a:spcBef>
            </a:pPr>
            <a:r>
              <a:rPr lang="en-GB" altLang="en-US" b="1" dirty="0">
                <a:latin typeface="Calibri" panose="020F0502020204030204" pitchFamily="34" charset="0"/>
                <a:cs typeface="Calibri" panose="020F0502020204030204" pitchFamily="34" charset="0"/>
              </a:rPr>
              <a:t>Importance of non-price competition </a:t>
            </a:r>
            <a:r>
              <a:rPr lang="en-GB" altLang="en-US" dirty="0">
                <a:latin typeface="Calibri" panose="020F0502020204030204" pitchFamily="34" charset="0"/>
                <a:cs typeface="Calibri" panose="020F0502020204030204" pitchFamily="34" charset="0"/>
              </a:rPr>
              <a:t>– profit-maximising firms under monopolistic competition will need to think about more than just price (for e.g., the exact variety of product to produce)</a:t>
            </a:r>
          </a:p>
        </p:txBody>
      </p:sp>
    </p:spTree>
    <p:extLst>
      <p:ext uri="{BB962C8B-B14F-4D97-AF65-F5344CB8AC3E}">
        <p14:creationId xmlns:p14="http://schemas.microsoft.com/office/powerpoint/2010/main" val="293438669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4485">
                                            <p:txEl>
                                              <p:pRg st="0" end="0"/>
                                            </p:txEl>
                                          </p:spTgt>
                                        </p:tgtEl>
                                        <p:attrNameLst>
                                          <p:attrName>style.visibility</p:attrName>
                                        </p:attrNameLst>
                                      </p:cBhvr>
                                      <p:to>
                                        <p:strVal val="visible"/>
                                      </p:to>
                                    </p:set>
                                    <p:anim calcmode="lin" valueType="num">
                                      <p:cBhvr additive="base">
                                        <p:cTn id="7" dur="500"/>
                                        <p:tgtEl>
                                          <p:spTgt spid="40448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4485">
                                            <p:txEl>
                                              <p:pRg st="1" end="1"/>
                                            </p:txEl>
                                          </p:spTgt>
                                        </p:tgtEl>
                                        <p:attrNameLst>
                                          <p:attrName>style.visibility</p:attrName>
                                        </p:attrNameLst>
                                      </p:cBhvr>
                                      <p:to>
                                        <p:strVal val="visible"/>
                                      </p:to>
                                    </p:set>
                                    <p:anim calcmode="lin" valueType="num">
                                      <p:cBhvr additive="base">
                                        <p:cTn id="13" dur="500"/>
                                        <p:tgtEl>
                                          <p:spTgt spid="40448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448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4485">
                                            <p:txEl>
                                              <p:pRg st="2" end="2"/>
                                            </p:txEl>
                                          </p:spTgt>
                                        </p:tgtEl>
                                        <p:attrNameLst>
                                          <p:attrName>style.visibility</p:attrName>
                                        </p:attrNameLst>
                                      </p:cBhvr>
                                      <p:to>
                                        <p:strVal val="visible"/>
                                      </p:to>
                                    </p:set>
                                    <p:anim calcmode="lin" valueType="num">
                                      <p:cBhvr additive="base">
                                        <p:cTn id="19" dur="500"/>
                                        <p:tgtEl>
                                          <p:spTgt spid="40448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4485">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404485">
                                            <p:txEl>
                                              <p:pRg st="3" end="3"/>
                                            </p:txEl>
                                          </p:spTgt>
                                        </p:tgtEl>
                                        <p:attrNameLst>
                                          <p:attrName>style.visibility</p:attrName>
                                        </p:attrNameLst>
                                      </p:cBhvr>
                                      <p:to>
                                        <p:strVal val="visible"/>
                                      </p:to>
                                    </p:set>
                                    <p:anim calcmode="lin" valueType="num">
                                      <p:cBhvr additive="base">
                                        <p:cTn id="23" dur="500"/>
                                        <p:tgtEl>
                                          <p:spTgt spid="404485">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404485">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404485">
                                            <p:txEl>
                                              <p:pRg st="4" end="4"/>
                                            </p:txEl>
                                          </p:spTgt>
                                        </p:tgtEl>
                                        <p:attrNameLst>
                                          <p:attrName>style.visibility</p:attrName>
                                        </p:attrNameLst>
                                      </p:cBhvr>
                                      <p:to>
                                        <p:strVal val="visible"/>
                                      </p:to>
                                    </p:set>
                                    <p:anim calcmode="lin" valueType="num">
                                      <p:cBhvr additive="base">
                                        <p:cTn id="29" dur="500"/>
                                        <p:tgtEl>
                                          <p:spTgt spid="404485">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40448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404485">
                                            <p:txEl>
                                              <p:pRg st="5" end="5"/>
                                            </p:txEl>
                                          </p:spTgt>
                                        </p:tgtEl>
                                        <p:attrNameLst>
                                          <p:attrName>style.visibility</p:attrName>
                                        </p:attrNameLst>
                                      </p:cBhvr>
                                      <p:to>
                                        <p:strVal val="visible"/>
                                      </p:to>
                                    </p:set>
                                    <p:anim calcmode="lin" valueType="num">
                                      <p:cBhvr additive="base">
                                        <p:cTn id="35" dur="500"/>
                                        <p:tgtEl>
                                          <p:spTgt spid="404485">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40448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5" grpId="0" build="p" bldLvl="2"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F7AA4D78-6CDE-415D-A583-DFE4B1C1F5E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089EAAA8-3F4A-4F5F-9B51-915181DB868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4" name="Rectangle 4">
            <a:extLst>
              <a:ext uri="{FF2B5EF4-FFF2-40B4-BE49-F238E27FC236}">
                <a16:creationId xmlns:a16="http://schemas.microsoft.com/office/drawing/2014/main" id="{26FD9362-5670-4F2E-9DF3-5B7DD6AF8C4D}"/>
              </a:ext>
            </a:extLst>
          </p:cNvPr>
          <p:cNvSpPr>
            <a:spLocks noGrp="1"/>
          </p:cNvSpPr>
          <p:nvPr>
            <p:ph type="title"/>
          </p:nvPr>
        </p:nvSpPr>
        <p:spPr>
          <a:xfrm>
            <a:off x="451987" y="223130"/>
            <a:ext cx="10515600" cy="908198"/>
          </a:xfrm>
        </p:spPr>
        <p:txBody>
          <a:bodyPr/>
          <a:lstStyle/>
          <a:p>
            <a:r>
              <a:rPr lang="en-GB" altLang="en-US" dirty="0"/>
              <a:t>Monopolistic Competition</a:t>
            </a:r>
          </a:p>
        </p:txBody>
      </p:sp>
      <p:sp>
        <p:nvSpPr>
          <p:cNvPr id="404485" name="Rectangle 5">
            <a:extLst>
              <a:ext uri="{FF2B5EF4-FFF2-40B4-BE49-F238E27FC236}">
                <a16:creationId xmlns:a16="http://schemas.microsoft.com/office/drawing/2014/main" id="{1DC3B5E7-0A46-4C49-AC15-3094185FAAA8}"/>
              </a:ext>
            </a:extLst>
          </p:cNvPr>
          <p:cNvSpPr>
            <a:spLocks noGrp="1"/>
          </p:cNvSpPr>
          <p:nvPr>
            <p:ph idx="1"/>
          </p:nvPr>
        </p:nvSpPr>
        <p:spPr>
          <a:xfrm>
            <a:off x="329608" y="1166179"/>
            <a:ext cx="11379201" cy="4889500"/>
          </a:xfrm>
        </p:spPr>
        <p:txBody>
          <a:bodyPr>
            <a:noAutofit/>
          </a:bodyPr>
          <a:lstStyle/>
          <a:p>
            <a:pPr>
              <a:lnSpc>
                <a:spcPct val="100000"/>
              </a:lnSpc>
              <a:spcBef>
                <a:spcPts val="1200"/>
              </a:spcBef>
            </a:pPr>
            <a:r>
              <a:rPr lang="en-GB" altLang="en-US" sz="2000" b="1" dirty="0">
                <a:latin typeface="Calibri" panose="020F0502020204030204" pitchFamily="34" charset="0"/>
                <a:cs typeface="Calibri" panose="020F0502020204030204" pitchFamily="34" charset="0"/>
              </a:rPr>
              <a:t>Comparing monopolistic competition with perfect competition and monopoly</a:t>
            </a:r>
          </a:p>
          <a:p>
            <a:pPr lvl="1">
              <a:lnSpc>
                <a:spcPct val="100000"/>
              </a:lnSpc>
              <a:spcBef>
                <a:spcPts val="1200"/>
              </a:spcBef>
            </a:pPr>
            <a:r>
              <a:rPr lang="en-GB" altLang="en-US" dirty="0">
                <a:latin typeface="Calibri" panose="020F0502020204030204" pitchFamily="34" charset="0"/>
                <a:cs typeface="Calibri" panose="020F0502020204030204" pitchFamily="34" charset="0"/>
              </a:rPr>
              <a:t>Comparison with perfect competition</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Although the firm under monopolistic competition may charge a higher price than under perfect competition, the difference may be very small – the firm’s demand curve is downward sloping, but it is likely to be highly elastic due to the large number of substitutes.</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The consumer may benefit from monopolistic competition by having a greater variety of products to choose from. </a:t>
            </a:r>
          </a:p>
          <a:p>
            <a:pPr lvl="1">
              <a:lnSpc>
                <a:spcPct val="100000"/>
              </a:lnSpc>
              <a:spcBef>
                <a:spcPts val="1200"/>
              </a:spcBef>
            </a:pPr>
            <a:r>
              <a:rPr lang="en-GB" altLang="en-US" dirty="0">
                <a:latin typeface="Calibri" panose="020F0502020204030204" pitchFamily="34" charset="0"/>
                <a:cs typeface="Calibri" panose="020F0502020204030204" pitchFamily="34" charset="0"/>
              </a:rPr>
              <a:t>Comparison with monopoly</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Freedom of entry for new firms and hence the lack of long-run super-normal profits under monopolistic competition are likely to help keep prices down for the consumer and encourage cost saving.</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On the other hand, monopolies are likely to achieve greater economies of scale and have more funds for investment and research and development.</a:t>
            </a:r>
          </a:p>
        </p:txBody>
      </p:sp>
    </p:spTree>
    <p:extLst>
      <p:ext uri="{BB962C8B-B14F-4D97-AF65-F5344CB8AC3E}">
        <p14:creationId xmlns:p14="http://schemas.microsoft.com/office/powerpoint/2010/main" val="1964729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4485">
                                            <p:txEl>
                                              <p:pRg st="0" end="0"/>
                                            </p:txEl>
                                          </p:spTgt>
                                        </p:tgtEl>
                                        <p:attrNameLst>
                                          <p:attrName>style.visibility</p:attrName>
                                        </p:attrNameLst>
                                      </p:cBhvr>
                                      <p:to>
                                        <p:strVal val="visible"/>
                                      </p:to>
                                    </p:set>
                                    <p:anim calcmode="lin" valueType="num">
                                      <p:cBhvr additive="base">
                                        <p:cTn id="7" dur="500"/>
                                        <p:tgtEl>
                                          <p:spTgt spid="40448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4485">
                                            <p:txEl>
                                              <p:pRg st="1" end="1"/>
                                            </p:txEl>
                                          </p:spTgt>
                                        </p:tgtEl>
                                        <p:attrNameLst>
                                          <p:attrName>style.visibility</p:attrName>
                                        </p:attrNameLst>
                                      </p:cBhvr>
                                      <p:to>
                                        <p:strVal val="visible"/>
                                      </p:to>
                                    </p:set>
                                    <p:anim calcmode="lin" valueType="num">
                                      <p:cBhvr additive="base">
                                        <p:cTn id="13" dur="500"/>
                                        <p:tgtEl>
                                          <p:spTgt spid="40448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448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04485">
                                            <p:txEl>
                                              <p:pRg st="2" end="2"/>
                                            </p:txEl>
                                          </p:spTgt>
                                        </p:tgtEl>
                                        <p:attrNameLst>
                                          <p:attrName>style.visibility</p:attrName>
                                        </p:attrNameLst>
                                      </p:cBhvr>
                                      <p:to>
                                        <p:strVal val="visible"/>
                                      </p:to>
                                    </p:set>
                                    <p:anim calcmode="lin" valueType="num">
                                      <p:cBhvr additive="base">
                                        <p:cTn id="17" dur="500"/>
                                        <p:tgtEl>
                                          <p:spTgt spid="40448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0448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04485">
                                            <p:txEl>
                                              <p:pRg st="3" end="3"/>
                                            </p:txEl>
                                          </p:spTgt>
                                        </p:tgtEl>
                                        <p:attrNameLst>
                                          <p:attrName>style.visibility</p:attrName>
                                        </p:attrNameLst>
                                      </p:cBhvr>
                                      <p:to>
                                        <p:strVal val="visible"/>
                                      </p:to>
                                    </p:set>
                                    <p:anim calcmode="lin" valueType="num">
                                      <p:cBhvr additive="base">
                                        <p:cTn id="21" dur="500"/>
                                        <p:tgtEl>
                                          <p:spTgt spid="40448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044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04485">
                                            <p:txEl>
                                              <p:pRg st="4" end="4"/>
                                            </p:txEl>
                                          </p:spTgt>
                                        </p:tgtEl>
                                        <p:attrNameLst>
                                          <p:attrName>style.visibility</p:attrName>
                                        </p:attrNameLst>
                                      </p:cBhvr>
                                      <p:to>
                                        <p:strVal val="visible"/>
                                      </p:to>
                                    </p:set>
                                    <p:anim calcmode="lin" valueType="num">
                                      <p:cBhvr additive="base">
                                        <p:cTn id="27" dur="500"/>
                                        <p:tgtEl>
                                          <p:spTgt spid="404485">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04485">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04485">
                                            <p:txEl>
                                              <p:pRg st="5" end="5"/>
                                            </p:txEl>
                                          </p:spTgt>
                                        </p:tgtEl>
                                        <p:attrNameLst>
                                          <p:attrName>style.visibility</p:attrName>
                                        </p:attrNameLst>
                                      </p:cBhvr>
                                      <p:to>
                                        <p:strVal val="visible"/>
                                      </p:to>
                                    </p:set>
                                    <p:anim calcmode="lin" valueType="num">
                                      <p:cBhvr additive="base">
                                        <p:cTn id="31" dur="500"/>
                                        <p:tgtEl>
                                          <p:spTgt spid="40448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4485">
                                            <p:txEl>
                                              <p:pRg st="5" end="5"/>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404485">
                                            <p:txEl>
                                              <p:pRg st="6" end="6"/>
                                            </p:txEl>
                                          </p:spTgt>
                                        </p:tgtEl>
                                        <p:attrNameLst>
                                          <p:attrName>style.visibility</p:attrName>
                                        </p:attrNameLst>
                                      </p:cBhvr>
                                      <p:to>
                                        <p:strVal val="visible"/>
                                      </p:to>
                                    </p:set>
                                    <p:anim calcmode="lin" valueType="num">
                                      <p:cBhvr additive="base">
                                        <p:cTn id="35" dur="500"/>
                                        <p:tgtEl>
                                          <p:spTgt spid="404485">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40448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5" grpId="0" build="p" bldLvl="2"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2F1074A2-45CB-4B03-AB30-79E844D1ED64}"/>
              </a:ext>
            </a:extLst>
          </p:cNvPr>
          <p:cNvSpPr>
            <a:spLocks noGrp="1"/>
          </p:cNvSpPr>
          <p:nvPr>
            <p:ph type="title"/>
          </p:nvPr>
        </p:nvSpPr>
        <p:spPr>
          <a:xfrm>
            <a:off x="542861" y="365126"/>
            <a:ext cx="10515600" cy="908198"/>
          </a:xfrm>
        </p:spPr>
        <p:txBody>
          <a:bodyPr/>
          <a:lstStyle/>
          <a:p>
            <a:r>
              <a:rPr lang="en-GB" altLang="en-US" dirty="0"/>
              <a:t>Oligopoly</a:t>
            </a:r>
          </a:p>
        </p:txBody>
      </p:sp>
      <p:sp>
        <p:nvSpPr>
          <p:cNvPr id="2" name="Content Placeholder 1">
            <a:extLst>
              <a:ext uri="{FF2B5EF4-FFF2-40B4-BE49-F238E27FC236}">
                <a16:creationId xmlns:a16="http://schemas.microsoft.com/office/drawing/2014/main" id="{A3F6CB03-AAF4-0A77-0023-525F6A77BC9F}"/>
              </a:ext>
            </a:extLst>
          </p:cNvPr>
          <p:cNvSpPr>
            <a:spLocks noGrp="1"/>
          </p:cNvSpPr>
          <p:nvPr>
            <p:ph idx="1"/>
          </p:nvPr>
        </p:nvSpPr>
        <p:spPr>
          <a:xfrm>
            <a:off x="584989" y="1412358"/>
            <a:ext cx="11196378" cy="4983125"/>
          </a:xfrm>
        </p:spPr>
        <p:txBody>
          <a:bodyPr>
            <a:noAutofit/>
          </a:bodyPr>
          <a:lstStyle/>
          <a:p>
            <a:pPr marL="0" indent="0">
              <a:lnSpc>
                <a:spcPct val="100000"/>
              </a:lnSpc>
              <a:spcBef>
                <a:spcPts val="600"/>
              </a:spcBef>
              <a:buNone/>
            </a:pPr>
            <a:r>
              <a:rPr lang="en-GB" altLang="en-US" sz="2000" b="1" dirty="0">
                <a:latin typeface="Calibri" panose="020F0502020204030204" pitchFamily="34" charset="0"/>
                <a:ea typeface="Calibri" panose="020F0502020204030204" pitchFamily="34" charset="0"/>
                <a:cs typeface="Calibri" panose="020F0502020204030204" pitchFamily="34" charset="0"/>
              </a:rPr>
              <a:t>Oligopoly occurs when just a few firms share a large proportion of the industry between them</a:t>
            </a:r>
          </a:p>
          <a:p>
            <a:pPr>
              <a:lnSpc>
                <a:spcPct val="100000"/>
              </a:lnSpc>
              <a:spcBef>
                <a:spcPts val="600"/>
              </a:spcBef>
            </a:pPr>
            <a:r>
              <a:rPr lang="en-GB" altLang="en-US" sz="2000" dirty="0">
                <a:latin typeface="Calibri" panose="020F0502020204030204" pitchFamily="34" charset="0"/>
                <a:ea typeface="Calibri" panose="020F0502020204030204" pitchFamily="34" charset="0"/>
                <a:cs typeface="Calibri" panose="020F0502020204030204" pitchFamily="34" charset="0"/>
              </a:rPr>
              <a:t>Some of the best-known companies are oligopolists, including Ford, Coca-Cola, Apple, EDF and Tesco</a:t>
            </a:r>
          </a:p>
          <a:p>
            <a:pPr lvl="1">
              <a:lnSpc>
                <a:spcPct val="100000"/>
              </a:lnSpc>
              <a:spcBef>
                <a:spcPts val="600"/>
              </a:spcBef>
            </a:pPr>
            <a:r>
              <a:rPr lang="en-GB" altLang="en-US" dirty="0">
                <a:latin typeface="Calibri" panose="020F0502020204030204" pitchFamily="34" charset="0"/>
                <a:ea typeface="Calibri" panose="020F0502020204030204" pitchFamily="34" charset="0"/>
                <a:cs typeface="Calibri" panose="020F0502020204030204" pitchFamily="34" charset="0"/>
              </a:rPr>
              <a:t>Firms may produce a virtually identical product (for e.g., metals, chemicals, sugar, petrol), but </a:t>
            </a:r>
            <a:r>
              <a:rPr lang="en-GB" altLang="en-US" b="1" dirty="0">
                <a:latin typeface="Calibri" panose="020F0502020204030204" pitchFamily="34" charset="0"/>
                <a:ea typeface="Calibri" panose="020F0502020204030204" pitchFamily="34" charset="0"/>
                <a:cs typeface="Calibri" panose="020F0502020204030204" pitchFamily="34" charset="0"/>
              </a:rPr>
              <a:t>in most cases, oligopolists produce highly differentiated products </a:t>
            </a:r>
            <a:r>
              <a:rPr lang="en-GB" altLang="en-US" dirty="0">
                <a:latin typeface="Calibri" panose="020F0502020204030204" pitchFamily="34" charset="0"/>
                <a:ea typeface="Calibri" panose="020F0502020204030204" pitchFamily="34" charset="0"/>
                <a:cs typeface="Calibri" panose="020F0502020204030204" pitchFamily="34" charset="0"/>
              </a:rPr>
              <a:t>(for e.g., cars, soap powder, soft drinks, electrical appliances) - much of the competition in the latter case is in terms of the marketing of the brand</a:t>
            </a:r>
          </a:p>
          <a:p>
            <a:pPr>
              <a:lnSpc>
                <a:spcPct val="100000"/>
              </a:lnSpc>
              <a:spcBef>
                <a:spcPts val="600"/>
              </a:spcBef>
            </a:pPr>
            <a:r>
              <a:rPr lang="en-GB" altLang="en-US" sz="2000" b="1" dirty="0">
                <a:latin typeface="Calibri" panose="020F0502020204030204" pitchFamily="34" charset="0"/>
                <a:ea typeface="Calibri" panose="020F0502020204030204" pitchFamily="34" charset="0"/>
                <a:cs typeface="Calibri" panose="020F0502020204030204" pitchFamily="34" charset="0"/>
              </a:rPr>
              <a:t>Two key features of oligopoly</a:t>
            </a:r>
          </a:p>
          <a:p>
            <a:pPr lvl="1">
              <a:lnSpc>
                <a:spcPct val="100000"/>
              </a:lnSpc>
              <a:spcBef>
                <a:spcPts val="600"/>
              </a:spcBef>
            </a:pPr>
            <a:r>
              <a:rPr lang="en-GB" altLang="en-US" b="1" dirty="0">
                <a:latin typeface="Calibri" panose="020F0502020204030204" pitchFamily="34" charset="0"/>
                <a:ea typeface="Calibri" panose="020F0502020204030204" pitchFamily="34" charset="0"/>
                <a:cs typeface="Calibri" panose="020F0502020204030204" pitchFamily="34" charset="0"/>
              </a:rPr>
              <a:t>Barriers to entry </a:t>
            </a:r>
            <a:r>
              <a:rPr lang="en-GB" altLang="en-US" dirty="0">
                <a:latin typeface="Calibri" panose="020F0502020204030204" pitchFamily="34" charset="0"/>
                <a:ea typeface="Calibri" panose="020F0502020204030204" pitchFamily="34" charset="0"/>
                <a:cs typeface="Calibri" panose="020F0502020204030204" pitchFamily="34" charset="0"/>
              </a:rPr>
              <a:t>- there are various barriers to the entry of new firms. The size of the barriers will vary from industry to industry.</a:t>
            </a:r>
          </a:p>
          <a:p>
            <a:pPr lvl="1">
              <a:lnSpc>
                <a:spcPct val="100000"/>
              </a:lnSpc>
              <a:spcBef>
                <a:spcPts val="600"/>
              </a:spcBef>
            </a:pPr>
            <a:r>
              <a:rPr lang="en-GB" altLang="en-US" b="1" dirty="0">
                <a:latin typeface="Calibri" panose="020F0502020204030204" pitchFamily="34" charset="0"/>
                <a:ea typeface="Calibri" panose="020F0502020204030204" pitchFamily="34" charset="0"/>
                <a:cs typeface="Calibri" panose="020F0502020204030204" pitchFamily="34" charset="0"/>
              </a:rPr>
              <a:t>Interdependence of firms </a:t>
            </a:r>
            <a:r>
              <a:rPr lang="en-GB" altLang="en-US" dirty="0">
                <a:latin typeface="Calibri" panose="020F0502020204030204" pitchFamily="34" charset="0"/>
                <a:ea typeface="Calibri" panose="020F0502020204030204" pitchFamily="34" charset="0"/>
                <a:cs typeface="Calibri" panose="020F0502020204030204" pitchFamily="34" charset="0"/>
              </a:rPr>
              <a:t>- with only a few firms under oligopoly, each firm will need to take account of the behaviour of the others when making its own decisions. This means they are mutually dependent.</a:t>
            </a:r>
            <a:endParaRPr lang="en-GB" sz="2000" dirty="0">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600"/>
              </a:spcBef>
              <a:buNone/>
            </a:pPr>
            <a:r>
              <a:rPr lang="en-GB" sz="2000" dirty="0">
                <a:latin typeface="Calibri" panose="020F0502020204030204" pitchFamily="34" charset="0"/>
                <a:ea typeface="Calibri" panose="020F0502020204030204" pitchFamily="34" charset="0"/>
                <a:cs typeface="Calibri" panose="020F0502020204030204" pitchFamily="34" charset="0"/>
                <a:hlinkClick r:id="rId3"/>
              </a:rPr>
              <a:t>What is an Oligopoly? (youtube.com)</a:t>
            </a:r>
            <a:endParaRPr lang="en-GB"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51207224"/>
      </p:ext>
    </p:extLst>
  </p:cSld>
  <p:clrMapOvr>
    <a:masterClrMapping/>
  </p:clrMapOvr>
  <p:transition spd="slow">
    <p:pull dir="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2F1074A2-45CB-4B03-AB30-79E844D1ED64}"/>
              </a:ext>
            </a:extLst>
          </p:cNvPr>
          <p:cNvSpPr>
            <a:spLocks noGrp="1"/>
          </p:cNvSpPr>
          <p:nvPr>
            <p:ph type="title"/>
          </p:nvPr>
        </p:nvSpPr>
        <p:spPr>
          <a:xfrm>
            <a:off x="434950" y="200411"/>
            <a:ext cx="10515600" cy="908198"/>
          </a:xfrm>
        </p:spPr>
        <p:txBody>
          <a:bodyPr/>
          <a:lstStyle/>
          <a:p>
            <a:r>
              <a:rPr lang="en-GB" altLang="en-US" dirty="0"/>
              <a:t>Oligopoly</a:t>
            </a:r>
          </a:p>
        </p:txBody>
      </p:sp>
      <p:sp>
        <p:nvSpPr>
          <p:cNvPr id="406531" name="Rectangle 3">
            <a:extLst>
              <a:ext uri="{FF2B5EF4-FFF2-40B4-BE49-F238E27FC236}">
                <a16:creationId xmlns:a16="http://schemas.microsoft.com/office/drawing/2014/main" id="{FD6E296D-D684-439A-8DD4-F64508C3E5D1}"/>
              </a:ext>
            </a:extLst>
          </p:cNvPr>
          <p:cNvSpPr>
            <a:spLocks noGrp="1"/>
          </p:cNvSpPr>
          <p:nvPr>
            <p:ph idx="1"/>
          </p:nvPr>
        </p:nvSpPr>
        <p:spPr>
          <a:xfrm>
            <a:off x="437321" y="1165408"/>
            <a:ext cx="11200505" cy="5044481"/>
          </a:xfrm>
        </p:spPr>
        <p:txBody>
          <a:bodyPr>
            <a:normAutofit/>
          </a:bodyPr>
          <a:lstStyle/>
          <a:p>
            <a:pPr marL="0" indent="0">
              <a:lnSpc>
                <a:spcPct val="100000"/>
              </a:lnSpc>
              <a:spcBef>
                <a:spcPts val="1200"/>
              </a:spcBef>
              <a:buNone/>
            </a:pPr>
            <a:r>
              <a:rPr lang="en-GB" altLang="en-US" sz="2000" dirty="0">
                <a:latin typeface="Calibri" panose="020F0502020204030204" pitchFamily="34" charset="0"/>
                <a:cs typeface="Calibri" panose="020F0502020204030204" pitchFamily="34" charset="0"/>
              </a:rPr>
              <a:t>Competition and collusion</a:t>
            </a:r>
          </a:p>
          <a:p>
            <a:pPr>
              <a:lnSpc>
                <a:spcPct val="100000"/>
              </a:lnSpc>
              <a:spcBef>
                <a:spcPts val="1200"/>
              </a:spcBef>
            </a:pPr>
            <a:r>
              <a:rPr lang="en-GB" altLang="en-US" sz="2000" dirty="0">
                <a:latin typeface="Calibri" panose="020F0502020204030204" pitchFamily="34" charset="0"/>
                <a:cs typeface="Calibri" panose="020F0502020204030204" pitchFamily="34" charset="0"/>
              </a:rPr>
              <a:t>The interdependence of oligopolists means firms are pulled in two different directions: </a:t>
            </a:r>
            <a:r>
              <a:rPr lang="en-GB" altLang="en-US" sz="2000" b="1" dirty="0">
                <a:latin typeface="Calibri" panose="020F0502020204030204" pitchFamily="34" charset="0"/>
                <a:cs typeface="Calibri" panose="020F0502020204030204" pitchFamily="34" charset="0"/>
              </a:rPr>
              <a:t>to compete or to collude.</a:t>
            </a:r>
          </a:p>
          <a:p>
            <a:pPr lvl="1">
              <a:lnSpc>
                <a:spcPct val="100000"/>
              </a:lnSpc>
              <a:spcBef>
                <a:spcPts val="1200"/>
              </a:spcBef>
            </a:pPr>
            <a:r>
              <a:rPr lang="en-GB" altLang="en-US" b="1" dirty="0">
                <a:latin typeface="Calibri" panose="020F0502020204030204" pitchFamily="34" charset="0"/>
                <a:cs typeface="Calibri" panose="020F0502020204030204" pitchFamily="34" charset="0"/>
              </a:rPr>
              <a:t>Pressures to compete: to maximise </a:t>
            </a:r>
            <a:r>
              <a:rPr lang="en-GB" altLang="en-US" b="1" i="1" dirty="0">
                <a:latin typeface="Calibri" panose="020F0502020204030204" pitchFamily="34" charset="0"/>
                <a:cs typeface="Calibri" panose="020F0502020204030204" pitchFamily="34" charset="0"/>
              </a:rPr>
              <a:t>their</a:t>
            </a:r>
            <a:r>
              <a:rPr lang="en-GB" altLang="en-US" b="1" dirty="0">
                <a:latin typeface="Calibri" panose="020F0502020204030204" pitchFamily="34" charset="0"/>
                <a:cs typeface="Calibri" panose="020F0502020204030204" pitchFamily="34" charset="0"/>
              </a:rPr>
              <a:t> share of industry profits</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For e.g., by cutting prices or undertaking advertising with the aim of increasing sales. </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However, if all firms cut prices, each unit sold now earns less revenue; if all firms increase advertising, average costs will rise. Either way, profits are likely to fall.</a:t>
            </a:r>
          </a:p>
          <a:p>
            <a:pPr lvl="1">
              <a:lnSpc>
                <a:spcPct val="100000"/>
              </a:lnSpc>
              <a:spcBef>
                <a:spcPts val="1200"/>
              </a:spcBef>
            </a:pPr>
            <a:r>
              <a:rPr lang="en-GB" altLang="en-US" b="1" dirty="0">
                <a:latin typeface="Calibri" panose="020F0502020204030204" pitchFamily="34" charset="0"/>
                <a:cs typeface="Calibri" panose="020F0502020204030204" pitchFamily="34" charset="0"/>
              </a:rPr>
              <a:t>Pressures to collude: to maximise </a:t>
            </a:r>
            <a:r>
              <a:rPr lang="en-GB" altLang="en-US" b="1" i="1" dirty="0">
                <a:latin typeface="Calibri" panose="020F0502020204030204" pitchFamily="34" charset="0"/>
                <a:cs typeface="Calibri" panose="020F0502020204030204" pitchFamily="34" charset="0"/>
              </a:rPr>
              <a:t>industry </a:t>
            </a:r>
            <a:r>
              <a:rPr lang="en-GB" altLang="en-US" b="1" dirty="0">
                <a:latin typeface="Calibri" panose="020F0502020204030204" pitchFamily="34" charset="0"/>
                <a:cs typeface="Calibri" panose="020F0502020204030204" pitchFamily="34" charset="0"/>
              </a:rPr>
              <a:t>profits</a:t>
            </a:r>
          </a:p>
          <a:p>
            <a:pPr lvl="2">
              <a:lnSpc>
                <a:spcPct val="100000"/>
              </a:lnSpc>
              <a:spcBef>
                <a:spcPts val="1200"/>
              </a:spcBef>
            </a:pPr>
            <a:r>
              <a:rPr lang="en-GB" altLang="en-US" sz="2000" i="1" dirty="0">
                <a:latin typeface="Calibri" panose="020F0502020204030204" pitchFamily="34" charset="0"/>
                <a:cs typeface="Calibri" panose="020F0502020204030204" pitchFamily="34" charset="0"/>
              </a:rPr>
              <a:t>Collusion</a:t>
            </a:r>
            <a:r>
              <a:rPr lang="en-GB" altLang="en-US" sz="2000" dirty="0">
                <a:latin typeface="Calibri" panose="020F0502020204030204" pitchFamily="34" charset="0"/>
                <a:cs typeface="Calibri" panose="020F0502020204030204" pitchFamily="34" charset="0"/>
              </a:rPr>
              <a:t> may be a more profitable strategy than </a:t>
            </a:r>
            <a:r>
              <a:rPr lang="en-GB" altLang="en-US" sz="2000" i="1" dirty="0">
                <a:latin typeface="Calibri" panose="020F0502020204030204" pitchFamily="34" charset="0"/>
                <a:cs typeface="Calibri" panose="020F0502020204030204" pitchFamily="34" charset="0"/>
              </a:rPr>
              <a:t>competing</a:t>
            </a:r>
            <a:r>
              <a:rPr lang="en-GB" altLang="en-US" sz="2000" dirty="0">
                <a:latin typeface="Calibri" panose="020F0502020204030204" pitchFamily="34" charset="0"/>
                <a:cs typeface="Calibri" panose="020F0502020204030204" pitchFamily="34" charset="0"/>
              </a:rPr>
              <a:t>.</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Agreements with the other firms on price, output, product design, etc., </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This may be bad for consumers, and most countries have competition laws that try to prevent open collusion. </a:t>
            </a:r>
          </a:p>
        </p:txBody>
      </p:sp>
    </p:spTree>
    <p:extLst>
      <p:ext uri="{BB962C8B-B14F-4D97-AF65-F5344CB8AC3E}">
        <p14:creationId xmlns:p14="http://schemas.microsoft.com/office/powerpoint/2010/main" val="45044491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1">
                                            <p:txEl>
                                              <p:pRg st="0" end="0"/>
                                            </p:txEl>
                                          </p:spTgt>
                                        </p:tgtEl>
                                        <p:attrNameLst>
                                          <p:attrName>style.visibility</p:attrName>
                                        </p:attrNameLst>
                                      </p:cBhvr>
                                      <p:to>
                                        <p:strVal val="visible"/>
                                      </p:to>
                                    </p:set>
                                    <p:anim calcmode="lin" valueType="num">
                                      <p:cBhvr additive="base">
                                        <p:cTn id="7" dur="500"/>
                                        <p:tgtEl>
                                          <p:spTgt spid="4065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6531">
                                            <p:txEl>
                                              <p:pRg st="1" end="1"/>
                                            </p:txEl>
                                          </p:spTgt>
                                        </p:tgtEl>
                                        <p:attrNameLst>
                                          <p:attrName>style.visibility</p:attrName>
                                        </p:attrNameLst>
                                      </p:cBhvr>
                                      <p:to>
                                        <p:strVal val="visible"/>
                                      </p:to>
                                    </p:set>
                                    <p:anim calcmode="lin" valueType="num">
                                      <p:cBhvr additive="base">
                                        <p:cTn id="13" dur="500"/>
                                        <p:tgtEl>
                                          <p:spTgt spid="40653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6531">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6531">
                                            <p:txEl>
                                              <p:pRg st="2" end="2"/>
                                            </p:txEl>
                                          </p:spTgt>
                                        </p:tgtEl>
                                        <p:attrNameLst>
                                          <p:attrName>style.visibility</p:attrName>
                                        </p:attrNameLst>
                                      </p:cBhvr>
                                      <p:to>
                                        <p:strVal val="visible"/>
                                      </p:to>
                                    </p:set>
                                    <p:anim calcmode="lin" valueType="num">
                                      <p:cBhvr additive="base">
                                        <p:cTn id="19" dur="500"/>
                                        <p:tgtEl>
                                          <p:spTgt spid="40653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6531">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406531">
                                            <p:txEl>
                                              <p:pRg st="3" end="3"/>
                                            </p:txEl>
                                          </p:spTgt>
                                        </p:tgtEl>
                                        <p:attrNameLst>
                                          <p:attrName>style.visibility</p:attrName>
                                        </p:attrNameLst>
                                      </p:cBhvr>
                                      <p:to>
                                        <p:strVal val="visible"/>
                                      </p:to>
                                    </p:set>
                                    <p:anim calcmode="lin" valueType="num">
                                      <p:cBhvr additive="base">
                                        <p:cTn id="23" dur="500"/>
                                        <p:tgtEl>
                                          <p:spTgt spid="406531">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406531">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406531">
                                            <p:txEl>
                                              <p:pRg st="4" end="4"/>
                                            </p:txEl>
                                          </p:spTgt>
                                        </p:tgtEl>
                                        <p:attrNameLst>
                                          <p:attrName>style.visibility</p:attrName>
                                        </p:attrNameLst>
                                      </p:cBhvr>
                                      <p:to>
                                        <p:strVal val="visible"/>
                                      </p:to>
                                    </p:set>
                                    <p:anim calcmode="lin" valueType="num">
                                      <p:cBhvr additive="base">
                                        <p:cTn id="27" dur="500"/>
                                        <p:tgtEl>
                                          <p:spTgt spid="406531">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0653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406531">
                                            <p:txEl>
                                              <p:pRg st="5" end="5"/>
                                            </p:txEl>
                                          </p:spTgt>
                                        </p:tgtEl>
                                        <p:attrNameLst>
                                          <p:attrName>style.visibility</p:attrName>
                                        </p:attrNameLst>
                                      </p:cBhvr>
                                      <p:to>
                                        <p:strVal val="visible"/>
                                      </p:to>
                                    </p:set>
                                    <p:anim calcmode="lin" valueType="num">
                                      <p:cBhvr additive="base">
                                        <p:cTn id="33" dur="500"/>
                                        <p:tgtEl>
                                          <p:spTgt spid="406531">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406531">
                                            <p:txEl>
                                              <p:pRg st="5" end="5"/>
                                            </p:txEl>
                                          </p:spTgt>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406531">
                                            <p:txEl>
                                              <p:pRg st="6" end="6"/>
                                            </p:txEl>
                                          </p:spTgt>
                                        </p:tgtEl>
                                        <p:attrNameLst>
                                          <p:attrName>style.visibility</p:attrName>
                                        </p:attrNameLst>
                                      </p:cBhvr>
                                      <p:to>
                                        <p:strVal val="visible"/>
                                      </p:to>
                                    </p:set>
                                    <p:anim calcmode="lin" valueType="num">
                                      <p:cBhvr additive="base">
                                        <p:cTn id="37" dur="500"/>
                                        <p:tgtEl>
                                          <p:spTgt spid="40653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6531">
                                            <p:txEl>
                                              <p:pRg st="6" end="6"/>
                                            </p:txEl>
                                          </p:spTgt>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406531">
                                            <p:txEl>
                                              <p:pRg st="7" end="7"/>
                                            </p:txEl>
                                          </p:spTgt>
                                        </p:tgtEl>
                                        <p:attrNameLst>
                                          <p:attrName>style.visibility</p:attrName>
                                        </p:attrNameLst>
                                      </p:cBhvr>
                                      <p:to>
                                        <p:strVal val="visible"/>
                                      </p:to>
                                    </p:set>
                                    <p:anim calcmode="lin" valueType="num">
                                      <p:cBhvr additive="base">
                                        <p:cTn id="41" dur="500"/>
                                        <p:tgtEl>
                                          <p:spTgt spid="406531">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406531">
                                            <p:txEl>
                                              <p:pRg st="7" end="7"/>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406531">
                                            <p:txEl>
                                              <p:pRg st="8" end="8"/>
                                            </p:txEl>
                                          </p:spTgt>
                                        </p:tgtEl>
                                        <p:attrNameLst>
                                          <p:attrName>style.visibility</p:attrName>
                                        </p:attrNameLst>
                                      </p:cBhvr>
                                      <p:to>
                                        <p:strVal val="visible"/>
                                      </p:to>
                                    </p:set>
                                    <p:anim calcmode="lin" valueType="num">
                                      <p:cBhvr additive="base">
                                        <p:cTn id="45" dur="500"/>
                                        <p:tgtEl>
                                          <p:spTgt spid="406531">
                                            <p:txEl>
                                              <p:pRg st="8" end="8"/>
                                            </p:txEl>
                                          </p:spTgt>
                                        </p:tgtEl>
                                        <p:attrNameLst>
                                          <p:attrName>ppt_y</p:attrName>
                                        </p:attrNameLst>
                                      </p:cBhvr>
                                      <p:tavLst>
                                        <p:tav tm="0">
                                          <p:val>
                                            <p:strVal val="#ppt_y+#ppt_h*1.125000"/>
                                          </p:val>
                                        </p:tav>
                                        <p:tav tm="100000">
                                          <p:val>
                                            <p:strVal val="#ppt_y"/>
                                          </p:val>
                                        </p:tav>
                                      </p:tavLst>
                                    </p:anim>
                                    <p:animEffect transition="in" filter="wipe(up)">
                                      <p:cBhvr>
                                        <p:cTn id="46" dur="500"/>
                                        <p:tgtEl>
                                          <p:spTgt spid="4065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bldLvl="2"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2F1074A2-45CB-4B03-AB30-79E844D1ED64}"/>
              </a:ext>
            </a:extLst>
          </p:cNvPr>
          <p:cNvSpPr>
            <a:spLocks noGrp="1"/>
          </p:cNvSpPr>
          <p:nvPr>
            <p:ph type="title"/>
          </p:nvPr>
        </p:nvSpPr>
        <p:spPr>
          <a:xfrm>
            <a:off x="633734" y="223133"/>
            <a:ext cx="10515600" cy="908198"/>
          </a:xfrm>
        </p:spPr>
        <p:txBody>
          <a:bodyPr/>
          <a:lstStyle/>
          <a:p>
            <a:r>
              <a:rPr lang="en-GB" altLang="en-US" dirty="0"/>
              <a:t>Oligopoly</a:t>
            </a:r>
          </a:p>
        </p:txBody>
      </p:sp>
      <p:sp>
        <p:nvSpPr>
          <p:cNvPr id="406531" name="Rectangle 3">
            <a:extLst>
              <a:ext uri="{FF2B5EF4-FFF2-40B4-BE49-F238E27FC236}">
                <a16:creationId xmlns:a16="http://schemas.microsoft.com/office/drawing/2014/main" id="{FD6E296D-D684-439A-8DD4-F64508C3E5D1}"/>
              </a:ext>
            </a:extLst>
          </p:cNvPr>
          <p:cNvSpPr>
            <a:spLocks noGrp="1"/>
          </p:cNvSpPr>
          <p:nvPr>
            <p:ph idx="1"/>
          </p:nvPr>
        </p:nvSpPr>
        <p:spPr>
          <a:xfrm>
            <a:off x="122571" y="1231591"/>
            <a:ext cx="11707834" cy="5305513"/>
          </a:xfrm>
        </p:spPr>
        <p:txBody>
          <a:bodyPr>
            <a:normAutofit fontScale="92500" lnSpcReduction="10000"/>
          </a:bodyPr>
          <a:lstStyle/>
          <a:p>
            <a:pPr lvl="1">
              <a:lnSpc>
                <a:spcPct val="100000"/>
              </a:lnSpc>
              <a:spcBef>
                <a:spcPts val="600"/>
              </a:spcBef>
              <a:spcAft>
                <a:spcPts val="1200"/>
              </a:spcAft>
            </a:pPr>
            <a:r>
              <a:rPr lang="en-GB" altLang="en-US" sz="2100" dirty="0">
                <a:latin typeface="Calibri" panose="020F0502020204030204" pitchFamily="34" charset="0"/>
                <a:cs typeface="Calibri" panose="020F0502020204030204" pitchFamily="34" charset="0"/>
              </a:rPr>
              <a:t>Collusion (on prices, market share, advertising expenditure, etc.) reduces uncertainty for firms.</a:t>
            </a:r>
          </a:p>
          <a:p>
            <a:pPr lvl="1">
              <a:lnSpc>
                <a:spcPct val="100000"/>
              </a:lnSpc>
              <a:spcBef>
                <a:spcPts val="600"/>
              </a:spcBef>
              <a:spcAft>
                <a:spcPts val="1200"/>
              </a:spcAft>
            </a:pPr>
            <a:r>
              <a:rPr lang="en-GB" altLang="en-US" sz="2100" dirty="0">
                <a:latin typeface="Calibri" panose="020F0502020204030204" pitchFamily="34" charset="0"/>
                <a:cs typeface="Calibri" panose="020F0502020204030204" pitchFamily="34" charset="0"/>
              </a:rPr>
              <a:t>A formal collusive agreement is called a </a:t>
            </a:r>
            <a:r>
              <a:rPr lang="en-GB" altLang="en-US" sz="2100" b="1" dirty="0">
                <a:latin typeface="Calibri" panose="020F0502020204030204" pitchFamily="34" charset="0"/>
                <a:cs typeface="Calibri" panose="020F0502020204030204" pitchFamily="34" charset="0"/>
              </a:rPr>
              <a:t>cartel</a:t>
            </a:r>
          </a:p>
          <a:p>
            <a:pPr lvl="1">
              <a:lnSpc>
                <a:spcPct val="100000"/>
              </a:lnSpc>
              <a:spcBef>
                <a:spcPts val="600"/>
              </a:spcBef>
              <a:spcAft>
                <a:spcPts val="1200"/>
              </a:spcAft>
            </a:pPr>
            <a:r>
              <a:rPr lang="en-GB" altLang="en-US" sz="2100" dirty="0">
                <a:latin typeface="Calibri" panose="020F0502020204030204" pitchFamily="34" charset="0"/>
                <a:cs typeface="Calibri" panose="020F0502020204030204" pitchFamily="34" charset="0"/>
              </a:rPr>
              <a:t>The cartel will maximise profits by acting like a monopolist, with the members behaving as if they were a single firm.</a:t>
            </a:r>
          </a:p>
          <a:p>
            <a:pPr lvl="1">
              <a:lnSpc>
                <a:spcPct val="100000"/>
              </a:lnSpc>
              <a:spcBef>
                <a:spcPts val="0"/>
              </a:spcBef>
              <a:spcAft>
                <a:spcPts val="1200"/>
              </a:spcAft>
            </a:pPr>
            <a:r>
              <a:rPr lang="en-GB" altLang="en-US" sz="2100" dirty="0">
                <a:latin typeface="Calibri" panose="020F0502020204030204" pitchFamily="34" charset="0"/>
                <a:cs typeface="Calibri" panose="020F0502020204030204" pitchFamily="34" charset="0"/>
              </a:rPr>
              <a:t>The most famous example of a cartel is OPEC, which was set up in 1960 by the five major oil-exporting countries.</a:t>
            </a:r>
          </a:p>
          <a:p>
            <a:pPr lvl="1">
              <a:lnSpc>
                <a:spcPct val="100000"/>
              </a:lnSpc>
              <a:spcBef>
                <a:spcPts val="0"/>
              </a:spcBef>
              <a:spcAft>
                <a:spcPts val="1200"/>
              </a:spcAft>
            </a:pPr>
            <a:r>
              <a:rPr lang="en-GB" altLang="en-US" sz="2100" dirty="0">
                <a:latin typeface="Calibri" panose="020F0502020204030204" pitchFamily="34" charset="0"/>
                <a:cs typeface="Calibri" panose="020F0502020204030204" pitchFamily="34" charset="0"/>
              </a:rPr>
              <a:t>Where open collusion is illegal, firms may simply break the law or find ways to get around it.</a:t>
            </a:r>
          </a:p>
          <a:p>
            <a:pPr lvl="1">
              <a:lnSpc>
                <a:spcPct val="100000"/>
              </a:lnSpc>
              <a:spcBef>
                <a:spcPts val="0"/>
              </a:spcBef>
              <a:spcAft>
                <a:spcPts val="1200"/>
              </a:spcAft>
            </a:pPr>
            <a:r>
              <a:rPr lang="en-GB" altLang="en-US" sz="2100" dirty="0">
                <a:latin typeface="Calibri" panose="020F0502020204030204" pitchFamily="34" charset="0"/>
                <a:cs typeface="Calibri" panose="020F0502020204030204" pitchFamily="34" charset="0"/>
              </a:rPr>
              <a:t>Alternatively, firms may stay within the law, but still </a:t>
            </a:r>
            <a:r>
              <a:rPr lang="en-GB" altLang="en-US" sz="2100" b="1" dirty="0">
                <a:latin typeface="Calibri" panose="020F0502020204030204" pitchFamily="34" charset="0"/>
                <a:cs typeface="Calibri" panose="020F0502020204030204" pitchFamily="34" charset="0"/>
              </a:rPr>
              <a:t>tacitly collude</a:t>
            </a:r>
            <a:r>
              <a:rPr lang="en-GB" altLang="en-US" sz="2100" dirty="0">
                <a:latin typeface="Calibri" panose="020F0502020204030204" pitchFamily="34" charset="0"/>
                <a:cs typeface="Calibri" panose="020F0502020204030204" pitchFamily="34" charset="0"/>
              </a:rPr>
              <a:t>. </a:t>
            </a:r>
          </a:p>
          <a:p>
            <a:pPr lvl="1">
              <a:lnSpc>
                <a:spcPct val="100000"/>
              </a:lnSpc>
              <a:spcBef>
                <a:spcPts val="0"/>
              </a:spcBef>
              <a:spcAft>
                <a:spcPts val="1200"/>
              </a:spcAft>
            </a:pPr>
            <a:r>
              <a:rPr lang="en-GB" altLang="en-US" sz="2100" dirty="0">
                <a:latin typeface="Calibri" panose="020F0502020204030204" pitchFamily="34" charset="0"/>
                <a:cs typeface="Calibri" panose="020F0502020204030204" pitchFamily="34" charset="0"/>
              </a:rPr>
              <a:t>One form of </a:t>
            </a:r>
            <a:r>
              <a:rPr lang="en-GB" altLang="en-US" sz="2100" b="1" dirty="0">
                <a:latin typeface="Calibri" panose="020F0502020204030204" pitchFamily="34" charset="0"/>
                <a:cs typeface="Calibri" panose="020F0502020204030204" pitchFamily="34" charset="0"/>
              </a:rPr>
              <a:t>tacit collusion </a:t>
            </a:r>
            <a:r>
              <a:rPr lang="en-GB" altLang="en-US" sz="2100" dirty="0">
                <a:latin typeface="Calibri" panose="020F0502020204030204" pitchFamily="34" charset="0"/>
                <a:cs typeface="Calibri" panose="020F0502020204030204" pitchFamily="34" charset="0"/>
              </a:rPr>
              <a:t>is where firms keep to the price that is set by an established leader.</a:t>
            </a:r>
          </a:p>
          <a:p>
            <a:pPr lvl="1">
              <a:lnSpc>
                <a:spcPct val="100000"/>
              </a:lnSpc>
              <a:spcBef>
                <a:spcPts val="0"/>
              </a:spcBef>
              <a:spcAft>
                <a:spcPts val="1200"/>
              </a:spcAft>
            </a:pPr>
            <a:r>
              <a:rPr lang="en-GB" altLang="en-US" sz="2100" dirty="0">
                <a:latin typeface="Calibri" panose="020F0502020204030204" pitchFamily="34" charset="0"/>
                <a:cs typeface="Calibri" panose="020F0502020204030204" pitchFamily="34" charset="0"/>
              </a:rPr>
              <a:t>Other forms of tacit collusion – ‘rules of thumb’ that everyone follows (</a:t>
            </a:r>
            <a:r>
              <a:rPr lang="en-GB" altLang="en-US" sz="2100" b="1" dirty="0">
                <a:latin typeface="Calibri" panose="020F0502020204030204" pitchFamily="34" charset="0"/>
                <a:cs typeface="Calibri" panose="020F0502020204030204" pitchFamily="34" charset="0"/>
              </a:rPr>
              <a:t>for e.g., price benchmarks, advertising rules).</a:t>
            </a:r>
            <a:endParaRPr lang="en-GB" altLang="en-US" sz="2100" dirty="0">
              <a:latin typeface="Calibri" panose="020F0502020204030204" pitchFamily="34" charset="0"/>
              <a:cs typeface="Calibri" panose="020F0502020204030204" pitchFamily="34" charset="0"/>
            </a:endParaRPr>
          </a:p>
          <a:p>
            <a:pPr lvl="1">
              <a:lnSpc>
                <a:spcPct val="100000"/>
              </a:lnSpc>
              <a:spcBef>
                <a:spcPts val="0"/>
              </a:spcBef>
              <a:spcAft>
                <a:spcPts val="1200"/>
              </a:spcAft>
            </a:pPr>
            <a:r>
              <a:rPr lang="en-GB" altLang="en-US" sz="2100" dirty="0">
                <a:latin typeface="Calibri" panose="020F0502020204030204" pitchFamily="34" charset="0"/>
                <a:cs typeface="Calibri" panose="020F0502020204030204" pitchFamily="34" charset="0"/>
              </a:rPr>
              <a:t>Collusion between firms, whether formal or tacit, is more likely when firms can clearly identify with each other or some leader and when they trust each other not to break agreements.</a:t>
            </a:r>
            <a:endParaRPr lang="en-GB" altLang="en-US" sz="2100" b="1" dirty="0">
              <a:latin typeface="Calibri" panose="020F0502020204030204" pitchFamily="34" charset="0"/>
              <a:cs typeface="Calibri" panose="020F0502020204030204" pitchFamily="34" charset="0"/>
            </a:endParaRPr>
          </a:p>
          <a:p>
            <a:pPr lvl="1">
              <a:lnSpc>
                <a:spcPct val="100000"/>
              </a:lnSpc>
              <a:spcBef>
                <a:spcPts val="0"/>
              </a:spcBef>
              <a:spcAft>
                <a:spcPts val="1200"/>
              </a:spcAft>
            </a:pPr>
            <a:endParaRPr lang="en-GB" altLang="en-US" sz="2200" dirty="0">
              <a:latin typeface="Calibri" panose="020F0502020204030204" pitchFamily="34" charset="0"/>
              <a:cs typeface="Calibri" panose="020F0502020204030204" pitchFamily="34" charset="0"/>
            </a:endParaRPr>
          </a:p>
          <a:p>
            <a:pPr lvl="1">
              <a:lnSpc>
                <a:spcPct val="100000"/>
              </a:lnSpc>
              <a:spcBef>
                <a:spcPts val="0"/>
              </a:spcBef>
              <a:spcAft>
                <a:spcPts val="1200"/>
              </a:spcAft>
            </a:pPr>
            <a:endParaRPr lang="en-GB" alt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7039554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1">
                                            <p:txEl>
                                              <p:pRg st="0" end="0"/>
                                            </p:txEl>
                                          </p:spTgt>
                                        </p:tgtEl>
                                        <p:attrNameLst>
                                          <p:attrName>style.visibility</p:attrName>
                                        </p:attrNameLst>
                                      </p:cBhvr>
                                      <p:to>
                                        <p:strVal val="visible"/>
                                      </p:to>
                                    </p:set>
                                    <p:anim calcmode="lin" valueType="num">
                                      <p:cBhvr additive="base">
                                        <p:cTn id="7" dur="500"/>
                                        <p:tgtEl>
                                          <p:spTgt spid="4065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6531">
                                            <p:txEl>
                                              <p:pRg st="1" end="1"/>
                                            </p:txEl>
                                          </p:spTgt>
                                        </p:tgtEl>
                                        <p:attrNameLst>
                                          <p:attrName>style.visibility</p:attrName>
                                        </p:attrNameLst>
                                      </p:cBhvr>
                                      <p:to>
                                        <p:strVal val="visible"/>
                                      </p:to>
                                    </p:set>
                                    <p:anim calcmode="lin" valueType="num">
                                      <p:cBhvr additive="base">
                                        <p:cTn id="13" dur="500"/>
                                        <p:tgtEl>
                                          <p:spTgt spid="40653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653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6531">
                                            <p:txEl>
                                              <p:pRg st="2" end="2"/>
                                            </p:txEl>
                                          </p:spTgt>
                                        </p:tgtEl>
                                        <p:attrNameLst>
                                          <p:attrName>style.visibility</p:attrName>
                                        </p:attrNameLst>
                                      </p:cBhvr>
                                      <p:to>
                                        <p:strVal val="visible"/>
                                      </p:to>
                                    </p:set>
                                    <p:anim calcmode="lin" valueType="num">
                                      <p:cBhvr additive="base">
                                        <p:cTn id="19" dur="500"/>
                                        <p:tgtEl>
                                          <p:spTgt spid="40653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653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6531">
                                            <p:txEl>
                                              <p:pRg st="3" end="3"/>
                                            </p:txEl>
                                          </p:spTgt>
                                        </p:tgtEl>
                                        <p:attrNameLst>
                                          <p:attrName>style.visibility</p:attrName>
                                        </p:attrNameLst>
                                      </p:cBhvr>
                                      <p:to>
                                        <p:strVal val="visible"/>
                                      </p:to>
                                    </p:set>
                                    <p:anim calcmode="lin" valueType="num">
                                      <p:cBhvr additive="base">
                                        <p:cTn id="25" dur="500"/>
                                        <p:tgtEl>
                                          <p:spTgt spid="40653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653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6531">
                                            <p:txEl>
                                              <p:pRg st="4" end="4"/>
                                            </p:txEl>
                                          </p:spTgt>
                                        </p:tgtEl>
                                        <p:attrNameLst>
                                          <p:attrName>style.visibility</p:attrName>
                                        </p:attrNameLst>
                                      </p:cBhvr>
                                      <p:to>
                                        <p:strVal val="visible"/>
                                      </p:to>
                                    </p:set>
                                    <p:anim calcmode="lin" valueType="num">
                                      <p:cBhvr additive="base">
                                        <p:cTn id="31" dur="500"/>
                                        <p:tgtEl>
                                          <p:spTgt spid="40653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653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6531">
                                            <p:txEl>
                                              <p:pRg st="5" end="5"/>
                                            </p:txEl>
                                          </p:spTgt>
                                        </p:tgtEl>
                                        <p:attrNameLst>
                                          <p:attrName>style.visibility</p:attrName>
                                        </p:attrNameLst>
                                      </p:cBhvr>
                                      <p:to>
                                        <p:strVal val="visible"/>
                                      </p:to>
                                    </p:set>
                                    <p:anim calcmode="lin" valueType="num">
                                      <p:cBhvr additive="base">
                                        <p:cTn id="37" dur="500"/>
                                        <p:tgtEl>
                                          <p:spTgt spid="40653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653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6531">
                                            <p:txEl>
                                              <p:pRg st="6" end="6"/>
                                            </p:txEl>
                                          </p:spTgt>
                                        </p:tgtEl>
                                        <p:attrNameLst>
                                          <p:attrName>style.visibility</p:attrName>
                                        </p:attrNameLst>
                                      </p:cBhvr>
                                      <p:to>
                                        <p:strVal val="visible"/>
                                      </p:to>
                                    </p:set>
                                    <p:anim calcmode="lin" valueType="num">
                                      <p:cBhvr additive="base">
                                        <p:cTn id="43" dur="500"/>
                                        <p:tgtEl>
                                          <p:spTgt spid="40653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653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6531">
                                            <p:txEl>
                                              <p:pRg st="7" end="7"/>
                                            </p:txEl>
                                          </p:spTgt>
                                        </p:tgtEl>
                                        <p:attrNameLst>
                                          <p:attrName>style.visibility</p:attrName>
                                        </p:attrNameLst>
                                      </p:cBhvr>
                                      <p:to>
                                        <p:strVal val="visible"/>
                                      </p:to>
                                    </p:set>
                                    <p:anim calcmode="lin" valueType="num">
                                      <p:cBhvr additive="base">
                                        <p:cTn id="49" dur="500"/>
                                        <p:tgtEl>
                                          <p:spTgt spid="40653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6531">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06531">
                                            <p:txEl>
                                              <p:pRg st="8" end="8"/>
                                            </p:txEl>
                                          </p:spTgt>
                                        </p:tgtEl>
                                        <p:attrNameLst>
                                          <p:attrName>style.visibility</p:attrName>
                                        </p:attrNameLst>
                                      </p:cBhvr>
                                      <p:to>
                                        <p:strVal val="visible"/>
                                      </p:to>
                                    </p:set>
                                    <p:anim calcmode="lin" valueType="num">
                                      <p:cBhvr additive="base">
                                        <p:cTn id="55" dur="500"/>
                                        <p:tgtEl>
                                          <p:spTgt spid="406531">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065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bldLvl="2"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2F1074A2-45CB-4B03-AB30-79E844D1ED64}"/>
              </a:ext>
            </a:extLst>
          </p:cNvPr>
          <p:cNvSpPr>
            <a:spLocks noGrp="1"/>
          </p:cNvSpPr>
          <p:nvPr>
            <p:ph type="title"/>
          </p:nvPr>
        </p:nvSpPr>
        <p:spPr/>
        <p:txBody>
          <a:bodyPr/>
          <a:lstStyle/>
          <a:p>
            <a:pPr algn="l"/>
            <a:r>
              <a:rPr lang="en-GB" altLang="en-US" dirty="0"/>
              <a:t>Cartel instability</a:t>
            </a:r>
          </a:p>
        </p:txBody>
      </p:sp>
      <p:sp>
        <p:nvSpPr>
          <p:cNvPr id="406531" name="Rectangle 3">
            <a:extLst>
              <a:ext uri="{FF2B5EF4-FFF2-40B4-BE49-F238E27FC236}">
                <a16:creationId xmlns:a16="http://schemas.microsoft.com/office/drawing/2014/main" id="{FD6E296D-D684-439A-8DD4-F64508C3E5D1}"/>
              </a:ext>
            </a:extLst>
          </p:cNvPr>
          <p:cNvSpPr>
            <a:spLocks noGrp="1"/>
          </p:cNvSpPr>
          <p:nvPr>
            <p:ph idx="1"/>
          </p:nvPr>
        </p:nvSpPr>
        <p:spPr/>
        <p:txBody>
          <a:bodyPr>
            <a:normAutofit/>
          </a:bodyPr>
          <a:lstStyle/>
          <a:p>
            <a:pPr>
              <a:lnSpc>
                <a:spcPct val="80000"/>
              </a:lnSpc>
              <a:spcBef>
                <a:spcPts val="1200"/>
              </a:spcBef>
            </a:pPr>
            <a:r>
              <a:rPr lang="en-GB" altLang="en-US" dirty="0">
                <a:latin typeface="+mn-lt"/>
              </a:rPr>
              <a:t>Agreement to reduce production needs to be policed</a:t>
            </a:r>
          </a:p>
          <a:p>
            <a:pPr lvl="1">
              <a:lnSpc>
                <a:spcPct val="80000"/>
              </a:lnSpc>
              <a:spcBef>
                <a:spcPts val="1200"/>
              </a:spcBef>
            </a:pPr>
            <a:r>
              <a:rPr lang="en-GB" altLang="en-US" dirty="0">
                <a:latin typeface="+mn-lt"/>
              </a:rPr>
              <a:t>Cartel increases industry profit by reducing firms’ output</a:t>
            </a:r>
          </a:p>
          <a:p>
            <a:pPr lvl="1">
              <a:lnSpc>
                <a:spcPct val="80000"/>
              </a:lnSpc>
              <a:spcBef>
                <a:spcPts val="1200"/>
              </a:spcBef>
            </a:pPr>
            <a:r>
              <a:rPr lang="en-GB" altLang="en-US" dirty="0">
                <a:latin typeface="+mn-lt"/>
              </a:rPr>
              <a:t>Firms can exploit cartel by joining it – then ignoring output restriction</a:t>
            </a:r>
          </a:p>
          <a:p>
            <a:pPr lvl="2">
              <a:lnSpc>
                <a:spcPct val="80000"/>
              </a:lnSpc>
              <a:spcBef>
                <a:spcPts val="1200"/>
              </a:spcBef>
            </a:pPr>
            <a:r>
              <a:rPr lang="en-GB" altLang="en-US" dirty="0">
                <a:latin typeface="+mn-lt"/>
              </a:rPr>
              <a:t>If one firm does that, it makes greater profit</a:t>
            </a:r>
          </a:p>
          <a:p>
            <a:pPr lvl="2">
              <a:lnSpc>
                <a:spcPct val="80000"/>
              </a:lnSpc>
              <a:spcBef>
                <a:spcPts val="1200"/>
              </a:spcBef>
            </a:pPr>
            <a:r>
              <a:rPr lang="en-GB" altLang="en-US" dirty="0">
                <a:latin typeface="+mn-lt"/>
              </a:rPr>
              <a:t>If all firms do that, the cartel collapses, and all make smaller profits</a:t>
            </a:r>
          </a:p>
          <a:p>
            <a:pPr lvl="1">
              <a:lnSpc>
                <a:spcPct val="80000"/>
              </a:lnSpc>
              <a:spcBef>
                <a:spcPts val="1200"/>
              </a:spcBef>
            </a:pPr>
            <a:r>
              <a:rPr lang="en-GB" altLang="en-US" dirty="0">
                <a:latin typeface="+mn-lt"/>
              </a:rPr>
              <a:t>Cartels are inherently unstable</a:t>
            </a:r>
          </a:p>
          <a:p>
            <a:pPr lvl="2">
              <a:lnSpc>
                <a:spcPct val="80000"/>
              </a:lnSpc>
              <a:spcBef>
                <a:spcPts val="1200"/>
              </a:spcBef>
            </a:pPr>
            <a:r>
              <a:rPr lang="en-GB" altLang="en-US" dirty="0">
                <a:latin typeface="+mn-lt"/>
              </a:rPr>
              <a:t>In many countries, they are also unlawful – regulation prohibits their formation</a:t>
            </a:r>
          </a:p>
          <a:p>
            <a:pPr>
              <a:lnSpc>
                <a:spcPct val="80000"/>
              </a:lnSpc>
              <a:spcBef>
                <a:spcPts val="1200"/>
              </a:spcBef>
            </a:pPr>
            <a:r>
              <a:rPr lang="en-GB" altLang="en-US" dirty="0">
                <a:latin typeface="+mn-lt"/>
              </a:rPr>
              <a:t>Brief review of OPEC’s role in guiding oil production in next slide</a:t>
            </a:r>
          </a:p>
          <a:p>
            <a:pPr lvl="1">
              <a:lnSpc>
                <a:spcPct val="80000"/>
              </a:lnSpc>
              <a:spcBef>
                <a:spcPts val="1200"/>
              </a:spcBef>
            </a:pPr>
            <a:r>
              <a:rPr lang="en-GB" altLang="en-US" dirty="0">
                <a:latin typeface="+mn-lt"/>
              </a:rPr>
              <a:t>Detailed guide in Box 12.1: </a:t>
            </a:r>
            <a:r>
              <a:rPr lang="en-GB" altLang="en-US" i="1" dirty="0">
                <a:latin typeface="+mn-lt"/>
              </a:rPr>
              <a:t>OPEC</a:t>
            </a:r>
            <a:endParaRPr lang="en-GB" altLang="en-US" dirty="0">
              <a:latin typeface="+mn-lt"/>
            </a:endParaRPr>
          </a:p>
        </p:txBody>
      </p:sp>
    </p:spTree>
    <p:extLst>
      <p:ext uri="{BB962C8B-B14F-4D97-AF65-F5344CB8AC3E}">
        <p14:creationId xmlns:p14="http://schemas.microsoft.com/office/powerpoint/2010/main" val="123655733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1">
                                            <p:txEl>
                                              <p:pRg st="0" end="0"/>
                                            </p:txEl>
                                          </p:spTgt>
                                        </p:tgtEl>
                                        <p:attrNameLst>
                                          <p:attrName>style.visibility</p:attrName>
                                        </p:attrNameLst>
                                      </p:cBhvr>
                                      <p:to>
                                        <p:strVal val="visible"/>
                                      </p:to>
                                    </p:set>
                                    <p:anim calcmode="lin" valueType="num">
                                      <p:cBhvr additive="base">
                                        <p:cTn id="7" dur="500"/>
                                        <p:tgtEl>
                                          <p:spTgt spid="4065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6531">
                                            <p:txEl>
                                              <p:pRg st="1" end="1"/>
                                            </p:txEl>
                                          </p:spTgt>
                                        </p:tgtEl>
                                        <p:attrNameLst>
                                          <p:attrName>style.visibility</p:attrName>
                                        </p:attrNameLst>
                                      </p:cBhvr>
                                      <p:to>
                                        <p:strVal val="visible"/>
                                      </p:to>
                                    </p:set>
                                    <p:anim calcmode="lin" valueType="num">
                                      <p:cBhvr additive="base">
                                        <p:cTn id="13" dur="500"/>
                                        <p:tgtEl>
                                          <p:spTgt spid="40653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653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6531">
                                            <p:txEl>
                                              <p:pRg st="2" end="2"/>
                                            </p:txEl>
                                          </p:spTgt>
                                        </p:tgtEl>
                                        <p:attrNameLst>
                                          <p:attrName>style.visibility</p:attrName>
                                        </p:attrNameLst>
                                      </p:cBhvr>
                                      <p:to>
                                        <p:strVal val="visible"/>
                                      </p:to>
                                    </p:set>
                                    <p:anim calcmode="lin" valueType="num">
                                      <p:cBhvr additive="base">
                                        <p:cTn id="19" dur="500"/>
                                        <p:tgtEl>
                                          <p:spTgt spid="40653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653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6531">
                                            <p:txEl>
                                              <p:pRg st="3" end="3"/>
                                            </p:txEl>
                                          </p:spTgt>
                                        </p:tgtEl>
                                        <p:attrNameLst>
                                          <p:attrName>style.visibility</p:attrName>
                                        </p:attrNameLst>
                                      </p:cBhvr>
                                      <p:to>
                                        <p:strVal val="visible"/>
                                      </p:to>
                                    </p:set>
                                    <p:anim calcmode="lin" valueType="num">
                                      <p:cBhvr additive="base">
                                        <p:cTn id="25" dur="500"/>
                                        <p:tgtEl>
                                          <p:spTgt spid="40653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653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6531">
                                            <p:txEl>
                                              <p:pRg st="4" end="4"/>
                                            </p:txEl>
                                          </p:spTgt>
                                        </p:tgtEl>
                                        <p:attrNameLst>
                                          <p:attrName>style.visibility</p:attrName>
                                        </p:attrNameLst>
                                      </p:cBhvr>
                                      <p:to>
                                        <p:strVal val="visible"/>
                                      </p:to>
                                    </p:set>
                                    <p:anim calcmode="lin" valueType="num">
                                      <p:cBhvr additive="base">
                                        <p:cTn id="31" dur="500"/>
                                        <p:tgtEl>
                                          <p:spTgt spid="40653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653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6531">
                                            <p:txEl>
                                              <p:pRg st="5" end="5"/>
                                            </p:txEl>
                                          </p:spTgt>
                                        </p:tgtEl>
                                        <p:attrNameLst>
                                          <p:attrName>style.visibility</p:attrName>
                                        </p:attrNameLst>
                                      </p:cBhvr>
                                      <p:to>
                                        <p:strVal val="visible"/>
                                      </p:to>
                                    </p:set>
                                    <p:anim calcmode="lin" valueType="num">
                                      <p:cBhvr additive="base">
                                        <p:cTn id="37" dur="500"/>
                                        <p:tgtEl>
                                          <p:spTgt spid="40653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653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6531">
                                            <p:txEl>
                                              <p:pRg st="6" end="6"/>
                                            </p:txEl>
                                          </p:spTgt>
                                        </p:tgtEl>
                                        <p:attrNameLst>
                                          <p:attrName>style.visibility</p:attrName>
                                        </p:attrNameLst>
                                      </p:cBhvr>
                                      <p:to>
                                        <p:strVal val="visible"/>
                                      </p:to>
                                    </p:set>
                                    <p:anim calcmode="lin" valueType="num">
                                      <p:cBhvr additive="base">
                                        <p:cTn id="43" dur="500"/>
                                        <p:tgtEl>
                                          <p:spTgt spid="40653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653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6531">
                                            <p:txEl>
                                              <p:pRg st="7" end="7"/>
                                            </p:txEl>
                                          </p:spTgt>
                                        </p:tgtEl>
                                        <p:attrNameLst>
                                          <p:attrName>style.visibility</p:attrName>
                                        </p:attrNameLst>
                                      </p:cBhvr>
                                      <p:to>
                                        <p:strVal val="visible"/>
                                      </p:to>
                                    </p:set>
                                    <p:anim calcmode="lin" valueType="num">
                                      <p:cBhvr additive="base">
                                        <p:cTn id="49" dur="500"/>
                                        <p:tgtEl>
                                          <p:spTgt spid="40653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6531">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06531">
                                            <p:txEl>
                                              <p:pRg st="8" end="8"/>
                                            </p:txEl>
                                          </p:spTgt>
                                        </p:tgtEl>
                                        <p:attrNameLst>
                                          <p:attrName>style.visibility</p:attrName>
                                        </p:attrNameLst>
                                      </p:cBhvr>
                                      <p:to>
                                        <p:strVal val="visible"/>
                                      </p:to>
                                    </p:set>
                                    <p:anim calcmode="lin" valueType="num">
                                      <p:cBhvr additive="base">
                                        <p:cTn id="55" dur="500"/>
                                        <p:tgtEl>
                                          <p:spTgt spid="406531">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065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bldLvl="3"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1108" name="Rectangle 4">
            <a:extLst>
              <a:ext uri="{FF2B5EF4-FFF2-40B4-BE49-F238E27FC236}">
                <a16:creationId xmlns:a16="http://schemas.microsoft.com/office/drawing/2014/main" id="{8965B1FE-263B-4C4B-95A2-4093F15EB5F4}"/>
              </a:ext>
            </a:extLst>
          </p:cNvPr>
          <p:cNvSpPr>
            <a:spLocks noGrp="1"/>
          </p:cNvSpPr>
          <p:nvPr>
            <p:ph type="title"/>
          </p:nvPr>
        </p:nvSpPr>
        <p:spPr/>
        <p:txBody>
          <a:bodyPr/>
          <a:lstStyle/>
          <a:p>
            <a:pPr algn="l"/>
            <a:r>
              <a:rPr lang="en-GB" altLang="en-US"/>
              <a:t>When might collusion survive?</a:t>
            </a:r>
          </a:p>
        </p:txBody>
      </p:sp>
      <p:sp>
        <p:nvSpPr>
          <p:cNvPr id="431109" name="Rectangle 5">
            <a:extLst>
              <a:ext uri="{FF2B5EF4-FFF2-40B4-BE49-F238E27FC236}">
                <a16:creationId xmlns:a16="http://schemas.microsoft.com/office/drawing/2014/main" id="{694BF409-80E9-4B2B-A6FE-C2AAAE46401C}"/>
              </a:ext>
            </a:extLst>
          </p:cNvPr>
          <p:cNvSpPr>
            <a:spLocks noGrp="1"/>
          </p:cNvSpPr>
          <p:nvPr>
            <p:ph idx="1"/>
          </p:nvPr>
        </p:nvSpPr>
        <p:spPr/>
        <p:txBody>
          <a:bodyPr/>
          <a:lstStyle/>
          <a:p>
            <a:pPr>
              <a:spcBef>
                <a:spcPct val="25000"/>
              </a:spcBef>
            </a:pPr>
            <a:r>
              <a:rPr lang="en-GB" altLang="en-US" dirty="0">
                <a:latin typeface="+mn-lt"/>
              </a:rPr>
              <a:t>When there are few firms in an industry, which share all data</a:t>
            </a:r>
          </a:p>
          <a:p>
            <a:pPr lvl="1">
              <a:spcBef>
                <a:spcPct val="25000"/>
              </a:spcBef>
            </a:pPr>
            <a:r>
              <a:rPr lang="en-GB" altLang="en-US" dirty="0">
                <a:latin typeface="+mn-lt"/>
              </a:rPr>
              <a:t>No large differences in cost structures, production methods, or outputs</a:t>
            </a:r>
          </a:p>
          <a:p>
            <a:pPr lvl="2">
              <a:spcBef>
                <a:spcPct val="25000"/>
              </a:spcBef>
            </a:pPr>
            <a:r>
              <a:rPr lang="en-GB" altLang="en-US" dirty="0">
                <a:latin typeface="+mn-lt"/>
              </a:rPr>
              <a:t>Will respond in much the same way to changes in market conditions</a:t>
            </a:r>
          </a:p>
          <a:p>
            <a:pPr lvl="2">
              <a:spcBef>
                <a:spcPct val="25000"/>
              </a:spcBef>
            </a:pPr>
            <a:r>
              <a:rPr lang="en-GB" altLang="en-US" dirty="0">
                <a:latin typeface="+mn-lt"/>
              </a:rPr>
              <a:t>Weak brand identity, few differences in quality, and little market segmentation</a:t>
            </a:r>
          </a:p>
          <a:p>
            <a:pPr lvl="2">
              <a:spcBef>
                <a:spcPct val="25000"/>
              </a:spcBef>
            </a:pPr>
            <a:r>
              <a:rPr lang="en-GB" altLang="en-US" dirty="0">
                <a:latin typeface="+mn-lt"/>
              </a:rPr>
              <a:t>Willing to accept common prices for outputs</a:t>
            </a:r>
          </a:p>
          <a:p>
            <a:pPr>
              <a:spcBef>
                <a:spcPct val="25000"/>
              </a:spcBef>
            </a:pPr>
            <a:r>
              <a:rPr lang="en-GB" altLang="en-US" dirty="0">
                <a:latin typeface="+mn-lt"/>
              </a:rPr>
              <a:t>Also, where a dominant firm can discipline other firms</a:t>
            </a:r>
          </a:p>
          <a:p>
            <a:pPr lvl="1">
              <a:spcBef>
                <a:spcPct val="25000"/>
              </a:spcBef>
            </a:pPr>
            <a:r>
              <a:rPr lang="en-GB" altLang="en-US" dirty="0">
                <a:latin typeface="+mn-lt"/>
              </a:rPr>
              <a:t>Industry structure stable, with significant barriers to entry, and few changes in demand and supply conditions</a:t>
            </a:r>
          </a:p>
          <a:p>
            <a:pPr lvl="1">
              <a:spcBef>
                <a:spcPct val="25000"/>
              </a:spcBef>
            </a:pPr>
            <a:r>
              <a:rPr lang="en-GB" altLang="en-US" dirty="0">
                <a:latin typeface="+mn-lt"/>
              </a:rPr>
              <a:t>Government is tolerant of cooperation among firms </a:t>
            </a:r>
          </a:p>
          <a:p>
            <a:pPr lvl="2">
              <a:spcBef>
                <a:spcPct val="25000"/>
              </a:spcBef>
            </a:pPr>
            <a:r>
              <a:rPr lang="en-GB" altLang="en-US" dirty="0">
                <a:latin typeface="+mn-lt"/>
              </a:rPr>
              <a:t>May be seen that cooperation leads to more rapid growth</a:t>
            </a:r>
          </a:p>
        </p:txBody>
      </p:sp>
    </p:spTree>
    <p:extLst>
      <p:ext uri="{BB962C8B-B14F-4D97-AF65-F5344CB8AC3E}">
        <p14:creationId xmlns:p14="http://schemas.microsoft.com/office/powerpoint/2010/main" val="105440544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31109">
                                            <p:txEl>
                                              <p:pRg st="0" end="0"/>
                                            </p:txEl>
                                          </p:spTgt>
                                        </p:tgtEl>
                                        <p:attrNameLst>
                                          <p:attrName>style.visibility</p:attrName>
                                        </p:attrNameLst>
                                      </p:cBhvr>
                                      <p:to>
                                        <p:strVal val="visible"/>
                                      </p:to>
                                    </p:set>
                                    <p:animEffect transition="in" filter="fade">
                                      <p:cBhvr>
                                        <p:cTn id="7" dur="1000"/>
                                        <p:tgtEl>
                                          <p:spTgt spid="431109">
                                            <p:txEl>
                                              <p:pRg st="0" end="0"/>
                                            </p:txEl>
                                          </p:spTgt>
                                        </p:tgtEl>
                                      </p:cBhvr>
                                    </p:animEffect>
                                    <p:anim calcmode="lin" valueType="num">
                                      <p:cBhvr>
                                        <p:cTn id="8" dur="1000" fill="hold"/>
                                        <p:tgtEl>
                                          <p:spTgt spid="43110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3110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31109">
                                            <p:txEl>
                                              <p:pRg st="1" end="1"/>
                                            </p:txEl>
                                          </p:spTgt>
                                        </p:tgtEl>
                                        <p:attrNameLst>
                                          <p:attrName>style.visibility</p:attrName>
                                        </p:attrNameLst>
                                      </p:cBhvr>
                                      <p:to>
                                        <p:strVal val="visible"/>
                                      </p:to>
                                    </p:set>
                                    <p:animEffect transition="in" filter="fade">
                                      <p:cBhvr>
                                        <p:cTn id="12" dur="1000"/>
                                        <p:tgtEl>
                                          <p:spTgt spid="431109">
                                            <p:txEl>
                                              <p:pRg st="1" end="1"/>
                                            </p:txEl>
                                          </p:spTgt>
                                        </p:tgtEl>
                                      </p:cBhvr>
                                    </p:animEffect>
                                    <p:anim calcmode="lin" valueType="num">
                                      <p:cBhvr>
                                        <p:cTn id="13" dur="1000" fill="hold"/>
                                        <p:tgtEl>
                                          <p:spTgt spid="43110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3110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31109">
                                            <p:txEl>
                                              <p:pRg st="2" end="2"/>
                                            </p:txEl>
                                          </p:spTgt>
                                        </p:tgtEl>
                                        <p:attrNameLst>
                                          <p:attrName>style.visibility</p:attrName>
                                        </p:attrNameLst>
                                      </p:cBhvr>
                                      <p:to>
                                        <p:strVal val="visible"/>
                                      </p:to>
                                    </p:set>
                                    <p:animEffect transition="in" filter="fade">
                                      <p:cBhvr>
                                        <p:cTn id="17" dur="1000"/>
                                        <p:tgtEl>
                                          <p:spTgt spid="431109">
                                            <p:txEl>
                                              <p:pRg st="2" end="2"/>
                                            </p:txEl>
                                          </p:spTgt>
                                        </p:tgtEl>
                                      </p:cBhvr>
                                    </p:animEffect>
                                    <p:anim calcmode="lin" valueType="num">
                                      <p:cBhvr>
                                        <p:cTn id="18" dur="1000" fill="hold"/>
                                        <p:tgtEl>
                                          <p:spTgt spid="43110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3110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31109">
                                            <p:txEl>
                                              <p:pRg st="3" end="3"/>
                                            </p:txEl>
                                          </p:spTgt>
                                        </p:tgtEl>
                                        <p:attrNameLst>
                                          <p:attrName>style.visibility</p:attrName>
                                        </p:attrNameLst>
                                      </p:cBhvr>
                                      <p:to>
                                        <p:strVal val="visible"/>
                                      </p:to>
                                    </p:set>
                                    <p:animEffect transition="in" filter="fade">
                                      <p:cBhvr>
                                        <p:cTn id="22" dur="1000"/>
                                        <p:tgtEl>
                                          <p:spTgt spid="431109">
                                            <p:txEl>
                                              <p:pRg st="3" end="3"/>
                                            </p:txEl>
                                          </p:spTgt>
                                        </p:tgtEl>
                                      </p:cBhvr>
                                    </p:animEffect>
                                    <p:anim calcmode="lin" valueType="num">
                                      <p:cBhvr>
                                        <p:cTn id="23" dur="1000" fill="hold"/>
                                        <p:tgtEl>
                                          <p:spTgt spid="431109">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31109">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31109">
                                            <p:txEl>
                                              <p:pRg st="4" end="4"/>
                                            </p:txEl>
                                          </p:spTgt>
                                        </p:tgtEl>
                                        <p:attrNameLst>
                                          <p:attrName>style.visibility</p:attrName>
                                        </p:attrNameLst>
                                      </p:cBhvr>
                                      <p:to>
                                        <p:strVal val="visible"/>
                                      </p:to>
                                    </p:set>
                                    <p:animEffect transition="in" filter="fade">
                                      <p:cBhvr>
                                        <p:cTn id="27" dur="1000"/>
                                        <p:tgtEl>
                                          <p:spTgt spid="431109">
                                            <p:txEl>
                                              <p:pRg st="4" end="4"/>
                                            </p:txEl>
                                          </p:spTgt>
                                        </p:tgtEl>
                                      </p:cBhvr>
                                    </p:animEffect>
                                    <p:anim calcmode="lin" valueType="num">
                                      <p:cBhvr>
                                        <p:cTn id="28" dur="1000" fill="hold"/>
                                        <p:tgtEl>
                                          <p:spTgt spid="431109">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3110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31109">
                                            <p:txEl>
                                              <p:pRg st="5" end="5"/>
                                            </p:txEl>
                                          </p:spTgt>
                                        </p:tgtEl>
                                        <p:attrNameLst>
                                          <p:attrName>style.visibility</p:attrName>
                                        </p:attrNameLst>
                                      </p:cBhvr>
                                      <p:to>
                                        <p:strVal val="visible"/>
                                      </p:to>
                                    </p:set>
                                    <p:animEffect transition="in" filter="fade">
                                      <p:cBhvr>
                                        <p:cTn id="34" dur="1000"/>
                                        <p:tgtEl>
                                          <p:spTgt spid="431109">
                                            <p:txEl>
                                              <p:pRg st="5" end="5"/>
                                            </p:txEl>
                                          </p:spTgt>
                                        </p:tgtEl>
                                      </p:cBhvr>
                                    </p:animEffect>
                                    <p:anim calcmode="lin" valueType="num">
                                      <p:cBhvr>
                                        <p:cTn id="35" dur="1000" fill="hold"/>
                                        <p:tgtEl>
                                          <p:spTgt spid="43110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31109">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31109">
                                            <p:txEl>
                                              <p:pRg st="6" end="6"/>
                                            </p:txEl>
                                          </p:spTgt>
                                        </p:tgtEl>
                                        <p:attrNameLst>
                                          <p:attrName>style.visibility</p:attrName>
                                        </p:attrNameLst>
                                      </p:cBhvr>
                                      <p:to>
                                        <p:strVal val="visible"/>
                                      </p:to>
                                    </p:set>
                                    <p:animEffect transition="in" filter="fade">
                                      <p:cBhvr>
                                        <p:cTn id="39" dur="1000"/>
                                        <p:tgtEl>
                                          <p:spTgt spid="431109">
                                            <p:txEl>
                                              <p:pRg st="6" end="6"/>
                                            </p:txEl>
                                          </p:spTgt>
                                        </p:tgtEl>
                                      </p:cBhvr>
                                    </p:animEffect>
                                    <p:anim calcmode="lin" valueType="num">
                                      <p:cBhvr>
                                        <p:cTn id="40" dur="1000" fill="hold"/>
                                        <p:tgtEl>
                                          <p:spTgt spid="431109">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31109">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31109">
                                            <p:txEl>
                                              <p:pRg st="7" end="7"/>
                                            </p:txEl>
                                          </p:spTgt>
                                        </p:tgtEl>
                                        <p:attrNameLst>
                                          <p:attrName>style.visibility</p:attrName>
                                        </p:attrNameLst>
                                      </p:cBhvr>
                                      <p:to>
                                        <p:strVal val="visible"/>
                                      </p:to>
                                    </p:set>
                                    <p:animEffect transition="in" filter="fade">
                                      <p:cBhvr>
                                        <p:cTn id="44" dur="1000"/>
                                        <p:tgtEl>
                                          <p:spTgt spid="431109">
                                            <p:txEl>
                                              <p:pRg st="7" end="7"/>
                                            </p:txEl>
                                          </p:spTgt>
                                        </p:tgtEl>
                                      </p:cBhvr>
                                    </p:animEffect>
                                    <p:anim calcmode="lin" valueType="num">
                                      <p:cBhvr>
                                        <p:cTn id="45" dur="1000" fill="hold"/>
                                        <p:tgtEl>
                                          <p:spTgt spid="431109">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31109">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31109">
                                            <p:txEl>
                                              <p:pRg st="8" end="8"/>
                                            </p:txEl>
                                          </p:spTgt>
                                        </p:tgtEl>
                                        <p:attrNameLst>
                                          <p:attrName>style.visibility</p:attrName>
                                        </p:attrNameLst>
                                      </p:cBhvr>
                                      <p:to>
                                        <p:strVal val="visible"/>
                                      </p:to>
                                    </p:set>
                                    <p:animEffect transition="in" filter="fade">
                                      <p:cBhvr>
                                        <p:cTn id="49" dur="1000"/>
                                        <p:tgtEl>
                                          <p:spTgt spid="431109">
                                            <p:txEl>
                                              <p:pRg st="8" end="8"/>
                                            </p:txEl>
                                          </p:spTgt>
                                        </p:tgtEl>
                                      </p:cBhvr>
                                    </p:animEffect>
                                    <p:anim calcmode="lin" valueType="num">
                                      <p:cBhvr>
                                        <p:cTn id="50" dur="1000" fill="hold"/>
                                        <p:tgtEl>
                                          <p:spTgt spid="431109">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31109">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2C1DD973-F7B6-4D02-9DEB-75A2393090C7}"/>
              </a:ext>
            </a:extLst>
          </p:cNvPr>
          <p:cNvSpPr>
            <a:spLocks noGrp="1"/>
          </p:cNvSpPr>
          <p:nvPr>
            <p:ph type="title"/>
          </p:nvPr>
        </p:nvSpPr>
        <p:spPr/>
        <p:txBody>
          <a:bodyPr/>
          <a:lstStyle/>
          <a:p>
            <a:pPr algn="l"/>
            <a:r>
              <a:rPr lang="en-GB" altLang="en-US" dirty="0"/>
              <a:t>Why collusion breaks down</a:t>
            </a:r>
          </a:p>
        </p:txBody>
      </p:sp>
      <p:sp>
        <p:nvSpPr>
          <p:cNvPr id="410627" name="Rectangle 3">
            <a:extLst>
              <a:ext uri="{FF2B5EF4-FFF2-40B4-BE49-F238E27FC236}">
                <a16:creationId xmlns:a16="http://schemas.microsoft.com/office/drawing/2014/main" id="{3A309A26-E12F-46A5-B9B7-195942834D48}"/>
              </a:ext>
            </a:extLst>
          </p:cNvPr>
          <p:cNvSpPr>
            <a:spLocks noGrp="1"/>
          </p:cNvSpPr>
          <p:nvPr>
            <p:ph idx="1"/>
          </p:nvPr>
        </p:nvSpPr>
        <p:spPr/>
        <p:txBody>
          <a:bodyPr/>
          <a:lstStyle/>
          <a:p>
            <a:pPr defTabSz="762000">
              <a:spcBef>
                <a:spcPts val="648"/>
              </a:spcBef>
            </a:pPr>
            <a:r>
              <a:rPr lang="en-GB" altLang="en-US" sz="2800" dirty="0">
                <a:latin typeface="+mn-lt"/>
              </a:rPr>
              <a:t>Firms always have an incentive to cheat</a:t>
            </a:r>
          </a:p>
          <a:p>
            <a:pPr lvl="1" defTabSz="762000">
              <a:spcBef>
                <a:spcPts val="648"/>
              </a:spcBef>
            </a:pPr>
            <a:r>
              <a:rPr lang="en-GB" altLang="en-US" sz="2400" dirty="0">
                <a:latin typeface="+mn-lt"/>
              </a:rPr>
              <a:t>So agreements are likely to build in punishments for breaking them</a:t>
            </a:r>
          </a:p>
          <a:p>
            <a:pPr lvl="1" defTabSz="762000">
              <a:spcBef>
                <a:spcPts val="648"/>
              </a:spcBef>
            </a:pPr>
            <a:r>
              <a:rPr lang="en-GB" altLang="en-US" sz="2400" dirty="0">
                <a:latin typeface="+mn-lt"/>
              </a:rPr>
              <a:t>Competitors have to be able to spot cheating</a:t>
            </a:r>
          </a:p>
          <a:p>
            <a:pPr lvl="2" defTabSz="762000">
              <a:spcBef>
                <a:spcPts val="648"/>
              </a:spcBef>
            </a:pPr>
            <a:r>
              <a:rPr lang="en-GB" altLang="en-US" sz="2200" dirty="0">
                <a:latin typeface="+mn-lt"/>
              </a:rPr>
              <a:t>How easy is it to measure the quantity of output being shipped from a plant</a:t>
            </a:r>
          </a:p>
          <a:p>
            <a:pPr lvl="2" defTabSz="762000">
              <a:spcBef>
                <a:spcPts val="648"/>
              </a:spcBef>
            </a:pPr>
            <a:r>
              <a:rPr lang="en-GB" altLang="en-US" sz="2200" dirty="0">
                <a:latin typeface="+mn-lt"/>
              </a:rPr>
              <a:t>Requires substantial information</a:t>
            </a:r>
          </a:p>
          <a:p>
            <a:pPr lvl="1" defTabSz="762000">
              <a:spcBef>
                <a:spcPts val="648"/>
              </a:spcBef>
            </a:pPr>
            <a:r>
              <a:rPr lang="en-GB" altLang="en-US" sz="2400" dirty="0">
                <a:latin typeface="+mn-lt"/>
              </a:rPr>
              <a:t>Will competitors impose punishments?</a:t>
            </a:r>
          </a:p>
          <a:p>
            <a:pPr lvl="2" defTabSz="762000">
              <a:spcBef>
                <a:spcPts val="648"/>
              </a:spcBef>
            </a:pPr>
            <a:r>
              <a:rPr lang="en-GB" altLang="en-US" sz="2200" dirty="0">
                <a:latin typeface="+mn-lt"/>
              </a:rPr>
              <a:t>Ideally should involve flooding market, pushing prices down, imposing large costs on cheat</a:t>
            </a:r>
          </a:p>
          <a:p>
            <a:pPr lvl="2" defTabSz="762000">
              <a:spcBef>
                <a:spcPts val="648"/>
              </a:spcBef>
            </a:pPr>
            <a:r>
              <a:rPr lang="en-GB" altLang="en-US" sz="2200" dirty="0">
                <a:latin typeface="+mn-lt"/>
              </a:rPr>
              <a:t>But would competitors win the price war?</a:t>
            </a:r>
          </a:p>
          <a:p>
            <a:pPr lvl="2" defTabSz="762000">
              <a:spcBef>
                <a:spcPts val="648"/>
              </a:spcBef>
            </a:pPr>
            <a:endParaRPr lang="en-GB" altLang="en-US" dirty="0"/>
          </a:p>
        </p:txBody>
      </p:sp>
    </p:spTree>
    <p:extLst>
      <p:ext uri="{BB962C8B-B14F-4D97-AF65-F5344CB8AC3E}">
        <p14:creationId xmlns:p14="http://schemas.microsoft.com/office/powerpoint/2010/main" val="163197476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410627">
                                            <p:txEl>
                                              <p:pRg st="0" end="0"/>
                                            </p:txEl>
                                          </p:spTgt>
                                        </p:tgtEl>
                                        <p:attrNameLst>
                                          <p:attrName>style.visibility</p:attrName>
                                        </p:attrNameLst>
                                      </p:cBhvr>
                                      <p:to>
                                        <p:strVal val="visible"/>
                                      </p:to>
                                    </p:set>
                                    <p:anim calcmode="lin" valueType="num">
                                      <p:cBhvr additive="base">
                                        <p:cTn id="7" dur="1000"/>
                                        <p:tgtEl>
                                          <p:spTgt spid="410627">
                                            <p:txEl>
                                              <p:pRg st="0" end="0"/>
                                            </p:txEl>
                                          </p:spTgt>
                                        </p:tgtEl>
                                        <p:attrNameLst>
                                          <p:attrName>ppt_y</p:attrName>
                                        </p:attrNameLst>
                                      </p:cBhvr>
                                      <p:tavLst>
                                        <p:tav tm="0">
                                          <p:val>
                                            <p:strVal val="#ppt_y+#ppt_h*1.125000"/>
                                          </p:val>
                                        </p:tav>
                                        <p:tav tm="100000">
                                          <p:val>
                                            <p:strVal val="#ppt_y"/>
                                          </p:val>
                                        </p:tav>
                                      </p:tavLst>
                                    </p:anim>
                                    <p:animEffect transition="in" filter="wipe(up)">
                                      <p:cBhvr>
                                        <p:cTn id="8" dur="1000"/>
                                        <p:tgtEl>
                                          <p:spTgt spid="410627">
                                            <p:txEl>
                                              <p:pRg st="0" end="0"/>
                                            </p:txEl>
                                          </p:spTgt>
                                        </p:tgtEl>
                                      </p:cBhvr>
                                    </p:animEffect>
                                  </p:childTnLst>
                                </p:cTn>
                              </p:par>
                            </p:childTnLst>
                          </p:cTn>
                        </p:par>
                        <p:par>
                          <p:cTn id="9" fill="hold">
                            <p:stCondLst>
                              <p:cond delay="1500"/>
                            </p:stCondLst>
                            <p:childTnLst>
                              <p:par>
                                <p:cTn id="10" presetID="12" presetClass="entr" presetSubtype="4" fill="hold" grpId="0" nodeType="afterEffect">
                                  <p:stCondLst>
                                    <p:cond delay="500"/>
                                  </p:stCondLst>
                                  <p:childTnLst>
                                    <p:set>
                                      <p:cBhvr>
                                        <p:cTn id="11" dur="1" fill="hold">
                                          <p:stCondLst>
                                            <p:cond delay="0"/>
                                          </p:stCondLst>
                                        </p:cTn>
                                        <p:tgtEl>
                                          <p:spTgt spid="410627">
                                            <p:txEl>
                                              <p:pRg st="1" end="1"/>
                                            </p:txEl>
                                          </p:spTgt>
                                        </p:tgtEl>
                                        <p:attrNameLst>
                                          <p:attrName>style.visibility</p:attrName>
                                        </p:attrNameLst>
                                      </p:cBhvr>
                                      <p:to>
                                        <p:strVal val="visible"/>
                                      </p:to>
                                    </p:set>
                                    <p:anim calcmode="lin" valueType="num">
                                      <p:cBhvr additive="base">
                                        <p:cTn id="12" dur="1000"/>
                                        <p:tgtEl>
                                          <p:spTgt spid="410627">
                                            <p:txEl>
                                              <p:pRg st="1" end="1"/>
                                            </p:txEl>
                                          </p:spTgt>
                                        </p:tgtEl>
                                        <p:attrNameLst>
                                          <p:attrName>ppt_y</p:attrName>
                                        </p:attrNameLst>
                                      </p:cBhvr>
                                      <p:tavLst>
                                        <p:tav tm="0">
                                          <p:val>
                                            <p:strVal val="#ppt_y+#ppt_h*1.125000"/>
                                          </p:val>
                                        </p:tav>
                                        <p:tav tm="100000">
                                          <p:val>
                                            <p:strVal val="#ppt_y"/>
                                          </p:val>
                                        </p:tav>
                                      </p:tavLst>
                                    </p:anim>
                                    <p:animEffect transition="in" filter="wipe(up)">
                                      <p:cBhvr>
                                        <p:cTn id="13" dur="1000"/>
                                        <p:tgtEl>
                                          <p:spTgt spid="410627">
                                            <p:txEl>
                                              <p:pRg st="1" end="1"/>
                                            </p:txEl>
                                          </p:spTgt>
                                        </p:tgtEl>
                                      </p:cBhvr>
                                    </p:animEffect>
                                  </p:childTnLst>
                                </p:cTn>
                              </p:par>
                            </p:childTnLst>
                          </p:cTn>
                        </p:par>
                        <p:par>
                          <p:cTn id="14" fill="hold">
                            <p:stCondLst>
                              <p:cond delay="3000"/>
                            </p:stCondLst>
                            <p:childTnLst>
                              <p:par>
                                <p:cTn id="15" presetID="12" presetClass="entr" presetSubtype="4" fill="hold" grpId="0" nodeType="afterEffect">
                                  <p:stCondLst>
                                    <p:cond delay="500"/>
                                  </p:stCondLst>
                                  <p:childTnLst>
                                    <p:set>
                                      <p:cBhvr>
                                        <p:cTn id="16" dur="1" fill="hold">
                                          <p:stCondLst>
                                            <p:cond delay="0"/>
                                          </p:stCondLst>
                                        </p:cTn>
                                        <p:tgtEl>
                                          <p:spTgt spid="410627">
                                            <p:txEl>
                                              <p:pRg st="2" end="2"/>
                                            </p:txEl>
                                          </p:spTgt>
                                        </p:tgtEl>
                                        <p:attrNameLst>
                                          <p:attrName>style.visibility</p:attrName>
                                        </p:attrNameLst>
                                      </p:cBhvr>
                                      <p:to>
                                        <p:strVal val="visible"/>
                                      </p:to>
                                    </p:set>
                                    <p:anim calcmode="lin" valueType="num">
                                      <p:cBhvr additive="base">
                                        <p:cTn id="17" dur="1000"/>
                                        <p:tgtEl>
                                          <p:spTgt spid="410627">
                                            <p:txEl>
                                              <p:pRg st="2" end="2"/>
                                            </p:txEl>
                                          </p:spTgt>
                                        </p:tgtEl>
                                        <p:attrNameLst>
                                          <p:attrName>ppt_y</p:attrName>
                                        </p:attrNameLst>
                                      </p:cBhvr>
                                      <p:tavLst>
                                        <p:tav tm="0">
                                          <p:val>
                                            <p:strVal val="#ppt_y+#ppt_h*1.125000"/>
                                          </p:val>
                                        </p:tav>
                                        <p:tav tm="100000">
                                          <p:val>
                                            <p:strVal val="#ppt_y"/>
                                          </p:val>
                                        </p:tav>
                                      </p:tavLst>
                                    </p:anim>
                                    <p:animEffect transition="in" filter="wipe(up)">
                                      <p:cBhvr>
                                        <p:cTn id="18" dur="1000"/>
                                        <p:tgtEl>
                                          <p:spTgt spid="410627">
                                            <p:txEl>
                                              <p:pRg st="2" end="2"/>
                                            </p:txEl>
                                          </p:spTgt>
                                        </p:tgtEl>
                                      </p:cBhvr>
                                    </p:animEffect>
                                  </p:childTnLst>
                                </p:cTn>
                              </p:par>
                              <p:par>
                                <p:cTn id="19" presetID="12" presetClass="entr" presetSubtype="4" fill="hold" grpId="0" nodeType="withEffect">
                                  <p:stCondLst>
                                    <p:cond delay="500"/>
                                  </p:stCondLst>
                                  <p:childTnLst>
                                    <p:set>
                                      <p:cBhvr>
                                        <p:cTn id="20" dur="1" fill="hold">
                                          <p:stCondLst>
                                            <p:cond delay="0"/>
                                          </p:stCondLst>
                                        </p:cTn>
                                        <p:tgtEl>
                                          <p:spTgt spid="410627">
                                            <p:txEl>
                                              <p:pRg st="3" end="3"/>
                                            </p:txEl>
                                          </p:spTgt>
                                        </p:tgtEl>
                                        <p:attrNameLst>
                                          <p:attrName>style.visibility</p:attrName>
                                        </p:attrNameLst>
                                      </p:cBhvr>
                                      <p:to>
                                        <p:strVal val="visible"/>
                                      </p:to>
                                    </p:set>
                                    <p:anim calcmode="lin" valueType="num">
                                      <p:cBhvr additive="base">
                                        <p:cTn id="21" dur="1000"/>
                                        <p:tgtEl>
                                          <p:spTgt spid="410627">
                                            <p:txEl>
                                              <p:pRg st="3" end="3"/>
                                            </p:txEl>
                                          </p:spTgt>
                                        </p:tgtEl>
                                        <p:attrNameLst>
                                          <p:attrName>ppt_y</p:attrName>
                                        </p:attrNameLst>
                                      </p:cBhvr>
                                      <p:tavLst>
                                        <p:tav tm="0">
                                          <p:val>
                                            <p:strVal val="#ppt_y+#ppt_h*1.125000"/>
                                          </p:val>
                                        </p:tav>
                                        <p:tav tm="100000">
                                          <p:val>
                                            <p:strVal val="#ppt_y"/>
                                          </p:val>
                                        </p:tav>
                                      </p:tavLst>
                                    </p:anim>
                                    <p:animEffect transition="in" filter="wipe(up)">
                                      <p:cBhvr>
                                        <p:cTn id="22" dur="1000"/>
                                        <p:tgtEl>
                                          <p:spTgt spid="410627">
                                            <p:txEl>
                                              <p:pRg st="3" end="3"/>
                                            </p:txEl>
                                          </p:spTgt>
                                        </p:tgtEl>
                                      </p:cBhvr>
                                    </p:animEffect>
                                  </p:childTnLst>
                                </p:cTn>
                              </p:par>
                              <p:par>
                                <p:cTn id="23" presetID="12" presetClass="entr" presetSubtype="4" fill="hold" grpId="0" nodeType="withEffect">
                                  <p:stCondLst>
                                    <p:cond delay="500"/>
                                  </p:stCondLst>
                                  <p:childTnLst>
                                    <p:set>
                                      <p:cBhvr>
                                        <p:cTn id="24" dur="1" fill="hold">
                                          <p:stCondLst>
                                            <p:cond delay="0"/>
                                          </p:stCondLst>
                                        </p:cTn>
                                        <p:tgtEl>
                                          <p:spTgt spid="410627">
                                            <p:txEl>
                                              <p:pRg st="4" end="4"/>
                                            </p:txEl>
                                          </p:spTgt>
                                        </p:tgtEl>
                                        <p:attrNameLst>
                                          <p:attrName>style.visibility</p:attrName>
                                        </p:attrNameLst>
                                      </p:cBhvr>
                                      <p:to>
                                        <p:strVal val="visible"/>
                                      </p:to>
                                    </p:set>
                                    <p:anim calcmode="lin" valueType="num">
                                      <p:cBhvr additive="base">
                                        <p:cTn id="25" dur="1000"/>
                                        <p:tgtEl>
                                          <p:spTgt spid="410627">
                                            <p:txEl>
                                              <p:pRg st="4" end="4"/>
                                            </p:txEl>
                                          </p:spTgt>
                                        </p:tgtEl>
                                        <p:attrNameLst>
                                          <p:attrName>ppt_y</p:attrName>
                                        </p:attrNameLst>
                                      </p:cBhvr>
                                      <p:tavLst>
                                        <p:tav tm="0">
                                          <p:val>
                                            <p:strVal val="#ppt_y+#ppt_h*1.125000"/>
                                          </p:val>
                                        </p:tav>
                                        <p:tav tm="100000">
                                          <p:val>
                                            <p:strVal val="#ppt_y"/>
                                          </p:val>
                                        </p:tav>
                                      </p:tavLst>
                                    </p:anim>
                                    <p:animEffect transition="in" filter="wipe(up)">
                                      <p:cBhvr>
                                        <p:cTn id="26" dur="1000"/>
                                        <p:tgtEl>
                                          <p:spTgt spid="410627">
                                            <p:txEl>
                                              <p:pRg st="4" end="4"/>
                                            </p:txEl>
                                          </p:spTgt>
                                        </p:tgtEl>
                                      </p:cBhvr>
                                    </p:animEffect>
                                  </p:childTnLst>
                                </p:cTn>
                              </p:par>
                            </p:childTnLst>
                          </p:cTn>
                        </p:par>
                        <p:par>
                          <p:cTn id="27" fill="hold" nodeType="withGroup">
                            <p:stCondLst>
                              <p:cond delay="4500"/>
                            </p:stCondLst>
                            <p:childTnLst>
                              <p:par>
                                <p:cTn id="28" presetID="12" presetClass="entr" presetSubtype="4" fill="hold" grpId="0" nodeType="afterEffect">
                                  <p:stCondLst>
                                    <p:cond delay="3000"/>
                                  </p:stCondLst>
                                  <p:childTnLst>
                                    <p:set>
                                      <p:cBhvr>
                                        <p:cTn id="29" dur="1" fill="hold">
                                          <p:stCondLst>
                                            <p:cond delay="0"/>
                                          </p:stCondLst>
                                        </p:cTn>
                                        <p:tgtEl>
                                          <p:spTgt spid="410627">
                                            <p:txEl>
                                              <p:pRg st="5" end="5"/>
                                            </p:txEl>
                                          </p:spTgt>
                                        </p:tgtEl>
                                        <p:attrNameLst>
                                          <p:attrName>style.visibility</p:attrName>
                                        </p:attrNameLst>
                                      </p:cBhvr>
                                      <p:to>
                                        <p:strVal val="visible"/>
                                      </p:to>
                                    </p:set>
                                    <p:anim calcmode="lin" valueType="num">
                                      <p:cBhvr additive="base">
                                        <p:cTn id="30" dur="1000"/>
                                        <p:tgtEl>
                                          <p:spTgt spid="410627">
                                            <p:txEl>
                                              <p:pRg st="5" end="5"/>
                                            </p:txEl>
                                          </p:spTgt>
                                        </p:tgtEl>
                                        <p:attrNameLst>
                                          <p:attrName>ppt_y</p:attrName>
                                        </p:attrNameLst>
                                      </p:cBhvr>
                                      <p:tavLst>
                                        <p:tav tm="0">
                                          <p:val>
                                            <p:strVal val="#ppt_y+#ppt_h*1.125000"/>
                                          </p:val>
                                        </p:tav>
                                        <p:tav tm="100000">
                                          <p:val>
                                            <p:strVal val="#ppt_y"/>
                                          </p:val>
                                        </p:tav>
                                      </p:tavLst>
                                    </p:anim>
                                    <p:animEffect transition="in" filter="wipe(up)">
                                      <p:cBhvr>
                                        <p:cTn id="31" dur="1000"/>
                                        <p:tgtEl>
                                          <p:spTgt spid="410627">
                                            <p:txEl>
                                              <p:pRg st="5" end="5"/>
                                            </p:txEl>
                                          </p:spTgt>
                                        </p:tgtEl>
                                      </p:cBhvr>
                                    </p:animEffect>
                                  </p:childTnLst>
                                </p:cTn>
                              </p:par>
                              <p:par>
                                <p:cTn id="32" presetID="12" presetClass="entr" presetSubtype="4" fill="hold" grpId="0" nodeType="withEffect">
                                  <p:stCondLst>
                                    <p:cond delay="3000"/>
                                  </p:stCondLst>
                                  <p:childTnLst>
                                    <p:set>
                                      <p:cBhvr>
                                        <p:cTn id="33" dur="1" fill="hold">
                                          <p:stCondLst>
                                            <p:cond delay="0"/>
                                          </p:stCondLst>
                                        </p:cTn>
                                        <p:tgtEl>
                                          <p:spTgt spid="410627">
                                            <p:txEl>
                                              <p:pRg st="6" end="6"/>
                                            </p:txEl>
                                          </p:spTgt>
                                        </p:tgtEl>
                                        <p:attrNameLst>
                                          <p:attrName>style.visibility</p:attrName>
                                        </p:attrNameLst>
                                      </p:cBhvr>
                                      <p:to>
                                        <p:strVal val="visible"/>
                                      </p:to>
                                    </p:set>
                                    <p:anim calcmode="lin" valueType="num">
                                      <p:cBhvr additive="base">
                                        <p:cTn id="34" dur="1000"/>
                                        <p:tgtEl>
                                          <p:spTgt spid="410627">
                                            <p:txEl>
                                              <p:pRg st="6" end="6"/>
                                            </p:txEl>
                                          </p:spTgt>
                                        </p:tgtEl>
                                        <p:attrNameLst>
                                          <p:attrName>ppt_y</p:attrName>
                                        </p:attrNameLst>
                                      </p:cBhvr>
                                      <p:tavLst>
                                        <p:tav tm="0">
                                          <p:val>
                                            <p:strVal val="#ppt_y+#ppt_h*1.125000"/>
                                          </p:val>
                                        </p:tav>
                                        <p:tav tm="100000">
                                          <p:val>
                                            <p:strVal val="#ppt_y"/>
                                          </p:val>
                                        </p:tav>
                                      </p:tavLst>
                                    </p:anim>
                                    <p:animEffect transition="in" filter="wipe(up)">
                                      <p:cBhvr>
                                        <p:cTn id="35" dur="1000"/>
                                        <p:tgtEl>
                                          <p:spTgt spid="410627">
                                            <p:txEl>
                                              <p:pRg st="6" end="6"/>
                                            </p:txEl>
                                          </p:spTgt>
                                        </p:tgtEl>
                                      </p:cBhvr>
                                    </p:animEffect>
                                  </p:childTnLst>
                                </p:cTn>
                              </p:par>
                              <p:par>
                                <p:cTn id="36" presetID="12" presetClass="entr" presetSubtype="4" fill="hold" grpId="0" nodeType="withEffect">
                                  <p:stCondLst>
                                    <p:cond delay="3000"/>
                                  </p:stCondLst>
                                  <p:childTnLst>
                                    <p:set>
                                      <p:cBhvr>
                                        <p:cTn id="37" dur="1" fill="hold">
                                          <p:stCondLst>
                                            <p:cond delay="0"/>
                                          </p:stCondLst>
                                        </p:cTn>
                                        <p:tgtEl>
                                          <p:spTgt spid="410627">
                                            <p:txEl>
                                              <p:pRg st="7" end="7"/>
                                            </p:txEl>
                                          </p:spTgt>
                                        </p:tgtEl>
                                        <p:attrNameLst>
                                          <p:attrName>style.visibility</p:attrName>
                                        </p:attrNameLst>
                                      </p:cBhvr>
                                      <p:to>
                                        <p:strVal val="visible"/>
                                      </p:to>
                                    </p:set>
                                    <p:anim calcmode="lin" valueType="num">
                                      <p:cBhvr additive="base">
                                        <p:cTn id="38" dur="1000"/>
                                        <p:tgtEl>
                                          <p:spTgt spid="410627">
                                            <p:txEl>
                                              <p:pRg st="7" end="7"/>
                                            </p:txEl>
                                          </p:spTgt>
                                        </p:tgtEl>
                                        <p:attrNameLst>
                                          <p:attrName>ppt_y</p:attrName>
                                        </p:attrNameLst>
                                      </p:cBhvr>
                                      <p:tavLst>
                                        <p:tav tm="0">
                                          <p:val>
                                            <p:strVal val="#ppt_y+#ppt_h*1.125000"/>
                                          </p:val>
                                        </p:tav>
                                        <p:tav tm="100000">
                                          <p:val>
                                            <p:strVal val="#ppt_y"/>
                                          </p:val>
                                        </p:tav>
                                      </p:tavLst>
                                    </p:anim>
                                    <p:animEffect transition="in" filter="wipe(up)">
                                      <p:cBhvr>
                                        <p:cTn id="39" dur="1000"/>
                                        <p:tgtEl>
                                          <p:spTgt spid="410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7" grpId="0" uiExpand="1" build="p" bldLvl="2"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6" name="Rectangle 4">
            <a:extLst>
              <a:ext uri="{FF2B5EF4-FFF2-40B4-BE49-F238E27FC236}">
                <a16:creationId xmlns:a16="http://schemas.microsoft.com/office/drawing/2014/main" id="{88DE8B79-DA04-4AAB-A3B5-D863CA5037BD}"/>
              </a:ext>
            </a:extLst>
          </p:cNvPr>
          <p:cNvSpPr>
            <a:spLocks noGrp="1"/>
          </p:cNvSpPr>
          <p:nvPr>
            <p:ph type="title"/>
          </p:nvPr>
        </p:nvSpPr>
        <p:spPr>
          <a:xfrm>
            <a:off x="588296" y="365126"/>
            <a:ext cx="10515600" cy="908198"/>
          </a:xfrm>
        </p:spPr>
        <p:txBody>
          <a:bodyPr/>
          <a:lstStyle/>
          <a:p>
            <a:r>
              <a:rPr lang="en-GB" altLang="en-US" dirty="0"/>
              <a:t>Oligopoly</a:t>
            </a:r>
          </a:p>
        </p:txBody>
      </p:sp>
      <p:sp>
        <p:nvSpPr>
          <p:cNvPr id="412677" name="Rectangle 5">
            <a:extLst>
              <a:ext uri="{FF2B5EF4-FFF2-40B4-BE49-F238E27FC236}">
                <a16:creationId xmlns:a16="http://schemas.microsoft.com/office/drawing/2014/main" id="{95BDFE04-6085-4A8C-85EF-B22AD4A4348C}"/>
              </a:ext>
            </a:extLst>
          </p:cNvPr>
          <p:cNvSpPr>
            <a:spLocks noGrp="1"/>
          </p:cNvSpPr>
          <p:nvPr>
            <p:ph idx="1"/>
          </p:nvPr>
        </p:nvSpPr>
        <p:spPr>
          <a:xfrm>
            <a:off x="402167" y="1637792"/>
            <a:ext cx="11379200" cy="4775708"/>
          </a:xfrm>
        </p:spPr>
        <p:txBody>
          <a:bodyPr/>
          <a:lstStyle/>
          <a:p>
            <a:pPr>
              <a:spcBef>
                <a:spcPts val="1600"/>
              </a:spcBef>
            </a:pPr>
            <a:r>
              <a:rPr lang="en-GB" altLang="en-US" sz="2800" b="1" dirty="0">
                <a:latin typeface="Calibri" panose="020F0502020204030204" pitchFamily="34" charset="0"/>
                <a:cs typeface="Calibri" panose="020F0502020204030204" pitchFamily="34" charset="0"/>
              </a:rPr>
              <a:t>Non-collusive oligopoly</a:t>
            </a:r>
            <a:r>
              <a:rPr lang="en-GB" altLang="en-US" sz="2800" dirty="0">
                <a:latin typeface="Calibri" panose="020F0502020204030204" pitchFamily="34" charset="0"/>
                <a:cs typeface="Calibri" panose="020F0502020204030204" pitchFamily="34" charset="0"/>
              </a:rPr>
              <a:t>:</a:t>
            </a:r>
          </a:p>
          <a:p>
            <a:pPr lvl="1">
              <a:spcBef>
                <a:spcPts val="1600"/>
              </a:spcBef>
            </a:pPr>
            <a:r>
              <a:rPr lang="en-GB" altLang="en-US" sz="2400" dirty="0">
                <a:latin typeface="Calibri" panose="020F0502020204030204" pitchFamily="34" charset="0"/>
                <a:cs typeface="Calibri" panose="020F0502020204030204" pitchFamily="34" charset="0"/>
              </a:rPr>
              <a:t>Even though oligopolists might not collude formally or tacitly, they will still need to take account of rivals’ likely behaviour when deciding their own strategy</a:t>
            </a:r>
          </a:p>
          <a:p>
            <a:pPr lvl="1">
              <a:spcBef>
                <a:spcPts val="1600"/>
              </a:spcBef>
            </a:pPr>
            <a:r>
              <a:rPr lang="en-GB" altLang="en-US" sz="2400" dirty="0">
                <a:latin typeface="Calibri" panose="020F0502020204030204" pitchFamily="34" charset="0"/>
                <a:cs typeface="Calibri" panose="020F0502020204030204" pitchFamily="34" charset="0"/>
              </a:rPr>
              <a:t>Firms will make assumptions about how they believe their rivals will behave</a:t>
            </a:r>
          </a:p>
          <a:p>
            <a:pPr lvl="2">
              <a:spcBef>
                <a:spcPts val="1600"/>
              </a:spcBef>
            </a:pPr>
            <a:r>
              <a:rPr lang="en-GB" altLang="en-US" sz="2200" dirty="0">
                <a:latin typeface="Calibri" panose="020F0502020204030204" pitchFamily="34" charset="0"/>
                <a:cs typeface="Calibri" panose="020F0502020204030204" pitchFamily="34" charset="0"/>
              </a:rPr>
              <a:t>Assumptions are likely to be based on past behaviour</a:t>
            </a:r>
          </a:p>
          <a:p>
            <a:pPr lvl="1">
              <a:spcBef>
                <a:spcPts val="1600"/>
              </a:spcBef>
            </a:pPr>
            <a:endParaRPr lang="en-GB" altLang="en-US" sz="2200" b="1" dirty="0"/>
          </a:p>
        </p:txBody>
      </p:sp>
    </p:spTree>
    <p:extLst>
      <p:ext uri="{BB962C8B-B14F-4D97-AF65-F5344CB8AC3E}">
        <p14:creationId xmlns:p14="http://schemas.microsoft.com/office/powerpoint/2010/main" val="250327682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2677">
                                            <p:txEl>
                                              <p:pRg st="0" end="0"/>
                                            </p:txEl>
                                          </p:spTgt>
                                        </p:tgtEl>
                                        <p:attrNameLst>
                                          <p:attrName>style.visibility</p:attrName>
                                        </p:attrNameLst>
                                      </p:cBhvr>
                                      <p:to>
                                        <p:strVal val="visible"/>
                                      </p:to>
                                    </p:set>
                                    <p:anim calcmode="lin" valueType="num">
                                      <p:cBhvr additive="base">
                                        <p:cTn id="7" dur="500"/>
                                        <p:tgtEl>
                                          <p:spTgt spid="41267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267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2677">
                                            <p:txEl>
                                              <p:pRg st="1" end="1"/>
                                            </p:txEl>
                                          </p:spTgt>
                                        </p:tgtEl>
                                        <p:attrNameLst>
                                          <p:attrName>style.visibility</p:attrName>
                                        </p:attrNameLst>
                                      </p:cBhvr>
                                      <p:to>
                                        <p:strVal val="visible"/>
                                      </p:to>
                                    </p:set>
                                    <p:anim calcmode="lin" valueType="num">
                                      <p:cBhvr additive="base">
                                        <p:cTn id="13" dur="500"/>
                                        <p:tgtEl>
                                          <p:spTgt spid="41267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267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2677">
                                            <p:txEl>
                                              <p:pRg st="2" end="2"/>
                                            </p:txEl>
                                          </p:spTgt>
                                        </p:tgtEl>
                                        <p:attrNameLst>
                                          <p:attrName>style.visibility</p:attrName>
                                        </p:attrNameLst>
                                      </p:cBhvr>
                                      <p:to>
                                        <p:strVal val="visible"/>
                                      </p:to>
                                    </p:set>
                                    <p:anim calcmode="lin" valueType="num">
                                      <p:cBhvr additive="base">
                                        <p:cTn id="19" dur="500"/>
                                        <p:tgtEl>
                                          <p:spTgt spid="41267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267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2677">
                                            <p:txEl>
                                              <p:pRg st="3" end="3"/>
                                            </p:txEl>
                                          </p:spTgt>
                                        </p:tgtEl>
                                        <p:attrNameLst>
                                          <p:attrName>style.visibility</p:attrName>
                                        </p:attrNameLst>
                                      </p:cBhvr>
                                      <p:to>
                                        <p:strVal val="visible"/>
                                      </p:to>
                                    </p:set>
                                    <p:anim calcmode="lin" valueType="num">
                                      <p:cBhvr additive="base">
                                        <p:cTn id="25" dur="500"/>
                                        <p:tgtEl>
                                          <p:spTgt spid="41267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267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build="p" bldLvl="3"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EA30B93E-18E6-49A4-8120-5FA84DFD6404}"/>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1" name="Rectangle 3">
            <a:extLst>
              <a:ext uri="{FF2B5EF4-FFF2-40B4-BE49-F238E27FC236}">
                <a16:creationId xmlns:a16="http://schemas.microsoft.com/office/drawing/2014/main" id="{1031C273-7C44-435F-93F2-B971376A193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4" name="Rectangle 6">
            <a:extLst>
              <a:ext uri="{FF2B5EF4-FFF2-40B4-BE49-F238E27FC236}">
                <a16:creationId xmlns:a16="http://schemas.microsoft.com/office/drawing/2014/main" id="{F83EB7C7-95FE-4F9F-BE7C-32746F1695C7}"/>
              </a:ext>
            </a:extLst>
          </p:cNvPr>
          <p:cNvSpPr>
            <a:spLocks noGrp="1"/>
          </p:cNvSpPr>
          <p:nvPr>
            <p:ph type="title"/>
          </p:nvPr>
        </p:nvSpPr>
        <p:spPr/>
        <p:txBody>
          <a:bodyPr/>
          <a:lstStyle/>
          <a:p>
            <a:r>
              <a:rPr lang="en-GB" altLang="en-US" dirty="0"/>
              <a:t>Oligopoly and the Consumer</a:t>
            </a:r>
          </a:p>
        </p:txBody>
      </p:sp>
      <p:sp>
        <p:nvSpPr>
          <p:cNvPr id="416775" name="Rectangle 7">
            <a:extLst>
              <a:ext uri="{FF2B5EF4-FFF2-40B4-BE49-F238E27FC236}">
                <a16:creationId xmlns:a16="http://schemas.microsoft.com/office/drawing/2014/main" id="{4B55B5A7-1569-4760-B99C-02AB63F84CF2}"/>
              </a:ext>
            </a:extLst>
          </p:cNvPr>
          <p:cNvSpPr>
            <a:spLocks noGrp="1"/>
          </p:cNvSpPr>
          <p:nvPr>
            <p:ph idx="1"/>
          </p:nvPr>
        </p:nvSpPr>
        <p:spPr/>
        <p:txBody>
          <a:bodyPr>
            <a:normAutofit/>
          </a:bodyPr>
          <a:lstStyle/>
          <a:p>
            <a:pPr lvl="1">
              <a:lnSpc>
                <a:spcPct val="100000"/>
              </a:lnSpc>
              <a:spcBef>
                <a:spcPts val="1200"/>
              </a:spcBef>
            </a:pPr>
            <a:r>
              <a:rPr lang="en-GB" altLang="en-US" b="1" dirty="0">
                <a:latin typeface="Calibri" panose="020F0502020204030204" pitchFamily="34" charset="0"/>
                <a:cs typeface="Calibri" panose="020F0502020204030204" pitchFamily="34" charset="0"/>
              </a:rPr>
              <a:t>Disadvantages</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If oligopolists act collusively and jointly maximise industry profits, they will, in effect, be </a:t>
            </a:r>
            <a:r>
              <a:rPr lang="en-GB" altLang="en-US" sz="2000" b="1" dirty="0">
                <a:latin typeface="Calibri" panose="020F0502020204030204" pitchFamily="34" charset="0"/>
                <a:cs typeface="Calibri" panose="020F0502020204030204" pitchFamily="34" charset="0"/>
              </a:rPr>
              <a:t>acting as a monopoly</a:t>
            </a:r>
            <a:r>
              <a:rPr lang="en-GB" altLang="en-US" sz="2000" dirty="0">
                <a:latin typeface="Calibri" panose="020F0502020204030204" pitchFamily="34" charset="0"/>
                <a:cs typeface="Calibri" panose="020F0502020204030204" pitchFamily="34" charset="0"/>
              </a:rPr>
              <a:t>. In such cases, </a:t>
            </a:r>
            <a:r>
              <a:rPr lang="en-GB" altLang="en-US" sz="2000" b="1" dirty="0">
                <a:latin typeface="Calibri" panose="020F0502020204030204" pitchFamily="34" charset="0"/>
                <a:cs typeface="Calibri" panose="020F0502020204030204" pitchFamily="34" charset="0"/>
              </a:rPr>
              <a:t>prices may be very high</a:t>
            </a:r>
            <a:r>
              <a:rPr lang="en-GB" altLang="en-US" sz="2000" dirty="0">
                <a:latin typeface="Calibri" panose="020F0502020204030204" pitchFamily="34" charset="0"/>
                <a:cs typeface="Calibri" panose="020F0502020204030204" pitchFamily="34" charset="0"/>
              </a:rPr>
              <a:t>.</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There may be </a:t>
            </a:r>
            <a:r>
              <a:rPr lang="en-GB" altLang="en-US" sz="2000" b="1" dirty="0">
                <a:latin typeface="Calibri" panose="020F0502020204030204" pitchFamily="34" charset="0"/>
                <a:cs typeface="Calibri" panose="020F0502020204030204" pitchFamily="34" charset="0"/>
              </a:rPr>
              <a:t>less scope for economies of scale </a:t>
            </a:r>
            <a:r>
              <a:rPr lang="en-GB" altLang="en-US" sz="2000" dirty="0">
                <a:latin typeface="Calibri" panose="020F0502020204030204" pitchFamily="34" charset="0"/>
                <a:cs typeface="Calibri" panose="020F0502020204030204" pitchFamily="34" charset="0"/>
              </a:rPr>
              <a:t>to lower costs, relative to monopoly</a:t>
            </a:r>
          </a:p>
          <a:p>
            <a:pPr lvl="2">
              <a:lnSpc>
                <a:spcPct val="100000"/>
              </a:lnSpc>
              <a:spcBef>
                <a:spcPts val="1200"/>
              </a:spcBef>
            </a:pPr>
            <a:r>
              <a:rPr lang="en-GB" altLang="en-US" sz="2000" dirty="0">
                <a:latin typeface="Calibri" panose="020F0502020204030204" pitchFamily="34" charset="0"/>
                <a:cs typeface="Calibri" panose="020F0502020204030204" pitchFamily="34" charset="0"/>
              </a:rPr>
              <a:t>Oligopolists are likely to engage in much </a:t>
            </a:r>
            <a:r>
              <a:rPr lang="en-GB" altLang="en-US" sz="2000" b="1" dirty="0">
                <a:latin typeface="Calibri" panose="020F0502020204030204" pitchFamily="34" charset="0"/>
                <a:cs typeface="Calibri" panose="020F0502020204030204" pitchFamily="34" charset="0"/>
              </a:rPr>
              <a:t>greater use of advertising </a:t>
            </a:r>
            <a:r>
              <a:rPr lang="en-GB" altLang="en-US" sz="2000" dirty="0">
                <a:latin typeface="Calibri" panose="020F0502020204030204" pitchFamily="34" charset="0"/>
                <a:cs typeface="Calibri" panose="020F0502020204030204" pitchFamily="34" charset="0"/>
              </a:rPr>
              <a:t>than under monopoly which will increase costs (and may lead to </a:t>
            </a:r>
            <a:r>
              <a:rPr lang="en-GB" altLang="en-US" sz="2000" b="1" dirty="0">
                <a:latin typeface="Calibri" panose="020F0502020204030204" pitchFamily="34" charset="0"/>
                <a:cs typeface="Calibri" panose="020F0502020204030204" pitchFamily="34" charset="0"/>
              </a:rPr>
              <a:t>higher prices </a:t>
            </a:r>
            <a:r>
              <a:rPr lang="en-GB" altLang="en-US" sz="2000" dirty="0">
                <a:latin typeface="Calibri" panose="020F0502020204030204" pitchFamily="34" charset="0"/>
                <a:cs typeface="Calibri" panose="020F0502020204030204" pitchFamily="34" charset="0"/>
              </a:rPr>
              <a:t>for consumers).</a:t>
            </a:r>
            <a:endParaRPr lang="en-GB" altLang="en-US" sz="2000" b="1" dirty="0">
              <a:latin typeface="Calibri" panose="020F0502020204030204" pitchFamily="34" charset="0"/>
              <a:cs typeface="Calibri" panose="020F0502020204030204" pitchFamily="34" charset="0"/>
            </a:endParaRPr>
          </a:p>
          <a:p>
            <a:pPr marL="914400" lvl="2" indent="0">
              <a:lnSpc>
                <a:spcPct val="100000"/>
              </a:lnSpc>
              <a:spcBef>
                <a:spcPts val="1200"/>
              </a:spcBef>
              <a:buNone/>
            </a:pPr>
            <a:endParaRPr lang="en-GB" altLang="en-US" sz="2000" dirty="0">
              <a:latin typeface="Calibri" panose="020F0502020204030204" pitchFamily="34" charset="0"/>
              <a:cs typeface="Calibri" panose="020F0502020204030204" pitchFamily="34" charset="0"/>
            </a:endParaRPr>
          </a:p>
          <a:p>
            <a:pPr marL="457200" lvl="1" indent="0">
              <a:lnSpc>
                <a:spcPct val="100000"/>
              </a:lnSpc>
              <a:spcBef>
                <a:spcPts val="1200"/>
              </a:spcBef>
              <a:buNone/>
            </a:pPr>
            <a:r>
              <a:rPr lang="en-GB" altLang="en-US" dirty="0">
                <a:latin typeface="Calibri" panose="020F0502020204030204" pitchFamily="34" charset="0"/>
                <a:cs typeface="Calibri" panose="020F0502020204030204" pitchFamily="34" charset="0"/>
              </a:rPr>
              <a:t>These problems will be less severe if oligopolists do not collude – if there is some degree of price competition and if barriers to entry are weak. </a:t>
            </a:r>
          </a:p>
        </p:txBody>
      </p:sp>
    </p:spTree>
    <p:extLst>
      <p:ext uri="{BB962C8B-B14F-4D97-AF65-F5344CB8AC3E}">
        <p14:creationId xmlns:p14="http://schemas.microsoft.com/office/powerpoint/2010/main" val="91280778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6775">
                                            <p:txEl>
                                              <p:pRg st="0" end="0"/>
                                            </p:txEl>
                                          </p:spTgt>
                                        </p:tgtEl>
                                        <p:attrNameLst>
                                          <p:attrName>style.visibility</p:attrName>
                                        </p:attrNameLst>
                                      </p:cBhvr>
                                      <p:to>
                                        <p:strVal val="visible"/>
                                      </p:to>
                                    </p:set>
                                    <p:anim calcmode="lin" valueType="num">
                                      <p:cBhvr additive="base">
                                        <p:cTn id="7" dur="500"/>
                                        <p:tgtEl>
                                          <p:spTgt spid="41677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677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6775">
                                            <p:txEl>
                                              <p:pRg st="1" end="1"/>
                                            </p:txEl>
                                          </p:spTgt>
                                        </p:tgtEl>
                                        <p:attrNameLst>
                                          <p:attrName>style.visibility</p:attrName>
                                        </p:attrNameLst>
                                      </p:cBhvr>
                                      <p:to>
                                        <p:strVal val="visible"/>
                                      </p:to>
                                    </p:set>
                                    <p:anim calcmode="lin" valueType="num">
                                      <p:cBhvr additive="base">
                                        <p:cTn id="13" dur="500"/>
                                        <p:tgtEl>
                                          <p:spTgt spid="41677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677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6775">
                                            <p:txEl>
                                              <p:pRg st="2" end="2"/>
                                            </p:txEl>
                                          </p:spTgt>
                                        </p:tgtEl>
                                        <p:attrNameLst>
                                          <p:attrName>style.visibility</p:attrName>
                                        </p:attrNameLst>
                                      </p:cBhvr>
                                      <p:to>
                                        <p:strVal val="visible"/>
                                      </p:to>
                                    </p:set>
                                    <p:anim calcmode="lin" valueType="num">
                                      <p:cBhvr additive="base">
                                        <p:cTn id="19" dur="500"/>
                                        <p:tgtEl>
                                          <p:spTgt spid="41677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677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6775">
                                            <p:txEl>
                                              <p:pRg st="3" end="3"/>
                                            </p:txEl>
                                          </p:spTgt>
                                        </p:tgtEl>
                                        <p:attrNameLst>
                                          <p:attrName>style.visibility</p:attrName>
                                        </p:attrNameLst>
                                      </p:cBhvr>
                                      <p:to>
                                        <p:strVal val="visible"/>
                                      </p:to>
                                    </p:set>
                                    <p:anim calcmode="lin" valueType="num">
                                      <p:cBhvr additive="base">
                                        <p:cTn id="25" dur="500"/>
                                        <p:tgtEl>
                                          <p:spTgt spid="41677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677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6775">
                                            <p:txEl>
                                              <p:pRg st="5" end="5"/>
                                            </p:txEl>
                                          </p:spTgt>
                                        </p:tgtEl>
                                        <p:attrNameLst>
                                          <p:attrName>style.visibility</p:attrName>
                                        </p:attrNameLst>
                                      </p:cBhvr>
                                      <p:to>
                                        <p:strVal val="visible"/>
                                      </p:to>
                                    </p:set>
                                    <p:anim calcmode="lin" valueType="num">
                                      <p:cBhvr additive="base">
                                        <p:cTn id="31" dur="500"/>
                                        <p:tgtEl>
                                          <p:spTgt spid="41677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67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5" grpId="0" build="p" bldLvl="3"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EA30B93E-18E6-49A4-8120-5FA84DFD6404}"/>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1" name="Rectangle 3">
            <a:extLst>
              <a:ext uri="{FF2B5EF4-FFF2-40B4-BE49-F238E27FC236}">
                <a16:creationId xmlns:a16="http://schemas.microsoft.com/office/drawing/2014/main" id="{1031C273-7C44-435F-93F2-B971376A193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4" name="Rectangle 6">
            <a:extLst>
              <a:ext uri="{FF2B5EF4-FFF2-40B4-BE49-F238E27FC236}">
                <a16:creationId xmlns:a16="http://schemas.microsoft.com/office/drawing/2014/main" id="{F83EB7C7-95FE-4F9F-BE7C-32746F1695C7}"/>
              </a:ext>
            </a:extLst>
          </p:cNvPr>
          <p:cNvSpPr>
            <a:spLocks noGrp="1"/>
          </p:cNvSpPr>
          <p:nvPr>
            <p:ph type="title"/>
          </p:nvPr>
        </p:nvSpPr>
        <p:spPr>
          <a:xfrm>
            <a:off x="622379" y="126577"/>
            <a:ext cx="10515600" cy="908198"/>
          </a:xfrm>
        </p:spPr>
        <p:txBody>
          <a:bodyPr/>
          <a:lstStyle/>
          <a:p>
            <a:r>
              <a:rPr lang="en-GB" altLang="en-US" dirty="0"/>
              <a:t>Oligopoly and the Consumer</a:t>
            </a:r>
          </a:p>
        </p:txBody>
      </p:sp>
      <p:sp>
        <p:nvSpPr>
          <p:cNvPr id="416775" name="Rectangle 7">
            <a:extLst>
              <a:ext uri="{FF2B5EF4-FFF2-40B4-BE49-F238E27FC236}">
                <a16:creationId xmlns:a16="http://schemas.microsoft.com/office/drawing/2014/main" id="{4B55B5A7-1569-4760-B99C-02AB63F84CF2}"/>
              </a:ext>
            </a:extLst>
          </p:cNvPr>
          <p:cNvSpPr>
            <a:spLocks noGrp="1"/>
          </p:cNvSpPr>
          <p:nvPr>
            <p:ph idx="1"/>
          </p:nvPr>
        </p:nvSpPr>
        <p:spPr>
          <a:xfrm>
            <a:off x="732662" y="1169116"/>
            <a:ext cx="11057986" cy="5170155"/>
          </a:xfrm>
        </p:spPr>
        <p:txBody>
          <a:bodyPr>
            <a:noAutofit/>
          </a:bodyPr>
          <a:lstStyle/>
          <a:p>
            <a:pPr>
              <a:lnSpc>
                <a:spcPct val="100000"/>
              </a:lnSpc>
              <a:spcBef>
                <a:spcPts val="1200"/>
              </a:spcBef>
            </a:pPr>
            <a:r>
              <a:rPr lang="en-GB" altLang="en-US" sz="2000" b="1" dirty="0">
                <a:latin typeface="Calibri" panose="020F0502020204030204" pitchFamily="34" charset="0"/>
                <a:cs typeface="Calibri" panose="020F0502020204030204" pitchFamily="34" charset="0"/>
              </a:rPr>
              <a:t>Advantages</a:t>
            </a:r>
          </a:p>
          <a:p>
            <a:pPr lvl="1">
              <a:lnSpc>
                <a:spcPct val="100000"/>
              </a:lnSpc>
              <a:spcBef>
                <a:spcPts val="1200"/>
              </a:spcBef>
            </a:pPr>
            <a:r>
              <a:rPr lang="en-GB" altLang="en-US" dirty="0">
                <a:latin typeface="Calibri" panose="020F0502020204030204" pitchFamily="34" charset="0"/>
                <a:cs typeface="Calibri" panose="020F0502020204030204" pitchFamily="34" charset="0"/>
              </a:rPr>
              <a:t>Oligopolists, like monopolists, can </a:t>
            </a:r>
            <a:r>
              <a:rPr lang="en-GB" altLang="en-US" b="1" dirty="0">
                <a:latin typeface="Calibri" panose="020F0502020204030204" pitchFamily="34" charset="0"/>
                <a:cs typeface="Calibri" panose="020F0502020204030204" pitchFamily="34" charset="0"/>
              </a:rPr>
              <a:t>use part of their supernormal profit for R&amp;D</a:t>
            </a:r>
            <a:r>
              <a:rPr lang="en-GB" altLang="en-US" dirty="0">
                <a:latin typeface="Calibri" panose="020F0502020204030204" pitchFamily="34" charset="0"/>
                <a:cs typeface="Calibri" panose="020F0502020204030204" pitchFamily="34" charset="0"/>
              </a:rPr>
              <a:t>. Unlike monopolists, however, oligopolists will have a considerable </a:t>
            </a:r>
            <a:r>
              <a:rPr lang="en-GB" altLang="en-US" b="1" i="1" dirty="0">
                <a:latin typeface="Calibri" panose="020F0502020204030204" pitchFamily="34" charset="0"/>
                <a:cs typeface="Calibri" panose="020F0502020204030204" pitchFamily="34" charset="0"/>
              </a:rPr>
              <a:t>incentive</a:t>
            </a:r>
            <a:r>
              <a:rPr lang="en-GB" altLang="en-US" b="1" dirty="0">
                <a:latin typeface="Calibri" panose="020F0502020204030204" pitchFamily="34" charset="0"/>
                <a:cs typeface="Calibri" panose="020F0502020204030204" pitchFamily="34" charset="0"/>
              </a:rPr>
              <a:t> to do so</a:t>
            </a:r>
            <a:r>
              <a:rPr lang="en-GB" altLang="en-US" dirty="0">
                <a:latin typeface="Calibri" panose="020F0502020204030204" pitchFamily="34" charset="0"/>
                <a:cs typeface="Calibri" panose="020F0502020204030204" pitchFamily="34" charset="0"/>
              </a:rPr>
              <a:t>.</a:t>
            </a:r>
          </a:p>
          <a:p>
            <a:pPr lvl="3">
              <a:lnSpc>
                <a:spcPct val="100000"/>
              </a:lnSpc>
              <a:spcBef>
                <a:spcPts val="1200"/>
              </a:spcBef>
            </a:pPr>
            <a:r>
              <a:rPr lang="en-GB" altLang="en-US" sz="2000" dirty="0">
                <a:latin typeface="Calibri" panose="020F0502020204030204" pitchFamily="34" charset="0"/>
                <a:cs typeface="Calibri" panose="020F0502020204030204" pitchFamily="34" charset="0"/>
              </a:rPr>
              <a:t>If the </a:t>
            </a:r>
            <a:r>
              <a:rPr lang="en-GB" altLang="en-US" sz="2000" b="1" dirty="0">
                <a:latin typeface="Calibri" panose="020F0502020204030204" pitchFamily="34" charset="0"/>
                <a:cs typeface="Calibri" panose="020F0502020204030204" pitchFamily="34" charset="0"/>
              </a:rPr>
              <a:t>product design is improved</a:t>
            </a:r>
            <a:r>
              <a:rPr lang="en-GB" altLang="en-US" sz="2000" dirty="0">
                <a:latin typeface="Calibri" panose="020F0502020204030204" pitchFamily="34" charset="0"/>
                <a:cs typeface="Calibri" panose="020F0502020204030204" pitchFamily="34" charset="0"/>
              </a:rPr>
              <a:t>, this may allow the firm to capture a larger share of the market.</a:t>
            </a:r>
          </a:p>
          <a:p>
            <a:pPr lvl="3">
              <a:lnSpc>
                <a:spcPct val="100000"/>
              </a:lnSpc>
              <a:spcBef>
                <a:spcPts val="1200"/>
              </a:spcBef>
            </a:pPr>
            <a:r>
              <a:rPr lang="en-GB" altLang="en-US" sz="2000" b="1" dirty="0">
                <a:latin typeface="Calibri" panose="020F0502020204030204" pitchFamily="34" charset="0"/>
                <a:cs typeface="Calibri" panose="020F0502020204030204" pitchFamily="34" charset="0"/>
              </a:rPr>
              <a:t>Costs may be reduced by technological improvements </a:t>
            </a:r>
            <a:endParaRPr lang="en-GB" altLang="en-US" sz="2000" dirty="0">
              <a:latin typeface="Calibri" panose="020F0502020204030204" pitchFamily="34" charset="0"/>
              <a:cs typeface="Calibri" panose="020F0502020204030204" pitchFamily="34" charset="0"/>
            </a:endParaRPr>
          </a:p>
          <a:p>
            <a:pPr lvl="1">
              <a:lnSpc>
                <a:spcPct val="100000"/>
              </a:lnSpc>
              <a:spcBef>
                <a:spcPts val="1200"/>
              </a:spcBef>
            </a:pPr>
            <a:r>
              <a:rPr lang="en-GB" altLang="en-US" dirty="0">
                <a:latin typeface="Calibri" panose="020F0502020204030204" pitchFamily="34" charset="0"/>
                <a:cs typeface="Calibri" panose="020F0502020204030204" pitchFamily="34" charset="0"/>
              </a:rPr>
              <a:t>Non-price competition through product differentiation may result in </a:t>
            </a:r>
            <a:r>
              <a:rPr lang="en-GB" altLang="en-US" b="1" dirty="0">
                <a:latin typeface="Calibri" panose="020F0502020204030204" pitchFamily="34" charset="0"/>
                <a:cs typeface="Calibri" panose="020F0502020204030204" pitchFamily="34" charset="0"/>
              </a:rPr>
              <a:t>greater choice for consumers</a:t>
            </a:r>
            <a:r>
              <a:rPr lang="en-GB" altLang="en-US" dirty="0">
                <a:latin typeface="Calibri" panose="020F0502020204030204" pitchFamily="34" charset="0"/>
                <a:cs typeface="Calibri" panose="020F0502020204030204" pitchFamily="34" charset="0"/>
              </a:rPr>
              <a:t>.</a:t>
            </a:r>
          </a:p>
          <a:p>
            <a:pPr lvl="1">
              <a:lnSpc>
                <a:spcPct val="100000"/>
              </a:lnSpc>
              <a:spcBef>
                <a:spcPts val="1200"/>
              </a:spcBef>
            </a:pPr>
            <a:r>
              <a:rPr lang="en-GB" altLang="en-US" dirty="0">
                <a:latin typeface="Calibri" panose="020F0502020204030204" pitchFamily="34" charset="0"/>
                <a:cs typeface="Calibri" panose="020F0502020204030204" pitchFamily="34" charset="0"/>
              </a:rPr>
              <a:t>It is difficult to draw any general conclusions about the outcomes in this market structure, since </a:t>
            </a:r>
            <a:r>
              <a:rPr lang="en-GB" altLang="en-US" b="1" dirty="0">
                <a:latin typeface="Calibri" panose="020F0502020204030204" pitchFamily="34" charset="0"/>
                <a:cs typeface="Calibri" panose="020F0502020204030204" pitchFamily="34" charset="0"/>
              </a:rPr>
              <a:t>oligopolies differ so much in their behaviour and performance</a:t>
            </a:r>
            <a:r>
              <a:rPr lang="en-GB" altLang="en-US" dirty="0">
                <a:latin typeface="Calibri" panose="020F0502020204030204" pitchFamily="34" charset="0"/>
                <a:cs typeface="Calibri" panose="020F0502020204030204" pitchFamily="34" charset="0"/>
              </a:rPr>
              <a:t>.</a:t>
            </a:r>
          </a:p>
          <a:p>
            <a:pPr lvl="1">
              <a:lnSpc>
                <a:spcPct val="100000"/>
              </a:lnSpc>
              <a:spcBef>
                <a:spcPts val="1200"/>
              </a:spcBef>
            </a:pPr>
            <a:r>
              <a:rPr lang="en-GB" altLang="en-US" dirty="0">
                <a:latin typeface="Calibri" panose="020F0502020204030204" pitchFamily="34" charset="0"/>
                <a:cs typeface="Calibri" panose="020F0502020204030204" pitchFamily="34" charset="0"/>
              </a:rPr>
              <a:t>Although an oligopoly is closer to the non-competitive end of the spectrum, it </a:t>
            </a:r>
            <a:r>
              <a:rPr lang="en-GB" altLang="en-US" b="1" dirty="0">
                <a:latin typeface="Calibri" panose="020F0502020204030204" pitchFamily="34" charset="0"/>
                <a:cs typeface="Calibri" panose="020F0502020204030204" pitchFamily="34" charset="0"/>
              </a:rPr>
              <a:t>can still be a highly competitive market structure.</a:t>
            </a:r>
          </a:p>
        </p:txBody>
      </p:sp>
    </p:spTree>
    <p:extLst>
      <p:ext uri="{BB962C8B-B14F-4D97-AF65-F5344CB8AC3E}">
        <p14:creationId xmlns:p14="http://schemas.microsoft.com/office/powerpoint/2010/main" val="88077593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6775">
                                            <p:txEl>
                                              <p:pRg st="0" end="0"/>
                                            </p:txEl>
                                          </p:spTgt>
                                        </p:tgtEl>
                                        <p:attrNameLst>
                                          <p:attrName>style.visibility</p:attrName>
                                        </p:attrNameLst>
                                      </p:cBhvr>
                                      <p:to>
                                        <p:strVal val="visible"/>
                                      </p:to>
                                    </p:set>
                                    <p:anim calcmode="lin" valueType="num">
                                      <p:cBhvr additive="base">
                                        <p:cTn id="7" dur="500"/>
                                        <p:tgtEl>
                                          <p:spTgt spid="41677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677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6775">
                                            <p:txEl>
                                              <p:pRg st="1" end="1"/>
                                            </p:txEl>
                                          </p:spTgt>
                                        </p:tgtEl>
                                        <p:attrNameLst>
                                          <p:attrName>style.visibility</p:attrName>
                                        </p:attrNameLst>
                                      </p:cBhvr>
                                      <p:to>
                                        <p:strVal val="visible"/>
                                      </p:to>
                                    </p:set>
                                    <p:anim calcmode="lin" valueType="num">
                                      <p:cBhvr additive="base">
                                        <p:cTn id="13" dur="500"/>
                                        <p:tgtEl>
                                          <p:spTgt spid="41677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677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16775">
                                            <p:txEl>
                                              <p:pRg st="2" end="2"/>
                                            </p:txEl>
                                          </p:spTgt>
                                        </p:tgtEl>
                                        <p:attrNameLst>
                                          <p:attrName>style.visibility</p:attrName>
                                        </p:attrNameLst>
                                      </p:cBhvr>
                                      <p:to>
                                        <p:strVal val="visible"/>
                                      </p:to>
                                    </p:set>
                                    <p:anim calcmode="lin" valueType="num">
                                      <p:cBhvr additive="base">
                                        <p:cTn id="17" dur="500"/>
                                        <p:tgtEl>
                                          <p:spTgt spid="41677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1677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16775">
                                            <p:txEl>
                                              <p:pRg st="3" end="3"/>
                                            </p:txEl>
                                          </p:spTgt>
                                        </p:tgtEl>
                                        <p:attrNameLst>
                                          <p:attrName>style.visibility</p:attrName>
                                        </p:attrNameLst>
                                      </p:cBhvr>
                                      <p:to>
                                        <p:strVal val="visible"/>
                                      </p:to>
                                    </p:set>
                                    <p:anim calcmode="lin" valueType="num">
                                      <p:cBhvr additive="base">
                                        <p:cTn id="21" dur="500"/>
                                        <p:tgtEl>
                                          <p:spTgt spid="41677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167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16775">
                                            <p:txEl>
                                              <p:pRg st="4" end="4"/>
                                            </p:txEl>
                                          </p:spTgt>
                                        </p:tgtEl>
                                        <p:attrNameLst>
                                          <p:attrName>style.visibility</p:attrName>
                                        </p:attrNameLst>
                                      </p:cBhvr>
                                      <p:to>
                                        <p:strVal val="visible"/>
                                      </p:to>
                                    </p:set>
                                    <p:anim calcmode="lin" valueType="num">
                                      <p:cBhvr additive="base">
                                        <p:cTn id="27" dur="500"/>
                                        <p:tgtEl>
                                          <p:spTgt spid="416775">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16775">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416775">
                                            <p:txEl>
                                              <p:pRg st="5" end="5"/>
                                            </p:txEl>
                                          </p:spTgt>
                                        </p:tgtEl>
                                        <p:attrNameLst>
                                          <p:attrName>style.visibility</p:attrName>
                                        </p:attrNameLst>
                                      </p:cBhvr>
                                      <p:to>
                                        <p:strVal val="visible"/>
                                      </p:to>
                                    </p:set>
                                    <p:anim calcmode="lin" valueType="num">
                                      <p:cBhvr additive="base">
                                        <p:cTn id="33" dur="500"/>
                                        <p:tgtEl>
                                          <p:spTgt spid="416775">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416775">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416775">
                                            <p:txEl>
                                              <p:pRg st="6" end="6"/>
                                            </p:txEl>
                                          </p:spTgt>
                                        </p:tgtEl>
                                        <p:attrNameLst>
                                          <p:attrName>style.visibility</p:attrName>
                                        </p:attrNameLst>
                                      </p:cBhvr>
                                      <p:to>
                                        <p:strVal val="visible"/>
                                      </p:to>
                                    </p:set>
                                    <p:anim calcmode="lin" valueType="num">
                                      <p:cBhvr additive="base">
                                        <p:cTn id="39" dur="500"/>
                                        <p:tgtEl>
                                          <p:spTgt spid="416775">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4167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5" grpId="0" build="p" bldLvl="3"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EA30B93E-18E6-49A4-8120-5FA84DFD6404}"/>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1" name="Rectangle 3">
            <a:extLst>
              <a:ext uri="{FF2B5EF4-FFF2-40B4-BE49-F238E27FC236}">
                <a16:creationId xmlns:a16="http://schemas.microsoft.com/office/drawing/2014/main" id="{1031C273-7C44-435F-93F2-B971376A193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4" name="Rectangle 6">
            <a:extLst>
              <a:ext uri="{FF2B5EF4-FFF2-40B4-BE49-F238E27FC236}">
                <a16:creationId xmlns:a16="http://schemas.microsoft.com/office/drawing/2014/main" id="{F83EB7C7-95FE-4F9F-BE7C-32746F1695C7}"/>
              </a:ext>
            </a:extLst>
          </p:cNvPr>
          <p:cNvSpPr>
            <a:spLocks noGrp="1"/>
          </p:cNvSpPr>
          <p:nvPr>
            <p:ph type="title"/>
          </p:nvPr>
        </p:nvSpPr>
        <p:spPr/>
        <p:txBody>
          <a:bodyPr/>
          <a:lstStyle/>
          <a:p>
            <a:r>
              <a:rPr lang="en-GB" altLang="en-US" sz="3200" dirty="0"/>
              <a:t>Market Structure</a:t>
            </a:r>
          </a:p>
        </p:txBody>
      </p:sp>
      <p:sp>
        <p:nvSpPr>
          <p:cNvPr id="416775" name="Rectangle 7">
            <a:extLst>
              <a:ext uri="{FF2B5EF4-FFF2-40B4-BE49-F238E27FC236}">
                <a16:creationId xmlns:a16="http://schemas.microsoft.com/office/drawing/2014/main" id="{4B55B5A7-1569-4760-B99C-02AB63F84CF2}"/>
              </a:ext>
            </a:extLst>
          </p:cNvPr>
          <p:cNvSpPr>
            <a:spLocks noGrp="1"/>
          </p:cNvSpPr>
          <p:nvPr>
            <p:ph idx="1"/>
          </p:nvPr>
        </p:nvSpPr>
        <p:spPr/>
        <p:txBody>
          <a:bodyPr/>
          <a:lstStyle/>
          <a:p>
            <a:pPr>
              <a:lnSpc>
                <a:spcPct val="100000"/>
              </a:lnSpc>
              <a:spcBef>
                <a:spcPts val="1200"/>
              </a:spcBef>
            </a:pPr>
            <a:endParaRPr lang="en-GB" altLang="en-US" sz="2000" dirty="0">
              <a:highlight>
                <a:srgbClr val="FFFF00"/>
              </a:highlight>
              <a:latin typeface="Calibri" panose="020F0502020204030204" pitchFamily="34" charset="0"/>
              <a:cs typeface="Calibri" panose="020F0502020204030204" pitchFamily="34" charset="0"/>
            </a:endParaRPr>
          </a:p>
          <a:p>
            <a:pPr>
              <a:lnSpc>
                <a:spcPct val="100000"/>
              </a:lnSpc>
              <a:spcBef>
                <a:spcPts val="1200"/>
              </a:spcBef>
            </a:pPr>
            <a:r>
              <a:rPr lang="en-GB" altLang="en-US" sz="2000" dirty="0">
                <a:highlight>
                  <a:srgbClr val="FFFF00"/>
                </a:highlight>
                <a:latin typeface="Calibri" panose="020F0502020204030204" pitchFamily="34" charset="0"/>
                <a:cs typeface="Calibri" panose="020F0502020204030204" pitchFamily="34" charset="0"/>
              </a:rPr>
              <a:t>Activity – write down the key characteristics of each of the four market structures, including the profit maximising output. Provide examples for each market structure.</a:t>
            </a:r>
          </a:p>
        </p:txBody>
      </p:sp>
    </p:spTree>
    <p:extLst>
      <p:ext uri="{BB962C8B-B14F-4D97-AF65-F5344CB8AC3E}">
        <p14:creationId xmlns:p14="http://schemas.microsoft.com/office/powerpoint/2010/main" val="21146694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6775">
                                            <p:txEl>
                                              <p:pRg st="1" end="1"/>
                                            </p:txEl>
                                          </p:spTgt>
                                        </p:tgtEl>
                                        <p:attrNameLst>
                                          <p:attrName>style.visibility</p:attrName>
                                        </p:attrNameLst>
                                      </p:cBhvr>
                                      <p:to>
                                        <p:strVal val="visible"/>
                                      </p:to>
                                    </p:set>
                                    <p:anim calcmode="lin" valueType="num">
                                      <p:cBhvr additive="base">
                                        <p:cTn id="7" dur="500"/>
                                        <p:tgtEl>
                                          <p:spTgt spid="416775">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67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5" grpId="0" build="p" bldLvl="3"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EA30B93E-18E6-49A4-8120-5FA84DFD6404}"/>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1" name="Rectangle 3">
            <a:extLst>
              <a:ext uri="{FF2B5EF4-FFF2-40B4-BE49-F238E27FC236}">
                <a16:creationId xmlns:a16="http://schemas.microsoft.com/office/drawing/2014/main" id="{1031C273-7C44-435F-93F2-B971376A193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4" name="Rectangle 6">
            <a:extLst>
              <a:ext uri="{FF2B5EF4-FFF2-40B4-BE49-F238E27FC236}">
                <a16:creationId xmlns:a16="http://schemas.microsoft.com/office/drawing/2014/main" id="{F83EB7C7-95FE-4F9F-BE7C-32746F1695C7}"/>
              </a:ext>
            </a:extLst>
          </p:cNvPr>
          <p:cNvSpPr>
            <a:spLocks noGrp="1"/>
          </p:cNvSpPr>
          <p:nvPr>
            <p:ph type="title"/>
          </p:nvPr>
        </p:nvSpPr>
        <p:spPr>
          <a:xfrm>
            <a:off x="402167" y="85063"/>
            <a:ext cx="11379200" cy="758825"/>
          </a:xfrm>
        </p:spPr>
        <p:txBody>
          <a:bodyPr/>
          <a:lstStyle/>
          <a:p>
            <a:r>
              <a:rPr lang="en-GB" altLang="en-US" sz="3200" dirty="0"/>
              <a:t>Market Structure</a:t>
            </a:r>
          </a:p>
        </p:txBody>
      </p:sp>
      <p:pic>
        <p:nvPicPr>
          <p:cNvPr id="5" name="Content Placeholder 4">
            <a:extLst>
              <a:ext uri="{FF2B5EF4-FFF2-40B4-BE49-F238E27FC236}">
                <a16:creationId xmlns:a16="http://schemas.microsoft.com/office/drawing/2014/main" id="{0C0E28FE-1F94-F342-C257-AD8FCE2AC3A9}"/>
              </a:ext>
            </a:extLst>
          </p:cNvPr>
          <p:cNvPicPr>
            <a:picLocks noGrp="1" noChangeAspect="1"/>
          </p:cNvPicPr>
          <p:nvPr>
            <p:ph idx="1"/>
          </p:nvPr>
        </p:nvPicPr>
        <p:blipFill>
          <a:blip r:embed="rId3"/>
          <a:stretch>
            <a:fillRect/>
          </a:stretch>
        </p:blipFill>
        <p:spPr>
          <a:xfrm>
            <a:off x="637401" y="995698"/>
            <a:ext cx="8091494" cy="5601804"/>
          </a:xfrm>
          <a:prstGeom prst="rect">
            <a:avLst/>
          </a:prstGeom>
        </p:spPr>
      </p:pic>
      <p:sp>
        <p:nvSpPr>
          <p:cNvPr id="6" name="TextBox 5">
            <a:extLst>
              <a:ext uri="{FF2B5EF4-FFF2-40B4-BE49-F238E27FC236}">
                <a16:creationId xmlns:a16="http://schemas.microsoft.com/office/drawing/2014/main" id="{D6A8FE8D-294F-D0DC-B5F1-E1A9935A366F}"/>
              </a:ext>
            </a:extLst>
          </p:cNvPr>
          <p:cNvSpPr txBox="1"/>
          <p:nvPr/>
        </p:nvSpPr>
        <p:spPr>
          <a:xfrm>
            <a:off x="9016409" y="2061158"/>
            <a:ext cx="2764958" cy="3170099"/>
          </a:xfrm>
          <a:prstGeom prst="rect">
            <a:avLst/>
          </a:prstGeom>
          <a:noFill/>
          <a:ln w="28575">
            <a:solidFill>
              <a:schemeClr val="bg1"/>
            </a:solidFill>
          </a:ln>
        </p:spPr>
        <p:txBody>
          <a:bodyPr wrap="square" rtlCol="0">
            <a:spAutoFit/>
          </a:bodyPr>
          <a:lstStyle/>
          <a:p>
            <a:r>
              <a:rPr lang="en-GB" sz="2000" dirty="0">
                <a:latin typeface="Calibri" panose="020F0502020204030204" pitchFamily="34" charset="0"/>
                <a:cs typeface="Calibri" panose="020F0502020204030204" pitchFamily="34" charset="0"/>
              </a:rPr>
              <a:t>For </a:t>
            </a:r>
            <a:r>
              <a:rPr lang="en-GB" sz="2000" b="1" dirty="0">
                <a:latin typeface="Calibri" panose="020F0502020204030204" pitchFamily="34" charset="0"/>
                <a:cs typeface="Calibri" panose="020F0502020204030204" pitchFamily="34" charset="0"/>
              </a:rPr>
              <a:t>all market structures</a:t>
            </a:r>
            <a:r>
              <a:rPr lang="en-GB" sz="2000" dirty="0">
                <a:latin typeface="Calibri" panose="020F0502020204030204" pitchFamily="34" charset="0"/>
                <a:cs typeface="Calibri" panose="020F0502020204030204" pitchFamily="34" charset="0"/>
              </a:rPr>
              <a:t>: </a:t>
            </a:r>
          </a:p>
          <a:p>
            <a:r>
              <a:rPr lang="en-GB" sz="2000" b="1" dirty="0">
                <a:latin typeface="Calibri" panose="020F0502020204030204" pitchFamily="34" charset="0"/>
                <a:cs typeface="Calibri" panose="020F0502020204030204" pitchFamily="34" charset="0"/>
              </a:rPr>
              <a:t>profit-maximising output </a:t>
            </a:r>
            <a:r>
              <a:rPr lang="en-GB" sz="2000" dirty="0">
                <a:latin typeface="Calibri" panose="020F0502020204030204" pitchFamily="34" charset="0"/>
                <a:cs typeface="Calibri" panose="020F0502020204030204" pitchFamily="34" charset="0"/>
              </a:rPr>
              <a:t>is where </a:t>
            </a:r>
            <a:r>
              <a:rPr lang="en-GB" sz="2000" b="1" dirty="0">
                <a:latin typeface="Calibri" panose="020F0502020204030204" pitchFamily="34" charset="0"/>
                <a:cs typeface="Calibri" panose="020F0502020204030204" pitchFamily="34" charset="0"/>
              </a:rPr>
              <a:t>MR = MC</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For </a:t>
            </a:r>
            <a:r>
              <a:rPr lang="en-GB" sz="2000" b="1" dirty="0">
                <a:latin typeface="Calibri" panose="020F0502020204030204" pitchFamily="34" charset="0"/>
                <a:cs typeface="Calibri" panose="020F0502020204030204" pitchFamily="34" charset="0"/>
              </a:rPr>
              <a:t>perfectly competitive firms</a:t>
            </a:r>
            <a:r>
              <a:rPr lang="en-GB" sz="2000" dirty="0">
                <a:latin typeface="Calibri" panose="020F0502020204030204" pitchFamily="34" charset="0"/>
                <a:cs typeface="Calibri" panose="020F0502020204030204" pitchFamily="34" charset="0"/>
              </a:rPr>
              <a:t>, profit is also maximised where </a:t>
            </a:r>
            <a:r>
              <a:rPr lang="en-GB" sz="2000" b="1" dirty="0">
                <a:latin typeface="Calibri" panose="020F0502020204030204" pitchFamily="34" charset="0"/>
                <a:cs typeface="Calibri" panose="020F0502020204030204" pitchFamily="34" charset="0"/>
              </a:rPr>
              <a:t>P = MC</a:t>
            </a:r>
          </a:p>
        </p:txBody>
      </p:sp>
    </p:spTree>
    <p:extLst>
      <p:ext uri="{BB962C8B-B14F-4D97-AF65-F5344CB8AC3E}">
        <p14:creationId xmlns:p14="http://schemas.microsoft.com/office/powerpoint/2010/main" val="2035958712"/>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8" name="Rectangle 6"/>
          <p:cNvSpPr>
            <a:spLocks noGrp="1"/>
          </p:cNvSpPr>
          <p:nvPr>
            <p:ph type="title"/>
          </p:nvPr>
        </p:nvSpPr>
        <p:spPr>
          <a:xfrm>
            <a:off x="503102" y="149292"/>
            <a:ext cx="10515600" cy="908198"/>
          </a:xfrm>
        </p:spPr>
        <p:txBody>
          <a:bodyPr/>
          <a:lstStyle/>
          <a:p>
            <a:r>
              <a:rPr lang="en-GB" altLang="en-US" dirty="0"/>
              <a:t>Summary</a:t>
            </a:r>
          </a:p>
        </p:txBody>
      </p:sp>
      <p:sp>
        <p:nvSpPr>
          <p:cNvPr id="381959" name="Rectangle 7"/>
          <p:cNvSpPr>
            <a:spLocks noGrp="1"/>
          </p:cNvSpPr>
          <p:nvPr>
            <p:ph idx="1"/>
          </p:nvPr>
        </p:nvSpPr>
        <p:spPr>
          <a:xfrm>
            <a:off x="454360" y="1033667"/>
            <a:ext cx="11438155" cy="5294638"/>
          </a:xfrm>
        </p:spPr>
        <p:txBody>
          <a:bodyPr/>
          <a:lstStyle/>
          <a:p>
            <a:pPr>
              <a:lnSpc>
                <a:spcPct val="100000"/>
              </a:lnSpc>
              <a:spcBef>
                <a:spcPts val="1200"/>
              </a:spcBef>
            </a:pPr>
            <a:r>
              <a:rPr lang="en-GB" altLang="en-US" sz="2000" dirty="0">
                <a:latin typeface="Calibri" panose="020F0502020204030204" pitchFamily="34" charset="0"/>
                <a:cs typeface="Calibri" panose="020F0502020204030204" pitchFamily="34" charset="0"/>
              </a:rPr>
              <a:t>The number of firms in the market, the freedom of entry and exit, the nature of the product and the nature of the demand curve all affect the degree of competition.</a:t>
            </a:r>
          </a:p>
          <a:p>
            <a:pPr>
              <a:lnSpc>
                <a:spcPct val="100000"/>
              </a:lnSpc>
              <a:spcBef>
                <a:spcPts val="1200"/>
              </a:spcBef>
            </a:pPr>
            <a:r>
              <a:rPr lang="en-GB" altLang="en-US" sz="2000" dirty="0">
                <a:latin typeface="Calibri" panose="020F0502020204030204" pitchFamily="34" charset="0"/>
                <a:cs typeface="Calibri" panose="020F0502020204030204" pitchFamily="34" charset="0"/>
              </a:rPr>
              <a:t>Perfect competition is at one end of the continuum of market competition and monopoly is at the other.</a:t>
            </a:r>
          </a:p>
          <a:p>
            <a:pPr>
              <a:lnSpc>
                <a:spcPct val="100000"/>
              </a:lnSpc>
              <a:spcBef>
                <a:spcPts val="1200"/>
              </a:spcBef>
            </a:pPr>
            <a:r>
              <a:rPr lang="en-GB" altLang="en-US" sz="2000" dirty="0">
                <a:latin typeface="Calibri" panose="020F0502020204030204" pitchFamily="34" charset="0"/>
                <a:cs typeface="Calibri" panose="020F0502020204030204" pitchFamily="34" charset="0"/>
              </a:rPr>
              <a:t>All firms, operating under any market structure, maximise profits where MR = MC.</a:t>
            </a:r>
          </a:p>
          <a:p>
            <a:pPr>
              <a:lnSpc>
                <a:spcPct val="100000"/>
              </a:lnSpc>
              <a:spcBef>
                <a:spcPts val="1200"/>
              </a:spcBef>
            </a:pPr>
            <a:r>
              <a:rPr lang="en-GB" altLang="en-US" sz="2000" dirty="0">
                <a:latin typeface="Calibri" panose="020F0502020204030204" pitchFamily="34" charset="0"/>
                <a:cs typeface="Calibri" panose="020F0502020204030204" pitchFamily="34" charset="0"/>
              </a:rPr>
              <a:t>Perfectly competitive firms also maximise profits where P = MC.</a:t>
            </a:r>
          </a:p>
          <a:p>
            <a:pPr>
              <a:lnSpc>
                <a:spcPct val="100000"/>
              </a:lnSpc>
              <a:spcBef>
                <a:spcPts val="1200"/>
              </a:spcBef>
            </a:pPr>
            <a:r>
              <a:rPr lang="en-GB" altLang="en-US" sz="2000" dirty="0">
                <a:latin typeface="Calibri" panose="020F0502020204030204" pitchFamily="34" charset="0"/>
                <a:cs typeface="Calibri" panose="020F0502020204030204" pitchFamily="34" charset="0"/>
              </a:rPr>
              <a:t>A monopolist may not have the same incentive as a perfectly competitive firm to become efficient and produce at low prices and high outputs, but it has the ability.</a:t>
            </a:r>
          </a:p>
          <a:p>
            <a:pPr>
              <a:lnSpc>
                <a:spcPct val="100000"/>
              </a:lnSpc>
              <a:spcBef>
                <a:spcPts val="1200"/>
              </a:spcBef>
            </a:pPr>
            <a:r>
              <a:rPr lang="en-GB" altLang="en-US" sz="2000" dirty="0">
                <a:latin typeface="Calibri" panose="020F0502020204030204" pitchFamily="34" charset="0"/>
                <a:cs typeface="Calibri" panose="020F0502020204030204" pitchFamily="34" charset="0"/>
              </a:rPr>
              <a:t>Due to strong interdependence between oligopolists, firms need to decide whether to compete or collude.</a:t>
            </a:r>
          </a:p>
          <a:p>
            <a:pPr marL="0" indent="0">
              <a:lnSpc>
                <a:spcPct val="100000"/>
              </a:lnSpc>
              <a:spcBef>
                <a:spcPts val="1200"/>
              </a:spcBef>
              <a:buNone/>
            </a:pPr>
            <a:endParaRPr lang="en-GB" altLang="en-US"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563310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1959">
                                            <p:txEl>
                                              <p:pRg st="0" end="0"/>
                                            </p:txEl>
                                          </p:spTgt>
                                        </p:tgtEl>
                                        <p:attrNameLst>
                                          <p:attrName>style.visibility</p:attrName>
                                        </p:attrNameLst>
                                      </p:cBhvr>
                                      <p:to>
                                        <p:strVal val="visible"/>
                                      </p:to>
                                    </p:set>
                                    <p:anim calcmode="lin" valueType="num">
                                      <p:cBhvr additive="base">
                                        <p:cTn id="7" dur="500"/>
                                        <p:tgtEl>
                                          <p:spTgt spid="38195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195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1959">
                                            <p:txEl>
                                              <p:pRg st="1" end="1"/>
                                            </p:txEl>
                                          </p:spTgt>
                                        </p:tgtEl>
                                        <p:attrNameLst>
                                          <p:attrName>style.visibility</p:attrName>
                                        </p:attrNameLst>
                                      </p:cBhvr>
                                      <p:to>
                                        <p:strVal val="visible"/>
                                      </p:to>
                                    </p:set>
                                    <p:anim calcmode="lin" valueType="num">
                                      <p:cBhvr additive="base">
                                        <p:cTn id="13" dur="500"/>
                                        <p:tgtEl>
                                          <p:spTgt spid="38195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195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1959">
                                            <p:txEl>
                                              <p:pRg st="2" end="2"/>
                                            </p:txEl>
                                          </p:spTgt>
                                        </p:tgtEl>
                                        <p:attrNameLst>
                                          <p:attrName>style.visibility</p:attrName>
                                        </p:attrNameLst>
                                      </p:cBhvr>
                                      <p:to>
                                        <p:strVal val="visible"/>
                                      </p:to>
                                    </p:set>
                                    <p:anim calcmode="lin" valueType="num">
                                      <p:cBhvr additive="base">
                                        <p:cTn id="19" dur="500"/>
                                        <p:tgtEl>
                                          <p:spTgt spid="38195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195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1959">
                                            <p:txEl>
                                              <p:pRg st="3" end="3"/>
                                            </p:txEl>
                                          </p:spTgt>
                                        </p:tgtEl>
                                        <p:attrNameLst>
                                          <p:attrName>style.visibility</p:attrName>
                                        </p:attrNameLst>
                                      </p:cBhvr>
                                      <p:to>
                                        <p:strVal val="visible"/>
                                      </p:to>
                                    </p:set>
                                    <p:anim calcmode="lin" valueType="num">
                                      <p:cBhvr additive="base">
                                        <p:cTn id="25" dur="500"/>
                                        <p:tgtEl>
                                          <p:spTgt spid="38195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195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1959">
                                            <p:txEl>
                                              <p:pRg st="4" end="4"/>
                                            </p:txEl>
                                          </p:spTgt>
                                        </p:tgtEl>
                                        <p:attrNameLst>
                                          <p:attrName>style.visibility</p:attrName>
                                        </p:attrNameLst>
                                      </p:cBhvr>
                                      <p:to>
                                        <p:strVal val="visible"/>
                                      </p:to>
                                    </p:set>
                                    <p:anim calcmode="lin" valueType="num">
                                      <p:cBhvr additive="base">
                                        <p:cTn id="31" dur="500"/>
                                        <p:tgtEl>
                                          <p:spTgt spid="38195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195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1959">
                                            <p:txEl>
                                              <p:pRg st="5" end="5"/>
                                            </p:txEl>
                                          </p:spTgt>
                                        </p:tgtEl>
                                        <p:attrNameLst>
                                          <p:attrName>style.visibility</p:attrName>
                                        </p:attrNameLst>
                                      </p:cBhvr>
                                      <p:to>
                                        <p:strVal val="visible"/>
                                      </p:to>
                                    </p:set>
                                    <p:anim calcmode="lin" valueType="num">
                                      <p:cBhvr additive="base">
                                        <p:cTn id="37" dur="500"/>
                                        <p:tgtEl>
                                          <p:spTgt spid="38195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19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9" grpId="0" build="p" bldLvl="2" autoUpdateAnimBg="0"/>
    </p:bld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7B2099-E7CC-434D-9C82-BE12EDC62C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318df0-612d-4dff-ad55-c2016fd214d1"/>
    <ds:schemaRef ds:uri="750e769a-c6ab-48a0-ac99-347a633d87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2C876A-3CFF-456F-9860-B4CE26D1D368}">
  <ds:schemaRefs>
    <ds:schemaRef ds:uri="http://purl.org/dc/terms/"/>
    <ds:schemaRef ds:uri="http://purl.org/dc/dcmitype/"/>
    <ds:schemaRef ds:uri="http://schemas.microsoft.com/office/infopath/2007/PartnerControls"/>
    <ds:schemaRef ds:uri="750e769a-c6ab-48a0-ac99-347a633d873e"/>
    <ds:schemaRef ds:uri="http://schemas.microsoft.com/office/2006/documentManagement/types"/>
    <ds:schemaRef ds:uri="http://schemas.microsoft.com/office/2006/metadata/properties"/>
    <ds:schemaRef ds:uri="4e318df0-612d-4dff-ad55-c2016fd214d1"/>
    <ds:schemaRef ds:uri="http://schemas.openxmlformats.org/package/2006/metadata/core-properties"/>
    <ds:schemaRef ds:uri="http://www.w3.org/XML/1998/namespace"/>
    <ds:schemaRef ds:uri="http://purl.org/dc/elements/1.1/"/>
  </ds:schemaRefs>
</ds:datastoreItem>
</file>

<file path=customXml/itemProps3.xml><?xml version="1.0" encoding="utf-8"?>
<ds:datastoreItem xmlns:ds="http://schemas.openxmlformats.org/officeDocument/2006/customXml" ds:itemID="{1ECF88A7-10E3-4B78-AAB4-E035B0995F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17</TotalTime>
  <Words>4273</Words>
  <Application>Microsoft Office PowerPoint</Application>
  <PresentationFormat>Widescreen</PresentationFormat>
  <Paragraphs>372</Paragraphs>
  <Slides>38</Slides>
  <Notes>30</Notes>
  <HiddenSlides>0</HiddenSlides>
  <MMClips>0</MMClips>
  <ScaleCrop>false</ScaleCrop>
  <HeadingPairs>
    <vt:vector size="8" baseType="variant">
      <vt:variant>
        <vt:lpstr>Fonts Used</vt:lpstr>
      </vt:variant>
      <vt:variant>
        <vt:i4>6</vt:i4>
      </vt:variant>
      <vt:variant>
        <vt:lpstr>Theme</vt:lpstr>
      </vt:variant>
      <vt:variant>
        <vt:i4>6</vt:i4>
      </vt:variant>
      <vt:variant>
        <vt:lpstr>Embedded OLE Servers</vt:lpstr>
      </vt:variant>
      <vt:variant>
        <vt:i4>1</vt:i4>
      </vt:variant>
      <vt:variant>
        <vt:lpstr>Slide Titles</vt:lpstr>
      </vt:variant>
      <vt:variant>
        <vt:i4>38</vt:i4>
      </vt:variant>
    </vt:vector>
  </HeadingPairs>
  <TitlesOfParts>
    <vt:vector size="51" baseType="lpstr">
      <vt:lpstr>Aptos</vt:lpstr>
      <vt:lpstr>Arial</vt:lpstr>
      <vt:lpstr>Calibri</vt:lpstr>
      <vt:lpstr>Helvetica</vt:lpstr>
      <vt:lpstr>Wingdings</vt:lpstr>
      <vt:lpstr>Wingdings 2</vt:lpstr>
      <vt:lpstr>Custom Design</vt:lpstr>
      <vt:lpstr>1_Custom Design</vt:lpstr>
      <vt:lpstr>1_Office Theme</vt:lpstr>
      <vt:lpstr>4_Custom Design</vt:lpstr>
      <vt:lpstr>5_Custom Design</vt:lpstr>
      <vt:lpstr>6_Custom Design</vt:lpstr>
      <vt:lpstr>Document</vt:lpstr>
      <vt:lpstr>C29PE Economics for Professionals</vt:lpstr>
      <vt:lpstr>PowerPoint Presentation</vt:lpstr>
      <vt:lpstr>References</vt:lpstr>
      <vt:lpstr>Alternative market structures (consumer perspective)</vt:lpstr>
      <vt:lpstr>Alternative market structures (firm perspective)</vt:lpstr>
      <vt:lpstr>Alternative Market Structures</vt:lpstr>
      <vt:lpstr>PowerPoint Presentation</vt:lpstr>
      <vt:lpstr>Perfect Competition</vt:lpstr>
      <vt:lpstr>Perfect Competition</vt:lpstr>
      <vt:lpstr>Perfect Competition</vt:lpstr>
      <vt:lpstr>Perfect Competition</vt:lpstr>
      <vt:lpstr>Perfect Competition</vt:lpstr>
      <vt:lpstr>Perfect Competition</vt:lpstr>
      <vt:lpstr>Monopoly</vt:lpstr>
      <vt:lpstr>Monopoly</vt:lpstr>
      <vt:lpstr>Monopoly</vt:lpstr>
      <vt:lpstr>Monopoly</vt:lpstr>
      <vt:lpstr>Monopoly</vt:lpstr>
      <vt:lpstr>Monopoly versus Perfect Competition</vt:lpstr>
      <vt:lpstr>Monopolistic Competition</vt:lpstr>
      <vt:lpstr>Monopolistic Competition</vt:lpstr>
      <vt:lpstr>Monopolistic Competition</vt:lpstr>
      <vt:lpstr>Monopolistic Competition</vt:lpstr>
      <vt:lpstr>Monopolistic Competition</vt:lpstr>
      <vt:lpstr>Monopolistic Competition</vt:lpstr>
      <vt:lpstr>Monopolistic Competition</vt:lpstr>
      <vt:lpstr>Oligopoly</vt:lpstr>
      <vt:lpstr>Oligopoly</vt:lpstr>
      <vt:lpstr>Oligopoly</vt:lpstr>
      <vt:lpstr>Cartel instability</vt:lpstr>
      <vt:lpstr>When might collusion survive?</vt:lpstr>
      <vt:lpstr>Why collusion breaks down</vt:lpstr>
      <vt:lpstr>Oligopoly</vt:lpstr>
      <vt:lpstr>Oligopoly and the Consumer</vt:lpstr>
      <vt:lpstr>Oligopoly and the Consumer</vt:lpstr>
      <vt:lpstr>Market Structure</vt:lpstr>
      <vt:lpstr>Market Structure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54</cp:revision>
  <cp:lastPrinted>2024-03-27T09:31:09Z</cp:lastPrinted>
  <dcterms:created xsi:type="dcterms:W3CDTF">2024-03-26T13:44:16Z</dcterms:created>
  <dcterms:modified xsi:type="dcterms:W3CDTF">2025-08-29T01:43:55Z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