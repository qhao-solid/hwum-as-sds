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48"/>
  </p:notesMasterIdLst>
  <p:sldIdLst>
    <p:sldId id="258" r:id="rId10"/>
    <p:sldId id="719" r:id="rId11"/>
    <p:sldId id="853" r:id="rId12"/>
    <p:sldId id="735" r:id="rId13"/>
    <p:sldId id="733" r:id="rId14"/>
    <p:sldId id="734" r:id="rId15"/>
    <p:sldId id="855" r:id="rId16"/>
    <p:sldId id="430" r:id="rId17"/>
    <p:sldId id="431" r:id="rId18"/>
    <p:sldId id="479" r:id="rId19"/>
    <p:sldId id="480" r:id="rId20"/>
    <p:sldId id="481" r:id="rId21"/>
    <p:sldId id="494" r:id="rId22"/>
    <p:sldId id="436" r:id="rId23"/>
    <p:sldId id="491" r:id="rId24"/>
    <p:sldId id="443" r:id="rId25"/>
    <p:sldId id="444" r:id="rId26"/>
    <p:sldId id="492" r:id="rId27"/>
    <p:sldId id="736" r:id="rId28"/>
    <p:sldId id="261" r:id="rId29"/>
    <p:sldId id="674" r:id="rId30"/>
    <p:sldId id="673" r:id="rId31"/>
    <p:sldId id="727" r:id="rId32"/>
    <p:sldId id="285" r:id="rId33"/>
    <p:sldId id="658" r:id="rId34"/>
    <p:sldId id="288" r:id="rId35"/>
    <p:sldId id="730" r:id="rId36"/>
    <p:sldId id="713" r:id="rId37"/>
    <p:sldId id="290" r:id="rId38"/>
    <p:sldId id="732" r:id="rId39"/>
    <p:sldId id="677" r:id="rId40"/>
    <p:sldId id="663" r:id="rId41"/>
    <p:sldId id="664" r:id="rId42"/>
    <p:sldId id="714" r:id="rId43"/>
    <p:sldId id="665" r:id="rId44"/>
    <p:sldId id="682" r:id="rId45"/>
    <p:sldId id="668" r:id="rId46"/>
    <p:sldId id="854" r:id="rId47"/>
  </p:sldIdLst>
  <p:sldSz cx="12192000" cy="6858000"/>
  <p:notesSz cx="9926638"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0D32C-E515-1663-296E-B7D09DC728DD}" v="4" dt="2024-10-01T09:27:03.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sorterViewPr>
    <p:cViewPr>
      <p:scale>
        <a:sx n="100" d="100"/>
        <a:sy n="100" d="100"/>
      </p:scale>
      <p:origin x="0" y="-90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 Maddison" userId="S::yn2010@hw.ac.uk::82b60080-d297-4d7a-b195-3adcb95e0202" providerId="AD" clId="Web-{ECDFC9FF-3ADE-0FBD-9E5E-2F5544F178BB}"/>
    <pc:docChg chg="addSld delSld modSld">
      <pc:chgData name="Ng, Maddison" userId="S::yn2010@hw.ac.uk::82b60080-d297-4d7a-b195-3adcb95e0202" providerId="AD" clId="Web-{ECDFC9FF-3ADE-0FBD-9E5E-2F5544F178BB}" dt="2024-09-25T04:26:52.057" v="2"/>
      <pc:docMkLst>
        <pc:docMk/>
      </pc:docMkLst>
      <pc:sldChg chg="modSp">
        <pc:chgData name="Ng, Maddison" userId="S::yn2010@hw.ac.uk::82b60080-d297-4d7a-b195-3adcb95e0202" providerId="AD" clId="Web-{ECDFC9FF-3ADE-0FBD-9E5E-2F5544F178BB}" dt="2024-09-25T04:19:30.309" v="0" actId="1076"/>
        <pc:sldMkLst>
          <pc:docMk/>
          <pc:sldMk cId="3223380822" sldId="285"/>
        </pc:sldMkLst>
        <pc:spChg chg="mod">
          <ac:chgData name="Ng, Maddison" userId="S::yn2010@hw.ac.uk::82b60080-d297-4d7a-b195-3adcb95e0202" providerId="AD" clId="Web-{ECDFC9FF-3ADE-0FBD-9E5E-2F5544F178BB}" dt="2024-09-25T04:19:30.309" v="0" actId="1076"/>
          <ac:spMkLst>
            <pc:docMk/>
            <pc:sldMk cId="3223380822" sldId="285"/>
            <ac:spMk id="14342" creationId="{618B20E2-C0A9-4E12-929E-A4A2014C892B}"/>
          </ac:spMkLst>
        </pc:spChg>
      </pc:sldChg>
      <pc:sldChg chg="new del">
        <pc:chgData name="Ng, Maddison" userId="S::yn2010@hw.ac.uk::82b60080-d297-4d7a-b195-3adcb95e0202" providerId="AD" clId="Web-{ECDFC9FF-3ADE-0FBD-9E5E-2F5544F178BB}" dt="2024-09-25T04:26:52.057" v="2"/>
        <pc:sldMkLst>
          <pc:docMk/>
          <pc:sldMk cId="816537118" sldId="737"/>
        </pc:sldMkLst>
      </pc:sldChg>
    </pc:docChg>
  </pc:docChgLst>
  <pc:docChgLst>
    <pc:chgData name="Tiong, Gerald" userId="S::gt2010@hw.ac.uk::322257f8-87d9-4095-be49-0cec9e841c88" providerId="AD" clId="Web-{0B10D32C-E515-1663-296E-B7D09DC728DD}"/>
    <pc:docChg chg="addSld delSld modSld">
      <pc:chgData name="Tiong, Gerald" userId="S::gt2010@hw.ac.uk::322257f8-87d9-4095-be49-0cec9e841c88" providerId="AD" clId="Web-{0B10D32C-E515-1663-296E-B7D09DC728DD}" dt="2024-10-01T09:27:03.643" v="3" actId="1076"/>
      <pc:docMkLst>
        <pc:docMk/>
      </pc:docMkLst>
      <pc:sldChg chg="modSp">
        <pc:chgData name="Tiong, Gerald" userId="S::gt2010@hw.ac.uk::322257f8-87d9-4095-be49-0cec9e841c88" providerId="AD" clId="Web-{0B10D32C-E515-1663-296E-B7D09DC728DD}" dt="2024-10-01T09:27:03.643" v="3" actId="1076"/>
        <pc:sldMkLst>
          <pc:docMk/>
          <pc:sldMk cId="625351877" sldId="480"/>
        </pc:sldMkLst>
        <pc:spChg chg="mod">
          <ac:chgData name="Tiong, Gerald" userId="S::gt2010@hw.ac.uk::322257f8-87d9-4095-be49-0cec9e841c88" providerId="AD" clId="Web-{0B10D32C-E515-1663-296E-B7D09DC728DD}" dt="2024-10-01T09:27:03.643" v="3" actId="1076"/>
          <ac:spMkLst>
            <pc:docMk/>
            <pc:sldMk cId="625351877" sldId="480"/>
            <ac:spMk id="15366" creationId="{7DBE4152-CCE6-45A1-BE59-8593927CF6ED}"/>
          </ac:spMkLst>
        </pc:spChg>
      </pc:sldChg>
      <pc:sldChg chg="new del">
        <pc:chgData name="Tiong, Gerald" userId="S::gt2010@hw.ac.uk::322257f8-87d9-4095-be49-0cec9e841c88" providerId="AD" clId="Web-{0B10D32C-E515-1663-296E-B7D09DC728DD}" dt="2024-10-01T09:24:02.709" v="1"/>
        <pc:sldMkLst>
          <pc:docMk/>
          <pc:sldMk cId="784535424" sldId="737"/>
        </pc:sldMkLst>
      </pc:sldChg>
    </pc:docChg>
  </pc:docChgLst>
  <pc:docChgLst>
    <pc:chgData name="Yeoh, Edmond" userId="S::ey2012@hw.ac.uk::ee5d9832-86f5-443b-84cb-80fbf0a18dfc" providerId="AD" clId="Web-{9A97EB4D-79EF-9767-F213-CBC2FCA11619}"/>
    <pc:docChg chg="modSld">
      <pc:chgData name="Yeoh, Edmond" userId="S::ey2012@hw.ac.uk::ee5d9832-86f5-443b-84cb-80fbf0a18dfc" providerId="AD" clId="Web-{9A97EB4D-79EF-9767-F213-CBC2FCA11619}" dt="2024-09-25T03:59:23.190" v="2" actId="20577"/>
      <pc:docMkLst>
        <pc:docMk/>
      </pc:docMkLst>
      <pc:sldChg chg="modSp">
        <pc:chgData name="Yeoh, Edmond" userId="S::ey2012@hw.ac.uk::ee5d9832-86f5-443b-84cb-80fbf0a18dfc" providerId="AD" clId="Web-{9A97EB4D-79EF-9767-F213-CBC2FCA11619}" dt="2024-09-25T03:59:23.190" v="2" actId="20577"/>
        <pc:sldMkLst>
          <pc:docMk/>
          <pc:sldMk cId="625351877" sldId="480"/>
        </pc:sldMkLst>
        <pc:spChg chg="mod">
          <ac:chgData name="Yeoh, Edmond" userId="S::ey2012@hw.ac.uk::ee5d9832-86f5-443b-84cb-80fbf0a18dfc" providerId="AD" clId="Web-{9A97EB4D-79EF-9767-F213-CBC2FCA11619}" dt="2024-09-25T03:59:23.190" v="2" actId="20577"/>
          <ac:spMkLst>
            <pc:docMk/>
            <pc:sldMk cId="625351877" sldId="480"/>
            <ac:spMk id="3" creationId="{01098B26-7EAB-4267-97FC-53D2D69D52B8}"/>
          </ac:spMkLst>
        </pc:spChg>
      </pc:sldChg>
    </pc:docChg>
  </pc:docChgLst>
  <pc:docChgLst>
    <pc:chgData name="Tiew, Kai Meng" userId="80c88257-d5ea-4cc0-91ea-e3cccfa2d0b9" providerId="ADAL" clId="{5DD43F4B-0561-470A-846F-0E5D7AD1DAE9}"/>
    <pc:docChg chg="modSld modNotesMaster">
      <pc:chgData name="Tiew, Kai Meng" userId="80c88257-d5ea-4cc0-91ea-e3cccfa2d0b9" providerId="ADAL" clId="{5DD43F4B-0561-470A-846F-0E5D7AD1DAE9}" dt="2024-09-24T17:42:59.449" v="1"/>
      <pc:docMkLst>
        <pc:docMk/>
      </pc:docMkLst>
      <pc:sldChg chg="modNotes">
        <pc:chgData name="Tiew, Kai Meng" userId="80c88257-d5ea-4cc0-91ea-e3cccfa2d0b9" providerId="ADAL" clId="{5DD43F4B-0561-470A-846F-0E5D7AD1DAE9}" dt="2024-09-24T17:42:59.449" v="1"/>
        <pc:sldMkLst>
          <pc:docMk/>
          <pc:sldMk cId="3223380822" sldId="285"/>
        </pc:sldMkLst>
      </pc:sldChg>
      <pc:sldChg chg="modNotes">
        <pc:chgData name="Tiew, Kai Meng" userId="80c88257-d5ea-4cc0-91ea-e3cccfa2d0b9" providerId="ADAL" clId="{5DD43F4B-0561-470A-846F-0E5D7AD1DAE9}" dt="2024-09-24T17:42:59.449" v="1"/>
        <pc:sldMkLst>
          <pc:docMk/>
          <pc:sldMk cId="3745851747" sldId="288"/>
        </pc:sldMkLst>
      </pc:sldChg>
      <pc:sldChg chg="modNotes">
        <pc:chgData name="Tiew, Kai Meng" userId="80c88257-d5ea-4cc0-91ea-e3cccfa2d0b9" providerId="ADAL" clId="{5DD43F4B-0561-470A-846F-0E5D7AD1DAE9}" dt="2024-09-24T17:42:59.449" v="1"/>
        <pc:sldMkLst>
          <pc:docMk/>
          <pc:sldMk cId="928199782" sldId="290"/>
        </pc:sldMkLst>
      </pc:sldChg>
      <pc:sldChg chg="modNotes">
        <pc:chgData name="Tiew, Kai Meng" userId="80c88257-d5ea-4cc0-91ea-e3cccfa2d0b9" providerId="ADAL" clId="{5DD43F4B-0561-470A-846F-0E5D7AD1DAE9}" dt="2024-09-24T17:42:59.449" v="1"/>
        <pc:sldMkLst>
          <pc:docMk/>
          <pc:sldMk cId="1796842185" sldId="430"/>
        </pc:sldMkLst>
      </pc:sldChg>
      <pc:sldChg chg="modNotes">
        <pc:chgData name="Tiew, Kai Meng" userId="80c88257-d5ea-4cc0-91ea-e3cccfa2d0b9" providerId="ADAL" clId="{5DD43F4B-0561-470A-846F-0E5D7AD1DAE9}" dt="2024-09-24T17:42:59.449" v="1"/>
        <pc:sldMkLst>
          <pc:docMk/>
          <pc:sldMk cId="2472772639" sldId="431"/>
        </pc:sldMkLst>
      </pc:sldChg>
      <pc:sldChg chg="modNotes">
        <pc:chgData name="Tiew, Kai Meng" userId="80c88257-d5ea-4cc0-91ea-e3cccfa2d0b9" providerId="ADAL" clId="{5DD43F4B-0561-470A-846F-0E5D7AD1DAE9}" dt="2024-09-24T17:42:59.449" v="1"/>
        <pc:sldMkLst>
          <pc:docMk/>
          <pc:sldMk cId="405946391" sldId="436"/>
        </pc:sldMkLst>
      </pc:sldChg>
      <pc:sldChg chg="modNotes">
        <pc:chgData name="Tiew, Kai Meng" userId="80c88257-d5ea-4cc0-91ea-e3cccfa2d0b9" providerId="ADAL" clId="{5DD43F4B-0561-470A-846F-0E5D7AD1DAE9}" dt="2024-09-24T17:42:59.449" v="1"/>
        <pc:sldMkLst>
          <pc:docMk/>
          <pc:sldMk cId="610236220" sldId="443"/>
        </pc:sldMkLst>
      </pc:sldChg>
      <pc:sldChg chg="modNotes">
        <pc:chgData name="Tiew, Kai Meng" userId="80c88257-d5ea-4cc0-91ea-e3cccfa2d0b9" providerId="ADAL" clId="{5DD43F4B-0561-470A-846F-0E5D7AD1DAE9}" dt="2024-09-24T17:42:59.449" v="1"/>
        <pc:sldMkLst>
          <pc:docMk/>
          <pc:sldMk cId="3605424157" sldId="444"/>
        </pc:sldMkLst>
      </pc:sldChg>
      <pc:sldChg chg="modNotes">
        <pc:chgData name="Tiew, Kai Meng" userId="80c88257-d5ea-4cc0-91ea-e3cccfa2d0b9" providerId="ADAL" clId="{5DD43F4B-0561-470A-846F-0E5D7AD1DAE9}" dt="2024-09-24T17:42:59.449" v="1"/>
        <pc:sldMkLst>
          <pc:docMk/>
          <pc:sldMk cId="3527237299" sldId="479"/>
        </pc:sldMkLst>
      </pc:sldChg>
      <pc:sldChg chg="modNotes">
        <pc:chgData name="Tiew, Kai Meng" userId="80c88257-d5ea-4cc0-91ea-e3cccfa2d0b9" providerId="ADAL" clId="{5DD43F4B-0561-470A-846F-0E5D7AD1DAE9}" dt="2024-09-24T17:42:59.449" v="1"/>
        <pc:sldMkLst>
          <pc:docMk/>
          <pc:sldMk cId="625351877" sldId="480"/>
        </pc:sldMkLst>
      </pc:sldChg>
      <pc:sldChg chg="modNotes">
        <pc:chgData name="Tiew, Kai Meng" userId="80c88257-d5ea-4cc0-91ea-e3cccfa2d0b9" providerId="ADAL" clId="{5DD43F4B-0561-470A-846F-0E5D7AD1DAE9}" dt="2024-09-24T17:42:59.449" v="1"/>
        <pc:sldMkLst>
          <pc:docMk/>
          <pc:sldMk cId="339099807" sldId="481"/>
        </pc:sldMkLst>
      </pc:sldChg>
      <pc:sldChg chg="modNotes">
        <pc:chgData name="Tiew, Kai Meng" userId="80c88257-d5ea-4cc0-91ea-e3cccfa2d0b9" providerId="ADAL" clId="{5DD43F4B-0561-470A-846F-0E5D7AD1DAE9}" dt="2024-09-24T17:42:59.449" v="1"/>
        <pc:sldMkLst>
          <pc:docMk/>
          <pc:sldMk cId="1708477234" sldId="658"/>
        </pc:sldMkLst>
      </pc:sldChg>
      <pc:sldChg chg="modNotes">
        <pc:chgData name="Tiew, Kai Meng" userId="80c88257-d5ea-4cc0-91ea-e3cccfa2d0b9" providerId="ADAL" clId="{5DD43F4B-0561-470A-846F-0E5D7AD1DAE9}" dt="2024-09-24T17:42:59.449" v="1"/>
        <pc:sldMkLst>
          <pc:docMk/>
          <pc:sldMk cId="3395608685" sldId="663"/>
        </pc:sldMkLst>
      </pc:sldChg>
      <pc:sldChg chg="modNotes">
        <pc:chgData name="Tiew, Kai Meng" userId="80c88257-d5ea-4cc0-91ea-e3cccfa2d0b9" providerId="ADAL" clId="{5DD43F4B-0561-470A-846F-0E5D7AD1DAE9}" dt="2024-09-24T17:42:59.449" v="1"/>
        <pc:sldMkLst>
          <pc:docMk/>
          <pc:sldMk cId="3037603954" sldId="664"/>
        </pc:sldMkLst>
      </pc:sldChg>
      <pc:sldChg chg="modNotes">
        <pc:chgData name="Tiew, Kai Meng" userId="80c88257-d5ea-4cc0-91ea-e3cccfa2d0b9" providerId="ADAL" clId="{5DD43F4B-0561-470A-846F-0E5D7AD1DAE9}" dt="2024-09-24T17:42:59.449" v="1"/>
        <pc:sldMkLst>
          <pc:docMk/>
          <pc:sldMk cId="3254658808" sldId="665"/>
        </pc:sldMkLst>
      </pc:sldChg>
      <pc:sldChg chg="modNotes">
        <pc:chgData name="Tiew, Kai Meng" userId="80c88257-d5ea-4cc0-91ea-e3cccfa2d0b9" providerId="ADAL" clId="{5DD43F4B-0561-470A-846F-0E5D7AD1DAE9}" dt="2024-09-24T17:42:59.449" v="1"/>
        <pc:sldMkLst>
          <pc:docMk/>
          <pc:sldMk cId="2401622208" sldId="668"/>
        </pc:sldMkLst>
      </pc:sldChg>
      <pc:sldChg chg="modNotes">
        <pc:chgData name="Tiew, Kai Meng" userId="80c88257-d5ea-4cc0-91ea-e3cccfa2d0b9" providerId="ADAL" clId="{5DD43F4B-0561-470A-846F-0E5D7AD1DAE9}" dt="2024-09-24T17:42:59.449" v="1"/>
        <pc:sldMkLst>
          <pc:docMk/>
          <pc:sldMk cId="1169440785" sldId="673"/>
        </pc:sldMkLst>
      </pc:sldChg>
      <pc:sldChg chg="modNotes">
        <pc:chgData name="Tiew, Kai Meng" userId="80c88257-d5ea-4cc0-91ea-e3cccfa2d0b9" providerId="ADAL" clId="{5DD43F4B-0561-470A-846F-0E5D7AD1DAE9}" dt="2024-09-24T17:42:59.449" v="1"/>
        <pc:sldMkLst>
          <pc:docMk/>
          <pc:sldMk cId="1740851288" sldId="674"/>
        </pc:sldMkLst>
      </pc:sldChg>
      <pc:sldChg chg="modNotes">
        <pc:chgData name="Tiew, Kai Meng" userId="80c88257-d5ea-4cc0-91ea-e3cccfa2d0b9" providerId="ADAL" clId="{5DD43F4B-0561-470A-846F-0E5D7AD1DAE9}" dt="2024-09-24T17:42:59.449" v="1"/>
        <pc:sldMkLst>
          <pc:docMk/>
          <pc:sldMk cId="112760919" sldId="677"/>
        </pc:sldMkLst>
      </pc:sldChg>
      <pc:sldChg chg="modNotes">
        <pc:chgData name="Tiew, Kai Meng" userId="80c88257-d5ea-4cc0-91ea-e3cccfa2d0b9" providerId="ADAL" clId="{5DD43F4B-0561-470A-846F-0E5D7AD1DAE9}" dt="2024-09-24T17:42:59.449" v="1"/>
        <pc:sldMkLst>
          <pc:docMk/>
          <pc:sldMk cId="1521539204" sldId="682"/>
        </pc:sldMkLst>
      </pc:sldChg>
      <pc:sldChg chg="modNotes">
        <pc:chgData name="Tiew, Kai Meng" userId="80c88257-d5ea-4cc0-91ea-e3cccfa2d0b9" providerId="ADAL" clId="{5DD43F4B-0561-470A-846F-0E5D7AD1DAE9}" dt="2024-09-24T17:42:59.449" v="1"/>
        <pc:sldMkLst>
          <pc:docMk/>
          <pc:sldMk cId="2506371408" sldId="689"/>
        </pc:sldMkLst>
      </pc:sldChg>
      <pc:sldChg chg="modNotes">
        <pc:chgData name="Tiew, Kai Meng" userId="80c88257-d5ea-4cc0-91ea-e3cccfa2d0b9" providerId="ADAL" clId="{5DD43F4B-0561-470A-846F-0E5D7AD1DAE9}" dt="2024-09-24T17:42:59.449" v="1"/>
        <pc:sldMkLst>
          <pc:docMk/>
          <pc:sldMk cId="4263737830" sldId="690"/>
        </pc:sldMkLst>
      </pc:sldChg>
      <pc:sldChg chg="modNotes">
        <pc:chgData name="Tiew, Kai Meng" userId="80c88257-d5ea-4cc0-91ea-e3cccfa2d0b9" providerId="ADAL" clId="{5DD43F4B-0561-470A-846F-0E5D7AD1DAE9}" dt="2024-09-24T17:42:59.449" v="1"/>
        <pc:sldMkLst>
          <pc:docMk/>
          <pc:sldMk cId="237408185" sldId="691"/>
        </pc:sldMkLst>
      </pc:sldChg>
      <pc:sldChg chg="modNotes">
        <pc:chgData name="Tiew, Kai Meng" userId="80c88257-d5ea-4cc0-91ea-e3cccfa2d0b9" providerId="ADAL" clId="{5DD43F4B-0561-470A-846F-0E5D7AD1DAE9}" dt="2024-09-24T17:42:59.449" v="1"/>
        <pc:sldMkLst>
          <pc:docMk/>
          <pc:sldMk cId="817810503" sldId="692"/>
        </pc:sldMkLst>
      </pc:sldChg>
      <pc:sldChg chg="modNotes">
        <pc:chgData name="Tiew, Kai Meng" userId="80c88257-d5ea-4cc0-91ea-e3cccfa2d0b9" providerId="ADAL" clId="{5DD43F4B-0561-470A-846F-0E5D7AD1DAE9}" dt="2024-09-24T17:42:59.449" v="1"/>
        <pc:sldMkLst>
          <pc:docMk/>
          <pc:sldMk cId="1678672408" sldId="693"/>
        </pc:sldMkLst>
      </pc:sldChg>
      <pc:sldChg chg="modNotes">
        <pc:chgData name="Tiew, Kai Meng" userId="80c88257-d5ea-4cc0-91ea-e3cccfa2d0b9" providerId="ADAL" clId="{5DD43F4B-0561-470A-846F-0E5D7AD1DAE9}" dt="2024-09-24T17:42:59.449" v="1"/>
        <pc:sldMkLst>
          <pc:docMk/>
          <pc:sldMk cId="1042654207" sldId="700"/>
        </pc:sldMkLst>
      </pc:sldChg>
      <pc:sldChg chg="modNotes">
        <pc:chgData name="Tiew, Kai Meng" userId="80c88257-d5ea-4cc0-91ea-e3cccfa2d0b9" providerId="ADAL" clId="{5DD43F4B-0561-470A-846F-0E5D7AD1DAE9}" dt="2024-09-24T17:42:59.449" v="1"/>
        <pc:sldMkLst>
          <pc:docMk/>
          <pc:sldMk cId="3791271766" sldId="702"/>
        </pc:sldMkLst>
      </pc:sldChg>
      <pc:sldChg chg="modNotes">
        <pc:chgData name="Tiew, Kai Meng" userId="80c88257-d5ea-4cc0-91ea-e3cccfa2d0b9" providerId="ADAL" clId="{5DD43F4B-0561-470A-846F-0E5D7AD1DAE9}" dt="2024-09-24T17:42:59.449" v="1"/>
        <pc:sldMkLst>
          <pc:docMk/>
          <pc:sldMk cId="4151909725" sldId="704"/>
        </pc:sldMkLst>
      </pc:sldChg>
      <pc:sldChg chg="modNotes">
        <pc:chgData name="Tiew, Kai Meng" userId="80c88257-d5ea-4cc0-91ea-e3cccfa2d0b9" providerId="ADAL" clId="{5DD43F4B-0561-470A-846F-0E5D7AD1DAE9}" dt="2024-09-24T17:42:59.449" v="1"/>
        <pc:sldMkLst>
          <pc:docMk/>
          <pc:sldMk cId="3603959707" sldId="705"/>
        </pc:sldMkLst>
      </pc:sldChg>
      <pc:sldChg chg="modNotes">
        <pc:chgData name="Tiew, Kai Meng" userId="80c88257-d5ea-4cc0-91ea-e3cccfa2d0b9" providerId="ADAL" clId="{5DD43F4B-0561-470A-846F-0E5D7AD1DAE9}" dt="2024-09-24T17:42:59.449" v="1"/>
        <pc:sldMkLst>
          <pc:docMk/>
          <pc:sldMk cId="180514235" sldId="706"/>
        </pc:sldMkLst>
      </pc:sldChg>
      <pc:sldChg chg="modNotes">
        <pc:chgData name="Tiew, Kai Meng" userId="80c88257-d5ea-4cc0-91ea-e3cccfa2d0b9" providerId="ADAL" clId="{5DD43F4B-0561-470A-846F-0E5D7AD1DAE9}" dt="2024-09-24T17:42:59.449" v="1"/>
        <pc:sldMkLst>
          <pc:docMk/>
          <pc:sldMk cId="571174421" sldId="713"/>
        </pc:sldMkLst>
      </pc:sldChg>
      <pc:sldChg chg="modNotes">
        <pc:chgData name="Tiew, Kai Meng" userId="80c88257-d5ea-4cc0-91ea-e3cccfa2d0b9" providerId="ADAL" clId="{5DD43F4B-0561-470A-846F-0E5D7AD1DAE9}" dt="2024-09-24T17:42:59.449" v="1"/>
        <pc:sldMkLst>
          <pc:docMk/>
          <pc:sldMk cId="1070000718" sldId="714"/>
        </pc:sldMkLst>
      </pc:sldChg>
      <pc:sldChg chg="modNotes">
        <pc:chgData name="Tiew, Kai Meng" userId="80c88257-d5ea-4cc0-91ea-e3cccfa2d0b9" providerId="ADAL" clId="{5DD43F4B-0561-470A-846F-0E5D7AD1DAE9}" dt="2024-09-24T17:42:59.449" v="1"/>
        <pc:sldMkLst>
          <pc:docMk/>
          <pc:sldMk cId="1949244010" sldId="718"/>
        </pc:sldMkLst>
      </pc:sldChg>
      <pc:sldChg chg="modNotes">
        <pc:chgData name="Tiew, Kai Meng" userId="80c88257-d5ea-4cc0-91ea-e3cccfa2d0b9" providerId="ADAL" clId="{5DD43F4B-0561-470A-846F-0E5D7AD1DAE9}" dt="2024-09-24T17:42:59.449" v="1"/>
        <pc:sldMkLst>
          <pc:docMk/>
          <pc:sldMk cId="1202271213" sldId="726"/>
        </pc:sldMkLst>
      </pc:sldChg>
      <pc:sldChg chg="modNotes">
        <pc:chgData name="Tiew, Kai Meng" userId="80c88257-d5ea-4cc0-91ea-e3cccfa2d0b9" providerId="ADAL" clId="{5DD43F4B-0561-470A-846F-0E5D7AD1DAE9}" dt="2024-09-24T17:42:59.449" v="1"/>
        <pc:sldMkLst>
          <pc:docMk/>
          <pc:sldMk cId="2343295580" sldId="727"/>
        </pc:sldMkLst>
      </pc:sldChg>
      <pc:sldChg chg="modNotes">
        <pc:chgData name="Tiew, Kai Meng" userId="80c88257-d5ea-4cc0-91ea-e3cccfa2d0b9" providerId="ADAL" clId="{5DD43F4B-0561-470A-846F-0E5D7AD1DAE9}" dt="2024-09-24T17:42:59.449" v="1"/>
        <pc:sldMkLst>
          <pc:docMk/>
          <pc:sldMk cId="1731880825" sldId="730"/>
        </pc:sldMkLst>
      </pc:sldChg>
      <pc:sldChg chg="modNotes">
        <pc:chgData name="Tiew, Kai Meng" userId="80c88257-d5ea-4cc0-91ea-e3cccfa2d0b9" providerId="ADAL" clId="{5DD43F4B-0561-470A-846F-0E5D7AD1DAE9}" dt="2024-09-24T17:42:59.449" v="1"/>
        <pc:sldMkLst>
          <pc:docMk/>
          <pc:sldMk cId="2230664778" sldId="73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738680465717979E-2"/>
          <c:y val="6.0109289617486336E-2"/>
          <c:w val="0.91332470892626128"/>
          <c:h val="0.88342440801457189"/>
        </c:manualLayout>
      </c:layout>
      <c:lineChart>
        <c:grouping val="standard"/>
        <c:varyColors val="0"/>
        <c:ser>
          <c:idx val="1"/>
          <c:order val="0"/>
          <c:tx>
            <c:strRef>
              <c:f>Sheet1!$A$3</c:f>
              <c:strCache>
                <c:ptCount val="1"/>
              </c:strCache>
            </c:strRef>
          </c:tx>
          <c:spPr>
            <a:ln w="23295">
              <a:solidFill>
                <a:srgbClr val="660066"/>
              </a:solidFill>
              <a:prstDash val="solid"/>
            </a:ln>
          </c:spPr>
          <c:marker>
            <c:symbol val="none"/>
          </c:marker>
          <c:cat>
            <c:numRef>
              <c:f>Sheet1!$B$1:$S$1</c:f>
              <c:numCache>
                <c:formatCode>General</c:formatCode>
                <c:ptCount val="18"/>
                <c:pt idx="0">
                  <c:v>0</c:v>
                </c:pt>
                <c:pt idx="2">
                  <c:v>1</c:v>
                </c:pt>
                <c:pt idx="4">
                  <c:v>2</c:v>
                </c:pt>
                <c:pt idx="6">
                  <c:v>3</c:v>
                </c:pt>
                <c:pt idx="8">
                  <c:v>4</c:v>
                </c:pt>
                <c:pt idx="10">
                  <c:v>5</c:v>
                </c:pt>
                <c:pt idx="12">
                  <c:v>6</c:v>
                </c:pt>
                <c:pt idx="14">
                  <c:v>7</c:v>
                </c:pt>
                <c:pt idx="16">
                  <c:v>8</c:v>
                </c:pt>
              </c:numCache>
            </c:numRef>
          </c:cat>
          <c:val>
            <c:numRef>
              <c:f>Sheet1!$B$3:$S$3</c:f>
              <c:numCache>
                <c:formatCode>General</c:formatCode>
                <c:ptCount val="18"/>
                <c:pt idx="2">
                  <c:v>3</c:v>
                </c:pt>
                <c:pt idx="4">
                  <c:v>5</c:v>
                </c:pt>
                <c:pt idx="6">
                  <c:v>8</c:v>
                </c:pt>
                <c:pt idx="8">
                  <c:v>9</c:v>
                </c:pt>
                <c:pt idx="10">
                  <c:v>8</c:v>
                </c:pt>
                <c:pt idx="12">
                  <c:v>7</c:v>
                </c:pt>
                <c:pt idx="14">
                  <c:v>6</c:v>
                </c:pt>
                <c:pt idx="16">
                  <c:v>5</c:v>
                </c:pt>
              </c:numCache>
            </c:numRef>
          </c:val>
          <c:smooth val="1"/>
          <c:extLst>
            <c:ext xmlns:c16="http://schemas.microsoft.com/office/drawing/2014/chart" uri="{C3380CC4-5D6E-409C-BE32-E72D297353CC}">
              <c16:uniqueId val="{00000000-1740-4ACB-BFAA-6AF32871E861}"/>
            </c:ext>
          </c:extLst>
        </c:ser>
        <c:ser>
          <c:idx val="2"/>
          <c:order val="1"/>
          <c:tx>
            <c:strRef>
              <c:f>Sheet1!$A$4</c:f>
              <c:strCache>
                <c:ptCount val="1"/>
              </c:strCache>
            </c:strRef>
          </c:tx>
          <c:spPr>
            <a:ln w="23295">
              <a:solidFill>
                <a:srgbClr val="CC0000"/>
              </a:solidFill>
              <a:prstDash val="solid"/>
            </a:ln>
          </c:spPr>
          <c:marker>
            <c:symbol val="none"/>
          </c:marker>
          <c:cat>
            <c:numRef>
              <c:f>Sheet1!$B$1:$S$1</c:f>
              <c:numCache>
                <c:formatCode>General</c:formatCode>
                <c:ptCount val="18"/>
                <c:pt idx="0">
                  <c:v>0</c:v>
                </c:pt>
                <c:pt idx="2">
                  <c:v>1</c:v>
                </c:pt>
                <c:pt idx="4">
                  <c:v>2</c:v>
                </c:pt>
                <c:pt idx="6">
                  <c:v>3</c:v>
                </c:pt>
                <c:pt idx="8">
                  <c:v>4</c:v>
                </c:pt>
                <c:pt idx="10">
                  <c:v>5</c:v>
                </c:pt>
                <c:pt idx="12">
                  <c:v>6</c:v>
                </c:pt>
                <c:pt idx="14">
                  <c:v>7</c:v>
                </c:pt>
                <c:pt idx="16">
                  <c:v>8</c:v>
                </c:pt>
              </c:numCache>
            </c:numRef>
          </c:cat>
          <c:val>
            <c:numRef>
              <c:f>Sheet1!$B$4:$S$4</c:f>
              <c:numCache>
                <c:formatCode>General</c:formatCode>
                <c:ptCount val="18"/>
                <c:pt idx="1">
                  <c:v>3</c:v>
                </c:pt>
                <c:pt idx="3">
                  <c:v>7</c:v>
                </c:pt>
                <c:pt idx="5">
                  <c:v>14</c:v>
                </c:pt>
                <c:pt idx="7">
                  <c:v>12</c:v>
                </c:pt>
                <c:pt idx="9">
                  <c:v>5</c:v>
                </c:pt>
                <c:pt idx="11">
                  <c:v>2</c:v>
                </c:pt>
                <c:pt idx="13">
                  <c:v>0</c:v>
                </c:pt>
                <c:pt idx="15">
                  <c:v>-2</c:v>
                </c:pt>
              </c:numCache>
            </c:numRef>
          </c:val>
          <c:smooth val="1"/>
          <c:extLst>
            <c:ext xmlns:c16="http://schemas.microsoft.com/office/drawing/2014/chart" uri="{C3380CC4-5D6E-409C-BE32-E72D297353CC}">
              <c16:uniqueId val="{00000001-1740-4ACB-BFAA-6AF32871E861}"/>
            </c:ext>
          </c:extLst>
        </c:ser>
        <c:dLbls>
          <c:showLegendKey val="0"/>
          <c:showVal val="0"/>
          <c:showCatName val="0"/>
          <c:showSerName val="0"/>
          <c:showPercent val="0"/>
          <c:showBubbleSize val="0"/>
        </c:dLbls>
        <c:smooth val="0"/>
        <c:axId val="233697688"/>
        <c:axId val="1"/>
      </c:lineChart>
      <c:catAx>
        <c:axId val="233697688"/>
        <c:scaling>
          <c:orientation val="minMax"/>
        </c:scaling>
        <c:delete val="0"/>
        <c:axPos val="b"/>
        <c:numFmt formatCode="General" sourceLinked="1"/>
        <c:majorTickMark val="out"/>
        <c:minorTickMark val="none"/>
        <c:tickLblPos val="nextTo"/>
        <c:spPr>
          <a:ln w="15530">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US"/>
          </a:p>
        </c:txPr>
        <c:crossAx val="1"/>
        <c:crosses val="autoZero"/>
        <c:auto val="0"/>
        <c:lblAlgn val="ctr"/>
        <c:lblOffset val="100"/>
        <c:tickLblSkip val="1"/>
        <c:tickMarkSkip val="2"/>
        <c:noMultiLvlLbl val="0"/>
      </c:catAx>
      <c:valAx>
        <c:axId val="1"/>
        <c:scaling>
          <c:orientation val="minMax"/>
          <c:max val="15"/>
          <c:min val="-2"/>
        </c:scaling>
        <c:delete val="0"/>
        <c:axPos val="l"/>
        <c:numFmt formatCode="General" sourceLinked="1"/>
        <c:majorTickMark val="out"/>
        <c:minorTickMark val="none"/>
        <c:tickLblPos val="nextTo"/>
        <c:spPr>
          <a:ln w="15530">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US"/>
          </a:p>
        </c:txPr>
        <c:crossAx val="233697688"/>
        <c:crosses val="autoZero"/>
        <c:crossBetween val="midCat"/>
        <c:majorUnit val="2"/>
        <c:minorUnit val="2"/>
      </c:valAx>
      <c:spPr>
        <a:noFill/>
        <a:ln w="15530">
          <a:noFill/>
        </a:ln>
      </c:spPr>
    </c:plotArea>
    <c:plotVisOnly val="1"/>
    <c:dispBlanksAs val="span"/>
    <c:showDLblsOverMax val="0"/>
  </c:chart>
  <c:spPr>
    <a:noFill/>
    <a:ln>
      <a:noFill/>
    </a:ln>
  </c:spPr>
  <c:txPr>
    <a:bodyPr/>
    <a:lstStyle/>
    <a:p>
      <a:pPr>
        <a:defRPr sz="1101" b="1" i="0" u="none" strike="noStrike" baseline="0">
          <a:solidFill>
            <a:schemeClr val="tx1"/>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738680465717979E-2"/>
          <c:y val="6.0109289617486336E-2"/>
          <c:w val="0.91332470892626128"/>
          <c:h val="0.80874316939890711"/>
        </c:manualLayout>
      </c:layout>
      <c:lineChart>
        <c:grouping val="standard"/>
        <c:varyColors val="0"/>
        <c:ser>
          <c:idx val="0"/>
          <c:order val="0"/>
          <c:tx>
            <c:strRef>
              <c:f>Sheet1!$A$2</c:f>
              <c:strCache>
                <c:ptCount val="1"/>
              </c:strCache>
            </c:strRef>
          </c:tx>
          <c:spPr>
            <a:ln w="22420">
              <a:solidFill>
                <a:srgbClr val="006600"/>
              </a:solidFill>
              <a:prstDash val="solid"/>
            </a:ln>
          </c:spPr>
          <c:marker>
            <c:symbol val="none"/>
          </c:marker>
          <c:cat>
            <c:numRef>
              <c:f>Sheet1!$B$1:$S$1</c:f>
              <c:numCache>
                <c:formatCode>General</c:formatCode>
                <c:ptCount val="18"/>
                <c:pt idx="0">
                  <c:v>0</c:v>
                </c:pt>
                <c:pt idx="2">
                  <c:v>1</c:v>
                </c:pt>
                <c:pt idx="4">
                  <c:v>2</c:v>
                </c:pt>
                <c:pt idx="6">
                  <c:v>3</c:v>
                </c:pt>
                <c:pt idx="8">
                  <c:v>4</c:v>
                </c:pt>
                <c:pt idx="10">
                  <c:v>5</c:v>
                </c:pt>
                <c:pt idx="12">
                  <c:v>6</c:v>
                </c:pt>
                <c:pt idx="14">
                  <c:v>7</c:v>
                </c:pt>
                <c:pt idx="16">
                  <c:v>8</c:v>
                </c:pt>
              </c:numCache>
            </c:numRef>
          </c:cat>
          <c:val>
            <c:numRef>
              <c:f>Sheet1!$B$2:$S$2</c:f>
              <c:numCache>
                <c:formatCode>General</c:formatCode>
                <c:ptCount val="18"/>
                <c:pt idx="0">
                  <c:v>0</c:v>
                </c:pt>
                <c:pt idx="2">
                  <c:v>3</c:v>
                </c:pt>
                <c:pt idx="4">
                  <c:v>10</c:v>
                </c:pt>
                <c:pt idx="6">
                  <c:v>24</c:v>
                </c:pt>
                <c:pt idx="8">
                  <c:v>35</c:v>
                </c:pt>
                <c:pt idx="10">
                  <c:v>40</c:v>
                </c:pt>
                <c:pt idx="12">
                  <c:v>42</c:v>
                </c:pt>
                <c:pt idx="14">
                  <c:v>42</c:v>
                </c:pt>
                <c:pt idx="16">
                  <c:v>40</c:v>
                </c:pt>
              </c:numCache>
            </c:numRef>
          </c:val>
          <c:smooth val="1"/>
          <c:extLst>
            <c:ext xmlns:c16="http://schemas.microsoft.com/office/drawing/2014/chart" uri="{C3380CC4-5D6E-409C-BE32-E72D297353CC}">
              <c16:uniqueId val="{00000000-A0F1-4A84-A6F5-B3DCE6BC7F75}"/>
            </c:ext>
          </c:extLst>
        </c:ser>
        <c:ser>
          <c:idx val="1"/>
          <c:order val="1"/>
          <c:tx>
            <c:strRef>
              <c:f>Sheet1!$A$3</c:f>
              <c:strCache>
                <c:ptCount val="1"/>
              </c:strCache>
            </c:strRef>
          </c:tx>
          <c:spPr>
            <a:ln w="7473">
              <a:solidFill>
                <a:srgbClr val="000000"/>
              </a:solidFill>
              <a:prstDash val="solid"/>
            </a:ln>
          </c:spPr>
          <c:marker>
            <c:symbol val="square"/>
            <c:size val="2"/>
            <c:spPr>
              <a:solidFill>
                <a:srgbClr val="FFFF00"/>
              </a:solidFill>
              <a:ln>
                <a:solidFill>
                  <a:srgbClr val="FFFF00"/>
                </a:solidFill>
                <a:prstDash val="solid"/>
              </a:ln>
            </c:spPr>
          </c:marker>
          <c:cat>
            <c:numRef>
              <c:f>Sheet1!$B$1:$S$1</c:f>
              <c:numCache>
                <c:formatCode>General</c:formatCode>
                <c:ptCount val="18"/>
                <c:pt idx="0">
                  <c:v>0</c:v>
                </c:pt>
                <c:pt idx="2">
                  <c:v>1</c:v>
                </c:pt>
                <c:pt idx="4">
                  <c:v>2</c:v>
                </c:pt>
                <c:pt idx="6">
                  <c:v>3</c:v>
                </c:pt>
                <c:pt idx="8">
                  <c:v>4</c:v>
                </c:pt>
                <c:pt idx="10">
                  <c:v>5</c:v>
                </c:pt>
                <c:pt idx="12">
                  <c:v>6</c:v>
                </c:pt>
                <c:pt idx="14">
                  <c:v>7</c:v>
                </c:pt>
                <c:pt idx="16">
                  <c:v>8</c:v>
                </c:pt>
              </c:numCache>
            </c:numRef>
          </c:cat>
          <c:val>
            <c:numRef>
              <c:f>Sheet1!$B$3:$S$3</c:f>
              <c:numCache>
                <c:formatCode>General</c:formatCode>
                <c:ptCount val="18"/>
              </c:numCache>
            </c:numRef>
          </c:val>
          <c:smooth val="0"/>
          <c:extLst>
            <c:ext xmlns:c16="http://schemas.microsoft.com/office/drawing/2014/chart" uri="{C3380CC4-5D6E-409C-BE32-E72D297353CC}">
              <c16:uniqueId val="{00000001-A0F1-4A84-A6F5-B3DCE6BC7F75}"/>
            </c:ext>
          </c:extLst>
        </c:ser>
        <c:ser>
          <c:idx val="2"/>
          <c:order val="2"/>
          <c:tx>
            <c:strRef>
              <c:f>Sheet1!$A$4</c:f>
              <c:strCache>
                <c:ptCount val="1"/>
              </c:strCache>
            </c:strRef>
          </c:tx>
          <c:spPr>
            <a:ln w="7473">
              <a:solidFill>
                <a:srgbClr val="000000"/>
              </a:solidFill>
              <a:prstDash val="solid"/>
            </a:ln>
          </c:spPr>
          <c:marker>
            <c:symbol val="triangle"/>
            <c:size val="2"/>
            <c:spPr>
              <a:solidFill>
                <a:srgbClr val="00FF00"/>
              </a:solidFill>
              <a:ln>
                <a:solidFill>
                  <a:srgbClr val="00FF00"/>
                </a:solidFill>
                <a:prstDash val="solid"/>
              </a:ln>
            </c:spPr>
          </c:marker>
          <c:cat>
            <c:numRef>
              <c:f>Sheet1!$B$1:$S$1</c:f>
              <c:numCache>
                <c:formatCode>General</c:formatCode>
                <c:ptCount val="18"/>
                <c:pt idx="0">
                  <c:v>0</c:v>
                </c:pt>
                <c:pt idx="2">
                  <c:v>1</c:v>
                </c:pt>
                <c:pt idx="4">
                  <c:v>2</c:v>
                </c:pt>
                <c:pt idx="6">
                  <c:v>3</c:v>
                </c:pt>
                <c:pt idx="8">
                  <c:v>4</c:v>
                </c:pt>
                <c:pt idx="10">
                  <c:v>5</c:v>
                </c:pt>
                <c:pt idx="12">
                  <c:v>6</c:v>
                </c:pt>
                <c:pt idx="14">
                  <c:v>7</c:v>
                </c:pt>
                <c:pt idx="16">
                  <c:v>8</c:v>
                </c:pt>
              </c:numCache>
            </c:numRef>
          </c:cat>
          <c:val>
            <c:numRef>
              <c:f>Sheet1!$B$4:$S$4</c:f>
              <c:numCache>
                <c:formatCode>General</c:formatCode>
                <c:ptCount val="18"/>
              </c:numCache>
            </c:numRef>
          </c:val>
          <c:smooth val="0"/>
          <c:extLst>
            <c:ext xmlns:c16="http://schemas.microsoft.com/office/drawing/2014/chart" uri="{C3380CC4-5D6E-409C-BE32-E72D297353CC}">
              <c16:uniqueId val="{00000002-A0F1-4A84-A6F5-B3DCE6BC7F75}"/>
            </c:ext>
          </c:extLst>
        </c:ser>
        <c:dLbls>
          <c:showLegendKey val="0"/>
          <c:showVal val="0"/>
          <c:showCatName val="0"/>
          <c:showSerName val="0"/>
          <c:showPercent val="0"/>
          <c:showBubbleSize val="0"/>
        </c:dLbls>
        <c:smooth val="0"/>
        <c:axId val="234742456"/>
        <c:axId val="1"/>
      </c:lineChart>
      <c:catAx>
        <c:axId val="234742456"/>
        <c:scaling>
          <c:orientation val="minMax"/>
        </c:scaling>
        <c:delete val="0"/>
        <c:axPos val="b"/>
        <c:numFmt formatCode="General" sourceLinked="1"/>
        <c:majorTickMark val="out"/>
        <c:minorTickMark val="none"/>
        <c:tickLblPos val="nextTo"/>
        <c:spPr>
          <a:ln w="14947">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US"/>
          </a:p>
        </c:txPr>
        <c:crossAx val="1"/>
        <c:crosses val="autoZero"/>
        <c:auto val="0"/>
        <c:lblAlgn val="ctr"/>
        <c:lblOffset val="100"/>
        <c:tickLblSkip val="1"/>
        <c:tickMarkSkip val="2"/>
        <c:noMultiLvlLbl val="0"/>
      </c:catAx>
      <c:valAx>
        <c:axId val="1"/>
        <c:scaling>
          <c:orientation val="minMax"/>
          <c:max val="45"/>
          <c:min val="0"/>
        </c:scaling>
        <c:delete val="0"/>
        <c:axPos val="l"/>
        <c:numFmt formatCode="General" sourceLinked="1"/>
        <c:majorTickMark val="out"/>
        <c:minorTickMark val="none"/>
        <c:tickLblPos val="nextTo"/>
        <c:spPr>
          <a:ln w="14947">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US"/>
          </a:p>
        </c:txPr>
        <c:crossAx val="234742456"/>
        <c:crosses val="autoZero"/>
        <c:crossBetween val="midCat"/>
        <c:majorUnit val="10"/>
        <c:minorUnit val="2"/>
      </c:valAx>
      <c:spPr>
        <a:noFill/>
        <a:ln w="14947">
          <a:noFill/>
        </a:ln>
      </c:spPr>
    </c:plotArea>
    <c:plotVisOnly val="1"/>
    <c:dispBlanksAs val="span"/>
    <c:showDLblsOverMax val="0"/>
  </c:chart>
  <c:spPr>
    <a:noFill/>
    <a:ln>
      <a:noFill/>
    </a:ln>
  </c:spPr>
  <c:txPr>
    <a:bodyPr/>
    <a:lstStyle/>
    <a:p>
      <a:pPr>
        <a:defRPr sz="1059" b="1" i="0" u="none" strike="noStrike" baseline="0">
          <a:solidFill>
            <a:schemeClr val="tx1"/>
          </a:solidFill>
          <a:latin typeface="Arial"/>
          <a:ea typeface="Arial"/>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729606899948872E-2"/>
          <c:y val="5.3034883547818705E-2"/>
          <c:w val="0.91580310880829019"/>
          <c:h val="0.84153005464480879"/>
        </c:manualLayout>
      </c:layout>
      <c:lineChart>
        <c:grouping val="standard"/>
        <c:varyColors val="0"/>
        <c:ser>
          <c:idx val="0"/>
          <c:order val="0"/>
          <c:tx>
            <c:strRef>
              <c:f>Sheet1!$A$2</c:f>
              <c:strCache>
                <c:ptCount val="1"/>
              </c:strCache>
            </c:strRef>
          </c:tx>
          <c:spPr>
            <a:ln w="26541">
              <a:solidFill>
                <a:srgbClr val="006600"/>
              </a:solidFill>
              <a:prstDash val="solid"/>
            </a:ln>
          </c:spPr>
          <c:marker>
            <c:symbol val="none"/>
          </c:marker>
          <c:cat>
            <c:numRef>
              <c:f>Sheet1!$B$1:$J$1</c:f>
              <c:numCache>
                <c:formatCode>General</c:formatCode>
                <c:ptCount val="9"/>
                <c:pt idx="0">
                  <c:v>0</c:v>
                </c:pt>
                <c:pt idx="1">
                  <c:v>1</c:v>
                </c:pt>
                <c:pt idx="2">
                  <c:v>2</c:v>
                </c:pt>
                <c:pt idx="3">
                  <c:v>3</c:v>
                </c:pt>
                <c:pt idx="4">
                  <c:v>4</c:v>
                </c:pt>
                <c:pt idx="5">
                  <c:v>5</c:v>
                </c:pt>
                <c:pt idx="6">
                  <c:v>6</c:v>
                </c:pt>
                <c:pt idx="7">
                  <c:v>7</c:v>
                </c:pt>
                <c:pt idx="8">
                  <c:v>8</c:v>
                </c:pt>
              </c:numCache>
            </c:numRef>
          </c:cat>
          <c:val>
            <c:numRef>
              <c:f>Sheet1!$B$2:$J$2</c:f>
              <c:numCache>
                <c:formatCode>General</c:formatCode>
                <c:ptCount val="9"/>
                <c:pt idx="0">
                  <c:v>12</c:v>
                </c:pt>
                <c:pt idx="7">
                  <c:v>12</c:v>
                </c:pt>
              </c:numCache>
            </c:numRef>
          </c:val>
          <c:smooth val="0"/>
          <c:extLst>
            <c:ext xmlns:c16="http://schemas.microsoft.com/office/drawing/2014/chart" uri="{C3380CC4-5D6E-409C-BE32-E72D297353CC}">
              <c16:uniqueId val="{00000000-9A74-450E-BE08-39B29C6BD228}"/>
            </c:ext>
          </c:extLst>
        </c:ser>
        <c:ser>
          <c:idx val="1"/>
          <c:order val="1"/>
          <c:tx>
            <c:strRef>
              <c:f>Sheet1!$A$3</c:f>
              <c:strCache>
                <c:ptCount val="1"/>
              </c:strCache>
            </c:strRef>
          </c:tx>
          <c:spPr>
            <a:ln w="38100">
              <a:solidFill>
                <a:schemeClr val="tx2">
                  <a:lumMod val="75000"/>
                </a:schemeClr>
              </a:solidFill>
              <a:prstDash val="solid"/>
            </a:ln>
          </c:spPr>
          <c:marker>
            <c:symbol val="none"/>
          </c:marker>
          <c:cat>
            <c:numRef>
              <c:f>Sheet1!$B$1:$J$1</c:f>
              <c:numCache>
                <c:formatCode>General</c:formatCode>
                <c:ptCount val="9"/>
                <c:pt idx="0">
                  <c:v>0</c:v>
                </c:pt>
                <c:pt idx="1">
                  <c:v>1</c:v>
                </c:pt>
                <c:pt idx="2">
                  <c:v>2</c:v>
                </c:pt>
                <c:pt idx="3">
                  <c:v>3</c:v>
                </c:pt>
                <c:pt idx="4">
                  <c:v>4</c:v>
                </c:pt>
                <c:pt idx="5">
                  <c:v>5</c:v>
                </c:pt>
                <c:pt idx="6">
                  <c:v>6</c:v>
                </c:pt>
                <c:pt idx="7">
                  <c:v>7</c:v>
                </c:pt>
                <c:pt idx="8">
                  <c:v>8</c:v>
                </c:pt>
              </c:numCache>
            </c:numRef>
          </c:cat>
          <c:val>
            <c:numRef>
              <c:f>Sheet1!$B$3:$J$3</c:f>
              <c:numCache>
                <c:formatCode>General</c:formatCode>
                <c:ptCount val="9"/>
                <c:pt idx="0">
                  <c:v>0</c:v>
                </c:pt>
                <c:pt idx="1">
                  <c:v>10</c:v>
                </c:pt>
                <c:pt idx="2">
                  <c:v>16</c:v>
                </c:pt>
                <c:pt idx="3">
                  <c:v>21</c:v>
                </c:pt>
                <c:pt idx="4">
                  <c:v>28</c:v>
                </c:pt>
                <c:pt idx="5">
                  <c:v>40</c:v>
                </c:pt>
                <c:pt idx="6">
                  <c:v>60</c:v>
                </c:pt>
                <c:pt idx="7">
                  <c:v>91</c:v>
                </c:pt>
              </c:numCache>
            </c:numRef>
          </c:val>
          <c:smooth val="1"/>
          <c:extLst>
            <c:ext xmlns:c16="http://schemas.microsoft.com/office/drawing/2014/chart" uri="{C3380CC4-5D6E-409C-BE32-E72D297353CC}">
              <c16:uniqueId val="{00000001-9A74-450E-BE08-39B29C6BD228}"/>
            </c:ext>
          </c:extLst>
        </c:ser>
        <c:ser>
          <c:idx val="2"/>
          <c:order val="2"/>
          <c:tx>
            <c:strRef>
              <c:f>Sheet1!$A$4</c:f>
              <c:strCache>
                <c:ptCount val="1"/>
              </c:strCache>
            </c:strRef>
          </c:tx>
          <c:spPr>
            <a:ln w="38100">
              <a:solidFill>
                <a:srgbClr val="CC0000"/>
              </a:solidFill>
              <a:prstDash val="solid"/>
            </a:ln>
          </c:spPr>
          <c:marker>
            <c:symbol val="none"/>
          </c:marker>
          <c:cat>
            <c:numRef>
              <c:f>Sheet1!$B$1:$J$1</c:f>
              <c:numCache>
                <c:formatCode>General</c:formatCode>
                <c:ptCount val="9"/>
                <c:pt idx="0">
                  <c:v>0</c:v>
                </c:pt>
                <c:pt idx="1">
                  <c:v>1</c:v>
                </c:pt>
                <c:pt idx="2">
                  <c:v>2</c:v>
                </c:pt>
                <c:pt idx="3">
                  <c:v>3</c:v>
                </c:pt>
                <c:pt idx="4">
                  <c:v>4</c:v>
                </c:pt>
                <c:pt idx="5">
                  <c:v>5</c:v>
                </c:pt>
                <c:pt idx="6">
                  <c:v>6</c:v>
                </c:pt>
                <c:pt idx="7">
                  <c:v>7</c:v>
                </c:pt>
                <c:pt idx="8">
                  <c:v>8</c:v>
                </c:pt>
              </c:numCache>
            </c:numRef>
          </c:cat>
          <c:val>
            <c:numRef>
              <c:f>Sheet1!$B$4:$J$4</c:f>
              <c:numCache>
                <c:formatCode>General</c:formatCode>
                <c:ptCount val="9"/>
                <c:pt idx="0">
                  <c:v>12</c:v>
                </c:pt>
                <c:pt idx="1">
                  <c:v>22</c:v>
                </c:pt>
                <c:pt idx="2">
                  <c:v>28</c:v>
                </c:pt>
                <c:pt idx="3">
                  <c:v>33</c:v>
                </c:pt>
                <c:pt idx="4">
                  <c:v>40</c:v>
                </c:pt>
                <c:pt idx="5">
                  <c:v>52</c:v>
                </c:pt>
                <c:pt idx="6">
                  <c:v>72</c:v>
                </c:pt>
                <c:pt idx="7">
                  <c:v>103</c:v>
                </c:pt>
              </c:numCache>
            </c:numRef>
          </c:val>
          <c:smooth val="1"/>
          <c:extLst>
            <c:ext xmlns:c16="http://schemas.microsoft.com/office/drawing/2014/chart" uri="{C3380CC4-5D6E-409C-BE32-E72D297353CC}">
              <c16:uniqueId val="{00000002-9A74-450E-BE08-39B29C6BD228}"/>
            </c:ext>
          </c:extLst>
        </c:ser>
        <c:dLbls>
          <c:showLegendKey val="0"/>
          <c:showVal val="0"/>
          <c:showCatName val="0"/>
          <c:showSerName val="0"/>
          <c:showPercent val="0"/>
          <c:showBubbleSize val="0"/>
        </c:dLbls>
        <c:smooth val="0"/>
        <c:axId val="239178368"/>
        <c:axId val="1"/>
      </c:lineChart>
      <c:catAx>
        <c:axId val="239178368"/>
        <c:scaling>
          <c:orientation val="minMax"/>
        </c:scaling>
        <c:delete val="0"/>
        <c:axPos val="b"/>
        <c:numFmt formatCode="General" sourceLinked="1"/>
        <c:majorTickMark val="out"/>
        <c:minorTickMark val="none"/>
        <c:tickLblPos val="nextTo"/>
        <c:spPr>
          <a:ln w="19050">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0"/>
        <c:auto val="0"/>
        <c:lblAlgn val="ctr"/>
        <c:lblOffset val="100"/>
        <c:tickLblSkip val="1"/>
        <c:tickMarkSkip val="1"/>
        <c:noMultiLvlLbl val="0"/>
      </c:catAx>
      <c:valAx>
        <c:axId val="1"/>
        <c:scaling>
          <c:orientation val="minMax"/>
          <c:max val="105"/>
          <c:min val="0"/>
        </c:scaling>
        <c:delete val="0"/>
        <c:axPos val="l"/>
        <c:numFmt formatCode="General" sourceLinked="1"/>
        <c:majorTickMark val="out"/>
        <c:minorTickMark val="none"/>
        <c:tickLblPos val="nextTo"/>
        <c:spPr>
          <a:ln w="19050">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39178368"/>
        <c:crosses val="autoZero"/>
        <c:crossBetween val="midCat"/>
        <c:majorUnit val="20"/>
        <c:minorUnit val="10"/>
      </c:valAx>
      <c:spPr>
        <a:noFill/>
        <a:ln w="26541">
          <a:noFill/>
        </a:ln>
      </c:spPr>
    </c:plotArea>
    <c:plotVisOnly val="1"/>
    <c:dispBlanksAs val="span"/>
    <c:showDLblsOverMax val="0"/>
  </c:chart>
  <c:spPr>
    <a:noFill/>
    <a:ln>
      <a:noFill/>
    </a:ln>
  </c:spPr>
  <c:txPr>
    <a:bodyPr/>
    <a:lstStyle/>
    <a:p>
      <a:pPr>
        <a:defRPr sz="1881" b="1" i="0" u="none" strike="noStrike" baseline="0">
          <a:solidFill>
            <a:schemeClr val="tx1"/>
          </a:solidFill>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22798" y="1"/>
            <a:ext cx="4301543" cy="341064"/>
          </a:xfrm>
          <a:prstGeom prst="rect">
            <a:avLst/>
          </a:prstGeom>
        </p:spPr>
        <p:txBody>
          <a:bodyPr vert="horz" lIns="91440" tIns="45720" rIns="91440" bIns="45720" rtlCol="0"/>
          <a:lstStyle>
            <a:lvl1pPr algn="r">
              <a:defRPr sz="1200"/>
            </a:lvl1pPr>
          </a:lstStyle>
          <a:p>
            <a:fld id="{FE406D40-0E8C-424B-991F-69AF8DB1782A}" type="datetimeFigureOut">
              <a:rPr lang="en-GB" smtClean="0"/>
              <a:t>29/08/2025</a:t>
            </a:fld>
            <a:endParaRPr lang="en-GB"/>
          </a:p>
        </p:txBody>
      </p:sp>
      <p:sp>
        <p:nvSpPr>
          <p:cNvPr id="4" name="Slide Image Placeholder 3"/>
          <p:cNvSpPr>
            <a:spLocks noGrp="1" noRot="1" noChangeAspect="1"/>
          </p:cNvSpPr>
          <p:nvPr>
            <p:ph type="sldImg" idx="2"/>
          </p:nvPr>
        </p:nvSpPr>
        <p:spPr>
          <a:xfrm>
            <a:off x="2924175" y="849313"/>
            <a:ext cx="4078288" cy="22939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2664" y="3271381"/>
            <a:ext cx="7941310" cy="267658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456612"/>
            <a:ext cx="4301543" cy="34106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22798" y="6456612"/>
            <a:ext cx="4301543" cy="341063"/>
          </a:xfrm>
          <a:prstGeom prst="rect">
            <a:avLst/>
          </a:prstGeom>
        </p:spPr>
        <p:txBody>
          <a:bodyPr vert="horz" lIns="91440" tIns="45720" rIns="91440" bIns="45720" rtlCol="0" anchor="b"/>
          <a:lstStyle>
            <a:lvl1pPr algn="r">
              <a:defRPr sz="1200"/>
            </a:lvl1pPr>
          </a:lstStyle>
          <a:p>
            <a:fld id="{BD014004-77EB-460B-9551-8DB9690EF2DA}" type="slidenum">
              <a:rPr lang="en-GB" smtClean="0"/>
              <a:t>‹#›</a:t>
            </a:fld>
            <a:endParaRPr lang="en-GB"/>
          </a:p>
        </p:txBody>
      </p:sp>
    </p:spTree>
    <p:extLst>
      <p:ext uri="{BB962C8B-B14F-4D97-AF65-F5344CB8AC3E}">
        <p14:creationId xmlns:p14="http://schemas.microsoft.com/office/powerpoint/2010/main" val="397106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DFEF420-37A2-4C63-AD6F-6A2B53C4C2C0}"/>
              </a:ext>
            </a:extLst>
          </p:cNvPr>
          <p:cNvSpPr>
            <a:spLocks noGrp="1" noChangeArrowheads="1"/>
          </p:cNvSpPr>
          <p:nvPr>
            <p:ph type="sldNum" sz="quarter" idx="5"/>
          </p:nvPr>
        </p:nvSpPr>
        <p:spPr>
          <a:ln/>
        </p:spPr>
        <p:txBody>
          <a:bodyPr/>
          <a:lstStyle/>
          <a:p>
            <a:fld id="{22A3E883-2A69-408E-9DE9-19BFD336FF46}" type="slidenum">
              <a:rPr lang="en-GB" altLang="en-US"/>
              <a:pPr/>
              <a:t>8</a:t>
            </a:fld>
            <a:endParaRPr lang="en-GB" altLang="en-US"/>
          </a:p>
        </p:txBody>
      </p:sp>
      <p:sp>
        <p:nvSpPr>
          <p:cNvPr id="405506" name="Rectangle 2">
            <a:extLst>
              <a:ext uri="{FF2B5EF4-FFF2-40B4-BE49-F238E27FC236}">
                <a16:creationId xmlns:a16="http://schemas.microsoft.com/office/drawing/2014/main" id="{87243A0B-25BB-41BD-913C-368D50B1E217}"/>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A82F6F19-D6C5-4F2C-91F4-578AB8096DB6}"/>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05508" name="Rectangle 4">
            <a:extLst>
              <a:ext uri="{FF2B5EF4-FFF2-40B4-BE49-F238E27FC236}">
                <a16:creationId xmlns:a16="http://schemas.microsoft.com/office/drawing/2014/main" id="{EB403E86-93EE-49E5-B2D3-B8066BF2659B}"/>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29118F99-D599-4B60-86B5-731FF9D0353C}"/>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4C31ED90-EF20-4E7A-BF56-4BE6EC9C715C}"/>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01E3B29A-A9B8-4644-8E87-5122DFA4BD0C}"/>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0495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8B67F3FD-7D59-4ACC-9510-DB638E37CC97}"/>
              </a:ext>
            </a:extLst>
          </p:cNvPr>
          <p:cNvSpPr>
            <a:spLocks noGrp="1" noChangeArrowheads="1"/>
          </p:cNvSpPr>
          <p:nvPr>
            <p:ph type="sldNum" sz="quarter" idx="5"/>
          </p:nvPr>
        </p:nvSpPr>
        <p:spPr>
          <a:ln/>
        </p:spPr>
        <p:txBody>
          <a:bodyPr/>
          <a:lstStyle/>
          <a:p>
            <a:fld id="{AF1EE0FF-4FEF-4C36-986D-7603EA7435D9}" type="slidenum">
              <a:rPr lang="en-GB" altLang="en-US"/>
              <a:pPr/>
              <a:t>9</a:t>
            </a:fld>
            <a:endParaRPr lang="en-GB" altLang="en-US"/>
          </a:p>
        </p:txBody>
      </p:sp>
      <p:sp>
        <p:nvSpPr>
          <p:cNvPr id="389122" name="Rectangle 2">
            <a:extLst>
              <a:ext uri="{FF2B5EF4-FFF2-40B4-BE49-F238E27FC236}">
                <a16:creationId xmlns:a16="http://schemas.microsoft.com/office/drawing/2014/main" id="{379EE33A-341B-49E8-A022-1431C14494BB}"/>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3" name="Rectangle 3">
            <a:extLst>
              <a:ext uri="{FF2B5EF4-FFF2-40B4-BE49-F238E27FC236}">
                <a16:creationId xmlns:a16="http://schemas.microsoft.com/office/drawing/2014/main" id="{973354CE-BC03-4882-ACB1-12E6F353A9A8}"/>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89124" name="Rectangle 4">
            <a:extLst>
              <a:ext uri="{FF2B5EF4-FFF2-40B4-BE49-F238E27FC236}">
                <a16:creationId xmlns:a16="http://schemas.microsoft.com/office/drawing/2014/main" id="{3371BE5E-0173-4FDB-B17F-0A0800824B3F}"/>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5" name="Rectangle 5">
            <a:extLst>
              <a:ext uri="{FF2B5EF4-FFF2-40B4-BE49-F238E27FC236}">
                <a16:creationId xmlns:a16="http://schemas.microsoft.com/office/drawing/2014/main" id="{D3F26D37-3F52-492D-A6F3-825AE71A407F}"/>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6" name="Rectangle 6">
            <a:extLst>
              <a:ext uri="{FF2B5EF4-FFF2-40B4-BE49-F238E27FC236}">
                <a16:creationId xmlns:a16="http://schemas.microsoft.com/office/drawing/2014/main" id="{3CE9D859-4F58-4BB4-919C-0EB1296F3866}"/>
              </a:ext>
            </a:extLst>
          </p:cNvPr>
          <p:cNvSpPr>
            <a:spLocks noGrp="1" noChangeArrowheads="1"/>
          </p:cNvSpPr>
          <p:nvPr>
            <p:ph type="body" idx="1"/>
          </p:nvPr>
        </p:nvSpPr>
        <p:spPr>
          <a:ln/>
        </p:spPr>
        <p:txBody>
          <a:bodyPr lIns="92075" tIns="46038" rIns="92075" bIns="46038"/>
          <a:lstStyle/>
          <a:p>
            <a:endParaRPr lang="en-GB" altLang="en-US" noProof="1"/>
          </a:p>
        </p:txBody>
      </p:sp>
      <p:sp>
        <p:nvSpPr>
          <p:cNvPr id="389127" name="Rectangle 7">
            <a:extLst>
              <a:ext uri="{FF2B5EF4-FFF2-40B4-BE49-F238E27FC236}">
                <a16:creationId xmlns:a16="http://schemas.microsoft.com/office/drawing/2014/main" id="{762C9D25-B09F-41EC-A4EC-BADA27777EE8}"/>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690913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FBC201C-31B4-4726-A9DF-942ACC5BDE9A}"/>
              </a:ext>
            </a:extLst>
          </p:cNvPr>
          <p:cNvSpPr>
            <a:spLocks noGrp="1" noChangeArrowheads="1"/>
          </p:cNvSpPr>
          <p:nvPr>
            <p:ph type="sldNum" sz="quarter" idx="5"/>
          </p:nvPr>
        </p:nvSpPr>
        <p:spPr>
          <a:ln/>
        </p:spPr>
        <p:txBody>
          <a:bodyPr/>
          <a:lstStyle/>
          <a:p>
            <a:fld id="{CE128C25-DF3B-4743-B342-DA69C296497E}" type="slidenum">
              <a:rPr lang="en-GB" altLang="en-US"/>
              <a:pPr/>
              <a:t>10</a:t>
            </a:fld>
            <a:endParaRPr lang="en-GB" altLang="en-US"/>
          </a:p>
        </p:txBody>
      </p:sp>
      <p:sp>
        <p:nvSpPr>
          <p:cNvPr id="11266" name="Rectangle 2">
            <a:extLst>
              <a:ext uri="{FF2B5EF4-FFF2-40B4-BE49-F238E27FC236}">
                <a16:creationId xmlns:a16="http://schemas.microsoft.com/office/drawing/2014/main" id="{5E5044A7-7586-41B9-A2D1-64E5CDFEC504}"/>
              </a:ext>
            </a:extLst>
          </p:cNvPr>
          <p:cNvSpPr>
            <a:spLocks noGrp="1" noChangeArrowheads="1"/>
          </p:cNvSpPr>
          <p:nvPr>
            <p:ph type="body" idx="1"/>
          </p:nvPr>
        </p:nvSpPr>
        <p:spPr>
          <a:ln/>
        </p:spPr>
        <p:txBody>
          <a:bodyPr/>
          <a:lstStyle/>
          <a:p>
            <a:endParaRPr lang="en-GB" altLang="en-US" noProof="1"/>
          </a:p>
        </p:txBody>
      </p:sp>
      <p:sp>
        <p:nvSpPr>
          <p:cNvPr id="11267" name="Rectangle 3">
            <a:extLst>
              <a:ext uri="{FF2B5EF4-FFF2-40B4-BE49-F238E27FC236}">
                <a16:creationId xmlns:a16="http://schemas.microsoft.com/office/drawing/2014/main" id="{1814464F-96AA-48C3-85CA-85D5ED9849A5}"/>
              </a:ext>
            </a:extLst>
          </p:cNvPr>
          <p:cNvSpPr>
            <a:spLocks noGrp="1" noRot="1" noChangeAspect="1" noChangeArrowheads="1" noTextEdit="1"/>
          </p:cNvSpPr>
          <p:nvPr>
            <p:ph type="sldImg"/>
          </p:nvPr>
        </p:nvSpPr>
        <p:spPr>
          <a:xfrm>
            <a:off x="2705100" y="514350"/>
            <a:ext cx="4516438" cy="2540000"/>
          </a:xfrm>
          <a:ln cap="flat"/>
        </p:spPr>
      </p:sp>
    </p:spTree>
    <p:extLst>
      <p:ext uri="{BB962C8B-B14F-4D97-AF65-F5344CB8AC3E}">
        <p14:creationId xmlns:p14="http://schemas.microsoft.com/office/powerpoint/2010/main" val="338962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0E21FBE2-5425-46BB-84D5-D7B4E5CCD1CD}"/>
              </a:ext>
            </a:extLst>
          </p:cNvPr>
          <p:cNvSpPr>
            <a:spLocks noGrp="1" noChangeArrowheads="1"/>
          </p:cNvSpPr>
          <p:nvPr>
            <p:ph type="sldNum" sz="quarter" idx="5"/>
          </p:nvPr>
        </p:nvSpPr>
        <p:spPr>
          <a:ln/>
        </p:spPr>
        <p:txBody>
          <a:bodyPr/>
          <a:lstStyle/>
          <a:p>
            <a:fld id="{9D1D91B4-32AC-4D50-8D7D-4576B6BD5ACE}" type="slidenum">
              <a:rPr lang="en-GB" altLang="en-US"/>
              <a:pPr/>
              <a:t>11</a:t>
            </a:fld>
            <a:endParaRPr lang="en-GB" altLang="en-US"/>
          </a:p>
        </p:txBody>
      </p:sp>
      <p:sp>
        <p:nvSpPr>
          <p:cNvPr id="16386" name="Rectangle 2">
            <a:extLst>
              <a:ext uri="{FF2B5EF4-FFF2-40B4-BE49-F238E27FC236}">
                <a16:creationId xmlns:a16="http://schemas.microsoft.com/office/drawing/2014/main" id="{3755DA4C-5F83-4AB2-A481-59BCB6CA9314}"/>
              </a:ext>
            </a:extLst>
          </p:cNvPr>
          <p:cNvSpPr>
            <a:spLocks noGrp="1" noChangeArrowheads="1"/>
          </p:cNvSpPr>
          <p:nvPr>
            <p:ph type="body" idx="1"/>
          </p:nvPr>
        </p:nvSpPr>
        <p:spPr>
          <a:ln/>
        </p:spPr>
        <p:txBody>
          <a:bodyPr/>
          <a:lstStyle/>
          <a:p>
            <a:endParaRPr lang="en-GB" altLang="en-US" noProof="1"/>
          </a:p>
        </p:txBody>
      </p:sp>
      <p:sp>
        <p:nvSpPr>
          <p:cNvPr id="16387" name="Rectangle 3">
            <a:extLst>
              <a:ext uri="{FF2B5EF4-FFF2-40B4-BE49-F238E27FC236}">
                <a16:creationId xmlns:a16="http://schemas.microsoft.com/office/drawing/2014/main" id="{752FBA16-8128-46A9-B872-159D138C4142}"/>
              </a:ext>
            </a:extLst>
          </p:cNvPr>
          <p:cNvSpPr>
            <a:spLocks noGrp="1" noRot="1" noChangeAspect="1" noChangeArrowheads="1" noTextEdit="1"/>
          </p:cNvSpPr>
          <p:nvPr>
            <p:ph type="sldImg"/>
          </p:nvPr>
        </p:nvSpPr>
        <p:spPr>
          <a:xfrm>
            <a:off x="2705100" y="514350"/>
            <a:ext cx="4516438" cy="2540000"/>
          </a:xfrm>
          <a:ln cap="flat"/>
        </p:spPr>
      </p:sp>
    </p:spTree>
    <p:extLst>
      <p:ext uri="{BB962C8B-B14F-4D97-AF65-F5344CB8AC3E}">
        <p14:creationId xmlns:p14="http://schemas.microsoft.com/office/powerpoint/2010/main" val="3026925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690C60A1-D2A8-48CC-A622-BE4BB577F9EE}"/>
              </a:ext>
            </a:extLst>
          </p:cNvPr>
          <p:cNvSpPr>
            <a:spLocks noGrp="1" noChangeArrowheads="1"/>
          </p:cNvSpPr>
          <p:nvPr>
            <p:ph type="sldNum" sz="quarter" idx="5"/>
          </p:nvPr>
        </p:nvSpPr>
        <p:spPr>
          <a:ln/>
        </p:spPr>
        <p:txBody>
          <a:bodyPr/>
          <a:lstStyle/>
          <a:p>
            <a:fld id="{EEFFE078-02CA-4C99-861E-D773772DA3BF}" type="slidenum">
              <a:rPr lang="en-GB" altLang="en-US"/>
              <a:pPr/>
              <a:t>12</a:t>
            </a:fld>
            <a:endParaRPr lang="en-GB" altLang="en-US"/>
          </a:p>
        </p:txBody>
      </p:sp>
      <p:sp>
        <p:nvSpPr>
          <p:cNvPr id="13314" name="Rectangle 2">
            <a:extLst>
              <a:ext uri="{FF2B5EF4-FFF2-40B4-BE49-F238E27FC236}">
                <a16:creationId xmlns:a16="http://schemas.microsoft.com/office/drawing/2014/main" id="{4AB40687-33C5-49EF-A1F3-C79334C85124}"/>
              </a:ext>
            </a:extLst>
          </p:cNvPr>
          <p:cNvSpPr>
            <a:spLocks noGrp="1" noChangeArrowheads="1"/>
          </p:cNvSpPr>
          <p:nvPr>
            <p:ph type="body" idx="1"/>
          </p:nvPr>
        </p:nvSpPr>
        <p:spPr>
          <a:ln/>
        </p:spPr>
        <p:txBody>
          <a:bodyPr/>
          <a:lstStyle/>
          <a:p>
            <a:endParaRPr lang="en-GB" altLang="en-US" noProof="1"/>
          </a:p>
        </p:txBody>
      </p:sp>
      <p:sp>
        <p:nvSpPr>
          <p:cNvPr id="13315" name="Rectangle 3">
            <a:extLst>
              <a:ext uri="{FF2B5EF4-FFF2-40B4-BE49-F238E27FC236}">
                <a16:creationId xmlns:a16="http://schemas.microsoft.com/office/drawing/2014/main" id="{6AD36278-E469-47DC-B76A-E2372D1D5673}"/>
              </a:ext>
            </a:extLst>
          </p:cNvPr>
          <p:cNvSpPr>
            <a:spLocks noGrp="1" noRot="1" noChangeAspect="1" noChangeArrowheads="1" noTextEdit="1"/>
          </p:cNvSpPr>
          <p:nvPr>
            <p:ph type="sldImg"/>
          </p:nvPr>
        </p:nvSpPr>
        <p:spPr>
          <a:xfrm>
            <a:off x="2705100" y="514350"/>
            <a:ext cx="4516438" cy="2540000"/>
          </a:xfrm>
          <a:ln cap="flat"/>
        </p:spPr>
      </p:sp>
    </p:spTree>
    <p:extLst>
      <p:ext uri="{BB962C8B-B14F-4D97-AF65-F5344CB8AC3E}">
        <p14:creationId xmlns:p14="http://schemas.microsoft.com/office/powerpoint/2010/main" val="1144348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D02C4E6-6BC7-4558-B454-3C213C0CDFFF}"/>
              </a:ext>
            </a:extLst>
          </p:cNvPr>
          <p:cNvSpPr>
            <a:spLocks noGrp="1" noChangeArrowheads="1"/>
          </p:cNvSpPr>
          <p:nvPr>
            <p:ph type="sldNum" sz="quarter" idx="5"/>
          </p:nvPr>
        </p:nvSpPr>
        <p:spPr>
          <a:ln/>
        </p:spPr>
        <p:txBody>
          <a:bodyPr/>
          <a:lstStyle/>
          <a:p>
            <a:fld id="{F108451F-525C-494F-A74A-F9E9DA1416D0}" type="slidenum">
              <a:rPr lang="en-GB" altLang="en-US"/>
              <a:pPr/>
              <a:t>14</a:t>
            </a:fld>
            <a:endParaRPr lang="en-GB" altLang="en-US"/>
          </a:p>
        </p:txBody>
      </p:sp>
      <p:sp>
        <p:nvSpPr>
          <p:cNvPr id="407554" name="Rectangle 2">
            <a:extLst>
              <a:ext uri="{FF2B5EF4-FFF2-40B4-BE49-F238E27FC236}">
                <a16:creationId xmlns:a16="http://schemas.microsoft.com/office/drawing/2014/main" id="{EB7E574A-2ECA-4328-AF0F-4C9F9B61A610}"/>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5" name="Rectangle 3">
            <a:extLst>
              <a:ext uri="{FF2B5EF4-FFF2-40B4-BE49-F238E27FC236}">
                <a16:creationId xmlns:a16="http://schemas.microsoft.com/office/drawing/2014/main" id="{57CB5C87-6425-478E-A2CE-60DF3FA15893}"/>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407556" name="Rectangle 4">
            <a:extLst>
              <a:ext uri="{FF2B5EF4-FFF2-40B4-BE49-F238E27FC236}">
                <a16:creationId xmlns:a16="http://schemas.microsoft.com/office/drawing/2014/main" id="{15431F47-FB06-44CE-A936-51CCBBCE508F}"/>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7" name="Rectangle 5">
            <a:extLst>
              <a:ext uri="{FF2B5EF4-FFF2-40B4-BE49-F238E27FC236}">
                <a16:creationId xmlns:a16="http://schemas.microsoft.com/office/drawing/2014/main" id="{EE8F3110-6500-4577-AE23-EFD24B02218E}"/>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7558" name="Rectangle 6">
            <a:extLst>
              <a:ext uri="{FF2B5EF4-FFF2-40B4-BE49-F238E27FC236}">
                <a16:creationId xmlns:a16="http://schemas.microsoft.com/office/drawing/2014/main" id="{5232BA54-EA30-4FF7-807C-2EEA0DE415E3}"/>
              </a:ext>
            </a:extLst>
          </p:cNvPr>
          <p:cNvSpPr>
            <a:spLocks noGrp="1" noChangeArrowheads="1"/>
          </p:cNvSpPr>
          <p:nvPr>
            <p:ph type="body" idx="1"/>
          </p:nvPr>
        </p:nvSpPr>
        <p:spPr>
          <a:ln/>
        </p:spPr>
        <p:txBody>
          <a:bodyPr lIns="92075" tIns="46038" rIns="92075" bIns="46038"/>
          <a:lstStyle/>
          <a:p>
            <a:endParaRPr lang="en-GB" altLang="en-US" noProof="1"/>
          </a:p>
        </p:txBody>
      </p:sp>
      <p:sp>
        <p:nvSpPr>
          <p:cNvPr id="407559" name="Rectangle 7">
            <a:extLst>
              <a:ext uri="{FF2B5EF4-FFF2-40B4-BE49-F238E27FC236}">
                <a16:creationId xmlns:a16="http://schemas.microsoft.com/office/drawing/2014/main" id="{96AA73B0-1D41-4938-9493-EFF7A2FB6164}"/>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248965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DFC0587B-9AAA-42AC-8F73-3AE818D1C1CF}"/>
              </a:ext>
            </a:extLst>
          </p:cNvPr>
          <p:cNvSpPr>
            <a:spLocks noGrp="1" noChangeArrowheads="1"/>
          </p:cNvSpPr>
          <p:nvPr>
            <p:ph type="sldNum" sz="quarter" idx="5"/>
          </p:nvPr>
        </p:nvSpPr>
        <p:spPr>
          <a:ln/>
        </p:spPr>
        <p:txBody>
          <a:bodyPr/>
          <a:lstStyle/>
          <a:p>
            <a:fld id="{C6D4C31E-05B8-4912-AE3E-244CDB8343A7}" type="slidenum">
              <a:rPr lang="en-GB" altLang="en-US"/>
              <a:pPr/>
              <a:t>16</a:t>
            </a:fld>
            <a:endParaRPr lang="en-GB" altLang="en-US"/>
          </a:p>
        </p:txBody>
      </p:sp>
      <p:sp>
        <p:nvSpPr>
          <p:cNvPr id="526338" name="Rectangle 2">
            <a:extLst>
              <a:ext uri="{FF2B5EF4-FFF2-40B4-BE49-F238E27FC236}">
                <a16:creationId xmlns:a16="http://schemas.microsoft.com/office/drawing/2014/main" id="{2F91AEFA-13B0-43FE-970C-6D87D8CC5844}"/>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6339" name="Rectangle 3">
            <a:extLst>
              <a:ext uri="{FF2B5EF4-FFF2-40B4-BE49-F238E27FC236}">
                <a16:creationId xmlns:a16="http://schemas.microsoft.com/office/drawing/2014/main" id="{6856E355-DA55-4787-9812-66DA9F2A1CC1}"/>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526340" name="Rectangle 4">
            <a:extLst>
              <a:ext uri="{FF2B5EF4-FFF2-40B4-BE49-F238E27FC236}">
                <a16:creationId xmlns:a16="http://schemas.microsoft.com/office/drawing/2014/main" id="{DF5F7AD1-6091-4792-A003-7AB342AC2C8B}"/>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6341" name="Rectangle 5">
            <a:extLst>
              <a:ext uri="{FF2B5EF4-FFF2-40B4-BE49-F238E27FC236}">
                <a16:creationId xmlns:a16="http://schemas.microsoft.com/office/drawing/2014/main" id="{B6DBF2E5-8D5D-4697-90A2-36F0AE54646C}"/>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6342" name="Rectangle 6">
            <a:extLst>
              <a:ext uri="{FF2B5EF4-FFF2-40B4-BE49-F238E27FC236}">
                <a16:creationId xmlns:a16="http://schemas.microsoft.com/office/drawing/2014/main" id="{DCB2E013-CC0E-4D46-AFB6-A9406A154A66}"/>
              </a:ext>
            </a:extLst>
          </p:cNvPr>
          <p:cNvSpPr>
            <a:spLocks noGrp="1" noChangeArrowheads="1"/>
          </p:cNvSpPr>
          <p:nvPr>
            <p:ph type="body" idx="1"/>
          </p:nvPr>
        </p:nvSpPr>
        <p:spPr>
          <a:ln/>
        </p:spPr>
        <p:txBody>
          <a:bodyPr lIns="92075" tIns="46038" rIns="92075" bIns="46038"/>
          <a:lstStyle/>
          <a:p>
            <a:endParaRPr lang="en-GB" altLang="en-US" noProof="1"/>
          </a:p>
        </p:txBody>
      </p:sp>
      <p:sp>
        <p:nvSpPr>
          <p:cNvPr id="526343" name="Rectangle 7">
            <a:extLst>
              <a:ext uri="{FF2B5EF4-FFF2-40B4-BE49-F238E27FC236}">
                <a16:creationId xmlns:a16="http://schemas.microsoft.com/office/drawing/2014/main" id="{83EFDF3B-0038-4B4D-BE19-C90809769F48}"/>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129800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DAF038F5-07F3-4282-ABBC-3B4AC16896D8}"/>
              </a:ext>
            </a:extLst>
          </p:cNvPr>
          <p:cNvSpPr>
            <a:spLocks noGrp="1" noChangeArrowheads="1"/>
          </p:cNvSpPr>
          <p:nvPr>
            <p:ph type="sldNum" sz="quarter" idx="5"/>
          </p:nvPr>
        </p:nvSpPr>
        <p:spPr>
          <a:ln/>
        </p:spPr>
        <p:txBody>
          <a:bodyPr/>
          <a:lstStyle/>
          <a:p>
            <a:fld id="{93E21885-1300-44D2-A987-350B43CEBE0C}" type="slidenum">
              <a:rPr lang="en-GB" altLang="en-US"/>
              <a:pPr/>
              <a:t>17</a:t>
            </a:fld>
            <a:endParaRPr lang="en-GB" altLang="en-US"/>
          </a:p>
        </p:txBody>
      </p:sp>
      <p:sp>
        <p:nvSpPr>
          <p:cNvPr id="411650" name="Rectangle 2">
            <a:extLst>
              <a:ext uri="{FF2B5EF4-FFF2-40B4-BE49-F238E27FC236}">
                <a16:creationId xmlns:a16="http://schemas.microsoft.com/office/drawing/2014/main" id="{0906C92F-1F91-434D-8CFE-6F73A7A9F1C4}"/>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1" name="Rectangle 3">
            <a:extLst>
              <a:ext uri="{FF2B5EF4-FFF2-40B4-BE49-F238E27FC236}">
                <a16:creationId xmlns:a16="http://schemas.microsoft.com/office/drawing/2014/main" id="{C4FBF07B-5F8A-4BA1-9FAE-B6B1A6C4F1B5}"/>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411652" name="Rectangle 4">
            <a:extLst>
              <a:ext uri="{FF2B5EF4-FFF2-40B4-BE49-F238E27FC236}">
                <a16:creationId xmlns:a16="http://schemas.microsoft.com/office/drawing/2014/main" id="{739E5BA1-C510-4D9E-8224-4646BE6BBE03}"/>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3" name="Rectangle 5">
            <a:extLst>
              <a:ext uri="{FF2B5EF4-FFF2-40B4-BE49-F238E27FC236}">
                <a16:creationId xmlns:a16="http://schemas.microsoft.com/office/drawing/2014/main" id="{36A1500F-DF18-4AEE-91A4-D90FE2385577}"/>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1654" name="Rectangle 6">
            <a:extLst>
              <a:ext uri="{FF2B5EF4-FFF2-40B4-BE49-F238E27FC236}">
                <a16:creationId xmlns:a16="http://schemas.microsoft.com/office/drawing/2014/main" id="{7C6881BF-0928-4552-8260-D8EC72C16638}"/>
              </a:ext>
            </a:extLst>
          </p:cNvPr>
          <p:cNvSpPr>
            <a:spLocks noGrp="1" noChangeArrowheads="1"/>
          </p:cNvSpPr>
          <p:nvPr>
            <p:ph type="body" idx="1"/>
          </p:nvPr>
        </p:nvSpPr>
        <p:spPr>
          <a:ln/>
        </p:spPr>
        <p:txBody>
          <a:bodyPr lIns="92075" tIns="46038" rIns="92075" bIns="46038"/>
          <a:lstStyle/>
          <a:p>
            <a:endParaRPr lang="en-GB" altLang="en-US" noProof="1"/>
          </a:p>
        </p:txBody>
      </p:sp>
      <p:sp>
        <p:nvSpPr>
          <p:cNvPr id="411655" name="Rectangle 7">
            <a:extLst>
              <a:ext uri="{FF2B5EF4-FFF2-40B4-BE49-F238E27FC236}">
                <a16:creationId xmlns:a16="http://schemas.microsoft.com/office/drawing/2014/main" id="{95F2DF45-219B-41DF-A639-8CA2D641A15C}"/>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527576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EDC7A4B-B1CD-4219-AE6A-5F335908B877}"/>
              </a:ext>
            </a:extLst>
          </p:cNvPr>
          <p:cNvSpPr>
            <a:spLocks noGrp="1" noChangeArrowheads="1"/>
          </p:cNvSpPr>
          <p:nvPr>
            <p:ph type="sldNum" sz="quarter" idx="5"/>
          </p:nvPr>
        </p:nvSpPr>
        <p:spPr>
          <a:ln/>
        </p:spPr>
        <p:txBody>
          <a:bodyPr/>
          <a:lstStyle/>
          <a:p>
            <a:fld id="{BA675ED3-B535-481E-87A2-85B731BBC4ED}" type="slidenum">
              <a:rPr lang="en-GB" altLang="en-US"/>
              <a:pPr/>
              <a:t>21</a:t>
            </a:fld>
            <a:endParaRPr lang="en-GB" altLang="en-US"/>
          </a:p>
        </p:txBody>
      </p:sp>
      <p:sp>
        <p:nvSpPr>
          <p:cNvPr id="374786" name="Rectangle 2">
            <a:extLst>
              <a:ext uri="{FF2B5EF4-FFF2-40B4-BE49-F238E27FC236}">
                <a16:creationId xmlns:a16="http://schemas.microsoft.com/office/drawing/2014/main" id="{5D1BC879-B51D-4B21-9707-73191B7817DF}"/>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a:extLst>
              <a:ext uri="{FF2B5EF4-FFF2-40B4-BE49-F238E27FC236}">
                <a16:creationId xmlns:a16="http://schemas.microsoft.com/office/drawing/2014/main" id="{3BF0EE1D-72D9-4374-A430-CAC845D70CD8}"/>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374788" name="Rectangle 4">
            <a:extLst>
              <a:ext uri="{FF2B5EF4-FFF2-40B4-BE49-F238E27FC236}">
                <a16:creationId xmlns:a16="http://schemas.microsoft.com/office/drawing/2014/main" id="{CF17CB81-C81B-4AF6-AF7A-30117F2195B8}"/>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a:extLst>
              <a:ext uri="{FF2B5EF4-FFF2-40B4-BE49-F238E27FC236}">
                <a16:creationId xmlns:a16="http://schemas.microsoft.com/office/drawing/2014/main" id="{7FC51FD3-F392-45D5-8B17-0CFB53C8D69B}"/>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a:extLst>
              <a:ext uri="{FF2B5EF4-FFF2-40B4-BE49-F238E27FC236}">
                <a16:creationId xmlns:a16="http://schemas.microsoft.com/office/drawing/2014/main" id="{6657A5C1-3BC0-4289-868D-9A9FB9A1A175}"/>
              </a:ext>
            </a:extLst>
          </p:cNvPr>
          <p:cNvSpPr>
            <a:spLocks noGrp="1" noChangeArrowheads="1"/>
          </p:cNvSpPr>
          <p:nvPr>
            <p:ph type="body" idx="1"/>
          </p:nvPr>
        </p:nvSpPr>
        <p:spPr>
          <a:ln/>
        </p:spPr>
        <p:txBody>
          <a:bodyPr lIns="92075" tIns="46038" rIns="92075" bIns="46038"/>
          <a:lstStyle/>
          <a:p>
            <a:endParaRPr lang="en-GB" altLang="en-US" noProof="1"/>
          </a:p>
        </p:txBody>
      </p:sp>
      <p:sp>
        <p:nvSpPr>
          <p:cNvPr id="374791" name="Rectangle 7">
            <a:extLst>
              <a:ext uri="{FF2B5EF4-FFF2-40B4-BE49-F238E27FC236}">
                <a16:creationId xmlns:a16="http://schemas.microsoft.com/office/drawing/2014/main" id="{A7AB2CFE-A319-4BB0-B35B-2FDC6B1D5DB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730781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EDC7A4B-B1CD-4219-AE6A-5F335908B877}"/>
              </a:ext>
            </a:extLst>
          </p:cNvPr>
          <p:cNvSpPr>
            <a:spLocks noGrp="1" noChangeArrowheads="1"/>
          </p:cNvSpPr>
          <p:nvPr>
            <p:ph type="sldNum" sz="quarter" idx="5"/>
          </p:nvPr>
        </p:nvSpPr>
        <p:spPr>
          <a:ln/>
        </p:spPr>
        <p:txBody>
          <a:bodyPr/>
          <a:lstStyle/>
          <a:p>
            <a:fld id="{BA675ED3-B535-481E-87A2-85B731BBC4ED}" type="slidenum">
              <a:rPr lang="en-GB" altLang="en-US"/>
              <a:pPr/>
              <a:t>22</a:t>
            </a:fld>
            <a:endParaRPr lang="en-GB" altLang="en-US"/>
          </a:p>
        </p:txBody>
      </p:sp>
      <p:sp>
        <p:nvSpPr>
          <p:cNvPr id="374786" name="Rectangle 2">
            <a:extLst>
              <a:ext uri="{FF2B5EF4-FFF2-40B4-BE49-F238E27FC236}">
                <a16:creationId xmlns:a16="http://schemas.microsoft.com/office/drawing/2014/main" id="{5D1BC879-B51D-4B21-9707-73191B7817DF}"/>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a:extLst>
              <a:ext uri="{FF2B5EF4-FFF2-40B4-BE49-F238E27FC236}">
                <a16:creationId xmlns:a16="http://schemas.microsoft.com/office/drawing/2014/main" id="{3BF0EE1D-72D9-4374-A430-CAC845D70CD8}"/>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374788" name="Rectangle 4">
            <a:extLst>
              <a:ext uri="{FF2B5EF4-FFF2-40B4-BE49-F238E27FC236}">
                <a16:creationId xmlns:a16="http://schemas.microsoft.com/office/drawing/2014/main" id="{CF17CB81-C81B-4AF6-AF7A-30117F2195B8}"/>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a:extLst>
              <a:ext uri="{FF2B5EF4-FFF2-40B4-BE49-F238E27FC236}">
                <a16:creationId xmlns:a16="http://schemas.microsoft.com/office/drawing/2014/main" id="{7FC51FD3-F392-45D5-8B17-0CFB53C8D69B}"/>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a:extLst>
              <a:ext uri="{FF2B5EF4-FFF2-40B4-BE49-F238E27FC236}">
                <a16:creationId xmlns:a16="http://schemas.microsoft.com/office/drawing/2014/main" id="{6657A5C1-3BC0-4289-868D-9A9FB9A1A175}"/>
              </a:ext>
            </a:extLst>
          </p:cNvPr>
          <p:cNvSpPr>
            <a:spLocks noGrp="1" noChangeArrowheads="1"/>
          </p:cNvSpPr>
          <p:nvPr>
            <p:ph type="body" idx="1"/>
          </p:nvPr>
        </p:nvSpPr>
        <p:spPr>
          <a:ln/>
        </p:spPr>
        <p:txBody>
          <a:bodyPr lIns="92075" tIns="46038" rIns="92075" bIns="46038"/>
          <a:lstStyle/>
          <a:p>
            <a:endParaRPr lang="en-GB" altLang="en-US" noProof="1"/>
          </a:p>
        </p:txBody>
      </p:sp>
      <p:sp>
        <p:nvSpPr>
          <p:cNvPr id="374791" name="Rectangle 7">
            <a:extLst>
              <a:ext uri="{FF2B5EF4-FFF2-40B4-BE49-F238E27FC236}">
                <a16:creationId xmlns:a16="http://schemas.microsoft.com/office/drawing/2014/main" id="{A7AB2CFE-A319-4BB0-B35B-2FDC6B1D5DB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944710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EDC7A4B-B1CD-4219-AE6A-5F335908B877}"/>
              </a:ext>
            </a:extLst>
          </p:cNvPr>
          <p:cNvSpPr>
            <a:spLocks noGrp="1" noChangeArrowheads="1"/>
          </p:cNvSpPr>
          <p:nvPr>
            <p:ph type="sldNum" sz="quarter" idx="5"/>
          </p:nvPr>
        </p:nvSpPr>
        <p:spPr>
          <a:ln/>
        </p:spPr>
        <p:txBody>
          <a:bodyPr/>
          <a:lstStyle/>
          <a:p>
            <a:fld id="{BA675ED3-B535-481E-87A2-85B731BBC4ED}" type="slidenum">
              <a:rPr lang="en-GB" altLang="en-US"/>
              <a:pPr/>
              <a:t>23</a:t>
            </a:fld>
            <a:endParaRPr lang="en-GB" altLang="en-US"/>
          </a:p>
        </p:txBody>
      </p:sp>
      <p:sp>
        <p:nvSpPr>
          <p:cNvPr id="374786" name="Rectangle 2">
            <a:extLst>
              <a:ext uri="{FF2B5EF4-FFF2-40B4-BE49-F238E27FC236}">
                <a16:creationId xmlns:a16="http://schemas.microsoft.com/office/drawing/2014/main" id="{5D1BC879-B51D-4B21-9707-73191B7817DF}"/>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a:extLst>
              <a:ext uri="{FF2B5EF4-FFF2-40B4-BE49-F238E27FC236}">
                <a16:creationId xmlns:a16="http://schemas.microsoft.com/office/drawing/2014/main" id="{3BF0EE1D-72D9-4374-A430-CAC845D70CD8}"/>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374788" name="Rectangle 4">
            <a:extLst>
              <a:ext uri="{FF2B5EF4-FFF2-40B4-BE49-F238E27FC236}">
                <a16:creationId xmlns:a16="http://schemas.microsoft.com/office/drawing/2014/main" id="{CF17CB81-C81B-4AF6-AF7A-30117F2195B8}"/>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a:extLst>
              <a:ext uri="{FF2B5EF4-FFF2-40B4-BE49-F238E27FC236}">
                <a16:creationId xmlns:a16="http://schemas.microsoft.com/office/drawing/2014/main" id="{7FC51FD3-F392-45D5-8B17-0CFB53C8D69B}"/>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a:extLst>
              <a:ext uri="{FF2B5EF4-FFF2-40B4-BE49-F238E27FC236}">
                <a16:creationId xmlns:a16="http://schemas.microsoft.com/office/drawing/2014/main" id="{6657A5C1-3BC0-4289-868D-9A9FB9A1A175}"/>
              </a:ext>
            </a:extLst>
          </p:cNvPr>
          <p:cNvSpPr>
            <a:spLocks noGrp="1" noChangeArrowheads="1"/>
          </p:cNvSpPr>
          <p:nvPr>
            <p:ph type="body" idx="1"/>
          </p:nvPr>
        </p:nvSpPr>
        <p:spPr>
          <a:ln/>
        </p:spPr>
        <p:txBody>
          <a:bodyPr lIns="92075" tIns="46038" rIns="92075" bIns="46038"/>
          <a:lstStyle/>
          <a:p>
            <a:endParaRPr lang="en-GB" altLang="en-US" noProof="1"/>
          </a:p>
        </p:txBody>
      </p:sp>
      <p:sp>
        <p:nvSpPr>
          <p:cNvPr id="374791" name="Rectangle 7">
            <a:extLst>
              <a:ext uri="{FF2B5EF4-FFF2-40B4-BE49-F238E27FC236}">
                <a16:creationId xmlns:a16="http://schemas.microsoft.com/office/drawing/2014/main" id="{A7AB2CFE-A319-4BB0-B35B-2FDC6B1D5DBF}"/>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441323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5BE460A4-A316-4054-9468-B5817E810A06}"/>
              </a:ext>
            </a:extLst>
          </p:cNvPr>
          <p:cNvSpPr>
            <a:spLocks noGrp="1" noChangeArrowheads="1"/>
          </p:cNvSpPr>
          <p:nvPr>
            <p:ph type="sldNum" sz="quarter" idx="5"/>
          </p:nvPr>
        </p:nvSpPr>
        <p:spPr>
          <a:ln/>
        </p:spPr>
        <p:txBody>
          <a:bodyPr/>
          <a:lstStyle/>
          <a:p>
            <a:fld id="{46A92CA0-5435-4749-A381-3D85F03E7976}" type="slidenum">
              <a:rPr lang="en-GB" altLang="en-US"/>
              <a:pPr/>
              <a:t>24</a:t>
            </a:fld>
            <a:endParaRPr lang="en-GB" altLang="en-US"/>
          </a:p>
        </p:txBody>
      </p:sp>
      <p:sp>
        <p:nvSpPr>
          <p:cNvPr id="15362" name="Rectangle 2">
            <a:extLst>
              <a:ext uri="{FF2B5EF4-FFF2-40B4-BE49-F238E27FC236}">
                <a16:creationId xmlns:a16="http://schemas.microsoft.com/office/drawing/2014/main" id="{81B57BFD-3CA5-4579-8318-CDDAE06DE55A}"/>
              </a:ext>
            </a:extLst>
          </p:cNvPr>
          <p:cNvSpPr>
            <a:spLocks noGrp="1" noChangeArrowheads="1"/>
          </p:cNvSpPr>
          <p:nvPr>
            <p:ph type="body" idx="1"/>
          </p:nvPr>
        </p:nvSpPr>
        <p:spPr>
          <a:ln/>
        </p:spPr>
        <p:txBody>
          <a:bodyPr/>
          <a:lstStyle/>
          <a:p>
            <a:endParaRPr lang="en-GB" altLang="en-US" noProof="1"/>
          </a:p>
        </p:txBody>
      </p:sp>
      <p:sp>
        <p:nvSpPr>
          <p:cNvPr id="15363" name="Rectangle 3">
            <a:extLst>
              <a:ext uri="{FF2B5EF4-FFF2-40B4-BE49-F238E27FC236}">
                <a16:creationId xmlns:a16="http://schemas.microsoft.com/office/drawing/2014/main" id="{BC374C91-64B8-43F2-A946-D08035CD0A58}"/>
              </a:ext>
            </a:extLst>
          </p:cNvPr>
          <p:cNvSpPr>
            <a:spLocks noGrp="1" noRot="1" noChangeAspect="1" noChangeArrowheads="1" noTextEdit="1"/>
          </p:cNvSpPr>
          <p:nvPr>
            <p:ph type="sldImg"/>
          </p:nvPr>
        </p:nvSpPr>
        <p:spPr>
          <a:xfrm>
            <a:off x="2705100" y="514350"/>
            <a:ext cx="4516438" cy="2540000"/>
          </a:xfrm>
          <a:ln cap="flat"/>
        </p:spPr>
      </p:sp>
    </p:spTree>
    <p:extLst>
      <p:ext uri="{BB962C8B-B14F-4D97-AF65-F5344CB8AC3E}">
        <p14:creationId xmlns:p14="http://schemas.microsoft.com/office/powerpoint/2010/main" val="1723076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1EA907A-47F0-4031-AD98-AAB31FE91850}"/>
              </a:ext>
            </a:extLst>
          </p:cNvPr>
          <p:cNvSpPr>
            <a:spLocks noGrp="1" noChangeArrowheads="1"/>
          </p:cNvSpPr>
          <p:nvPr>
            <p:ph type="sldNum" sz="quarter" idx="5"/>
          </p:nvPr>
        </p:nvSpPr>
        <p:spPr>
          <a:ln/>
        </p:spPr>
        <p:txBody>
          <a:bodyPr/>
          <a:lstStyle/>
          <a:p>
            <a:fld id="{373992CD-5B22-4399-9AA4-18DA6C40F290}" type="slidenum">
              <a:rPr lang="en-GB" altLang="en-US"/>
              <a:pPr/>
              <a:t>25</a:t>
            </a:fld>
            <a:endParaRPr lang="en-GB" altLang="en-US"/>
          </a:p>
        </p:txBody>
      </p:sp>
      <p:sp>
        <p:nvSpPr>
          <p:cNvPr id="378882" name="Rectangle 2">
            <a:extLst>
              <a:ext uri="{FF2B5EF4-FFF2-40B4-BE49-F238E27FC236}">
                <a16:creationId xmlns:a16="http://schemas.microsoft.com/office/drawing/2014/main" id="{4AD0653F-BB5E-48F9-9378-49FD8E0822B4}"/>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3" name="Rectangle 3">
            <a:extLst>
              <a:ext uri="{FF2B5EF4-FFF2-40B4-BE49-F238E27FC236}">
                <a16:creationId xmlns:a16="http://schemas.microsoft.com/office/drawing/2014/main" id="{75387C57-0EFF-47F8-945A-5C927D8D73C9}"/>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378884" name="Rectangle 4">
            <a:extLst>
              <a:ext uri="{FF2B5EF4-FFF2-40B4-BE49-F238E27FC236}">
                <a16:creationId xmlns:a16="http://schemas.microsoft.com/office/drawing/2014/main" id="{218F1B5A-7131-4FC3-B5DF-CD570E96180B}"/>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5" name="Rectangle 5">
            <a:extLst>
              <a:ext uri="{FF2B5EF4-FFF2-40B4-BE49-F238E27FC236}">
                <a16:creationId xmlns:a16="http://schemas.microsoft.com/office/drawing/2014/main" id="{54D8246B-3EAC-4A85-81D9-13B05A4317D1}"/>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6" name="Rectangle 6">
            <a:extLst>
              <a:ext uri="{FF2B5EF4-FFF2-40B4-BE49-F238E27FC236}">
                <a16:creationId xmlns:a16="http://schemas.microsoft.com/office/drawing/2014/main" id="{9DFCED4B-52E3-4EB0-98D8-5F448970F775}"/>
              </a:ext>
            </a:extLst>
          </p:cNvPr>
          <p:cNvSpPr>
            <a:spLocks noGrp="1" noChangeArrowheads="1"/>
          </p:cNvSpPr>
          <p:nvPr>
            <p:ph type="body" idx="1"/>
          </p:nvPr>
        </p:nvSpPr>
        <p:spPr>
          <a:ln/>
        </p:spPr>
        <p:txBody>
          <a:bodyPr lIns="92075" tIns="46038" rIns="92075" bIns="46038"/>
          <a:lstStyle/>
          <a:p>
            <a:endParaRPr lang="en-GB" altLang="en-US" noProof="1"/>
          </a:p>
        </p:txBody>
      </p:sp>
      <p:sp>
        <p:nvSpPr>
          <p:cNvPr id="378887" name="Rectangle 7">
            <a:extLst>
              <a:ext uri="{FF2B5EF4-FFF2-40B4-BE49-F238E27FC236}">
                <a16:creationId xmlns:a16="http://schemas.microsoft.com/office/drawing/2014/main" id="{C5C0016B-FCF1-4438-AF7E-3DF10D632F29}"/>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220106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09701F42-18D1-4A08-BC32-7E16FEADE188}"/>
              </a:ext>
            </a:extLst>
          </p:cNvPr>
          <p:cNvSpPr>
            <a:spLocks noGrp="1" noChangeArrowheads="1"/>
          </p:cNvSpPr>
          <p:nvPr>
            <p:ph type="sldNum" sz="quarter" idx="5"/>
          </p:nvPr>
        </p:nvSpPr>
        <p:spPr>
          <a:ln/>
        </p:spPr>
        <p:txBody>
          <a:bodyPr/>
          <a:lstStyle/>
          <a:p>
            <a:fld id="{DB0F0F3E-36BC-4921-9C82-7A34594F2E76}" type="slidenum">
              <a:rPr lang="en-GB" altLang="en-US"/>
              <a:pPr/>
              <a:t>26</a:t>
            </a:fld>
            <a:endParaRPr lang="en-GB" altLang="en-US"/>
          </a:p>
        </p:txBody>
      </p:sp>
      <p:sp>
        <p:nvSpPr>
          <p:cNvPr id="11266" name="Rectangle 2">
            <a:extLst>
              <a:ext uri="{FF2B5EF4-FFF2-40B4-BE49-F238E27FC236}">
                <a16:creationId xmlns:a16="http://schemas.microsoft.com/office/drawing/2014/main" id="{F483B598-63C3-4B41-B06B-6582F243D6E8}"/>
              </a:ext>
            </a:extLst>
          </p:cNvPr>
          <p:cNvSpPr>
            <a:spLocks noGrp="1" noChangeArrowheads="1"/>
          </p:cNvSpPr>
          <p:nvPr>
            <p:ph type="body" idx="1"/>
          </p:nvPr>
        </p:nvSpPr>
        <p:spPr>
          <a:ln/>
        </p:spPr>
        <p:txBody>
          <a:bodyPr/>
          <a:lstStyle/>
          <a:p>
            <a:endParaRPr lang="en-US" altLang="en-US"/>
          </a:p>
        </p:txBody>
      </p:sp>
      <p:sp>
        <p:nvSpPr>
          <p:cNvPr id="11267" name="Rectangle 3">
            <a:extLst>
              <a:ext uri="{FF2B5EF4-FFF2-40B4-BE49-F238E27FC236}">
                <a16:creationId xmlns:a16="http://schemas.microsoft.com/office/drawing/2014/main" id="{D45AA1CC-6FA8-431B-A685-17E6A2E8A4E6}"/>
              </a:ext>
            </a:extLst>
          </p:cNvPr>
          <p:cNvSpPr>
            <a:spLocks noGrp="1" noRot="1" noChangeAspect="1" noChangeArrowheads="1" noTextEdit="1"/>
          </p:cNvSpPr>
          <p:nvPr>
            <p:ph type="sldImg"/>
          </p:nvPr>
        </p:nvSpPr>
        <p:spPr>
          <a:xfrm>
            <a:off x="2705100" y="514350"/>
            <a:ext cx="4516438" cy="2540000"/>
          </a:xfrm>
          <a:ln cap="flat"/>
        </p:spPr>
      </p:sp>
    </p:spTree>
    <p:extLst>
      <p:ext uri="{BB962C8B-B14F-4D97-AF65-F5344CB8AC3E}">
        <p14:creationId xmlns:p14="http://schemas.microsoft.com/office/powerpoint/2010/main" val="3959200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9365E9-DA3E-4356-8B12-7E60849C6917}"/>
              </a:ext>
            </a:extLst>
          </p:cNvPr>
          <p:cNvSpPr>
            <a:spLocks noGrp="1" noChangeArrowheads="1"/>
          </p:cNvSpPr>
          <p:nvPr>
            <p:ph type="sldNum" sz="quarter" idx="5"/>
          </p:nvPr>
        </p:nvSpPr>
        <p:spPr>
          <a:ln/>
        </p:spPr>
        <p:txBody>
          <a:bodyPr/>
          <a:lstStyle/>
          <a:p>
            <a:fld id="{2FFF5F9D-450E-42CF-BB36-CB00A3AD953A}" type="slidenum">
              <a:rPr lang="en-GB" altLang="en-US"/>
              <a:pPr/>
              <a:t>27</a:t>
            </a:fld>
            <a:endParaRPr lang="en-GB" altLang="en-US"/>
          </a:p>
        </p:txBody>
      </p:sp>
      <p:sp>
        <p:nvSpPr>
          <p:cNvPr id="50178" name="Rectangle 2">
            <a:extLst>
              <a:ext uri="{FF2B5EF4-FFF2-40B4-BE49-F238E27FC236}">
                <a16:creationId xmlns:a16="http://schemas.microsoft.com/office/drawing/2014/main" id="{63E74B47-C36B-4489-81FF-56D1D92FA5CF}"/>
              </a:ext>
            </a:extLst>
          </p:cNvPr>
          <p:cNvSpPr>
            <a:spLocks noGrp="1" noChangeArrowheads="1"/>
          </p:cNvSpPr>
          <p:nvPr>
            <p:ph type="body" idx="1"/>
          </p:nvPr>
        </p:nvSpPr>
        <p:spPr>
          <a:ln/>
        </p:spPr>
        <p:txBody>
          <a:bodyPr lIns="92075" tIns="46038" rIns="92075" bIns="46038"/>
          <a:lstStyle/>
          <a:p>
            <a:endParaRPr lang="en-GB" altLang="en-US" noProof="1"/>
          </a:p>
        </p:txBody>
      </p:sp>
      <p:sp>
        <p:nvSpPr>
          <p:cNvPr id="50179" name="Rectangle 3">
            <a:extLst>
              <a:ext uri="{FF2B5EF4-FFF2-40B4-BE49-F238E27FC236}">
                <a16:creationId xmlns:a16="http://schemas.microsoft.com/office/drawing/2014/main" id="{769407E4-5FD2-4A08-B921-9847F081FB43}"/>
              </a:ext>
            </a:extLst>
          </p:cNvPr>
          <p:cNvSpPr>
            <a:spLocks noGrp="1" noRot="1" noChangeAspect="1" noChangeArrowheads="1" noTextEdit="1"/>
          </p:cNvSpPr>
          <p:nvPr>
            <p:ph type="sldImg"/>
          </p:nvPr>
        </p:nvSpPr>
        <p:spPr>
          <a:xfrm>
            <a:off x="2705100" y="514350"/>
            <a:ext cx="4516438" cy="25400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929611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9365E9-DA3E-4356-8B12-7E60849C6917}"/>
              </a:ext>
            </a:extLst>
          </p:cNvPr>
          <p:cNvSpPr>
            <a:spLocks noGrp="1" noChangeArrowheads="1"/>
          </p:cNvSpPr>
          <p:nvPr>
            <p:ph type="sldNum" sz="quarter" idx="5"/>
          </p:nvPr>
        </p:nvSpPr>
        <p:spPr>
          <a:ln/>
        </p:spPr>
        <p:txBody>
          <a:bodyPr/>
          <a:lstStyle/>
          <a:p>
            <a:fld id="{2FFF5F9D-450E-42CF-BB36-CB00A3AD953A}" type="slidenum">
              <a:rPr lang="en-GB" altLang="en-US"/>
              <a:pPr/>
              <a:t>28</a:t>
            </a:fld>
            <a:endParaRPr lang="en-GB" altLang="en-US"/>
          </a:p>
        </p:txBody>
      </p:sp>
      <p:sp>
        <p:nvSpPr>
          <p:cNvPr id="50178" name="Rectangle 2">
            <a:extLst>
              <a:ext uri="{FF2B5EF4-FFF2-40B4-BE49-F238E27FC236}">
                <a16:creationId xmlns:a16="http://schemas.microsoft.com/office/drawing/2014/main" id="{63E74B47-C36B-4489-81FF-56D1D92FA5CF}"/>
              </a:ext>
            </a:extLst>
          </p:cNvPr>
          <p:cNvSpPr>
            <a:spLocks noGrp="1" noChangeArrowheads="1"/>
          </p:cNvSpPr>
          <p:nvPr>
            <p:ph type="body" idx="1"/>
          </p:nvPr>
        </p:nvSpPr>
        <p:spPr>
          <a:ln/>
        </p:spPr>
        <p:txBody>
          <a:bodyPr lIns="92075" tIns="46038" rIns="92075" bIns="46038"/>
          <a:lstStyle/>
          <a:p>
            <a:endParaRPr lang="en-GB" altLang="en-US" noProof="1"/>
          </a:p>
        </p:txBody>
      </p:sp>
      <p:sp>
        <p:nvSpPr>
          <p:cNvPr id="50179" name="Rectangle 3">
            <a:extLst>
              <a:ext uri="{FF2B5EF4-FFF2-40B4-BE49-F238E27FC236}">
                <a16:creationId xmlns:a16="http://schemas.microsoft.com/office/drawing/2014/main" id="{769407E4-5FD2-4A08-B921-9847F081FB43}"/>
              </a:ext>
            </a:extLst>
          </p:cNvPr>
          <p:cNvSpPr>
            <a:spLocks noGrp="1" noRot="1" noChangeAspect="1" noChangeArrowheads="1" noTextEdit="1"/>
          </p:cNvSpPr>
          <p:nvPr>
            <p:ph type="sldImg"/>
          </p:nvPr>
        </p:nvSpPr>
        <p:spPr>
          <a:xfrm>
            <a:off x="2705100" y="514350"/>
            <a:ext cx="4516438" cy="25400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5692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859D8197-59CF-402A-9CA1-BE55E8D20B86}"/>
              </a:ext>
            </a:extLst>
          </p:cNvPr>
          <p:cNvSpPr>
            <a:spLocks noGrp="1" noChangeArrowheads="1"/>
          </p:cNvSpPr>
          <p:nvPr>
            <p:ph type="sldNum" sz="quarter" idx="5"/>
          </p:nvPr>
        </p:nvSpPr>
        <p:spPr>
          <a:ln/>
        </p:spPr>
        <p:txBody>
          <a:bodyPr/>
          <a:lstStyle/>
          <a:p>
            <a:fld id="{D01A59D8-0999-4A71-8DCC-75F7BC5EB5C2}" type="slidenum">
              <a:rPr lang="en-GB" altLang="en-US"/>
              <a:pPr/>
              <a:t>29</a:t>
            </a:fld>
            <a:endParaRPr lang="en-GB" altLang="en-US"/>
          </a:p>
        </p:txBody>
      </p:sp>
      <p:sp>
        <p:nvSpPr>
          <p:cNvPr id="11266" name="Rectangle 2">
            <a:extLst>
              <a:ext uri="{FF2B5EF4-FFF2-40B4-BE49-F238E27FC236}">
                <a16:creationId xmlns:a16="http://schemas.microsoft.com/office/drawing/2014/main" id="{1BD23A15-9939-4FAD-BBE9-C452209567F5}"/>
              </a:ext>
            </a:extLst>
          </p:cNvPr>
          <p:cNvSpPr>
            <a:spLocks noGrp="1" noChangeArrowheads="1"/>
          </p:cNvSpPr>
          <p:nvPr>
            <p:ph type="body" idx="1"/>
          </p:nvPr>
        </p:nvSpPr>
        <p:spPr>
          <a:ln/>
        </p:spPr>
        <p:txBody>
          <a:bodyPr/>
          <a:lstStyle/>
          <a:p>
            <a:endParaRPr lang="en-US" altLang="en-US"/>
          </a:p>
        </p:txBody>
      </p:sp>
      <p:sp>
        <p:nvSpPr>
          <p:cNvPr id="11267" name="Rectangle 3">
            <a:extLst>
              <a:ext uri="{FF2B5EF4-FFF2-40B4-BE49-F238E27FC236}">
                <a16:creationId xmlns:a16="http://schemas.microsoft.com/office/drawing/2014/main" id="{BB560E6B-71F7-4844-B2D4-639DA56D8DCD}"/>
              </a:ext>
            </a:extLst>
          </p:cNvPr>
          <p:cNvSpPr>
            <a:spLocks noGrp="1" noRot="1" noChangeAspect="1" noChangeArrowheads="1" noTextEdit="1"/>
          </p:cNvSpPr>
          <p:nvPr>
            <p:ph type="sldImg"/>
          </p:nvPr>
        </p:nvSpPr>
        <p:spPr>
          <a:xfrm>
            <a:off x="2705100" y="514350"/>
            <a:ext cx="4516438" cy="2540000"/>
          </a:xfrm>
          <a:ln cap="flat"/>
        </p:spPr>
      </p:sp>
    </p:spTree>
    <p:extLst>
      <p:ext uri="{BB962C8B-B14F-4D97-AF65-F5344CB8AC3E}">
        <p14:creationId xmlns:p14="http://schemas.microsoft.com/office/powerpoint/2010/main" val="1510530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862F938-53E4-4B7F-9AC6-8E50B3C32670}"/>
              </a:ext>
            </a:extLst>
          </p:cNvPr>
          <p:cNvSpPr>
            <a:spLocks noGrp="1" noChangeArrowheads="1"/>
          </p:cNvSpPr>
          <p:nvPr>
            <p:ph type="sldNum" sz="quarter" idx="5"/>
          </p:nvPr>
        </p:nvSpPr>
        <p:spPr>
          <a:ln/>
        </p:spPr>
        <p:txBody>
          <a:bodyPr/>
          <a:lstStyle/>
          <a:p>
            <a:fld id="{B811C5C8-6890-4424-A2C1-71AAB141A3D9}" type="slidenum">
              <a:rPr lang="en-GB" altLang="en-US"/>
              <a:pPr/>
              <a:t>30</a:t>
            </a:fld>
            <a:endParaRPr lang="en-GB" altLang="en-US"/>
          </a:p>
        </p:txBody>
      </p:sp>
      <p:sp>
        <p:nvSpPr>
          <p:cNvPr id="380930" name="Rectangle 2">
            <a:extLst>
              <a:ext uri="{FF2B5EF4-FFF2-40B4-BE49-F238E27FC236}">
                <a16:creationId xmlns:a16="http://schemas.microsoft.com/office/drawing/2014/main" id="{24B236C9-1849-48BD-A3FF-CCDEBF690F77}"/>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2608190D-54C1-4B60-868F-A60F4BECCD15}"/>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10</a:t>
            </a:r>
          </a:p>
        </p:txBody>
      </p:sp>
      <p:sp>
        <p:nvSpPr>
          <p:cNvPr id="380932" name="Rectangle 4">
            <a:extLst>
              <a:ext uri="{FF2B5EF4-FFF2-40B4-BE49-F238E27FC236}">
                <a16:creationId xmlns:a16="http://schemas.microsoft.com/office/drawing/2014/main" id="{F8E25E0B-FD8B-49EC-B46C-409524ED4449}"/>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70B6AFD1-D8A2-4494-9F2C-B2A7E876437D}"/>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3DFC14E0-3198-4248-8C4F-4493C8D082F8}"/>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F4A84CC5-D07B-43D8-BC81-19008232D5AE}"/>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929806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862F938-53E4-4B7F-9AC6-8E50B3C32670}"/>
              </a:ext>
            </a:extLst>
          </p:cNvPr>
          <p:cNvSpPr>
            <a:spLocks noGrp="1" noChangeArrowheads="1"/>
          </p:cNvSpPr>
          <p:nvPr>
            <p:ph type="sldNum" sz="quarter" idx="5"/>
          </p:nvPr>
        </p:nvSpPr>
        <p:spPr>
          <a:ln/>
        </p:spPr>
        <p:txBody>
          <a:bodyPr/>
          <a:lstStyle/>
          <a:p>
            <a:fld id="{B811C5C8-6890-4424-A2C1-71AAB141A3D9}" type="slidenum">
              <a:rPr lang="en-GB" altLang="en-US"/>
              <a:pPr/>
              <a:t>31</a:t>
            </a:fld>
            <a:endParaRPr lang="en-GB" altLang="en-US"/>
          </a:p>
        </p:txBody>
      </p:sp>
      <p:sp>
        <p:nvSpPr>
          <p:cNvPr id="380930" name="Rectangle 2">
            <a:extLst>
              <a:ext uri="{FF2B5EF4-FFF2-40B4-BE49-F238E27FC236}">
                <a16:creationId xmlns:a16="http://schemas.microsoft.com/office/drawing/2014/main" id="{24B236C9-1849-48BD-A3FF-CCDEBF690F77}"/>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1" name="Rectangle 3">
            <a:extLst>
              <a:ext uri="{FF2B5EF4-FFF2-40B4-BE49-F238E27FC236}">
                <a16:creationId xmlns:a16="http://schemas.microsoft.com/office/drawing/2014/main" id="{2608190D-54C1-4B60-868F-A60F4BECCD15}"/>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10</a:t>
            </a:r>
          </a:p>
        </p:txBody>
      </p:sp>
      <p:sp>
        <p:nvSpPr>
          <p:cNvPr id="380932" name="Rectangle 4">
            <a:extLst>
              <a:ext uri="{FF2B5EF4-FFF2-40B4-BE49-F238E27FC236}">
                <a16:creationId xmlns:a16="http://schemas.microsoft.com/office/drawing/2014/main" id="{F8E25E0B-FD8B-49EC-B46C-409524ED4449}"/>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3" name="Rectangle 5">
            <a:extLst>
              <a:ext uri="{FF2B5EF4-FFF2-40B4-BE49-F238E27FC236}">
                <a16:creationId xmlns:a16="http://schemas.microsoft.com/office/drawing/2014/main" id="{70B6AFD1-D8A2-4494-9F2C-B2A7E876437D}"/>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0934" name="Rectangle 6">
            <a:extLst>
              <a:ext uri="{FF2B5EF4-FFF2-40B4-BE49-F238E27FC236}">
                <a16:creationId xmlns:a16="http://schemas.microsoft.com/office/drawing/2014/main" id="{3DFC14E0-3198-4248-8C4F-4493C8D082F8}"/>
              </a:ext>
            </a:extLst>
          </p:cNvPr>
          <p:cNvSpPr>
            <a:spLocks noGrp="1" noChangeArrowheads="1"/>
          </p:cNvSpPr>
          <p:nvPr>
            <p:ph type="body" idx="1"/>
          </p:nvPr>
        </p:nvSpPr>
        <p:spPr>
          <a:ln/>
        </p:spPr>
        <p:txBody>
          <a:bodyPr lIns="92075" tIns="46038" rIns="92075" bIns="46038"/>
          <a:lstStyle/>
          <a:p>
            <a:endParaRPr lang="en-GB" altLang="en-US" noProof="1"/>
          </a:p>
        </p:txBody>
      </p:sp>
      <p:sp>
        <p:nvSpPr>
          <p:cNvPr id="380935" name="Rectangle 7">
            <a:extLst>
              <a:ext uri="{FF2B5EF4-FFF2-40B4-BE49-F238E27FC236}">
                <a16:creationId xmlns:a16="http://schemas.microsoft.com/office/drawing/2014/main" id="{F4A84CC5-D07B-43D8-BC81-19008232D5AE}"/>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30165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929A5A95-6331-4592-BEFB-5B9242BBD173}"/>
              </a:ext>
            </a:extLst>
          </p:cNvPr>
          <p:cNvSpPr>
            <a:spLocks noGrp="1" noChangeArrowheads="1"/>
          </p:cNvSpPr>
          <p:nvPr>
            <p:ph type="sldNum" sz="quarter" idx="5"/>
          </p:nvPr>
        </p:nvSpPr>
        <p:spPr>
          <a:ln/>
        </p:spPr>
        <p:txBody>
          <a:bodyPr/>
          <a:lstStyle/>
          <a:p>
            <a:fld id="{9B2A30EB-D398-44C2-BE35-9C7A991C9482}" type="slidenum">
              <a:rPr lang="en-GB" altLang="en-US"/>
              <a:pPr/>
              <a:t>32</a:t>
            </a:fld>
            <a:endParaRPr lang="en-GB" altLang="en-US"/>
          </a:p>
        </p:txBody>
      </p:sp>
      <p:sp>
        <p:nvSpPr>
          <p:cNvPr id="382978" name="Rectangle 2">
            <a:extLst>
              <a:ext uri="{FF2B5EF4-FFF2-40B4-BE49-F238E27FC236}">
                <a16:creationId xmlns:a16="http://schemas.microsoft.com/office/drawing/2014/main" id="{2339FB1E-316E-4965-9541-D4ABF0C71D6F}"/>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79" name="Rectangle 3">
            <a:extLst>
              <a:ext uri="{FF2B5EF4-FFF2-40B4-BE49-F238E27FC236}">
                <a16:creationId xmlns:a16="http://schemas.microsoft.com/office/drawing/2014/main" id="{A35682AB-808D-4B06-B77F-636C3E1B6C82}"/>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82980" name="Rectangle 4">
            <a:extLst>
              <a:ext uri="{FF2B5EF4-FFF2-40B4-BE49-F238E27FC236}">
                <a16:creationId xmlns:a16="http://schemas.microsoft.com/office/drawing/2014/main" id="{55D17672-312F-4EA1-9989-F385AB0608B0}"/>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1" name="Rectangle 5">
            <a:extLst>
              <a:ext uri="{FF2B5EF4-FFF2-40B4-BE49-F238E27FC236}">
                <a16:creationId xmlns:a16="http://schemas.microsoft.com/office/drawing/2014/main" id="{39F54120-28D8-443E-85E7-70DBDED04FCC}"/>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2" name="Rectangle 6">
            <a:extLst>
              <a:ext uri="{FF2B5EF4-FFF2-40B4-BE49-F238E27FC236}">
                <a16:creationId xmlns:a16="http://schemas.microsoft.com/office/drawing/2014/main" id="{91F49156-99B1-47DA-B056-44194595F2A4}"/>
              </a:ext>
            </a:extLst>
          </p:cNvPr>
          <p:cNvSpPr>
            <a:spLocks noGrp="1" noChangeArrowheads="1"/>
          </p:cNvSpPr>
          <p:nvPr>
            <p:ph type="body" idx="1"/>
          </p:nvPr>
        </p:nvSpPr>
        <p:spPr>
          <a:ln/>
        </p:spPr>
        <p:txBody>
          <a:bodyPr lIns="92075" tIns="46038" rIns="92075" bIns="46038"/>
          <a:lstStyle/>
          <a:p>
            <a:endParaRPr lang="en-GB" altLang="en-US" noProof="1"/>
          </a:p>
        </p:txBody>
      </p:sp>
      <p:sp>
        <p:nvSpPr>
          <p:cNvPr id="382983" name="Rectangle 7">
            <a:extLst>
              <a:ext uri="{FF2B5EF4-FFF2-40B4-BE49-F238E27FC236}">
                <a16:creationId xmlns:a16="http://schemas.microsoft.com/office/drawing/2014/main" id="{8BC19F57-2922-4A4B-9744-867BC0F99033}"/>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568098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C9D1A475-575A-4EE7-BE53-F229D3AA174F}"/>
              </a:ext>
            </a:extLst>
          </p:cNvPr>
          <p:cNvSpPr>
            <a:spLocks noGrp="1" noChangeArrowheads="1"/>
          </p:cNvSpPr>
          <p:nvPr>
            <p:ph type="sldNum" sz="quarter" idx="5"/>
          </p:nvPr>
        </p:nvSpPr>
        <p:spPr>
          <a:ln/>
        </p:spPr>
        <p:txBody>
          <a:bodyPr/>
          <a:lstStyle/>
          <a:p>
            <a:fld id="{D4AA76CF-4AE7-42DF-ABF9-2D4B49EF0258}" type="slidenum">
              <a:rPr lang="en-GB" altLang="en-US"/>
              <a:pPr/>
              <a:t>33</a:t>
            </a:fld>
            <a:endParaRPr lang="en-GB" altLang="en-US"/>
          </a:p>
        </p:txBody>
      </p:sp>
      <p:sp>
        <p:nvSpPr>
          <p:cNvPr id="385026" name="Rectangle 2">
            <a:extLst>
              <a:ext uri="{FF2B5EF4-FFF2-40B4-BE49-F238E27FC236}">
                <a16:creationId xmlns:a16="http://schemas.microsoft.com/office/drawing/2014/main" id="{E62137C2-830E-4AC5-8E17-C3FF4E7FD20D}"/>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7" name="Rectangle 3">
            <a:extLst>
              <a:ext uri="{FF2B5EF4-FFF2-40B4-BE49-F238E27FC236}">
                <a16:creationId xmlns:a16="http://schemas.microsoft.com/office/drawing/2014/main" id="{65B3362F-AB00-48FA-BBDD-A152C2BEA3A3}"/>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85028" name="Rectangle 4">
            <a:extLst>
              <a:ext uri="{FF2B5EF4-FFF2-40B4-BE49-F238E27FC236}">
                <a16:creationId xmlns:a16="http://schemas.microsoft.com/office/drawing/2014/main" id="{5D9DD998-8DBB-4256-80ED-574702E3D147}"/>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9" name="Rectangle 5">
            <a:extLst>
              <a:ext uri="{FF2B5EF4-FFF2-40B4-BE49-F238E27FC236}">
                <a16:creationId xmlns:a16="http://schemas.microsoft.com/office/drawing/2014/main" id="{42D75A42-66A8-4F2F-87C9-75B5C00264C8}"/>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30" name="Rectangle 6">
            <a:extLst>
              <a:ext uri="{FF2B5EF4-FFF2-40B4-BE49-F238E27FC236}">
                <a16:creationId xmlns:a16="http://schemas.microsoft.com/office/drawing/2014/main" id="{541AA600-2A00-4FF2-9AA0-BFAB8A8C3337}"/>
              </a:ext>
            </a:extLst>
          </p:cNvPr>
          <p:cNvSpPr>
            <a:spLocks noGrp="1" noChangeArrowheads="1"/>
          </p:cNvSpPr>
          <p:nvPr>
            <p:ph type="body" idx="1"/>
          </p:nvPr>
        </p:nvSpPr>
        <p:spPr>
          <a:ln/>
        </p:spPr>
        <p:txBody>
          <a:bodyPr lIns="92075" tIns="46038" rIns="92075" bIns="46038"/>
          <a:lstStyle/>
          <a:p>
            <a:endParaRPr lang="en-GB" altLang="en-US" noProof="1"/>
          </a:p>
        </p:txBody>
      </p:sp>
      <p:sp>
        <p:nvSpPr>
          <p:cNvPr id="385031" name="Rectangle 7">
            <a:extLst>
              <a:ext uri="{FF2B5EF4-FFF2-40B4-BE49-F238E27FC236}">
                <a16:creationId xmlns:a16="http://schemas.microsoft.com/office/drawing/2014/main" id="{34986BD1-9A0E-4D34-9CE0-D0E7E192934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389467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C9D1A475-575A-4EE7-BE53-F229D3AA174F}"/>
              </a:ext>
            </a:extLst>
          </p:cNvPr>
          <p:cNvSpPr>
            <a:spLocks noGrp="1" noChangeArrowheads="1"/>
          </p:cNvSpPr>
          <p:nvPr>
            <p:ph type="sldNum" sz="quarter" idx="5"/>
          </p:nvPr>
        </p:nvSpPr>
        <p:spPr>
          <a:ln/>
        </p:spPr>
        <p:txBody>
          <a:bodyPr/>
          <a:lstStyle/>
          <a:p>
            <a:fld id="{D4AA76CF-4AE7-42DF-ABF9-2D4B49EF0258}" type="slidenum">
              <a:rPr lang="en-GB" altLang="en-US"/>
              <a:pPr/>
              <a:t>34</a:t>
            </a:fld>
            <a:endParaRPr lang="en-GB" altLang="en-US"/>
          </a:p>
        </p:txBody>
      </p:sp>
      <p:sp>
        <p:nvSpPr>
          <p:cNvPr id="385026" name="Rectangle 2">
            <a:extLst>
              <a:ext uri="{FF2B5EF4-FFF2-40B4-BE49-F238E27FC236}">
                <a16:creationId xmlns:a16="http://schemas.microsoft.com/office/drawing/2014/main" id="{E62137C2-830E-4AC5-8E17-C3FF4E7FD20D}"/>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7" name="Rectangle 3">
            <a:extLst>
              <a:ext uri="{FF2B5EF4-FFF2-40B4-BE49-F238E27FC236}">
                <a16:creationId xmlns:a16="http://schemas.microsoft.com/office/drawing/2014/main" id="{65B3362F-AB00-48FA-BBDD-A152C2BEA3A3}"/>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5</a:t>
            </a:r>
          </a:p>
        </p:txBody>
      </p:sp>
      <p:sp>
        <p:nvSpPr>
          <p:cNvPr id="385028" name="Rectangle 4">
            <a:extLst>
              <a:ext uri="{FF2B5EF4-FFF2-40B4-BE49-F238E27FC236}">
                <a16:creationId xmlns:a16="http://schemas.microsoft.com/office/drawing/2014/main" id="{5D9DD998-8DBB-4256-80ED-574702E3D147}"/>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29" name="Rectangle 5">
            <a:extLst>
              <a:ext uri="{FF2B5EF4-FFF2-40B4-BE49-F238E27FC236}">
                <a16:creationId xmlns:a16="http://schemas.microsoft.com/office/drawing/2014/main" id="{42D75A42-66A8-4F2F-87C9-75B5C00264C8}"/>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5030" name="Rectangle 6">
            <a:extLst>
              <a:ext uri="{FF2B5EF4-FFF2-40B4-BE49-F238E27FC236}">
                <a16:creationId xmlns:a16="http://schemas.microsoft.com/office/drawing/2014/main" id="{541AA600-2A00-4FF2-9AA0-BFAB8A8C3337}"/>
              </a:ext>
            </a:extLst>
          </p:cNvPr>
          <p:cNvSpPr>
            <a:spLocks noGrp="1" noChangeArrowheads="1"/>
          </p:cNvSpPr>
          <p:nvPr>
            <p:ph type="body" idx="1"/>
          </p:nvPr>
        </p:nvSpPr>
        <p:spPr>
          <a:ln/>
        </p:spPr>
        <p:txBody>
          <a:bodyPr lIns="92075" tIns="46038" rIns="92075" bIns="46038"/>
          <a:lstStyle/>
          <a:p>
            <a:endParaRPr lang="en-GB" altLang="en-US" noProof="1"/>
          </a:p>
        </p:txBody>
      </p:sp>
      <p:sp>
        <p:nvSpPr>
          <p:cNvPr id="385031" name="Rectangle 7">
            <a:extLst>
              <a:ext uri="{FF2B5EF4-FFF2-40B4-BE49-F238E27FC236}">
                <a16:creationId xmlns:a16="http://schemas.microsoft.com/office/drawing/2014/main" id="{34986BD1-9A0E-4D34-9CE0-D0E7E1929346}"/>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946048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D0E5C38-185D-4DDF-9D2A-9DA47351D4DF}"/>
              </a:ext>
            </a:extLst>
          </p:cNvPr>
          <p:cNvSpPr>
            <a:spLocks noGrp="1" noChangeArrowheads="1"/>
          </p:cNvSpPr>
          <p:nvPr>
            <p:ph type="sldNum" sz="quarter" idx="5"/>
          </p:nvPr>
        </p:nvSpPr>
        <p:spPr>
          <a:ln/>
        </p:spPr>
        <p:txBody>
          <a:bodyPr/>
          <a:lstStyle/>
          <a:p>
            <a:fld id="{713CAE13-DD2B-48D7-AE3C-5BDCDAADD8D6}" type="slidenum">
              <a:rPr lang="en-GB" altLang="en-US"/>
              <a:pPr/>
              <a:t>35</a:t>
            </a:fld>
            <a:endParaRPr lang="en-GB" altLang="en-US"/>
          </a:p>
        </p:txBody>
      </p:sp>
      <p:sp>
        <p:nvSpPr>
          <p:cNvPr id="387074" name="Rectangle 2">
            <a:extLst>
              <a:ext uri="{FF2B5EF4-FFF2-40B4-BE49-F238E27FC236}">
                <a16:creationId xmlns:a16="http://schemas.microsoft.com/office/drawing/2014/main" id="{851AA97B-E76D-4AC6-B678-2DEA9680A74B}"/>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5" name="Rectangle 3">
            <a:extLst>
              <a:ext uri="{FF2B5EF4-FFF2-40B4-BE49-F238E27FC236}">
                <a16:creationId xmlns:a16="http://schemas.microsoft.com/office/drawing/2014/main" id="{C7067034-044E-4B95-9D2C-721272A91CB5}"/>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387076" name="Rectangle 4">
            <a:extLst>
              <a:ext uri="{FF2B5EF4-FFF2-40B4-BE49-F238E27FC236}">
                <a16:creationId xmlns:a16="http://schemas.microsoft.com/office/drawing/2014/main" id="{241AF8F4-1656-4A58-A6A9-FF2975C49DCA}"/>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7" name="Rectangle 5">
            <a:extLst>
              <a:ext uri="{FF2B5EF4-FFF2-40B4-BE49-F238E27FC236}">
                <a16:creationId xmlns:a16="http://schemas.microsoft.com/office/drawing/2014/main" id="{A77F6527-42E9-4632-97E6-8FBA9CB90D77}"/>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7078" name="Rectangle 6">
            <a:extLst>
              <a:ext uri="{FF2B5EF4-FFF2-40B4-BE49-F238E27FC236}">
                <a16:creationId xmlns:a16="http://schemas.microsoft.com/office/drawing/2014/main" id="{4ECCA43E-ADF4-443A-B3B7-74E9309C77EB}"/>
              </a:ext>
            </a:extLst>
          </p:cNvPr>
          <p:cNvSpPr>
            <a:spLocks noGrp="1" noChangeArrowheads="1"/>
          </p:cNvSpPr>
          <p:nvPr>
            <p:ph type="body" idx="1"/>
          </p:nvPr>
        </p:nvSpPr>
        <p:spPr>
          <a:ln/>
        </p:spPr>
        <p:txBody>
          <a:bodyPr lIns="92075" tIns="46038" rIns="92075" bIns="46038"/>
          <a:lstStyle/>
          <a:p>
            <a:endParaRPr lang="en-GB" altLang="en-US" noProof="1"/>
          </a:p>
        </p:txBody>
      </p:sp>
      <p:sp>
        <p:nvSpPr>
          <p:cNvPr id="387079" name="Rectangle 7">
            <a:extLst>
              <a:ext uri="{FF2B5EF4-FFF2-40B4-BE49-F238E27FC236}">
                <a16:creationId xmlns:a16="http://schemas.microsoft.com/office/drawing/2014/main" id="{A5C2F0B0-8DDE-4BA9-B537-4C312712C132}"/>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353358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0EFECD0-E57E-448C-AF20-6172FFAF5A8E}"/>
              </a:ext>
            </a:extLst>
          </p:cNvPr>
          <p:cNvSpPr>
            <a:spLocks noGrp="1" noChangeArrowheads="1"/>
          </p:cNvSpPr>
          <p:nvPr>
            <p:ph type="sldNum" sz="quarter" idx="5"/>
          </p:nvPr>
        </p:nvSpPr>
        <p:spPr>
          <a:ln/>
        </p:spPr>
        <p:txBody>
          <a:bodyPr/>
          <a:lstStyle/>
          <a:p>
            <a:fld id="{62025558-CC21-4AED-832B-A0BA90B3D9F2}" type="slidenum">
              <a:rPr lang="en-GB" altLang="en-US"/>
              <a:pPr/>
              <a:t>36</a:t>
            </a:fld>
            <a:endParaRPr lang="en-GB" altLang="en-US"/>
          </a:p>
        </p:txBody>
      </p:sp>
      <p:sp>
        <p:nvSpPr>
          <p:cNvPr id="389122" name="Rectangle 2">
            <a:extLst>
              <a:ext uri="{FF2B5EF4-FFF2-40B4-BE49-F238E27FC236}">
                <a16:creationId xmlns:a16="http://schemas.microsoft.com/office/drawing/2014/main" id="{994CCD6D-283B-41B5-8485-FFCA00AF9EE0}"/>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3" name="Rectangle 3">
            <a:extLst>
              <a:ext uri="{FF2B5EF4-FFF2-40B4-BE49-F238E27FC236}">
                <a16:creationId xmlns:a16="http://schemas.microsoft.com/office/drawing/2014/main" id="{29DAE8B5-C3E3-4653-B535-A0A548AB07A3}"/>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389124" name="Rectangle 4">
            <a:extLst>
              <a:ext uri="{FF2B5EF4-FFF2-40B4-BE49-F238E27FC236}">
                <a16:creationId xmlns:a16="http://schemas.microsoft.com/office/drawing/2014/main" id="{6C4D6A4A-713F-4076-9DF8-5DC5776A0950}"/>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5" name="Rectangle 5">
            <a:extLst>
              <a:ext uri="{FF2B5EF4-FFF2-40B4-BE49-F238E27FC236}">
                <a16:creationId xmlns:a16="http://schemas.microsoft.com/office/drawing/2014/main" id="{DE0567A2-CED0-4427-8DD8-723B455D6032}"/>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9126" name="Rectangle 6">
            <a:extLst>
              <a:ext uri="{FF2B5EF4-FFF2-40B4-BE49-F238E27FC236}">
                <a16:creationId xmlns:a16="http://schemas.microsoft.com/office/drawing/2014/main" id="{F35FEC39-4AB2-4C21-8C10-D009EE39F52D}"/>
              </a:ext>
            </a:extLst>
          </p:cNvPr>
          <p:cNvSpPr>
            <a:spLocks noGrp="1" noChangeArrowheads="1"/>
          </p:cNvSpPr>
          <p:nvPr>
            <p:ph type="body" idx="1"/>
          </p:nvPr>
        </p:nvSpPr>
        <p:spPr>
          <a:ln/>
        </p:spPr>
        <p:txBody>
          <a:bodyPr lIns="92075" tIns="46038" rIns="92075" bIns="46038"/>
          <a:lstStyle/>
          <a:p>
            <a:pPr defTabSz="762000"/>
            <a:endParaRPr lang="en-GB" altLang="en-US" noProof="1"/>
          </a:p>
        </p:txBody>
      </p:sp>
      <p:sp>
        <p:nvSpPr>
          <p:cNvPr id="389127" name="Rectangle 7">
            <a:extLst>
              <a:ext uri="{FF2B5EF4-FFF2-40B4-BE49-F238E27FC236}">
                <a16:creationId xmlns:a16="http://schemas.microsoft.com/office/drawing/2014/main" id="{E62B196F-B8EF-4FD6-93D1-19D1133FA755}"/>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6496423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6230D95C-6DAA-4696-BA11-82DB68264A82}"/>
              </a:ext>
            </a:extLst>
          </p:cNvPr>
          <p:cNvSpPr>
            <a:spLocks noGrp="1" noChangeArrowheads="1"/>
          </p:cNvSpPr>
          <p:nvPr>
            <p:ph type="sldNum" sz="quarter" idx="5"/>
          </p:nvPr>
        </p:nvSpPr>
        <p:spPr>
          <a:ln/>
        </p:spPr>
        <p:txBody>
          <a:bodyPr/>
          <a:lstStyle/>
          <a:p>
            <a:fld id="{FE4A064C-F6B6-4063-AE86-6536ADC4C0AA}" type="slidenum">
              <a:rPr lang="en-GB" altLang="en-US"/>
              <a:pPr/>
              <a:t>37</a:t>
            </a:fld>
            <a:endParaRPr lang="en-GB" altLang="en-US"/>
          </a:p>
        </p:txBody>
      </p:sp>
      <p:sp>
        <p:nvSpPr>
          <p:cNvPr id="391170" name="Rectangle 2">
            <a:extLst>
              <a:ext uri="{FF2B5EF4-FFF2-40B4-BE49-F238E27FC236}">
                <a16:creationId xmlns:a16="http://schemas.microsoft.com/office/drawing/2014/main" id="{24568D38-DE68-49E1-B1CF-DB0E5F5E7A00}"/>
              </a:ext>
            </a:extLst>
          </p:cNvPr>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171" name="Rectangle 3">
            <a:extLst>
              <a:ext uri="{FF2B5EF4-FFF2-40B4-BE49-F238E27FC236}">
                <a16:creationId xmlns:a16="http://schemas.microsoft.com/office/drawing/2014/main" id="{043DB418-2E29-4BE9-BC2D-F9F9B6F7C806}"/>
              </a:ext>
            </a:extLst>
          </p:cNvPr>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391172" name="Rectangle 4">
            <a:extLst>
              <a:ext uri="{FF2B5EF4-FFF2-40B4-BE49-F238E27FC236}">
                <a16:creationId xmlns:a16="http://schemas.microsoft.com/office/drawing/2014/main" id="{F75A8FAC-4048-4B4C-80D0-0BB1C608F985}"/>
              </a:ext>
            </a:extLst>
          </p:cNvPr>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173" name="Rectangle 5">
            <a:extLst>
              <a:ext uri="{FF2B5EF4-FFF2-40B4-BE49-F238E27FC236}">
                <a16:creationId xmlns:a16="http://schemas.microsoft.com/office/drawing/2014/main" id="{A3DCE80E-EE38-47DF-9317-89B8997D91F7}"/>
              </a:ext>
            </a:extLst>
          </p:cNvPr>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174" name="Rectangle 6">
            <a:extLst>
              <a:ext uri="{FF2B5EF4-FFF2-40B4-BE49-F238E27FC236}">
                <a16:creationId xmlns:a16="http://schemas.microsoft.com/office/drawing/2014/main" id="{3A129A0A-CB6E-415B-A1C4-63967078A4F4}"/>
              </a:ext>
            </a:extLst>
          </p:cNvPr>
          <p:cNvSpPr>
            <a:spLocks noGrp="1" noChangeArrowheads="1"/>
          </p:cNvSpPr>
          <p:nvPr>
            <p:ph type="body" idx="1"/>
          </p:nvPr>
        </p:nvSpPr>
        <p:spPr>
          <a:ln/>
        </p:spPr>
        <p:txBody>
          <a:bodyPr lIns="92075" tIns="46038" rIns="92075" bIns="46038"/>
          <a:lstStyle/>
          <a:p>
            <a:endParaRPr lang="en-GB" altLang="en-US" noProof="1"/>
          </a:p>
        </p:txBody>
      </p:sp>
      <p:sp>
        <p:nvSpPr>
          <p:cNvPr id="391175" name="Rectangle 7">
            <a:extLst>
              <a:ext uri="{FF2B5EF4-FFF2-40B4-BE49-F238E27FC236}">
                <a16:creationId xmlns:a16="http://schemas.microsoft.com/office/drawing/2014/main" id="{8FA048CC-DD34-4B1F-A01C-4786CC2AE005}"/>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193503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A0462-FB60-412D-8528-96BBE0301135}"/>
              </a:ext>
            </a:extLst>
          </p:cNvPr>
          <p:cNvSpPr>
            <a:spLocks noGrp="1"/>
          </p:cNvSpPr>
          <p:nvPr>
            <p:ph type="title"/>
          </p:nvPr>
        </p:nvSpPr>
        <p:spPr/>
        <p:txBody>
          <a:bodyPr/>
          <a:lstStyle>
            <a:lvl1pPr>
              <a:defRPr sz="4000"/>
            </a:lvl1pPr>
          </a:lstStyle>
          <a:p>
            <a:r>
              <a:rPr lang="en-US"/>
              <a:t>Click to edit Master title style</a:t>
            </a:r>
            <a:endParaRPr lang="en-GB"/>
          </a:p>
        </p:txBody>
      </p:sp>
    </p:spTree>
    <p:extLst>
      <p:ext uri="{BB962C8B-B14F-4D97-AF65-F5344CB8AC3E}">
        <p14:creationId xmlns:p14="http://schemas.microsoft.com/office/powerpoint/2010/main" val="3968542194"/>
      </p:ext>
    </p:extLst>
  </p:cSld>
  <p:clrMapOvr>
    <a:masterClrMapping/>
  </p:clrMapOvr>
  <p:transition spd="slow">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Tab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0243490"/>
      </p:ext>
    </p:extLst>
  </p:cSld>
  <p:clrMapOvr>
    <a:masterClrMapping/>
  </p:clrMapOvr>
  <p:transition spd="slow">
    <p:pull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22" r:id="rId6"/>
    <p:sldLayoutId id="2147483723" r:id="rId7"/>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hyperlink" Target="https://news.sky.com/story/three-quarters-of-firms-to-put-up-prices-as-they-face-soaring-wage-and-energy-costs-12537690" TargetMode="External"/><Relationship Id="rId2" Type="http://schemas.openxmlformats.org/officeDocument/2006/relationships/hyperlink" Target="https://www.cips.org/supply-management/news/2022/february/most-firms-raising-prices-in-cost-of-doing-business-crisis/" TargetMode="External"/><Relationship Id="rId1" Type="http://schemas.openxmlformats.org/officeDocument/2006/relationships/slideLayout" Target="../slideLayouts/slideLayout22.xml"/><Relationship Id="rId6" Type="http://schemas.openxmlformats.org/officeDocument/2006/relationships/hyperlink" Target="https://www.economist.com/business/2023/02/06/where-on-earth-is-big-oil-spending-its-150bn-profit-bonanza" TargetMode="External"/><Relationship Id="rId5" Type="http://schemas.openxmlformats.org/officeDocument/2006/relationships/hyperlink" Target="https://www.economist.com/business/2023/01/22/big-business-is-in-for-a-rough-earnings-season" TargetMode="External"/><Relationship Id="rId4" Type="http://schemas.openxmlformats.org/officeDocument/2006/relationships/hyperlink" Target="https://www.nytimes.com/2023/05/30/business/economy/inflation-companies-profits-higher-prices.ht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UtJLmUXUDiY&amp;t=4s" TargetMode="External"/><Relationship Id="rId2" Type="http://schemas.openxmlformats.org/officeDocument/2006/relationships/notesSlide" Target="../notesSlides/notesSlide9.xml"/><Relationship Id="rId1" Type="http://schemas.openxmlformats.org/officeDocument/2006/relationships/slideLayout" Target="../slideLayouts/slideLayout2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6.xml"/><Relationship Id="rId4" Type="http://schemas.openxmlformats.org/officeDocument/2006/relationships/chart" Target="../charts/char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productivity.ac.uk/news/prosperity-unlocked-how-can-scotland-unlock-its-potential-and-solve-the-productivity-puzzle/" TargetMode="External"/><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Document3.docx"/><Relationship Id="rId2" Type="http://schemas.openxmlformats.org/officeDocument/2006/relationships/notesSlide" Target="../notesSlides/notesSlide16.xml"/><Relationship Id="rId1" Type="http://schemas.openxmlformats.org/officeDocument/2006/relationships/slideLayout" Target="../slideLayouts/slideLayout27.xml"/><Relationship Id="rId4" Type="http://schemas.openxmlformats.org/officeDocument/2006/relationships/image" Target="../media/image5.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B5ka9OE6cvU" TargetMode="External"/><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p8lyv-J9nbA" TargetMode="External"/><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a:xfrm>
            <a:off x="1524000" y="1122364"/>
            <a:ext cx="9144000" cy="1424894"/>
          </a:xfrm>
        </p:spPr>
        <p:txBody>
          <a:bodyPr>
            <a:normAutofit fontScale="90000"/>
          </a:bodyPr>
          <a:lstStyle/>
          <a:p>
            <a:r>
              <a:rPr lang="en-GB" sz="500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a:xfrm>
            <a:off x="1524000" y="2873829"/>
            <a:ext cx="9144000" cy="2383972"/>
          </a:xfrm>
        </p:spPr>
        <p:txBody>
          <a:bodyPr>
            <a:normAutofit fontScale="92500" lnSpcReduction="10000"/>
          </a:bodyPr>
          <a:lstStyle/>
          <a:p>
            <a:r>
              <a:rPr lang="en-GB" altLang="en-US" sz="2400" dirty="0"/>
              <a:t>Week 3 – </a:t>
            </a:r>
          </a:p>
          <a:p>
            <a:r>
              <a:rPr lang="en-GB" altLang="en-US" sz="2400" dirty="0"/>
              <a:t>Part 1: Utility, Demand and Risk</a:t>
            </a:r>
          </a:p>
          <a:p>
            <a:r>
              <a:rPr lang="en-GB" altLang="en-US" sz="2400" dirty="0"/>
              <a:t>Sloman </a:t>
            </a:r>
            <a:r>
              <a:rPr lang="en-GB" altLang="en-US" sz="2400" i="1" dirty="0"/>
              <a:t>et al</a:t>
            </a:r>
            <a:r>
              <a:rPr lang="en-GB" altLang="en-US" sz="2400" dirty="0"/>
              <a:t>., 2023, Chapter </a:t>
            </a:r>
            <a:r>
              <a:rPr lang="en-GB" altLang="en-US" dirty="0"/>
              <a:t>6</a:t>
            </a:r>
            <a:r>
              <a:rPr lang="en-GB" altLang="en-US" sz="2400" dirty="0"/>
              <a:t> </a:t>
            </a:r>
          </a:p>
          <a:p>
            <a:endParaRPr lang="en-GB" altLang="en-US" sz="2400" dirty="0"/>
          </a:p>
          <a:p>
            <a:r>
              <a:rPr lang="en-GB" altLang="en-US" dirty="0"/>
              <a:t>Part 2: Costs of Production, Revenue and Profit</a:t>
            </a:r>
            <a:endParaRPr lang="en-GB" altLang="en-US" sz="2400" dirty="0"/>
          </a:p>
          <a:p>
            <a:r>
              <a:rPr lang="en-GB" altLang="en-US" dirty="0"/>
              <a:t>Sloman </a:t>
            </a:r>
            <a:r>
              <a:rPr lang="en-GB" altLang="en-US" i="1" dirty="0"/>
              <a:t>et al</a:t>
            </a:r>
            <a:r>
              <a:rPr lang="en-GB" altLang="en-US" dirty="0"/>
              <a:t>., 2023, Chapter 9</a:t>
            </a:r>
          </a:p>
          <a:p>
            <a:endParaRPr lang="en-GB" dirty="0"/>
          </a:p>
        </p:txBody>
      </p:sp>
    </p:spTree>
    <p:extLst>
      <p:ext uri="{BB962C8B-B14F-4D97-AF65-F5344CB8AC3E}">
        <p14:creationId xmlns:p14="http://schemas.microsoft.com/office/powerpoint/2010/main" val="155620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A9601-88AE-2082-3855-500EADD6D99D}"/>
              </a:ext>
            </a:extLst>
          </p:cNvPr>
          <p:cNvSpPr>
            <a:spLocks noGrp="1"/>
          </p:cNvSpPr>
          <p:nvPr>
            <p:ph type="ctrTitle"/>
          </p:nvPr>
        </p:nvSpPr>
        <p:spPr>
          <a:xfrm>
            <a:off x="430620" y="362921"/>
            <a:ext cx="11080711" cy="1104002"/>
          </a:xfrm>
        </p:spPr>
        <p:txBody>
          <a:bodyPr/>
          <a:lstStyle/>
          <a:p>
            <a:endParaRPr lang="en-GB" sz="3600" dirty="0"/>
          </a:p>
        </p:txBody>
      </p:sp>
      <p:sp>
        <p:nvSpPr>
          <p:cNvPr id="3" name="Subtitle 2">
            <a:extLst>
              <a:ext uri="{FF2B5EF4-FFF2-40B4-BE49-F238E27FC236}">
                <a16:creationId xmlns:a16="http://schemas.microsoft.com/office/drawing/2014/main" id="{7B55CDED-3955-4DC7-0861-B2716E1F4309}"/>
              </a:ext>
            </a:extLst>
          </p:cNvPr>
          <p:cNvSpPr>
            <a:spLocks noGrp="1"/>
          </p:cNvSpPr>
          <p:nvPr>
            <p:ph type="subTitle" idx="1"/>
          </p:nvPr>
        </p:nvSpPr>
        <p:spPr>
          <a:xfrm>
            <a:off x="430620" y="1940767"/>
            <a:ext cx="11371520" cy="3609587"/>
          </a:xfrm>
        </p:spPr>
        <p:txBody>
          <a:bodyPr>
            <a:normAutofit/>
          </a:bodyPr>
          <a:lstStyle/>
          <a:p>
            <a:pPr algn="l">
              <a:lnSpc>
                <a:spcPct val="100000"/>
              </a:lnSpc>
              <a:spcBef>
                <a:spcPts val="1200"/>
              </a:spcBef>
            </a:pPr>
            <a:r>
              <a:rPr lang="en-GB" sz="2200" b="1" dirty="0">
                <a:effectLst/>
                <a:latin typeface="Calibri" panose="020F0502020204030204" pitchFamily="34" charset="0"/>
                <a:cs typeface="Calibri" panose="020F0502020204030204" pitchFamily="34" charset="0"/>
              </a:rPr>
              <a:t>Session Aims:</a:t>
            </a:r>
          </a:p>
          <a:p>
            <a:pPr marL="342900" indent="-342900" algn="l">
              <a:lnSpc>
                <a:spcPct val="100000"/>
              </a:lnSpc>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To define concepts of marginal utility and consumer surplus</a:t>
            </a:r>
          </a:p>
          <a:p>
            <a:pPr marL="342900" indent="-342900" algn="l">
              <a:lnSpc>
                <a:spcPct val="100000"/>
              </a:lnSpc>
              <a:spcBef>
                <a:spcPts val="1200"/>
              </a:spcBef>
              <a:buFont typeface="Arial" panose="020B0604020202020204" pitchFamily="34" charset="0"/>
              <a:buChar char="•"/>
            </a:pPr>
            <a:r>
              <a:rPr lang="en-GB" sz="2200" dirty="0">
                <a:effectLst/>
                <a:latin typeface="Calibri" panose="020F0502020204030204" pitchFamily="34" charset="0"/>
                <a:cs typeface="Calibri" panose="020F0502020204030204" pitchFamily="34" charset="0"/>
              </a:rPr>
              <a:t>To explore the economics of risk and uncertainty </a:t>
            </a:r>
          </a:p>
          <a:p>
            <a:pPr marL="342900" indent="-342900" algn="l">
              <a:lnSpc>
                <a:spcPct val="100000"/>
              </a:lnSpc>
              <a:spcBef>
                <a:spcPts val="1200"/>
              </a:spcBef>
              <a:buFont typeface="Arial" panose="020B0604020202020204" pitchFamily="34" charset="0"/>
              <a:buChar char="•"/>
            </a:pPr>
            <a:r>
              <a:rPr lang="en-GB" sz="2200" dirty="0">
                <a:effectLst/>
                <a:latin typeface="Calibri" panose="020F0502020204030204" pitchFamily="34" charset="0"/>
                <a:ea typeface="Segoe UI Symbol" panose="020B0502040204020203" pitchFamily="34" charset="0"/>
                <a:cs typeface="Calibri" panose="020F0502020204030204" pitchFamily="34" charset="0"/>
              </a:rPr>
              <a:t>To learn how a business can combine its inputs in the most efficient way</a:t>
            </a:r>
          </a:p>
          <a:p>
            <a:pPr marL="342900" indent="-342900" algn="l">
              <a:lnSpc>
                <a:spcPct val="100000"/>
              </a:lnSpc>
              <a:spcBef>
                <a:spcPts val="1200"/>
              </a:spcBef>
              <a:buFont typeface="Arial" panose="020B0604020202020204" pitchFamily="34" charset="0"/>
              <a:buChar char="•"/>
            </a:pPr>
            <a:r>
              <a:rPr lang="en-GB" sz="2200" dirty="0">
                <a:effectLst/>
                <a:latin typeface="Calibri" panose="020F0502020204030204" pitchFamily="34" charset="0"/>
                <a:ea typeface="Segoe UI Symbol" panose="020B0502040204020203" pitchFamily="34" charset="0"/>
                <a:cs typeface="Calibri" panose="020F0502020204030204" pitchFamily="34" charset="0"/>
              </a:rPr>
              <a:t>To examine how costs vary with output in both the short run and the long run</a:t>
            </a:r>
          </a:p>
        </p:txBody>
      </p:sp>
    </p:spTree>
    <p:extLst>
      <p:ext uri="{BB962C8B-B14F-4D97-AF65-F5344CB8AC3E}">
        <p14:creationId xmlns:p14="http://schemas.microsoft.com/office/powerpoint/2010/main" val="3507508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1146-1EFE-54C8-58FF-3D3AA1DC4ABD}"/>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6D87652B-B5E4-0DD6-55D5-6F1404AA2586}"/>
              </a:ext>
            </a:extLst>
          </p:cNvPr>
          <p:cNvSpPr>
            <a:spLocks noGrp="1"/>
          </p:cNvSpPr>
          <p:nvPr>
            <p:ph idx="1"/>
          </p:nvPr>
        </p:nvSpPr>
        <p:spPr/>
        <p:txBody>
          <a:bodyPr>
            <a:normAutofit/>
          </a:bodyPr>
          <a:lstStyle/>
          <a:p>
            <a:r>
              <a:rPr lang="en-MY" dirty="0">
                <a:latin typeface="+mn-lt"/>
              </a:rPr>
              <a:t>Sloman et al (2023)</a:t>
            </a:r>
          </a:p>
          <a:p>
            <a:pPr lvl="1"/>
            <a:r>
              <a:rPr lang="en-MY" dirty="0">
                <a:latin typeface="+mn-lt"/>
              </a:rPr>
              <a:t>Chapter 6.1 – 6.2 </a:t>
            </a:r>
          </a:p>
          <a:p>
            <a:pPr lvl="1"/>
            <a:r>
              <a:rPr lang="en-MY" dirty="0">
                <a:latin typeface="+mn-lt"/>
              </a:rPr>
              <a:t>Boxes 6.1 – 6.3 </a:t>
            </a:r>
          </a:p>
          <a:p>
            <a:pPr lvl="1"/>
            <a:r>
              <a:rPr lang="en-MY" dirty="0">
                <a:latin typeface="+mn-lt"/>
              </a:rPr>
              <a:t>Chapter 9.1 – 9.5 </a:t>
            </a:r>
          </a:p>
          <a:p>
            <a:pPr lvl="1"/>
            <a:r>
              <a:rPr lang="en-MY" dirty="0">
                <a:latin typeface="+mn-lt"/>
              </a:rPr>
              <a:t>Boxes 9.1, 9.3 &amp; 9.4 	</a:t>
            </a:r>
          </a:p>
          <a:p>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3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endParaRPr lang="en-MY" dirty="0"/>
          </a:p>
        </p:txBody>
      </p:sp>
    </p:spTree>
    <p:extLst>
      <p:ext uri="{BB962C8B-B14F-4D97-AF65-F5344CB8AC3E}">
        <p14:creationId xmlns:p14="http://schemas.microsoft.com/office/powerpoint/2010/main" val="258502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BCBA9-1403-DB41-0906-C07E2C6D5D30}"/>
              </a:ext>
            </a:extLst>
          </p:cNvPr>
          <p:cNvSpPr>
            <a:spLocks noGrp="1"/>
          </p:cNvSpPr>
          <p:nvPr>
            <p:ph type="title"/>
          </p:nvPr>
        </p:nvSpPr>
        <p:spPr/>
        <p:txBody>
          <a:bodyPr/>
          <a:lstStyle/>
          <a:p>
            <a:r>
              <a:rPr lang="en-MY"/>
              <a:t>Part 1</a:t>
            </a:r>
          </a:p>
        </p:txBody>
      </p:sp>
      <p:sp>
        <p:nvSpPr>
          <p:cNvPr id="3" name="Content Placeholder 2">
            <a:extLst>
              <a:ext uri="{FF2B5EF4-FFF2-40B4-BE49-F238E27FC236}">
                <a16:creationId xmlns:a16="http://schemas.microsoft.com/office/drawing/2014/main" id="{65866538-F275-69BA-128C-B4791BF1F987}"/>
              </a:ext>
            </a:extLst>
          </p:cNvPr>
          <p:cNvSpPr>
            <a:spLocks noGrp="1"/>
          </p:cNvSpPr>
          <p:nvPr>
            <p:ph idx="1"/>
          </p:nvPr>
        </p:nvSpPr>
        <p:spPr/>
        <p:txBody>
          <a:bodyPr/>
          <a:lstStyle/>
          <a:p>
            <a:endParaRPr lang="en-MY"/>
          </a:p>
        </p:txBody>
      </p:sp>
    </p:spTree>
    <p:extLst>
      <p:ext uri="{BB962C8B-B14F-4D97-AF65-F5344CB8AC3E}">
        <p14:creationId xmlns:p14="http://schemas.microsoft.com/office/powerpoint/2010/main" val="4201655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B2DE0-D633-3208-C77F-4E782BC55E21}"/>
              </a:ext>
            </a:extLst>
          </p:cNvPr>
          <p:cNvSpPr>
            <a:spLocks noGrp="1"/>
          </p:cNvSpPr>
          <p:nvPr>
            <p:ph type="title"/>
          </p:nvPr>
        </p:nvSpPr>
        <p:spPr/>
        <p:txBody>
          <a:bodyPr/>
          <a:lstStyle/>
          <a:p>
            <a:r>
              <a:rPr lang="en-MY"/>
              <a:t>Demand and utility</a:t>
            </a:r>
          </a:p>
        </p:txBody>
      </p:sp>
      <p:sp>
        <p:nvSpPr>
          <p:cNvPr id="3" name="Content Placeholder 2">
            <a:extLst>
              <a:ext uri="{FF2B5EF4-FFF2-40B4-BE49-F238E27FC236}">
                <a16:creationId xmlns:a16="http://schemas.microsoft.com/office/drawing/2014/main" id="{99A0EC1B-E8CB-A4B4-A168-E89041BCB288}"/>
              </a:ext>
            </a:extLst>
          </p:cNvPr>
          <p:cNvSpPr>
            <a:spLocks noGrp="1"/>
          </p:cNvSpPr>
          <p:nvPr>
            <p:ph idx="1"/>
          </p:nvPr>
        </p:nvSpPr>
        <p:spPr/>
        <p:txBody>
          <a:bodyPr/>
          <a:lstStyle/>
          <a:p>
            <a:r>
              <a:rPr lang="en-MY" dirty="0"/>
              <a:t>Why consume? To be satisfied</a:t>
            </a:r>
          </a:p>
          <a:p>
            <a:r>
              <a:rPr lang="en-MY" dirty="0"/>
              <a:t>Measuring satisfaction – utility</a:t>
            </a:r>
          </a:p>
          <a:p>
            <a:endParaRPr lang="en-MY" dirty="0"/>
          </a:p>
          <a:p>
            <a:r>
              <a:rPr lang="en-MY" dirty="0"/>
              <a:t>Total utility vs marginal utility</a:t>
            </a:r>
          </a:p>
          <a:p>
            <a:pPr lvl="1"/>
            <a:r>
              <a:rPr lang="en-MY" dirty="0"/>
              <a:t>Marginal utility is diminishing (why?)</a:t>
            </a:r>
          </a:p>
          <a:p>
            <a:pPr lvl="1"/>
            <a:r>
              <a:rPr lang="en-MY" dirty="0"/>
              <a:t>Marginal utility curve is coincident with demand curve</a:t>
            </a:r>
          </a:p>
          <a:p>
            <a:pPr lvl="1"/>
            <a:r>
              <a:rPr lang="en-MY" dirty="0"/>
              <a:t>Area below marginal utility and above price = consumer surplus (‘profit’ or net gains from consuming something)</a:t>
            </a:r>
          </a:p>
          <a:p>
            <a:pPr lvl="1"/>
            <a:endParaRPr lang="en-MY" dirty="0"/>
          </a:p>
          <a:p>
            <a:endParaRPr lang="en-MY" dirty="0"/>
          </a:p>
        </p:txBody>
      </p:sp>
    </p:spTree>
    <p:extLst>
      <p:ext uri="{BB962C8B-B14F-4D97-AF65-F5344CB8AC3E}">
        <p14:creationId xmlns:p14="http://schemas.microsoft.com/office/powerpoint/2010/main" val="122548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21CA1-3674-3424-CB49-3533A4CB6530}"/>
              </a:ext>
            </a:extLst>
          </p:cNvPr>
          <p:cNvSpPr>
            <a:spLocks noGrp="1"/>
          </p:cNvSpPr>
          <p:nvPr>
            <p:ph type="title"/>
          </p:nvPr>
        </p:nvSpPr>
        <p:spPr/>
        <p:txBody>
          <a:bodyPr/>
          <a:lstStyle/>
          <a:p>
            <a:r>
              <a:rPr lang="en-MY"/>
              <a:t>Risk and uncertainty</a:t>
            </a:r>
          </a:p>
        </p:txBody>
      </p:sp>
      <p:sp>
        <p:nvSpPr>
          <p:cNvPr id="3" name="Content Placeholder 2">
            <a:extLst>
              <a:ext uri="{FF2B5EF4-FFF2-40B4-BE49-F238E27FC236}">
                <a16:creationId xmlns:a16="http://schemas.microsoft.com/office/drawing/2014/main" id="{F6ABCDEF-7AD2-51B9-ABCC-2A1744A0A2AF}"/>
              </a:ext>
            </a:extLst>
          </p:cNvPr>
          <p:cNvSpPr>
            <a:spLocks noGrp="1"/>
          </p:cNvSpPr>
          <p:nvPr>
            <p:ph idx="1"/>
          </p:nvPr>
        </p:nvSpPr>
        <p:spPr>
          <a:xfrm>
            <a:off x="838200" y="1362295"/>
            <a:ext cx="10515600" cy="4621628"/>
          </a:xfrm>
        </p:spPr>
        <p:txBody>
          <a:bodyPr>
            <a:normAutofit fontScale="92500"/>
          </a:bodyPr>
          <a:lstStyle/>
          <a:p>
            <a:pPr>
              <a:spcBef>
                <a:spcPts val="648"/>
              </a:spcBef>
            </a:pPr>
            <a:r>
              <a:rPr lang="en-GB" dirty="0"/>
              <a:t>Biggest uncertainty in the last two years: Covid 19 and post-Covid recovery</a:t>
            </a:r>
          </a:p>
          <a:p>
            <a:pPr lvl="1">
              <a:spcBef>
                <a:spcPts val="648"/>
              </a:spcBef>
            </a:pPr>
            <a:r>
              <a:rPr lang="en-GB" dirty="0"/>
              <a:t>Biggest uncertainty facing humanity: climate change</a:t>
            </a:r>
          </a:p>
          <a:p>
            <a:pPr>
              <a:spcBef>
                <a:spcPts val="648"/>
              </a:spcBef>
            </a:pPr>
            <a:r>
              <a:rPr lang="en-GB" dirty="0"/>
              <a:t>In the rest of this course, events are certain</a:t>
            </a:r>
          </a:p>
          <a:p>
            <a:pPr lvl="1">
              <a:spcBef>
                <a:spcPts val="648"/>
              </a:spcBef>
            </a:pPr>
            <a:r>
              <a:rPr lang="en-GB" dirty="0"/>
              <a:t>Buy goods and obtain certain utility – never surprised</a:t>
            </a:r>
          </a:p>
          <a:p>
            <a:pPr lvl="1">
              <a:spcBef>
                <a:spcPts val="648"/>
              </a:spcBef>
            </a:pPr>
            <a:r>
              <a:rPr lang="en-GB" dirty="0"/>
              <a:t>Firm knows market prices, market demand curve, cost curves</a:t>
            </a:r>
          </a:p>
          <a:p>
            <a:pPr lvl="2">
              <a:spcBef>
                <a:spcPts val="648"/>
              </a:spcBef>
            </a:pPr>
            <a:r>
              <a:rPr lang="en-GB" dirty="0"/>
              <a:t>Certain about how to choose output to maximise profits</a:t>
            </a:r>
          </a:p>
          <a:p>
            <a:pPr>
              <a:spcBef>
                <a:spcPts val="648"/>
              </a:spcBef>
            </a:pPr>
            <a:r>
              <a:rPr lang="en-GB" dirty="0"/>
              <a:t>In life, events are almost all uncertain</a:t>
            </a:r>
          </a:p>
          <a:p>
            <a:pPr lvl="1">
              <a:spcBef>
                <a:spcPts val="648"/>
              </a:spcBef>
            </a:pPr>
            <a:r>
              <a:rPr lang="en-GB" dirty="0"/>
              <a:t>Grade for this course; degree classification</a:t>
            </a:r>
          </a:p>
          <a:p>
            <a:pPr>
              <a:spcBef>
                <a:spcPts val="648"/>
              </a:spcBef>
            </a:pPr>
            <a:r>
              <a:rPr lang="en-GB" dirty="0"/>
              <a:t>Some events involve risk: specific form of uncertainty</a:t>
            </a:r>
          </a:p>
          <a:p>
            <a:pPr lvl="1">
              <a:spcBef>
                <a:spcPts val="648"/>
              </a:spcBef>
            </a:pPr>
            <a:r>
              <a:rPr lang="en-GB" dirty="0"/>
              <a:t>Assign probabilities to every event: when buying a lottery ticket</a:t>
            </a:r>
          </a:p>
          <a:p>
            <a:pPr>
              <a:lnSpc>
                <a:spcPct val="95000"/>
              </a:lnSpc>
              <a:spcBef>
                <a:spcPts val="648"/>
              </a:spcBef>
            </a:pPr>
            <a:r>
              <a:rPr lang="en-GB" altLang="en-US" dirty="0"/>
              <a:t>Some people, in some situations embrace risk, uncertainty</a:t>
            </a:r>
          </a:p>
          <a:p>
            <a:pPr lvl="1">
              <a:lnSpc>
                <a:spcPct val="95000"/>
              </a:lnSpc>
              <a:spcBef>
                <a:spcPts val="648"/>
              </a:spcBef>
            </a:pPr>
            <a:r>
              <a:rPr lang="en-GB" altLang="en-US" dirty="0"/>
              <a:t>Buying a lottery ticket is a simple gamble</a:t>
            </a:r>
          </a:p>
          <a:p>
            <a:pPr lvl="1">
              <a:lnSpc>
                <a:spcPct val="95000"/>
              </a:lnSpc>
              <a:spcBef>
                <a:spcPts val="648"/>
              </a:spcBef>
            </a:pPr>
            <a:r>
              <a:rPr lang="en-GB" altLang="en-US" dirty="0"/>
              <a:t>Frequent cigarette smoking has very uncertain consequences</a:t>
            </a:r>
          </a:p>
          <a:p>
            <a:pPr>
              <a:spcBef>
                <a:spcPts val="648"/>
              </a:spcBef>
            </a:pPr>
            <a:endParaRPr lang="en-MY" dirty="0"/>
          </a:p>
        </p:txBody>
      </p:sp>
    </p:spTree>
    <p:extLst>
      <p:ext uri="{BB962C8B-B14F-4D97-AF65-F5344CB8AC3E}">
        <p14:creationId xmlns:p14="http://schemas.microsoft.com/office/powerpoint/2010/main" val="4107438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2FA6-72B4-4394-9353-28647B4F12DE}"/>
              </a:ext>
            </a:extLst>
          </p:cNvPr>
          <p:cNvSpPr>
            <a:spLocks noGrp="1"/>
          </p:cNvSpPr>
          <p:nvPr>
            <p:ph type="title"/>
          </p:nvPr>
        </p:nvSpPr>
        <p:spPr/>
        <p:txBody>
          <a:bodyPr/>
          <a:lstStyle/>
          <a:p>
            <a:pPr algn="l"/>
            <a:r>
              <a:rPr lang="en-GB"/>
              <a:t>Example of a gamble</a:t>
            </a:r>
          </a:p>
        </p:txBody>
      </p:sp>
      <p:sp>
        <p:nvSpPr>
          <p:cNvPr id="3" name="Content Placeholder 2">
            <a:extLst>
              <a:ext uri="{FF2B5EF4-FFF2-40B4-BE49-F238E27FC236}">
                <a16:creationId xmlns:a16="http://schemas.microsoft.com/office/drawing/2014/main" id="{4EDA2AA8-4447-4642-A4FD-64829C299C70}"/>
              </a:ext>
            </a:extLst>
          </p:cNvPr>
          <p:cNvSpPr>
            <a:spLocks noGrp="1"/>
          </p:cNvSpPr>
          <p:nvPr>
            <p:ph idx="1"/>
          </p:nvPr>
        </p:nvSpPr>
        <p:spPr/>
        <p:txBody>
          <a:bodyPr/>
          <a:lstStyle/>
          <a:p>
            <a:r>
              <a:rPr lang="en-GB" dirty="0"/>
              <a:t>Outcome determined by roll of die</a:t>
            </a:r>
          </a:p>
          <a:p>
            <a:pPr lvl="1"/>
            <a:r>
              <a:rPr lang="en-GB" dirty="0"/>
              <a:t>Six faces, assume each face equally likely to come up</a:t>
            </a:r>
          </a:p>
          <a:p>
            <a:pPr lvl="2"/>
            <a:r>
              <a:rPr lang="en-GB" dirty="0"/>
              <a:t>In infinite number of die throws, each comes up 1/6 of the time</a:t>
            </a:r>
          </a:p>
          <a:p>
            <a:pPr lvl="2"/>
            <a:r>
              <a:rPr lang="en-GB" dirty="0"/>
              <a:t>So probability of each outcome is 1/6</a:t>
            </a:r>
          </a:p>
          <a:p>
            <a:pPr lvl="1"/>
            <a:r>
              <a:rPr lang="en-GB" dirty="0"/>
              <a:t>Winnings with each face</a:t>
            </a:r>
          </a:p>
          <a:p>
            <a:pPr marL="457200" lvl="1" indent="0">
              <a:buNone/>
            </a:pPr>
            <a:endParaRPr lang="en-GB" dirty="0"/>
          </a:p>
          <a:p>
            <a:pPr lvl="1"/>
            <a:endParaRPr lang="en-GB" dirty="0"/>
          </a:p>
          <a:p>
            <a:pPr lvl="1"/>
            <a:endParaRPr lang="en-GB" dirty="0"/>
          </a:p>
          <a:p>
            <a:pPr lvl="1"/>
            <a:endParaRPr lang="en-GB" dirty="0"/>
          </a:p>
          <a:p>
            <a:pPr lvl="1"/>
            <a:endParaRPr lang="en-GB" dirty="0"/>
          </a:p>
          <a:p>
            <a:pPr lvl="1"/>
            <a:r>
              <a:rPr lang="en-GB" dirty="0"/>
              <a:t>Expected winnings E[Winnings] = (1 + 3 + 6 + 10 + 15)/6 = 35/6</a:t>
            </a:r>
          </a:p>
        </p:txBody>
      </p:sp>
      <p:graphicFrame>
        <p:nvGraphicFramePr>
          <p:cNvPr id="4" name="Table 4">
            <a:extLst>
              <a:ext uri="{FF2B5EF4-FFF2-40B4-BE49-F238E27FC236}">
                <a16:creationId xmlns:a16="http://schemas.microsoft.com/office/drawing/2014/main" id="{C86B3408-BE78-4574-9DFC-B27066CF787C}"/>
              </a:ext>
            </a:extLst>
          </p:cNvPr>
          <p:cNvGraphicFramePr>
            <a:graphicFrameLocks noGrp="1"/>
          </p:cNvGraphicFramePr>
          <p:nvPr/>
        </p:nvGraphicFramePr>
        <p:xfrm>
          <a:off x="1603615" y="3574896"/>
          <a:ext cx="8128004" cy="920498"/>
        </p:xfrm>
        <a:graphic>
          <a:graphicData uri="http://schemas.openxmlformats.org/drawingml/2006/table">
            <a:tbl>
              <a:tblPr firstRow="1" bandRow="1">
                <a:tableStyleId>{5C22544A-7EE6-4342-B048-85BDC9FD1C3A}</a:tableStyleId>
              </a:tblPr>
              <a:tblGrid>
                <a:gridCol w="1670570">
                  <a:extLst>
                    <a:ext uri="{9D8B030D-6E8A-4147-A177-3AD203B41FA5}">
                      <a16:colId xmlns:a16="http://schemas.microsoft.com/office/drawing/2014/main" val="179670584"/>
                    </a:ext>
                  </a:extLst>
                </a:gridCol>
                <a:gridCol w="1076239">
                  <a:extLst>
                    <a:ext uri="{9D8B030D-6E8A-4147-A177-3AD203B41FA5}">
                      <a16:colId xmlns:a16="http://schemas.microsoft.com/office/drawing/2014/main" val="2146703671"/>
                    </a:ext>
                  </a:extLst>
                </a:gridCol>
                <a:gridCol w="1076239">
                  <a:extLst>
                    <a:ext uri="{9D8B030D-6E8A-4147-A177-3AD203B41FA5}">
                      <a16:colId xmlns:a16="http://schemas.microsoft.com/office/drawing/2014/main" val="30676343"/>
                    </a:ext>
                  </a:extLst>
                </a:gridCol>
                <a:gridCol w="1076239">
                  <a:extLst>
                    <a:ext uri="{9D8B030D-6E8A-4147-A177-3AD203B41FA5}">
                      <a16:colId xmlns:a16="http://schemas.microsoft.com/office/drawing/2014/main" val="1154657345"/>
                    </a:ext>
                  </a:extLst>
                </a:gridCol>
                <a:gridCol w="1076239">
                  <a:extLst>
                    <a:ext uri="{9D8B030D-6E8A-4147-A177-3AD203B41FA5}">
                      <a16:colId xmlns:a16="http://schemas.microsoft.com/office/drawing/2014/main" val="3313435478"/>
                    </a:ext>
                  </a:extLst>
                </a:gridCol>
                <a:gridCol w="1076239">
                  <a:extLst>
                    <a:ext uri="{9D8B030D-6E8A-4147-A177-3AD203B41FA5}">
                      <a16:colId xmlns:a16="http://schemas.microsoft.com/office/drawing/2014/main" val="3345953243"/>
                    </a:ext>
                  </a:extLst>
                </a:gridCol>
                <a:gridCol w="1076239">
                  <a:extLst>
                    <a:ext uri="{9D8B030D-6E8A-4147-A177-3AD203B41FA5}">
                      <a16:colId xmlns:a16="http://schemas.microsoft.com/office/drawing/2014/main" val="3996986461"/>
                    </a:ext>
                  </a:extLst>
                </a:gridCol>
              </a:tblGrid>
              <a:tr h="460249">
                <a:tc>
                  <a:txBody>
                    <a:bodyPr/>
                    <a:lstStyle/>
                    <a:p>
                      <a:r>
                        <a:rPr lang="en-GB" sz="2400" dirty="0"/>
                        <a:t>Number</a:t>
                      </a:r>
                    </a:p>
                  </a:txBody>
                  <a:tcPr/>
                </a:tc>
                <a:tc>
                  <a:txBody>
                    <a:bodyPr/>
                    <a:lstStyle/>
                    <a:p>
                      <a:pPr algn="ctr"/>
                      <a:r>
                        <a:rPr lang="en-GB" sz="2400" dirty="0"/>
                        <a:t>1</a:t>
                      </a:r>
                    </a:p>
                  </a:txBody>
                  <a:tcPr/>
                </a:tc>
                <a:tc>
                  <a:txBody>
                    <a:bodyPr/>
                    <a:lstStyle/>
                    <a:p>
                      <a:pPr algn="ctr"/>
                      <a:r>
                        <a:rPr lang="en-GB" sz="2400"/>
                        <a:t>2</a:t>
                      </a:r>
                    </a:p>
                  </a:txBody>
                  <a:tcPr/>
                </a:tc>
                <a:tc>
                  <a:txBody>
                    <a:bodyPr/>
                    <a:lstStyle/>
                    <a:p>
                      <a:pPr algn="ctr"/>
                      <a:r>
                        <a:rPr lang="en-GB" sz="2400"/>
                        <a:t>3</a:t>
                      </a:r>
                    </a:p>
                  </a:txBody>
                  <a:tcPr/>
                </a:tc>
                <a:tc>
                  <a:txBody>
                    <a:bodyPr/>
                    <a:lstStyle/>
                    <a:p>
                      <a:pPr algn="ctr"/>
                      <a:r>
                        <a:rPr lang="en-GB" sz="2400"/>
                        <a:t>4</a:t>
                      </a:r>
                    </a:p>
                  </a:txBody>
                  <a:tcPr/>
                </a:tc>
                <a:tc>
                  <a:txBody>
                    <a:bodyPr/>
                    <a:lstStyle/>
                    <a:p>
                      <a:pPr algn="ctr"/>
                      <a:r>
                        <a:rPr lang="en-GB" sz="2400"/>
                        <a:t>5</a:t>
                      </a:r>
                    </a:p>
                  </a:txBody>
                  <a:tcPr/>
                </a:tc>
                <a:tc>
                  <a:txBody>
                    <a:bodyPr/>
                    <a:lstStyle/>
                    <a:p>
                      <a:pPr algn="ctr"/>
                      <a:r>
                        <a:rPr lang="en-GB" sz="2400"/>
                        <a:t>6</a:t>
                      </a:r>
                    </a:p>
                  </a:txBody>
                  <a:tcPr/>
                </a:tc>
                <a:extLst>
                  <a:ext uri="{0D108BD9-81ED-4DB2-BD59-A6C34878D82A}">
                    <a16:rowId xmlns:a16="http://schemas.microsoft.com/office/drawing/2014/main" val="2369194048"/>
                  </a:ext>
                </a:extLst>
              </a:tr>
              <a:tr h="460249">
                <a:tc>
                  <a:txBody>
                    <a:bodyPr/>
                    <a:lstStyle/>
                    <a:p>
                      <a:r>
                        <a:rPr lang="en-GB" sz="2400"/>
                        <a:t>Winnings</a:t>
                      </a:r>
                    </a:p>
                  </a:txBody>
                  <a:tcPr/>
                </a:tc>
                <a:tc>
                  <a:txBody>
                    <a:bodyPr/>
                    <a:lstStyle/>
                    <a:p>
                      <a:pPr algn="ctr"/>
                      <a:r>
                        <a:rPr lang="en-GB" sz="2400" dirty="0"/>
                        <a:t>0</a:t>
                      </a:r>
                    </a:p>
                  </a:txBody>
                  <a:tcPr/>
                </a:tc>
                <a:tc>
                  <a:txBody>
                    <a:bodyPr/>
                    <a:lstStyle/>
                    <a:p>
                      <a:pPr algn="ctr"/>
                      <a:r>
                        <a:rPr lang="en-GB" sz="2400"/>
                        <a:t>1</a:t>
                      </a:r>
                    </a:p>
                  </a:txBody>
                  <a:tcPr/>
                </a:tc>
                <a:tc>
                  <a:txBody>
                    <a:bodyPr/>
                    <a:lstStyle/>
                    <a:p>
                      <a:pPr algn="ctr"/>
                      <a:r>
                        <a:rPr lang="en-GB" sz="2400"/>
                        <a:t>3</a:t>
                      </a:r>
                    </a:p>
                  </a:txBody>
                  <a:tcPr/>
                </a:tc>
                <a:tc>
                  <a:txBody>
                    <a:bodyPr/>
                    <a:lstStyle/>
                    <a:p>
                      <a:pPr algn="ctr"/>
                      <a:r>
                        <a:rPr lang="en-GB" sz="2400"/>
                        <a:t>6</a:t>
                      </a:r>
                    </a:p>
                  </a:txBody>
                  <a:tcPr/>
                </a:tc>
                <a:tc>
                  <a:txBody>
                    <a:bodyPr/>
                    <a:lstStyle/>
                    <a:p>
                      <a:pPr algn="ctr"/>
                      <a:r>
                        <a:rPr lang="en-GB" sz="2400"/>
                        <a:t>10</a:t>
                      </a:r>
                    </a:p>
                  </a:txBody>
                  <a:tcPr/>
                </a:tc>
                <a:tc>
                  <a:txBody>
                    <a:bodyPr/>
                    <a:lstStyle/>
                    <a:p>
                      <a:pPr algn="ctr"/>
                      <a:r>
                        <a:rPr lang="en-GB" sz="2400" dirty="0"/>
                        <a:t>15</a:t>
                      </a:r>
                    </a:p>
                  </a:txBody>
                  <a:tcPr/>
                </a:tc>
                <a:extLst>
                  <a:ext uri="{0D108BD9-81ED-4DB2-BD59-A6C34878D82A}">
                    <a16:rowId xmlns:a16="http://schemas.microsoft.com/office/drawing/2014/main" val="2523033662"/>
                  </a:ext>
                </a:extLst>
              </a:tr>
            </a:tbl>
          </a:graphicData>
        </a:graphic>
      </p:graphicFrame>
      <p:sp>
        <p:nvSpPr>
          <p:cNvPr id="5" name="Callout: Up Arrow 4">
            <a:extLst>
              <a:ext uri="{FF2B5EF4-FFF2-40B4-BE49-F238E27FC236}">
                <a16:creationId xmlns:a16="http://schemas.microsoft.com/office/drawing/2014/main" id="{BAE0FCEB-5648-4A6B-ADD9-F0B2511AF1B1}"/>
              </a:ext>
            </a:extLst>
          </p:cNvPr>
          <p:cNvSpPr/>
          <p:nvPr/>
        </p:nvSpPr>
        <p:spPr bwMode="auto">
          <a:xfrm>
            <a:off x="5141793" y="5315707"/>
            <a:ext cx="1798820" cy="662503"/>
          </a:xfrm>
          <a:prstGeom prst="upArrowCallout">
            <a:avLst/>
          </a:prstGeom>
          <a:solidFill>
            <a:srgbClr val="00B0F0"/>
          </a:solidFill>
          <a:ln>
            <a:noFill/>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800" b="0" i="0" u="none" strike="noStrike" cap="none" normalizeH="0" baseline="0" dirty="0">
                <a:ln>
                  <a:noFill/>
                </a:ln>
                <a:solidFill>
                  <a:schemeClr val="tx1"/>
                </a:solidFill>
                <a:effectLst/>
              </a:rPr>
              <a:t>Winnings</a:t>
            </a:r>
          </a:p>
        </p:txBody>
      </p:sp>
      <p:sp>
        <p:nvSpPr>
          <p:cNvPr id="7" name="Callout: Up Arrow 6">
            <a:extLst>
              <a:ext uri="{FF2B5EF4-FFF2-40B4-BE49-F238E27FC236}">
                <a16:creationId xmlns:a16="http://schemas.microsoft.com/office/drawing/2014/main" id="{41DDD210-F84D-48F5-9FF2-BF4EA98D94AF}"/>
              </a:ext>
            </a:extLst>
          </p:cNvPr>
          <p:cNvSpPr/>
          <p:nvPr/>
        </p:nvSpPr>
        <p:spPr bwMode="auto">
          <a:xfrm>
            <a:off x="7010072" y="5302665"/>
            <a:ext cx="1717368" cy="675545"/>
          </a:xfrm>
          <a:prstGeom prst="upArrowCallout">
            <a:avLst/>
          </a:prstGeom>
          <a:solidFill>
            <a:srgbClr val="00B0F0"/>
          </a:solidFill>
          <a:ln>
            <a:noFill/>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GB" sz="2800" dirty="0"/>
              <a:t>Probability</a:t>
            </a:r>
            <a:endParaRPr kumimoji="0" lang="en-GB" sz="2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342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2" fill="hold">
                            <p:stCondLst>
                              <p:cond delay="1000"/>
                            </p:stCondLst>
                            <p:childTnLst>
                              <p:par>
                                <p:cTn id="33" presetID="42" presetClass="entr" presetSubtype="0" fill="hold" nodeType="afterEffect">
                                  <p:stCondLst>
                                    <p:cond delay="50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par>
                          <p:cTn id="38" fill="hold">
                            <p:stCondLst>
                              <p:cond delay="2500"/>
                            </p:stCondLst>
                            <p:childTnLst>
                              <p:par>
                                <p:cTn id="39" presetID="10" presetClass="entr" presetSubtype="0" fill="hold" nodeType="afterEffect">
                                  <p:stCondLst>
                                    <p:cond delay="200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par>
                                <p:cTn id="42" presetID="42" presetClass="entr" presetSubtype="0" fill="hold" grpId="0" nodeType="withEffect">
                                  <p:stCondLst>
                                    <p:cond delay="200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1000"/>
                                        <p:tgtEl>
                                          <p:spTgt spid="5"/>
                                        </p:tgtEl>
                                      </p:cBhvr>
                                    </p:animEffect>
                                    <p:anim calcmode="lin" valueType="num">
                                      <p:cBhvr>
                                        <p:cTn id="45" dur="1000" fill="hold"/>
                                        <p:tgtEl>
                                          <p:spTgt spid="5"/>
                                        </p:tgtEl>
                                        <p:attrNameLst>
                                          <p:attrName>ppt_x</p:attrName>
                                        </p:attrNameLst>
                                      </p:cBhvr>
                                      <p:tavLst>
                                        <p:tav tm="0">
                                          <p:val>
                                            <p:strVal val="#ppt_x"/>
                                          </p:val>
                                        </p:tav>
                                        <p:tav tm="100000">
                                          <p:val>
                                            <p:strVal val="#ppt_x"/>
                                          </p:val>
                                        </p:tav>
                                      </p:tavLst>
                                    </p:anim>
                                    <p:anim calcmode="lin" valueType="num">
                                      <p:cBhvr>
                                        <p:cTn id="46" dur="1000" fill="hold"/>
                                        <p:tgtEl>
                                          <p:spTgt spid="5"/>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200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1000"/>
                                        <p:tgtEl>
                                          <p:spTgt spid="7"/>
                                        </p:tgtEl>
                                      </p:cBhvr>
                                    </p:animEffect>
                                    <p:anim calcmode="lin" valueType="num">
                                      <p:cBhvr>
                                        <p:cTn id="50" dur="1000" fill="hold"/>
                                        <p:tgtEl>
                                          <p:spTgt spid="7"/>
                                        </p:tgtEl>
                                        <p:attrNameLst>
                                          <p:attrName>ppt_x</p:attrName>
                                        </p:attrNameLst>
                                      </p:cBhvr>
                                      <p:tavLst>
                                        <p:tav tm="0">
                                          <p:val>
                                            <p:strVal val="#ppt_x"/>
                                          </p:val>
                                        </p:tav>
                                        <p:tav tm="100000">
                                          <p:val>
                                            <p:strVal val="#ppt_x"/>
                                          </p:val>
                                        </p:tav>
                                      </p:tavLst>
                                    </p:anim>
                                    <p:anim calcmode="lin" valueType="num">
                                      <p:cBhvr>
                                        <p:cTn id="5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5C91D3AF-1867-4B9F-98C0-76FC08D2A9F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EA563A39-3365-4ADE-A6B7-39C9172315FC}"/>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6" name="Rectangle 6">
            <a:extLst>
              <a:ext uri="{FF2B5EF4-FFF2-40B4-BE49-F238E27FC236}">
                <a16:creationId xmlns:a16="http://schemas.microsoft.com/office/drawing/2014/main" id="{27DD6661-E265-4BAD-B2B1-6CFA00A87A06}"/>
              </a:ext>
            </a:extLst>
          </p:cNvPr>
          <p:cNvSpPr>
            <a:spLocks noGrp="1"/>
          </p:cNvSpPr>
          <p:nvPr>
            <p:ph type="title"/>
          </p:nvPr>
        </p:nvSpPr>
        <p:spPr/>
        <p:txBody>
          <a:bodyPr/>
          <a:lstStyle/>
          <a:p>
            <a:pPr algn="l"/>
            <a:r>
              <a:rPr lang="en-GB" altLang="en-US"/>
              <a:t>Attitudes towards any risk</a:t>
            </a:r>
          </a:p>
        </p:txBody>
      </p:sp>
      <p:sp>
        <p:nvSpPr>
          <p:cNvPr id="404487" name="Rectangle 7">
            <a:extLst>
              <a:ext uri="{FF2B5EF4-FFF2-40B4-BE49-F238E27FC236}">
                <a16:creationId xmlns:a16="http://schemas.microsoft.com/office/drawing/2014/main" id="{22587401-8718-4435-B291-B04F89275F47}"/>
              </a:ext>
            </a:extLst>
          </p:cNvPr>
          <p:cNvSpPr>
            <a:spLocks noGrp="1"/>
          </p:cNvSpPr>
          <p:nvPr>
            <p:ph idx="1"/>
          </p:nvPr>
        </p:nvSpPr>
        <p:spPr>
          <a:xfrm>
            <a:off x="304800" y="1524000"/>
            <a:ext cx="11582400" cy="4889500"/>
          </a:xfrm>
        </p:spPr>
        <p:txBody>
          <a:bodyPr/>
          <a:lstStyle/>
          <a:p>
            <a:pPr>
              <a:lnSpc>
                <a:spcPct val="95000"/>
              </a:lnSpc>
              <a:spcBef>
                <a:spcPts val="648"/>
              </a:spcBef>
            </a:pPr>
            <a:r>
              <a:rPr lang="en-GB" altLang="en-US" dirty="0"/>
              <a:t>Risk neutral</a:t>
            </a:r>
          </a:p>
          <a:p>
            <a:pPr lvl="1">
              <a:lnSpc>
                <a:spcPct val="95000"/>
              </a:lnSpc>
              <a:spcBef>
                <a:spcPts val="648"/>
              </a:spcBef>
            </a:pPr>
            <a:r>
              <a:rPr lang="en-GB" altLang="en-US" dirty="0"/>
              <a:t>Choose the option with the highest expected value</a:t>
            </a:r>
          </a:p>
          <a:p>
            <a:pPr>
              <a:lnSpc>
                <a:spcPct val="95000"/>
              </a:lnSpc>
              <a:spcBef>
                <a:spcPts val="648"/>
              </a:spcBef>
            </a:pPr>
            <a:r>
              <a:rPr lang="en-GB" altLang="en-US" dirty="0"/>
              <a:t>Risk averse</a:t>
            </a:r>
          </a:p>
          <a:p>
            <a:pPr lvl="1">
              <a:lnSpc>
                <a:spcPct val="95000"/>
              </a:lnSpc>
              <a:spcBef>
                <a:spcPts val="648"/>
              </a:spcBef>
            </a:pPr>
            <a:r>
              <a:rPr lang="en-GB" altLang="en-US" dirty="0"/>
              <a:t>Certainty equivalent of a gamble is less than expected value</a:t>
            </a:r>
          </a:p>
          <a:p>
            <a:pPr lvl="2">
              <a:lnSpc>
                <a:spcPct val="95000"/>
              </a:lnSpc>
              <a:spcBef>
                <a:spcPts val="648"/>
              </a:spcBef>
            </a:pPr>
            <a:r>
              <a:rPr lang="en-GB" altLang="en-US" dirty="0"/>
              <a:t>Don’t choose a gamble with the same expected value as the certain pay-off</a:t>
            </a:r>
          </a:p>
          <a:p>
            <a:pPr lvl="2">
              <a:lnSpc>
                <a:spcPct val="95000"/>
              </a:lnSpc>
              <a:spcBef>
                <a:spcPts val="648"/>
              </a:spcBef>
            </a:pPr>
            <a:r>
              <a:rPr lang="en-GB" altLang="en-US" dirty="0"/>
              <a:t>Might choose a gamble if its expected value is greater than the certain pay-off</a:t>
            </a:r>
          </a:p>
          <a:p>
            <a:pPr>
              <a:lnSpc>
                <a:spcPct val="95000"/>
              </a:lnSpc>
              <a:spcBef>
                <a:spcPts val="648"/>
              </a:spcBef>
            </a:pPr>
            <a:r>
              <a:rPr lang="en-GB" altLang="en-US" dirty="0"/>
              <a:t>Risk loving</a:t>
            </a:r>
          </a:p>
          <a:p>
            <a:pPr lvl="1">
              <a:lnSpc>
                <a:spcPct val="95000"/>
              </a:lnSpc>
              <a:spcBef>
                <a:spcPts val="648"/>
              </a:spcBef>
            </a:pPr>
            <a:r>
              <a:rPr lang="en-GB" altLang="en-US" dirty="0"/>
              <a:t>Certainty equivalent of a gamble is greater than expected value</a:t>
            </a:r>
          </a:p>
          <a:p>
            <a:pPr lvl="2">
              <a:lnSpc>
                <a:spcPct val="95000"/>
              </a:lnSpc>
              <a:spcBef>
                <a:spcPts val="648"/>
              </a:spcBef>
            </a:pPr>
            <a:r>
              <a:rPr lang="en-GB" altLang="en-US" dirty="0"/>
              <a:t>Choose the gamble if it has the same expected value as the certain pay-off</a:t>
            </a:r>
          </a:p>
          <a:p>
            <a:pPr lvl="2">
              <a:lnSpc>
                <a:spcPct val="95000"/>
              </a:lnSpc>
              <a:spcBef>
                <a:spcPts val="648"/>
              </a:spcBef>
            </a:pPr>
            <a:r>
              <a:rPr lang="en-GB" altLang="en-US" dirty="0"/>
              <a:t>Even choose some gambles with lower expected value than a certain pay-off</a:t>
            </a:r>
          </a:p>
        </p:txBody>
      </p:sp>
    </p:spTree>
    <p:extLst>
      <p:ext uri="{BB962C8B-B14F-4D97-AF65-F5344CB8AC3E}">
        <p14:creationId xmlns:p14="http://schemas.microsoft.com/office/powerpoint/2010/main" val="179684218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750"/>
                                  </p:stCondLst>
                                  <p:childTnLst>
                                    <p:set>
                                      <p:cBhvr>
                                        <p:cTn id="6" dur="1" fill="hold">
                                          <p:stCondLst>
                                            <p:cond delay="0"/>
                                          </p:stCondLst>
                                        </p:cTn>
                                        <p:tgtEl>
                                          <p:spTgt spid="404487">
                                            <p:txEl>
                                              <p:pRg st="0" end="0"/>
                                            </p:txEl>
                                          </p:spTgt>
                                        </p:tgtEl>
                                        <p:attrNameLst>
                                          <p:attrName>style.visibility</p:attrName>
                                        </p:attrNameLst>
                                      </p:cBhvr>
                                      <p:to>
                                        <p:strVal val="visible"/>
                                      </p:to>
                                    </p:set>
                                    <p:anim calcmode="lin" valueType="num">
                                      <p:cBhvr additive="base">
                                        <p:cTn id="7" dur="500"/>
                                        <p:tgtEl>
                                          <p:spTgt spid="4044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7">
                                            <p:txEl>
                                              <p:pRg st="0" end="0"/>
                                            </p:txEl>
                                          </p:spTgt>
                                        </p:tgtEl>
                                      </p:cBhvr>
                                    </p:animEffect>
                                  </p:childTnLst>
                                </p:cTn>
                              </p:par>
                            </p:childTnLst>
                          </p:cTn>
                        </p:par>
                        <p:par>
                          <p:cTn id="9" fill="hold" nodeType="withGroup">
                            <p:stCondLst>
                              <p:cond delay="1250"/>
                            </p:stCondLst>
                            <p:childTnLst>
                              <p:par>
                                <p:cTn id="10" presetID="12" presetClass="entr" presetSubtype="4" fill="hold" grpId="0" nodeType="afterEffect">
                                  <p:stCondLst>
                                    <p:cond delay="750"/>
                                  </p:stCondLst>
                                  <p:childTnLst>
                                    <p:set>
                                      <p:cBhvr>
                                        <p:cTn id="11" dur="1" fill="hold">
                                          <p:stCondLst>
                                            <p:cond delay="0"/>
                                          </p:stCondLst>
                                        </p:cTn>
                                        <p:tgtEl>
                                          <p:spTgt spid="404487">
                                            <p:txEl>
                                              <p:pRg st="1" end="1"/>
                                            </p:txEl>
                                          </p:spTgt>
                                        </p:tgtEl>
                                        <p:attrNameLst>
                                          <p:attrName>style.visibility</p:attrName>
                                        </p:attrNameLst>
                                      </p:cBhvr>
                                      <p:to>
                                        <p:strVal val="visible"/>
                                      </p:to>
                                    </p:set>
                                    <p:anim calcmode="lin" valueType="num">
                                      <p:cBhvr additive="base">
                                        <p:cTn id="12" dur="500"/>
                                        <p:tgtEl>
                                          <p:spTgt spid="404487">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404487">
                                            <p:txEl>
                                              <p:pRg st="1" end="1"/>
                                            </p:txEl>
                                          </p:spTgt>
                                        </p:tgtEl>
                                      </p:cBhvr>
                                    </p:animEffect>
                                  </p:childTnLst>
                                </p:cTn>
                              </p:par>
                            </p:childTnLst>
                          </p:cTn>
                        </p:par>
                        <p:par>
                          <p:cTn id="14" fill="hold" nodeType="withGroup">
                            <p:stCondLst>
                              <p:cond delay="2500"/>
                            </p:stCondLst>
                            <p:childTnLst>
                              <p:par>
                                <p:cTn id="15" presetID="12" presetClass="entr" presetSubtype="4" fill="hold" grpId="0" nodeType="afterEffect">
                                  <p:stCondLst>
                                    <p:cond delay="750"/>
                                  </p:stCondLst>
                                  <p:childTnLst>
                                    <p:set>
                                      <p:cBhvr>
                                        <p:cTn id="16" dur="1" fill="hold">
                                          <p:stCondLst>
                                            <p:cond delay="0"/>
                                          </p:stCondLst>
                                        </p:cTn>
                                        <p:tgtEl>
                                          <p:spTgt spid="404487">
                                            <p:txEl>
                                              <p:pRg st="2" end="2"/>
                                            </p:txEl>
                                          </p:spTgt>
                                        </p:tgtEl>
                                        <p:attrNameLst>
                                          <p:attrName>style.visibility</p:attrName>
                                        </p:attrNameLst>
                                      </p:cBhvr>
                                      <p:to>
                                        <p:strVal val="visible"/>
                                      </p:to>
                                    </p:set>
                                    <p:anim calcmode="lin" valueType="num">
                                      <p:cBhvr additive="base">
                                        <p:cTn id="17" dur="500"/>
                                        <p:tgtEl>
                                          <p:spTgt spid="404487">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04487">
                                            <p:txEl>
                                              <p:pRg st="2" end="2"/>
                                            </p:txEl>
                                          </p:spTgt>
                                        </p:tgtEl>
                                      </p:cBhvr>
                                    </p:animEffect>
                                  </p:childTnLst>
                                </p:cTn>
                              </p:par>
                            </p:childTnLst>
                          </p:cTn>
                        </p:par>
                        <p:par>
                          <p:cTn id="19" fill="hold" nodeType="withGroup">
                            <p:stCondLst>
                              <p:cond delay="3750"/>
                            </p:stCondLst>
                            <p:childTnLst>
                              <p:par>
                                <p:cTn id="20" presetID="12" presetClass="entr" presetSubtype="4" fill="hold" grpId="0" nodeType="afterEffect">
                                  <p:stCondLst>
                                    <p:cond delay="750"/>
                                  </p:stCondLst>
                                  <p:childTnLst>
                                    <p:set>
                                      <p:cBhvr>
                                        <p:cTn id="21" dur="1" fill="hold">
                                          <p:stCondLst>
                                            <p:cond delay="0"/>
                                          </p:stCondLst>
                                        </p:cTn>
                                        <p:tgtEl>
                                          <p:spTgt spid="404487">
                                            <p:txEl>
                                              <p:pRg st="3" end="3"/>
                                            </p:txEl>
                                          </p:spTgt>
                                        </p:tgtEl>
                                        <p:attrNameLst>
                                          <p:attrName>style.visibility</p:attrName>
                                        </p:attrNameLst>
                                      </p:cBhvr>
                                      <p:to>
                                        <p:strVal val="visible"/>
                                      </p:to>
                                    </p:set>
                                    <p:anim calcmode="lin" valueType="num">
                                      <p:cBhvr additive="base">
                                        <p:cTn id="22" dur="500"/>
                                        <p:tgtEl>
                                          <p:spTgt spid="404487">
                                            <p:txEl>
                                              <p:pRg st="3" end="3"/>
                                            </p:txEl>
                                          </p:spTgt>
                                        </p:tgtEl>
                                        <p:attrNameLst>
                                          <p:attrName>ppt_y</p:attrName>
                                        </p:attrNameLst>
                                      </p:cBhvr>
                                      <p:tavLst>
                                        <p:tav tm="0">
                                          <p:val>
                                            <p:strVal val="#ppt_y+#ppt_h*1.125000"/>
                                          </p:val>
                                        </p:tav>
                                        <p:tav tm="100000">
                                          <p:val>
                                            <p:strVal val="#ppt_y"/>
                                          </p:val>
                                        </p:tav>
                                      </p:tavLst>
                                    </p:anim>
                                    <p:animEffect transition="in" filter="wipe(up)">
                                      <p:cBhvr>
                                        <p:cTn id="23" dur="500"/>
                                        <p:tgtEl>
                                          <p:spTgt spid="404487">
                                            <p:txEl>
                                              <p:pRg st="3" end="3"/>
                                            </p:txEl>
                                          </p:spTgt>
                                        </p:tgtEl>
                                      </p:cBhvr>
                                    </p:animEffect>
                                  </p:childTnLst>
                                </p:cTn>
                              </p:par>
                            </p:childTnLst>
                          </p:cTn>
                        </p:par>
                        <p:par>
                          <p:cTn id="24" fill="hold">
                            <p:stCondLst>
                              <p:cond delay="5000"/>
                            </p:stCondLst>
                            <p:childTnLst>
                              <p:par>
                                <p:cTn id="25" presetID="12" presetClass="entr" presetSubtype="4" fill="hold" grpId="0" nodeType="afterEffect">
                                  <p:stCondLst>
                                    <p:cond delay="750"/>
                                  </p:stCondLst>
                                  <p:childTnLst>
                                    <p:set>
                                      <p:cBhvr>
                                        <p:cTn id="26" dur="1" fill="hold">
                                          <p:stCondLst>
                                            <p:cond delay="0"/>
                                          </p:stCondLst>
                                        </p:cTn>
                                        <p:tgtEl>
                                          <p:spTgt spid="404487">
                                            <p:txEl>
                                              <p:pRg st="4" end="4"/>
                                            </p:txEl>
                                          </p:spTgt>
                                        </p:tgtEl>
                                        <p:attrNameLst>
                                          <p:attrName>style.visibility</p:attrName>
                                        </p:attrNameLst>
                                      </p:cBhvr>
                                      <p:to>
                                        <p:strVal val="visible"/>
                                      </p:to>
                                    </p:set>
                                    <p:anim calcmode="lin" valueType="num">
                                      <p:cBhvr additive="base">
                                        <p:cTn id="27" dur="500"/>
                                        <p:tgtEl>
                                          <p:spTgt spid="404487">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04487">
                                            <p:txEl>
                                              <p:pRg st="4" end="4"/>
                                            </p:txEl>
                                          </p:spTgt>
                                        </p:tgtEl>
                                      </p:cBhvr>
                                    </p:animEffect>
                                  </p:childTnLst>
                                </p:cTn>
                              </p:par>
                            </p:childTnLst>
                          </p:cTn>
                        </p:par>
                        <p:par>
                          <p:cTn id="29" fill="hold">
                            <p:stCondLst>
                              <p:cond delay="6250"/>
                            </p:stCondLst>
                            <p:childTnLst>
                              <p:par>
                                <p:cTn id="30" presetID="12" presetClass="entr" presetSubtype="4" fill="hold" grpId="0" nodeType="afterEffect">
                                  <p:stCondLst>
                                    <p:cond delay="750"/>
                                  </p:stCondLst>
                                  <p:childTnLst>
                                    <p:set>
                                      <p:cBhvr>
                                        <p:cTn id="31" dur="1" fill="hold">
                                          <p:stCondLst>
                                            <p:cond delay="0"/>
                                          </p:stCondLst>
                                        </p:cTn>
                                        <p:tgtEl>
                                          <p:spTgt spid="404487">
                                            <p:txEl>
                                              <p:pRg st="5" end="5"/>
                                            </p:txEl>
                                          </p:spTgt>
                                        </p:tgtEl>
                                        <p:attrNameLst>
                                          <p:attrName>style.visibility</p:attrName>
                                        </p:attrNameLst>
                                      </p:cBhvr>
                                      <p:to>
                                        <p:strVal val="visible"/>
                                      </p:to>
                                    </p:set>
                                    <p:anim calcmode="lin" valueType="num">
                                      <p:cBhvr additive="base">
                                        <p:cTn id="32" dur="500"/>
                                        <p:tgtEl>
                                          <p:spTgt spid="404487">
                                            <p:txEl>
                                              <p:pRg st="5" end="5"/>
                                            </p:txEl>
                                          </p:spTgt>
                                        </p:tgtEl>
                                        <p:attrNameLst>
                                          <p:attrName>ppt_y</p:attrName>
                                        </p:attrNameLst>
                                      </p:cBhvr>
                                      <p:tavLst>
                                        <p:tav tm="0">
                                          <p:val>
                                            <p:strVal val="#ppt_y+#ppt_h*1.125000"/>
                                          </p:val>
                                        </p:tav>
                                        <p:tav tm="100000">
                                          <p:val>
                                            <p:strVal val="#ppt_y"/>
                                          </p:val>
                                        </p:tav>
                                      </p:tavLst>
                                    </p:anim>
                                    <p:animEffect transition="in" filter="wipe(up)">
                                      <p:cBhvr>
                                        <p:cTn id="33" dur="500"/>
                                        <p:tgtEl>
                                          <p:spTgt spid="404487">
                                            <p:txEl>
                                              <p:pRg st="5" end="5"/>
                                            </p:txEl>
                                          </p:spTgt>
                                        </p:tgtEl>
                                      </p:cBhvr>
                                    </p:animEffect>
                                  </p:childTnLst>
                                </p:cTn>
                              </p:par>
                            </p:childTnLst>
                          </p:cTn>
                        </p:par>
                        <p:par>
                          <p:cTn id="34" fill="hold" nodeType="withGroup">
                            <p:stCondLst>
                              <p:cond delay="7500"/>
                            </p:stCondLst>
                            <p:childTnLst>
                              <p:par>
                                <p:cTn id="35" presetID="12" presetClass="entr" presetSubtype="4" fill="hold" grpId="0" nodeType="afterEffect">
                                  <p:stCondLst>
                                    <p:cond delay="750"/>
                                  </p:stCondLst>
                                  <p:childTnLst>
                                    <p:set>
                                      <p:cBhvr>
                                        <p:cTn id="36" dur="1" fill="hold">
                                          <p:stCondLst>
                                            <p:cond delay="0"/>
                                          </p:stCondLst>
                                        </p:cTn>
                                        <p:tgtEl>
                                          <p:spTgt spid="404487">
                                            <p:txEl>
                                              <p:pRg st="6" end="6"/>
                                            </p:txEl>
                                          </p:spTgt>
                                        </p:tgtEl>
                                        <p:attrNameLst>
                                          <p:attrName>style.visibility</p:attrName>
                                        </p:attrNameLst>
                                      </p:cBhvr>
                                      <p:to>
                                        <p:strVal val="visible"/>
                                      </p:to>
                                    </p:set>
                                    <p:anim calcmode="lin" valueType="num">
                                      <p:cBhvr additive="base">
                                        <p:cTn id="37" dur="500"/>
                                        <p:tgtEl>
                                          <p:spTgt spid="404487">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4487">
                                            <p:txEl>
                                              <p:pRg st="6" end="6"/>
                                            </p:txEl>
                                          </p:spTgt>
                                        </p:tgtEl>
                                      </p:cBhvr>
                                    </p:animEffect>
                                  </p:childTnLst>
                                </p:cTn>
                              </p:par>
                            </p:childTnLst>
                          </p:cTn>
                        </p:par>
                        <p:par>
                          <p:cTn id="39" fill="hold" nodeType="withGroup">
                            <p:stCondLst>
                              <p:cond delay="8750"/>
                            </p:stCondLst>
                            <p:childTnLst>
                              <p:par>
                                <p:cTn id="40" presetID="12" presetClass="entr" presetSubtype="4" fill="hold" grpId="0" nodeType="afterEffect">
                                  <p:stCondLst>
                                    <p:cond delay="750"/>
                                  </p:stCondLst>
                                  <p:childTnLst>
                                    <p:set>
                                      <p:cBhvr>
                                        <p:cTn id="41" dur="1" fill="hold">
                                          <p:stCondLst>
                                            <p:cond delay="0"/>
                                          </p:stCondLst>
                                        </p:cTn>
                                        <p:tgtEl>
                                          <p:spTgt spid="404487">
                                            <p:txEl>
                                              <p:pRg st="7" end="7"/>
                                            </p:txEl>
                                          </p:spTgt>
                                        </p:tgtEl>
                                        <p:attrNameLst>
                                          <p:attrName>style.visibility</p:attrName>
                                        </p:attrNameLst>
                                      </p:cBhvr>
                                      <p:to>
                                        <p:strVal val="visible"/>
                                      </p:to>
                                    </p:set>
                                    <p:anim calcmode="lin" valueType="num">
                                      <p:cBhvr additive="base">
                                        <p:cTn id="42" dur="500"/>
                                        <p:tgtEl>
                                          <p:spTgt spid="404487">
                                            <p:txEl>
                                              <p:pRg st="7" end="7"/>
                                            </p:txEl>
                                          </p:spTgt>
                                        </p:tgtEl>
                                        <p:attrNameLst>
                                          <p:attrName>ppt_y</p:attrName>
                                        </p:attrNameLst>
                                      </p:cBhvr>
                                      <p:tavLst>
                                        <p:tav tm="0">
                                          <p:val>
                                            <p:strVal val="#ppt_y+#ppt_h*1.125000"/>
                                          </p:val>
                                        </p:tav>
                                        <p:tav tm="100000">
                                          <p:val>
                                            <p:strVal val="#ppt_y"/>
                                          </p:val>
                                        </p:tav>
                                      </p:tavLst>
                                    </p:anim>
                                    <p:animEffect transition="in" filter="wipe(up)">
                                      <p:cBhvr>
                                        <p:cTn id="43" dur="500"/>
                                        <p:tgtEl>
                                          <p:spTgt spid="404487">
                                            <p:txEl>
                                              <p:pRg st="7" end="7"/>
                                            </p:txEl>
                                          </p:spTgt>
                                        </p:tgtEl>
                                      </p:cBhvr>
                                    </p:animEffect>
                                  </p:childTnLst>
                                </p:cTn>
                              </p:par>
                            </p:childTnLst>
                          </p:cTn>
                        </p:par>
                        <p:par>
                          <p:cTn id="44" fill="hold">
                            <p:stCondLst>
                              <p:cond delay="10000"/>
                            </p:stCondLst>
                            <p:childTnLst>
                              <p:par>
                                <p:cTn id="45" presetID="12" presetClass="entr" presetSubtype="4" fill="hold" grpId="0" nodeType="afterEffect">
                                  <p:stCondLst>
                                    <p:cond delay="750"/>
                                  </p:stCondLst>
                                  <p:childTnLst>
                                    <p:set>
                                      <p:cBhvr>
                                        <p:cTn id="46" dur="1" fill="hold">
                                          <p:stCondLst>
                                            <p:cond delay="0"/>
                                          </p:stCondLst>
                                        </p:cTn>
                                        <p:tgtEl>
                                          <p:spTgt spid="404487">
                                            <p:txEl>
                                              <p:pRg st="8" end="8"/>
                                            </p:txEl>
                                          </p:spTgt>
                                        </p:tgtEl>
                                        <p:attrNameLst>
                                          <p:attrName>style.visibility</p:attrName>
                                        </p:attrNameLst>
                                      </p:cBhvr>
                                      <p:to>
                                        <p:strVal val="visible"/>
                                      </p:to>
                                    </p:set>
                                    <p:anim calcmode="lin" valueType="num">
                                      <p:cBhvr additive="base">
                                        <p:cTn id="47" dur="500"/>
                                        <p:tgtEl>
                                          <p:spTgt spid="404487">
                                            <p:txEl>
                                              <p:pRg st="8" end="8"/>
                                            </p:txEl>
                                          </p:spTgt>
                                        </p:tgtEl>
                                        <p:attrNameLst>
                                          <p:attrName>ppt_y</p:attrName>
                                        </p:attrNameLst>
                                      </p:cBhvr>
                                      <p:tavLst>
                                        <p:tav tm="0">
                                          <p:val>
                                            <p:strVal val="#ppt_y+#ppt_h*1.125000"/>
                                          </p:val>
                                        </p:tav>
                                        <p:tav tm="100000">
                                          <p:val>
                                            <p:strVal val="#ppt_y"/>
                                          </p:val>
                                        </p:tav>
                                      </p:tavLst>
                                    </p:anim>
                                    <p:animEffect transition="in" filter="wipe(up)">
                                      <p:cBhvr>
                                        <p:cTn id="48" dur="500"/>
                                        <p:tgtEl>
                                          <p:spTgt spid="404487">
                                            <p:txEl>
                                              <p:pRg st="8" end="8"/>
                                            </p:txEl>
                                          </p:spTgt>
                                        </p:tgtEl>
                                      </p:cBhvr>
                                    </p:animEffect>
                                  </p:childTnLst>
                                </p:cTn>
                              </p:par>
                            </p:childTnLst>
                          </p:cTn>
                        </p:par>
                        <p:par>
                          <p:cTn id="49" fill="hold">
                            <p:stCondLst>
                              <p:cond delay="11250"/>
                            </p:stCondLst>
                            <p:childTnLst>
                              <p:par>
                                <p:cTn id="50" presetID="12" presetClass="entr" presetSubtype="4" fill="hold" grpId="0" nodeType="afterEffect">
                                  <p:stCondLst>
                                    <p:cond delay="750"/>
                                  </p:stCondLst>
                                  <p:childTnLst>
                                    <p:set>
                                      <p:cBhvr>
                                        <p:cTn id="51" dur="1" fill="hold">
                                          <p:stCondLst>
                                            <p:cond delay="0"/>
                                          </p:stCondLst>
                                        </p:cTn>
                                        <p:tgtEl>
                                          <p:spTgt spid="404487">
                                            <p:txEl>
                                              <p:pRg st="9" end="9"/>
                                            </p:txEl>
                                          </p:spTgt>
                                        </p:tgtEl>
                                        <p:attrNameLst>
                                          <p:attrName>style.visibility</p:attrName>
                                        </p:attrNameLst>
                                      </p:cBhvr>
                                      <p:to>
                                        <p:strVal val="visible"/>
                                      </p:to>
                                    </p:set>
                                    <p:anim calcmode="lin" valueType="num">
                                      <p:cBhvr additive="base">
                                        <p:cTn id="52" dur="500"/>
                                        <p:tgtEl>
                                          <p:spTgt spid="404487">
                                            <p:txEl>
                                              <p:pRg st="9" end="9"/>
                                            </p:txEl>
                                          </p:spTgt>
                                        </p:tgtEl>
                                        <p:attrNameLst>
                                          <p:attrName>ppt_y</p:attrName>
                                        </p:attrNameLst>
                                      </p:cBhvr>
                                      <p:tavLst>
                                        <p:tav tm="0">
                                          <p:val>
                                            <p:strVal val="#ppt_y+#ppt_h*1.125000"/>
                                          </p:val>
                                        </p:tav>
                                        <p:tav tm="100000">
                                          <p:val>
                                            <p:strVal val="#ppt_y"/>
                                          </p:val>
                                        </p:tav>
                                      </p:tavLst>
                                    </p:anim>
                                    <p:animEffect transition="in" filter="wipe(up)">
                                      <p:cBhvr>
                                        <p:cTn id="53" dur="500"/>
                                        <p:tgtEl>
                                          <p:spTgt spid="4044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7" grpId="0" uiExpand="1"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8098" name="Rectangle 2">
            <a:extLst>
              <a:ext uri="{FF2B5EF4-FFF2-40B4-BE49-F238E27FC236}">
                <a16:creationId xmlns:a16="http://schemas.microsoft.com/office/drawing/2014/main" id="{E59CDDC3-6DFB-407D-B607-5B6E2CE48665}"/>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099" name="Rectangle 3">
            <a:extLst>
              <a:ext uri="{FF2B5EF4-FFF2-40B4-BE49-F238E27FC236}">
                <a16:creationId xmlns:a16="http://schemas.microsoft.com/office/drawing/2014/main" id="{5FDB7516-9671-446D-83F6-735AB1FD990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102" name="Rectangle 6">
            <a:extLst>
              <a:ext uri="{FF2B5EF4-FFF2-40B4-BE49-F238E27FC236}">
                <a16:creationId xmlns:a16="http://schemas.microsoft.com/office/drawing/2014/main" id="{90802EA3-28C8-471B-957E-BB0ABA90DBAE}"/>
              </a:ext>
            </a:extLst>
          </p:cNvPr>
          <p:cNvSpPr>
            <a:spLocks noGrp="1"/>
          </p:cNvSpPr>
          <p:nvPr>
            <p:ph type="title"/>
          </p:nvPr>
        </p:nvSpPr>
        <p:spPr/>
        <p:txBody>
          <a:bodyPr/>
          <a:lstStyle/>
          <a:p>
            <a:pPr algn="l"/>
            <a:r>
              <a:rPr lang="en-GB" altLang="en-US"/>
              <a:t>The marginal utility of income</a:t>
            </a:r>
          </a:p>
        </p:txBody>
      </p:sp>
      <p:sp>
        <p:nvSpPr>
          <p:cNvPr id="388103" name="Rectangle 7">
            <a:extLst>
              <a:ext uri="{FF2B5EF4-FFF2-40B4-BE49-F238E27FC236}">
                <a16:creationId xmlns:a16="http://schemas.microsoft.com/office/drawing/2014/main" id="{A13F0804-3BFE-4682-A3E2-E1B7227B37E7}"/>
              </a:ext>
            </a:extLst>
          </p:cNvPr>
          <p:cNvSpPr>
            <a:spLocks noGrp="1"/>
          </p:cNvSpPr>
          <p:nvPr>
            <p:ph idx="1"/>
          </p:nvPr>
        </p:nvSpPr>
        <p:spPr/>
        <p:txBody>
          <a:bodyPr>
            <a:normAutofit lnSpcReduction="10000"/>
          </a:bodyPr>
          <a:lstStyle/>
          <a:p>
            <a:pPr>
              <a:lnSpc>
                <a:spcPct val="95000"/>
              </a:lnSpc>
              <a:spcBef>
                <a:spcPct val="55000"/>
              </a:spcBef>
            </a:pPr>
            <a:r>
              <a:rPr lang="en-GB" altLang="en-US" sz="2900"/>
              <a:t>Would you prefer having more income to less income?</a:t>
            </a:r>
          </a:p>
          <a:p>
            <a:pPr lvl="1">
              <a:lnSpc>
                <a:spcPct val="95000"/>
              </a:lnSpc>
              <a:spcBef>
                <a:spcPct val="55000"/>
              </a:spcBef>
            </a:pPr>
            <a:r>
              <a:rPr lang="en-GB" altLang="en-US" sz="2500"/>
              <a:t>Do you think that you would put as much value on each succeeding 1% increase in your income?</a:t>
            </a:r>
          </a:p>
          <a:p>
            <a:pPr lvl="2">
              <a:lnSpc>
                <a:spcPct val="95000"/>
              </a:lnSpc>
              <a:spcBef>
                <a:spcPct val="55000"/>
              </a:spcBef>
            </a:pPr>
            <a:r>
              <a:rPr lang="en-GB" altLang="en-US" sz="2200"/>
              <a:t>Answer, ‘yes’, then ‘no,’ and you have a diminishing marginal utility of income</a:t>
            </a:r>
          </a:p>
          <a:p>
            <a:pPr lvl="2">
              <a:lnSpc>
                <a:spcPct val="95000"/>
              </a:lnSpc>
              <a:spcBef>
                <a:spcPct val="55000"/>
              </a:spcBef>
            </a:pPr>
            <a:r>
              <a:rPr lang="en-GB" altLang="en-US" sz="2200"/>
              <a:t>Total utility of income curve slopes up, but becomes flatter</a:t>
            </a:r>
          </a:p>
          <a:p>
            <a:pPr lvl="1">
              <a:lnSpc>
                <a:spcPct val="95000"/>
              </a:lnSpc>
              <a:spcBef>
                <a:spcPct val="55000"/>
              </a:spcBef>
            </a:pPr>
            <a:r>
              <a:rPr lang="en-GB" altLang="en-US" sz="2500"/>
              <a:t>We argue that this is consistent with people being risk-averse</a:t>
            </a:r>
          </a:p>
          <a:p>
            <a:pPr lvl="2">
              <a:lnSpc>
                <a:spcPct val="95000"/>
              </a:lnSpc>
              <a:spcBef>
                <a:spcPct val="55000"/>
              </a:spcBef>
            </a:pPr>
            <a:r>
              <a:rPr lang="en-GB" altLang="en-US" sz="2200"/>
              <a:t>Example: initial income £10,000</a:t>
            </a:r>
          </a:p>
          <a:p>
            <a:pPr lvl="2">
              <a:lnSpc>
                <a:spcPct val="95000"/>
              </a:lnSpc>
              <a:spcBef>
                <a:spcPct val="55000"/>
              </a:spcBef>
            </a:pPr>
            <a:r>
              <a:rPr lang="en-GB" altLang="en-US" sz="2200"/>
              <a:t>Pay stake of £5,000</a:t>
            </a:r>
          </a:p>
          <a:p>
            <a:pPr lvl="2">
              <a:lnSpc>
                <a:spcPct val="95000"/>
              </a:lnSpc>
              <a:spcBef>
                <a:spcPct val="55000"/>
              </a:spcBef>
            </a:pPr>
            <a:r>
              <a:rPr lang="en-GB" altLang="en-US" sz="2200"/>
              <a:t>With probability 0.5 win £10,000; with probability 0.5 win 0</a:t>
            </a:r>
          </a:p>
        </p:txBody>
      </p:sp>
    </p:spTree>
    <p:extLst>
      <p:ext uri="{BB962C8B-B14F-4D97-AF65-F5344CB8AC3E}">
        <p14:creationId xmlns:p14="http://schemas.microsoft.com/office/powerpoint/2010/main" val="247277263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8103">
                                            <p:txEl>
                                              <p:pRg st="0" end="0"/>
                                            </p:txEl>
                                          </p:spTgt>
                                        </p:tgtEl>
                                        <p:attrNameLst>
                                          <p:attrName>style.visibility</p:attrName>
                                        </p:attrNameLst>
                                      </p:cBhvr>
                                      <p:to>
                                        <p:strVal val="visible"/>
                                      </p:to>
                                    </p:set>
                                    <p:anim calcmode="lin" valueType="num">
                                      <p:cBhvr additive="base">
                                        <p:cTn id="7" dur="500"/>
                                        <p:tgtEl>
                                          <p:spTgt spid="3881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8103">
                                            <p:txEl>
                                              <p:pRg st="0" end="0"/>
                                            </p:txEl>
                                          </p:spTgt>
                                        </p:tgtEl>
                                      </p:cBhvr>
                                    </p:animEffect>
                                  </p:childTnLst>
                                </p:cTn>
                              </p:par>
                            </p:childTnLst>
                          </p:cTn>
                        </p:par>
                        <p:par>
                          <p:cTn id="9" fill="hold">
                            <p:stCondLst>
                              <p:cond delay="500"/>
                            </p:stCondLst>
                            <p:childTnLst>
                              <p:par>
                                <p:cTn id="10" presetID="12" presetClass="entr" presetSubtype="4" fill="hold" grpId="0" nodeType="afterEffect">
                                  <p:stCondLst>
                                    <p:cond delay="1000"/>
                                  </p:stCondLst>
                                  <p:childTnLst>
                                    <p:set>
                                      <p:cBhvr>
                                        <p:cTn id="11" dur="1" fill="hold">
                                          <p:stCondLst>
                                            <p:cond delay="0"/>
                                          </p:stCondLst>
                                        </p:cTn>
                                        <p:tgtEl>
                                          <p:spTgt spid="388103">
                                            <p:txEl>
                                              <p:pRg st="1" end="1"/>
                                            </p:txEl>
                                          </p:spTgt>
                                        </p:tgtEl>
                                        <p:attrNameLst>
                                          <p:attrName>style.visibility</p:attrName>
                                        </p:attrNameLst>
                                      </p:cBhvr>
                                      <p:to>
                                        <p:strVal val="visible"/>
                                      </p:to>
                                    </p:set>
                                    <p:anim calcmode="lin" valueType="num">
                                      <p:cBhvr additive="base">
                                        <p:cTn id="12" dur="500"/>
                                        <p:tgtEl>
                                          <p:spTgt spid="388103">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388103">
                                            <p:txEl>
                                              <p:pRg st="1" end="1"/>
                                            </p:txEl>
                                          </p:spTgt>
                                        </p:tgtEl>
                                      </p:cBhvr>
                                    </p:animEffect>
                                  </p:childTnLst>
                                </p:cTn>
                              </p:par>
                            </p:childTnLst>
                          </p:cTn>
                        </p:par>
                        <p:par>
                          <p:cTn id="14" fill="hold">
                            <p:stCondLst>
                              <p:cond delay="2000"/>
                            </p:stCondLst>
                            <p:childTnLst>
                              <p:par>
                                <p:cTn id="15" presetID="12" presetClass="entr" presetSubtype="4" fill="hold" grpId="0" nodeType="afterEffect">
                                  <p:stCondLst>
                                    <p:cond delay="1000"/>
                                  </p:stCondLst>
                                  <p:childTnLst>
                                    <p:set>
                                      <p:cBhvr>
                                        <p:cTn id="16" dur="1" fill="hold">
                                          <p:stCondLst>
                                            <p:cond delay="0"/>
                                          </p:stCondLst>
                                        </p:cTn>
                                        <p:tgtEl>
                                          <p:spTgt spid="388103">
                                            <p:txEl>
                                              <p:pRg st="2" end="2"/>
                                            </p:txEl>
                                          </p:spTgt>
                                        </p:tgtEl>
                                        <p:attrNameLst>
                                          <p:attrName>style.visibility</p:attrName>
                                        </p:attrNameLst>
                                      </p:cBhvr>
                                      <p:to>
                                        <p:strVal val="visible"/>
                                      </p:to>
                                    </p:set>
                                    <p:anim calcmode="lin" valueType="num">
                                      <p:cBhvr additive="base">
                                        <p:cTn id="17" dur="500"/>
                                        <p:tgtEl>
                                          <p:spTgt spid="388103">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88103">
                                            <p:txEl>
                                              <p:pRg st="2" end="2"/>
                                            </p:txEl>
                                          </p:spTgt>
                                        </p:tgtEl>
                                      </p:cBhvr>
                                    </p:animEffect>
                                  </p:childTnLst>
                                </p:cTn>
                              </p:par>
                            </p:childTnLst>
                          </p:cTn>
                        </p:par>
                        <p:par>
                          <p:cTn id="19" fill="hold">
                            <p:stCondLst>
                              <p:cond delay="3500"/>
                            </p:stCondLst>
                            <p:childTnLst>
                              <p:par>
                                <p:cTn id="20" presetID="12" presetClass="entr" presetSubtype="4" fill="hold" grpId="0" nodeType="afterEffect">
                                  <p:stCondLst>
                                    <p:cond delay="1000"/>
                                  </p:stCondLst>
                                  <p:childTnLst>
                                    <p:set>
                                      <p:cBhvr>
                                        <p:cTn id="21" dur="1" fill="hold">
                                          <p:stCondLst>
                                            <p:cond delay="0"/>
                                          </p:stCondLst>
                                        </p:cTn>
                                        <p:tgtEl>
                                          <p:spTgt spid="388103">
                                            <p:txEl>
                                              <p:pRg st="3" end="3"/>
                                            </p:txEl>
                                          </p:spTgt>
                                        </p:tgtEl>
                                        <p:attrNameLst>
                                          <p:attrName>style.visibility</p:attrName>
                                        </p:attrNameLst>
                                      </p:cBhvr>
                                      <p:to>
                                        <p:strVal val="visible"/>
                                      </p:to>
                                    </p:set>
                                    <p:anim calcmode="lin" valueType="num">
                                      <p:cBhvr additive="base">
                                        <p:cTn id="22" dur="500"/>
                                        <p:tgtEl>
                                          <p:spTgt spid="388103">
                                            <p:txEl>
                                              <p:pRg st="3" end="3"/>
                                            </p:txEl>
                                          </p:spTgt>
                                        </p:tgtEl>
                                        <p:attrNameLst>
                                          <p:attrName>ppt_y</p:attrName>
                                        </p:attrNameLst>
                                      </p:cBhvr>
                                      <p:tavLst>
                                        <p:tav tm="0">
                                          <p:val>
                                            <p:strVal val="#ppt_y+#ppt_h*1.125000"/>
                                          </p:val>
                                        </p:tav>
                                        <p:tav tm="100000">
                                          <p:val>
                                            <p:strVal val="#ppt_y"/>
                                          </p:val>
                                        </p:tav>
                                      </p:tavLst>
                                    </p:anim>
                                    <p:animEffect transition="in" filter="wipe(up)">
                                      <p:cBhvr>
                                        <p:cTn id="23" dur="500"/>
                                        <p:tgtEl>
                                          <p:spTgt spid="388103">
                                            <p:txEl>
                                              <p:pRg st="3" end="3"/>
                                            </p:txEl>
                                          </p:spTgt>
                                        </p:tgtEl>
                                      </p:cBhvr>
                                    </p:animEffect>
                                  </p:childTnLst>
                                </p:cTn>
                              </p:par>
                            </p:childTnLst>
                          </p:cTn>
                        </p:par>
                        <p:par>
                          <p:cTn id="24" fill="hold" nodeType="withGroup">
                            <p:stCondLst>
                              <p:cond delay="5000"/>
                            </p:stCondLst>
                            <p:childTnLst>
                              <p:par>
                                <p:cTn id="25" presetID="12" presetClass="entr" presetSubtype="4" fill="hold" grpId="0" nodeType="afterEffect">
                                  <p:stCondLst>
                                    <p:cond delay="1000"/>
                                  </p:stCondLst>
                                  <p:childTnLst>
                                    <p:set>
                                      <p:cBhvr>
                                        <p:cTn id="26" dur="1" fill="hold">
                                          <p:stCondLst>
                                            <p:cond delay="0"/>
                                          </p:stCondLst>
                                        </p:cTn>
                                        <p:tgtEl>
                                          <p:spTgt spid="388103">
                                            <p:txEl>
                                              <p:pRg st="4" end="4"/>
                                            </p:txEl>
                                          </p:spTgt>
                                        </p:tgtEl>
                                        <p:attrNameLst>
                                          <p:attrName>style.visibility</p:attrName>
                                        </p:attrNameLst>
                                      </p:cBhvr>
                                      <p:to>
                                        <p:strVal val="visible"/>
                                      </p:to>
                                    </p:set>
                                    <p:anim calcmode="lin" valueType="num">
                                      <p:cBhvr additive="base">
                                        <p:cTn id="27" dur="500"/>
                                        <p:tgtEl>
                                          <p:spTgt spid="388103">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8810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1000"/>
                                  </p:stCondLst>
                                  <p:childTnLst>
                                    <p:set>
                                      <p:cBhvr>
                                        <p:cTn id="32" dur="1" fill="hold">
                                          <p:stCondLst>
                                            <p:cond delay="0"/>
                                          </p:stCondLst>
                                        </p:cTn>
                                        <p:tgtEl>
                                          <p:spTgt spid="388103">
                                            <p:txEl>
                                              <p:pRg st="5" end="5"/>
                                            </p:txEl>
                                          </p:spTgt>
                                        </p:tgtEl>
                                        <p:attrNameLst>
                                          <p:attrName>style.visibility</p:attrName>
                                        </p:attrNameLst>
                                      </p:cBhvr>
                                      <p:to>
                                        <p:strVal val="visible"/>
                                      </p:to>
                                    </p:set>
                                    <p:anim calcmode="lin" valueType="num">
                                      <p:cBhvr additive="base">
                                        <p:cTn id="33" dur="500"/>
                                        <p:tgtEl>
                                          <p:spTgt spid="388103">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388103">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1000"/>
                                  </p:stCondLst>
                                  <p:childTnLst>
                                    <p:set>
                                      <p:cBhvr>
                                        <p:cTn id="38" dur="1" fill="hold">
                                          <p:stCondLst>
                                            <p:cond delay="0"/>
                                          </p:stCondLst>
                                        </p:cTn>
                                        <p:tgtEl>
                                          <p:spTgt spid="388103">
                                            <p:txEl>
                                              <p:pRg st="6" end="6"/>
                                            </p:txEl>
                                          </p:spTgt>
                                        </p:tgtEl>
                                        <p:attrNameLst>
                                          <p:attrName>style.visibility</p:attrName>
                                        </p:attrNameLst>
                                      </p:cBhvr>
                                      <p:to>
                                        <p:strVal val="visible"/>
                                      </p:to>
                                    </p:set>
                                    <p:anim calcmode="lin" valueType="num">
                                      <p:cBhvr additive="base">
                                        <p:cTn id="39" dur="500"/>
                                        <p:tgtEl>
                                          <p:spTgt spid="388103">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8810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grpId="0" nodeType="clickEffect">
                                  <p:stCondLst>
                                    <p:cond delay="1000"/>
                                  </p:stCondLst>
                                  <p:childTnLst>
                                    <p:set>
                                      <p:cBhvr>
                                        <p:cTn id="44" dur="1" fill="hold">
                                          <p:stCondLst>
                                            <p:cond delay="0"/>
                                          </p:stCondLst>
                                        </p:cTn>
                                        <p:tgtEl>
                                          <p:spTgt spid="388103">
                                            <p:txEl>
                                              <p:pRg st="7" end="7"/>
                                            </p:txEl>
                                          </p:spTgt>
                                        </p:tgtEl>
                                        <p:attrNameLst>
                                          <p:attrName>style.visibility</p:attrName>
                                        </p:attrNameLst>
                                      </p:cBhvr>
                                      <p:to>
                                        <p:strVal val="visible"/>
                                      </p:to>
                                    </p:set>
                                    <p:anim calcmode="lin" valueType="num">
                                      <p:cBhvr additive="base">
                                        <p:cTn id="45" dur="500"/>
                                        <p:tgtEl>
                                          <p:spTgt spid="388103">
                                            <p:txEl>
                                              <p:pRg st="7" end="7"/>
                                            </p:txEl>
                                          </p:spTgt>
                                        </p:tgtEl>
                                        <p:attrNameLst>
                                          <p:attrName>ppt_y</p:attrName>
                                        </p:attrNameLst>
                                      </p:cBhvr>
                                      <p:tavLst>
                                        <p:tav tm="0">
                                          <p:val>
                                            <p:strVal val="#ppt_y+#ppt_h*1.125000"/>
                                          </p:val>
                                        </p:tav>
                                        <p:tav tm="100000">
                                          <p:val>
                                            <p:strVal val="#ppt_y"/>
                                          </p:val>
                                        </p:tav>
                                      </p:tavLst>
                                    </p:anim>
                                    <p:animEffect transition="in" filter="wipe(up)">
                                      <p:cBhvr>
                                        <p:cTn id="46" dur="500"/>
                                        <p:tgtEl>
                                          <p:spTgt spid="3881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3" grpId="0" uiExpand="1" build="p" bldLvl="3"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B3ED5C6-2DBE-4F5A-9DC1-F4B496B1111E}"/>
              </a:ext>
            </a:extLst>
          </p:cNvPr>
          <p:cNvSpPr>
            <a:spLocks noChangeArrowheads="1"/>
          </p:cNvSpPr>
          <p:nvPr/>
        </p:nvSpPr>
        <p:spPr bwMode="auto">
          <a:xfrm>
            <a:off x="341924" y="658759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3" name="Rectangle 3">
            <a:extLst>
              <a:ext uri="{FF2B5EF4-FFF2-40B4-BE49-F238E27FC236}">
                <a16:creationId xmlns:a16="http://schemas.microsoft.com/office/drawing/2014/main" id="{84E3EAE5-9917-4C17-A3D9-694B881194BF}"/>
              </a:ext>
            </a:extLst>
          </p:cNvPr>
          <p:cNvSpPr>
            <a:spLocks noChangeArrowheads="1"/>
          </p:cNvSpPr>
          <p:nvPr/>
        </p:nvSpPr>
        <p:spPr bwMode="auto">
          <a:xfrm>
            <a:off x="2780324" y="658759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0292" name="Group 52">
            <a:extLst>
              <a:ext uri="{FF2B5EF4-FFF2-40B4-BE49-F238E27FC236}">
                <a16:creationId xmlns:a16="http://schemas.microsoft.com/office/drawing/2014/main" id="{F14C06B8-490F-4C67-843B-36F8DB4925DE}"/>
              </a:ext>
            </a:extLst>
          </p:cNvPr>
          <p:cNvGrpSpPr>
            <a:grpSpLocks/>
          </p:cNvGrpSpPr>
          <p:nvPr/>
        </p:nvGrpSpPr>
        <p:grpSpPr bwMode="auto">
          <a:xfrm>
            <a:off x="580050" y="1783823"/>
            <a:ext cx="7680325" cy="5834063"/>
            <a:chOff x="582" y="910"/>
            <a:chExt cx="4838" cy="3675"/>
          </a:xfrm>
        </p:grpSpPr>
        <p:sp>
          <p:nvSpPr>
            <p:cNvPr id="10246" name="Arc 6">
              <a:extLst>
                <a:ext uri="{FF2B5EF4-FFF2-40B4-BE49-F238E27FC236}">
                  <a16:creationId xmlns:a16="http://schemas.microsoft.com/office/drawing/2014/main" id="{435D7CD7-BE5F-4596-AC40-57847C166A86}"/>
                </a:ext>
              </a:extLst>
            </p:cNvPr>
            <p:cNvSpPr>
              <a:spLocks/>
            </p:cNvSpPr>
            <p:nvPr/>
          </p:nvSpPr>
          <p:spPr bwMode="auto">
            <a:xfrm rot="10080000">
              <a:off x="582" y="1322"/>
              <a:ext cx="4838" cy="3263"/>
            </a:xfrm>
            <a:custGeom>
              <a:avLst/>
              <a:gdLst>
                <a:gd name="G0" fmla="+- 4935 0 0"/>
                <a:gd name="G1" fmla="+- 0 0 0"/>
                <a:gd name="G2" fmla="+- 21600 0 0"/>
                <a:gd name="T0" fmla="*/ 24601 w 24601"/>
                <a:gd name="T1" fmla="*/ 8934 h 21600"/>
                <a:gd name="T2" fmla="*/ 0 w 24601"/>
                <a:gd name="T3" fmla="*/ 21029 h 21600"/>
                <a:gd name="T4" fmla="*/ 4935 w 24601"/>
                <a:gd name="T5" fmla="*/ 0 h 21600"/>
              </a:gdLst>
              <a:ahLst/>
              <a:cxnLst>
                <a:cxn ang="0">
                  <a:pos x="T0" y="T1"/>
                </a:cxn>
                <a:cxn ang="0">
                  <a:pos x="T2" y="T3"/>
                </a:cxn>
                <a:cxn ang="0">
                  <a:pos x="T4" y="T5"/>
                </a:cxn>
              </a:cxnLst>
              <a:rect l="0" t="0" r="r" b="b"/>
              <a:pathLst>
                <a:path w="24601" h="21600" fill="none" extrusionOk="0">
                  <a:moveTo>
                    <a:pt x="24600" y="8933"/>
                  </a:moveTo>
                  <a:cubicBezTo>
                    <a:pt x="21096" y="16647"/>
                    <a:pt x="13406" y="21600"/>
                    <a:pt x="4935" y="21600"/>
                  </a:cubicBezTo>
                  <a:cubicBezTo>
                    <a:pt x="3273" y="21600"/>
                    <a:pt x="1617" y="21408"/>
                    <a:pt x="0" y="21028"/>
                  </a:cubicBezTo>
                </a:path>
                <a:path w="24601" h="21600" stroke="0" extrusionOk="0">
                  <a:moveTo>
                    <a:pt x="24600" y="8933"/>
                  </a:moveTo>
                  <a:cubicBezTo>
                    <a:pt x="21096" y="16647"/>
                    <a:pt x="13406" y="21600"/>
                    <a:pt x="4935" y="21600"/>
                  </a:cubicBezTo>
                  <a:cubicBezTo>
                    <a:pt x="3273" y="21600"/>
                    <a:pt x="1617" y="21408"/>
                    <a:pt x="0" y="21028"/>
                  </a:cubicBezTo>
                  <a:lnTo>
                    <a:pt x="4935" y="0"/>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7" name="Rectangle 7">
              <a:extLst>
                <a:ext uri="{FF2B5EF4-FFF2-40B4-BE49-F238E27FC236}">
                  <a16:creationId xmlns:a16="http://schemas.microsoft.com/office/drawing/2014/main" id="{74E984CD-7192-4DCC-9670-CEF334D84944}"/>
                </a:ext>
              </a:extLst>
            </p:cNvPr>
            <p:cNvSpPr>
              <a:spLocks noChangeArrowheads="1"/>
            </p:cNvSpPr>
            <p:nvPr/>
          </p:nvSpPr>
          <p:spPr bwMode="auto">
            <a:xfrm>
              <a:off x="4716" y="910"/>
              <a:ext cx="37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a:solidFill>
                    <a:schemeClr val="tx2"/>
                  </a:solidFill>
                  <a:latin typeface="Arial" panose="020B0604020202020204" pitchFamily="34" charset="0"/>
                </a:rPr>
                <a:t>TU</a:t>
              </a:r>
            </a:p>
          </p:txBody>
        </p:sp>
      </p:grpSp>
      <p:sp>
        <p:nvSpPr>
          <p:cNvPr id="10249" name="Rectangle 9">
            <a:extLst>
              <a:ext uri="{FF2B5EF4-FFF2-40B4-BE49-F238E27FC236}">
                <a16:creationId xmlns:a16="http://schemas.microsoft.com/office/drawing/2014/main" id="{60E03FED-0D54-480F-9673-A784D9E3FDD0}"/>
              </a:ext>
            </a:extLst>
          </p:cNvPr>
          <p:cNvSpPr>
            <a:spLocks noChangeArrowheads="1"/>
          </p:cNvSpPr>
          <p:nvPr/>
        </p:nvSpPr>
        <p:spPr bwMode="auto">
          <a:xfrm>
            <a:off x="4337736" y="6319311"/>
            <a:ext cx="96981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10 000</a:t>
            </a:r>
          </a:p>
        </p:txBody>
      </p:sp>
      <p:sp>
        <p:nvSpPr>
          <p:cNvPr id="10251" name="Rectangle 11">
            <a:extLst>
              <a:ext uri="{FF2B5EF4-FFF2-40B4-BE49-F238E27FC236}">
                <a16:creationId xmlns:a16="http://schemas.microsoft.com/office/drawing/2014/main" id="{C0A5A3DF-E4B0-4DFE-89EA-96239AC0A9D9}"/>
              </a:ext>
            </a:extLst>
          </p:cNvPr>
          <p:cNvSpPr>
            <a:spLocks noChangeArrowheads="1"/>
          </p:cNvSpPr>
          <p:nvPr/>
        </p:nvSpPr>
        <p:spPr bwMode="auto">
          <a:xfrm>
            <a:off x="519724" y="6301849"/>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latin typeface="Arial" panose="020B0604020202020204" pitchFamily="34" charset="0"/>
              </a:rPr>
              <a:t>0</a:t>
            </a:r>
          </a:p>
        </p:txBody>
      </p:sp>
      <p:sp>
        <p:nvSpPr>
          <p:cNvPr id="10256" name="Line 16">
            <a:extLst>
              <a:ext uri="{FF2B5EF4-FFF2-40B4-BE49-F238E27FC236}">
                <a16:creationId xmlns:a16="http://schemas.microsoft.com/office/drawing/2014/main" id="{D0C9B08F-EF76-427C-BFCE-C0DCAC3E9572}"/>
              </a:ext>
            </a:extLst>
          </p:cNvPr>
          <p:cNvSpPr>
            <a:spLocks noChangeShapeType="1"/>
          </p:cNvSpPr>
          <p:nvPr/>
        </p:nvSpPr>
        <p:spPr bwMode="auto">
          <a:xfrm>
            <a:off x="722924" y="1696056"/>
            <a:ext cx="0" cy="4586742"/>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7" name="Line 17">
            <a:extLst>
              <a:ext uri="{FF2B5EF4-FFF2-40B4-BE49-F238E27FC236}">
                <a16:creationId xmlns:a16="http://schemas.microsoft.com/office/drawing/2014/main" id="{284BF4E8-E89F-4E1C-AC66-31D26BD50AA0}"/>
              </a:ext>
            </a:extLst>
          </p:cNvPr>
          <p:cNvSpPr>
            <a:spLocks noChangeShapeType="1"/>
          </p:cNvSpPr>
          <p:nvPr/>
        </p:nvSpPr>
        <p:spPr bwMode="auto">
          <a:xfrm>
            <a:off x="722923" y="6282798"/>
            <a:ext cx="7095755"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70" name="Rectangle 30">
            <a:extLst>
              <a:ext uri="{FF2B5EF4-FFF2-40B4-BE49-F238E27FC236}">
                <a16:creationId xmlns:a16="http://schemas.microsoft.com/office/drawing/2014/main" id="{7432B254-B8E5-4AF0-8FC8-F6899E9B3E46}"/>
              </a:ext>
            </a:extLst>
          </p:cNvPr>
          <p:cNvSpPr>
            <a:spLocks noChangeArrowheads="1"/>
          </p:cNvSpPr>
          <p:nvPr/>
        </p:nvSpPr>
        <p:spPr bwMode="auto">
          <a:xfrm>
            <a:off x="6506455" y="5877815"/>
            <a:ext cx="140903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Income (£)</a:t>
            </a:r>
          </a:p>
        </p:txBody>
      </p:sp>
      <p:sp>
        <p:nvSpPr>
          <p:cNvPr id="10271" name="Rectangle 31">
            <a:extLst>
              <a:ext uri="{FF2B5EF4-FFF2-40B4-BE49-F238E27FC236}">
                <a16:creationId xmlns:a16="http://schemas.microsoft.com/office/drawing/2014/main" id="{D38FC22F-829E-4B8C-8CB0-95D984529238}"/>
              </a:ext>
            </a:extLst>
          </p:cNvPr>
          <p:cNvSpPr>
            <a:spLocks noChangeArrowheads="1"/>
          </p:cNvSpPr>
          <p:nvPr/>
        </p:nvSpPr>
        <p:spPr bwMode="auto">
          <a:xfrm>
            <a:off x="739836" y="1724384"/>
            <a:ext cx="138384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Total utility</a:t>
            </a:r>
          </a:p>
        </p:txBody>
      </p:sp>
      <p:sp>
        <p:nvSpPr>
          <p:cNvPr id="10298" name="Rectangle 58">
            <a:extLst>
              <a:ext uri="{FF2B5EF4-FFF2-40B4-BE49-F238E27FC236}">
                <a16:creationId xmlns:a16="http://schemas.microsoft.com/office/drawing/2014/main" id="{76BB8256-E289-499A-91C2-473C5C0FE22D}"/>
              </a:ext>
            </a:extLst>
          </p:cNvPr>
          <p:cNvSpPr>
            <a:spLocks noGrp="1" noChangeArrowheads="1"/>
          </p:cNvSpPr>
          <p:nvPr>
            <p:ph type="title" idx="4294967295"/>
          </p:nvPr>
        </p:nvSpPr>
        <p:spPr>
          <a:xfrm>
            <a:off x="0" y="-1"/>
            <a:ext cx="12192000" cy="1043593"/>
          </a:xfrm>
          <a:noFill/>
          <a:ln/>
          <a:effectLst>
            <a:outerShdw dist="17961" dir="2700000" algn="ctr" rotWithShape="0">
              <a:schemeClr val="bg2"/>
            </a:outerShdw>
          </a:effectLst>
        </p:spPr>
        <p:txBody>
          <a:bodyPr/>
          <a:lstStyle/>
          <a:p>
            <a:pPr algn="ctr"/>
            <a:r>
              <a:rPr lang="en-GB" altLang="en-US" sz="4000" b="1">
                <a:solidFill>
                  <a:srgbClr val="660066"/>
                </a:solidFill>
              </a:rPr>
              <a:t>Decreasing marginal utility</a:t>
            </a:r>
            <a:endParaRPr lang="en-GB" altLang="en-US" sz="4000" b="1">
              <a:solidFill>
                <a:srgbClr val="660066"/>
              </a:solidFill>
              <a:effectLst/>
            </a:endParaRPr>
          </a:p>
        </p:txBody>
      </p:sp>
      <p:grpSp>
        <p:nvGrpSpPr>
          <p:cNvPr id="10302" name="Group 62">
            <a:extLst>
              <a:ext uri="{FF2B5EF4-FFF2-40B4-BE49-F238E27FC236}">
                <a16:creationId xmlns:a16="http://schemas.microsoft.com/office/drawing/2014/main" id="{98F121C9-0944-4167-BB4B-44E52C8D1EE5}"/>
              </a:ext>
            </a:extLst>
          </p:cNvPr>
          <p:cNvGrpSpPr>
            <a:grpSpLocks/>
          </p:cNvGrpSpPr>
          <p:nvPr/>
        </p:nvGrpSpPr>
        <p:grpSpPr bwMode="auto">
          <a:xfrm>
            <a:off x="108563" y="1972736"/>
            <a:ext cx="4889499" cy="4310062"/>
            <a:chOff x="285" y="1029"/>
            <a:chExt cx="3080" cy="2715"/>
          </a:xfrm>
        </p:grpSpPr>
        <p:grpSp>
          <p:nvGrpSpPr>
            <p:cNvPr id="10301" name="Group 61">
              <a:extLst>
                <a:ext uri="{FF2B5EF4-FFF2-40B4-BE49-F238E27FC236}">
                  <a16:creationId xmlns:a16="http://schemas.microsoft.com/office/drawing/2014/main" id="{08F19DE5-4F2C-431B-8CBB-E38C42A94BD8}"/>
                </a:ext>
              </a:extLst>
            </p:cNvPr>
            <p:cNvGrpSpPr>
              <a:grpSpLocks/>
            </p:cNvGrpSpPr>
            <p:nvPr/>
          </p:nvGrpSpPr>
          <p:grpSpPr bwMode="auto">
            <a:xfrm>
              <a:off x="285" y="1029"/>
              <a:ext cx="3080" cy="2715"/>
              <a:chOff x="285" y="1029"/>
              <a:chExt cx="3080" cy="2715"/>
            </a:xfrm>
          </p:grpSpPr>
          <p:sp>
            <p:nvSpPr>
              <p:cNvPr id="10274" name="Line 34">
                <a:extLst>
                  <a:ext uri="{FF2B5EF4-FFF2-40B4-BE49-F238E27FC236}">
                    <a16:creationId xmlns:a16="http://schemas.microsoft.com/office/drawing/2014/main" id="{3995FBF2-B6DC-4411-9C96-F6C8733029E8}"/>
                  </a:ext>
                </a:extLst>
              </p:cNvPr>
              <p:cNvSpPr>
                <a:spLocks noChangeShapeType="1"/>
              </p:cNvSpPr>
              <p:nvPr/>
            </p:nvSpPr>
            <p:spPr bwMode="auto">
              <a:xfrm flipH="1">
                <a:off x="667" y="1300"/>
                <a:ext cx="2600" cy="0"/>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75" name="Line 35">
                <a:extLst>
                  <a:ext uri="{FF2B5EF4-FFF2-40B4-BE49-F238E27FC236}">
                    <a16:creationId xmlns:a16="http://schemas.microsoft.com/office/drawing/2014/main" id="{5F94D1F0-2E27-4C35-B9E0-3405D17FCC18}"/>
                  </a:ext>
                </a:extLst>
              </p:cNvPr>
              <p:cNvSpPr>
                <a:spLocks noChangeShapeType="1"/>
              </p:cNvSpPr>
              <p:nvPr/>
            </p:nvSpPr>
            <p:spPr bwMode="auto">
              <a:xfrm>
                <a:off x="3267" y="1300"/>
                <a:ext cx="0" cy="2444"/>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64" name="Rectangle 24">
                <a:extLst>
                  <a:ext uri="{FF2B5EF4-FFF2-40B4-BE49-F238E27FC236}">
                    <a16:creationId xmlns:a16="http://schemas.microsoft.com/office/drawing/2014/main" id="{CDBEB694-AFB2-4A96-A4D4-8726C83C6F69}"/>
                  </a:ext>
                </a:extLst>
              </p:cNvPr>
              <p:cNvSpPr>
                <a:spLocks noChangeArrowheads="1"/>
              </p:cNvSpPr>
              <p:nvPr/>
            </p:nvSpPr>
            <p:spPr bwMode="auto">
              <a:xfrm>
                <a:off x="285" y="1125"/>
                <a:ext cx="38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100</a:t>
                </a:r>
                <a:endParaRPr lang="en-GB" altLang="en-US" sz="2000" baseline="-25000">
                  <a:latin typeface="Arial" panose="020B0604020202020204" pitchFamily="34" charset="0"/>
                </a:endParaRPr>
              </a:p>
            </p:txBody>
          </p:sp>
          <p:sp>
            <p:nvSpPr>
              <p:cNvPr id="10268" name="Rectangle 28">
                <a:extLst>
                  <a:ext uri="{FF2B5EF4-FFF2-40B4-BE49-F238E27FC236}">
                    <a16:creationId xmlns:a16="http://schemas.microsoft.com/office/drawing/2014/main" id="{8CE64782-EA9E-48F2-99DE-8361B8B474AE}"/>
                  </a:ext>
                </a:extLst>
              </p:cNvPr>
              <p:cNvSpPr>
                <a:spLocks noChangeArrowheads="1"/>
              </p:cNvSpPr>
              <p:nvPr/>
            </p:nvSpPr>
            <p:spPr bwMode="auto">
              <a:xfrm>
                <a:off x="3158" y="1029"/>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tx2"/>
                    </a:solidFill>
                    <a:latin typeface="Arial" panose="020B0604020202020204" pitchFamily="34" charset="0"/>
                  </a:rPr>
                  <a:t>b</a:t>
                </a:r>
              </a:p>
            </p:txBody>
          </p:sp>
        </p:grpSp>
        <p:sp>
          <p:nvSpPr>
            <p:cNvPr id="10260" name="Oval 20">
              <a:extLst>
                <a:ext uri="{FF2B5EF4-FFF2-40B4-BE49-F238E27FC236}">
                  <a16:creationId xmlns:a16="http://schemas.microsoft.com/office/drawing/2014/main" id="{2479BAB4-20A4-4F75-AC08-6541A2E799E2}"/>
                </a:ext>
              </a:extLst>
            </p:cNvPr>
            <p:cNvSpPr>
              <a:spLocks noChangeArrowheads="1"/>
            </p:cNvSpPr>
            <p:nvPr/>
          </p:nvSpPr>
          <p:spPr bwMode="auto">
            <a:xfrm>
              <a:off x="3238" y="1272"/>
              <a:ext cx="65" cy="65"/>
            </a:xfrm>
            <a:prstGeom prst="ellipse">
              <a:avLst/>
            </a:prstGeom>
            <a:solidFill>
              <a:srgbClr val="DCDC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 name="TextBox 1">
            <a:extLst>
              <a:ext uri="{FF2B5EF4-FFF2-40B4-BE49-F238E27FC236}">
                <a16:creationId xmlns:a16="http://schemas.microsoft.com/office/drawing/2014/main" id="{B4AE7320-0791-448F-866F-CC2895F51B2C}"/>
              </a:ext>
            </a:extLst>
          </p:cNvPr>
          <p:cNvSpPr txBox="1"/>
          <p:nvPr/>
        </p:nvSpPr>
        <p:spPr>
          <a:xfrm>
            <a:off x="7695249" y="2125136"/>
            <a:ext cx="3976707" cy="3416320"/>
          </a:xfrm>
          <a:prstGeom prst="rect">
            <a:avLst/>
          </a:prstGeom>
          <a:noFill/>
        </p:spPr>
        <p:txBody>
          <a:bodyPr wrap="square" rtlCol="0">
            <a:spAutoFit/>
          </a:bodyPr>
          <a:lstStyle/>
          <a:p>
            <a:pPr marL="342900" indent="-342900">
              <a:buFont typeface="Arial" panose="020B0604020202020204" pitchFamily="34" charset="0"/>
              <a:buChar char="•"/>
            </a:pPr>
            <a:r>
              <a:rPr lang="en-GB" sz="2400"/>
              <a:t>Total utility curve slopes up when marginal utility is greater than zero</a:t>
            </a:r>
          </a:p>
          <a:p>
            <a:pPr marL="342900" indent="-342900">
              <a:buFont typeface="Arial" panose="020B0604020202020204" pitchFamily="34" charset="0"/>
              <a:buChar char="•"/>
            </a:pPr>
            <a:r>
              <a:rPr lang="en-GB" sz="2400"/>
              <a:t>Diminishing marginal utility when total utility curve becomes flatter as income increases</a:t>
            </a:r>
          </a:p>
          <a:p>
            <a:pPr marL="342900" indent="-342900">
              <a:buFont typeface="Arial" panose="020B0604020202020204" pitchFamily="34" charset="0"/>
              <a:buChar char="•"/>
            </a:pPr>
            <a:r>
              <a:rPr lang="en-GB" sz="2400"/>
              <a:t>Total utility of an income of £10,000 is 100</a:t>
            </a:r>
          </a:p>
        </p:txBody>
      </p:sp>
    </p:spTree>
    <p:extLst>
      <p:ext uri="{BB962C8B-B14F-4D97-AF65-F5344CB8AC3E}">
        <p14:creationId xmlns:p14="http://schemas.microsoft.com/office/powerpoint/2010/main" val="352723729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10292"/>
                                        </p:tgtEl>
                                        <p:attrNameLst>
                                          <p:attrName>style.visibility</p:attrName>
                                        </p:attrNameLst>
                                      </p:cBhvr>
                                      <p:to>
                                        <p:strVal val="visible"/>
                                      </p:to>
                                    </p:set>
                                    <p:animEffect transition="in" filter="wipe(left)">
                                      <p:cBhvr>
                                        <p:cTn id="14" dur="500"/>
                                        <p:tgtEl>
                                          <p:spTgt spid="10292"/>
                                        </p:tgtEl>
                                      </p:cBhvr>
                                    </p:animEffect>
                                  </p:childTnLst>
                                </p:cTn>
                              </p:par>
                            </p:childTnLst>
                          </p:cTn>
                        </p:par>
                        <p:par>
                          <p:cTn id="15" fill="hold" nodeType="withGroup">
                            <p:stCondLst>
                              <p:cond delay="1000"/>
                            </p:stCondLst>
                            <p:childTnLst>
                              <p:par>
                                <p:cTn id="16" presetID="10" presetClass="entr" presetSubtype="0" fill="hold" nodeType="after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fade">
                                      <p:cBhvr>
                                        <p:cTn id="18" dur="500"/>
                                        <p:tgtEl>
                                          <p:spTgt spid="2">
                                            <p:txEl>
                                              <p:pRg st="2" end="2"/>
                                            </p:txEl>
                                          </p:spTgt>
                                        </p:tgtEl>
                                      </p:cBhvr>
                                    </p:animEffect>
                                  </p:childTnLst>
                                </p:cTn>
                              </p:par>
                            </p:childTnLst>
                          </p:cTn>
                        </p:par>
                        <p:par>
                          <p:cTn id="19" fill="hold">
                            <p:stCondLst>
                              <p:cond delay="1500"/>
                            </p:stCondLst>
                            <p:childTnLst>
                              <p:par>
                                <p:cTn id="20" presetID="9" presetClass="entr" presetSubtype="0" fill="hold" nodeType="afterEffect">
                                  <p:stCondLst>
                                    <p:cond delay="0"/>
                                  </p:stCondLst>
                                  <p:childTnLst>
                                    <p:set>
                                      <p:cBhvr>
                                        <p:cTn id="21" dur="1" fill="hold">
                                          <p:stCondLst>
                                            <p:cond delay="0"/>
                                          </p:stCondLst>
                                        </p:cTn>
                                        <p:tgtEl>
                                          <p:spTgt spid="10302"/>
                                        </p:tgtEl>
                                        <p:attrNameLst>
                                          <p:attrName>style.visibility</p:attrName>
                                        </p:attrNameLst>
                                      </p:cBhvr>
                                      <p:to>
                                        <p:strVal val="visible"/>
                                      </p:to>
                                    </p:set>
                                    <p:animEffect transition="in" filter="dissolve">
                                      <p:cBhvr>
                                        <p:cTn id="22" dur="500"/>
                                        <p:tgtEl>
                                          <p:spTgt spid="10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E9CF8093-BB53-4D5D-B68B-E4020436A2EB}"/>
              </a:ext>
            </a:extLst>
          </p:cNvPr>
          <p:cNvSpPr>
            <a:spLocks noChangeArrowheads="1"/>
          </p:cNvSpPr>
          <p:nvPr/>
        </p:nvSpPr>
        <p:spPr bwMode="auto">
          <a:xfrm>
            <a:off x="323993" y="6698104"/>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64" name="Rectangle 4">
            <a:extLst>
              <a:ext uri="{FF2B5EF4-FFF2-40B4-BE49-F238E27FC236}">
                <a16:creationId xmlns:a16="http://schemas.microsoft.com/office/drawing/2014/main" id="{B3E15FBA-909A-46F9-A4BE-5998F96E57ED}"/>
              </a:ext>
            </a:extLst>
          </p:cNvPr>
          <p:cNvSpPr>
            <a:spLocks noChangeArrowheads="1"/>
          </p:cNvSpPr>
          <p:nvPr/>
        </p:nvSpPr>
        <p:spPr bwMode="auto">
          <a:xfrm>
            <a:off x="2762393" y="6698104"/>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66" name="Arc 6">
            <a:extLst>
              <a:ext uri="{FF2B5EF4-FFF2-40B4-BE49-F238E27FC236}">
                <a16:creationId xmlns:a16="http://schemas.microsoft.com/office/drawing/2014/main" id="{7DBE4152-CCE6-45A1-BE59-8593927CF6ED}"/>
              </a:ext>
            </a:extLst>
          </p:cNvPr>
          <p:cNvSpPr>
            <a:spLocks/>
          </p:cNvSpPr>
          <p:nvPr/>
        </p:nvSpPr>
        <p:spPr bwMode="auto">
          <a:xfrm rot="10080000">
            <a:off x="549970" y="2546362"/>
            <a:ext cx="7680325" cy="5180013"/>
          </a:xfrm>
          <a:custGeom>
            <a:avLst/>
            <a:gdLst>
              <a:gd name="G0" fmla="+- 4935 0 0"/>
              <a:gd name="G1" fmla="+- 0 0 0"/>
              <a:gd name="G2" fmla="+- 21600 0 0"/>
              <a:gd name="T0" fmla="*/ 24601 w 24601"/>
              <a:gd name="T1" fmla="*/ 8934 h 21600"/>
              <a:gd name="T2" fmla="*/ 0 w 24601"/>
              <a:gd name="T3" fmla="*/ 21029 h 21600"/>
              <a:gd name="T4" fmla="*/ 4935 w 24601"/>
              <a:gd name="T5" fmla="*/ 0 h 21600"/>
            </a:gdLst>
            <a:ahLst/>
            <a:cxnLst>
              <a:cxn ang="0">
                <a:pos x="T0" y="T1"/>
              </a:cxn>
              <a:cxn ang="0">
                <a:pos x="T2" y="T3"/>
              </a:cxn>
              <a:cxn ang="0">
                <a:pos x="T4" y="T5"/>
              </a:cxn>
            </a:cxnLst>
            <a:rect l="0" t="0" r="r" b="b"/>
            <a:pathLst>
              <a:path w="24601" h="21600" fill="none" extrusionOk="0">
                <a:moveTo>
                  <a:pt x="24600" y="8933"/>
                </a:moveTo>
                <a:cubicBezTo>
                  <a:pt x="21096" y="16647"/>
                  <a:pt x="13406" y="21600"/>
                  <a:pt x="4935" y="21600"/>
                </a:cubicBezTo>
                <a:cubicBezTo>
                  <a:pt x="3273" y="21600"/>
                  <a:pt x="1617" y="21408"/>
                  <a:pt x="0" y="21028"/>
                </a:cubicBezTo>
              </a:path>
              <a:path w="24601" h="21600" stroke="0" extrusionOk="0">
                <a:moveTo>
                  <a:pt x="24600" y="8933"/>
                </a:moveTo>
                <a:cubicBezTo>
                  <a:pt x="21096" y="16647"/>
                  <a:pt x="13406" y="21600"/>
                  <a:pt x="4935" y="21600"/>
                </a:cubicBezTo>
                <a:cubicBezTo>
                  <a:pt x="3273" y="21600"/>
                  <a:pt x="1617" y="21408"/>
                  <a:pt x="0" y="21028"/>
                </a:cubicBezTo>
                <a:lnTo>
                  <a:pt x="4935" y="0"/>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70" name="Rectangle 10">
            <a:extLst>
              <a:ext uri="{FF2B5EF4-FFF2-40B4-BE49-F238E27FC236}">
                <a16:creationId xmlns:a16="http://schemas.microsoft.com/office/drawing/2014/main" id="{3088DC08-7B5F-43D8-B045-2EF95663AB90}"/>
              </a:ext>
            </a:extLst>
          </p:cNvPr>
          <p:cNvSpPr>
            <a:spLocks noChangeArrowheads="1"/>
          </p:cNvSpPr>
          <p:nvPr/>
        </p:nvSpPr>
        <p:spPr bwMode="auto">
          <a:xfrm>
            <a:off x="501793" y="641235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latin typeface="Arial" panose="020B0604020202020204" pitchFamily="34" charset="0"/>
              </a:rPr>
              <a:t>0</a:t>
            </a:r>
          </a:p>
        </p:txBody>
      </p:sp>
      <p:sp>
        <p:nvSpPr>
          <p:cNvPr id="15371" name="Line 11">
            <a:extLst>
              <a:ext uri="{FF2B5EF4-FFF2-40B4-BE49-F238E27FC236}">
                <a16:creationId xmlns:a16="http://schemas.microsoft.com/office/drawing/2014/main" id="{D9F08F50-7D5F-4E6B-8FA5-9DECBABF9060}"/>
              </a:ext>
            </a:extLst>
          </p:cNvPr>
          <p:cNvSpPr>
            <a:spLocks noChangeShapeType="1"/>
          </p:cNvSpPr>
          <p:nvPr/>
        </p:nvSpPr>
        <p:spPr bwMode="auto">
          <a:xfrm>
            <a:off x="704993" y="1451428"/>
            <a:ext cx="0" cy="4941875"/>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73" name="Rectangle 13">
            <a:extLst>
              <a:ext uri="{FF2B5EF4-FFF2-40B4-BE49-F238E27FC236}">
                <a16:creationId xmlns:a16="http://schemas.microsoft.com/office/drawing/2014/main" id="{16E6C545-EB3E-47D3-9AB7-2EA47147D940}"/>
              </a:ext>
            </a:extLst>
          </p:cNvPr>
          <p:cNvSpPr>
            <a:spLocks noChangeArrowheads="1"/>
          </p:cNvSpPr>
          <p:nvPr/>
        </p:nvSpPr>
        <p:spPr bwMode="auto">
          <a:xfrm>
            <a:off x="6179024" y="5971579"/>
            <a:ext cx="140903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Income (£)</a:t>
            </a:r>
          </a:p>
        </p:txBody>
      </p:sp>
      <p:sp>
        <p:nvSpPr>
          <p:cNvPr id="15374" name="Rectangle 14">
            <a:extLst>
              <a:ext uri="{FF2B5EF4-FFF2-40B4-BE49-F238E27FC236}">
                <a16:creationId xmlns:a16="http://schemas.microsoft.com/office/drawing/2014/main" id="{C4EA9266-FF5B-4CC7-AAB2-DC8880EE3581}"/>
              </a:ext>
            </a:extLst>
          </p:cNvPr>
          <p:cNvSpPr>
            <a:spLocks noChangeArrowheads="1"/>
          </p:cNvSpPr>
          <p:nvPr/>
        </p:nvSpPr>
        <p:spPr bwMode="auto">
          <a:xfrm>
            <a:off x="701674" y="1416974"/>
            <a:ext cx="138384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Total utility</a:t>
            </a:r>
          </a:p>
        </p:txBody>
      </p:sp>
      <p:grpSp>
        <p:nvGrpSpPr>
          <p:cNvPr id="4" name="Group 3">
            <a:extLst>
              <a:ext uri="{FF2B5EF4-FFF2-40B4-BE49-F238E27FC236}">
                <a16:creationId xmlns:a16="http://schemas.microsoft.com/office/drawing/2014/main" id="{A3232516-2D17-4F55-88C7-8D62719F8481}"/>
              </a:ext>
            </a:extLst>
          </p:cNvPr>
          <p:cNvGrpSpPr/>
          <p:nvPr/>
        </p:nvGrpSpPr>
        <p:grpSpPr>
          <a:xfrm>
            <a:off x="230536" y="3237354"/>
            <a:ext cx="2911755" cy="3594802"/>
            <a:chOff x="230536" y="3237354"/>
            <a:chExt cx="2911755" cy="3594802"/>
          </a:xfrm>
        </p:grpSpPr>
        <p:sp>
          <p:nvSpPr>
            <p:cNvPr id="15376" name="Line 16">
              <a:extLst>
                <a:ext uri="{FF2B5EF4-FFF2-40B4-BE49-F238E27FC236}">
                  <a16:creationId xmlns:a16="http://schemas.microsoft.com/office/drawing/2014/main" id="{6C25D541-D2E8-4B6D-82BF-541B9D7732B4}"/>
                </a:ext>
              </a:extLst>
            </p:cNvPr>
            <p:cNvSpPr>
              <a:spLocks noChangeShapeType="1"/>
            </p:cNvSpPr>
            <p:nvPr/>
          </p:nvSpPr>
          <p:spPr bwMode="auto">
            <a:xfrm flipH="1">
              <a:off x="706581" y="3677092"/>
              <a:ext cx="2063750" cy="0"/>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77" name="Line 17">
              <a:extLst>
                <a:ext uri="{FF2B5EF4-FFF2-40B4-BE49-F238E27FC236}">
                  <a16:creationId xmlns:a16="http://schemas.microsoft.com/office/drawing/2014/main" id="{CC3FD496-A0F6-4D23-A9C9-D2771CC401E9}"/>
                </a:ext>
              </a:extLst>
            </p:cNvPr>
            <p:cNvSpPr>
              <a:spLocks noChangeShapeType="1"/>
            </p:cNvSpPr>
            <p:nvPr/>
          </p:nvSpPr>
          <p:spPr bwMode="auto">
            <a:xfrm>
              <a:off x="2770331" y="3677092"/>
              <a:ext cx="0" cy="2716212"/>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78" name="Oval 18">
              <a:extLst>
                <a:ext uri="{FF2B5EF4-FFF2-40B4-BE49-F238E27FC236}">
                  <a16:creationId xmlns:a16="http://schemas.microsoft.com/office/drawing/2014/main" id="{5279803B-242E-495B-B6F1-29E2DD38253F}"/>
                </a:ext>
              </a:extLst>
            </p:cNvPr>
            <p:cNvSpPr>
              <a:spLocks noChangeArrowheads="1"/>
            </p:cNvSpPr>
            <p:nvPr/>
          </p:nvSpPr>
          <p:spPr bwMode="auto">
            <a:xfrm>
              <a:off x="2713182" y="3618354"/>
              <a:ext cx="103187" cy="103188"/>
            </a:xfrm>
            <a:prstGeom prst="ellipse">
              <a:avLst/>
            </a:prstGeom>
            <a:solidFill>
              <a:srgbClr val="DCDC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79" name="Rectangle 19">
              <a:extLst>
                <a:ext uri="{FF2B5EF4-FFF2-40B4-BE49-F238E27FC236}">
                  <a16:creationId xmlns:a16="http://schemas.microsoft.com/office/drawing/2014/main" id="{23ABE861-1CE5-41A0-8F87-92598F426B64}"/>
                </a:ext>
              </a:extLst>
            </p:cNvPr>
            <p:cNvSpPr>
              <a:spLocks noChangeArrowheads="1"/>
            </p:cNvSpPr>
            <p:nvPr/>
          </p:nvSpPr>
          <p:spPr bwMode="auto">
            <a:xfrm>
              <a:off x="230536" y="3450079"/>
              <a:ext cx="47128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a:latin typeface="Arial" panose="020B0604020202020204" pitchFamily="34" charset="0"/>
                </a:rPr>
                <a:t>70</a:t>
              </a:r>
              <a:endParaRPr lang="en-GB" altLang="en-US" sz="2000" baseline="-25000">
                <a:latin typeface="Arial" panose="020B0604020202020204" pitchFamily="34" charset="0"/>
              </a:endParaRPr>
            </a:p>
          </p:txBody>
        </p:sp>
        <p:sp>
          <p:nvSpPr>
            <p:cNvPr id="15380" name="Rectangle 20">
              <a:extLst>
                <a:ext uri="{FF2B5EF4-FFF2-40B4-BE49-F238E27FC236}">
                  <a16:creationId xmlns:a16="http://schemas.microsoft.com/office/drawing/2014/main" id="{10ABE319-0CB9-48FA-AE1B-26D2E410A843}"/>
                </a:ext>
              </a:extLst>
            </p:cNvPr>
            <p:cNvSpPr>
              <a:spLocks noChangeArrowheads="1"/>
            </p:cNvSpPr>
            <p:nvPr/>
          </p:nvSpPr>
          <p:spPr bwMode="auto">
            <a:xfrm>
              <a:off x="2590942" y="3237354"/>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tx2"/>
                  </a:solidFill>
                  <a:latin typeface="Arial" panose="020B0604020202020204" pitchFamily="34" charset="0"/>
                </a:rPr>
                <a:t>a</a:t>
              </a:r>
            </a:p>
          </p:txBody>
        </p:sp>
        <p:sp>
          <p:nvSpPr>
            <p:cNvPr id="15381" name="Rectangle 21">
              <a:extLst>
                <a:ext uri="{FF2B5EF4-FFF2-40B4-BE49-F238E27FC236}">
                  <a16:creationId xmlns:a16="http://schemas.microsoft.com/office/drawing/2014/main" id="{9F45237D-1257-44E0-BD95-ECF11370F093}"/>
                </a:ext>
              </a:extLst>
            </p:cNvPr>
            <p:cNvSpPr>
              <a:spLocks noChangeArrowheads="1"/>
            </p:cNvSpPr>
            <p:nvPr/>
          </p:nvSpPr>
          <p:spPr bwMode="auto">
            <a:xfrm>
              <a:off x="2385674" y="6431404"/>
              <a:ext cx="75661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5000</a:t>
              </a:r>
            </a:p>
          </p:txBody>
        </p:sp>
      </p:grpSp>
      <p:grpSp>
        <p:nvGrpSpPr>
          <p:cNvPr id="5" name="Group 4">
            <a:extLst>
              <a:ext uri="{FF2B5EF4-FFF2-40B4-BE49-F238E27FC236}">
                <a16:creationId xmlns:a16="http://schemas.microsoft.com/office/drawing/2014/main" id="{A2C257D0-F2F7-464B-A954-28F87077C24B}"/>
              </a:ext>
            </a:extLst>
          </p:cNvPr>
          <p:cNvGrpSpPr/>
          <p:nvPr/>
        </p:nvGrpSpPr>
        <p:grpSpPr>
          <a:xfrm>
            <a:off x="91189" y="1592963"/>
            <a:ext cx="7256390" cy="5260089"/>
            <a:chOff x="95394" y="1570480"/>
            <a:chExt cx="7256390" cy="5260089"/>
          </a:xfrm>
        </p:grpSpPr>
        <p:sp>
          <p:nvSpPr>
            <p:cNvPr id="15369" name="Rectangle 9">
              <a:extLst>
                <a:ext uri="{FF2B5EF4-FFF2-40B4-BE49-F238E27FC236}">
                  <a16:creationId xmlns:a16="http://schemas.microsoft.com/office/drawing/2014/main" id="{2C6FC9AF-AA8C-4D59-BE47-B7BDB857D9B6}"/>
                </a:ext>
              </a:extLst>
            </p:cNvPr>
            <p:cNvSpPr>
              <a:spLocks noChangeArrowheads="1"/>
            </p:cNvSpPr>
            <p:nvPr/>
          </p:nvSpPr>
          <p:spPr bwMode="auto">
            <a:xfrm>
              <a:off x="6381967" y="6429817"/>
              <a:ext cx="96981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15 000</a:t>
              </a:r>
            </a:p>
          </p:txBody>
        </p:sp>
        <p:grpSp>
          <p:nvGrpSpPr>
            <p:cNvPr id="15392" name="Group 32">
              <a:extLst>
                <a:ext uri="{FF2B5EF4-FFF2-40B4-BE49-F238E27FC236}">
                  <a16:creationId xmlns:a16="http://schemas.microsoft.com/office/drawing/2014/main" id="{CAA835A2-470C-41A8-9B5F-652E613281EE}"/>
                </a:ext>
              </a:extLst>
            </p:cNvPr>
            <p:cNvGrpSpPr>
              <a:grpSpLocks/>
            </p:cNvGrpSpPr>
            <p:nvPr/>
          </p:nvGrpSpPr>
          <p:grpSpPr bwMode="auto">
            <a:xfrm>
              <a:off x="95394" y="1570480"/>
              <a:ext cx="6945313" cy="4822825"/>
              <a:chOff x="288" y="706"/>
              <a:chExt cx="4375" cy="3038"/>
            </a:xfrm>
          </p:grpSpPr>
          <p:sp>
            <p:nvSpPr>
              <p:cNvPr id="15393" name="Line 33">
                <a:extLst>
                  <a:ext uri="{FF2B5EF4-FFF2-40B4-BE49-F238E27FC236}">
                    <a16:creationId xmlns:a16="http://schemas.microsoft.com/office/drawing/2014/main" id="{2EEA14F5-B2EB-4CAB-8BAC-325068CCC810}"/>
                  </a:ext>
                </a:extLst>
              </p:cNvPr>
              <p:cNvSpPr>
                <a:spLocks noChangeShapeType="1"/>
              </p:cNvSpPr>
              <p:nvPr/>
            </p:nvSpPr>
            <p:spPr bwMode="auto">
              <a:xfrm flipH="1">
                <a:off x="667" y="989"/>
                <a:ext cx="3889" cy="0"/>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94" name="Line 34">
                <a:extLst>
                  <a:ext uri="{FF2B5EF4-FFF2-40B4-BE49-F238E27FC236}">
                    <a16:creationId xmlns:a16="http://schemas.microsoft.com/office/drawing/2014/main" id="{2B6043C6-ED2C-4A4A-BB0B-A15432E047F6}"/>
                  </a:ext>
                </a:extLst>
              </p:cNvPr>
              <p:cNvSpPr>
                <a:spLocks noChangeShapeType="1"/>
              </p:cNvSpPr>
              <p:nvPr/>
            </p:nvSpPr>
            <p:spPr bwMode="auto">
              <a:xfrm>
                <a:off x="4556" y="989"/>
                <a:ext cx="0" cy="2755"/>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395" name="Rectangle 35">
                <a:extLst>
                  <a:ext uri="{FF2B5EF4-FFF2-40B4-BE49-F238E27FC236}">
                    <a16:creationId xmlns:a16="http://schemas.microsoft.com/office/drawing/2014/main" id="{D5D469B8-3AF7-45C1-B302-B0379B6E5578}"/>
                  </a:ext>
                </a:extLst>
              </p:cNvPr>
              <p:cNvSpPr>
                <a:spLocks noChangeArrowheads="1"/>
              </p:cNvSpPr>
              <p:nvPr/>
            </p:nvSpPr>
            <p:spPr bwMode="auto">
              <a:xfrm>
                <a:off x="288" y="844"/>
                <a:ext cx="37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116</a:t>
                </a:r>
                <a:endParaRPr lang="en-GB" altLang="en-US" sz="2000" baseline="-25000">
                  <a:latin typeface="Arial" panose="020B0604020202020204" pitchFamily="34" charset="0"/>
                </a:endParaRPr>
              </a:p>
            </p:txBody>
          </p:sp>
          <p:sp>
            <p:nvSpPr>
              <p:cNvPr id="15396" name="Rectangle 36">
                <a:extLst>
                  <a:ext uri="{FF2B5EF4-FFF2-40B4-BE49-F238E27FC236}">
                    <a16:creationId xmlns:a16="http://schemas.microsoft.com/office/drawing/2014/main" id="{0F5FCEED-9D01-4C53-8041-550D799D43C1}"/>
                  </a:ext>
                </a:extLst>
              </p:cNvPr>
              <p:cNvSpPr>
                <a:spLocks noChangeArrowheads="1"/>
              </p:cNvSpPr>
              <p:nvPr/>
            </p:nvSpPr>
            <p:spPr bwMode="auto">
              <a:xfrm>
                <a:off x="4465" y="706"/>
                <a:ext cx="19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tx2"/>
                    </a:solidFill>
                    <a:latin typeface="Arial" panose="020B0604020202020204" pitchFamily="34" charset="0"/>
                  </a:rPr>
                  <a:t>c</a:t>
                </a:r>
              </a:p>
            </p:txBody>
          </p:sp>
        </p:grpSp>
      </p:grpSp>
      <p:sp>
        <p:nvSpPr>
          <p:cNvPr id="15397" name="Oval 37">
            <a:extLst>
              <a:ext uri="{FF2B5EF4-FFF2-40B4-BE49-F238E27FC236}">
                <a16:creationId xmlns:a16="http://schemas.microsoft.com/office/drawing/2014/main" id="{8B85BE59-01ED-4A57-AEB9-CA3A209F0E53}"/>
              </a:ext>
            </a:extLst>
          </p:cNvPr>
          <p:cNvSpPr>
            <a:spLocks noChangeArrowheads="1"/>
          </p:cNvSpPr>
          <p:nvPr/>
        </p:nvSpPr>
        <p:spPr bwMode="auto">
          <a:xfrm>
            <a:off x="6835918" y="1953068"/>
            <a:ext cx="103188" cy="103187"/>
          </a:xfrm>
          <a:prstGeom prst="ellipse">
            <a:avLst/>
          </a:prstGeom>
          <a:solidFill>
            <a:srgbClr val="DCDC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 name="Rectangle 58">
            <a:extLst>
              <a:ext uri="{FF2B5EF4-FFF2-40B4-BE49-F238E27FC236}">
                <a16:creationId xmlns:a16="http://schemas.microsoft.com/office/drawing/2014/main" id="{150D3ED4-D42C-44C1-82AF-1A32B520E82C}"/>
              </a:ext>
            </a:extLst>
          </p:cNvPr>
          <p:cNvSpPr>
            <a:spLocks noGrp="1" noChangeArrowheads="1"/>
          </p:cNvSpPr>
          <p:nvPr>
            <p:ph type="title" idx="4294967295"/>
          </p:nvPr>
        </p:nvSpPr>
        <p:spPr>
          <a:xfrm>
            <a:off x="0" y="0"/>
            <a:ext cx="12192000" cy="1075192"/>
          </a:xfrm>
          <a:noFill/>
          <a:ln/>
          <a:effectLst>
            <a:outerShdw dist="17961" dir="2700000" algn="ctr" rotWithShape="0">
              <a:schemeClr val="bg2"/>
            </a:outerShdw>
          </a:effectLst>
        </p:spPr>
        <p:txBody>
          <a:bodyPr/>
          <a:lstStyle/>
          <a:p>
            <a:pPr algn="ctr"/>
            <a:r>
              <a:rPr lang="en-GB" altLang="en-US" sz="4000" b="1">
                <a:solidFill>
                  <a:srgbClr val="660066"/>
                </a:solidFill>
                <a:effectLst/>
              </a:rPr>
              <a:t>Total utility and the gamble</a:t>
            </a:r>
          </a:p>
        </p:txBody>
      </p:sp>
      <p:sp>
        <p:nvSpPr>
          <p:cNvPr id="43" name="Rectangle 7">
            <a:extLst>
              <a:ext uri="{FF2B5EF4-FFF2-40B4-BE49-F238E27FC236}">
                <a16:creationId xmlns:a16="http://schemas.microsoft.com/office/drawing/2014/main" id="{54965ED1-2BDA-4271-830E-1D367A8E0514}"/>
              </a:ext>
            </a:extLst>
          </p:cNvPr>
          <p:cNvSpPr>
            <a:spLocks noChangeArrowheads="1"/>
          </p:cNvSpPr>
          <p:nvPr/>
        </p:nvSpPr>
        <p:spPr bwMode="auto">
          <a:xfrm>
            <a:off x="7170118" y="1885233"/>
            <a:ext cx="5969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a:solidFill>
                  <a:schemeClr val="tx2"/>
                </a:solidFill>
                <a:latin typeface="Arial" panose="020B0604020202020204" pitchFamily="34" charset="0"/>
              </a:rPr>
              <a:t>TU</a:t>
            </a:r>
          </a:p>
        </p:txBody>
      </p:sp>
      <p:sp>
        <p:nvSpPr>
          <p:cNvPr id="45" name="Line 17">
            <a:extLst>
              <a:ext uri="{FF2B5EF4-FFF2-40B4-BE49-F238E27FC236}">
                <a16:creationId xmlns:a16="http://schemas.microsoft.com/office/drawing/2014/main" id="{D0824632-37C8-46FA-87B1-7756F5215477}"/>
              </a:ext>
            </a:extLst>
          </p:cNvPr>
          <p:cNvSpPr>
            <a:spLocks noChangeShapeType="1"/>
          </p:cNvSpPr>
          <p:nvPr/>
        </p:nvSpPr>
        <p:spPr bwMode="auto">
          <a:xfrm>
            <a:off x="704993" y="6393304"/>
            <a:ext cx="719482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 name="TextBox 2">
            <a:extLst>
              <a:ext uri="{FF2B5EF4-FFF2-40B4-BE49-F238E27FC236}">
                <a16:creationId xmlns:a16="http://schemas.microsoft.com/office/drawing/2014/main" id="{01098B26-7EAB-4267-97FC-53D2D69D52B8}"/>
              </a:ext>
            </a:extLst>
          </p:cNvPr>
          <p:cNvSpPr txBox="1"/>
          <p:nvPr/>
        </p:nvSpPr>
        <p:spPr>
          <a:xfrm>
            <a:off x="7351785" y="1362219"/>
            <a:ext cx="4490436" cy="378565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2400"/>
              <a:t>After the gamble </a:t>
            </a:r>
          </a:p>
          <a:p>
            <a:pPr marL="742950" lvl="1" indent="-285750">
              <a:buFont typeface="Arial" panose="020B0604020202020204" pitchFamily="34" charset="0"/>
              <a:buChar char="•"/>
            </a:pPr>
            <a:r>
              <a:rPr lang="en-GB" sz="2400"/>
              <a:t>with probability 0.5, income is 5,000; and utility is 70</a:t>
            </a:r>
            <a:endParaRPr lang="en-GB" sz="2400">
              <a:ea typeface="Calibri"/>
              <a:cs typeface="Calibri"/>
            </a:endParaRPr>
          </a:p>
          <a:p>
            <a:pPr marL="742950" lvl="1" indent="-285750">
              <a:buFont typeface="Arial" panose="020B0604020202020204" pitchFamily="34" charset="0"/>
              <a:buChar char="•"/>
            </a:pPr>
            <a:r>
              <a:rPr lang="en-GB" sz="2400"/>
              <a:t>And with probability 0.5, income is 15,000; and utility is 116</a:t>
            </a:r>
            <a:endParaRPr lang="en-GB" sz="2400">
              <a:ea typeface="Calibri"/>
              <a:cs typeface="Calibri"/>
            </a:endParaRPr>
          </a:p>
          <a:p>
            <a:pPr marL="742950" lvl="1" indent="-285750">
              <a:buFont typeface="Arial" panose="020B0604020202020204" pitchFamily="34" charset="0"/>
              <a:buChar char="•"/>
            </a:pPr>
            <a:r>
              <a:rPr lang="en-GB" sz="2400"/>
              <a:t>Expected income is 10,000</a:t>
            </a:r>
            <a:endParaRPr lang="en-GB" sz="2400">
              <a:ea typeface="Calibri"/>
              <a:cs typeface="Calibri"/>
            </a:endParaRPr>
          </a:p>
          <a:p>
            <a:pPr lvl="1"/>
            <a:r>
              <a:rPr lang="en-GB" sz="2400"/>
              <a:t>	(0.5*5,000 + 0.5*15,000)</a:t>
            </a:r>
            <a:endParaRPr lang="en-GB" sz="2400">
              <a:ea typeface="Calibri"/>
              <a:cs typeface="Calibri"/>
            </a:endParaRPr>
          </a:p>
          <a:p>
            <a:pPr marL="742950" lvl="1" indent="-285750">
              <a:buFont typeface="Arial" panose="020B0604020202020204" pitchFamily="34" charset="0"/>
              <a:buChar char="•"/>
            </a:pPr>
            <a:r>
              <a:rPr lang="en-GB" sz="2400"/>
              <a:t>Expected utility is 93</a:t>
            </a:r>
            <a:endParaRPr lang="en-GB" sz="2400">
              <a:ea typeface="Calibri"/>
              <a:cs typeface="Calibri"/>
            </a:endParaRPr>
          </a:p>
          <a:p>
            <a:pPr lvl="1"/>
            <a:r>
              <a:rPr lang="en-GB" sz="2400"/>
              <a:t>	(0.5*70 + 0.5*116)</a:t>
            </a:r>
            <a:endParaRPr lang="en-GB" sz="2400">
              <a:ea typeface="Calibri"/>
              <a:cs typeface="Calibri"/>
            </a:endParaRPr>
          </a:p>
        </p:txBody>
      </p:sp>
      <p:grpSp>
        <p:nvGrpSpPr>
          <p:cNvPr id="10" name="Group 9">
            <a:extLst>
              <a:ext uri="{FF2B5EF4-FFF2-40B4-BE49-F238E27FC236}">
                <a16:creationId xmlns:a16="http://schemas.microsoft.com/office/drawing/2014/main" id="{66C05F00-57FD-40ED-A154-DFC5E9FEEEC2}"/>
              </a:ext>
            </a:extLst>
          </p:cNvPr>
          <p:cNvGrpSpPr/>
          <p:nvPr/>
        </p:nvGrpSpPr>
        <p:grpSpPr>
          <a:xfrm>
            <a:off x="4317586" y="2885550"/>
            <a:ext cx="969817" cy="3944755"/>
            <a:chOff x="4317586" y="2885550"/>
            <a:chExt cx="969817" cy="3944755"/>
          </a:xfrm>
        </p:grpSpPr>
        <p:sp>
          <p:nvSpPr>
            <p:cNvPr id="54" name="Line 9">
              <a:extLst>
                <a:ext uri="{FF2B5EF4-FFF2-40B4-BE49-F238E27FC236}">
                  <a16:creationId xmlns:a16="http://schemas.microsoft.com/office/drawing/2014/main" id="{B70B352C-B6B4-44F6-AAEB-6DF6C60B0B1E}"/>
                </a:ext>
              </a:extLst>
            </p:cNvPr>
            <p:cNvSpPr>
              <a:spLocks noChangeShapeType="1"/>
            </p:cNvSpPr>
            <p:nvPr/>
          </p:nvSpPr>
          <p:spPr bwMode="auto">
            <a:xfrm>
              <a:off x="4852317" y="2885550"/>
              <a:ext cx="0" cy="3507489"/>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5" name="Rectangle 14">
              <a:extLst>
                <a:ext uri="{FF2B5EF4-FFF2-40B4-BE49-F238E27FC236}">
                  <a16:creationId xmlns:a16="http://schemas.microsoft.com/office/drawing/2014/main" id="{53EF96AC-0400-4DDF-B693-5A5518EE9205}"/>
                </a:ext>
              </a:extLst>
            </p:cNvPr>
            <p:cNvSpPr>
              <a:spLocks noChangeArrowheads="1"/>
            </p:cNvSpPr>
            <p:nvPr/>
          </p:nvSpPr>
          <p:spPr bwMode="auto">
            <a:xfrm>
              <a:off x="4317586" y="6429553"/>
              <a:ext cx="96981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10 000</a:t>
              </a:r>
            </a:p>
          </p:txBody>
        </p:sp>
      </p:grpSp>
      <p:grpSp>
        <p:nvGrpSpPr>
          <p:cNvPr id="9" name="Group 8">
            <a:extLst>
              <a:ext uri="{FF2B5EF4-FFF2-40B4-BE49-F238E27FC236}">
                <a16:creationId xmlns:a16="http://schemas.microsoft.com/office/drawing/2014/main" id="{198736BA-1A46-455D-9299-A9650697C171}"/>
              </a:ext>
            </a:extLst>
          </p:cNvPr>
          <p:cNvGrpSpPr/>
          <p:nvPr/>
        </p:nvGrpSpPr>
        <p:grpSpPr>
          <a:xfrm>
            <a:off x="240813" y="2458514"/>
            <a:ext cx="4901134" cy="573792"/>
            <a:chOff x="240813" y="2458514"/>
            <a:chExt cx="4901134" cy="573792"/>
          </a:xfrm>
        </p:grpSpPr>
        <p:sp>
          <p:nvSpPr>
            <p:cNvPr id="57" name="Line 4">
              <a:extLst>
                <a:ext uri="{FF2B5EF4-FFF2-40B4-BE49-F238E27FC236}">
                  <a16:creationId xmlns:a16="http://schemas.microsoft.com/office/drawing/2014/main" id="{837476FF-0774-4F92-B598-0E3D4BEA96E3}"/>
                </a:ext>
              </a:extLst>
            </p:cNvPr>
            <p:cNvSpPr>
              <a:spLocks noChangeShapeType="1"/>
            </p:cNvSpPr>
            <p:nvPr/>
          </p:nvSpPr>
          <p:spPr bwMode="auto">
            <a:xfrm flipH="1">
              <a:off x="686901" y="2848156"/>
              <a:ext cx="3368675" cy="0"/>
            </a:xfrm>
            <a:prstGeom prst="line">
              <a:avLst/>
            </a:prstGeom>
            <a:noFill/>
            <a:ln w="15875">
              <a:solidFill>
                <a:srgbClr val="C0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 name="Rectangle 27">
              <a:extLst>
                <a:ext uri="{FF2B5EF4-FFF2-40B4-BE49-F238E27FC236}">
                  <a16:creationId xmlns:a16="http://schemas.microsoft.com/office/drawing/2014/main" id="{83ED6A09-B406-47EC-BDDE-23676EB7C3D4}"/>
                </a:ext>
              </a:extLst>
            </p:cNvPr>
            <p:cNvSpPr>
              <a:spLocks noChangeArrowheads="1"/>
            </p:cNvSpPr>
            <p:nvPr/>
          </p:nvSpPr>
          <p:spPr bwMode="auto">
            <a:xfrm>
              <a:off x="240813" y="2632256"/>
              <a:ext cx="4714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accent2"/>
                  </a:solidFill>
                  <a:latin typeface="Arial" panose="020B0604020202020204" pitchFamily="34" charset="0"/>
                </a:rPr>
                <a:t>93</a:t>
              </a:r>
              <a:endParaRPr lang="en-GB" altLang="en-US" sz="2000" baseline="-25000">
                <a:solidFill>
                  <a:schemeClr val="accent2"/>
                </a:solidFill>
                <a:latin typeface="Arial" panose="020B0604020202020204" pitchFamily="34" charset="0"/>
              </a:endParaRPr>
            </a:p>
          </p:txBody>
        </p:sp>
        <p:grpSp>
          <p:nvGrpSpPr>
            <p:cNvPr id="62" name="Group 62">
              <a:extLst>
                <a:ext uri="{FF2B5EF4-FFF2-40B4-BE49-F238E27FC236}">
                  <a16:creationId xmlns:a16="http://schemas.microsoft.com/office/drawing/2014/main" id="{B106386D-E114-4367-BE2E-2A2CC955A31E}"/>
                </a:ext>
              </a:extLst>
            </p:cNvPr>
            <p:cNvGrpSpPr>
              <a:grpSpLocks/>
            </p:cNvGrpSpPr>
            <p:nvPr/>
          </p:nvGrpSpPr>
          <p:grpSpPr bwMode="auto">
            <a:xfrm>
              <a:off x="4110071" y="2458514"/>
              <a:ext cx="1031876" cy="427037"/>
              <a:chOff x="2790" y="1275"/>
              <a:chExt cx="650" cy="269"/>
            </a:xfrm>
          </p:grpSpPr>
          <p:sp>
            <p:nvSpPr>
              <p:cNvPr id="63" name="Line 5">
                <a:extLst>
                  <a:ext uri="{FF2B5EF4-FFF2-40B4-BE49-F238E27FC236}">
                    <a16:creationId xmlns:a16="http://schemas.microsoft.com/office/drawing/2014/main" id="{0F0BD769-9DE6-40F4-8F89-E51BE29CDD50}"/>
                  </a:ext>
                </a:extLst>
              </p:cNvPr>
              <p:cNvSpPr>
                <a:spLocks noChangeShapeType="1"/>
              </p:cNvSpPr>
              <p:nvPr/>
            </p:nvSpPr>
            <p:spPr bwMode="auto">
              <a:xfrm flipH="1" flipV="1">
                <a:off x="2790" y="1521"/>
                <a:ext cx="467" cy="2"/>
              </a:xfrm>
              <a:prstGeom prst="line">
                <a:avLst/>
              </a:prstGeom>
              <a:noFill/>
              <a:ln w="15875">
                <a:solidFill>
                  <a:srgbClr val="C0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64" name="Group 61">
                <a:extLst>
                  <a:ext uri="{FF2B5EF4-FFF2-40B4-BE49-F238E27FC236}">
                    <a16:creationId xmlns:a16="http://schemas.microsoft.com/office/drawing/2014/main" id="{EB48BDBF-3FD6-445C-85F4-1D7C189F5F71}"/>
                  </a:ext>
                </a:extLst>
              </p:cNvPr>
              <p:cNvGrpSpPr>
                <a:grpSpLocks/>
              </p:cNvGrpSpPr>
              <p:nvPr/>
            </p:nvGrpSpPr>
            <p:grpSpPr bwMode="auto">
              <a:xfrm>
                <a:off x="3233" y="1275"/>
                <a:ext cx="207" cy="269"/>
                <a:chOff x="3233" y="1281"/>
                <a:chExt cx="207" cy="269"/>
              </a:xfrm>
            </p:grpSpPr>
            <p:sp>
              <p:nvSpPr>
                <p:cNvPr id="65" name="Oval 39">
                  <a:extLst>
                    <a:ext uri="{FF2B5EF4-FFF2-40B4-BE49-F238E27FC236}">
                      <a16:creationId xmlns:a16="http://schemas.microsoft.com/office/drawing/2014/main" id="{285C384D-479F-4414-A1F2-FC8FF94386AB}"/>
                    </a:ext>
                  </a:extLst>
                </p:cNvPr>
                <p:cNvSpPr>
                  <a:spLocks noChangeArrowheads="1"/>
                </p:cNvSpPr>
                <p:nvPr/>
              </p:nvSpPr>
              <p:spPr bwMode="auto">
                <a:xfrm>
                  <a:off x="3233" y="1485"/>
                  <a:ext cx="65" cy="65"/>
                </a:xfrm>
                <a:prstGeom prst="ellipse">
                  <a:avLst/>
                </a:prstGeom>
                <a:solidFill>
                  <a:srgbClr val="FFCCCC"/>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SzPct val="100000"/>
                    <a:buChar char="•"/>
                    <a:defRPr sz="3200">
                      <a:solidFill>
                        <a:schemeClr val="tx1"/>
                      </a:solidFill>
                      <a:latin typeface="Arial" panose="020B0604020202020204" pitchFamily="34" charset="0"/>
                    </a:defRPr>
                  </a:lvl1pPr>
                  <a:lvl2pPr marL="742950" indent="-285750" algn="l">
                    <a:spcBef>
                      <a:spcPct val="20000"/>
                    </a:spcBef>
                    <a:buSzPct val="100000"/>
                    <a:buChar char="–"/>
                    <a:defRPr sz="2800">
                      <a:solidFill>
                        <a:schemeClr val="tx1"/>
                      </a:solidFill>
                      <a:latin typeface="Arial" panose="020B0604020202020204" pitchFamily="34" charset="0"/>
                    </a:defRPr>
                  </a:lvl2pPr>
                  <a:lvl3pPr marL="1143000" indent="-228600" algn="l">
                    <a:spcBef>
                      <a:spcPct val="20000"/>
                    </a:spcBef>
                    <a:buSzPct val="100000"/>
                    <a:buChar char="•"/>
                    <a:defRPr sz="2400">
                      <a:solidFill>
                        <a:schemeClr val="tx1"/>
                      </a:solidFill>
                      <a:latin typeface="Arial" panose="020B0604020202020204" pitchFamily="34" charset="0"/>
                    </a:defRPr>
                  </a:lvl3pPr>
                  <a:lvl4pPr marL="1600200" indent="-228600" algn="l">
                    <a:spcBef>
                      <a:spcPct val="20000"/>
                    </a:spcBef>
                    <a:buSzPct val="100000"/>
                    <a:buChar char="–"/>
                    <a:defRPr sz="2000">
                      <a:solidFill>
                        <a:schemeClr val="tx1"/>
                      </a:solidFill>
                      <a:latin typeface="Arial" panose="020B0604020202020204" pitchFamily="34" charset="0"/>
                    </a:defRPr>
                  </a:lvl4pPr>
                  <a:lvl5pPr marL="2057400" indent="-228600" algn="l">
                    <a:spcBef>
                      <a:spcPct val="20000"/>
                    </a:spcBef>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9pPr>
                </a:lstStyle>
                <a:p>
                  <a:pPr>
                    <a:spcBef>
                      <a:spcPct val="0"/>
                    </a:spcBef>
                    <a:buSzTx/>
                    <a:buFontTx/>
                    <a:buNone/>
                  </a:pPr>
                  <a:endParaRPr lang="en-US" altLang="en-US" sz="3000">
                    <a:latin typeface="Times New Roman" panose="02020603050405020304" pitchFamily="18" charset="0"/>
                  </a:endParaRPr>
                </a:p>
              </p:txBody>
            </p:sp>
            <p:sp>
              <p:nvSpPr>
                <p:cNvPr id="66" name="Rectangle 40">
                  <a:extLst>
                    <a:ext uri="{FF2B5EF4-FFF2-40B4-BE49-F238E27FC236}">
                      <a16:creationId xmlns:a16="http://schemas.microsoft.com/office/drawing/2014/main" id="{4F7D8825-E20C-480D-A30E-2A469591EA7C}"/>
                    </a:ext>
                  </a:extLst>
                </p:cNvPr>
                <p:cNvSpPr>
                  <a:spLocks noChangeArrowheads="1"/>
                </p:cNvSpPr>
                <p:nvPr/>
              </p:nvSpPr>
              <p:spPr bwMode="auto">
                <a:xfrm>
                  <a:off x="3233" y="1281"/>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spcBef>
                      <a:spcPct val="20000"/>
                    </a:spcBef>
                    <a:buSzPct val="100000"/>
                    <a:buChar char="•"/>
                    <a:defRPr sz="3200">
                      <a:solidFill>
                        <a:schemeClr val="tx1"/>
                      </a:solidFill>
                      <a:latin typeface="Arial" panose="020B0604020202020204" pitchFamily="34" charset="0"/>
                    </a:defRPr>
                  </a:lvl1pPr>
                  <a:lvl2pPr marL="742950" indent="-285750" algn="l" defTabSz="762000">
                    <a:spcBef>
                      <a:spcPct val="20000"/>
                    </a:spcBef>
                    <a:buSzPct val="100000"/>
                    <a:buChar char="–"/>
                    <a:defRPr sz="2800">
                      <a:solidFill>
                        <a:schemeClr val="tx1"/>
                      </a:solidFill>
                      <a:latin typeface="Arial" panose="020B0604020202020204" pitchFamily="34" charset="0"/>
                    </a:defRPr>
                  </a:lvl2pPr>
                  <a:lvl3pPr marL="1143000" indent="-228600" algn="l" defTabSz="762000">
                    <a:spcBef>
                      <a:spcPct val="20000"/>
                    </a:spcBef>
                    <a:buSzPct val="100000"/>
                    <a:buChar char="•"/>
                    <a:defRPr sz="2400">
                      <a:solidFill>
                        <a:schemeClr val="tx1"/>
                      </a:solidFill>
                      <a:latin typeface="Arial" panose="020B0604020202020204" pitchFamily="34" charset="0"/>
                    </a:defRPr>
                  </a:lvl3pPr>
                  <a:lvl4pPr marL="1600200" indent="-228600" algn="l" defTabSz="762000">
                    <a:spcBef>
                      <a:spcPct val="20000"/>
                    </a:spcBef>
                    <a:buSzPct val="100000"/>
                    <a:buChar char="–"/>
                    <a:defRPr sz="2000">
                      <a:solidFill>
                        <a:schemeClr val="tx1"/>
                      </a:solidFill>
                      <a:latin typeface="Arial" panose="020B0604020202020204" pitchFamily="34" charset="0"/>
                    </a:defRPr>
                  </a:lvl4pPr>
                  <a:lvl5pPr marL="2057400" indent="-228600" algn="l" defTabSz="762000">
                    <a:spcBef>
                      <a:spcPct val="20000"/>
                    </a:spcBef>
                    <a:buSzPct val="100000"/>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9pPr>
                </a:lstStyle>
                <a:p>
                  <a:pPr algn="ctr">
                    <a:spcBef>
                      <a:spcPct val="0"/>
                    </a:spcBef>
                    <a:buSzTx/>
                    <a:buFontTx/>
                    <a:buNone/>
                  </a:pPr>
                  <a:r>
                    <a:rPr lang="en-GB" altLang="en-US" sz="2000" i="1">
                      <a:solidFill>
                        <a:schemeClr val="accent2"/>
                      </a:solidFill>
                    </a:rPr>
                    <a:t>e</a:t>
                  </a:r>
                </a:p>
              </p:txBody>
            </p:sp>
          </p:grpSp>
        </p:grpSp>
      </p:grpSp>
    </p:spTree>
    <p:extLst>
      <p:ext uri="{BB962C8B-B14F-4D97-AF65-F5344CB8AC3E}">
        <p14:creationId xmlns:p14="http://schemas.microsoft.com/office/powerpoint/2010/main" val="62535187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100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3000"/>
                            </p:stCondLst>
                            <p:childTnLst>
                              <p:par>
                                <p:cTn id="17" presetID="42"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4000"/>
                            </p:stCondLst>
                            <p:childTnLst>
                              <p:par>
                                <p:cTn id="23" presetID="42" presetClass="entr" presetSubtype="0" fill="hold" nodeType="afterEffect">
                                  <p:stCondLst>
                                    <p:cond delay="100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6000"/>
                            </p:stCondLst>
                            <p:childTnLst>
                              <p:par>
                                <p:cTn id="29" presetID="42" presetClass="entr" presetSubtype="0"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par>
                          <p:cTn id="34" fill="hold">
                            <p:stCondLst>
                              <p:cond delay="7000"/>
                            </p:stCondLst>
                            <p:childTnLst>
                              <p:par>
                                <p:cTn id="35" presetID="22" presetClass="entr" presetSubtype="4" fill="hold" nodeType="afterEffect">
                                  <p:stCondLst>
                                    <p:cond delay="75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down)">
                                      <p:cBhvr>
                                        <p:cTn id="37" dur="750"/>
                                        <p:tgtEl>
                                          <p:spTgt spid="3">
                                            <p:txEl>
                                              <p:pRg st="3" end="3"/>
                                            </p:txEl>
                                          </p:spTgt>
                                        </p:tgtEl>
                                      </p:cBhvr>
                                    </p:animEffect>
                                  </p:childTnLst>
                                </p:cTn>
                              </p:par>
                            </p:childTnLst>
                          </p:cTn>
                        </p:par>
                        <p:par>
                          <p:cTn id="38" fill="hold">
                            <p:stCondLst>
                              <p:cond delay="8500"/>
                            </p:stCondLst>
                            <p:childTnLst>
                              <p:par>
                                <p:cTn id="39" presetID="22" presetClass="entr" presetSubtype="4" fill="hold" nodeType="afterEffect">
                                  <p:stCondLst>
                                    <p:cond delay="75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wipe(down)">
                                      <p:cBhvr>
                                        <p:cTn id="41" dur="750"/>
                                        <p:tgtEl>
                                          <p:spTgt spid="3">
                                            <p:txEl>
                                              <p:pRg st="4" end="4"/>
                                            </p:txEl>
                                          </p:spTgt>
                                        </p:tgtEl>
                                      </p:cBhvr>
                                    </p:animEffect>
                                  </p:childTnLst>
                                </p:cTn>
                              </p:par>
                            </p:childTnLst>
                          </p:cTn>
                        </p:par>
                        <p:par>
                          <p:cTn id="42" fill="hold">
                            <p:stCondLst>
                              <p:cond delay="10000"/>
                            </p:stCondLst>
                            <p:childTnLst>
                              <p:par>
                                <p:cTn id="43" presetID="22" presetClass="entr" presetSubtype="4" fill="hold" nodeType="afterEffect">
                                  <p:stCondLst>
                                    <p:cond delay="75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750"/>
                                        <p:tgtEl>
                                          <p:spTgt spid="10"/>
                                        </p:tgtEl>
                                      </p:cBhvr>
                                    </p:animEffect>
                                  </p:childTnLst>
                                </p:cTn>
                              </p:par>
                            </p:childTnLst>
                          </p:cTn>
                        </p:par>
                        <p:par>
                          <p:cTn id="46" fill="hold">
                            <p:stCondLst>
                              <p:cond delay="11500"/>
                            </p:stCondLst>
                            <p:childTnLst>
                              <p:par>
                                <p:cTn id="47" presetID="16" presetClass="entr" presetSubtype="21" fill="hold" nodeType="afterEffect">
                                  <p:stCondLst>
                                    <p:cond delay="75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barn(inVertical)">
                                      <p:cBhvr>
                                        <p:cTn id="49" dur="750"/>
                                        <p:tgtEl>
                                          <p:spTgt spid="3">
                                            <p:txEl>
                                              <p:pRg st="5" end="5"/>
                                            </p:txEl>
                                          </p:spTgt>
                                        </p:tgtEl>
                                      </p:cBhvr>
                                    </p:animEffect>
                                  </p:childTnLst>
                                </p:cTn>
                              </p:par>
                            </p:childTnLst>
                          </p:cTn>
                        </p:par>
                        <p:par>
                          <p:cTn id="50" fill="hold">
                            <p:stCondLst>
                              <p:cond delay="13000"/>
                            </p:stCondLst>
                            <p:childTnLst>
                              <p:par>
                                <p:cTn id="51" presetID="16" presetClass="entr" presetSubtype="21" fill="hold" nodeType="afterEffect">
                                  <p:stCondLst>
                                    <p:cond delay="750"/>
                                  </p:stCondLst>
                                  <p:childTnLst>
                                    <p:set>
                                      <p:cBhvr>
                                        <p:cTn id="52" dur="1" fill="hold">
                                          <p:stCondLst>
                                            <p:cond delay="0"/>
                                          </p:stCondLst>
                                        </p:cTn>
                                        <p:tgtEl>
                                          <p:spTgt spid="3">
                                            <p:txEl>
                                              <p:pRg st="6" end="6"/>
                                            </p:txEl>
                                          </p:spTgt>
                                        </p:tgtEl>
                                        <p:attrNameLst>
                                          <p:attrName>style.visibility</p:attrName>
                                        </p:attrNameLst>
                                      </p:cBhvr>
                                      <p:to>
                                        <p:strVal val="visible"/>
                                      </p:to>
                                    </p:set>
                                    <p:animEffect transition="in" filter="barn(inVertical)">
                                      <p:cBhvr>
                                        <p:cTn id="53" dur="750"/>
                                        <p:tgtEl>
                                          <p:spTgt spid="3">
                                            <p:txEl>
                                              <p:pRg st="6" end="6"/>
                                            </p:txEl>
                                          </p:spTgt>
                                        </p:tgtEl>
                                      </p:cBhvr>
                                    </p:animEffect>
                                  </p:childTnLst>
                                </p:cTn>
                              </p:par>
                            </p:childTnLst>
                          </p:cTn>
                        </p:par>
                        <p:par>
                          <p:cTn id="54" fill="hold">
                            <p:stCondLst>
                              <p:cond delay="14500"/>
                            </p:stCondLst>
                            <p:childTnLst>
                              <p:par>
                                <p:cTn id="55" presetID="16" presetClass="entr" presetSubtype="21" fill="hold" nodeType="afterEffect">
                                  <p:stCondLst>
                                    <p:cond delay="750"/>
                                  </p:stCondLst>
                                  <p:childTnLst>
                                    <p:set>
                                      <p:cBhvr>
                                        <p:cTn id="56" dur="1" fill="hold">
                                          <p:stCondLst>
                                            <p:cond delay="0"/>
                                          </p:stCondLst>
                                        </p:cTn>
                                        <p:tgtEl>
                                          <p:spTgt spid="9"/>
                                        </p:tgtEl>
                                        <p:attrNameLst>
                                          <p:attrName>style.visibility</p:attrName>
                                        </p:attrNameLst>
                                      </p:cBhvr>
                                      <p:to>
                                        <p:strVal val="visible"/>
                                      </p:to>
                                    </p:set>
                                    <p:animEffect transition="in" filter="barn(inVertical)">
                                      <p:cBhvr>
                                        <p:cTn id="57"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Line 17">
            <a:extLst>
              <a:ext uri="{FF2B5EF4-FFF2-40B4-BE49-F238E27FC236}">
                <a16:creationId xmlns:a16="http://schemas.microsoft.com/office/drawing/2014/main" id="{8736F471-FED7-4B19-8521-BA8D9B7B9714}"/>
              </a:ext>
            </a:extLst>
          </p:cNvPr>
          <p:cNvSpPr>
            <a:spLocks noChangeShapeType="1"/>
          </p:cNvSpPr>
          <p:nvPr/>
        </p:nvSpPr>
        <p:spPr bwMode="auto">
          <a:xfrm>
            <a:off x="815872" y="6328119"/>
            <a:ext cx="7065386"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290" name="Rectangle 2">
            <a:extLst>
              <a:ext uri="{FF2B5EF4-FFF2-40B4-BE49-F238E27FC236}">
                <a16:creationId xmlns:a16="http://schemas.microsoft.com/office/drawing/2014/main" id="{AFFF83B5-3D88-42D8-A382-2DB86DF661BC}"/>
              </a:ext>
            </a:extLst>
          </p:cNvPr>
          <p:cNvSpPr>
            <a:spLocks noChangeArrowheads="1"/>
          </p:cNvSpPr>
          <p:nvPr/>
        </p:nvSpPr>
        <p:spPr bwMode="auto">
          <a:xfrm>
            <a:off x="434872" y="6632919"/>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291" name="Rectangle 3">
            <a:extLst>
              <a:ext uri="{FF2B5EF4-FFF2-40B4-BE49-F238E27FC236}">
                <a16:creationId xmlns:a16="http://schemas.microsoft.com/office/drawing/2014/main" id="{47D1396C-5835-4CE9-B252-1D981645EB12}"/>
              </a:ext>
            </a:extLst>
          </p:cNvPr>
          <p:cNvSpPr>
            <a:spLocks noChangeArrowheads="1"/>
          </p:cNvSpPr>
          <p:nvPr/>
        </p:nvSpPr>
        <p:spPr bwMode="auto">
          <a:xfrm>
            <a:off x="2873272" y="6632919"/>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296" name="Line 8">
            <a:extLst>
              <a:ext uri="{FF2B5EF4-FFF2-40B4-BE49-F238E27FC236}">
                <a16:creationId xmlns:a16="http://schemas.microsoft.com/office/drawing/2014/main" id="{41CF7599-A41B-4216-B86C-B0852BB107F1}"/>
              </a:ext>
            </a:extLst>
          </p:cNvPr>
          <p:cNvSpPr>
            <a:spLocks noChangeShapeType="1"/>
          </p:cNvSpPr>
          <p:nvPr/>
        </p:nvSpPr>
        <p:spPr bwMode="auto">
          <a:xfrm flipH="1">
            <a:off x="807935" y="2448269"/>
            <a:ext cx="4127500" cy="0"/>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00" name="Arc 12">
            <a:extLst>
              <a:ext uri="{FF2B5EF4-FFF2-40B4-BE49-F238E27FC236}">
                <a16:creationId xmlns:a16="http://schemas.microsoft.com/office/drawing/2014/main" id="{8175C4C2-A01F-463C-8659-C810EBE66FF0}"/>
              </a:ext>
            </a:extLst>
          </p:cNvPr>
          <p:cNvSpPr>
            <a:spLocks/>
          </p:cNvSpPr>
          <p:nvPr/>
        </p:nvSpPr>
        <p:spPr bwMode="auto">
          <a:xfrm rot="10080000">
            <a:off x="641779" y="2509729"/>
            <a:ext cx="7680325" cy="5180013"/>
          </a:xfrm>
          <a:custGeom>
            <a:avLst/>
            <a:gdLst>
              <a:gd name="G0" fmla="+- 4935 0 0"/>
              <a:gd name="G1" fmla="+- 0 0 0"/>
              <a:gd name="G2" fmla="+- 21600 0 0"/>
              <a:gd name="T0" fmla="*/ 24601 w 24601"/>
              <a:gd name="T1" fmla="*/ 8934 h 21600"/>
              <a:gd name="T2" fmla="*/ 0 w 24601"/>
              <a:gd name="T3" fmla="*/ 21029 h 21600"/>
              <a:gd name="T4" fmla="*/ 4935 w 24601"/>
              <a:gd name="T5" fmla="*/ 0 h 21600"/>
            </a:gdLst>
            <a:ahLst/>
            <a:cxnLst>
              <a:cxn ang="0">
                <a:pos x="T0" y="T1"/>
              </a:cxn>
              <a:cxn ang="0">
                <a:pos x="T2" y="T3"/>
              </a:cxn>
              <a:cxn ang="0">
                <a:pos x="T4" y="T5"/>
              </a:cxn>
            </a:cxnLst>
            <a:rect l="0" t="0" r="r" b="b"/>
            <a:pathLst>
              <a:path w="24601" h="21600" fill="none" extrusionOk="0">
                <a:moveTo>
                  <a:pt x="24600" y="8933"/>
                </a:moveTo>
                <a:cubicBezTo>
                  <a:pt x="21096" y="16647"/>
                  <a:pt x="13406" y="21600"/>
                  <a:pt x="4935" y="21600"/>
                </a:cubicBezTo>
                <a:cubicBezTo>
                  <a:pt x="3273" y="21600"/>
                  <a:pt x="1617" y="21408"/>
                  <a:pt x="0" y="21028"/>
                </a:cubicBezTo>
              </a:path>
              <a:path w="24601" h="21600" stroke="0" extrusionOk="0">
                <a:moveTo>
                  <a:pt x="24600" y="8933"/>
                </a:moveTo>
                <a:cubicBezTo>
                  <a:pt x="21096" y="16647"/>
                  <a:pt x="13406" y="21600"/>
                  <a:pt x="4935" y="21600"/>
                </a:cubicBezTo>
                <a:cubicBezTo>
                  <a:pt x="3273" y="21600"/>
                  <a:pt x="1617" y="21408"/>
                  <a:pt x="0" y="21028"/>
                </a:cubicBezTo>
                <a:lnTo>
                  <a:pt x="4935" y="0"/>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04" name="Rectangle 16">
            <a:extLst>
              <a:ext uri="{FF2B5EF4-FFF2-40B4-BE49-F238E27FC236}">
                <a16:creationId xmlns:a16="http://schemas.microsoft.com/office/drawing/2014/main" id="{02255A35-6158-4D71-B02D-190A6A3F0704}"/>
              </a:ext>
            </a:extLst>
          </p:cNvPr>
          <p:cNvSpPr>
            <a:spLocks noChangeArrowheads="1"/>
          </p:cNvSpPr>
          <p:nvPr/>
        </p:nvSpPr>
        <p:spPr bwMode="auto">
          <a:xfrm>
            <a:off x="612672" y="634717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latin typeface="Arial" panose="020B0604020202020204" pitchFamily="34" charset="0"/>
              </a:rPr>
              <a:t>0</a:t>
            </a:r>
          </a:p>
        </p:txBody>
      </p:sp>
      <p:sp>
        <p:nvSpPr>
          <p:cNvPr id="12305" name="Line 17">
            <a:extLst>
              <a:ext uri="{FF2B5EF4-FFF2-40B4-BE49-F238E27FC236}">
                <a16:creationId xmlns:a16="http://schemas.microsoft.com/office/drawing/2014/main" id="{F4379F14-F4DA-4C43-B0BD-3D6D15DCFD17}"/>
              </a:ext>
            </a:extLst>
          </p:cNvPr>
          <p:cNvSpPr>
            <a:spLocks noChangeShapeType="1"/>
          </p:cNvSpPr>
          <p:nvPr/>
        </p:nvSpPr>
        <p:spPr bwMode="auto">
          <a:xfrm>
            <a:off x="815872" y="1313433"/>
            <a:ext cx="0" cy="5014685"/>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09" name="Oval 21">
            <a:extLst>
              <a:ext uri="{FF2B5EF4-FFF2-40B4-BE49-F238E27FC236}">
                <a16:creationId xmlns:a16="http://schemas.microsoft.com/office/drawing/2014/main" id="{F4EC302C-A240-46FA-962B-BB6539D6557F}"/>
              </a:ext>
            </a:extLst>
          </p:cNvPr>
          <p:cNvSpPr>
            <a:spLocks noChangeArrowheads="1"/>
          </p:cNvSpPr>
          <p:nvPr/>
        </p:nvSpPr>
        <p:spPr bwMode="auto">
          <a:xfrm>
            <a:off x="4889397" y="2403819"/>
            <a:ext cx="103188" cy="103188"/>
          </a:xfrm>
          <a:prstGeom prst="ellipse">
            <a:avLst/>
          </a:prstGeom>
          <a:solidFill>
            <a:srgbClr val="DCDC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17" name="Rectangle 29">
            <a:extLst>
              <a:ext uri="{FF2B5EF4-FFF2-40B4-BE49-F238E27FC236}">
                <a16:creationId xmlns:a16="http://schemas.microsoft.com/office/drawing/2014/main" id="{2A925D05-AD95-4D74-8EC7-21803471FDE2}"/>
              </a:ext>
            </a:extLst>
          </p:cNvPr>
          <p:cNvSpPr>
            <a:spLocks noChangeArrowheads="1"/>
          </p:cNvSpPr>
          <p:nvPr/>
        </p:nvSpPr>
        <p:spPr bwMode="auto">
          <a:xfrm>
            <a:off x="4762396" y="2018057"/>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tx2"/>
                </a:solidFill>
                <a:latin typeface="Arial" panose="020B0604020202020204" pitchFamily="34" charset="0"/>
              </a:rPr>
              <a:t>b</a:t>
            </a:r>
          </a:p>
        </p:txBody>
      </p:sp>
      <p:sp>
        <p:nvSpPr>
          <p:cNvPr id="12319" name="Rectangle 31">
            <a:extLst>
              <a:ext uri="{FF2B5EF4-FFF2-40B4-BE49-F238E27FC236}">
                <a16:creationId xmlns:a16="http://schemas.microsoft.com/office/drawing/2014/main" id="{DE5784CB-56B5-4D3D-BE69-E292CE91A0F8}"/>
              </a:ext>
            </a:extLst>
          </p:cNvPr>
          <p:cNvSpPr>
            <a:spLocks noChangeArrowheads="1"/>
          </p:cNvSpPr>
          <p:nvPr/>
        </p:nvSpPr>
        <p:spPr bwMode="auto">
          <a:xfrm>
            <a:off x="6352147" y="5946418"/>
            <a:ext cx="140903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Income (£)</a:t>
            </a:r>
          </a:p>
        </p:txBody>
      </p:sp>
      <p:sp>
        <p:nvSpPr>
          <p:cNvPr id="12320" name="Rectangle 32">
            <a:extLst>
              <a:ext uri="{FF2B5EF4-FFF2-40B4-BE49-F238E27FC236}">
                <a16:creationId xmlns:a16="http://schemas.microsoft.com/office/drawing/2014/main" id="{DAC62556-D4F3-4502-B46D-5C63F98CDE38}"/>
              </a:ext>
            </a:extLst>
          </p:cNvPr>
          <p:cNvSpPr>
            <a:spLocks noChangeArrowheads="1"/>
          </p:cNvSpPr>
          <p:nvPr/>
        </p:nvSpPr>
        <p:spPr bwMode="auto">
          <a:xfrm>
            <a:off x="768247" y="1313317"/>
            <a:ext cx="138384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Total utility</a:t>
            </a:r>
          </a:p>
        </p:txBody>
      </p:sp>
      <p:grpSp>
        <p:nvGrpSpPr>
          <p:cNvPr id="10" name="Group 9">
            <a:extLst>
              <a:ext uri="{FF2B5EF4-FFF2-40B4-BE49-F238E27FC236}">
                <a16:creationId xmlns:a16="http://schemas.microsoft.com/office/drawing/2014/main" id="{6FB8ACD5-592B-4BB1-ABA6-7E1D9D9BF590}"/>
              </a:ext>
            </a:extLst>
          </p:cNvPr>
          <p:cNvGrpSpPr/>
          <p:nvPr/>
        </p:nvGrpSpPr>
        <p:grpSpPr>
          <a:xfrm>
            <a:off x="3790850" y="2387947"/>
            <a:ext cx="757238" cy="4381497"/>
            <a:chOff x="3790850" y="2387947"/>
            <a:chExt cx="757238" cy="4381497"/>
          </a:xfrm>
        </p:grpSpPr>
        <p:grpSp>
          <p:nvGrpSpPr>
            <p:cNvPr id="12348" name="Group 60">
              <a:extLst>
                <a:ext uri="{FF2B5EF4-FFF2-40B4-BE49-F238E27FC236}">
                  <a16:creationId xmlns:a16="http://schemas.microsoft.com/office/drawing/2014/main" id="{3B145291-8A45-4721-9299-D72DC173B7BB}"/>
                </a:ext>
              </a:extLst>
            </p:cNvPr>
            <p:cNvGrpSpPr>
              <a:grpSpLocks/>
            </p:cNvGrpSpPr>
            <p:nvPr/>
          </p:nvGrpSpPr>
          <p:grpSpPr bwMode="auto">
            <a:xfrm>
              <a:off x="3790850" y="2783232"/>
              <a:ext cx="757238" cy="3986212"/>
              <a:chOff x="2546" y="1511"/>
              <a:chExt cx="477" cy="2511"/>
            </a:xfrm>
          </p:grpSpPr>
          <p:sp>
            <p:nvSpPr>
              <p:cNvPr id="12293" name="Line 5">
                <a:extLst>
                  <a:ext uri="{FF2B5EF4-FFF2-40B4-BE49-F238E27FC236}">
                    <a16:creationId xmlns:a16="http://schemas.microsoft.com/office/drawing/2014/main" id="{870D19C4-54B9-44DB-ABCF-FF5E4D631280}"/>
                  </a:ext>
                </a:extLst>
              </p:cNvPr>
              <p:cNvSpPr>
                <a:spLocks noChangeShapeType="1"/>
              </p:cNvSpPr>
              <p:nvPr/>
            </p:nvSpPr>
            <p:spPr bwMode="auto">
              <a:xfrm>
                <a:off x="2778" y="1511"/>
                <a:ext cx="0" cy="2233"/>
              </a:xfrm>
              <a:prstGeom prst="line">
                <a:avLst/>
              </a:prstGeom>
              <a:noFill/>
              <a:ln w="15875">
                <a:solidFill>
                  <a:srgbClr val="C0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07" name="Rectangle 19">
                <a:extLst>
                  <a:ext uri="{FF2B5EF4-FFF2-40B4-BE49-F238E27FC236}">
                    <a16:creationId xmlns:a16="http://schemas.microsoft.com/office/drawing/2014/main" id="{5F50AB2E-E1C8-4F5D-8C12-71F39C5FC56A}"/>
                  </a:ext>
                </a:extLst>
              </p:cNvPr>
              <p:cNvSpPr>
                <a:spLocks noChangeArrowheads="1"/>
              </p:cNvSpPr>
              <p:nvPr/>
            </p:nvSpPr>
            <p:spPr bwMode="auto">
              <a:xfrm>
                <a:off x="2546" y="3770"/>
                <a:ext cx="47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accent2"/>
                    </a:solidFill>
                    <a:latin typeface="Arial" panose="020B0604020202020204" pitchFamily="34" charset="0"/>
                  </a:rPr>
                  <a:t>8000</a:t>
                </a:r>
              </a:p>
            </p:txBody>
          </p:sp>
        </p:grpSp>
        <p:grpSp>
          <p:nvGrpSpPr>
            <p:cNvPr id="8" name="Group 7">
              <a:extLst>
                <a:ext uri="{FF2B5EF4-FFF2-40B4-BE49-F238E27FC236}">
                  <a16:creationId xmlns:a16="http://schemas.microsoft.com/office/drawing/2014/main" id="{CA406491-22C6-4E84-831F-456880279758}"/>
                </a:ext>
              </a:extLst>
            </p:cNvPr>
            <p:cNvGrpSpPr/>
            <p:nvPr/>
          </p:nvGrpSpPr>
          <p:grpSpPr>
            <a:xfrm>
              <a:off x="4046436" y="2387947"/>
              <a:ext cx="328613" cy="442913"/>
              <a:chOff x="4046436" y="2387947"/>
              <a:chExt cx="328613" cy="442913"/>
            </a:xfrm>
          </p:grpSpPr>
          <p:sp>
            <p:nvSpPr>
              <p:cNvPr id="12326" name="Rectangle 38">
                <a:extLst>
                  <a:ext uri="{FF2B5EF4-FFF2-40B4-BE49-F238E27FC236}">
                    <a16:creationId xmlns:a16="http://schemas.microsoft.com/office/drawing/2014/main" id="{1DA97CFE-5463-4D91-8CE2-B012F799875F}"/>
                  </a:ext>
                </a:extLst>
              </p:cNvPr>
              <p:cNvSpPr>
                <a:spLocks noChangeArrowheads="1"/>
              </p:cNvSpPr>
              <p:nvPr/>
            </p:nvSpPr>
            <p:spPr bwMode="auto">
              <a:xfrm>
                <a:off x="4046436" y="2387947"/>
                <a:ext cx="3286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accent2"/>
                    </a:solidFill>
                    <a:latin typeface="Arial" panose="020B0604020202020204" pitchFamily="34" charset="0"/>
                  </a:rPr>
                  <a:t>d</a:t>
                </a:r>
              </a:p>
            </p:txBody>
          </p:sp>
          <p:sp>
            <p:nvSpPr>
              <p:cNvPr id="12311" name="Oval 23">
                <a:extLst>
                  <a:ext uri="{FF2B5EF4-FFF2-40B4-BE49-F238E27FC236}">
                    <a16:creationId xmlns:a16="http://schemas.microsoft.com/office/drawing/2014/main" id="{889B3411-1C8B-4015-8C81-E6D606EE21A1}"/>
                  </a:ext>
                </a:extLst>
              </p:cNvPr>
              <p:cNvSpPr>
                <a:spLocks noChangeArrowheads="1"/>
              </p:cNvSpPr>
              <p:nvPr/>
            </p:nvSpPr>
            <p:spPr bwMode="auto">
              <a:xfrm>
                <a:off x="4114699" y="2727672"/>
                <a:ext cx="103188" cy="103188"/>
              </a:xfrm>
              <a:prstGeom prst="ellipse">
                <a:avLst/>
              </a:prstGeom>
              <a:solidFill>
                <a:srgbClr val="FFCCCC"/>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12" name="Group 11">
            <a:extLst>
              <a:ext uri="{FF2B5EF4-FFF2-40B4-BE49-F238E27FC236}">
                <a16:creationId xmlns:a16="http://schemas.microsoft.com/office/drawing/2014/main" id="{4B572E9B-CFB8-40AA-8176-A3299B10E7F6}"/>
              </a:ext>
            </a:extLst>
          </p:cNvPr>
          <p:cNvGrpSpPr/>
          <p:nvPr/>
        </p:nvGrpSpPr>
        <p:grpSpPr>
          <a:xfrm>
            <a:off x="341415" y="3172169"/>
            <a:ext cx="2911755" cy="3594802"/>
            <a:chOff x="341415" y="3172169"/>
            <a:chExt cx="2911755" cy="3594802"/>
          </a:xfrm>
        </p:grpSpPr>
        <p:sp>
          <p:nvSpPr>
            <p:cNvPr id="12298" name="Line 10">
              <a:extLst>
                <a:ext uri="{FF2B5EF4-FFF2-40B4-BE49-F238E27FC236}">
                  <a16:creationId xmlns:a16="http://schemas.microsoft.com/office/drawing/2014/main" id="{F786D6E9-B820-4E19-B213-63CE4D468576}"/>
                </a:ext>
              </a:extLst>
            </p:cNvPr>
            <p:cNvSpPr>
              <a:spLocks noChangeShapeType="1"/>
            </p:cNvSpPr>
            <p:nvPr/>
          </p:nvSpPr>
          <p:spPr bwMode="auto">
            <a:xfrm flipH="1">
              <a:off x="807935" y="3611907"/>
              <a:ext cx="2063750" cy="0"/>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299" name="Line 11">
              <a:extLst>
                <a:ext uri="{FF2B5EF4-FFF2-40B4-BE49-F238E27FC236}">
                  <a16:creationId xmlns:a16="http://schemas.microsoft.com/office/drawing/2014/main" id="{711D2078-5ACE-4AC0-AFC4-86A5E75DDC10}"/>
                </a:ext>
              </a:extLst>
            </p:cNvPr>
            <p:cNvSpPr>
              <a:spLocks noChangeShapeType="1"/>
            </p:cNvSpPr>
            <p:nvPr/>
          </p:nvSpPr>
          <p:spPr bwMode="auto">
            <a:xfrm>
              <a:off x="2871685" y="3611907"/>
              <a:ext cx="0" cy="2716212"/>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08" name="Oval 20">
              <a:extLst>
                <a:ext uri="{FF2B5EF4-FFF2-40B4-BE49-F238E27FC236}">
                  <a16:creationId xmlns:a16="http://schemas.microsoft.com/office/drawing/2014/main" id="{27AEC045-D177-4984-873B-27F14B8FE9F9}"/>
                </a:ext>
              </a:extLst>
            </p:cNvPr>
            <p:cNvSpPr>
              <a:spLocks noChangeArrowheads="1"/>
            </p:cNvSpPr>
            <p:nvPr/>
          </p:nvSpPr>
          <p:spPr bwMode="auto">
            <a:xfrm>
              <a:off x="2814536" y="3553169"/>
              <a:ext cx="103187" cy="103188"/>
            </a:xfrm>
            <a:prstGeom prst="ellipse">
              <a:avLst/>
            </a:prstGeom>
            <a:solidFill>
              <a:srgbClr val="DCDC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16" name="Rectangle 28">
              <a:extLst>
                <a:ext uri="{FF2B5EF4-FFF2-40B4-BE49-F238E27FC236}">
                  <a16:creationId xmlns:a16="http://schemas.microsoft.com/office/drawing/2014/main" id="{76295356-86A5-40D4-9494-FBB52DD7C6FB}"/>
                </a:ext>
              </a:extLst>
            </p:cNvPr>
            <p:cNvSpPr>
              <a:spLocks noChangeArrowheads="1"/>
            </p:cNvSpPr>
            <p:nvPr/>
          </p:nvSpPr>
          <p:spPr bwMode="auto">
            <a:xfrm>
              <a:off x="2692296" y="3172169"/>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tx2"/>
                  </a:solidFill>
                  <a:latin typeface="Arial" panose="020B0604020202020204" pitchFamily="34" charset="0"/>
                </a:rPr>
                <a:t>a</a:t>
              </a:r>
            </a:p>
          </p:txBody>
        </p:sp>
        <p:sp>
          <p:nvSpPr>
            <p:cNvPr id="12324" name="Rectangle 36">
              <a:extLst>
                <a:ext uri="{FF2B5EF4-FFF2-40B4-BE49-F238E27FC236}">
                  <a16:creationId xmlns:a16="http://schemas.microsoft.com/office/drawing/2014/main" id="{42F5B181-BFB6-459A-A77A-3DF54E72EE73}"/>
                </a:ext>
              </a:extLst>
            </p:cNvPr>
            <p:cNvSpPr>
              <a:spLocks noChangeArrowheads="1"/>
            </p:cNvSpPr>
            <p:nvPr/>
          </p:nvSpPr>
          <p:spPr bwMode="auto">
            <a:xfrm>
              <a:off x="2496553" y="6366219"/>
              <a:ext cx="75661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5000</a:t>
              </a:r>
            </a:p>
          </p:txBody>
        </p:sp>
        <p:sp>
          <p:nvSpPr>
            <p:cNvPr id="12333" name="Rectangle 45">
              <a:extLst>
                <a:ext uri="{FF2B5EF4-FFF2-40B4-BE49-F238E27FC236}">
                  <a16:creationId xmlns:a16="http://schemas.microsoft.com/office/drawing/2014/main" id="{D2E55EFE-3E43-4E74-986B-FCA1EAF2C882}"/>
                </a:ext>
              </a:extLst>
            </p:cNvPr>
            <p:cNvSpPr>
              <a:spLocks noChangeArrowheads="1"/>
            </p:cNvSpPr>
            <p:nvPr/>
          </p:nvSpPr>
          <p:spPr bwMode="auto">
            <a:xfrm>
              <a:off x="341415" y="3384894"/>
              <a:ext cx="47128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a:latin typeface="Arial" panose="020B0604020202020204" pitchFamily="34" charset="0"/>
                </a:rPr>
                <a:t>70</a:t>
              </a:r>
              <a:endParaRPr lang="en-GB" altLang="en-US" sz="2000" baseline="-25000">
                <a:latin typeface="Arial" panose="020B0604020202020204" pitchFamily="34" charset="0"/>
              </a:endParaRPr>
            </a:p>
          </p:txBody>
        </p:sp>
      </p:grpSp>
      <p:sp>
        <p:nvSpPr>
          <p:cNvPr id="12334" name="Rectangle 46">
            <a:extLst>
              <a:ext uri="{FF2B5EF4-FFF2-40B4-BE49-F238E27FC236}">
                <a16:creationId xmlns:a16="http://schemas.microsoft.com/office/drawing/2014/main" id="{14C350AE-90D9-4111-BADC-185CFFA4F308}"/>
              </a:ext>
            </a:extLst>
          </p:cNvPr>
          <p:cNvSpPr>
            <a:spLocks noChangeArrowheads="1"/>
          </p:cNvSpPr>
          <p:nvPr/>
        </p:nvSpPr>
        <p:spPr bwMode="auto">
          <a:xfrm>
            <a:off x="201717" y="2170457"/>
            <a:ext cx="613951"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100</a:t>
            </a:r>
            <a:endParaRPr lang="en-GB" altLang="en-US" sz="2000" baseline="-25000">
              <a:latin typeface="Arial" panose="020B0604020202020204" pitchFamily="34" charset="0"/>
            </a:endParaRPr>
          </a:p>
        </p:txBody>
      </p:sp>
      <p:grpSp>
        <p:nvGrpSpPr>
          <p:cNvPr id="11" name="Group 10">
            <a:extLst>
              <a:ext uri="{FF2B5EF4-FFF2-40B4-BE49-F238E27FC236}">
                <a16:creationId xmlns:a16="http://schemas.microsoft.com/office/drawing/2014/main" id="{DD23FB80-2DED-4AC8-A5CC-F6232559DD35}"/>
              </a:ext>
            </a:extLst>
          </p:cNvPr>
          <p:cNvGrpSpPr/>
          <p:nvPr/>
        </p:nvGrpSpPr>
        <p:grpSpPr>
          <a:xfrm>
            <a:off x="206475" y="1505294"/>
            <a:ext cx="7256188" cy="5260090"/>
            <a:chOff x="206475" y="1505294"/>
            <a:chExt cx="7256188" cy="5260090"/>
          </a:xfrm>
        </p:grpSpPr>
        <p:sp>
          <p:nvSpPr>
            <p:cNvPr id="12294" name="Line 6">
              <a:extLst>
                <a:ext uri="{FF2B5EF4-FFF2-40B4-BE49-F238E27FC236}">
                  <a16:creationId xmlns:a16="http://schemas.microsoft.com/office/drawing/2014/main" id="{60327815-6364-45ED-B67C-D37AAB94E895}"/>
                </a:ext>
              </a:extLst>
            </p:cNvPr>
            <p:cNvSpPr>
              <a:spLocks noChangeShapeType="1"/>
            </p:cNvSpPr>
            <p:nvPr/>
          </p:nvSpPr>
          <p:spPr bwMode="auto">
            <a:xfrm flipH="1">
              <a:off x="807936" y="1954557"/>
              <a:ext cx="6173787" cy="0"/>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295" name="Line 7">
              <a:extLst>
                <a:ext uri="{FF2B5EF4-FFF2-40B4-BE49-F238E27FC236}">
                  <a16:creationId xmlns:a16="http://schemas.microsoft.com/office/drawing/2014/main" id="{4C235075-9F5A-4D10-9795-937C33A2F0AC}"/>
                </a:ext>
              </a:extLst>
            </p:cNvPr>
            <p:cNvSpPr>
              <a:spLocks noChangeShapeType="1"/>
            </p:cNvSpPr>
            <p:nvPr/>
          </p:nvSpPr>
          <p:spPr bwMode="auto">
            <a:xfrm>
              <a:off x="6981722" y="1954557"/>
              <a:ext cx="0" cy="4373562"/>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03" name="Rectangle 15">
              <a:extLst>
                <a:ext uri="{FF2B5EF4-FFF2-40B4-BE49-F238E27FC236}">
                  <a16:creationId xmlns:a16="http://schemas.microsoft.com/office/drawing/2014/main" id="{07CA5D09-57D5-4A84-B384-A095084B5252}"/>
                </a:ext>
              </a:extLst>
            </p:cNvPr>
            <p:cNvSpPr>
              <a:spLocks noChangeArrowheads="1"/>
            </p:cNvSpPr>
            <p:nvPr/>
          </p:nvSpPr>
          <p:spPr bwMode="auto">
            <a:xfrm>
              <a:off x="6492846" y="6364632"/>
              <a:ext cx="96981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15 000</a:t>
              </a:r>
            </a:p>
          </p:txBody>
        </p:sp>
        <p:sp>
          <p:nvSpPr>
            <p:cNvPr id="12310" name="Oval 22">
              <a:extLst>
                <a:ext uri="{FF2B5EF4-FFF2-40B4-BE49-F238E27FC236}">
                  <a16:creationId xmlns:a16="http://schemas.microsoft.com/office/drawing/2014/main" id="{CE59E829-3205-4A06-9025-4046A7E1F4AA}"/>
                </a:ext>
              </a:extLst>
            </p:cNvPr>
            <p:cNvSpPr>
              <a:spLocks noChangeArrowheads="1"/>
            </p:cNvSpPr>
            <p:nvPr/>
          </p:nvSpPr>
          <p:spPr bwMode="auto">
            <a:xfrm>
              <a:off x="6946797" y="1897408"/>
              <a:ext cx="103188" cy="103187"/>
            </a:xfrm>
            <a:prstGeom prst="ellipse">
              <a:avLst/>
            </a:prstGeom>
            <a:solidFill>
              <a:srgbClr val="DCDC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18" name="Rectangle 30">
              <a:extLst>
                <a:ext uri="{FF2B5EF4-FFF2-40B4-BE49-F238E27FC236}">
                  <a16:creationId xmlns:a16="http://schemas.microsoft.com/office/drawing/2014/main" id="{2A88675E-1FBD-4129-9177-ADB12BCFEDD0}"/>
                </a:ext>
              </a:extLst>
            </p:cNvPr>
            <p:cNvSpPr>
              <a:spLocks noChangeArrowheads="1"/>
            </p:cNvSpPr>
            <p:nvPr/>
          </p:nvSpPr>
          <p:spPr bwMode="auto">
            <a:xfrm>
              <a:off x="6837329" y="1505294"/>
              <a:ext cx="31418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tx2"/>
                  </a:solidFill>
                  <a:latin typeface="Arial" panose="020B0604020202020204" pitchFamily="34" charset="0"/>
                </a:rPr>
                <a:t>c</a:t>
              </a:r>
            </a:p>
          </p:txBody>
        </p:sp>
        <p:sp>
          <p:nvSpPr>
            <p:cNvPr id="12335" name="Rectangle 47">
              <a:extLst>
                <a:ext uri="{FF2B5EF4-FFF2-40B4-BE49-F238E27FC236}">
                  <a16:creationId xmlns:a16="http://schemas.microsoft.com/office/drawing/2014/main" id="{D60C3BA6-F5AE-45BA-8688-7978E28731A2}"/>
                </a:ext>
              </a:extLst>
            </p:cNvPr>
            <p:cNvSpPr>
              <a:spLocks noChangeArrowheads="1"/>
            </p:cNvSpPr>
            <p:nvPr/>
          </p:nvSpPr>
          <p:spPr bwMode="auto">
            <a:xfrm>
              <a:off x="206475" y="1724369"/>
              <a:ext cx="59490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116</a:t>
              </a:r>
              <a:endParaRPr lang="en-GB" altLang="en-US" sz="2000" baseline="-25000">
                <a:latin typeface="Arial" panose="020B0604020202020204" pitchFamily="34" charset="0"/>
              </a:endParaRPr>
            </a:p>
          </p:txBody>
        </p:sp>
      </p:grpSp>
      <p:grpSp>
        <p:nvGrpSpPr>
          <p:cNvPr id="14" name="Group 13">
            <a:extLst>
              <a:ext uri="{FF2B5EF4-FFF2-40B4-BE49-F238E27FC236}">
                <a16:creationId xmlns:a16="http://schemas.microsoft.com/office/drawing/2014/main" id="{3E0491F1-F2E0-4B46-929D-A4EFC25C44B5}"/>
              </a:ext>
            </a:extLst>
          </p:cNvPr>
          <p:cNvGrpSpPr/>
          <p:nvPr/>
        </p:nvGrpSpPr>
        <p:grpSpPr>
          <a:xfrm>
            <a:off x="353911" y="2408583"/>
            <a:ext cx="5046590" cy="4356801"/>
            <a:chOff x="353911" y="2408583"/>
            <a:chExt cx="5046590" cy="4356801"/>
          </a:xfrm>
        </p:grpSpPr>
        <p:sp>
          <p:nvSpPr>
            <p:cNvPr id="12297" name="Line 9">
              <a:extLst>
                <a:ext uri="{FF2B5EF4-FFF2-40B4-BE49-F238E27FC236}">
                  <a16:creationId xmlns:a16="http://schemas.microsoft.com/office/drawing/2014/main" id="{F1B74617-9F37-4E68-A07D-A7233E864E1D}"/>
                </a:ext>
              </a:extLst>
            </p:cNvPr>
            <p:cNvSpPr>
              <a:spLocks noChangeShapeType="1"/>
            </p:cNvSpPr>
            <p:nvPr/>
          </p:nvSpPr>
          <p:spPr bwMode="auto">
            <a:xfrm>
              <a:off x="4935435" y="2448269"/>
              <a:ext cx="0" cy="3879850"/>
            </a:xfrm>
            <a:prstGeom prst="line">
              <a:avLst/>
            </a:prstGeom>
            <a:noFill/>
            <a:ln w="15875">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02" name="Rectangle 14">
              <a:extLst>
                <a:ext uri="{FF2B5EF4-FFF2-40B4-BE49-F238E27FC236}">
                  <a16:creationId xmlns:a16="http://schemas.microsoft.com/office/drawing/2014/main" id="{45C23F70-7BEF-4284-ABB4-A59DF311F5F0}"/>
                </a:ext>
              </a:extLst>
            </p:cNvPr>
            <p:cNvSpPr>
              <a:spLocks noChangeArrowheads="1"/>
            </p:cNvSpPr>
            <p:nvPr/>
          </p:nvSpPr>
          <p:spPr bwMode="auto">
            <a:xfrm>
              <a:off x="4430684" y="6364632"/>
              <a:ext cx="96981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latin typeface="Arial" panose="020B0604020202020204" pitchFamily="34" charset="0"/>
                </a:rPr>
                <a:t>10 000</a:t>
              </a:r>
            </a:p>
          </p:txBody>
        </p:sp>
        <p:sp>
          <p:nvSpPr>
            <p:cNvPr id="12292" name="Line 4">
              <a:extLst>
                <a:ext uri="{FF2B5EF4-FFF2-40B4-BE49-F238E27FC236}">
                  <a16:creationId xmlns:a16="http://schemas.microsoft.com/office/drawing/2014/main" id="{A8CFB90E-1936-4230-A4F3-279509A6D8C3}"/>
                </a:ext>
              </a:extLst>
            </p:cNvPr>
            <p:cNvSpPr>
              <a:spLocks noChangeShapeType="1"/>
            </p:cNvSpPr>
            <p:nvPr/>
          </p:nvSpPr>
          <p:spPr bwMode="auto">
            <a:xfrm flipH="1">
              <a:off x="799999" y="2783235"/>
              <a:ext cx="3368675" cy="0"/>
            </a:xfrm>
            <a:prstGeom prst="line">
              <a:avLst/>
            </a:prstGeom>
            <a:noFill/>
            <a:ln w="15875">
              <a:solidFill>
                <a:srgbClr val="C0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315" name="Rectangle 27">
              <a:extLst>
                <a:ext uri="{FF2B5EF4-FFF2-40B4-BE49-F238E27FC236}">
                  <a16:creationId xmlns:a16="http://schemas.microsoft.com/office/drawing/2014/main" id="{184F7477-E7A7-409E-8963-B352BA3814CD}"/>
                </a:ext>
              </a:extLst>
            </p:cNvPr>
            <p:cNvSpPr>
              <a:spLocks noChangeArrowheads="1"/>
            </p:cNvSpPr>
            <p:nvPr/>
          </p:nvSpPr>
          <p:spPr bwMode="auto">
            <a:xfrm>
              <a:off x="353911" y="2567335"/>
              <a:ext cx="4714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accent2"/>
                  </a:solidFill>
                  <a:latin typeface="Arial" panose="020B0604020202020204" pitchFamily="34" charset="0"/>
                </a:rPr>
                <a:t>93</a:t>
              </a:r>
              <a:endParaRPr lang="en-GB" altLang="en-US" sz="2000" baseline="-25000">
                <a:solidFill>
                  <a:schemeClr val="accent2"/>
                </a:solidFill>
                <a:latin typeface="Arial" panose="020B0604020202020204" pitchFamily="34" charset="0"/>
              </a:endParaRPr>
            </a:p>
          </p:txBody>
        </p:sp>
        <p:grpSp>
          <p:nvGrpSpPr>
            <p:cNvPr id="12350" name="Group 62">
              <a:extLst>
                <a:ext uri="{FF2B5EF4-FFF2-40B4-BE49-F238E27FC236}">
                  <a16:creationId xmlns:a16="http://schemas.microsoft.com/office/drawing/2014/main" id="{03477D4A-465C-40E1-A93B-F12451B08E32}"/>
                </a:ext>
              </a:extLst>
            </p:cNvPr>
            <p:cNvGrpSpPr>
              <a:grpSpLocks/>
            </p:cNvGrpSpPr>
            <p:nvPr/>
          </p:nvGrpSpPr>
          <p:grpSpPr bwMode="auto">
            <a:xfrm>
              <a:off x="4178199" y="2408583"/>
              <a:ext cx="1031876" cy="427037"/>
              <a:chOff x="2790" y="1275"/>
              <a:chExt cx="650" cy="269"/>
            </a:xfrm>
          </p:grpSpPr>
          <p:sp>
            <p:nvSpPr>
              <p:cNvPr id="541701" name="Line 5">
                <a:extLst>
                  <a:ext uri="{FF2B5EF4-FFF2-40B4-BE49-F238E27FC236}">
                    <a16:creationId xmlns:a16="http://schemas.microsoft.com/office/drawing/2014/main" id="{2EB3DED4-2122-4172-AA89-179D95760ADA}"/>
                  </a:ext>
                </a:extLst>
              </p:cNvPr>
              <p:cNvSpPr>
                <a:spLocks noChangeShapeType="1"/>
              </p:cNvSpPr>
              <p:nvPr/>
            </p:nvSpPr>
            <p:spPr bwMode="auto">
              <a:xfrm flipH="1" flipV="1">
                <a:off x="2790" y="1521"/>
                <a:ext cx="467" cy="2"/>
              </a:xfrm>
              <a:prstGeom prst="line">
                <a:avLst/>
              </a:prstGeom>
              <a:noFill/>
              <a:ln w="15875">
                <a:solidFill>
                  <a:srgbClr val="C0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2349" name="Group 61">
                <a:extLst>
                  <a:ext uri="{FF2B5EF4-FFF2-40B4-BE49-F238E27FC236}">
                    <a16:creationId xmlns:a16="http://schemas.microsoft.com/office/drawing/2014/main" id="{CC399625-DA20-4A4A-BB8B-4EE531094131}"/>
                  </a:ext>
                </a:extLst>
              </p:cNvPr>
              <p:cNvGrpSpPr>
                <a:grpSpLocks/>
              </p:cNvGrpSpPr>
              <p:nvPr/>
            </p:nvGrpSpPr>
            <p:grpSpPr bwMode="auto">
              <a:xfrm>
                <a:off x="3233" y="1275"/>
                <a:ext cx="207" cy="269"/>
                <a:chOff x="3233" y="1281"/>
                <a:chExt cx="207" cy="269"/>
              </a:xfrm>
            </p:grpSpPr>
            <p:sp>
              <p:nvSpPr>
                <p:cNvPr id="12341" name="Oval 39">
                  <a:extLst>
                    <a:ext uri="{FF2B5EF4-FFF2-40B4-BE49-F238E27FC236}">
                      <a16:creationId xmlns:a16="http://schemas.microsoft.com/office/drawing/2014/main" id="{F2EF1437-8729-4C21-A934-D7F795BE3AEE}"/>
                    </a:ext>
                  </a:extLst>
                </p:cNvPr>
                <p:cNvSpPr>
                  <a:spLocks noChangeArrowheads="1"/>
                </p:cNvSpPr>
                <p:nvPr/>
              </p:nvSpPr>
              <p:spPr bwMode="auto">
                <a:xfrm>
                  <a:off x="3233" y="1485"/>
                  <a:ext cx="65" cy="65"/>
                </a:xfrm>
                <a:prstGeom prst="ellipse">
                  <a:avLst/>
                </a:prstGeom>
                <a:solidFill>
                  <a:srgbClr val="FFCCCC"/>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SzPct val="100000"/>
                    <a:buChar char="•"/>
                    <a:defRPr sz="3200">
                      <a:solidFill>
                        <a:schemeClr val="tx1"/>
                      </a:solidFill>
                      <a:latin typeface="Arial" panose="020B0604020202020204" pitchFamily="34" charset="0"/>
                    </a:defRPr>
                  </a:lvl1pPr>
                  <a:lvl2pPr marL="742950" indent="-285750" algn="l">
                    <a:spcBef>
                      <a:spcPct val="20000"/>
                    </a:spcBef>
                    <a:buSzPct val="100000"/>
                    <a:buChar char="–"/>
                    <a:defRPr sz="2800">
                      <a:solidFill>
                        <a:schemeClr val="tx1"/>
                      </a:solidFill>
                      <a:latin typeface="Arial" panose="020B0604020202020204" pitchFamily="34" charset="0"/>
                    </a:defRPr>
                  </a:lvl2pPr>
                  <a:lvl3pPr marL="1143000" indent="-228600" algn="l">
                    <a:spcBef>
                      <a:spcPct val="20000"/>
                    </a:spcBef>
                    <a:buSzPct val="100000"/>
                    <a:buChar char="•"/>
                    <a:defRPr sz="2400">
                      <a:solidFill>
                        <a:schemeClr val="tx1"/>
                      </a:solidFill>
                      <a:latin typeface="Arial" panose="020B0604020202020204" pitchFamily="34" charset="0"/>
                    </a:defRPr>
                  </a:lvl3pPr>
                  <a:lvl4pPr marL="1600200" indent="-228600" algn="l">
                    <a:spcBef>
                      <a:spcPct val="20000"/>
                    </a:spcBef>
                    <a:buSzPct val="100000"/>
                    <a:buChar char="–"/>
                    <a:defRPr sz="2000">
                      <a:solidFill>
                        <a:schemeClr val="tx1"/>
                      </a:solidFill>
                      <a:latin typeface="Arial" panose="020B0604020202020204" pitchFamily="34" charset="0"/>
                    </a:defRPr>
                  </a:lvl4pPr>
                  <a:lvl5pPr marL="2057400" indent="-228600" algn="l">
                    <a:spcBef>
                      <a:spcPct val="20000"/>
                    </a:spcBef>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defRPr>
                  </a:lvl9pPr>
                </a:lstStyle>
                <a:p>
                  <a:pPr>
                    <a:spcBef>
                      <a:spcPct val="0"/>
                    </a:spcBef>
                    <a:buSzTx/>
                    <a:buFontTx/>
                    <a:buNone/>
                  </a:pPr>
                  <a:endParaRPr lang="en-US" altLang="en-US" sz="3000">
                    <a:latin typeface="Times New Roman" panose="02020603050405020304" pitchFamily="18" charset="0"/>
                  </a:endParaRPr>
                </a:p>
              </p:txBody>
            </p:sp>
            <p:sp>
              <p:nvSpPr>
                <p:cNvPr id="12342" name="Rectangle 40">
                  <a:extLst>
                    <a:ext uri="{FF2B5EF4-FFF2-40B4-BE49-F238E27FC236}">
                      <a16:creationId xmlns:a16="http://schemas.microsoft.com/office/drawing/2014/main" id="{0E198F6F-7009-4EDE-9E4E-9F685D0B67F5}"/>
                    </a:ext>
                  </a:extLst>
                </p:cNvPr>
                <p:cNvSpPr>
                  <a:spLocks noChangeArrowheads="1"/>
                </p:cNvSpPr>
                <p:nvPr/>
              </p:nvSpPr>
              <p:spPr bwMode="auto">
                <a:xfrm>
                  <a:off x="3233" y="1281"/>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spcBef>
                      <a:spcPct val="20000"/>
                    </a:spcBef>
                    <a:buSzPct val="100000"/>
                    <a:buChar char="•"/>
                    <a:defRPr sz="3200">
                      <a:solidFill>
                        <a:schemeClr val="tx1"/>
                      </a:solidFill>
                      <a:latin typeface="Arial" panose="020B0604020202020204" pitchFamily="34" charset="0"/>
                    </a:defRPr>
                  </a:lvl1pPr>
                  <a:lvl2pPr marL="742950" indent="-285750" algn="l" defTabSz="762000">
                    <a:spcBef>
                      <a:spcPct val="20000"/>
                    </a:spcBef>
                    <a:buSzPct val="100000"/>
                    <a:buChar char="–"/>
                    <a:defRPr sz="2800">
                      <a:solidFill>
                        <a:schemeClr val="tx1"/>
                      </a:solidFill>
                      <a:latin typeface="Arial" panose="020B0604020202020204" pitchFamily="34" charset="0"/>
                    </a:defRPr>
                  </a:lvl2pPr>
                  <a:lvl3pPr marL="1143000" indent="-228600" algn="l" defTabSz="762000">
                    <a:spcBef>
                      <a:spcPct val="20000"/>
                    </a:spcBef>
                    <a:buSzPct val="100000"/>
                    <a:buChar char="•"/>
                    <a:defRPr sz="2400">
                      <a:solidFill>
                        <a:schemeClr val="tx1"/>
                      </a:solidFill>
                      <a:latin typeface="Arial" panose="020B0604020202020204" pitchFamily="34" charset="0"/>
                    </a:defRPr>
                  </a:lvl3pPr>
                  <a:lvl4pPr marL="1600200" indent="-228600" algn="l" defTabSz="762000">
                    <a:spcBef>
                      <a:spcPct val="20000"/>
                    </a:spcBef>
                    <a:buSzPct val="100000"/>
                    <a:buChar char="–"/>
                    <a:defRPr sz="2000">
                      <a:solidFill>
                        <a:schemeClr val="tx1"/>
                      </a:solidFill>
                      <a:latin typeface="Arial" panose="020B0604020202020204" pitchFamily="34" charset="0"/>
                    </a:defRPr>
                  </a:lvl4pPr>
                  <a:lvl5pPr marL="2057400" indent="-228600" algn="l" defTabSz="762000">
                    <a:spcBef>
                      <a:spcPct val="20000"/>
                    </a:spcBef>
                    <a:buSzPct val="100000"/>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100000"/>
                    <a:buChar char="•"/>
                    <a:defRPr sz="2000">
                      <a:solidFill>
                        <a:schemeClr val="tx1"/>
                      </a:solidFill>
                      <a:latin typeface="Arial" panose="020B0604020202020204" pitchFamily="34" charset="0"/>
                    </a:defRPr>
                  </a:lvl9pPr>
                </a:lstStyle>
                <a:p>
                  <a:pPr algn="ctr">
                    <a:spcBef>
                      <a:spcPct val="0"/>
                    </a:spcBef>
                    <a:buSzTx/>
                    <a:buFontTx/>
                    <a:buNone/>
                  </a:pPr>
                  <a:r>
                    <a:rPr lang="en-GB" altLang="en-US" sz="2000" i="1">
                      <a:solidFill>
                        <a:schemeClr val="accent2"/>
                      </a:solidFill>
                    </a:rPr>
                    <a:t>e</a:t>
                  </a:r>
                </a:p>
              </p:txBody>
            </p:sp>
          </p:grpSp>
        </p:grpSp>
      </p:grpSp>
      <p:sp>
        <p:nvSpPr>
          <p:cNvPr id="48" name="Rectangle 58">
            <a:extLst>
              <a:ext uri="{FF2B5EF4-FFF2-40B4-BE49-F238E27FC236}">
                <a16:creationId xmlns:a16="http://schemas.microsoft.com/office/drawing/2014/main" id="{512EDB06-6459-43B2-A817-DDDF09E2F5CD}"/>
              </a:ext>
            </a:extLst>
          </p:cNvPr>
          <p:cNvSpPr txBox="1">
            <a:spLocks noChangeArrowheads="1"/>
          </p:cNvSpPr>
          <p:nvPr/>
        </p:nvSpPr>
        <p:spPr>
          <a:xfrm>
            <a:off x="-1" y="-1"/>
            <a:ext cx="12192001" cy="988583"/>
          </a:xfrm>
          <a:prstGeom prst="rect">
            <a:avLst/>
          </a:prstGeom>
          <a:noFill/>
          <a:ln/>
          <a:effectLst>
            <a:outerShdw dist="17961" dir="2700000" algn="ctr" rotWithShape="0">
              <a:schemeClr val="bg2"/>
            </a:outerShdw>
          </a:effectLst>
        </p:spPr>
        <p:txBody>
          <a:bodyPr anchor="b" anchorCtr="0"/>
          <a:lstStyle>
            <a:lvl1pPr algn="ctr" rtl="0" eaLnBrk="1" fontAlgn="base" hangingPunct="1">
              <a:spcBef>
                <a:spcPct val="0"/>
              </a:spcBef>
              <a:spcAft>
                <a:spcPct val="0"/>
              </a:spcAft>
              <a:defRPr sz="3800" kern="1200">
                <a:solidFill>
                  <a:srgbClr val="000066"/>
                </a:solidFill>
                <a:latin typeface="+mj-lt"/>
                <a:ea typeface="+mj-ea"/>
                <a:cs typeface="+mj-cs"/>
              </a:defRPr>
            </a:lvl1pPr>
            <a:lvl2pPr algn="ctr" rtl="0" eaLnBrk="1" fontAlgn="base" hangingPunct="1">
              <a:spcBef>
                <a:spcPct val="0"/>
              </a:spcBef>
              <a:spcAft>
                <a:spcPct val="0"/>
              </a:spcAft>
              <a:defRPr sz="3800">
                <a:solidFill>
                  <a:srgbClr val="000066"/>
                </a:solidFill>
                <a:latin typeface="Arial" panose="020B0604020202020204" pitchFamily="34" charset="0"/>
              </a:defRPr>
            </a:lvl2pPr>
            <a:lvl3pPr algn="ctr" rtl="0" eaLnBrk="1" fontAlgn="base" hangingPunct="1">
              <a:spcBef>
                <a:spcPct val="0"/>
              </a:spcBef>
              <a:spcAft>
                <a:spcPct val="0"/>
              </a:spcAft>
              <a:defRPr sz="3800">
                <a:solidFill>
                  <a:srgbClr val="000066"/>
                </a:solidFill>
                <a:latin typeface="Arial" panose="020B0604020202020204" pitchFamily="34" charset="0"/>
              </a:defRPr>
            </a:lvl3pPr>
            <a:lvl4pPr algn="ctr" rtl="0" eaLnBrk="1" fontAlgn="base" hangingPunct="1">
              <a:spcBef>
                <a:spcPct val="0"/>
              </a:spcBef>
              <a:spcAft>
                <a:spcPct val="0"/>
              </a:spcAft>
              <a:defRPr sz="3800">
                <a:solidFill>
                  <a:srgbClr val="000066"/>
                </a:solidFill>
                <a:latin typeface="Arial" panose="020B0604020202020204" pitchFamily="34" charset="0"/>
              </a:defRPr>
            </a:lvl4pPr>
            <a:lvl5pPr algn="ctr" rtl="0" eaLnBrk="1" fontAlgn="base" hangingPunct="1">
              <a:spcBef>
                <a:spcPct val="0"/>
              </a:spcBef>
              <a:spcAft>
                <a:spcPct val="0"/>
              </a:spcAft>
              <a:defRPr sz="3800">
                <a:solidFill>
                  <a:srgbClr val="000066"/>
                </a:solidFill>
                <a:latin typeface="Arial" panose="020B0604020202020204" pitchFamily="34" charset="0"/>
              </a:defRPr>
            </a:lvl5pPr>
            <a:lvl6pPr marL="457200" algn="ctr" rtl="0" eaLnBrk="1" fontAlgn="base" hangingPunct="1">
              <a:spcBef>
                <a:spcPct val="0"/>
              </a:spcBef>
              <a:spcAft>
                <a:spcPct val="0"/>
              </a:spcAft>
              <a:defRPr sz="3800">
                <a:solidFill>
                  <a:srgbClr val="000066"/>
                </a:solidFill>
                <a:latin typeface="Arial" panose="020B0604020202020204" pitchFamily="34" charset="0"/>
              </a:defRPr>
            </a:lvl6pPr>
            <a:lvl7pPr marL="914400" algn="ctr" rtl="0" eaLnBrk="1" fontAlgn="base" hangingPunct="1">
              <a:spcBef>
                <a:spcPct val="0"/>
              </a:spcBef>
              <a:spcAft>
                <a:spcPct val="0"/>
              </a:spcAft>
              <a:defRPr sz="3800">
                <a:solidFill>
                  <a:srgbClr val="000066"/>
                </a:solidFill>
                <a:latin typeface="Arial" panose="020B0604020202020204" pitchFamily="34" charset="0"/>
              </a:defRPr>
            </a:lvl7pPr>
            <a:lvl8pPr marL="1371600" algn="ctr" rtl="0" eaLnBrk="1" fontAlgn="base" hangingPunct="1">
              <a:spcBef>
                <a:spcPct val="0"/>
              </a:spcBef>
              <a:spcAft>
                <a:spcPct val="0"/>
              </a:spcAft>
              <a:defRPr sz="3800">
                <a:solidFill>
                  <a:srgbClr val="000066"/>
                </a:solidFill>
                <a:latin typeface="Arial" panose="020B0604020202020204" pitchFamily="34" charset="0"/>
              </a:defRPr>
            </a:lvl8pPr>
            <a:lvl9pPr marL="1828800" algn="ctr" rtl="0" eaLnBrk="1" fontAlgn="base" hangingPunct="1">
              <a:spcBef>
                <a:spcPct val="0"/>
              </a:spcBef>
              <a:spcAft>
                <a:spcPct val="0"/>
              </a:spcAft>
              <a:defRPr sz="3800">
                <a:solidFill>
                  <a:srgbClr val="000066"/>
                </a:solidFill>
                <a:latin typeface="Arial" panose="020B0604020202020204" pitchFamily="34" charset="0"/>
              </a:defRPr>
            </a:lvl9pPr>
          </a:lstStyle>
          <a:p>
            <a:r>
              <a:rPr lang="en-GB" altLang="en-US" sz="4000" b="1">
                <a:solidFill>
                  <a:srgbClr val="660066"/>
                </a:solidFill>
              </a:rPr>
              <a:t>The risk premium </a:t>
            </a:r>
          </a:p>
        </p:txBody>
      </p:sp>
      <p:sp>
        <p:nvSpPr>
          <p:cNvPr id="49" name="Rectangle 7">
            <a:extLst>
              <a:ext uri="{FF2B5EF4-FFF2-40B4-BE49-F238E27FC236}">
                <a16:creationId xmlns:a16="http://schemas.microsoft.com/office/drawing/2014/main" id="{25B6C658-D13F-4EF2-BA41-3E21639973B8}"/>
              </a:ext>
            </a:extLst>
          </p:cNvPr>
          <p:cNvSpPr>
            <a:spLocks noChangeArrowheads="1"/>
          </p:cNvSpPr>
          <p:nvPr/>
        </p:nvSpPr>
        <p:spPr bwMode="auto">
          <a:xfrm>
            <a:off x="7203621" y="1820880"/>
            <a:ext cx="5969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a:solidFill>
                  <a:schemeClr val="tx2"/>
                </a:solidFill>
                <a:latin typeface="Arial" panose="020B0604020202020204" pitchFamily="34" charset="0"/>
              </a:rPr>
              <a:t>TU</a:t>
            </a:r>
          </a:p>
        </p:txBody>
      </p:sp>
      <p:sp>
        <p:nvSpPr>
          <p:cNvPr id="3" name="TextBox 2">
            <a:extLst>
              <a:ext uri="{FF2B5EF4-FFF2-40B4-BE49-F238E27FC236}">
                <a16:creationId xmlns:a16="http://schemas.microsoft.com/office/drawing/2014/main" id="{175067B7-B148-41CB-931D-BCABE2B414EF}"/>
              </a:ext>
            </a:extLst>
          </p:cNvPr>
          <p:cNvSpPr txBox="1"/>
          <p:nvPr/>
        </p:nvSpPr>
        <p:spPr>
          <a:xfrm>
            <a:off x="7758008" y="1284289"/>
            <a:ext cx="4433992" cy="4893647"/>
          </a:xfrm>
          <a:prstGeom prst="rect">
            <a:avLst/>
          </a:prstGeom>
          <a:noFill/>
        </p:spPr>
        <p:txBody>
          <a:bodyPr wrap="square" rtlCol="0">
            <a:spAutoFit/>
          </a:bodyPr>
          <a:lstStyle/>
          <a:p>
            <a:pPr marL="342900" indent="-342900">
              <a:buFont typeface="Arial" panose="020B0604020202020204" pitchFamily="34" charset="0"/>
              <a:buChar char="•"/>
            </a:pPr>
            <a:r>
              <a:rPr lang="en-GB" sz="2400"/>
              <a:t>In gamble, with probability 0.5, income is 5,000; with probability 0.5, income is 15,000</a:t>
            </a:r>
          </a:p>
          <a:p>
            <a:pPr marL="800100" lvl="1" indent="-342900">
              <a:buFont typeface="Arial" panose="020B0604020202020204" pitchFamily="34" charset="0"/>
              <a:buChar char="•"/>
            </a:pPr>
            <a:r>
              <a:rPr lang="en-GB" sz="2400"/>
              <a:t>Expected income 10,000</a:t>
            </a:r>
          </a:p>
          <a:p>
            <a:pPr marL="800100" lvl="1" indent="-342900">
              <a:buFont typeface="Arial" panose="020B0604020202020204" pitchFamily="34" charset="0"/>
              <a:buChar char="•"/>
            </a:pPr>
            <a:r>
              <a:rPr lang="en-GB" sz="2400"/>
              <a:t>Expected utility 93</a:t>
            </a:r>
          </a:p>
          <a:p>
            <a:pPr marL="342900" indent="-342900">
              <a:buFont typeface="Arial" panose="020B0604020202020204" pitchFamily="34" charset="0"/>
              <a:buChar char="•"/>
            </a:pPr>
            <a:r>
              <a:rPr lang="en-GB" sz="2400"/>
              <a:t>Certainty equivalent 8,000</a:t>
            </a:r>
          </a:p>
          <a:p>
            <a:pPr marL="800100" lvl="1" indent="-342900">
              <a:buFont typeface="Arial" panose="020B0604020202020204" pitchFamily="34" charset="0"/>
              <a:buChar char="•"/>
            </a:pPr>
            <a:r>
              <a:rPr lang="en-GB" sz="2400"/>
              <a:t>Total utility 93</a:t>
            </a:r>
          </a:p>
          <a:p>
            <a:pPr marL="342900" indent="-342900">
              <a:buFont typeface="Arial" panose="020B0604020202020204" pitchFamily="34" charset="0"/>
              <a:buChar char="•"/>
            </a:pPr>
            <a:r>
              <a:rPr lang="en-GB" sz="2400"/>
              <a:t>Willing to sell participation in gamble for 8,000</a:t>
            </a:r>
          </a:p>
          <a:p>
            <a:pPr marL="342900" indent="-342900">
              <a:buFont typeface="Arial" panose="020B0604020202020204" pitchFamily="34" charset="0"/>
              <a:buChar char="•"/>
            </a:pPr>
            <a:r>
              <a:rPr lang="en-GB" sz="2400"/>
              <a:t>Risk premium, 2,000: (expected wealth less certainty equivalent)</a:t>
            </a:r>
          </a:p>
        </p:txBody>
      </p:sp>
      <p:grpSp>
        <p:nvGrpSpPr>
          <p:cNvPr id="7" name="Group 6">
            <a:extLst>
              <a:ext uri="{FF2B5EF4-FFF2-40B4-BE49-F238E27FC236}">
                <a16:creationId xmlns:a16="http://schemas.microsoft.com/office/drawing/2014/main" id="{157B5092-734B-45A7-AD64-23B7BCB310E2}"/>
              </a:ext>
            </a:extLst>
          </p:cNvPr>
          <p:cNvGrpSpPr/>
          <p:nvPr/>
        </p:nvGrpSpPr>
        <p:grpSpPr>
          <a:xfrm>
            <a:off x="4183165" y="3824564"/>
            <a:ext cx="2168982" cy="645836"/>
            <a:chOff x="4183165" y="3824564"/>
            <a:chExt cx="2168982" cy="645836"/>
          </a:xfrm>
        </p:grpSpPr>
        <p:cxnSp>
          <p:nvCxnSpPr>
            <p:cNvPr id="5" name="Straight Arrow Connector 4">
              <a:extLst>
                <a:ext uri="{FF2B5EF4-FFF2-40B4-BE49-F238E27FC236}">
                  <a16:creationId xmlns:a16="http://schemas.microsoft.com/office/drawing/2014/main" id="{C80A310A-C830-467D-A2FD-EF13CEDAFF9D}"/>
                </a:ext>
              </a:extLst>
            </p:cNvPr>
            <p:cNvCxnSpPr/>
            <p:nvPr/>
          </p:nvCxnSpPr>
          <p:spPr bwMode="auto">
            <a:xfrm>
              <a:off x="4183165" y="4470400"/>
              <a:ext cx="752270" cy="0"/>
            </a:xfrm>
            <a:prstGeom prst="straightConnector1">
              <a:avLst/>
            </a:prstGeom>
            <a:solidFill>
              <a:schemeClr val="bg1"/>
            </a:solidFill>
            <a:ln w="38100" cap="flat" cmpd="sng" algn="ctr">
              <a:solidFill>
                <a:schemeClr val="tx2">
                  <a:lumMod val="75000"/>
                </a:schemeClr>
              </a:solidFill>
              <a:prstDash val="solid"/>
              <a:miter lim="800000"/>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Rectangle 7">
              <a:extLst>
                <a:ext uri="{FF2B5EF4-FFF2-40B4-BE49-F238E27FC236}">
                  <a16:creationId xmlns:a16="http://schemas.microsoft.com/office/drawing/2014/main" id="{A0D30B87-F4F1-4A54-B343-80A8FE68F357}"/>
                </a:ext>
              </a:extLst>
            </p:cNvPr>
            <p:cNvSpPr>
              <a:spLocks noChangeArrowheads="1"/>
            </p:cNvSpPr>
            <p:nvPr/>
          </p:nvSpPr>
          <p:spPr bwMode="auto">
            <a:xfrm>
              <a:off x="4249007" y="3824564"/>
              <a:ext cx="210314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i="1">
                  <a:solidFill>
                    <a:schemeClr val="tx2"/>
                  </a:solidFill>
                  <a:latin typeface="Arial" panose="020B0604020202020204" pitchFamily="34" charset="0"/>
                </a:rPr>
                <a:t>Risk Premium</a:t>
              </a:r>
            </a:p>
          </p:txBody>
        </p:sp>
      </p:grpSp>
    </p:spTree>
    <p:extLst>
      <p:ext uri="{BB962C8B-B14F-4D97-AF65-F5344CB8AC3E}">
        <p14:creationId xmlns:p14="http://schemas.microsoft.com/office/powerpoint/2010/main" val="33909980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anim calcmode="lin" valueType="num">
                                      <p:cBhvr>
                                        <p:cTn id="16" dur="1000" fill="hold"/>
                                        <p:tgtEl>
                                          <p:spTgt spid="11"/>
                                        </p:tgtEl>
                                        <p:attrNameLst>
                                          <p:attrName>ppt_x</p:attrName>
                                        </p:attrNameLst>
                                      </p:cBhvr>
                                      <p:tavLst>
                                        <p:tav tm="0">
                                          <p:val>
                                            <p:strVal val="#ppt_x"/>
                                          </p:val>
                                        </p:tav>
                                        <p:tav tm="100000">
                                          <p:val>
                                            <p:strVal val="#ppt_x"/>
                                          </p:val>
                                        </p:tav>
                                      </p:tavLst>
                                    </p:anim>
                                    <p:anim calcmode="lin" valueType="num">
                                      <p:cBhvr>
                                        <p:cTn id="17" dur="1000" fill="hold"/>
                                        <p:tgtEl>
                                          <p:spTgt spid="11"/>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22" presetClass="entr" presetSubtype="4" fill="hold" nodeType="afterEffect">
                                  <p:stCondLst>
                                    <p:cond delay="100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wipe(down)">
                                      <p:cBhvr>
                                        <p:cTn id="21" dur="500"/>
                                        <p:tgtEl>
                                          <p:spTgt spid="3">
                                            <p:txEl>
                                              <p:pRg st="1" end="1"/>
                                            </p:txEl>
                                          </p:spTgt>
                                        </p:tgtEl>
                                      </p:cBhvr>
                                    </p:animEffect>
                                  </p:childTnLst>
                                </p:cTn>
                              </p:par>
                              <p:par>
                                <p:cTn id="22" presetID="22" presetClass="entr" presetSubtype="4" fill="hold" nodeType="withEffect">
                                  <p:stCondLst>
                                    <p:cond delay="150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ipe(down)">
                                      <p:cBhvr>
                                        <p:cTn id="24" dur="500"/>
                                        <p:tgtEl>
                                          <p:spTgt spid="3">
                                            <p:txEl>
                                              <p:pRg st="2" end="2"/>
                                            </p:txEl>
                                          </p:spTgt>
                                        </p:tgtEl>
                                      </p:cBhvr>
                                    </p:animEffect>
                                  </p:childTnLst>
                                </p:cTn>
                              </p:par>
                            </p:childTnLst>
                          </p:cTn>
                        </p:par>
                        <p:par>
                          <p:cTn id="25" fill="hold">
                            <p:stCondLst>
                              <p:cond delay="3000"/>
                            </p:stCondLst>
                            <p:childTnLst>
                              <p:par>
                                <p:cTn id="26" presetID="42" presetClass="entr" presetSubtype="0"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22" presetClass="entr" presetSubtype="4" fill="hold" nodeType="afterEffect">
                                  <p:stCondLst>
                                    <p:cond delay="50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down)">
                                      <p:cBhvr>
                                        <p:cTn id="34" dur="500"/>
                                        <p:tgtEl>
                                          <p:spTgt spid="3">
                                            <p:txEl>
                                              <p:pRg st="3" end="3"/>
                                            </p:txEl>
                                          </p:spTgt>
                                        </p:tgtEl>
                                      </p:cBhvr>
                                    </p:animEffect>
                                  </p:childTnLst>
                                </p:cTn>
                              </p:par>
                            </p:childTnLst>
                          </p:cTn>
                        </p:par>
                        <p:par>
                          <p:cTn id="35" fill="hold">
                            <p:stCondLst>
                              <p:cond delay="5000"/>
                            </p:stCondLst>
                            <p:childTnLst>
                              <p:par>
                                <p:cTn id="36" presetID="22" presetClass="entr" presetSubtype="4" fill="hold" nodeType="afterEffect">
                                  <p:stCondLst>
                                    <p:cond delay="50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wipe(down)">
                                      <p:cBhvr>
                                        <p:cTn id="38" dur="500"/>
                                        <p:tgtEl>
                                          <p:spTgt spid="3">
                                            <p:txEl>
                                              <p:pRg st="4" end="4"/>
                                            </p:txEl>
                                          </p:spTgt>
                                        </p:tgtEl>
                                      </p:cBhvr>
                                    </p:animEffect>
                                  </p:childTnLst>
                                </p:cTn>
                              </p:par>
                            </p:childTnLst>
                          </p:cTn>
                        </p:par>
                        <p:par>
                          <p:cTn id="39" fill="hold">
                            <p:stCondLst>
                              <p:cond delay="6000"/>
                            </p:stCondLst>
                            <p:childTnLst>
                              <p:par>
                                <p:cTn id="40" presetID="42" presetClass="entr" presetSubtype="0" fill="hold" nodeType="afterEffect">
                                  <p:stCondLst>
                                    <p:cond delay="50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par>
                          <p:cTn id="45" fill="hold">
                            <p:stCondLst>
                              <p:cond delay="7500"/>
                            </p:stCondLst>
                            <p:childTnLst>
                              <p:par>
                                <p:cTn id="46" presetID="16" presetClass="entr" presetSubtype="21" fill="hold" nodeType="afterEffect">
                                  <p:stCondLst>
                                    <p:cond delay="150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barn(inVertical)">
                                      <p:cBhvr>
                                        <p:cTn id="48" dur="500"/>
                                        <p:tgtEl>
                                          <p:spTgt spid="3">
                                            <p:txEl>
                                              <p:pRg st="5" end="5"/>
                                            </p:txEl>
                                          </p:spTgt>
                                        </p:tgtEl>
                                      </p:cBhvr>
                                    </p:animEffect>
                                  </p:childTnLst>
                                </p:cTn>
                              </p:par>
                            </p:childTnLst>
                          </p:cTn>
                        </p:par>
                        <p:par>
                          <p:cTn id="49" fill="hold">
                            <p:stCondLst>
                              <p:cond delay="9500"/>
                            </p:stCondLst>
                            <p:childTnLst>
                              <p:par>
                                <p:cTn id="50" presetID="16" presetClass="entr" presetSubtype="21" fill="hold" nodeType="afterEffect">
                                  <p:stCondLst>
                                    <p:cond delay="150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barn(inVertical)">
                                      <p:cBhvr>
                                        <p:cTn id="52" dur="500"/>
                                        <p:tgtEl>
                                          <p:spTgt spid="3">
                                            <p:txEl>
                                              <p:pRg st="6" end="6"/>
                                            </p:txEl>
                                          </p:spTgt>
                                        </p:tgtEl>
                                      </p:cBhvr>
                                    </p:animEffect>
                                  </p:childTnLst>
                                </p:cTn>
                              </p:par>
                            </p:childTnLst>
                          </p:cTn>
                        </p:par>
                        <p:par>
                          <p:cTn id="53" fill="hold">
                            <p:stCondLst>
                              <p:cond delay="11500"/>
                            </p:stCondLst>
                            <p:childTnLst>
                              <p:par>
                                <p:cTn id="54" presetID="42" presetClass="entr" presetSubtype="0" fill="hold" nodeType="afterEffect">
                                  <p:stCondLst>
                                    <p:cond delay="150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1000"/>
                                        <p:tgtEl>
                                          <p:spTgt spid="7"/>
                                        </p:tgtEl>
                                      </p:cBhvr>
                                    </p:animEffect>
                                    <p:anim calcmode="lin" valueType="num">
                                      <p:cBhvr>
                                        <p:cTn id="57" dur="1000" fill="hold"/>
                                        <p:tgtEl>
                                          <p:spTgt spid="7"/>
                                        </p:tgtEl>
                                        <p:attrNameLst>
                                          <p:attrName>ppt_x</p:attrName>
                                        </p:attrNameLst>
                                      </p:cBhvr>
                                      <p:tavLst>
                                        <p:tav tm="0">
                                          <p:val>
                                            <p:strVal val="#ppt_x"/>
                                          </p:val>
                                        </p:tav>
                                        <p:tav tm="100000">
                                          <p:val>
                                            <p:strVal val="#ppt_x"/>
                                          </p:val>
                                        </p:tav>
                                      </p:tavLst>
                                    </p:anim>
                                    <p:anim calcmode="lin" valueType="num">
                                      <p:cBhvr>
                                        <p:cTn id="5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909135-9424-4DEE-877B-29E8186EB62F}"/>
              </a:ext>
            </a:extLst>
          </p:cNvPr>
          <p:cNvSpPr>
            <a:spLocks noGrp="1"/>
          </p:cNvSpPr>
          <p:nvPr>
            <p:ph type="title"/>
          </p:nvPr>
        </p:nvSpPr>
        <p:spPr/>
        <p:txBody>
          <a:bodyPr/>
          <a:lstStyle/>
          <a:p>
            <a:r>
              <a:rPr lang="en-GB"/>
              <a:t>What we do</a:t>
            </a:r>
          </a:p>
        </p:txBody>
      </p:sp>
      <p:sp>
        <p:nvSpPr>
          <p:cNvPr id="5" name="Content Placeholder 4">
            <a:extLst>
              <a:ext uri="{FF2B5EF4-FFF2-40B4-BE49-F238E27FC236}">
                <a16:creationId xmlns:a16="http://schemas.microsoft.com/office/drawing/2014/main" id="{0332BA07-040B-4146-A06F-548C254D7974}"/>
              </a:ext>
            </a:extLst>
          </p:cNvPr>
          <p:cNvSpPr>
            <a:spLocks noGrp="1"/>
          </p:cNvSpPr>
          <p:nvPr>
            <p:ph idx="1"/>
          </p:nvPr>
        </p:nvSpPr>
        <p:spPr/>
        <p:txBody>
          <a:bodyPr/>
          <a:lstStyle/>
          <a:p>
            <a:r>
              <a:rPr lang="en-GB"/>
              <a:t>Continue thinking about risk – turn attention to insurance</a:t>
            </a:r>
          </a:p>
          <a:p>
            <a:pPr lvl="1"/>
            <a:r>
              <a:rPr lang="en-GB"/>
              <a:t>Discuss nature of insurance contract: premium and </a:t>
            </a:r>
            <a:r>
              <a:rPr lang="en-GB" err="1"/>
              <a:t>payouts</a:t>
            </a:r>
            <a:endParaRPr lang="en-GB"/>
          </a:p>
          <a:p>
            <a:pPr lvl="1"/>
            <a:r>
              <a:rPr lang="en-GB"/>
              <a:t>Consider the importance of individual risk pricing</a:t>
            </a:r>
          </a:p>
          <a:p>
            <a:pPr lvl="2"/>
            <a:r>
              <a:rPr lang="en-GB"/>
              <a:t>Introduce </a:t>
            </a:r>
            <a:r>
              <a:rPr lang="en-GB" b="1" i="1"/>
              <a:t>adverse selection </a:t>
            </a:r>
            <a:r>
              <a:rPr lang="en-GB"/>
              <a:t>as problem in which low risk consumers will not buy insurance</a:t>
            </a:r>
          </a:p>
          <a:p>
            <a:pPr lvl="2"/>
            <a:r>
              <a:rPr lang="en-GB"/>
              <a:t>Discuss </a:t>
            </a:r>
            <a:r>
              <a:rPr lang="en-GB" b="1" i="1"/>
              <a:t>signalling</a:t>
            </a:r>
            <a:r>
              <a:rPr lang="en-GB" b="1"/>
              <a:t> </a:t>
            </a:r>
            <a:r>
              <a:rPr lang="en-GB"/>
              <a:t>and </a:t>
            </a:r>
            <a:r>
              <a:rPr lang="en-GB" b="1" i="1"/>
              <a:t>screening </a:t>
            </a:r>
            <a:r>
              <a:rPr lang="en-GB"/>
              <a:t>as potential remedies</a:t>
            </a:r>
          </a:p>
          <a:p>
            <a:pPr lvl="1"/>
            <a:r>
              <a:rPr lang="en-GB"/>
              <a:t>Also note problem of </a:t>
            </a:r>
            <a:r>
              <a:rPr lang="en-GB" b="1" i="1"/>
              <a:t>moral hazard</a:t>
            </a:r>
            <a:r>
              <a:rPr lang="en-GB"/>
              <a:t> – as behaviour changes because of risk transfer</a:t>
            </a:r>
            <a:endParaRPr lang="en-GB" b="1" i="1"/>
          </a:p>
          <a:p>
            <a:pPr lvl="2"/>
            <a:endParaRPr lang="en-GB"/>
          </a:p>
          <a:p>
            <a:pPr lvl="1"/>
            <a:endParaRPr lang="en-GB"/>
          </a:p>
          <a:p>
            <a:pPr lvl="1"/>
            <a:endParaRPr lang="en-GB"/>
          </a:p>
          <a:p>
            <a:pPr lvl="1"/>
            <a:endParaRPr lang="en-GB"/>
          </a:p>
        </p:txBody>
      </p:sp>
    </p:spTree>
    <p:extLst>
      <p:ext uri="{BB962C8B-B14F-4D97-AF65-F5344CB8AC3E}">
        <p14:creationId xmlns:p14="http://schemas.microsoft.com/office/powerpoint/2010/main" val="2399515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63A3B68E-A9A8-4124-BBDA-331F2F093E1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1" name="Rectangle 3">
            <a:extLst>
              <a:ext uri="{FF2B5EF4-FFF2-40B4-BE49-F238E27FC236}">
                <a16:creationId xmlns:a16="http://schemas.microsoft.com/office/drawing/2014/main" id="{95FC5DFB-EC2C-4B6A-87CD-428F703E0C3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6536" name="Rectangle 8">
            <a:extLst>
              <a:ext uri="{FF2B5EF4-FFF2-40B4-BE49-F238E27FC236}">
                <a16:creationId xmlns:a16="http://schemas.microsoft.com/office/drawing/2014/main" id="{B8C19F11-E08D-4F1D-AEB7-92DA69DE2D75}"/>
              </a:ext>
            </a:extLst>
          </p:cNvPr>
          <p:cNvSpPr>
            <a:spLocks noGrp="1"/>
          </p:cNvSpPr>
          <p:nvPr>
            <p:ph type="title"/>
          </p:nvPr>
        </p:nvSpPr>
        <p:spPr/>
        <p:txBody>
          <a:bodyPr/>
          <a:lstStyle/>
          <a:p>
            <a:pPr algn="l"/>
            <a:r>
              <a:rPr lang="en-GB" altLang="en-US"/>
              <a:t>The nature of insurance</a:t>
            </a:r>
          </a:p>
        </p:txBody>
      </p:sp>
      <p:sp>
        <p:nvSpPr>
          <p:cNvPr id="406537" name="Rectangle 9">
            <a:extLst>
              <a:ext uri="{FF2B5EF4-FFF2-40B4-BE49-F238E27FC236}">
                <a16:creationId xmlns:a16="http://schemas.microsoft.com/office/drawing/2014/main" id="{01CA66A2-B49E-45DF-98D1-9AED502DC06A}"/>
              </a:ext>
            </a:extLst>
          </p:cNvPr>
          <p:cNvSpPr>
            <a:spLocks noGrp="1"/>
          </p:cNvSpPr>
          <p:nvPr>
            <p:ph idx="1"/>
          </p:nvPr>
        </p:nvSpPr>
        <p:spPr/>
        <p:txBody>
          <a:bodyPr>
            <a:normAutofit/>
          </a:bodyPr>
          <a:lstStyle/>
          <a:p>
            <a:pPr>
              <a:spcBef>
                <a:spcPts val="500"/>
              </a:spcBef>
            </a:pPr>
            <a:r>
              <a:rPr lang="en-GB" altLang="en-US"/>
              <a:t>Risk averse people do not want to bear risks</a:t>
            </a:r>
          </a:p>
          <a:p>
            <a:pPr lvl="1">
              <a:spcBef>
                <a:spcPts val="500"/>
              </a:spcBef>
            </a:pPr>
            <a:r>
              <a:rPr lang="en-GB" altLang="en-US"/>
              <a:t>Willing to pay any sum up to their risk premium to avoid them</a:t>
            </a:r>
          </a:p>
          <a:p>
            <a:pPr lvl="1">
              <a:spcBef>
                <a:spcPts val="500"/>
              </a:spcBef>
            </a:pPr>
            <a:r>
              <a:rPr lang="en-GB" altLang="en-US"/>
              <a:t>Insurance contracts allow us to transfer cost of risks to insurance company</a:t>
            </a:r>
          </a:p>
          <a:p>
            <a:pPr>
              <a:spcBef>
                <a:spcPts val="500"/>
              </a:spcBef>
            </a:pPr>
            <a:r>
              <a:rPr lang="en-GB" altLang="en-US"/>
              <a:t>Types of insurance</a:t>
            </a:r>
          </a:p>
          <a:p>
            <a:pPr lvl="1">
              <a:spcBef>
                <a:spcPts val="500"/>
              </a:spcBef>
            </a:pPr>
            <a:r>
              <a:rPr lang="en-GB" altLang="en-US"/>
              <a:t>Flood insurance for houses</a:t>
            </a:r>
          </a:p>
          <a:p>
            <a:pPr lvl="1">
              <a:spcBef>
                <a:spcPts val="500"/>
              </a:spcBef>
            </a:pPr>
            <a:r>
              <a:rPr lang="en-GB" altLang="en-US"/>
              <a:t>Insurance against damage in accident for car (and liability for injury)</a:t>
            </a:r>
          </a:p>
          <a:p>
            <a:pPr lvl="1">
              <a:spcBef>
                <a:spcPts val="500"/>
              </a:spcBef>
            </a:pPr>
            <a:r>
              <a:rPr lang="en-GB" altLang="en-US"/>
              <a:t>Travel insurance in event of cancellation or loss while on holiday</a:t>
            </a:r>
          </a:p>
          <a:p>
            <a:pPr lvl="1">
              <a:spcBef>
                <a:spcPts val="500"/>
              </a:spcBef>
            </a:pPr>
            <a:r>
              <a:rPr lang="en-GB" altLang="en-US"/>
              <a:t>Health insurance allowing treatment in event of illness or injury</a:t>
            </a:r>
          </a:p>
          <a:p>
            <a:pPr>
              <a:spcBef>
                <a:spcPts val="500"/>
              </a:spcBef>
            </a:pPr>
            <a:r>
              <a:rPr lang="en-GB" altLang="en-US"/>
              <a:t>Simple contract</a:t>
            </a:r>
          </a:p>
          <a:p>
            <a:pPr lvl="1">
              <a:spcBef>
                <a:spcPts val="500"/>
              </a:spcBef>
            </a:pPr>
            <a:r>
              <a:rPr lang="en-GB" altLang="en-US"/>
              <a:t>A good state of the world, and a bad state (or more)</a:t>
            </a:r>
          </a:p>
          <a:p>
            <a:pPr lvl="1">
              <a:spcBef>
                <a:spcPts val="500"/>
              </a:spcBef>
            </a:pPr>
            <a:r>
              <a:rPr lang="en-GB" altLang="en-US"/>
              <a:t>Pay insurance premium before knowing state</a:t>
            </a:r>
          </a:p>
          <a:p>
            <a:pPr lvl="2">
              <a:spcBef>
                <a:spcPts val="500"/>
              </a:spcBef>
            </a:pPr>
            <a:r>
              <a:rPr lang="en-GB" altLang="en-US"/>
              <a:t>Insurer pays loss incurred if bad state occurs</a:t>
            </a:r>
          </a:p>
        </p:txBody>
      </p:sp>
    </p:spTree>
    <p:extLst>
      <p:ext uri="{BB962C8B-B14F-4D97-AF65-F5344CB8AC3E}">
        <p14:creationId xmlns:p14="http://schemas.microsoft.com/office/powerpoint/2010/main" val="405946391"/>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7">
                                            <p:txEl>
                                              <p:pRg st="0" end="0"/>
                                            </p:txEl>
                                          </p:spTgt>
                                        </p:tgtEl>
                                        <p:attrNameLst>
                                          <p:attrName>style.visibility</p:attrName>
                                        </p:attrNameLst>
                                      </p:cBhvr>
                                      <p:to>
                                        <p:strVal val="visible"/>
                                      </p:to>
                                    </p:set>
                                    <p:anim calcmode="lin" valueType="num">
                                      <p:cBhvr additive="base">
                                        <p:cTn id="7" dur="500"/>
                                        <p:tgtEl>
                                          <p:spTgt spid="40653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7">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406537">
                                            <p:txEl>
                                              <p:pRg st="1" end="1"/>
                                            </p:txEl>
                                          </p:spTgt>
                                        </p:tgtEl>
                                        <p:attrNameLst>
                                          <p:attrName>style.visibility</p:attrName>
                                        </p:attrNameLst>
                                      </p:cBhvr>
                                      <p:to>
                                        <p:strVal val="visible"/>
                                      </p:to>
                                    </p:set>
                                    <p:anim calcmode="lin" valueType="num">
                                      <p:cBhvr additive="base">
                                        <p:cTn id="11" dur="500"/>
                                        <p:tgtEl>
                                          <p:spTgt spid="406537">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406537">
                                            <p:txEl>
                                              <p:pRg st="1" end="1"/>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406537">
                                            <p:txEl>
                                              <p:pRg st="2" end="2"/>
                                            </p:txEl>
                                          </p:spTgt>
                                        </p:tgtEl>
                                        <p:attrNameLst>
                                          <p:attrName>style.visibility</p:attrName>
                                        </p:attrNameLst>
                                      </p:cBhvr>
                                      <p:to>
                                        <p:strVal val="visible"/>
                                      </p:to>
                                    </p:set>
                                    <p:anim calcmode="lin" valueType="num">
                                      <p:cBhvr additive="base">
                                        <p:cTn id="15" dur="500"/>
                                        <p:tgtEl>
                                          <p:spTgt spid="406537">
                                            <p:txEl>
                                              <p:pRg st="2" end="2"/>
                                            </p:txEl>
                                          </p:spTgt>
                                        </p:tgtEl>
                                        <p:attrNameLst>
                                          <p:attrName>ppt_y</p:attrName>
                                        </p:attrNameLst>
                                      </p:cBhvr>
                                      <p:tavLst>
                                        <p:tav tm="0">
                                          <p:val>
                                            <p:strVal val="#ppt_y+#ppt_h*1.125000"/>
                                          </p:val>
                                        </p:tav>
                                        <p:tav tm="100000">
                                          <p:val>
                                            <p:strVal val="#ppt_y"/>
                                          </p:val>
                                        </p:tav>
                                      </p:tavLst>
                                    </p:anim>
                                    <p:animEffect transition="in" filter="wipe(up)">
                                      <p:cBhvr>
                                        <p:cTn id="16" dur="500"/>
                                        <p:tgtEl>
                                          <p:spTgt spid="40653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406537">
                                            <p:txEl>
                                              <p:pRg st="3" end="3"/>
                                            </p:txEl>
                                          </p:spTgt>
                                        </p:tgtEl>
                                        <p:attrNameLst>
                                          <p:attrName>style.visibility</p:attrName>
                                        </p:attrNameLst>
                                      </p:cBhvr>
                                      <p:to>
                                        <p:strVal val="visible"/>
                                      </p:to>
                                    </p:set>
                                    <p:anim calcmode="lin" valueType="num">
                                      <p:cBhvr additive="base">
                                        <p:cTn id="21" dur="500"/>
                                        <p:tgtEl>
                                          <p:spTgt spid="406537">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06537">
                                            <p:txEl>
                                              <p:pRg st="3" end="3"/>
                                            </p:txEl>
                                          </p:spTgt>
                                        </p:tgtEl>
                                      </p:cBhvr>
                                    </p:animEffect>
                                  </p:childTnLst>
                                </p:cTn>
                              </p:par>
                            </p:childTnLst>
                          </p:cTn>
                        </p:par>
                        <p:par>
                          <p:cTn id="23" fill="hold">
                            <p:stCondLst>
                              <p:cond delay="500"/>
                            </p:stCondLst>
                            <p:childTnLst>
                              <p:par>
                                <p:cTn id="24" presetID="12" presetClass="entr" presetSubtype="4" fill="hold" grpId="0" nodeType="afterEffect">
                                  <p:stCondLst>
                                    <p:cond delay="0"/>
                                  </p:stCondLst>
                                  <p:childTnLst>
                                    <p:set>
                                      <p:cBhvr>
                                        <p:cTn id="25" dur="1" fill="hold">
                                          <p:stCondLst>
                                            <p:cond delay="0"/>
                                          </p:stCondLst>
                                        </p:cTn>
                                        <p:tgtEl>
                                          <p:spTgt spid="406537">
                                            <p:txEl>
                                              <p:pRg st="4" end="4"/>
                                            </p:txEl>
                                          </p:spTgt>
                                        </p:tgtEl>
                                        <p:attrNameLst>
                                          <p:attrName>style.visibility</p:attrName>
                                        </p:attrNameLst>
                                      </p:cBhvr>
                                      <p:to>
                                        <p:strVal val="visible"/>
                                      </p:to>
                                    </p:set>
                                    <p:anim calcmode="lin" valueType="num">
                                      <p:cBhvr additive="base">
                                        <p:cTn id="26" dur="500"/>
                                        <p:tgtEl>
                                          <p:spTgt spid="406537">
                                            <p:txEl>
                                              <p:pRg st="4" end="4"/>
                                            </p:txEl>
                                          </p:spTgt>
                                        </p:tgtEl>
                                        <p:attrNameLst>
                                          <p:attrName>ppt_y</p:attrName>
                                        </p:attrNameLst>
                                      </p:cBhvr>
                                      <p:tavLst>
                                        <p:tav tm="0">
                                          <p:val>
                                            <p:strVal val="#ppt_y+#ppt_h*1.125000"/>
                                          </p:val>
                                        </p:tav>
                                        <p:tav tm="100000">
                                          <p:val>
                                            <p:strVal val="#ppt_y"/>
                                          </p:val>
                                        </p:tav>
                                      </p:tavLst>
                                    </p:anim>
                                    <p:animEffect transition="in" filter="wipe(up)">
                                      <p:cBhvr>
                                        <p:cTn id="27" dur="500"/>
                                        <p:tgtEl>
                                          <p:spTgt spid="406537">
                                            <p:txEl>
                                              <p:pRg st="4" end="4"/>
                                            </p:txEl>
                                          </p:spTgt>
                                        </p:tgtEl>
                                      </p:cBhvr>
                                    </p:animEffect>
                                  </p:childTnLst>
                                </p:cTn>
                              </p:par>
                            </p:childTnLst>
                          </p:cTn>
                        </p:par>
                        <p:par>
                          <p:cTn id="28" fill="hold">
                            <p:stCondLst>
                              <p:cond delay="1000"/>
                            </p:stCondLst>
                            <p:childTnLst>
                              <p:par>
                                <p:cTn id="29" presetID="12" presetClass="entr" presetSubtype="4" fill="hold" grpId="0" nodeType="afterEffect">
                                  <p:stCondLst>
                                    <p:cond delay="0"/>
                                  </p:stCondLst>
                                  <p:childTnLst>
                                    <p:set>
                                      <p:cBhvr>
                                        <p:cTn id="30" dur="1" fill="hold">
                                          <p:stCondLst>
                                            <p:cond delay="0"/>
                                          </p:stCondLst>
                                        </p:cTn>
                                        <p:tgtEl>
                                          <p:spTgt spid="406537">
                                            <p:txEl>
                                              <p:pRg st="5" end="5"/>
                                            </p:txEl>
                                          </p:spTgt>
                                        </p:tgtEl>
                                        <p:attrNameLst>
                                          <p:attrName>style.visibility</p:attrName>
                                        </p:attrNameLst>
                                      </p:cBhvr>
                                      <p:to>
                                        <p:strVal val="visible"/>
                                      </p:to>
                                    </p:set>
                                    <p:anim calcmode="lin" valueType="num">
                                      <p:cBhvr additive="base">
                                        <p:cTn id="31" dur="500"/>
                                        <p:tgtEl>
                                          <p:spTgt spid="406537">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6537">
                                            <p:txEl>
                                              <p:pRg st="5" end="5"/>
                                            </p:txEl>
                                          </p:spTgt>
                                        </p:tgtEl>
                                      </p:cBhvr>
                                    </p:animEffect>
                                  </p:childTnLst>
                                </p:cTn>
                              </p:par>
                            </p:childTnLst>
                          </p:cTn>
                        </p:par>
                        <p:par>
                          <p:cTn id="33" fill="hold">
                            <p:stCondLst>
                              <p:cond delay="1500"/>
                            </p:stCondLst>
                            <p:childTnLst>
                              <p:par>
                                <p:cTn id="34" presetID="12" presetClass="entr" presetSubtype="4" fill="hold" grpId="0" nodeType="afterEffect">
                                  <p:stCondLst>
                                    <p:cond delay="0"/>
                                  </p:stCondLst>
                                  <p:childTnLst>
                                    <p:set>
                                      <p:cBhvr>
                                        <p:cTn id="35" dur="1" fill="hold">
                                          <p:stCondLst>
                                            <p:cond delay="0"/>
                                          </p:stCondLst>
                                        </p:cTn>
                                        <p:tgtEl>
                                          <p:spTgt spid="406537">
                                            <p:txEl>
                                              <p:pRg st="6" end="6"/>
                                            </p:txEl>
                                          </p:spTgt>
                                        </p:tgtEl>
                                        <p:attrNameLst>
                                          <p:attrName>style.visibility</p:attrName>
                                        </p:attrNameLst>
                                      </p:cBhvr>
                                      <p:to>
                                        <p:strVal val="visible"/>
                                      </p:to>
                                    </p:set>
                                    <p:anim calcmode="lin" valueType="num">
                                      <p:cBhvr additive="base">
                                        <p:cTn id="36" dur="500"/>
                                        <p:tgtEl>
                                          <p:spTgt spid="406537">
                                            <p:txEl>
                                              <p:pRg st="6" end="6"/>
                                            </p:txEl>
                                          </p:spTgt>
                                        </p:tgtEl>
                                        <p:attrNameLst>
                                          <p:attrName>ppt_y</p:attrName>
                                        </p:attrNameLst>
                                      </p:cBhvr>
                                      <p:tavLst>
                                        <p:tav tm="0">
                                          <p:val>
                                            <p:strVal val="#ppt_y+#ppt_h*1.125000"/>
                                          </p:val>
                                        </p:tav>
                                        <p:tav tm="100000">
                                          <p:val>
                                            <p:strVal val="#ppt_y"/>
                                          </p:val>
                                        </p:tav>
                                      </p:tavLst>
                                    </p:anim>
                                    <p:animEffect transition="in" filter="wipe(up)">
                                      <p:cBhvr>
                                        <p:cTn id="37" dur="500"/>
                                        <p:tgtEl>
                                          <p:spTgt spid="406537">
                                            <p:txEl>
                                              <p:pRg st="6" end="6"/>
                                            </p:txEl>
                                          </p:spTgt>
                                        </p:tgtEl>
                                      </p:cBhvr>
                                    </p:animEffect>
                                  </p:childTnLst>
                                </p:cTn>
                              </p:par>
                            </p:childTnLst>
                          </p:cTn>
                        </p:par>
                        <p:par>
                          <p:cTn id="38" fill="hold">
                            <p:stCondLst>
                              <p:cond delay="2000"/>
                            </p:stCondLst>
                            <p:childTnLst>
                              <p:par>
                                <p:cTn id="39" presetID="12" presetClass="entr" presetSubtype="4" fill="hold" grpId="0" nodeType="afterEffect">
                                  <p:stCondLst>
                                    <p:cond delay="0"/>
                                  </p:stCondLst>
                                  <p:childTnLst>
                                    <p:set>
                                      <p:cBhvr>
                                        <p:cTn id="40" dur="1" fill="hold">
                                          <p:stCondLst>
                                            <p:cond delay="0"/>
                                          </p:stCondLst>
                                        </p:cTn>
                                        <p:tgtEl>
                                          <p:spTgt spid="406537">
                                            <p:txEl>
                                              <p:pRg st="7" end="7"/>
                                            </p:txEl>
                                          </p:spTgt>
                                        </p:tgtEl>
                                        <p:attrNameLst>
                                          <p:attrName>style.visibility</p:attrName>
                                        </p:attrNameLst>
                                      </p:cBhvr>
                                      <p:to>
                                        <p:strVal val="visible"/>
                                      </p:to>
                                    </p:set>
                                    <p:anim calcmode="lin" valueType="num">
                                      <p:cBhvr additive="base">
                                        <p:cTn id="41" dur="500"/>
                                        <p:tgtEl>
                                          <p:spTgt spid="406537">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40653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06537">
                                            <p:txEl>
                                              <p:pRg st="8" end="8"/>
                                            </p:txEl>
                                          </p:spTgt>
                                        </p:tgtEl>
                                        <p:attrNameLst>
                                          <p:attrName>style.visibility</p:attrName>
                                        </p:attrNameLst>
                                      </p:cBhvr>
                                      <p:to>
                                        <p:strVal val="visible"/>
                                      </p:to>
                                    </p:set>
                                    <p:anim calcmode="lin" valueType="num">
                                      <p:cBhvr additive="base">
                                        <p:cTn id="47" dur="500"/>
                                        <p:tgtEl>
                                          <p:spTgt spid="406537">
                                            <p:txEl>
                                              <p:pRg st="8" end="8"/>
                                            </p:txEl>
                                          </p:spTgt>
                                        </p:tgtEl>
                                        <p:attrNameLst>
                                          <p:attrName>ppt_y</p:attrName>
                                        </p:attrNameLst>
                                      </p:cBhvr>
                                      <p:tavLst>
                                        <p:tav tm="0">
                                          <p:val>
                                            <p:strVal val="#ppt_y+#ppt_h*1.125000"/>
                                          </p:val>
                                        </p:tav>
                                        <p:tav tm="100000">
                                          <p:val>
                                            <p:strVal val="#ppt_y"/>
                                          </p:val>
                                        </p:tav>
                                      </p:tavLst>
                                    </p:anim>
                                    <p:animEffect transition="in" filter="wipe(up)">
                                      <p:cBhvr>
                                        <p:cTn id="48" dur="500"/>
                                        <p:tgtEl>
                                          <p:spTgt spid="406537">
                                            <p:txEl>
                                              <p:pRg st="8" end="8"/>
                                            </p:txEl>
                                          </p:spTgt>
                                        </p:tgtEl>
                                      </p:cBhvr>
                                    </p:animEffect>
                                  </p:childTnLst>
                                </p:cTn>
                              </p:par>
                            </p:childTnLst>
                          </p:cTn>
                        </p:par>
                        <p:par>
                          <p:cTn id="49" fill="hold">
                            <p:stCondLst>
                              <p:cond delay="500"/>
                            </p:stCondLst>
                            <p:childTnLst>
                              <p:par>
                                <p:cTn id="50" presetID="12" presetClass="entr" presetSubtype="4" fill="hold" grpId="0" nodeType="afterEffect">
                                  <p:stCondLst>
                                    <p:cond delay="0"/>
                                  </p:stCondLst>
                                  <p:childTnLst>
                                    <p:set>
                                      <p:cBhvr>
                                        <p:cTn id="51" dur="1" fill="hold">
                                          <p:stCondLst>
                                            <p:cond delay="0"/>
                                          </p:stCondLst>
                                        </p:cTn>
                                        <p:tgtEl>
                                          <p:spTgt spid="406537">
                                            <p:txEl>
                                              <p:pRg st="9" end="9"/>
                                            </p:txEl>
                                          </p:spTgt>
                                        </p:tgtEl>
                                        <p:attrNameLst>
                                          <p:attrName>style.visibility</p:attrName>
                                        </p:attrNameLst>
                                      </p:cBhvr>
                                      <p:to>
                                        <p:strVal val="visible"/>
                                      </p:to>
                                    </p:set>
                                    <p:anim calcmode="lin" valueType="num">
                                      <p:cBhvr additive="base">
                                        <p:cTn id="52" dur="500"/>
                                        <p:tgtEl>
                                          <p:spTgt spid="406537">
                                            <p:txEl>
                                              <p:pRg st="9" end="9"/>
                                            </p:txEl>
                                          </p:spTgt>
                                        </p:tgtEl>
                                        <p:attrNameLst>
                                          <p:attrName>ppt_y</p:attrName>
                                        </p:attrNameLst>
                                      </p:cBhvr>
                                      <p:tavLst>
                                        <p:tav tm="0">
                                          <p:val>
                                            <p:strVal val="#ppt_y+#ppt_h*1.125000"/>
                                          </p:val>
                                        </p:tav>
                                        <p:tav tm="100000">
                                          <p:val>
                                            <p:strVal val="#ppt_y"/>
                                          </p:val>
                                        </p:tav>
                                      </p:tavLst>
                                    </p:anim>
                                    <p:animEffect transition="in" filter="wipe(up)">
                                      <p:cBhvr>
                                        <p:cTn id="53" dur="500"/>
                                        <p:tgtEl>
                                          <p:spTgt spid="406537">
                                            <p:txEl>
                                              <p:pRg st="9" end="9"/>
                                            </p:txEl>
                                          </p:spTgt>
                                        </p:tgtEl>
                                      </p:cBhvr>
                                    </p:animEffect>
                                  </p:childTnLst>
                                </p:cTn>
                              </p:par>
                            </p:childTnLst>
                          </p:cTn>
                        </p:par>
                        <p:par>
                          <p:cTn id="54" fill="hold">
                            <p:stCondLst>
                              <p:cond delay="1000"/>
                            </p:stCondLst>
                            <p:childTnLst>
                              <p:par>
                                <p:cTn id="55" presetID="12" presetClass="entr" presetSubtype="4" fill="hold" grpId="0" nodeType="afterEffect">
                                  <p:stCondLst>
                                    <p:cond delay="0"/>
                                  </p:stCondLst>
                                  <p:childTnLst>
                                    <p:set>
                                      <p:cBhvr>
                                        <p:cTn id="56" dur="1" fill="hold">
                                          <p:stCondLst>
                                            <p:cond delay="0"/>
                                          </p:stCondLst>
                                        </p:cTn>
                                        <p:tgtEl>
                                          <p:spTgt spid="406537">
                                            <p:txEl>
                                              <p:pRg st="10" end="10"/>
                                            </p:txEl>
                                          </p:spTgt>
                                        </p:tgtEl>
                                        <p:attrNameLst>
                                          <p:attrName>style.visibility</p:attrName>
                                        </p:attrNameLst>
                                      </p:cBhvr>
                                      <p:to>
                                        <p:strVal val="visible"/>
                                      </p:to>
                                    </p:set>
                                    <p:anim calcmode="lin" valueType="num">
                                      <p:cBhvr additive="base">
                                        <p:cTn id="57" dur="500"/>
                                        <p:tgtEl>
                                          <p:spTgt spid="406537">
                                            <p:txEl>
                                              <p:pRg st="10" end="10"/>
                                            </p:txEl>
                                          </p:spTgt>
                                        </p:tgtEl>
                                        <p:attrNameLst>
                                          <p:attrName>ppt_y</p:attrName>
                                        </p:attrNameLst>
                                      </p:cBhvr>
                                      <p:tavLst>
                                        <p:tav tm="0">
                                          <p:val>
                                            <p:strVal val="#ppt_y+#ppt_h*1.125000"/>
                                          </p:val>
                                        </p:tav>
                                        <p:tav tm="100000">
                                          <p:val>
                                            <p:strVal val="#ppt_y"/>
                                          </p:val>
                                        </p:tav>
                                      </p:tavLst>
                                    </p:anim>
                                    <p:animEffect transition="in" filter="wipe(up)">
                                      <p:cBhvr>
                                        <p:cTn id="58" dur="500"/>
                                        <p:tgtEl>
                                          <p:spTgt spid="406537">
                                            <p:txEl>
                                              <p:pRg st="10" end="10"/>
                                            </p:txEl>
                                          </p:spTgt>
                                        </p:tgtEl>
                                      </p:cBhvr>
                                    </p:animEffect>
                                  </p:childTnLst>
                                </p:cTn>
                              </p:par>
                            </p:childTnLst>
                          </p:cTn>
                        </p:par>
                        <p:par>
                          <p:cTn id="59" fill="hold">
                            <p:stCondLst>
                              <p:cond delay="1500"/>
                            </p:stCondLst>
                            <p:childTnLst>
                              <p:par>
                                <p:cTn id="60" presetID="12" presetClass="entr" presetSubtype="4" fill="hold" grpId="0" nodeType="afterEffect">
                                  <p:stCondLst>
                                    <p:cond delay="0"/>
                                  </p:stCondLst>
                                  <p:childTnLst>
                                    <p:set>
                                      <p:cBhvr>
                                        <p:cTn id="61" dur="1" fill="hold">
                                          <p:stCondLst>
                                            <p:cond delay="0"/>
                                          </p:stCondLst>
                                        </p:cTn>
                                        <p:tgtEl>
                                          <p:spTgt spid="406537">
                                            <p:txEl>
                                              <p:pRg st="11" end="11"/>
                                            </p:txEl>
                                          </p:spTgt>
                                        </p:tgtEl>
                                        <p:attrNameLst>
                                          <p:attrName>style.visibility</p:attrName>
                                        </p:attrNameLst>
                                      </p:cBhvr>
                                      <p:to>
                                        <p:strVal val="visible"/>
                                      </p:to>
                                    </p:set>
                                    <p:anim calcmode="lin" valueType="num">
                                      <p:cBhvr additive="base">
                                        <p:cTn id="62" dur="500"/>
                                        <p:tgtEl>
                                          <p:spTgt spid="406537">
                                            <p:txEl>
                                              <p:pRg st="11" end="11"/>
                                            </p:txEl>
                                          </p:spTgt>
                                        </p:tgtEl>
                                        <p:attrNameLst>
                                          <p:attrName>ppt_y</p:attrName>
                                        </p:attrNameLst>
                                      </p:cBhvr>
                                      <p:tavLst>
                                        <p:tav tm="0">
                                          <p:val>
                                            <p:strVal val="#ppt_y+#ppt_h*1.125000"/>
                                          </p:val>
                                        </p:tav>
                                        <p:tav tm="100000">
                                          <p:val>
                                            <p:strVal val="#ppt_y"/>
                                          </p:val>
                                        </p:tav>
                                      </p:tavLst>
                                    </p:anim>
                                    <p:animEffect transition="in" filter="wipe(up)">
                                      <p:cBhvr>
                                        <p:cTn id="63" dur="500"/>
                                        <p:tgtEl>
                                          <p:spTgt spid="40653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7" grpId="0" uiExpand="1" build="p" bldLvl="3"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C2E418-8BC6-4E29-BF86-46CD6A0426B1}"/>
              </a:ext>
            </a:extLst>
          </p:cNvPr>
          <p:cNvSpPr>
            <a:spLocks noGrp="1"/>
          </p:cNvSpPr>
          <p:nvPr>
            <p:ph type="title"/>
          </p:nvPr>
        </p:nvSpPr>
        <p:spPr/>
        <p:txBody>
          <a:bodyPr/>
          <a:lstStyle/>
          <a:p>
            <a:pPr algn="l"/>
            <a:r>
              <a:rPr lang="en-GB"/>
              <a:t>The adverse selection problem</a:t>
            </a:r>
          </a:p>
        </p:txBody>
      </p:sp>
      <p:sp>
        <p:nvSpPr>
          <p:cNvPr id="4" name="Content Placeholder 3">
            <a:extLst>
              <a:ext uri="{FF2B5EF4-FFF2-40B4-BE49-F238E27FC236}">
                <a16:creationId xmlns:a16="http://schemas.microsoft.com/office/drawing/2014/main" id="{89BF56BB-14C7-4DFC-84E8-BCBB05DD937A}"/>
              </a:ext>
            </a:extLst>
          </p:cNvPr>
          <p:cNvSpPr>
            <a:spLocks noGrp="1"/>
          </p:cNvSpPr>
          <p:nvPr>
            <p:ph idx="1"/>
          </p:nvPr>
        </p:nvSpPr>
        <p:spPr/>
        <p:txBody>
          <a:bodyPr/>
          <a:lstStyle/>
          <a:p>
            <a:pPr>
              <a:lnSpc>
                <a:spcPct val="95000"/>
              </a:lnSpc>
              <a:spcBef>
                <a:spcPts val="645"/>
              </a:spcBef>
            </a:pPr>
            <a:r>
              <a:rPr lang="en-GB" altLang="en-US"/>
              <a:t>Drivers least likely to have accidents stop buying insurance</a:t>
            </a:r>
          </a:p>
          <a:p>
            <a:pPr lvl="1">
              <a:lnSpc>
                <a:spcPct val="95000"/>
              </a:lnSpc>
              <a:spcBef>
                <a:spcPts val="645"/>
              </a:spcBef>
            </a:pPr>
            <a:r>
              <a:rPr lang="en-GB" altLang="en-US"/>
              <a:t>Insurance companies have to raise their premiums</a:t>
            </a:r>
          </a:p>
          <a:p>
            <a:pPr lvl="1">
              <a:lnSpc>
                <a:spcPct val="95000"/>
              </a:lnSpc>
              <a:spcBef>
                <a:spcPts val="645"/>
              </a:spcBef>
            </a:pPr>
            <a:r>
              <a:rPr lang="en-GB" altLang="en-US"/>
              <a:t>More drivers stop buying insurance</a:t>
            </a:r>
          </a:p>
          <a:p>
            <a:pPr>
              <a:lnSpc>
                <a:spcPct val="95000"/>
              </a:lnSpc>
              <a:spcBef>
                <a:spcPts val="645"/>
              </a:spcBef>
            </a:pPr>
            <a:r>
              <a:rPr lang="en-GB" altLang="en-US"/>
              <a:t>In some economic models, markets collapse completely</a:t>
            </a:r>
          </a:p>
          <a:p>
            <a:pPr lvl="1">
              <a:lnSpc>
                <a:spcPct val="95000"/>
              </a:lnSpc>
              <a:spcBef>
                <a:spcPts val="645"/>
              </a:spcBef>
            </a:pPr>
            <a:r>
              <a:rPr lang="en-GB" altLang="en-US"/>
              <a:t>Whatever happens, drivers with the highest risk of accident carry on taking out insurance</a:t>
            </a:r>
          </a:p>
          <a:p>
            <a:pPr lvl="1">
              <a:lnSpc>
                <a:spcPct val="95000"/>
              </a:lnSpc>
              <a:spcBef>
                <a:spcPts val="645"/>
              </a:spcBef>
            </a:pPr>
            <a:r>
              <a:rPr lang="en-GB" altLang="en-US"/>
              <a:t>Low risk drivers will either</a:t>
            </a:r>
          </a:p>
          <a:p>
            <a:pPr lvl="2">
              <a:lnSpc>
                <a:spcPct val="95000"/>
              </a:lnSpc>
              <a:spcBef>
                <a:spcPts val="645"/>
              </a:spcBef>
            </a:pPr>
            <a:r>
              <a:rPr lang="en-GB" altLang="en-US"/>
              <a:t>Not take out insurance at all</a:t>
            </a:r>
          </a:p>
          <a:p>
            <a:pPr lvl="2">
              <a:lnSpc>
                <a:spcPct val="95000"/>
              </a:lnSpc>
              <a:spcBef>
                <a:spcPts val="645"/>
              </a:spcBef>
            </a:pPr>
            <a:r>
              <a:rPr lang="en-GB" altLang="en-US"/>
              <a:t>Buy partial instead of full insurance (high deductible/excess in policy)</a:t>
            </a:r>
          </a:p>
          <a:p>
            <a:pPr>
              <a:lnSpc>
                <a:spcPct val="95000"/>
              </a:lnSpc>
              <a:spcBef>
                <a:spcPts val="645"/>
              </a:spcBef>
            </a:pPr>
            <a:r>
              <a:rPr lang="en-GB" altLang="en-US"/>
              <a:t>All this assumes that it is impossible to distinguish members of the risk class, and match policies to characteristics</a:t>
            </a:r>
          </a:p>
          <a:p>
            <a:endParaRPr lang="en-GB"/>
          </a:p>
        </p:txBody>
      </p:sp>
    </p:spTree>
    <p:extLst>
      <p:ext uri="{BB962C8B-B14F-4D97-AF65-F5344CB8AC3E}">
        <p14:creationId xmlns:p14="http://schemas.microsoft.com/office/powerpoint/2010/main" val="724335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87A72F9A-26FF-4FE4-A7D0-7BA18E364D64}"/>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5315" name="Rectangle 3">
            <a:extLst>
              <a:ext uri="{FF2B5EF4-FFF2-40B4-BE49-F238E27FC236}">
                <a16:creationId xmlns:a16="http://schemas.microsoft.com/office/drawing/2014/main" id="{213854D3-56BE-4BC7-921C-760A68E1E813}"/>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5316" name="Rectangle 4">
            <a:extLst>
              <a:ext uri="{FF2B5EF4-FFF2-40B4-BE49-F238E27FC236}">
                <a16:creationId xmlns:a16="http://schemas.microsoft.com/office/drawing/2014/main" id="{9254C21C-AF47-4A75-AA5A-4FC4C66711B2}"/>
              </a:ext>
            </a:extLst>
          </p:cNvPr>
          <p:cNvSpPr>
            <a:spLocks noGrp="1"/>
          </p:cNvSpPr>
          <p:nvPr>
            <p:ph type="title"/>
          </p:nvPr>
        </p:nvSpPr>
        <p:spPr/>
        <p:txBody>
          <a:bodyPr/>
          <a:lstStyle/>
          <a:p>
            <a:pPr algn="l"/>
            <a:r>
              <a:rPr lang="en-GB" altLang="en-US"/>
              <a:t>Resolving adverse selection</a:t>
            </a:r>
          </a:p>
        </p:txBody>
      </p:sp>
      <p:sp>
        <p:nvSpPr>
          <p:cNvPr id="525317" name="Rectangle 5">
            <a:extLst>
              <a:ext uri="{FF2B5EF4-FFF2-40B4-BE49-F238E27FC236}">
                <a16:creationId xmlns:a16="http://schemas.microsoft.com/office/drawing/2014/main" id="{A83609DD-5537-4047-B23F-AD49C7AF4C94}"/>
              </a:ext>
            </a:extLst>
          </p:cNvPr>
          <p:cNvSpPr>
            <a:spLocks noGrp="1"/>
          </p:cNvSpPr>
          <p:nvPr>
            <p:ph idx="1"/>
          </p:nvPr>
        </p:nvSpPr>
        <p:spPr/>
        <p:txBody>
          <a:bodyPr/>
          <a:lstStyle/>
          <a:p>
            <a:pPr>
              <a:lnSpc>
                <a:spcPct val="95000"/>
              </a:lnSpc>
              <a:spcBef>
                <a:spcPts val="648"/>
              </a:spcBef>
            </a:pPr>
            <a:r>
              <a:rPr lang="en-GB" altLang="en-US"/>
              <a:t>Signalling: demonstrate that you have desirable characteristics</a:t>
            </a:r>
          </a:p>
          <a:p>
            <a:pPr lvl="1">
              <a:lnSpc>
                <a:spcPct val="95000"/>
              </a:lnSpc>
              <a:spcBef>
                <a:spcPts val="648"/>
              </a:spcBef>
            </a:pPr>
            <a:r>
              <a:rPr lang="en-GB" altLang="en-US"/>
              <a:t>Education: is this a signal of high productivity?</a:t>
            </a:r>
          </a:p>
          <a:p>
            <a:pPr lvl="2">
              <a:lnSpc>
                <a:spcPct val="95000"/>
              </a:lnSpc>
              <a:spcBef>
                <a:spcPts val="648"/>
              </a:spcBef>
            </a:pPr>
            <a:r>
              <a:rPr lang="en-GB" altLang="en-US"/>
              <a:t>Suppose that getting a degree involves doing many difficult tasks, all of which are essentially useless</a:t>
            </a:r>
          </a:p>
          <a:p>
            <a:pPr lvl="2">
              <a:lnSpc>
                <a:spcPct val="95000"/>
              </a:lnSpc>
              <a:spcBef>
                <a:spcPts val="648"/>
              </a:spcBef>
            </a:pPr>
            <a:r>
              <a:rPr lang="en-GB" altLang="en-US"/>
              <a:t>But only highly productive people can perform them</a:t>
            </a:r>
          </a:p>
          <a:p>
            <a:pPr lvl="2">
              <a:lnSpc>
                <a:spcPct val="95000"/>
              </a:lnSpc>
              <a:spcBef>
                <a:spcPts val="648"/>
              </a:spcBef>
            </a:pPr>
            <a:r>
              <a:rPr lang="en-GB" altLang="en-US"/>
              <a:t>Then having a degree is informative to employers</a:t>
            </a:r>
          </a:p>
          <a:p>
            <a:pPr>
              <a:lnSpc>
                <a:spcPct val="95000"/>
              </a:lnSpc>
              <a:spcBef>
                <a:spcPts val="648"/>
              </a:spcBef>
            </a:pPr>
            <a:r>
              <a:rPr lang="en-GB" altLang="en-US"/>
              <a:t>Screening – the insurance solution</a:t>
            </a:r>
          </a:p>
          <a:p>
            <a:pPr lvl="1">
              <a:lnSpc>
                <a:spcPct val="95000"/>
              </a:lnSpc>
              <a:spcBef>
                <a:spcPts val="648"/>
              </a:spcBef>
            </a:pPr>
            <a:r>
              <a:rPr lang="en-GB" altLang="en-US"/>
              <a:t>A low risk driver may be willing to share costs of repairs with the insurer</a:t>
            </a:r>
          </a:p>
          <a:p>
            <a:pPr lvl="2">
              <a:lnSpc>
                <a:spcPct val="95000"/>
              </a:lnSpc>
              <a:spcBef>
                <a:spcPts val="648"/>
              </a:spcBef>
            </a:pPr>
            <a:r>
              <a:rPr lang="en-GB" altLang="en-US"/>
              <a:t>Pays first £250 or £500 of any claim; </a:t>
            </a:r>
          </a:p>
          <a:p>
            <a:pPr lvl="2">
              <a:lnSpc>
                <a:spcPct val="95000"/>
              </a:lnSpc>
              <a:spcBef>
                <a:spcPts val="648"/>
              </a:spcBef>
            </a:pPr>
            <a:r>
              <a:rPr lang="en-GB" altLang="en-US"/>
              <a:t>High risk driver will not do this</a:t>
            </a:r>
          </a:p>
          <a:p>
            <a:pPr lvl="2">
              <a:lnSpc>
                <a:spcPct val="95000"/>
              </a:lnSpc>
              <a:spcBef>
                <a:spcPct val="25000"/>
              </a:spcBef>
            </a:pPr>
            <a:r>
              <a:rPr lang="en-GB" altLang="en-US"/>
              <a:t>So willingness to share costs informative for insurer</a:t>
            </a:r>
          </a:p>
          <a:p>
            <a:pPr lvl="1">
              <a:lnSpc>
                <a:spcPct val="95000"/>
              </a:lnSpc>
              <a:spcBef>
                <a:spcPct val="25000"/>
              </a:spcBef>
            </a:pPr>
            <a:endParaRPr lang="en-GB" altLang="en-US">
              <a:solidFill>
                <a:srgbClr val="5D5E97"/>
              </a:solidFill>
            </a:endParaRPr>
          </a:p>
        </p:txBody>
      </p:sp>
    </p:spTree>
    <p:extLst>
      <p:ext uri="{BB962C8B-B14F-4D97-AF65-F5344CB8AC3E}">
        <p14:creationId xmlns:p14="http://schemas.microsoft.com/office/powerpoint/2010/main" val="61023622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525317">
                                            <p:txEl>
                                              <p:pRg st="0" end="0"/>
                                            </p:txEl>
                                          </p:spTgt>
                                        </p:tgtEl>
                                        <p:attrNameLst>
                                          <p:attrName>style.visibility</p:attrName>
                                        </p:attrNameLst>
                                      </p:cBhvr>
                                      <p:to>
                                        <p:strVal val="visible"/>
                                      </p:to>
                                    </p:set>
                                    <p:anim calcmode="lin" valueType="num">
                                      <p:cBhvr additive="base">
                                        <p:cTn id="7" dur="500"/>
                                        <p:tgtEl>
                                          <p:spTgt spid="5253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25317">
                                            <p:txEl>
                                              <p:pRg st="0" end="0"/>
                                            </p:txEl>
                                          </p:spTgt>
                                        </p:tgtEl>
                                      </p:cBhvr>
                                    </p:animEffect>
                                  </p:childTnLst>
                                </p:cTn>
                              </p:par>
                            </p:childTnLst>
                          </p:cTn>
                        </p:par>
                        <p:par>
                          <p:cTn id="9" fill="hold">
                            <p:stCondLst>
                              <p:cond delay="500"/>
                            </p:stCondLst>
                            <p:childTnLst>
                              <p:par>
                                <p:cTn id="10" presetID="12" presetClass="entr" presetSubtype="4" fill="hold" grpId="0" nodeType="afterEffect">
                                  <p:stCondLst>
                                    <p:cond delay="1000"/>
                                  </p:stCondLst>
                                  <p:childTnLst>
                                    <p:set>
                                      <p:cBhvr>
                                        <p:cTn id="11" dur="1" fill="hold">
                                          <p:stCondLst>
                                            <p:cond delay="0"/>
                                          </p:stCondLst>
                                        </p:cTn>
                                        <p:tgtEl>
                                          <p:spTgt spid="525317">
                                            <p:txEl>
                                              <p:pRg st="1" end="1"/>
                                            </p:txEl>
                                          </p:spTgt>
                                        </p:tgtEl>
                                        <p:attrNameLst>
                                          <p:attrName>style.visibility</p:attrName>
                                        </p:attrNameLst>
                                      </p:cBhvr>
                                      <p:to>
                                        <p:strVal val="visible"/>
                                      </p:to>
                                    </p:set>
                                    <p:anim calcmode="lin" valueType="num">
                                      <p:cBhvr additive="base">
                                        <p:cTn id="12" dur="1000"/>
                                        <p:tgtEl>
                                          <p:spTgt spid="525317">
                                            <p:txEl>
                                              <p:pRg st="1" end="1"/>
                                            </p:txEl>
                                          </p:spTgt>
                                        </p:tgtEl>
                                        <p:attrNameLst>
                                          <p:attrName>ppt_y</p:attrName>
                                        </p:attrNameLst>
                                      </p:cBhvr>
                                      <p:tavLst>
                                        <p:tav tm="0">
                                          <p:val>
                                            <p:strVal val="#ppt_y+#ppt_h*1.125000"/>
                                          </p:val>
                                        </p:tav>
                                        <p:tav tm="100000">
                                          <p:val>
                                            <p:strVal val="#ppt_y"/>
                                          </p:val>
                                        </p:tav>
                                      </p:tavLst>
                                    </p:anim>
                                    <p:animEffect transition="in" filter="wipe(up)">
                                      <p:cBhvr>
                                        <p:cTn id="13" dur="1000"/>
                                        <p:tgtEl>
                                          <p:spTgt spid="525317">
                                            <p:txEl>
                                              <p:pRg st="1" end="1"/>
                                            </p:txEl>
                                          </p:spTgt>
                                        </p:tgtEl>
                                      </p:cBhvr>
                                    </p:animEffect>
                                  </p:childTnLst>
                                </p:cTn>
                              </p:par>
                            </p:childTnLst>
                          </p:cTn>
                        </p:par>
                        <p:par>
                          <p:cTn id="14" fill="hold">
                            <p:stCondLst>
                              <p:cond delay="2500"/>
                            </p:stCondLst>
                            <p:childTnLst>
                              <p:par>
                                <p:cTn id="15" presetID="12" presetClass="entr" presetSubtype="4" fill="hold" grpId="0" nodeType="afterEffect">
                                  <p:stCondLst>
                                    <p:cond delay="1000"/>
                                  </p:stCondLst>
                                  <p:childTnLst>
                                    <p:set>
                                      <p:cBhvr>
                                        <p:cTn id="16" dur="1" fill="hold">
                                          <p:stCondLst>
                                            <p:cond delay="0"/>
                                          </p:stCondLst>
                                        </p:cTn>
                                        <p:tgtEl>
                                          <p:spTgt spid="525317">
                                            <p:txEl>
                                              <p:pRg st="2" end="2"/>
                                            </p:txEl>
                                          </p:spTgt>
                                        </p:tgtEl>
                                        <p:attrNameLst>
                                          <p:attrName>style.visibility</p:attrName>
                                        </p:attrNameLst>
                                      </p:cBhvr>
                                      <p:to>
                                        <p:strVal val="visible"/>
                                      </p:to>
                                    </p:set>
                                    <p:anim calcmode="lin" valueType="num">
                                      <p:cBhvr additive="base">
                                        <p:cTn id="17" dur="1000"/>
                                        <p:tgtEl>
                                          <p:spTgt spid="525317">
                                            <p:txEl>
                                              <p:pRg st="2" end="2"/>
                                            </p:txEl>
                                          </p:spTgt>
                                        </p:tgtEl>
                                        <p:attrNameLst>
                                          <p:attrName>ppt_y</p:attrName>
                                        </p:attrNameLst>
                                      </p:cBhvr>
                                      <p:tavLst>
                                        <p:tav tm="0">
                                          <p:val>
                                            <p:strVal val="#ppt_y+#ppt_h*1.125000"/>
                                          </p:val>
                                        </p:tav>
                                        <p:tav tm="100000">
                                          <p:val>
                                            <p:strVal val="#ppt_y"/>
                                          </p:val>
                                        </p:tav>
                                      </p:tavLst>
                                    </p:anim>
                                    <p:animEffect transition="in" filter="wipe(up)">
                                      <p:cBhvr>
                                        <p:cTn id="18" dur="1000"/>
                                        <p:tgtEl>
                                          <p:spTgt spid="525317">
                                            <p:txEl>
                                              <p:pRg st="2" end="2"/>
                                            </p:txEl>
                                          </p:spTgt>
                                        </p:tgtEl>
                                      </p:cBhvr>
                                    </p:animEffect>
                                  </p:childTnLst>
                                </p:cTn>
                              </p:par>
                            </p:childTnLst>
                          </p:cTn>
                        </p:par>
                        <p:par>
                          <p:cTn id="19" fill="hold">
                            <p:stCondLst>
                              <p:cond delay="4500"/>
                            </p:stCondLst>
                            <p:childTnLst>
                              <p:par>
                                <p:cTn id="20" presetID="12" presetClass="entr" presetSubtype="4" fill="hold" grpId="0" nodeType="afterEffect">
                                  <p:stCondLst>
                                    <p:cond delay="1000"/>
                                  </p:stCondLst>
                                  <p:childTnLst>
                                    <p:set>
                                      <p:cBhvr>
                                        <p:cTn id="21" dur="1" fill="hold">
                                          <p:stCondLst>
                                            <p:cond delay="0"/>
                                          </p:stCondLst>
                                        </p:cTn>
                                        <p:tgtEl>
                                          <p:spTgt spid="525317">
                                            <p:txEl>
                                              <p:pRg st="3" end="3"/>
                                            </p:txEl>
                                          </p:spTgt>
                                        </p:tgtEl>
                                        <p:attrNameLst>
                                          <p:attrName>style.visibility</p:attrName>
                                        </p:attrNameLst>
                                      </p:cBhvr>
                                      <p:to>
                                        <p:strVal val="visible"/>
                                      </p:to>
                                    </p:set>
                                    <p:anim calcmode="lin" valueType="num">
                                      <p:cBhvr additive="base">
                                        <p:cTn id="22" dur="1000"/>
                                        <p:tgtEl>
                                          <p:spTgt spid="525317">
                                            <p:txEl>
                                              <p:pRg st="3" end="3"/>
                                            </p:txEl>
                                          </p:spTgt>
                                        </p:tgtEl>
                                        <p:attrNameLst>
                                          <p:attrName>ppt_y</p:attrName>
                                        </p:attrNameLst>
                                      </p:cBhvr>
                                      <p:tavLst>
                                        <p:tav tm="0">
                                          <p:val>
                                            <p:strVal val="#ppt_y+#ppt_h*1.125000"/>
                                          </p:val>
                                        </p:tav>
                                        <p:tav tm="100000">
                                          <p:val>
                                            <p:strVal val="#ppt_y"/>
                                          </p:val>
                                        </p:tav>
                                      </p:tavLst>
                                    </p:anim>
                                    <p:animEffect transition="in" filter="wipe(up)">
                                      <p:cBhvr>
                                        <p:cTn id="23" dur="1000"/>
                                        <p:tgtEl>
                                          <p:spTgt spid="525317">
                                            <p:txEl>
                                              <p:pRg st="3" end="3"/>
                                            </p:txEl>
                                          </p:spTgt>
                                        </p:tgtEl>
                                      </p:cBhvr>
                                    </p:animEffect>
                                  </p:childTnLst>
                                </p:cTn>
                              </p:par>
                            </p:childTnLst>
                          </p:cTn>
                        </p:par>
                        <p:par>
                          <p:cTn id="24" fill="hold">
                            <p:stCondLst>
                              <p:cond delay="6500"/>
                            </p:stCondLst>
                            <p:childTnLst>
                              <p:par>
                                <p:cTn id="25" presetID="12" presetClass="entr" presetSubtype="4" fill="hold" grpId="0" nodeType="afterEffect">
                                  <p:stCondLst>
                                    <p:cond delay="1000"/>
                                  </p:stCondLst>
                                  <p:childTnLst>
                                    <p:set>
                                      <p:cBhvr>
                                        <p:cTn id="26" dur="1" fill="hold">
                                          <p:stCondLst>
                                            <p:cond delay="0"/>
                                          </p:stCondLst>
                                        </p:cTn>
                                        <p:tgtEl>
                                          <p:spTgt spid="525317">
                                            <p:txEl>
                                              <p:pRg st="4" end="4"/>
                                            </p:txEl>
                                          </p:spTgt>
                                        </p:tgtEl>
                                        <p:attrNameLst>
                                          <p:attrName>style.visibility</p:attrName>
                                        </p:attrNameLst>
                                      </p:cBhvr>
                                      <p:to>
                                        <p:strVal val="visible"/>
                                      </p:to>
                                    </p:set>
                                    <p:anim calcmode="lin" valueType="num">
                                      <p:cBhvr additive="base">
                                        <p:cTn id="27" dur="1000"/>
                                        <p:tgtEl>
                                          <p:spTgt spid="525317">
                                            <p:txEl>
                                              <p:pRg st="4" end="4"/>
                                            </p:txEl>
                                          </p:spTgt>
                                        </p:tgtEl>
                                        <p:attrNameLst>
                                          <p:attrName>ppt_y</p:attrName>
                                        </p:attrNameLst>
                                      </p:cBhvr>
                                      <p:tavLst>
                                        <p:tav tm="0">
                                          <p:val>
                                            <p:strVal val="#ppt_y+#ppt_h*1.125000"/>
                                          </p:val>
                                        </p:tav>
                                        <p:tav tm="100000">
                                          <p:val>
                                            <p:strVal val="#ppt_y"/>
                                          </p:val>
                                        </p:tav>
                                      </p:tavLst>
                                    </p:anim>
                                    <p:animEffect transition="in" filter="wipe(up)">
                                      <p:cBhvr>
                                        <p:cTn id="28" dur="1000"/>
                                        <p:tgtEl>
                                          <p:spTgt spid="52531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525317">
                                            <p:txEl>
                                              <p:pRg st="5" end="5"/>
                                            </p:txEl>
                                          </p:spTgt>
                                        </p:tgtEl>
                                        <p:attrNameLst>
                                          <p:attrName>style.visibility</p:attrName>
                                        </p:attrNameLst>
                                      </p:cBhvr>
                                      <p:to>
                                        <p:strVal val="visible"/>
                                      </p:to>
                                    </p:set>
                                    <p:anim calcmode="lin" valueType="num">
                                      <p:cBhvr additive="base">
                                        <p:cTn id="33" dur="500"/>
                                        <p:tgtEl>
                                          <p:spTgt spid="525317">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525317">
                                            <p:txEl>
                                              <p:pRg st="5" end="5"/>
                                            </p:txEl>
                                          </p:spTgt>
                                        </p:tgtEl>
                                      </p:cBhvr>
                                    </p:animEffect>
                                  </p:childTnLst>
                                </p:cTn>
                              </p:par>
                            </p:childTnLst>
                          </p:cTn>
                        </p:par>
                        <p:par>
                          <p:cTn id="35" fill="hold">
                            <p:stCondLst>
                              <p:cond delay="500"/>
                            </p:stCondLst>
                            <p:childTnLst>
                              <p:par>
                                <p:cTn id="36" presetID="12" presetClass="entr" presetSubtype="4" fill="hold" grpId="0" nodeType="afterEffect">
                                  <p:stCondLst>
                                    <p:cond delay="1000"/>
                                  </p:stCondLst>
                                  <p:childTnLst>
                                    <p:set>
                                      <p:cBhvr>
                                        <p:cTn id="37" dur="1" fill="hold">
                                          <p:stCondLst>
                                            <p:cond delay="0"/>
                                          </p:stCondLst>
                                        </p:cTn>
                                        <p:tgtEl>
                                          <p:spTgt spid="525317">
                                            <p:txEl>
                                              <p:pRg st="6" end="6"/>
                                            </p:txEl>
                                          </p:spTgt>
                                        </p:tgtEl>
                                        <p:attrNameLst>
                                          <p:attrName>style.visibility</p:attrName>
                                        </p:attrNameLst>
                                      </p:cBhvr>
                                      <p:to>
                                        <p:strVal val="visible"/>
                                      </p:to>
                                    </p:set>
                                    <p:anim calcmode="lin" valueType="num">
                                      <p:cBhvr additive="base">
                                        <p:cTn id="38" dur="1000"/>
                                        <p:tgtEl>
                                          <p:spTgt spid="525317">
                                            <p:txEl>
                                              <p:pRg st="6" end="6"/>
                                            </p:txEl>
                                          </p:spTgt>
                                        </p:tgtEl>
                                        <p:attrNameLst>
                                          <p:attrName>ppt_y</p:attrName>
                                        </p:attrNameLst>
                                      </p:cBhvr>
                                      <p:tavLst>
                                        <p:tav tm="0">
                                          <p:val>
                                            <p:strVal val="#ppt_y+#ppt_h*1.125000"/>
                                          </p:val>
                                        </p:tav>
                                        <p:tav tm="100000">
                                          <p:val>
                                            <p:strVal val="#ppt_y"/>
                                          </p:val>
                                        </p:tav>
                                      </p:tavLst>
                                    </p:anim>
                                    <p:animEffect transition="in" filter="wipe(up)">
                                      <p:cBhvr>
                                        <p:cTn id="39" dur="1000"/>
                                        <p:tgtEl>
                                          <p:spTgt spid="525317">
                                            <p:txEl>
                                              <p:pRg st="6" end="6"/>
                                            </p:txEl>
                                          </p:spTgt>
                                        </p:tgtEl>
                                      </p:cBhvr>
                                    </p:animEffect>
                                  </p:childTnLst>
                                </p:cTn>
                              </p:par>
                            </p:childTnLst>
                          </p:cTn>
                        </p:par>
                        <p:par>
                          <p:cTn id="40" fill="hold">
                            <p:stCondLst>
                              <p:cond delay="2500"/>
                            </p:stCondLst>
                            <p:childTnLst>
                              <p:par>
                                <p:cTn id="41" presetID="12" presetClass="entr" presetSubtype="4" fill="hold" grpId="0" nodeType="afterEffect">
                                  <p:stCondLst>
                                    <p:cond delay="1000"/>
                                  </p:stCondLst>
                                  <p:childTnLst>
                                    <p:set>
                                      <p:cBhvr>
                                        <p:cTn id="42" dur="1" fill="hold">
                                          <p:stCondLst>
                                            <p:cond delay="0"/>
                                          </p:stCondLst>
                                        </p:cTn>
                                        <p:tgtEl>
                                          <p:spTgt spid="525317">
                                            <p:txEl>
                                              <p:pRg st="7" end="7"/>
                                            </p:txEl>
                                          </p:spTgt>
                                        </p:tgtEl>
                                        <p:attrNameLst>
                                          <p:attrName>style.visibility</p:attrName>
                                        </p:attrNameLst>
                                      </p:cBhvr>
                                      <p:to>
                                        <p:strVal val="visible"/>
                                      </p:to>
                                    </p:set>
                                    <p:anim calcmode="lin" valueType="num">
                                      <p:cBhvr additive="base">
                                        <p:cTn id="43" dur="1000"/>
                                        <p:tgtEl>
                                          <p:spTgt spid="525317">
                                            <p:txEl>
                                              <p:pRg st="7" end="7"/>
                                            </p:txEl>
                                          </p:spTgt>
                                        </p:tgtEl>
                                        <p:attrNameLst>
                                          <p:attrName>ppt_y</p:attrName>
                                        </p:attrNameLst>
                                      </p:cBhvr>
                                      <p:tavLst>
                                        <p:tav tm="0">
                                          <p:val>
                                            <p:strVal val="#ppt_y+#ppt_h*1.125000"/>
                                          </p:val>
                                        </p:tav>
                                        <p:tav tm="100000">
                                          <p:val>
                                            <p:strVal val="#ppt_y"/>
                                          </p:val>
                                        </p:tav>
                                      </p:tavLst>
                                    </p:anim>
                                    <p:animEffect transition="in" filter="wipe(up)">
                                      <p:cBhvr>
                                        <p:cTn id="44" dur="1000"/>
                                        <p:tgtEl>
                                          <p:spTgt spid="525317">
                                            <p:txEl>
                                              <p:pRg st="7" end="7"/>
                                            </p:txEl>
                                          </p:spTgt>
                                        </p:tgtEl>
                                      </p:cBhvr>
                                    </p:animEffect>
                                  </p:childTnLst>
                                </p:cTn>
                              </p:par>
                            </p:childTnLst>
                          </p:cTn>
                        </p:par>
                        <p:par>
                          <p:cTn id="45" fill="hold">
                            <p:stCondLst>
                              <p:cond delay="4500"/>
                            </p:stCondLst>
                            <p:childTnLst>
                              <p:par>
                                <p:cTn id="46" presetID="12" presetClass="entr" presetSubtype="4" fill="hold" grpId="0" nodeType="afterEffect">
                                  <p:stCondLst>
                                    <p:cond delay="1000"/>
                                  </p:stCondLst>
                                  <p:childTnLst>
                                    <p:set>
                                      <p:cBhvr>
                                        <p:cTn id="47" dur="1" fill="hold">
                                          <p:stCondLst>
                                            <p:cond delay="0"/>
                                          </p:stCondLst>
                                        </p:cTn>
                                        <p:tgtEl>
                                          <p:spTgt spid="525317">
                                            <p:txEl>
                                              <p:pRg st="8" end="8"/>
                                            </p:txEl>
                                          </p:spTgt>
                                        </p:tgtEl>
                                        <p:attrNameLst>
                                          <p:attrName>style.visibility</p:attrName>
                                        </p:attrNameLst>
                                      </p:cBhvr>
                                      <p:to>
                                        <p:strVal val="visible"/>
                                      </p:to>
                                    </p:set>
                                    <p:anim calcmode="lin" valueType="num">
                                      <p:cBhvr additive="base">
                                        <p:cTn id="48" dur="1000"/>
                                        <p:tgtEl>
                                          <p:spTgt spid="525317">
                                            <p:txEl>
                                              <p:pRg st="8" end="8"/>
                                            </p:txEl>
                                          </p:spTgt>
                                        </p:tgtEl>
                                        <p:attrNameLst>
                                          <p:attrName>ppt_y</p:attrName>
                                        </p:attrNameLst>
                                      </p:cBhvr>
                                      <p:tavLst>
                                        <p:tav tm="0">
                                          <p:val>
                                            <p:strVal val="#ppt_y+#ppt_h*1.125000"/>
                                          </p:val>
                                        </p:tav>
                                        <p:tav tm="100000">
                                          <p:val>
                                            <p:strVal val="#ppt_y"/>
                                          </p:val>
                                        </p:tav>
                                      </p:tavLst>
                                    </p:anim>
                                    <p:animEffect transition="in" filter="wipe(up)">
                                      <p:cBhvr>
                                        <p:cTn id="49" dur="1000"/>
                                        <p:tgtEl>
                                          <p:spTgt spid="525317">
                                            <p:txEl>
                                              <p:pRg st="8" end="8"/>
                                            </p:txEl>
                                          </p:spTgt>
                                        </p:tgtEl>
                                      </p:cBhvr>
                                    </p:animEffect>
                                  </p:childTnLst>
                                </p:cTn>
                              </p:par>
                            </p:childTnLst>
                          </p:cTn>
                        </p:par>
                        <p:par>
                          <p:cTn id="50" fill="hold">
                            <p:stCondLst>
                              <p:cond delay="6500"/>
                            </p:stCondLst>
                            <p:childTnLst>
                              <p:par>
                                <p:cTn id="51" presetID="12" presetClass="entr" presetSubtype="4" fill="hold" grpId="0" nodeType="afterEffect">
                                  <p:stCondLst>
                                    <p:cond delay="1000"/>
                                  </p:stCondLst>
                                  <p:childTnLst>
                                    <p:set>
                                      <p:cBhvr>
                                        <p:cTn id="52" dur="1" fill="hold">
                                          <p:stCondLst>
                                            <p:cond delay="0"/>
                                          </p:stCondLst>
                                        </p:cTn>
                                        <p:tgtEl>
                                          <p:spTgt spid="525317">
                                            <p:txEl>
                                              <p:pRg st="9" end="9"/>
                                            </p:txEl>
                                          </p:spTgt>
                                        </p:tgtEl>
                                        <p:attrNameLst>
                                          <p:attrName>style.visibility</p:attrName>
                                        </p:attrNameLst>
                                      </p:cBhvr>
                                      <p:to>
                                        <p:strVal val="visible"/>
                                      </p:to>
                                    </p:set>
                                    <p:anim calcmode="lin" valueType="num">
                                      <p:cBhvr additive="base">
                                        <p:cTn id="53" dur="1000"/>
                                        <p:tgtEl>
                                          <p:spTgt spid="525317">
                                            <p:txEl>
                                              <p:pRg st="9" end="9"/>
                                            </p:txEl>
                                          </p:spTgt>
                                        </p:tgtEl>
                                        <p:attrNameLst>
                                          <p:attrName>ppt_y</p:attrName>
                                        </p:attrNameLst>
                                      </p:cBhvr>
                                      <p:tavLst>
                                        <p:tav tm="0">
                                          <p:val>
                                            <p:strVal val="#ppt_y+#ppt_h*1.125000"/>
                                          </p:val>
                                        </p:tav>
                                        <p:tav tm="100000">
                                          <p:val>
                                            <p:strVal val="#ppt_y"/>
                                          </p:val>
                                        </p:tav>
                                      </p:tavLst>
                                    </p:anim>
                                    <p:animEffect transition="in" filter="wipe(up)">
                                      <p:cBhvr>
                                        <p:cTn id="54" dur="1000"/>
                                        <p:tgtEl>
                                          <p:spTgt spid="5253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7" grpId="0" uiExpand="1" build="p" bldLvl="3"/>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231A2283-C456-46A7-A5E1-3F81F4B536A3}"/>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27" name="Rectangle 3">
            <a:extLst>
              <a:ext uri="{FF2B5EF4-FFF2-40B4-BE49-F238E27FC236}">
                <a16:creationId xmlns:a16="http://schemas.microsoft.com/office/drawing/2014/main" id="{8756E654-4CFF-43B5-8E47-E29738E03BA3}"/>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630" name="Rectangle 6">
            <a:extLst>
              <a:ext uri="{FF2B5EF4-FFF2-40B4-BE49-F238E27FC236}">
                <a16:creationId xmlns:a16="http://schemas.microsoft.com/office/drawing/2014/main" id="{820DA687-C57E-443D-A0BB-6D079AE05B57}"/>
              </a:ext>
            </a:extLst>
          </p:cNvPr>
          <p:cNvSpPr>
            <a:spLocks noGrp="1"/>
          </p:cNvSpPr>
          <p:nvPr>
            <p:ph type="title"/>
          </p:nvPr>
        </p:nvSpPr>
        <p:spPr/>
        <p:txBody>
          <a:bodyPr/>
          <a:lstStyle/>
          <a:p>
            <a:pPr algn="l"/>
            <a:r>
              <a:rPr lang="en-GB" altLang="en-US"/>
              <a:t>Moral hazard</a:t>
            </a:r>
          </a:p>
        </p:txBody>
      </p:sp>
      <p:sp>
        <p:nvSpPr>
          <p:cNvPr id="410631" name="Rectangle 7">
            <a:extLst>
              <a:ext uri="{FF2B5EF4-FFF2-40B4-BE49-F238E27FC236}">
                <a16:creationId xmlns:a16="http://schemas.microsoft.com/office/drawing/2014/main" id="{432CC70E-D24F-40A2-97EB-0BD91B5FD9A1}"/>
              </a:ext>
            </a:extLst>
          </p:cNvPr>
          <p:cNvSpPr>
            <a:spLocks noGrp="1"/>
          </p:cNvSpPr>
          <p:nvPr>
            <p:ph idx="1"/>
          </p:nvPr>
        </p:nvSpPr>
        <p:spPr>
          <a:xfrm>
            <a:off x="402167" y="1371600"/>
            <a:ext cx="11379200" cy="5041900"/>
          </a:xfrm>
        </p:spPr>
        <p:txBody>
          <a:bodyPr/>
          <a:lstStyle/>
          <a:p>
            <a:pPr>
              <a:lnSpc>
                <a:spcPct val="95000"/>
              </a:lnSpc>
              <a:spcBef>
                <a:spcPts val="648"/>
              </a:spcBef>
            </a:pPr>
            <a:r>
              <a:rPr lang="en-GB" altLang="en-US"/>
              <a:t>Once insured, people may act with less care</a:t>
            </a:r>
          </a:p>
          <a:p>
            <a:pPr lvl="1">
              <a:lnSpc>
                <a:spcPct val="95000"/>
              </a:lnSpc>
              <a:spcBef>
                <a:spcPts val="648"/>
              </a:spcBef>
            </a:pPr>
            <a:r>
              <a:rPr lang="en-GB" altLang="en-US"/>
              <a:t>Probability of accident increases; insurer faces loss</a:t>
            </a:r>
          </a:p>
          <a:p>
            <a:pPr>
              <a:lnSpc>
                <a:spcPct val="95000"/>
              </a:lnSpc>
              <a:spcBef>
                <a:spcPts val="648"/>
              </a:spcBef>
            </a:pPr>
            <a:r>
              <a:rPr lang="en-GB" altLang="en-US"/>
              <a:t>Define moral hazard</a:t>
            </a:r>
          </a:p>
          <a:p>
            <a:pPr lvl="1">
              <a:lnSpc>
                <a:spcPct val="95000"/>
              </a:lnSpc>
              <a:spcBef>
                <a:spcPts val="648"/>
              </a:spcBef>
            </a:pPr>
            <a:r>
              <a:rPr lang="en-GB" altLang="en-US"/>
              <a:t>Effect of a contract transferring risk leading to a change in behaviour of one or other party, against the interests of the other party</a:t>
            </a:r>
          </a:p>
          <a:p>
            <a:pPr lvl="2">
              <a:lnSpc>
                <a:spcPct val="95000"/>
              </a:lnSpc>
              <a:spcBef>
                <a:spcPts val="648"/>
              </a:spcBef>
            </a:pPr>
            <a:r>
              <a:rPr lang="en-GB" altLang="en-US"/>
              <a:t>Improving workers’ rights may cause them to work less hard</a:t>
            </a:r>
          </a:p>
          <a:p>
            <a:pPr lvl="2">
              <a:lnSpc>
                <a:spcPct val="95000"/>
              </a:lnSpc>
              <a:spcBef>
                <a:spcPts val="648"/>
              </a:spcBef>
            </a:pPr>
            <a:r>
              <a:rPr lang="en-GB" altLang="en-US"/>
              <a:t>Setting rewards for teams may mean that members of the team ‘easy ride’</a:t>
            </a:r>
          </a:p>
          <a:p>
            <a:pPr lvl="2">
              <a:lnSpc>
                <a:spcPct val="95000"/>
              </a:lnSpc>
              <a:spcBef>
                <a:spcPts val="648"/>
              </a:spcBef>
            </a:pPr>
            <a:r>
              <a:rPr lang="en-GB" altLang="en-US"/>
              <a:t>Banks with deposit guarantee may make excessively risky loans –and fail</a:t>
            </a:r>
          </a:p>
        </p:txBody>
      </p:sp>
    </p:spTree>
    <p:extLst>
      <p:ext uri="{BB962C8B-B14F-4D97-AF65-F5344CB8AC3E}">
        <p14:creationId xmlns:p14="http://schemas.microsoft.com/office/powerpoint/2010/main" val="360542415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0631">
                                            <p:txEl>
                                              <p:pRg st="0" end="0"/>
                                            </p:txEl>
                                          </p:spTgt>
                                        </p:tgtEl>
                                        <p:attrNameLst>
                                          <p:attrName>style.visibility</p:attrName>
                                        </p:attrNameLst>
                                      </p:cBhvr>
                                      <p:to>
                                        <p:strVal val="visible"/>
                                      </p:to>
                                    </p:set>
                                    <p:anim calcmode="lin" valueType="num">
                                      <p:cBhvr additive="base">
                                        <p:cTn id="7" dur="500"/>
                                        <p:tgtEl>
                                          <p:spTgt spid="41063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0631">
                                            <p:txEl>
                                              <p:pRg st="0" end="0"/>
                                            </p:txEl>
                                          </p:spTgt>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410631">
                                            <p:txEl>
                                              <p:pRg st="1" end="1"/>
                                            </p:txEl>
                                          </p:spTgt>
                                        </p:tgtEl>
                                        <p:attrNameLst>
                                          <p:attrName>style.visibility</p:attrName>
                                        </p:attrNameLst>
                                      </p:cBhvr>
                                      <p:to>
                                        <p:strVal val="visible"/>
                                      </p:to>
                                    </p:set>
                                    <p:anim calcmode="lin" valueType="num">
                                      <p:cBhvr additive="base">
                                        <p:cTn id="12" dur="500"/>
                                        <p:tgtEl>
                                          <p:spTgt spid="410631">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410631">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10631">
                                            <p:txEl>
                                              <p:pRg st="2" end="2"/>
                                            </p:txEl>
                                          </p:spTgt>
                                        </p:tgtEl>
                                        <p:attrNameLst>
                                          <p:attrName>style.visibility</p:attrName>
                                        </p:attrNameLst>
                                      </p:cBhvr>
                                      <p:to>
                                        <p:strVal val="visible"/>
                                      </p:to>
                                    </p:set>
                                    <p:anim calcmode="lin" valueType="num">
                                      <p:cBhvr additive="base">
                                        <p:cTn id="18" dur="500"/>
                                        <p:tgtEl>
                                          <p:spTgt spid="410631">
                                            <p:txEl>
                                              <p:pRg st="2" end="2"/>
                                            </p:txEl>
                                          </p:spTgt>
                                        </p:tgtEl>
                                        <p:attrNameLst>
                                          <p:attrName>ppt_y</p:attrName>
                                        </p:attrNameLst>
                                      </p:cBhvr>
                                      <p:tavLst>
                                        <p:tav tm="0">
                                          <p:val>
                                            <p:strVal val="#ppt_y+#ppt_h*1.125000"/>
                                          </p:val>
                                        </p:tav>
                                        <p:tav tm="100000">
                                          <p:val>
                                            <p:strVal val="#ppt_y"/>
                                          </p:val>
                                        </p:tav>
                                      </p:tavLst>
                                    </p:anim>
                                    <p:animEffect transition="in" filter="wipe(up)">
                                      <p:cBhvr>
                                        <p:cTn id="19" dur="500"/>
                                        <p:tgtEl>
                                          <p:spTgt spid="410631">
                                            <p:txEl>
                                              <p:pRg st="2" end="2"/>
                                            </p:txEl>
                                          </p:spTgt>
                                        </p:tgtEl>
                                      </p:cBhvr>
                                    </p:animEffect>
                                  </p:childTnLst>
                                </p:cTn>
                              </p:par>
                            </p:childTnLst>
                          </p:cTn>
                        </p:par>
                        <p:par>
                          <p:cTn id="20" fill="hold">
                            <p:stCondLst>
                              <p:cond delay="500"/>
                            </p:stCondLst>
                            <p:childTnLst>
                              <p:par>
                                <p:cTn id="21" presetID="12" presetClass="entr" presetSubtype="4" fill="hold" grpId="0" nodeType="afterEffect">
                                  <p:stCondLst>
                                    <p:cond delay="1000"/>
                                  </p:stCondLst>
                                  <p:childTnLst>
                                    <p:set>
                                      <p:cBhvr>
                                        <p:cTn id="22" dur="1" fill="hold">
                                          <p:stCondLst>
                                            <p:cond delay="0"/>
                                          </p:stCondLst>
                                        </p:cTn>
                                        <p:tgtEl>
                                          <p:spTgt spid="410631">
                                            <p:txEl>
                                              <p:pRg st="3" end="3"/>
                                            </p:txEl>
                                          </p:spTgt>
                                        </p:tgtEl>
                                        <p:attrNameLst>
                                          <p:attrName>style.visibility</p:attrName>
                                        </p:attrNameLst>
                                      </p:cBhvr>
                                      <p:to>
                                        <p:strVal val="visible"/>
                                      </p:to>
                                    </p:set>
                                    <p:anim calcmode="lin" valueType="num">
                                      <p:cBhvr additive="base">
                                        <p:cTn id="23" dur="500"/>
                                        <p:tgtEl>
                                          <p:spTgt spid="410631">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410631">
                                            <p:txEl>
                                              <p:pRg st="3" end="3"/>
                                            </p:txEl>
                                          </p:spTgt>
                                        </p:tgtEl>
                                      </p:cBhvr>
                                    </p:animEffect>
                                  </p:childTnLst>
                                </p:cTn>
                              </p:par>
                            </p:childTnLst>
                          </p:cTn>
                        </p:par>
                        <p:par>
                          <p:cTn id="25" fill="hold">
                            <p:stCondLst>
                              <p:cond delay="2000"/>
                            </p:stCondLst>
                            <p:childTnLst>
                              <p:par>
                                <p:cTn id="26" presetID="12" presetClass="entr" presetSubtype="4" fill="hold" grpId="0" nodeType="afterEffect">
                                  <p:stCondLst>
                                    <p:cond delay="1000"/>
                                  </p:stCondLst>
                                  <p:childTnLst>
                                    <p:set>
                                      <p:cBhvr>
                                        <p:cTn id="27" dur="1" fill="hold">
                                          <p:stCondLst>
                                            <p:cond delay="0"/>
                                          </p:stCondLst>
                                        </p:cTn>
                                        <p:tgtEl>
                                          <p:spTgt spid="410631">
                                            <p:txEl>
                                              <p:pRg st="4" end="4"/>
                                            </p:txEl>
                                          </p:spTgt>
                                        </p:tgtEl>
                                        <p:attrNameLst>
                                          <p:attrName>style.visibility</p:attrName>
                                        </p:attrNameLst>
                                      </p:cBhvr>
                                      <p:to>
                                        <p:strVal val="visible"/>
                                      </p:to>
                                    </p:set>
                                    <p:anim calcmode="lin" valueType="num">
                                      <p:cBhvr additive="base">
                                        <p:cTn id="28" dur="500"/>
                                        <p:tgtEl>
                                          <p:spTgt spid="410631">
                                            <p:txEl>
                                              <p:pRg st="4" end="4"/>
                                            </p:txEl>
                                          </p:spTgt>
                                        </p:tgtEl>
                                        <p:attrNameLst>
                                          <p:attrName>ppt_y</p:attrName>
                                        </p:attrNameLst>
                                      </p:cBhvr>
                                      <p:tavLst>
                                        <p:tav tm="0">
                                          <p:val>
                                            <p:strVal val="#ppt_y+#ppt_h*1.125000"/>
                                          </p:val>
                                        </p:tav>
                                        <p:tav tm="100000">
                                          <p:val>
                                            <p:strVal val="#ppt_y"/>
                                          </p:val>
                                        </p:tav>
                                      </p:tavLst>
                                    </p:anim>
                                    <p:animEffect transition="in" filter="wipe(up)">
                                      <p:cBhvr>
                                        <p:cTn id="29" dur="500"/>
                                        <p:tgtEl>
                                          <p:spTgt spid="410631">
                                            <p:txEl>
                                              <p:pRg st="4" end="4"/>
                                            </p:txEl>
                                          </p:spTgt>
                                        </p:tgtEl>
                                      </p:cBhvr>
                                    </p:animEffect>
                                  </p:childTnLst>
                                </p:cTn>
                              </p:par>
                            </p:childTnLst>
                          </p:cTn>
                        </p:par>
                        <p:par>
                          <p:cTn id="30" fill="hold">
                            <p:stCondLst>
                              <p:cond delay="3500"/>
                            </p:stCondLst>
                            <p:childTnLst>
                              <p:par>
                                <p:cTn id="31" presetID="12" presetClass="entr" presetSubtype="4" fill="hold" grpId="0" nodeType="afterEffect">
                                  <p:stCondLst>
                                    <p:cond delay="1000"/>
                                  </p:stCondLst>
                                  <p:childTnLst>
                                    <p:set>
                                      <p:cBhvr>
                                        <p:cTn id="32" dur="1" fill="hold">
                                          <p:stCondLst>
                                            <p:cond delay="0"/>
                                          </p:stCondLst>
                                        </p:cTn>
                                        <p:tgtEl>
                                          <p:spTgt spid="410631">
                                            <p:txEl>
                                              <p:pRg st="5" end="5"/>
                                            </p:txEl>
                                          </p:spTgt>
                                        </p:tgtEl>
                                        <p:attrNameLst>
                                          <p:attrName>style.visibility</p:attrName>
                                        </p:attrNameLst>
                                      </p:cBhvr>
                                      <p:to>
                                        <p:strVal val="visible"/>
                                      </p:to>
                                    </p:set>
                                    <p:anim calcmode="lin" valueType="num">
                                      <p:cBhvr additive="base">
                                        <p:cTn id="33" dur="500"/>
                                        <p:tgtEl>
                                          <p:spTgt spid="410631">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410631">
                                            <p:txEl>
                                              <p:pRg st="5" end="5"/>
                                            </p:txEl>
                                          </p:spTgt>
                                        </p:tgtEl>
                                      </p:cBhvr>
                                    </p:animEffect>
                                  </p:childTnLst>
                                </p:cTn>
                              </p:par>
                            </p:childTnLst>
                          </p:cTn>
                        </p:par>
                        <p:par>
                          <p:cTn id="35" fill="hold">
                            <p:stCondLst>
                              <p:cond delay="5000"/>
                            </p:stCondLst>
                            <p:childTnLst>
                              <p:par>
                                <p:cTn id="36" presetID="12" presetClass="entr" presetSubtype="4" fill="hold" grpId="0" nodeType="afterEffect">
                                  <p:stCondLst>
                                    <p:cond delay="1000"/>
                                  </p:stCondLst>
                                  <p:childTnLst>
                                    <p:set>
                                      <p:cBhvr>
                                        <p:cTn id="37" dur="1" fill="hold">
                                          <p:stCondLst>
                                            <p:cond delay="0"/>
                                          </p:stCondLst>
                                        </p:cTn>
                                        <p:tgtEl>
                                          <p:spTgt spid="410631">
                                            <p:txEl>
                                              <p:pRg st="6" end="6"/>
                                            </p:txEl>
                                          </p:spTgt>
                                        </p:tgtEl>
                                        <p:attrNameLst>
                                          <p:attrName>style.visibility</p:attrName>
                                        </p:attrNameLst>
                                      </p:cBhvr>
                                      <p:to>
                                        <p:strVal val="visible"/>
                                      </p:to>
                                    </p:set>
                                    <p:anim calcmode="lin" valueType="num">
                                      <p:cBhvr additive="base">
                                        <p:cTn id="38" dur="500"/>
                                        <p:tgtEl>
                                          <p:spTgt spid="410631">
                                            <p:txEl>
                                              <p:pRg st="6" end="6"/>
                                            </p:txEl>
                                          </p:spTgt>
                                        </p:tgtEl>
                                        <p:attrNameLst>
                                          <p:attrName>ppt_y</p:attrName>
                                        </p:attrNameLst>
                                      </p:cBhvr>
                                      <p:tavLst>
                                        <p:tav tm="0">
                                          <p:val>
                                            <p:strVal val="#ppt_y+#ppt_h*1.125000"/>
                                          </p:val>
                                        </p:tav>
                                        <p:tav tm="100000">
                                          <p:val>
                                            <p:strVal val="#ppt_y"/>
                                          </p:val>
                                        </p:tav>
                                      </p:tavLst>
                                    </p:anim>
                                    <p:animEffect transition="in" filter="wipe(up)">
                                      <p:cBhvr>
                                        <p:cTn id="39" dur="500"/>
                                        <p:tgtEl>
                                          <p:spTgt spid="4106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31" grpId="0" uiExpand="1" build="p" bldLvl="4"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2CA26E-49BA-4C1C-AFC2-6B789B81E55C}"/>
              </a:ext>
            </a:extLst>
          </p:cNvPr>
          <p:cNvSpPr>
            <a:spLocks noGrp="1"/>
          </p:cNvSpPr>
          <p:nvPr>
            <p:ph type="title"/>
          </p:nvPr>
        </p:nvSpPr>
        <p:spPr/>
        <p:txBody>
          <a:bodyPr/>
          <a:lstStyle/>
          <a:p>
            <a:pPr algn="l"/>
            <a:r>
              <a:rPr lang="en-GB"/>
              <a:t>Addressing moral hazard</a:t>
            </a:r>
          </a:p>
        </p:txBody>
      </p:sp>
      <p:sp>
        <p:nvSpPr>
          <p:cNvPr id="4" name="Content Placeholder 3">
            <a:extLst>
              <a:ext uri="{FF2B5EF4-FFF2-40B4-BE49-F238E27FC236}">
                <a16:creationId xmlns:a16="http://schemas.microsoft.com/office/drawing/2014/main" id="{94007276-6021-4F8C-BDB8-F8A0B045297D}"/>
              </a:ext>
            </a:extLst>
          </p:cNvPr>
          <p:cNvSpPr>
            <a:spLocks noGrp="1"/>
          </p:cNvSpPr>
          <p:nvPr>
            <p:ph idx="1"/>
          </p:nvPr>
        </p:nvSpPr>
        <p:spPr/>
        <p:txBody>
          <a:bodyPr/>
          <a:lstStyle/>
          <a:p>
            <a:pPr>
              <a:lnSpc>
                <a:spcPct val="95000"/>
              </a:lnSpc>
              <a:spcBef>
                <a:spcPts val="648"/>
              </a:spcBef>
            </a:pPr>
            <a:r>
              <a:rPr lang="en-GB" altLang="en-US"/>
              <a:t>Monitoring behaviour</a:t>
            </a:r>
          </a:p>
          <a:p>
            <a:pPr lvl="1">
              <a:lnSpc>
                <a:spcPct val="95000"/>
              </a:lnSpc>
              <a:spcBef>
                <a:spcPts val="648"/>
              </a:spcBef>
            </a:pPr>
            <a:r>
              <a:rPr lang="en-GB" altLang="en-US"/>
              <a:t>Insurers use loss adjusters</a:t>
            </a:r>
          </a:p>
          <a:p>
            <a:pPr lvl="1">
              <a:lnSpc>
                <a:spcPct val="95000"/>
              </a:lnSpc>
              <a:spcBef>
                <a:spcPts val="648"/>
              </a:spcBef>
            </a:pPr>
            <a:r>
              <a:rPr lang="en-GB" altLang="en-US"/>
              <a:t>Aim is to identify whether claim is legitimate – some people deliberately have car accidents to claim on insurance policy</a:t>
            </a:r>
          </a:p>
          <a:p>
            <a:pPr lvl="2">
              <a:lnSpc>
                <a:spcPct val="95000"/>
              </a:lnSpc>
              <a:spcBef>
                <a:spcPts val="648"/>
              </a:spcBef>
            </a:pPr>
            <a:r>
              <a:rPr lang="en-GB" altLang="en-US"/>
              <a:t>But this can be very costly</a:t>
            </a:r>
          </a:p>
          <a:p>
            <a:pPr>
              <a:lnSpc>
                <a:spcPct val="95000"/>
              </a:lnSpc>
              <a:spcBef>
                <a:spcPts val="648"/>
              </a:spcBef>
            </a:pPr>
            <a:r>
              <a:rPr lang="en-GB" altLang="en-US"/>
              <a:t>Redesign the contract</a:t>
            </a:r>
          </a:p>
          <a:p>
            <a:pPr lvl="1">
              <a:lnSpc>
                <a:spcPct val="95000"/>
              </a:lnSpc>
              <a:spcBef>
                <a:spcPts val="648"/>
              </a:spcBef>
            </a:pPr>
            <a:r>
              <a:rPr lang="en-GB" altLang="en-US"/>
              <a:t>My contract allows me generous sickness absence </a:t>
            </a:r>
          </a:p>
          <a:p>
            <a:pPr lvl="2">
              <a:lnSpc>
                <a:spcPct val="95000"/>
              </a:lnSpc>
              <a:spcBef>
                <a:spcPts val="648"/>
              </a:spcBef>
            </a:pPr>
            <a:r>
              <a:rPr lang="en-GB" altLang="en-US"/>
              <a:t>University has policy for ‘managing attendance’</a:t>
            </a:r>
          </a:p>
          <a:p>
            <a:pPr lvl="3">
              <a:lnSpc>
                <a:spcPct val="95000"/>
              </a:lnSpc>
              <a:spcBef>
                <a:spcPts val="648"/>
              </a:spcBef>
            </a:pPr>
            <a:r>
              <a:rPr lang="en-GB" altLang="en-US" sz="2300"/>
              <a:t>Requires all staff to submit medical certification after 4 days</a:t>
            </a:r>
          </a:p>
          <a:p>
            <a:pPr lvl="3">
              <a:lnSpc>
                <a:spcPct val="95000"/>
              </a:lnSpc>
              <a:spcBef>
                <a:spcPts val="648"/>
              </a:spcBef>
            </a:pPr>
            <a:r>
              <a:rPr lang="en-GB" altLang="en-US" sz="2300"/>
              <a:t>Meet occupational health consultants to support return to work</a:t>
            </a:r>
          </a:p>
          <a:p>
            <a:pPr lvl="2">
              <a:lnSpc>
                <a:spcPct val="95000"/>
              </a:lnSpc>
              <a:spcBef>
                <a:spcPts val="648"/>
              </a:spcBef>
            </a:pPr>
            <a:r>
              <a:rPr lang="en-GB" altLang="en-US"/>
              <a:t>Intention is to reduce abuse of entitlements</a:t>
            </a:r>
          </a:p>
        </p:txBody>
      </p:sp>
    </p:spTree>
    <p:extLst>
      <p:ext uri="{BB962C8B-B14F-4D97-AF65-F5344CB8AC3E}">
        <p14:creationId xmlns:p14="http://schemas.microsoft.com/office/powerpoint/2010/main" val="83040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1000"/>
                                        <p:tgtEl>
                                          <p:spTgt spid="4">
                                            <p:txEl>
                                              <p:pRg st="8" end="8"/>
                                            </p:txEl>
                                          </p:spTgt>
                                        </p:tgtEl>
                                      </p:cBhvr>
                                    </p:animEffect>
                                    <p:anim calcmode="lin" valueType="num">
                                      <p:cBhvr>
                                        <p:cTn id="5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xEl>
                                              <p:pRg st="9" end="9"/>
                                            </p:txEl>
                                          </p:spTgt>
                                        </p:tgtEl>
                                        <p:attrNameLst>
                                          <p:attrName>style.visibility</p:attrName>
                                        </p:attrNameLst>
                                      </p:cBhvr>
                                      <p:to>
                                        <p:strVal val="visible"/>
                                      </p:to>
                                    </p:set>
                                    <p:animEffect transition="in" filter="fade">
                                      <p:cBhvr>
                                        <p:cTn id="54" dur="1000"/>
                                        <p:tgtEl>
                                          <p:spTgt spid="4">
                                            <p:txEl>
                                              <p:pRg st="9" end="9"/>
                                            </p:txEl>
                                          </p:spTgt>
                                        </p:tgtEl>
                                      </p:cBhvr>
                                    </p:animEffect>
                                    <p:anim calcmode="lin" valueType="num">
                                      <p:cBhvr>
                                        <p:cTn id="5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8D54-09A4-D14F-DFAD-8CC45A70F1F9}"/>
              </a:ext>
            </a:extLst>
          </p:cNvPr>
          <p:cNvSpPr>
            <a:spLocks noGrp="1"/>
          </p:cNvSpPr>
          <p:nvPr>
            <p:ph type="title"/>
          </p:nvPr>
        </p:nvSpPr>
        <p:spPr/>
        <p:txBody>
          <a:bodyPr/>
          <a:lstStyle/>
          <a:p>
            <a:r>
              <a:rPr lang="en-MY"/>
              <a:t>Part 2</a:t>
            </a:r>
          </a:p>
        </p:txBody>
      </p:sp>
      <p:sp>
        <p:nvSpPr>
          <p:cNvPr id="3" name="Content Placeholder 2">
            <a:extLst>
              <a:ext uri="{FF2B5EF4-FFF2-40B4-BE49-F238E27FC236}">
                <a16:creationId xmlns:a16="http://schemas.microsoft.com/office/drawing/2014/main" id="{4A14B453-2708-34DB-5B01-B595ED2A4DE7}"/>
              </a:ext>
            </a:extLst>
          </p:cNvPr>
          <p:cNvSpPr>
            <a:spLocks noGrp="1"/>
          </p:cNvSpPr>
          <p:nvPr>
            <p:ph idx="1"/>
          </p:nvPr>
        </p:nvSpPr>
        <p:spPr/>
        <p:txBody>
          <a:bodyPr/>
          <a:lstStyle/>
          <a:p>
            <a:endParaRPr lang="en-MY"/>
          </a:p>
        </p:txBody>
      </p:sp>
    </p:spTree>
    <p:extLst>
      <p:ext uri="{BB962C8B-B14F-4D97-AF65-F5344CB8AC3E}">
        <p14:creationId xmlns:p14="http://schemas.microsoft.com/office/powerpoint/2010/main" val="1951819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54763-687E-402A-5278-BCEF2048910D}"/>
              </a:ext>
            </a:extLst>
          </p:cNvPr>
          <p:cNvSpPr>
            <a:spLocks noGrp="1"/>
          </p:cNvSpPr>
          <p:nvPr>
            <p:ph type="title"/>
          </p:nvPr>
        </p:nvSpPr>
        <p:spPr/>
        <p:txBody>
          <a:bodyPr>
            <a:normAutofit/>
          </a:bodyPr>
          <a:lstStyle/>
          <a:p>
            <a:r>
              <a:rPr lang="en-US" sz="3200"/>
              <a:t>Costs of Production, Revenue and Profit</a:t>
            </a:r>
          </a:p>
        </p:txBody>
      </p:sp>
      <p:sp>
        <p:nvSpPr>
          <p:cNvPr id="6" name="Content Placeholder 5">
            <a:extLst>
              <a:ext uri="{FF2B5EF4-FFF2-40B4-BE49-F238E27FC236}">
                <a16:creationId xmlns:a16="http://schemas.microsoft.com/office/drawing/2014/main" id="{703B1729-4CFD-9D98-77B8-B1216030C19D}"/>
              </a:ext>
            </a:extLst>
          </p:cNvPr>
          <p:cNvSpPr>
            <a:spLocks noGrp="1"/>
          </p:cNvSpPr>
          <p:nvPr>
            <p:ph idx="1"/>
          </p:nvPr>
        </p:nvSpPr>
        <p:spPr/>
        <p:txBody>
          <a:bodyPr>
            <a:normAutofit/>
          </a:bodyPr>
          <a:lstStyle/>
          <a:p>
            <a:pPr marL="342900" indent="-342900" algn="l">
              <a:spcBef>
                <a:spcPts val="600"/>
              </a:spcBef>
              <a:buFont typeface="Arial" panose="020B0604020202020204" pitchFamily="34" charset="0"/>
              <a:buChar char="•"/>
            </a:pPr>
            <a:r>
              <a:rPr lang="en-GB" sz="2000" i="0">
                <a:solidFill>
                  <a:srgbClr val="000000"/>
                </a:solidFill>
                <a:effectLst/>
                <a:latin typeface="Calibri" panose="020F0502020204030204" pitchFamily="34" charset="0"/>
                <a:cs typeface="Calibri" panose="020F0502020204030204" pitchFamily="34" charset="0"/>
              </a:rPr>
              <a:t>‘Most firms raising prices in 'cost-of-doing-business crisis’’</a:t>
            </a:r>
          </a:p>
          <a:p>
            <a:pPr marL="342900" indent="-342900" algn="l">
              <a:spcBef>
                <a:spcPts val="1200"/>
              </a:spcBef>
              <a:buFont typeface="Arial" panose="020B0604020202020204" pitchFamily="34" charset="0"/>
              <a:buChar char="•"/>
            </a:pPr>
            <a:r>
              <a:rPr lang="en-GB" sz="2000">
                <a:solidFill>
                  <a:srgbClr val="000000"/>
                </a:solidFill>
                <a:effectLst/>
                <a:latin typeface="Calibri" panose="020F0502020204030204" pitchFamily="34" charset="0"/>
                <a:cs typeface="Calibri" panose="020F0502020204030204" pitchFamily="34" charset="0"/>
              </a:rPr>
              <a:t>‘Three quarters of firms to put up prices as they face soaring wage and energy costs’</a:t>
            </a:r>
          </a:p>
          <a:p>
            <a:pPr marL="342900" indent="-342900" algn="l">
              <a:spcBef>
                <a:spcPts val="1200"/>
              </a:spcBef>
              <a:buFont typeface="Arial" panose="020B0604020202020204" pitchFamily="34" charset="0"/>
              <a:buChar char="•"/>
            </a:pPr>
            <a:r>
              <a:rPr lang="en-GB" sz="2000">
                <a:solidFill>
                  <a:srgbClr val="000000"/>
                </a:solidFill>
                <a:effectLst/>
                <a:latin typeface="Calibri" panose="020F0502020204030204" pitchFamily="34" charset="0"/>
                <a:cs typeface="Calibri" panose="020F0502020204030204" pitchFamily="34" charset="0"/>
              </a:rPr>
              <a:t>‘Companies Push Prices Higher, Protecting Profits but Adding to Inflation’</a:t>
            </a:r>
          </a:p>
          <a:p>
            <a:pPr marL="342900" indent="-342900" algn="l">
              <a:spcBef>
                <a:spcPts val="1200"/>
              </a:spcBef>
              <a:buFont typeface="Arial" panose="020B0604020202020204" pitchFamily="34" charset="0"/>
              <a:buChar char="•"/>
            </a:pPr>
            <a:r>
              <a:rPr lang="en-GB" sz="2000">
                <a:solidFill>
                  <a:srgbClr val="000000"/>
                </a:solidFill>
                <a:effectLst/>
                <a:latin typeface="Calibri" panose="020F0502020204030204" pitchFamily="34" charset="0"/>
                <a:cs typeface="Calibri" panose="020F0502020204030204" pitchFamily="34" charset="0"/>
              </a:rPr>
              <a:t>‘Big business is in for a rough earnings season – companies face falling revenues and rising costs’</a:t>
            </a:r>
          </a:p>
          <a:p>
            <a:pPr marL="342900" indent="-342900" algn="l">
              <a:spcBef>
                <a:spcPts val="1200"/>
              </a:spcBef>
              <a:buFont typeface="Arial" panose="020B0604020202020204" pitchFamily="34" charset="0"/>
              <a:buChar char="•"/>
            </a:pPr>
            <a:r>
              <a:rPr lang="en-GB" sz="2000">
                <a:solidFill>
                  <a:srgbClr val="000000"/>
                </a:solidFill>
                <a:effectLst/>
                <a:latin typeface="Calibri" panose="020F0502020204030204" pitchFamily="34" charset="0"/>
                <a:cs typeface="Calibri" panose="020F0502020204030204" pitchFamily="34" charset="0"/>
              </a:rPr>
              <a:t>‘Where on Earth is big oil spending its $150bn profit bonanza’</a:t>
            </a:r>
          </a:p>
          <a:p>
            <a:pPr marL="0" indent="0">
              <a:lnSpc>
                <a:spcPct val="80000"/>
              </a:lnSpc>
              <a:spcBef>
                <a:spcPct val="55000"/>
              </a:spcBef>
              <a:buNone/>
            </a:pPr>
            <a:endParaRPr lang="en-GB"/>
          </a:p>
        </p:txBody>
      </p:sp>
      <p:sp>
        <p:nvSpPr>
          <p:cNvPr id="4" name="TextBox 3">
            <a:extLst>
              <a:ext uri="{FF2B5EF4-FFF2-40B4-BE49-F238E27FC236}">
                <a16:creationId xmlns:a16="http://schemas.microsoft.com/office/drawing/2014/main" id="{E14AC9B2-D437-C2A2-8EAF-D8FF29E6B5B5}"/>
              </a:ext>
            </a:extLst>
          </p:cNvPr>
          <p:cNvSpPr txBox="1"/>
          <p:nvPr/>
        </p:nvSpPr>
        <p:spPr>
          <a:xfrm>
            <a:off x="829197" y="4148883"/>
            <a:ext cx="10768347" cy="1323439"/>
          </a:xfrm>
          <a:prstGeom prst="rect">
            <a:avLst/>
          </a:prstGeom>
          <a:noFill/>
        </p:spPr>
        <p:txBody>
          <a:bodyPr wrap="square" rtlCol="0">
            <a:spAutoFit/>
          </a:bodyPr>
          <a:lstStyle/>
          <a:p>
            <a:r>
              <a:rPr lang="en-GB" sz="1600">
                <a:effectLst/>
                <a:hlinkClick r:id="rId2"/>
              </a:rPr>
              <a:t>https://www.cips.org/supply-management/news/2022/february/most-firms-raising-prices-in-cost-of-doing-business-crisis/</a:t>
            </a:r>
            <a:endParaRPr lang="en-GB" sz="1600">
              <a:effectLst/>
            </a:endParaRPr>
          </a:p>
          <a:p>
            <a:r>
              <a:rPr lang="en-GB" sz="1600">
                <a:hlinkClick r:id="rId3"/>
              </a:rPr>
              <a:t>https://news.sky.com/story/three-quarters-of-firms-to-put-up-prices-as-they-face-soaring-wage-and-energy-costs-12537690</a:t>
            </a:r>
            <a:endParaRPr lang="en-GB" sz="1600"/>
          </a:p>
          <a:p>
            <a:r>
              <a:rPr lang="en-GB" sz="1600">
                <a:hlinkClick r:id="rId4"/>
              </a:rPr>
              <a:t>https://www.nytimes.com/2023/05/30/business/economy/inflation-companies-profits-higher-prices.html</a:t>
            </a:r>
            <a:endParaRPr lang="en-GB" sz="1600"/>
          </a:p>
          <a:p>
            <a:r>
              <a:rPr lang="en-GB" sz="1600">
                <a:hlinkClick r:id="rId5"/>
              </a:rPr>
              <a:t>https://www.economist.com/business/2023/01/22/big-business-is-in-for-a-rough-earnings-season</a:t>
            </a:r>
            <a:endParaRPr lang="en-GB" sz="1600"/>
          </a:p>
          <a:p>
            <a:r>
              <a:rPr lang="en-GB" sz="1600">
                <a:hlinkClick r:id="rId6"/>
              </a:rPr>
              <a:t>https://www.economist.com/business/2023/02/06/where-on-earth-is-big-oil-spending-its-150bn-profit-bonanza</a:t>
            </a:r>
            <a:endParaRPr lang="en-GB" sz="1600"/>
          </a:p>
        </p:txBody>
      </p:sp>
    </p:spTree>
    <p:extLst>
      <p:ext uri="{BB962C8B-B14F-4D97-AF65-F5344CB8AC3E}">
        <p14:creationId xmlns:p14="http://schemas.microsoft.com/office/powerpoint/2010/main" val="1101340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0A87125D-AFB2-42A3-AA6E-AD1FD4F57DB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a:extLst>
              <a:ext uri="{FF2B5EF4-FFF2-40B4-BE49-F238E27FC236}">
                <a16:creationId xmlns:a16="http://schemas.microsoft.com/office/drawing/2014/main" id="{EAA1F9B8-0F4B-47F5-A749-E64493D1336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7" name="Rectangle 7">
            <a:extLst>
              <a:ext uri="{FF2B5EF4-FFF2-40B4-BE49-F238E27FC236}">
                <a16:creationId xmlns:a16="http://schemas.microsoft.com/office/drawing/2014/main" id="{CAD51C68-081F-4509-AF39-A27A3BC3C196}"/>
              </a:ext>
            </a:extLst>
          </p:cNvPr>
          <p:cNvSpPr>
            <a:spLocks noGrp="1"/>
          </p:cNvSpPr>
          <p:nvPr>
            <p:ph type="title"/>
          </p:nvPr>
        </p:nvSpPr>
        <p:spPr>
          <a:xfrm>
            <a:off x="383831" y="257209"/>
            <a:ext cx="10515600" cy="908198"/>
          </a:xfrm>
          <a:noFill/>
          <a:ln/>
        </p:spPr>
        <p:txBody>
          <a:bodyPr/>
          <a:lstStyle/>
          <a:p>
            <a:r>
              <a:rPr lang="en-GB" altLang="en-US">
                <a:latin typeface="Calibri" panose="020F0502020204030204" pitchFamily="34" charset="0"/>
                <a:cs typeface="Calibri" panose="020F0502020204030204" pitchFamily="34" charset="0"/>
              </a:rPr>
              <a:t>Production in the Short Run</a:t>
            </a:r>
          </a:p>
        </p:txBody>
      </p:sp>
      <p:sp>
        <p:nvSpPr>
          <p:cNvPr id="373765" name="Rectangle 5">
            <a:extLst>
              <a:ext uri="{FF2B5EF4-FFF2-40B4-BE49-F238E27FC236}">
                <a16:creationId xmlns:a16="http://schemas.microsoft.com/office/drawing/2014/main" id="{5390F5AB-F481-4F08-A549-F039B440AD2C}"/>
              </a:ext>
            </a:extLst>
          </p:cNvPr>
          <p:cNvSpPr>
            <a:spLocks noGrp="1"/>
          </p:cNvSpPr>
          <p:nvPr>
            <p:ph idx="1"/>
          </p:nvPr>
        </p:nvSpPr>
        <p:spPr>
          <a:xfrm>
            <a:off x="402167" y="1261510"/>
            <a:ext cx="11379200" cy="4889500"/>
          </a:xfrm>
        </p:spPr>
        <p:txBody>
          <a:bodyPr/>
          <a:lstStyle/>
          <a:p>
            <a:pPr marL="0" indent="0">
              <a:lnSpc>
                <a:spcPct val="95000"/>
              </a:lnSpc>
              <a:spcBef>
                <a:spcPct val="60000"/>
              </a:spcBef>
              <a:buNone/>
            </a:pPr>
            <a:r>
              <a:rPr lang="en-GB" altLang="en-US" sz="2000">
                <a:latin typeface="Calibri" panose="020F0502020204030204" pitchFamily="34" charset="0"/>
                <a:cs typeface="Calibri" panose="020F0502020204030204" pitchFamily="34" charset="0"/>
              </a:rPr>
              <a:t>Production functions (show the relationship between inputs and output)</a:t>
            </a:r>
          </a:p>
          <a:p>
            <a:pPr marL="0" indent="0">
              <a:lnSpc>
                <a:spcPct val="95000"/>
              </a:lnSpc>
              <a:spcBef>
                <a:spcPct val="60000"/>
              </a:spcBef>
              <a:buNone/>
            </a:pPr>
            <a:endParaRPr lang="en-GB" altLang="en-US" sz="2000">
              <a:latin typeface="Calibri" panose="020F0502020204030204" pitchFamily="34" charset="0"/>
              <a:cs typeface="Calibri" panose="020F0502020204030204" pitchFamily="34" charset="0"/>
            </a:endParaRPr>
          </a:p>
          <a:p>
            <a:pPr marL="0" indent="0">
              <a:lnSpc>
                <a:spcPct val="95000"/>
              </a:lnSpc>
              <a:spcBef>
                <a:spcPct val="60000"/>
              </a:spcBef>
              <a:buNone/>
            </a:pPr>
            <a:endParaRPr lang="en-GB" altLang="en-US" sz="2000">
              <a:latin typeface="Calibri" panose="020F0502020204030204" pitchFamily="34" charset="0"/>
              <a:cs typeface="Calibri" panose="020F0502020204030204" pitchFamily="34" charset="0"/>
            </a:endParaRPr>
          </a:p>
          <a:p>
            <a:pPr>
              <a:lnSpc>
                <a:spcPct val="95000"/>
              </a:lnSpc>
              <a:spcBef>
                <a:spcPct val="60000"/>
              </a:spcBef>
            </a:pPr>
            <a:endParaRPr lang="en-GB" altLang="en-US" sz="2000">
              <a:latin typeface="Calibri" panose="020F0502020204030204" pitchFamily="34" charset="0"/>
              <a:cs typeface="Calibri" panose="020F0502020204030204" pitchFamily="34" charset="0"/>
            </a:endParaRPr>
          </a:p>
          <a:p>
            <a:pPr>
              <a:lnSpc>
                <a:spcPct val="95000"/>
              </a:lnSpc>
              <a:spcBef>
                <a:spcPct val="60000"/>
              </a:spcBef>
            </a:pPr>
            <a:endParaRPr lang="en-GB" altLang="en-US" sz="2000">
              <a:latin typeface="Calibri" panose="020F0502020204030204" pitchFamily="34" charset="0"/>
              <a:cs typeface="Calibri" panose="020F0502020204030204" pitchFamily="34" charset="0"/>
            </a:endParaRPr>
          </a:p>
          <a:p>
            <a:pPr marL="0" indent="0">
              <a:lnSpc>
                <a:spcPct val="95000"/>
              </a:lnSpc>
              <a:spcBef>
                <a:spcPct val="60000"/>
              </a:spcBef>
              <a:buNone/>
            </a:pPr>
            <a:endParaRPr lang="en-GB" altLang="en-US" sz="2000">
              <a:latin typeface="Calibri" panose="020F0502020204030204" pitchFamily="34" charset="0"/>
              <a:cs typeface="Calibri" panose="020F0502020204030204" pitchFamily="34" charset="0"/>
            </a:endParaRPr>
          </a:p>
          <a:p>
            <a:pPr>
              <a:lnSpc>
                <a:spcPct val="95000"/>
              </a:lnSpc>
              <a:spcBef>
                <a:spcPct val="60000"/>
              </a:spcBef>
            </a:pPr>
            <a:r>
              <a:rPr lang="en-GB" altLang="en-US" sz="2000">
                <a:latin typeface="Calibri" panose="020F0502020204030204" pitchFamily="34" charset="0"/>
                <a:cs typeface="Calibri" panose="020F0502020204030204" pitchFamily="34" charset="0"/>
              </a:rPr>
              <a:t>The output of the firm is known as the TPP = total physical product </a:t>
            </a:r>
          </a:p>
          <a:p>
            <a:pPr>
              <a:lnSpc>
                <a:spcPct val="95000"/>
              </a:lnSpc>
              <a:spcBef>
                <a:spcPct val="60000"/>
              </a:spcBef>
            </a:pPr>
            <a:r>
              <a:rPr lang="en-GB" altLang="en-US" sz="2000">
                <a:latin typeface="Calibri" panose="020F0502020204030204" pitchFamily="34" charset="0"/>
                <a:cs typeface="Calibri" panose="020F0502020204030204" pitchFamily="34" charset="0"/>
              </a:rPr>
              <a:t>TPP over a given period is a function of (i.e., depends on) the quantity of factors of production employed</a:t>
            </a:r>
          </a:p>
          <a:p>
            <a:pPr>
              <a:lnSpc>
                <a:spcPct val="95000"/>
              </a:lnSpc>
              <a:spcBef>
                <a:spcPct val="60000"/>
              </a:spcBef>
            </a:pPr>
            <a:r>
              <a:rPr lang="en-GB" altLang="en-US" sz="2000" b="1">
                <a:latin typeface="Calibri" panose="020F0502020204030204" pitchFamily="34" charset="0"/>
                <a:cs typeface="Calibri" panose="020F0502020204030204" pitchFamily="34" charset="0"/>
              </a:rPr>
              <a:t>Increasing the quantity of inputs </a:t>
            </a:r>
            <a:r>
              <a:rPr lang="en-GB" altLang="en-US" sz="2000">
                <a:latin typeface="Calibri" panose="020F0502020204030204" pitchFamily="34" charset="0"/>
                <a:cs typeface="Calibri" panose="020F0502020204030204" pitchFamily="34" charset="0"/>
              </a:rPr>
              <a:t>or </a:t>
            </a:r>
            <a:r>
              <a:rPr lang="en-GB" altLang="en-US" sz="2000" b="1">
                <a:latin typeface="Calibri" panose="020F0502020204030204" pitchFamily="34" charset="0"/>
                <a:cs typeface="Calibri" panose="020F0502020204030204" pitchFamily="34" charset="0"/>
              </a:rPr>
              <a:t>improving the productivity </a:t>
            </a:r>
            <a:r>
              <a:rPr lang="en-GB" altLang="en-US" sz="2000">
                <a:latin typeface="Calibri" panose="020F0502020204030204" pitchFamily="34" charset="0"/>
                <a:cs typeface="Calibri" panose="020F0502020204030204" pitchFamily="34" charset="0"/>
              </a:rPr>
              <a:t>of them can </a:t>
            </a:r>
            <a:r>
              <a:rPr lang="en-GB" altLang="en-US" sz="2000" b="1">
                <a:latin typeface="Calibri" panose="020F0502020204030204" pitchFamily="34" charset="0"/>
                <a:cs typeface="Calibri" panose="020F0502020204030204" pitchFamily="34" charset="0"/>
              </a:rPr>
              <a:t>increase output</a:t>
            </a:r>
            <a:r>
              <a:rPr lang="en-GB" altLang="en-US" sz="2000">
                <a:latin typeface="Calibri" panose="020F0502020204030204" pitchFamily="34" charset="0"/>
                <a:cs typeface="Calibri" panose="020F0502020204030204" pitchFamily="34" charset="0"/>
              </a:rPr>
              <a:t>.</a:t>
            </a:r>
          </a:p>
          <a:p>
            <a:pPr>
              <a:lnSpc>
                <a:spcPct val="95000"/>
              </a:lnSpc>
              <a:spcBef>
                <a:spcPct val="60000"/>
              </a:spcBef>
            </a:pPr>
            <a:r>
              <a:rPr lang="en-GB" sz="2000">
                <a:latin typeface="Calibri" panose="020F0502020204030204" pitchFamily="34" charset="0"/>
                <a:ea typeface="Calibri" panose="020F0502020204030204" pitchFamily="34" charset="0"/>
                <a:cs typeface="Calibri" panose="020F0502020204030204" pitchFamily="34" charset="0"/>
                <a:hlinkClick r:id="rId3"/>
              </a:rPr>
              <a:t>What is productivity? (youtube.com)</a:t>
            </a:r>
            <a:endParaRPr lang="en-GB" sz="2000">
              <a:latin typeface="Calibri" panose="020F0502020204030204" pitchFamily="34" charset="0"/>
              <a:ea typeface="Calibri" panose="020F0502020204030204" pitchFamily="34" charset="0"/>
              <a:cs typeface="Calibri" panose="020F0502020204030204" pitchFamily="34" charset="0"/>
            </a:endParaRPr>
          </a:p>
          <a:p>
            <a:pPr>
              <a:lnSpc>
                <a:spcPct val="95000"/>
              </a:lnSpc>
              <a:spcBef>
                <a:spcPct val="60000"/>
              </a:spcBef>
            </a:pPr>
            <a:endParaRPr lang="en-GB" altLang="en-US" sz="200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F60D1645-F51B-2BD9-C57A-2685BEDEC2D4}"/>
              </a:ext>
            </a:extLst>
          </p:cNvPr>
          <p:cNvPicPr>
            <a:picLocks noChangeAspect="1"/>
          </p:cNvPicPr>
          <p:nvPr/>
        </p:nvPicPr>
        <p:blipFill>
          <a:blip r:embed="rId4"/>
          <a:stretch>
            <a:fillRect/>
          </a:stretch>
        </p:blipFill>
        <p:spPr>
          <a:xfrm>
            <a:off x="578420" y="1839513"/>
            <a:ext cx="6736664" cy="2060627"/>
          </a:xfrm>
          <a:prstGeom prst="rect">
            <a:avLst/>
          </a:prstGeom>
        </p:spPr>
      </p:pic>
    </p:spTree>
    <p:extLst>
      <p:ext uri="{BB962C8B-B14F-4D97-AF65-F5344CB8AC3E}">
        <p14:creationId xmlns:p14="http://schemas.microsoft.com/office/powerpoint/2010/main" val="174085128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6" end="6"/>
                                            </p:txEl>
                                          </p:spTgt>
                                        </p:tgtEl>
                                        <p:attrNameLst>
                                          <p:attrName>style.visibility</p:attrName>
                                        </p:attrNameLst>
                                      </p:cBhvr>
                                      <p:to>
                                        <p:strVal val="visible"/>
                                      </p:to>
                                    </p:set>
                                    <p:anim calcmode="lin" valueType="num">
                                      <p:cBhvr additive="base">
                                        <p:cTn id="13"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6" end="6"/>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5">
                                            <p:txEl>
                                              <p:pRg st="7" end="7"/>
                                            </p:txEl>
                                          </p:spTgt>
                                        </p:tgtEl>
                                        <p:attrNameLst>
                                          <p:attrName>style.visibility</p:attrName>
                                        </p:attrNameLst>
                                      </p:cBhvr>
                                      <p:to>
                                        <p:strVal val="visible"/>
                                      </p:to>
                                    </p:set>
                                    <p:anim calcmode="lin" valueType="num">
                                      <p:cBhvr additive="base">
                                        <p:cTn id="19"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5">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3765">
                                            <p:txEl>
                                              <p:pRg st="8" end="8"/>
                                            </p:txEl>
                                          </p:spTgt>
                                        </p:tgtEl>
                                        <p:attrNameLst>
                                          <p:attrName>style.visibility</p:attrName>
                                        </p:attrNameLst>
                                      </p:cBhvr>
                                      <p:to>
                                        <p:strVal val="visible"/>
                                      </p:to>
                                    </p:set>
                                    <p:anim calcmode="lin" valueType="num">
                                      <p:cBhvr additive="base">
                                        <p:cTn id="25" dur="500"/>
                                        <p:tgtEl>
                                          <p:spTgt spid="373765">
                                            <p:txEl>
                                              <p:pRg st="8" end="8"/>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3765">
                                            <p:txEl>
                                              <p:pRg st="9" end="9"/>
                                            </p:txEl>
                                          </p:spTgt>
                                        </p:tgtEl>
                                        <p:attrNameLst>
                                          <p:attrName>style.visibility</p:attrName>
                                        </p:attrNameLst>
                                      </p:cBhvr>
                                      <p:to>
                                        <p:strVal val="visible"/>
                                      </p:to>
                                    </p:set>
                                    <p:anim calcmode="lin" valueType="num">
                                      <p:cBhvr additive="base">
                                        <p:cTn id="31" dur="500"/>
                                        <p:tgtEl>
                                          <p:spTgt spid="373765">
                                            <p:txEl>
                                              <p:pRg st="9" end="9"/>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3"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0A87125D-AFB2-42A3-AA6E-AD1FD4F57DB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a:extLst>
              <a:ext uri="{FF2B5EF4-FFF2-40B4-BE49-F238E27FC236}">
                <a16:creationId xmlns:a16="http://schemas.microsoft.com/office/drawing/2014/main" id="{EAA1F9B8-0F4B-47F5-A749-E64493D1336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7" name="Rectangle 7">
            <a:extLst>
              <a:ext uri="{FF2B5EF4-FFF2-40B4-BE49-F238E27FC236}">
                <a16:creationId xmlns:a16="http://schemas.microsoft.com/office/drawing/2014/main" id="{CAD51C68-081F-4509-AF39-A27A3BC3C196}"/>
              </a:ext>
            </a:extLst>
          </p:cNvPr>
          <p:cNvSpPr>
            <a:spLocks noGrp="1"/>
          </p:cNvSpPr>
          <p:nvPr>
            <p:ph type="title"/>
          </p:nvPr>
        </p:nvSpPr>
        <p:spPr>
          <a:xfrm>
            <a:off x="400868" y="262890"/>
            <a:ext cx="10515600" cy="908198"/>
          </a:xfrm>
          <a:noFill/>
          <a:ln/>
        </p:spPr>
        <p:txBody>
          <a:bodyPr/>
          <a:lstStyle/>
          <a:p>
            <a:r>
              <a:rPr lang="en-GB" altLang="en-US">
                <a:latin typeface="Calibri" panose="020F0502020204030204" pitchFamily="34" charset="0"/>
                <a:cs typeface="Calibri" panose="020F0502020204030204" pitchFamily="34" charset="0"/>
              </a:rPr>
              <a:t>Production in the Short Run</a:t>
            </a:r>
          </a:p>
        </p:txBody>
      </p:sp>
      <p:sp>
        <p:nvSpPr>
          <p:cNvPr id="373765" name="Rectangle 5">
            <a:extLst>
              <a:ext uri="{FF2B5EF4-FFF2-40B4-BE49-F238E27FC236}">
                <a16:creationId xmlns:a16="http://schemas.microsoft.com/office/drawing/2014/main" id="{5390F5AB-F481-4F08-A549-F039B440AD2C}"/>
              </a:ext>
            </a:extLst>
          </p:cNvPr>
          <p:cNvSpPr>
            <a:spLocks noGrp="1"/>
          </p:cNvSpPr>
          <p:nvPr>
            <p:ph idx="1"/>
          </p:nvPr>
        </p:nvSpPr>
        <p:spPr>
          <a:xfrm>
            <a:off x="402167" y="1304440"/>
            <a:ext cx="11379200" cy="5169194"/>
          </a:xfrm>
        </p:spPr>
        <p:txBody>
          <a:bodyPr>
            <a:normAutofit/>
          </a:bodyPr>
          <a:lstStyle/>
          <a:p>
            <a:pPr marL="0" indent="0">
              <a:lnSpc>
                <a:spcPct val="100000"/>
              </a:lnSpc>
              <a:spcBef>
                <a:spcPts val="1200"/>
              </a:spcBef>
              <a:buNone/>
            </a:pPr>
            <a:r>
              <a:rPr lang="en-GB" altLang="en-US" sz="2000">
                <a:latin typeface="Calibri" panose="020F0502020204030204" pitchFamily="34" charset="0"/>
                <a:cs typeface="Calibri" panose="020F0502020204030204" pitchFamily="34" charset="0"/>
              </a:rPr>
              <a:t>Distinction between the short run and the long run</a:t>
            </a:r>
          </a:p>
          <a:p>
            <a:pPr>
              <a:lnSpc>
                <a:spcPct val="100000"/>
              </a:lnSpc>
              <a:spcBef>
                <a:spcPts val="1200"/>
              </a:spcBef>
            </a:pPr>
            <a:r>
              <a:rPr lang="en-GB" altLang="en-US" sz="2000">
                <a:latin typeface="Calibri" panose="020F0502020204030204" pitchFamily="34" charset="0"/>
                <a:cs typeface="Calibri" panose="020F0502020204030204" pitchFamily="34" charset="0"/>
              </a:rPr>
              <a:t>The </a:t>
            </a:r>
            <a:r>
              <a:rPr lang="en-GB" altLang="en-US" sz="2000" b="1">
                <a:latin typeface="Calibri" panose="020F0502020204030204" pitchFamily="34" charset="0"/>
                <a:cs typeface="Calibri" panose="020F0502020204030204" pitchFamily="34" charset="0"/>
              </a:rPr>
              <a:t>short run </a:t>
            </a:r>
            <a:r>
              <a:rPr lang="en-GB" altLang="en-US" sz="2000">
                <a:latin typeface="Calibri" panose="020F0502020204030204" pitchFamily="34" charset="0"/>
                <a:cs typeface="Calibri" panose="020F0502020204030204" pitchFamily="34" charset="0"/>
              </a:rPr>
              <a:t>is a period during which </a:t>
            </a:r>
            <a:r>
              <a:rPr lang="en-GB" altLang="en-US" sz="2000" b="1">
                <a:latin typeface="Calibri" panose="020F0502020204030204" pitchFamily="34" charset="0"/>
                <a:cs typeface="Calibri" panose="020F0502020204030204" pitchFamily="34" charset="0"/>
              </a:rPr>
              <a:t>at least one factor of production is fixed</a:t>
            </a:r>
            <a:r>
              <a:rPr lang="en-GB" altLang="en-US" sz="2000">
                <a:latin typeface="Calibri" panose="020F0502020204030204" pitchFamily="34" charset="0"/>
                <a:cs typeface="Calibri" panose="020F0502020204030204" pitchFamily="34" charset="0"/>
              </a:rPr>
              <a:t>.</a:t>
            </a:r>
          </a:p>
          <a:p>
            <a:pPr>
              <a:lnSpc>
                <a:spcPct val="100000"/>
              </a:lnSpc>
              <a:spcBef>
                <a:spcPts val="1200"/>
              </a:spcBef>
            </a:pPr>
            <a:r>
              <a:rPr lang="en-GB" altLang="en-US" sz="2000">
                <a:latin typeface="Calibri" panose="020F0502020204030204" pitchFamily="34" charset="0"/>
                <a:cs typeface="Calibri" panose="020F0502020204030204" pitchFamily="34" charset="0"/>
              </a:rPr>
              <a:t>The </a:t>
            </a:r>
            <a:r>
              <a:rPr lang="en-GB" altLang="en-US" sz="2000" b="1">
                <a:latin typeface="Calibri" panose="020F0502020204030204" pitchFamily="34" charset="0"/>
                <a:cs typeface="Calibri" panose="020F0502020204030204" pitchFamily="34" charset="0"/>
              </a:rPr>
              <a:t>long run </a:t>
            </a:r>
            <a:r>
              <a:rPr lang="en-GB" altLang="en-US" sz="2000">
                <a:latin typeface="Calibri" panose="020F0502020204030204" pitchFamily="34" charset="0"/>
                <a:cs typeface="Calibri" panose="020F0502020204030204" pitchFamily="34" charset="0"/>
              </a:rPr>
              <a:t>is a period </a:t>
            </a:r>
            <a:r>
              <a:rPr lang="en-GB" altLang="en-US" sz="2000" b="1">
                <a:latin typeface="Calibri" panose="020F0502020204030204" pitchFamily="34" charset="0"/>
                <a:cs typeface="Calibri" panose="020F0502020204030204" pitchFamily="34" charset="0"/>
              </a:rPr>
              <a:t>long enough for </a:t>
            </a:r>
            <a:r>
              <a:rPr lang="en-GB" altLang="en-US" sz="2000" b="1" i="1">
                <a:latin typeface="Calibri" panose="020F0502020204030204" pitchFamily="34" charset="0"/>
                <a:cs typeface="Calibri" panose="020F0502020204030204" pitchFamily="34" charset="0"/>
              </a:rPr>
              <a:t>all </a:t>
            </a:r>
            <a:r>
              <a:rPr lang="en-GB" altLang="en-US" sz="2000" b="1">
                <a:latin typeface="Calibri" panose="020F0502020204030204" pitchFamily="34" charset="0"/>
                <a:cs typeface="Calibri" panose="020F0502020204030204" pitchFamily="34" charset="0"/>
              </a:rPr>
              <a:t>factors to be varied</a:t>
            </a:r>
            <a:r>
              <a:rPr lang="en-GB" altLang="en-US" sz="2000">
                <a:latin typeface="Calibri" panose="020F0502020204030204" pitchFamily="34" charset="0"/>
                <a:cs typeface="Calibri" panose="020F0502020204030204" pitchFamily="34" charset="0"/>
              </a:rPr>
              <a:t>.</a:t>
            </a:r>
          </a:p>
          <a:p>
            <a:pPr>
              <a:lnSpc>
                <a:spcPct val="100000"/>
              </a:lnSpc>
              <a:spcBef>
                <a:spcPts val="1200"/>
              </a:spcBef>
            </a:pPr>
            <a:r>
              <a:rPr lang="en-GB" altLang="en-US" sz="2000">
                <a:latin typeface="Calibri" panose="020F0502020204030204" pitchFamily="34" charset="0"/>
                <a:cs typeface="Calibri" panose="020F0502020204030204" pitchFamily="34" charset="0"/>
              </a:rPr>
              <a:t>The actual length of the short run will differ from firm to firm – it is not a fixed period.</a:t>
            </a:r>
            <a:endParaRPr lang="en-GB" altLang="en-US" sz="2000" b="1">
              <a:solidFill>
                <a:srgbClr val="4E2700"/>
              </a:solidFill>
              <a:latin typeface="Calibri" panose="020F0502020204030204" pitchFamily="34" charset="0"/>
              <a:cs typeface="Calibri" panose="020F0502020204030204" pitchFamily="34" charset="0"/>
            </a:endParaRPr>
          </a:p>
          <a:p>
            <a:pPr marL="0" indent="0">
              <a:lnSpc>
                <a:spcPct val="100000"/>
              </a:lnSpc>
              <a:spcBef>
                <a:spcPts val="1200"/>
              </a:spcBef>
              <a:buNone/>
            </a:pPr>
            <a:endParaRPr lang="en-GB" altLang="en-US" sz="2000">
              <a:latin typeface="Calibri" panose="020F0502020204030204" pitchFamily="34" charset="0"/>
              <a:cs typeface="Calibri" panose="020F0502020204030204" pitchFamily="34" charset="0"/>
            </a:endParaRPr>
          </a:p>
          <a:p>
            <a:pPr marL="0" indent="0">
              <a:lnSpc>
                <a:spcPct val="100000"/>
              </a:lnSpc>
              <a:spcBef>
                <a:spcPts val="1200"/>
              </a:spcBef>
              <a:buNone/>
            </a:pPr>
            <a:r>
              <a:rPr lang="en-GB" altLang="en-US" sz="2000">
                <a:latin typeface="Calibri" panose="020F0502020204030204" pitchFamily="34" charset="0"/>
                <a:cs typeface="Calibri" panose="020F0502020204030204" pitchFamily="34" charset="0"/>
              </a:rPr>
              <a:t>The </a:t>
            </a:r>
            <a:r>
              <a:rPr lang="en-GB" altLang="en-US" sz="2000" b="1">
                <a:latin typeface="Calibri" panose="020F0502020204030204" pitchFamily="34" charset="0"/>
                <a:cs typeface="Calibri" panose="020F0502020204030204" pitchFamily="34" charset="0"/>
              </a:rPr>
              <a:t>Law of Diminishing Returns </a:t>
            </a:r>
            <a:r>
              <a:rPr lang="en-GB" altLang="en-US" sz="2000">
                <a:latin typeface="Calibri" panose="020F0502020204030204" pitchFamily="34" charset="0"/>
                <a:cs typeface="Calibri" panose="020F0502020204030204" pitchFamily="34" charset="0"/>
              </a:rPr>
              <a:t>- each extra unit of the variable factor will produce less additional output than the previous unit.</a:t>
            </a:r>
          </a:p>
          <a:p>
            <a:pPr>
              <a:lnSpc>
                <a:spcPct val="100000"/>
              </a:lnSpc>
              <a:spcBef>
                <a:spcPts val="1200"/>
              </a:spcBef>
            </a:pPr>
            <a:r>
              <a:rPr lang="en-GB" altLang="en-US" sz="2000">
                <a:latin typeface="Calibri" panose="020F0502020204030204" pitchFamily="34" charset="0"/>
                <a:cs typeface="Calibri" panose="020F0502020204030204" pitchFamily="34" charset="0"/>
              </a:rPr>
              <a:t>Occurs in the short run when increasing amounts of a variable factor are used with a given amount of fixed factor</a:t>
            </a:r>
          </a:p>
          <a:p>
            <a:pPr>
              <a:lnSpc>
                <a:spcPct val="100000"/>
              </a:lnSpc>
              <a:spcBef>
                <a:spcPts val="1200"/>
              </a:spcBef>
            </a:pPr>
            <a:r>
              <a:rPr lang="en-GB" altLang="en-US" sz="2000">
                <a:latin typeface="Calibri" panose="020F0502020204030204" pitchFamily="34" charset="0"/>
                <a:cs typeface="Calibri" panose="020F0502020204030204" pitchFamily="34" charset="0"/>
              </a:rPr>
              <a:t>Simple example - assume just two factors - land (fixed) and labour (variable). Output per period can only be increased by increasing the number of workers. But imagine what would happen as more and more workers crowded on to a fixed area of land.</a:t>
            </a:r>
          </a:p>
        </p:txBody>
      </p:sp>
    </p:spTree>
    <p:extLst>
      <p:ext uri="{BB962C8B-B14F-4D97-AF65-F5344CB8AC3E}">
        <p14:creationId xmlns:p14="http://schemas.microsoft.com/office/powerpoint/2010/main" val="116944078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5">
                                            <p:txEl>
                                              <p:pRg st="2" end="2"/>
                                            </p:txEl>
                                          </p:spTgt>
                                        </p:tgtEl>
                                        <p:attrNameLst>
                                          <p:attrName>style.visibility</p:attrName>
                                        </p:attrNameLst>
                                      </p:cBhvr>
                                      <p:to>
                                        <p:strVal val="visible"/>
                                      </p:to>
                                    </p:set>
                                    <p:anim calcmode="lin" valueType="num">
                                      <p:cBhvr additive="base">
                                        <p:cTn id="19"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3765">
                                            <p:txEl>
                                              <p:pRg st="3" end="3"/>
                                            </p:txEl>
                                          </p:spTgt>
                                        </p:tgtEl>
                                        <p:attrNameLst>
                                          <p:attrName>style.visibility</p:attrName>
                                        </p:attrNameLst>
                                      </p:cBhvr>
                                      <p:to>
                                        <p:strVal val="visible"/>
                                      </p:to>
                                    </p:set>
                                    <p:anim calcmode="lin" valueType="num">
                                      <p:cBhvr additive="base">
                                        <p:cTn id="25"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3765">
                                            <p:txEl>
                                              <p:pRg st="5" end="5"/>
                                            </p:txEl>
                                          </p:spTgt>
                                        </p:tgtEl>
                                        <p:attrNameLst>
                                          <p:attrName>style.visibility</p:attrName>
                                        </p:attrNameLst>
                                      </p:cBhvr>
                                      <p:to>
                                        <p:strVal val="visible"/>
                                      </p:to>
                                    </p:set>
                                    <p:anim calcmode="lin" valueType="num">
                                      <p:cBhvr additive="base">
                                        <p:cTn id="31" dur="500"/>
                                        <p:tgtEl>
                                          <p:spTgt spid="37376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3765">
                                            <p:txEl>
                                              <p:pRg st="6" end="6"/>
                                            </p:txEl>
                                          </p:spTgt>
                                        </p:tgtEl>
                                        <p:attrNameLst>
                                          <p:attrName>style.visibility</p:attrName>
                                        </p:attrNameLst>
                                      </p:cBhvr>
                                      <p:to>
                                        <p:strVal val="visible"/>
                                      </p:to>
                                    </p:set>
                                    <p:anim calcmode="lin" valueType="num">
                                      <p:cBhvr additive="base">
                                        <p:cTn id="37"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3765">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3765">
                                            <p:txEl>
                                              <p:pRg st="7" end="7"/>
                                            </p:txEl>
                                          </p:spTgt>
                                        </p:tgtEl>
                                        <p:attrNameLst>
                                          <p:attrName>style.visibility</p:attrName>
                                        </p:attrNameLst>
                                      </p:cBhvr>
                                      <p:to>
                                        <p:strVal val="visible"/>
                                      </p:to>
                                    </p:set>
                                    <p:anim calcmode="lin" valueType="num">
                                      <p:cBhvr additive="base">
                                        <p:cTn id="43"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3"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0A87125D-AFB2-42A3-AA6E-AD1FD4F57DB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a:extLst>
              <a:ext uri="{FF2B5EF4-FFF2-40B4-BE49-F238E27FC236}">
                <a16:creationId xmlns:a16="http://schemas.microsoft.com/office/drawing/2014/main" id="{EAA1F9B8-0F4B-47F5-A749-E64493D1336F}"/>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7" name="Rectangle 7">
            <a:extLst>
              <a:ext uri="{FF2B5EF4-FFF2-40B4-BE49-F238E27FC236}">
                <a16:creationId xmlns:a16="http://schemas.microsoft.com/office/drawing/2014/main" id="{CAD51C68-081F-4509-AF39-A27A3BC3C196}"/>
              </a:ext>
            </a:extLst>
          </p:cNvPr>
          <p:cNvSpPr>
            <a:spLocks noGrp="1"/>
          </p:cNvSpPr>
          <p:nvPr>
            <p:ph type="title"/>
          </p:nvPr>
        </p:nvSpPr>
        <p:spPr>
          <a:xfrm>
            <a:off x="310000" y="234494"/>
            <a:ext cx="10515600" cy="908198"/>
          </a:xfrm>
          <a:noFill/>
          <a:ln/>
        </p:spPr>
        <p:txBody>
          <a:bodyPr/>
          <a:lstStyle/>
          <a:p>
            <a:r>
              <a:rPr lang="en-GB" altLang="en-US">
                <a:latin typeface="Calibri" panose="020F0502020204030204" pitchFamily="34" charset="0"/>
                <a:cs typeface="Calibri" panose="020F0502020204030204" pitchFamily="34" charset="0"/>
              </a:rPr>
              <a:t>Production in the Short Run</a:t>
            </a:r>
          </a:p>
        </p:txBody>
      </p:sp>
      <p:sp>
        <p:nvSpPr>
          <p:cNvPr id="373765" name="Rectangle 5">
            <a:extLst>
              <a:ext uri="{FF2B5EF4-FFF2-40B4-BE49-F238E27FC236}">
                <a16:creationId xmlns:a16="http://schemas.microsoft.com/office/drawing/2014/main" id="{5390F5AB-F481-4F08-A549-F039B440AD2C}"/>
              </a:ext>
            </a:extLst>
          </p:cNvPr>
          <p:cNvSpPr>
            <a:spLocks noGrp="1"/>
          </p:cNvSpPr>
          <p:nvPr>
            <p:ph idx="1"/>
          </p:nvPr>
        </p:nvSpPr>
        <p:spPr>
          <a:xfrm>
            <a:off x="326475" y="1220941"/>
            <a:ext cx="11488972" cy="4889500"/>
          </a:xfrm>
        </p:spPr>
        <p:txBody>
          <a:bodyPr>
            <a:normAutofit fontScale="92500" lnSpcReduction="20000"/>
          </a:bodyPr>
          <a:lstStyle/>
          <a:p>
            <a:pPr marL="0" indent="0">
              <a:lnSpc>
                <a:spcPct val="100000"/>
              </a:lnSpc>
              <a:spcBef>
                <a:spcPts val="0"/>
              </a:spcBef>
              <a:spcAft>
                <a:spcPts val="1200"/>
              </a:spcAft>
              <a:buNone/>
            </a:pPr>
            <a:r>
              <a:rPr lang="en-GB" altLang="en-US" sz="2200">
                <a:latin typeface="Calibri" panose="020F0502020204030204" pitchFamily="34" charset="0"/>
                <a:cs typeface="Calibri" panose="020F0502020204030204" pitchFamily="34" charset="0"/>
              </a:rPr>
              <a:t>Example of production in the short run – a farm with </a:t>
            </a:r>
            <a:r>
              <a:rPr lang="en-GB" altLang="en-US" sz="2200" b="1">
                <a:latin typeface="Calibri" panose="020F0502020204030204" pitchFamily="34" charset="0"/>
                <a:cs typeface="Calibri" panose="020F0502020204030204" pitchFamily="34" charset="0"/>
              </a:rPr>
              <a:t>fixed land </a:t>
            </a:r>
            <a:r>
              <a:rPr lang="en-GB" altLang="en-US" sz="2200">
                <a:latin typeface="Calibri" panose="020F0502020204030204" pitchFamily="34" charset="0"/>
                <a:cs typeface="Calibri" panose="020F0502020204030204" pitchFamily="34" charset="0"/>
              </a:rPr>
              <a:t>and </a:t>
            </a:r>
            <a:r>
              <a:rPr lang="en-GB" altLang="en-US" sz="2200" b="1">
                <a:latin typeface="Calibri" panose="020F0502020204030204" pitchFamily="34" charset="0"/>
                <a:cs typeface="Calibri" panose="020F0502020204030204" pitchFamily="34" charset="0"/>
              </a:rPr>
              <a:t>variable labour </a:t>
            </a:r>
            <a:r>
              <a:rPr lang="en-GB" altLang="en-US" sz="2200">
                <a:latin typeface="Calibri" panose="020F0502020204030204" pitchFamily="34" charset="0"/>
                <a:cs typeface="Calibri" panose="020F0502020204030204" pitchFamily="34" charset="0"/>
              </a:rPr>
              <a:t>(farm workers).</a:t>
            </a:r>
          </a:p>
          <a:p>
            <a:pPr>
              <a:lnSpc>
                <a:spcPct val="100000"/>
              </a:lnSpc>
              <a:spcBef>
                <a:spcPts val="0"/>
              </a:spcBef>
              <a:spcAft>
                <a:spcPts val="1200"/>
              </a:spcAft>
            </a:pPr>
            <a:r>
              <a:rPr lang="en-GB" altLang="en-US" sz="2200">
                <a:latin typeface="Calibri" panose="020F0502020204030204" pitchFamily="34" charset="0"/>
                <a:cs typeface="Calibri" panose="020F0502020204030204" pitchFamily="34" charset="0"/>
              </a:rPr>
              <a:t>With nobody working on the land, output (Total Physical Product) = 0.</a:t>
            </a:r>
          </a:p>
          <a:p>
            <a:pPr>
              <a:lnSpc>
                <a:spcPct val="100000"/>
              </a:lnSpc>
              <a:spcBef>
                <a:spcPts val="0"/>
              </a:spcBef>
              <a:spcAft>
                <a:spcPts val="1200"/>
              </a:spcAft>
            </a:pPr>
            <a:r>
              <a:rPr lang="en-GB" altLang="en-US" sz="2200">
                <a:latin typeface="Calibri" panose="020F0502020204030204" pitchFamily="34" charset="0"/>
                <a:cs typeface="Calibri" panose="020F0502020204030204" pitchFamily="34" charset="0"/>
              </a:rPr>
              <a:t>With one or two workers efficiency is low. </a:t>
            </a:r>
          </a:p>
          <a:p>
            <a:pPr>
              <a:lnSpc>
                <a:spcPct val="100000"/>
              </a:lnSpc>
              <a:spcBef>
                <a:spcPts val="0"/>
              </a:spcBef>
              <a:spcAft>
                <a:spcPts val="1200"/>
              </a:spcAft>
            </a:pPr>
            <a:r>
              <a:rPr lang="en-GB" altLang="en-US" sz="2200">
                <a:latin typeface="Calibri" panose="020F0502020204030204" pitchFamily="34" charset="0"/>
                <a:cs typeface="Calibri" panose="020F0502020204030204" pitchFamily="34" charset="0"/>
              </a:rPr>
              <a:t>With more workers - they can work as a team, each doing a specialist job and becoming more productive at it.</a:t>
            </a:r>
          </a:p>
          <a:p>
            <a:pPr>
              <a:lnSpc>
                <a:spcPct val="100000"/>
              </a:lnSpc>
              <a:spcBef>
                <a:spcPts val="0"/>
              </a:spcBef>
              <a:spcAft>
                <a:spcPts val="1200"/>
              </a:spcAft>
            </a:pPr>
            <a:r>
              <a:rPr lang="en-GB" altLang="en-US" sz="2200">
                <a:latin typeface="Calibri" panose="020F0502020204030204" pitchFamily="34" charset="0"/>
                <a:cs typeface="Calibri" panose="020F0502020204030204" pitchFamily="34" charset="0"/>
              </a:rPr>
              <a:t>After a certain point, diminishing marginal returns set in: output rises less and less rapidly, and the TPP curve correspondingly becomes less steeply sloped.</a:t>
            </a:r>
          </a:p>
          <a:p>
            <a:pPr lvl="1">
              <a:lnSpc>
                <a:spcPct val="100000"/>
              </a:lnSpc>
              <a:spcBef>
                <a:spcPts val="0"/>
              </a:spcBef>
              <a:spcAft>
                <a:spcPts val="1200"/>
              </a:spcAft>
            </a:pPr>
            <a:endParaRPr lang="en-GB" altLang="en-US" sz="2200">
              <a:latin typeface="Calibri" panose="020F0502020204030204" pitchFamily="34" charset="0"/>
              <a:cs typeface="Calibri" panose="020F0502020204030204" pitchFamily="34" charset="0"/>
            </a:endParaRPr>
          </a:p>
          <a:p>
            <a:pPr marL="0" indent="0">
              <a:lnSpc>
                <a:spcPct val="100000"/>
              </a:lnSpc>
              <a:spcBef>
                <a:spcPts val="0"/>
              </a:spcBef>
              <a:spcAft>
                <a:spcPts val="1200"/>
              </a:spcAft>
              <a:buNone/>
            </a:pPr>
            <a:r>
              <a:rPr lang="en-GB" altLang="en-US" sz="2200">
                <a:latin typeface="Calibri" panose="020F0502020204030204" pitchFamily="34" charset="0"/>
                <a:cs typeface="Calibri" panose="020F0502020204030204" pitchFamily="34" charset="0"/>
              </a:rPr>
              <a:t>Also illustrated by a production function are: </a:t>
            </a:r>
          </a:p>
          <a:p>
            <a:pPr>
              <a:lnSpc>
                <a:spcPct val="100000"/>
              </a:lnSpc>
              <a:spcBef>
                <a:spcPts val="0"/>
              </a:spcBef>
              <a:spcAft>
                <a:spcPts val="1200"/>
              </a:spcAft>
            </a:pPr>
            <a:r>
              <a:rPr lang="en-GB" altLang="en-US" sz="2200" b="1">
                <a:latin typeface="Calibri" panose="020F0502020204030204" pitchFamily="34" charset="0"/>
                <a:cs typeface="Calibri" panose="020F0502020204030204" pitchFamily="34" charset="0"/>
              </a:rPr>
              <a:t>Average physical product (</a:t>
            </a:r>
            <a:r>
              <a:rPr lang="en-GB" altLang="en-US" sz="2200" b="1" i="1">
                <a:latin typeface="Calibri" panose="020F0502020204030204" pitchFamily="34" charset="0"/>
                <a:cs typeface="Calibri" panose="020F0502020204030204" pitchFamily="34" charset="0"/>
              </a:rPr>
              <a:t>APP</a:t>
            </a:r>
            <a:r>
              <a:rPr lang="en-GB" altLang="en-US" sz="2200" b="1">
                <a:latin typeface="Calibri" panose="020F0502020204030204" pitchFamily="34" charset="0"/>
                <a:cs typeface="Calibri" panose="020F0502020204030204" pitchFamily="34" charset="0"/>
              </a:rPr>
              <a:t>) </a:t>
            </a:r>
            <a:r>
              <a:rPr lang="en-GB" altLang="en-US" sz="2200">
                <a:latin typeface="Calibri" panose="020F0502020204030204" pitchFamily="34" charset="0"/>
                <a:cs typeface="Calibri" panose="020F0502020204030204" pitchFamily="34" charset="0"/>
              </a:rPr>
              <a:t>– the output (TPP) per unit of the variable factor, for e.g., output of wheat per worker.</a:t>
            </a:r>
          </a:p>
          <a:p>
            <a:pPr>
              <a:lnSpc>
                <a:spcPct val="100000"/>
              </a:lnSpc>
              <a:spcBef>
                <a:spcPts val="0"/>
              </a:spcBef>
              <a:spcAft>
                <a:spcPts val="1200"/>
              </a:spcAft>
            </a:pPr>
            <a:r>
              <a:rPr lang="en-GB" altLang="en-US" sz="2200" b="1">
                <a:latin typeface="Calibri" panose="020F0502020204030204" pitchFamily="34" charset="0"/>
                <a:cs typeface="Calibri" panose="020F0502020204030204" pitchFamily="34" charset="0"/>
              </a:rPr>
              <a:t>Marginal physical product (</a:t>
            </a:r>
            <a:r>
              <a:rPr lang="en-GB" altLang="en-US" sz="2200" b="1" i="1">
                <a:latin typeface="Calibri" panose="020F0502020204030204" pitchFamily="34" charset="0"/>
                <a:cs typeface="Calibri" panose="020F0502020204030204" pitchFamily="34" charset="0"/>
              </a:rPr>
              <a:t>MPP</a:t>
            </a:r>
            <a:r>
              <a:rPr lang="en-GB" altLang="en-US" sz="2200" b="1">
                <a:latin typeface="Calibri" panose="020F0502020204030204" pitchFamily="34" charset="0"/>
                <a:cs typeface="Calibri" panose="020F0502020204030204" pitchFamily="34" charset="0"/>
              </a:rPr>
              <a:t>) </a:t>
            </a:r>
            <a:r>
              <a:rPr lang="en-GB" altLang="en-US" sz="2200">
                <a:latin typeface="Calibri" panose="020F0502020204030204" pitchFamily="34" charset="0"/>
                <a:cs typeface="Calibri" panose="020F0502020204030204" pitchFamily="34" charset="0"/>
              </a:rPr>
              <a:t>– the </a:t>
            </a:r>
            <a:r>
              <a:rPr lang="en-GB" altLang="en-US" sz="2200" i="1">
                <a:latin typeface="Calibri" panose="020F0502020204030204" pitchFamily="34" charset="0"/>
                <a:cs typeface="Calibri" panose="020F0502020204030204" pitchFamily="34" charset="0"/>
              </a:rPr>
              <a:t>extra</a:t>
            </a:r>
            <a:r>
              <a:rPr lang="en-GB" altLang="en-US" sz="2200">
                <a:latin typeface="Calibri" panose="020F0502020204030204" pitchFamily="34" charset="0"/>
                <a:cs typeface="Calibri" panose="020F0502020204030204" pitchFamily="34" charset="0"/>
              </a:rPr>
              <a:t> output (change in TPP) produced by employing </a:t>
            </a:r>
            <a:r>
              <a:rPr lang="en-GB" altLang="en-US" sz="2200" i="1">
                <a:latin typeface="Calibri" panose="020F0502020204030204" pitchFamily="34" charset="0"/>
                <a:cs typeface="Calibri" panose="020F0502020204030204" pitchFamily="34" charset="0"/>
              </a:rPr>
              <a:t>one more</a:t>
            </a:r>
            <a:r>
              <a:rPr lang="en-GB" altLang="en-US" sz="2200">
                <a:latin typeface="Calibri" panose="020F0502020204030204" pitchFamily="34" charset="0"/>
                <a:cs typeface="Calibri" panose="020F0502020204030204" pitchFamily="34" charset="0"/>
              </a:rPr>
              <a:t> unit of the variable factor.</a:t>
            </a:r>
          </a:p>
          <a:p>
            <a:pPr marL="457200" lvl="1" indent="0">
              <a:lnSpc>
                <a:spcPct val="95000"/>
              </a:lnSpc>
              <a:spcBef>
                <a:spcPct val="60000"/>
              </a:spcBef>
              <a:buNone/>
            </a:pPr>
            <a:endParaRPr lang="en-GB" altLang="en-US">
              <a:latin typeface="Calibri" panose="020F0502020204030204" pitchFamily="34" charset="0"/>
              <a:cs typeface="Calibri" panose="020F0502020204030204" pitchFamily="34" charset="0"/>
            </a:endParaRPr>
          </a:p>
          <a:p>
            <a:pPr lvl="2">
              <a:lnSpc>
                <a:spcPct val="95000"/>
              </a:lnSpc>
              <a:spcBef>
                <a:spcPct val="60000"/>
              </a:spcBef>
            </a:pPr>
            <a:endParaRPr lang="en-GB" altLang="en-US" sz="2800"/>
          </a:p>
        </p:txBody>
      </p:sp>
    </p:spTree>
    <p:extLst>
      <p:ext uri="{BB962C8B-B14F-4D97-AF65-F5344CB8AC3E}">
        <p14:creationId xmlns:p14="http://schemas.microsoft.com/office/powerpoint/2010/main" val="234329558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3765">
                                            <p:txEl>
                                              <p:pRg st="0" end="0"/>
                                            </p:txEl>
                                          </p:spTgt>
                                        </p:tgtEl>
                                        <p:attrNameLst>
                                          <p:attrName>style.visibility</p:attrName>
                                        </p:attrNameLst>
                                      </p:cBhvr>
                                      <p:to>
                                        <p:strVal val="visible"/>
                                      </p:to>
                                    </p:set>
                                    <p:anim calcmode="lin" valueType="num">
                                      <p:cBhvr additive="base">
                                        <p:cTn id="7" dur="500"/>
                                        <p:tgtEl>
                                          <p:spTgt spid="37376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376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3765">
                                            <p:txEl>
                                              <p:pRg st="1" end="1"/>
                                            </p:txEl>
                                          </p:spTgt>
                                        </p:tgtEl>
                                        <p:attrNameLst>
                                          <p:attrName>style.visibility</p:attrName>
                                        </p:attrNameLst>
                                      </p:cBhvr>
                                      <p:to>
                                        <p:strVal val="visible"/>
                                      </p:to>
                                    </p:set>
                                    <p:anim calcmode="lin" valueType="num">
                                      <p:cBhvr additive="base">
                                        <p:cTn id="13" dur="500"/>
                                        <p:tgtEl>
                                          <p:spTgt spid="37376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376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3765">
                                            <p:txEl>
                                              <p:pRg st="2" end="2"/>
                                            </p:txEl>
                                          </p:spTgt>
                                        </p:tgtEl>
                                        <p:attrNameLst>
                                          <p:attrName>style.visibility</p:attrName>
                                        </p:attrNameLst>
                                      </p:cBhvr>
                                      <p:to>
                                        <p:strVal val="visible"/>
                                      </p:to>
                                    </p:set>
                                    <p:anim calcmode="lin" valueType="num">
                                      <p:cBhvr additive="base">
                                        <p:cTn id="19" dur="500"/>
                                        <p:tgtEl>
                                          <p:spTgt spid="37376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376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3765">
                                            <p:txEl>
                                              <p:pRg st="3" end="3"/>
                                            </p:txEl>
                                          </p:spTgt>
                                        </p:tgtEl>
                                        <p:attrNameLst>
                                          <p:attrName>style.visibility</p:attrName>
                                        </p:attrNameLst>
                                      </p:cBhvr>
                                      <p:to>
                                        <p:strVal val="visible"/>
                                      </p:to>
                                    </p:set>
                                    <p:anim calcmode="lin" valueType="num">
                                      <p:cBhvr additive="base">
                                        <p:cTn id="25" dur="500"/>
                                        <p:tgtEl>
                                          <p:spTgt spid="37376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376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3765">
                                            <p:txEl>
                                              <p:pRg st="4" end="4"/>
                                            </p:txEl>
                                          </p:spTgt>
                                        </p:tgtEl>
                                        <p:attrNameLst>
                                          <p:attrName>style.visibility</p:attrName>
                                        </p:attrNameLst>
                                      </p:cBhvr>
                                      <p:to>
                                        <p:strVal val="visible"/>
                                      </p:to>
                                    </p:set>
                                    <p:anim calcmode="lin" valueType="num">
                                      <p:cBhvr additive="base">
                                        <p:cTn id="31" dur="500"/>
                                        <p:tgtEl>
                                          <p:spTgt spid="37376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376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3765">
                                            <p:txEl>
                                              <p:pRg st="6" end="6"/>
                                            </p:txEl>
                                          </p:spTgt>
                                        </p:tgtEl>
                                        <p:attrNameLst>
                                          <p:attrName>style.visibility</p:attrName>
                                        </p:attrNameLst>
                                      </p:cBhvr>
                                      <p:to>
                                        <p:strVal val="visible"/>
                                      </p:to>
                                    </p:set>
                                    <p:anim calcmode="lin" valueType="num">
                                      <p:cBhvr additive="base">
                                        <p:cTn id="37" dur="500"/>
                                        <p:tgtEl>
                                          <p:spTgt spid="37376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3765">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3765">
                                            <p:txEl>
                                              <p:pRg st="7" end="7"/>
                                            </p:txEl>
                                          </p:spTgt>
                                        </p:tgtEl>
                                        <p:attrNameLst>
                                          <p:attrName>style.visibility</p:attrName>
                                        </p:attrNameLst>
                                      </p:cBhvr>
                                      <p:to>
                                        <p:strVal val="visible"/>
                                      </p:to>
                                    </p:set>
                                    <p:anim calcmode="lin" valueType="num">
                                      <p:cBhvr additive="base">
                                        <p:cTn id="43" dur="500"/>
                                        <p:tgtEl>
                                          <p:spTgt spid="37376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376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3765">
                                            <p:txEl>
                                              <p:pRg st="8" end="8"/>
                                            </p:txEl>
                                          </p:spTgt>
                                        </p:tgtEl>
                                        <p:attrNameLst>
                                          <p:attrName>style.visibility</p:attrName>
                                        </p:attrNameLst>
                                      </p:cBhvr>
                                      <p:to>
                                        <p:strVal val="visible"/>
                                      </p:to>
                                    </p:set>
                                    <p:anim calcmode="lin" valueType="num">
                                      <p:cBhvr additive="base">
                                        <p:cTn id="49" dur="500"/>
                                        <p:tgtEl>
                                          <p:spTgt spid="373765">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376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build="p" bldLvl="3"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5">
            <a:extLst>
              <a:ext uri="{FF2B5EF4-FFF2-40B4-BE49-F238E27FC236}">
                <a16:creationId xmlns:a16="http://schemas.microsoft.com/office/drawing/2014/main" id="{862DC0B1-9251-4FCB-A4FF-9526CAA28DF1}"/>
              </a:ext>
            </a:extLst>
          </p:cNvPr>
          <p:cNvGraphicFramePr>
            <a:graphicFrameLocks/>
          </p:cNvGraphicFramePr>
          <p:nvPr/>
        </p:nvGraphicFramePr>
        <p:xfrm>
          <a:off x="3364249" y="3448052"/>
          <a:ext cx="5502275" cy="31543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Object 4">
            <a:extLst>
              <a:ext uri="{FF2B5EF4-FFF2-40B4-BE49-F238E27FC236}">
                <a16:creationId xmlns:a16="http://schemas.microsoft.com/office/drawing/2014/main" id="{13551E14-95C6-4012-A70B-570FFE303619}"/>
              </a:ext>
            </a:extLst>
          </p:cNvPr>
          <p:cNvGraphicFramePr>
            <a:graphicFrameLocks/>
          </p:cNvGraphicFramePr>
          <p:nvPr/>
        </p:nvGraphicFramePr>
        <p:xfrm>
          <a:off x="3402015" y="474665"/>
          <a:ext cx="5502275" cy="3032125"/>
        </p:xfrm>
        <a:graphic>
          <a:graphicData uri="http://schemas.openxmlformats.org/drawingml/2006/chart">
            <c:chart xmlns:c="http://schemas.openxmlformats.org/drawingml/2006/chart" xmlns:r="http://schemas.openxmlformats.org/officeDocument/2006/relationships" r:id="rId4"/>
          </a:graphicData>
        </a:graphic>
      </p:graphicFrame>
      <p:sp>
        <p:nvSpPr>
          <p:cNvPr id="14352" name="Rectangle 16">
            <a:extLst>
              <a:ext uri="{FF2B5EF4-FFF2-40B4-BE49-F238E27FC236}">
                <a16:creationId xmlns:a16="http://schemas.microsoft.com/office/drawing/2014/main" id="{8EDC11F3-9807-4FD0-8ECD-9816B14157AC}"/>
              </a:ext>
            </a:extLst>
          </p:cNvPr>
          <p:cNvSpPr>
            <a:spLocks noChangeArrowheads="1"/>
          </p:cNvSpPr>
          <p:nvPr/>
        </p:nvSpPr>
        <p:spPr bwMode="auto">
          <a:xfrm>
            <a:off x="5091111" y="3433763"/>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accent2"/>
                </a:solidFill>
                <a:latin typeface="Arial" panose="020B0604020202020204" pitchFamily="34" charset="0"/>
              </a:rPr>
              <a:t>b</a:t>
            </a:r>
          </a:p>
        </p:txBody>
      </p:sp>
      <p:sp>
        <p:nvSpPr>
          <p:cNvPr id="14357" name="Rectangle 21">
            <a:extLst>
              <a:ext uri="{FF2B5EF4-FFF2-40B4-BE49-F238E27FC236}">
                <a16:creationId xmlns:a16="http://schemas.microsoft.com/office/drawing/2014/main" id="{1DCEC3E7-59DF-40BC-917D-DED74EE686F6}"/>
              </a:ext>
            </a:extLst>
          </p:cNvPr>
          <p:cNvSpPr>
            <a:spLocks noChangeArrowheads="1"/>
          </p:cNvSpPr>
          <p:nvPr/>
        </p:nvSpPr>
        <p:spPr bwMode="auto">
          <a:xfrm>
            <a:off x="5092699" y="1703388"/>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folHlink"/>
                </a:solidFill>
                <a:latin typeface="Arial" panose="020B0604020202020204" pitchFamily="34" charset="0"/>
              </a:rPr>
              <a:t>b</a:t>
            </a:r>
          </a:p>
        </p:txBody>
      </p:sp>
      <p:sp>
        <p:nvSpPr>
          <p:cNvPr id="14359" name="Rectangle 23">
            <a:extLst>
              <a:ext uri="{FF2B5EF4-FFF2-40B4-BE49-F238E27FC236}">
                <a16:creationId xmlns:a16="http://schemas.microsoft.com/office/drawing/2014/main" id="{AB799A5F-B3F6-4289-A7FB-20F60937C72E}"/>
              </a:ext>
            </a:extLst>
          </p:cNvPr>
          <p:cNvSpPr>
            <a:spLocks noChangeArrowheads="1"/>
          </p:cNvSpPr>
          <p:nvPr/>
        </p:nvSpPr>
        <p:spPr bwMode="auto">
          <a:xfrm>
            <a:off x="7489824" y="430213"/>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folHlink"/>
                </a:solidFill>
                <a:latin typeface="Arial" panose="020B0604020202020204" pitchFamily="34" charset="0"/>
              </a:rPr>
              <a:t>d</a:t>
            </a:r>
          </a:p>
        </p:txBody>
      </p:sp>
      <p:sp>
        <p:nvSpPr>
          <p:cNvPr id="14338" name="Line 2">
            <a:extLst>
              <a:ext uri="{FF2B5EF4-FFF2-40B4-BE49-F238E27FC236}">
                <a16:creationId xmlns:a16="http://schemas.microsoft.com/office/drawing/2014/main" id="{B4F891D9-5DA4-421F-B5A5-7E31E5935144}"/>
              </a:ext>
            </a:extLst>
          </p:cNvPr>
          <p:cNvSpPr>
            <a:spLocks noChangeShapeType="1"/>
          </p:cNvSpPr>
          <p:nvPr/>
        </p:nvSpPr>
        <p:spPr bwMode="auto">
          <a:xfrm>
            <a:off x="5473702" y="2073275"/>
            <a:ext cx="695325" cy="293688"/>
          </a:xfrm>
          <a:prstGeom prst="line">
            <a:avLst/>
          </a:prstGeom>
          <a:noFill/>
          <a:ln w="19050">
            <a:solidFill>
              <a:srgbClr val="6C3600"/>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39" name="Line 3">
            <a:extLst>
              <a:ext uri="{FF2B5EF4-FFF2-40B4-BE49-F238E27FC236}">
                <a16:creationId xmlns:a16="http://schemas.microsoft.com/office/drawing/2014/main" id="{DDB6B0C8-DBE2-42BC-84EF-7D3BF76111EB}"/>
              </a:ext>
            </a:extLst>
          </p:cNvPr>
          <p:cNvSpPr>
            <a:spLocks noChangeShapeType="1"/>
          </p:cNvSpPr>
          <p:nvPr/>
        </p:nvSpPr>
        <p:spPr bwMode="auto">
          <a:xfrm flipV="1">
            <a:off x="5454652" y="2403475"/>
            <a:ext cx="714375" cy="1246188"/>
          </a:xfrm>
          <a:prstGeom prst="line">
            <a:avLst/>
          </a:prstGeom>
          <a:noFill/>
          <a:ln w="19050">
            <a:solidFill>
              <a:srgbClr val="6C3600"/>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2" name="Line 6">
            <a:extLst>
              <a:ext uri="{FF2B5EF4-FFF2-40B4-BE49-F238E27FC236}">
                <a16:creationId xmlns:a16="http://schemas.microsoft.com/office/drawing/2014/main" id="{618B20E2-C0A9-4E12-929E-A4A2014C892B}"/>
              </a:ext>
            </a:extLst>
          </p:cNvPr>
          <p:cNvSpPr>
            <a:spLocks noChangeShapeType="1"/>
          </p:cNvSpPr>
          <p:nvPr/>
        </p:nvSpPr>
        <p:spPr bwMode="auto">
          <a:xfrm>
            <a:off x="5018429" y="2145902"/>
            <a:ext cx="0" cy="4103687"/>
          </a:xfrm>
          <a:prstGeom prst="line">
            <a:avLst/>
          </a:prstGeom>
          <a:noFill/>
          <a:ln w="19050">
            <a:solidFill>
              <a:schemeClr val="tx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3" name="Rectangle 7">
            <a:extLst>
              <a:ext uri="{FF2B5EF4-FFF2-40B4-BE49-F238E27FC236}">
                <a16:creationId xmlns:a16="http://schemas.microsoft.com/office/drawing/2014/main" id="{8CC0F318-1413-4E0B-B768-C6B403CE045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4" name="Rectangle 8">
            <a:extLst>
              <a:ext uri="{FF2B5EF4-FFF2-40B4-BE49-F238E27FC236}">
                <a16:creationId xmlns:a16="http://schemas.microsoft.com/office/drawing/2014/main" id="{43DC6A1F-9EE5-432D-BC5E-D8F8F83B76A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5" name="Rectangle 9">
            <a:extLst>
              <a:ext uri="{FF2B5EF4-FFF2-40B4-BE49-F238E27FC236}">
                <a16:creationId xmlns:a16="http://schemas.microsoft.com/office/drawing/2014/main" id="{07CB29C3-3FFE-4C44-A531-868749BBCF57}"/>
              </a:ext>
            </a:extLst>
          </p:cNvPr>
          <p:cNvSpPr>
            <a:spLocks noChangeArrowheads="1"/>
          </p:cNvSpPr>
          <p:nvPr/>
        </p:nvSpPr>
        <p:spPr bwMode="auto">
          <a:xfrm rot="16200000">
            <a:off x="1804195" y="1891507"/>
            <a:ext cx="25447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600">
                <a:latin typeface="Arial" panose="020B0604020202020204" pitchFamily="34" charset="0"/>
              </a:rPr>
              <a:t>Tonnes of wheat  per year</a:t>
            </a:r>
          </a:p>
        </p:txBody>
      </p:sp>
      <p:sp>
        <p:nvSpPr>
          <p:cNvPr id="14346" name="Rectangle 10">
            <a:extLst>
              <a:ext uri="{FF2B5EF4-FFF2-40B4-BE49-F238E27FC236}">
                <a16:creationId xmlns:a16="http://schemas.microsoft.com/office/drawing/2014/main" id="{C614CD50-15DF-46C3-857A-3B7AB5A2801F}"/>
              </a:ext>
            </a:extLst>
          </p:cNvPr>
          <p:cNvSpPr>
            <a:spLocks noChangeArrowheads="1"/>
          </p:cNvSpPr>
          <p:nvPr/>
        </p:nvSpPr>
        <p:spPr bwMode="auto">
          <a:xfrm>
            <a:off x="8356600" y="925513"/>
            <a:ext cx="5794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600" i="1">
                <a:solidFill>
                  <a:schemeClr val="folHlink"/>
                </a:solidFill>
                <a:latin typeface="Arial" panose="020B0604020202020204" pitchFamily="34" charset="0"/>
              </a:rPr>
              <a:t>TPP</a:t>
            </a:r>
          </a:p>
        </p:txBody>
      </p:sp>
      <p:sp>
        <p:nvSpPr>
          <p:cNvPr id="14347" name="Rectangle 11">
            <a:extLst>
              <a:ext uri="{FF2B5EF4-FFF2-40B4-BE49-F238E27FC236}">
                <a16:creationId xmlns:a16="http://schemas.microsoft.com/office/drawing/2014/main" id="{F0FB199B-82C4-4B6F-9C7F-CE0780E6C23B}"/>
              </a:ext>
            </a:extLst>
          </p:cNvPr>
          <p:cNvSpPr>
            <a:spLocks noChangeArrowheads="1"/>
          </p:cNvSpPr>
          <p:nvPr/>
        </p:nvSpPr>
        <p:spPr bwMode="auto">
          <a:xfrm rot="16200000">
            <a:off x="1810544" y="4791869"/>
            <a:ext cx="25447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600">
                <a:latin typeface="Arial" panose="020B0604020202020204" pitchFamily="34" charset="0"/>
              </a:rPr>
              <a:t>Tonnes of wheat  per year</a:t>
            </a:r>
          </a:p>
        </p:txBody>
      </p:sp>
      <p:sp>
        <p:nvSpPr>
          <p:cNvPr id="14348" name="Rectangle 12">
            <a:extLst>
              <a:ext uri="{FF2B5EF4-FFF2-40B4-BE49-F238E27FC236}">
                <a16:creationId xmlns:a16="http://schemas.microsoft.com/office/drawing/2014/main" id="{824395AC-FFFC-4FAD-9C4F-4FC83E210A39}"/>
              </a:ext>
            </a:extLst>
          </p:cNvPr>
          <p:cNvSpPr>
            <a:spLocks noChangeArrowheads="1"/>
          </p:cNvSpPr>
          <p:nvPr/>
        </p:nvSpPr>
        <p:spPr bwMode="auto">
          <a:xfrm>
            <a:off x="8256588" y="5286375"/>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600" i="1">
                <a:solidFill>
                  <a:srgbClr val="660066"/>
                </a:solidFill>
                <a:latin typeface="Arial" panose="020B0604020202020204" pitchFamily="34" charset="0"/>
              </a:rPr>
              <a:t>APP</a:t>
            </a:r>
          </a:p>
        </p:txBody>
      </p:sp>
      <p:sp>
        <p:nvSpPr>
          <p:cNvPr id="14349" name="Rectangle 13">
            <a:extLst>
              <a:ext uri="{FF2B5EF4-FFF2-40B4-BE49-F238E27FC236}">
                <a16:creationId xmlns:a16="http://schemas.microsoft.com/office/drawing/2014/main" id="{E0B923AF-37DF-4DD2-B164-41BC153AF3A4}"/>
              </a:ext>
            </a:extLst>
          </p:cNvPr>
          <p:cNvSpPr>
            <a:spLocks noChangeArrowheads="1"/>
          </p:cNvSpPr>
          <p:nvPr/>
        </p:nvSpPr>
        <p:spPr bwMode="auto">
          <a:xfrm>
            <a:off x="8020050" y="6423025"/>
            <a:ext cx="623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600" i="1">
                <a:solidFill>
                  <a:schemeClr val="accent2"/>
                </a:solidFill>
                <a:latin typeface="Arial" panose="020B0604020202020204" pitchFamily="34" charset="0"/>
              </a:rPr>
              <a:t>MPP</a:t>
            </a:r>
          </a:p>
        </p:txBody>
      </p:sp>
      <p:sp>
        <p:nvSpPr>
          <p:cNvPr id="14350" name="Oval 14">
            <a:extLst>
              <a:ext uri="{FF2B5EF4-FFF2-40B4-BE49-F238E27FC236}">
                <a16:creationId xmlns:a16="http://schemas.microsoft.com/office/drawing/2014/main" id="{64D23DF4-BE6D-473D-A43F-B776DE56F8C9}"/>
              </a:ext>
            </a:extLst>
          </p:cNvPr>
          <p:cNvSpPr>
            <a:spLocks noChangeArrowheads="1"/>
          </p:cNvSpPr>
          <p:nvPr/>
        </p:nvSpPr>
        <p:spPr bwMode="auto">
          <a:xfrm>
            <a:off x="5338765" y="1993902"/>
            <a:ext cx="85725" cy="85725"/>
          </a:xfrm>
          <a:prstGeom prst="ellipse">
            <a:avLst/>
          </a:prstGeom>
          <a:solidFill>
            <a:srgbClr val="CCFFCC"/>
          </a:solidFill>
          <a:ln w="254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1" name="Oval 15">
            <a:extLst>
              <a:ext uri="{FF2B5EF4-FFF2-40B4-BE49-F238E27FC236}">
                <a16:creationId xmlns:a16="http://schemas.microsoft.com/office/drawing/2014/main" id="{172666EE-58BE-4CE6-B2A7-992DE825A2B9}"/>
              </a:ext>
            </a:extLst>
          </p:cNvPr>
          <p:cNvSpPr>
            <a:spLocks noChangeArrowheads="1"/>
          </p:cNvSpPr>
          <p:nvPr/>
        </p:nvSpPr>
        <p:spPr bwMode="auto">
          <a:xfrm>
            <a:off x="5345115" y="3703640"/>
            <a:ext cx="85725" cy="85725"/>
          </a:xfrm>
          <a:prstGeom prst="ellipse">
            <a:avLst/>
          </a:prstGeom>
          <a:solidFill>
            <a:srgbClr val="FFCCCC"/>
          </a:solidFill>
          <a:ln w="254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3" name="AutoShape 17">
            <a:extLst>
              <a:ext uri="{FF2B5EF4-FFF2-40B4-BE49-F238E27FC236}">
                <a16:creationId xmlns:a16="http://schemas.microsoft.com/office/drawing/2014/main" id="{906798FE-E37F-4D3D-84DA-0C6D577ED08A}"/>
              </a:ext>
            </a:extLst>
          </p:cNvPr>
          <p:cNvSpPr>
            <a:spLocks noChangeArrowheads="1"/>
          </p:cNvSpPr>
          <p:nvPr/>
        </p:nvSpPr>
        <p:spPr bwMode="auto">
          <a:xfrm>
            <a:off x="6122988" y="1844824"/>
            <a:ext cx="1341158" cy="819000"/>
          </a:xfrm>
          <a:prstGeom prst="roundRect">
            <a:avLst>
              <a:gd name="adj" fmla="val 12495"/>
            </a:avLst>
          </a:prstGeom>
          <a:solidFill>
            <a:srgbClr val="FFE5CB"/>
          </a:solidFill>
          <a:ln w="19050">
            <a:solidFill>
              <a:srgbClr val="6C3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600"/>
              <a:t>Diminishing</a:t>
            </a:r>
          </a:p>
          <a:p>
            <a:pPr algn="ctr"/>
            <a:r>
              <a:rPr lang="en-GB" altLang="en-US" sz="1600"/>
              <a:t>returns</a:t>
            </a:r>
          </a:p>
          <a:p>
            <a:pPr algn="ctr"/>
            <a:r>
              <a:rPr lang="en-GB" altLang="en-US" sz="1600"/>
              <a:t>set in here</a:t>
            </a:r>
          </a:p>
        </p:txBody>
      </p:sp>
      <p:sp>
        <p:nvSpPr>
          <p:cNvPr id="14355" name="Rectangle 19">
            <a:extLst>
              <a:ext uri="{FF2B5EF4-FFF2-40B4-BE49-F238E27FC236}">
                <a16:creationId xmlns:a16="http://schemas.microsoft.com/office/drawing/2014/main" id="{CEDD8700-1A03-4CC3-B8FC-1497B2BFAEB0}"/>
              </a:ext>
            </a:extLst>
          </p:cNvPr>
          <p:cNvSpPr>
            <a:spLocks noChangeArrowheads="1"/>
          </p:cNvSpPr>
          <p:nvPr/>
        </p:nvSpPr>
        <p:spPr bwMode="auto">
          <a:xfrm>
            <a:off x="8700886" y="2979738"/>
            <a:ext cx="1683154"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600">
                <a:latin typeface="Arial" panose="020B0604020202020204" pitchFamily="34" charset="0"/>
              </a:rPr>
              <a:t>Number of</a:t>
            </a:r>
          </a:p>
          <a:p>
            <a:pPr algn="ctr"/>
            <a:r>
              <a:rPr lang="en-GB" altLang="en-US" sz="1600">
                <a:latin typeface="Arial" panose="020B0604020202020204" pitchFamily="34" charset="0"/>
              </a:rPr>
              <a:t>farm workers (</a:t>
            </a:r>
            <a:r>
              <a:rPr lang="en-GB" altLang="en-US" sz="1600" i="1">
                <a:latin typeface="Arial" panose="020B0604020202020204" pitchFamily="34" charset="0"/>
              </a:rPr>
              <a:t>L</a:t>
            </a:r>
            <a:r>
              <a:rPr lang="en-GB" altLang="en-US" sz="1600">
                <a:latin typeface="Arial" panose="020B0604020202020204" pitchFamily="34" charset="0"/>
              </a:rPr>
              <a:t>)</a:t>
            </a:r>
          </a:p>
        </p:txBody>
      </p:sp>
      <p:sp>
        <p:nvSpPr>
          <p:cNvPr id="14356" name="Rectangle 20">
            <a:extLst>
              <a:ext uri="{FF2B5EF4-FFF2-40B4-BE49-F238E27FC236}">
                <a16:creationId xmlns:a16="http://schemas.microsoft.com/office/drawing/2014/main" id="{BEF54F73-514B-4803-8365-2CD6296C6485}"/>
              </a:ext>
            </a:extLst>
          </p:cNvPr>
          <p:cNvSpPr>
            <a:spLocks noChangeArrowheads="1"/>
          </p:cNvSpPr>
          <p:nvPr/>
        </p:nvSpPr>
        <p:spPr bwMode="auto">
          <a:xfrm>
            <a:off x="8707236" y="5953125"/>
            <a:ext cx="1683154"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600">
                <a:latin typeface="Arial" panose="020B0604020202020204" pitchFamily="34" charset="0"/>
              </a:rPr>
              <a:t>Number of</a:t>
            </a:r>
          </a:p>
          <a:p>
            <a:pPr algn="ctr"/>
            <a:r>
              <a:rPr lang="en-GB" altLang="en-US" sz="1600">
                <a:latin typeface="Arial" panose="020B0604020202020204" pitchFamily="34" charset="0"/>
              </a:rPr>
              <a:t>farm workers (</a:t>
            </a:r>
            <a:r>
              <a:rPr lang="en-GB" altLang="en-US" sz="1600" i="1">
                <a:latin typeface="Arial" panose="020B0604020202020204" pitchFamily="34" charset="0"/>
              </a:rPr>
              <a:t>L</a:t>
            </a:r>
            <a:r>
              <a:rPr lang="en-GB" altLang="en-US" sz="1600">
                <a:latin typeface="Arial" panose="020B0604020202020204" pitchFamily="34" charset="0"/>
              </a:rPr>
              <a:t>)</a:t>
            </a:r>
          </a:p>
        </p:txBody>
      </p:sp>
      <p:sp>
        <p:nvSpPr>
          <p:cNvPr id="14358" name="Line 22">
            <a:extLst>
              <a:ext uri="{FF2B5EF4-FFF2-40B4-BE49-F238E27FC236}">
                <a16:creationId xmlns:a16="http://schemas.microsoft.com/office/drawing/2014/main" id="{59924A47-A042-422C-916B-7F322690397D}"/>
              </a:ext>
            </a:extLst>
          </p:cNvPr>
          <p:cNvSpPr>
            <a:spLocks noChangeShapeType="1"/>
          </p:cNvSpPr>
          <p:nvPr/>
        </p:nvSpPr>
        <p:spPr bwMode="auto">
          <a:xfrm>
            <a:off x="7654925" y="790577"/>
            <a:ext cx="0" cy="5330825"/>
          </a:xfrm>
          <a:prstGeom prst="line">
            <a:avLst/>
          </a:prstGeom>
          <a:noFill/>
          <a:ln w="19050">
            <a:solidFill>
              <a:schemeClr val="tx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60" name="AutoShape 24">
            <a:extLst>
              <a:ext uri="{FF2B5EF4-FFF2-40B4-BE49-F238E27FC236}">
                <a16:creationId xmlns:a16="http://schemas.microsoft.com/office/drawing/2014/main" id="{6F2F9584-6C15-4716-9923-8413ABD03FE8}"/>
              </a:ext>
            </a:extLst>
          </p:cNvPr>
          <p:cNvSpPr>
            <a:spLocks noChangeArrowheads="1"/>
          </p:cNvSpPr>
          <p:nvPr/>
        </p:nvSpPr>
        <p:spPr bwMode="auto">
          <a:xfrm>
            <a:off x="9064627" y="1406894"/>
            <a:ext cx="1063822" cy="585419"/>
          </a:xfrm>
          <a:prstGeom prst="roundRect">
            <a:avLst>
              <a:gd name="adj" fmla="val 12495"/>
            </a:avLst>
          </a:prstGeom>
          <a:solidFill>
            <a:srgbClr val="E3E7FF"/>
          </a:solidFill>
          <a:ln w="19050">
            <a:solidFill>
              <a:srgbClr val="6C3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600"/>
              <a:t>Maximum</a:t>
            </a:r>
          </a:p>
          <a:p>
            <a:pPr algn="ctr"/>
            <a:r>
              <a:rPr lang="en-GB" altLang="en-US" sz="1600"/>
              <a:t>output</a:t>
            </a:r>
          </a:p>
        </p:txBody>
      </p:sp>
      <p:sp>
        <p:nvSpPr>
          <p:cNvPr id="14362" name="Line 26">
            <a:extLst>
              <a:ext uri="{FF2B5EF4-FFF2-40B4-BE49-F238E27FC236}">
                <a16:creationId xmlns:a16="http://schemas.microsoft.com/office/drawing/2014/main" id="{C24C3005-0C13-4D90-91EA-8C58DA206A43}"/>
              </a:ext>
            </a:extLst>
          </p:cNvPr>
          <p:cNvSpPr>
            <a:spLocks noChangeShapeType="1"/>
          </p:cNvSpPr>
          <p:nvPr/>
        </p:nvSpPr>
        <p:spPr bwMode="auto">
          <a:xfrm flipH="1" flipV="1">
            <a:off x="7739063" y="844552"/>
            <a:ext cx="1320800" cy="684213"/>
          </a:xfrm>
          <a:prstGeom prst="line">
            <a:avLst/>
          </a:prstGeom>
          <a:noFill/>
          <a:ln w="19050">
            <a:solidFill>
              <a:srgbClr val="6C36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63" name="Rectangle 27">
            <a:extLst>
              <a:ext uri="{FF2B5EF4-FFF2-40B4-BE49-F238E27FC236}">
                <a16:creationId xmlns:a16="http://schemas.microsoft.com/office/drawing/2014/main" id="{E6E4B7DD-8CDF-4E0B-924D-6D55410F5283}"/>
              </a:ext>
            </a:extLst>
          </p:cNvPr>
          <p:cNvSpPr>
            <a:spLocks noChangeArrowheads="1"/>
          </p:cNvSpPr>
          <p:nvPr/>
        </p:nvSpPr>
        <p:spPr bwMode="auto">
          <a:xfrm>
            <a:off x="7581899" y="5780088"/>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accent2"/>
                </a:solidFill>
                <a:latin typeface="Arial" panose="020B0604020202020204" pitchFamily="34" charset="0"/>
              </a:rPr>
              <a:t>d</a:t>
            </a:r>
          </a:p>
        </p:txBody>
      </p:sp>
      <p:sp>
        <p:nvSpPr>
          <p:cNvPr id="14364" name="Rectangle 28">
            <a:extLst>
              <a:ext uri="{FF2B5EF4-FFF2-40B4-BE49-F238E27FC236}">
                <a16:creationId xmlns:a16="http://schemas.microsoft.com/office/drawing/2014/main" id="{6349B2D4-1027-4644-A3E9-5A60A3049169}"/>
              </a:ext>
            </a:extLst>
          </p:cNvPr>
          <p:cNvSpPr>
            <a:spLocks noGrp="1" noChangeArrowheads="1"/>
          </p:cNvSpPr>
          <p:nvPr>
            <p:ph type="title"/>
          </p:nvPr>
        </p:nvSpPr>
        <p:spPr bwMode="auto">
          <a:xfrm>
            <a:off x="1143001" y="0"/>
            <a:ext cx="9905997" cy="533400"/>
          </a:xfrm>
          <a:noFill/>
          <a:ln/>
          <a:effectLst>
            <a:outerShdw dist="12700"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2075" tIns="46038" rIns="92075" bIns="46038" numCol="1" anchor="ctr" anchorCtr="0" compatLnSpc="1">
            <a:prstTxWarp prst="textNoShape">
              <a:avLst/>
            </a:prstTxWarp>
          </a:bodyPr>
          <a:lstStyle/>
          <a:p>
            <a:pPr algn="ctr"/>
            <a:r>
              <a:rPr lang="en-GB" altLang="en-US" sz="2000">
                <a:effectLst/>
              </a:rPr>
              <a:t>Wheat production per year from a particular farm</a:t>
            </a:r>
          </a:p>
        </p:txBody>
      </p:sp>
      <p:sp>
        <p:nvSpPr>
          <p:cNvPr id="8" name="TextBox 7">
            <a:extLst>
              <a:ext uri="{FF2B5EF4-FFF2-40B4-BE49-F238E27FC236}">
                <a16:creationId xmlns:a16="http://schemas.microsoft.com/office/drawing/2014/main" id="{620311DE-35EC-35EF-38D4-C800C4B77F8F}"/>
              </a:ext>
            </a:extLst>
          </p:cNvPr>
          <p:cNvSpPr txBox="1"/>
          <p:nvPr/>
        </p:nvSpPr>
        <p:spPr>
          <a:xfrm>
            <a:off x="5989680" y="4199860"/>
            <a:ext cx="256953" cy="492443"/>
          </a:xfrm>
          <a:prstGeom prst="rect">
            <a:avLst/>
          </a:prstGeom>
          <a:noFill/>
        </p:spPr>
        <p:txBody>
          <a:bodyPr wrap="square" rtlCol="0">
            <a:spAutoFit/>
          </a:bodyPr>
          <a:lstStyle/>
          <a:p>
            <a:r>
              <a:rPr lang="en-GB" sz="2600">
                <a:solidFill>
                  <a:schemeClr val="accent1">
                    <a:lumMod val="75000"/>
                  </a:schemeClr>
                </a:solidFill>
              </a:rPr>
              <a:t>c</a:t>
            </a:r>
          </a:p>
        </p:txBody>
      </p:sp>
      <p:sp>
        <p:nvSpPr>
          <p:cNvPr id="9" name="TextBox 8">
            <a:extLst>
              <a:ext uri="{FF2B5EF4-FFF2-40B4-BE49-F238E27FC236}">
                <a16:creationId xmlns:a16="http://schemas.microsoft.com/office/drawing/2014/main" id="{004DCC21-063D-43EB-724C-F0E43B53DFD1}"/>
              </a:ext>
            </a:extLst>
          </p:cNvPr>
          <p:cNvSpPr txBox="1"/>
          <p:nvPr/>
        </p:nvSpPr>
        <p:spPr>
          <a:xfrm>
            <a:off x="9448800" y="4045688"/>
            <a:ext cx="2496879" cy="1200329"/>
          </a:xfrm>
          <a:prstGeom prst="rect">
            <a:avLst/>
          </a:prstGeom>
          <a:noFill/>
          <a:ln w="19050">
            <a:solidFill>
              <a:srgbClr val="00B050"/>
            </a:solidFill>
          </a:ln>
        </p:spPr>
        <p:txBody>
          <a:bodyPr wrap="square" rtlCol="0">
            <a:spAutoFit/>
          </a:bodyPr>
          <a:lstStyle/>
          <a:p>
            <a:r>
              <a:rPr lang="en-GB" sz="1800" b="1">
                <a:highlight>
                  <a:srgbClr val="FFFF00"/>
                </a:highlight>
                <a:latin typeface="Calibri" panose="020F0502020204030204" pitchFamily="34" charset="0"/>
                <a:cs typeface="Calibri" panose="020F0502020204030204" pitchFamily="34" charset="0"/>
              </a:rPr>
              <a:t>Activity:</a:t>
            </a:r>
            <a:r>
              <a:rPr lang="en-GB" sz="1800">
                <a:highlight>
                  <a:srgbClr val="FFFF00"/>
                </a:highlight>
                <a:latin typeface="Calibri" panose="020F0502020204030204" pitchFamily="34" charset="0"/>
                <a:cs typeface="Calibri" panose="020F0502020204030204" pitchFamily="34" charset="0"/>
              </a:rPr>
              <a:t> Discuss with a partner how many farm workers you would employ?</a:t>
            </a:r>
          </a:p>
        </p:txBody>
      </p:sp>
    </p:spTree>
    <p:extLst>
      <p:ext uri="{BB962C8B-B14F-4D97-AF65-F5344CB8AC3E}">
        <p14:creationId xmlns:p14="http://schemas.microsoft.com/office/powerpoint/2010/main" val="3223380822"/>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a:extLst>
              <a:ext uri="{FF2B5EF4-FFF2-40B4-BE49-F238E27FC236}">
                <a16:creationId xmlns:a16="http://schemas.microsoft.com/office/drawing/2014/main" id="{8E09DC5C-396D-4F5A-86BA-A5DC4FBA0611}"/>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59" name="Rectangle 3">
            <a:extLst>
              <a:ext uri="{FF2B5EF4-FFF2-40B4-BE49-F238E27FC236}">
                <a16:creationId xmlns:a16="http://schemas.microsoft.com/office/drawing/2014/main" id="{F17B1762-40BB-47B5-807C-7C3AF17FD572}"/>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60" name="Rectangle 4">
            <a:extLst>
              <a:ext uri="{FF2B5EF4-FFF2-40B4-BE49-F238E27FC236}">
                <a16:creationId xmlns:a16="http://schemas.microsoft.com/office/drawing/2014/main" id="{E77DBCF8-0B7C-46A4-A565-3ABCF5572F0D}"/>
              </a:ext>
            </a:extLst>
          </p:cNvPr>
          <p:cNvSpPr>
            <a:spLocks noGrp="1"/>
          </p:cNvSpPr>
          <p:nvPr>
            <p:ph type="title"/>
          </p:nvPr>
        </p:nvSpPr>
        <p:spPr>
          <a:xfrm>
            <a:off x="412228" y="268566"/>
            <a:ext cx="10515600" cy="908198"/>
          </a:xfrm>
        </p:spPr>
        <p:txBody>
          <a:bodyPr/>
          <a:lstStyle/>
          <a:p>
            <a:r>
              <a:rPr lang="en-GB" altLang="en-US">
                <a:latin typeface="Calibri" panose="020F0502020204030204" pitchFamily="34" charset="0"/>
                <a:cs typeface="Calibri" panose="020F0502020204030204" pitchFamily="34" charset="0"/>
              </a:rPr>
              <a:t>Costs in the Short run</a:t>
            </a:r>
          </a:p>
        </p:txBody>
      </p:sp>
      <p:sp>
        <p:nvSpPr>
          <p:cNvPr id="377861" name="Rectangle 5">
            <a:extLst>
              <a:ext uri="{FF2B5EF4-FFF2-40B4-BE49-F238E27FC236}">
                <a16:creationId xmlns:a16="http://schemas.microsoft.com/office/drawing/2014/main" id="{B06975C4-9EDB-4F75-8BFC-7B7532C07423}"/>
              </a:ext>
            </a:extLst>
          </p:cNvPr>
          <p:cNvSpPr>
            <a:spLocks noGrp="1"/>
          </p:cNvSpPr>
          <p:nvPr>
            <p:ph idx="1"/>
          </p:nvPr>
        </p:nvSpPr>
        <p:spPr>
          <a:xfrm>
            <a:off x="343688" y="1218389"/>
            <a:ext cx="11506298" cy="4889500"/>
          </a:xfrm>
        </p:spPr>
        <p:txBody>
          <a:bodyPr>
            <a:normAutofit fontScale="92500" lnSpcReduction="10000"/>
          </a:bodyPr>
          <a:lstStyle/>
          <a:p>
            <a:pPr marL="0" indent="0">
              <a:lnSpc>
                <a:spcPct val="100000"/>
              </a:lnSpc>
              <a:spcBef>
                <a:spcPts val="1200"/>
              </a:spcBef>
              <a:buNone/>
            </a:pPr>
            <a:r>
              <a:rPr lang="en-GB" altLang="en-US" sz="2000">
                <a:latin typeface="Calibri" panose="020F0502020204030204" pitchFamily="34" charset="0"/>
                <a:cs typeface="Calibri" panose="020F0502020204030204" pitchFamily="34" charset="0"/>
              </a:rPr>
              <a:t>A firm’s cost of production will depend on the factors of production it uses, specifically:</a:t>
            </a:r>
            <a:endParaRPr lang="en-GB" altLang="en-US" sz="2000" b="1">
              <a:latin typeface="Calibri" panose="020F0502020204030204" pitchFamily="34" charset="0"/>
              <a:cs typeface="Calibri" panose="020F0502020204030204" pitchFamily="34" charset="0"/>
            </a:endParaRPr>
          </a:p>
          <a:p>
            <a:pPr>
              <a:lnSpc>
                <a:spcPct val="100000"/>
              </a:lnSpc>
              <a:spcBef>
                <a:spcPts val="1200"/>
              </a:spcBef>
            </a:pPr>
            <a:r>
              <a:rPr lang="en-GB" altLang="en-US" sz="2000" b="1">
                <a:latin typeface="Calibri" panose="020F0502020204030204" pitchFamily="34" charset="0"/>
                <a:cs typeface="Calibri" panose="020F0502020204030204" pitchFamily="34" charset="0"/>
              </a:rPr>
              <a:t>The Productivity of Factors</a:t>
            </a:r>
            <a:r>
              <a:rPr lang="en-GB" altLang="en-US" sz="2000">
                <a:latin typeface="Calibri" panose="020F0502020204030204" pitchFamily="34" charset="0"/>
                <a:cs typeface="Calibri" panose="020F0502020204030204" pitchFamily="34" charset="0"/>
              </a:rPr>
              <a:t> </a:t>
            </a:r>
          </a:p>
          <a:p>
            <a:pPr lvl="1">
              <a:lnSpc>
                <a:spcPct val="100000"/>
              </a:lnSpc>
              <a:spcBef>
                <a:spcPts val="1200"/>
              </a:spcBef>
            </a:pPr>
            <a:r>
              <a:rPr lang="en-GB" altLang="en-US" sz="2000">
                <a:latin typeface="Calibri" panose="020F0502020204030204" pitchFamily="34" charset="0"/>
                <a:cs typeface="Calibri" panose="020F0502020204030204" pitchFamily="34" charset="0"/>
              </a:rPr>
              <a:t>The greater their physical productivity, the smaller will be the quantity of </a:t>
            </a:r>
            <a:r>
              <a:rPr lang="en-GB" altLang="en-US">
                <a:latin typeface="Calibri" panose="020F0502020204030204" pitchFamily="34" charset="0"/>
                <a:cs typeface="Calibri" panose="020F0502020204030204" pitchFamily="34" charset="0"/>
              </a:rPr>
              <a:t>factors</a:t>
            </a:r>
            <a:r>
              <a:rPr lang="en-GB" altLang="en-US" sz="2000">
                <a:latin typeface="Calibri" panose="020F0502020204030204" pitchFamily="34" charset="0"/>
                <a:cs typeface="Calibri" panose="020F0502020204030204" pitchFamily="34" charset="0"/>
              </a:rPr>
              <a:t> needed to produce a given level of output and, hence, the lower will be the cost of that output.</a:t>
            </a:r>
          </a:p>
          <a:p>
            <a:pPr lvl="1">
              <a:lnSpc>
                <a:spcPct val="100000"/>
              </a:lnSpc>
              <a:spcBef>
                <a:spcPts val="1200"/>
              </a:spcBef>
            </a:pPr>
            <a:r>
              <a:rPr lang="en-GB" altLang="en-US" sz="2000">
                <a:latin typeface="Calibri" panose="020F0502020204030204" pitchFamily="34" charset="0"/>
                <a:cs typeface="Calibri" panose="020F0502020204030204" pitchFamily="34" charset="0"/>
              </a:rPr>
              <a:t>There is a direct link between TPP, APP and MPP and the costs of production.</a:t>
            </a:r>
          </a:p>
          <a:p>
            <a:pPr lvl="1">
              <a:lnSpc>
                <a:spcPct val="100000"/>
              </a:lnSpc>
              <a:spcBef>
                <a:spcPts val="1200"/>
              </a:spcBef>
            </a:pPr>
            <a:r>
              <a:rPr lang="en-GB">
                <a:latin typeface="+mn-lt"/>
                <a:hlinkClick r:id="rId3"/>
              </a:rPr>
              <a:t>Prosperity Unlocked – How can Scotland unlock its potential and solve the productivity puzzle? - The Productivity Institute</a:t>
            </a:r>
            <a:endParaRPr lang="en-GB" altLang="en-US" sz="2000" b="1">
              <a:latin typeface="+mn-lt"/>
              <a:cs typeface="Calibri" panose="020F0502020204030204" pitchFamily="34" charset="0"/>
            </a:endParaRPr>
          </a:p>
          <a:p>
            <a:pPr>
              <a:lnSpc>
                <a:spcPct val="100000"/>
              </a:lnSpc>
              <a:spcBef>
                <a:spcPts val="1200"/>
              </a:spcBef>
            </a:pPr>
            <a:r>
              <a:rPr lang="en-GB" altLang="en-US" sz="2000" b="1">
                <a:latin typeface="Calibri" panose="020F0502020204030204" pitchFamily="34" charset="0"/>
                <a:cs typeface="Calibri" panose="020F0502020204030204" pitchFamily="34" charset="0"/>
              </a:rPr>
              <a:t>The Price of Factors</a:t>
            </a:r>
          </a:p>
          <a:p>
            <a:pPr lvl="1">
              <a:lnSpc>
                <a:spcPct val="100000"/>
              </a:lnSpc>
              <a:spcBef>
                <a:spcPts val="1200"/>
              </a:spcBef>
            </a:pPr>
            <a:r>
              <a:rPr lang="en-GB" altLang="en-US" sz="2000">
                <a:latin typeface="Calibri" panose="020F0502020204030204" pitchFamily="34" charset="0"/>
                <a:cs typeface="Calibri" panose="020F0502020204030204" pitchFamily="34" charset="0"/>
              </a:rPr>
              <a:t>The higher their price, the higher will be the costs of production. </a:t>
            </a:r>
          </a:p>
          <a:p>
            <a:pPr lvl="1">
              <a:lnSpc>
                <a:spcPct val="100000"/>
              </a:lnSpc>
              <a:spcBef>
                <a:spcPts val="1200"/>
              </a:spcBef>
            </a:pPr>
            <a:r>
              <a:rPr lang="en-GB" altLang="en-US" sz="2000">
                <a:latin typeface="Calibri" panose="020F0502020204030204" pitchFamily="34" charset="0"/>
                <a:cs typeface="Calibri" panose="020F0502020204030204" pitchFamily="34" charset="0"/>
              </a:rPr>
              <a:t>In the SR, some factors are fixed in supply, for e.g., whether the firm produces a little or a lot, its rent will not change.</a:t>
            </a:r>
          </a:p>
          <a:p>
            <a:pPr lvl="1">
              <a:lnSpc>
                <a:spcPct val="100000"/>
              </a:lnSpc>
              <a:spcBef>
                <a:spcPts val="1200"/>
              </a:spcBef>
            </a:pPr>
            <a:r>
              <a:rPr lang="en-GB" altLang="en-US" sz="2000">
                <a:latin typeface="Calibri" panose="020F0502020204030204" pitchFamily="34" charset="0"/>
                <a:cs typeface="Calibri" panose="020F0502020204030204" pitchFamily="34" charset="0"/>
              </a:rPr>
              <a:t>The costs of variable factors, however, does vary with output. The cost of raw materials is a variable cost. The more that is produced, the more raw materials are needed and the higher is their total cost.</a:t>
            </a:r>
          </a:p>
          <a:p>
            <a:pPr marL="457200" lvl="1" indent="0">
              <a:lnSpc>
                <a:spcPct val="80000"/>
              </a:lnSpc>
              <a:spcBef>
                <a:spcPct val="50000"/>
              </a:spcBef>
              <a:buNone/>
            </a:pPr>
            <a:endParaRPr lang="en-GB" altLang="en-US" sz="1800"/>
          </a:p>
        </p:txBody>
      </p:sp>
    </p:spTree>
    <p:extLst>
      <p:ext uri="{BB962C8B-B14F-4D97-AF65-F5344CB8AC3E}">
        <p14:creationId xmlns:p14="http://schemas.microsoft.com/office/powerpoint/2010/main" val="170847723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61">
                                            <p:txEl>
                                              <p:pRg st="0" end="0"/>
                                            </p:txEl>
                                          </p:spTgt>
                                        </p:tgtEl>
                                        <p:attrNameLst>
                                          <p:attrName>style.visibility</p:attrName>
                                        </p:attrNameLst>
                                      </p:cBhvr>
                                      <p:to>
                                        <p:strVal val="visible"/>
                                      </p:to>
                                    </p:set>
                                    <p:anim calcmode="lin" valueType="num">
                                      <p:cBhvr additive="base">
                                        <p:cTn id="7" dur="500"/>
                                        <p:tgtEl>
                                          <p:spTgt spid="37786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6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61">
                                            <p:txEl>
                                              <p:pRg st="1" end="1"/>
                                            </p:txEl>
                                          </p:spTgt>
                                        </p:tgtEl>
                                        <p:attrNameLst>
                                          <p:attrName>style.visibility</p:attrName>
                                        </p:attrNameLst>
                                      </p:cBhvr>
                                      <p:to>
                                        <p:strVal val="visible"/>
                                      </p:to>
                                    </p:set>
                                    <p:anim calcmode="lin" valueType="num">
                                      <p:cBhvr additive="base">
                                        <p:cTn id="13" dur="500"/>
                                        <p:tgtEl>
                                          <p:spTgt spid="37786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6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61">
                                            <p:txEl>
                                              <p:pRg st="2" end="2"/>
                                            </p:txEl>
                                          </p:spTgt>
                                        </p:tgtEl>
                                        <p:attrNameLst>
                                          <p:attrName>style.visibility</p:attrName>
                                        </p:attrNameLst>
                                      </p:cBhvr>
                                      <p:to>
                                        <p:strVal val="visible"/>
                                      </p:to>
                                    </p:set>
                                    <p:anim calcmode="lin" valueType="num">
                                      <p:cBhvr additive="base">
                                        <p:cTn id="19" dur="500"/>
                                        <p:tgtEl>
                                          <p:spTgt spid="37786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6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7861">
                                            <p:txEl>
                                              <p:pRg st="3" end="3"/>
                                            </p:txEl>
                                          </p:spTgt>
                                        </p:tgtEl>
                                        <p:attrNameLst>
                                          <p:attrName>style.visibility</p:attrName>
                                        </p:attrNameLst>
                                      </p:cBhvr>
                                      <p:to>
                                        <p:strVal val="visible"/>
                                      </p:to>
                                    </p:set>
                                    <p:anim calcmode="lin" valueType="num">
                                      <p:cBhvr additive="base">
                                        <p:cTn id="25" dur="500"/>
                                        <p:tgtEl>
                                          <p:spTgt spid="37786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786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7861">
                                            <p:txEl>
                                              <p:pRg st="4" end="4"/>
                                            </p:txEl>
                                          </p:spTgt>
                                        </p:tgtEl>
                                        <p:attrNameLst>
                                          <p:attrName>style.visibility</p:attrName>
                                        </p:attrNameLst>
                                      </p:cBhvr>
                                      <p:to>
                                        <p:strVal val="visible"/>
                                      </p:to>
                                    </p:set>
                                    <p:anim calcmode="lin" valueType="num">
                                      <p:cBhvr additive="base">
                                        <p:cTn id="31" dur="500"/>
                                        <p:tgtEl>
                                          <p:spTgt spid="37786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786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7861">
                                            <p:txEl>
                                              <p:pRg st="5" end="5"/>
                                            </p:txEl>
                                          </p:spTgt>
                                        </p:tgtEl>
                                        <p:attrNameLst>
                                          <p:attrName>style.visibility</p:attrName>
                                        </p:attrNameLst>
                                      </p:cBhvr>
                                      <p:to>
                                        <p:strVal val="visible"/>
                                      </p:to>
                                    </p:set>
                                    <p:anim calcmode="lin" valueType="num">
                                      <p:cBhvr additive="base">
                                        <p:cTn id="37" dur="500"/>
                                        <p:tgtEl>
                                          <p:spTgt spid="37786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786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7861">
                                            <p:txEl>
                                              <p:pRg st="6" end="6"/>
                                            </p:txEl>
                                          </p:spTgt>
                                        </p:tgtEl>
                                        <p:attrNameLst>
                                          <p:attrName>style.visibility</p:attrName>
                                        </p:attrNameLst>
                                      </p:cBhvr>
                                      <p:to>
                                        <p:strVal val="visible"/>
                                      </p:to>
                                    </p:set>
                                    <p:anim calcmode="lin" valueType="num">
                                      <p:cBhvr additive="base">
                                        <p:cTn id="43" dur="500"/>
                                        <p:tgtEl>
                                          <p:spTgt spid="37786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7861">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7861">
                                            <p:txEl>
                                              <p:pRg st="7" end="7"/>
                                            </p:txEl>
                                          </p:spTgt>
                                        </p:tgtEl>
                                        <p:attrNameLst>
                                          <p:attrName>style.visibility</p:attrName>
                                        </p:attrNameLst>
                                      </p:cBhvr>
                                      <p:to>
                                        <p:strVal val="visible"/>
                                      </p:to>
                                    </p:set>
                                    <p:anim calcmode="lin" valueType="num">
                                      <p:cBhvr additive="base">
                                        <p:cTn id="49" dur="500"/>
                                        <p:tgtEl>
                                          <p:spTgt spid="377861">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7861">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7861">
                                            <p:txEl>
                                              <p:pRg st="8" end="8"/>
                                            </p:txEl>
                                          </p:spTgt>
                                        </p:tgtEl>
                                        <p:attrNameLst>
                                          <p:attrName>style.visibility</p:attrName>
                                        </p:attrNameLst>
                                      </p:cBhvr>
                                      <p:to>
                                        <p:strVal val="visible"/>
                                      </p:to>
                                    </p:set>
                                    <p:anim calcmode="lin" valueType="num">
                                      <p:cBhvr additive="base">
                                        <p:cTn id="55" dur="500"/>
                                        <p:tgtEl>
                                          <p:spTgt spid="377861">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786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build="p" bldLvl="3"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6">
            <a:extLst>
              <a:ext uri="{FF2B5EF4-FFF2-40B4-BE49-F238E27FC236}">
                <a16:creationId xmlns:a16="http://schemas.microsoft.com/office/drawing/2014/main" id="{42DBEBB6-CBAA-4064-886D-826126B492D9}"/>
              </a:ext>
            </a:extLst>
          </p:cNvPr>
          <p:cNvGraphicFramePr>
            <a:graphicFrameLocks/>
          </p:cNvGraphicFramePr>
          <p:nvPr/>
        </p:nvGraphicFramePr>
        <p:xfrm>
          <a:off x="1127448" y="607394"/>
          <a:ext cx="7681912" cy="6246813"/>
        </p:xfrm>
        <a:graphic>
          <a:graphicData uri="http://schemas.openxmlformats.org/drawingml/2006/chart">
            <c:chart xmlns:c="http://schemas.openxmlformats.org/drawingml/2006/chart" xmlns:r="http://schemas.openxmlformats.org/officeDocument/2006/relationships" r:id="rId3"/>
          </a:graphicData>
        </a:graphic>
      </p:graphicFrame>
      <p:sp>
        <p:nvSpPr>
          <p:cNvPr id="10243" name="Rectangle 3">
            <a:extLst>
              <a:ext uri="{FF2B5EF4-FFF2-40B4-BE49-F238E27FC236}">
                <a16:creationId xmlns:a16="http://schemas.microsoft.com/office/drawing/2014/main" id="{F26DE366-6B71-44A5-A21F-3EFE1E6B0741}"/>
              </a:ext>
            </a:extLst>
          </p:cNvPr>
          <p:cNvSpPr>
            <a:spLocks noChangeArrowheads="1"/>
          </p:cNvSpPr>
          <p:nvPr/>
        </p:nvSpPr>
        <p:spPr bwMode="auto">
          <a:xfrm>
            <a:off x="1349961" y="6500192"/>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4" name="Rectangle 4">
            <a:extLst>
              <a:ext uri="{FF2B5EF4-FFF2-40B4-BE49-F238E27FC236}">
                <a16:creationId xmlns:a16="http://schemas.microsoft.com/office/drawing/2014/main" id="{B14E6884-6EF7-4DC3-BA10-7B49F272460E}"/>
              </a:ext>
            </a:extLst>
          </p:cNvPr>
          <p:cNvSpPr>
            <a:spLocks noChangeArrowheads="1"/>
          </p:cNvSpPr>
          <p:nvPr/>
        </p:nvSpPr>
        <p:spPr bwMode="auto">
          <a:xfrm>
            <a:off x="3788361" y="6500192"/>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8" name="Rectangle 8">
            <a:extLst>
              <a:ext uri="{FF2B5EF4-FFF2-40B4-BE49-F238E27FC236}">
                <a16:creationId xmlns:a16="http://schemas.microsoft.com/office/drawing/2014/main" id="{DFA0D250-70B4-4F1F-BF45-3C4DBD7AD2C8}"/>
              </a:ext>
            </a:extLst>
          </p:cNvPr>
          <p:cNvSpPr>
            <a:spLocks noChangeArrowheads="1"/>
          </p:cNvSpPr>
          <p:nvPr/>
        </p:nvSpPr>
        <p:spPr bwMode="auto">
          <a:xfrm>
            <a:off x="7890463" y="5403231"/>
            <a:ext cx="735779"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solidFill>
                  <a:schemeClr val="folHlink"/>
                </a:solidFill>
                <a:latin typeface="Arial" panose="020B0604020202020204" pitchFamily="34" charset="0"/>
              </a:rPr>
              <a:t>TFC</a:t>
            </a:r>
          </a:p>
        </p:txBody>
      </p:sp>
      <p:sp>
        <p:nvSpPr>
          <p:cNvPr id="10249" name="Oval 9">
            <a:extLst>
              <a:ext uri="{FF2B5EF4-FFF2-40B4-BE49-F238E27FC236}">
                <a16:creationId xmlns:a16="http://schemas.microsoft.com/office/drawing/2014/main" id="{B770E0D0-05CB-475F-95BA-766CD4925A59}"/>
              </a:ext>
            </a:extLst>
          </p:cNvPr>
          <p:cNvSpPr>
            <a:spLocks noChangeArrowheads="1"/>
          </p:cNvSpPr>
          <p:nvPr/>
        </p:nvSpPr>
        <p:spPr bwMode="auto">
          <a:xfrm>
            <a:off x="4296361" y="5068267"/>
            <a:ext cx="103188" cy="103188"/>
          </a:xfrm>
          <a:prstGeom prst="ellipse">
            <a:avLst/>
          </a:prstGeom>
          <a:solidFill>
            <a:srgbClr val="DCDCFF"/>
          </a:solidFill>
          <a:ln w="254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0" name="Oval 10">
            <a:extLst>
              <a:ext uri="{FF2B5EF4-FFF2-40B4-BE49-F238E27FC236}">
                <a16:creationId xmlns:a16="http://schemas.microsoft.com/office/drawing/2014/main" id="{EEFDA265-2A85-462B-8435-8FEA9D2E4D42}"/>
              </a:ext>
            </a:extLst>
          </p:cNvPr>
          <p:cNvSpPr>
            <a:spLocks noChangeArrowheads="1"/>
          </p:cNvSpPr>
          <p:nvPr/>
        </p:nvSpPr>
        <p:spPr bwMode="auto">
          <a:xfrm>
            <a:off x="4283661" y="4506292"/>
            <a:ext cx="103188" cy="103188"/>
          </a:xfrm>
          <a:prstGeom prst="ellipse">
            <a:avLst/>
          </a:prstGeom>
          <a:solidFill>
            <a:srgbClr val="FFFFCC"/>
          </a:solidFill>
          <a:ln w="254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1" name="Line 11">
            <a:extLst>
              <a:ext uri="{FF2B5EF4-FFF2-40B4-BE49-F238E27FC236}">
                <a16:creationId xmlns:a16="http://schemas.microsoft.com/office/drawing/2014/main" id="{3FD02692-7509-4F3A-8203-E4EDAAC2936F}"/>
              </a:ext>
            </a:extLst>
          </p:cNvPr>
          <p:cNvSpPr>
            <a:spLocks noChangeShapeType="1"/>
          </p:cNvSpPr>
          <p:nvPr/>
        </p:nvSpPr>
        <p:spPr bwMode="auto">
          <a:xfrm>
            <a:off x="3605799" y="3112469"/>
            <a:ext cx="641350" cy="1355725"/>
          </a:xfrm>
          <a:prstGeom prst="line">
            <a:avLst/>
          </a:prstGeom>
          <a:noFill/>
          <a:ln w="222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2" name="Line 12">
            <a:extLst>
              <a:ext uri="{FF2B5EF4-FFF2-40B4-BE49-F238E27FC236}">
                <a16:creationId xmlns:a16="http://schemas.microsoft.com/office/drawing/2014/main" id="{AC66A9C0-A32E-49C4-B386-100613269D10}"/>
              </a:ext>
            </a:extLst>
          </p:cNvPr>
          <p:cNvSpPr>
            <a:spLocks noChangeShapeType="1"/>
          </p:cNvSpPr>
          <p:nvPr/>
        </p:nvSpPr>
        <p:spPr bwMode="auto">
          <a:xfrm>
            <a:off x="3605799" y="3168032"/>
            <a:ext cx="677862" cy="1868487"/>
          </a:xfrm>
          <a:prstGeom prst="line">
            <a:avLst/>
          </a:prstGeom>
          <a:noFill/>
          <a:ln w="222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3" name="Rectangle 13">
            <a:extLst>
              <a:ext uri="{FF2B5EF4-FFF2-40B4-BE49-F238E27FC236}">
                <a16:creationId xmlns:a16="http://schemas.microsoft.com/office/drawing/2014/main" id="{F35C848E-9780-4212-96EF-7AD8422D95A8}"/>
              </a:ext>
            </a:extLst>
          </p:cNvPr>
          <p:cNvSpPr>
            <a:spLocks noChangeArrowheads="1"/>
          </p:cNvSpPr>
          <p:nvPr/>
        </p:nvSpPr>
        <p:spPr bwMode="auto">
          <a:xfrm>
            <a:off x="2040268" y="2472705"/>
            <a:ext cx="3197735"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a:solidFill>
                  <a:schemeClr val="accent1"/>
                </a:solidFill>
                <a:latin typeface="Calibri" panose="020F0502020204030204" pitchFamily="34" charset="0"/>
                <a:cs typeface="Calibri" panose="020F0502020204030204" pitchFamily="34" charset="0"/>
              </a:rPr>
              <a:t>Diminishing marginal returns</a:t>
            </a:r>
          </a:p>
          <a:p>
            <a:pPr algn="ctr"/>
            <a:r>
              <a:rPr lang="en-GB" altLang="en-US" sz="2000">
                <a:solidFill>
                  <a:schemeClr val="accent1"/>
                </a:solidFill>
                <a:latin typeface="Calibri" panose="020F0502020204030204" pitchFamily="34" charset="0"/>
                <a:cs typeface="Calibri" panose="020F0502020204030204" pitchFamily="34" charset="0"/>
              </a:rPr>
              <a:t>set in here</a:t>
            </a:r>
          </a:p>
        </p:txBody>
      </p:sp>
      <p:sp>
        <p:nvSpPr>
          <p:cNvPr id="10254" name="Rectangle 14">
            <a:extLst>
              <a:ext uri="{FF2B5EF4-FFF2-40B4-BE49-F238E27FC236}">
                <a16:creationId xmlns:a16="http://schemas.microsoft.com/office/drawing/2014/main" id="{BFF0C71D-7DBB-4C43-90AD-C173C8CB8F35}"/>
              </a:ext>
            </a:extLst>
          </p:cNvPr>
          <p:cNvSpPr>
            <a:spLocks noChangeArrowheads="1"/>
          </p:cNvSpPr>
          <p:nvPr/>
        </p:nvSpPr>
        <p:spPr bwMode="auto">
          <a:xfrm>
            <a:off x="7752185" y="728465"/>
            <a:ext cx="562655"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solidFill>
                  <a:schemeClr val="accent2"/>
                </a:solidFill>
                <a:latin typeface="Arial" panose="020B0604020202020204" pitchFamily="34" charset="0"/>
              </a:rPr>
              <a:t>TC</a:t>
            </a:r>
          </a:p>
        </p:txBody>
      </p:sp>
      <p:grpSp>
        <p:nvGrpSpPr>
          <p:cNvPr id="21" name="Group 20">
            <a:extLst>
              <a:ext uri="{FF2B5EF4-FFF2-40B4-BE49-F238E27FC236}">
                <a16:creationId xmlns:a16="http://schemas.microsoft.com/office/drawing/2014/main" id="{384C7FC3-EED7-4FFA-A0EB-4B30C456CBB0}"/>
              </a:ext>
            </a:extLst>
          </p:cNvPr>
          <p:cNvGrpSpPr/>
          <p:nvPr/>
        </p:nvGrpSpPr>
        <p:grpSpPr>
          <a:xfrm>
            <a:off x="8741012" y="1967327"/>
            <a:ext cx="3136900" cy="3234543"/>
            <a:chOff x="1717675" y="174626"/>
            <a:chExt cx="3136900" cy="3583201"/>
          </a:xfrm>
        </p:grpSpPr>
        <p:sp>
          <p:nvSpPr>
            <p:cNvPr id="22" name="AutoShape 10">
              <a:extLst>
                <a:ext uri="{FF2B5EF4-FFF2-40B4-BE49-F238E27FC236}">
                  <a16:creationId xmlns:a16="http://schemas.microsoft.com/office/drawing/2014/main" id="{D6D1DA1E-FCE0-4945-BE43-017272DC6F24}"/>
                </a:ext>
              </a:extLst>
            </p:cNvPr>
            <p:cNvSpPr>
              <a:spLocks noChangeArrowheads="1"/>
            </p:cNvSpPr>
            <p:nvPr/>
          </p:nvSpPr>
          <p:spPr bwMode="auto">
            <a:xfrm>
              <a:off x="1717675" y="174626"/>
              <a:ext cx="3136900" cy="3578225"/>
            </a:xfrm>
            <a:prstGeom prst="roundRect">
              <a:avLst>
                <a:gd name="adj" fmla="val 12495"/>
              </a:avLst>
            </a:prstGeom>
            <a:solidFill>
              <a:srgbClr val="E3FFE3"/>
            </a:solidFill>
            <a:ln w="28575">
              <a:solidFill>
                <a:srgbClr val="0066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800"/>
            </a:p>
          </p:txBody>
        </p:sp>
        <p:sp>
          <p:nvSpPr>
            <p:cNvPr id="23" name="Rectangle 11">
              <a:extLst>
                <a:ext uri="{FF2B5EF4-FFF2-40B4-BE49-F238E27FC236}">
                  <a16:creationId xmlns:a16="http://schemas.microsoft.com/office/drawing/2014/main" id="{8EE76F61-7064-40E5-B3A9-876F5F1F7BD0}"/>
                </a:ext>
              </a:extLst>
            </p:cNvPr>
            <p:cNvSpPr>
              <a:spLocks noChangeArrowheads="1"/>
            </p:cNvSpPr>
            <p:nvPr/>
          </p:nvSpPr>
          <p:spPr bwMode="auto">
            <a:xfrm>
              <a:off x="1746766" y="277814"/>
              <a:ext cx="878446" cy="347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latin typeface="Arial" panose="020B0604020202020204" pitchFamily="34" charset="0"/>
                </a:rPr>
                <a:t>Output</a:t>
              </a:r>
            </a:p>
            <a:p>
              <a:pPr algn="ctr"/>
              <a:r>
                <a:rPr lang="en-GB" altLang="en-US" sz="1800">
                  <a:latin typeface="Arial" panose="020B0604020202020204" pitchFamily="34" charset="0"/>
                </a:rPr>
                <a:t>(Q)</a:t>
              </a:r>
            </a:p>
            <a:p>
              <a:pPr algn="ctr"/>
              <a:endParaRPr lang="en-GB" altLang="en-US" sz="1800">
                <a:latin typeface="Arial" panose="020B0604020202020204" pitchFamily="34" charset="0"/>
              </a:endParaRPr>
            </a:p>
            <a:p>
              <a:pPr algn="ctr"/>
              <a:r>
                <a:rPr lang="en-GB" altLang="en-US" sz="1800">
                  <a:latin typeface="Arial" panose="020B0604020202020204" pitchFamily="34" charset="0"/>
                </a:rPr>
                <a:t>0</a:t>
              </a:r>
            </a:p>
            <a:p>
              <a:pPr algn="ctr"/>
              <a:r>
                <a:rPr lang="en-GB" altLang="en-US" sz="1800">
                  <a:latin typeface="Arial" panose="020B0604020202020204" pitchFamily="34" charset="0"/>
                </a:rPr>
                <a:t>1</a:t>
              </a:r>
            </a:p>
            <a:p>
              <a:pPr algn="ctr"/>
              <a:r>
                <a:rPr lang="en-GB" altLang="en-US" sz="1800">
                  <a:latin typeface="Arial" panose="020B0604020202020204" pitchFamily="34" charset="0"/>
                </a:rPr>
                <a:t>2</a:t>
              </a:r>
            </a:p>
            <a:p>
              <a:pPr algn="ctr"/>
              <a:r>
                <a:rPr lang="en-GB" altLang="en-US" sz="1800">
                  <a:latin typeface="Arial" panose="020B0604020202020204" pitchFamily="34" charset="0"/>
                </a:rPr>
                <a:t>3</a:t>
              </a:r>
            </a:p>
            <a:p>
              <a:pPr algn="ctr"/>
              <a:r>
                <a:rPr lang="en-GB" altLang="en-US" sz="1800">
                  <a:latin typeface="Arial" panose="020B0604020202020204" pitchFamily="34" charset="0"/>
                </a:rPr>
                <a:t>4</a:t>
              </a:r>
            </a:p>
            <a:p>
              <a:pPr algn="ctr"/>
              <a:r>
                <a:rPr lang="en-GB" altLang="en-US" sz="1800">
                  <a:latin typeface="Arial" panose="020B0604020202020204" pitchFamily="34" charset="0"/>
                </a:rPr>
                <a:t>5</a:t>
              </a:r>
            </a:p>
            <a:p>
              <a:pPr algn="ctr"/>
              <a:r>
                <a:rPr lang="en-GB" altLang="en-US" sz="1800">
                  <a:latin typeface="Arial" panose="020B0604020202020204" pitchFamily="34" charset="0"/>
                </a:rPr>
                <a:t>6</a:t>
              </a:r>
            </a:p>
            <a:p>
              <a:pPr algn="ctr"/>
              <a:r>
                <a:rPr lang="en-GB" altLang="en-US" sz="1800">
                  <a:latin typeface="Arial" panose="020B0604020202020204" pitchFamily="34" charset="0"/>
                </a:rPr>
                <a:t>7</a:t>
              </a:r>
            </a:p>
          </p:txBody>
        </p:sp>
        <p:sp>
          <p:nvSpPr>
            <p:cNvPr id="24" name="Rectangle 12">
              <a:extLst>
                <a:ext uri="{FF2B5EF4-FFF2-40B4-BE49-F238E27FC236}">
                  <a16:creationId xmlns:a16="http://schemas.microsoft.com/office/drawing/2014/main" id="{673CE979-B6C4-4200-BE99-8B05283E2D77}"/>
                </a:ext>
              </a:extLst>
            </p:cNvPr>
            <p:cNvSpPr>
              <a:spLocks noChangeArrowheads="1"/>
            </p:cNvSpPr>
            <p:nvPr/>
          </p:nvSpPr>
          <p:spPr bwMode="auto">
            <a:xfrm>
              <a:off x="2647263" y="279401"/>
              <a:ext cx="634789" cy="347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i="1">
                  <a:solidFill>
                    <a:schemeClr val="folHlink"/>
                  </a:solidFill>
                  <a:latin typeface="Arial" panose="020B0604020202020204" pitchFamily="34" charset="0"/>
                </a:rPr>
                <a:t>TFC</a:t>
              </a:r>
            </a:p>
            <a:p>
              <a:pPr algn="ctr"/>
              <a:r>
                <a:rPr lang="en-GB" altLang="en-US" sz="1800">
                  <a:solidFill>
                    <a:schemeClr val="folHlink"/>
                  </a:solidFill>
                  <a:latin typeface="Arial" panose="020B0604020202020204" pitchFamily="34" charset="0"/>
                </a:rPr>
                <a:t>(£)</a:t>
              </a:r>
            </a:p>
            <a:p>
              <a:pPr algn="ctr"/>
              <a:endParaRPr lang="en-GB" altLang="en-US" sz="1800">
                <a:solidFill>
                  <a:schemeClr val="folHlink"/>
                </a:solidFill>
                <a:latin typeface="Arial" panose="020B0604020202020204" pitchFamily="34" charset="0"/>
              </a:endParaRPr>
            </a:p>
            <a:p>
              <a:pPr algn="ctr"/>
              <a:r>
                <a:rPr lang="en-GB" altLang="en-US" sz="1800">
                  <a:solidFill>
                    <a:schemeClr val="folHlink"/>
                  </a:solidFill>
                  <a:latin typeface="Arial" panose="020B0604020202020204" pitchFamily="34" charset="0"/>
                </a:rPr>
                <a:t>12</a:t>
              </a:r>
            </a:p>
            <a:p>
              <a:pPr algn="ctr"/>
              <a:r>
                <a:rPr lang="en-GB" altLang="en-US" sz="1800">
                  <a:solidFill>
                    <a:schemeClr val="folHlink"/>
                  </a:solidFill>
                  <a:latin typeface="Arial" panose="020B0604020202020204" pitchFamily="34" charset="0"/>
                </a:rPr>
                <a:t>12</a:t>
              </a:r>
            </a:p>
            <a:p>
              <a:pPr algn="ctr"/>
              <a:r>
                <a:rPr lang="en-GB" altLang="en-US" sz="1800">
                  <a:solidFill>
                    <a:schemeClr val="folHlink"/>
                  </a:solidFill>
                  <a:latin typeface="Arial" panose="020B0604020202020204" pitchFamily="34" charset="0"/>
                </a:rPr>
                <a:t>12</a:t>
              </a:r>
            </a:p>
            <a:p>
              <a:pPr algn="ctr"/>
              <a:r>
                <a:rPr lang="en-GB" altLang="en-US" sz="1800">
                  <a:solidFill>
                    <a:schemeClr val="folHlink"/>
                  </a:solidFill>
                  <a:latin typeface="Arial" panose="020B0604020202020204" pitchFamily="34" charset="0"/>
                </a:rPr>
                <a:t>12</a:t>
              </a:r>
            </a:p>
            <a:p>
              <a:pPr algn="ctr"/>
              <a:r>
                <a:rPr lang="en-GB" altLang="en-US" sz="1800">
                  <a:solidFill>
                    <a:schemeClr val="folHlink"/>
                  </a:solidFill>
                  <a:latin typeface="Arial" panose="020B0604020202020204" pitchFamily="34" charset="0"/>
                </a:rPr>
                <a:t>12</a:t>
              </a:r>
            </a:p>
            <a:p>
              <a:pPr algn="ctr"/>
              <a:r>
                <a:rPr lang="en-GB" altLang="en-US" sz="1800">
                  <a:solidFill>
                    <a:schemeClr val="folHlink"/>
                  </a:solidFill>
                  <a:latin typeface="Arial" panose="020B0604020202020204" pitchFamily="34" charset="0"/>
                </a:rPr>
                <a:t>12</a:t>
              </a:r>
            </a:p>
            <a:p>
              <a:pPr algn="ctr"/>
              <a:r>
                <a:rPr lang="en-GB" altLang="en-US" sz="1800">
                  <a:solidFill>
                    <a:schemeClr val="folHlink"/>
                  </a:solidFill>
                  <a:latin typeface="Arial" panose="020B0604020202020204" pitchFamily="34" charset="0"/>
                </a:rPr>
                <a:t>12</a:t>
              </a:r>
            </a:p>
            <a:p>
              <a:pPr algn="ctr"/>
              <a:r>
                <a:rPr lang="en-GB" altLang="en-US" sz="1800">
                  <a:solidFill>
                    <a:schemeClr val="folHlink"/>
                  </a:solidFill>
                  <a:latin typeface="Arial" panose="020B0604020202020204" pitchFamily="34" charset="0"/>
                </a:rPr>
                <a:t>12</a:t>
              </a:r>
            </a:p>
          </p:txBody>
        </p:sp>
        <p:sp>
          <p:nvSpPr>
            <p:cNvPr id="25" name="Line 13">
              <a:extLst>
                <a:ext uri="{FF2B5EF4-FFF2-40B4-BE49-F238E27FC236}">
                  <a16:creationId xmlns:a16="http://schemas.microsoft.com/office/drawing/2014/main" id="{F2F70F6E-5BD9-4FFA-BD28-9E2697472D3F}"/>
                </a:ext>
              </a:extLst>
            </p:cNvPr>
            <p:cNvSpPr>
              <a:spLocks noChangeShapeType="1"/>
            </p:cNvSpPr>
            <p:nvPr/>
          </p:nvSpPr>
          <p:spPr bwMode="auto">
            <a:xfrm>
              <a:off x="1876426" y="1084263"/>
              <a:ext cx="2765425" cy="0"/>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800"/>
            </a:p>
          </p:txBody>
        </p:sp>
        <p:sp>
          <p:nvSpPr>
            <p:cNvPr id="26" name="Rectangle 14">
              <a:extLst>
                <a:ext uri="{FF2B5EF4-FFF2-40B4-BE49-F238E27FC236}">
                  <a16:creationId xmlns:a16="http://schemas.microsoft.com/office/drawing/2014/main" id="{B7B57929-236E-4C83-81ED-73EA08BFE44B}"/>
                </a:ext>
              </a:extLst>
            </p:cNvPr>
            <p:cNvSpPr>
              <a:spLocks noChangeArrowheads="1"/>
            </p:cNvSpPr>
            <p:nvPr/>
          </p:nvSpPr>
          <p:spPr bwMode="auto">
            <a:xfrm>
              <a:off x="3381420" y="277814"/>
              <a:ext cx="647613" cy="347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i="1">
                  <a:solidFill>
                    <a:schemeClr val="tx2"/>
                  </a:solidFill>
                  <a:latin typeface="Arial" panose="020B0604020202020204" pitchFamily="34" charset="0"/>
                </a:rPr>
                <a:t>TVC</a:t>
              </a:r>
            </a:p>
            <a:p>
              <a:pPr algn="ctr"/>
              <a:r>
                <a:rPr lang="en-GB" altLang="en-US" sz="1800">
                  <a:solidFill>
                    <a:schemeClr val="tx2"/>
                  </a:solidFill>
                  <a:latin typeface="Arial" panose="020B0604020202020204" pitchFamily="34" charset="0"/>
                </a:rPr>
                <a:t>(£)</a:t>
              </a:r>
            </a:p>
            <a:p>
              <a:pPr algn="ctr"/>
              <a:endParaRPr lang="en-GB" altLang="en-US" sz="1800">
                <a:solidFill>
                  <a:schemeClr val="tx2"/>
                </a:solidFill>
                <a:latin typeface="Arial" panose="020B0604020202020204" pitchFamily="34" charset="0"/>
              </a:endParaRPr>
            </a:p>
            <a:p>
              <a:pPr algn="ctr"/>
              <a:r>
                <a:rPr lang="en-GB" altLang="en-US" sz="1800">
                  <a:solidFill>
                    <a:schemeClr val="tx2"/>
                  </a:solidFill>
                  <a:latin typeface="Arial" panose="020B0604020202020204" pitchFamily="34" charset="0"/>
                </a:rPr>
                <a:t>  0</a:t>
              </a:r>
            </a:p>
            <a:p>
              <a:pPr algn="ctr"/>
              <a:r>
                <a:rPr lang="en-GB" altLang="en-US" sz="1800">
                  <a:solidFill>
                    <a:schemeClr val="tx2"/>
                  </a:solidFill>
                  <a:latin typeface="Arial" panose="020B0604020202020204" pitchFamily="34" charset="0"/>
                </a:rPr>
                <a:t>10</a:t>
              </a:r>
            </a:p>
            <a:p>
              <a:pPr algn="ctr"/>
              <a:r>
                <a:rPr lang="en-GB" altLang="en-US" sz="1800">
                  <a:solidFill>
                    <a:schemeClr val="tx2"/>
                  </a:solidFill>
                  <a:latin typeface="Arial" panose="020B0604020202020204" pitchFamily="34" charset="0"/>
                </a:rPr>
                <a:t>16</a:t>
              </a:r>
            </a:p>
            <a:p>
              <a:pPr algn="ctr"/>
              <a:r>
                <a:rPr lang="en-GB" altLang="en-US" sz="1800">
                  <a:solidFill>
                    <a:schemeClr val="tx2"/>
                  </a:solidFill>
                  <a:latin typeface="Arial" panose="020B0604020202020204" pitchFamily="34" charset="0"/>
                </a:rPr>
                <a:t>21</a:t>
              </a:r>
            </a:p>
            <a:p>
              <a:pPr algn="ctr"/>
              <a:r>
                <a:rPr lang="en-GB" altLang="en-US" sz="1800">
                  <a:solidFill>
                    <a:schemeClr val="tx2"/>
                  </a:solidFill>
                  <a:latin typeface="Arial" panose="020B0604020202020204" pitchFamily="34" charset="0"/>
                </a:rPr>
                <a:t>28</a:t>
              </a:r>
            </a:p>
            <a:p>
              <a:pPr algn="ctr"/>
              <a:r>
                <a:rPr lang="en-GB" altLang="en-US" sz="1800">
                  <a:solidFill>
                    <a:schemeClr val="tx2"/>
                  </a:solidFill>
                  <a:latin typeface="Arial" panose="020B0604020202020204" pitchFamily="34" charset="0"/>
                </a:rPr>
                <a:t>40</a:t>
              </a:r>
            </a:p>
            <a:p>
              <a:pPr algn="ctr"/>
              <a:r>
                <a:rPr lang="en-GB" altLang="en-US" sz="1800">
                  <a:solidFill>
                    <a:schemeClr val="tx2"/>
                  </a:solidFill>
                  <a:latin typeface="Arial" panose="020B0604020202020204" pitchFamily="34" charset="0"/>
                </a:rPr>
                <a:t>60</a:t>
              </a:r>
            </a:p>
            <a:p>
              <a:pPr algn="ctr"/>
              <a:r>
                <a:rPr lang="en-GB" altLang="en-US" sz="1800">
                  <a:solidFill>
                    <a:schemeClr val="tx2"/>
                  </a:solidFill>
                  <a:latin typeface="Arial" panose="020B0604020202020204" pitchFamily="34" charset="0"/>
                </a:rPr>
                <a:t>91</a:t>
              </a:r>
            </a:p>
          </p:txBody>
        </p:sp>
        <p:sp>
          <p:nvSpPr>
            <p:cNvPr id="27" name="Rectangle 15">
              <a:extLst>
                <a:ext uri="{FF2B5EF4-FFF2-40B4-BE49-F238E27FC236}">
                  <a16:creationId xmlns:a16="http://schemas.microsoft.com/office/drawing/2014/main" id="{0694AFC7-F84B-48EC-8C25-4412373454E7}"/>
                </a:ext>
              </a:extLst>
            </p:cNvPr>
            <p:cNvSpPr>
              <a:spLocks noChangeArrowheads="1"/>
            </p:cNvSpPr>
            <p:nvPr/>
          </p:nvSpPr>
          <p:spPr bwMode="auto">
            <a:xfrm>
              <a:off x="4078085" y="277814"/>
              <a:ext cx="698909" cy="347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i="1">
                  <a:solidFill>
                    <a:schemeClr val="accent2"/>
                  </a:solidFill>
                  <a:latin typeface="Arial" panose="020B0604020202020204" pitchFamily="34" charset="0"/>
                </a:rPr>
                <a:t>TC</a:t>
              </a:r>
            </a:p>
            <a:p>
              <a:pPr algn="ctr"/>
              <a:r>
                <a:rPr lang="en-GB" altLang="en-US" sz="1800">
                  <a:solidFill>
                    <a:schemeClr val="accent2"/>
                  </a:solidFill>
                  <a:latin typeface="Arial" panose="020B0604020202020204" pitchFamily="34" charset="0"/>
                </a:rPr>
                <a:t>(£)</a:t>
              </a:r>
            </a:p>
            <a:p>
              <a:pPr algn="ctr"/>
              <a:endParaRPr lang="en-GB" altLang="en-US" sz="1800">
                <a:solidFill>
                  <a:schemeClr val="accent2"/>
                </a:solidFill>
                <a:latin typeface="Arial" panose="020B0604020202020204" pitchFamily="34" charset="0"/>
              </a:endParaRPr>
            </a:p>
            <a:p>
              <a:pPr algn="ctr"/>
              <a:r>
                <a:rPr lang="en-GB" altLang="en-US" sz="1800">
                  <a:solidFill>
                    <a:schemeClr val="accent2"/>
                  </a:solidFill>
                  <a:latin typeface="Arial" panose="020B0604020202020204" pitchFamily="34" charset="0"/>
                </a:rPr>
                <a:t>12</a:t>
              </a:r>
            </a:p>
            <a:p>
              <a:pPr algn="ctr"/>
              <a:r>
                <a:rPr lang="en-GB" altLang="en-US" sz="1800">
                  <a:solidFill>
                    <a:schemeClr val="accent2"/>
                  </a:solidFill>
                  <a:latin typeface="Arial" panose="020B0604020202020204" pitchFamily="34" charset="0"/>
                </a:rPr>
                <a:t>22</a:t>
              </a:r>
            </a:p>
            <a:p>
              <a:pPr algn="ctr"/>
              <a:r>
                <a:rPr lang="en-GB" altLang="en-US" sz="1800">
                  <a:solidFill>
                    <a:schemeClr val="accent2"/>
                  </a:solidFill>
                  <a:latin typeface="Arial" panose="020B0604020202020204" pitchFamily="34" charset="0"/>
                </a:rPr>
                <a:t>28</a:t>
              </a:r>
            </a:p>
            <a:p>
              <a:pPr algn="ctr"/>
              <a:r>
                <a:rPr lang="en-GB" altLang="en-US" sz="1800">
                  <a:solidFill>
                    <a:schemeClr val="accent2"/>
                  </a:solidFill>
                  <a:latin typeface="Arial" panose="020B0604020202020204" pitchFamily="34" charset="0"/>
                </a:rPr>
                <a:t>33</a:t>
              </a:r>
            </a:p>
            <a:p>
              <a:pPr algn="ctr"/>
              <a:r>
                <a:rPr lang="en-GB" altLang="en-US" sz="1800">
                  <a:solidFill>
                    <a:schemeClr val="accent2"/>
                  </a:solidFill>
                  <a:latin typeface="Arial" panose="020B0604020202020204" pitchFamily="34" charset="0"/>
                </a:rPr>
                <a:t>40</a:t>
              </a:r>
            </a:p>
            <a:p>
              <a:pPr algn="ctr"/>
              <a:r>
                <a:rPr lang="en-GB" altLang="en-US" sz="1800">
                  <a:solidFill>
                    <a:schemeClr val="accent2"/>
                  </a:solidFill>
                  <a:latin typeface="Arial" panose="020B0604020202020204" pitchFamily="34" charset="0"/>
                </a:rPr>
                <a:t>52</a:t>
              </a:r>
            </a:p>
            <a:p>
              <a:pPr algn="ctr"/>
              <a:r>
                <a:rPr lang="en-GB" altLang="en-US" sz="1800">
                  <a:solidFill>
                    <a:schemeClr val="accent2"/>
                  </a:solidFill>
                  <a:latin typeface="Arial" panose="020B0604020202020204" pitchFamily="34" charset="0"/>
                </a:rPr>
                <a:t>72</a:t>
              </a:r>
            </a:p>
            <a:p>
              <a:pPr algn="ctr"/>
              <a:r>
                <a:rPr lang="en-GB" altLang="en-US" sz="1800">
                  <a:solidFill>
                    <a:schemeClr val="accent2"/>
                  </a:solidFill>
                  <a:latin typeface="Arial" panose="020B0604020202020204" pitchFamily="34" charset="0"/>
                </a:rPr>
                <a:t>103  </a:t>
              </a:r>
            </a:p>
          </p:txBody>
        </p:sp>
      </p:grpSp>
      <p:sp>
        <p:nvSpPr>
          <p:cNvPr id="30" name="Rectangle 5">
            <a:extLst>
              <a:ext uri="{FF2B5EF4-FFF2-40B4-BE49-F238E27FC236}">
                <a16:creationId xmlns:a16="http://schemas.microsoft.com/office/drawing/2014/main" id="{34BF5D91-B86E-407C-BE7B-771008A20CC8}"/>
              </a:ext>
            </a:extLst>
          </p:cNvPr>
          <p:cNvSpPr>
            <a:spLocks noGrp="1" noChangeArrowheads="1"/>
          </p:cNvSpPr>
          <p:nvPr>
            <p:ph type="title"/>
          </p:nvPr>
        </p:nvSpPr>
        <p:spPr>
          <a:xfrm>
            <a:off x="1143001" y="16761"/>
            <a:ext cx="8761227" cy="591252"/>
          </a:xfrm>
          <a:noFill/>
          <a:ln/>
          <a:effectLst>
            <a:outerShdw dist="12700" dir="2700000" algn="ctr" rotWithShape="0">
              <a:schemeClr val="bg2"/>
            </a:outerShdw>
          </a:effectLst>
        </p:spPr>
        <p:txBody>
          <a:bodyPr/>
          <a:lstStyle/>
          <a:p>
            <a:r>
              <a:rPr lang="en-GB" altLang="en-US" sz="3400">
                <a:effectLst/>
                <a:latin typeface="Calibri" panose="020F0502020204030204" pitchFamily="34" charset="0"/>
                <a:cs typeface="Calibri" panose="020F0502020204030204" pitchFamily="34" charset="0"/>
              </a:rPr>
              <a:t>Total costs for firm X</a:t>
            </a:r>
          </a:p>
        </p:txBody>
      </p:sp>
      <p:sp>
        <p:nvSpPr>
          <p:cNvPr id="31" name="Rectangle 7">
            <a:extLst>
              <a:ext uri="{FF2B5EF4-FFF2-40B4-BE49-F238E27FC236}">
                <a16:creationId xmlns:a16="http://schemas.microsoft.com/office/drawing/2014/main" id="{BCE9E5D4-67E8-4853-BB99-BD19A116B37B}"/>
              </a:ext>
            </a:extLst>
          </p:cNvPr>
          <p:cNvSpPr>
            <a:spLocks noChangeArrowheads="1"/>
          </p:cNvSpPr>
          <p:nvPr/>
        </p:nvSpPr>
        <p:spPr bwMode="auto">
          <a:xfrm>
            <a:off x="7752185" y="1232521"/>
            <a:ext cx="750205"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lgn="l" defTabSz="762000">
              <a:defRPr sz="2400">
                <a:solidFill>
                  <a:schemeClr val="tx1"/>
                </a:solidFill>
                <a:latin typeface="Times New Roman" panose="02020603050405020304" pitchFamily="18" charset="0"/>
              </a:defRPr>
            </a:lvl1pPr>
            <a:lvl2pPr marL="571500" algn="l" defTabSz="762000">
              <a:defRPr sz="2400">
                <a:solidFill>
                  <a:schemeClr val="tx1"/>
                </a:solidFill>
                <a:latin typeface="Times New Roman" panose="02020603050405020304" pitchFamily="18" charset="0"/>
              </a:defRPr>
            </a:lvl2pPr>
            <a:lvl3pPr marL="1143000" algn="l" defTabSz="762000">
              <a:defRPr sz="2400">
                <a:solidFill>
                  <a:schemeClr val="tx1"/>
                </a:solidFill>
                <a:latin typeface="Times New Roman" panose="02020603050405020304" pitchFamily="18" charset="0"/>
              </a:defRPr>
            </a:lvl3pPr>
            <a:lvl4pPr marL="1714500" algn="l" defTabSz="762000">
              <a:defRPr sz="2400">
                <a:solidFill>
                  <a:schemeClr val="tx1"/>
                </a:solidFill>
                <a:latin typeface="Times New Roman" panose="02020603050405020304" pitchFamily="18" charset="0"/>
              </a:defRPr>
            </a:lvl4pPr>
            <a:lvl5pPr marL="2286000" algn="l"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solidFill>
                  <a:schemeClr val="tx2">
                    <a:lumMod val="75000"/>
                  </a:schemeClr>
                </a:solidFill>
                <a:latin typeface="Arial" panose="020B0604020202020204" pitchFamily="34" charset="0"/>
              </a:rPr>
              <a:t>TVC</a:t>
            </a:r>
          </a:p>
        </p:txBody>
      </p:sp>
      <p:sp>
        <p:nvSpPr>
          <p:cNvPr id="4" name="TextBox 3">
            <a:extLst>
              <a:ext uri="{FF2B5EF4-FFF2-40B4-BE49-F238E27FC236}">
                <a16:creationId xmlns:a16="http://schemas.microsoft.com/office/drawing/2014/main" id="{EB47D78F-B031-56FA-D754-FE47ACE7B676}"/>
              </a:ext>
            </a:extLst>
          </p:cNvPr>
          <p:cNvSpPr txBox="1"/>
          <p:nvPr/>
        </p:nvSpPr>
        <p:spPr>
          <a:xfrm>
            <a:off x="8845992" y="5523614"/>
            <a:ext cx="3136900" cy="1154162"/>
          </a:xfrm>
          <a:prstGeom prst="rect">
            <a:avLst/>
          </a:prstGeom>
          <a:noFill/>
          <a:ln>
            <a:solidFill>
              <a:srgbClr val="00B050"/>
            </a:solidFill>
          </a:ln>
        </p:spPr>
        <p:txBody>
          <a:bodyPr wrap="square" rtlCol="0">
            <a:spAutoFit/>
          </a:bodyPr>
          <a:lstStyle/>
          <a:p>
            <a:r>
              <a:rPr lang="en-GB" altLang="en-US" sz="1800">
                <a:latin typeface="Calibri" panose="020F0502020204030204" pitchFamily="34" charset="0"/>
                <a:cs typeface="Calibri" panose="020F0502020204030204" pitchFamily="34" charset="0"/>
              </a:rPr>
              <a:t>Total fixed costs do not vary with output, so TFC is shown as a horizontal straight line.</a:t>
            </a:r>
          </a:p>
          <a:p>
            <a:endParaRPr lang="en-GB" sz="1500"/>
          </a:p>
        </p:txBody>
      </p:sp>
      <p:sp>
        <p:nvSpPr>
          <p:cNvPr id="5" name="TextBox 4">
            <a:extLst>
              <a:ext uri="{FF2B5EF4-FFF2-40B4-BE49-F238E27FC236}">
                <a16:creationId xmlns:a16="http://schemas.microsoft.com/office/drawing/2014/main" id="{50F2ED03-AC28-CE22-D49F-A76138FB026A}"/>
              </a:ext>
            </a:extLst>
          </p:cNvPr>
          <p:cNvSpPr txBox="1"/>
          <p:nvPr/>
        </p:nvSpPr>
        <p:spPr>
          <a:xfrm>
            <a:off x="8671163" y="362552"/>
            <a:ext cx="3311729" cy="1477328"/>
          </a:xfrm>
          <a:prstGeom prst="rect">
            <a:avLst/>
          </a:prstGeom>
          <a:noFill/>
          <a:ln>
            <a:solidFill>
              <a:srgbClr val="00B050"/>
            </a:solidFill>
          </a:ln>
        </p:spPr>
        <p:txBody>
          <a:bodyPr wrap="square" rtlCol="0">
            <a:spAutoFit/>
          </a:bodyPr>
          <a:lstStyle/>
          <a:p>
            <a:r>
              <a:rPr lang="en-GB" altLang="en-US" sz="1800">
                <a:latin typeface="Calibri" panose="020F0502020204030204" pitchFamily="34" charset="0"/>
                <a:cs typeface="Calibri" panose="020F0502020204030204" pitchFamily="34" charset="0"/>
              </a:rPr>
              <a:t>With zero output, no variable factors will be used. Total variable costs will increase as output increases (as more factors of production are needed). </a:t>
            </a:r>
            <a:endParaRPr lang="en-GB" sz="18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10BD5B0-EE9D-CF42-4AEF-AC367CE7C3BC}"/>
              </a:ext>
            </a:extLst>
          </p:cNvPr>
          <p:cNvSpPr txBox="1"/>
          <p:nvPr/>
        </p:nvSpPr>
        <p:spPr>
          <a:xfrm>
            <a:off x="3365205" y="1079205"/>
            <a:ext cx="4066753" cy="400110"/>
          </a:xfrm>
          <a:prstGeom prst="rect">
            <a:avLst/>
          </a:prstGeom>
          <a:noFill/>
          <a:ln>
            <a:solidFill>
              <a:srgbClr val="00B050"/>
            </a:solidFill>
          </a:ln>
        </p:spPr>
        <p:txBody>
          <a:bodyPr wrap="square" rtlCol="0">
            <a:spAutoFit/>
          </a:bodyPr>
          <a:lstStyle/>
          <a:p>
            <a:r>
              <a:rPr lang="en-GB" altLang="en-US" sz="2000">
                <a:latin typeface="Calibri" panose="020F0502020204030204" pitchFamily="34" charset="0"/>
                <a:cs typeface="Calibri" panose="020F0502020204030204" pitchFamily="34" charset="0"/>
              </a:rPr>
              <a:t>Total cost (TC = TFC + TVC)</a:t>
            </a:r>
            <a:endParaRPr lang="en-GB"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5851747"/>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8">
            <a:extLst>
              <a:ext uri="{FF2B5EF4-FFF2-40B4-BE49-F238E27FC236}">
                <a16:creationId xmlns:a16="http://schemas.microsoft.com/office/drawing/2014/main" id="{A44E8614-AD76-414F-9918-A69EED4A5E3B}"/>
              </a:ext>
            </a:extLst>
          </p:cNvPr>
          <p:cNvSpPr>
            <a:spLocks noChangeArrowheads="1"/>
          </p:cNvSpPr>
          <p:nvPr/>
        </p:nvSpPr>
        <p:spPr bwMode="auto">
          <a:xfrm>
            <a:off x="620415" y="157218"/>
            <a:ext cx="9906000" cy="685800"/>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800">
                <a:solidFill>
                  <a:srgbClr val="000066"/>
                </a:solidFill>
                <a:effectLst>
                  <a:outerShdw blurRad="38100" dist="38100" dir="2700000" algn="tl">
                    <a:srgbClr val="000000"/>
                  </a:outerShdw>
                </a:effectLst>
                <a:latin typeface="Arial" panose="020B0604020202020204" pitchFamily="34" charset="0"/>
              </a:defRPr>
            </a:lvl1pPr>
            <a:lvl2pPr algn="ctr">
              <a:defRPr sz="3800">
                <a:solidFill>
                  <a:srgbClr val="000066"/>
                </a:solidFill>
                <a:effectLst>
                  <a:outerShdw blurRad="38100" dist="38100" dir="2700000" algn="tl">
                    <a:srgbClr val="000000"/>
                  </a:outerShdw>
                </a:effectLst>
                <a:latin typeface="Arial" panose="020B0604020202020204" pitchFamily="34" charset="0"/>
              </a:defRPr>
            </a:lvl2pPr>
            <a:lvl3pPr algn="ctr">
              <a:defRPr sz="3800">
                <a:solidFill>
                  <a:srgbClr val="000066"/>
                </a:solidFill>
                <a:effectLst>
                  <a:outerShdw blurRad="38100" dist="38100" dir="2700000" algn="tl">
                    <a:srgbClr val="000000"/>
                  </a:outerShdw>
                </a:effectLst>
                <a:latin typeface="Arial" panose="020B0604020202020204" pitchFamily="34" charset="0"/>
              </a:defRPr>
            </a:lvl3pPr>
            <a:lvl4pPr algn="ctr">
              <a:defRPr sz="3800">
                <a:solidFill>
                  <a:srgbClr val="000066"/>
                </a:solidFill>
                <a:effectLst>
                  <a:outerShdw blurRad="38100" dist="38100" dir="2700000" algn="tl">
                    <a:srgbClr val="000000"/>
                  </a:outerShdw>
                </a:effectLst>
                <a:latin typeface="Arial" panose="020B0604020202020204" pitchFamily="34" charset="0"/>
              </a:defRPr>
            </a:lvl4pPr>
            <a:lvl5pPr algn="ctr">
              <a:defRPr sz="3800">
                <a:solidFill>
                  <a:srgbClr val="000066"/>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9pPr>
          </a:lstStyle>
          <a:p>
            <a:r>
              <a:rPr lang="en-GB" altLang="en-US" sz="2800">
                <a:solidFill>
                  <a:srgbClr val="000099"/>
                </a:solidFill>
                <a:effectLst/>
                <a:latin typeface="Calibri" panose="020F0502020204030204" pitchFamily="34" charset="0"/>
                <a:cs typeface="Calibri" panose="020F0502020204030204" pitchFamily="34" charset="0"/>
              </a:rPr>
              <a:t>Total, average and marginal cost for firm X</a:t>
            </a:r>
          </a:p>
        </p:txBody>
      </p:sp>
      <p:graphicFrame>
        <p:nvGraphicFramePr>
          <p:cNvPr id="3" name="Object 2">
            <a:extLst>
              <a:ext uri="{FF2B5EF4-FFF2-40B4-BE49-F238E27FC236}">
                <a16:creationId xmlns:a16="http://schemas.microsoft.com/office/drawing/2014/main" id="{156A1781-27A3-4D6A-A941-CA3F81E587CB}"/>
              </a:ext>
            </a:extLst>
          </p:cNvPr>
          <p:cNvGraphicFramePr>
            <a:graphicFrameLocks noChangeAspect="1"/>
          </p:cNvGraphicFramePr>
          <p:nvPr>
            <p:extLst>
              <p:ext uri="{D42A27DB-BD31-4B8C-83A1-F6EECF244321}">
                <p14:modId xmlns:p14="http://schemas.microsoft.com/office/powerpoint/2010/main" val="819339814"/>
              </p:ext>
            </p:extLst>
          </p:nvPr>
        </p:nvGraphicFramePr>
        <p:xfrm>
          <a:off x="2470861" y="1116612"/>
          <a:ext cx="6287285" cy="5214861"/>
        </p:xfrm>
        <a:graphic>
          <a:graphicData uri="http://schemas.openxmlformats.org/presentationml/2006/ole">
            <mc:AlternateContent xmlns:mc="http://schemas.openxmlformats.org/markup-compatibility/2006">
              <mc:Choice xmlns:v="urn:schemas-microsoft-com:vml" Requires="v">
                <p:oleObj name="Document" r:id="rId3" imgW="4166068" imgH="3459384" progId="Word.Document.12">
                  <p:embed/>
                </p:oleObj>
              </mc:Choice>
              <mc:Fallback>
                <p:oleObj name="Document" r:id="rId3" imgW="4166068" imgH="3459384" progId="Word.Document.12">
                  <p:embed/>
                  <p:pic>
                    <p:nvPicPr>
                      <p:cNvPr id="3" name="Object 2">
                        <a:extLst>
                          <a:ext uri="{FF2B5EF4-FFF2-40B4-BE49-F238E27FC236}">
                            <a16:creationId xmlns:a16="http://schemas.microsoft.com/office/drawing/2014/main" id="{156A1781-27A3-4D6A-A941-CA3F81E587CB}"/>
                          </a:ext>
                        </a:extLst>
                      </p:cNvPr>
                      <p:cNvPicPr/>
                      <p:nvPr/>
                    </p:nvPicPr>
                    <p:blipFill>
                      <a:blip r:embed="rId4"/>
                      <a:stretch>
                        <a:fillRect/>
                      </a:stretch>
                    </p:blipFill>
                    <p:spPr>
                      <a:xfrm>
                        <a:off x="2470861" y="1116612"/>
                        <a:ext cx="6287285" cy="5214861"/>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900EBC30-C3B1-7C29-18CE-285BD85EFE49}"/>
              </a:ext>
            </a:extLst>
          </p:cNvPr>
          <p:cNvSpPr txBox="1"/>
          <p:nvPr/>
        </p:nvSpPr>
        <p:spPr>
          <a:xfrm>
            <a:off x="9154633" y="2636874"/>
            <a:ext cx="2429539" cy="923330"/>
          </a:xfrm>
          <a:prstGeom prst="rect">
            <a:avLst/>
          </a:prstGeom>
          <a:noFill/>
          <a:ln>
            <a:solidFill>
              <a:schemeClr val="tx2">
                <a:lumMod val="75000"/>
              </a:schemeClr>
            </a:solidFill>
          </a:ln>
        </p:spPr>
        <p:txBody>
          <a:bodyPr wrap="square" rtlCol="0">
            <a:spAutoFit/>
          </a:bodyPr>
          <a:lstStyle/>
          <a:p>
            <a:r>
              <a:rPr lang="en-GB">
                <a:highlight>
                  <a:srgbClr val="FFFF00"/>
                </a:highlight>
                <a:latin typeface="Calibri" panose="020F0502020204030204" pitchFamily="34" charset="0"/>
                <a:cs typeface="Calibri" panose="020F0502020204030204" pitchFamily="34" charset="0"/>
              </a:rPr>
              <a:t>Activity</a:t>
            </a:r>
            <a:r>
              <a:rPr lang="en-GB" sz="1800">
                <a:highlight>
                  <a:srgbClr val="FFFF00"/>
                </a:highlight>
                <a:latin typeface="Calibri" panose="020F0502020204030204" pitchFamily="34" charset="0"/>
                <a:cs typeface="Calibri" panose="020F0502020204030204" pitchFamily="34" charset="0"/>
              </a:rPr>
              <a:t> – complete as much of the table as you can.</a:t>
            </a:r>
          </a:p>
        </p:txBody>
      </p:sp>
    </p:spTree>
    <p:extLst>
      <p:ext uri="{BB962C8B-B14F-4D97-AF65-F5344CB8AC3E}">
        <p14:creationId xmlns:p14="http://schemas.microsoft.com/office/powerpoint/2010/main" val="1731880825"/>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8">
            <a:extLst>
              <a:ext uri="{FF2B5EF4-FFF2-40B4-BE49-F238E27FC236}">
                <a16:creationId xmlns:a16="http://schemas.microsoft.com/office/drawing/2014/main" id="{A44E8614-AD76-414F-9918-A69EED4A5E3B}"/>
              </a:ext>
            </a:extLst>
          </p:cNvPr>
          <p:cNvSpPr>
            <a:spLocks noChangeArrowheads="1"/>
          </p:cNvSpPr>
          <p:nvPr/>
        </p:nvSpPr>
        <p:spPr bwMode="auto">
          <a:xfrm>
            <a:off x="627322" y="184298"/>
            <a:ext cx="9579934" cy="685800"/>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3800">
                <a:solidFill>
                  <a:srgbClr val="000066"/>
                </a:solidFill>
                <a:effectLst>
                  <a:outerShdw blurRad="38100" dist="38100" dir="2700000" algn="tl">
                    <a:srgbClr val="000000"/>
                  </a:outerShdw>
                </a:effectLst>
                <a:latin typeface="Arial" panose="020B0604020202020204" pitchFamily="34" charset="0"/>
              </a:defRPr>
            </a:lvl1pPr>
            <a:lvl2pPr algn="ctr">
              <a:defRPr sz="3800">
                <a:solidFill>
                  <a:srgbClr val="000066"/>
                </a:solidFill>
                <a:effectLst>
                  <a:outerShdw blurRad="38100" dist="38100" dir="2700000" algn="tl">
                    <a:srgbClr val="000000"/>
                  </a:outerShdw>
                </a:effectLst>
                <a:latin typeface="Arial" panose="020B0604020202020204" pitchFamily="34" charset="0"/>
              </a:defRPr>
            </a:lvl2pPr>
            <a:lvl3pPr algn="ctr">
              <a:defRPr sz="3800">
                <a:solidFill>
                  <a:srgbClr val="000066"/>
                </a:solidFill>
                <a:effectLst>
                  <a:outerShdw blurRad="38100" dist="38100" dir="2700000" algn="tl">
                    <a:srgbClr val="000000"/>
                  </a:outerShdw>
                </a:effectLst>
                <a:latin typeface="Arial" panose="020B0604020202020204" pitchFamily="34" charset="0"/>
              </a:defRPr>
            </a:lvl3pPr>
            <a:lvl4pPr algn="ctr">
              <a:defRPr sz="3800">
                <a:solidFill>
                  <a:srgbClr val="000066"/>
                </a:solidFill>
                <a:effectLst>
                  <a:outerShdw blurRad="38100" dist="38100" dir="2700000" algn="tl">
                    <a:srgbClr val="000000"/>
                  </a:outerShdw>
                </a:effectLst>
                <a:latin typeface="Arial" panose="020B0604020202020204" pitchFamily="34" charset="0"/>
              </a:defRPr>
            </a:lvl4pPr>
            <a:lvl5pPr algn="ctr">
              <a:defRPr sz="3800">
                <a:solidFill>
                  <a:srgbClr val="000066"/>
                </a:solidFill>
                <a:effectLst>
                  <a:outerShdw blurRad="38100" dist="38100" dir="2700000" algn="tl">
                    <a:srgbClr val="000000"/>
                  </a:outerShdw>
                </a:effectLst>
                <a:latin typeface="Arial" panose="020B0604020202020204" pitchFamily="34" charset="0"/>
              </a:defRPr>
            </a:lvl5pPr>
            <a:lvl6pPr marL="4572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6pPr>
            <a:lvl7pPr marL="9144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7pPr>
            <a:lvl8pPr marL="13716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8pPr>
            <a:lvl9pPr marL="1828800" algn="ctr" eaLnBrk="0" fontAlgn="base" hangingPunct="0">
              <a:spcBef>
                <a:spcPct val="0"/>
              </a:spcBef>
              <a:spcAft>
                <a:spcPct val="0"/>
              </a:spcAft>
              <a:defRPr sz="3800">
                <a:solidFill>
                  <a:srgbClr val="000066"/>
                </a:solidFill>
                <a:effectLst>
                  <a:outerShdw blurRad="38100" dist="38100" dir="2700000" algn="tl">
                    <a:srgbClr val="000000"/>
                  </a:outerShdw>
                </a:effectLst>
                <a:latin typeface="Arial" panose="020B0604020202020204" pitchFamily="34" charset="0"/>
              </a:defRPr>
            </a:lvl9pPr>
          </a:lstStyle>
          <a:p>
            <a:r>
              <a:rPr lang="en-GB" altLang="en-US" sz="2800">
                <a:solidFill>
                  <a:srgbClr val="000099"/>
                </a:solidFill>
                <a:effectLst/>
                <a:latin typeface="Calibri" panose="020F0502020204030204" pitchFamily="34" charset="0"/>
                <a:cs typeface="Calibri" panose="020F0502020204030204" pitchFamily="34" charset="0"/>
              </a:rPr>
              <a:t>Total, average and marginal cost for firm X</a:t>
            </a:r>
          </a:p>
        </p:txBody>
      </p:sp>
      <p:graphicFrame>
        <p:nvGraphicFramePr>
          <p:cNvPr id="3" name="Object 2">
            <a:extLst>
              <a:ext uri="{FF2B5EF4-FFF2-40B4-BE49-F238E27FC236}">
                <a16:creationId xmlns:a16="http://schemas.microsoft.com/office/drawing/2014/main" id="{156A1781-27A3-4D6A-A941-CA3F81E587CB}"/>
              </a:ext>
            </a:extLst>
          </p:cNvPr>
          <p:cNvGraphicFramePr>
            <a:graphicFrameLocks noChangeAspect="1"/>
          </p:cNvGraphicFramePr>
          <p:nvPr>
            <p:extLst>
              <p:ext uri="{D42A27DB-BD31-4B8C-83A1-F6EECF244321}">
                <p14:modId xmlns:p14="http://schemas.microsoft.com/office/powerpoint/2010/main" val="832089824"/>
              </p:ext>
            </p:extLst>
          </p:nvPr>
        </p:nvGraphicFramePr>
        <p:xfrm>
          <a:off x="2406685" y="1112694"/>
          <a:ext cx="6251943" cy="5174021"/>
        </p:xfrm>
        <a:graphic>
          <a:graphicData uri="http://schemas.openxmlformats.org/presentationml/2006/ole">
            <mc:AlternateContent xmlns:mc="http://schemas.openxmlformats.org/markup-compatibility/2006">
              <mc:Choice xmlns:v="urn:schemas-microsoft-com:vml" Requires="v">
                <p:oleObj name="Document" r:id="rId3" imgW="4166068" imgH="3459384" progId="Word.Document.12">
                  <p:embed/>
                </p:oleObj>
              </mc:Choice>
              <mc:Fallback>
                <p:oleObj name="Document" r:id="rId3" imgW="4166068" imgH="3459384" progId="Word.Document.12">
                  <p:embed/>
                  <p:pic>
                    <p:nvPicPr>
                      <p:cNvPr id="3" name="Object 2">
                        <a:extLst>
                          <a:ext uri="{FF2B5EF4-FFF2-40B4-BE49-F238E27FC236}">
                            <a16:creationId xmlns:a16="http://schemas.microsoft.com/office/drawing/2014/main" id="{156A1781-27A3-4D6A-A941-CA3F81E587CB}"/>
                          </a:ext>
                        </a:extLst>
                      </p:cNvPr>
                      <p:cNvPicPr/>
                      <p:nvPr/>
                    </p:nvPicPr>
                    <p:blipFill>
                      <a:blip r:embed="rId4"/>
                      <a:stretch>
                        <a:fillRect/>
                      </a:stretch>
                    </p:blipFill>
                    <p:spPr>
                      <a:xfrm>
                        <a:off x="2406685" y="1112694"/>
                        <a:ext cx="6251943" cy="5174021"/>
                      </a:xfrm>
                      <a:prstGeom prst="rect">
                        <a:avLst/>
                      </a:prstGeom>
                    </p:spPr>
                  </p:pic>
                </p:oleObj>
              </mc:Fallback>
            </mc:AlternateContent>
          </a:graphicData>
        </a:graphic>
      </p:graphicFrame>
    </p:spTree>
    <p:extLst>
      <p:ext uri="{BB962C8B-B14F-4D97-AF65-F5344CB8AC3E}">
        <p14:creationId xmlns:p14="http://schemas.microsoft.com/office/powerpoint/2010/main" val="57117442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a:extLst>
              <a:ext uri="{FF2B5EF4-FFF2-40B4-BE49-F238E27FC236}">
                <a16:creationId xmlns:a16="http://schemas.microsoft.com/office/drawing/2014/main" id="{20B43412-B365-4465-A429-4EE706D41E34}"/>
              </a:ext>
            </a:extLst>
          </p:cNvPr>
          <p:cNvSpPr>
            <a:spLocks noChangeArrowheads="1"/>
          </p:cNvSpPr>
          <p:nvPr/>
        </p:nvSpPr>
        <p:spPr bwMode="auto">
          <a:xfrm>
            <a:off x="2075338"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3" name="Rectangle 1027">
            <a:extLst>
              <a:ext uri="{FF2B5EF4-FFF2-40B4-BE49-F238E27FC236}">
                <a16:creationId xmlns:a16="http://schemas.microsoft.com/office/drawing/2014/main" id="{7A92C249-7DA6-4DA5-A4A8-E6ACAD6A834C}"/>
              </a:ext>
            </a:extLst>
          </p:cNvPr>
          <p:cNvSpPr>
            <a:spLocks noChangeArrowheads="1"/>
          </p:cNvSpPr>
          <p:nvPr/>
        </p:nvSpPr>
        <p:spPr bwMode="auto">
          <a:xfrm>
            <a:off x="4513738"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4" name="Line 1028">
            <a:extLst>
              <a:ext uri="{FF2B5EF4-FFF2-40B4-BE49-F238E27FC236}">
                <a16:creationId xmlns:a16="http://schemas.microsoft.com/office/drawing/2014/main" id="{CFFFAFD3-1F03-4F6B-85B6-7AB857AFD1F1}"/>
              </a:ext>
            </a:extLst>
          </p:cNvPr>
          <p:cNvSpPr>
            <a:spLocks noChangeShapeType="1"/>
          </p:cNvSpPr>
          <p:nvPr/>
        </p:nvSpPr>
        <p:spPr bwMode="auto">
          <a:xfrm>
            <a:off x="2456338" y="609600"/>
            <a:ext cx="0" cy="5334000"/>
          </a:xfrm>
          <a:prstGeom prst="line">
            <a:avLst/>
          </a:prstGeom>
          <a:noFill/>
          <a:ln w="254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5" name="Line 1029">
            <a:extLst>
              <a:ext uri="{FF2B5EF4-FFF2-40B4-BE49-F238E27FC236}">
                <a16:creationId xmlns:a16="http://schemas.microsoft.com/office/drawing/2014/main" id="{BB334675-4735-486A-A07F-3DD2FEBCCD00}"/>
              </a:ext>
            </a:extLst>
          </p:cNvPr>
          <p:cNvSpPr>
            <a:spLocks noChangeShapeType="1"/>
          </p:cNvSpPr>
          <p:nvPr/>
        </p:nvSpPr>
        <p:spPr bwMode="auto">
          <a:xfrm>
            <a:off x="2456338" y="5943600"/>
            <a:ext cx="7825680"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6" name="Rectangle 1030">
            <a:extLst>
              <a:ext uri="{FF2B5EF4-FFF2-40B4-BE49-F238E27FC236}">
                <a16:creationId xmlns:a16="http://schemas.microsoft.com/office/drawing/2014/main" id="{AB7650A7-5FBE-4D1C-A0BE-B438047D133A}"/>
              </a:ext>
            </a:extLst>
          </p:cNvPr>
          <p:cNvSpPr>
            <a:spLocks noChangeArrowheads="1"/>
          </p:cNvSpPr>
          <p:nvPr/>
        </p:nvSpPr>
        <p:spPr bwMode="auto">
          <a:xfrm>
            <a:off x="5031263" y="6023381"/>
            <a:ext cx="139301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Output (Q)</a:t>
            </a:r>
          </a:p>
        </p:txBody>
      </p:sp>
      <p:sp>
        <p:nvSpPr>
          <p:cNvPr id="10247" name="Rectangle 1031">
            <a:extLst>
              <a:ext uri="{FF2B5EF4-FFF2-40B4-BE49-F238E27FC236}">
                <a16:creationId xmlns:a16="http://schemas.microsoft.com/office/drawing/2014/main" id="{6CE35103-B3B9-4349-BF9B-CA91A56B3724}"/>
              </a:ext>
            </a:extLst>
          </p:cNvPr>
          <p:cNvSpPr>
            <a:spLocks noChangeArrowheads="1"/>
          </p:cNvSpPr>
          <p:nvPr/>
        </p:nvSpPr>
        <p:spPr bwMode="auto">
          <a:xfrm rot="16200000">
            <a:off x="1605198" y="3226243"/>
            <a:ext cx="1224694"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Costs (£)</a:t>
            </a:r>
          </a:p>
        </p:txBody>
      </p:sp>
      <p:sp>
        <p:nvSpPr>
          <p:cNvPr id="10248" name="Arc 1032">
            <a:extLst>
              <a:ext uri="{FF2B5EF4-FFF2-40B4-BE49-F238E27FC236}">
                <a16:creationId xmlns:a16="http://schemas.microsoft.com/office/drawing/2014/main" id="{D44839AB-818A-493C-8274-7C3C49E579B0}"/>
              </a:ext>
            </a:extLst>
          </p:cNvPr>
          <p:cNvSpPr>
            <a:spLocks/>
          </p:cNvSpPr>
          <p:nvPr/>
        </p:nvSpPr>
        <p:spPr bwMode="auto">
          <a:xfrm>
            <a:off x="2738915" y="2595565"/>
            <a:ext cx="6831013" cy="3013075"/>
          </a:xfrm>
          <a:custGeom>
            <a:avLst/>
            <a:gdLst>
              <a:gd name="G0" fmla="+- 21540 0 0"/>
              <a:gd name="G1" fmla="+- 0 0 0"/>
              <a:gd name="G2" fmla="+- 21600 0 0"/>
              <a:gd name="T0" fmla="*/ 20739 w 21540"/>
              <a:gd name="T1" fmla="*/ 21585 h 21585"/>
              <a:gd name="T2" fmla="*/ 0 w 21540"/>
              <a:gd name="T3" fmla="*/ 1615 h 21585"/>
              <a:gd name="T4" fmla="*/ 21540 w 21540"/>
              <a:gd name="T5" fmla="*/ 0 h 21585"/>
            </a:gdLst>
            <a:ahLst/>
            <a:cxnLst>
              <a:cxn ang="0">
                <a:pos x="T0" y="T1"/>
              </a:cxn>
              <a:cxn ang="0">
                <a:pos x="T2" y="T3"/>
              </a:cxn>
              <a:cxn ang="0">
                <a:pos x="T4" y="T5"/>
              </a:cxn>
            </a:cxnLst>
            <a:rect l="0" t="0" r="r" b="b"/>
            <a:pathLst>
              <a:path w="21540" h="21585" fill="none" extrusionOk="0">
                <a:moveTo>
                  <a:pt x="20738" y="21585"/>
                </a:moveTo>
                <a:cubicBezTo>
                  <a:pt x="9750" y="21177"/>
                  <a:pt x="822" y="12579"/>
                  <a:pt x="0" y="1614"/>
                </a:cubicBezTo>
              </a:path>
              <a:path w="21540" h="21585" stroke="0" extrusionOk="0">
                <a:moveTo>
                  <a:pt x="20738" y="21585"/>
                </a:moveTo>
                <a:cubicBezTo>
                  <a:pt x="9750" y="21177"/>
                  <a:pt x="822" y="12579"/>
                  <a:pt x="0" y="1614"/>
                </a:cubicBezTo>
                <a:lnTo>
                  <a:pt x="21540" y="0"/>
                </a:lnTo>
                <a:close/>
              </a:path>
            </a:pathLst>
          </a:custGeom>
          <a:noFill/>
          <a:ln w="38100" cap="rnd">
            <a:solidFill>
              <a:schemeClr val="accent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49" name="Rectangle 1033">
            <a:extLst>
              <a:ext uri="{FF2B5EF4-FFF2-40B4-BE49-F238E27FC236}">
                <a16:creationId xmlns:a16="http://schemas.microsoft.com/office/drawing/2014/main" id="{60E2BAC3-847E-4F8A-99CA-7E9FC675D17C}"/>
              </a:ext>
            </a:extLst>
          </p:cNvPr>
          <p:cNvSpPr>
            <a:spLocks noChangeArrowheads="1"/>
          </p:cNvSpPr>
          <p:nvPr/>
        </p:nvSpPr>
        <p:spPr bwMode="auto">
          <a:xfrm>
            <a:off x="9351270" y="5389564"/>
            <a:ext cx="750205"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solidFill>
                  <a:schemeClr val="accent1"/>
                </a:solidFill>
                <a:latin typeface="Arial" panose="020B0604020202020204" pitchFamily="34" charset="0"/>
              </a:rPr>
              <a:t>AFC</a:t>
            </a:r>
          </a:p>
        </p:txBody>
      </p:sp>
      <p:sp>
        <p:nvSpPr>
          <p:cNvPr id="10250" name="Arc 1034">
            <a:extLst>
              <a:ext uri="{FF2B5EF4-FFF2-40B4-BE49-F238E27FC236}">
                <a16:creationId xmlns:a16="http://schemas.microsoft.com/office/drawing/2014/main" id="{A5C760A5-6F44-484E-A8A0-E1C881CD5FF5}"/>
              </a:ext>
            </a:extLst>
          </p:cNvPr>
          <p:cNvSpPr>
            <a:spLocks/>
          </p:cNvSpPr>
          <p:nvPr/>
        </p:nvSpPr>
        <p:spPr bwMode="auto">
          <a:xfrm>
            <a:off x="2957988" y="1560515"/>
            <a:ext cx="6440488" cy="3182937"/>
          </a:xfrm>
          <a:custGeom>
            <a:avLst/>
            <a:gdLst>
              <a:gd name="G0" fmla="+- 14690 0 0"/>
              <a:gd name="G1" fmla="+- 0 0 0"/>
              <a:gd name="G2" fmla="+- 21600 0 0"/>
              <a:gd name="T0" fmla="*/ 36191 w 36191"/>
              <a:gd name="T1" fmla="*/ 2070 h 21600"/>
              <a:gd name="T2" fmla="*/ 0 w 36191"/>
              <a:gd name="T3" fmla="*/ 15835 h 21600"/>
              <a:gd name="T4" fmla="*/ 14690 w 36191"/>
              <a:gd name="T5" fmla="*/ 0 h 21600"/>
            </a:gdLst>
            <a:ahLst/>
            <a:cxnLst>
              <a:cxn ang="0">
                <a:pos x="T0" y="T1"/>
              </a:cxn>
              <a:cxn ang="0">
                <a:pos x="T2" y="T3"/>
              </a:cxn>
              <a:cxn ang="0">
                <a:pos x="T4" y="T5"/>
              </a:cxn>
            </a:cxnLst>
            <a:rect l="0" t="0" r="r" b="b"/>
            <a:pathLst>
              <a:path w="36191" h="21600" fill="none" extrusionOk="0">
                <a:moveTo>
                  <a:pt x="36190" y="2069"/>
                </a:moveTo>
                <a:cubicBezTo>
                  <a:pt x="35124" y="13146"/>
                  <a:pt x="25817" y="21600"/>
                  <a:pt x="14690" y="21600"/>
                </a:cubicBezTo>
                <a:cubicBezTo>
                  <a:pt x="9241" y="21600"/>
                  <a:pt x="3994" y="19540"/>
                  <a:pt x="-1" y="15835"/>
                </a:cubicBezTo>
              </a:path>
              <a:path w="36191" h="21600" stroke="0" extrusionOk="0">
                <a:moveTo>
                  <a:pt x="36190" y="2069"/>
                </a:moveTo>
                <a:cubicBezTo>
                  <a:pt x="35124" y="13146"/>
                  <a:pt x="25817" y="21600"/>
                  <a:pt x="14690" y="21600"/>
                </a:cubicBezTo>
                <a:cubicBezTo>
                  <a:pt x="9241" y="21600"/>
                  <a:pt x="3994" y="19540"/>
                  <a:pt x="-1" y="15835"/>
                </a:cubicBezTo>
                <a:lnTo>
                  <a:pt x="14690" y="0"/>
                </a:lnTo>
                <a:close/>
              </a:path>
            </a:pathLst>
          </a:custGeom>
          <a:noFill/>
          <a:ln w="38100" cap="rnd">
            <a:solidFill>
              <a:schemeClr val="folHlink"/>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1" name="Rectangle 1035">
            <a:extLst>
              <a:ext uri="{FF2B5EF4-FFF2-40B4-BE49-F238E27FC236}">
                <a16:creationId xmlns:a16="http://schemas.microsoft.com/office/drawing/2014/main" id="{54AB3A72-B315-4CF8-A07F-0222A690AE23}"/>
              </a:ext>
            </a:extLst>
          </p:cNvPr>
          <p:cNvSpPr>
            <a:spLocks noChangeArrowheads="1"/>
          </p:cNvSpPr>
          <p:nvPr/>
        </p:nvSpPr>
        <p:spPr bwMode="auto">
          <a:xfrm>
            <a:off x="9325452" y="1503364"/>
            <a:ext cx="743665"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solidFill>
                  <a:schemeClr val="folHlink"/>
                </a:solidFill>
                <a:latin typeface="Arial" panose="020B0604020202020204" pitchFamily="34" charset="0"/>
              </a:rPr>
              <a:t>AVC</a:t>
            </a:r>
          </a:p>
        </p:txBody>
      </p:sp>
      <p:sp>
        <p:nvSpPr>
          <p:cNvPr id="10252" name="Arc 1036">
            <a:extLst>
              <a:ext uri="{FF2B5EF4-FFF2-40B4-BE49-F238E27FC236}">
                <a16:creationId xmlns:a16="http://schemas.microsoft.com/office/drawing/2014/main" id="{8BE54455-CC6E-4CD3-B152-A395F3BE78A7}"/>
              </a:ext>
            </a:extLst>
          </p:cNvPr>
          <p:cNvSpPr>
            <a:spLocks/>
          </p:cNvSpPr>
          <p:nvPr/>
        </p:nvSpPr>
        <p:spPr bwMode="auto">
          <a:xfrm>
            <a:off x="2599215" y="0"/>
            <a:ext cx="4810125" cy="5297488"/>
          </a:xfrm>
          <a:custGeom>
            <a:avLst/>
            <a:gdLst>
              <a:gd name="G0" fmla="+- 9393 0 0"/>
              <a:gd name="G1" fmla="+- 0 0 0"/>
              <a:gd name="G2" fmla="+- 21600 0 0"/>
              <a:gd name="T0" fmla="*/ 30445 w 30445"/>
              <a:gd name="T1" fmla="*/ 4836 h 21600"/>
              <a:gd name="T2" fmla="*/ 0 w 30445"/>
              <a:gd name="T3" fmla="*/ 19451 h 21600"/>
              <a:gd name="T4" fmla="*/ 9393 w 30445"/>
              <a:gd name="T5" fmla="*/ 0 h 21600"/>
            </a:gdLst>
            <a:ahLst/>
            <a:cxnLst>
              <a:cxn ang="0">
                <a:pos x="T0" y="T1"/>
              </a:cxn>
              <a:cxn ang="0">
                <a:pos x="T2" y="T3"/>
              </a:cxn>
              <a:cxn ang="0">
                <a:pos x="T4" y="T5"/>
              </a:cxn>
            </a:cxnLst>
            <a:rect l="0" t="0" r="r" b="b"/>
            <a:pathLst>
              <a:path w="30445" h="21600" fill="none" extrusionOk="0">
                <a:moveTo>
                  <a:pt x="30444" y="4835"/>
                </a:moveTo>
                <a:cubicBezTo>
                  <a:pt x="28191" y="14646"/>
                  <a:pt x="19459" y="21600"/>
                  <a:pt x="9393" y="21600"/>
                </a:cubicBezTo>
                <a:cubicBezTo>
                  <a:pt x="6140" y="21600"/>
                  <a:pt x="2929" y="20865"/>
                  <a:pt x="0" y="19450"/>
                </a:cubicBezTo>
              </a:path>
              <a:path w="30445" h="21600" stroke="0" extrusionOk="0">
                <a:moveTo>
                  <a:pt x="30444" y="4835"/>
                </a:moveTo>
                <a:cubicBezTo>
                  <a:pt x="28191" y="14646"/>
                  <a:pt x="19459" y="21600"/>
                  <a:pt x="9393" y="21600"/>
                </a:cubicBezTo>
                <a:cubicBezTo>
                  <a:pt x="6140" y="21600"/>
                  <a:pt x="2929" y="20865"/>
                  <a:pt x="0" y="19450"/>
                </a:cubicBezTo>
                <a:lnTo>
                  <a:pt x="9393" y="0"/>
                </a:lnTo>
                <a:close/>
              </a:path>
            </a:pathLst>
          </a:custGeom>
          <a:noFill/>
          <a:ln w="381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3" name="Rectangle 1037">
            <a:extLst>
              <a:ext uri="{FF2B5EF4-FFF2-40B4-BE49-F238E27FC236}">
                <a16:creationId xmlns:a16="http://schemas.microsoft.com/office/drawing/2014/main" id="{22FEE88C-E16A-41C1-BE81-04A38D305974}"/>
              </a:ext>
            </a:extLst>
          </p:cNvPr>
          <p:cNvSpPr>
            <a:spLocks noChangeArrowheads="1"/>
          </p:cNvSpPr>
          <p:nvPr/>
        </p:nvSpPr>
        <p:spPr bwMode="auto">
          <a:xfrm>
            <a:off x="7183915" y="806451"/>
            <a:ext cx="625171"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solidFill>
                  <a:schemeClr val="accent2"/>
                </a:solidFill>
                <a:latin typeface="Arial" panose="020B0604020202020204" pitchFamily="34" charset="0"/>
              </a:rPr>
              <a:t>MC</a:t>
            </a:r>
          </a:p>
        </p:txBody>
      </p:sp>
      <p:sp>
        <p:nvSpPr>
          <p:cNvPr id="10254" name="Oval 1038">
            <a:extLst>
              <a:ext uri="{FF2B5EF4-FFF2-40B4-BE49-F238E27FC236}">
                <a16:creationId xmlns:a16="http://schemas.microsoft.com/office/drawing/2014/main" id="{1386F742-57D3-441E-8EC5-384E04A59BFC}"/>
              </a:ext>
            </a:extLst>
          </p:cNvPr>
          <p:cNvSpPr>
            <a:spLocks noChangeArrowheads="1"/>
          </p:cNvSpPr>
          <p:nvPr/>
        </p:nvSpPr>
        <p:spPr bwMode="auto">
          <a:xfrm>
            <a:off x="4040663" y="5243513"/>
            <a:ext cx="114300" cy="114300"/>
          </a:xfrm>
          <a:prstGeom prst="ellipse">
            <a:avLst/>
          </a:prstGeom>
          <a:solidFill>
            <a:srgbClr val="E9D3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5" name="Rectangle 1039">
            <a:extLst>
              <a:ext uri="{FF2B5EF4-FFF2-40B4-BE49-F238E27FC236}">
                <a16:creationId xmlns:a16="http://schemas.microsoft.com/office/drawing/2014/main" id="{662DED9B-60EB-47E6-A239-06C57F04B2E3}"/>
              </a:ext>
            </a:extLst>
          </p:cNvPr>
          <p:cNvSpPr>
            <a:spLocks noChangeArrowheads="1"/>
          </p:cNvSpPr>
          <p:nvPr/>
        </p:nvSpPr>
        <p:spPr bwMode="auto">
          <a:xfrm>
            <a:off x="3948590" y="4879381"/>
            <a:ext cx="31418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chemeClr val="hlink"/>
                </a:solidFill>
                <a:latin typeface="Arial" panose="020B0604020202020204" pitchFamily="34" charset="0"/>
              </a:rPr>
              <a:t>x</a:t>
            </a:r>
          </a:p>
        </p:txBody>
      </p:sp>
      <p:sp>
        <p:nvSpPr>
          <p:cNvPr id="10256" name="Arc 1040">
            <a:extLst>
              <a:ext uri="{FF2B5EF4-FFF2-40B4-BE49-F238E27FC236}">
                <a16:creationId xmlns:a16="http://schemas.microsoft.com/office/drawing/2014/main" id="{180BEDCA-DF45-4403-A460-F07819EAD9E3}"/>
              </a:ext>
            </a:extLst>
          </p:cNvPr>
          <p:cNvSpPr>
            <a:spLocks/>
          </p:cNvSpPr>
          <p:nvPr/>
        </p:nvSpPr>
        <p:spPr bwMode="auto">
          <a:xfrm>
            <a:off x="3323113" y="681040"/>
            <a:ext cx="6084888" cy="3278187"/>
          </a:xfrm>
          <a:custGeom>
            <a:avLst/>
            <a:gdLst>
              <a:gd name="G0" fmla="+- 21053 0 0"/>
              <a:gd name="G1" fmla="+- 0 0 0"/>
              <a:gd name="G2" fmla="+- 21600 0 0"/>
              <a:gd name="T0" fmla="*/ 42205 w 42205"/>
              <a:gd name="T1" fmla="*/ 4374 h 21600"/>
              <a:gd name="T2" fmla="*/ 0 w 42205"/>
              <a:gd name="T3" fmla="*/ 4830 h 21600"/>
              <a:gd name="T4" fmla="*/ 21053 w 42205"/>
              <a:gd name="T5" fmla="*/ 0 h 21600"/>
            </a:gdLst>
            <a:ahLst/>
            <a:cxnLst>
              <a:cxn ang="0">
                <a:pos x="T0" y="T1"/>
              </a:cxn>
              <a:cxn ang="0">
                <a:pos x="T2" y="T3"/>
              </a:cxn>
              <a:cxn ang="0">
                <a:pos x="T4" y="T5"/>
              </a:cxn>
            </a:cxnLst>
            <a:rect l="0" t="0" r="r" b="b"/>
            <a:pathLst>
              <a:path w="42205" h="21600" fill="none" extrusionOk="0">
                <a:moveTo>
                  <a:pt x="42205" y="4374"/>
                </a:moveTo>
                <a:cubicBezTo>
                  <a:pt x="40131" y="14405"/>
                  <a:pt x="31296" y="21600"/>
                  <a:pt x="21053" y="21600"/>
                </a:cubicBezTo>
                <a:cubicBezTo>
                  <a:pt x="10984" y="21600"/>
                  <a:pt x="2251" y="14643"/>
                  <a:pt x="-1" y="4830"/>
                </a:cubicBezTo>
              </a:path>
              <a:path w="42205" h="21600" stroke="0" extrusionOk="0">
                <a:moveTo>
                  <a:pt x="42205" y="4374"/>
                </a:moveTo>
                <a:cubicBezTo>
                  <a:pt x="40131" y="14405"/>
                  <a:pt x="31296" y="21600"/>
                  <a:pt x="21053" y="21600"/>
                </a:cubicBezTo>
                <a:cubicBezTo>
                  <a:pt x="10984" y="21600"/>
                  <a:pt x="2251" y="14643"/>
                  <a:pt x="-1" y="4830"/>
                </a:cubicBezTo>
                <a:lnTo>
                  <a:pt x="21053" y="0"/>
                </a:lnTo>
                <a:close/>
              </a:path>
            </a:pathLst>
          </a:custGeom>
          <a:noFill/>
          <a:ln w="38100" cap="rnd">
            <a:solidFill>
              <a:schemeClr val="tx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57" name="Rectangle 1041">
            <a:extLst>
              <a:ext uri="{FF2B5EF4-FFF2-40B4-BE49-F238E27FC236}">
                <a16:creationId xmlns:a16="http://schemas.microsoft.com/office/drawing/2014/main" id="{0C8F80A0-8BC3-4B19-BE44-DFC66D612F65}"/>
              </a:ext>
            </a:extLst>
          </p:cNvPr>
          <p:cNvSpPr>
            <a:spLocks noChangeArrowheads="1"/>
          </p:cNvSpPr>
          <p:nvPr/>
        </p:nvSpPr>
        <p:spPr bwMode="auto">
          <a:xfrm>
            <a:off x="9154359" y="946805"/>
            <a:ext cx="577081"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200" i="1">
                <a:solidFill>
                  <a:schemeClr val="tx2"/>
                </a:solidFill>
                <a:latin typeface="Arial" panose="020B0604020202020204" pitchFamily="34" charset="0"/>
              </a:rPr>
              <a:t>AC</a:t>
            </a:r>
          </a:p>
        </p:txBody>
      </p:sp>
      <p:sp>
        <p:nvSpPr>
          <p:cNvPr id="10258" name="Rectangle 1042">
            <a:extLst>
              <a:ext uri="{FF2B5EF4-FFF2-40B4-BE49-F238E27FC236}">
                <a16:creationId xmlns:a16="http://schemas.microsoft.com/office/drawing/2014/main" id="{0CCC1E69-8E38-4D10-BBAF-295FA53D8814}"/>
              </a:ext>
            </a:extLst>
          </p:cNvPr>
          <p:cNvSpPr>
            <a:spLocks noChangeArrowheads="1"/>
          </p:cNvSpPr>
          <p:nvPr/>
        </p:nvSpPr>
        <p:spPr bwMode="auto">
          <a:xfrm>
            <a:off x="5485290" y="4271963"/>
            <a:ext cx="31418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chemeClr val="hlink"/>
                </a:solidFill>
                <a:latin typeface="Arial" panose="020B0604020202020204" pitchFamily="34" charset="0"/>
              </a:rPr>
              <a:t>y</a:t>
            </a:r>
          </a:p>
        </p:txBody>
      </p:sp>
      <p:sp>
        <p:nvSpPr>
          <p:cNvPr id="10259" name="Oval 1043">
            <a:extLst>
              <a:ext uri="{FF2B5EF4-FFF2-40B4-BE49-F238E27FC236}">
                <a16:creationId xmlns:a16="http://schemas.microsoft.com/office/drawing/2014/main" id="{2D29E7C1-64FE-4797-95C7-92FA8E92EA9E}"/>
              </a:ext>
            </a:extLst>
          </p:cNvPr>
          <p:cNvSpPr>
            <a:spLocks noChangeArrowheads="1"/>
          </p:cNvSpPr>
          <p:nvPr/>
        </p:nvSpPr>
        <p:spPr bwMode="auto">
          <a:xfrm>
            <a:off x="6296501" y="3895727"/>
            <a:ext cx="112712" cy="112713"/>
          </a:xfrm>
          <a:prstGeom prst="ellipse">
            <a:avLst/>
          </a:prstGeom>
          <a:solidFill>
            <a:srgbClr val="E9D3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60" name="Rectangle 1044">
            <a:extLst>
              <a:ext uri="{FF2B5EF4-FFF2-40B4-BE49-F238E27FC236}">
                <a16:creationId xmlns:a16="http://schemas.microsoft.com/office/drawing/2014/main" id="{56CAE86A-2959-40A0-B2E0-014E2ED710AC}"/>
              </a:ext>
            </a:extLst>
          </p:cNvPr>
          <p:cNvSpPr>
            <a:spLocks noChangeArrowheads="1"/>
          </p:cNvSpPr>
          <p:nvPr/>
        </p:nvSpPr>
        <p:spPr bwMode="auto">
          <a:xfrm>
            <a:off x="6204434" y="3493989"/>
            <a:ext cx="31418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i="1">
                <a:solidFill>
                  <a:schemeClr val="hlink"/>
                </a:solidFill>
                <a:latin typeface="Arial" panose="020B0604020202020204" pitchFamily="34" charset="0"/>
              </a:rPr>
              <a:t>z</a:t>
            </a:r>
          </a:p>
        </p:txBody>
      </p:sp>
      <p:sp>
        <p:nvSpPr>
          <p:cNvPr id="10261" name="Oval 1045">
            <a:extLst>
              <a:ext uri="{FF2B5EF4-FFF2-40B4-BE49-F238E27FC236}">
                <a16:creationId xmlns:a16="http://schemas.microsoft.com/office/drawing/2014/main" id="{BEC97768-3CCB-43FF-9C5D-E5F2A1DA4171}"/>
              </a:ext>
            </a:extLst>
          </p:cNvPr>
          <p:cNvSpPr>
            <a:spLocks noChangeArrowheads="1"/>
          </p:cNvSpPr>
          <p:nvPr/>
        </p:nvSpPr>
        <p:spPr bwMode="auto">
          <a:xfrm>
            <a:off x="5559901" y="4675188"/>
            <a:ext cx="119062" cy="119062"/>
          </a:xfrm>
          <a:prstGeom prst="ellipse">
            <a:avLst/>
          </a:prstGeom>
          <a:solidFill>
            <a:srgbClr val="E9D3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263" name="Rectangle 1047">
            <a:extLst>
              <a:ext uri="{FF2B5EF4-FFF2-40B4-BE49-F238E27FC236}">
                <a16:creationId xmlns:a16="http://schemas.microsoft.com/office/drawing/2014/main" id="{6935053B-AFF1-4470-8087-B29739C20CBC}"/>
              </a:ext>
            </a:extLst>
          </p:cNvPr>
          <p:cNvSpPr>
            <a:spLocks noGrp="1" noChangeArrowheads="1"/>
          </p:cNvSpPr>
          <p:nvPr>
            <p:ph type="title"/>
          </p:nvPr>
        </p:nvSpPr>
        <p:spPr>
          <a:xfrm>
            <a:off x="2723906" y="79967"/>
            <a:ext cx="7949701" cy="550276"/>
          </a:xfrm>
          <a:effectLst>
            <a:outerShdw dist="12700" dir="2700000" algn="ctr" rotWithShape="0">
              <a:schemeClr val="tx1"/>
            </a:outerShdw>
          </a:effectLst>
        </p:spPr>
        <p:txBody>
          <a:bodyPr/>
          <a:lstStyle/>
          <a:p>
            <a:r>
              <a:rPr lang="en-GB" altLang="en-US" sz="2600"/>
              <a:t>Average and marginal costs (short run)</a:t>
            </a:r>
          </a:p>
        </p:txBody>
      </p:sp>
      <p:sp>
        <p:nvSpPr>
          <p:cNvPr id="2" name="TextBox 1">
            <a:extLst>
              <a:ext uri="{FF2B5EF4-FFF2-40B4-BE49-F238E27FC236}">
                <a16:creationId xmlns:a16="http://schemas.microsoft.com/office/drawing/2014/main" id="{E5B13D44-CA3E-018A-AEE6-161C923C5350}"/>
              </a:ext>
            </a:extLst>
          </p:cNvPr>
          <p:cNvSpPr txBox="1"/>
          <p:nvPr/>
        </p:nvSpPr>
        <p:spPr>
          <a:xfrm>
            <a:off x="329609" y="494414"/>
            <a:ext cx="1964802" cy="307777"/>
          </a:xfrm>
          <a:prstGeom prst="rect">
            <a:avLst/>
          </a:prstGeom>
          <a:noFill/>
        </p:spPr>
        <p:txBody>
          <a:bodyPr wrap="square" rtlCol="0">
            <a:spAutoFit/>
          </a:bodyPr>
          <a:lstStyle/>
          <a:p>
            <a:endParaRPr lang="en-GB" sz="1400"/>
          </a:p>
        </p:txBody>
      </p:sp>
      <p:sp>
        <p:nvSpPr>
          <p:cNvPr id="3" name="TextBox 2">
            <a:extLst>
              <a:ext uri="{FF2B5EF4-FFF2-40B4-BE49-F238E27FC236}">
                <a16:creationId xmlns:a16="http://schemas.microsoft.com/office/drawing/2014/main" id="{DA76D0ED-97E4-9127-454E-48B6E9CE5641}"/>
              </a:ext>
            </a:extLst>
          </p:cNvPr>
          <p:cNvSpPr txBox="1"/>
          <p:nvPr/>
        </p:nvSpPr>
        <p:spPr>
          <a:xfrm>
            <a:off x="191012" y="292396"/>
            <a:ext cx="1948384" cy="2031325"/>
          </a:xfrm>
          <a:prstGeom prst="rect">
            <a:avLst/>
          </a:prstGeom>
          <a:noFill/>
          <a:ln w="28575">
            <a:solidFill>
              <a:srgbClr val="A50021"/>
            </a:solidFill>
          </a:ln>
        </p:spPr>
        <p:txBody>
          <a:bodyPr wrap="square" rtlCol="0">
            <a:spAutoFit/>
          </a:bodyPr>
          <a:lstStyle/>
          <a:p>
            <a:r>
              <a:rPr lang="en-GB" sz="1400"/>
              <a:t>If MPP increases initially (due to specialisation, etc) and then falls (due to the law of diminishing returns), the cost of producing each additional unit of output will fall initially and then rise.</a:t>
            </a:r>
          </a:p>
        </p:txBody>
      </p:sp>
      <p:sp>
        <p:nvSpPr>
          <p:cNvPr id="4" name="TextBox 3">
            <a:extLst>
              <a:ext uri="{FF2B5EF4-FFF2-40B4-BE49-F238E27FC236}">
                <a16:creationId xmlns:a16="http://schemas.microsoft.com/office/drawing/2014/main" id="{074BC98C-7F83-16AD-2115-114D2497D9B5}"/>
              </a:ext>
            </a:extLst>
          </p:cNvPr>
          <p:cNvSpPr txBox="1"/>
          <p:nvPr/>
        </p:nvSpPr>
        <p:spPr>
          <a:xfrm>
            <a:off x="8782494" y="6023381"/>
            <a:ext cx="3258879" cy="738664"/>
          </a:xfrm>
          <a:prstGeom prst="rect">
            <a:avLst/>
          </a:prstGeom>
          <a:noFill/>
          <a:ln w="28575">
            <a:solidFill>
              <a:srgbClr val="7030A0"/>
            </a:solidFill>
          </a:ln>
        </p:spPr>
        <p:txBody>
          <a:bodyPr wrap="square" rtlCol="0">
            <a:spAutoFit/>
          </a:bodyPr>
          <a:lstStyle/>
          <a:p>
            <a:r>
              <a:rPr lang="en-GB" altLang="en-US" sz="1400"/>
              <a:t>AFC falls continuously as output rises, since total fixed costs are being spread over a greater and greater output</a:t>
            </a:r>
            <a:endParaRPr lang="en-GB" sz="1400"/>
          </a:p>
        </p:txBody>
      </p:sp>
      <p:sp>
        <p:nvSpPr>
          <p:cNvPr id="5" name="TextBox 4">
            <a:extLst>
              <a:ext uri="{FF2B5EF4-FFF2-40B4-BE49-F238E27FC236}">
                <a16:creationId xmlns:a16="http://schemas.microsoft.com/office/drawing/2014/main" id="{6523A64B-6E14-9636-799F-88F8B361B0A0}"/>
              </a:ext>
            </a:extLst>
          </p:cNvPr>
          <p:cNvSpPr txBox="1"/>
          <p:nvPr/>
        </p:nvSpPr>
        <p:spPr>
          <a:xfrm>
            <a:off x="10239490" y="2289224"/>
            <a:ext cx="1804579" cy="2677656"/>
          </a:xfrm>
          <a:prstGeom prst="rect">
            <a:avLst/>
          </a:prstGeom>
          <a:noFill/>
          <a:ln w="28575">
            <a:solidFill>
              <a:srgbClr val="00B050"/>
            </a:solidFill>
          </a:ln>
        </p:spPr>
        <p:txBody>
          <a:bodyPr wrap="square" rtlCol="0">
            <a:spAutoFit/>
          </a:bodyPr>
          <a:lstStyle/>
          <a:p>
            <a:r>
              <a:rPr lang="en-GB" altLang="en-US" sz="1400"/>
              <a:t>The shape of the AVC curve depends on the shape of the APP curve. As the average product of workers rises, the average labour cost per unit of output (the AVC) falls (up to point </a:t>
            </a:r>
            <a:r>
              <a:rPr lang="en-GB" altLang="en-US" sz="1400" i="1"/>
              <a:t>y</a:t>
            </a:r>
            <a:r>
              <a:rPr lang="en-GB" altLang="en-US" sz="1400"/>
              <a:t>). Thereafter, as APP falls, AVC must rise.</a:t>
            </a:r>
          </a:p>
          <a:p>
            <a:endParaRPr lang="en-GB" sz="1400"/>
          </a:p>
        </p:txBody>
      </p:sp>
      <p:sp>
        <p:nvSpPr>
          <p:cNvPr id="6" name="TextBox 5">
            <a:extLst>
              <a:ext uri="{FF2B5EF4-FFF2-40B4-BE49-F238E27FC236}">
                <a16:creationId xmlns:a16="http://schemas.microsoft.com/office/drawing/2014/main" id="{2A3F26C2-1556-F2A3-DF87-EC3389B64AC7}"/>
              </a:ext>
            </a:extLst>
          </p:cNvPr>
          <p:cNvSpPr txBox="1"/>
          <p:nvPr/>
        </p:nvSpPr>
        <p:spPr>
          <a:xfrm>
            <a:off x="10255102" y="361504"/>
            <a:ext cx="1796903" cy="1600438"/>
          </a:xfrm>
          <a:prstGeom prst="rect">
            <a:avLst/>
          </a:prstGeom>
          <a:noFill/>
          <a:ln w="28575">
            <a:solidFill>
              <a:srgbClr val="0070C0"/>
            </a:solidFill>
          </a:ln>
        </p:spPr>
        <p:txBody>
          <a:bodyPr wrap="square" rtlCol="0">
            <a:spAutoFit/>
          </a:bodyPr>
          <a:lstStyle/>
          <a:p>
            <a:r>
              <a:rPr lang="en-GB" altLang="en-US" sz="1400"/>
              <a:t>The AC curve is simply the vertical sum of the AFC and AVC curves. </a:t>
            </a:r>
          </a:p>
          <a:p>
            <a:r>
              <a:rPr lang="en-GB" altLang="en-US" sz="1400"/>
              <a:t>Note that, as AFC falls, the gap between AVC and AC narrows</a:t>
            </a:r>
            <a:endParaRPr lang="en-GB" sz="1400"/>
          </a:p>
        </p:txBody>
      </p:sp>
    </p:spTree>
    <p:extLst>
      <p:ext uri="{BB962C8B-B14F-4D97-AF65-F5344CB8AC3E}">
        <p14:creationId xmlns:p14="http://schemas.microsoft.com/office/powerpoint/2010/main" val="928199782"/>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A16A7734-609A-413F-BBD3-A6C043EAF4CD}"/>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C56A5087-920A-41C3-8696-5DCFAB8C9263}"/>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0" name="Rectangle 6">
            <a:extLst>
              <a:ext uri="{FF2B5EF4-FFF2-40B4-BE49-F238E27FC236}">
                <a16:creationId xmlns:a16="http://schemas.microsoft.com/office/drawing/2014/main" id="{A4CBCD38-CA80-4D69-948A-141796DFBA4E}"/>
              </a:ext>
            </a:extLst>
          </p:cNvPr>
          <p:cNvSpPr>
            <a:spLocks noGrp="1"/>
          </p:cNvSpPr>
          <p:nvPr>
            <p:ph type="title"/>
          </p:nvPr>
        </p:nvSpPr>
        <p:spPr/>
        <p:txBody>
          <a:bodyPr/>
          <a:lstStyle/>
          <a:p>
            <a:r>
              <a:rPr lang="en-GB" altLang="en-US">
                <a:latin typeface="Calibri" panose="020F0502020204030204" pitchFamily="34" charset="0"/>
                <a:cs typeface="Calibri" panose="020F0502020204030204" pitchFamily="34" charset="0"/>
              </a:rPr>
              <a:t>Costs in the Short run</a:t>
            </a:r>
          </a:p>
        </p:txBody>
      </p:sp>
      <p:sp>
        <p:nvSpPr>
          <p:cNvPr id="379911" name="Rectangle 7">
            <a:extLst>
              <a:ext uri="{FF2B5EF4-FFF2-40B4-BE49-F238E27FC236}">
                <a16:creationId xmlns:a16="http://schemas.microsoft.com/office/drawing/2014/main" id="{97CA7A97-A61A-486C-8987-5C57F7667BAF}"/>
              </a:ext>
            </a:extLst>
          </p:cNvPr>
          <p:cNvSpPr>
            <a:spLocks noGrp="1"/>
          </p:cNvSpPr>
          <p:nvPr>
            <p:ph idx="1"/>
          </p:nvPr>
        </p:nvSpPr>
        <p:spPr>
          <a:xfrm>
            <a:off x="402167" y="1330166"/>
            <a:ext cx="11379200" cy="4889500"/>
          </a:xfrm>
        </p:spPr>
        <p:txBody>
          <a:bodyPr/>
          <a:lstStyle/>
          <a:p>
            <a:pPr marL="457200" lvl="1" indent="0">
              <a:spcBef>
                <a:spcPct val="55000"/>
              </a:spcBef>
              <a:buNone/>
            </a:pPr>
            <a:r>
              <a:rPr lang="en-GB" altLang="en-US" sz="2000">
                <a:latin typeface="Calibri" panose="020F0502020204030204" pitchFamily="34" charset="0"/>
                <a:cs typeface="Calibri" panose="020F0502020204030204" pitchFamily="34" charset="0"/>
              </a:rPr>
              <a:t>Relationship between average and marginal cost – important to firm decision-making</a:t>
            </a:r>
          </a:p>
          <a:p>
            <a:pPr marL="457200" lvl="1" indent="0">
              <a:spcBef>
                <a:spcPct val="55000"/>
              </a:spcBef>
              <a:buNone/>
            </a:pPr>
            <a:endParaRPr lang="en-GB" altLang="en-US">
              <a:latin typeface="Calibri" panose="020F0502020204030204" pitchFamily="34" charset="0"/>
              <a:cs typeface="Calibri" panose="020F0502020204030204" pitchFamily="34" charset="0"/>
            </a:endParaRPr>
          </a:p>
          <a:p>
            <a:pPr marL="457200" lvl="1" indent="0">
              <a:spcBef>
                <a:spcPct val="55000"/>
              </a:spcBef>
              <a:buNone/>
            </a:pPr>
            <a:r>
              <a:rPr lang="en-GB" altLang="en-US" sz="2000">
                <a:highlight>
                  <a:srgbClr val="FFFF00"/>
                </a:highlight>
                <a:latin typeface="Calibri" panose="020F0502020204030204" pitchFamily="34" charset="0"/>
                <a:cs typeface="Calibri" panose="020F0502020204030204" pitchFamily="34" charset="0"/>
              </a:rPr>
              <a:t>Activity:</a:t>
            </a:r>
          </a:p>
          <a:p>
            <a:pPr lvl="2">
              <a:spcBef>
                <a:spcPct val="55000"/>
              </a:spcBef>
            </a:pPr>
            <a:r>
              <a:rPr lang="en-GB" altLang="en-US" sz="2000">
                <a:highlight>
                  <a:srgbClr val="FFFF00"/>
                </a:highlight>
                <a:latin typeface="Calibri" panose="020F0502020204030204" pitchFamily="34" charset="0"/>
                <a:cs typeface="Calibri" panose="020F0502020204030204" pitchFamily="34" charset="0"/>
              </a:rPr>
              <a:t>If the first unit of output costs £5 to produce and a second unit costs £4 to produce, should the firm produce the second unit? </a:t>
            </a:r>
          </a:p>
          <a:p>
            <a:pPr lvl="2">
              <a:spcBef>
                <a:spcPct val="55000"/>
              </a:spcBef>
            </a:pPr>
            <a:r>
              <a:rPr lang="en-GB" altLang="en-US" sz="2000">
                <a:highlight>
                  <a:srgbClr val="FFFF00"/>
                </a:highlight>
                <a:latin typeface="Calibri" panose="020F0502020204030204" pitchFamily="34" charset="0"/>
                <a:cs typeface="Calibri" panose="020F0502020204030204" pitchFamily="34" charset="0"/>
              </a:rPr>
              <a:t>If a third unit costs £6 to produce, should the firm produce the third unit?</a:t>
            </a:r>
          </a:p>
        </p:txBody>
      </p:sp>
    </p:spTree>
    <p:extLst>
      <p:ext uri="{BB962C8B-B14F-4D97-AF65-F5344CB8AC3E}">
        <p14:creationId xmlns:p14="http://schemas.microsoft.com/office/powerpoint/2010/main" val="22306647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9911">
                                            <p:txEl>
                                              <p:pRg st="0" end="0"/>
                                            </p:txEl>
                                          </p:spTgt>
                                        </p:tgtEl>
                                        <p:attrNameLst>
                                          <p:attrName>style.visibility</p:attrName>
                                        </p:attrNameLst>
                                      </p:cBhvr>
                                      <p:to>
                                        <p:strVal val="visible"/>
                                      </p:to>
                                    </p:set>
                                    <p:anim calcmode="lin" valueType="num">
                                      <p:cBhvr additive="base">
                                        <p:cTn id="7" dur="500"/>
                                        <p:tgtEl>
                                          <p:spTgt spid="37991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99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9911">
                                            <p:txEl>
                                              <p:pRg st="2" end="2"/>
                                            </p:txEl>
                                          </p:spTgt>
                                        </p:tgtEl>
                                        <p:attrNameLst>
                                          <p:attrName>style.visibility</p:attrName>
                                        </p:attrNameLst>
                                      </p:cBhvr>
                                      <p:to>
                                        <p:strVal val="visible"/>
                                      </p:to>
                                    </p:set>
                                    <p:anim calcmode="lin" valueType="num">
                                      <p:cBhvr additive="base">
                                        <p:cTn id="13" dur="500"/>
                                        <p:tgtEl>
                                          <p:spTgt spid="379911">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9911">
                                            <p:txEl>
                                              <p:pRg st="2" end="2"/>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79911">
                                            <p:txEl>
                                              <p:pRg st="3" end="3"/>
                                            </p:txEl>
                                          </p:spTgt>
                                        </p:tgtEl>
                                        <p:attrNameLst>
                                          <p:attrName>style.visibility</p:attrName>
                                        </p:attrNameLst>
                                      </p:cBhvr>
                                      <p:to>
                                        <p:strVal val="visible"/>
                                      </p:to>
                                    </p:set>
                                    <p:anim calcmode="lin" valueType="num">
                                      <p:cBhvr additive="base">
                                        <p:cTn id="17" dur="500"/>
                                        <p:tgtEl>
                                          <p:spTgt spid="379911">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79911">
                                            <p:txEl>
                                              <p:pRg st="3" end="3"/>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79911">
                                            <p:txEl>
                                              <p:pRg st="4" end="4"/>
                                            </p:txEl>
                                          </p:spTgt>
                                        </p:tgtEl>
                                        <p:attrNameLst>
                                          <p:attrName>style.visibility</p:attrName>
                                        </p:attrNameLst>
                                      </p:cBhvr>
                                      <p:to>
                                        <p:strVal val="visible"/>
                                      </p:to>
                                    </p:set>
                                    <p:anim calcmode="lin" valueType="num">
                                      <p:cBhvr additive="base">
                                        <p:cTn id="21" dur="500"/>
                                        <p:tgtEl>
                                          <p:spTgt spid="379911">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799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11"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A16A7734-609A-413F-BBD3-A6C043EAF4CD}"/>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07" name="Rectangle 3">
            <a:extLst>
              <a:ext uri="{FF2B5EF4-FFF2-40B4-BE49-F238E27FC236}">
                <a16:creationId xmlns:a16="http://schemas.microsoft.com/office/drawing/2014/main" id="{C56A5087-920A-41C3-8696-5DCFAB8C9263}"/>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910" name="Rectangle 6">
            <a:extLst>
              <a:ext uri="{FF2B5EF4-FFF2-40B4-BE49-F238E27FC236}">
                <a16:creationId xmlns:a16="http://schemas.microsoft.com/office/drawing/2014/main" id="{A4CBCD38-CA80-4D69-948A-141796DFBA4E}"/>
              </a:ext>
            </a:extLst>
          </p:cNvPr>
          <p:cNvSpPr>
            <a:spLocks noGrp="1"/>
          </p:cNvSpPr>
          <p:nvPr>
            <p:ph type="title"/>
          </p:nvPr>
        </p:nvSpPr>
        <p:spPr/>
        <p:txBody>
          <a:bodyPr/>
          <a:lstStyle/>
          <a:p>
            <a:r>
              <a:rPr lang="en-GB" altLang="en-US">
                <a:latin typeface="Calibri" panose="020F0502020204030204" pitchFamily="34" charset="0"/>
                <a:cs typeface="Calibri" panose="020F0502020204030204" pitchFamily="34" charset="0"/>
              </a:rPr>
              <a:t>Costs in the Short run</a:t>
            </a:r>
          </a:p>
        </p:txBody>
      </p:sp>
      <p:sp>
        <p:nvSpPr>
          <p:cNvPr id="379911" name="Rectangle 7">
            <a:extLst>
              <a:ext uri="{FF2B5EF4-FFF2-40B4-BE49-F238E27FC236}">
                <a16:creationId xmlns:a16="http://schemas.microsoft.com/office/drawing/2014/main" id="{97CA7A97-A61A-486C-8987-5C57F7667BAF}"/>
              </a:ext>
            </a:extLst>
          </p:cNvPr>
          <p:cNvSpPr>
            <a:spLocks noGrp="1"/>
          </p:cNvSpPr>
          <p:nvPr>
            <p:ph idx="1"/>
          </p:nvPr>
        </p:nvSpPr>
        <p:spPr>
          <a:xfrm>
            <a:off x="402167" y="1330166"/>
            <a:ext cx="11379200" cy="4889500"/>
          </a:xfrm>
        </p:spPr>
        <p:txBody>
          <a:bodyPr/>
          <a:lstStyle/>
          <a:p>
            <a:pPr marL="457200" lvl="1" indent="0">
              <a:spcBef>
                <a:spcPct val="55000"/>
              </a:spcBef>
              <a:buNone/>
            </a:pPr>
            <a:r>
              <a:rPr lang="en-GB" altLang="en-US" sz="2000">
                <a:latin typeface="Calibri" panose="020F0502020204030204" pitchFamily="34" charset="0"/>
                <a:cs typeface="Calibri" panose="020F0502020204030204" pitchFamily="34" charset="0"/>
              </a:rPr>
              <a:t>Relationship between average and marginal cost – important to firm decision-making</a:t>
            </a:r>
          </a:p>
          <a:p>
            <a:pPr lvl="1">
              <a:spcBef>
                <a:spcPct val="55000"/>
              </a:spcBef>
            </a:pPr>
            <a:r>
              <a:rPr lang="en-GB" altLang="en-US" sz="2000">
                <a:latin typeface="Calibri" panose="020F0502020204030204" pitchFamily="34" charset="0"/>
                <a:cs typeface="Calibri" panose="020F0502020204030204" pitchFamily="34" charset="0"/>
              </a:rPr>
              <a:t>If the cost of additional units of output is less than the average, their production must pull the average cost down.</a:t>
            </a:r>
          </a:p>
          <a:p>
            <a:pPr lvl="1">
              <a:spcBef>
                <a:spcPct val="55000"/>
              </a:spcBef>
            </a:pPr>
            <a:r>
              <a:rPr lang="en-GB" altLang="en-US" sz="2000">
                <a:latin typeface="Calibri" panose="020F0502020204030204" pitchFamily="34" charset="0"/>
                <a:cs typeface="Calibri" panose="020F0502020204030204" pitchFamily="34" charset="0"/>
              </a:rPr>
              <a:t>Simple example:</a:t>
            </a:r>
          </a:p>
          <a:p>
            <a:pPr lvl="2">
              <a:spcBef>
                <a:spcPct val="55000"/>
              </a:spcBef>
            </a:pPr>
            <a:r>
              <a:rPr lang="en-GB" altLang="en-US" sz="2000">
                <a:latin typeface="Calibri" panose="020F0502020204030204" pitchFamily="34" charset="0"/>
                <a:cs typeface="Calibri" panose="020F0502020204030204" pitchFamily="34" charset="0"/>
              </a:rPr>
              <a:t>If one unit of output costs £5 to produce, TC = £5 and AC = £5</a:t>
            </a:r>
          </a:p>
          <a:p>
            <a:pPr lvl="2">
              <a:spcBef>
                <a:spcPct val="55000"/>
              </a:spcBef>
            </a:pPr>
            <a:r>
              <a:rPr lang="en-GB" altLang="en-US" sz="2000">
                <a:latin typeface="Calibri" panose="020F0502020204030204" pitchFamily="34" charset="0"/>
                <a:cs typeface="Calibri" panose="020F0502020204030204" pitchFamily="34" charset="0"/>
              </a:rPr>
              <a:t>If a second unit costs £4 to produce, MC = £4 </a:t>
            </a:r>
          </a:p>
          <a:p>
            <a:pPr lvl="2">
              <a:spcBef>
                <a:spcPct val="55000"/>
              </a:spcBef>
            </a:pPr>
            <a:r>
              <a:rPr lang="en-GB" altLang="en-US" sz="2000">
                <a:latin typeface="Calibri" panose="020F0502020204030204" pitchFamily="34" charset="0"/>
                <a:cs typeface="Calibri" panose="020F0502020204030204" pitchFamily="34" charset="0"/>
              </a:rPr>
              <a:t>At this level of output MC &lt; AC (£4 &lt; £5)</a:t>
            </a:r>
          </a:p>
          <a:p>
            <a:pPr lvl="2">
              <a:spcBef>
                <a:spcPct val="55000"/>
              </a:spcBef>
            </a:pPr>
            <a:r>
              <a:rPr lang="en-GB" altLang="en-US" sz="2000">
                <a:latin typeface="Calibri" panose="020F0502020204030204" pitchFamily="34" charset="0"/>
                <a:cs typeface="Calibri" panose="020F0502020204030204" pitchFamily="34" charset="0"/>
              </a:rPr>
              <a:t>The result is that AC falls from £5 to £4.50 [(£5 + £4) / 2]</a:t>
            </a:r>
          </a:p>
          <a:p>
            <a:pPr lvl="2">
              <a:spcBef>
                <a:spcPct val="55000"/>
              </a:spcBef>
            </a:pPr>
            <a:r>
              <a:rPr lang="en-GB" altLang="en-US" sz="2000">
                <a:latin typeface="Calibri" panose="020F0502020204030204" pitchFamily="34" charset="0"/>
                <a:cs typeface="Calibri" panose="020F0502020204030204" pitchFamily="34" charset="0"/>
              </a:rPr>
              <a:t>If a third unit costs £6 to produce, MC now = £6</a:t>
            </a:r>
          </a:p>
          <a:p>
            <a:pPr lvl="2">
              <a:spcBef>
                <a:spcPct val="55000"/>
              </a:spcBef>
            </a:pPr>
            <a:r>
              <a:rPr lang="en-GB" altLang="en-US" sz="2000">
                <a:latin typeface="Calibri" panose="020F0502020204030204" pitchFamily="34" charset="0"/>
                <a:cs typeface="Calibri" panose="020F0502020204030204" pitchFamily="34" charset="0"/>
              </a:rPr>
              <a:t>At this level of output MC &gt; AC (£6 &gt; £4.50)</a:t>
            </a:r>
          </a:p>
          <a:p>
            <a:pPr lvl="2">
              <a:spcBef>
                <a:spcPct val="55000"/>
              </a:spcBef>
            </a:pPr>
            <a:r>
              <a:rPr lang="en-GB" altLang="en-US" sz="2000">
                <a:latin typeface="Calibri" panose="020F0502020204030204" pitchFamily="34" charset="0"/>
                <a:cs typeface="Calibri" panose="020F0502020204030204" pitchFamily="34" charset="0"/>
              </a:rPr>
              <a:t>The result is that AC increases from £4.50 to £5 [(£5 + £4 + £6) / 2]</a:t>
            </a:r>
          </a:p>
        </p:txBody>
      </p:sp>
    </p:spTree>
    <p:extLst>
      <p:ext uri="{BB962C8B-B14F-4D97-AF65-F5344CB8AC3E}">
        <p14:creationId xmlns:p14="http://schemas.microsoft.com/office/powerpoint/2010/main" val="112760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9911">
                                            <p:txEl>
                                              <p:pRg st="0" end="0"/>
                                            </p:txEl>
                                          </p:spTgt>
                                        </p:tgtEl>
                                        <p:attrNameLst>
                                          <p:attrName>style.visibility</p:attrName>
                                        </p:attrNameLst>
                                      </p:cBhvr>
                                      <p:to>
                                        <p:strVal val="visible"/>
                                      </p:to>
                                    </p:set>
                                    <p:anim calcmode="lin" valueType="num">
                                      <p:cBhvr additive="base">
                                        <p:cTn id="7" dur="500"/>
                                        <p:tgtEl>
                                          <p:spTgt spid="37991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99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9911">
                                            <p:txEl>
                                              <p:pRg st="1" end="1"/>
                                            </p:txEl>
                                          </p:spTgt>
                                        </p:tgtEl>
                                        <p:attrNameLst>
                                          <p:attrName>style.visibility</p:attrName>
                                        </p:attrNameLst>
                                      </p:cBhvr>
                                      <p:to>
                                        <p:strVal val="visible"/>
                                      </p:to>
                                    </p:set>
                                    <p:anim calcmode="lin" valueType="num">
                                      <p:cBhvr additive="base">
                                        <p:cTn id="13" dur="500"/>
                                        <p:tgtEl>
                                          <p:spTgt spid="37991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99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9911">
                                            <p:txEl>
                                              <p:pRg st="2" end="2"/>
                                            </p:txEl>
                                          </p:spTgt>
                                        </p:tgtEl>
                                        <p:attrNameLst>
                                          <p:attrName>style.visibility</p:attrName>
                                        </p:attrNameLst>
                                      </p:cBhvr>
                                      <p:to>
                                        <p:strVal val="visible"/>
                                      </p:to>
                                    </p:set>
                                    <p:anim calcmode="lin" valueType="num">
                                      <p:cBhvr additive="base">
                                        <p:cTn id="19" dur="500"/>
                                        <p:tgtEl>
                                          <p:spTgt spid="37991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9911">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79911">
                                            <p:txEl>
                                              <p:pRg st="3" end="3"/>
                                            </p:txEl>
                                          </p:spTgt>
                                        </p:tgtEl>
                                        <p:attrNameLst>
                                          <p:attrName>style.visibility</p:attrName>
                                        </p:attrNameLst>
                                      </p:cBhvr>
                                      <p:to>
                                        <p:strVal val="visible"/>
                                      </p:to>
                                    </p:set>
                                    <p:anim calcmode="lin" valueType="num">
                                      <p:cBhvr additive="base">
                                        <p:cTn id="23" dur="500"/>
                                        <p:tgtEl>
                                          <p:spTgt spid="379911">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79911">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79911">
                                            <p:txEl>
                                              <p:pRg st="4" end="4"/>
                                            </p:txEl>
                                          </p:spTgt>
                                        </p:tgtEl>
                                        <p:attrNameLst>
                                          <p:attrName>style.visibility</p:attrName>
                                        </p:attrNameLst>
                                      </p:cBhvr>
                                      <p:to>
                                        <p:strVal val="visible"/>
                                      </p:to>
                                    </p:set>
                                    <p:anim calcmode="lin" valueType="num">
                                      <p:cBhvr additive="base">
                                        <p:cTn id="27" dur="500"/>
                                        <p:tgtEl>
                                          <p:spTgt spid="379911">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79911">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79911">
                                            <p:txEl>
                                              <p:pRg st="5" end="5"/>
                                            </p:txEl>
                                          </p:spTgt>
                                        </p:tgtEl>
                                        <p:attrNameLst>
                                          <p:attrName>style.visibility</p:attrName>
                                        </p:attrNameLst>
                                      </p:cBhvr>
                                      <p:to>
                                        <p:strVal val="visible"/>
                                      </p:to>
                                    </p:set>
                                    <p:anim calcmode="lin" valueType="num">
                                      <p:cBhvr additive="base">
                                        <p:cTn id="31" dur="500"/>
                                        <p:tgtEl>
                                          <p:spTgt spid="37991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9911">
                                            <p:txEl>
                                              <p:pRg st="5" end="5"/>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79911">
                                            <p:txEl>
                                              <p:pRg st="6" end="6"/>
                                            </p:txEl>
                                          </p:spTgt>
                                        </p:tgtEl>
                                        <p:attrNameLst>
                                          <p:attrName>style.visibility</p:attrName>
                                        </p:attrNameLst>
                                      </p:cBhvr>
                                      <p:to>
                                        <p:strVal val="visible"/>
                                      </p:to>
                                    </p:set>
                                    <p:anim calcmode="lin" valueType="num">
                                      <p:cBhvr additive="base">
                                        <p:cTn id="35" dur="500"/>
                                        <p:tgtEl>
                                          <p:spTgt spid="379911">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9911">
                                            <p:txEl>
                                              <p:pRg st="6" end="6"/>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79911">
                                            <p:txEl>
                                              <p:pRg st="7" end="7"/>
                                            </p:txEl>
                                          </p:spTgt>
                                        </p:tgtEl>
                                        <p:attrNameLst>
                                          <p:attrName>style.visibility</p:attrName>
                                        </p:attrNameLst>
                                      </p:cBhvr>
                                      <p:to>
                                        <p:strVal val="visible"/>
                                      </p:to>
                                    </p:set>
                                    <p:anim calcmode="lin" valueType="num">
                                      <p:cBhvr additive="base">
                                        <p:cTn id="39" dur="500"/>
                                        <p:tgtEl>
                                          <p:spTgt spid="379911">
                                            <p:txEl>
                                              <p:pRg st="7" end="7"/>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79911">
                                            <p:txEl>
                                              <p:pRg st="7" end="7"/>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79911">
                                            <p:txEl>
                                              <p:pRg st="8" end="8"/>
                                            </p:txEl>
                                          </p:spTgt>
                                        </p:tgtEl>
                                        <p:attrNameLst>
                                          <p:attrName>style.visibility</p:attrName>
                                        </p:attrNameLst>
                                      </p:cBhvr>
                                      <p:to>
                                        <p:strVal val="visible"/>
                                      </p:to>
                                    </p:set>
                                    <p:anim calcmode="lin" valueType="num">
                                      <p:cBhvr additive="base">
                                        <p:cTn id="43" dur="500"/>
                                        <p:tgtEl>
                                          <p:spTgt spid="379911">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9911">
                                            <p:txEl>
                                              <p:pRg st="8" end="8"/>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379911">
                                            <p:txEl>
                                              <p:pRg st="9" end="9"/>
                                            </p:txEl>
                                          </p:spTgt>
                                        </p:tgtEl>
                                        <p:attrNameLst>
                                          <p:attrName>style.visibility</p:attrName>
                                        </p:attrNameLst>
                                      </p:cBhvr>
                                      <p:to>
                                        <p:strVal val="visible"/>
                                      </p:to>
                                    </p:set>
                                    <p:anim calcmode="lin" valueType="num">
                                      <p:cBhvr additive="base">
                                        <p:cTn id="47" dur="500"/>
                                        <p:tgtEl>
                                          <p:spTgt spid="379911">
                                            <p:txEl>
                                              <p:pRg st="9" end="9"/>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799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11" grpId="0" build="p" bldLvl="2"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05B177EC-49A6-495C-986D-6F02145C675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5" name="Rectangle 3">
            <a:extLst>
              <a:ext uri="{FF2B5EF4-FFF2-40B4-BE49-F238E27FC236}">
                <a16:creationId xmlns:a16="http://schemas.microsoft.com/office/drawing/2014/main" id="{88514432-4AF2-4111-B2F4-F16141ED9218}"/>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6" name="Rectangle 4">
            <a:extLst>
              <a:ext uri="{FF2B5EF4-FFF2-40B4-BE49-F238E27FC236}">
                <a16:creationId xmlns:a16="http://schemas.microsoft.com/office/drawing/2014/main" id="{AA993CBF-C404-4D39-AE43-D49D377D27B8}"/>
              </a:ext>
            </a:extLst>
          </p:cNvPr>
          <p:cNvSpPr>
            <a:spLocks noGrp="1"/>
          </p:cNvSpPr>
          <p:nvPr>
            <p:ph type="title"/>
          </p:nvPr>
        </p:nvSpPr>
        <p:spPr>
          <a:xfrm>
            <a:off x="429262" y="314006"/>
            <a:ext cx="10515600" cy="908198"/>
          </a:xfrm>
        </p:spPr>
        <p:txBody>
          <a:bodyPr/>
          <a:lstStyle/>
          <a:p>
            <a:r>
              <a:rPr lang="en-GB" altLang="en-US">
                <a:latin typeface="Calibri" panose="020F0502020204030204" pitchFamily="34" charset="0"/>
                <a:cs typeface="Calibri" panose="020F0502020204030204" pitchFamily="34" charset="0"/>
              </a:rPr>
              <a:t>Production in the Long run</a:t>
            </a:r>
          </a:p>
        </p:txBody>
      </p:sp>
      <p:sp>
        <p:nvSpPr>
          <p:cNvPr id="381957" name="Rectangle 5">
            <a:extLst>
              <a:ext uri="{FF2B5EF4-FFF2-40B4-BE49-F238E27FC236}">
                <a16:creationId xmlns:a16="http://schemas.microsoft.com/office/drawing/2014/main" id="{AB8F0522-068C-4A97-AB00-76952D28FB1A}"/>
              </a:ext>
            </a:extLst>
          </p:cNvPr>
          <p:cNvSpPr>
            <a:spLocks noGrp="1"/>
          </p:cNvSpPr>
          <p:nvPr>
            <p:ph idx="1"/>
          </p:nvPr>
        </p:nvSpPr>
        <p:spPr>
          <a:xfrm>
            <a:off x="402167" y="1318940"/>
            <a:ext cx="11379200" cy="4889500"/>
          </a:xfrm>
        </p:spPr>
        <p:txBody>
          <a:bodyPr/>
          <a:lstStyle/>
          <a:p>
            <a:pPr marL="0" indent="0">
              <a:spcBef>
                <a:spcPct val="100000"/>
              </a:spcBef>
              <a:buNone/>
            </a:pPr>
            <a:r>
              <a:rPr lang="en-GB" altLang="en-US" sz="2000" b="1">
                <a:latin typeface="Calibri" panose="020F0502020204030204" pitchFamily="34" charset="0"/>
                <a:cs typeface="Calibri" panose="020F0502020204030204" pitchFamily="34" charset="0"/>
              </a:rPr>
              <a:t>All </a:t>
            </a:r>
            <a:r>
              <a:rPr lang="en-GB" altLang="en-US" sz="2000">
                <a:latin typeface="Calibri" panose="020F0502020204030204" pitchFamily="34" charset="0"/>
                <a:cs typeface="Calibri" panose="020F0502020204030204" pitchFamily="34" charset="0"/>
              </a:rPr>
              <a:t>factors of production are </a:t>
            </a:r>
            <a:r>
              <a:rPr lang="en-GB" altLang="en-US" sz="2000" b="1">
                <a:latin typeface="Calibri" panose="020F0502020204030204" pitchFamily="34" charset="0"/>
                <a:cs typeface="Calibri" panose="020F0502020204030204" pitchFamily="34" charset="0"/>
              </a:rPr>
              <a:t>variable</a:t>
            </a:r>
            <a:r>
              <a:rPr lang="en-GB" altLang="en-US" sz="2000">
                <a:latin typeface="Calibri" panose="020F0502020204030204" pitchFamily="34" charset="0"/>
                <a:cs typeface="Calibri" panose="020F0502020204030204" pitchFamily="34" charset="0"/>
              </a:rPr>
              <a:t> in the </a:t>
            </a:r>
            <a:r>
              <a:rPr lang="en-GB" altLang="en-US" sz="2000" b="1">
                <a:latin typeface="Calibri" panose="020F0502020204030204" pitchFamily="34" charset="0"/>
                <a:cs typeface="Calibri" panose="020F0502020204030204" pitchFamily="34" charset="0"/>
              </a:rPr>
              <a:t>long run </a:t>
            </a:r>
            <a:r>
              <a:rPr lang="en-GB" altLang="en-US" sz="2000">
                <a:latin typeface="Calibri" panose="020F0502020204030204" pitchFamily="34" charset="0"/>
                <a:cs typeface="Calibri" panose="020F0502020204030204" pitchFamily="34" charset="0"/>
              </a:rPr>
              <a:t>- there is time for the firm to build a new factory, to install new machines, to use different techniques of production, etc.</a:t>
            </a:r>
          </a:p>
          <a:p>
            <a:pPr marL="0" indent="0">
              <a:spcBef>
                <a:spcPct val="100000"/>
              </a:spcBef>
              <a:buNone/>
            </a:pPr>
            <a:r>
              <a:rPr lang="en-GB" altLang="en-US" sz="2000">
                <a:latin typeface="Calibri" panose="020F0502020204030204" pitchFamily="34" charset="0"/>
                <a:cs typeface="Calibri" panose="020F0502020204030204" pitchFamily="34" charset="0"/>
              </a:rPr>
              <a:t>If a firm were to double all its inputs – something it could do only in the long run – would this cause its output to double? That depends on the returns to scale:</a:t>
            </a:r>
          </a:p>
          <a:p>
            <a:pPr lvl="1">
              <a:spcBef>
                <a:spcPct val="100000"/>
              </a:spcBef>
            </a:pPr>
            <a:r>
              <a:rPr lang="en-GB" altLang="en-US" sz="1900" b="1">
                <a:latin typeface="Calibri" panose="020F0502020204030204" pitchFamily="34" charset="0"/>
                <a:cs typeface="Calibri" panose="020F0502020204030204" pitchFamily="34" charset="0"/>
              </a:rPr>
              <a:t>Constant returns to scale </a:t>
            </a:r>
            <a:r>
              <a:rPr lang="en-GB" altLang="en-US" sz="1900">
                <a:latin typeface="Calibri" panose="020F0502020204030204" pitchFamily="34" charset="0"/>
                <a:cs typeface="Calibri" panose="020F0502020204030204" pitchFamily="34" charset="0"/>
              </a:rPr>
              <a:t>– a given percentage increase in inputs leads to the same percentage increase in output</a:t>
            </a:r>
          </a:p>
          <a:p>
            <a:pPr lvl="1">
              <a:spcBef>
                <a:spcPct val="100000"/>
              </a:spcBef>
            </a:pPr>
            <a:r>
              <a:rPr lang="en-GB" altLang="en-US" sz="1900" b="1">
                <a:latin typeface="Calibri" panose="020F0502020204030204" pitchFamily="34" charset="0"/>
                <a:cs typeface="Calibri" panose="020F0502020204030204" pitchFamily="34" charset="0"/>
              </a:rPr>
              <a:t>Increasing returns to scale </a:t>
            </a:r>
            <a:r>
              <a:rPr lang="en-GB" altLang="en-US" sz="1900">
                <a:latin typeface="Calibri" panose="020F0502020204030204" pitchFamily="34" charset="0"/>
                <a:cs typeface="Calibri" panose="020F0502020204030204" pitchFamily="34" charset="0"/>
              </a:rPr>
              <a:t>– a given percentage increase in inputs leads to a larger percentage increase in output</a:t>
            </a:r>
          </a:p>
          <a:p>
            <a:pPr lvl="1">
              <a:spcBef>
                <a:spcPct val="100000"/>
              </a:spcBef>
            </a:pPr>
            <a:r>
              <a:rPr lang="en-GB" altLang="en-US" sz="1900" b="1">
                <a:latin typeface="Calibri" panose="020F0502020204030204" pitchFamily="34" charset="0"/>
                <a:cs typeface="Calibri" panose="020F0502020204030204" pitchFamily="34" charset="0"/>
              </a:rPr>
              <a:t>Decreasing returns to scale</a:t>
            </a:r>
            <a:r>
              <a:rPr lang="en-GB" altLang="en-US" sz="1900">
                <a:latin typeface="Calibri" panose="020F0502020204030204" pitchFamily="34" charset="0"/>
                <a:cs typeface="Calibri" panose="020F0502020204030204" pitchFamily="34" charset="0"/>
              </a:rPr>
              <a:t> – a given percentage of inputs leads to a smaller percentage increase in output</a:t>
            </a:r>
          </a:p>
          <a:p>
            <a:pPr>
              <a:spcBef>
                <a:spcPct val="100000"/>
              </a:spcBef>
            </a:pPr>
            <a:r>
              <a:rPr lang="en-GB" altLang="en-US" sz="2000">
                <a:latin typeface="Calibri" panose="020F0502020204030204" pitchFamily="34" charset="0"/>
                <a:cs typeface="Calibri" panose="020F0502020204030204" pitchFamily="34" charset="0"/>
              </a:rPr>
              <a:t>‘To scale’ means that </a:t>
            </a:r>
            <a:r>
              <a:rPr lang="en-GB" altLang="en-US" sz="2000" b="1">
                <a:latin typeface="Calibri" panose="020F0502020204030204" pitchFamily="34" charset="0"/>
                <a:cs typeface="Calibri" panose="020F0502020204030204" pitchFamily="34" charset="0"/>
              </a:rPr>
              <a:t>all </a:t>
            </a:r>
            <a:r>
              <a:rPr lang="en-GB" altLang="en-US" sz="2000">
                <a:latin typeface="Calibri" panose="020F0502020204030204" pitchFamily="34" charset="0"/>
                <a:cs typeface="Calibri" panose="020F0502020204030204" pitchFamily="34" charset="0"/>
              </a:rPr>
              <a:t>inputs increase by the same proportion. Decreasing returns to </a:t>
            </a:r>
            <a:r>
              <a:rPr lang="en-GB" altLang="en-US" sz="2000" i="1">
                <a:latin typeface="Calibri" panose="020F0502020204030204" pitchFamily="34" charset="0"/>
                <a:cs typeface="Calibri" panose="020F0502020204030204" pitchFamily="34" charset="0"/>
              </a:rPr>
              <a:t>scale</a:t>
            </a:r>
            <a:r>
              <a:rPr lang="en-GB" altLang="en-US" sz="2000">
                <a:latin typeface="Calibri" panose="020F0502020204030204" pitchFamily="34" charset="0"/>
                <a:cs typeface="Calibri" panose="020F0502020204030204" pitchFamily="34" charset="0"/>
              </a:rPr>
              <a:t> are, therefore, quite different from </a:t>
            </a:r>
            <a:r>
              <a:rPr lang="en-GB" altLang="en-US" sz="2000" i="1">
                <a:latin typeface="Calibri" panose="020F0502020204030204" pitchFamily="34" charset="0"/>
                <a:cs typeface="Calibri" panose="020F0502020204030204" pitchFamily="34" charset="0"/>
              </a:rPr>
              <a:t>diminishing</a:t>
            </a:r>
            <a:r>
              <a:rPr lang="en-GB" altLang="en-US" sz="2000">
                <a:latin typeface="Calibri" panose="020F0502020204030204" pitchFamily="34" charset="0"/>
                <a:cs typeface="Calibri" panose="020F0502020204030204" pitchFamily="34" charset="0"/>
              </a:rPr>
              <a:t> </a:t>
            </a:r>
            <a:r>
              <a:rPr lang="en-GB" altLang="en-US" sz="2000" i="1">
                <a:latin typeface="Calibri" panose="020F0502020204030204" pitchFamily="34" charset="0"/>
                <a:cs typeface="Calibri" panose="020F0502020204030204" pitchFamily="34" charset="0"/>
              </a:rPr>
              <a:t>marginal returns </a:t>
            </a:r>
            <a:r>
              <a:rPr lang="en-GB" altLang="en-US" sz="2000">
                <a:latin typeface="Calibri" panose="020F0502020204030204" pitchFamily="34" charset="0"/>
                <a:cs typeface="Calibri" panose="020F0502020204030204" pitchFamily="34" charset="0"/>
              </a:rPr>
              <a:t>(where only the </a:t>
            </a:r>
            <a:r>
              <a:rPr lang="en-GB" altLang="en-US" sz="2000" i="1">
                <a:latin typeface="Calibri" panose="020F0502020204030204" pitchFamily="34" charset="0"/>
                <a:cs typeface="Calibri" panose="020F0502020204030204" pitchFamily="34" charset="0"/>
              </a:rPr>
              <a:t>variable</a:t>
            </a:r>
            <a:r>
              <a:rPr lang="en-GB" altLang="en-US" sz="2000">
                <a:latin typeface="Calibri" panose="020F0502020204030204" pitchFamily="34" charset="0"/>
                <a:cs typeface="Calibri" panose="020F0502020204030204" pitchFamily="34" charset="0"/>
              </a:rPr>
              <a:t> factor increases)</a:t>
            </a:r>
          </a:p>
        </p:txBody>
      </p:sp>
    </p:spTree>
    <p:extLst>
      <p:ext uri="{BB962C8B-B14F-4D97-AF65-F5344CB8AC3E}">
        <p14:creationId xmlns:p14="http://schemas.microsoft.com/office/powerpoint/2010/main" val="339560868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1957">
                                            <p:txEl>
                                              <p:pRg st="0" end="0"/>
                                            </p:txEl>
                                          </p:spTgt>
                                        </p:tgtEl>
                                        <p:attrNameLst>
                                          <p:attrName>style.visibility</p:attrName>
                                        </p:attrNameLst>
                                      </p:cBhvr>
                                      <p:to>
                                        <p:strVal val="visible"/>
                                      </p:to>
                                    </p:set>
                                    <p:anim calcmode="lin" valueType="num">
                                      <p:cBhvr additive="base">
                                        <p:cTn id="7" dur="500"/>
                                        <p:tgtEl>
                                          <p:spTgt spid="38195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195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1957">
                                            <p:txEl>
                                              <p:pRg st="1" end="1"/>
                                            </p:txEl>
                                          </p:spTgt>
                                        </p:tgtEl>
                                        <p:attrNameLst>
                                          <p:attrName>style.visibility</p:attrName>
                                        </p:attrNameLst>
                                      </p:cBhvr>
                                      <p:to>
                                        <p:strVal val="visible"/>
                                      </p:to>
                                    </p:set>
                                    <p:anim calcmode="lin" valueType="num">
                                      <p:cBhvr additive="base">
                                        <p:cTn id="13" dur="500"/>
                                        <p:tgtEl>
                                          <p:spTgt spid="38195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195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1957">
                                            <p:txEl>
                                              <p:pRg st="2" end="2"/>
                                            </p:txEl>
                                          </p:spTgt>
                                        </p:tgtEl>
                                        <p:attrNameLst>
                                          <p:attrName>style.visibility</p:attrName>
                                        </p:attrNameLst>
                                      </p:cBhvr>
                                      <p:to>
                                        <p:strVal val="visible"/>
                                      </p:to>
                                    </p:set>
                                    <p:anim calcmode="lin" valueType="num">
                                      <p:cBhvr additive="base">
                                        <p:cTn id="19" dur="500"/>
                                        <p:tgtEl>
                                          <p:spTgt spid="38195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195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1957">
                                            <p:txEl>
                                              <p:pRg st="3" end="3"/>
                                            </p:txEl>
                                          </p:spTgt>
                                        </p:tgtEl>
                                        <p:attrNameLst>
                                          <p:attrName>style.visibility</p:attrName>
                                        </p:attrNameLst>
                                      </p:cBhvr>
                                      <p:to>
                                        <p:strVal val="visible"/>
                                      </p:to>
                                    </p:set>
                                    <p:anim calcmode="lin" valueType="num">
                                      <p:cBhvr additive="base">
                                        <p:cTn id="25" dur="500"/>
                                        <p:tgtEl>
                                          <p:spTgt spid="38195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195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1957">
                                            <p:txEl>
                                              <p:pRg st="4" end="4"/>
                                            </p:txEl>
                                          </p:spTgt>
                                        </p:tgtEl>
                                        <p:attrNameLst>
                                          <p:attrName>style.visibility</p:attrName>
                                        </p:attrNameLst>
                                      </p:cBhvr>
                                      <p:to>
                                        <p:strVal val="visible"/>
                                      </p:to>
                                    </p:set>
                                    <p:anim calcmode="lin" valueType="num">
                                      <p:cBhvr additive="base">
                                        <p:cTn id="31" dur="500"/>
                                        <p:tgtEl>
                                          <p:spTgt spid="38195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195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1957">
                                            <p:txEl>
                                              <p:pRg st="5" end="5"/>
                                            </p:txEl>
                                          </p:spTgt>
                                        </p:tgtEl>
                                        <p:attrNameLst>
                                          <p:attrName>style.visibility</p:attrName>
                                        </p:attrNameLst>
                                      </p:cBhvr>
                                      <p:to>
                                        <p:strVal val="visible"/>
                                      </p:to>
                                    </p:set>
                                    <p:anim calcmode="lin" valueType="num">
                                      <p:cBhvr additive="base">
                                        <p:cTn id="37" dur="500"/>
                                        <p:tgtEl>
                                          <p:spTgt spid="38195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195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7" grpId="0" build="p" bldLvl="3"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4FD61AF4-35BC-40DE-866C-468F13D2E76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3" name="Rectangle 3">
            <a:extLst>
              <a:ext uri="{FF2B5EF4-FFF2-40B4-BE49-F238E27FC236}">
                <a16:creationId xmlns:a16="http://schemas.microsoft.com/office/drawing/2014/main" id="{61D293B7-B437-40B8-B4A7-4F650AFD128A}"/>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6" name="Rectangle 6">
            <a:extLst>
              <a:ext uri="{FF2B5EF4-FFF2-40B4-BE49-F238E27FC236}">
                <a16:creationId xmlns:a16="http://schemas.microsoft.com/office/drawing/2014/main" id="{4CE732AF-A209-46F6-B9FC-217EFE7ABE6E}"/>
              </a:ext>
            </a:extLst>
          </p:cNvPr>
          <p:cNvSpPr>
            <a:spLocks noGrp="1"/>
          </p:cNvSpPr>
          <p:nvPr>
            <p:ph type="title"/>
          </p:nvPr>
        </p:nvSpPr>
        <p:spPr>
          <a:xfrm>
            <a:off x="616693" y="365126"/>
            <a:ext cx="10515600" cy="908198"/>
          </a:xfrm>
        </p:spPr>
        <p:txBody>
          <a:bodyPr/>
          <a:lstStyle/>
          <a:p>
            <a:r>
              <a:rPr lang="en-GB" altLang="en-US">
                <a:latin typeface="Calibri" panose="020F0502020204030204" pitchFamily="34" charset="0"/>
                <a:cs typeface="Calibri" panose="020F0502020204030204" pitchFamily="34" charset="0"/>
              </a:rPr>
              <a:t>Production in the Long run</a:t>
            </a:r>
          </a:p>
        </p:txBody>
      </p:sp>
      <p:sp>
        <p:nvSpPr>
          <p:cNvPr id="384007" name="Rectangle 7">
            <a:extLst>
              <a:ext uri="{FF2B5EF4-FFF2-40B4-BE49-F238E27FC236}">
                <a16:creationId xmlns:a16="http://schemas.microsoft.com/office/drawing/2014/main" id="{E2212B8F-B9D5-43A1-8EEF-B391312F02AA}"/>
              </a:ext>
            </a:extLst>
          </p:cNvPr>
          <p:cNvSpPr>
            <a:spLocks noGrp="1"/>
          </p:cNvSpPr>
          <p:nvPr>
            <p:ph idx="1"/>
          </p:nvPr>
        </p:nvSpPr>
        <p:spPr>
          <a:xfrm>
            <a:off x="698579" y="1428307"/>
            <a:ext cx="11082788" cy="4889500"/>
          </a:xfrm>
        </p:spPr>
        <p:txBody>
          <a:bodyPr/>
          <a:lstStyle/>
          <a:p>
            <a:pPr marL="0" indent="0">
              <a:spcBef>
                <a:spcPct val="25000"/>
              </a:spcBef>
              <a:buNone/>
            </a:pPr>
            <a:r>
              <a:rPr lang="en-GB" altLang="en-US" sz="2000" b="1">
                <a:latin typeface="Calibri" panose="020F0502020204030204" pitchFamily="34" charset="0"/>
                <a:cs typeface="Calibri" panose="020F0502020204030204" pitchFamily="34" charset="0"/>
              </a:rPr>
              <a:t>Economies of scale</a:t>
            </a:r>
          </a:p>
          <a:p>
            <a:pPr marL="0" indent="0">
              <a:spcBef>
                <a:spcPct val="25000"/>
              </a:spcBef>
              <a:buNone/>
            </a:pPr>
            <a:endParaRPr lang="en-GB" altLang="en-US" sz="2000">
              <a:latin typeface="Calibri" panose="020F0502020204030204" pitchFamily="34" charset="0"/>
              <a:cs typeface="Calibri" panose="020F0502020204030204" pitchFamily="34" charset="0"/>
            </a:endParaRPr>
          </a:p>
          <a:p>
            <a:pPr lvl="1">
              <a:spcBef>
                <a:spcPct val="25000"/>
              </a:spcBef>
            </a:pPr>
            <a:r>
              <a:rPr lang="en-GB" altLang="en-US">
                <a:latin typeface="Calibri" panose="020F0502020204030204" pitchFamily="34" charset="0"/>
                <a:cs typeface="Calibri" panose="020F0502020204030204" pitchFamily="34" charset="0"/>
              </a:rPr>
              <a:t>The concept of increasing returns to scale is closely linked to that of economies of scale.</a:t>
            </a:r>
          </a:p>
          <a:p>
            <a:pPr marL="457200" lvl="1" indent="0">
              <a:spcBef>
                <a:spcPct val="25000"/>
              </a:spcBef>
              <a:buNone/>
            </a:pPr>
            <a:endParaRPr lang="en-GB" altLang="en-US">
              <a:latin typeface="Calibri" panose="020F0502020204030204" pitchFamily="34" charset="0"/>
              <a:cs typeface="Calibri" panose="020F0502020204030204" pitchFamily="34" charset="0"/>
            </a:endParaRPr>
          </a:p>
          <a:p>
            <a:pPr lvl="1">
              <a:spcBef>
                <a:spcPct val="25000"/>
              </a:spcBef>
            </a:pPr>
            <a:r>
              <a:rPr lang="en-GB" altLang="en-US">
                <a:latin typeface="Calibri" panose="020F0502020204030204" pitchFamily="34" charset="0"/>
                <a:cs typeface="Calibri" panose="020F0502020204030204" pitchFamily="34" charset="0"/>
              </a:rPr>
              <a:t>A firm experiences economies of scale if costs per unit of output fall as the scale of production increases.</a:t>
            </a:r>
          </a:p>
          <a:p>
            <a:pPr lvl="1">
              <a:spcBef>
                <a:spcPct val="25000"/>
              </a:spcBef>
            </a:pPr>
            <a:endParaRPr lang="en-GB" altLang="en-US">
              <a:latin typeface="Calibri" panose="020F0502020204030204" pitchFamily="34" charset="0"/>
              <a:cs typeface="Calibri" panose="020F0502020204030204" pitchFamily="34" charset="0"/>
            </a:endParaRPr>
          </a:p>
          <a:p>
            <a:pPr lvl="1">
              <a:spcBef>
                <a:spcPct val="25000"/>
              </a:spcBef>
            </a:pPr>
            <a:r>
              <a:rPr lang="en-GB" altLang="en-US">
                <a:latin typeface="Calibri" panose="020F0502020204030204" pitchFamily="34" charset="0"/>
                <a:cs typeface="Calibri" panose="020F0502020204030204" pitchFamily="34" charset="0"/>
                <a:hlinkClick r:id="rId3"/>
              </a:rPr>
              <a:t>https://www.youtube.com/watch?v=B5ka9OE6cvU</a:t>
            </a:r>
            <a:endParaRPr lang="en-GB" altLang="en-US">
              <a:latin typeface="Calibri" panose="020F0502020204030204" pitchFamily="34" charset="0"/>
              <a:cs typeface="Calibri" panose="020F0502020204030204" pitchFamily="34" charset="0"/>
            </a:endParaRPr>
          </a:p>
          <a:p>
            <a:pPr marL="457200" lvl="1" indent="0">
              <a:spcBef>
                <a:spcPct val="25000"/>
              </a:spcBef>
              <a:buNone/>
            </a:pPr>
            <a:endParaRPr lang="en-GB" altLang="en-US" sz="22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7603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7">
                                            <p:txEl>
                                              <p:pRg st="0" end="0"/>
                                            </p:txEl>
                                          </p:spTgt>
                                        </p:tgtEl>
                                        <p:attrNameLst>
                                          <p:attrName>style.visibility</p:attrName>
                                        </p:attrNameLst>
                                      </p:cBhvr>
                                      <p:to>
                                        <p:strVal val="visible"/>
                                      </p:to>
                                    </p:set>
                                    <p:anim calcmode="lin" valueType="num">
                                      <p:cBhvr additive="base">
                                        <p:cTn id="7" dur="500"/>
                                        <p:tgtEl>
                                          <p:spTgt spid="38400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7">
                                            <p:txEl>
                                              <p:pRg st="2" end="2"/>
                                            </p:txEl>
                                          </p:spTgt>
                                        </p:tgtEl>
                                        <p:attrNameLst>
                                          <p:attrName>style.visibility</p:attrName>
                                        </p:attrNameLst>
                                      </p:cBhvr>
                                      <p:to>
                                        <p:strVal val="visible"/>
                                      </p:to>
                                    </p:set>
                                    <p:anim calcmode="lin" valueType="num">
                                      <p:cBhvr additive="base">
                                        <p:cTn id="13" dur="500"/>
                                        <p:tgtEl>
                                          <p:spTgt spid="38400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7">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7">
                                            <p:txEl>
                                              <p:pRg st="4" end="4"/>
                                            </p:txEl>
                                          </p:spTgt>
                                        </p:tgtEl>
                                        <p:attrNameLst>
                                          <p:attrName>style.visibility</p:attrName>
                                        </p:attrNameLst>
                                      </p:cBhvr>
                                      <p:to>
                                        <p:strVal val="visible"/>
                                      </p:to>
                                    </p:set>
                                    <p:anim calcmode="lin" valueType="num">
                                      <p:cBhvr additive="base">
                                        <p:cTn id="19" dur="500"/>
                                        <p:tgtEl>
                                          <p:spTgt spid="384007">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7">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7">
                                            <p:txEl>
                                              <p:pRg st="6" end="6"/>
                                            </p:txEl>
                                          </p:spTgt>
                                        </p:tgtEl>
                                        <p:attrNameLst>
                                          <p:attrName>style.visibility</p:attrName>
                                        </p:attrNameLst>
                                      </p:cBhvr>
                                      <p:to>
                                        <p:strVal val="visible"/>
                                      </p:to>
                                    </p:set>
                                    <p:anim calcmode="lin" valueType="num">
                                      <p:cBhvr additive="base">
                                        <p:cTn id="25" dur="500"/>
                                        <p:tgtEl>
                                          <p:spTgt spid="384007">
                                            <p:txEl>
                                              <p:pRg st="6" end="6"/>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7" grpId="0"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4FD61AF4-35BC-40DE-866C-468F13D2E76B}"/>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3" name="Rectangle 3">
            <a:extLst>
              <a:ext uri="{FF2B5EF4-FFF2-40B4-BE49-F238E27FC236}">
                <a16:creationId xmlns:a16="http://schemas.microsoft.com/office/drawing/2014/main" id="{61D293B7-B437-40B8-B4A7-4F650AFD128A}"/>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4006" name="Rectangle 6">
            <a:extLst>
              <a:ext uri="{FF2B5EF4-FFF2-40B4-BE49-F238E27FC236}">
                <a16:creationId xmlns:a16="http://schemas.microsoft.com/office/drawing/2014/main" id="{4CE732AF-A209-46F6-B9FC-217EFE7ABE6E}"/>
              </a:ext>
            </a:extLst>
          </p:cNvPr>
          <p:cNvSpPr>
            <a:spLocks noGrp="1"/>
          </p:cNvSpPr>
          <p:nvPr>
            <p:ph type="title"/>
          </p:nvPr>
        </p:nvSpPr>
        <p:spPr>
          <a:xfrm>
            <a:off x="548538" y="183374"/>
            <a:ext cx="10515600" cy="908198"/>
          </a:xfrm>
        </p:spPr>
        <p:txBody>
          <a:bodyPr>
            <a:normAutofit/>
          </a:bodyPr>
          <a:lstStyle/>
          <a:p>
            <a:r>
              <a:rPr lang="en-GB" altLang="en-US" sz="3200">
                <a:solidFill>
                  <a:schemeClr val="tx1"/>
                </a:solidFill>
                <a:latin typeface="Calibri" panose="020F0502020204030204" pitchFamily="34" charset="0"/>
                <a:cs typeface="Calibri" panose="020F0502020204030204" pitchFamily="34" charset="0"/>
              </a:rPr>
              <a:t>Production in the Long run – Reasons for Economies of Scale</a:t>
            </a:r>
          </a:p>
        </p:txBody>
      </p:sp>
      <p:sp>
        <p:nvSpPr>
          <p:cNvPr id="384007" name="Rectangle 7">
            <a:extLst>
              <a:ext uri="{FF2B5EF4-FFF2-40B4-BE49-F238E27FC236}">
                <a16:creationId xmlns:a16="http://schemas.microsoft.com/office/drawing/2014/main" id="{E2212B8F-B9D5-43A1-8EEF-B391312F02AA}"/>
              </a:ext>
            </a:extLst>
          </p:cNvPr>
          <p:cNvSpPr>
            <a:spLocks noGrp="1"/>
          </p:cNvSpPr>
          <p:nvPr>
            <p:ph idx="1"/>
          </p:nvPr>
        </p:nvSpPr>
        <p:spPr>
          <a:xfrm>
            <a:off x="89691" y="1152549"/>
            <a:ext cx="11740216" cy="4945910"/>
          </a:xfrm>
        </p:spPr>
        <p:txBody>
          <a:bodyPr>
            <a:normAutofit/>
          </a:bodyPr>
          <a:lstStyle/>
          <a:p>
            <a:pPr lvl="1">
              <a:lnSpc>
                <a:spcPct val="100000"/>
              </a:lnSpc>
              <a:spcBef>
                <a:spcPts val="1200"/>
              </a:spcBef>
            </a:pPr>
            <a:r>
              <a:rPr lang="en-GB" altLang="en-US" sz="1900" b="1">
                <a:latin typeface="Calibri" panose="020F0502020204030204" pitchFamily="34" charset="0"/>
                <a:cs typeface="Calibri" panose="020F0502020204030204" pitchFamily="34" charset="0"/>
              </a:rPr>
              <a:t>Specialisation and division of labour </a:t>
            </a:r>
            <a:r>
              <a:rPr lang="en-GB" altLang="en-US" sz="1900">
                <a:latin typeface="Calibri" panose="020F0502020204030204" pitchFamily="34" charset="0"/>
                <a:cs typeface="Calibri" panose="020F0502020204030204" pitchFamily="34" charset="0"/>
              </a:rPr>
              <a:t>– simple, repetitive jobs allow for greater efficiency</a:t>
            </a:r>
          </a:p>
          <a:p>
            <a:pPr lvl="1">
              <a:lnSpc>
                <a:spcPct val="100000"/>
              </a:lnSpc>
              <a:spcBef>
                <a:spcPts val="1200"/>
              </a:spcBef>
            </a:pPr>
            <a:r>
              <a:rPr lang="en-GB" altLang="en-US" sz="1900" b="1">
                <a:latin typeface="Calibri" panose="020F0502020204030204" pitchFamily="34" charset="0"/>
                <a:cs typeface="Calibri" panose="020F0502020204030204" pitchFamily="34" charset="0"/>
              </a:rPr>
              <a:t>Indivisibilities</a:t>
            </a:r>
            <a:r>
              <a:rPr lang="en-GB" altLang="en-US" sz="1900">
                <a:latin typeface="Calibri" panose="020F0502020204030204" pitchFamily="34" charset="0"/>
                <a:cs typeface="Calibri" panose="020F0502020204030204" pitchFamily="34" charset="0"/>
              </a:rPr>
              <a:t> – some inputs, like machinery, are of a minimum size for e.g., a combine harvester</a:t>
            </a:r>
          </a:p>
          <a:p>
            <a:pPr lvl="1">
              <a:lnSpc>
                <a:spcPct val="100000"/>
              </a:lnSpc>
              <a:spcBef>
                <a:spcPts val="1200"/>
              </a:spcBef>
            </a:pPr>
            <a:r>
              <a:rPr lang="en-GB" altLang="en-US" sz="1900" b="1">
                <a:latin typeface="Calibri" panose="020F0502020204030204" pitchFamily="34" charset="0"/>
                <a:cs typeface="Calibri" panose="020F0502020204030204" pitchFamily="34" charset="0"/>
              </a:rPr>
              <a:t>Container principle </a:t>
            </a:r>
            <a:r>
              <a:rPr lang="en-GB" altLang="en-US" sz="1900">
                <a:latin typeface="Calibri" panose="020F0502020204030204" pitchFamily="34" charset="0"/>
                <a:cs typeface="Calibri" panose="020F0502020204030204" pitchFamily="34" charset="0"/>
              </a:rPr>
              <a:t>– any capital equipment that contains things will tend to cost less per unit of output, the larger its size (due to the relationship between a container’s volume and surface area)</a:t>
            </a:r>
          </a:p>
          <a:p>
            <a:pPr lvl="1">
              <a:lnSpc>
                <a:spcPct val="100000"/>
              </a:lnSpc>
              <a:spcBef>
                <a:spcPts val="1200"/>
              </a:spcBef>
            </a:pPr>
            <a:r>
              <a:rPr lang="en-GB" altLang="en-US" sz="1900" b="1">
                <a:latin typeface="Calibri" panose="020F0502020204030204" pitchFamily="34" charset="0"/>
                <a:cs typeface="Calibri" panose="020F0502020204030204" pitchFamily="34" charset="0"/>
              </a:rPr>
              <a:t>Greater efficiency of large machines </a:t>
            </a:r>
            <a:r>
              <a:rPr lang="en-GB" altLang="en-US" sz="1900">
                <a:latin typeface="Calibri" panose="020F0502020204030204" pitchFamily="34" charset="0"/>
                <a:cs typeface="Calibri" panose="020F0502020204030204" pitchFamily="34" charset="0"/>
              </a:rPr>
              <a:t>– for e.g., whether a machine is large or small, only one worker may be required to operate it</a:t>
            </a:r>
          </a:p>
          <a:p>
            <a:pPr lvl="1">
              <a:lnSpc>
                <a:spcPct val="100000"/>
              </a:lnSpc>
              <a:spcBef>
                <a:spcPts val="1200"/>
              </a:spcBef>
            </a:pPr>
            <a:r>
              <a:rPr lang="en-GB" altLang="en-US" sz="1900" b="1">
                <a:latin typeface="Calibri" panose="020F0502020204030204" pitchFamily="34" charset="0"/>
                <a:cs typeface="Calibri" panose="020F0502020204030204" pitchFamily="34" charset="0"/>
              </a:rPr>
              <a:t>By-products</a:t>
            </a:r>
            <a:r>
              <a:rPr lang="en-GB" altLang="en-US" sz="1900">
                <a:latin typeface="Calibri" panose="020F0502020204030204" pitchFamily="34" charset="0"/>
                <a:cs typeface="Calibri" panose="020F0502020204030204" pitchFamily="34" charset="0"/>
              </a:rPr>
              <a:t> – there may be sufficient waste products to enable them to make some by-product</a:t>
            </a:r>
          </a:p>
          <a:p>
            <a:pPr lvl="1">
              <a:lnSpc>
                <a:spcPct val="100000"/>
              </a:lnSpc>
              <a:spcBef>
                <a:spcPts val="1200"/>
              </a:spcBef>
            </a:pPr>
            <a:r>
              <a:rPr lang="en-GB" altLang="en-US" sz="1900" b="1">
                <a:latin typeface="Calibri" panose="020F0502020204030204" pitchFamily="34" charset="0"/>
                <a:cs typeface="Calibri" panose="020F0502020204030204" pitchFamily="34" charset="0"/>
              </a:rPr>
              <a:t>Multi-stage production</a:t>
            </a:r>
            <a:r>
              <a:rPr lang="en-GB" altLang="en-US" sz="1900">
                <a:latin typeface="Calibri" panose="020F0502020204030204" pitchFamily="34" charset="0"/>
                <a:cs typeface="Calibri" panose="020F0502020204030204" pitchFamily="34" charset="0"/>
              </a:rPr>
              <a:t> – a large factory may be able to take a product through several stages of manufacture</a:t>
            </a:r>
            <a:endParaRPr lang="en-GB" altLang="en-US" sz="1900" b="1">
              <a:latin typeface="Calibri" panose="020F0502020204030204" pitchFamily="34" charset="0"/>
              <a:cs typeface="Calibri" panose="020F0502020204030204" pitchFamily="34" charset="0"/>
            </a:endParaRPr>
          </a:p>
          <a:p>
            <a:pPr lvl="1">
              <a:lnSpc>
                <a:spcPct val="100000"/>
              </a:lnSpc>
              <a:spcBef>
                <a:spcPts val="1200"/>
              </a:spcBef>
            </a:pPr>
            <a:r>
              <a:rPr lang="en-GB" altLang="en-US" sz="1900" b="1">
                <a:latin typeface="Calibri" panose="020F0502020204030204" pitchFamily="34" charset="0"/>
                <a:cs typeface="Calibri" panose="020F0502020204030204" pitchFamily="34" charset="0"/>
              </a:rPr>
              <a:t>Organisational and administrative economies </a:t>
            </a:r>
            <a:r>
              <a:rPr lang="en-GB" altLang="en-US" sz="1900">
                <a:latin typeface="Calibri" panose="020F0502020204030204" pitchFamily="34" charset="0"/>
                <a:cs typeface="Calibri" panose="020F0502020204030204" pitchFamily="34" charset="0"/>
              </a:rPr>
              <a:t>– for e.g., centralised administration</a:t>
            </a:r>
            <a:endParaRPr lang="en-GB" altLang="en-US" sz="1900" b="1">
              <a:latin typeface="Calibri" panose="020F0502020204030204" pitchFamily="34" charset="0"/>
              <a:cs typeface="Calibri" panose="020F0502020204030204" pitchFamily="34" charset="0"/>
            </a:endParaRPr>
          </a:p>
          <a:p>
            <a:pPr lvl="1">
              <a:lnSpc>
                <a:spcPct val="100000"/>
              </a:lnSpc>
              <a:spcBef>
                <a:spcPts val="1200"/>
              </a:spcBef>
            </a:pPr>
            <a:r>
              <a:rPr lang="en-GB" altLang="en-US" sz="1900" b="1">
                <a:latin typeface="Calibri" panose="020F0502020204030204" pitchFamily="34" charset="0"/>
                <a:cs typeface="Calibri" panose="020F0502020204030204" pitchFamily="34" charset="0"/>
              </a:rPr>
              <a:t>Financial economies </a:t>
            </a:r>
            <a:r>
              <a:rPr lang="en-GB" altLang="en-US" sz="1900">
                <a:latin typeface="Calibri" panose="020F0502020204030204" pitchFamily="34" charset="0"/>
                <a:cs typeface="Calibri" panose="020F0502020204030204" pitchFamily="34" charset="0"/>
              </a:rPr>
              <a:t>– potential access to cheaper finance and bulk buying</a:t>
            </a:r>
            <a:endParaRPr lang="en-GB" sz="1900">
              <a:latin typeface="Calibri" panose="020F0502020204030204" pitchFamily="34" charset="0"/>
              <a:ea typeface="Calibri" panose="020F0502020204030204" pitchFamily="34" charset="0"/>
              <a:cs typeface="Calibri" panose="020F0502020204030204" pitchFamily="34" charset="0"/>
              <a:hlinkClick r:id="rId3"/>
            </a:endParaRPr>
          </a:p>
          <a:p>
            <a:pPr marL="457200" lvl="1" indent="0">
              <a:lnSpc>
                <a:spcPct val="100000"/>
              </a:lnSpc>
              <a:spcBef>
                <a:spcPts val="1200"/>
              </a:spcBef>
              <a:buNone/>
            </a:pPr>
            <a:r>
              <a:rPr lang="en-GB" sz="1900">
                <a:latin typeface="Calibri" panose="020F0502020204030204" pitchFamily="34" charset="0"/>
                <a:cs typeface="Calibri" panose="020F0502020204030204" pitchFamily="34" charset="0"/>
              </a:rPr>
              <a:t>Example:</a:t>
            </a:r>
            <a:endParaRPr lang="en-GB" sz="1900">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endParaRPr>
          </a:p>
          <a:p>
            <a:pPr marL="457200" lvl="1" indent="0">
              <a:lnSpc>
                <a:spcPct val="100000"/>
              </a:lnSpc>
              <a:spcBef>
                <a:spcPts val="1200"/>
              </a:spcBef>
              <a:buNone/>
            </a:pPr>
            <a:r>
              <a:rPr lang="en-GB" sz="1900">
                <a:latin typeface="Calibri" panose="020F0502020204030204" pitchFamily="34" charset="0"/>
                <a:ea typeface="Calibri" panose="020F0502020204030204" pitchFamily="34" charset="0"/>
                <a:cs typeface="Calibri" panose="020F0502020204030204" pitchFamily="34" charset="0"/>
                <a:hlinkClick r:id="rId3"/>
              </a:rPr>
              <a:t>Business Costs and Profits - Economies of Scale at Tesla (youtube.com)</a:t>
            </a:r>
            <a:endParaRPr lang="en-GB" altLang="en-US" sz="1900" b="1">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9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000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7">
                                            <p:txEl>
                                              <p:pRg st="0" end="0"/>
                                            </p:txEl>
                                          </p:spTgt>
                                        </p:tgtEl>
                                        <p:attrNameLst>
                                          <p:attrName>style.visibility</p:attrName>
                                        </p:attrNameLst>
                                      </p:cBhvr>
                                      <p:to>
                                        <p:strVal val="visible"/>
                                      </p:to>
                                    </p:set>
                                    <p:anim calcmode="lin" valueType="num">
                                      <p:cBhvr additive="base">
                                        <p:cTn id="7" dur="500"/>
                                        <p:tgtEl>
                                          <p:spTgt spid="38400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7">
                                            <p:txEl>
                                              <p:pRg st="1" end="1"/>
                                            </p:txEl>
                                          </p:spTgt>
                                        </p:tgtEl>
                                        <p:attrNameLst>
                                          <p:attrName>style.visibility</p:attrName>
                                        </p:attrNameLst>
                                      </p:cBhvr>
                                      <p:to>
                                        <p:strVal val="visible"/>
                                      </p:to>
                                    </p:set>
                                    <p:anim calcmode="lin" valueType="num">
                                      <p:cBhvr additive="base">
                                        <p:cTn id="13" dur="500"/>
                                        <p:tgtEl>
                                          <p:spTgt spid="38400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7">
                                            <p:txEl>
                                              <p:pRg st="2" end="2"/>
                                            </p:txEl>
                                          </p:spTgt>
                                        </p:tgtEl>
                                        <p:attrNameLst>
                                          <p:attrName>style.visibility</p:attrName>
                                        </p:attrNameLst>
                                      </p:cBhvr>
                                      <p:to>
                                        <p:strVal val="visible"/>
                                      </p:to>
                                    </p:set>
                                    <p:anim calcmode="lin" valueType="num">
                                      <p:cBhvr additive="base">
                                        <p:cTn id="19" dur="500"/>
                                        <p:tgtEl>
                                          <p:spTgt spid="38400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7">
                                            <p:txEl>
                                              <p:pRg st="3" end="3"/>
                                            </p:txEl>
                                          </p:spTgt>
                                        </p:tgtEl>
                                        <p:attrNameLst>
                                          <p:attrName>style.visibility</p:attrName>
                                        </p:attrNameLst>
                                      </p:cBhvr>
                                      <p:to>
                                        <p:strVal val="visible"/>
                                      </p:to>
                                    </p:set>
                                    <p:anim calcmode="lin" valueType="num">
                                      <p:cBhvr additive="base">
                                        <p:cTn id="25" dur="500"/>
                                        <p:tgtEl>
                                          <p:spTgt spid="38400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4007">
                                            <p:txEl>
                                              <p:pRg st="4" end="4"/>
                                            </p:txEl>
                                          </p:spTgt>
                                        </p:tgtEl>
                                        <p:attrNameLst>
                                          <p:attrName>style.visibility</p:attrName>
                                        </p:attrNameLst>
                                      </p:cBhvr>
                                      <p:to>
                                        <p:strVal val="visible"/>
                                      </p:to>
                                    </p:set>
                                    <p:anim calcmode="lin" valueType="num">
                                      <p:cBhvr additive="base">
                                        <p:cTn id="31" dur="500"/>
                                        <p:tgtEl>
                                          <p:spTgt spid="38400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400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4007">
                                            <p:txEl>
                                              <p:pRg st="5" end="5"/>
                                            </p:txEl>
                                          </p:spTgt>
                                        </p:tgtEl>
                                        <p:attrNameLst>
                                          <p:attrName>style.visibility</p:attrName>
                                        </p:attrNameLst>
                                      </p:cBhvr>
                                      <p:to>
                                        <p:strVal val="visible"/>
                                      </p:to>
                                    </p:set>
                                    <p:anim calcmode="lin" valueType="num">
                                      <p:cBhvr additive="base">
                                        <p:cTn id="37" dur="500"/>
                                        <p:tgtEl>
                                          <p:spTgt spid="38400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400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4007">
                                            <p:txEl>
                                              <p:pRg st="6" end="6"/>
                                            </p:txEl>
                                          </p:spTgt>
                                        </p:tgtEl>
                                        <p:attrNameLst>
                                          <p:attrName>style.visibility</p:attrName>
                                        </p:attrNameLst>
                                      </p:cBhvr>
                                      <p:to>
                                        <p:strVal val="visible"/>
                                      </p:to>
                                    </p:set>
                                    <p:anim calcmode="lin" valueType="num">
                                      <p:cBhvr additive="base">
                                        <p:cTn id="43" dur="500"/>
                                        <p:tgtEl>
                                          <p:spTgt spid="38400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400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84007">
                                            <p:txEl>
                                              <p:pRg st="7" end="7"/>
                                            </p:txEl>
                                          </p:spTgt>
                                        </p:tgtEl>
                                        <p:attrNameLst>
                                          <p:attrName>style.visibility</p:attrName>
                                        </p:attrNameLst>
                                      </p:cBhvr>
                                      <p:to>
                                        <p:strVal val="visible"/>
                                      </p:to>
                                    </p:set>
                                    <p:anim calcmode="lin" valueType="num">
                                      <p:cBhvr additive="base">
                                        <p:cTn id="49" dur="500"/>
                                        <p:tgtEl>
                                          <p:spTgt spid="38400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84007">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84007">
                                            <p:txEl>
                                              <p:pRg st="8" end="8"/>
                                            </p:txEl>
                                          </p:spTgt>
                                        </p:tgtEl>
                                        <p:attrNameLst>
                                          <p:attrName>style.visibility</p:attrName>
                                        </p:attrNameLst>
                                      </p:cBhvr>
                                      <p:to>
                                        <p:strVal val="visible"/>
                                      </p:to>
                                    </p:set>
                                    <p:anim calcmode="lin" valueType="num">
                                      <p:cBhvr additive="base">
                                        <p:cTn id="55" dur="500"/>
                                        <p:tgtEl>
                                          <p:spTgt spid="384007">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84007">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84007">
                                            <p:txEl>
                                              <p:pRg st="9" end="9"/>
                                            </p:txEl>
                                          </p:spTgt>
                                        </p:tgtEl>
                                        <p:attrNameLst>
                                          <p:attrName>style.visibility</p:attrName>
                                        </p:attrNameLst>
                                      </p:cBhvr>
                                      <p:to>
                                        <p:strVal val="visible"/>
                                      </p:to>
                                    </p:set>
                                    <p:anim calcmode="lin" valueType="num">
                                      <p:cBhvr additive="base">
                                        <p:cTn id="61" dur="500"/>
                                        <p:tgtEl>
                                          <p:spTgt spid="384007">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840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7"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6050" name="Rectangle 2">
            <a:extLst>
              <a:ext uri="{FF2B5EF4-FFF2-40B4-BE49-F238E27FC236}">
                <a16:creationId xmlns:a16="http://schemas.microsoft.com/office/drawing/2014/main" id="{5059EAA0-2D22-4D64-AD6D-2C46C2C81AFF}"/>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6051" name="Rectangle 3">
            <a:extLst>
              <a:ext uri="{FF2B5EF4-FFF2-40B4-BE49-F238E27FC236}">
                <a16:creationId xmlns:a16="http://schemas.microsoft.com/office/drawing/2014/main" id="{37530654-F3FE-4BB1-979A-237135CCA605}"/>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6052" name="Rectangle 4">
            <a:extLst>
              <a:ext uri="{FF2B5EF4-FFF2-40B4-BE49-F238E27FC236}">
                <a16:creationId xmlns:a16="http://schemas.microsoft.com/office/drawing/2014/main" id="{48CC2097-DE3A-46BF-B174-D8F6CE03FD12}"/>
              </a:ext>
            </a:extLst>
          </p:cNvPr>
          <p:cNvSpPr>
            <a:spLocks noGrp="1"/>
          </p:cNvSpPr>
          <p:nvPr>
            <p:ph type="title"/>
          </p:nvPr>
        </p:nvSpPr>
        <p:spPr>
          <a:xfrm>
            <a:off x="361111" y="177697"/>
            <a:ext cx="10515600" cy="908198"/>
          </a:xfrm>
        </p:spPr>
        <p:txBody>
          <a:bodyPr/>
          <a:lstStyle/>
          <a:p>
            <a:r>
              <a:rPr lang="en-GB" altLang="en-US">
                <a:latin typeface="Calibri" panose="020F0502020204030204" pitchFamily="34" charset="0"/>
                <a:cs typeface="Calibri" panose="020F0502020204030204" pitchFamily="34" charset="0"/>
              </a:rPr>
              <a:t>Production in the Long run</a:t>
            </a:r>
          </a:p>
        </p:txBody>
      </p:sp>
      <p:sp>
        <p:nvSpPr>
          <p:cNvPr id="386053" name="Rectangle 5">
            <a:extLst>
              <a:ext uri="{FF2B5EF4-FFF2-40B4-BE49-F238E27FC236}">
                <a16:creationId xmlns:a16="http://schemas.microsoft.com/office/drawing/2014/main" id="{8DF495A1-AE17-4861-A10B-763C2A1D9648}"/>
              </a:ext>
            </a:extLst>
          </p:cNvPr>
          <p:cNvSpPr>
            <a:spLocks noGrp="1"/>
          </p:cNvSpPr>
          <p:nvPr>
            <p:ph idx="1"/>
          </p:nvPr>
        </p:nvSpPr>
        <p:spPr>
          <a:xfrm>
            <a:off x="296761" y="1168131"/>
            <a:ext cx="11562042" cy="4889500"/>
          </a:xfrm>
        </p:spPr>
        <p:txBody>
          <a:bodyPr/>
          <a:lstStyle/>
          <a:p>
            <a:pPr>
              <a:lnSpc>
                <a:spcPct val="100000"/>
              </a:lnSpc>
              <a:spcBef>
                <a:spcPts val="1200"/>
              </a:spcBef>
            </a:pPr>
            <a:r>
              <a:rPr lang="en-GB" altLang="en-US" sz="2000" b="1">
                <a:latin typeface="Calibri" panose="020F0502020204030204" pitchFamily="34" charset="0"/>
                <a:cs typeface="Calibri" panose="020F0502020204030204" pitchFamily="34" charset="0"/>
              </a:rPr>
              <a:t>Economies of scope</a:t>
            </a:r>
          </a:p>
          <a:p>
            <a:pPr lvl="1">
              <a:lnSpc>
                <a:spcPct val="100000"/>
              </a:lnSpc>
              <a:spcBef>
                <a:spcPts val="1200"/>
              </a:spcBef>
            </a:pPr>
            <a:r>
              <a:rPr lang="en-GB" altLang="en-US" sz="2000">
                <a:latin typeface="Calibri" panose="020F0502020204030204" pitchFamily="34" charset="0"/>
                <a:cs typeface="Calibri" panose="020F0502020204030204" pitchFamily="34" charset="0"/>
              </a:rPr>
              <a:t>Often a firm is large because it produces a range of products. This can result in each individual product being produced more cheaply than if it was produced by a single-product firm.</a:t>
            </a:r>
          </a:p>
          <a:p>
            <a:pPr lvl="1">
              <a:lnSpc>
                <a:spcPct val="100000"/>
              </a:lnSpc>
              <a:spcBef>
                <a:spcPts val="1200"/>
              </a:spcBef>
            </a:pPr>
            <a:r>
              <a:rPr lang="en-GB" altLang="en-US" sz="2000">
                <a:latin typeface="Calibri" panose="020F0502020204030204" pitchFamily="34" charset="0"/>
                <a:cs typeface="Calibri" panose="020F0502020204030204" pitchFamily="34" charset="0"/>
              </a:rPr>
              <a:t>Overhead costs and financial and organisational economies can be shared between the products.</a:t>
            </a:r>
          </a:p>
          <a:p>
            <a:pPr>
              <a:lnSpc>
                <a:spcPct val="100000"/>
              </a:lnSpc>
              <a:spcBef>
                <a:spcPts val="1200"/>
              </a:spcBef>
            </a:pPr>
            <a:r>
              <a:rPr lang="en-GB" altLang="en-US" sz="2000" b="1">
                <a:latin typeface="Calibri" panose="020F0502020204030204" pitchFamily="34" charset="0"/>
                <a:cs typeface="Calibri" panose="020F0502020204030204" pitchFamily="34" charset="0"/>
              </a:rPr>
              <a:t>Diseconomies of scale</a:t>
            </a:r>
          </a:p>
          <a:p>
            <a:pPr lvl="1">
              <a:lnSpc>
                <a:spcPct val="100000"/>
              </a:lnSpc>
              <a:spcBef>
                <a:spcPts val="1200"/>
              </a:spcBef>
            </a:pPr>
            <a:r>
              <a:rPr lang="en-GB" altLang="en-US" sz="2000">
                <a:latin typeface="Calibri" panose="020F0502020204030204" pitchFamily="34" charset="0"/>
                <a:cs typeface="Calibri" panose="020F0502020204030204" pitchFamily="34" charset="0"/>
              </a:rPr>
              <a:t>When firms get beyond a certain size, costs per unit of output may start to increase. There are several reasons for this:</a:t>
            </a:r>
          </a:p>
          <a:p>
            <a:pPr lvl="2">
              <a:lnSpc>
                <a:spcPct val="100000"/>
              </a:lnSpc>
              <a:spcBef>
                <a:spcPts val="1200"/>
              </a:spcBef>
            </a:pPr>
            <a:r>
              <a:rPr lang="en-GB" altLang="en-US" sz="2000">
                <a:latin typeface="Calibri" panose="020F0502020204030204" pitchFamily="34" charset="0"/>
                <a:cs typeface="Calibri" panose="020F0502020204030204" pitchFamily="34" charset="0"/>
              </a:rPr>
              <a:t>managerial diseconomies – for e.g., lines of communication get longer, lack of personal involvement</a:t>
            </a:r>
          </a:p>
          <a:p>
            <a:pPr lvl="2">
              <a:lnSpc>
                <a:spcPct val="100000"/>
              </a:lnSpc>
              <a:spcBef>
                <a:spcPts val="1200"/>
              </a:spcBef>
            </a:pPr>
            <a:r>
              <a:rPr lang="en-GB" altLang="en-US" sz="2000">
                <a:latin typeface="Calibri" panose="020F0502020204030204" pitchFamily="34" charset="0"/>
                <a:cs typeface="Calibri" panose="020F0502020204030204" pitchFamily="34" charset="0"/>
              </a:rPr>
              <a:t>effects of workers and industrial relations – workers may feel ‘alienated’ and lack motivation if their jobs are boring and repetitive and they feel undervalued. Industrial relations may deteriorate.</a:t>
            </a:r>
          </a:p>
          <a:p>
            <a:pPr lvl="2">
              <a:lnSpc>
                <a:spcPct val="100000"/>
              </a:lnSpc>
              <a:spcBef>
                <a:spcPts val="1200"/>
              </a:spcBef>
            </a:pPr>
            <a:r>
              <a:rPr lang="en-GB" altLang="en-US" sz="2000">
                <a:latin typeface="Calibri" panose="020F0502020204030204" pitchFamily="34" charset="0"/>
                <a:cs typeface="Calibri" panose="020F0502020204030204" pitchFamily="34" charset="0"/>
              </a:rPr>
              <a:t>risks of interdependencies – hold-ups in any one part of the firm can lead to significant disruption</a:t>
            </a:r>
          </a:p>
        </p:txBody>
      </p:sp>
    </p:spTree>
    <p:extLst>
      <p:ext uri="{BB962C8B-B14F-4D97-AF65-F5344CB8AC3E}">
        <p14:creationId xmlns:p14="http://schemas.microsoft.com/office/powerpoint/2010/main" val="325465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6053">
                                            <p:txEl>
                                              <p:pRg st="0" end="0"/>
                                            </p:txEl>
                                          </p:spTgt>
                                        </p:tgtEl>
                                        <p:attrNameLst>
                                          <p:attrName>style.visibility</p:attrName>
                                        </p:attrNameLst>
                                      </p:cBhvr>
                                      <p:to>
                                        <p:strVal val="visible"/>
                                      </p:to>
                                    </p:set>
                                    <p:anim calcmode="lin" valueType="num">
                                      <p:cBhvr additive="base">
                                        <p:cTn id="7" dur="500"/>
                                        <p:tgtEl>
                                          <p:spTgt spid="38605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605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6053">
                                            <p:txEl>
                                              <p:pRg st="1" end="1"/>
                                            </p:txEl>
                                          </p:spTgt>
                                        </p:tgtEl>
                                        <p:attrNameLst>
                                          <p:attrName>style.visibility</p:attrName>
                                        </p:attrNameLst>
                                      </p:cBhvr>
                                      <p:to>
                                        <p:strVal val="visible"/>
                                      </p:to>
                                    </p:set>
                                    <p:anim calcmode="lin" valueType="num">
                                      <p:cBhvr additive="base">
                                        <p:cTn id="13" dur="500"/>
                                        <p:tgtEl>
                                          <p:spTgt spid="38605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605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6053">
                                            <p:txEl>
                                              <p:pRg st="2" end="2"/>
                                            </p:txEl>
                                          </p:spTgt>
                                        </p:tgtEl>
                                        <p:attrNameLst>
                                          <p:attrName>style.visibility</p:attrName>
                                        </p:attrNameLst>
                                      </p:cBhvr>
                                      <p:to>
                                        <p:strVal val="visible"/>
                                      </p:to>
                                    </p:set>
                                    <p:anim calcmode="lin" valueType="num">
                                      <p:cBhvr additive="base">
                                        <p:cTn id="19" dur="500"/>
                                        <p:tgtEl>
                                          <p:spTgt spid="38605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605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6053">
                                            <p:txEl>
                                              <p:pRg st="3" end="3"/>
                                            </p:txEl>
                                          </p:spTgt>
                                        </p:tgtEl>
                                        <p:attrNameLst>
                                          <p:attrName>style.visibility</p:attrName>
                                        </p:attrNameLst>
                                      </p:cBhvr>
                                      <p:to>
                                        <p:strVal val="visible"/>
                                      </p:to>
                                    </p:set>
                                    <p:anim calcmode="lin" valueType="num">
                                      <p:cBhvr additive="base">
                                        <p:cTn id="25" dur="500"/>
                                        <p:tgtEl>
                                          <p:spTgt spid="38605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605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6053">
                                            <p:txEl>
                                              <p:pRg st="4" end="4"/>
                                            </p:txEl>
                                          </p:spTgt>
                                        </p:tgtEl>
                                        <p:attrNameLst>
                                          <p:attrName>style.visibility</p:attrName>
                                        </p:attrNameLst>
                                      </p:cBhvr>
                                      <p:to>
                                        <p:strVal val="visible"/>
                                      </p:to>
                                    </p:set>
                                    <p:anim calcmode="lin" valueType="num">
                                      <p:cBhvr additive="base">
                                        <p:cTn id="31" dur="500"/>
                                        <p:tgtEl>
                                          <p:spTgt spid="38605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6053">
                                            <p:txEl>
                                              <p:pRg st="4" end="4"/>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86053">
                                            <p:txEl>
                                              <p:pRg st="5" end="5"/>
                                            </p:txEl>
                                          </p:spTgt>
                                        </p:tgtEl>
                                        <p:attrNameLst>
                                          <p:attrName>style.visibility</p:attrName>
                                        </p:attrNameLst>
                                      </p:cBhvr>
                                      <p:to>
                                        <p:strVal val="visible"/>
                                      </p:to>
                                    </p:set>
                                    <p:anim calcmode="lin" valueType="num">
                                      <p:cBhvr additive="base">
                                        <p:cTn id="35" dur="500"/>
                                        <p:tgtEl>
                                          <p:spTgt spid="386053">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86053">
                                            <p:txEl>
                                              <p:pRg st="5" end="5"/>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86053">
                                            <p:txEl>
                                              <p:pRg st="6" end="6"/>
                                            </p:txEl>
                                          </p:spTgt>
                                        </p:tgtEl>
                                        <p:attrNameLst>
                                          <p:attrName>style.visibility</p:attrName>
                                        </p:attrNameLst>
                                      </p:cBhvr>
                                      <p:to>
                                        <p:strVal val="visible"/>
                                      </p:to>
                                    </p:set>
                                    <p:anim calcmode="lin" valueType="num">
                                      <p:cBhvr additive="base">
                                        <p:cTn id="39" dur="500"/>
                                        <p:tgtEl>
                                          <p:spTgt spid="386053">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386053">
                                            <p:txEl>
                                              <p:pRg st="6" end="6"/>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86053">
                                            <p:txEl>
                                              <p:pRg st="7" end="7"/>
                                            </p:txEl>
                                          </p:spTgt>
                                        </p:tgtEl>
                                        <p:attrNameLst>
                                          <p:attrName>style.visibility</p:attrName>
                                        </p:attrNameLst>
                                      </p:cBhvr>
                                      <p:to>
                                        <p:strVal val="visible"/>
                                      </p:to>
                                    </p:set>
                                    <p:anim calcmode="lin" valueType="num">
                                      <p:cBhvr additive="base">
                                        <p:cTn id="43" dur="500"/>
                                        <p:tgtEl>
                                          <p:spTgt spid="386053">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605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3"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8098" name="Rectangle 2">
            <a:extLst>
              <a:ext uri="{FF2B5EF4-FFF2-40B4-BE49-F238E27FC236}">
                <a16:creationId xmlns:a16="http://schemas.microsoft.com/office/drawing/2014/main" id="{84DAE431-D81E-4B27-8C90-600BEDE5C196}"/>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099" name="Rectangle 3">
            <a:extLst>
              <a:ext uri="{FF2B5EF4-FFF2-40B4-BE49-F238E27FC236}">
                <a16:creationId xmlns:a16="http://schemas.microsoft.com/office/drawing/2014/main" id="{25CEC2E2-B8C4-428D-AFB5-68F568C0F4CC}"/>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8100" name="Rectangle 4">
            <a:extLst>
              <a:ext uri="{FF2B5EF4-FFF2-40B4-BE49-F238E27FC236}">
                <a16:creationId xmlns:a16="http://schemas.microsoft.com/office/drawing/2014/main" id="{49EE8D56-9E76-4D59-A545-C5596ECD0F38}"/>
              </a:ext>
            </a:extLst>
          </p:cNvPr>
          <p:cNvSpPr>
            <a:spLocks noGrp="1"/>
          </p:cNvSpPr>
          <p:nvPr>
            <p:ph type="title"/>
          </p:nvPr>
        </p:nvSpPr>
        <p:spPr>
          <a:xfrm>
            <a:off x="497423" y="189056"/>
            <a:ext cx="10515600" cy="908198"/>
          </a:xfrm>
        </p:spPr>
        <p:txBody>
          <a:bodyPr/>
          <a:lstStyle/>
          <a:p>
            <a:r>
              <a:rPr lang="en-GB" altLang="en-US">
                <a:latin typeface="Calibri" panose="020F0502020204030204" pitchFamily="34" charset="0"/>
                <a:cs typeface="Calibri" panose="020F0502020204030204" pitchFamily="34" charset="0"/>
              </a:rPr>
              <a:t>Production in the Long run</a:t>
            </a:r>
          </a:p>
        </p:txBody>
      </p:sp>
      <p:sp>
        <p:nvSpPr>
          <p:cNvPr id="388101" name="Rectangle 5">
            <a:extLst>
              <a:ext uri="{FF2B5EF4-FFF2-40B4-BE49-F238E27FC236}">
                <a16:creationId xmlns:a16="http://schemas.microsoft.com/office/drawing/2014/main" id="{5316A9BD-E2FC-4405-A5F3-95F2E1AAF1FA}"/>
              </a:ext>
            </a:extLst>
          </p:cNvPr>
          <p:cNvSpPr>
            <a:spLocks noGrp="1"/>
          </p:cNvSpPr>
          <p:nvPr>
            <p:ph idx="1"/>
          </p:nvPr>
        </p:nvSpPr>
        <p:spPr>
          <a:xfrm>
            <a:off x="488437" y="1214555"/>
            <a:ext cx="11398763" cy="4919303"/>
          </a:xfrm>
        </p:spPr>
        <p:txBody>
          <a:bodyPr>
            <a:noAutofit/>
          </a:bodyPr>
          <a:lstStyle/>
          <a:p>
            <a:pPr>
              <a:lnSpc>
                <a:spcPct val="100000"/>
              </a:lnSpc>
              <a:spcBef>
                <a:spcPts val="1200"/>
              </a:spcBef>
            </a:pPr>
            <a:r>
              <a:rPr lang="en-GB" altLang="en-US" sz="2000">
                <a:latin typeface="Calibri" panose="020F0502020204030204" pitchFamily="34" charset="0"/>
                <a:cs typeface="Calibri" panose="020F0502020204030204" pitchFamily="34" charset="0"/>
              </a:rPr>
              <a:t>Decision making in different time periods – for e.g. response to an increase in demand for a firm’s product</a:t>
            </a:r>
          </a:p>
          <a:p>
            <a:pPr lvl="1">
              <a:lnSpc>
                <a:spcPct val="100000"/>
              </a:lnSpc>
              <a:spcBef>
                <a:spcPts val="1200"/>
              </a:spcBef>
            </a:pPr>
            <a:r>
              <a:rPr lang="en-GB" altLang="en-US" b="1">
                <a:latin typeface="Calibri" panose="020F0502020204030204" pitchFamily="34" charset="0"/>
                <a:cs typeface="Calibri" panose="020F0502020204030204" pitchFamily="34" charset="0"/>
              </a:rPr>
              <a:t>Very short (immediate) run </a:t>
            </a:r>
            <a:r>
              <a:rPr lang="en-GB" altLang="en-US">
                <a:latin typeface="Calibri" panose="020F0502020204030204" pitchFamily="34" charset="0"/>
                <a:cs typeface="Calibri" panose="020F0502020204030204" pitchFamily="34" charset="0"/>
              </a:rPr>
              <a:t>– </a:t>
            </a:r>
            <a:r>
              <a:rPr lang="en-GB" altLang="en-US" b="1">
                <a:latin typeface="Calibri" panose="020F0502020204030204" pitchFamily="34" charset="0"/>
                <a:cs typeface="Calibri" panose="020F0502020204030204" pitchFamily="34" charset="0"/>
              </a:rPr>
              <a:t>all factors are fixed</a:t>
            </a:r>
            <a:r>
              <a:rPr lang="en-GB" altLang="en-US">
                <a:latin typeface="Calibri" panose="020F0502020204030204" pitchFamily="34" charset="0"/>
                <a:cs typeface="Calibri" panose="020F0502020204030204" pitchFamily="34" charset="0"/>
              </a:rPr>
              <a:t>. Output is fixed. The supply curve is vertical.</a:t>
            </a:r>
          </a:p>
          <a:p>
            <a:pPr lvl="2">
              <a:lnSpc>
                <a:spcPct val="100000"/>
              </a:lnSpc>
              <a:spcBef>
                <a:spcPts val="1200"/>
              </a:spcBef>
            </a:pPr>
            <a:r>
              <a:rPr lang="en-GB" altLang="en-US" sz="2000">
                <a:latin typeface="Calibri" panose="020F0502020204030204" pitchFamily="34" charset="0"/>
                <a:cs typeface="Calibri" panose="020F0502020204030204" pitchFamily="34" charset="0"/>
              </a:rPr>
              <a:t>Firm informs customers it will have to wait. It may increase prices temporarily.</a:t>
            </a:r>
          </a:p>
          <a:p>
            <a:pPr lvl="1">
              <a:lnSpc>
                <a:spcPct val="100000"/>
              </a:lnSpc>
              <a:spcBef>
                <a:spcPts val="1200"/>
              </a:spcBef>
            </a:pPr>
            <a:r>
              <a:rPr lang="en-GB" altLang="en-US" b="1">
                <a:latin typeface="Calibri" panose="020F0502020204030204" pitchFamily="34" charset="0"/>
                <a:cs typeface="Calibri" panose="020F0502020204030204" pitchFamily="34" charset="0"/>
              </a:rPr>
              <a:t>Short run </a:t>
            </a:r>
            <a:r>
              <a:rPr lang="en-GB" altLang="en-US">
                <a:latin typeface="Calibri" panose="020F0502020204030204" pitchFamily="34" charset="0"/>
                <a:cs typeface="Calibri" panose="020F0502020204030204" pitchFamily="34" charset="0"/>
              </a:rPr>
              <a:t>– </a:t>
            </a:r>
            <a:r>
              <a:rPr lang="en-GB" altLang="en-US" b="1">
                <a:latin typeface="Calibri" panose="020F0502020204030204" pitchFamily="34" charset="0"/>
                <a:cs typeface="Calibri" panose="020F0502020204030204" pitchFamily="34" charset="0"/>
              </a:rPr>
              <a:t>at least one factor is fixed </a:t>
            </a:r>
            <a:r>
              <a:rPr lang="en-GB" altLang="en-US">
                <a:latin typeface="Calibri" panose="020F0502020204030204" pitchFamily="34" charset="0"/>
                <a:cs typeface="Calibri" panose="020F0502020204030204" pitchFamily="34" charset="0"/>
              </a:rPr>
              <a:t>in supply.</a:t>
            </a:r>
          </a:p>
          <a:p>
            <a:pPr lvl="2">
              <a:lnSpc>
                <a:spcPct val="100000"/>
              </a:lnSpc>
              <a:spcBef>
                <a:spcPts val="1200"/>
              </a:spcBef>
            </a:pPr>
            <a:r>
              <a:rPr lang="en-GB" altLang="en-US" sz="2000">
                <a:latin typeface="Calibri" panose="020F0502020204030204" pitchFamily="34" charset="0"/>
                <a:cs typeface="Calibri" panose="020F0502020204030204" pitchFamily="34" charset="0"/>
              </a:rPr>
              <a:t>Firm may negotiate with labour to introduce overtime asap. It orders extra raw materials from suppliers. It may launch a recruitment drive.</a:t>
            </a:r>
          </a:p>
          <a:p>
            <a:pPr lvl="1">
              <a:lnSpc>
                <a:spcPct val="100000"/>
              </a:lnSpc>
              <a:spcBef>
                <a:spcPts val="1200"/>
              </a:spcBef>
            </a:pPr>
            <a:r>
              <a:rPr lang="en-GB" altLang="en-US" b="1">
                <a:latin typeface="Calibri" panose="020F0502020204030204" pitchFamily="34" charset="0"/>
                <a:cs typeface="Calibri" panose="020F0502020204030204" pitchFamily="34" charset="0"/>
              </a:rPr>
              <a:t>Long run </a:t>
            </a:r>
            <a:r>
              <a:rPr lang="en-GB" altLang="en-US">
                <a:latin typeface="Calibri" panose="020F0502020204030204" pitchFamily="34" charset="0"/>
                <a:cs typeface="Calibri" panose="020F0502020204030204" pitchFamily="34" charset="0"/>
              </a:rPr>
              <a:t>– </a:t>
            </a:r>
            <a:r>
              <a:rPr lang="en-GB" altLang="en-US" b="1">
                <a:latin typeface="Calibri" panose="020F0502020204030204" pitchFamily="34" charset="0"/>
                <a:cs typeface="Calibri" panose="020F0502020204030204" pitchFamily="34" charset="0"/>
              </a:rPr>
              <a:t>all factors are variable</a:t>
            </a:r>
            <a:r>
              <a:rPr lang="en-GB" altLang="en-US">
                <a:latin typeface="Calibri" panose="020F0502020204030204" pitchFamily="34" charset="0"/>
                <a:cs typeface="Calibri" panose="020F0502020204030204" pitchFamily="34" charset="0"/>
              </a:rPr>
              <a:t>.</a:t>
            </a:r>
          </a:p>
          <a:p>
            <a:pPr lvl="2">
              <a:lnSpc>
                <a:spcPct val="100000"/>
              </a:lnSpc>
              <a:spcBef>
                <a:spcPts val="1200"/>
              </a:spcBef>
            </a:pPr>
            <a:r>
              <a:rPr lang="en-GB" altLang="en-US" sz="2000">
                <a:latin typeface="Calibri" panose="020F0502020204030204" pitchFamily="34" charset="0"/>
                <a:cs typeface="Calibri" panose="020F0502020204030204" pitchFamily="34" charset="0"/>
              </a:rPr>
              <a:t>Firm may start proceedings to build a new factory.</a:t>
            </a:r>
          </a:p>
          <a:p>
            <a:pPr lvl="1">
              <a:lnSpc>
                <a:spcPct val="100000"/>
              </a:lnSpc>
              <a:spcBef>
                <a:spcPts val="1200"/>
              </a:spcBef>
            </a:pPr>
            <a:r>
              <a:rPr lang="en-GB" altLang="en-US" b="1">
                <a:latin typeface="Calibri" panose="020F0502020204030204" pitchFamily="34" charset="0"/>
                <a:cs typeface="Calibri" panose="020F0502020204030204" pitchFamily="34" charset="0"/>
              </a:rPr>
              <a:t>Very long run </a:t>
            </a:r>
            <a:r>
              <a:rPr lang="en-GB" altLang="en-US">
                <a:latin typeface="Calibri" panose="020F0502020204030204" pitchFamily="34" charset="0"/>
                <a:cs typeface="Calibri" panose="020F0502020204030204" pitchFamily="34" charset="0"/>
              </a:rPr>
              <a:t>– </a:t>
            </a:r>
            <a:r>
              <a:rPr lang="en-GB" altLang="en-US" b="1">
                <a:latin typeface="Calibri" panose="020F0502020204030204" pitchFamily="34" charset="0"/>
                <a:cs typeface="Calibri" panose="020F0502020204030204" pitchFamily="34" charset="0"/>
              </a:rPr>
              <a:t>all factors are variable and their quality</a:t>
            </a:r>
            <a:r>
              <a:rPr lang="en-GB" altLang="en-US">
                <a:latin typeface="Calibri" panose="020F0502020204030204" pitchFamily="34" charset="0"/>
                <a:cs typeface="Calibri" panose="020F0502020204030204" pitchFamily="34" charset="0"/>
              </a:rPr>
              <a:t>, and hence, productivity, can change</a:t>
            </a:r>
          </a:p>
          <a:p>
            <a:pPr lvl="2">
              <a:lnSpc>
                <a:spcPct val="100000"/>
              </a:lnSpc>
              <a:spcBef>
                <a:spcPts val="1200"/>
              </a:spcBef>
            </a:pPr>
            <a:r>
              <a:rPr lang="en-GB" altLang="en-US" sz="2000">
                <a:latin typeface="Calibri" panose="020F0502020204030204" pitchFamily="34" charset="0"/>
                <a:cs typeface="Calibri" panose="020F0502020204030204" pitchFamily="34" charset="0"/>
              </a:rPr>
              <a:t>Firm may instigate a programme of R&amp;D and/or training to increase productivity.</a:t>
            </a:r>
          </a:p>
          <a:p>
            <a:pPr marL="457200" lvl="1" indent="0">
              <a:lnSpc>
                <a:spcPct val="100000"/>
              </a:lnSpc>
              <a:spcBef>
                <a:spcPts val="1200"/>
              </a:spcBef>
              <a:buNone/>
            </a:pPr>
            <a:r>
              <a:rPr lang="en-GB" altLang="en-US" b="1">
                <a:latin typeface="Calibri" panose="020F0502020204030204" pitchFamily="34" charset="0"/>
                <a:cs typeface="Calibri" panose="020F0502020204030204" pitchFamily="34" charset="0"/>
              </a:rPr>
              <a:t>Decisions can be made for all time periods at the same time</a:t>
            </a:r>
          </a:p>
        </p:txBody>
      </p:sp>
    </p:spTree>
    <p:extLst>
      <p:ext uri="{BB962C8B-B14F-4D97-AF65-F5344CB8AC3E}">
        <p14:creationId xmlns:p14="http://schemas.microsoft.com/office/powerpoint/2010/main" val="1521539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8101">
                                            <p:txEl>
                                              <p:pRg st="0" end="0"/>
                                            </p:txEl>
                                          </p:spTgt>
                                        </p:tgtEl>
                                        <p:attrNameLst>
                                          <p:attrName>style.visibility</p:attrName>
                                        </p:attrNameLst>
                                      </p:cBhvr>
                                      <p:to>
                                        <p:strVal val="visible"/>
                                      </p:to>
                                    </p:set>
                                    <p:anim calcmode="lin" valueType="num">
                                      <p:cBhvr additive="base">
                                        <p:cTn id="7" dur="500"/>
                                        <p:tgtEl>
                                          <p:spTgt spid="38810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8101">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8101">
                                            <p:txEl>
                                              <p:pRg st="1" end="1"/>
                                            </p:txEl>
                                          </p:spTgt>
                                        </p:tgtEl>
                                        <p:attrNameLst>
                                          <p:attrName>style.visibility</p:attrName>
                                        </p:attrNameLst>
                                      </p:cBhvr>
                                      <p:to>
                                        <p:strVal val="visible"/>
                                      </p:to>
                                    </p:set>
                                    <p:anim calcmode="lin" valueType="num">
                                      <p:cBhvr additive="base">
                                        <p:cTn id="13" dur="500"/>
                                        <p:tgtEl>
                                          <p:spTgt spid="38810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8101">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88101">
                                            <p:txEl>
                                              <p:pRg st="2" end="2"/>
                                            </p:txEl>
                                          </p:spTgt>
                                        </p:tgtEl>
                                        <p:attrNameLst>
                                          <p:attrName>style.visibility</p:attrName>
                                        </p:attrNameLst>
                                      </p:cBhvr>
                                      <p:to>
                                        <p:strVal val="visible"/>
                                      </p:to>
                                    </p:set>
                                    <p:anim calcmode="lin" valueType="num">
                                      <p:cBhvr additive="base">
                                        <p:cTn id="17" dur="500"/>
                                        <p:tgtEl>
                                          <p:spTgt spid="388101">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88101">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88101">
                                            <p:txEl>
                                              <p:pRg st="3" end="3"/>
                                            </p:txEl>
                                          </p:spTgt>
                                        </p:tgtEl>
                                        <p:attrNameLst>
                                          <p:attrName>style.visibility</p:attrName>
                                        </p:attrNameLst>
                                      </p:cBhvr>
                                      <p:to>
                                        <p:strVal val="visible"/>
                                      </p:to>
                                    </p:set>
                                    <p:anim calcmode="lin" valueType="num">
                                      <p:cBhvr additive="base">
                                        <p:cTn id="23" dur="500"/>
                                        <p:tgtEl>
                                          <p:spTgt spid="388101">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88101">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88101">
                                            <p:txEl>
                                              <p:pRg st="4" end="4"/>
                                            </p:txEl>
                                          </p:spTgt>
                                        </p:tgtEl>
                                        <p:attrNameLst>
                                          <p:attrName>style.visibility</p:attrName>
                                        </p:attrNameLst>
                                      </p:cBhvr>
                                      <p:to>
                                        <p:strVal val="visible"/>
                                      </p:to>
                                    </p:set>
                                    <p:anim calcmode="lin" valueType="num">
                                      <p:cBhvr additive="base">
                                        <p:cTn id="27" dur="500"/>
                                        <p:tgtEl>
                                          <p:spTgt spid="388101">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88101">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388101">
                                            <p:txEl>
                                              <p:pRg st="5" end="5"/>
                                            </p:txEl>
                                          </p:spTgt>
                                        </p:tgtEl>
                                        <p:attrNameLst>
                                          <p:attrName>style.visibility</p:attrName>
                                        </p:attrNameLst>
                                      </p:cBhvr>
                                      <p:to>
                                        <p:strVal val="visible"/>
                                      </p:to>
                                    </p:set>
                                    <p:anim calcmode="lin" valueType="num">
                                      <p:cBhvr additive="base">
                                        <p:cTn id="33" dur="500"/>
                                        <p:tgtEl>
                                          <p:spTgt spid="388101">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388101">
                                            <p:txEl>
                                              <p:pRg st="5" end="5"/>
                                            </p:txEl>
                                          </p:spTgt>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388101">
                                            <p:txEl>
                                              <p:pRg st="6" end="6"/>
                                            </p:txEl>
                                          </p:spTgt>
                                        </p:tgtEl>
                                        <p:attrNameLst>
                                          <p:attrName>style.visibility</p:attrName>
                                        </p:attrNameLst>
                                      </p:cBhvr>
                                      <p:to>
                                        <p:strVal val="visible"/>
                                      </p:to>
                                    </p:set>
                                    <p:anim calcmode="lin" valueType="num">
                                      <p:cBhvr additive="base">
                                        <p:cTn id="37" dur="500"/>
                                        <p:tgtEl>
                                          <p:spTgt spid="38810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8101">
                                            <p:txEl>
                                              <p:pRg st="6" end="6"/>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8101">
                                            <p:txEl>
                                              <p:pRg st="7" end="7"/>
                                            </p:txEl>
                                          </p:spTgt>
                                        </p:tgtEl>
                                        <p:attrNameLst>
                                          <p:attrName>style.visibility</p:attrName>
                                        </p:attrNameLst>
                                      </p:cBhvr>
                                      <p:to>
                                        <p:strVal val="visible"/>
                                      </p:to>
                                    </p:set>
                                    <p:anim calcmode="lin" valueType="num">
                                      <p:cBhvr additive="base">
                                        <p:cTn id="43" dur="500"/>
                                        <p:tgtEl>
                                          <p:spTgt spid="388101">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8101">
                                            <p:txEl>
                                              <p:pRg st="7" end="7"/>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388101">
                                            <p:txEl>
                                              <p:pRg st="8" end="8"/>
                                            </p:txEl>
                                          </p:spTgt>
                                        </p:tgtEl>
                                        <p:attrNameLst>
                                          <p:attrName>style.visibility</p:attrName>
                                        </p:attrNameLst>
                                      </p:cBhvr>
                                      <p:to>
                                        <p:strVal val="visible"/>
                                      </p:to>
                                    </p:set>
                                    <p:anim calcmode="lin" valueType="num">
                                      <p:cBhvr additive="base">
                                        <p:cTn id="47" dur="500"/>
                                        <p:tgtEl>
                                          <p:spTgt spid="388101">
                                            <p:txEl>
                                              <p:pRg st="8" end="8"/>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88101">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388101">
                                            <p:txEl>
                                              <p:pRg st="9" end="9"/>
                                            </p:txEl>
                                          </p:spTgt>
                                        </p:tgtEl>
                                        <p:attrNameLst>
                                          <p:attrName>style.visibility</p:attrName>
                                        </p:attrNameLst>
                                      </p:cBhvr>
                                      <p:to>
                                        <p:strVal val="visible"/>
                                      </p:to>
                                    </p:set>
                                    <p:anim calcmode="lin" valueType="num">
                                      <p:cBhvr additive="base">
                                        <p:cTn id="53" dur="500"/>
                                        <p:tgtEl>
                                          <p:spTgt spid="388101">
                                            <p:txEl>
                                              <p:pRg st="9" end="9"/>
                                            </p:txEl>
                                          </p:spTgt>
                                        </p:tgtEl>
                                        <p:attrNameLst>
                                          <p:attrName>ppt_y</p:attrName>
                                        </p:attrNameLst>
                                      </p:cBhvr>
                                      <p:tavLst>
                                        <p:tav tm="0">
                                          <p:val>
                                            <p:strVal val="#ppt_y+#ppt_h*1.125000"/>
                                          </p:val>
                                        </p:tav>
                                        <p:tav tm="100000">
                                          <p:val>
                                            <p:strVal val="#ppt_y"/>
                                          </p:val>
                                        </p:tav>
                                      </p:tavLst>
                                    </p:anim>
                                    <p:animEffect transition="in" filter="wipe(up)">
                                      <p:cBhvr>
                                        <p:cTn id="54" dur="500"/>
                                        <p:tgtEl>
                                          <p:spTgt spid="38810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1" grpId="0" build="p" bldLvl="2"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0146" name="Rectangle 2">
            <a:extLst>
              <a:ext uri="{FF2B5EF4-FFF2-40B4-BE49-F238E27FC236}">
                <a16:creationId xmlns:a16="http://schemas.microsoft.com/office/drawing/2014/main" id="{48086224-FF20-4A55-B551-4D2CD547BC0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0147" name="Rectangle 3">
            <a:extLst>
              <a:ext uri="{FF2B5EF4-FFF2-40B4-BE49-F238E27FC236}">
                <a16:creationId xmlns:a16="http://schemas.microsoft.com/office/drawing/2014/main" id="{B9788661-A770-41D6-B861-2BFA4E775468}"/>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0148" name="Rectangle 4">
            <a:extLst>
              <a:ext uri="{FF2B5EF4-FFF2-40B4-BE49-F238E27FC236}">
                <a16:creationId xmlns:a16="http://schemas.microsoft.com/office/drawing/2014/main" id="{7835D3A5-E72D-4599-9487-4124DEBD4BE3}"/>
              </a:ext>
            </a:extLst>
          </p:cNvPr>
          <p:cNvSpPr>
            <a:spLocks noGrp="1"/>
          </p:cNvSpPr>
          <p:nvPr>
            <p:ph type="title"/>
          </p:nvPr>
        </p:nvSpPr>
        <p:spPr>
          <a:xfrm>
            <a:off x="463344" y="365126"/>
            <a:ext cx="10515600" cy="908198"/>
          </a:xfrm>
        </p:spPr>
        <p:txBody>
          <a:bodyPr/>
          <a:lstStyle/>
          <a:p>
            <a:r>
              <a:rPr lang="en-GB" altLang="en-US">
                <a:latin typeface="Calibri" panose="020F0502020204030204" pitchFamily="34" charset="0"/>
                <a:cs typeface="Calibri" panose="020F0502020204030204" pitchFamily="34" charset="0"/>
              </a:rPr>
              <a:t>Costs in the Long run</a:t>
            </a:r>
          </a:p>
        </p:txBody>
      </p:sp>
      <p:sp>
        <p:nvSpPr>
          <p:cNvPr id="390149" name="Rectangle 5">
            <a:extLst>
              <a:ext uri="{FF2B5EF4-FFF2-40B4-BE49-F238E27FC236}">
                <a16:creationId xmlns:a16="http://schemas.microsoft.com/office/drawing/2014/main" id="{3D730F52-F798-4AB9-9251-B33FCE3B1E25}"/>
              </a:ext>
            </a:extLst>
          </p:cNvPr>
          <p:cNvSpPr>
            <a:spLocks noGrp="1"/>
          </p:cNvSpPr>
          <p:nvPr>
            <p:ph idx="1"/>
          </p:nvPr>
        </p:nvSpPr>
        <p:spPr>
          <a:xfrm>
            <a:off x="402167" y="1694121"/>
            <a:ext cx="5078917" cy="4292008"/>
          </a:xfrm>
        </p:spPr>
        <p:txBody>
          <a:bodyPr/>
          <a:lstStyle/>
          <a:p>
            <a:pPr>
              <a:lnSpc>
                <a:spcPct val="100000"/>
              </a:lnSpc>
              <a:spcBef>
                <a:spcPts val="1200"/>
              </a:spcBef>
              <a:spcAft>
                <a:spcPts val="600"/>
              </a:spcAft>
            </a:pPr>
            <a:r>
              <a:rPr lang="en-GB" altLang="en-US" sz="2000">
                <a:latin typeface="Calibri" panose="020F0502020204030204" pitchFamily="34" charset="0"/>
                <a:cs typeface="Calibri" panose="020F0502020204030204" pitchFamily="34" charset="0"/>
              </a:rPr>
              <a:t>When it comes to making long-run production decisions, the firm has much more flexibility.</a:t>
            </a:r>
          </a:p>
          <a:p>
            <a:pPr>
              <a:lnSpc>
                <a:spcPct val="100000"/>
              </a:lnSpc>
              <a:spcBef>
                <a:spcPts val="1200"/>
              </a:spcBef>
              <a:spcAft>
                <a:spcPts val="600"/>
              </a:spcAft>
            </a:pPr>
            <a:r>
              <a:rPr lang="en-GB" altLang="en-US" sz="2000">
                <a:latin typeface="Calibri" panose="020F0502020204030204" pitchFamily="34" charset="0"/>
                <a:cs typeface="Calibri" panose="020F0502020204030204" pitchFamily="34" charset="0"/>
              </a:rPr>
              <a:t>It does not have to operate with plant and equipment of a fixed size – it can expand the whole scale of its operations.</a:t>
            </a:r>
          </a:p>
          <a:p>
            <a:pPr>
              <a:lnSpc>
                <a:spcPct val="100000"/>
              </a:lnSpc>
              <a:spcBef>
                <a:spcPts val="1200"/>
              </a:spcBef>
              <a:spcAft>
                <a:spcPts val="600"/>
              </a:spcAft>
            </a:pPr>
            <a:r>
              <a:rPr lang="en-GB" altLang="en-US" sz="2000">
                <a:latin typeface="Calibri" panose="020F0502020204030204" pitchFamily="34" charset="0"/>
                <a:cs typeface="Calibri" panose="020F0502020204030204" pitchFamily="34" charset="0"/>
              </a:rPr>
              <a:t>All its inputs are variable</a:t>
            </a:r>
          </a:p>
          <a:p>
            <a:pPr>
              <a:lnSpc>
                <a:spcPct val="100000"/>
              </a:lnSpc>
              <a:spcBef>
                <a:spcPts val="1200"/>
              </a:spcBef>
              <a:spcAft>
                <a:spcPts val="600"/>
              </a:spcAft>
            </a:pPr>
            <a:r>
              <a:rPr lang="en-GB" altLang="en-US" sz="2000">
                <a:latin typeface="Calibri" panose="020F0502020204030204" pitchFamily="34" charset="0"/>
                <a:cs typeface="Calibri" panose="020F0502020204030204" pitchFamily="34" charset="0"/>
              </a:rPr>
              <a:t>Since there are no fixed factors in the long run, there are no long-run fixed costs. </a:t>
            </a:r>
            <a:endParaRPr lang="en-GB" altLang="en-US" sz="2000" b="1">
              <a:latin typeface="Calibri" panose="020F0502020204030204" pitchFamily="34" charset="0"/>
              <a:cs typeface="Calibri" panose="020F0502020204030204" pitchFamily="34" charset="0"/>
            </a:endParaRPr>
          </a:p>
          <a:p>
            <a:pPr>
              <a:lnSpc>
                <a:spcPct val="100000"/>
              </a:lnSpc>
              <a:spcBef>
                <a:spcPts val="1200"/>
              </a:spcBef>
              <a:spcAft>
                <a:spcPts val="600"/>
              </a:spcAft>
            </a:pPr>
            <a:r>
              <a:rPr lang="en-GB" altLang="en-US" sz="2000" b="1">
                <a:latin typeface="Calibri" panose="020F0502020204030204" pitchFamily="34" charset="0"/>
                <a:cs typeface="Calibri" panose="020F0502020204030204" pitchFamily="34" charset="0"/>
              </a:rPr>
              <a:t>All costs in the long run, are variable costs.</a:t>
            </a:r>
          </a:p>
          <a:p>
            <a:pPr>
              <a:lnSpc>
                <a:spcPct val="100000"/>
              </a:lnSpc>
              <a:spcBef>
                <a:spcPts val="1200"/>
              </a:spcBef>
              <a:spcAft>
                <a:spcPts val="600"/>
              </a:spcAft>
            </a:pPr>
            <a:endParaRPr lang="en-GB" altLang="en-US" sz="1900" b="1"/>
          </a:p>
          <a:p>
            <a:pPr>
              <a:lnSpc>
                <a:spcPct val="100000"/>
              </a:lnSpc>
              <a:spcBef>
                <a:spcPct val="35000"/>
              </a:spcBef>
              <a:spcAft>
                <a:spcPts val="600"/>
              </a:spcAft>
            </a:pPr>
            <a:endParaRPr lang="en-GB" altLang="en-US" sz="1900" b="1"/>
          </a:p>
          <a:p>
            <a:pPr marL="0" indent="0">
              <a:spcBef>
                <a:spcPct val="35000"/>
              </a:spcBef>
              <a:buNone/>
            </a:pPr>
            <a:endParaRPr lang="en-GB" altLang="en-US" sz="1900"/>
          </a:p>
        </p:txBody>
      </p:sp>
      <p:pic>
        <p:nvPicPr>
          <p:cNvPr id="2" name="Picture 1">
            <a:extLst>
              <a:ext uri="{FF2B5EF4-FFF2-40B4-BE49-F238E27FC236}">
                <a16:creationId xmlns:a16="http://schemas.microsoft.com/office/drawing/2014/main" id="{B500D48F-B316-CF0C-E757-09E0BEDC8B20}"/>
              </a:ext>
            </a:extLst>
          </p:cNvPr>
          <p:cNvPicPr>
            <a:picLocks noChangeAspect="1"/>
          </p:cNvPicPr>
          <p:nvPr/>
        </p:nvPicPr>
        <p:blipFill>
          <a:blip r:embed="rId3"/>
          <a:stretch>
            <a:fillRect/>
          </a:stretch>
        </p:blipFill>
        <p:spPr>
          <a:xfrm>
            <a:off x="5774579" y="1737537"/>
            <a:ext cx="5895343" cy="4084674"/>
          </a:xfrm>
          <a:prstGeom prst="rect">
            <a:avLst/>
          </a:prstGeom>
        </p:spPr>
      </p:pic>
    </p:spTree>
    <p:extLst>
      <p:ext uri="{BB962C8B-B14F-4D97-AF65-F5344CB8AC3E}">
        <p14:creationId xmlns:p14="http://schemas.microsoft.com/office/powerpoint/2010/main" val="240162220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0149">
                                            <p:txEl>
                                              <p:pRg st="0" end="0"/>
                                            </p:txEl>
                                          </p:spTgt>
                                        </p:tgtEl>
                                        <p:attrNameLst>
                                          <p:attrName>style.visibility</p:attrName>
                                        </p:attrNameLst>
                                      </p:cBhvr>
                                      <p:to>
                                        <p:strVal val="visible"/>
                                      </p:to>
                                    </p:set>
                                    <p:anim calcmode="lin" valueType="num">
                                      <p:cBhvr additive="base">
                                        <p:cTn id="7" dur="500"/>
                                        <p:tgtEl>
                                          <p:spTgt spid="39014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9014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0149">
                                            <p:txEl>
                                              <p:pRg st="1" end="1"/>
                                            </p:txEl>
                                          </p:spTgt>
                                        </p:tgtEl>
                                        <p:attrNameLst>
                                          <p:attrName>style.visibility</p:attrName>
                                        </p:attrNameLst>
                                      </p:cBhvr>
                                      <p:to>
                                        <p:strVal val="visible"/>
                                      </p:to>
                                    </p:set>
                                    <p:anim calcmode="lin" valueType="num">
                                      <p:cBhvr additive="base">
                                        <p:cTn id="13" dur="500"/>
                                        <p:tgtEl>
                                          <p:spTgt spid="39014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9014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90149">
                                            <p:txEl>
                                              <p:pRg st="2" end="2"/>
                                            </p:txEl>
                                          </p:spTgt>
                                        </p:tgtEl>
                                        <p:attrNameLst>
                                          <p:attrName>style.visibility</p:attrName>
                                        </p:attrNameLst>
                                      </p:cBhvr>
                                      <p:to>
                                        <p:strVal val="visible"/>
                                      </p:to>
                                    </p:set>
                                    <p:anim calcmode="lin" valueType="num">
                                      <p:cBhvr additive="base">
                                        <p:cTn id="19" dur="500"/>
                                        <p:tgtEl>
                                          <p:spTgt spid="39014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9014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90149">
                                            <p:txEl>
                                              <p:pRg st="3" end="3"/>
                                            </p:txEl>
                                          </p:spTgt>
                                        </p:tgtEl>
                                        <p:attrNameLst>
                                          <p:attrName>style.visibility</p:attrName>
                                        </p:attrNameLst>
                                      </p:cBhvr>
                                      <p:to>
                                        <p:strVal val="visible"/>
                                      </p:to>
                                    </p:set>
                                    <p:anim calcmode="lin" valueType="num">
                                      <p:cBhvr additive="base">
                                        <p:cTn id="25" dur="500"/>
                                        <p:tgtEl>
                                          <p:spTgt spid="39014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9014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90149">
                                            <p:txEl>
                                              <p:pRg st="4" end="4"/>
                                            </p:txEl>
                                          </p:spTgt>
                                        </p:tgtEl>
                                        <p:attrNameLst>
                                          <p:attrName>style.visibility</p:attrName>
                                        </p:attrNameLst>
                                      </p:cBhvr>
                                      <p:to>
                                        <p:strVal val="visible"/>
                                      </p:to>
                                    </p:set>
                                    <p:anim calcmode="lin" valueType="num">
                                      <p:cBhvr additive="base">
                                        <p:cTn id="31" dur="500"/>
                                        <p:tgtEl>
                                          <p:spTgt spid="39014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901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9"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D1404-5377-4405-74BD-831F59BCA88F}"/>
              </a:ext>
            </a:extLst>
          </p:cNvPr>
          <p:cNvSpPr>
            <a:spLocks noGrp="1"/>
          </p:cNvSpPr>
          <p:nvPr>
            <p:ph type="title"/>
          </p:nvPr>
        </p:nvSpPr>
        <p:spPr/>
        <p:txBody>
          <a:bodyPr/>
          <a:lstStyle/>
          <a:p>
            <a:r>
              <a:rPr lang="en-MY" dirty="0"/>
              <a:t>Summary</a:t>
            </a:r>
          </a:p>
        </p:txBody>
      </p:sp>
      <p:sp>
        <p:nvSpPr>
          <p:cNvPr id="3" name="Content Placeholder 2">
            <a:extLst>
              <a:ext uri="{FF2B5EF4-FFF2-40B4-BE49-F238E27FC236}">
                <a16:creationId xmlns:a16="http://schemas.microsoft.com/office/drawing/2014/main" id="{8D3C1678-05F1-1B5F-13E0-4D6EED599196}"/>
              </a:ext>
            </a:extLst>
          </p:cNvPr>
          <p:cNvSpPr>
            <a:spLocks noGrp="1"/>
          </p:cNvSpPr>
          <p:nvPr>
            <p:ph idx="1"/>
          </p:nvPr>
        </p:nvSpPr>
        <p:spPr>
          <a:xfrm>
            <a:off x="838200" y="1273324"/>
            <a:ext cx="10515600" cy="4621628"/>
          </a:xfrm>
        </p:spPr>
        <p:txBody>
          <a:bodyPr>
            <a:normAutofit fontScale="70000" lnSpcReduction="20000"/>
          </a:bodyPr>
          <a:lstStyle/>
          <a:p>
            <a:r>
              <a:rPr lang="en-MY" dirty="0"/>
              <a:t>Utility is the satisfaction gained from consumption. Marginal utility diminishes as we increase consumption</a:t>
            </a:r>
          </a:p>
          <a:p>
            <a:r>
              <a:rPr lang="en-MY" dirty="0"/>
              <a:t>Consumer surplus is the net gain from consumption</a:t>
            </a:r>
          </a:p>
          <a:p>
            <a:r>
              <a:rPr lang="en-MY" dirty="0"/>
              <a:t>Risk exists in any event where the outcomes are unpredictable; there are 3 attitudes towards risk</a:t>
            </a:r>
          </a:p>
          <a:p>
            <a:r>
              <a:rPr lang="en-MY" dirty="0"/>
              <a:t>A risk averse individual is willing to sacrifice some income to avoid risk; this individual can avoid risk by buying insurance</a:t>
            </a:r>
          </a:p>
          <a:p>
            <a:r>
              <a:rPr lang="en-MY" dirty="0"/>
              <a:t>Insurance markets suffer from 2 problems i.e. adverse selection and moral hazard. Signalling/screening helps to resolve adverse selection while monitoring the behaviour of insurance buyers could reduce moral hazard</a:t>
            </a:r>
          </a:p>
          <a:p>
            <a:r>
              <a:rPr lang="en-GB" dirty="0"/>
              <a:t>In the short-run, at least one factor of production is fixed.</a:t>
            </a:r>
          </a:p>
          <a:p>
            <a:r>
              <a:rPr lang="en-GB" dirty="0"/>
              <a:t>The Law of Diminishing Returns is when each extra unit of the variable factor will produce less additional output than the previous unit.</a:t>
            </a:r>
          </a:p>
          <a:p>
            <a:r>
              <a:rPr lang="en-GB" altLang="en-US" dirty="0"/>
              <a:t>A firm’s cost of production will depend on the productivity and costs of the factor of production it uses.</a:t>
            </a:r>
          </a:p>
          <a:p>
            <a:r>
              <a:rPr lang="en-GB"/>
              <a:t>In </a:t>
            </a:r>
            <a:r>
              <a:rPr lang="en-GB" dirty="0"/>
              <a:t>the long-run, all factors of production are </a:t>
            </a:r>
            <a:r>
              <a:rPr lang="en-GB"/>
              <a:t>variable.</a:t>
            </a:r>
          </a:p>
          <a:p>
            <a:r>
              <a:rPr lang="en-GB"/>
              <a:t>A </a:t>
            </a:r>
            <a:r>
              <a:rPr lang="en-GB" dirty="0"/>
              <a:t>firm experiences economies of scale if costs per unit of output fall as the scale of production increases</a:t>
            </a:r>
            <a:endParaRPr lang="en-MY" dirty="0"/>
          </a:p>
          <a:p>
            <a:endParaRPr lang="en-MY" dirty="0"/>
          </a:p>
          <a:p>
            <a:endParaRPr lang="en-MY" dirty="0"/>
          </a:p>
          <a:p>
            <a:endParaRPr lang="en-MY" dirty="0"/>
          </a:p>
          <a:p>
            <a:endParaRPr lang="en-MY" dirty="0"/>
          </a:p>
        </p:txBody>
      </p:sp>
    </p:spTree>
    <p:extLst>
      <p:ext uri="{BB962C8B-B14F-4D97-AF65-F5344CB8AC3E}">
        <p14:creationId xmlns:p14="http://schemas.microsoft.com/office/powerpoint/2010/main" val="130403011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7B2099-E7CC-434D-9C82-BE12EDC62CEE}">
  <ds:schemaRefs>
    <ds:schemaRef ds:uri="4e318df0-612d-4dff-ad55-c2016fd214d1"/>
    <ds:schemaRef ds:uri="750e769a-c6ab-48a0-ac99-347a633d87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82C876A-3CFF-456F-9860-B4CE26D1D368}">
  <ds:schemaRefs>
    <ds:schemaRef ds:uri="4e318df0-612d-4dff-ad55-c2016fd214d1"/>
    <ds:schemaRef ds:uri="750e769a-c6ab-48a0-ac99-347a633d87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ECF88A7-10E3-4B78-AAB4-E035B0995F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TotalTime>
  <Words>3747</Words>
  <Application>Microsoft Office PowerPoint</Application>
  <PresentationFormat>Widescreen</PresentationFormat>
  <Paragraphs>483</Paragraphs>
  <Slides>38</Slides>
  <Notes>25</Notes>
  <HiddenSlides>0</HiddenSlides>
  <MMClips>0</MMClips>
  <ScaleCrop>false</ScaleCrop>
  <HeadingPairs>
    <vt:vector size="8" baseType="variant">
      <vt:variant>
        <vt:lpstr>Fonts Used</vt:lpstr>
      </vt:variant>
      <vt:variant>
        <vt:i4>5</vt:i4>
      </vt:variant>
      <vt:variant>
        <vt:lpstr>Theme</vt:lpstr>
      </vt:variant>
      <vt:variant>
        <vt:i4>6</vt:i4>
      </vt:variant>
      <vt:variant>
        <vt:lpstr>Embedded OLE Servers</vt:lpstr>
      </vt:variant>
      <vt:variant>
        <vt:i4>1</vt:i4>
      </vt:variant>
      <vt:variant>
        <vt:lpstr>Slide Titles</vt:lpstr>
      </vt:variant>
      <vt:variant>
        <vt:i4>38</vt:i4>
      </vt:variant>
    </vt:vector>
  </HeadingPairs>
  <TitlesOfParts>
    <vt:vector size="50" baseType="lpstr">
      <vt:lpstr>Aptos</vt:lpstr>
      <vt:lpstr>Arial</vt:lpstr>
      <vt:lpstr>Calibri</vt:lpstr>
      <vt:lpstr>Helvetica</vt:lpstr>
      <vt:lpstr>Times New Roman</vt:lpstr>
      <vt:lpstr>Custom Design</vt:lpstr>
      <vt:lpstr>1_Custom Design</vt:lpstr>
      <vt:lpstr>1_Office Theme</vt:lpstr>
      <vt:lpstr>4_Custom Design</vt:lpstr>
      <vt:lpstr>5_Custom Design</vt:lpstr>
      <vt:lpstr>6_Custom Design</vt:lpstr>
      <vt:lpstr>Document</vt:lpstr>
      <vt:lpstr>C29PE Economics for Professionals</vt:lpstr>
      <vt:lpstr>PowerPoint Presentation</vt:lpstr>
      <vt:lpstr>References</vt:lpstr>
      <vt:lpstr>Part 1</vt:lpstr>
      <vt:lpstr>Demand and utility</vt:lpstr>
      <vt:lpstr>Risk and uncertainty</vt:lpstr>
      <vt:lpstr>Example of a gamble</vt:lpstr>
      <vt:lpstr>Attitudes towards any risk</vt:lpstr>
      <vt:lpstr>The marginal utility of income</vt:lpstr>
      <vt:lpstr>Decreasing marginal utility</vt:lpstr>
      <vt:lpstr>Total utility and the gamble</vt:lpstr>
      <vt:lpstr>PowerPoint Presentation</vt:lpstr>
      <vt:lpstr>What we do</vt:lpstr>
      <vt:lpstr>The nature of insurance</vt:lpstr>
      <vt:lpstr>The adverse selection problem</vt:lpstr>
      <vt:lpstr>Resolving adverse selection</vt:lpstr>
      <vt:lpstr>Moral hazard</vt:lpstr>
      <vt:lpstr>Addressing moral hazard</vt:lpstr>
      <vt:lpstr>Part 2</vt:lpstr>
      <vt:lpstr>Costs of Production, Revenue and Profit</vt:lpstr>
      <vt:lpstr>Production in the Short Run</vt:lpstr>
      <vt:lpstr>Production in the Short Run</vt:lpstr>
      <vt:lpstr>Production in the Short Run</vt:lpstr>
      <vt:lpstr>Wheat production per year from a particular farm</vt:lpstr>
      <vt:lpstr>Costs in the Short run</vt:lpstr>
      <vt:lpstr>Total costs for firm X</vt:lpstr>
      <vt:lpstr>PowerPoint Presentation</vt:lpstr>
      <vt:lpstr>PowerPoint Presentation</vt:lpstr>
      <vt:lpstr>Average and marginal costs (short run)</vt:lpstr>
      <vt:lpstr>Costs in the Short run</vt:lpstr>
      <vt:lpstr>Costs in the Short run</vt:lpstr>
      <vt:lpstr>Production in the Long run</vt:lpstr>
      <vt:lpstr>Production in the Long run</vt:lpstr>
      <vt:lpstr>Production in the Long run – Reasons for Economies of Scale</vt:lpstr>
      <vt:lpstr>Production in the Long run</vt:lpstr>
      <vt:lpstr>Production in the Long run</vt:lpstr>
      <vt:lpstr>Costs in the Long run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13</cp:revision>
  <cp:lastPrinted>2024-09-24T17:43:03Z</cp:lastPrinted>
  <dcterms:created xsi:type="dcterms:W3CDTF">2024-03-26T13:44:16Z</dcterms:created>
  <dcterms:modified xsi:type="dcterms:W3CDTF">2025-08-29T01:43:33Z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