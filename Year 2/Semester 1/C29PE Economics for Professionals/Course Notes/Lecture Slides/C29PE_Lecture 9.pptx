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1.xml" ContentType="application/vnd.openxmlformats-officedocument.drawingml.chart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712" r:id="rId5"/>
    <p:sldMasterId id="2147483700" r:id="rId6"/>
    <p:sldMasterId id="2147483692" r:id="rId7"/>
    <p:sldMasterId id="2147483706" r:id="rId8"/>
    <p:sldMasterId id="2147483718" r:id="rId9"/>
  </p:sldMasterIdLst>
  <p:notesMasterIdLst>
    <p:notesMasterId r:id="rId61"/>
  </p:notesMasterIdLst>
  <p:sldIdLst>
    <p:sldId id="1019" r:id="rId10"/>
    <p:sldId id="946" r:id="rId11"/>
    <p:sldId id="1020" r:id="rId12"/>
    <p:sldId id="576" r:id="rId13"/>
    <p:sldId id="397" r:id="rId14"/>
    <p:sldId id="947" r:id="rId15"/>
    <p:sldId id="948" r:id="rId16"/>
    <p:sldId id="1006" r:id="rId17"/>
    <p:sldId id="577" r:id="rId18"/>
    <p:sldId id="951" r:id="rId19"/>
    <p:sldId id="1007" r:id="rId20"/>
    <p:sldId id="558" r:id="rId21"/>
    <p:sldId id="270" r:id="rId22"/>
    <p:sldId id="1011" r:id="rId23"/>
    <p:sldId id="1010" r:id="rId24"/>
    <p:sldId id="1012" r:id="rId25"/>
    <p:sldId id="266" r:id="rId26"/>
    <p:sldId id="596" r:id="rId27"/>
    <p:sldId id="265" r:id="rId28"/>
    <p:sldId id="515" r:id="rId29"/>
    <p:sldId id="267" r:id="rId30"/>
    <p:sldId id="581" r:id="rId31"/>
    <p:sldId id="661" r:id="rId32"/>
    <p:sldId id="658" r:id="rId33"/>
    <p:sldId id="663" r:id="rId34"/>
    <p:sldId id="667" r:id="rId35"/>
    <p:sldId id="668" r:id="rId36"/>
    <p:sldId id="525" r:id="rId37"/>
    <p:sldId id="579" r:id="rId38"/>
    <p:sldId id="445" r:id="rId39"/>
    <p:sldId id="590" r:id="rId40"/>
    <p:sldId id="591" r:id="rId41"/>
    <p:sldId id="1014" r:id="rId42"/>
    <p:sldId id="446" r:id="rId43"/>
    <p:sldId id="1009" r:id="rId44"/>
    <p:sldId id="955" r:id="rId45"/>
    <p:sldId id="582" r:id="rId46"/>
    <p:sldId id="583" r:id="rId47"/>
    <p:sldId id="958" r:id="rId48"/>
    <p:sldId id="1021" r:id="rId49"/>
    <p:sldId id="418" r:id="rId50"/>
    <p:sldId id="1008" r:id="rId51"/>
    <p:sldId id="275" r:id="rId52"/>
    <p:sldId id="656" r:id="rId53"/>
    <p:sldId id="659" r:id="rId54"/>
    <p:sldId id="660" r:id="rId55"/>
    <p:sldId id="937" r:id="rId56"/>
    <p:sldId id="533" r:id="rId57"/>
    <p:sldId id="620" r:id="rId58"/>
    <p:sldId id="953" r:id="rId59"/>
    <p:sldId id="621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433"/>
    <a:srgbClr val="A8BF33"/>
    <a:srgbClr val="0096CE"/>
    <a:srgbClr val="003C22"/>
    <a:srgbClr val="51160F"/>
    <a:srgbClr val="38042E"/>
    <a:srgbClr val="E9822C"/>
    <a:srgbClr val="D497B8"/>
    <a:srgbClr val="E48539"/>
    <a:srgbClr val="ACD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3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63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5" Type="http://schemas.openxmlformats.org/officeDocument/2006/relationships/slideMaster" Target="slideMasters/slideMaster2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734623735814316E-2"/>
          <c:y val="6.2584011767496783E-2"/>
          <c:w val="0.90995762711864403"/>
          <c:h val="0.8559322033898305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70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6600"/>
              </a:solidFill>
              <a:ln>
                <a:solidFill>
                  <a:srgbClr val="0066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Sheet1!$B$2:$EB$2</c:f>
              <c:numCache>
                <c:formatCode>General</c:formatCode>
                <c:ptCount val="131"/>
                <c:pt idx="43">
                  <c:v>6.4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BE9-4A85-8C7C-BB9EE5EE6FE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71</c:v>
                </c:pt>
              </c:strCache>
            </c:strRef>
          </c:tx>
          <c:spPr>
            <a:ln w="28575">
              <a:noFill/>
            </a:ln>
          </c:spPr>
          <c:marker>
            <c:symbol val="circle"/>
            <c:size val="4"/>
            <c:spPr>
              <a:solidFill>
                <a:srgbClr val="006600"/>
              </a:solidFill>
              <a:ln>
                <a:solidFill>
                  <a:srgbClr val="0066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Sheet1!$B$3:$EB$3</c:f>
              <c:numCache>
                <c:formatCode>General</c:formatCode>
                <c:ptCount val="131"/>
                <c:pt idx="41">
                  <c:v>9.4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BE9-4A85-8C7C-BB9EE5EE6FE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72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6600"/>
              </a:solidFill>
              <a:ln>
                <a:solidFill>
                  <a:srgbClr val="0066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Sheet1!$B$4:$EB$4</c:f>
              <c:numCache>
                <c:formatCode>General</c:formatCode>
                <c:ptCount val="131"/>
                <c:pt idx="43">
                  <c:v>7.1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BE9-4A85-8C7C-BB9EE5EE6FE8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73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6600"/>
              </a:solidFill>
              <a:ln>
                <a:solidFill>
                  <a:srgbClr val="0066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Sheet1!$B$5:$EB$5</c:f>
              <c:numCache>
                <c:formatCode>General</c:formatCode>
                <c:ptCount val="131"/>
                <c:pt idx="37">
                  <c:v>9.1999999999999993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BE9-4A85-8C7C-BB9EE5EE6FE8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74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6600"/>
              </a:solidFill>
              <a:ln>
                <a:solidFill>
                  <a:srgbClr val="0066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Sheet1!$B$6:$EB$6</c:f>
              <c:numCache>
                <c:formatCode>General</c:formatCode>
                <c:ptCount val="131"/>
                <c:pt idx="37">
                  <c:v>16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BE9-4A85-8C7C-BB9EE5EE6FE8}"/>
            </c:ext>
          </c:extLst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75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660066"/>
              </a:solidFill>
              <a:ln>
                <a:solidFill>
                  <a:srgbClr val="660066"/>
                </a:solidFill>
                <a:prstDash val="solid"/>
              </a:ln>
            </c:spPr>
          </c:marker>
          <c:dPt>
            <c:idx val="45"/>
            <c:marker>
              <c:spPr>
                <a:solidFill>
                  <a:srgbClr val="FF0000"/>
                </a:solidFill>
                <a:ln>
                  <a:solidFill>
                    <a:srgbClr val="FF00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Sheet1!$B$7:$EB$7</c:f>
              <c:numCache>
                <c:formatCode>General</c:formatCode>
                <c:ptCount val="131"/>
                <c:pt idx="45">
                  <c:v>24.2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DBE9-4A85-8C7C-BB9EE5EE6FE8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76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Sheet1!$B$8:$EB$8</c:f>
              <c:numCache>
                <c:formatCode>General</c:formatCode>
                <c:ptCount val="131"/>
                <c:pt idx="54">
                  <c:v>16.5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DBE9-4A85-8C7C-BB9EE5EE6FE8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77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660066"/>
              </a:solidFill>
              <a:ln>
                <a:solidFill>
                  <a:srgbClr val="660066"/>
                </a:solidFill>
                <a:prstDash val="solid"/>
              </a:ln>
            </c:spPr>
          </c:marker>
          <c:dPt>
            <c:idx val="56"/>
            <c:marker>
              <c:spPr>
                <a:solidFill>
                  <a:srgbClr val="FF0000"/>
                </a:solidFill>
                <a:ln>
                  <a:solidFill>
                    <a:srgbClr val="FF00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Sheet1!$B$9:$EB$9</c:f>
              <c:numCache>
                <c:formatCode>General</c:formatCode>
                <c:ptCount val="131"/>
                <c:pt idx="56">
                  <c:v>15.8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BE9-4A85-8C7C-BB9EE5EE6FE8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78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660066"/>
              </a:solidFill>
              <a:ln>
                <a:solidFill>
                  <a:srgbClr val="660066"/>
                </a:solidFill>
                <a:prstDash val="solid"/>
              </a:ln>
            </c:spPr>
          </c:marker>
          <c:dPt>
            <c:idx val="55"/>
            <c:marker>
              <c:spPr>
                <a:solidFill>
                  <a:srgbClr val="FF0000"/>
                </a:solidFill>
                <a:ln>
                  <a:solidFill>
                    <a:srgbClr val="FF00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Sheet1!$B$10:$EB$10</c:f>
              <c:numCache>
                <c:formatCode>General</c:formatCode>
                <c:ptCount val="131"/>
                <c:pt idx="55">
                  <c:v>8.3000000000000007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DBE9-4A85-8C7C-BB9EE5EE6FE8}"/>
            </c:ext>
          </c:extLst>
        </c:ser>
        <c:ser>
          <c:idx val="9"/>
          <c:order val="9"/>
          <c:tx>
            <c:strRef>
              <c:f>Sheet1!$A$11</c:f>
              <c:strCache>
                <c:ptCount val="1"/>
                <c:pt idx="0">
                  <c:v>79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Sheet1!$B$11:$EB$11</c:f>
              <c:numCache>
                <c:formatCode>General</c:formatCode>
                <c:ptCount val="131"/>
                <c:pt idx="54">
                  <c:v>13.4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DBE9-4A85-8C7C-BB9EE5EE6FE8}"/>
            </c:ext>
          </c:extLst>
        </c:ser>
        <c:ser>
          <c:idx val="10"/>
          <c:order val="10"/>
          <c:tx>
            <c:strRef>
              <c:f>Sheet1!$A$12</c:f>
              <c:strCache>
                <c:ptCount val="1"/>
                <c:pt idx="0">
                  <c:v>80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660066"/>
              </a:solidFill>
              <a:ln>
                <a:solidFill>
                  <a:srgbClr val="996633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Sheet1!$B$12:$EB$12</c:f>
              <c:numCache>
                <c:formatCode>General</c:formatCode>
                <c:ptCount val="131"/>
                <c:pt idx="68">
                  <c:v>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DBE9-4A85-8C7C-BB9EE5EE6FE8}"/>
            </c:ext>
          </c:extLst>
        </c:ser>
        <c:ser>
          <c:idx val="11"/>
          <c:order val="11"/>
          <c:tx>
            <c:strRef>
              <c:f>Sheet1!$A$13</c:f>
              <c:strCache>
                <c:ptCount val="1"/>
                <c:pt idx="0">
                  <c:v>81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96633"/>
                </a:solidFill>
                <a:prstDash val="solid"/>
              </a:ln>
            </c:spPr>
          </c:marker>
          <c:dPt>
            <c:idx val="96"/>
            <c:marker>
              <c:spPr>
                <a:solidFill>
                  <a:schemeClr val="accent1"/>
                </a:solidFill>
                <a:ln>
                  <a:solidFill>
                    <a:srgbClr val="66006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Sheet1!$B$13:$EB$13</c:f>
              <c:numCache>
                <c:formatCode>General</c:formatCode>
                <c:ptCount val="131"/>
                <c:pt idx="96">
                  <c:v>11.9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DBE9-4A85-8C7C-BB9EE5EE6FE8}"/>
            </c:ext>
          </c:extLst>
        </c:ser>
        <c:ser>
          <c:idx val="12"/>
          <c:order val="12"/>
          <c:tx>
            <c:strRef>
              <c:f>Sheet1!$A$14</c:f>
              <c:strCache>
                <c:ptCount val="1"/>
                <c:pt idx="0">
                  <c:v>82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96633"/>
                </a:solidFill>
                <a:prstDash val="solid"/>
              </a:ln>
            </c:spPr>
          </c:marker>
          <c:dPt>
            <c:idx val="107"/>
            <c:marker>
              <c:spPr>
                <a:solidFill>
                  <a:schemeClr val="accent1"/>
                </a:solidFill>
                <a:ln>
                  <a:solidFill>
                    <a:srgbClr val="66006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Sheet1!$B$14:$EB$14</c:f>
              <c:numCache>
                <c:formatCode>General</c:formatCode>
                <c:ptCount val="131"/>
                <c:pt idx="107">
                  <c:v>8.6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1-DBE9-4A85-8C7C-BB9EE5EE6FE8}"/>
            </c:ext>
          </c:extLst>
        </c:ser>
        <c:ser>
          <c:idx val="13"/>
          <c:order val="13"/>
          <c:tx>
            <c:strRef>
              <c:f>Sheet1!$A$15</c:f>
              <c:strCache>
                <c:ptCount val="1"/>
                <c:pt idx="0">
                  <c:v>83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96633"/>
                </a:solidFill>
                <a:prstDash val="solid"/>
              </a:ln>
            </c:spPr>
          </c:marker>
          <c:dPt>
            <c:idx val="115"/>
            <c:marker>
              <c:spPr>
                <a:solidFill>
                  <a:srgbClr val="660066"/>
                </a:solidFill>
                <a:ln>
                  <a:solidFill>
                    <a:srgbClr val="66006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Sheet1!$B$15:$EB$15</c:f>
              <c:numCache>
                <c:formatCode>General</c:formatCode>
                <c:ptCount val="131"/>
                <c:pt idx="115">
                  <c:v>4.5999999999999996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3-DBE9-4A85-8C7C-BB9EE5EE6FE8}"/>
            </c:ext>
          </c:extLst>
        </c:ser>
        <c:ser>
          <c:idx val="14"/>
          <c:order val="14"/>
          <c:tx>
            <c:strRef>
              <c:f>Sheet1!$A$16</c:f>
              <c:strCache>
                <c:ptCount val="1"/>
                <c:pt idx="0">
                  <c:v>84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96633"/>
                </a:solidFill>
                <a:prstDash val="solid"/>
              </a:ln>
            </c:spPr>
          </c:marker>
          <c:dPt>
            <c:idx val="118"/>
            <c:marker>
              <c:spPr>
                <a:solidFill>
                  <a:srgbClr val="660066"/>
                </a:solidFill>
                <a:ln>
                  <a:solidFill>
                    <a:srgbClr val="66006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Sheet1!$B$16:$EB$16</c:f>
              <c:numCache>
                <c:formatCode>General</c:formatCode>
                <c:ptCount val="131"/>
                <c:pt idx="118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DBE9-4A85-8C7C-BB9EE5EE6FE8}"/>
            </c:ext>
          </c:extLst>
        </c:ser>
        <c:ser>
          <c:idx val="15"/>
          <c:order val="15"/>
          <c:tx>
            <c:strRef>
              <c:f>Sheet1!$A$17</c:f>
              <c:strCache>
                <c:ptCount val="1"/>
                <c:pt idx="0">
                  <c:v>85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660066"/>
              </a:solidFill>
              <a:ln>
                <a:solidFill>
                  <a:srgbClr val="660066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Sheet1!$B$17:$EB$17</c:f>
              <c:numCache>
                <c:formatCode>General</c:formatCode>
                <c:ptCount val="131"/>
                <c:pt idx="114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6-DBE9-4A85-8C7C-BB9EE5EE6FE8}"/>
            </c:ext>
          </c:extLst>
        </c:ser>
        <c:ser>
          <c:idx val="16"/>
          <c:order val="16"/>
          <c:tx>
            <c:strRef>
              <c:f>Sheet1!$A$18</c:f>
              <c:strCache>
                <c:ptCount val="1"/>
                <c:pt idx="0">
                  <c:v>86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0099"/>
              </a:solidFill>
              <a:ln>
                <a:solidFill>
                  <a:srgbClr val="000099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Sheet1!$B$18:$EB$18</c:f>
              <c:numCache>
                <c:formatCode>General</c:formatCode>
                <c:ptCount val="131"/>
                <c:pt idx="113">
                  <c:v>3.4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7-DBE9-4A85-8C7C-BB9EE5EE6FE8}"/>
            </c:ext>
          </c:extLst>
        </c:ser>
        <c:ser>
          <c:idx val="17"/>
          <c:order val="17"/>
          <c:tx>
            <c:strRef>
              <c:f>Sheet1!$A$19</c:f>
              <c:strCache>
                <c:ptCount val="1"/>
                <c:pt idx="0">
                  <c:v>87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0099"/>
              </a:solidFill>
              <a:ln>
                <a:solidFill>
                  <a:srgbClr val="000099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Sheet1!$B$19:$EB$19</c:f>
              <c:numCache>
                <c:formatCode>General</c:formatCode>
                <c:ptCount val="131"/>
                <c:pt idx="104">
                  <c:v>4.2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8-DBE9-4A85-8C7C-BB9EE5EE6FE8}"/>
            </c:ext>
          </c:extLst>
        </c:ser>
        <c:ser>
          <c:idx val="18"/>
          <c:order val="18"/>
          <c:tx>
            <c:strRef>
              <c:f>Sheet1!$A$20</c:f>
              <c:strCache>
                <c:ptCount val="1"/>
                <c:pt idx="0">
                  <c:v>88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0099"/>
              </a:solidFill>
              <a:ln>
                <a:solidFill>
                  <a:srgbClr val="000099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Sheet1!$B$20:$EB$20</c:f>
              <c:numCache>
                <c:formatCode>General</c:formatCode>
                <c:ptCount val="131"/>
                <c:pt idx="86">
                  <c:v>4.9000000000000004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9-DBE9-4A85-8C7C-BB9EE5EE6FE8}"/>
            </c:ext>
          </c:extLst>
        </c:ser>
        <c:ser>
          <c:idx val="19"/>
          <c:order val="19"/>
          <c:tx>
            <c:strRef>
              <c:f>Sheet1!$A$21</c:f>
              <c:strCache>
                <c:ptCount val="1"/>
                <c:pt idx="0">
                  <c:v>89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0099"/>
              </a:solidFill>
              <a:ln>
                <a:solidFill>
                  <a:srgbClr val="000099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Sheet1!$B$21:$EB$21</c:f>
              <c:numCache>
                <c:formatCode>General</c:formatCode>
                <c:ptCount val="131"/>
                <c:pt idx="72">
                  <c:v>7.8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A-DBE9-4A85-8C7C-BB9EE5EE6FE8}"/>
            </c:ext>
          </c:extLst>
        </c:ser>
        <c:ser>
          <c:idx val="20"/>
          <c:order val="20"/>
          <c:tx>
            <c:strRef>
              <c:f>Sheet1!$A$22</c:f>
              <c:strCache>
                <c:ptCount val="1"/>
                <c:pt idx="0">
                  <c:v>90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0099"/>
              </a:solidFill>
              <a:ln>
                <a:solidFill>
                  <a:srgbClr val="000099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Sheet1!$B$22:$EB$22</c:f>
              <c:numCache>
                <c:formatCode>General</c:formatCode>
                <c:ptCount val="131"/>
                <c:pt idx="71">
                  <c:v>9.5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B-DBE9-4A85-8C7C-BB9EE5EE6FE8}"/>
            </c:ext>
          </c:extLst>
        </c:ser>
        <c:ser>
          <c:idx val="21"/>
          <c:order val="21"/>
          <c:tx>
            <c:strRef>
              <c:f>Sheet1!$A$23</c:f>
              <c:strCache>
                <c:ptCount val="1"/>
                <c:pt idx="0">
                  <c:v>91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0099"/>
              </a:solidFill>
              <a:ln>
                <a:solidFill>
                  <a:srgbClr val="000099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Sheet1!$B$23:$EB$23</c:f>
              <c:numCache>
                <c:formatCode>General</c:formatCode>
                <c:ptCount val="131"/>
                <c:pt idx="89">
                  <c:v>5.9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C-DBE9-4A85-8C7C-BB9EE5EE6FE8}"/>
            </c:ext>
          </c:extLst>
        </c:ser>
        <c:ser>
          <c:idx val="22"/>
          <c:order val="22"/>
          <c:tx>
            <c:strRef>
              <c:f>Sheet1!$A$24</c:f>
              <c:strCache>
                <c:ptCount val="1"/>
                <c:pt idx="0">
                  <c:v>92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0099"/>
              </a:solidFill>
              <a:ln>
                <a:solidFill>
                  <a:srgbClr val="000099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Sheet1!$B$24:$EB$24</c:f>
              <c:numCache>
                <c:formatCode>General</c:formatCode>
                <c:ptCount val="131"/>
                <c:pt idx="99">
                  <c:v>3.7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D-DBE9-4A85-8C7C-BB9EE5EE6FE8}"/>
            </c:ext>
          </c:extLst>
        </c:ser>
        <c:ser>
          <c:idx val="23"/>
          <c:order val="23"/>
          <c:tx>
            <c:strRef>
              <c:f>Sheet1!$A$25</c:f>
              <c:strCache>
                <c:ptCount val="1"/>
                <c:pt idx="0">
                  <c:v>93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0099"/>
              </a:solidFill>
              <a:ln>
                <a:solidFill>
                  <a:srgbClr val="000099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Sheet1!$B$25:$EB$25</c:f>
              <c:numCache>
                <c:formatCode>General</c:formatCode>
                <c:ptCount val="131"/>
                <c:pt idx="104">
                  <c:v>1.6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E-DBE9-4A85-8C7C-BB9EE5EE6FE8}"/>
            </c:ext>
          </c:extLst>
        </c:ser>
        <c:ser>
          <c:idx val="24"/>
          <c:order val="24"/>
          <c:tx>
            <c:strRef>
              <c:f>Sheet1!$A$26</c:f>
              <c:strCache>
                <c:ptCount val="1"/>
                <c:pt idx="0">
                  <c:v>94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0099"/>
              </a:solidFill>
              <a:ln>
                <a:solidFill>
                  <a:srgbClr val="000099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Sheet1!$B$26:$EB$26</c:f>
              <c:numCache>
                <c:formatCode>General</c:formatCode>
                <c:ptCount val="131"/>
                <c:pt idx="95">
                  <c:v>2.4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DBE9-4A85-8C7C-BB9EE5EE6FE8}"/>
            </c:ext>
          </c:extLst>
        </c:ser>
        <c:ser>
          <c:idx val="25"/>
          <c:order val="25"/>
          <c:tx>
            <c:strRef>
              <c:f>Sheet1!$A$27</c:f>
              <c:strCache>
                <c:ptCount val="1"/>
                <c:pt idx="0">
                  <c:v>95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0099"/>
              </a:solidFill>
              <a:ln>
                <a:solidFill>
                  <a:srgbClr val="000099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Sheet1!$B$27:$EB$27</c:f>
              <c:numCache>
                <c:formatCode>General</c:formatCode>
                <c:ptCount val="131"/>
                <c:pt idx="86">
                  <c:v>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0-DBE9-4A85-8C7C-BB9EE5EE6FE8}"/>
            </c:ext>
          </c:extLst>
        </c:ser>
        <c:ser>
          <c:idx val="26"/>
          <c:order val="26"/>
          <c:tx>
            <c:strRef>
              <c:f>Sheet1!$A$28</c:f>
              <c:strCache>
                <c:ptCount val="1"/>
                <c:pt idx="0">
                  <c:v>96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6633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Sheet1!$B$28:$EB$28</c:f>
              <c:numCache>
                <c:formatCode>General</c:formatCode>
                <c:ptCount val="131"/>
                <c:pt idx="81">
                  <c:v>2.4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1-DBE9-4A85-8C7C-BB9EE5EE6FE8}"/>
            </c:ext>
          </c:extLst>
        </c:ser>
        <c:ser>
          <c:idx val="27"/>
          <c:order val="27"/>
          <c:tx>
            <c:strRef>
              <c:f>Sheet1!$A$29</c:f>
              <c:strCache>
                <c:ptCount val="1"/>
                <c:pt idx="0">
                  <c:v>97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663300"/>
                </a:solidFill>
                <a:prstDash val="solid"/>
              </a:ln>
            </c:spPr>
          </c:marker>
          <c:dPt>
            <c:idx val="69"/>
            <c:bubble3D val="0"/>
            <c:extLst>
              <c:ext xmlns:c16="http://schemas.microsoft.com/office/drawing/2014/chart" uri="{C3380CC4-5D6E-409C-BE32-E72D297353CC}">
                <c16:uniqueId val="{00000022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Sheet1!$B$29:$EB$29</c:f>
              <c:numCache>
                <c:formatCode>General</c:formatCode>
                <c:ptCount val="131"/>
                <c:pt idx="69">
                  <c:v>3.1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3-DBE9-4A85-8C7C-BB9EE5EE6FE8}"/>
            </c:ext>
          </c:extLst>
        </c:ser>
        <c:ser>
          <c:idx val="28"/>
          <c:order val="28"/>
          <c:tx>
            <c:strRef>
              <c:f>Sheet1!$A$30</c:f>
              <c:strCache>
                <c:ptCount val="1"/>
                <c:pt idx="0">
                  <c:v>69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6600"/>
              </a:solidFill>
              <a:ln>
                <a:solidFill>
                  <a:srgbClr val="0066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Sheet1!$B$30:$EB$30</c:f>
              <c:numCache>
                <c:formatCode>General</c:formatCode>
                <c:ptCount val="131"/>
                <c:pt idx="41">
                  <c:v>5.4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4-DBE9-4A85-8C7C-BB9EE5EE6FE8}"/>
            </c:ext>
          </c:extLst>
        </c:ser>
        <c:ser>
          <c:idx val="29"/>
          <c:order val="29"/>
          <c:tx>
            <c:strRef>
              <c:f>Sheet1!$A$31</c:f>
              <c:strCache>
                <c:ptCount val="1"/>
                <c:pt idx="0">
                  <c:v>68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6600"/>
              </a:solidFill>
              <a:ln>
                <a:solidFill>
                  <a:srgbClr val="0066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Sheet1!$B$31:$EB$31</c:f>
              <c:numCache>
                <c:formatCode>General</c:formatCode>
                <c:ptCount val="131"/>
                <c:pt idx="41">
                  <c:v>4.7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5-DBE9-4A85-8C7C-BB9EE5EE6FE8}"/>
            </c:ext>
          </c:extLst>
        </c:ser>
        <c:ser>
          <c:idx val="30"/>
          <c:order val="30"/>
          <c:tx>
            <c:strRef>
              <c:f>Sheet1!$A$32</c:f>
              <c:strCache>
                <c:ptCount val="1"/>
                <c:pt idx="0">
                  <c:v>67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CC0000"/>
              </a:solidFill>
              <a:ln>
                <a:solidFill>
                  <a:srgbClr val="CC00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Sheet1!$B$32:$EB$32</c:f>
              <c:numCache>
                <c:formatCode>General</c:formatCode>
                <c:ptCount val="131"/>
                <c:pt idx="25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6-DBE9-4A85-8C7C-BB9EE5EE6FE8}"/>
            </c:ext>
          </c:extLst>
        </c:ser>
        <c:ser>
          <c:idx val="31"/>
          <c:order val="31"/>
          <c:tx>
            <c:strRef>
              <c:f>Sheet1!$A$33</c:f>
              <c:strCache>
                <c:ptCount val="1"/>
                <c:pt idx="0">
                  <c:v>66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CC0000"/>
              </a:solidFill>
              <a:ln>
                <a:solidFill>
                  <a:srgbClr val="CC00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Sheet1!$B$33:$EB$33</c:f>
              <c:numCache>
                <c:formatCode>General</c:formatCode>
                <c:ptCount val="131"/>
                <c:pt idx="16">
                  <c:v>3.8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7-DBE9-4A85-8C7C-BB9EE5EE6FE8}"/>
            </c:ext>
          </c:extLst>
        </c:ser>
        <c:ser>
          <c:idx val="32"/>
          <c:order val="32"/>
          <c:tx>
            <c:strRef>
              <c:f>Sheet1!$A$34</c:f>
              <c:strCache>
                <c:ptCount val="1"/>
                <c:pt idx="0">
                  <c:v>65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dPt>
            <c:idx val="14"/>
            <c:marker>
              <c:spPr>
                <a:solidFill>
                  <a:srgbClr val="CC0000"/>
                </a:solidFill>
                <a:ln>
                  <a:solidFill>
                    <a:srgbClr val="C000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8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Sheet1!$B$34:$EB$34</c:f>
              <c:numCache>
                <c:formatCode>General</c:formatCode>
                <c:ptCount val="131"/>
                <c:pt idx="14">
                  <c:v>4.7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9-DBE9-4A85-8C7C-BB9EE5EE6FE8}"/>
            </c:ext>
          </c:extLst>
        </c:ser>
        <c:ser>
          <c:idx val="33"/>
          <c:order val="33"/>
          <c:tx>
            <c:strRef>
              <c:f>Sheet1!$A$35</c:f>
              <c:strCache>
                <c:ptCount val="1"/>
                <c:pt idx="0">
                  <c:v>64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CC0000"/>
              </a:solidFill>
              <a:ln>
                <a:solidFill>
                  <a:srgbClr val="CC00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Sheet1!$B$35:$EB$35</c:f>
              <c:numCache>
                <c:formatCode>General</c:formatCode>
                <c:ptCount val="131"/>
                <c:pt idx="17">
                  <c:v>3.1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A-DBE9-4A85-8C7C-BB9EE5EE6FE8}"/>
            </c:ext>
          </c:extLst>
        </c:ser>
        <c:ser>
          <c:idx val="34"/>
          <c:order val="34"/>
          <c:tx>
            <c:strRef>
              <c:f>Sheet1!$A$36</c:f>
              <c:strCache>
                <c:ptCount val="1"/>
                <c:pt idx="0">
                  <c:v>63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CC0000"/>
              </a:solidFill>
              <a:ln>
                <a:solidFill>
                  <a:srgbClr val="CC00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Sheet1!$B$36:$EB$36</c:f>
              <c:numCache>
                <c:formatCode>General</c:formatCode>
                <c:ptCount val="131"/>
                <c:pt idx="23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B-DBE9-4A85-8C7C-BB9EE5EE6FE8}"/>
            </c:ext>
          </c:extLst>
        </c:ser>
        <c:ser>
          <c:idx val="35"/>
          <c:order val="35"/>
          <c:tx>
            <c:strRef>
              <c:f>Sheet1!$A$37</c:f>
              <c:strCache>
                <c:ptCount val="1"/>
                <c:pt idx="0">
                  <c:v>62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CC0000"/>
              </a:solidFill>
              <a:ln>
                <a:solidFill>
                  <a:srgbClr val="CC00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Sheet1!$B$37:$EB$37</c:f>
              <c:numCache>
                <c:formatCode>General</c:formatCode>
                <c:ptCount val="131"/>
                <c:pt idx="20">
                  <c:v>4.0999999999999996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DBE9-4A85-8C7C-BB9EE5EE6FE8}"/>
            </c:ext>
          </c:extLst>
        </c:ser>
        <c:ser>
          <c:idx val="36"/>
          <c:order val="36"/>
          <c:tx>
            <c:strRef>
              <c:f>Sheet1!$A$38</c:f>
              <c:strCache>
                <c:ptCount val="1"/>
                <c:pt idx="0">
                  <c:v>61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CC0000"/>
              </a:solidFill>
              <a:ln>
                <a:solidFill>
                  <a:srgbClr val="CC00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Sheet1!$B$38:$EB$38</c:f>
              <c:numCache>
                <c:formatCode>General</c:formatCode>
                <c:ptCount val="131"/>
                <c:pt idx="15">
                  <c:v>3.2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D-DBE9-4A85-8C7C-BB9EE5EE6FE8}"/>
            </c:ext>
          </c:extLst>
        </c:ser>
        <c:ser>
          <c:idx val="37"/>
          <c:order val="37"/>
          <c:tx>
            <c:strRef>
              <c:f>Sheet1!$A$39</c:f>
              <c:strCache>
                <c:ptCount val="1"/>
                <c:pt idx="0">
                  <c:v>60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CC0000"/>
              </a:solidFill>
              <a:ln>
                <a:solidFill>
                  <a:srgbClr val="CC00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Sheet1!$B$39:$EB$39</c:f>
              <c:numCache>
                <c:formatCode>General</c:formatCode>
                <c:ptCount val="131"/>
                <c:pt idx="17">
                  <c:v>1.1000000000000001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E-DBE9-4A85-8C7C-BB9EE5EE6FE8}"/>
            </c:ext>
          </c:extLst>
        </c:ser>
        <c:ser>
          <c:idx val="38"/>
          <c:order val="38"/>
          <c:tx>
            <c:strRef>
              <c:f>Sheet1!$A$40</c:f>
              <c:strCache>
                <c:ptCount val="1"/>
                <c:pt idx="0">
                  <c:v>98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62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F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Sheet1!$B$40:$EB$40</c:f>
              <c:numCache>
                <c:formatCode>General</c:formatCode>
                <c:ptCount val="131"/>
                <c:pt idx="62">
                  <c:v>3.4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0-DBE9-4A85-8C7C-BB9EE5EE6FE8}"/>
            </c:ext>
          </c:extLst>
        </c:ser>
        <c:ser>
          <c:idx val="39"/>
          <c:order val="39"/>
          <c:tx>
            <c:strRef>
              <c:f>Sheet1!$A$41</c:f>
              <c:strCache>
                <c:ptCount val="1"/>
                <c:pt idx="0">
                  <c:v>99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60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1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Sheet1!$B$41:$EB$41</c:f>
              <c:numCache>
                <c:formatCode>General</c:formatCode>
                <c:ptCount val="131"/>
                <c:pt idx="60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2-DBE9-4A85-8C7C-BB9EE5EE6FE8}"/>
            </c:ext>
          </c:extLst>
        </c:ser>
        <c:ser>
          <c:idx val="40"/>
          <c:order val="40"/>
          <c:tx>
            <c:strRef>
              <c:f>Sheet1!$A$42</c:f>
              <c:strCache>
                <c:ptCount val="1"/>
                <c:pt idx="0">
                  <c:v>0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54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3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Sheet1!$B$42:$EB$42</c:f>
              <c:numCache>
                <c:formatCode>General</c:formatCode>
                <c:ptCount val="131"/>
                <c:pt idx="54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4-DBE9-4A85-8C7C-BB9EE5EE6FE8}"/>
            </c:ext>
          </c:extLst>
        </c:ser>
        <c:ser>
          <c:idx val="41"/>
          <c:order val="41"/>
          <c:tx>
            <c:strRef>
              <c:f>Sheet1!$A$43</c:f>
              <c:strCache>
                <c:ptCount val="1"/>
                <c:pt idx="0">
                  <c:v>1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51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5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Sheet1!$B$43:$EB$43</c:f>
              <c:numCache>
                <c:formatCode>General</c:formatCode>
                <c:ptCount val="131"/>
                <c:pt idx="51">
                  <c:v>1.8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6-DBE9-4A85-8C7C-BB9EE5EE6FE8}"/>
            </c:ext>
          </c:extLst>
        </c:ser>
        <c:ser>
          <c:idx val="42"/>
          <c:order val="42"/>
          <c:tx>
            <c:strRef>
              <c:f>Sheet1!$A$44</c:f>
              <c:strCache>
                <c:ptCount val="1"/>
                <c:pt idx="0">
                  <c:v>2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52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7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Sheet1!$B$44:$EB$44</c:f>
              <c:numCache>
                <c:formatCode>General</c:formatCode>
                <c:ptCount val="131"/>
                <c:pt idx="52">
                  <c:v>1.7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8-DBE9-4A85-8C7C-BB9EE5EE6FE8}"/>
            </c:ext>
          </c:extLst>
        </c:ser>
        <c:ser>
          <c:idx val="43"/>
          <c:order val="43"/>
          <c:tx>
            <c:strRef>
              <c:f>Sheet1!$A$45</c:f>
              <c:strCache>
                <c:ptCount val="1"/>
                <c:pt idx="0">
                  <c:v>3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50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9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Sheet1!$B$45:$EB$45</c:f>
              <c:numCache>
                <c:formatCode>General</c:formatCode>
                <c:ptCount val="131"/>
                <c:pt idx="50">
                  <c:v>2.9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A-DBE9-4A85-8C7C-BB9EE5EE6FE8}"/>
            </c:ext>
          </c:extLst>
        </c:ser>
        <c:ser>
          <c:idx val="44"/>
          <c:order val="44"/>
          <c:tx>
            <c:strRef>
              <c:f>Sheet1!$A$46</c:f>
              <c:strCache>
                <c:ptCount val="1"/>
                <c:pt idx="0">
                  <c:v>4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48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B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Sheet1!$B$46:$EB$46</c:f>
              <c:numCache>
                <c:formatCode>General</c:formatCode>
                <c:ptCount val="131"/>
                <c:pt idx="48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C-DBE9-4A85-8C7C-BB9EE5EE6FE8}"/>
            </c:ext>
          </c:extLst>
        </c:ser>
        <c:ser>
          <c:idx val="45"/>
          <c:order val="45"/>
          <c:tx>
            <c:strRef>
              <c:f>Sheet1!$A$47</c:f>
              <c:strCache>
                <c:ptCount val="1"/>
                <c:pt idx="0">
                  <c:v>5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48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D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Sheet1!$B$47:$EB$47</c:f>
              <c:numCache>
                <c:formatCode>General</c:formatCode>
                <c:ptCount val="131"/>
                <c:pt idx="48">
                  <c:v>2.8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E-DBE9-4A85-8C7C-BB9EE5EE6FE8}"/>
            </c:ext>
          </c:extLst>
        </c:ser>
        <c:ser>
          <c:idx val="46"/>
          <c:order val="46"/>
          <c:tx>
            <c:strRef>
              <c:f>Sheet1!$A$48</c:f>
              <c:strCache>
                <c:ptCount val="1"/>
                <c:pt idx="0">
                  <c:v>6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54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F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Sheet1!$B$48:$EB$48</c:f>
              <c:numCache>
                <c:formatCode>General</c:formatCode>
                <c:ptCount val="131"/>
                <c:pt idx="54">
                  <c:v>3.2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0-DBE9-4A85-8C7C-BB9EE5EE6FE8}"/>
            </c:ext>
          </c:extLst>
        </c:ser>
        <c:ser>
          <c:idx val="47"/>
          <c:order val="47"/>
          <c:tx>
            <c:strRef>
              <c:f>Sheet1!$A$49</c:f>
              <c:strCache>
                <c:ptCount val="1"/>
                <c:pt idx="0">
                  <c:v>7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53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1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Sheet1!$B$49:$EB$49</c:f>
              <c:numCache>
                <c:formatCode>General</c:formatCode>
                <c:ptCount val="131"/>
                <c:pt idx="53">
                  <c:v>4.3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2-DBE9-4A85-8C7C-BB9EE5EE6FE8}"/>
            </c:ext>
          </c:extLst>
        </c:ser>
        <c:ser>
          <c:idx val="48"/>
          <c:order val="48"/>
          <c:tx>
            <c:strRef>
              <c:f>Sheet1!$A$50</c:f>
              <c:strCache>
                <c:ptCount val="1"/>
                <c:pt idx="0">
                  <c:v>8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8E5E42"/>
              </a:solidFill>
              <a:ln>
                <a:solidFill>
                  <a:srgbClr val="6633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Sheet1!$B$50:$EB$50</c:f>
              <c:numCache>
                <c:formatCode>General</c:formatCode>
                <c:ptCount val="131"/>
                <c:pt idx="57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3-DBE9-4A85-8C7C-BB9EE5EE6FE8}"/>
            </c:ext>
          </c:extLst>
        </c:ser>
        <c:ser>
          <c:idx val="49"/>
          <c:order val="49"/>
          <c:tx>
            <c:strRef>
              <c:f>Sheet1!$A$51</c:f>
              <c:strCache>
                <c:ptCount val="1"/>
                <c:pt idx="0">
                  <c:v>9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77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4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Sheet1!$B$51:$EB$51</c:f>
              <c:numCache>
                <c:formatCode>General</c:formatCode>
                <c:ptCount val="131"/>
                <c:pt idx="77">
                  <c:v>-0.5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5-DBE9-4A85-8C7C-BB9EE5EE6FE8}"/>
            </c:ext>
          </c:extLst>
        </c:ser>
        <c:ser>
          <c:idx val="51"/>
          <c:order val="50"/>
          <c:tx>
            <c:strRef>
              <c:f>Sheet1!$A$52</c:f>
              <c:strCache>
                <c:ptCount val="1"/>
                <c:pt idx="0">
                  <c:v>10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78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6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Sheet1!$B$52:$EB$52</c:f>
              <c:numCache>
                <c:formatCode>General</c:formatCode>
                <c:ptCount val="131"/>
                <c:pt idx="78">
                  <c:v>4.5999999999999996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7-DBE9-4A85-8C7C-BB9EE5EE6FE8}"/>
            </c:ext>
          </c:extLst>
        </c:ser>
        <c:ser>
          <c:idx val="52"/>
          <c:order val="51"/>
          <c:tx>
            <c:strRef>
              <c:f>Sheet1!$A$53</c:f>
              <c:strCache>
                <c:ptCount val="1"/>
                <c:pt idx="0">
                  <c:v>11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663300"/>
                </a:solidFill>
                <a:prstDash val="solid"/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Sheet1!$B$53:$EB$53</c:f>
              <c:numCache>
                <c:formatCode>General</c:formatCode>
                <c:ptCount val="131"/>
                <c:pt idx="81">
                  <c:v>5.2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8-DBE9-4A85-8C7C-BB9EE5EE6FE8}"/>
            </c:ext>
          </c:extLst>
        </c:ser>
        <c:ser>
          <c:idx val="53"/>
          <c:order val="52"/>
          <c:tx>
            <c:strRef>
              <c:f>Sheet1!$A$54</c:f>
              <c:strCache>
                <c:ptCount val="1"/>
                <c:pt idx="0">
                  <c:v>12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80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9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Sheet1!$B$54:$EB$54</c:f>
              <c:numCache>
                <c:formatCode>General</c:formatCode>
                <c:ptCount val="131"/>
                <c:pt idx="80">
                  <c:v>3.2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A-DBE9-4A85-8C7C-BB9EE5EE6FE8}"/>
            </c:ext>
          </c:extLst>
        </c:ser>
        <c:ser>
          <c:idx val="54"/>
          <c:order val="53"/>
          <c:tx>
            <c:strRef>
              <c:f>Sheet1!$A$55</c:f>
              <c:strCache>
                <c:ptCount val="1"/>
                <c:pt idx="0">
                  <c:v>13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76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B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Sheet1!$B$55:$EB$55</c:f>
              <c:numCache>
                <c:formatCode>General</c:formatCode>
                <c:ptCount val="131"/>
                <c:pt idx="76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C-DBE9-4A85-8C7C-BB9EE5EE6FE8}"/>
            </c:ext>
          </c:extLst>
        </c:ser>
        <c:ser>
          <c:idx val="55"/>
          <c:order val="54"/>
          <c:tx>
            <c:strRef>
              <c:f>Sheet1!$A$56</c:f>
              <c:strCache>
                <c:ptCount val="1"/>
                <c:pt idx="0">
                  <c:v>14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62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D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Sheet1!$B$56:$EB$56</c:f>
              <c:numCache>
                <c:formatCode>General</c:formatCode>
                <c:ptCount val="131"/>
                <c:pt idx="62">
                  <c:v>2.4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E-DBE9-4A85-8C7C-BB9EE5EE6FE8}"/>
            </c:ext>
          </c:extLst>
        </c:ser>
        <c:ser>
          <c:idx val="56"/>
          <c:order val="55"/>
          <c:tx>
            <c:strRef>
              <c:f>Sheet1!$A$57</c:f>
              <c:strCache>
                <c:ptCount val="1"/>
                <c:pt idx="0">
                  <c:v>15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958C41"/>
                </a:solidFill>
                <a:prstDash val="solid"/>
              </a:ln>
            </c:spPr>
          </c:marker>
          <c:dPt>
            <c:idx val="54"/>
            <c:marker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F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Sheet1!$B$57:$EB$57</c:f>
              <c:numCache>
                <c:formatCode>General</c:formatCode>
                <c:ptCount val="131"/>
                <c:pt idx="5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0-DBE9-4A85-8C7C-BB9EE5EE6FE8}"/>
            </c:ext>
          </c:extLst>
        </c:ser>
        <c:ser>
          <c:idx val="50"/>
          <c:order val="56"/>
          <c:tx>
            <c:strRef>
              <c:f>Sheet1!$A$58</c:f>
              <c:strCache>
                <c:ptCount val="1"/>
                <c:pt idx="0">
                  <c:v>16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663300"/>
                </a:solidFill>
                <a:prstDash val="solid"/>
              </a:ln>
            </c:spPr>
          </c:marker>
          <c:dPt>
            <c:idx val="49"/>
            <c:bubble3D val="0"/>
            <c:extLst>
              <c:ext xmlns:c16="http://schemas.microsoft.com/office/drawing/2014/chart" uri="{C3380CC4-5D6E-409C-BE32-E72D297353CC}">
                <c16:uniqueId val="{00000051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Sheet1!$B$58:$EB$58</c:f>
              <c:numCache>
                <c:formatCode>General</c:formatCode>
                <c:ptCount val="131"/>
                <c:pt idx="49">
                  <c:v>1.8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2-DBE9-4A85-8C7C-BB9EE5EE6FE8}"/>
            </c:ext>
          </c:extLst>
        </c:ser>
        <c:ser>
          <c:idx val="57"/>
          <c:order val="57"/>
          <c:tx>
            <c:strRef>
              <c:f>Sheet1!$A$59</c:f>
              <c:strCache>
                <c:ptCount val="1"/>
                <c:pt idx="0">
                  <c:v>17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663300"/>
                </a:solidFill>
                <a:prstDash val="solid"/>
              </a:ln>
            </c:spPr>
          </c:marker>
          <c:dPt>
            <c:idx val="44"/>
            <c:bubble3D val="0"/>
            <c:extLst>
              <c:ext xmlns:c16="http://schemas.microsoft.com/office/drawing/2014/chart" uri="{C3380CC4-5D6E-409C-BE32-E72D297353CC}">
                <c16:uniqueId val="{00000053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Sheet1!$B$59:$EB$59</c:f>
              <c:numCache>
                <c:formatCode>General</c:formatCode>
                <c:ptCount val="131"/>
                <c:pt idx="44">
                  <c:v>3.6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4-DBE9-4A85-8C7C-BB9EE5EE6FE8}"/>
            </c:ext>
          </c:extLst>
        </c:ser>
        <c:ser>
          <c:idx val="59"/>
          <c:order val="58"/>
          <c:tx>
            <c:strRef>
              <c:f>Sheet1!$A$60</c:f>
              <c:strCache>
                <c:ptCount val="1"/>
                <c:pt idx="0">
                  <c:v>18</c:v>
                </c:pt>
              </c:strCache>
            </c:strRef>
          </c:tx>
          <c:spPr>
            <a:ln w="18314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663300"/>
                </a:solidFill>
                <a:prstDash val="solid"/>
              </a:ln>
            </c:spPr>
          </c:marker>
          <c:dPt>
            <c:idx val="44"/>
            <c:bubble3D val="0"/>
            <c:extLst>
              <c:ext xmlns:c16="http://schemas.microsoft.com/office/drawing/2014/chart" uri="{C3380CC4-5D6E-409C-BE32-E72D297353CC}">
                <c16:uniqueId val="{00000055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Sheet1!$B$60:$EB$60</c:f>
              <c:numCache>
                <c:formatCode>General</c:formatCode>
                <c:ptCount val="131"/>
                <c:pt idx="41">
                  <c:v>3.3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6-DBE9-4A85-8C7C-BB9EE5EE6FE8}"/>
            </c:ext>
          </c:extLst>
        </c:ser>
        <c:ser>
          <c:idx val="58"/>
          <c:order val="59"/>
          <c:tx>
            <c:strRef>
              <c:f>Sheet1!$A$61</c:f>
              <c:strCache>
                <c:ptCount val="1"/>
                <c:pt idx="0">
                  <c:v>19</c:v>
                </c:pt>
              </c:strCache>
            </c:strRef>
          </c:tx>
          <c:spPr>
            <a:ln w="25400">
              <a:noFill/>
            </a:ln>
          </c:spPr>
          <c:marker>
            <c:spPr>
              <a:solidFill>
                <a:srgbClr val="996633"/>
              </a:solidFill>
              <a:ln cap="rnd">
                <a:solidFill>
                  <a:srgbClr val="663300"/>
                </a:solidFill>
              </a:ln>
            </c:spPr>
          </c:marker>
          <c:dPt>
            <c:idx val="0"/>
            <c:marker>
              <c:symbol val="circle"/>
              <c:size val="7"/>
            </c:marker>
            <c:bubble3D val="0"/>
            <c:extLst>
              <c:ext xmlns:c16="http://schemas.microsoft.com/office/drawing/2014/chart" uri="{C3380CC4-5D6E-409C-BE32-E72D297353CC}">
                <c16:uniqueId val="{00000057-DBE9-4A85-8C7C-BB9EE5EE6FE8}"/>
              </c:ext>
            </c:extLst>
          </c:dPt>
          <c:dPt>
            <c:idx val="38"/>
            <c:marker>
              <c:symbol val="circle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58-DBE9-4A85-8C7C-BB9EE5EE6FE8}"/>
              </c:ext>
            </c:extLst>
          </c:dPt>
          <c:dPt>
            <c:idx val="42"/>
            <c:marker>
              <c:symbol val="circle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59-DBE9-4A85-8C7C-BB9EE5EE6FE8}"/>
              </c:ext>
            </c:extLst>
          </c:dPt>
          <c:dPt>
            <c:idx val="46"/>
            <c:marker>
              <c:symbol val="circle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5A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Sheet1!$B$61:$EB$61</c:f>
              <c:numCache>
                <c:formatCode>General</c:formatCode>
                <c:ptCount val="131"/>
                <c:pt idx="38">
                  <c:v>2.6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B-DBE9-4A85-8C7C-BB9EE5EE6FE8}"/>
            </c:ext>
          </c:extLst>
        </c:ser>
        <c:ser>
          <c:idx val="60"/>
          <c:order val="60"/>
          <c:tx>
            <c:strRef>
              <c:f>Sheet1!$A$62</c:f>
              <c:strCache>
                <c:ptCount val="1"/>
                <c:pt idx="0">
                  <c:v>20</c:v>
                </c:pt>
              </c:strCache>
            </c:strRef>
          </c:tx>
          <c:spPr>
            <a:ln w="12700">
              <a:solidFill>
                <a:srgbClr val="00B050"/>
              </a:solidFill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663300"/>
                </a:solidFill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Sheet1!$B$62:$EB$62</c:f>
              <c:numCache>
                <c:formatCode>General</c:formatCode>
                <c:ptCount val="131"/>
                <c:pt idx="45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C-DBE9-4A85-8C7C-BB9EE5EE6FE8}"/>
            </c:ext>
          </c:extLst>
        </c:ser>
        <c:ser>
          <c:idx val="61"/>
          <c:order val="61"/>
          <c:tx>
            <c:strRef>
              <c:f>Sheet1!$A$63</c:f>
              <c:strCache>
                <c:ptCount val="1"/>
                <c:pt idx="0">
                  <c:v>21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 cmpd="sng">
                <a:solidFill>
                  <a:srgbClr val="663300"/>
                </a:solidFill>
              </a:ln>
            </c:spPr>
          </c:marker>
          <c:dPt>
            <c:idx val="74"/>
            <c:bubble3D val="0"/>
            <c:extLst>
              <c:ext xmlns:c16="http://schemas.microsoft.com/office/drawing/2014/chart" uri="{C3380CC4-5D6E-409C-BE32-E72D297353CC}">
                <c16:uniqueId val="{0000005D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Sheet1!$B$63:$EB$63</c:f>
              <c:numCache>
                <c:formatCode>General</c:formatCode>
                <c:ptCount val="131"/>
                <c:pt idx="45" formatCode="0.0">
                  <c:v>4.0999999999999996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E-DBE9-4A85-8C7C-BB9EE5EE6FE8}"/>
            </c:ext>
          </c:extLst>
        </c:ser>
        <c:ser>
          <c:idx val="62"/>
          <c:order val="62"/>
          <c:tx>
            <c:strRef>
              <c:f>Sheet1!$A$64</c:f>
              <c:strCache>
                <c:ptCount val="1"/>
                <c:pt idx="0">
                  <c:v>22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663300"/>
                </a:solidFill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Sheet1!$B$64:$EB$64</c:f>
              <c:numCache>
                <c:formatCode>General</c:formatCode>
                <c:ptCount val="131"/>
                <c:pt idx="42" formatCode="0.0">
                  <c:v>7.4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DBE9-4A85-8C7C-BB9EE5EE6FE8}"/>
            </c:ext>
          </c:extLst>
        </c:ser>
        <c:ser>
          <c:idx val="63"/>
          <c:order val="63"/>
          <c:tx>
            <c:strRef>
              <c:f>Sheet1!$A$65</c:f>
              <c:strCache>
                <c:ptCount val="1"/>
                <c:pt idx="0">
                  <c:v>23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663300"/>
                </a:solidFill>
              </a:ln>
            </c:spPr>
          </c:marker>
          <c:dPt>
            <c:idx val="52"/>
            <c:bubble3D val="0"/>
            <c:extLst>
              <c:ext xmlns:c16="http://schemas.microsoft.com/office/drawing/2014/chart" uri="{C3380CC4-5D6E-409C-BE32-E72D297353CC}">
                <c16:uniqueId val="{00000060-DBE9-4A85-8C7C-BB9EE5EE6FE8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Sheet1!$B$65:$EB$65</c:f>
              <c:numCache>
                <c:formatCode>General</c:formatCode>
                <c:ptCount val="131"/>
                <c:pt idx="46" formatCode="0.0">
                  <c:v>5.3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61-DBE9-4A85-8C7C-BB9EE5EE6FE8}"/>
            </c:ext>
          </c:extLst>
        </c:ser>
        <c:ser>
          <c:idx val="64"/>
          <c:order val="64"/>
          <c:tx>
            <c:strRef>
              <c:f>Sheet1!$A$66</c:f>
              <c:strCache>
                <c:ptCount val="1"/>
                <c:pt idx="0">
                  <c:v>24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4"/>
            <c:spPr>
              <a:solidFill>
                <a:srgbClr val="996633"/>
              </a:solidFill>
              <a:ln>
                <a:solidFill>
                  <a:srgbClr val="663300"/>
                </a:solidFill>
              </a:ln>
            </c:spPr>
          </c:marker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Sheet1!$B$66:$EB$66</c:f>
              <c:numCache>
                <c:formatCode>General</c:formatCode>
                <c:ptCount val="131"/>
                <c:pt idx="49">
                  <c:v>2.6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2-080E-4442-BC2D-062FC9FBD5D0}"/>
            </c:ext>
          </c:extLst>
        </c:ser>
        <c:ser>
          <c:idx val="65"/>
          <c:order val="65"/>
          <c:tx>
            <c:strRef>
              <c:f>Sheet1!$A$67</c:f>
              <c:strCache>
                <c:ptCount val="1"/>
                <c:pt idx="0">
                  <c:v>25</c:v>
                </c:pt>
              </c:strCache>
            </c:strRef>
          </c:tx>
          <c:spPr>
            <a:ln w="19050">
              <a:noFill/>
            </a:ln>
          </c:spPr>
          <c:dPt>
            <c:idx val="43"/>
            <c:marker>
              <c:symbol val="circle"/>
              <c:size val="4"/>
              <c:spPr>
                <a:solidFill>
                  <a:srgbClr val="996633"/>
                </a:solidFill>
                <a:ln>
                  <a:solidFill>
                    <a:srgbClr val="663300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4-080E-4442-BC2D-062FC9FBD5D0}"/>
              </c:ext>
            </c:extLst>
          </c:dPt>
          <c:xVal>
            <c:numRef>
              <c:f>Sheet1!$B$1:$EB$1</c:f>
              <c:numCache>
                <c:formatCode>General</c:formatCode>
                <c:ptCount val="13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9.39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9.83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</c:numCache>
            </c:numRef>
          </c:xVal>
          <c:yVal>
            <c:numRef>
              <c:f>Sheet1!$B$67:$EB$67</c:f>
              <c:numCache>
                <c:formatCode>General</c:formatCode>
                <c:ptCount val="131"/>
                <c:pt idx="43">
                  <c:v>1.9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3-080E-4442-BC2D-062FC9FBD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5859880"/>
        <c:axId val="1"/>
      </c:scatterChart>
      <c:valAx>
        <c:axId val="205859880"/>
        <c:scaling>
          <c:orientation val="minMax"/>
          <c:max val="13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58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6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"/>
        <c:crossesAt val="-2"/>
        <c:crossBetween val="midCat"/>
        <c:majorUnit val="1"/>
      </c:valAx>
      <c:valAx>
        <c:axId val="1"/>
        <c:scaling>
          <c:orientation val="minMax"/>
          <c:max val="26"/>
        </c:scaling>
        <c:delete val="0"/>
        <c:axPos val="l"/>
        <c:numFmt formatCode="0_ ;\–0\ " sourceLinked="0"/>
        <c:majorTickMark val="out"/>
        <c:minorTickMark val="none"/>
        <c:tickLblPos val="nextTo"/>
        <c:spPr>
          <a:ln w="158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6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5859880"/>
        <c:crosses val="autoZero"/>
        <c:crossBetween val="midCat"/>
        <c:majorUnit val="2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514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977362204724415E-2"/>
          <c:y val="2.9954001094925197E-2"/>
          <c:w val="0.86432988845144343"/>
          <c:h val="0.85149909715520233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Capital expenditure</c:v>
                </c:pt>
              </c:strCache>
            </c:strRef>
          </c:tx>
          <c:spPr>
            <a:solidFill>
              <a:srgbClr val="3333FF"/>
            </a:solidFill>
            <a:ln w="15875">
              <a:solidFill>
                <a:srgbClr val="000066"/>
              </a:solidFill>
              <a:prstDash val="solid"/>
            </a:ln>
          </c:spPr>
          <c:invertIfNegative val="0"/>
          <c:cat>
            <c:numRef>
              <c:f>Sheet1!$A$2:$A$67</c:f>
              <c:numCache>
                <c:formatCode>General</c:formatCode>
                <c:ptCount val="66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  <c:pt idx="55">
                  <c:v>2015</c:v>
                </c:pt>
                <c:pt idx="56">
                  <c:v>2016</c:v>
                </c:pt>
                <c:pt idx="57">
                  <c:v>2017</c:v>
                </c:pt>
                <c:pt idx="58">
                  <c:v>2018</c:v>
                </c:pt>
                <c:pt idx="59">
                  <c:v>2019</c:v>
                </c:pt>
                <c:pt idx="60">
                  <c:v>2020</c:v>
                </c:pt>
                <c:pt idx="61">
                  <c:v>2021</c:v>
                </c:pt>
                <c:pt idx="62">
                  <c:v>2022</c:v>
                </c:pt>
                <c:pt idx="63">
                  <c:v>2023</c:v>
                </c:pt>
                <c:pt idx="64">
                  <c:v>2024</c:v>
                </c:pt>
                <c:pt idx="65">
                  <c:v>2025</c:v>
                </c:pt>
              </c:numCache>
            </c:numRef>
          </c:cat>
          <c:val>
            <c:numRef>
              <c:f>Sheet1!$B$2:$B$67</c:f>
              <c:numCache>
                <c:formatCode>0.0</c:formatCode>
                <c:ptCount val="66"/>
                <c:pt idx="0">
                  <c:v>6.7898452756496921</c:v>
                </c:pt>
                <c:pt idx="1">
                  <c:v>7.4800910125142215</c:v>
                </c:pt>
                <c:pt idx="2">
                  <c:v>7.4014945652173907</c:v>
                </c:pt>
                <c:pt idx="3">
                  <c:v>8.6767148184125595</c:v>
                </c:pt>
                <c:pt idx="4">
                  <c:v>9.1378716565262312</c:v>
                </c:pt>
                <c:pt idx="5">
                  <c:v>9.2147072174307763</c:v>
                </c:pt>
                <c:pt idx="6">
                  <c:v>10.105410751395878</c:v>
                </c:pt>
                <c:pt idx="7">
                  <c:v>11.372299872935198</c:v>
                </c:pt>
                <c:pt idx="8">
                  <c:v>10.454944067760358</c:v>
                </c:pt>
                <c:pt idx="9">
                  <c:v>9.8398709525120971</c:v>
                </c:pt>
                <c:pt idx="10">
                  <c:v>9.9552844119380222</c:v>
                </c:pt>
                <c:pt idx="11">
                  <c:v>9.1714830252413329</c:v>
                </c:pt>
                <c:pt idx="12">
                  <c:v>8.6683910458675832</c:v>
                </c:pt>
                <c:pt idx="13">
                  <c:v>9.2739644898896501</c:v>
                </c:pt>
                <c:pt idx="14">
                  <c:v>9.9511418925121635</c:v>
                </c:pt>
                <c:pt idx="15">
                  <c:v>10.120152469340402</c:v>
                </c:pt>
                <c:pt idx="16">
                  <c:v>9.0693133516138804</c:v>
                </c:pt>
                <c:pt idx="17">
                  <c:v>7.6153948209525879</c:v>
                </c:pt>
                <c:pt idx="18">
                  <c:v>7.0813327361919738</c:v>
                </c:pt>
                <c:pt idx="19">
                  <c:v>6.7761276317149646</c:v>
                </c:pt>
                <c:pt idx="20">
                  <c:v>6.6972978640544021</c:v>
                </c:pt>
                <c:pt idx="21">
                  <c:v>5.8222686492968201</c:v>
                </c:pt>
                <c:pt idx="22">
                  <c:v>6.1136025745348643</c:v>
                </c:pt>
                <c:pt idx="23">
                  <c:v>6.1913339225579813</c:v>
                </c:pt>
                <c:pt idx="24">
                  <c:v>5.7287626381210099</c:v>
                </c:pt>
                <c:pt idx="25">
                  <c:v>4.8941814565375044</c:v>
                </c:pt>
                <c:pt idx="26">
                  <c:v>4.3345020298413033</c:v>
                </c:pt>
                <c:pt idx="27">
                  <c:v>3.837169263517056</c:v>
                </c:pt>
                <c:pt idx="28">
                  <c:v>3.4321938839892874</c:v>
                </c:pt>
                <c:pt idx="29">
                  <c:v>4.0896554464888917</c:v>
                </c:pt>
                <c:pt idx="30">
                  <c:v>3.9688215523888561</c:v>
                </c:pt>
                <c:pt idx="31">
                  <c:v>4.0359464349535381</c:v>
                </c:pt>
                <c:pt idx="32">
                  <c:v>3.9706071411655648</c:v>
                </c:pt>
                <c:pt idx="33">
                  <c:v>3.5136125514069638</c:v>
                </c:pt>
                <c:pt idx="34">
                  <c:v>3.3972319391634982</c:v>
                </c:pt>
                <c:pt idx="35">
                  <c:v>3.2598280849924159</c:v>
                </c:pt>
                <c:pt idx="36">
                  <c:v>2.5532918531597528</c:v>
                </c:pt>
                <c:pt idx="37">
                  <c:v>2.6192781196375226</c:v>
                </c:pt>
                <c:pt idx="38">
                  <c:v>2.6300866420999593</c:v>
                </c:pt>
                <c:pt idx="39">
                  <c:v>2.7212116270382305</c:v>
                </c:pt>
                <c:pt idx="40">
                  <c:v>2.6036929029329596</c:v>
                </c:pt>
                <c:pt idx="41">
                  <c:v>3.2284179301538778</c:v>
                </c:pt>
                <c:pt idx="42">
                  <c:v>3.5709971088460706</c:v>
                </c:pt>
                <c:pt idx="43">
                  <c:v>3.7443255918940612</c:v>
                </c:pt>
                <c:pt idx="44">
                  <c:v>4.0673757385337241</c:v>
                </c:pt>
                <c:pt idx="45">
                  <c:v>4.0345799054356917</c:v>
                </c:pt>
                <c:pt idx="46">
                  <c:v>3.9894259565995753</c:v>
                </c:pt>
                <c:pt idx="47">
                  <c:v>4.0000712118476169</c:v>
                </c:pt>
                <c:pt idx="48">
                  <c:v>5.4284215225062482</c:v>
                </c:pt>
                <c:pt idx="49">
                  <c:v>5.5484706903594772</c:v>
                </c:pt>
                <c:pt idx="50">
                  <c:v>4.9644316169943554</c:v>
                </c:pt>
                <c:pt idx="51">
                  <c:v>4.4568807612693773</c:v>
                </c:pt>
                <c:pt idx="52">
                  <c:v>4.5200332758941748</c:v>
                </c:pt>
                <c:pt idx="53">
                  <c:v>4.1029683493785889</c:v>
                </c:pt>
                <c:pt idx="54">
                  <c:v>4.3671593261985073</c:v>
                </c:pt>
                <c:pt idx="55">
                  <c:v>4.081723547967969</c:v>
                </c:pt>
                <c:pt idx="56">
                  <c:v>4.285418038328249</c:v>
                </c:pt>
                <c:pt idx="57">
                  <c:v>4.4223762606914301</c:v>
                </c:pt>
                <c:pt idx="58">
                  <c:v>4.3879994762931736</c:v>
                </c:pt>
                <c:pt idx="59">
                  <c:v>4.1764317128001505</c:v>
                </c:pt>
                <c:pt idx="60">
                  <c:v>5.8353682118042256</c:v>
                </c:pt>
                <c:pt idx="61">
                  <c:v>4.9994276123184562</c:v>
                </c:pt>
                <c:pt idx="62">
                  <c:v>4.5217222124186618</c:v>
                </c:pt>
                <c:pt idx="63">
                  <c:v>5.0168256457167919</c:v>
                </c:pt>
                <c:pt idx="64">
                  <c:v>4.7601810706773779</c:v>
                </c:pt>
                <c:pt idx="65">
                  <c:v>4.7692707668244907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8C-4AB5-833E-0BABD16EC74F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Current expenditure</c:v>
                </c:pt>
              </c:strCache>
            </c:strRef>
          </c:tx>
          <c:spPr>
            <a:solidFill>
              <a:srgbClr val="FF2828"/>
            </a:solidFill>
            <a:ln w="15875">
              <a:solidFill>
                <a:srgbClr val="800000"/>
              </a:solidFill>
              <a:prstDash val="solid"/>
            </a:ln>
          </c:spPr>
          <c:invertIfNegative val="0"/>
          <c:cat>
            <c:numRef>
              <c:f>Sheet1!$A$2:$A$67</c:f>
              <c:numCache>
                <c:formatCode>General</c:formatCode>
                <c:ptCount val="66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  <c:pt idx="55">
                  <c:v>2015</c:v>
                </c:pt>
                <c:pt idx="56">
                  <c:v>2016</c:v>
                </c:pt>
                <c:pt idx="57">
                  <c:v>2017</c:v>
                </c:pt>
                <c:pt idx="58">
                  <c:v>2018</c:v>
                </c:pt>
                <c:pt idx="59">
                  <c:v>2019</c:v>
                </c:pt>
                <c:pt idx="60">
                  <c:v>2020</c:v>
                </c:pt>
                <c:pt idx="61">
                  <c:v>2021</c:v>
                </c:pt>
                <c:pt idx="62">
                  <c:v>2022</c:v>
                </c:pt>
                <c:pt idx="63">
                  <c:v>2023</c:v>
                </c:pt>
                <c:pt idx="64">
                  <c:v>2024</c:v>
                </c:pt>
                <c:pt idx="65">
                  <c:v>2025</c:v>
                </c:pt>
              </c:numCache>
            </c:numRef>
          </c:cat>
          <c:val>
            <c:numRef>
              <c:f>Sheet1!$C$2:$C$67</c:f>
              <c:numCache>
                <c:formatCode>0.0</c:formatCode>
                <c:ptCount val="66"/>
                <c:pt idx="0">
                  <c:v>29.16854438936458</c:v>
                </c:pt>
                <c:pt idx="1">
                  <c:v>30.169226393629128</c:v>
                </c:pt>
                <c:pt idx="2">
                  <c:v>29.918478260869563</c:v>
                </c:pt>
                <c:pt idx="3">
                  <c:v>28.671701187603798</c:v>
                </c:pt>
                <c:pt idx="4">
                  <c:v>27.9072437148433</c:v>
                </c:pt>
                <c:pt idx="5">
                  <c:v>29.280927078048645</c:v>
                </c:pt>
                <c:pt idx="6">
                  <c:v>29.940659505746265</c:v>
                </c:pt>
                <c:pt idx="7">
                  <c:v>31.575603557814485</c:v>
                </c:pt>
                <c:pt idx="8">
                  <c:v>30.939191067952859</c:v>
                </c:pt>
                <c:pt idx="9">
                  <c:v>30.304520596451191</c:v>
                </c:pt>
                <c:pt idx="10">
                  <c:v>29.550417692121044</c:v>
                </c:pt>
                <c:pt idx="11">
                  <c:v>30.207477880905525</c:v>
                </c:pt>
                <c:pt idx="12">
                  <c:v>29.841691155559769</c:v>
                </c:pt>
                <c:pt idx="13">
                  <c:v>31.042943302271052</c:v>
                </c:pt>
                <c:pt idx="14">
                  <c:v>34.821856608084538</c:v>
                </c:pt>
                <c:pt idx="15">
                  <c:v>36.39376864434869</c:v>
                </c:pt>
                <c:pt idx="16">
                  <c:v>36.13768212994227</c:v>
                </c:pt>
                <c:pt idx="17">
                  <c:v>34.708904729167422</c:v>
                </c:pt>
                <c:pt idx="18">
                  <c:v>34.407319842104712</c:v>
                </c:pt>
                <c:pt idx="19">
                  <c:v>34.238568622721473</c:v>
                </c:pt>
                <c:pt idx="20">
                  <c:v>36.18675294329109</c:v>
                </c:pt>
                <c:pt idx="21">
                  <c:v>37.144757304706786</c:v>
                </c:pt>
                <c:pt idx="22">
                  <c:v>37.148433437138642</c:v>
                </c:pt>
                <c:pt idx="23">
                  <c:v>36.647628743720837</c:v>
                </c:pt>
                <c:pt idx="24">
                  <c:v>36.793958089564939</c:v>
                </c:pt>
                <c:pt idx="25">
                  <c:v>35.566794781240624</c:v>
                </c:pt>
                <c:pt idx="26">
                  <c:v>34.909096500940223</c:v>
                </c:pt>
                <c:pt idx="27">
                  <c:v>33.308421307998714</c:v>
                </c:pt>
                <c:pt idx="28">
                  <c:v>31.050111467870618</c:v>
                </c:pt>
                <c:pt idx="29">
                  <c:v>30.578070977228471</c:v>
                </c:pt>
                <c:pt idx="30">
                  <c:v>30.865015038877413</c:v>
                </c:pt>
                <c:pt idx="31">
                  <c:v>32.648320228734811</c:v>
                </c:pt>
                <c:pt idx="32">
                  <c:v>34.478689500713841</c:v>
                </c:pt>
                <c:pt idx="33">
                  <c:v>34.325105239839587</c:v>
                </c:pt>
                <c:pt idx="34">
                  <c:v>34.133049429657795</c:v>
                </c:pt>
                <c:pt idx="35">
                  <c:v>33.992694882030662</c:v>
                </c:pt>
                <c:pt idx="36">
                  <c:v>32.854591110865876</c:v>
                </c:pt>
                <c:pt idx="37">
                  <c:v>32.994428217071011</c:v>
                </c:pt>
                <c:pt idx="38">
                  <c:v>32.343980004149337</c:v>
                </c:pt>
                <c:pt idx="39">
                  <c:v>32.152697318894035</c:v>
                </c:pt>
                <c:pt idx="40">
                  <c:v>32.556428356566329</c:v>
                </c:pt>
                <c:pt idx="41">
                  <c:v>33.015474551463853</c:v>
                </c:pt>
                <c:pt idx="42">
                  <c:v>33.802587309704322</c:v>
                </c:pt>
                <c:pt idx="43">
                  <c:v>34.938208517255219</c:v>
                </c:pt>
                <c:pt idx="44">
                  <c:v>35.683996995188728</c:v>
                </c:pt>
                <c:pt idx="45">
                  <c:v>35.705754652690452</c:v>
                </c:pt>
                <c:pt idx="46">
                  <c:v>35.626093794441935</c:v>
                </c:pt>
                <c:pt idx="47">
                  <c:v>35.980421828465921</c:v>
                </c:pt>
                <c:pt idx="48">
                  <c:v>37.913715259472333</c:v>
                </c:pt>
                <c:pt idx="49">
                  <c:v>40.530790441176471</c:v>
                </c:pt>
                <c:pt idx="50">
                  <c:v>40.639605596778864</c:v>
                </c:pt>
                <c:pt idx="51">
                  <c:v>40.013283495405872</c:v>
                </c:pt>
                <c:pt idx="52">
                  <c:v>39.400630351051461</c:v>
                </c:pt>
                <c:pt idx="53">
                  <c:v>38.185104729192645</c:v>
                </c:pt>
                <c:pt idx="54">
                  <c:v>37.317185539004122</c:v>
                </c:pt>
                <c:pt idx="55">
                  <c:v>36.611469637538484</c:v>
                </c:pt>
                <c:pt idx="56">
                  <c:v>35.611660157044732</c:v>
                </c:pt>
                <c:pt idx="57">
                  <c:v>35.187130221646811</c:v>
                </c:pt>
                <c:pt idx="58">
                  <c:v>34.58569880311169</c:v>
                </c:pt>
                <c:pt idx="59">
                  <c:v>34.933252647289628</c:v>
                </c:pt>
                <c:pt idx="60">
                  <c:v>45.743382986236313</c:v>
                </c:pt>
                <c:pt idx="61">
                  <c:v>39.546180743194896</c:v>
                </c:pt>
                <c:pt idx="62">
                  <c:v>38.714863699324283</c:v>
                </c:pt>
                <c:pt idx="63">
                  <c:v>36.954378562236542</c:v>
                </c:pt>
                <c:pt idx="64">
                  <c:v>36.577824807824051</c:v>
                </c:pt>
                <c:pt idx="65">
                  <c:v>36.475616130776004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8C-4AB5-833E-0BABD16EC7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10558336"/>
        <c:axId val="1"/>
      </c:barChart>
      <c:catAx>
        <c:axId val="210558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587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800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"/>
        <c:crossesAt val="0"/>
        <c:auto val="0"/>
        <c:lblAlgn val="ctr"/>
        <c:lblOffset val="100"/>
        <c:tickLblSkip val="5"/>
        <c:noMultiLvlLbl val="0"/>
      </c:catAx>
      <c:valAx>
        <c:axId val="1"/>
        <c:scaling>
          <c:orientation val="minMax"/>
          <c:max val="55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1800" b="0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GB" sz="1800"/>
                  <a:t>% of GDP</a:t>
                </a:r>
              </a:p>
            </c:rich>
          </c:tx>
          <c:layout>
            <c:manualLayout>
              <c:xMode val="edge"/>
              <c:yMode val="edge"/>
              <c:x val="2.4278215223097113E-2"/>
              <c:y val="0.3696075271074481"/>
            </c:manualLayout>
          </c:layout>
          <c:overlay val="0"/>
          <c:spPr>
            <a:noFill/>
            <a:ln w="30118">
              <a:noFill/>
            </a:ln>
          </c:spPr>
        </c:title>
        <c:numFmt formatCode="#,##0" sourceLinked="0"/>
        <c:majorTickMark val="out"/>
        <c:minorTickMark val="out"/>
        <c:tickLblPos val="nextTo"/>
        <c:spPr>
          <a:ln w="1587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800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10558336"/>
        <c:crosses val="autoZero"/>
        <c:crossBetween val="between"/>
        <c:majorUnit val="10"/>
        <c:minorUnit val="5"/>
      </c:valAx>
      <c:spPr>
        <a:solidFill>
          <a:srgbClr val="FFFFFF"/>
        </a:solidFill>
        <a:ln w="3765">
          <a:solidFill>
            <a:schemeClr val="tx1"/>
          </a:solidFill>
          <a:prstDash val="solid"/>
        </a:ln>
      </c:spPr>
    </c:plotArea>
    <c:legend>
      <c:legendPos val="r"/>
      <c:legendEntry>
        <c:idx val="0"/>
        <c:txPr>
          <a:bodyPr/>
          <a:lstStyle/>
          <a:p>
            <a:pPr>
              <a:defRPr sz="1800" b="0" i="0" u="none" strike="noStrike" baseline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1800" b="0" i="0" u="none" strike="noStrike" baseline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</c:legendEntry>
      <c:layout>
        <c:manualLayout>
          <c:xMode val="edge"/>
          <c:yMode val="edge"/>
          <c:x val="0.45946890056164447"/>
          <c:y val="5.3943379446674607E-2"/>
          <c:w val="0.23485150413890571"/>
          <c:h val="0.12662055679526099"/>
        </c:manualLayout>
      </c:layout>
      <c:overlay val="0"/>
      <c:spPr>
        <a:solidFill>
          <a:srgbClr val="FFFFDF"/>
        </a:solidFill>
        <a:ln w="15875">
          <a:solidFill>
            <a:srgbClr val="800080"/>
          </a:solidFill>
          <a:prstDash val="solid"/>
        </a:ln>
      </c:spPr>
      <c:txPr>
        <a:bodyPr/>
        <a:lstStyle/>
        <a:p>
          <a:pPr>
            <a:defRPr sz="1800" b="0" i="0" u="none" strike="noStrike" baseline="0">
              <a:solidFill>
                <a:schemeClr val="tx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134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91839763110217"/>
          <c:y val="3.4179489406145083E-2"/>
          <c:w val="0.86129944728505969"/>
          <c:h val="0.835510492605805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Spending</c:v>
                </c:pt>
              </c:strCache>
            </c:strRef>
          </c:tx>
          <c:spPr>
            <a:ln w="38100">
              <a:solidFill>
                <a:srgbClr val="C00000"/>
              </a:solidFill>
              <a:prstDash val="solid"/>
            </a:ln>
          </c:spPr>
          <c:marker>
            <c:symbol val="none"/>
          </c:marker>
          <c:cat>
            <c:numRef>
              <c:f>Sheet1!$A$2:$A$127</c:f>
              <c:numCache>
                <c:formatCode>General</c:formatCode>
                <c:ptCount val="126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  <c:pt idx="14">
                  <c:v>1914</c:v>
                </c:pt>
                <c:pt idx="15">
                  <c:v>1915</c:v>
                </c:pt>
                <c:pt idx="16">
                  <c:v>1916</c:v>
                </c:pt>
                <c:pt idx="17">
                  <c:v>1917</c:v>
                </c:pt>
                <c:pt idx="18">
                  <c:v>1918</c:v>
                </c:pt>
                <c:pt idx="19">
                  <c:v>1919</c:v>
                </c:pt>
                <c:pt idx="20">
                  <c:v>1920</c:v>
                </c:pt>
                <c:pt idx="21">
                  <c:v>1921</c:v>
                </c:pt>
                <c:pt idx="22">
                  <c:v>1922</c:v>
                </c:pt>
                <c:pt idx="23">
                  <c:v>1923</c:v>
                </c:pt>
                <c:pt idx="24">
                  <c:v>1924</c:v>
                </c:pt>
                <c:pt idx="25">
                  <c:v>1925</c:v>
                </c:pt>
                <c:pt idx="26">
                  <c:v>1926</c:v>
                </c:pt>
                <c:pt idx="27">
                  <c:v>1927</c:v>
                </c:pt>
                <c:pt idx="28">
                  <c:v>1928</c:v>
                </c:pt>
                <c:pt idx="29">
                  <c:v>1929</c:v>
                </c:pt>
                <c:pt idx="30">
                  <c:v>1930</c:v>
                </c:pt>
                <c:pt idx="31">
                  <c:v>1931</c:v>
                </c:pt>
                <c:pt idx="32">
                  <c:v>1932</c:v>
                </c:pt>
                <c:pt idx="33">
                  <c:v>1933</c:v>
                </c:pt>
                <c:pt idx="34">
                  <c:v>1934</c:v>
                </c:pt>
                <c:pt idx="35">
                  <c:v>1935</c:v>
                </c:pt>
                <c:pt idx="36">
                  <c:v>1936</c:v>
                </c:pt>
                <c:pt idx="37">
                  <c:v>1937</c:v>
                </c:pt>
                <c:pt idx="38">
                  <c:v>1938</c:v>
                </c:pt>
                <c:pt idx="39">
                  <c:v>1939</c:v>
                </c:pt>
                <c:pt idx="40">
                  <c:v>1940</c:v>
                </c:pt>
                <c:pt idx="41">
                  <c:v>1941</c:v>
                </c:pt>
                <c:pt idx="42">
                  <c:v>1942</c:v>
                </c:pt>
                <c:pt idx="43">
                  <c:v>1943</c:v>
                </c:pt>
                <c:pt idx="44">
                  <c:v>1944</c:v>
                </c:pt>
                <c:pt idx="45">
                  <c:v>1945</c:v>
                </c:pt>
                <c:pt idx="46">
                  <c:v>1946</c:v>
                </c:pt>
                <c:pt idx="47">
                  <c:v>1947</c:v>
                </c:pt>
                <c:pt idx="48">
                  <c:v>1948</c:v>
                </c:pt>
                <c:pt idx="49">
                  <c:v>1949</c:v>
                </c:pt>
                <c:pt idx="50">
                  <c:v>1950</c:v>
                </c:pt>
                <c:pt idx="51">
                  <c:v>1951</c:v>
                </c:pt>
                <c:pt idx="52">
                  <c:v>1952</c:v>
                </c:pt>
                <c:pt idx="53">
                  <c:v>1953</c:v>
                </c:pt>
                <c:pt idx="54">
                  <c:v>1954</c:v>
                </c:pt>
                <c:pt idx="55">
                  <c:v>1955</c:v>
                </c:pt>
                <c:pt idx="56">
                  <c:v>1956</c:v>
                </c:pt>
                <c:pt idx="57">
                  <c:v>1957</c:v>
                </c:pt>
                <c:pt idx="58">
                  <c:v>1958</c:v>
                </c:pt>
                <c:pt idx="59">
                  <c:v>1959</c:v>
                </c:pt>
                <c:pt idx="60">
                  <c:v>1960</c:v>
                </c:pt>
                <c:pt idx="61">
                  <c:v>1961</c:v>
                </c:pt>
                <c:pt idx="62">
                  <c:v>1962</c:v>
                </c:pt>
                <c:pt idx="63">
                  <c:v>1963</c:v>
                </c:pt>
                <c:pt idx="64">
                  <c:v>1964</c:v>
                </c:pt>
                <c:pt idx="65">
                  <c:v>1965</c:v>
                </c:pt>
                <c:pt idx="66">
                  <c:v>1966</c:v>
                </c:pt>
                <c:pt idx="67">
                  <c:v>1967</c:v>
                </c:pt>
                <c:pt idx="68">
                  <c:v>1968</c:v>
                </c:pt>
                <c:pt idx="69">
                  <c:v>1969</c:v>
                </c:pt>
                <c:pt idx="70">
                  <c:v>1970</c:v>
                </c:pt>
                <c:pt idx="71">
                  <c:v>1971</c:v>
                </c:pt>
                <c:pt idx="72">
                  <c:v>1972</c:v>
                </c:pt>
                <c:pt idx="73">
                  <c:v>1973</c:v>
                </c:pt>
                <c:pt idx="74">
                  <c:v>1974</c:v>
                </c:pt>
                <c:pt idx="75">
                  <c:v>1975</c:v>
                </c:pt>
                <c:pt idx="76">
                  <c:v>1976</c:v>
                </c:pt>
                <c:pt idx="77">
                  <c:v>1977</c:v>
                </c:pt>
                <c:pt idx="78">
                  <c:v>1978</c:v>
                </c:pt>
                <c:pt idx="79">
                  <c:v>1979</c:v>
                </c:pt>
                <c:pt idx="80">
                  <c:v>1980</c:v>
                </c:pt>
                <c:pt idx="81">
                  <c:v>1981</c:v>
                </c:pt>
                <c:pt idx="82">
                  <c:v>1982</c:v>
                </c:pt>
                <c:pt idx="83">
                  <c:v>1983</c:v>
                </c:pt>
                <c:pt idx="84">
                  <c:v>1984</c:v>
                </c:pt>
                <c:pt idx="85">
                  <c:v>1985</c:v>
                </c:pt>
                <c:pt idx="86">
                  <c:v>1986</c:v>
                </c:pt>
                <c:pt idx="87">
                  <c:v>1987</c:v>
                </c:pt>
                <c:pt idx="88">
                  <c:v>1988</c:v>
                </c:pt>
                <c:pt idx="89">
                  <c:v>1989</c:v>
                </c:pt>
                <c:pt idx="90">
                  <c:v>1990</c:v>
                </c:pt>
                <c:pt idx="91">
                  <c:v>1991</c:v>
                </c:pt>
                <c:pt idx="92">
                  <c:v>1992</c:v>
                </c:pt>
                <c:pt idx="93">
                  <c:v>1993</c:v>
                </c:pt>
                <c:pt idx="94">
                  <c:v>1994</c:v>
                </c:pt>
                <c:pt idx="95">
                  <c:v>1995</c:v>
                </c:pt>
                <c:pt idx="96">
                  <c:v>1996</c:v>
                </c:pt>
                <c:pt idx="97">
                  <c:v>1997</c:v>
                </c:pt>
                <c:pt idx="98">
                  <c:v>1998</c:v>
                </c:pt>
                <c:pt idx="99">
                  <c:v>1999</c:v>
                </c:pt>
                <c:pt idx="100">
                  <c:v>2000</c:v>
                </c:pt>
                <c:pt idx="101">
                  <c:v>2001</c:v>
                </c:pt>
                <c:pt idx="102">
                  <c:v>2002</c:v>
                </c:pt>
                <c:pt idx="103">
                  <c:v>2003</c:v>
                </c:pt>
                <c:pt idx="104">
                  <c:v>2004</c:v>
                </c:pt>
                <c:pt idx="105">
                  <c:v>2005</c:v>
                </c:pt>
                <c:pt idx="106">
                  <c:v>2006</c:v>
                </c:pt>
                <c:pt idx="107">
                  <c:v>2007</c:v>
                </c:pt>
                <c:pt idx="108">
                  <c:v>2008</c:v>
                </c:pt>
                <c:pt idx="109">
                  <c:v>2009</c:v>
                </c:pt>
                <c:pt idx="110">
                  <c:v>2010</c:v>
                </c:pt>
                <c:pt idx="111">
                  <c:v>2011</c:v>
                </c:pt>
                <c:pt idx="112">
                  <c:v>2012</c:v>
                </c:pt>
                <c:pt idx="113">
                  <c:v>2013</c:v>
                </c:pt>
                <c:pt idx="114">
                  <c:v>2014</c:v>
                </c:pt>
                <c:pt idx="115">
                  <c:v>2015</c:v>
                </c:pt>
                <c:pt idx="116">
                  <c:v>2016</c:v>
                </c:pt>
                <c:pt idx="117">
                  <c:v>2017</c:v>
                </c:pt>
                <c:pt idx="118">
                  <c:v>2018</c:v>
                </c:pt>
                <c:pt idx="119">
                  <c:v>2019</c:v>
                </c:pt>
                <c:pt idx="120">
                  <c:v>2020</c:v>
                </c:pt>
                <c:pt idx="121">
                  <c:v>2021</c:v>
                </c:pt>
                <c:pt idx="122">
                  <c:v>2022</c:v>
                </c:pt>
                <c:pt idx="123">
                  <c:v>2023</c:v>
                </c:pt>
                <c:pt idx="124">
                  <c:v>2024</c:v>
                </c:pt>
                <c:pt idx="125">
                  <c:v>2025</c:v>
                </c:pt>
              </c:numCache>
            </c:numRef>
          </c:cat>
          <c:val>
            <c:numRef>
              <c:f>Sheet1!$B$2:$B$127</c:f>
              <c:numCache>
                <c:formatCode>0.0</c:formatCode>
                <c:ptCount val="126"/>
                <c:pt idx="0">
                  <c:v>14.4</c:v>
                </c:pt>
                <c:pt idx="1">
                  <c:v>15.5</c:v>
                </c:pt>
                <c:pt idx="2">
                  <c:v>14.9</c:v>
                </c:pt>
                <c:pt idx="3">
                  <c:v>13.8</c:v>
                </c:pt>
                <c:pt idx="4">
                  <c:v>13.2</c:v>
                </c:pt>
                <c:pt idx="5">
                  <c:v>12.5</c:v>
                </c:pt>
                <c:pt idx="6">
                  <c:v>11.8</c:v>
                </c:pt>
                <c:pt idx="7">
                  <c:v>11.6</c:v>
                </c:pt>
                <c:pt idx="8">
                  <c:v>12.2</c:v>
                </c:pt>
                <c:pt idx="9">
                  <c:v>12.5</c:v>
                </c:pt>
                <c:pt idx="10">
                  <c:v>12.5</c:v>
                </c:pt>
                <c:pt idx="11">
                  <c:v>12.4</c:v>
                </c:pt>
                <c:pt idx="12">
                  <c:v>12.5</c:v>
                </c:pt>
                <c:pt idx="13">
                  <c:v>14</c:v>
                </c:pt>
                <c:pt idx="14">
                  <c:v>24.5</c:v>
                </c:pt>
                <c:pt idx="15">
                  <c:v>42</c:v>
                </c:pt>
                <c:pt idx="16">
                  <c:v>46</c:v>
                </c:pt>
                <c:pt idx="17">
                  <c:v>47.2</c:v>
                </c:pt>
                <c:pt idx="18">
                  <c:v>42.3</c:v>
                </c:pt>
                <c:pt idx="19">
                  <c:v>27.8</c:v>
                </c:pt>
                <c:pt idx="20">
                  <c:v>22.7</c:v>
                </c:pt>
                <c:pt idx="21">
                  <c:v>27.8</c:v>
                </c:pt>
                <c:pt idx="22">
                  <c:v>26.8</c:v>
                </c:pt>
                <c:pt idx="23">
                  <c:v>25.3</c:v>
                </c:pt>
                <c:pt idx="24">
                  <c:v>24.8</c:v>
                </c:pt>
                <c:pt idx="25">
                  <c:v>25.7</c:v>
                </c:pt>
                <c:pt idx="26">
                  <c:v>27</c:v>
                </c:pt>
                <c:pt idx="27">
                  <c:v>25.5</c:v>
                </c:pt>
                <c:pt idx="28">
                  <c:v>25.5</c:v>
                </c:pt>
                <c:pt idx="29">
                  <c:v>25.9</c:v>
                </c:pt>
                <c:pt idx="30">
                  <c:v>27.4</c:v>
                </c:pt>
                <c:pt idx="31">
                  <c:v>29.4</c:v>
                </c:pt>
                <c:pt idx="32">
                  <c:v>28.7</c:v>
                </c:pt>
                <c:pt idx="33">
                  <c:v>26.8</c:v>
                </c:pt>
                <c:pt idx="34">
                  <c:v>26</c:v>
                </c:pt>
                <c:pt idx="35">
                  <c:v>26.2</c:v>
                </c:pt>
                <c:pt idx="36">
                  <c:v>26.3</c:v>
                </c:pt>
                <c:pt idx="37">
                  <c:v>27.4</c:v>
                </c:pt>
                <c:pt idx="38">
                  <c:v>30.8</c:v>
                </c:pt>
                <c:pt idx="39">
                  <c:v>40.1</c:v>
                </c:pt>
                <c:pt idx="40">
                  <c:v>55.6</c:v>
                </c:pt>
                <c:pt idx="41">
                  <c:v>59.7</c:v>
                </c:pt>
                <c:pt idx="42">
                  <c:v>61</c:v>
                </c:pt>
                <c:pt idx="43">
                  <c:v>62.3</c:v>
                </c:pt>
                <c:pt idx="44">
                  <c:v>61.8</c:v>
                </c:pt>
                <c:pt idx="45">
                  <c:v>55.2</c:v>
                </c:pt>
                <c:pt idx="46">
                  <c:v>43.5</c:v>
                </c:pt>
                <c:pt idx="47">
                  <c:v>37.700000000000003</c:v>
                </c:pt>
                <c:pt idx="48">
                  <c:v>38.6</c:v>
                </c:pt>
                <c:pt idx="49">
                  <c:v>38.5</c:v>
                </c:pt>
                <c:pt idx="50">
                  <c:v>39.200000000000003</c:v>
                </c:pt>
                <c:pt idx="51">
                  <c:v>40.6</c:v>
                </c:pt>
                <c:pt idx="52">
                  <c:v>41.3</c:v>
                </c:pt>
                <c:pt idx="53">
                  <c:v>40.5</c:v>
                </c:pt>
                <c:pt idx="54">
                  <c:v>38.9</c:v>
                </c:pt>
                <c:pt idx="55">
                  <c:v>35.799999999999997</c:v>
                </c:pt>
                <c:pt idx="56">
                  <c:v>36</c:v>
                </c:pt>
                <c:pt idx="57">
                  <c:v>35.200000000000003</c:v>
                </c:pt>
                <c:pt idx="58">
                  <c:v>36</c:v>
                </c:pt>
                <c:pt idx="59">
                  <c:v>35.9</c:v>
                </c:pt>
                <c:pt idx="60">
                  <c:v>35.9</c:v>
                </c:pt>
                <c:pt idx="61">
                  <c:v>37.6</c:v>
                </c:pt>
                <c:pt idx="62">
                  <c:v>37.299999999999997</c:v>
                </c:pt>
                <c:pt idx="63">
                  <c:v>37.299999999999997</c:v>
                </c:pt>
                <c:pt idx="64">
                  <c:v>37</c:v>
                </c:pt>
                <c:pt idx="65">
                  <c:v>38.5</c:v>
                </c:pt>
                <c:pt idx="66">
                  <c:v>40</c:v>
                </c:pt>
                <c:pt idx="67">
                  <c:v>42.9</c:v>
                </c:pt>
                <c:pt idx="68">
                  <c:v>41.4</c:v>
                </c:pt>
                <c:pt idx="69">
                  <c:v>40.1</c:v>
                </c:pt>
                <c:pt idx="70">
                  <c:v>39.5</c:v>
                </c:pt>
                <c:pt idx="71">
                  <c:v>39.299999999999997</c:v>
                </c:pt>
                <c:pt idx="72">
                  <c:v>38.5</c:v>
                </c:pt>
                <c:pt idx="73">
                  <c:v>40.299999999999997</c:v>
                </c:pt>
                <c:pt idx="74">
                  <c:v>44.7</c:v>
                </c:pt>
                <c:pt idx="75">
                  <c:v>46.4</c:v>
                </c:pt>
                <c:pt idx="76">
                  <c:v>45.1</c:v>
                </c:pt>
                <c:pt idx="77">
                  <c:v>42.2</c:v>
                </c:pt>
                <c:pt idx="78">
                  <c:v>41.4</c:v>
                </c:pt>
                <c:pt idx="79">
                  <c:v>40.9</c:v>
                </c:pt>
                <c:pt idx="80">
                  <c:v>42.8</c:v>
                </c:pt>
                <c:pt idx="81">
                  <c:v>42.9</c:v>
                </c:pt>
                <c:pt idx="82">
                  <c:v>43.2</c:v>
                </c:pt>
                <c:pt idx="83">
                  <c:v>42.8</c:v>
                </c:pt>
                <c:pt idx="84">
                  <c:v>42.5</c:v>
                </c:pt>
                <c:pt idx="85">
                  <c:v>40.4</c:v>
                </c:pt>
                <c:pt idx="86">
                  <c:v>39.299999999999997</c:v>
                </c:pt>
                <c:pt idx="87">
                  <c:v>37.200000000000003</c:v>
                </c:pt>
                <c:pt idx="88">
                  <c:v>34.6</c:v>
                </c:pt>
                <c:pt idx="89">
                  <c:v>34.700000000000003</c:v>
                </c:pt>
                <c:pt idx="90">
                  <c:v>35</c:v>
                </c:pt>
                <c:pt idx="91">
                  <c:v>36.799999999999997</c:v>
                </c:pt>
                <c:pt idx="92">
                  <c:v>38.4</c:v>
                </c:pt>
                <c:pt idx="93">
                  <c:v>37.799999999999997</c:v>
                </c:pt>
                <c:pt idx="94">
                  <c:v>37.6</c:v>
                </c:pt>
                <c:pt idx="95">
                  <c:v>37.299999999999997</c:v>
                </c:pt>
                <c:pt idx="96">
                  <c:v>35.5</c:v>
                </c:pt>
                <c:pt idx="97">
                  <c:v>35.700000000000003</c:v>
                </c:pt>
                <c:pt idx="98">
                  <c:v>35.200000000000003</c:v>
                </c:pt>
                <c:pt idx="99">
                  <c:v>34.799999999999997</c:v>
                </c:pt>
                <c:pt idx="100">
                  <c:v>35.1</c:v>
                </c:pt>
                <c:pt idx="101">
                  <c:v>36.299999999999997</c:v>
                </c:pt>
                <c:pt idx="102">
                  <c:v>37.6</c:v>
                </c:pt>
                <c:pt idx="103">
                  <c:v>38.9</c:v>
                </c:pt>
                <c:pt idx="104">
                  <c:v>40</c:v>
                </c:pt>
                <c:pt idx="105">
                  <c:v>39.9</c:v>
                </c:pt>
                <c:pt idx="106">
                  <c:v>39.9</c:v>
                </c:pt>
                <c:pt idx="107">
                  <c:v>40.299999999999997</c:v>
                </c:pt>
                <c:pt idx="108">
                  <c:v>43.5</c:v>
                </c:pt>
                <c:pt idx="109">
                  <c:v>46.4</c:v>
                </c:pt>
                <c:pt idx="110">
                  <c:v>45.7</c:v>
                </c:pt>
                <c:pt idx="111">
                  <c:v>44.6</c:v>
                </c:pt>
                <c:pt idx="112">
                  <c:v>44</c:v>
                </c:pt>
                <c:pt idx="113">
                  <c:v>42.4</c:v>
                </c:pt>
                <c:pt idx="114">
                  <c:v>42</c:v>
                </c:pt>
                <c:pt idx="115">
                  <c:v>41.1</c:v>
                </c:pt>
                <c:pt idx="116">
                  <c:v>40.200000000000003</c:v>
                </c:pt>
                <c:pt idx="117">
                  <c:v>39.9</c:v>
                </c:pt>
                <c:pt idx="118">
                  <c:v>39.4</c:v>
                </c:pt>
                <c:pt idx="119">
                  <c:v>39.6</c:v>
                </c:pt>
                <c:pt idx="120">
                  <c:v>53</c:v>
                </c:pt>
                <c:pt idx="121">
                  <c:v>44.7</c:v>
                </c:pt>
                <c:pt idx="122">
                  <c:v>47.3</c:v>
                </c:pt>
                <c:pt idx="123">
                  <c:v>47.2</c:v>
                </c:pt>
                <c:pt idx="124">
                  <c:v>44.9</c:v>
                </c:pt>
                <c:pt idx="125">
                  <c:v>44.2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B-4764-A332-5AAF244B17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Receipts</c:v>
                </c:pt>
              </c:strCache>
            </c:strRef>
          </c:tx>
          <c:spPr>
            <a:ln w="38100" cap="rnd">
              <a:solidFill>
                <a:srgbClr val="0066CC"/>
              </a:solidFill>
            </a:ln>
          </c:spPr>
          <c:marker>
            <c:symbol val="none"/>
          </c:marker>
          <c:cat>
            <c:numRef>
              <c:f>Sheet1!$A$2:$A$127</c:f>
              <c:numCache>
                <c:formatCode>General</c:formatCode>
                <c:ptCount val="126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  <c:pt idx="14">
                  <c:v>1914</c:v>
                </c:pt>
                <c:pt idx="15">
                  <c:v>1915</c:v>
                </c:pt>
                <c:pt idx="16">
                  <c:v>1916</c:v>
                </c:pt>
                <c:pt idx="17">
                  <c:v>1917</c:v>
                </c:pt>
                <c:pt idx="18">
                  <c:v>1918</c:v>
                </c:pt>
                <c:pt idx="19">
                  <c:v>1919</c:v>
                </c:pt>
                <c:pt idx="20">
                  <c:v>1920</c:v>
                </c:pt>
                <c:pt idx="21">
                  <c:v>1921</c:v>
                </c:pt>
                <c:pt idx="22">
                  <c:v>1922</c:v>
                </c:pt>
                <c:pt idx="23">
                  <c:v>1923</c:v>
                </c:pt>
                <c:pt idx="24">
                  <c:v>1924</c:v>
                </c:pt>
                <c:pt idx="25">
                  <c:v>1925</c:v>
                </c:pt>
                <c:pt idx="26">
                  <c:v>1926</c:v>
                </c:pt>
                <c:pt idx="27">
                  <c:v>1927</c:v>
                </c:pt>
                <c:pt idx="28">
                  <c:v>1928</c:v>
                </c:pt>
                <c:pt idx="29">
                  <c:v>1929</c:v>
                </c:pt>
                <c:pt idx="30">
                  <c:v>1930</c:v>
                </c:pt>
                <c:pt idx="31">
                  <c:v>1931</c:v>
                </c:pt>
                <c:pt idx="32">
                  <c:v>1932</c:v>
                </c:pt>
                <c:pt idx="33">
                  <c:v>1933</c:v>
                </c:pt>
                <c:pt idx="34">
                  <c:v>1934</c:v>
                </c:pt>
                <c:pt idx="35">
                  <c:v>1935</c:v>
                </c:pt>
                <c:pt idx="36">
                  <c:v>1936</c:v>
                </c:pt>
                <c:pt idx="37">
                  <c:v>1937</c:v>
                </c:pt>
                <c:pt idx="38">
                  <c:v>1938</c:v>
                </c:pt>
                <c:pt idx="39">
                  <c:v>1939</c:v>
                </c:pt>
                <c:pt idx="40">
                  <c:v>1940</c:v>
                </c:pt>
                <c:pt idx="41">
                  <c:v>1941</c:v>
                </c:pt>
                <c:pt idx="42">
                  <c:v>1942</c:v>
                </c:pt>
                <c:pt idx="43">
                  <c:v>1943</c:v>
                </c:pt>
                <c:pt idx="44">
                  <c:v>1944</c:v>
                </c:pt>
                <c:pt idx="45">
                  <c:v>1945</c:v>
                </c:pt>
                <c:pt idx="46">
                  <c:v>1946</c:v>
                </c:pt>
                <c:pt idx="47">
                  <c:v>1947</c:v>
                </c:pt>
                <c:pt idx="48">
                  <c:v>1948</c:v>
                </c:pt>
                <c:pt idx="49">
                  <c:v>1949</c:v>
                </c:pt>
                <c:pt idx="50">
                  <c:v>1950</c:v>
                </c:pt>
                <c:pt idx="51">
                  <c:v>1951</c:v>
                </c:pt>
                <c:pt idx="52">
                  <c:v>1952</c:v>
                </c:pt>
                <c:pt idx="53">
                  <c:v>1953</c:v>
                </c:pt>
                <c:pt idx="54">
                  <c:v>1954</c:v>
                </c:pt>
                <c:pt idx="55">
                  <c:v>1955</c:v>
                </c:pt>
                <c:pt idx="56">
                  <c:v>1956</c:v>
                </c:pt>
                <c:pt idx="57">
                  <c:v>1957</c:v>
                </c:pt>
                <c:pt idx="58">
                  <c:v>1958</c:v>
                </c:pt>
                <c:pt idx="59">
                  <c:v>1959</c:v>
                </c:pt>
                <c:pt idx="60">
                  <c:v>1960</c:v>
                </c:pt>
                <c:pt idx="61">
                  <c:v>1961</c:v>
                </c:pt>
                <c:pt idx="62">
                  <c:v>1962</c:v>
                </c:pt>
                <c:pt idx="63">
                  <c:v>1963</c:v>
                </c:pt>
                <c:pt idx="64">
                  <c:v>1964</c:v>
                </c:pt>
                <c:pt idx="65">
                  <c:v>1965</c:v>
                </c:pt>
                <c:pt idx="66">
                  <c:v>1966</c:v>
                </c:pt>
                <c:pt idx="67">
                  <c:v>1967</c:v>
                </c:pt>
                <c:pt idx="68">
                  <c:v>1968</c:v>
                </c:pt>
                <c:pt idx="69">
                  <c:v>1969</c:v>
                </c:pt>
                <c:pt idx="70">
                  <c:v>1970</c:v>
                </c:pt>
                <c:pt idx="71">
                  <c:v>1971</c:v>
                </c:pt>
                <c:pt idx="72">
                  <c:v>1972</c:v>
                </c:pt>
                <c:pt idx="73">
                  <c:v>1973</c:v>
                </c:pt>
                <c:pt idx="74">
                  <c:v>1974</c:v>
                </c:pt>
                <c:pt idx="75">
                  <c:v>1975</c:v>
                </c:pt>
                <c:pt idx="76">
                  <c:v>1976</c:v>
                </c:pt>
                <c:pt idx="77">
                  <c:v>1977</c:v>
                </c:pt>
                <c:pt idx="78">
                  <c:v>1978</c:v>
                </c:pt>
                <c:pt idx="79">
                  <c:v>1979</c:v>
                </c:pt>
                <c:pt idx="80">
                  <c:v>1980</c:v>
                </c:pt>
                <c:pt idx="81">
                  <c:v>1981</c:v>
                </c:pt>
                <c:pt idx="82">
                  <c:v>1982</c:v>
                </c:pt>
                <c:pt idx="83">
                  <c:v>1983</c:v>
                </c:pt>
                <c:pt idx="84">
                  <c:v>1984</c:v>
                </c:pt>
                <c:pt idx="85">
                  <c:v>1985</c:v>
                </c:pt>
                <c:pt idx="86">
                  <c:v>1986</c:v>
                </c:pt>
                <c:pt idx="87">
                  <c:v>1987</c:v>
                </c:pt>
                <c:pt idx="88">
                  <c:v>1988</c:v>
                </c:pt>
                <c:pt idx="89">
                  <c:v>1989</c:v>
                </c:pt>
                <c:pt idx="90">
                  <c:v>1990</c:v>
                </c:pt>
                <c:pt idx="91">
                  <c:v>1991</c:v>
                </c:pt>
                <c:pt idx="92">
                  <c:v>1992</c:v>
                </c:pt>
                <c:pt idx="93">
                  <c:v>1993</c:v>
                </c:pt>
                <c:pt idx="94">
                  <c:v>1994</c:v>
                </c:pt>
                <c:pt idx="95">
                  <c:v>1995</c:v>
                </c:pt>
                <c:pt idx="96">
                  <c:v>1996</c:v>
                </c:pt>
                <c:pt idx="97">
                  <c:v>1997</c:v>
                </c:pt>
                <c:pt idx="98">
                  <c:v>1998</c:v>
                </c:pt>
                <c:pt idx="99">
                  <c:v>1999</c:v>
                </c:pt>
                <c:pt idx="100">
                  <c:v>2000</c:v>
                </c:pt>
                <c:pt idx="101">
                  <c:v>2001</c:v>
                </c:pt>
                <c:pt idx="102">
                  <c:v>2002</c:v>
                </c:pt>
                <c:pt idx="103">
                  <c:v>2003</c:v>
                </c:pt>
                <c:pt idx="104">
                  <c:v>2004</c:v>
                </c:pt>
                <c:pt idx="105">
                  <c:v>2005</c:v>
                </c:pt>
                <c:pt idx="106">
                  <c:v>2006</c:v>
                </c:pt>
                <c:pt idx="107">
                  <c:v>2007</c:v>
                </c:pt>
                <c:pt idx="108">
                  <c:v>2008</c:v>
                </c:pt>
                <c:pt idx="109">
                  <c:v>2009</c:v>
                </c:pt>
                <c:pt idx="110">
                  <c:v>2010</c:v>
                </c:pt>
                <c:pt idx="111">
                  <c:v>2011</c:v>
                </c:pt>
                <c:pt idx="112">
                  <c:v>2012</c:v>
                </c:pt>
                <c:pt idx="113">
                  <c:v>2013</c:v>
                </c:pt>
                <c:pt idx="114">
                  <c:v>2014</c:v>
                </c:pt>
                <c:pt idx="115">
                  <c:v>2015</c:v>
                </c:pt>
                <c:pt idx="116">
                  <c:v>2016</c:v>
                </c:pt>
                <c:pt idx="117">
                  <c:v>2017</c:v>
                </c:pt>
                <c:pt idx="118">
                  <c:v>2018</c:v>
                </c:pt>
                <c:pt idx="119">
                  <c:v>2019</c:v>
                </c:pt>
                <c:pt idx="120">
                  <c:v>2020</c:v>
                </c:pt>
                <c:pt idx="121">
                  <c:v>2021</c:v>
                </c:pt>
                <c:pt idx="122">
                  <c:v>2022</c:v>
                </c:pt>
                <c:pt idx="123">
                  <c:v>2023</c:v>
                </c:pt>
                <c:pt idx="124">
                  <c:v>2024</c:v>
                </c:pt>
                <c:pt idx="125">
                  <c:v>2025</c:v>
                </c:pt>
              </c:numCache>
            </c:numRef>
          </c:cat>
          <c:val>
            <c:numRef>
              <c:f>Sheet1!$C$2:$C$127</c:f>
              <c:numCache>
                <c:formatCode>0.0</c:formatCode>
                <c:ptCount val="126"/>
                <c:pt idx="0">
                  <c:v>10.4</c:v>
                </c:pt>
                <c:pt idx="1">
                  <c:v>11.3</c:v>
                </c:pt>
                <c:pt idx="2">
                  <c:v>12.1</c:v>
                </c:pt>
                <c:pt idx="3">
                  <c:v>12.4</c:v>
                </c:pt>
                <c:pt idx="4">
                  <c:v>12.3</c:v>
                </c:pt>
                <c:pt idx="5">
                  <c:v>12.1</c:v>
                </c:pt>
                <c:pt idx="6">
                  <c:v>11.8</c:v>
                </c:pt>
                <c:pt idx="7">
                  <c:v>11.8</c:v>
                </c:pt>
                <c:pt idx="8">
                  <c:v>12.1</c:v>
                </c:pt>
                <c:pt idx="9">
                  <c:v>12.3</c:v>
                </c:pt>
                <c:pt idx="10">
                  <c:v>12.7</c:v>
                </c:pt>
                <c:pt idx="11">
                  <c:v>12.8</c:v>
                </c:pt>
                <c:pt idx="12">
                  <c:v>13.1</c:v>
                </c:pt>
                <c:pt idx="13">
                  <c:v>13.1</c:v>
                </c:pt>
                <c:pt idx="14">
                  <c:v>13.5</c:v>
                </c:pt>
                <c:pt idx="15">
                  <c:v>14.9</c:v>
                </c:pt>
                <c:pt idx="16">
                  <c:v>18.2</c:v>
                </c:pt>
                <c:pt idx="17">
                  <c:v>20</c:v>
                </c:pt>
                <c:pt idx="18">
                  <c:v>20.9</c:v>
                </c:pt>
                <c:pt idx="19">
                  <c:v>22.2</c:v>
                </c:pt>
                <c:pt idx="20">
                  <c:v>22.7</c:v>
                </c:pt>
                <c:pt idx="21">
                  <c:v>26.6</c:v>
                </c:pt>
                <c:pt idx="22">
                  <c:v>27.1</c:v>
                </c:pt>
                <c:pt idx="23">
                  <c:v>26</c:v>
                </c:pt>
                <c:pt idx="24">
                  <c:v>24.3</c:v>
                </c:pt>
                <c:pt idx="25">
                  <c:v>24.3</c:v>
                </c:pt>
                <c:pt idx="26">
                  <c:v>25.1</c:v>
                </c:pt>
                <c:pt idx="27">
                  <c:v>25</c:v>
                </c:pt>
                <c:pt idx="28">
                  <c:v>25.2</c:v>
                </c:pt>
                <c:pt idx="29">
                  <c:v>25</c:v>
                </c:pt>
                <c:pt idx="30">
                  <c:v>25.8</c:v>
                </c:pt>
                <c:pt idx="31">
                  <c:v>27.5</c:v>
                </c:pt>
                <c:pt idx="32">
                  <c:v>28.4</c:v>
                </c:pt>
                <c:pt idx="33">
                  <c:v>27.3</c:v>
                </c:pt>
                <c:pt idx="34">
                  <c:v>26.3</c:v>
                </c:pt>
                <c:pt idx="35">
                  <c:v>25.8</c:v>
                </c:pt>
                <c:pt idx="36">
                  <c:v>25.3</c:v>
                </c:pt>
                <c:pt idx="37">
                  <c:v>25.3</c:v>
                </c:pt>
                <c:pt idx="38">
                  <c:v>25.7</c:v>
                </c:pt>
                <c:pt idx="39">
                  <c:v>26.3</c:v>
                </c:pt>
                <c:pt idx="40">
                  <c:v>28.7</c:v>
                </c:pt>
                <c:pt idx="41">
                  <c:v>32.700000000000003</c:v>
                </c:pt>
                <c:pt idx="42">
                  <c:v>35.299999999999997</c:v>
                </c:pt>
                <c:pt idx="43">
                  <c:v>38</c:v>
                </c:pt>
                <c:pt idx="44">
                  <c:v>39.4</c:v>
                </c:pt>
                <c:pt idx="45">
                  <c:v>40</c:v>
                </c:pt>
                <c:pt idx="46">
                  <c:v>37.1</c:v>
                </c:pt>
                <c:pt idx="47">
                  <c:v>37</c:v>
                </c:pt>
                <c:pt idx="48">
                  <c:v>42.9</c:v>
                </c:pt>
                <c:pt idx="49">
                  <c:v>43.3</c:v>
                </c:pt>
                <c:pt idx="50">
                  <c:v>42.8</c:v>
                </c:pt>
                <c:pt idx="51">
                  <c:v>41.1</c:v>
                </c:pt>
                <c:pt idx="52">
                  <c:v>39.9</c:v>
                </c:pt>
                <c:pt idx="53">
                  <c:v>38</c:v>
                </c:pt>
                <c:pt idx="54">
                  <c:v>37.5</c:v>
                </c:pt>
                <c:pt idx="55">
                  <c:v>36</c:v>
                </c:pt>
                <c:pt idx="56">
                  <c:v>35.6</c:v>
                </c:pt>
                <c:pt idx="57">
                  <c:v>35.200000000000003</c:v>
                </c:pt>
                <c:pt idx="58">
                  <c:v>35.700000000000003</c:v>
                </c:pt>
                <c:pt idx="59">
                  <c:v>33.700000000000003</c:v>
                </c:pt>
                <c:pt idx="60">
                  <c:v>33.5</c:v>
                </c:pt>
                <c:pt idx="61">
                  <c:v>35.5</c:v>
                </c:pt>
                <c:pt idx="62">
                  <c:v>35.5</c:v>
                </c:pt>
                <c:pt idx="63">
                  <c:v>34.6</c:v>
                </c:pt>
                <c:pt idx="64">
                  <c:v>35.200000000000003</c:v>
                </c:pt>
                <c:pt idx="65">
                  <c:v>37</c:v>
                </c:pt>
                <c:pt idx="66">
                  <c:v>37.6</c:v>
                </c:pt>
                <c:pt idx="67">
                  <c:v>39.1</c:v>
                </c:pt>
                <c:pt idx="68">
                  <c:v>40.799999999999997</c:v>
                </c:pt>
                <c:pt idx="69">
                  <c:v>41.8</c:v>
                </c:pt>
                <c:pt idx="70">
                  <c:v>40</c:v>
                </c:pt>
                <c:pt idx="71">
                  <c:v>38.4</c:v>
                </c:pt>
                <c:pt idx="72">
                  <c:v>35.9</c:v>
                </c:pt>
                <c:pt idx="73">
                  <c:v>36.200000000000003</c:v>
                </c:pt>
                <c:pt idx="74">
                  <c:v>39</c:v>
                </c:pt>
                <c:pt idx="75">
                  <c:v>40.1</c:v>
                </c:pt>
                <c:pt idx="76">
                  <c:v>40.200000000000003</c:v>
                </c:pt>
                <c:pt idx="77">
                  <c:v>38.4</c:v>
                </c:pt>
                <c:pt idx="78">
                  <c:v>36.9</c:v>
                </c:pt>
                <c:pt idx="79">
                  <c:v>37.299999999999997</c:v>
                </c:pt>
                <c:pt idx="80">
                  <c:v>38.5</c:v>
                </c:pt>
                <c:pt idx="81">
                  <c:v>40.9</c:v>
                </c:pt>
                <c:pt idx="82">
                  <c:v>40.6</c:v>
                </c:pt>
                <c:pt idx="83">
                  <c:v>39.5</c:v>
                </c:pt>
                <c:pt idx="84">
                  <c:v>39.200000000000003</c:v>
                </c:pt>
                <c:pt idx="85">
                  <c:v>38.299999999999997</c:v>
                </c:pt>
                <c:pt idx="86">
                  <c:v>37.4</c:v>
                </c:pt>
                <c:pt idx="87">
                  <c:v>36.200000000000003</c:v>
                </c:pt>
                <c:pt idx="88">
                  <c:v>35.5</c:v>
                </c:pt>
                <c:pt idx="89">
                  <c:v>34.700000000000003</c:v>
                </c:pt>
                <c:pt idx="90">
                  <c:v>33.9</c:v>
                </c:pt>
                <c:pt idx="91">
                  <c:v>33.5</c:v>
                </c:pt>
                <c:pt idx="92">
                  <c:v>32.1</c:v>
                </c:pt>
                <c:pt idx="93">
                  <c:v>31.3</c:v>
                </c:pt>
                <c:pt idx="94">
                  <c:v>32.200000000000003</c:v>
                </c:pt>
                <c:pt idx="95">
                  <c:v>33.200000000000003</c:v>
                </c:pt>
                <c:pt idx="96">
                  <c:v>32.4</c:v>
                </c:pt>
                <c:pt idx="97">
                  <c:v>34.6</c:v>
                </c:pt>
                <c:pt idx="98">
                  <c:v>35.200000000000003</c:v>
                </c:pt>
                <c:pt idx="99">
                  <c:v>35.9</c:v>
                </c:pt>
                <c:pt idx="100">
                  <c:v>36.5</c:v>
                </c:pt>
                <c:pt idx="101">
                  <c:v>35.799999999999997</c:v>
                </c:pt>
                <c:pt idx="102">
                  <c:v>34.6</c:v>
                </c:pt>
                <c:pt idx="103">
                  <c:v>35.4</c:v>
                </c:pt>
                <c:pt idx="104">
                  <c:v>36.1</c:v>
                </c:pt>
                <c:pt idx="105">
                  <c:v>36.700000000000003</c:v>
                </c:pt>
                <c:pt idx="106">
                  <c:v>37.1</c:v>
                </c:pt>
                <c:pt idx="107">
                  <c:v>37.299999999999997</c:v>
                </c:pt>
                <c:pt idx="108">
                  <c:v>35.9</c:v>
                </c:pt>
                <c:pt idx="109">
                  <c:v>36.1</c:v>
                </c:pt>
                <c:pt idx="110">
                  <c:v>37</c:v>
                </c:pt>
                <c:pt idx="111">
                  <c:v>37.4</c:v>
                </c:pt>
                <c:pt idx="112">
                  <c:v>36.9</c:v>
                </c:pt>
                <c:pt idx="113">
                  <c:v>36.799999999999997</c:v>
                </c:pt>
                <c:pt idx="114">
                  <c:v>36.799999999999997</c:v>
                </c:pt>
                <c:pt idx="115">
                  <c:v>36.9</c:v>
                </c:pt>
                <c:pt idx="116">
                  <c:v>37.4</c:v>
                </c:pt>
                <c:pt idx="117">
                  <c:v>37.1</c:v>
                </c:pt>
                <c:pt idx="118">
                  <c:v>37.4</c:v>
                </c:pt>
                <c:pt idx="119">
                  <c:v>36.700000000000003</c:v>
                </c:pt>
                <c:pt idx="120">
                  <c:v>38.1</c:v>
                </c:pt>
                <c:pt idx="121">
                  <c:v>39</c:v>
                </c:pt>
                <c:pt idx="122">
                  <c:v>40.200000000000003</c:v>
                </c:pt>
                <c:pt idx="123">
                  <c:v>41.6</c:v>
                </c:pt>
                <c:pt idx="124">
                  <c:v>41.7</c:v>
                </c:pt>
                <c:pt idx="125">
                  <c:v>41.4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B-4764-A332-5AAF244B17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7975064"/>
        <c:axId val="1"/>
      </c:lineChart>
      <c:catAx>
        <c:axId val="207975064"/>
        <c:scaling>
          <c:orientation val="minMax"/>
        </c:scaling>
        <c:delete val="0"/>
        <c:axPos val="b"/>
        <c:numFmt formatCode="General" sourceLinked="0"/>
        <c:majorTickMark val="out"/>
        <c:minorTickMark val="out"/>
        <c:tickLblPos val="nextTo"/>
        <c:spPr>
          <a:ln w="1587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900"/>
            </a:pPr>
            <a:endParaRPr lang="en-US"/>
          </a:p>
        </c:txPr>
        <c:crossAx val="1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1"/>
        <c:scaling>
          <c:orientation val="minMax"/>
          <c:max val="65"/>
          <c:min val="0"/>
        </c:scaling>
        <c:delete val="0"/>
        <c:axPos val="l"/>
        <c:majorGridlines>
          <c:spPr>
            <a:ln w="9525">
              <a:solidFill>
                <a:srgbClr val="96969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GB" sz="2000" dirty="0"/>
                  <a:t>%</a:t>
                </a:r>
                <a:r>
                  <a:rPr lang="en-GB" sz="2000" baseline="0" dirty="0"/>
                  <a:t> of GDP</a:t>
                </a:r>
                <a:endParaRPr lang="en-GB" sz="2000" dirty="0"/>
              </a:p>
            </c:rich>
          </c:tx>
          <c:layout>
            <c:manualLayout>
              <c:xMode val="edge"/>
              <c:yMode val="edge"/>
              <c:x val="1.8165765925669777E-2"/>
              <c:y val="0.36864934996098875"/>
            </c:manualLayout>
          </c:layout>
          <c:overlay val="0"/>
          <c:spPr>
            <a:noFill/>
            <a:ln w="20044">
              <a:noFill/>
            </a:ln>
          </c:spPr>
        </c:title>
        <c:numFmt formatCode="0" sourceLinked="0"/>
        <c:majorTickMark val="out"/>
        <c:minorTickMark val="none"/>
        <c:tickLblPos val="nextTo"/>
        <c:spPr>
          <a:ln w="1587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900"/>
            </a:pPr>
            <a:endParaRPr lang="en-US"/>
          </a:p>
        </c:txPr>
        <c:crossAx val="207975064"/>
        <c:crosses val="autoZero"/>
        <c:crossBetween val="midCat"/>
        <c:majorUnit val="5"/>
        <c:minorUnit val="5"/>
      </c:valAx>
      <c:spPr>
        <a:noFill/>
        <a:ln w="25400">
          <a:noFill/>
        </a:ln>
      </c:spPr>
    </c:plotArea>
    <c:legend>
      <c:legendPos val="r"/>
      <c:legendEntry>
        <c:idx val="0"/>
        <c:txPr>
          <a:bodyPr/>
          <a:lstStyle/>
          <a:p>
            <a:pPr>
              <a:defRPr>
                <a:solidFill>
                  <a:srgbClr val="C00000"/>
                </a:soli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>
                <a:solidFill>
                  <a:srgbClr val="0066CC"/>
                </a:solidFill>
              </a:defRPr>
            </a:pPr>
            <a:endParaRPr lang="en-US"/>
          </a:p>
        </c:txPr>
      </c:legendEntry>
      <c:layout>
        <c:manualLayout>
          <c:xMode val="edge"/>
          <c:yMode val="edge"/>
          <c:x val="0.13438436141604015"/>
          <c:y val="4.4484739971894609E-2"/>
          <c:w val="0.16910168970355136"/>
          <c:h val="0.12685113306728579"/>
        </c:manualLayout>
      </c:layout>
      <c:overlay val="0"/>
      <c:spPr>
        <a:noFill/>
        <a:ln w="15875">
          <a:solidFill>
            <a:srgbClr val="660066"/>
          </a:solidFill>
        </a:ln>
      </c:spPr>
    </c:legend>
    <c:plotVisOnly val="1"/>
    <c:dispBlanksAs val="span"/>
    <c:showDLblsOverMax val="0"/>
  </c:chart>
  <c:spPr>
    <a:noFill/>
    <a:ln>
      <a:noFill/>
    </a:ln>
  </c:spPr>
  <c:txPr>
    <a:bodyPr/>
    <a:lstStyle/>
    <a:p>
      <a:pPr>
        <a:defRPr sz="1798" b="0" i="0" u="none" strike="noStrike" baseline="0">
          <a:solidFill>
            <a:schemeClr val="tx1"/>
          </a:solidFill>
          <a:latin typeface="Arial" panose="020B0604020202020204" pitchFamily="34" charset="0"/>
          <a:ea typeface="Times New Roman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B329C-BA19-7741-82E1-E99DDC8851B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252F9-E879-1640-ADA4-A5A78E6B4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55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FE857B3-1E20-40F7-AC92-205D5FDA97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EFD943-DBC6-4097-A053-EB2E1B5952C8}" type="slidenum">
              <a:rPr lang="en-GB" altLang="en-US"/>
              <a:pPr/>
              <a:t>4</a:t>
            </a:fld>
            <a:endParaRPr lang="en-GB" altLang="en-US" dirty="0"/>
          </a:p>
        </p:txBody>
      </p:sp>
      <p:sp>
        <p:nvSpPr>
          <p:cNvPr id="393218" name="Rectangle 2">
            <a:extLst>
              <a:ext uri="{FF2B5EF4-FFF2-40B4-BE49-F238E27FC236}">
                <a16:creationId xmlns:a16="http://schemas.microsoft.com/office/drawing/2014/main" id="{F8498282-67DE-4E49-9B42-D0A4948902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712788"/>
            <a:ext cx="6081713" cy="3421062"/>
          </a:xfrm>
          <a:ln/>
        </p:spPr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C79D1FD8-4578-4F2D-8B42-675EBD2AC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4135437"/>
          </a:xfrm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3221514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5E75A42-DA27-4F74-B4B0-E0E623B41D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6A6CFB-5F7D-4350-A92D-6B79ADE1863E}" type="slidenum">
              <a:rPr lang="en-GB" altLang="en-US"/>
              <a:pPr/>
              <a:t>5</a:t>
            </a:fld>
            <a:endParaRPr lang="en-GB" altLang="en-US"/>
          </a:p>
        </p:txBody>
      </p:sp>
      <p:sp>
        <p:nvSpPr>
          <p:cNvPr id="393218" name="Rectangle 2">
            <a:extLst>
              <a:ext uri="{FF2B5EF4-FFF2-40B4-BE49-F238E27FC236}">
                <a16:creationId xmlns:a16="http://schemas.microsoft.com/office/drawing/2014/main" id="{665021ED-A353-4741-A23B-7230BC2A2B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712788"/>
            <a:ext cx="6081713" cy="3421062"/>
          </a:xfrm>
          <a:ln/>
        </p:spPr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DE1CA4E1-8C6E-4967-86A3-ABC2A14BC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4135437"/>
          </a:xfrm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1493013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FCDB427-341F-494B-BEF4-A8A8ED57A8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F0FAD8-EA09-40DD-8F3B-ED1E4A5D00C6}" type="slidenum">
              <a:rPr lang="en-GB" altLang="en-US"/>
              <a:pPr/>
              <a:t>6</a:t>
            </a:fld>
            <a:endParaRPr lang="en-GB" altLang="en-US"/>
          </a:p>
        </p:txBody>
      </p:sp>
      <p:sp>
        <p:nvSpPr>
          <p:cNvPr id="425986" name="Rectangle 2">
            <a:extLst>
              <a:ext uri="{FF2B5EF4-FFF2-40B4-BE49-F238E27FC236}">
                <a16:creationId xmlns:a16="http://schemas.microsoft.com/office/drawing/2014/main" id="{065CC3F3-91BE-4075-A021-3213B10D0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7F554BB9-A710-4753-9848-3DB0F65453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523935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5E75A42-DA27-4F74-B4B0-E0E623B41D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6A6CFB-5F7D-4350-A92D-6B79ADE1863E}" type="slidenum">
              <a:rPr lang="en-GB" altLang="en-US"/>
              <a:pPr/>
              <a:t>7</a:t>
            </a:fld>
            <a:endParaRPr lang="en-GB" altLang="en-US"/>
          </a:p>
        </p:txBody>
      </p:sp>
      <p:sp>
        <p:nvSpPr>
          <p:cNvPr id="393218" name="Rectangle 2">
            <a:extLst>
              <a:ext uri="{FF2B5EF4-FFF2-40B4-BE49-F238E27FC236}">
                <a16:creationId xmlns:a16="http://schemas.microsoft.com/office/drawing/2014/main" id="{665021ED-A353-4741-A23B-7230BC2A2B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712788"/>
            <a:ext cx="6081713" cy="3421062"/>
          </a:xfrm>
          <a:ln/>
        </p:spPr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DE1CA4E1-8C6E-4967-86A3-ABC2A14BC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4135437"/>
          </a:xfrm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4205741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FCDB427-341F-494B-BEF4-A8A8ED57A8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F0FAD8-EA09-40DD-8F3B-ED1E4A5D00C6}" type="slidenum">
              <a:rPr lang="en-GB" altLang="en-US"/>
              <a:pPr/>
              <a:t>8</a:t>
            </a:fld>
            <a:endParaRPr lang="en-GB" altLang="en-US"/>
          </a:p>
        </p:txBody>
      </p:sp>
      <p:sp>
        <p:nvSpPr>
          <p:cNvPr id="425986" name="Rectangle 2">
            <a:extLst>
              <a:ext uri="{FF2B5EF4-FFF2-40B4-BE49-F238E27FC236}">
                <a16:creationId xmlns:a16="http://schemas.microsoft.com/office/drawing/2014/main" id="{065CC3F3-91BE-4075-A021-3213B10D0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7F554BB9-A710-4753-9848-3DB0F65453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299895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BBF8BB8-DBC8-4C3A-A350-25BDE4CCF4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1CA3F7-D494-4381-B133-7E959F8D855D}" type="slidenum">
              <a:rPr lang="en-GB" altLang="en-US"/>
              <a:pPr/>
              <a:t>9</a:t>
            </a:fld>
            <a:endParaRPr lang="en-GB" altLang="en-US" dirty="0"/>
          </a:p>
        </p:txBody>
      </p:sp>
      <p:sp>
        <p:nvSpPr>
          <p:cNvPr id="395266" name="Rectangle 2">
            <a:extLst>
              <a:ext uri="{FF2B5EF4-FFF2-40B4-BE49-F238E27FC236}">
                <a16:creationId xmlns:a16="http://schemas.microsoft.com/office/drawing/2014/main" id="{ACE69ACD-6ED3-44CF-9018-1D4B9C9884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712788"/>
            <a:ext cx="6081713" cy="3421062"/>
          </a:xfrm>
          <a:ln/>
        </p:spPr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1591924B-CAE8-47B0-A51C-273D66ECC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4135437"/>
          </a:xfrm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688743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BBF8BB8-DBC8-4C3A-A350-25BDE4CCF4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1CA3F7-D494-4381-B133-7E959F8D855D}" type="slidenum">
              <a:rPr lang="en-GB" altLang="en-US"/>
              <a:pPr/>
              <a:t>10</a:t>
            </a:fld>
            <a:endParaRPr lang="en-GB" altLang="en-US" dirty="0"/>
          </a:p>
        </p:txBody>
      </p:sp>
      <p:sp>
        <p:nvSpPr>
          <p:cNvPr id="395266" name="Rectangle 2">
            <a:extLst>
              <a:ext uri="{FF2B5EF4-FFF2-40B4-BE49-F238E27FC236}">
                <a16:creationId xmlns:a16="http://schemas.microsoft.com/office/drawing/2014/main" id="{ACE69ACD-6ED3-44CF-9018-1D4B9C9884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712788"/>
            <a:ext cx="6081713" cy="3421062"/>
          </a:xfrm>
          <a:ln/>
        </p:spPr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1591924B-CAE8-47B0-A51C-273D66ECC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4135437"/>
          </a:xfrm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1511165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BBF8BB8-DBC8-4C3A-A350-25BDE4CCF4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1CA3F7-D494-4381-B133-7E959F8D855D}" type="slidenum">
              <a:rPr lang="en-GB" altLang="en-US"/>
              <a:pPr/>
              <a:t>11</a:t>
            </a:fld>
            <a:endParaRPr lang="en-GB" altLang="en-US" dirty="0"/>
          </a:p>
        </p:txBody>
      </p:sp>
      <p:sp>
        <p:nvSpPr>
          <p:cNvPr id="395266" name="Rectangle 2">
            <a:extLst>
              <a:ext uri="{FF2B5EF4-FFF2-40B4-BE49-F238E27FC236}">
                <a16:creationId xmlns:a16="http://schemas.microsoft.com/office/drawing/2014/main" id="{ACE69ACD-6ED3-44CF-9018-1D4B9C9884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712788"/>
            <a:ext cx="6081713" cy="3421062"/>
          </a:xfrm>
          <a:ln/>
        </p:spPr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1591924B-CAE8-47B0-A51C-273D66ECC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4135437"/>
          </a:xfrm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1453605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A22702A-B28A-4278-A09C-0B0625C66B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F7464B-05B3-45C2-8AB3-EE6536C2889A}" type="slidenum">
              <a:rPr lang="en-GB" altLang="en-US"/>
              <a:pPr/>
              <a:t>12</a:t>
            </a:fld>
            <a:endParaRPr lang="en-GB" altLang="en-US"/>
          </a:p>
        </p:txBody>
      </p:sp>
      <p:sp>
        <p:nvSpPr>
          <p:cNvPr id="468994" name="Rectangle 2">
            <a:extLst>
              <a:ext uri="{FF2B5EF4-FFF2-40B4-BE49-F238E27FC236}">
                <a16:creationId xmlns:a16="http://schemas.microsoft.com/office/drawing/2014/main" id="{C36264D6-82AC-4D10-9004-0BCD93A467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5" name="Rectangle 3">
            <a:extLst>
              <a:ext uri="{FF2B5EF4-FFF2-40B4-BE49-F238E27FC236}">
                <a16:creationId xmlns:a16="http://schemas.microsoft.com/office/drawing/2014/main" id="{8A0EC074-0136-4E7C-B33C-6B624A0B6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en-GB" altLang="en-US" sz="2400" noProof="1"/>
          </a:p>
        </p:txBody>
      </p:sp>
    </p:spTree>
    <p:extLst>
      <p:ext uri="{BB962C8B-B14F-4D97-AF65-F5344CB8AC3E}">
        <p14:creationId xmlns:p14="http://schemas.microsoft.com/office/powerpoint/2010/main" val="1704389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8788F7-5C14-401B-999A-09BB213BF4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52B950-E823-464E-9578-A8E2F945B376}" type="slidenum">
              <a:rPr lang="en-GB" altLang="en-US"/>
              <a:pPr/>
              <a:t>13</a:t>
            </a:fld>
            <a:endParaRPr lang="en-GB" altLang="en-US"/>
          </a:p>
        </p:txBody>
      </p:sp>
      <p:sp>
        <p:nvSpPr>
          <p:cNvPr id="46082" name="Rectangle 7">
            <a:extLst>
              <a:ext uri="{FF2B5EF4-FFF2-40B4-BE49-F238E27FC236}">
                <a16:creationId xmlns:a16="http://schemas.microsoft.com/office/drawing/2014/main" id="{CD409358-F1BD-4F8D-B282-88CA6DF0C1F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33FDA064-E1FA-4654-A579-E74A18E3283F}" type="slidenum">
              <a:rPr lang="en-GB" altLang="en-US" sz="1200"/>
              <a:pPr algn="r"/>
              <a:t>13</a:t>
            </a:fld>
            <a:endParaRPr lang="en-GB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170EC09D-1197-4A79-9C27-D0695DD90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1833DAB2-676B-46FA-982B-23A28B79A7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4195773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E3027-C2FC-0895-0703-B4BA36C59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0F55675-2515-7FC3-52EE-6D543DEFA4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F7464B-05B3-45C2-8AB3-EE6536C2889A}" type="slidenum">
              <a:rPr lang="en-GB" altLang="en-US"/>
              <a:pPr/>
              <a:t>14</a:t>
            </a:fld>
            <a:endParaRPr lang="en-GB" altLang="en-US"/>
          </a:p>
        </p:txBody>
      </p:sp>
      <p:sp>
        <p:nvSpPr>
          <p:cNvPr id="468994" name="Rectangle 2">
            <a:extLst>
              <a:ext uri="{FF2B5EF4-FFF2-40B4-BE49-F238E27FC236}">
                <a16:creationId xmlns:a16="http://schemas.microsoft.com/office/drawing/2014/main" id="{34B73D88-0762-9EB9-11C3-FF07134B52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5" name="Rectangle 3">
            <a:extLst>
              <a:ext uri="{FF2B5EF4-FFF2-40B4-BE49-F238E27FC236}">
                <a16:creationId xmlns:a16="http://schemas.microsoft.com/office/drawing/2014/main" id="{C4ECE832-9B08-6D56-D6FF-8EF7739793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en-GB" altLang="en-US" sz="2400" noProof="1"/>
          </a:p>
        </p:txBody>
      </p:sp>
    </p:spTree>
    <p:extLst>
      <p:ext uri="{BB962C8B-B14F-4D97-AF65-F5344CB8AC3E}">
        <p14:creationId xmlns:p14="http://schemas.microsoft.com/office/powerpoint/2010/main" val="3952851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59F22-351E-E84A-FD62-827E73B1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DEBD8D3-05FD-DC31-D220-E210F28441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52B950-E823-464E-9578-A8E2F945B376}" type="slidenum">
              <a:rPr lang="en-GB" altLang="en-US"/>
              <a:pPr/>
              <a:t>15</a:t>
            </a:fld>
            <a:endParaRPr lang="en-GB" altLang="en-US"/>
          </a:p>
        </p:txBody>
      </p:sp>
      <p:sp>
        <p:nvSpPr>
          <p:cNvPr id="46082" name="Rectangle 7">
            <a:extLst>
              <a:ext uri="{FF2B5EF4-FFF2-40B4-BE49-F238E27FC236}">
                <a16:creationId xmlns:a16="http://schemas.microsoft.com/office/drawing/2014/main" id="{D9B68A10-7BC0-5A01-E433-FDC77E3C58B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33FDA064-E1FA-4654-A579-E74A18E3283F}" type="slidenum">
              <a:rPr lang="en-GB" altLang="en-US" sz="1200"/>
              <a:pPr algn="r"/>
              <a:t>15</a:t>
            </a:fld>
            <a:endParaRPr lang="en-GB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846A5EC7-5534-116C-037A-A61D183225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085CA1D-1FD9-A2FF-74DA-1CEA074C06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822610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FD05F-D6AC-ED34-8FD6-E0B5E978C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6FF00C9-036C-D3A1-021E-B495D85FE2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573612-EC40-448F-90C3-D54682C5EA9F}" type="slidenum">
              <a:rPr lang="en-GB" altLang="en-US"/>
              <a:pPr/>
              <a:t>16</a:t>
            </a:fld>
            <a:endParaRPr lang="en-GB" altLang="en-US" dirty="0"/>
          </a:p>
        </p:txBody>
      </p:sp>
      <p:sp>
        <p:nvSpPr>
          <p:cNvPr id="397314" name="Rectangle 2">
            <a:extLst>
              <a:ext uri="{FF2B5EF4-FFF2-40B4-BE49-F238E27FC236}">
                <a16:creationId xmlns:a16="http://schemas.microsoft.com/office/drawing/2014/main" id="{68946664-1B5D-09AD-19D5-AFBDF6404B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712788"/>
            <a:ext cx="6081713" cy="3421062"/>
          </a:xfrm>
          <a:ln/>
        </p:spPr>
      </p:sp>
      <p:sp>
        <p:nvSpPr>
          <p:cNvPr id="397315" name="Rectangle 3">
            <a:extLst>
              <a:ext uri="{FF2B5EF4-FFF2-40B4-BE49-F238E27FC236}">
                <a16:creationId xmlns:a16="http://schemas.microsoft.com/office/drawing/2014/main" id="{7B7F8C40-5C24-EEB7-C0C3-E68F95F04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4135437"/>
          </a:xfrm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3238171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>
            <a:extLst>
              <a:ext uri="{FF2B5EF4-FFF2-40B4-BE49-F238E27FC236}">
                <a16:creationId xmlns:a16="http://schemas.microsoft.com/office/drawing/2014/main" id="{BC5C76C6-E525-401C-BDC9-5EB59B7F67C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799D6F9A-C962-415F-8BFF-220FFC046EDD}" type="slidenum">
              <a:rPr lang="en-GB" altLang="en-US" sz="1000" i="1"/>
              <a:pPr algn="r">
                <a:spcBef>
                  <a:spcPct val="0"/>
                </a:spcBef>
              </a:pPr>
              <a:t>17</a:t>
            </a:fld>
            <a:endParaRPr lang="en-GB" altLang="en-US" sz="1000" i="1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759393A3-7EBE-4CF5-BBB2-7A2655E0BA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noProof="1"/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ABFC3F63-A027-4531-859E-EF253C830C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41230861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D76A882-829F-4759-80B5-81E5D797A7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573612-EC40-448F-90C3-D54682C5EA9F}" type="slidenum">
              <a:rPr lang="en-GB" altLang="en-US"/>
              <a:pPr/>
              <a:t>18</a:t>
            </a:fld>
            <a:endParaRPr lang="en-GB" altLang="en-US" dirty="0"/>
          </a:p>
        </p:txBody>
      </p:sp>
      <p:sp>
        <p:nvSpPr>
          <p:cNvPr id="397314" name="Rectangle 2">
            <a:extLst>
              <a:ext uri="{FF2B5EF4-FFF2-40B4-BE49-F238E27FC236}">
                <a16:creationId xmlns:a16="http://schemas.microsoft.com/office/drawing/2014/main" id="{AF041DB5-080F-451D-87F7-3818632746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712788"/>
            <a:ext cx="6081713" cy="3421062"/>
          </a:xfrm>
          <a:ln/>
        </p:spPr>
      </p:sp>
      <p:sp>
        <p:nvSpPr>
          <p:cNvPr id="397315" name="Rectangle 3">
            <a:extLst>
              <a:ext uri="{FF2B5EF4-FFF2-40B4-BE49-F238E27FC236}">
                <a16:creationId xmlns:a16="http://schemas.microsoft.com/office/drawing/2014/main" id="{08FB3D5A-A276-416C-A34C-4EB954FDC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4135437"/>
          </a:xfrm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3495063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>
            <a:extLst>
              <a:ext uri="{FF2B5EF4-FFF2-40B4-BE49-F238E27FC236}">
                <a16:creationId xmlns:a16="http://schemas.microsoft.com/office/drawing/2014/main" id="{07AECB12-0BBF-4521-B903-473AF9A4F9C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2CBFAB32-1C1C-4391-856E-DC1A5FDB1040}" type="slidenum">
              <a:rPr lang="en-GB" altLang="en-US" sz="1000" i="1"/>
              <a:pPr algn="r">
                <a:spcBef>
                  <a:spcPct val="0"/>
                </a:spcBef>
              </a:pPr>
              <a:t>19</a:t>
            </a:fld>
            <a:endParaRPr lang="en-GB" altLang="en-US" sz="1000" i="1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07BE7902-52B6-4B7D-BC4F-D6C27A6F64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noProof="1"/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4FBEA93-5AA5-4FB6-91CF-04C71ECA12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2847033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4098">
            <a:extLst>
              <a:ext uri="{FF2B5EF4-FFF2-40B4-BE49-F238E27FC236}">
                <a16:creationId xmlns:a16="http://schemas.microsoft.com/office/drawing/2014/main" id="{A5CCD764-45A4-4FE5-AF1F-BCA242B6DF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4099">
            <a:extLst>
              <a:ext uri="{FF2B5EF4-FFF2-40B4-BE49-F238E27FC236}">
                <a16:creationId xmlns:a16="http://schemas.microsoft.com/office/drawing/2014/main" id="{8E9AB882-8619-4E73-A847-97DE2D188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GB" altLang="en-US" sz="18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8523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>
            <a:extLst>
              <a:ext uri="{FF2B5EF4-FFF2-40B4-BE49-F238E27FC236}">
                <a16:creationId xmlns:a16="http://schemas.microsoft.com/office/drawing/2014/main" id="{EFFA2307-E68F-4FBE-B9D0-212B246A954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F0C80081-280E-4093-955D-9838AA2103B7}" type="slidenum">
              <a:rPr lang="en-GB" altLang="en-US" sz="1000" i="1"/>
              <a:pPr algn="r">
                <a:spcBef>
                  <a:spcPct val="0"/>
                </a:spcBef>
              </a:pPr>
              <a:t>21</a:t>
            </a:fld>
            <a:endParaRPr lang="en-GB" altLang="en-US" sz="1000" i="1"/>
          </a:p>
        </p:txBody>
      </p:sp>
      <p:sp>
        <p:nvSpPr>
          <p:cNvPr id="15363" name="Rectangle 1026">
            <a:extLst>
              <a:ext uri="{FF2B5EF4-FFF2-40B4-BE49-F238E27FC236}">
                <a16:creationId xmlns:a16="http://schemas.microsoft.com/office/drawing/2014/main" id="{CFA4A88A-D46B-417B-8739-A4BE471C3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noProof="1"/>
          </a:p>
        </p:txBody>
      </p:sp>
      <p:sp>
        <p:nvSpPr>
          <p:cNvPr id="15364" name="Rectangle 1027">
            <a:extLst>
              <a:ext uri="{FF2B5EF4-FFF2-40B4-BE49-F238E27FC236}">
                <a16:creationId xmlns:a16="http://schemas.microsoft.com/office/drawing/2014/main" id="{9B2F71E0-F196-4C93-BCD5-C6D85B7412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23127873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A1ECEC5-FEF5-4ED8-BE54-94B0ED7ACD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AD3FA3-97BE-4751-9182-B5229D4EEF7E}" type="slidenum">
              <a:rPr lang="en-GB" altLang="en-US"/>
              <a:pPr/>
              <a:t>22</a:t>
            </a:fld>
            <a:endParaRPr lang="en-GB" altLang="en-US" dirty="0"/>
          </a:p>
        </p:txBody>
      </p:sp>
      <p:sp>
        <p:nvSpPr>
          <p:cNvPr id="421890" name="Rectangle 2">
            <a:extLst>
              <a:ext uri="{FF2B5EF4-FFF2-40B4-BE49-F238E27FC236}">
                <a16:creationId xmlns:a16="http://schemas.microsoft.com/office/drawing/2014/main" id="{F5E5DFA1-BBBA-4B7A-9EF8-83C3AD3F3C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712788"/>
            <a:ext cx="6081713" cy="3421062"/>
          </a:xfrm>
          <a:ln/>
        </p:spPr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25698BA1-59BC-44C3-BD19-8F5296ECBF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4135437"/>
          </a:xfrm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3289127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5688B5E-AE80-419D-BFD4-8FD2649D46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CFEF96-9D28-490B-9F94-F9D6B0E50C31}" type="slidenum">
              <a:rPr lang="en-GB" altLang="en-US"/>
              <a:pPr/>
              <a:t>23</a:t>
            </a:fld>
            <a:endParaRPr lang="en-GB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D8D47D8B-A89B-4028-816C-A1CFD6AF28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99914E5-9D5D-4E44-857A-D63B2D55B9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748040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A1ECEC5-FEF5-4ED8-BE54-94B0ED7ACD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AD3FA3-97BE-4751-9182-B5229D4EEF7E}" type="slidenum">
              <a:rPr lang="en-GB" altLang="en-US"/>
              <a:pPr/>
              <a:t>24</a:t>
            </a:fld>
            <a:endParaRPr lang="en-GB" altLang="en-US" dirty="0"/>
          </a:p>
        </p:txBody>
      </p:sp>
      <p:sp>
        <p:nvSpPr>
          <p:cNvPr id="421890" name="Rectangle 2">
            <a:extLst>
              <a:ext uri="{FF2B5EF4-FFF2-40B4-BE49-F238E27FC236}">
                <a16:creationId xmlns:a16="http://schemas.microsoft.com/office/drawing/2014/main" id="{F5E5DFA1-BBBA-4B7A-9EF8-83C3AD3F3C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712788"/>
            <a:ext cx="6081713" cy="3421062"/>
          </a:xfrm>
          <a:ln/>
        </p:spPr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25698BA1-59BC-44C3-BD19-8F5296ECBF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4135437"/>
          </a:xfrm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38757357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33DEF168-9C32-497B-A17D-87379108AE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9B8FEE-EE63-4735-8F0D-A6A9FF78BB5B}" type="slidenum">
              <a:rPr lang="en-GB" altLang="en-US"/>
              <a:pPr/>
              <a:t>25</a:t>
            </a:fld>
            <a:endParaRPr lang="en-GB" altLang="en-US" dirty="0"/>
          </a:p>
        </p:txBody>
      </p:sp>
      <p:sp>
        <p:nvSpPr>
          <p:cNvPr id="401410" name="Rectangle 2">
            <a:extLst>
              <a:ext uri="{FF2B5EF4-FFF2-40B4-BE49-F238E27FC236}">
                <a16:creationId xmlns:a16="http://schemas.microsoft.com/office/drawing/2014/main" id="{41204330-66B5-4791-9C8B-5DBCEF2D6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01411" name="Rectangle 3">
            <a:extLst>
              <a:ext uri="{FF2B5EF4-FFF2-40B4-BE49-F238E27FC236}">
                <a16:creationId xmlns:a16="http://schemas.microsoft.com/office/drawing/2014/main" id="{F87541B7-AE77-4D37-A067-E5C64C2B1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1000" i="1" dirty="0"/>
              <a:t>4</a:t>
            </a:r>
          </a:p>
        </p:txBody>
      </p:sp>
      <p:sp>
        <p:nvSpPr>
          <p:cNvPr id="401412" name="Rectangle 4">
            <a:extLst>
              <a:ext uri="{FF2B5EF4-FFF2-40B4-BE49-F238E27FC236}">
                <a16:creationId xmlns:a16="http://schemas.microsoft.com/office/drawing/2014/main" id="{8803AE26-552B-420A-BC59-B324C09F3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01413" name="Rectangle 5">
            <a:extLst>
              <a:ext uri="{FF2B5EF4-FFF2-40B4-BE49-F238E27FC236}">
                <a16:creationId xmlns:a16="http://schemas.microsoft.com/office/drawing/2014/main" id="{9C001226-8B8E-4710-BC0B-88E992D29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01414" name="Rectangle 6">
            <a:extLst>
              <a:ext uri="{FF2B5EF4-FFF2-40B4-BE49-F238E27FC236}">
                <a16:creationId xmlns:a16="http://schemas.microsoft.com/office/drawing/2014/main" id="{9F5383F0-5F34-4369-9D22-51C4541A4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401415" name="Rectangle 7">
            <a:extLst>
              <a:ext uri="{FF2B5EF4-FFF2-40B4-BE49-F238E27FC236}">
                <a16:creationId xmlns:a16="http://schemas.microsoft.com/office/drawing/2014/main" id="{D60BB170-BC25-4CAC-95CC-D9C5F4D03B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5682487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6DB6565D-22D8-458A-9B70-A6E5212F70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4502B408-9411-4F06-A44B-5ABDEE454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</a:pPr>
            <a:endParaRPr lang="en-GB" altLang="en-US" sz="3800" noProof="1">
              <a:solidFill>
                <a:srgbClr val="6E85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8951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133EC74-0136-4CC0-B21D-0354422C28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E1F25E-BF58-4F27-8A4F-FBE8CD9F8D55}" type="slidenum">
              <a:rPr lang="en-GB" altLang="en-US"/>
              <a:pPr/>
              <a:t>29</a:t>
            </a:fld>
            <a:endParaRPr lang="en-GB" altLang="en-US"/>
          </a:p>
        </p:txBody>
      </p:sp>
      <p:sp>
        <p:nvSpPr>
          <p:cNvPr id="446466" name="Rectangle 2">
            <a:extLst>
              <a:ext uri="{FF2B5EF4-FFF2-40B4-BE49-F238E27FC236}">
                <a16:creationId xmlns:a16="http://schemas.microsoft.com/office/drawing/2014/main" id="{5D9C9AD9-2A89-4212-BF4D-CBED2EABD1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46467" name="Rectangle 3">
            <a:extLst>
              <a:ext uri="{FF2B5EF4-FFF2-40B4-BE49-F238E27FC236}">
                <a16:creationId xmlns:a16="http://schemas.microsoft.com/office/drawing/2014/main" id="{1F536B11-52DA-4C97-9679-2AEC16C5C6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spcBef>
                <a:spcPct val="0"/>
              </a:spcBef>
            </a:pPr>
            <a:endParaRPr lang="en-GB" altLang="en-US" sz="3800" noProof="1">
              <a:solidFill>
                <a:srgbClr val="6E85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7255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>
            <a:extLst>
              <a:ext uri="{FF2B5EF4-FFF2-40B4-BE49-F238E27FC236}">
                <a16:creationId xmlns:a16="http://schemas.microsoft.com/office/drawing/2014/main" id="{DA073358-AFBC-4ABD-879D-3062AF5A7D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F48111-CD51-4D56-96E8-6D90E5326A9C}" type="slidenum">
              <a:rPr lang="en-GB" altLang="en-US"/>
              <a:pPr/>
              <a:t>30</a:t>
            </a:fld>
            <a:endParaRPr lang="en-GB" altLang="en-US"/>
          </a:p>
        </p:txBody>
      </p:sp>
      <p:sp>
        <p:nvSpPr>
          <p:cNvPr id="28674" name="Rectangle 7">
            <a:extLst>
              <a:ext uri="{FF2B5EF4-FFF2-40B4-BE49-F238E27FC236}">
                <a16:creationId xmlns:a16="http://schemas.microsoft.com/office/drawing/2014/main" id="{E982482A-EC11-4580-B62B-9B13246F642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BC5C109-0860-4DEF-82D0-8B4981B591C8}" type="slidenum">
              <a:rPr lang="en-GB" altLang="en-US" sz="1000" i="1">
                <a:cs typeface="Arial" panose="020B0604020202020204" pitchFamily="34" charset="0"/>
              </a:rPr>
              <a:pPr algn="r"/>
              <a:t>30</a:t>
            </a:fld>
            <a:endParaRPr lang="en-GB" altLang="en-US" sz="1000" i="1">
              <a:cs typeface="Arial" panose="020B0604020202020204" pitchFamily="34" charset="0"/>
            </a:endParaRPr>
          </a:p>
        </p:txBody>
      </p:sp>
      <p:sp>
        <p:nvSpPr>
          <p:cNvPr id="448515" name="Rectangle 7">
            <a:extLst>
              <a:ext uri="{FF2B5EF4-FFF2-40B4-BE49-F238E27FC236}">
                <a16:creationId xmlns:a16="http://schemas.microsoft.com/office/drawing/2014/main" id="{BEF1C698-2B94-40A7-B33B-18973853637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96325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E72AE1B5-F88A-4066-85DD-3A377F67756A}" type="slidenum">
              <a:rPr lang="en-GB" altLang="en-US" sz="120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30</a:t>
            </a:fld>
            <a:endParaRPr lang="en-GB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16" name="Rectangle 2">
            <a:extLst>
              <a:ext uri="{FF2B5EF4-FFF2-40B4-BE49-F238E27FC236}">
                <a16:creationId xmlns:a16="http://schemas.microsoft.com/office/drawing/2014/main" id="{06CAB652-917A-4FA6-96AA-1AC8C87D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17" name="Rectangle 3">
            <a:extLst>
              <a:ext uri="{FF2B5EF4-FFF2-40B4-BE49-F238E27FC236}">
                <a16:creationId xmlns:a16="http://schemas.microsoft.com/office/drawing/2014/main" id="{703DF9ED-421E-4673-9D54-6E52B22C6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1000" i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48518" name="Rectangle 4">
            <a:extLst>
              <a:ext uri="{FF2B5EF4-FFF2-40B4-BE49-F238E27FC236}">
                <a16:creationId xmlns:a16="http://schemas.microsoft.com/office/drawing/2014/main" id="{78D99DE4-5B38-4BCB-9A61-554AE004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19" name="Rectangle 5">
            <a:extLst>
              <a:ext uri="{FF2B5EF4-FFF2-40B4-BE49-F238E27FC236}">
                <a16:creationId xmlns:a16="http://schemas.microsoft.com/office/drawing/2014/main" id="{064B4E95-CBAE-41A6-BBFC-24B20645C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20" name="Rectangle 6">
            <a:extLst>
              <a:ext uri="{FF2B5EF4-FFF2-40B4-BE49-F238E27FC236}">
                <a16:creationId xmlns:a16="http://schemas.microsoft.com/office/drawing/2014/main" id="{52A5277A-9BE3-4BCE-983E-6F2F696C8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pPr algn="ctr">
              <a:spcBef>
                <a:spcPct val="0"/>
              </a:spcBef>
            </a:pPr>
            <a:endParaRPr lang="en-GB" altLang="en-US" sz="3800" noProof="1">
              <a:solidFill>
                <a:srgbClr val="6E85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21" name="Rectangle 7">
            <a:extLst>
              <a:ext uri="{FF2B5EF4-FFF2-40B4-BE49-F238E27FC236}">
                <a16:creationId xmlns:a16="http://schemas.microsoft.com/office/drawing/2014/main" id="{BA088A96-5B0B-4647-A1ED-78BFC2028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36300187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>
            <a:extLst>
              <a:ext uri="{FF2B5EF4-FFF2-40B4-BE49-F238E27FC236}">
                <a16:creationId xmlns:a16="http://schemas.microsoft.com/office/drawing/2014/main" id="{DA073358-AFBC-4ABD-879D-3062AF5A7D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F48111-CD51-4D56-96E8-6D90E5326A9C}" type="slidenum">
              <a:rPr lang="en-GB" altLang="en-US"/>
              <a:pPr/>
              <a:t>31</a:t>
            </a:fld>
            <a:endParaRPr lang="en-GB" altLang="en-US"/>
          </a:p>
        </p:txBody>
      </p:sp>
      <p:sp>
        <p:nvSpPr>
          <p:cNvPr id="28674" name="Rectangle 7">
            <a:extLst>
              <a:ext uri="{FF2B5EF4-FFF2-40B4-BE49-F238E27FC236}">
                <a16:creationId xmlns:a16="http://schemas.microsoft.com/office/drawing/2014/main" id="{E982482A-EC11-4580-B62B-9B13246F642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BC5C109-0860-4DEF-82D0-8B4981B591C8}" type="slidenum">
              <a:rPr lang="en-GB" altLang="en-US" sz="1000" i="1">
                <a:cs typeface="Arial" panose="020B0604020202020204" pitchFamily="34" charset="0"/>
              </a:rPr>
              <a:pPr algn="r"/>
              <a:t>31</a:t>
            </a:fld>
            <a:endParaRPr lang="en-GB" altLang="en-US" sz="1000" i="1">
              <a:cs typeface="Arial" panose="020B0604020202020204" pitchFamily="34" charset="0"/>
            </a:endParaRPr>
          </a:p>
        </p:txBody>
      </p:sp>
      <p:sp>
        <p:nvSpPr>
          <p:cNvPr id="448515" name="Rectangle 7">
            <a:extLst>
              <a:ext uri="{FF2B5EF4-FFF2-40B4-BE49-F238E27FC236}">
                <a16:creationId xmlns:a16="http://schemas.microsoft.com/office/drawing/2014/main" id="{BEF1C698-2B94-40A7-B33B-18973853637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96325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E72AE1B5-F88A-4066-85DD-3A377F67756A}" type="slidenum">
              <a:rPr lang="en-GB" altLang="en-US" sz="120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31</a:t>
            </a:fld>
            <a:endParaRPr lang="en-GB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16" name="Rectangle 2">
            <a:extLst>
              <a:ext uri="{FF2B5EF4-FFF2-40B4-BE49-F238E27FC236}">
                <a16:creationId xmlns:a16="http://schemas.microsoft.com/office/drawing/2014/main" id="{06CAB652-917A-4FA6-96AA-1AC8C87D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17" name="Rectangle 3">
            <a:extLst>
              <a:ext uri="{FF2B5EF4-FFF2-40B4-BE49-F238E27FC236}">
                <a16:creationId xmlns:a16="http://schemas.microsoft.com/office/drawing/2014/main" id="{703DF9ED-421E-4673-9D54-6E52B22C6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1000" i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48518" name="Rectangle 4">
            <a:extLst>
              <a:ext uri="{FF2B5EF4-FFF2-40B4-BE49-F238E27FC236}">
                <a16:creationId xmlns:a16="http://schemas.microsoft.com/office/drawing/2014/main" id="{78D99DE4-5B38-4BCB-9A61-554AE004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19" name="Rectangle 5">
            <a:extLst>
              <a:ext uri="{FF2B5EF4-FFF2-40B4-BE49-F238E27FC236}">
                <a16:creationId xmlns:a16="http://schemas.microsoft.com/office/drawing/2014/main" id="{064B4E95-CBAE-41A6-BBFC-24B20645C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20" name="Rectangle 6">
            <a:extLst>
              <a:ext uri="{FF2B5EF4-FFF2-40B4-BE49-F238E27FC236}">
                <a16:creationId xmlns:a16="http://schemas.microsoft.com/office/drawing/2014/main" id="{52A5277A-9BE3-4BCE-983E-6F2F696C8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pPr algn="ctr">
              <a:spcBef>
                <a:spcPct val="0"/>
              </a:spcBef>
            </a:pPr>
            <a:endParaRPr lang="en-GB" altLang="en-US" sz="3800" noProof="1">
              <a:solidFill>
                <a:srgbClr val="6E85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21" name="Rectangle 7">
            <a:extLst>
              <a:ext uri="{FF2B5EF4-FFF2-40B4-BE49-F238E27FC236}">
                <a16:creationId xmlns:a16="http://schemas.microsoft.com/office/drawing/2014/main" id="{BA088A96-5B0B-4647-A1ED-78BFC2028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23141050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>
            <a:extLst>
              <a:ext uri="{FF2B5EF4-FFF2-40B4-BE49-F238E27FC236}">
                <a16:creationId xmlns:a16="http://schemas.microsoft.com/office/drawing/2014/main" id="{DA073358-AFBC-4ABD-879D-3062AF5A7D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F48111-CD51-4D56-96E8-6D90E5326A9C}" type="slidenum">
              <a:rPr lang="en-GB" altLang="en-US"/>
              <a:pPr/>
              <a:t>32</a:t>
            </a:fld>
            <a:endParaRPr lang="en-GB" altLang="en-US"/>
          </a:p>
        </p:txBody>
      </p:sp>
      <p:sp>
        <p:nvSpPr>
          <p:cNvPr id="28674" name="Rectangle 7">
            <a:extLst>
              <a:ext uri="{FF2B5EF4-FFF2-40B4-BE49-F238E27FC236}">
                <a16:creationId xmlns:a16="http://schemas.microsoft.com/office/drawing/2014/main" id="{E982482A-EC11-4580-B62B-9B13246F642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BC5C109-0860-4DEF-82D0-8B4981B591C8}" type="slidenum">
              <a:rPr lang="en-GB" altLang="en-US" sz="1000" i="1">
                <a:cs typeface="Arial" panose="020B0604020202020204" pitchFamily="34" charset="0"/>
              </a:rPr>
              <a:pPr algn="r"/>
              <a:t>32</a:t>
            </a:fld>
            <a:endParaRPr lang="en-GB" altLang="en-US" sz="1000" i="1">
              <a:cs typeface="Arial" panose="020B0604020202020204" pitchFamily="34" charset="0"/>
            </a:endParaRPr>
          </a:p>
        </p:txBody>
      </p:sp>
      <p:sp>
        <p:nvSpPr>
          <p:cNvPr id="448515" name="Rectangle 7">
            <a:extLst>
              <a:ext uri="{FF2B5EF4-FFF2-40B4-BE49-F238E27FC236}">
                <a16:creationId xmlns:a16="http://schemas.microsoft.com/office/drawing/2014/main" id="{BEF1C698-2B94-40A7-B33B-18973853637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96325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E72AE1B5-F88A-4066-85DD-3A377F67756A}" type="slidenum">
              <a:rPr lang="en-GB" altLang="en-US" sz="120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32</a:t>
            </a:fld>
            <a:endParaRPr lang="en-GB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16" name="Rectangle 2">
            <a:extLst>
              <a:ext uri="{FF2B5EF4-FFF2-40B4-BE49-F238E27FC236}">
                <a16:creationId xmlns:a16="http://schemas.microsoft.com/office/drawing/2014/main" id="{06CAB652-917A-4FA6-96AA-1AC8C87D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17" name="Rectangle 3">
            <a:extLst>
              <a:ext uri="{FF2B5EF4-FFF2-40B4-BE49-F238E27FC236}">
                <a16:creationId xmlns:a16="http://schemas.microsoft.com/office/drawing/2014/main" id="{703DF9ED-421E-4673-9D54-6E52B22C6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1000" i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48518" name="Rectangle 4">
            <a:extLst>
              <a:ext uri="{FF2B5EF4-FFF2-40B4-BE49-F238E27FC236}">
                <a16:creationId xmlns:a16="http://schemas.microsoft.com/office/drawing/2014/main" id="{78D99DE4-5B38-4BCB-9A61-554AE004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19" name="Rectangle 5">
            <a:extLst>
              <a:ext uri="{FF2B5EF4-FFF2-40B4-BE49-F238E27FC236}">
                <a16:creationId xmlns:a16="http://schemas.microsoft.com/office/drawing/2014/main" id="{064B4E95-CBAE-41A6-BBFC-24B20645C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20" name="Rectangle 6">
            <a:extLst>
              <a:ext uri="{FF2B5EF4-FFF2-40B4-BE49-F238E27FC236}">
                <a16:creationId xmlns:a16="http://schemas.microsoft.com/office/drawing/2014/main" id="{52A5277A-9BE3-4BCE-983E-6F2F696C8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pPr algn="ctr">
              <a:spcBef>
                <a:spcPct val="0"/>
              </a:spcBef>
            </a:pPr>
            <a:endParaRPr lang="en-GB" altLang="en-US" sz="3800" noProof="1">
              <a:solidFill>
                <a:srgbClr val="6E85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21" name="Rectangle 7">
            <a:extLst>
              <a:ext uri="{FF2B5EF4-FFF2-40B4-BE49-F238E27FC236}">
                <a16:creationId xmlns:a16="http://schemas.microsoft.com/office/drawing/2014/main" id="{BA088A96-5B0B-4647-A1ED-78BFC2028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38475531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4219-F06C-7956-67BE-A94FFCAF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>
            <a:extLst>
              <a:ext uri="{FF2B5EF4-FFF2-40B4-BE49-F238E27FC236}">
                <a16:creationId xmlns:a16="http://schemas.microsoft.com/office/drawing/2014/main" id="{B6975EFC-5D71-93CC-A9C4-48BFAC5441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F48111-CD51-4D56-96E8-6D90E5326A9C}" type="slidenum">
              <a:rPr lang="en-GB" altLang="en-US"/>
              <a:pPr/>
              <a:t>33</a:t>
            </a:fld>
            <a:endParaRPr lang="en-GB" altLang="en-US"/>
          </a:p>
        </p:txBody>
      </p:sp>
      <p:sp>
        <p:nvSpPr>
          <p:cNvPr id="28674" name="Rectangle 7">
            <a:extLst>
              <a:ext uri="{FF2B5EF4-FFF2-40B4-BE49-F238E27FC236}">
                <a16:creationId xmlns:a16="http://schemas.microsoft.com/office/drawing/2014/main" id="{34218CC3-5D8D-4737-C80F-720B2ACA505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BC5C109-0860-4DEF-82D0-8B4981B591C8}" type="slidenum">
              <a:rPr lang="en-GB" altLang="en-US" sz="1000" i="1">
                <a:cs typeface="Arial" panose="020B0604020202020204" pitchFamily="34" charset="0"/>
              </a:rPr>
              <a:pPr algn="r"/>
              <a:t>33</a:t>
            </a:fld>
            <a:endParaRPr lang="en-GB" altLang="en-US" sz="1000" i="1">
              <a:cs typeface="Arial" panose="020B0604020202020204" pitchFamily="34" charset="0"/>
            </a:endParaRPr>
          </a:p>
        </p:txBody>
      </p:sp>
      <p:sp>
        <p:nvSpPr>
          <p:cNvPr id="448515" name="Rectangle 7">
            <a:extLst>
              <a:ext uri="{FF2B5EF4-FFF2-40B4-BE49-F238E27FC236}">
                <a16:creationId xmlns:a16="http://schemas.microsoft.com/office/drawing/2014/main" id="{FDA42B50-5F0C-5093-79BB-7B934C16FFB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96325"/>
            <a:ext cx="2971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E72AE1B5-F88A-4066-85DD-3A377F67756A}" type="slidenum">
              <a:rPr lang="en-GB" altLang="en-US" sz="120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33</a:t>
            </a:fld>
            <a:endParaRPr lang="en-GB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16" name="Rectangle 2">
            <a:extLst>
              <a:ext uri="{FF2B5EF4-FFF2-40B4-BE49-F238E27FC236}">
                <a16:creationId xmlns:a16="http://schemas.microsoft.com/office/drawing/2014/main" id="{9F7F4617-9087-7D9B-9559-1A0AF2272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17" name="Rectangle 3">
            <a:extLst>
              <a:ext uri="{FF2B5EF4-FFF2-40B4-BE49-F238E27FC236}">
                <a16:creationId xmlns:a16="http://schemas.microsoft.com/office/drawing/2014/main" id="{0310BD9B-69C4-A3C8-C7F8-9E854F3C4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1000" i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48518" name="Rectangle 4">
            <a:extLst>
              <a:ext uri="{FF2B5EF4-FFF2-40B4-BE49-F238E27FC236}">
                <a16:creationId xmlns:a16="http://schemas.microsoft.com/office/drawing/2014/main" id="{52251B4C-9EB5-6734-783C-4B0DC42D6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19" name="Rectangle 5">
            <a:extLst>
              <a:ext uri="{FF2B5EF4-FFF2-40B4-BE49-F238E27FC236}">
                <a16:creationId xmlns:a16="http://schemas.microsoft.com/office/drawing/2014/main" id="{3E3BE58B-72CF-CB60-181C-DF8B13572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20" name="Rectangle 6">
            <a:extLst>
              <a:ext uri="{FF2B5EF4-FFF2-40B4-BE49-F238E27FC236}">
                <a16:creationId xmlns:a16="http://schemas.microsoft.com/office/drawing/2014/main" id="{E319F56F-C249-D626-40C6-CE42304BA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pPr algn="ctr">
              <a:spcBef>
                <a:spcPct val="0"/>
              </a:spcBef>
            </a:pPr>
            <a:endParaRPr lang="en-GB" altLang="en-US" sz="3800" noProof="1">
              <a:solidFill>
                <a:srgbClr val="6E85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521" name="Rectangle 7">
            <a:extLst>
              <a:ext uri="{FF2B5EF4-FFF2-40B4-BE49-F238E27FC236}">
                <a16:creationId xmlns:a16="http://schemas.microsoft.com/office/drawing/2014/main" id="{A9413D8A-3293-A3A7-D1E8-82002EB683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31062908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4E09482-C84E-4C2C-BA34-0F9DAC658B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DC1E43-C538-45AF-9240-B1D28958B4DA}" type="slidenum">
              <a:rPr lang="en-GB" altLang="en-US"/>
              <a:pPr/>
              <a:t>34</a:t>
            </a:fld>
            <a:endParaRPr lang="en-GB" altLang="en-US"/>
          </a:p>
        </p:txBody>
      </p:sp>
      <p:sp>
        <p:nvSpPr>
          <p:cNvPr id="450562" name="Rectangle 2">
            <a:extLst>
              <a:ext uri="{FF2B5EF4-FFF2-40B4-BE49-F238E27FC236}">
                <a16:creationId xmlns:a16="http://schemas.microsoft.com/office/drawing/2014/main" id="{E5E26DFE-62DB-43ED-9640-EBC5F38D0D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50563" name="Rectangle 3">
            <a:extLst>
              <a:ext uri="{FF2B5EF4-FFF2-40B4-BE49-F238E27FC236}">
                <a16:creationId xmlns:a16="http://schemas.microsoft.com/office/drawing/2014/main" id="{C956D4EA-BA02-4D49-9C50-E6DAE7C807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spcBef>
                <a:spcPct val="0"/>
              </a:spcBef>
            </a:pPr>
            <a:endParaRPr lang="en-GB" altLang="en-US" sz="3800" noProof="1">
              <a:solidFill>
                <a:srgbClr val="6E85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3918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5E56C95-ABC1-4A7E-B86D-88C05C4AEA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9B2FAA-01C3-4014-80AB-E061D6A6CD0F}" type="slidenum">
              <a:rPr lang="en-GB" altLang="en-US"/>
              <a:pPr/>
              <a:t>35</a:t>
            </a:fld>
            <a:endParaRPr lang="en-GB" altLang="en-US"/>
          </a:p>
        </p:txBody>
      </p:sp>
      <p:sp>
        <p:nvSpPr>
          <p:cNvPr id="452610" name="Rectangle 2">
            <a:extLst>
              <a:ext uri="{FF2B5EF4-FFF2-40B4-BE49-F238E27FC236}">
                <a16:creationId xmlns:a16="http://schemas.microsoft.com/office/drawing/2014/main" id="{87E05E30-6BEB-48D9-9C91-83D01B25F0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52611" name="Rectangle 3">
            <a:extLst>
              <a:ext uri="{FF2B5EF4-FFF2-40B4-BE49-F238E27FC236}">
                <a16:creationId xmlns:a16="http://schemas.microsoft.com/office/drawing/2014/main" id="{9D377A50-679F-4CF4-950A-2BD974800D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spcBef>
                <a:spcPct val="0"/>
              </a:spcBef>
            </a:pPr>
            <a:endParaRPr lang="en-GB" altLang="en-US" sz="3800" noProof="1">
              <a:solidFill>
                <a:srgbClr val="6E85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3896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D64621D8-EB35-4A62-90BB-31CA5A3667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EE109B-7D1C-4873-B099-3D54AA35BDF9}" type="slidenum">
              <a:rPr lang="en-GB" altLang="en-US" sz="1000">
                <a:latin typeface="Times New Roman" panose="02020603050405020304" pitchFamily="18" charset="0"/>
              </a:rPr>
              <a:pPr/>
              <a:t>36</a:t>
            </a:fld>
            <a:endParaRPr lang="en-GB" altLang="en-US" sz="1000">
              <a:latin typeface="Times New Roman" panose="02020603050405020304" pitchFamily="18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80491F96-D4C9-40F8-BD51-4FDC72ACAE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F12A37D8-851B-40D5-BC1B-C5BD661656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33601627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3F0CDD61-D508-40BE-930B-C540F7C6DF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CF9DDF-E904-44A2-AE82-7F205A3F8009}" type="slidenum">
              <a:rPr lang="en-GB" altLang="en-US"/>
              <a:pPr/>
              <a:t>37</a:t>
            </a:fld>
            <a:endParaRPr lang="en-GB" altLang="en-US"/>
          </a:p>
        </p:txBody>
      </p:sp>
      <p:sp>
        <p:nvSpPr>
          <p:cNvPr id="29698" name="Rectangle 5">
            <a:extLst>
              <a:ext uri="{FF2B5EF4-FFF2-40B4-BE49-F238E27FC236}">
                <a16:creationId xmlns:a16="http://schemas.microsoft.com/office/drawing/2014/main" id="{671E498D-2AFF-4CA2-984F-8CEAC5B3392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DDA81AB5-37EA-4D48-8170-7E03E9E9A401}" type="slidenum">
              <a:rPr lang="en-GB" altLang="en-US" sz="1000" i="1">
                <a:cs typeface="Arial" panose="020B0604020202020204" pitchFamily="34" charset="0"/>
              </a:rPr>
              <a:pPr algn="r"/>
              <a:t>37</a:t>
            </a:fld>
            <a:endParaRPr lang="en-GB" altLang="en-US" sz="1000" i="1">
              <a:cs typeface="Arial" panose="020B0604020202020204" pitchFamily="34" charset="0"/>
            </a:endParaRPr>
          </a:p>
        </p:txBody>
      </p:sp>
      <p:sp>
        <p:nvSpPr>
          <p:cNvPr id="456707" name="Rectangle 2">
            <a:extLst>
              <a:ext uri="{FF2B5EF4-FFF2-40B4-BE49-F238E27FC236}">
                <a16:creationId xmlns:a16="http://schemas.microsoft.com/office/drawing/2014/main" id="{BD6C99DB-FFCA-404A-922D-DD9014C86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6708" name="Rectangle 3">
            <a:extLst>
              <a:ext uri="{FF2B5EF4-FFF2-40B4-BE49-F238E27FC236}">
                <a16:creationId xmlns:a16="http://schemas.microsoft.com/office/drawing/2014/main" id="{88C99EFD-C890-4117-84FC-41280AC42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1000" i="1">
                <a:cs typeface="Arial" panose="020B0604020202020204" pitchFamily="34" charset="0"/>
              </a:rPr>
              <a:t>4</a:t>
            </a:r>
          </a:p>
        </p:txBody>
      </p:sp>
      <p:sp>
        <p:nvSpPr>
          <p:cNvPr id="456709" name="Rectangle 4">
            <a:extLst>
              <a:ext uri="{FF2B5EF4-FFF2-40B4-BE49-F238E27FC236}">
                <a16:creationId xmlns:a16="http://schemas.microsoft.com/office/drawing/2014/main" id="{D305F074-512E-4867-AA43-A9897886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6710" name="Rectangle 5">
            <a:extLst>
              <a:ext uri="{FF2B5EF4-FFF2-40B4-BE49-F238E27FC236}">
                <a16:creationId xmlns:a16="http://schemas.microsoft.com/office/drawing/2014/main" id="{8439F1D7-7F25-4579-9C6E-FAEEB2FA1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6711" name="Rectangle 6">
            <a:extLst>
              <a:ext uri="{FF2B5EF4-FFF2-40B4-BE49-F238E27FC236}">
                <a16:creationId xmlns:a16="http://schemas.microsoft.com/office/drawing/2014/main" id="{4F9B9D51-F17E-44B3-9E88-AC7CC02301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pPr algn="ctr">
              <a:spcBef>
                <a:spcPct val="0"/>
              </a:spcBef>
            </a:pPr>
            <a:endParaRPr lang="en-US" altLang="en-US" sz="3800">
              <a:solidFill>
                <a:srgbClr val="6E85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6712" name="Rectangle 7">
            <a:extLst>
              <a:ext uri="{FF2B5EF4-FFF2-40B4-BE49-F238E27FC236}">
                <a16:creationId xmlns:a16="http://schemas.microsoft.com/office/drawing/2014/main" id="{E60A7E5B-ED98-46D5-A9C8-5CFBCF4868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601627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E22F3555-2F52-4FF3-9471-3CF9B6AC9A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49F96E-C356-4125-BD64-FDF5E235BA50}" type="slidenum">
              <a:rPr lang="en-GB" altLang="en-US"/>
              <a:pPr/>
              <a:t>38</a:t>
            </a:fld>
            <a:endParaRPr lang="en-GB" altLang="en-US"/>
          </a:p>
        </p:txBody>
      </p:sp>
      <p:sp>
        <p:nvSpPr>
          <p:cNvPr id="30722" name="Rectangle 5">
            <a:extLst>
              <a:ext uri="{FF2B5EF4-FFF2-40B4-BE49-F238E27FC236}">
                <a16:creationId xmlns:a16="http://schemas.microsoft.com/office/drawing/2014/main" id="{68851FD0-C416-4B35-B860-6750E814CDD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41D2838-561A-4BD6-9369-2860A3C16966}" type="slidenum">
              <a:rPr lang="en-GB" altLang="en-US" sz="1000" i="1">
                <a:cs typeface="Arial" panose="020B0604020202020204" pitchFamily="34" charset="0"/>
              </a:rPr>
              <a:pPr algn="r"/>
              <a:t>38</a:t>
            </a:fld>
            <a:endParaRPr lang="en-GB" altLang="en-US" sz="1000" i="1">
              <a:cs typeface="Arial" panose="020B0604020202020204" pitchFamily="34" charset="0"/>
            </a:endParaRPr>
          </a:p>
        </p:txBody>
      </p:sp>
      <p:sp>
        <p:nvSpPr>
          <p:cNvPr id="458755" name="Rectangle 2">
            <a:extLst>
              <a:ext uri="{FF2B5EF4-FFF2-40B4-BE49-F238E27FC236}">
                <a16:creationId xmlns:a16="http://schemas.microsoft.com/office/drawing/2014/main" id="{7EE7248C-DDAB-44C4-86D8-511921BAD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8756" name="Rectangle 3">
            <a:extLst>
              <a:ext uri="{FF2B5EF4-FFF2-40B4-BE49-F238E27FC236}">
                <a16:creationId xmlns:a16="http://schemas.microsoft.com/office/drawing/2014/main" id="{F30B6643-23AD-4A47-AB3B-15499B169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1000" i="1">
                <a:cs typeface="Arial" panose="020B0604020202020204" pitchFamily="34" charset="0"/>
              </a:rPr>
              <a:t>4</a:t>
            </a:r>
          </a:p>
        </p:txBody>
      </p:sp>
      <p:sp>
        <p:nvSpPr>
          <p:cNvPr id="458757" name="Rectangle 4">
            <a:extLst>
              <a:ext uri="{FF2B5EF4-FFF2-40B4-BE49-F238E27FC236}">
                <a16:creationId xmlns:a16="http://schemas.microsoft.com/office/drawing/2014/main" id="{63EBF638-340E-4640-822E-44E82B31C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8758" name="Rectangle 5">
            <a:extLst>
              <a:ext uri="{FF2B5EF4-FFF2-40B4-BE49-F238E27FC236}">
                <a16:creationId xmlns:a16="http://schemas.microsoft.com/office/drawing/2014/main" id="{A596EB63-4B65-4172-9712-EC1178991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8759" name="Rectangle 6">
            <a:extLst>
              <a:ext uri="{FF2B5EF4-FFF2-40B4-BE49-F238E27FC236}">
                <a16:creationId xmlns:a16="http://schemas.microsoft.com/office/drawing/2014/main" id="{52AB6E42-70AF-4043-9BC1-5FA333D8A7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pPr algn="ctr">
              <a:spcBef>
                <a:spcPct val="0"/>
              </a:spcBef>
            </a:pPr>
            <a:endParaRPr lang="en-US" altLang="en-US" sz="3800">
              <a:solidFill>
                <a:srgbClr val="6E85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8760" name="Rectangle 7">
            <a:extLst>
              <a:ext uri="{FF2B5EF4-FFF2-40B4-BE49-F238E27FC236}">
                <a16:creationId xmlns:a16="http://schemas.microsoft.com/office/drawing/2014/main" id="{B168EF13-45F6-4491-8D4D-DBBA6F498A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1332733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B0F1922-13CA-4E6E-B640-697FF602AC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5607D9-18C2-4EBC-9B5B-3B48F13B8C33}" type="slidenum">
              <a:rPr lang="en-GB" altLang="en-US"/>
              <a:pPr/>
              <a:t>41</a:t>
            </a:fld>
            <a:endParaRPr lang="en-GB" altLang="en-US"/>
          </a:p>
        </p:txBody>
      </p:sp>
      <p:sp>
        <p:nvSpPr>
          <p:cNvPr id="440322" name="Rectangle 2">
            <a:extLst>
              <a:ext uri="{FF2B5EF4-FFF2-40B4-BE49-F238E27FC236}">
                <a16:creationId xmlns:a16="http://schemas.microsoft.com/office/drawing/2014/main" id="{201BF6F4-D395-4F28-8B2E-F4DADC1B76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440323" name="Rectangle 3">
            <a:extLst>
              <a:ext uri="{FF2B5EF4-FFF2-40B4-BE49-F238E27FC236}">
                <a16:creationId xmlns:a16="http://schemas.microsoft.com/office/drawing/2014/main" id="{82725ABE-CED1-4BF1-8A53-72321FBCB9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23526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6BCFEAE-3541-42B0-B8A5-EA28A687C6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4CF56F-7B3A-4630-BAE2-72EAD1E308B3}" type="slidenum">
              <a:rPr lang="en-GB" altLang="en-US"/>
              <a:pPr/>
              <a:t>42</a:t>
            </a:fld>
            <a:endParaRPr lang="en-GB" altLang="en-US"/>
          </a:p>
        </p:txBody>
      </p:sp>
      <p:sp>
        <p:nvSpPr>
          <p:cNvPr id="458754" name="Rectangle 2">
            <a:extLst>
              <a:ext uri="{FF2B5EF4-FFF2-40B4-BE49-F238E27FC236}">
                <a16:creationId xmlns:a16="http://schemas.microsoft.com/office/drawing/2014/main" id="{0905FC44-BC14-4235-A2E5-6EBCA05F4F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GB" altLang="en-US" noProof="1"/>
          </a:p>
        </p:txBody>
      </p:sp>
      <p:sp>
        <p:nvSpPr>
          <p:cNvPr id="458755" name="Rectangle 3">
            <a:extLst>
              <a:ext uri="{FF2B5EF4-FFF2-40B4-BE49-F238E27FC236}">
                <a16:creationId xmlns:a16="http://schemas.microsoft.com/office/drawing/2014/main" id="{E8F0ECB9-62BF-4701-B985-A64EAF9836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989055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A1ECEC5-FEF5-4ED8-BE54-94B0ED7ACD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AD3FA3-97BE-4751-9182-B5229D4EEF7E}" type="slidenum">
              <a:rPr lang="en-GB" altLang="en-US"/>
              <a:pPr/>
              <a:t>44</a:t>
            </a:fld>
            <a:endParaRPr lang="en-GB" altLang="en-US" dirty="0"/>
          </a:p>
        </p:txBody>
      </p:sp>
      <p:sp>
        <p:nvSpPr>
          <p:cNvPr id="421890" name="Rectangle 2">
            <a:extLst>
              <a:ext uri="{FF2B5EF4-FFF2-40B4-BE49-F238E27FC236}">
                <a16:creationId xmlns:a16="http://schemas.microsoft.com/office/drawing/2014/main" id="{F5E5DFA1-BBBA-4B7A-9EF8-83C3AD3F3C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712788"/>
            <a:ext cx="6081713" cy="3421062"/>
          </a:xfrm>
          <a:ln/>
        </p:spPr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25698BA1-59BC-44C3-BD19-8F5296ECBF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4135437"/>
          </a:xfrm>
        </p:spPr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42522363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4B0B383-EE86-475E-8282-904A42B0CA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E97E00-5173-4392-AF9B-0FFCCBDC3FEB}" type="slidenum">
              <a:rPr lang="en-GB" altLang="en-US"/>
              <a:pPr/>
              <a:t>45</a:t>
            </a:fld>
            <a:endParaRPr lang="en-GB" altLang="en-US"/>
          </a:p>
        </p:txBody>
      </p:sp>
      <p:sp>
        <p:nvSpPr>
          <p:cNvPr id="44034" name="Rectangle 7">
            <a:extLst>
              <a:ext uri="{FF2B5EF4-FFF2-40B4-BE49-F238E27FC236}">
                <a16:creationId xmlns:a16="http://schemas.microsoft.com/office/drawing/2014/main" id="{B600A2AB-1869-41A4-A94B-D9B96CB1272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435BC19E-D4D7-4532-BC2C-C9A16F818B72}" type="slidenum">
              <a:rPr lang="en-GB" altLang="en-US" sz="1200"/>
              <a:pPr algn="r"/>
              <a:t>45</a:t>
            </a:fld>
            <a:endParaRPr lang="en-GB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27D88C6C-5CD9-4F62-8EAA-186BED8024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0F92E2BC-3661-4A76-B825-6F6DA598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1752493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EE41FF-D00F-40FF-8152-829D0355D2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C27BAC-4FD6-4A35-A0F0-96608391BD2F}" type="slidenum">
              <a:rPr lang="en-GB" altLang="en-US"/>
              <a:pPr/>
              <a:t>46</a:t>
            </a:fld>
            <a:endParaRPr lang="en-GB" altLang="en-US"/>
          </a:p>
        </p:txBody>
      </p:sp>
      <p:sp>
        <p:nvSpPr>
          <p:cNvPr id="46082" name="Rectangle 7">
            <a:extLst>
              <a:ext uri="{FF2B5EF4-FFF2-40B4-BE49-F238E27FC236}">
                <a16:creationId xmlns:a16="http://schemas.microsoft.com/office/drawing/2014/main" id="{4FF4841E-72BA-423D-AE77-0CE3FEC1DB0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5E73937C-BB06-4AB2-BF31-DFFAEFC476EB}" type="slidenum">
              <a:rPr lang="en-GB" altLang="en-US" sz="1200"/>
              <a:pPr algn="r"/>
              <a:t>46</a:t>
            </a:fld>
            <a:endParaRPr lang="en-GB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E2F8E0FB-6825-4B7B-B83E-BB14C42C44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EF1A4A1B-4540-47AA-9E7E-27C5E662D0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1684672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>
            <a:extLst>
              <a:ext uri="{FF2B5EF4-FFF2-40B4-BE49-F238E27FC236}">
                <a16:creationId xmlns:a16="http://schemas.microsoft.com/office/drawing/2014/main" id="{B3BBE720-74A2-4644-851C-B3A2DA475F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93AC61-CE25-4FA5-9D69-86E9F6A729B9}" type="slidenum">
              <a:rPr lang="en-GB" altLang="en-US" sz="1000" smtClean="0"/>
              <a:pPr>
                <a:spcBef>
                  <a:spcPct val="0"/>
                </a:spcBef>
              </a:pPr>
              <a:t>47</a:t>
            </a:fld>
            <a:endParaRPr lang="en-GB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79CDB9C-8ABF-4FC6-98B3-6A9FA260B6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C93D866A-84AE-45DF-A6E9-BACCC9A6C7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8354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08354E47-D523-4A60-AE9A-E40A0847EE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7B450C38-A5C1-4177-B42F-07F5486052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</a:pPr>
            <a:endParaRPr lang="en-GB" altLang="en-US" sz="3800" noProof="1">
              <a:solidFill>
                <a:srgbClr val="6E85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1887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288D2CD-AE63-4DAE-80E3-7C6D090696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ECC066-14DB-4541-A5F0-5A056B892B94}" type="slidenum">
              <a:rPr lang="en-GB" altLang="en-US"/>
              <a:pPr/>
              <a:t>49</a:t>
            </a:fld>
            <a:endParaRPr lang="en-GB" altLang="en-US"/>
          </a:p>
        </p:txBody>
      </p:sp>
      <p:sp>
        <p:nvSpPr>
          <p:cNvPr id="739330" name="Rectangle 2">
            <a:extLst>
              <a:ext uri="{FF2B5EF4-FFF2-40B4-BE49-F238E27FC236}">
                <a16:creationId xmlns:a16="http://schemas.microsoft.com/office/drawing/2014/main" id="{EB1B1355-BB6B-4AAE-9B40-FA0511154F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9331" name="Rectangle 3">
            <a:extLst>
              <a:ext uri="{FF2B5EF4-FFF2-40B4-BE49-F238E27FC236}">
                <a16:creationId xmlns:a16="http://schemas.microsoft.com/office/drawing/2014/main" id="{FD0959CB-BA5D-4295-A17A-227D38ABF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1768269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0AC40-BA68-2446-8065-C4B79F003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79B30-55ED-B44F-A01B-A0C9E151A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1643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18BB-AB41-CF4E-BE7D-2DD51299C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475A2-6400-C94D-AF33-EC725F83C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927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76FB-4B5F-634E-A817-234B9CC2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F7B0B-5E73-3045-8584-B6E7C8D29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288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2C3C-1703-5C48-AAF3-7F65689B1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0705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DF8FB-2DB8-2446-AF08-6B3559EA6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F26F5-FD62-8E49-A8EC-D082BC393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6C83F-17BE-EC41-8744-B17CBAEB2D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FF3977-3FA6-8643-BA95-D15C0754F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1707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45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0AC40-BA68-2446-8065-C4B79F003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79B30-55ED-B44F-A01B-A0C9E151A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43963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18BB-AB41-CF4E-BE7D-2DD51299C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475A2-6400-C94D-AF33-EC725F83C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7CBE933-92D8-8187-B5F9-67501F4DA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277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/>
                </a:solidFill>
              </a:defRPr>
            </a:lvl1pPr>
          </a:lstStyle>
          <a:p>
            <a:r>
              <a:rPr lang="en-US"/>
              <a:t>©copyright, Heriot-Watt University, 2024</a:t>
            </a:r>
          </a:p>
        </p:txBody>
      </p:sp>
    </p:spTree>
    <p:extLst>
      <p:ext uri="{BB962C8B-B14F-4D97-AF65-F5344CB8AC3E}">
        <p14:creationId xmlns:p14="http://schemas.microsoft.com/office/powerpoint/2010/main" val="1452948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76FB-4B5F-634E-A817-234B9CC2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F7B0B-5E73-3045-8584-B6E7C8D29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377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2C3C-1703-5C48-AAF3-7F65689B1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DF8FB-2DB8-2446-AF08-6B3559EA6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F26F5-FD62-8E49-A8EC-D082BC393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6C83F-17BE-EC41-8744-B17CBAEB2D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FF3977-3FA6-8643-BA95-D15C0754F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9116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391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764CB-A011-BB4E-9F6C-914C4FEB9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97D51-BA3E-B940-A518-23EA6AD40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23115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2A1F4-A4C2-7746-A4BF-73A35FF1A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5A778-AE0A-FF45-8919-78FC7BFCE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779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3ED18-C36D-6942-A17C-A640DD97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FA3DE-F5C3-6B44-BEDF-E8C5A7551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2076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98AE-10F7-9747-A17A-DCA5FF534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8C8FD-9F20-0F49-BD8A-24F481F0EE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BF451-64DA-6B4F-9C75-D38937F05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2683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397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AC21-992D-934E-A395-299418D9A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34E5D-5859-DF46-8BF2-B091BBA88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AABCDC2F-C97E-C150-697A-55C9546E1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429" y="63962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©copyright, Heriot-Watt University, 2024</a:t>
            </a:r>
          </a:p>
        </p:txBody>
      </p:sp>
    </p:spTree>
    <p:extLst>
      <p:ext uri="{BB962C8B-B14F-4D97-AF65-F5344CB8AC3E}">
        <p14:creationId xmlns:p14="http://schemas.microsoft.com/office/powerpoint/2010/main" val="1219258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4A340-280C-084B-869C-FA8A87E3F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2A7A-DF09-0C4B-AE3F-E747D86E8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B939D61E-F5BD-0A95-A8D7-B362178EC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429" y="63962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©copyright, Heriot-Watt University, 2024</a:t>
            </a:r>
          </a:p>
        </p:txBody>
      </p:sp>
    </p:spTree>
    <p:extLst>
      <p:ext uri="{BB962C8B-B14F-4D97-AF65-F5344CB8AC3E}">
        <p14:creationId xmlns:p14="http://schemas.microsoft.com/office/powerpoint/2010/main" val="205219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B2C5-8AEF-3A4E-9A56-6BDA12909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5CE0C-DD89-1148-9CAC-647F409A2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87E77B97-0FDA-734C-97AA-6B7382C08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429" y="63962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©copyright, Heriot-Watt University, 2024</a:t>
            </a:r>
          </a:p>
        </p:txBody>
      </p:sp>
    </p:spTree>
    <p:extLst>
      <p:ext uri="{BB962C8B-B14F-4D97-AF65-F5344CB8AC3E}">
        <p14:creationId xmlns:p14="http://schemas.microsoft.com/office/powerpoint/2010/main" val="11559837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2D8A6-E22C-DA4F-99B7-A0CB8B067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80796-FCBB-A246-B504-11F9263C0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FD022-296F-8249-999A-CDB3A04FB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7DA158A6-B130-9DFD-E616-112696FAD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429" y="63962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©copyright, Heriot-Watt University, 2024</a:t>
            </a:r>
          </a:p>
        </p:txBody>
      </p:sp>
    </p:spTree>
    <p:extLst>
      <p:ext uri="{BB962C8B-B14F-4D97-AF65-F5344CB8AC3E}">
        <p14:creationId xmlns:p14="http://schemas.microsoft.com/office/powerpoint/2010/main" val="13615918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49A75C75-4D93-8CEE-C5EB-A2102F4CA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429" y="63962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©copyright, Heriot-Watt University, 2024</a:t>
            </a:r>
          </a:p>
        </p:txBody>
      </p:sp>
    </p:spTree>
    <p:extLst>
      <p:ext uri="{BB962C8B-B14F-4D97-AF65-F5344CB8AC3E}">
        <p14:creationId xmlns:p14="http://schemas.microsoft.com/office/powerpoint/2010/main" val="25576891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AC21-992D-934E-A395-299418D9A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34E5D-5859-DF46-8BF2-B091BBA88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414075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4A340-280C-084B-869C-FA8A87E3F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2A7A-DF09-0C4B-AE3F-E747D86E8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3702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B2C5-8AEF-3A4E-9A56-6BDA12909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5CE0C-DD89-1148-9CAC-647F409A2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60131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2D8A6-E22C-DA4F-99B7-A0CB8B067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80796-FCBB-A246-B504-11F9263C0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FD022-296F-8249-999A-CDB3A04FB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81635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2339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D151C-A25C-40DC-9FB7-A0F1FC10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6601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4A340-280C-084B-869C-FA8A87E3F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2A7A-DF09-0C4B-AE3F-E747D86E8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04012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2D8A6-E22C-DA4F-99B7-A0CB8B067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80796-FCBB-A246-B504-11F9263C0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FD022-296F-8249-999A-CDB3A04FB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35464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324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655F09-F7D9-634B-89AA-9C189BC4E667}"/>
              </a:ext>
            </a:extLst>
          </p:cNvPr>
          <p:cNvSpPr/>
          <p:nvPr userDrawn="1"/>
        </p:nvSpPr>
        <p:spPr>
          <a:xfrm>
            <a:off x="435429" y="365125"/>
            <a:ext cx="11353800" cy="5991225"/>
          </a:xfrm>
          <a:prstGeom prst="rect">
            <a:avLst/>
          </a:prstGeom>
          <a:solidFill>
            <a:srgbClr val="0014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A534A-6AD3-C445-868C-830A3404D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07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DB116-2729-2749-A09B-29BC03CD1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3701"/>
            <a:ext cx="10515600" cy="455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EE7C59-90E2-CC45-A617-64A4BC29B368}"/>
              </a:ext>
            </a:extLst>
          </p:cNvPr>
          <p:cNvSpPr/>
          <p:nvPr userDrawn="1"/>
        </p:nvSpPr>
        <p:spPr>
          <a:xfrm>
            <a:off x="435429" y="6209960"/>
            <a:ext cx="11353800" cy="157389"/>
          </a:xfrm>
          <a:prstGeom prst="rect">
            <a:avLst/>
          </a:prstGeom>
          <a:solidFill>
            <a:srgbClr val="A8B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8F45BF-3121-0394-1C27-D888D2346F0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474696" y="5403214"/>
            <a:ext cx="2879104" cy="646423"/>
          </a:xfrm>
          <a:prstGeom prst="rect">
            <a:avLst/>
          </a:prstGeom>
        </p:spPr>
      </p:pic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AE900FD1-EA9A-60B4-0DBA-00D96C5CA6AA}"/>
              </a:ext>
            </a:extLst>
          </p:cNvPr>
          <p:cNvSpPr txBox="1">
            <a:spLocks/>
          </p:cNvSpPr>
          <p:nvPr userDrawn="1"/>
        </p:nvSpPr>
        <p:spPr>
          <a:xfrm>
            <a:off x="435429" y="63962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i="1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©copyright, Heriot-Watt University, 2024</a:t>
            </a:r>
          </a:p>
        </p:txBody>
      </p:sp>
    </p:spTree>
    <p:extLst>
      <p:ext uri="{BB962C8B-B14F-4D97-AF65-F5344CB8AC3E}">
        <p14:creationId xmlns:p14="http://schemas.microsoft.com/office/powerpoint/2010/main" val="394963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dirty="0" smtClean="0">
          <a:solidFill>
            <a:srgbClr val="A8BF33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655F09-F7D9-634B-89AA-9C189BC4E667}"/>
              </a:ext>
            </a:extLst>
          </p:cNvPr>
          <p:cNvSpPr/>
          <p:nvPr userDrawn="1"/>
        </p:nvSpPr>
        <p:spPr>
          <a:xfrm>
            <a:off x="435429" y="365125"/>
            <a:ext cx="11353800" cy="5991225"/>
          </a:xfrm>
          <a:prstGeom prst="rect">
            <a:avLst/>
          </a:prstGeom>
          <a:solidFill>
            <a:srgbClr val="0014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A534A-6AD3-C445-868C-830A3404D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52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DB116-2729-2749-A09B-29BC03CD1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6789"/>
            <a:ext cx="10515600" cy="4630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EE7C59-90E2-CC45-A617-64A4BC29B368}"/>
              </a:ext>
            </a:extLst>
          </p:cNvPr>
          <p:cNvSpPr/>
          <p:nvPr userDrawn="1"/>
        </p:nvSpPr>
        <p:spPr>
          <a:xfrm>
            <a:off x="435429" y="6209960"/>
            <a:ext cx="11353800" cy="157389"/>
          </a:xfrm>
          <a:prstGeom prst="rect">
            <a:avLst/>
          </a:prstGeom>
          <a:solidFill>
            <a:srgbClr val="A8B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A15CB55C-526A-98CB-3EA0-6FC8897ABB93}"/>
              </a:ext>
            </a:extLst>
          </p:cNvPr>
          <p:cNvSpPr txBox="1">
            <a:spLocks/>
          </p:cNvSpPr>
          <p:nvPr userDrawn="1"/>
        </p:nvSpPr>
        <p:spPr>
          <a:xfrm>
            <a:off x="435429" y="63962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i="1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©copyright, Heriot-Watt University, 2024</a:t>
            </a:r>
          </a:p>
        </p:txBody>
      </p:sp>
    </p:spTree>
    <p:extLst>
      <p:ext uri="{BB962C8B-B14F-4D97-AF65-F5344CB8AC3E}">
        <p14:creationId xmlns:p14="http://schemas.microsoft.com/office/powerpoint/2010/main" val="292248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dirty="0" smtClean="0">
          <a:solidFill>
            <a:srgbClr val="A8BF33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5936A0-BFBD-1049-B7F0-A1533BACDDA5}"/>
              </a:ext>
            </a:extLst>
          </p:cNvPr>
          <p:cNvSpPr/>
          <p:nvPr userDrawn="1"/>
        </p:nvSpPr>
        <p:spPr>
          <a:xfrm>
            <a:off x="435429" y="365125"/>
            <a:ext cx="11353800" cy="5991225"/>
          </a:xfrm>
          <a:prstGeom prst="rect">
            <a:avLst/>
          </a:prstGeom>
          <a:solidFill>
            <a:srgbClr val="E2F3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8945B-ADB6-1249-9092-50CEDEA40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3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84F7C-51EC-8A40-9E2F-D9D9128C9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2606"/>
            <a:ext cx="10515600" cy="4664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46A84D-B7D0-F045-A6B0-868A1238B952}"/>
              </a:ext>
            </a:extLst>
          </p:cNvPr>
          <p:cNvSpPr/>
          <p:nvPr userDrawn="1"/>
        </p:nvSpPr>
        <p:spPr>
          <a:xfrm>
            <a:off x="435429" y="6209960"/>
            <a:ext cx="11353800" cy="157389"/>
          </a:xfrm>
          <a:prstGeom prst="rect">
            <a:avLst/>
          </a:prstGeom>
          <a:solidFill>
            <a:srgbClr val="A8B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25E85631-C1F0-6AB5-6808-AE8E3687F028}"/>
              </a:ext>
            </a:extLst>
          </p:cNvPr>
          <p:cNvSpPr txBox="1">
            <a:spLocks/>
          </p:cNvSpPr>
          <p:nvPr userDrawn="1"/>
        </p:nvSpPr>
        <p:spPr>
          <a:xfrm>
            <a:off x="435429" y="63962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i="1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©copyright, Heriot-Watt University, 2024</a:t>
            </a:r>
          </a:p>
        </p:txBody>
      </p:sp>
    </p:spTree>
    <p:extLst>
      <p:ext uri="{BB962C8B-B14F-4D97-AF65-F5344CB8AC3E}">
        <p14:creationId xmlns:p14="http://schemas.microsoft.com/office/powerpoint/2010/main" val="113635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003554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rgbClr val="003554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3554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3554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003554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003554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FB79C-5835-3543-8381-8734D2705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1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CF438-A80D-BE47-84AD-E72B7C693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2786"/>
            <a:ext cx="10515600" cy="4724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072A16-2AE9-5940-935E-05B1B4DF81F7}"/>
              </a:ext>
            </a:extLst>
          </p:cNvPr>
          <p:cNvSpPr/>
          <p:nvPr userDrawn="1"/>
        </p:nvSpPr>
        <p:spPr>
          <a:xfrm>
            <a:off x="435429" y="6209960"/>
            <a:ext cx="11353800" cy="157389"/>
          </a:xfrm>
          <a:prstGeom prst="rect">
            <a:avLst/>
          </a:prstGeom>
          <a:solidFill>
            <a:srgbClr val="A8B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49433-1A9F-8E1D-5118-64124EE451F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474696" y="5403214"/>
            <a:ext cx="2879104" cy="646423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AF306E5-725E-82E6-45E7-7A66599A9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429" y="63962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©copyright, Heriot-Watt University, 2024</a:t>
            </a:r>
          </a:p>
        </p:txBody>
      </p:sp>
    </p:spTree>
    <p:extLst>
      <p:ext uri="{BB962C8B-B14F-4D97-AF65-F5344CB8AC3E}">
        <p14:creationId xmlns:p14="http://schemas.microsoft.com/office/powerpoint/2010/main" val="97664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FB79C-5835-3543-8381-8734D2705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CF438-A80D-BE47-84AD-E72B7C693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5335"/>
            <a:ext cx="10515600" cy="4621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072A16-2AE9-5940-935E-05B1B4DF81F7}"/>
              </a:ext>
            </a:extLst>
          </p:cNvPr>
          <p:cNvSpPr/>
          <p:nvPr userDrawn="1"/>
        </p:nvSpPr>
        <p:spPr>
          <a:xfrm>
            <a:off x="435429" y="6209960"/>
            <a:ext cx="11353800" cy="157389"/>
          </a:xfrm>
          <a:prstGeom prst="rect">
            <a:avLst/>
          </a:prstGeom>
          <a:solidFill>
            <a:srgbClr val="A8B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E97C69A4-4F15-CC92-27AF-8510A81068D3}"/>
              </a:ext>
            </a:extLst>
          </p:cNvPr>
          <p:cNvSpPr txBox="1">
            <a:spLocks/>
          </p:cNvSpPr>
          <p:nvPr userDrawn="1"/>
        </p:nvSpPr>
        <p:spPr>
          <a:xfrm>
            <a:off x="435429" y="63962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i="1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©copyright, Heriot-Watt University, 2024</a:t>
            </a:r>
          </a:p>
        </p:txBody>
      </p:sp>
    </p:spTree>
    <p:extLst>
      <p:ext uri="{BB962C8B-B14F-4D97-AF65-F5344CB8AC3E}">
        <p14:creationId xmlns:p14="http://schemas.microsoft.com/office/powerpoint/2010/main" val="383552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FB79C-5835-3543-8381-8734D2705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CF438-A80D-BE47-84AD-E72B7C693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5335"/>
            <a:ext cx="10515600" cy="4621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E97C69A4-4F15-CC92-27AF-8510A81068D3}"/>
              </a:ext>
            </a:extLst>
          </p:cNvPr>
          <p:cNvSpPr txBox="1">
            <a:spLocks/>
          </p:cNvSpPr>
          <p:nvPr userDrawn="1"/>
        </p:nvSpPr>
        <p:spPr>
          <a:xfrm>
            <a:off x="435429" y="63962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i="1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©copyright, Heriot-Watt University, 2024</a:t>
            </a:r>
          </a:p>
        </p:txBody>
      </p:sp>
    </p:spTree>
    <p:extLst>
      <p:ext uri="{BB962C8B-B14F-4D97-AF65-F5344CB8AC3E}">
        <p14:creationId xmlns:p14="http://schemas.microsoft.com/office/powerpoint/2010/main" val="298349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Relationship Id="rId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www.imf.org/external/ns/cs.aspx?id=28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2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budgetresponsibility.org.uk/data/" TargetMode="Externa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hyperlink" Target="https://obr.uk/data/" TargetMode="Externa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BCAE0-399B-84E2-6473-4B4AD7203A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5000" dirty="0"/>
              <a:t>C29PE Economics for Professionals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700F6-CF37-8E0A-DA52-38A8446649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altLang="en-US" sz="2400" dirty="0"/>
              <a:t>Week 10 – The Case for Demand </a:t>
            </a:r>
            <a:r>
              <a:rPr lang="en-GB" altLang="en-US" dirty="0"/>
              <a:t>Management</a:t>
            </a:r>
            <a:endParaRPr lang="en-GB" altLang="en-US" sz="2400" dirty="0"/>
          </a:p>
          <a:p>
            <a:r>
              <a:rPr lang="en-GB" altLang="en-US" sz="2000" dirty="0"/>
              <a:t>Sloman </a:t>
            </a:r>
            <a:r>
              <a:rPr lang="en-GB" altLang="en-US" sz="2000" i="1" dirty="0"/>
              <a:t>et al</a:t>
            </a:r>
            <a:r>
              <a:rPr lang="en-GB" altLang="en-US" sz="2000" dirty="0"/>
              <a:t>., 2023, Chapters 29-30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3396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17853-8BF3-4143-42D7-586539BD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Session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EFB32-AFC8-608F-684D-ED253632EC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To explore macroeconomic theory</a:t>
            </a:r>
          </a:p>
          <a:p>
            <a:pPr lvl="1"/>
            <a:r>
              <a:rPr lang="en-GB" dirty="0">
                <a:latin typeface="+mn-lt"/>
              </a:rPr>
              <a:t>Fixed price model – circular flow of income and expenditure</a:t>
            </a:r>
          </a:p>
          <a:p>
            <a:pPr lvl="1"/>
            <a:r>
              <a:rPr lang="en-GB" dirty="0">
                <a:latin typeface="+mn-lt"/>
              </a:rPr>
              <a:t>Variable price model – aggregate supply and aggregate demand re-visited</a:t>
            </a:r>
          </a:p>
          <a:p>
            <a:pPr lvl="1"/>
            <a:r>
              <a:rPr lang="en-GB" dirty="0">
                <a:latin typeface="+mn-lt"/>
              </a:rPr>
              <a:t>Phillips Curve</a:t>
            </a:r>
          </a:p>
          <a:p>
            <a:r>
              <a:rPr lang="en-GB" dirty="0">
                <a:latin typeface="+mn-lt"/>
              </a:rPr>
              <a:t>To understand the role for government policy for demand management</a:t>
            </a:r>
          </a:p>
          <a:p>
            <a:pPr lvl="1"/>
            <a:r>
              <a:rPr lang="en-GB" dirty="0">
                <a:latin typeface="+mn-lt"/>
              </a:rPr>
              <a:t>Reducing unemployment, controlling inflation</a:t>
            </a:r>
          </a:p>
          <a:p>
            <a:pPr lvl="1"/>
            <a:r>
              <a:rPr lang="en-GB" dirty="0">
                <a:latin typeface="+mn-lt"/>
              </a:rPr>
              <a:t>Types of policies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3818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E8526-D4E2-3B02-226F-AC762A5C7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FEBE0-DBF2-29D7-C4C6-F701E2695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4754563"/>
          </a:xfrm>
        </p:spPr>
        <p:txBody>
          <a:bodyPr>
            <a:normAutofit/>
          </a:bodyPr>
          <a:lstStyle/>
          <a:p>
            <a:r>
              <a:rPr lang="en-MY" dirty="0">
                <a:latin typeface="+mn-lt"/>
              </a:rPr>
              <a:t>Sloman et al (2023) </a:t>
            </a:r>
          </a:p>
          <a:p>
            <a:pPr lvl="1"/>
            <a:r>
              <a:rPr lang="en-MY" dirty="0">
                <a:latin typeface="+mn-lt"/>
              </a:rPr>
              <a:t>Chapter 29.1 – 29.3 </a:t>
            </a:r>
          </a:p>
          <a:p>
            <a:pPr lvl="1"/>
            <a:r>
              <a:rPr lang="en-MY" dirty="0">
                <a:latin typeface="+mn-lt"/>
              </a:rPr>
              <a:t>Box 29.1 </a:t>
            </a:r>
          </a:p>
          <a:p>
            <a:pPr lvl="1"/>
            <a:r>
              <a:rPr lang="en-MY" dirty="0">
                <a:latin typeface="+mn-lt"/>
              </a:rPr>
              <a:t>Chapter 30.1 – 30.3 </a:t>
            </a:r>
          </a:p>
          <a:p>
            <a:pPr lvl="1"/>
            <a:r>
              <a:rPr lang="en-MY" dirty="0">
                <a:latin typeface="+mn-lt"/>
              </a:rPr>
              <a:t>Boxes 30.1 &amp; 30.3 	</a:t>
            </a:r>
          </a:p>
          <a:p>
            <a:pPr lvl="1"/>
            <a:endParaRPr lang="en-MY" dirty="0">
              <a:latin typeface="+mn-lt"/>
            </a:endParaRPr>
          </a:p>
          <a:p>
            <a:r>
              <a:rPr lang="en-MY" dirty="0">
                <a:highlight>
                  <a:srgbClr val="FFFF00"/>
                </a:highlight>
                <a:latin typeface="+mn-lt"/>
              </a:rPr>
              <a:t>Important!</a:t>
            </a:r>
          </a:p>
          <a:p>
            <a:pPr lvl="1"/>
            <a:r>
              <a:rPr lang="en-MY" dirty="0">
                <a:highlight>
                  <a:srgbClr val="FFFF00"/>
                </a:highlight>
                <a:latin typeface="+mn-lt"/>
              </a:rPr>
              <a:t>The PowerPoint slide deck for Week 10 lecture provides a guideline of the topics you need to know. However, the materials in the slide deck are insufficient if you wish to excel in the course</a:t>
            </a:r>
          </a:p>
          <a:p>
            <a:pPr lvl="1"/>
            <a:r>
              <a:rPr lang="en-MY" dirty="0">
                <a:highlight>
                  <a:srgbClr val="FFFF00"/>
                </a:highlight>
                <a:latin typeface="+mn-lt"/>
              </a:rPr>
              <a:t>To do well, please do not forget to read the relevant sections of the core textbook</a:t>
            </a:r>
          </a:p>
          <a:p>
            <a:pPr lvl="1"/>
            <a:r>
              <a:rPr lang="en-MY" dirty="0">
                <a:highlight>
                  <a:srgbClr val="FFFF00"/>
                </a:highlight>
                <a:latin typeface="+mn-lt"/>
              </a:rPr>
              <a:t>Please also ensure that you follow economics news regularly as these sources could be used as examples to supplement your answers during assessments</a:t>
            </a:r>
          </a:p>
          <a:p>
            <a:pPr marL="457200" lvl="1" indent="0">
              <a:buNone/>
            </a:pPr>
            <a:endParaRPr lang="en-MY" dirty="0">
              <a:latin typeface="+mn-lt"/>
            </a:endParaRPr>
          </a:p>
          <a:p>
            <a:pPr lvl="1"/>
            <a:endParaRPr lang="en-MY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2030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>
            <a:extLst>
              <a:ext uri="{FF2B5EF4-FFF2-40B4-BE49-F238E27FC236}">
                <a16:creationId xmlns:a16="http://schemas.microsoft.com/office/drawing/2014/main" id="{6D9F4408-FA17-4F11-890E-5DB84465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Income and expenditure</a:t>
            </a:r>
          </a:p>
        </p:txBody>
      </p:sp>
      <p:sp>
        <p:nvSpPr>
          <p:cNvPr id="392195" name="Rectangle 3">
            <a:extLst>
              <a:ext uri="{FF2B5EF4-FFF2-40B4-BE49-F238E27FC236}">
                <a16:creationId xmlns:a16="http://schemas.microsoft.com/office/drawing/2014/main" id="{5F37DB8C-637E-4FFD-907D-69097BC75BA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GB" altLang="en-US" i="1" dirty="0">
                <a:latin typeface="+mn-lt"/>
              </a:rPr>
              <a:t>Y</a:t>
            </a:r>
            <a:r>
              <a:rPr lang="en-GB" altLang="en-US" dirty="0">
                <a:latin typeface="+mn-lt"/>
              </a:rPr>
              <a:t>: national income (GDP)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Household spending </a:t>
            </a:r>
            <a:r>
              <a:rPr lang="en-GB" altLang="en-US" i="1" dirty="0">
                <a:latin typeface="+mn-lt"/>
              </a:rPr>
              <a:t>C</a:t>
            </a:r>
            <a:r>
              <a:rPr lang="en-GB" altLang="en-US" dirty="0">
                <a:latin typeface="+mn-lt"/>
              </a:rPr>
              <a:t> – consumption</a:t>
            </a: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r>
              <a:rPr lang="en-GB" altLang="en-US" i="1" dirty="0">
                <a:latin typeface="+mn-lt"/>
              </a:rPr>
              <a:t>Y – C</a:t>
            </a:r>
            <a:r>
              <a:rPr lang="en-GB" altLang="en-US" dirty="0">
                <a:latin typeface="+mn-lt"/>
              </a:rPr>
              <a:t> = </a:t>
            </a:r>
            <a:r>
              <a:rPr lang="en-GB" altLang="en-US" i="1" dirty="0">
                <a:latin typeface="+mn-lt"/>
              </a:rPr>
              <a:t>W</a:t>
            </a:r>
            <a:r>
              <a:rPr lang="en-GB" altLang="en-US" dirty="0">
                <a:latin typeface="+mn-lt"/>
              </a:rPr>
              <a:t>: Withdrawals = savings, taxation, imports – </a:t>
            </a:r>
            <a:r>
              <a:rPr lang="en-GB" altLang="en-US" i="1" dirty="0">
                <a:latin typeface="+mn-lt"/>
              </a:rPr>
              <a:t>W = S + T + M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Household income </a:t>
            </a:r>
            <a:r>
              <a:rPr lang="en-GB" altLang="en-US" i="1" dirty="0">
                <a:latin typeface="+mn-lt"/>
              </a:rPr>
              <a:t>Y - C = J</a:t>
            </a:r>
            <a:r>
              <a:rPr lang="en-GB" altLang="en-US" dirty="0">
                <a:latin typeface="+mn-lt"/>
              </a:rPr>
              <a:t> – Injections</a:t>
            </a: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Injections = investment, government spending, exports – </a:t>
            </a:r>
            <a:r>
              <a:rPr lang="en-GB" altLang="en-US" i="1" dirty="0">
                <a:latin typeface="+mn-lt"/>
              </a:rPr>
              <a:t>J = I + G + X</a:t>
            </a: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endParaRPr lang="en-GB" altLang="en-US" i="1" dirty="0">
              <a:latin typeface="+mn-lt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Equilibrium when national income equals aggregate expenditure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Two conditions: since </a:t>
            </a:r>
            <a:r>
              <a:rPr lang="en-GB" altLang="en-US" i="1" dirty="0">
                <a:latin typeface="+mn-lt"/>
              </a:rPr>
              <a:t>Y = C + W = C + J</a:t>
            </a:r>
            <a:r>
              <a:rPr lang="en-GB" altLang="en-US" dirty="0">
                <a:latin typeface="+mn-lt"/>
              </a:rPr>
              <a:t>, 		</a:t>
            </a:r>
            <a:r>
              <a:rPr lang="en-GB" altLang="en-US" b="1" i="1" dirty="0">
                <a:solidFill>
                  <a:srgbClr val="C00000"/>
                </a:solidFill>
                <a:latin typeface="+mn-lt"/>
              </a:rPr>
              <a:t>W = J</a:t>
            </a:r>
            <a:endParaRPr lang="en-GB" altLang="en-US" dirty="0">
              <a:latin typeface="+mn-lt"/>
            </a:endParaRP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And since </a:t>
            </a:r>
            <a:r>
              <a:rPr lang="en-GB" altLang="en-US" i="1" noProof="1">
                <a:latin typeface="+mn-lt"/>
              </a:rPr>
              <a:t>AE </a:t>
            </a:r>
            <a:r>
              <a:rPr lang="en-GB" altLang="en-US" noProof="1">
                <a:latin typeface="+mn-lt"/>
              </a:rPr>
              <a:t>= </a:t>
            </a:r>
            <a:r>
              <a:rPr lang="en-GB" altLang="en-US" i="1" noProof="1">
                <a:latin typeface="+mn-lt"/>
              </a:rPr>
              <a:t>C + I + G + </a:t>
            </a:r>
            <a:r>
              <a:rPr lang="en-GB" altLang="en-US" noProof="1">
                <a:latin typeface="+mn-lt"/>
              </a:rPr>
              <a:t>(</a:t>
            </a:r>
            <a:r>
              <a:rPr lang="en-GB" altLang="en-US" i="1" noProof="1">
                <a:latin typeface="+mn-lt"/>
              </a:rPr>
              <a:t>X – M</a:t>
            </a:r>
            <a:r>
              <a:rPr lang="en-GB" altLang="en-US" noProof="1">
                <a:latin typeface="+mn-lt"/>
              </a:rPr>
              <a:t>) </a:t>
            </a:r>
          </a:p>
          <a:p>
            <a:pPr marL="914400" lvl="2" indent="0">
              <a:lnSpc>
                <a:spcPct val="80000"/>
              </a:lnSpc>
              <a:spcBef>
                <a:spcPct val="50000"/>
              </a:spcBef>
              <a:buNone/>
            </a:pPr>
            <a:r>
              <a:rPr lang="en-GB" altLang="en-US" noProof="1">
                <a:latin typeface="+mn-lt"/>
              </a:rPr>
              <a:t>By definition of GDP -&gt; </a:t>
            </a:r>
            <a:r>
              <a:rPr lang="en-GB" altLang="en-US" b="1" i="1" dirty="0">
                <a:solidFill>
                  <a:srgbClr val="C00000"/>
                </a:solidFill>
                <a:latin typeface="+mn-lt"/>
              </a:rPr>
              <a:t>Y = </a:t>
            </a:r>
            <a:r>
              <a:rPr lang="en-GB" altLang="en-US" b="1" i="1" noProof="1">
                <a:solidFill>
                  <a:srgbClr val="C00000"/>
                </a:solidFill>
                <a:latin typeface="+mn-lt"/>
              </a:rPr>
              <a:t>C + I + G + </a:t>
            </a:r>
            <a:r>
              <a:rPr lang="en-GB" altLang="en-US" b="1" noProof="1">
                <a:solidFill>
                  <a:srgbClr val="C00000"/>
                </a:solidFill>
                <a:latin typeface="+mn-lt"/>
              </a:rPr>
              <a:t>(</a:t>
            </a:r>
            <a:r>
              <a:rPr lang="en-GB" altLang="en-US" b="1" i="1" noProof="1">
                <a:solidFill>
                  <a:srgbClr val="C00000"/>
                </a:solidFill>
                <a:latin typeface="+mn-lt"/>
              </a:rPr>
              <a:t>X – M</a:t>
            </a:r>
            <a:r>
              <a:rPr lang="en-GB" altLang="en-US" b="1" noProof="1">
                <a:solidFill>
                  <a:srgbClr val="C00000"/>
                </a:solidFill>
                <a:latin typeface="+mn-lt"/>
              </a:rPr>
              <a:t>)</a:t>
            </a:r>
            <a:endParaRPr lang="en-GB" altLang="en-US" b="1" dirty="0">
              <a:solidFill>
                <a:srgbClr val="C00000"/>
              </a:solidFill>
              <a:latin typeface="+mn-lt"/>
            </a:endParaRPr>
          </a:p>
          <a:p>
            <a:pPr marL="274638" lvl="1" indent="0">
              <a:lnSpc>
                <a:spcPct val="80000"/>
              </a:lnSpc>
              <a:spcBef>
                <a:spcPct val="50000"/>
              </a:spcBef>
              <a:buNone/>
            </a:pPr>
            <a:endParaRPr lang="en-GB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428280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92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92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92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92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92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92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92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92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5" grpId="0" build="p" bldLvl="3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>
            <a:extLst>
              <a:ext uri="{FF2B5EF4-FFF2-40B4-BE49-F238E27FC236}">
                <a16:creationId xmlns:a16="http://schemas.microsoft.com/office/drawing/2014/main" id="{A411792E-403F-4052-B2E7-562D743F6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564" y="198439"/>
            <a:ext cx="10294522" cy="758825"/>
          </a:xfrm>
        </p:spPr>
        <p:txBody>
          <a:bodyPr/>
          <a:lstStyle/>
          <a:p>
            <a:r>
              <a:rPr lang="en-GB" altLang="en-US" dirty="0"/>
              <a:t>A diagram of the simple Keynesian model</a:t>
            </a:r>
          </a:p>
        </p:txBody>
      </p:sp>
      <p:sp>
        <p:nvSpPr>
          <p:cNvPr id="392195" name="Rectangle 3">
            <a:extLst>
              <a:ext uri="{FF2B5EF4-FFF2-40B4-BE49-F238E27FC236}">
                <a16:creationId xmlns:a16="http://schemas.microsoft.com/office/drawing/2014/main" id="{82BEEC0A-4D95-418B-B497-C02A9089D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Two axes – </a:t>
            </a:r>
          </a:p>
          <a:p>
            <a:pPr lvl="1"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National income (</a:t>
            </a:r>
            <a:r>
              <a:rPr lang="en-GB" altLang="en-US" i="1" dirty="0">
                <a:latin typeface="+mn-lt"/>
              </a:rPr>
              <a:t>Y – GDP</a:t>
            </a:r>
            <a:r>
              <a:rPr lang="en-GB" altLang="en-US" dirty="0">
                <a:latin typeface="+mn-lt"/>
              </a:rPr>
              <a:t>)</a:t>
            </a:r>
            <a:r>
              <a:rPr lang="en-GB" altLang="en-US" i="1" dirty="0">
                <a:latin typeface="+mn-lt"/>
              </a:rPr>
              <a:t> </a:t>
            </a:r>
            <a:r>
              <a:rPr lang="en-GB" altLang="en-US" dirty="0">
                <a:latin typeface="+mn-lt"/>
              </a:rPr>
              <a:t>measured on the horizontal, aggregate expenditure (</a:t>
            </a:r>
            <a:r>
              <a:rPr lang="en-GB" altLang="en-US" i="1" dirty="0">
                <a:latin typeface="+mn-lt"/>
              </a:rPr>
              <a:t>AE</a:t>
            </a:r>
            <a:r>
              <a:rPr lang="en-GB" altLang="en-US" dirty="0">
                <a:latin typeface="+mn-lt"/>
              </a:rPr>
              <a:t>) on the vertical</a:t>
            </a:r>
          </a:p>
          <a:p>
            <a:pPr lvl="1"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Assume that </a:t>
            </a:r>
            <a:r>
              <a:rPr lang="en-GB" altLang="en-US" i="1" dirty="0">
                <a:latin typeface="+mn-lt"/>
              </a:rPr>
              <a:t>AE </a:t>
            </a:r>
            <a:r>
              <a:rPr lang="en-GB" altLang="en-US" dirty="0">
                <a:latin typeface="+mn-lt"/>
              </a:rPr>
              <a:t>increases when </a:t>
            </a:r>
            <a:r>
              <a:rPr lang="en-GB" altLang="en-US" i="1" dirty="0">
                <a:latin typeface="+mn-lt"/>
              </a:rPr>
              <a:t>Y</a:t>
            </a:r>
            <a:r>
              <a:rPr lang="en-GB" altLang="en-US" dirty="0">
                <a:latin typeface="+mn-lt"/>
              </a:rPr>
              <a:t> increases, but more slowly</a:t>
            </a:r>
          </a:p>
          <a:p>
            <a:pPr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Equilibrium: where </a:t>
            </a:r>
            <a:r>
              <a:rPr lang="en-GB" altLang="en-US" i="1" dirty="0">
                <a:latin typeface="+mn-lt"/>
              </a:rPr>
              <a:t>AE </a:t>
            </a:r>
            <a:r>
              <a:rPr lang="en-GB" altLang="en-US" dirty="0">
                <a:latin typeface="+mn-lt"/>
              </a:rPr>
              <a:t>line meets the 45</a:t>
            </a:r>
            <a:r>
              <a:rPr lang="en-GB" altLang="en-US" baseline="30000" dirty="0">
                <a:latin typeface="+mn-lt"/>
              </a:rPr>
              <a:t>o</a:t>
            </a:r>
            <a:r>
              <a:rPr lang="en-GB" altLang="en-US" dirty="0">
                <a:latin typeface="+mn-lt"/>
              </a:rPr>
              <a:t> line diagram, </a:t>
            </a:r>
            <a:r>
              <a:rPr lang="en-GB" altLang="en-US" i="1" dirty="0">
                <a:latin typeface="+mn-lt"/>
              </a:rPr>
              <a:t>AE = Y</a:t>
            </a:r>
            <a:endParaRPr lang="en-GB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518508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5" grpId="0" build="p" bldLvl="3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3" name="Line 3">
            <a:extLst>
              <a:ext uri="{FF2B5EF4-FFF2-40B4-BE49-F238E27FC236}">
                <a16:creationId xmlns:a16="http://schemas.microsoft.com/office/drawing/2014/main" id="{E0C94A29-6FBC-46F9-BD59-E1EF7B5C04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0880" y="922737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4964" name="Line 4">
            <a:extLst>
              <a:ext uri="{FF2B5EF4-FFF2-40B4-BE49-F238E27FC236}">
                <a16:creationId xmlns:a16="http://schemas.microsoft.com/office/drawing/2014/main" id="{A7618051-789A-426C-B587-52E7519407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0879" y="6256737"/>
            <a:ext cx="8343997" cy="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4965" name="Rectangle 5">
            <a:extLst>
              <a:ext uri="{FF2B5EF4-FFF2-40B4-BE49-F238E27FC236}">
                <a16:creationId xmlns:a16="http://schemas.microsoft.com/office/drawing/2014/main" id="{0C19E019-51CC-4AF9-A70C-5707F0E58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208" y="6210700"/>
            <a:ext cx="384721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 dirty="0"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424966" name="Rectangle 6">
            <a:extLst>
              <a:ext uri="{FF2B5EF4-FFF2-40B4-BE49-F238E27FC236}">
                <a16:creationId xmlns:a16="http://schemas.microsoft.com/office/drawing/2014/main" id="{479F495A-A013-4BDA-B6CB-CA4939815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5748" y="6272101"/>
            <a:ext cx="3149664" cy="41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 dirty="0">
                <a:latin typeface="Arial" panose="020B0604020202020204" pitchFamily="34" charset="0"/>
              </a:rPr>
              <a:t>National income (</a:t>
            </a:r>
            <a:r>
              <a:rPr lang="en-GB" altLang="en-US" sz="2000" i="1" dirty="0">
                <a:latin typeface="Arial" panose="020B0604020202020204" pitchFamily="34" charset="0"/>
              </a:rPr>
              <a:t>Y</a:t>
            </a:r>
            <a:r>
              <a:rPr lang="en-GB" altLang="en-US" sz="2000" dirty="0">
                <a:latin typeface="Arial" panose="020B0604020202020204" pitchFamily="34" charset="0"/>
              </a:rPr>
              <a:t>) (£bn)</a:t>
            </a:r>
          </a:p>
        </p:txBody>
      </p:sp>
      <p:sp>
        <p:nvSpPr>
          <p:cNvPr id="424970" name="Rectangle 10">
            <a:extLst>
              <a:ext uri="{FF2B5EF4-FFF2-40B4-BE49-F238E27FC236}">
                <a16:creationId xmlns:a16="http://schemas.microsoft.com/office/drawing/2014/main" id="{21B88F95-FD54-48D0-A298-79E4612BC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17" y="890487"/>
            <a:ext cx="1209393" cy="70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2000" i="1" dirty="0">
                <a:latin typeface="Arial" panose="020B0604020202020204" pitchFamily="34" charset="0"/>
              </a:rPr>
              <a:t>C</a:t>
            </a:r>
            <a:r>
              <a:rPr lang="en-GB" altLang="en-US" sz="2000" baseline="-25000" dirty="0">
                <a:latin typeface="Arial" panose="020B0604020202020204" pitchFamily="34" charset="0"/>
              </a:rPr>
              <a:t>d</a:t>
            </a:r>
            <a:r>
              <a:rPr lang="en-GB" altLang="en-US" sz="2000" i="1" dirty="0">
                <a:latin typeface="Arial" panose="020B0604020202020204" pitchFamily="34" charset="0"/>
              </a:rPr>
              <a:t>, W, J</a:t>
            </a:r>
          </a:p>
          <a:p>
            <a:pPr algn="r"/>
            <a:r>
              <a:rPr lang="en-GB" altLang="en-US" sz="2000" dirty="0">
                <a:latin typeface="Arial" panose="020B0604020202020204" pitchFamily="34" charset="0"/>
              </a:rPr>
              <a:t>(£bn)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D7D7E6F-EC3D-4868-B8B1-999893C747D9}"/>
              </a:ext>
            </a:extLst>
          </p:cNvPr>
          <p:cNvGrpSpPr/>
          <p:nvPr/>
        </p:nvGrpSpPr>
        <p:grpSpPr>
          <a:xfrm>
            <a:off x="2271465" y="1054589"/>
            <a:ext cx="5383701" cy="5212297"/>
            <a:chOff x="2271465" y="1054589"/>
            <a:chExt cx="5383701" cy="5212297"/>
          </a:xfrm>
        </p:grpSpPr>
        <p:sp>
          <p:nvSpPr>
            <p:cNvPr id="424967" name="Line 7">
              <a:extLst>
                <a:ext uri="{FF2B5EF4-FFF2-40B4-BE49-F238E27FC236}">
                  <a16:creationId xmlns:a16="http://schemas.microsoft.com/office/drawing/2014/main" id="{F79416FF-F2D6-4C9D-8460-EFC158ABDE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71465" y="1317623"/>
              <a:ext cx="5383701" cy="4949263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4976" name="Rectangle 16">
              <a:extLst>
                <a:ext uri="{FF2B5EF4-FFF2-40B4-BE49-F238E27FC236}">
                  <a16:creationId xmlns:a16="http://schemas.microsoft.com/office/drawing/2014/main" id="{B6D6E593-0684-42DA-A3D3-07A6CBCF5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2877" y="1054589"/>
              <a:ext cx="1133965" cy="462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i="1" dirty="0">
                  <a:solidFill>
                    <a:srgbClr val="0000CC"/>
                  </a:solidFill>
                  <a:latin typeface="Arial" panose="020B0604020202020204" pitchFamily="34" charset="0"/>
                </a:rPr>
                <a:t>Y = AE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7A4600F-6E9C-441C-BF00-71ACD9316E5A}"/>
              </a:ext>
            </a:extLst>
          </p:cNvPr>
          <p:cNvGrpSpPr/>
          <p:nvPr/>
        </p:nvGrpSpPr>
        <p:grpSpPr>
          <a:xfrm>
            <a:off x="2260879" y="1643001"/>
            <a:ext cx="8695389" cy="3426016"/>
            <a:chOff x="2331193" y="1642878"/>
            <a:chExt cx="8626462" cy="3398859"/>
          </a:xfrm>
        </p:grpSpPr>
        <p:sp>
          <p:nvSpPr>
            <p:cNvPr id="424977" name="Rectangle 17">
              <a:extLst>
                <a:ext uri="{FF2B5EF4-FFF2-40B4-BE49-F238E27FC236}">
                  <a16:creationId xmlns:a16="http://schemas.microsoft.com/office/drawing/2014/main" id="{1771A26E-1BEF-4317-83E1-EBBC70988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2720" y="1886701"/>
              <a:ext cx="3274935" cy="462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i="1" dirty="0">
                  <a:solidFill>
                    <a:srgbClr val="008000"/>
                  </a:solidFill>
                  <a:latin typeface="Arial" panose="020B0604020202020204" pitchFamily="34" charset="0"/>
                </a:rPr>
                <a:t>AE = C + I + G + X - M</a:t>
              </a:r>
            </a:p>
          </p:txBody>
        </p:sp>
        <p:sp>
          <p:nvSpPr>
            <p:cNvPr id="33" name="Line 1038">
              <a:extLst>
                <a:ext uri="{FF2B5EF4-FFF2-40B4-BE49-F238E27FC236}">
                  <a16:creationId xmlns:a16="http://schemas.microsoft.com/office/drawing/2014/main" id="{A7BB5015-1FD1-42AE-9693-24B895AB96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1193" y="1642878"/>
              <a:ext cx="5816324" cy="3398859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2800" kern="0">
                <a:solidFill>
                  <a:srgbClr val="000000"/>
                </a:solidFill>
              </a:endParaRPr>
            </a:p>
          </p:txBody>
        </p:sp>
      </p:grpSp>
      <p:sp>
        <p:nvSpPr>
          <p:cNvPr id="30" name="Rectangle 5">
            <a:extLst>
              <a:ext uri="{FF2B5EF4-FFF2-40B4-BE49-F238E27FC236}">
                <a16:creationId xmlns:a16="http://schemas.microsoft.com/office/drawing/2014/main" id="{0EB43614-AFDE-4D68-BEC3-21F830F22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7718"/>
            <a:ext cx="12191998" cy="569387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9144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Equilibrium national income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0C2534-832A-45FA-BE62-8FF7C2AA35F8}"/>
              </a:ext>
            </a:extLst>
          </p:cNvPr>
          <p:cNvGrpSpPr/>
          <p:nvPr/>
        </p:nvGrpSpPr>
        <p:grpSpPr>
          <a:xfrm>
            <a:off x="2357194" y="5772265"/>
            <a:ext cx="1010406" cy="742324"/>
            <a:chOff x="2357194" y="5772265"/>
            <a:chExt cx="1010406" cy="742324"/>
          </a:xfrm>
        </p:grpSpPr>
        <p:sp>
          <p:nvSpPr>
            <p:cNvPr id="2" name="Arc 1">
              <a:extLst>
                <a:ext uri="{FF2B5EF4-FFF2-40B4-BE49-F238E27FC236}">
                  <a16:creationId xmlns:a16="http://schemas.microsoft.com/office/drawing/2014/main" id="{6E40D85D-F623-4059-878F-822F0E92AA57}"/>
                </a:ext>
              </a:extLst>
            </p:cNvPr>
            <p:cNvSpPr/>
            <p:nvPr/>
          </p:nvSpPr>
          <p:spPr>
            <a:xfrm>
              <a:off x="2357194" y="5980981"/>
              <a:ext cx="504941" cy="533608"/>
            </a:xfrm>
            <a:prstGeom prst="arc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D9F9D26C-4DBB-4618-A820-3DBA752CD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725" y="5772265"/>
              <a:ext cx="573875" cy="4007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 dirty="0">
                  <a:latin typeface="Arial" panose="020B0604020202020204" pitchFamily="34" charset="0"/>
                </a:rPr>
                <a:t>45°</a:t>
              </a:r>
              <a:endParaRPr lang="en-GB" altLang="en-US" sz="2000" baseline="4000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401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>
            <a:extLst>
              <a:ext uri="{FF2B5EF4-FFF2-40B4-BE49-F238E27FC236}">
                <a16:creationId xmlns:a16="http://schemas.microsoft.com/office/drawing/2014/main" id="{A411792E-403F-4052-B2E7-562D743F6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564" y="198439"/>
            <a:ext cx="10294522" cy="758825"/>
          </a:xfrm>
        </p:spPr>
        <p:txBody>
          <a:bodyPr/>
          <a:lstStyle/>
          <a:p>
            <a:r>
              <a:rPr lang="en-GB" altLang="en-US" dirty="0"/>
              <a:t>When injections equal withdrawals</a:t>
            </a:r>
          </a:p>
        </p:txBody>
      </p:sp>
      <p:sp>
        <p:nvSpPr>
          <p:cNvPr id="392195" name="Rectangle 3">
            <a:extLst>
              <a:ext uri="{FF2B5EF4-FFF2-40B4-BE49-F238E27FC236}">
                <a16:creationId xmlns:a16="http://schemas.microsoft.com/office/drawing/2014/main" id="{82BEEC0A-4D95-418B-B497-C02A9089D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30960"/>
            <a:ext cx="10515600" cy="4846003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Think of circular flow</a:t>
            </a:r>
          </a:p>
          <a:p>
            <a:pPr lvl="1"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Households receive income </a:t>
            </a:r>
            <a:r>
              <a:rPr lang="en-GB" altLang="en-US" i="1" dirty="0">
                <a:latin typeface="+mn-lt"/>
              </a:rPr>
              <a:t>Y</a:t>
            </a:r>
            <a:r>
              <a:rPr lang="en-GB" altLang="en-US" dirty="0">
                <a:latin typeface="+mn-lt"/>
              </a:rPr>
              <a:t>, spend </a:t>
            </a:r>
            <a:r>
              <a:rPr lang="en-GB" altLang="en-US" i="1" dirty="0">
                <a:latin typeface="+mn-lt"/>
              </a:rPr>
              <a:t>C</a:t>
            </a:r>
            <a:r>
              <a:rPr lang="en-GB" altLang="en-US" dirty="0">
                <a:latin typeface="+mn-lt"/>
              </a:rPr>
              <a:t>, withdraw </a:t>
            </a:r>
            <a:r>
              <a:rPr lang="en-GB" altLang="en-US" i="1" dirty="0">
                <a:latin typeface="+mn-lt"/>
              </a:rPr>
              <a:t>W</a:t>
            </a:r>
          </a:p>
          <a:p>
            <a:pPr lvl="2"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So for an equilibrium, </a:t>
            </a:r>
            <a:r>
              <a:rPr lang="en-GB" altLang="en-US" i="1" dirty="0">
                <a:latin typeface="+mn-lt"/>
              </a:rPr>
              <a:t>Y = C + W</a:t>
            </a:r>
          </a:p>
          <a:p>
            <a:pPr lvl="1"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Spending on output produced in the economy </a:t>
            </a:r>
            <a:r>
              <a:rPr lang="en-GB" altLang="en-US" i="1" dirty="0">
                <a:latin typeface="+mn-lt"/>
              </a:rPr>
              <a:t>AE = C + J</a:t>
            </a:r>
            <a:endParaRPr lang="en-GB" altLang="en-US" dirty="0">
              <a:latin typeface="+mn-lt"/>
            </a:endParaRPr>
          </a:p>
          <a:p>
            <a:pPr lvl="2"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For an equilibrium, where </a:t>
            </a:r>
            <a:r>
              <a:rPr lang="en-GB" altLang="en-US" i="1" dirty="0">
                <a:latin typeface="+mn-lt"/>
              </a:rPr>
              <a:t>Y = AE, C + W = C + J </a:t>
            </a:r>
            <a:r>
              <a:rPr lang="en-GB" altLang="en-US" dirty="0">
                <a:latin typeface="+mn-lt"/>
              </a:rPr>
              <a:t>(and </a:t>
            </a:r>
            <a:r>
              <a:rPr lang="en-GB" altLang="en-US" i="1" dirty="0">
                <a:latin typeface="+mn-lt"/>
              </a:rPr>
              <a:t>J = W</a:t>
            </a:r>
            <a:r>
              <a:rPr lang="en-GB" altLang="en-US" dirty="0">
                <a:latin typeface="+mn-lt"/>
              </a:rPr>
              <a:t>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Suppose that </a:t>
            </a:r>
            <a:r>
              <a:rPr lang="en-GB" altLang="en-US" i="1" dirty="0">
                <a:latin typeface="+mn-lt"/>
              </a:rPr>
              <a:t>AE &gt; Y</a:t>
            </a:r>
            <a:r>
              <a:rPr lang="en-GB" altLang="en-US" dirty="0">
                <a:latin typeface="+mn-lt"/>
              </a:rPr>
              <a:t> – there is an increase in exports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Organisations sell more output – make more profit</a:t>
            </a: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Invest in labour - Have higher wage costs; </a:t>
            </a: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Household income increases, so consumption increases;</a:t>
            </a: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Government revenues increase, so it increases spending;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Many effects, which feed into each other</a:t>
            </a: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r>
              <a:rPr lang="en-GB" altLang="en-US" dirty="0">
                <a:latin typeface="+mn-lt"/>
              </a:rPr>
              <a:t>What restores equilibrium? </a:t>
            </a:r>
            <a:r>
              <a:rPr lang="en-GB" altLang="en-US" i="1" dirty="0">
                <a:latin typeface="+mn-lt"/>
              </a:rPr>
              <a:t>Injections again equal to withdrawals</a:t>
            </a:r>
            <a:endParaRPr lang="en-GB" altLang="en-US" dirty="0">
              <a:latin typeface="+mn-lt"/>
            </a:endParaRPr>
          </a:p>
          <a:p>
            <a:pPr>
              <a:spcBef>
                <a:spcPct val="50000"/>
              </a:spcBef>
            </a:pPr>
            <a:endParaRPr lang="en-GB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6871616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92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92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92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92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92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92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92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92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92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92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92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92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92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92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5" grpId="0" build="p" bldLvl="3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3" name="Line 3">
            <a:extLst>
              <a:ext uri="{FF2B5EF4-FFF2-40B4-BE49-F238E27FC236}">
                <a16:creationId xmlns:a16="http://schemas.microsoft.com/office/drawing/2014/main" id="{E0C94A29-6FBC-46F9-BD59-E1EF7B5C04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0880" y="922737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4964" name="Line 4">
            <a:extLst>
              <a:ext uri="{FF2B5EF4-FFF2-40B4-BE49-F238E27FC236}">
                <a16:creationId xmlns:a16="http://schemas.microsoft.com/office/drawing/2014/main" id="{A7618051-789A-426C-B587-52E7519407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0879" y="6256737"/>
            <a:ext cx="8343997" cy="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4965" name="Rectangle 5">
            <a:extLst>
              <a:ext uri="{FF2B5EF4-FFF2-40B4-BE49-F238E27FC236}">
                <a16:creationId xmlns:a16="http://schemas.microsoft.com/office/drawing/2014/main" id="{0C19E019-51CC-4AF9-A70C-5707F0E58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208" y="6210700"/>
            <a:ext cx="384721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 dirty="0"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424966" name="Rectangle 6">
            <a:extLst>
              <a:ext uri="{FF2B5EF4-FFF2-40B4-BE49-F238E27FC236}">
                <a16:creationId xmlns:a16="http://schemas.microsoft.com/office/drawing/2014/main" id="{479F495A-A013-4BDA-B6CB-CA4939815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5748" y="6272101"/>
            <a:ext cx="3149664" cy="41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 dirty="0">
                <a:latin typeface="Arial" panose="020B0604020202020204" pitchFamily="34" charset="0"/>
              </a:rPr>
              <a:t>National income (</a:t>
            </a:r>
            <a:r>
              <a:rPr lang="en-GB" altLang="en-US" sz="2000" i="1" dirty="0">
                <a:latin typeface="Arial" panose="020B0604020202020204" pitchFamily="34" charset="0"/>
              </a:rPr>
              <a:t>Y</a:t>
            </a:r>
            <a:r>
              <a:rPr lang="en-GB" altLang="en-US" sz="2000" dirty="0">
                <a:latin typeface="Arial" panose="020B0604020202020204" pitchFamily="34" charset="0"/>
              </a:rPr>
              <a:t>) (£bn)</a:t>
            </a:r>
          </a:p>
        </p:txBody>
      </p:sp>
      <p:sp>
        <p:nvSpPr>
          <p:cNvPr id="424967" name="Line 7">
            <a:extLst>
              <a:ext uri="{FF2B5EF4-FFF2-40B4-BE49-F238E27FC236}">
                <a16:creationId xmlns:a16="http://schemas.microsoft.com/office/drawing/2014/main" id="{F79416FF-F2D6-4C9D-8460-EFC158ABDE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71465" y="1317623"/>
            <a:ext cx="5383701" cy="4949263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4970" name="Rectangle 10">
            <a:extLst>
              <a:ext uri="{FF2B5EF4-FFF2-40B4-BE49-F238E27FC236}">
                <a16:creationId xmlns:a16="http://schemas.microsoft.com/office/drawing/2014/main" id="{21B88F95-FD54-48D0-A298-79E4612BC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17" y="890487"/>
            <a:ext cx="1209393" cy="70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2000" i="1" dirty="0">
                <a:latin typeface="Arial" panose="020B0604020202020204" pitchFamily="34" charset="0"/>
              </a:rPr>
              <a:t>C</a:t>
            </a:r>
            <a:r>
              <a:rPr lang="en-GB" altLang="en-US" sz="2000" baseline="-25000" dirty="0">
                <a:latin typeface="Arial" panose="020B0604020202020204" pitchFamily="34" charset="0"/>
              </a:rPr>
              <a:t>d</a:t>
            </a:r>
            <a:r>
              <a:rPr lang="en-GB" altLang="en-US" sz="2000" i="1" dirty="0">
                <a:latin typeface="Arial" panose="020B0604020202020204" pitchFamily="34" charset="0"/>
              </a:rPr>
              <a:t>, W, J</a:t>
            </a:r>
          </a:p>
          <a:p>
            <a:pPr algn="r"/>
            <a:r>
              <a:rPr lang="en-GB" altLang="en-US" sz="2000" dirty="0">
                <a:latin typeface="Arial" panose="020B0604020202020204" pitchFamily="34" charset="0"/>
              </a:rPr>
              <a:t>(£bn)</a:t>
            </a:r>
          </a:p>
        </p:txBody>
      </p:sp>
      <p:sp>
        <p:nvSpPr>
          <p:cNvPr id="424976" name="Rectangle 16">
            <a:extLst>
              <a:ext uri="{FF2B5EF4-FFF2-40B4-BE49-F238E27FC236}">
                <a16:creationId xmlns:a16="http://schemas.microsoft.com/office/drawing/2014/main" id="{B6D6E593-0684-42DA-A3D3-07A6CBCF5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2202" y="2096208"/>
            <a:ext cx="1133965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i="1" dirty="0">
                <a:solidFill>
                  <a:srgbClr val="0000CC"/>
                </a:solidFill>
                <a:latin typeface="Arial" panose="020B0604020202020204" pitchFamily="34" charset="0"/>
              </a:rPr>
              <a:t>Y = AE</a:t>
            </a:r>
          </a:p>
        </p:txBody>
      </p:sp>
      <p:sp>
        <p:nvSpPr>
          <p:cNvPr id="424977" name="Rectangle 17">
            <a:extLst>
              <a:ext uri="{FF2B5EF4-FFF2-40B4-BE49-F238E27FC236}">
                <a16:creationId xmlns:a16="http://schemas.microsoft.com/office/drawing/2014/main" id="{1771A26E-1BEF-4317-83E1-EBBC70988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725" y="3107685"/>
            <a:ext cx="2200924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i="1" dirty="0">
                <a:solidFill>
                  <a:srgbClr val="008000"/>
                </a:solidFill>
                <a:latin typeface="Arial" panose="020B0604020202020204" pitchFamily="34" charset="0"/>
              </a:rPr>
              <a:t>AE = C + J - M</a:t>
            </a:r>
          </a:p>
        </p:txBody>
      </p:sp>
      <p:sp>
        <p:nvSpPr>
          <p:cNvPr id="424979" name="Rectangle 19">
            <a:extLst>
              <a:ext uri="{FF2B5EF4-FFF2-40B4-BE49-F238E27FC236}">
                <a16:creationId xmlns:a16="http://schemas.microsoft.com/office/drawing/2014/main" id="{B4F8DB9F-0132-4354-B7D7-6AB71E75F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40" y="6256737"/>
            <a:ext cx="477696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200" i="1" dirty="0">
                <a:latin typeface="Arial" panose="020B0604020202020204" pitchFamily="34" charset="0"/>
              </a:rPr>
              <a:t>Y</a:t>
            </a:r>
            <a:r>
              <a:rPr lang="en-GB" altLang="en-US" sz="2200" baseline="-25000" dirty="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424986" name="Line 26">
            <a:extLst>
              <a:ext uri="{FF2B5EF4-FFF2-40B4-BE49-F238E27FC236}">
                <a16:creationId xmlns:a16="http://schemas.microsoft.com/office/drawing/2014/main" id="{DD30783C-AB24-464A-BEC7-B05DFD780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9315" y="6666025"/>
            <a:ext cx="1272619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" name="Line 1038">
            <a:extLst>
              <a:ext uri="{FF2B5EF4-FFF2-40B4-BE49-F238E27FC236}">
                <a16:creationId xmlns:a16="http://schemas.microsoft.com/office/drawing/2014/main" id="{A7BB5015-1FD1-42AE-9693-24B895AB96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0129" y="1642878"/>
            <a:ext cx="5767387" cy="3370262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2800" kern="0">
              <a:solidFill>
                <a:srgbClr val="000000"/>
              </a:solidFill>
            </a:endParaRPr>
          </a:p>
        </p:txBody>
      </p:sp>
      <p:sp>
        <p:nvSpPr>
          <p:cNvPr id="424987" name="Line 27">
            <a:extLst>
              <a:ext uri="{FF2B5EF4-FFF2-40B4-BE49-F238E27FC236}">
                <a16:creationId xmlns:a16="http://schemas.microsoft.com/office/drawing/2014/main" id="{9FF08833-C73D-49ED-81B0-0A51F9E3C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5680" y="6666025"/>
            <a:ext cx="1352746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4988" name="AutoShape 28">
            <a:extLst>
              <a:ext uri="{FF2B5EF4-FFF2-40B4-BE49-F238E27FC236}">
                <a16:creationId xmlns:a16="http://schemas.microsoft.com/office/drawing/2014/main" id="{0D11303B-A1EF-469C-B414-DE45A7565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654" y="1206209"/>
            <a:ext cx="3606971" cy="785606"/>
          </a:xfrm>
          <a:prstGeom prst="roundRect">
            <a:avLst>
              <a:gd name="adj" fmla="val 16667"/>
            </a:avLst>
          </a:prstGeom>
          <a:solidFill>
            <a:srgbClr val="FFFFEF"/>
          </a:solidFill>
          <a:ln w="22225">
            <a:solidFill>
              <a:srgbClr val="660066"/>
            </a:solidFill>
            <a:round/>
            <a:headEnd type="none" w="sm" len="sm"/>
            <a:tailEnd type="none" w="sm" len="sm"/>
          </a:ln>
          <a:effectLst/>
        </p:spPr>
        <p:txBody>
          <a:bodyPr wrap="square" lIns="90000" tIns="46800" rIns="90000" bIns="46800" anchor="ctr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000" dirty="0">
                <a:solidFill>
                  <a:srgbClr val="660066"/>
                </a:solidFill>
                <a:latin typeface="Arial" panose="020B0604020202020204" pitchFamily="34" charset="0"/>
              </a:rPr>
              <a:t>Equilibrium national income is where </a:t>
            </a:r>
            <a:r>
              <a:rPr lang="en-GB" altLang="en-US" sz="2000" i="1" dirty="0">
                <a:solidFill>
                  <a:srgbClr val="660066"/>
                </a:solidFill>
                <a:latin typeface="Arial" panose="020B0604020202020204" pitchFamily="34" charset="0"/>
              </a:rPr>
              <a:t>Y = AE</a:t>
            </a:r>
            <a:r>
              <a:rPr lang="en-GB" altLang="en-US" sz="2000" dirty="0">
                <a:solidFill>
                  <a:srgbClr val="660066"/>
                </a:solidFill>
                <a:latin typeface="Arial" panose="020B0604020202020204" pitchFamily="34" charset="0"/>
              </a:rPr>
              <a:t> (and </a:t>
            </a:r>
            <a:r>
              <a:rPr lang="en-GB" altLang="en-US" sz="2000" i="1" dirty="0">
                <a:solidFill>
                  <a:srgbClr val="660066"/>
                </a:solidFill>
                <a:latin typeface="Arial" panose="020B0604020202020204" pitchFamily="34" charset="0"/>
              </a:rPr>
              <a:t>W = J</a:t>
            </a:r>
            <a:r>
              <a:rPr lang="en-GB" altLang="en-US" sz="2000" dirty="0">
                <a:solidFill>
                  <a:srgbClr val="660066"/>
                </a:solidFill>
                <a:latin typeface="Arial" panose="020B0604020202020204" pitchFamily="34" charset="0"/>
              </a:rPr>
              <a:t>).</a:t>
            </a:r>
          </a:p>
        </p:txBody>
      </p:sp>
      <p:sp>
        <p:nvSpPr>
          <p:cNvPr id="424978" name="Line 18">
            <a:extLst>
              <a:ext uri="{FF2B5EF4-FFF2-40B4-BE49-F238E27FC236}">
                <a16:creationId xmlns:a16="http://schemas.microsoft.com/office/drawing/2014/main" id="{61261045-2725-4E42-BBD1-0374982EDD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16674" y="2989238"/>
            <a:ext cx="0" cy="3245335"/>
          </a:xfrm>
          <a:prstGeom prst="line">
            <a:avLst/>
          </a:prstGeom>
          <a:noFill/>
          <a:ln w="15875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0EB43614-AFDE-4D68-BEC3-21F830F22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7718"/>
            <a:ext cx="12191998" cy="569387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9144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A unique, stable equilibrium where </a:t>
            </a:r>
            <a:r>
              <a:rPr lang="en-GB" altLang="en-US" sz="2800" b="1" i="1" dirty="0">
                <a:solidFill>
                  <a:srgbClr val="660066"/>
                </a:solidFill>
                <a:latin typeface="Arial" panose="020B0604020202020204" pitchFamily="34" charset="0"/>
              </a:rPr>
              <a:t>J = W </a:t>
            </a:r>
            <a:r>
              <a:rPr lang="en-GB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and </a:t>
            </a:r>
            <a:r>
              <a:rPr lang="en-GB" altLang="en-US" sz="2800" b="1" i="1" dirty="0">
                <a:solidFill>
                  <a:srgbClr val="660066"/>
                </a:solidFill>
                <a:latin typeface="Arial" panose="020B0604020202020204" pitchFamily="34" charset="0"/>
              </a:rPr>
              <a:t>Y = AE</a:t>
            </a:r>
            <a:endParaRPr lang="en-GB" altLang="en-US" sz="2800" b="1" dirty="0">
              <a:solidFill>
                <a:srgbClr val="660066"/>
              </a:solidFill>
              <a:latin typeface="Arial" panose="020B0604020202020204" pitchFamily="34" charset="0"/>
            </a:endParaRPr>
          </a:p>
        </p:txBody>
      </p:sp>
      <p:grpSp>
        <p:nvGrpSpPr>
          <p:cNvPr id="424983" name="Group 23">
            <a:extLst>
              <a:ext uri="{FF2B5EF4-FFF2-40B4-BE49-F238E27FC236}">
                <a16:creationId xmlns:a16="http://schemas.microsoft.com/office/drawing/2014/main" id="{8B829C36-7DBA-442E-BA32-80C6874FDAD6}"/>
              </a:ext>
            </a:extLst>
          </p:cNvPr>
          <p:cNvGrpSpPr>
            <a:grpSpLocks/>
          </p:cNvGrpSpPr>
          <p:nvPr/>
        </p:nvGrpSpPr>
        <p:grpSpPr bwMode="auto">
          <a:xfrm>
            <a:off x="5626319" y="2531323"/>
            <a:ext cx="357188" cy="531813"/>
            <a:chOff x="2552" y="1670"/>
            <a:chExt cx="225" cy="335"/>
          </a:xfrm>
        </p:grpSpPr>
        <p:sp>
          <p:nvSpPr>
            <p:cNvPr id="424985" name="Rectangle 25">
              <a:extLst>
                <a:ext uri="{FF2B5EF4-FFF2-40B4-BE49-F238E27FC236}">
                  <a16:creationId xmlns:a16="http://schemas.microsoft.com/office/drawing/2014/main" id="{0E3F7A48-FE78-49A0-A062-6687F02D9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2" y="1670"/>
              <a:ext cx="2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i="1" dirty="0">
                  <a:solidFill>
                    <a:srgbClr val="660066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424984" name="Oval 24">
              <a:extLst>
                <a:ext uri="{FF2B5EF4-FFF2-40B4-BE49-F238E27FC236}">
                  <a16:creationId xmlns:a16="http://schemas.microsoft.com/office/drawing/2014/main" id="{54C527B5-CD61-4526-BE4A-5FCDC96DD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940"/>
              <a:ext cx="65" cy="65"/>
            </a:xfrm>
            <a:prstGeom prst="ellipse">
              <a:avLst/>
            </a:prstGeom>
            <a:solidFill>
              <a:srgbClr val="CCECFF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srgbClr val="660066"/>
                </a:solidFill>
              </a:endParaRPr>
            </a:p>
          </p:txBody>
        </p:sp>
      </p:grpSp>
      <p:sp>
        <p:nvSpPr>
          <p:cNvPr id="35" name="Line 12">
            <a:extLst>
              <a:ext uri="{FF2B5EF4-FFF2-40B4-BE49-F238E27FC236}">
                <a16:creationId xmlns:a16="http://schemas.microsoft.com/office/drawing/2014/main" id="{DE48526A-6A68-4970-A122-65D383F35B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0652" y="4019530"/>
            <a:ext cx="6424" cy="2237206"/>
          </a:xfrm>
          <a:prstGeom prst="line">
            <a:avLst/>
          </a:prstGeom>
          <a:noFill/>
          <a:ln w="15875">
            <a:solidFill>
              <a:srgbClr val="660066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" name="Line 12">
            <a:extLst>
              <a:ext uri="{FF2B5EF4-FFF2-40B4-BE49-F238E27FC236}">
                <a16:creationId xmlns:a16="http://schemas.microsoft.com/office/drawing/2014/main" id="{B227778B-9963-48AE-9604-9F7A89189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2291" y="1628969"/>
            <a:ext cx="0" cy="4627769"/>
          </a:xfrm>
          <a:prstGeom prst="line">
            <a:avLst/>
          </a:prstGeom>
          <a:noFill/>
          <a:ln w="15875">
            <a:solidFill>
              <a:srgbClr val="660066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7" name="Group 23">
            <a:extLst>
              <a:ext uri="{FF2B5EF4-FFF2-40B4-BE49-F238E27FC236}">
                <a16:creationId xmlns:a16="http://schemas.microsoft.com/office/drawing/2014/main" id="{33635A13-3191-4A64-A9B3-1BA0C7FE8583}"/>
              </a:ext>
            </a:extLst>
          </p:cNvPr>
          <p:cNvGrpSpPr>
            <a:grpSpLocks/>
          </p:cNvGrpSpPr>
          <p:nvPr/>
        </p:nvGrpSpPr>
        <p:grpSpPr bwMode="auto">
          <a:xfrm>
            <a:off x="3800389" y="3582969"/>
            <a:ext cx="412751" cy="461963"/>
            <a:chOff x="2444" y="1730"/>
            <a:chExt cx="260" cy="291"/>
          </a:xfrm>
        </p:grpSpPr>
        <p:sp>
          <p:nvSpPr>
            <p:cNvPr id="38" name="Rectangle 25">
              <a:extLst>
                <a:ext uri="{FF2B5EF4-FFF2-40B4-BE49-F238E27FC236}">
                  <a16:creationId xmlns:a16="http://schemas.microsoft.com/office/drawing/2014/main" id="{A90A7DE8-7947-4C5E-A555-5911EBAF6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730"/>
              <a:ext cx="2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i="1" dirty="0">
                  <a:solidFill>
                    <a:srgbClr val="660066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9" name="Oval 24">
              <a:extLst>
                <a:ext uri="{FF2B5EF4-FFF2-40B4-BE49-F238E27FC236}">
                  <a16:creationId xmlns:a16="http://schemas.microsoft.com/office/drawing/2014/main" id="{2D658ED9-EAF7-4370-A6C6-2132B1BE3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940"/>
              <a:ext cx="65" cy="65"/>
            </a:xfrm>
            <a:prstGeom prst="ellipse">
              <a:avLst/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srgbClr val="660066"/>
                </a:solidFill>
              </a:endParaRPr>
            </a:p>
          </p:txBody>
        </p:sp>
      </p:grpSp>
      <p:grpSp>
        <p:nvGrpSpPr>
          <p:cNvPr id="40" name="Group 23">
            <a:extLst>
              <a:ext uri="{FF2B5EF4-FFF2-40B4-BE49-F238E27FC236}">
                <a16:creationId xmlns:a16="http://schemas.microsoft.com/office/drawing/2014/main" id="{FC0B8536-64E2-4E37-BEB0-1B05A97F338A}"/>
              </a:ext>
            </a:extLst>
          </p:cNvPr>
          <p:cNvGrpSpPr>
            <a:grpSpLocks/>
          </p:cNvGrpSpPr>
          <p:nvPr/>
        </p:nvGrpSpPr>
        <p:grpSpPr bwMode="auto">
          <a:xfrm>
            <a:off x="3789908" y="4240290"/>
            <a:ext cx="420691" cy="461963"/>
            <a:chOff x="2444" y="1780"/>
            <a:chExt cx="265" cy="291"/>
          </a:xfrm>
        </p:grpSpPr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18F0B963-A06C-4BE4-82D5-1FCA094D4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780"/>
              <a:ext cx="2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i="1" dirty="0">
                  <a:solidFill>
                    <a:srgbClr val="660066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2" name="Oval 24">
              <a:extLst>
                <a:ext uri="{FF2B5EF4-FFF2-40B4-BE49-F238E27FC236}">
                  <a16:creationId xmlns:a16="http://schemas.microsoft.com/office/drawing/2014/main" id="{FD554B6B-0A50-4AFC-882B-43275ED1A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935"/>
              <a:ext cx="65" cy="65"/>
            </a:xfrm>
            <a:prstGeom prst="ellipse">
              <a:avLst/>
            </a:prstGeom>
            <a:solidFill>
              <a:srgbClr val="CCECFF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srgbClr val="660066"/>
                </a:solidFill>
              </a:endParaRPr>
            </a:p>
          </p:txBody>
        </p:sp>
      </p:grpSp>
      <p:grpSp>
        <p:nvGrpSpPr>
          <p:cNvPr id="43" name="Group 23">
            <a:extLst>
              <a:ext uri="{FF2B5EF4-FFF2-40B4-BE49-F238E27FC236}">
                <a16:creationId xmlns:a16="http://schemas.microsoft.com/office/drawing/2014/main" id="{44A41EB4-E7D1-4170-888E-E82929AAFE7B}"/>
              </a:ext>
            </a:extLst>
          </p:cNvPr>
          <p:cNvGrpSpPr>
            <a:grpSpLocks/>
          </p:cNvGrpSpPr>
          <p:nvPr/>
        </p:nvGrpSpPr>
        <p:grpSpPr bwMode="auto">
          <a:xfrm>
            <a:off x="7077187" y="1071745"/>
            <a:ext cx="365126" cy="531813"/>
            <a:chOff x="2474" y="1670"/>
            <a:chExt cx="230" cy="335"/>
          </a:xfrm>
        </p:grpSpPr>
        <p:sp>
          <p:nvSpPr>
            <p:cNvPr id="44" name="Rectangle 25">
              <a:extLst>
                <a:ext uri="{FF2B5EF4-FFF2-40B4-BE49-F238E27FC236}">
                  <a16:creationId xmlns:a16="http://schemas.microsoft.com/office/drawing/2014/main" id="{205FE69A-9212-488D-A6F9-8C5E1B8F5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4" y="1670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i="1" dirty="0">
                  <a:solidFill>
                    <a:srgbClr val="660066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45" name="Oval 24">
              <a:extLst>
                <a:ext uri="{FF2B5EF4-FFF2-40B4-BE49-F238E27FC236}">
                  <a16:creationId xmlns:a16="http://schemas.microsoft.com/office/drawing/2014/main" id="{D93C1657-052C-4C4D-9A6D-052A153CD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940"/>
              <a:ext cx="65" cy="65"/>
            </a:xfrm>
            <a:prstGeom prst="ellipse">
              <a:avLst/>
            </a:prstGeom>
            <a:solidFill>
              <a:srgbClr val="CCECFF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srgbClr val="660066"/>
                </a:solidFill>
              </a:endParaRPr>
            </a:p>
          </p:txBody>
        </p:sp>
      </p:grpSp>
      <p:grpSp>
        <p:nvGrpSpPr>
          <p:cNvPr id="46" name="Group 23">
            <a:extLst>
              <a:ext uri="{FF2B5EF4-FFF2-40B4-BE49-F238E27FC236}">
                <a16:creationId xmlns:a16="http://schemas.microsoft.com/office/drawing/2014/main" id="{1E429910-5846-47F7-831E-DFC241861B46}"/>
              </a:ext>
            </a:extLst>
          </p:cNvPr>
          <p:cNvGrpSpPr>
            <a:grpSpLocks/>
          </p:cNvGrpSpPr>
          <p:nvPr/>
        </p:nvGrpSpPr>
        <p:grpSpPr bwMode="auto">
          <a:xfrm>
            <a:off x="7017328" y="1749308"/>
            <a:ext cx="430218" cy="461963"/>
            <a:chOff x="2449" y="1757"/>
            <a:chExt cx="271" cy="291"/>
          </a:xfrm>
        </p:grpSpPr>
        <p:sp>
          <p:nvSpPr>
            <p:cNvPr id="47" name="Rectangle 25">
              <a:extLst>
                <a:ext uri="{FF2B5EF4-FFF2-40B4-BE49-F238E27FC236}">
                  <a16:creationId xmlns:a16="http://schemas.microsoft.com/office/drawing/2014/main" id="{63A7510E-A6C2-470A-95E7-ACA310607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9" y="1757"/>
              <a:ext cx="2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i="1" dirty="0">
                  <a:solidFill>
                    <a:srgbClr val="660066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48" name="Oval 24">
              <a:extLst>
                <a:ext uri="{FF2B5EF4-FFF2-40B4-BE49-F238E27FC236}">
                  <a16:creationId xmlns:a16="http://schemas.microsoft.com/office/drawing/2014/main" id="{992915B6-F035-4564-9C44-653159C3E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1937"/>
              <a:ext cx="65" cy="65"/>
            </a:xfrm>
            <a:prstGeom prst="ellipse">
              <a:avLst/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srgbClr val="660066"/>
                </a:solidFill>
              </a:endParaRPr>
            </a:p>
          </p:txBody>
        </p:sp>
      </p:grpSp>
      <p:sp>
        <p:nvSpPr>
          <p:cNvPr id="2" name="Arc 1">
            <a:extLst>
              <a:ext uri="{FF2B5EF4-FFF2-40B4-BE49-F238E27FC236}">
                <a16:creationId xmlns:a16="http://schemas.microsoft.com/office/drawing/2014/main" id="{6E40D85D-F623-4059-878F-822F0E92AA57}"/>
              </a:ext>
            </a:extLst>
          </p:cNvPr>
          <p:cNvSpPr/>
          <p:nvPr/>
        </p:nvSpPr>
        <p:spPr>
          <a:xfrm>
            <a:off x="2357194" y="5980981"/>
            <a:ext cx="504941" cy="533608"/>
          </a:xfrm>
          <a:prstGeom prst="arc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16">
            <a:extLst>
              <a:ext uri="{FF2B5EF4-FFF2-40B4-BE49-F238E27FC236}">
                <a16:creationId xmlns:a16="http://schemas.microsoft.com/office/drawing/2014/main" id="{705B1DB3-4DE8-4FE0-AD0D-98D9ECE34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7985" y="6261650"/>
            <a:ext cx="477695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200" i="1" dirty="0">
                <a:solidFill>
                  <a:srgbClr val="660066"/>
                </a:solidFill>
                <a:latin typeface="Arial" panose="020B0604020202020204" pitchFamily="34" charset="0"/>
              </a:rPr>
              <a:t>Y</a:t>
            </a:r>
            <a:r>
              <a:rPr lang="en-GB" altLang="en-US" sz="2200" baseline="-25000" dirty="0">
                <a:solidFill>
                  <a:srgbClr val="660066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0" name="Rectangle 16">
            <a:extLst>
              <a:ext uri="{FF2B5EF4-FFF2-40B4-BE49-F238E27FC236}">
                <a16:creationId xmlns:a16="http://schemas.microsoft.com/office/drawing/2014/main" id="{5D66C52C-310C-4ACB-B854-3047E95C7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3852" y="6271374"/>
            <a:ext cx="477695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200" i="1" dirty="0">
                <a:solidFill>
                  <a:srgbClr val="660066"/>
                </a:solidFill>
                <a:latin typeface="Arial" panose="020B0604020202020204" pitchFamily="34" charset="0"/>
              </a:rPr>
              <a:t>Y</a:t>
            </a:r>
            <a:r>
              <a:rPr lang="en-GB" altLang="en-US" sz="2200" baseline="-25000" dirty="0">
                <a:solidFill>
                  <a:srgbClr val="660066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3" name="Rectangle 25">
            <a:extLst>
              <a:ext uri="{FF2B5EF4-FFF2-40B4-BE49-F238E27FC236}">
                <a16:creationId xmlns:a16="http://schemas.microsoft.com/office/drawing/2014/main" id="{D9F9D26C-4DBB-4618-A820-3DBA752CD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725" y="5772265"/>
            <a:ext cx="573875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000" dirty="0">
                <a:latin typeface="Arial" panose="020B0604020202020204" pitchFamily="34" charset="0"/>
              </a:rPr>
              <a:t>45°</a:t>
            </a:r>
            <a:endParaRPr lang="en-GB" altLang="en-US" sz="2000" baseline="40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4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4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24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4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4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24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2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79" grpId="0"/>
      <p:bldP spid="424988" grpId="0" animBg="1"/>
      <p:bldP spid="42497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7" name="Rectangle 7">
            <a:extLst>
              <a:ext uri="{FF2B5EF4-FFF2-40B4-BE49-F238E27FC236}">
                <a16:creationId xmlns:a16="http://schemas.microsoft.com/office/drawing/2014/main" id="{85610281-CB26-4693-99A4-B6B5560F62BD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 dirty="0"/>
              <a:t>Marginal propensities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4243" name="Rectangle 3">
                <a:extLst>
                  <a:ext uri="{FF2B5EF4-FFF2-40B4-BE49-F238E27FC236}">
                    <a16:creationId xmlns:a16="http://schemas.microsoft.com/office/drawing/2014/main" id="{4A927996-A1C5-4FE8-9D73-7F35037D83C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sz="2800" dirty="0">
                    <a:latin typeface="+mn-lt"/>
                  </a:rPr>
                  <a:t>The aggregate expenditure (</a:t>
                </a:r>
                <a:r>
                  <a:rPr lang="en-GB" altLang="en-US" sz="2800" i="1" dirty="0">
                    <a:latin typeface="+mn-lt"/>
                  </a:rPr>
                  <a:t>AE = C + J - M</a:t>
                </a:r>
                <a:r>
                  <a:rPr lang="en-GB" altLang="en-US" sz="2800" dirty="0">
                    <a:latin typeface="+mn-lt"/>
                  </a:rPr>
                  <a:t>) line slopes up, but is flatter than the equilibrium condition line (</a:t>
                </a:r>
                <a:r>
                  <a:rPr lang="en-GB" altLang="en-US" sz="2800" i="1" dirty="0">
                    <a:latin typeface="+mn-lt"/>
                  </a:rPr>
                  <a:t>Y = AE</a:t>
                </a:r>
                <a:r>
                  <a:rPr lang="en-GB" altLang="en-US" sz="2800" dirty="0">
                    <a:latin typeface="+mn-lt"/>
                  </a:rPr>
                  <a:t>)</a:t>
                </a:r>
              </a:p>
              <a:p>
                <a:pPr lvl="1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sz="2400" dirty="0">
                    <a:latin typeface="+mn-lt"/>
                  </a:rPr>
                  <a:t>After household incomes increase, there is a smaller increase in aggregate expenditure</a:t>
                </a:r>
              </a:p>
              <a:p>
                <a:pPr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sz="2800" dirty="0">
                    <a:latin typeface="+mn-lt"/>
                  </a:rPr>
                  <a:t>Marginal propensity: when an increase in one aggregate leads to an increase in another one</a:t>
                </a:r>
              </a:p>
              <a:p>
                <a:pPr lvl="1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sz="2500" dirty="0">
                    <a:latin typeface="+mn-lt"/>
                  </a:rPr>
                  <a:t>Ratio of increase in the second aggregate divided by increase in first</a:t>
                </a:r>
              </a:p>
              <a:p>
                <a:pPr lvl="1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sz="2400" dirty="0">
                    <a:latin typeface="+mn-lt"/>
                  </a:rPr>
                  <a:t>Example: marginal propensity to consume goods and services</a:t>
                </a:r>
              </a:p>
              <a:p>
                <a:pPr lvl="2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sz="2800" i="1" dirty="0" err="1">
                    <a:latin typeface="+mn-lt"/>
                  </a:rPr>
                  <a:t>mpc</a:t>
                </a:r>
                <a:r>
                  <a:rPr lang="en-GB" altLang="en-US" sz="2800" dirty="0">
                    <a:latin typeface="+mn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2800" i="1" smtClean="0">
                            <a:latin typeface="+mn-lt"/>
                          </a:rPr>
                        </m:ctrlPr>
                      </m:fPr>
                      <m:num>
                        <m:r>
                          <a:rPr lang="en-GB" altLang="en-US" sz="2800" i="1" smtClean="0">
                            <a:latin typeface="+mn-lt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altLang="en-US" sz="2800" b="0" i="1" smtClean="0">
                            <a:latin typeface="+mn-lt"/>
                            <a:ea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GB" altLang="en-US" sz="2800" i="1" smtClean="0">
                            <a:latin typeface="+mn-lt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altLang="en-US" sz="2800" b="0" i="1" smtClean="0">
                            <a:latin typeface="+mn-lt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en-GB" altLang="en-US" sz="2000" dirty="0">
                    <a:latin typeface="+mn-lt"/>
                  </a:rPr>
                  <a:t>: </a:t>
                </a:r>
                <a:r>
                  <a:rPr lang="en-GB" altLang="en-US" dirty="0">
                    <a:latin typeface="+mn-lt"/>
                  </a:rPr>
                  <a:t>change in consumption caused by change in income</a:t>
                </a:r>
                <a:endParaRPr lang="en-GB" altLang="en-US" sz="2000" dirty="0">
                  <a:latin typeface="+mn-lt"/>
                </a:endParaRPr>
              </a:p>
            </p:txBody>
          </p:sp>
        </mc:Choice>
        <mc:Fallback>
          <p:sp>
            <p:nvSpPr>
              <p:cNvPr id="394243" name="Rectangle 3">
                <a:extLst>
                  <a:ext uri="{FF2B5EF4-FFF2-40B4-BE49-F238E27FC236}">
                    <a16:creationId xmlns:a16="http://schemas.microsoft.com/office/drawing/2014/main" id="{4A927996-A1C5-4FE8-9D73-7F35037D83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1043" t="-2507" r="-173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183041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9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build="p" bldLvl="2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7" name="Rectangle 7">
            <a:extLst>
              <a:ext uri="{FF2B5EF4-FFF2-40B4-BE49-F238E27FC236}">
                <a16:creationId xmlns:a16="http://schemas.microsoft.com/office/drawing/2014/main" id="{85610281-CB26-4693-99A4-B6B5560F62BD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 dirty="0"/>
              <a:t>The multiplier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4243" name="Rectangle 3">
                <a:extLst>
                  <a:ext uri="{FF2B5EF4-FFF2-40B4-BE49-F238E27FC236}">
                    <a16:creationId xmlns:a16="http://schemas.microsoft.com/office/drawing/2014/main" id="{4A927996-A1C5-4FE8-9D73-7F35037D83C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dirty="0">
                    <a:latin typeface="+mn-lt"/>
                  </a:rPr>
                  <a:t>After there is an increase in spending, income increases</a:t>
                </a:r>
              </a:p>
              <a:p>
                <a:pPr lvl="1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dirty="0">
                    <a:latin typeface="+mn-lt"/>
                  </a:rPr>
                  <a:t>But any increase in spending tends to cause further increases</a:t>
                </a:r>
              </a:p>
              <a:p>
                <a:pPr lvl="2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dirty="0">
                    <a:latin typeface="+mn-lt"/>
                  </a:rPr>
                  <a:t>Workers, paid more, spend more; organisations making profits invest</a:t>
                </a:r>
              </a:p>
              <a:p>
                <a:pPr lvl="2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dirty="0">
                    <a:latin typeface="+mn-lt"/>
                  </a:rPr>
                  <a:t>Government, receiving more taxes, spends more</a:t>
                </a:r>
              </a:p>
              <a:p>
                <a:pPr lvl="2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dirty="0">
                    <a:latin typeface="+mn-lt"/>
                  </a:rPr>
                  <a:t>Some of that spending will be on imports – leakages increase as well</a:t>
                </a:r>
              </a:p>
              <a:p>
                <a:pPr lvl="1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dirty="0">
                    <a:latin typeface="+mn-lt"/>
                  </a:rPr>
                  <a:t>Multiplier: how much national income increases relative to the initial increase in expenditure</a:t>
                </a:r>
              </a:p>
              <a:p>
                <a:pPr lvl="2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dirty="0">
                    <a:latin typeface="+mn-lt"/>
                    <a:sym typeface="Symbol" panose="05050102010706020507" pitchFamily="18" charset="2"/>
                  </a:rPr>
                  <a:t>Multiplier </a:t>
                </a:r>
                <a:r>
                  <a:rPr lang="en-GB" altLang="en-US" sz="2800" i="1" dirty="0">
                    <a:latin typeface="+mn-lt"/>
                    <a:sym typeface="Symbol" panose="05050102010706020507" pitchFamily="18" charset="2"/>
                  </a:rPr>
                  <a:t>k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2800" i="1" smtClean="0">
                            <a:latin typeface="+mn-lt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GB" altLang="en-US" sz="2800" i="1" smtClean="0">
                            <a:latin typeface="+mn-lt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en-GB" altLang="en-US" sz="2800" b="0" i="1" smtClean="0">
                            <a:latin typeface="+mn-lt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𝑌</m:t>
                        </m:r>
                      </m:num>
                      <m:den>
                        <m:r>
                          <a:rPr lang="en-GB" altLang="en-US" sz="2800" i="1" smtClean="0">
                            <a:latin typeface="+mn-lt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en-GB" altLang="en-US" sz="2800" b="0" i="1" smtClean="0">
                            <a:latin typeface="+mn-lt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𝐽</m:t>
                        </m:r>
                      </m:den>
                    </m:f>
                  </m:oMath>
                </a14:m>
                <a:endParaRPr lang="en-GB" altLang="en-US" dirty="0">
                  <a:latin typeface="+mn-lt"/>
                </a:endParaRPr>
              </a:p>
            </p:txBody>
          </p:sp>
        </mc:Choice>
        <mc:Fallback>
          <p:sp>
            <p:nvSpPr>
              <p:cNvPr id="394243" name="Rectangle 3">
                <a:extLst>
                  <a:ext uri="{FF2B5EF4-FFF2-40B4-BE49-F238E27FC236}">
                    <a16:creationId xmlns:a16="http://schemas.microsoft.com/office/drawing/2014/main" id="{4A927996-A1C5-4FE8-9D73-7F35037D83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812" t="-1451" r="-5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431448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9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9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9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9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7" name="Rectangle 7">
            <a:extLst>
              <a:ext uri="{FF2B5EF4-FFF2-40B4-BE49-F238E27FC236}">
                <a16:creationId xmlns:a16="http://schemas.microsoft.com/office/drawing/2014/main" id="{85610281-CB26-4693-99A4-B6B5560F62BD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 dirty="0"/>
              <a:t>The multiplier and marginal propensities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4243" name="Rectangle 3">
                <a:extLst>
                  <a:ext uri="{FF2B5EF4-FFF2-40B4-BE49-F238E27FC236}">
                    <a16:creationId xmlns:a16="http://schemas.microsoft.com/office/drawing/2014/main" id="{4A927996-A1C5-4FE8-9D73-7F35037D83C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dirty="0">
                    <a:latin typeface="+mn-lt"/>
                  </a:rPr>
                  <a:t>Example: injections (J) increase by 200</a:t>
                </a:r>
              </a:p>
              <a:p>
                <a:pPr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dirty="0">
                    <a:latin typeface="+mn-lt"/>
                  </a:rPr>
                  <a:t>The multiplier implies that:</a:t>
                </a:r>
              </a:p>
              <a:p>
                <a:pPr lvl="1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dirty="0">
                    <a:latin typeface="+mn-lt"/>
                  </a:rPr>
                  <a:t>National income increases by 600, Consumption by 400, Withdrawals by 200</a:t>
                </a:r>
              </a:p>
              <a:p>
                <a:pPr marL="914400" lvl="2" indent="0" algn="ctr">
                  <a:lnSpc>
                    <a:spcPct val="95000"/>
                  </a:lnSpc>
                  <a:spcBef>
                    <a:spcPct val="45000"/>
                  </a:spcBef>
                  <a:buNone/>
                </a:pPr>
                <a:r>
                  <a:rPr lang="en-GB" altLang="en-US" sz="2400" b="1" i="1" dirty="0">
                    <a:latin typeface="+mn-lt"/>
                  </a:rPr>
                  <a:t>MPC</a:t>
                </a:r>
                <a:r>
                  <a:rPr lang="en-GB" altLang="en-US" sz="2400" b="1" dirty="0">
                    <a:latin typeface="+mn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2400" b="1" i="1" smtClean="0">
                            <a:latin typeface="+mn-lt"/>
                          </a:rPr>
                        </m:ctrlPr>
                      </m:fPr>
                      <m:num>
                        <m:r>
                          <a:rPr lang="en-GB" altLang="en-US" sz="2400" b="1" i="1" smtClean="0">
                            <a:latin typeface="+mn-lt"/>
                          </a:rPr>
                          <m:t>𝟒𝟎𝟎</m:t>
                        </m:r>
                      </m:num>
                      <m:den>
                        <m:r>
                          <a:rPr lang="en-GB" altLang="en-US" sz="2400" b="1" i="1" smtClean="0">
                            <a:latin typeface="+mn-lt"/>
                          </a:rPr>
                          <m:t>𝟔𝟎𝟎</m:t>
                        </m:r>
                      </m:den>
                    </m:f>
                    <m:r>
                      <a:rPr lang="en-GB" altLang="en-US" sz="2400" b="1" i="1" smtClean="0">
                        <a:latin typeface="+mn-lt"/>
                      </a:rPr>
                      <m:t>= </m:t>
                    </m:r>
                    <m:f>
                      <m:fPr>
                        <m:ctrlPr>
                          <a:rPr lang="en-GB" altLang="en-US" sz="2400" b="1" i="1" smtClean="0">
                            <a:latin typeface="+mn-lt"/>
                          </a:rPr>
                        </m:ctrlPr>
                      </m:fPr>
                      <m:num>
                        <m:r>
                          <a:rPr lang="en-GB" altLang="en-US" sz="2400" b="1" i="1" smtClean="0">
                            <a:latin typeface="+mn-lt"/>
                          </a:rPr>
                          <m:t>𝟐</m:t>
                        </m:r>
                      </m:num>
                      <m:den>
                        <m:r>
                          <a:rPr lang="en-GB" altLang="en-US" sz="2400" b="1" i="1" smtClean="0">
                            <a:latin typeface="+mn-lt"/>
                          </a:rPr>
                          <m:t>𝟑</m:t>
                        </m:r>
                      </m:den>
                    </m:f>
                  </m:oMath>
                </a14:m>
                <a:endParaRPr lang="en-GB" altLang="en-US" sz="2400" b="1" dirty="0">
                  <a:latin typeface="+mn-lt"/>
                </a:endParaRPr>
              </a:p>
              <a:p>
                <a:pPr lvl="1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dirty="0">
                    <a:latin typeface="+mn-lt"/>
                  </a:rPr>
                  <a:t>Marginal propensity to withdraw: </a:t>
                </a:r>
              </a:p>
              <a:p>
                <a:pPr marL="457200" lvl="1" indent="0" algn="ctr">
                  <a:lnSpc>
                    <a:spcPct val="95000"/>
                  </a:lnSpc>
                  <a:spcBef>
                    <a:spcPct val="45000"/>
                  </a:spcBef>
                  <a:buNone/>
                </a:pPr>
                <a:r>
                  <a:rPr lang="en-GB" altLang="en-US" sz="2400" b="1" i="1" dirty="0">
                    <a:latin typeface="+mn-lt"/>
                  </a:rPr>
                  <a:t>MPW</a:t>
                </a:r>
                <a:r>
                  <a:rPr lang="en-GB" altLang="en-US" sz="2400" b="1" dirty="0">
                    <a:latin typeface="+mn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2400" b="1" i="1" smtClean="0">
                            <a:latin typeface="+mn-lt"/>
                          </a:rPr>
                        </m:ctrlPr>
                      </m:fPr>
                      <m:num>
                        <m:r>
                          <a:rPr lang="en-GB" altLang="en-US" sz="2400" b="1" i="1" smtClean="0">
                            <a:latin typeface="+mn-lt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altLang="en-US" sz="2400" b="1" i="1" smtClean="0">
                            <a:latin typeface="+mn-lt"/>
                            <a:ea typeface="Cambria Math" panose="02040503050406030204" pitchFamily="18" charset="0"/>
                          </a:rPr>
                          <m:t>𝑾</m:t>
                        </m:r>
                      </m:num>
                      <m:den>
                        <m:r>
                          <a:rPr lang="en-GB" altLang="en-US" sz="2400" b="1" i="1" smtClean="0">
                            <a:latin typeface="+mn-lt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altLang="en-US" sz="2400" b="1" i="1" smtClean="0">
                            <a:latin typeface="+mn-lt"/>
                            <a:ea typeface="Cambria Math" panose="02040503050406030204" pitchFamily="18" charset="0"/>
                          </a:rPr>
                          <m:t>𝒀</m:t>
                        </m:r>
                      </m:den>
                    </m:f>
                    <m:r>
                      <a:rPr lang="en-GB" altLang="en-US" sz="2400" b="1" i="1" smtClean="0">
                        <a:latin typeface="+mn-lt"/>
                      </a:rPr>
                      <m:t>= </m:t>
                    </m:r>
                    <m:f>
                      <m:fPr>
                        <m:ctrlPr>
                          <a:rPr lang="en-GB" altLang="en-US" sz="2400" b="1" i="1">
                            <a:latin typeface="+mn-lt"/>
                          </a:rPr>
                        </m:ctrlPr>
                      </m:fPr>
                      <m:num>
                        <m:r>
                          <a:rPr lang="en-GB" altLang="en-US" sz="2400" b="1" i="1" smtClean="0">
                            <a:latin typeface="+mn-lt"/>
                          </a:rPr>
                          <m:t>𝟐</m:t>
                        </m:r>
                        <m:r>
                          <a:rPr lang="en-GB" altLang="en-US" sz="2400" b="1" i="1">
                            <a:latin typeface="+mn-lt"/>
                          </a:rPr>
                          <m:t>𝟎𝟎</m:t>
                        </m:r>
                      </m:num>
                      <m:den>
                        <m:r>
                          <a:rPr lang="en-GB" altLang="en-US" sz="2400" b="1" i="1">
                            <a:latin typeface="+mn-lt"/>
                          </a:rPr>
                          <m:t>𝟔𝟎𝟎</m:t>
                        </m:r>
                      </m:den>
                    </m:f>
                    <m:r>
                      <a:rPr lang="en-GB" altLang="en-US" sz="2400" b="1" i="1">
                        <a:latin typeface="+mn-lt"/>
                      </a:rPr>
                      <m:t>= </m:t>
                    </m:r>
                    <m:f>
                      <m:fPr>
                        <m:ctrlPr>
                          <a:rPr lang="en-GB" altLang="en-US" sz="2400" b="1" i="1">
                            <a:latin typeface="+mn-lt"/>
                          </a:rPr>
                        </m:ctrlPr>
                      </m:fPr>
                      <m:num>
                        <m:r>
                          <a:rPr lang="en-GB" altLang="en-US" sz="2400" b="1" i="1" smtClean="0">
                            <a:latin typeface="+mn-lt"/>
                          </a:rPr>
                          <m:t>𝟏</m:t>
                        </m:r>
                      </m:num>
                      <m:den>
                        <m:r>
                          <a:rPr lang="en-GB" altLang="en-US" sz="2400" b="1" i="1">
                            <a:latin typeface="+mn-lt"/>
                          </a:rPr>
                          <m:t>𝟑</m:t>
                        </m:r>
                      </m:den>
                    </m:f>
                  </m:oMath>
                </a14:m>
                <a:endParaRPr lang="en-GB" altLang="en-US" sz="2400" b="1" dirty="0">
                  <a:latin typeface="+mn-lt"/>
                </a:endParaRPr>
              </a:p>
              <a:p>
                <a:pPr lvl="1">
                  <a:lnSpc>
                    <a:spcPct val="95000"/>
                  </a:lnSpc>
                  <a:spcBef>
                    <a:spcPct val="45000"/>
                  </a:spcBef>
                </a:pPr>
                <a:r>
                  <a:rPr lang="en-GB" altLang="en-US" dirty="0">
                    <a:latin typeface="+mn-lt"/>
                  </a:rPr>
                  <a:t>The multiplier: 		</a:t>
                </a:r>
                <a:r>
                  <a:rPr lang="en-GB" altLang="en-US" b="1" i="1" dirty="0">
                    <a:latin typeface="+mn-lt"/>
                  </a:rPr>
                  <a:t>k </a:t>
                </a:r>
                <a:r>
                  <a:rPr lang="en-GB" altLang="en-US" b="1" dirty="0">
                    <a:latin typeface="+mn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b="1" i="1">
                            <a:latin typeface="+mn-lt"/>
                          </a:rPr>
                        </m:ctrlPr>
                      </m:fPr>
                      <m:num>
                        <m:r>
                          <a:rPr lang="en-GB" altLang="en-US" b="1" i="1" smtClean="0">
                            <a:latin typeface="+mn-lt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altLang="en-US" b="1" i="1" smtClean="0">
                            <a:latin typeface="+mn-lt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GB" altLang="en-US" b="1" i="1" smtClean="0">
                            <a:latin typeface="+mn-lt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a:rPr lang="en-GB" altLang="en-US" b="1" i="1" smtClean="0">
                            <a:latin typeface="+mn-lt"/>
                            <a:ea typeface="Cambria Math" panose="02040503050406030204" pitchFamily="18" charset="0"/>
                          </a:rPr>
                          <m:t>𝑴𝑷𝑪</m:t>
                        </m:r>
                      </m:den>
                    </m:f>
                    <m:r>
                      <a:rPr lang="en-GB" altLang="en-US" b="1" i="1">
                        <a:latin typeface="+mn-lt"/>
                      </a:rPr>
                      <m:t>=</m:t>
                    </m:r>
                    <m:f>
                      <m:fPr>
                        <m:ctrlPr>
                          <a:rPr lang="en-GB" altLang="en-US" b="1" i="1" smtClean="0">
                            <a:latin typeface="+mn-lt"/>
                          </a:rPr>
                        </m:ctrlPr>
                      </m:fPr>
                      <m:num>
                        <m:r>
                          <a:rPr lang="en-GB" altLang="en-US" b="1" i="1">
                            <a:latin typeface="+mn-lt"/>
                          </a:rPr>
                          <m:t>𝟏</m:t>
                        </m:r>
                      </m:num>
                      <m:den>
                        <m:r>
                          <a:rPr lang="en-GB" altLang="en-US" b="1" i="1" smtClean="0">
                            <a:latin typeface="+mn-lt"/>
                          </a:rPr>
                          <m:t>𝑴𝑷𝑾</m:t>
                        </m:r>
                      </m:den>
                    </m:f>
                    <m:r>
                      <a:rPr lang="en-GB" altLang="en-US" b="1" i="1">
                        <a:latin typeface="+mn-lt"/>
                      </a:rPr>
                      <m:t>=</m:t>
                    </m:r>
                    <m:sSup>
                      <m:sSupPr>
                        <m:ctrlPr>
                          <a:rPr lang="en-GB" altLang="en-US" b="1" i="1" smtClean="0">
                            <a:latin typeface="+mn-lt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altLang="en-US" b="1" i="1">
                                <a:latin typeface="+mn-lt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altLang="en-US" b="1" i="1">
                                    <a:latin typeface="+mn-lt"/>
                                  </a:rPr>
                                </m:ctrlPr>
                              </m:fPr>
                              <m:num>
                                <m:r>
                                  <a:rPr lang="en-GB" altLang="en-US" b="1" i="1">
                                    <a:latin typeface="+mn-lt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GB" altLang="en-US" b="1" i="1">
                                    <a:latin typeface="+mn-lt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altLang="en-US" b="1" i="1" smtClean="0">
                            <a:latin typeface="+mn-lt"/>
                          </a:rPr>
                          <m:t>−</m:t>
                        </m:r>
                        <m:r>
                          <a:rPr lang="en-GB" altLang="en-US" b="1" i="1" smtClean="0">
                            <a:latin typeface="+mn-lt"/>
                          </a:rPr>
                          <m:t>𝟏</m:t>
                        </m:r>
                      </m:sup>
                    </m:sSup>
                    <m:r>
                      <a:rPr lang="en-GB" altLang="en-US" b="1" i="1" smtClean="0">
                        <a:latin typeface="+mn-lt"/>
                      </a:rPr>
                      <m:t>=</m:t>
                    </m:r>
                    <m:r>
                      <a:rPr lang="en-GB" altLang="en-US" b="1" i="1" smtClean="0">
                        <a:latin typeface="+mn-lt"/>
                      </a:rPr>
                      <m:t>𝟑</m:t>
                    </m:r>
                  </m:oMath>
                </a14:m>
                <a:endParaRPr lang="en-GB" altLang="en-US" b="1" dirty="0">
                  <a:latin typeface="+mn-lt"/>
                </a:endParaRPr>
              </a:p>
              <a:p>
                <a:pPr lvl="2">
                  <a:lnSpc>
                    <a:spcPct val="95000"/>
                  </a:lnSpc>
                  <a:spcBef>
                    <a:spcPct val="45000"/>
                  </a:spcBef>
                </a:pPr>
                <a:endParaRPr lang="en-GB" altLang="en-US" baseline="-25000" dirty="0">
                  <a:latin typeface="+mn-lt"/>
                </a:endParaRPr>
              </a:p>
            </p:txBody>
          </p:sp>
        </mc:Choice>
        <mc:Fallback>
          <p:sp>
            <p:nvSpPr>
              <p:cNvPr id="394243" name="Rectangle 3">
                <a:extLst>
                  <a:ext uri="{FF2B5EF4-FFF2-40B4-BE49-F238E27FC236}">
                    <a16:creationId xmlns:a16="http://schemas.microsoft.com/office/drawing/2014/main" id="{4A927996-A1C5-4FE8-9D73-7F35037D83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812" t="-145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660846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9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9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9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9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build="p" bldLvl="2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2" name="Rectangle 4">
            <a:extLst>
              <a:ext uri="{FF2B5EF4-FFF2-40B4-BE49-F238E27FC236}">
                <a16:creationId xmlns:a16="http://schemas.microsoft.com/office/drawing/2014/main" id="{2CC49CFD-9F3F-462E-B0D4-06E27B67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The policy problem – full employment</a:t>
            </a:r>
          </a:p>
        </p:txBody>
      </p:sp>
      <p:sp>
        <p:nvSpPr>
          <p:cNvPr id="467973" name="Rectangle 5">
            <a:extLst>
              <a:ext uri="{FF2B5EF4-FFF2-40B4-BE49-F238E27FC236}">
                <a16:creationId xmlns:a16="http://schemas.microsoft.com/office/drawing/2014/main" id="{7130C98B-E264-492B-A99D-6B9059EE71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3352" y="1469146"/>
            <a:ext cx="11665296" cy="4752528"/>
          </a:xfrm>
        </p:spPr>
        <p:txBody>
          <a:bodyPr/>
          <a:lstStyle/>
          <a:p>
            <a:pPr lvl="1">
              <a:spcBef>
                <a:spcPts val="1500"/>
              </a:spcBef>
            </a:pPr>
            <a:r>
              <a:rPr lang="en-GB" sz="2400" dirty="0">
                <a:latin typeface="+mn-lt"/>
              </a:rPr>
              <a:t>Define ‘full-employment’ (</a:t>
            </a:r>
            <a:r>
              <a:rPr lang="en-GB" sz="2400" i="1" dirty="0">
                <a:latin typeface="+mn-lt"/>
              </a:rPr>
              <a:t>Y</a:t>
            </a:r>
            <a:r>
              <a:rPr lang="en-GB" sz="2400" baseline="-25000" dirty="0">
                <a:latin typeface="+mn-lt"/>
              </a:rPr>
              <a:t>F</a:t>
            </a:r>
            <a:r>
              <a:rPr lang="en-GB" sz="2400" dirty="0">
                <a:latin typeface="+mn-lt"/>
              </a:rPr>
              <a:t>) as level of national income without demand-deficient unemployment</a:t>
            </a:r>
          </a:p>
          <a:p>
            <a:pPr lvl="1">
              <a:spcBef>
                <a:spcPts val="1500"/>
              </a:spcBef>
            </a:pPr>
            <a:r>
              <a:rPr lang="en-GB" sz="2400" dirty="0">
                <a:latin typeface="+mn-lt"/>
              </a:rPr>
              <a:t>What to do if equilibrium national income </a:t>
            </a:r>
            <a:r>
              <a:rPr lang="en-GB" sz="2400" i="1" dirty="0">
                <a:latin typeface="+mn-lt"/>
              </a:rPr>
              <a:t>Y* &lt; Y</a:t>
            </a:r>
            <a:r>
              <a:rPr lang="en-GB" sz="2400" i="1" baseline="-25000" dirty="0">
                <a:latin typeface="+mn-lt"/>
              </a:rPr>
              <a:t>F</a:t>
            </a:r>
            <a:endParaRPr lang="en-GB" sz="2400" dirty="0">
              <a:latin typeface="+mn-lt"/>
            </a:endParaRPr>
          </a:p>
          <a:p>
            <a:pPr lvl="2">
              <a:spcBef>
                <a:spcPts val="1500"/>
              </a:spcBef>
            </a:pPr>
            <a:r>
              <a:rPr lang="en-GB" sz="2400" dirty="0">
                <a:latin typeface="+mn-lt"/>
              </a:rPr>
              <a:t>Then </a:t>
            </a:r>
            <a:r>
              <a:rPr lang="en-GB" sz="2400" b="1" dirty="0">
                <a:latin typeface="+mn-lt"/>
              </a:rPr>
              <a:t>recessionary (deflationary) gap </a:t>
            </a:r>
            <a:r>
              <a:rPr lang="en-GB" sz="2400" dirty="0">
                <a:latin typeface="+mn-lt"/>
              </a:rPr>
              <a:t>exists</a:t>
            </a:r>
          </a:p>
          <a:p>
            <a:pPr lvl="2">
              <a:spcBef>
                <a:spcPts val="1500"/>
              </a:spcBef>
            </a:pPr>
            <a:r>
              <a:rPr lang="en-GB" sz="2400" dirty="0">
                <a:latin typeface="+mn-lt"/>
              </a:rPr>
              <a:t>Can address this by </a:t>
            </a:r>
            <a:r>
              <a:rPr lang="en-GB" sz="2400" b="1" dirty="0">
                <a:latin typeface="+mn-lt"/>
              </a:rPr>
              <a:t>increasing expenditure </a:t>
            </a:r>
            <a:r>
              <a:rPr lang="en-GB" sz="2400" dirty="0">
                <a:latin typeface="+mn-lt"/>
              </a:rPr>
              <a:t>– by managing injections</a:t>
            </a:r>
          </a:p>
          <a:p>
            <a:pPr lvl="3">
              <a:spcBef>
                <a:spcPts val="1500"/>
              </a:spcBef>
            </a:pPr>
            <a:r>
              <a:rPr lang="en-GB" sz="2400" dirty="0">
                <a:latin typeface="+mn-lt"/>
              </a:rPr>
              <a:t>Government could increase own expenditure on goods and services (G)</a:t>
            </a:r>
          </a:p>
          <a:p>
            <a:pPr lvl="3">
              <a:spcBef>
                <a:spcPts val="1500"/>
              </a:spcBef>
            </a:pPr>
            <a:r>
              <a:rPr lang="en-GB" sz="2400" dirty="0">
                <a:latin typeface="+mn-lt"/>
              </a:rPr>
              <a:t>Or reduce interest rates to increase investment (I)</a:t>
            </a:r>
          </a:p>
          <a:p>
            <a:pPr lvl="3">
              <a:spcBef>
                <a:spcPts val="1500"/>
              </a:spcBef>
            </a:pPr>
            <a:r>
              <a:rPr lang="en-GB" sz="2400" dirty="0">
                <a:latin typeface="+mn-lt"/>
              </a:rPr>
              <a:t>Will examine such fiscal and monetary policy interventions later.</a:t>
            </a:r>
          </a:p>
          <a:p>
            <a:pPr lvl="2">
              <a:spcBef>
                <a:spcPts val="1500"/>
              </a:spcBef>
            </a:pPr>
            <a:endParaRPr lang="en-GB" dirty="0">
              <a:latin typeface="+mn-lt"/>
            </a:endParaRPr>
          </a:p>
          <a:p>
            <a:pPr lvl="1">
              <a:spcBef>
                <a:spcPts val="1500"/>
              </a:spcBef>
            </a:pPr>
            <a:endParaRPr lang="en-GB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29240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67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67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67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67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67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67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67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67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67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67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679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679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679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679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3" grpId="0" build="p" bldLvl="2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Line 3">
            <a:extLst>
              <a:ext uri="{FF2B5EF4-FFF2-40B4-BE49-F238E27FC236}">
                <a16:creationId xmlns:a16="http://schemas.microsoft.com/office/drawing/2014/main" id="{746D88E0-5C53-45C9-BE05-5337F26B4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0775" y="809625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0" name="Line 4">
            <a:extLst>
              <a:ext uri="{FF2B5EF4-FFF2-40B4-BE49-F238E27FC236}">
                <a16:creationId xmlns:a16="http://schemas.microsoft.com/office/drawing/2014/main" id="{496256BF-F6B9-4A70-A431-BAB3D3BBCF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0775" y="6143625"/>
            <a:ext cx="701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7961952F-5E78-494C-BACE-114F00F4F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101" y="6097588"/>
            <a:ext cx="384721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45063" name="Line 7">
            <a:extLst>
              <a:ext uri="{FF2B5EF4-FFF2-40B4-BE49-F238E27FC236}">
                <a16:creationId xmlns:a16="http://schemas.microsoft.com/office/drawing/2014/main" id="{011B8ACE-2577-452B-A9E6-2BB20F449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4913" y="3776664"/>
            <a:ext cx="0" cy="2363787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4" name="Rectangle 8">
            <a:extLst>
              <a:ext uri="{FF2B5EF4-FFF2-40B4-BE49-F238E27FC236}">
                <a16:creationId xmlns:a16="http://schemas.microsoft.com/office/drawing/2014/main" id="{910E532A-A079-4AC0-94C1-84A86295F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910" y="6213475"/>
            <a:ext cx="471283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000" i="1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  <a:r>
              <a:rPr lang="en-GB" altLang="en-US" baseline="-25000">
                <a:solidFill>
                  <a:schemeClr val="tx2"/>
                </a:solidFill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45065" name="Line 9">
            <a:extLst>
              <a:ext uri="{FF2B5EF4-FFF2-40B4-BE49-F238E27FC236}">
                <a16:creationId xmlns:a16="http://schemas.microsoft.com/office/drawing/2014/main" id="{620CA6F5-7637-4F14-8C85-1FBF1B1DA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1825629"/>
            <a:ext cx="0" cy="4305300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6" name="Rectangle 10">
            <a:extLst>
              <a:ext uri="{FF2B5EF4-FFF2-40B4-BE49-F238E27FC236}">
                <a16:creationId xmlns:a16="http://schemas.microsoft.com/office/drawing/2014/main" id="{1C46F273-FD88-4987-88BF-7F178F350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6" y="6213475"/>
            <a:ext cx="461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000" i="1">
                <a:solidFill>
                  <a:srgbClr val="002060"/>
                </a:solidFill>
                <a:latin typeface="Arial" panose="020B0604020202020204" pitchFamily="34" charset="0"/>
              </a:rPr>
              <a:t>Y</a:t>
            </a:r>
            <a:r>
              <a:rPr lang="en-GB" altLang="en-US" sz="2000" baseline="-25000">
                <a:solidFill>
                  <a:srgbClr val="002060"/>
                </a:solidFill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45067" name="Line 11">
            <a:extLst>
              <a:ext uri="{FF2B5EF4-FFF2-40B4-BE49-F238E27FC236}">
                <a16:creationId xmlns:a16="http://schemas.microsoft.com/office/drawing/2014/main" id="{2DDC7713-B0B4-43FF-971C-4F4E1E6A77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7126" y="1303338"/>
            <a:ext cx="5438775" cy="4800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8" name="Line 12">
            <a:extLst>
              <a:ext uri="{FF2B5EF4-FFF2-40B4-BE49-F238E27FC236}">
                <a16:creationId xmlns:a16="http://schemas.microsoft.com/office/drawing/2014/main" id="{D90E09C1-B18F-419C-A935-314B420DF7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4588" y="1965326"/>
            <a:ext cx="5732462" cy="334962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9" name="Rectangle 13">
            <a:extLst>
              <a:ext uri="{FF2B5EF4-FFF2-40B4-BE49-F238E27FC236}">
                <a16:creationId xmlns:a16="http://schemas.microsoft.com/office/drawing/2014/main" id="{AA842756-2191-4C6A-BB75-C995AEEAC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023" y="1065214"/>
            <a:ext cx="39113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i="1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45070" name="Rectangle 14">
            <a:extLst>
              <a:ext uri="{FF2B5EF4-FFF2-40B4-BE49-F238E27FC236}">
                <a16:creationId xmlns:a16="http://schemas.microsoft.com/office/drawing/2014/main" id="{C55B1951-9BA0-4554-A39A-297996B1E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7051" y="1798639"/>
            <a:ext cx="39113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i="1">
                <a:solidFill>
                  <a:schemeClr val="tx2"/>
                </a:solidFill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45071" name="Oval 15">
            <a:extLst>
              <a:ext uri="{FF2B5EF4-FFF2-40B4-BE49-F238E27FC236}">
                <a16:creationId xmlns:a16="http://schemas.microsoft.com/office/drawing/2014/main" id="{3F1D1F08-8FAD-41D9-921D-6E5313CA0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0" y="3746500"/>
            <a:ext cx="103188" cy="103188"/>
          </a:xfrm>
          <a:prstGeom prst="ellipse">
            <a:avLst/>
          </a:prstGeom>
          <a:solidFill>
            <a:srgbClr val="99CCFF"/>
          </a:solidFill>
          <a:ln w="254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GB" altLang="en-US" noProof="1"/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E33BDDF7-8437-4B50-BB91-B8B04D1CCEDC}"/>
              </a:ext>
            </a:extLst>
          </p:cNvPr>
          <p:cNvGrpSpPr>
            <a:grpSpLocks/>
          </p:cNvGrpSpPr>
          <p:nvPr/>
        </p:nvGrpSpPr>
        <p:grpSpPr bwMode="auto">
          <a:xfrm>
            <a:off x="6210301" y="2227261"/>
            <a:ext cx="331787" cy="495299"/>
            <a:chOff x="2952" y="1403"/>
            <a:chExt cx="209" cy="312"/>
          </a:xfrm>
        </p:grpSpPr>
        <p:sp>
          <p:nvSpPr>
            <p:cNvPr id="45073" name="Rectangle 17">
              <a:extLst>
                <a:ext uri="{FF2B5EF4-FFF2-40B4-BE49-F238E27FC236}">
                  <a16:creationId xmlns:a16="http://schemas.microsoft.com/office/drawing/2014/main" id="{04CDC37C-D8C6-4B63-89F8-CEAFB8D3F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4" y="1403"/>
              <a:ext cx="2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 i="1" dirty="0">
                  <a:solidFill>
                    <a:schemeClr val="hlink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45074" name="Oval 18">
              <a:extLst>
                <a:ext uri="{FF2B5EF4-FFF2-40B4-BE49-F238E27FC236}">
                  <a16:creationId xmlns:a16="http://schemas.microsoft.com/office/drawing/2014/main" id="{D83F20A2-C027-4C8F-A460-490570147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1650"/>
              <a:ext cx="65" cy="65"/>
            </a:xfrm>
            <a:prstGeom prst="ellipse">
              <a:avLst/>
            </a:prstGeom>
            <a:solidFill>
              <a:srgbClr val="CC99FF"/>
            </a:solidFill>
            <a:ln w="254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 altLang="en-US" noProof="1"/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FA47C151-36E7-45AF-803B-2B4C41FD84C7}"/>
              </a:ext>
            </a:extLst>
          </p:cNvPr>
          <p:cNvGrpSpPr>
            <a:grpSpLocks/>
          </p:cNvGrpSpPr>
          <p:nvPr/>
        </p:nvGrpSpPr>
        <p:grpSpPr bwMode="auto">
          <a:xfrm>
            <a:off x="6210307" y="2995613"/>
            <a:ext cx="350838" cy="400050"/>
            <a:chOff x="2952" y="1887"/>
            <a:chExt cx="221" cy="252"/>
          </a:xfrm>
        </p:grpSpPr>
        <p:sp>
          <p:nvSpPr>
            <p:cNvPr id="45076" name="Rectangle 20">
              <a:extLst>
                <a:ext uri="{FF2B5EF4-FFF2-40B4-BE49-F238E27FC236}">
                  <a16:creationId xmlns:a16="http://schemas.microsoft.com/office/drawing/2014/main" id="{9B60C4AF-CB15-4B78-88BF-2E50F9806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1887"/>
              <a:ext cx="2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 i="1">
                  <a:solidFill>
                    <a:schemeClr val="hlink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5077" name="Oval 21">
              <a:extLst>
                <a:ext uri="{FF2B5EF4-FFF2-40B4-BE49-F238E27FC236}">
                  <a16:creationId xmlns:a16="http://schemas.microsoft.com/office/drawing/2014/main" id="{04C63495-B3DB-4755-8AAA-773444080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1899"/>
              <a:ext cx="65" cy="65"/>
            </a:xfrm>
            <a:prstGeom prst="ellipse">
              <a:avLst/>
            </a:prstGeom>
            <a:solidFill>
              <a:srgbClr val="CC99FF"/>
            </a:solidFill>
            <a:ln w="254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 altLang="en-US" noProof="1"/>
            </a:p>
          </p:txBody>
        </p:sp>
      </p:grpSp>
      <p:sp>
        <p:nvSpPr>
          <p:cNvPr id="28694" name="Line 22">
            <a:extLst>
              <a:ext uri="{FF2B5EF4-FFF2-40B4-BE49-F238E27FC236}">
                <a16:creationId xmlns:a16="http://schemas.microsoft.com/office/drawing/2014/main" id="{0C37A2CF-7E78-4D6D-896C-ABDADB6A14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2708275"/>
            <a:ext cx="0" cy="3238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00606DFD-EE7C-4E49-AF60-A35ED4C013E5}"/>
              </a:ext>
            </a:extLst>
          </p:cNvPr>
          <p:cNvGrpSpPr>
            <a:grpSpLocks/>
          </p:cNvGrpSpPr>
          <p:nvPr/>
        </p:nvGrpSpPr>
        <p:grpSpPr bwMode="auto">
          <a:xfrm>
            <a:off x="6315077" y="2860677"/>
            <a:ext cx="3024188" cy="655638"/>
            <a:chOff x="3018" y="1802"/>
            <a:chExt cx="1905" cy="413"/>
          </a:xfrm>
        </p:grpSpPr>
        <p:sp>
          <p:nvSpPr>
            <p:cNvPr id="45080" name="Line 24">
              <a:extLst>
                <a:ext uri="{FF2B5EF4-FFF2-40B4-BE49-F238E27FC236}">
                  <a16:creationId xmlns:a16="http://schemas.microsoft.com/office/drawing/2014/main" id="{0E57C97D-BFBA-4D2B-8B7F-CE5D74224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8" y="1802"/>
              <a:ext cx="1060" cy="189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081" name="Rectangle 25">
              <a:extLst>
                <a:ext uri="{FF2B5EF4-FFF2-40B4-BE49-F238E27FC236}">
                  <a16:creationId xmlns:a16="http://schemas.microsoft.com/office/drawing/2014/main" id="{45C5542A-B0D4-4F42-A7EB-382A73820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" y="1963"/>
              <a:ext cx="141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sz="2000" dirty="0">
                  <a:solidFill>
                    <a:schemeClr val="hlink"/>
                  </a:solidFill>
                  <a:latin typeface="Arial" panose="020B0604020202020204" pitchFamily="34" charset="0"/>
                </a:rPr>
                <a:t>Recessionary gap</a:t>
              </a:r>
            </a:p>
          </p:txBody>
        </p:sp>
      </p:grpSp>
      <p:sp>
        <p:nvSpPr>
          <p:cNvPr id="28701" name="AutoShape 29">
            <a:extLst>
              <a:ext uri="{FF2B5EF4-FFF2-40B4-BE49-F238E27FC236}">
                <a16:creationId xmlns:a16="http://schemas.microsoft.com/office/drawing/2014/main" id="{44390294-4F59-47B2-8354-DAD54C9B4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2" y="3907574"/>
            <a:ext cx="4864378" cy="1447064"/>
          </a:xfrm>
          <a:prstGeom prst="roundRect">
            <a:avLst>
              <a:gd name="adj" fmla="val 16667"/>
            </a:avLst>
          </a:prstGeom>
          <a:solidFill>
            <a:srgbClr val="FFFFD7"/>
          </a:solidFill>
          <a:ln w="2222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square" lIns="90000" tIns="46800" rIns="90000" bIns="46800" anchor="ctr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Aft>
                <a:spcPct val="15000"/>
              </a:spcAft>
            </a:pPr>
            <a:r>
              <a:rPr lang="en-GB" altLang="en-US" sz="1900" b="1">
                <a:solidFill>
                  <a:srgbClr val="002060"/>
                </a:solidFill>
                <a:latin typeface="Arial" panose="020B0604020202020204" pitchFamily="34" charset="0"/>
              </a:rPr>
              <a:t>Recessionary gap</a:t>
            </a:r>
          </a:p>
          <a:p>
            <a:pPr algn="ctr"/>
            <a:r>
              <a:rPr lang="en-GB" altLang="en-US" sz="1900">
                <a:solidFill>
                  <a:srgbClr val="002060"/>
                </a:solidFill>
                <a:latin typeface="Arial" panose="020B0604020202020204" pitchFamily="34" charset="0"/>
              </a:rPr>
              <a:t>The amount by which national income exceeds aggregate expenditure at the full-employment level of national income</a:t>
            </a: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7F3C1349-98D7-436B-BA3D-59F7479E5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25686"/>
            <a:ext cx="12192000" cy="636872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800" kern="1200">
                <a:solidFill>
                  <a:srgbClr val="577C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577C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577C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577C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577C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88A44D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88A44D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88A44D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88A44D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GB" sz="2800" b="1" kern="0">
                <a:solidFill>
                  <a:srgbClr val="660066"/>
                </a:solidFill>
                <a:effectLst/>
              </a:rPr>
              <a:t>The recessionary gap</a:t>
            </a:r>
            <a:endParaRPr lang="en-GB" sz="2800" b="1" kern="0" dirty="0">
              <a:solidFill>
                <a:srgbClr val="660066"/>
              </a:solidFill>
              <a:effectLst/>
            </a:endParaRP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01D501C1-C85D-46B7-9059-6483B0439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5449" y="6213475"/>
            <a:ext cx="2665794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200" dirty="0">
                <a:latin typeface="Arial" panose="020B0604020202020204" pitchFamily="34" charset="0"/>
              </a:rPr>
              <a:t>National income (</a:t>
            </a:r>
            <a:r>
              <a:rPr lang="en-GB" altLang="en-US" sz="2200" i="1" dirty="0">
                <a:latin typeface="Arial" panose="020B0604020202020204" pitchFamily="34" charset="0"/>
              </a:rPr>
              <a:t>Y</a:t>
            </a:r>
            <a:r>
              <a:rPr lang="en-GB" altLang="en-US" sz="2200" dirty="0">
                <a:latin typeface="Arial" panose="020B0604020202020204" pitchFamily="34" charset="0"/>
              </a:rPr>
              <a:t>)</a:t>
            </a:r>
            <a:endParaRPr lang="en-GB" altLang="en-US" sz="2200" i="1" dirty="0">
              <a:latin typeface="Arial" panose="020B0604020202020204" pitchFamily="34" charset="0"/>
            </a:endParaRP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29F30454-F1EF-473E-BDE6-47F63F624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859" y="715480"/>
            <a:ext cx="2117566" cy="770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200" dirty="0">
                <a:latin typeface="Arial" panose="020B0604020202020204" pitchFamily="34" charset="0"/>
              </a:rPr>
              <a:t>Aggregate</a:t>
            </a:r>
          </a:p>
          <a:p>
            <a:pPr algn="ctr"/>
            <a:r>
              <a:rPr lang="en-GB" altLang="en-US" sz="2200" dirty="0">
                <a:latin typeface="Arial" panose="020B0604020202020204" pitchFamily="34" charset="0"/>
              </a:rPr>
              <a:t>expenditure (</a:t>
            </a:r>
            <a:r>
              <a:rPr lang="en-GB" altLang="en-US" sz="2200" i="1" dirty="0">
                <a:latin typeface="Arial" panose="020B0604020202020204" pitchFamily="34" charset="0"/>
              </a:rPr>
              <a:t>E</a:t>
            </a:r>
            <a:r>
              <a:rPr lang="en-GB" altLang="en-US" sz="22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BA2C9-7937-33BC-DD3E-D6DB01C4BE8C}"/>
              </a:ext>
            </a:extLst>
          </p:cNvPr>
          <p:cNvSpPr txBox="1"/>
          <p:nvPr/>
        </p:nvSpPr>
        <p:spPr>
          <a:xfrm>
            <a:off x="2980701" y="1610612"/>
            <a:ext cx="2123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(a-b) is smaller than (Y</a:t>
            </a:r>
            <a:r>
              <a:rPr lang="en-US" baseline="-25000" dirty="0"/>
              <a:t>F</a:t>
            </a:r>
            <a:r>
              <a:rPr lang="en-US" dirty="0"/>
              <a:t>-Y</a:t>
            </a:r>
            <a:r>
              <a:rPr lang="en-US" baseline="-25000" dirty="0"/>
              <a:t>e</a:t>
            </a:r>
            <a:r>
              <a:rPr lang="en-US" dirty="0"/>
              <a:t>): multiplier effect</a:t>
            </a:r>
          </a:p>
        </p:txBody>
      </p:sp>
    </p:spTree>
    <p:extLst>
      <p:ext uri="{BB962C8B-B14F-4D97-AF65-F5344CB8AC3E}">
        <p14:creationId xmlns:p14="http://schemas.microsoft.com/office/powerpoint/2010/main" val="116592470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01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8E5C9AC-B0C5-2192-826A-45AFFBB39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2" name="Rectangle 4">
            <a:extLst>
              <a:ext uri="{FF2B5EF4-FFF2-40B4-BE49-F238E27FC236}">
                <a16:creationId xmlns:a16="http://schemas.microsoft.com/office/drawing/2014/main" id="{E626C161-C0BA-1AAF-5E98-BBC5F22E3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The policy problem – full employment</a:t>
            </a:r>
          </a:p>
        </p:txBody>
      </p:sp>
      <p:sp>
        <p:nvSpPr>
          <p:cNvPr id="467973" name="Rectangle 5">
            <a:extLst>
              <a:ext uri="{FF2B5EF4-FFF2-40B4-BE49-F238E27FC236}">
                <a16:creationId xmlns:a16="http://schemas.microsoft.com/office/drawing/2014/main" id="{A8542083-52E6-0CD5-317E-19CD0B2CD4C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3352" y="1469146"/>
            <a:ext cx="11665296" cy="4752528"/>
          </a:xfrm>
        </p:spPr>
        <p:txBody>
          <a:bodyPr/>
          <a:lstStyle/>
          <a:p>
            <a:pPr lvl="1">
              <a:spcBef>
                <a:spcPts val="1500"/>
              </a:spcBef>
            </a:pPr>
            <a:r>
              <a:rPr lang="en-GB" sz="2400" dirty="0">
                <a:latin typeface="+mn-lt"/>
              </a:rPr>
              <a:t>What to do if equilibrium national income </a:t>
            </a:r>
            <a:r>
              <a:rPr lang="en-GB" sz="2400" i="1" dirty="0">
                <a:latin typeface="+mn-lt"/>
              </a:rPr>
              <a:t>Y* &gt;Y</a:t>
            </a:r>
            <a:r>
              <a:rPr lang="en-GB" sz="2400" i="1" baseline="-25000" dirty="0">
                <a:latin typeface="+mn-lt"/>
              </a:rPr>
              <a:t>F</a:t>
            </a:r>
            <a:endParaRPr lang="en-GB" sz="2400" dirty="0">
              <a:latin typeface="+mn-lt"/>
            </a:endParaRPr>
          </a:p>
          <a:p>
            <a:pPr lvl="2">
              <a:spcBef>
                <a:spcPts val="1500"/>
              </a:spcBef>
            </a:pPr>
            <a:r>
              <a:rPr lang="en-GB" sz="2400" dirty="0">
                <a:latin typeface="+mn-lt"/>
              </a:rPr>
              <a:t>Then </a:t>
            </a:r>
            <a:r>
              <a:rPr lang="en-GB" sz="2400" b="1" dirty="0">
                <a:latin typeface="+mn-lt"/>
              </a:rPr>
              <a:t>inflationary gap </a:t>
            </a:r>
            <a:r>
              <a:rPr lang="en-GB" sz="2400" dirty="0">
                <a:latin typeface="+mn-lt"/>
              </a:rPr>
              <a:t>exists</a:t>
            </a:r>
          </a:p>
          <a:p>
            <a:pPr lvl="2">
              <a:spcBef>
                <a:spcPts val="1500"/>
              </a:spcBef>
            </a:pPr>
            <a:r>
              <a:rPr lang="en-GB" sz="2400" dirty="0">
                <a:latin typeface="+mn-lt"/>
              </a:rPr>
              <a:t>Can address this by </a:t>
            </a:r>
            <a:r>
              <a:rPr lang="en-GB" sz="2400" b="1" dirty="0">
                <a:latin typeface="+mn-lt"/>
              </a:rPr>
              <a:t>reducing expenditure </a:t>
            </a:r>
            <a:r>
              <a:rPr lang="en-GB" sz="2400" dirty="0">
                <a:latin typeface="+mn-lt"/>
              </a:rPr>
              <a:t>– by managing injections</a:t>
            </a:r>
          </a:p>
          <a:p>
            <a:pPr lvl="3">
              <a:spcBef>
                <a:spcPts val="1500"/>
              </a:spcBef>
            </a:pPr>
            <a:r>
              <a:rPr lang="en-GB" sz="2400" dirty="0">
                <a:latin typeface="+mn-lt"/>
              </a:rPr>
              <a:t>Government could reduce own expenditure on goods and services (G)</a:t>
            </a:r>
          </a:p>
          <a:p>
            <a:pPr lvl="3">
              <a:spcBef>
                <a:spcPts val="1500"/>
              </a:spcBef>
            </a:pPr>
            <a:r>
              <a:rPr lang="en-GB" sz="2400" dirty="0">
                <a:latin typeface="+mn-lt"/>
              </a:rPr>
              <a:t>Or increase interest rates to reduce investment (I)</a:t>
            </a:r>
          </a:p>
          <a:p>
            <a:pPr lvl="3">
              <a:spcBef>
                <a:spcPts val="1500"/>
              </a:spcBef>
            </a:pPr>
            <a:r>
              <a:rPr lang="en-GB" sz="2400" dirty="0">
                <a:latin typeface="+mn-lt"/>
              </a:rPr>
              <a:t>Will examine such fiscal and monetary policy interventions later.</a:t>
            </a:r>
          </a:p>
          <a:p>
            <a:pPr lvl="2">
              <a:spcBef>
                <a:spcPts val="1500"/>
              </a:spcBef>
            </a:pPr>
            <a:endParaRPr lang="en-GB" dirty="0">
              <a:latin typeface="+mn-lt"/>
            </a:endParaRPr>
          </a:p>
          <a:p>
            <a:pPr lvl="1">
              <a:spcBef>
                <a:spcPts val="150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778815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67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67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67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7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67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67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67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67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67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67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679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679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3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CC9AB-8AD8-BAE2-2A4E-5DFC06CE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Line 3">
            <a:extLst>
              <a:ext uri="{FF2B5EF4-FFF2-40B4-BE49-F238E27FC236}">
                <a16:creationId xmlns:a16="http://schemas.microsoft.com/office/drawing/2014/main" id="{0825BA3F-1D97-DD09-AE26-95D044576C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0775" y="809625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0" name="Line 4">
            <a:extLst>
              <a:ext uri="{FF2B5EF4-FFF2-40B4-BE49-F238E27FC236}">
                <a16:creationId xmlns:a16="http://schemas.microsoft.com/office/drawing/2014/main" id="{C5EF24B4-D0B7-D8BF-A4D4-5AB6E41E0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0775" y="6143625"/>
            <a:ext cx="701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16A65963-C994-7101-7A66-FC81BD795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101" y="6097588"/>
            <a:ext cx="384721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45063" name="Line 7">
            <a:extLst>
              <a:ext uri="{FF2B5EF4-FFF2-40B4-BE49-F238E27FC236}">
                <a16:creationId xmlns:a16="http://schemas.microsoft.com/office/drawing/2014/main" id="{3ADBE035-C52A-F0C9-3B67-E494FFEE97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1410" y="3735436"/>
            <a:ext cx="0" cy="2363787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4" name="Rectangle 8">
            <a:extLst>
              <a:ext uri="{FF2B5EF4-FFF2-40B4-BE49-F238E27FC236}">
                <a16:creationId xmlns:a16="http://schemas.microsoft.com/office/drawing/2014/main" id="{CFEC0BB5-64E9-D809-2113-F1DB14EB7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1691" y="6288388"/>
            <a:ext cx="471283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000" i="1" dirty="0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  <a:r>
              <a:rPr lang="en-GB" altLang="en-US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45065" name="Line 9">
            <a:extLst>
              <a:ext uri="{FF2B5EF4-FFF2-40B4-BE49-F238E27FC236}">
                <a16:creationId xmlns:a16="http://schemas.microsoft.com/office/drawing/2014/main" id="{C9928CAF-FB45-D6FA-433A-29932E892E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0286" y="1908175"/>
            <a:ext cx="0" cy="4305300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6" name="Rectangle 10">
            <a:extLst>
              <a:ext uri="{FF2B5EF4-FFF2-40B4-BE49-F238E27FC236}">
                <a16:creationId xmlns:a16="http://schemas.microsoft.com/office/drawing/2014/main" id="{81FC07FF-C8B8-3DD6-6B32-6260E6888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975" y="6297964"/>
            <a:ext cx="461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000" i="1" dirty="0">
                <a:solidFill>
                  <a:srgbClr val="002060"/>
                </a:solidFill>
                <a:latin typeface="Arial" panose="020B0604020202020204" pitchFamily="34" charset="0"/>
              </a:rPr>
              <a:t>Y</a:t>
            </a:r>
            <a:r>
              <a:rPr lang="en-GB" altLang="en-US" sz="2000" baseline="-25000" dirty="0">
                <a:solidFill>
                  <a:srgbClr val="002060"/>
                </a:solidFill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45067" name="Line 11">
            <a:extLst>
              <a:ext uri="{FF2B5EF4-FFF2-40B4-BE49-F238E27FC236}">
                <a16:creationId xmlns:a16="http://schemas.microsoft.com/office/drawing/2014/main" id="{305A0D05-E4A4-7591-C24D-6302B24864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3814" y="1276364"/>
            <a:ext cx="5438775" cy="4800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8" name="Line 12">
            <a:extLst>
              <a:ext uri="{FF2B5EF4-FFF2-40B4-BE49-F238E27FC236}">
                <a16:creationId xmlns:a16="http://schemas.microsoft.com/office/drawing/2014/main" id="{51F09467-55C3-20F0-BFB7-E03B259FF9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4561" y="2174875"/>
            <a:ext cx="5732462" cy="334962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9" name="Rectangle 13">
            <a:extLst>
              <a:ext uri="{FF2B5EF4-FFF2-40B4-BE49-F238E27FC236}">
                <a16:creationId xmlns:a16="http://schemas.microsoft.com/office/drawing/2014/main" id="{DAAA4FA6-D29F-1731-022F-8E5365310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023" y="1065214"/>
            <a:ext cx="39113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i="1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45070" name="Rectangle 14">
            <a:extLst>
              <a:ext uri="{FF2B5EF4-FFF2-40B4-BE49-F238E27FC236}">
                <a16:creationId xmlns:a16="http://schemas.microsoft.com/office/drawing/2014/main" id="{584FD015-923F-FB20-B616-AA852013E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7051" y="1798639"/>
            <a:ext cx="39113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i="1">
                <a:solidFill>
                  <a:schemeClr val="tx2"/>
                </a:solidFill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45071" name="Oval 15">
            <a:extLst>
              <a:ext uri="{FF2B5EF4-FFF2-40B4-BE49-F238E27FC236}">
                <a16:creationId xmlns:a16="http://schemas.microsoft.com/office/drawing/2014/main" id="{8405EEA8-665E-A199-B701-411898491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9816" y="3614551"/>
            <a:ext cx="103188" cy="103188"/>
          </a:xfrm>
          <a:prstGeom prst="ellipse">
            <a:avLst/>
          </a:prstGeom>
          <a:solidFill>
            <a:srgbClr val="99CCFF"/>
          </a:solidFill>
          <a:ln w="254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GB" altLang="en-US" noProof="1"/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845FEC73-04B5-6A78-1AB5-FD2855845C63}"/>
              </a:ext>
            </a:extLst>
          </p:cNvPr>
          <p:cNvGrpSpPr>
            <a:grpSpLocks/>
          </p:cNvGrpSpPr>
          <p:nvPr/>
        </p:nvGrpSpPr>
        <p:grpSpPr bwMode="auto">
          <a:xfrm>
            <a:off x="3767347" y="4029267"/>
            <a:ext cx="325438" cy="495299"/>
            <a:chOff x="2952" y="1403"/>
            <a:chExt cx="205" cy="312"/>
          </a:xfrm>
        </p:grpSpPr>
        <p:sp>
          <p:nvSpPr>
            <p:cNvPr id="45073" name="Rectangle 17">
              <a:extLst>
                <a:ext uri="{FF2B5EF4-FFF2-40B4-BE49-F238E27FC236}">
                  <a16:creationId xmlns:a16="http://schemas.microsoft.com/office/drawing/2014/main" id="{9937A2B8-8BF8-9E3E-054D-29958BA69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" y="1403"/>
              <a:ext cx="19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 i="1" dirty="0">
                  <a:solidFill>
                    <a:schemeClr val="hlink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45074" name="Oval 18">
              <a:extLst>
                <a:ext uri="{FF2B5EF4-FFF2-40B4-BE49-F238E27FC236}">
                  <a16:creationId xmlns:a16="http://schemas.microsoft.com/office/drawing/2014/main" id="{FE099529-A968-FFB6-6E42-74B46EBA1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1650"/>
              <a:ext cx="65" cy="65"/>
            </a:xfrm>
            <a:prstGeom prst="ellipse">
              <a:avLst/>
            </a:prstGeom>
            <a:solidFill>
              <a:srgbClr val="CC99FF"/>
            </a:solidFill>
            <a:ln w="254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 altLang="en-US" noProof="1"/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4C785306-C62C-1EC2-8EBE-31F8711994E4}"/>
              </a:ext>
            </a:extLst>
          </p:cNvPr>
          <p:cNvGrpSpPr>
            <a:grpSpLocks/>
          </p:cNvGrpSpPr>
          <p:nvPr/>
        </p:nvGrpSpPr>
        <p:grpSpPr bwMode="auto">
          <a:xfrm>
            <a:off x="3749941" y="4795092"/>
            <a:ext cx="350838" cy="400050"/>
            <a:chOff x="2952" y="1887"/>
            <a:chExt cx="221" cy="252"/>
          </a:xfrm>
        </p:grpSpPr>
        <p:sp>
          <p:nvSpPr>
            <p:cNvPr id="45076" name="Rectangle 20">
              <a:extLst>
                <a:ext uri="{FF2B5EF4-FFF2-40B4-BE49-F238E27FC236}">
                  <a16:creationId xmlns:a16="http://schemas.microsoft.com/office/drawing/2014/main" id="{BB5834ED-4822-EED0-CDDD-AFCAF860D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1887"/>
              <a:ext cx="2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 i="1" dirty="0">
                  <a:solidFill>
                    <a:schemeClr val="hlink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45077" name="Oval 21">
              <a:extLst>
                <a:ext uri="{FF2B5EF4-FFF2-40B4-BE49-F238E27FC236}">
                  <a16:creationId xmlns:a16="http://schemas.microsoft.com/office/drawing/2014/main" id="{E6758BC7-ECC2-A43D-97BB-058E25B1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1899"/>
              <a:ext cx="65" cy="65"/>
            </a:xfrm>
            <a:prstGeom prst="ellipse">
              <a:avLst/>
            </a:prstGeom>
            <a:solidFill>
              <a:srgbClr val="CC99FF"/>
            </a:solidFill>
            <a:ln w="254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 altLang="en-US" noProof="1"/>
            </a:p>
          </p:txBody>
        </p:sp>
      </p:grpSp>
      <p:sp>
        <p:nvSpPr>
          <p:cNvPr id="28694" name="Line 22">
            <a:extLst>
              <a:ext uri="{FF2B5EF4-FFF2-40B4-BE49-F238E27FC236}">
                <a16:creationId xmlns:a16="http://schemas.microsoft.com/office/drawing/2014/main" id="{20FE3693-3A81-C32C-5D51-ECFF2403F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0285" y="4547584"/>
            <a:ext cx="18649" cy="43517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8E9207B9-06D5-C45F-86A7-BE09E0E21FC6}"/>
              </a:ext>
            </a:extLst>
          </p:cNvPr>
          <p:cNvGrpSpPr>
            <a:grpSpLocks/>
          </p:cNvGrpSpPr>
          <p:nvPr/>
        </p:nvGrpSpPr>
        <p:grpSpPr bwMode="auto">
          <a:xfrm>
            <a:off x="3824372" y="5005015"/>
            <a:ext cx="2722564" cy="655638"/>
            <a:chOff x="3018" y="1802"/>
            <a:chExt cx="1715" cy="413"/>
          </a:xfrm>
        </p:grpSpPr>
        <p:sp>
          <p:nvSpPr>
            <p:cNvPr id="45080" name="Line 24">
              <a:extLst>
                <a:ext uri="{FF2B5EF4-FFF2-40B4-BE49-F238E27FC236}">
                  <a16:creationId xmlns:a16="http://schemas.microsoft.com/office/drawing/2014/main" id="{2B1AEB66-4E4A-E9B0-8951-B30B5EBC5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8" y="1802"/>
              <a:ext cx="1060" cy="189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081" name="Rectangle 25">
              <a:extLst>
                <a:ext uri="{FF2B5EF4-FFF2-40B4-BE49-F238E27FC236}">
                  <a16:creationId xmlns:a16="http://schemas.microsoft.com/office/drawing/2014/main" id="{05356A9F-3340-910C-E863-826D4AFCC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" y="1963"/>
              <a:ext cx="122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sz="2000" dirty="0">
                  <a:solidFill>
                    <a:schemeClr val="hlink"/>
                  </a:solidFill>
                  <a:latin typeface="Arial" panose="020B0604020202020204" pitchFamily="34" charset="0"/>
                </a:rPr>
                <a:t>Inflationary gap</a:t>
              </a:r>
            </a:p>
          </p:txBody>
        </p:sp>
      </p:grpSp>
      <p:sp>
        <p:nvSpPr>
          <p:cNvPr id="28701" name="AutoShape 29">
            <a:extLst>
              <a:ext uri="{FF2B5EF4-FFF2-40B4-BE49-F238E27FC236}">
                <a16:creationId xmlns:a16="http://schemas.microsoft.com/office/drawing/2014/main" id="{086D1AE5-3EAA-AD0C-618A-E5D60EDFF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275" y="2967335"/>
            <a:ext cx="4864378" cy="1770557"/>
          </a:xfrm>
          <a:prstGeom prst="roundRect">
            <a:avLst>
              <a:gd name="adj" fmla="val 16667"/>
            </a:avLst>
          </a:prstGeom>
          <a:solidFill>
            <a:srgbClr val="FFFFD7"/>
          </a:solidFill>
          <a:ln w="2222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square" lIns="90000" tIns="46800" rIns="90000" bIns="46800" anchor="ctr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Aft>
                <a:spcPct val="15000"/>
              </a:spcAft>
            </a:pPr>
            <a:r>
              <a:rPr lang="en-GB" altLang="en-US" sz="1900" b="1" dirty="0">
                <a:solidFill>
                  <a:srgbClr val="002060"/>
                </a:solidFill>
                <a:latin typeface="Arial" panose="020B0604020202020204" pitchFamily="34" charset="0"/>
              </a:rPr>
              <a:t>Inflationary gap</a:t>
            </a:r>
          </a:p>
          <a:p>
            <a:pPr algn="ctr"/>
            <a:r>
              <a:rPr lang="en-GB" altLang="en-US" sz="1900" dirty="0">
                <a:solidFill>
                  <a:srgbClr val="002060"/>
                </a:solidFill>
                <a:latin typeface="Arial" panose="020B0604020202020204" pitchFamily="34" charset="0"/>
              </a:rPr>
              <a:t>The amount by which aggregate expenditure exceeds national income at the full-employment level of national income</a:t>
            </a: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6BAA22C9-A2E0-4A83-D859-C36164854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25686"/>
            <a:ext cx="12192000" cy="636872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800" kern="1200">
                <a:solidFill>
                  <a:srgbClr val="577C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577C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577C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577C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577C3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88A44D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88A44D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88A44D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88A44D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GB" sz="2800" b="1" kern="0" dirty="0">
                <a:solidFill>
                  <a:srgbClr val="660066"/>
                </a:solidFill>
                <a:effectLst/>
              </a:rPr>
              <a:t>The inflationary gap</a:t>
            </a: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4E683DCA-AA4F-83D6-9AA7-00B3EDB24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859" y="715480"/>
            <a:ext cx="2117566" cy="770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200" dirty="0">
                <a:latin typeface="Arial" panose="020B0604020202020204" pitchFamily="34" charset="0"/>
              </a:rPr>
              <a:t>Aggregate</a:t>
            </a:r>
          </a:p>
          <a:p>
            <a:pPr algn="ctr"/>
            <a:r>
              <a:rPr lang="en-GB" altLang="en-US" sz="2200" dirty="0">
                <a:latin typeface="Arial" panose="020B0604020202020204" pitchFamily="34" charset="0"/>
              </a:rPr>
              <a:t>expenditure (</a:t>
            </a:r>
            <a:r>
              <a:rPr lang="en-GB" altLang="en-US" sz="2200" i="1" dirty="0">
                <a:latin typeface="Arial" panose="020B0604020202020204" pitchFamily="34" charset="0"/>
              </a:rPr>
              <a:t>E</a:t>
            </a:r>
            <a:r>
              <a:rPr lang="en-GB" altLang="en-US" sz="22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3AAB22-DC7B-0B78-9AF5-A1EAC6ABA792}"/>
              </a:ext>
            </a:extLst>
          </p:cNvPr>
          <p:cNvSpPr txBox="1"/>
          <p:nvPr/>
        </p:nvSpPr>
        <p:spPr>
          <a:xfrm>
            <a:off x="197453" y="2505670"/>
            <a:ext cx="2123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(c-d) is smaller than (Y</a:t>
            </a:r>
            <a:r>
              <a:rPr lang="en-US" baseline="-25000" dirty="0"/>
              <a:t>F</a:t>
            </a:r>
            <a:r>
              <a:rPr lang="en-US" dirty="0"/>
              <a:t>-Y</a:t>
            </a:r>
            <a:r>
              <a:rPr lang="en-US" baseline="-25000" dirty="0"/>
              <a:t>e</a:t>
            </a:r>
            <a:r>
              <a:rPr lang="en-US" dirty="0"/>
              <a:t>): multiplier effect</a:t>
            </a:r>
          </a:p>
        </p:txBody>
      </p:sp>
    </p:spTree>
    <p:extLst>
      <p:ext uri="{BB962C8B-B14F-4D97-AF65-F5344CB8AC3E}">
        <p14:creationId xmlns:p14="http://schemas.microsoft.com/office/powerpoint/2010/main" val="1839525560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01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80820A0-2D78-BDCD-C167-394580C07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>
            <a:extLst>
              <a:ext uri="{FF2B5EF4-FFF2-40B4-BE49-F238E27FC236}">
                <a16:creationId xmlns:a16="http://schemas.microsoft.com/office/drawing/2014/main" id="{171DCF28-A9E4-36BA-0CC7-06123209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sz="3700" dirty="0"/>
              <a:t>Short Run Aggregate Supply: </a:t>
            </a:r>
            <a:r>
              <a:rPr lang="en-GB" altLang="en-US" sz="3600" dirty="0"/>
              <a:t>Extreme case</a:t>
            </a:r>
            <a:br>
              <a:rPr lang="en-GB" altLang="en-US" sz="2000" dirty="0"/>
            </a:br>
            <a:endParaRPr lang="en-GB" altLang="en-US" sz="3700" dirty="0"/>
          </a:p>
        </p:txBody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C57A2A01-8D74-FDF3-E31F-DF232563D3E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336" y="1575352"/>
            <a:ext cx="11338560" cy="479066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GB" altLang="en-US" sz="3200" dirty="0">
                <a:latin typeface="+mn-lt"/>
              </a:rPr>
              <a:t>Short run Aggregate Supply (SRAS) horizontal </a:t>
            </a:r>
          </a:p>
          <a:p>
            <a:pPr>
              <a:spcBef>
                <a:spcPts val="600"/>
              </a:spcBef>
            </a:pPr>
            <a:r>
              <a:rPr lang="en-GB" altLang="en-US" sz="2900" dirty="0">
                <a:latin typeface="+mn-lt"/>
              </a:rPr>
              <a:t>Prices are fixed (sticky)</a:t>
            </a:r>
          </a:p>
          <a:p>
            <a:pPr>
              <a:spcBef>
                <a:spcPts val="600"/>
              </a:spcBef>
            </a:pPr>
            <a:r>
              <a:rPr lang="en-GB" altLang="en-US" sz="2900" dirty="0">
                <a:latin typeface="+mn-lt"/>
              </a:rPr>
              <a:t>Any increase in D is reflected in an increase in income</a:t>
            </a:r>
          </a:p>
          <a:p>
            <a:pPr>
              <a:spcBef>
                <a:spcPts val="600"/>
              </a:spcBef>
            </a:pPr>
            <a:r>
              <a:rPr lang="en-GB" altLang="en-US" sz="2900" dirty="0">
                <a:latin typeface="+mn-lt"/>
              </a:rPr>
              <a:t>No effects on prices until full-employment is reached</a:t>
            </a:r>
          </a:p>
          <a:p>
            <a:pPr>
              <a:spcBef>
                <a:spcPts val="600"/>
              </a:spcBef>
            </a:pPr>
            <a:endParaRPr lang="en-GB" altLang="en-US" sz="2900" dirty="0"/>
          </a:p>
        </p:txBody>
      </p:sp>
    </p:spTree>
    <p:extLst>
      <p:ext uri="{BB962C8B-B14F-4D97-AF65-F5344CB8AC3E}">
        <p14:creationId xmlns:p14="http://schemas.microsoft.com/office/powerpoint/2010/main" val="649915271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1" grpId="0" uiExpand="1" build="p" bldLvl="3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>
            <a:extLst>
              <a:ext uri="{FF2B5EF4-FFF2-40B4-BE49-F238E27FC236}">
                <a16:creationId xmlns:a16="http://schemas.microsoft.com/office/drawing/2014/main" id="{EBEC877D-86F0-4901-996F-CA569E461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079" y="3703638"/>
            <a:ext cx="562768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1" name="Line 5">
            <a:extLst>
              <a:ext uri="{FF2B5EF4-FFF2-40B4-BE49-F238E27FC236}">
                <a16:creationId xmlns:a16="http://schemas.microsoft.com/office/drawing/2014/main" id="{C66B9566-12A1-462D-AC5A-743FD8D01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6854" y="708026"/>
            <a:ext cx="0" cy="4816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2" name="Line 6">
            <a:extLst>
              <a:ext uri="{FF2B5EF4-FFF2-40B4-BE49-F238E27FC236}">
                <a16:creationId xmlns:a16="http://schemas.microsoft.com/office/drawing/2014/main" id="{7E03074D-C422-4FD0-884B-4B028F6B92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6854" y="5505450"/>
            <a:ext cx="701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3" name="Rectangle 7">
            <a:extLst>
              <a:ext uri="{FF2B5EF4-FFF2-40B4-BE49-F238E27FC236}">
                <a16:creationId xmlns:a16="http://schemas.microsoft.com/office/drawing/2014/main" id="{B9312A7B-1137-47E9-991E-4AEE4C50F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180" y="5516563"/>
            <a:ext cx="384721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12294" name="Rectangle 8">
            <a:extLst>
              <a:ext uri="{FF2B5EF4-FFF2-40B4-BE49-F238E27FC236}">
                <a16:creationId xmlns:a16="http://schemas.microsoft.com/office/drawing/2014/main" id="{209A485D-4B6B-486A-B058-C1F404ACF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6242" y="777876"/>
            <a:ext cx="561051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200" i="1">
                <a:solidFill>
                  <a:schemeClr val="accent2"/>
                </a:solidFill>
              </a:rPr>
              <a:t>AS</a:t>
            </a:r>
          </a:p>
        </p:txBody>
      </p:sp>
      <p:sp>
        <p:nvSpPr>
          <p:cNvPr id="12295" name="Arc 9">
            <a:extLst>
              <a:ext uri="{FF2B5EF4-FFF2-40B4-BE49-F238E27FC236}">
                <a16:creationId xmlns:a16="http://schemas.microsoft.com/office/drawing/2014/main" id="{85D93C19-9D37-46C3-9539-FBA2D30084AF}"/>
              </a:ext>
            </a:extLst>
          </p:cNvPr>
          <p:cNvSpPr>
            <a:spLocks/>
          </p:cNvSpPr>
          <p:nvPr/>
        </p:nvSpPr>
        <p:spPr bwMode="auto">
          <a:xfrm>
            <a:off x="2417704" y="1"/>
            <a:ext cx="7105650" cy="5370513"/>
          </a:xfrm>
          <a:custGeom>
            <a:avLst/>
            <a:gdLst>
              <a:gd name="T0" fmla="*/ 2147483646 w 20982"/>
              <a:gd name="T1" fmla="*/ 2147483646 h 19517"/>
              <a:gd name="T2" fmla="*/ 0 w 20982"/>
              <a:gd name="T3" fmla="*/ 2147483646 h 19517"/>
              <a:gd name="T4" fmla="*/ 2147483646 w 20982"/>
              <a:gd name="T5" fmla="*/ 0 h 195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982" h="19517" fill="none" extrusionOk="0">
                <a:moveTo>
                  <a:pt x="11727" y="19517"/>
                </a:moveTo>
                <a:cubicBezTo>
                  <a:pt x="5851" y="16731"/>
                  <a:pt x="1543" y="11446"/>
                  <a:pt x="-1" y="5129"/>
                </a:cubicBezTo>
              </a:path>
              <a:path w="20982" h="19517" stroke="0" extrusionOk="0">
                <a:moveTo>
                  <a:pt x="11727" y="19517"/>
                </a:moveTo>
                <a:cubicBezTo>
                  <a:pt x="5851" y="16731"/>
                  <a:pt x="1543" y="11446"/>
                  <a:pt x="-1" y="5129"/>
                </a:cubicBezTo>
                <a:lnTo>
                  <a:pt x="20982" y="0"/>
                </a:lnTo>
                <a:lnTo>
                  <a:pt x="11727" y="19517"/>
                </a:lnTo>
                <a:close/>
              </a:path>
            </a:pathLst>
          </a:custGeom>
          <a:noFill/>
          <a:ln w="38100" cap="rnd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6" name="Rectangle 10">
            <a:extLst>
              <a:ext uri="{FF2B5EF4-FFF2-40B4-BE49-F238E27FC236}">
                <a16:creationId xmlns:a16="http://schemas.microsoft.com/office/drawing/2014/main" id="{76CF44A7-0A37-4920-B429-DB8C66E00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558" y="5534025"/>
            <a:ext cx="45204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en-US" sz="2000" i="1">
                <a:solidFill>
                  <a:srgbClr val="0000CC"/>
                </a:solidFill>
              </a:rPr>
              <a:t>Y</a:t>
            </a:r>
            <a:r>
              <a:rPr lang="en-GB" altLang="en-US" sz="2000" baseline="-25000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12297" name="Rectangle 11">
            <a:extLst>
              <a:ext uri="{FF2B5EF4-FFF2-40B4-BE49-F238E27FC236}">
                <a16:creationId xmlns:a16="http://schemas.microsoft.com/office/drawing/2014/main" id="{7061CC2A-8790-4C03-B97C-CA012DB15FA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13208" y="2818256"/>
            <a:ext cx="1370568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en-US" sz="2000">
                <a:solidFill>
                  <a:schemeClr val="tx1"/>
                </a:solidFill>
              </a:rPr>
              <a:t>Price level</a:t>
            </a:r>
          </a:p>
        </p:txBody>
      </p:sp>
      <p:grpSp>
        <p:nvGrpSpPr>
          <p:cNvPr id="12319" name="Group 31">
            <a:extLst>
              <a:ext uri="{FF2B5EF4-FFF2-40B4-BE49-F238E27FC236}">
                <a16:creationId xmlns:a16="http://schemas.microsoft.com/office/drawing/2014/main" id="{0A1E478F-1227-47FF-986F-9CDB823565FA}"/>
              </a:ext>
            </a:extLst>
          </p:cNvPr>
          <p:cNvGrpSpPr>
            <a:grpSpLocks/>
          </p:cNvGrpSpPr>
          <p:nvPr/>
        </p:nvGrpSpPr>
        <p:grpSpPr bwMode="auto">
          <a:xfrm>
            <a:off x="5083118" y="3757613"/>
            <a:ext cx="452437" cy="2182812"/>
            <a:chOff x="2635" y="2367"/>
            <a:chExt cx="285" cy="1375"/>
          </a:xfrm>
        </p:grpSpPr>
        <p:sp>
          <p:nvSpPr>
            <p:cNvPr id="12299" name="Rectangle 15">
              <a:extLst>
                <a:ext uri="{FF2B5EF4-FFF2-40B4-BE49-F238E27FC236}">
                  <a16:creationId xmlns:a16="http://schemas.microsoft.com/office/drawing/2014/main" id="{99A095E8-580B-4CBF-9CEC-710F875DF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3490"/>
              <a:ext cx="28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GB" altLang="en-US" sz="2000" i="1">
                  <a:solidFill>
                    <a:schemeClr val="folHlink"/>
                  </a:solidFill>
                </a:rPr>
                <a:t>Y</a:t>
              </a:r>
              <a:r>
                <a:rPr lang="en-GB" altLang="en-US" sz="2000" baseline="-25000">
                  <a:solidFill>
                    <a:schemeClr val="folHlink"/>
                  </a:solidFill>
                </a:rPr>
                <a:t>2</a:t>
              </a:r>
            </a:p>
          </p:txBody>
        </p:sp>
        <p:sp>
          <p:nvSpPr>
            <p:cNvPr id="12300" name="Line 16">
              <a:extLst>
                <a:ext uri="{FF2B5EF4-FFF2-40B4-BE49-F238E27FC236}">
                  <a16:creationId xmlns:a16="http://schemas.microsoft.com/office/drawing/2014/main" id="{7AD73074-DF55-4A1D-8233-3D434CA91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2367"/>
              <a:ext cx="0" cy="111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2301" name="Line 17">
            <a:extLst>
              <a:ext uri="{FF2B5EF4-FFF2-40B4-BE49-F238E27FC236}">
                <a16:creationId xmlns:a16="http://schemas.microsoft.com/office/drawing/2014/main" id="{03DDFA4C-6BAF-4B53-A8F0-930A16556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179" y="3740151"/>
            <a:ext cx="0" cy="1770063"/>
          </a:xfrm>
          <a:prstGeom prst="line">
            <a:avLst/>
          </a:prstGeom>
          <a:noFill/>
          <a:ln w="19050">
            <a:solidFill>
              <a:srgbClr val="0000CC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2" name="Rectangle 18">
            <a:extLst>
              <a:ext uri="{FF2B5EF4-FFF2-40B4-BE49-F238E27FC236}">
                <a16:creationId xmlns:a16="http://schemas.microsoft.com/office/drawing/2014/main" id="{B5103B2A-C06F-4F3A-A257-F14A5ADAB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759" y="3519488"/>
            <a:ext cx="357470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en-US" sz="2000" i="1">
                <a:solidFill>
                  <a:schemeClr val="accent2"/>
                </a:solidFill>
              </a:rPr>
              <a:t>P</a:t>
            </a:r>
          </a:p>
        </p:txBody>
      </p:sp>
      <p:grpSp>
        <p:nvGrpSpPr>
          <p:cNvPr id="12320" name="Group 32">
            <a:extLst>
              <a:ext uri="{FF2B5EF4-FFF2-40B4-BE49-F238E27FC236}">
                <a16:creationId xmlns:a16="http://schemas.microsoft.com/office/drawing/2014/main" id="{8BD835FE-F082-421C-8A7B-3C9C88C393A8}"/>
              </a:ext>
            </a:extLst>
          </p:cNvPr>
          <p:cNvGrpSpPr>
            <a:grpSpLocks/>
          </p:cNvGrpSpPr>
          <p:nvPr/>
        </p:nvGrpSpPr>
        <p:grpSpPr bwMode="auto">
          <a:xfrm>
            <a:off x="3341629" y="-180975"/>
            <a:ext cx="6553200" cy="5372101"/>
            <a:chOff x="1538" y="-114"/>
            <a:chExt cx="4128" cy="3384"/>
          </a:xfrm>
        </p:grpSpPr>
        <p:sp>
          <p:nvSpPr>
            <p:cNvPr id="12298" name="Arc 13">
              <a:extLst>
                <a:ext uri="{FF2B5EF4-FFF2-40B4-BE49-F238E27FC236}">
                  <a16:creationId xmlns:a16="http://schemas.microsoft.com/office/drawing/2014/main" id="{4467F8E8-067D-4B8D-BA36-58F1593C7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-114"/>
              <a:ext cx="4128" cy="3240"/>
            </a:xfrm>
            <a:custGeom>
              <a:avLst/>
              <a:gdLst>
                <a:gd name="T0" fmla="*/ 2147483646 w 20982"/>
                <a:gd name="T1" fmla="*/ 2147483646 h 20939"/>
                <a:gd name="T2" fmla="*/ 0 w 20982"/>
                <a:gd name="T3" fmla="*/ 2147483646 h 20939"/>
                <a:gd name="T4" fmla="*/ 2147483646 w 20982"/>
                <a:gd name="T5" fmla="*/ 0 h 209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982" h="20939" fill="none" extrusionOk="0">
                  <a:moveTo>
                    <a:pt x="15679" y="20939"/>
                  </a:moveTo>
                  <a:cubicBezTo>
                    <a:pt x="7930" y="18976"/>
                    <a:pt x="1898" y="12895"/>
                    <a:pt x="0" y="5129"/>
                  </a:cubicBezTo>
                </a:path>
                <a:path w="20982" h="20939" stroke="0" extrusionOk="0">
                  <a:moveTo>
                    <a:pt x="15679" y="20939"/>
                  </a:moveTo>
                  <a:cubicBezTo>
                    <a:pt x="7930" y="18976"/>
                    <a:pt x="1898" y="12895"/>
                    <a:pt x="0" y="5129"/>
                  </a:cubicBezTo>
                  <a:lnTo>
                    <a:pt x="20982" y="0"/>
                  </a:lnTo>
                  <a:lnTo>
                    <a:pt x="15679" y="20939"/>
                  </a:lnTo>
                  <a:close/>
                </a:path>
              </a:pathLst>
            </a:custGeom>
            <a:noFill/>
            <a:ln w="38100" cap="rnd">
              <a:solidFill>
                <a:srgbClr val="0066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303" name="Rectangle 19">
              <a:extLst>
                <a:ext uri="{FF2B5EF4-FFF2-40B4-BE49-F238E27FC236}">
                  <a16:creationId xmlns:a16="http://schemas.microsoft.com/office/drawing/2014/main" id="{C19C1961-7024-457B-8651-9753C91CA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6" y="2998"/>
              <a:ext cx="47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2200" i="1" dirty="0">
                  <a:solidFill>
                    <a:srgbClr val="006600"/>
                  </a:solidFill>
                </a:rPr>
                <a:t>AD</a:t>
              </a:r>
              <a:r>
                <a:rPr lang="en-GB" altLang="en-US" sz="2200" baseline="-25000" dirty="0">
                  <a:solidFill>
                    <a:srgbClr val="006600"/>
                  </a:solidFill>
                </a:rPr>
                <a:t>2</a:t>
              </a:r>
            </a:p>
          </p:txBody>
        </p:sp>
      </p:grpSp>
      <p:sp>
        <p:nvSpPr>
          <p:cNvPr id="12304" name="Rectangle 20">
            <a:extLst>
              <a:ext uri="{FF2B5EF4-FFF2-40B4-BE49-F238E27FC236}">
                <a16:creationId xmlns:a16="http://schemas.microsoft.com/office/drawing/2014/main" id="{9A7A25D8-65FE-4DE0-A781-2CDF93113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567" y="5067301"/>
            <a:ext cx="874712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200" i="1">
                <a:solidFill>
                  <a:srgbClr val="0000CC"/>
                </a:solidFill>
              </a:rPr>
              <a:t>AD</a:t>
            </a:r>
            <a:r>
              <a:rPr lang="en-GB" altLang="en-US" sz="2200" baseline="-25000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12305" name="AutoShape 24">
            <a:extLst>
              <a:ext uri="{FF2B5EF4-FFF2-40B4-BE49-F238E27FC236}">
                <a16:creationId xmlns:a16="http://schemas.microsoft.com/office/drawing/2014/main" id="{91D3DE8C-5B2D-40FD-AA4F-BC9D7AD6B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2180" y="1925663"/>
            <a:ext cx="3811191" cy="1739059"/>
          </a:xfrm>
          <a:prstGeom prst="roundRect">
            <a:avLst>
              <a:gd name="adj" fmla="val 16667"/>
            </a:avLst>
          </a:prstGeom>
          <a:solidFill>
            <a:srgbClr val="FFFFEB"/>
          </a:solidFill>
          <a:ln w="25400">
            <a:solidFill>
              <a:schemeClr val="accent1"/>
            </a:solidFill>
            <a:round/>
            <a:headEnd type="none" w="sm" len="sm"/>
            <a:tailEnd type="none" w="sm" len="med"/>
          </a:ln>
          <a:effectLst/>
        </p:spPr>
        <p:txBody>
          <a:bodyPr wrap="square" lIns="90000" tIns="46800" rIns="90000" bIns="46800" anchor="ctr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 dirty="0">
                <a:solidFill>
                  <a:srgbClr val="660066"/>
                </a:solidFill>
              </a:rPr>
              <a:t>Aggregate supply totally dependent on aggregate demand up to full-employment income</a:t>
            </a:r>
          </a:p>
        </p:txBody>
      </p:sp>
      <p:sp>
        <p:nvSpPr>
          <p:cNvPr id="12306" name="Oval 25">
            <a:extLst>
              <a:ext uri="{FF2B5EF4-FFF2-40B4-BE49-F238E27FC236}">
                <a16:creationId xmlns:a16="http://schemas.microsoft.com/office/drawing/2014/main" id="{3920614D-903F-4D45-94E5-BF9B5227E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267" y="3638550"/>
            <a:ext cx="127000" cy="127000"/>
          </a:xfrm>
          <a:prstGeom prst="ellipse">
            <a:avLst/>
          </a:prstGeom>
          <a:solidFill>
            <a:srgbClr val="B5DAFF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12317" name="Group 29">
            <a:extLst>
              <a:ext uri="{FF2B5EF4-FFF2-40B4-BE49-F238E27FC236}">
                <a16:creationId xmlns:a16="http://schemas.microsoft.com/office/drawing/2014/main" id="{0130701C-8EB7-41B9-BB12-2D787F049DCC}"/>
              </a:ext>
            </a:extLst>
          </p:cNvPr>
          <p:cNvGrpSpPr>
            <a:grpSpLocks/>
          </p:cNvGrpSpPr>
          <p:nvPr/>
        </p:nvGrpSpPr>
        <p:grpSpPr bwMode="auto">
          <a:xfrm>
            <a:off x="7392930" y="3694114"/>
            <a:ext cx="461963" cy="2244725"/>
            <a:chOff x="4090" y="2327"/>
            <a:chExt cx="291" cy="1414"/>
          </a:xfrm>
        </p:grpSpPr>
        <p:sp>
          <p:nvSpPr>
            <p:cNvPr id="12308" name="Line 19">
              <a:extLst>
                <a:ext uri="{FF2B5EF4-FFF2-40B4-BE49-F238E27FC236}">
                  <a16:creationId xmlns:a16="http://schemas.microsoft.com/office/drawing/2014/main" id="{C3AA34EF-6813-4FA8-B4C7-E12DEC69C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3" y="2327"/>
              <a:ext cx="0" cy="1155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309" name="Rectangle 20">
              <a:extLst>
                <a:ext uri="{FF2B5EF4-FFF2-40B4-BE49-F238E27FC236}">
                  <a16:creationId xmlns:a16="http://schemas.microsoft.com/office/drawing/2014/main" id="{D5635A8E-995A-41DA-B174-6920081E4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" y="3489"/>
              <a:ext cx="29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GB" altLang="en-US" sz="2000" i="1">
                  <a:solidFill>
                    <a:srgbClr val="800080"/>
                  </a:solidFill>
                  <a:cs typeface="Arial" panose="020B0604020202020204" pitchFamily="34" charset="0"/>
                </a:rPr>
                <a:t>Y</a:t>
              </a:r>
              <a:r>
                <a:rPr lang="en-GB" altLang="en-US" sz="2000" baseline="-25000">
                  <a:solidFill>
                    <a:srgbClr val="800080"/>
                  </a:solidFill>
                  <a:cs typeface="Arial" panose="020B0604020202020204" pitchFamily="34" charset="0"/>
                </a:rPr>
                <a:t>F</a:t>
              </a:r>
            </a:p>
          </p:txBody>
        </p:sp>
      </p:grpSp>
      <p:sp>
        <p:nvSpPr>
          <p:cNvPr id="12310" name="Line 36">
            <a:extLst>
              <a:ext uri="{FF2B5EF4-FFF2-40B4-BE49-F238E27FC236}">
                <a16:creationId xmlns:a16="http://schemas.microsoft.com/office/drawing/2014/main" id="{C7DA2E84-FBEF-4916-86B5-7A45796FD8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6292" y="1198563"/>
            <a:ext cx="0" cy="25257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GB"/>
          </a:p>
        </p:txBody>
      </p:sp>
      <p:sp>
        <p:nvSpPr>
          <p:cNvPr id="12313" name="Rectangle 21">
            <a:extLst>
              <a:ext uri="{FF2B5EF4-FFF2-40B4-BE49-F238E27FC236}">
                <a16:creationId xmlns:a16="http://schemas.microsoft.com/office/drawing/2014/main" id="{A87C795B-FD06-4FC5-A9A3-917698ADC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079" y="3216275"/>
            <a:ext cx="330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i="1">
                <a:solidFill>
                  <a:srgbClr val="0000CC"/>
                </a:solidFill>
              </a:rPr>
              <a:t>a</a:t>
            </a:r>
            <a:endParaRPr lang="en-GB" altLang="en-US" sz="2000" baseline="-25000">
              <a:solidFill>
                <a:srgbClr val="0000CC"/>
              </a:solidFill>
            </a:endParaRPr>
          </a:p>
        </p:txBody>
      </p:sp>
      <p:grpSp>
        <p:nvGrpSpPr>
          <p:cNvPr id="12318" name="Group 30">
            <a:extLst>
              <a:ext uri="{FF2B5EF4-FFF2-40B4-BE49-F238E27FC236}">
                <a16:creationId xmlns:a16="http://schemas.microsoft.com/office/drawing/2014/main" id="{43E1E14E-6AC4-49D6-9667-A0DB73090788}"/>
              </a:ext>
            </a:extLst>
          </p:cNvPr>
          <p:cNvGrpSpPr>
            <a:grpSpLocks/>
          </p:cNvGrpSpPr>
          <p:nvPr/>
        </p:nvGrpSpPr>
        <p:grpSpPr bwMode="auto">
          <a:xfrm>
            <a:off x="5157730" y="3248025"/>
            <a:ext cx="328613" cy="514350"/>
            <a:chOff x="2682" y="2046"/>
            <a:chExt cx="207" cy="324"/>
          </a:xfrm>
        </p:grpSpPr>
        <p:sp>
          <p:nvSpPr>
            <p:cNvPr id="12307" name="Oval 26">
              <a:extLst>
                <a:ext uri="{FF2B5EF4-FFF2-40B4-BE49-F238E27FC236}">
                  <a16:creationId xmlns:a16="http://schemas.microsoft.com/office/drawing/2014/main" id="{D4B1CC6B-DE40-43F8-8286-0698BFA7F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290"/>
              <a:ext cx="80" cy="80"/>
            </a:xfrm>
            <a:prstGeom prst="ellipse">
              <a:avLst/>
            </a:prstGeom>
            <a:solidFill>
              <a:srgbClr val="AEFF85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314" name="Rectangle 22">
              <a:extLst>
                <a:ext uri="{FF2B5EF4-FFF2-40B4-BE49-F238E27FC236}">
                  <a16:creationId xmlns:a16="http://schemas.microsoft.com/office/drawing/2014/main" id="{F691B156-FE52-476D-BABD-32F140350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2" y="2046"/>
              <a:ext cx="20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GB" altLang="en-US" sz="2000" i="1">
                  <a:solidFill>
                    <a:schemeClr val="folHlink"/>
                  </a:solidFill>
                </a:rPr>
                <a:t>b</a:t>
              </a:r>
              <a:endParaRPr lang="en-GB" altLang="en-US" sz="2000" baseline="-25000">
                <a:solidFill>
                  <a:schemeClr val="folHlink"/>
                </a:solidFill>
              </a:endParaRPr>
            </a:p>
          </p:txBody>
        </p:sp>
      </p:grpSp>
      <p:sp>
        <p:nvSpPr>
          <p:cNvPr id="33" name="Rectangle 39">
            <a:extLst>
              <a:ext uri="{FF2B5EF4-FFF2-40B4-BE49-F238E27FC236}">
                <a16:creationId xmlns:a16="http://schemas.microsoft.com/office/drawing/2014/main" id="{45672A0E-E418-49FD-BCD6-5DF90EB27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8987"/>
            <a:ext cx="11048097" cy="616651"/>
          </a:xfrm>
          <a:prstGeom prst="rect">
            <a:avLst/>
          </a:prstGeom>
          <a:noFill/>
          <a:ln>
            <a:noFill/>
          </a:ln>
          <a:effectLst>
            <a:outerShdw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800" kern="1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altLang="en-US" sz="2800" b="1" dirty="0">
                <a:solidFill>
                  <a:srgbClr val="660066"/>
                </a:solidFill>
                <a:effectLst/>
              </a:rPr>
              <a:t>The fixed price level in AS-AD analysis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52CF579A-63ED-4177-9491-45E3A094E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099" y="5972175"/>
            <a:ext cx="3464089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000" dirty="0">
                <a:solidFill>
                  <a:schemeClr val="tx1"/>
                </a:solidFill>
              </a:rPr>
              <a:t>Real national income (GDP)</a:t>
            </a:r>
          </a:p>
        </p:txBody>
      </p:sp>
    </p:spTree>
    <p:extLst>
      <p:ext uri="{BB962C8B-B14F-4D97-AF65-F5344CB8AC3E}">
        <p14:creationId xmlns:p14="http://schemas.microsoft.com/office/powerpoint/2010/main" val="3383292601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5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>
            <a:extLst>
              <a:ext uri="{FF2B5EF4-FFF2-40B4-BE49-F238E27FC236}">
                <a16:creationId xmlns:a16="http://schemas.microsoft.com/office/drawing/2014/main" id="{15C2FC13-79E8-4396-91EB-5D0ACD6C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700" dirty="0"/>
              <a:t>Short Run Aggregate Supply</a:t>
            </a:r>
          </a:p>
        </p:txBody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940DAE9A-CEBF-49DE-AC9F-3EE3272185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336" y="1575352"/>
            <a:ext cx="11338560" cy="479066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GB" altLang="en-US" dirty="0">
                <a:latin typeface="+mn-lt"/>
              </a:rPr>
              <a:t>Flexible price approach - The </a:t>
            </a:r>
            <a:r>
              <a:rPr lang="en-GB" altLang="en-US" i="1" dirty="0">
                <a:latin typeface="+mn-lt"/>
              </a:rPr>
              <a:t>SRAS</a:t>
            </a:r>
            <a:r>
              <a:rPr lang="en-GB" altLang="en-US" dirty="0">
                <a:latin typeface="+mn-lt"/>
              </a:rPr>
              <a:t> to be upward sloping, and steeper as it approaches </a:t>
            </a:r>
            <a:r>
              <a:rPr lang="en-GB" altLang="en-US" i="1" dirty="0">
                <a:latin typeface="+mn-lt"/>
              </a:rPr>
              <a:t>Y</a:t>
            </a:r>
            <a:r>
              <a:rPr lang="en-GB" altLang="en-US" baseline="-25000" dirty="0">
                <a:latin typeface="+mn-lt"/>
              </a:rPr>
              <a:t>F</a:t>
            </a:r>
            <a:endParaRPr lang="en-GB" altLang="en-US" dirty="0">
              <a:latin typeface="+mn-lt"/>
            </a:endParaRPr>
          </a:p>
          <a:p>
            <a:pPr lvl="1">
              <a:spcBef>
                <a:spcPts val="600"/>
              </a:spcBef>
            </a:pPr>
            <a:r>
              <a:rPr lang="en-GB" altLang="en-US" sz="2200" dirty="0">
                <a:latin typeface="+mn-lt"/>
              </a:rPr>
              <a:t>Reflects </a:t>
            </a:r>
            <a:r>
              <a:rPr lang="en-GB" altLang="en-US" sz="2200" b="1" dirty="0">
                <a:latin typeface="+mn-lt"/>
              </a:rPr>
              <a:t>some</a:t>
            </a:r>
            <a:r>
              <a:rPr lang="en-GB" altLang="en-US" sz="2200" dirty="0">
                <a:latin typeface="+mn-lt"/>
              </a:rPr>
              <a:t> stickiness in wages and prices</a:t>
            </a:r>
          </a:p>
          <a:p>
            <a:pPr lvl="1">
              <a:spcBef>
                <a:spcPts val="600"/>
              </a:spcBef>
            </a:pPr>
            <a:r>
              <a:rPr lang="en-GB" altLang="en-US" sz="2200" dirty="0">
                <a:latin typeface="+mn-lt"/>
              </a:rPr>
              <a:t>An increase in AD will have impact on prices and income</a:t>
            </a:r>
          </a:p>
        </p:txBody>
      </p:sp>
    </p:spTree>
    <p:extLst>
      <p:ext uri="{BB962C8B-B14F-4D97-AF65-F5344CB8AC3E}">
        <p14:creationId xmlns:p14="http://schemas.microsoft.com/office/powerpoint/2010/main" val="2609716517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1" grpId="0" uiExpand="1" build="p" bldLvl="3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3" name="Group 33">
            <a:extLst>
              <a:ext uri="{FF2B5EF4-FFF2-40B4-BE49-F238E27FC236}">
                <a16:creationId xmlns:a16="http://schemas.microsoft.com/office/drawing/2014/main" id="{05DAD48C-6688-496A-A8CD-4810532AB417}"/>
              </a:ext>
            </a:extLst>
          </p:cNvPr>
          <p:cNvGrpSpPr>
            <a:grpSpLocks/>
          </p:cNvGrpSpPr>
          <p:nvPr/>
        </p:nvGrpSpPr>
        <p:grpSpPr bwMode="auto">
          <a:xfrm>
            <a:off x="3159461" y="-277813"/>
            <a:ext cx="6553200" cy="5148264"/>
            <a:chOff x="1552" y="-175"/>
            <a:chExt cx="4128" cy="3243"/>
          </a:xfrm>
        </p:grpSpPr>
        <p:sp>
          <p:nvSpPr>
            <p:cNvPr id="10250" name="Arc 12">
              <a:extLst>
                <a:ext uri="{FF2B5EF4-FFF2-40B4-BE49-F238E27FC236}">
                  <a16:creationId xmlns:a16="http://schemas.microsoft.com/office/drawing/2014/main" id="{711C1CF4-3D42-40F1-90FA-AF1DC0D8E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" y="-175"/>
              <a:ext cx="4128" cy="3071"/>
            </a:xfrm>
            <a:custGeom>
              <a:avLst/>
              <a:gdLst>
                <a:gd name="T0" fmla="*/ 2147483646 w 20982"/>
                <a:gd name="T1" fmla="*/ 2147483646 h 19845"/>
                <a:gd name="T2" fmla="*/ 0 w 20982"/>
                <a:gd name="T3" fmla="*/ 2147483646 h 19845"/>
                <a:gd name="T4" fmla="*/ 2147483646 w 20982"/>
                <a:gd name="T5" fmla="*/ 0 h 198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982" h="19845" fill="none" extrusionOk="0">
                  <a:moveTo>
                    <a:pt x="12453" y="19844"/>
                  </a:moveTo>
                  <a:cubicBezTo>
                    <a:pt x="6222" y="17166"/>
                    <a:pt x="1610" y="11717"/>
                    <a:pt x="0" y="5129"/>
                  </a:cubicBezTo>
                </a:path>
                <a:path w="20982" h="19845" stroke="0" extrusionOk="0">
                  <a:moveTo>
                    <a:pt x="12453" y="19844"/>
                  </a:moveTo>
                  <a:cubicBezTo>
                    <a:pt x="6222" y="17166"/>
                    <a:pt x="1610" y="11717"/>
                    <a:pt x="0" y="5129"/>
                  </a:cubicBezTo>
                  <a:lnTo>
                    <a:pt x="20982" y="0"/>
                  </a:lnTo>
                  <a:lnTo>
                    <a:pt x="12453" y="19844"/>
                  </a:lnTo>
                  <a:close/>
                </a:path>
              </a:pathLst>
            </a:custGeom>
            <a:noFill/>
            <a:ln w="38100" cap="rnd">
              <a:solidFill>
                <a:srgbClr val="0066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61" name="Rectangle 23">
              <a:extLst>
                <a:ext uri="{FF2B5EF4-FFF2-40B4-BE49-F238E27FC236}">
                  <a16:creationId xmlns:a16="http://schemas.microsoft.com/office/drawing/2014/main" id="{C65285B0-EDA3-4AE9-A60F-B8A660B38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" y="2777"/>
              <a:ext cx="4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2400" i="1" dirty="0">
                  <a:solidFill>
                    <a:srgbClr val="006600"/>
                  </a:solidFill>
                </a:rPr>
                <a:t>AD</a:t>
              </a:r>
              <a:r>
                <a:rPr lang="en-GB" altLang="en-US" sz="2400" baseline="-25000" dirty="0">
                  <a:solidFill>
                    <a:srgbClr val="006600"/>
                  </a:solidFill>
                </a:rPr>
                <a:t>2</a:t>
              </a:r>
            </a:p>
          </p:txBody>
        </p:sp>
      </p:grpSp>
      <p:sp>
        <p:nvSpPr>
          <p:cNvPr id="10242" name="Rectangle 2">
            <a:extLst>
              <a:ext uri="{FF2B5EF4-FFF2-40B4-BE49-F238E27FC236}">
                <a16:creationId xmlns:a16="http://schemas.microsoft.com/office/drawing/2014/main" id="{8D0772AE-13C7-4610-B510-6F8962031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461" y="57673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F8C9537-F99D-4CFF-81CE-721284971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861" y="576738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DADA2930-5CB0-4FBE-BAF5-3D516A6F29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461" y="5565775"/>
            <a:ext cx="701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D1D8B5D4-99A9-4EAA-ACAE-7B00A6B75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787" y="5519738"/>
            <a:ext cx="384721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C6ADC9C2-95D0-4318-B9D3-9678E64B4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9329" y="920751"/>
            <a:ext cx="596317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 i="1">
                <a:solidFill>
                  <a:schemeClr val="accent2"/>
                </a:solidFill>
              </a:rPr>
              <a:t>AS</a:t>
            </a:r>
          </a:p>
        </p:txBody>
      </p:sp>
      <p:sp>
        <p:nvSpPr>
          <p:cNvPr id="10248" name="Arc 8">
            <a:extLst>
              <a:ext uri="{FF2B5EF4-FFF2-40B4-BE49-F238E27FC236}">
                <a16:creationId xmlns:a16="http://schemas.microsoft.com/office/drawing/2014/main" id="{977142EB-F756-475F-8E4F-91FBED205D50}"/>
              </a:ext>
            </a:extLst>
          </p:cNvPr>
          <p:cNvSpPr>
            <a:spLocks/>
          </p:cNvSpPr>
          <p:nvPr/>
        </p:nvSpPr>
        <p:spPr bwMode="auto">
          <a:xfrm>
            <a:off x="2143461" y="-176213"/>
            <a:ext cx="7105650" cy="5461001"/>
          </a:xfrm>
          <a:custGeom>
            <a:avLst/>
            <a:gdLst>
              <a:gd name="T0" fmla="*/ 2147483646 w 20982"/>
              <a:gd name="T1" fmla="*/ 2147483646 h 19845"/>
              <a:gd name="T2" fmla="*/ 0 w 20982"/>
              <a:gd name="T3" fmla="*/ 2147483646 h 19845"/>
              <a:gd name="T4" fmla="*/ 2147483646 w 20982"/>
              <a:gd name="T5" fmla="*/ 0 h 198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982" h="19845" fill="none" extrusionOk="0">
                <a:moveTo>
                  <a:pt x="12453" y="19844"/>
                </a:moveTo>
                <a:cubicBezTo>
                  <a:pt x="6221" y="17166"/>
                  <a:pt x="1610" y="11717"/>
                  <a:pt x="-1" y="5129"/>
                </a:cubicBezTo>
              </a:path>
              <a:path w="20982" h="19845" stroke="0" extrusionOk="0">
                <a:moveTo>
                  <a:pt x="12453" y="19844"/>
                </a:moveTo>
                <a:cubicBezTo>
                  <a:pt x="6221" y="17166"/>
                  <a:pt x="1610" y="11717"/>
                  <a:pt x="-1" y="5129"/>
                </a:cubicBezTo>
                <a:lnTo>
                  <a:pt x="20982" y="0"/>
                </a:lnTo>
                <a:lnTo>
                  <a:pt x="12453" y="19844"/>
                </a:lnTo>
                <a:close/>
              </a:path>
            </a:pathLst>
          </a:custGeom>
          <a:noFill/>
          <a:ln w="38100" cap="rnd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8F0F9DC0-6C1C-4C01-8C25-59809C502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3465" y="5613400"/>
            <a:ext cx="45204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en-US" sz="2000" i="1">
                <a:solidFill>
                  <a:srgbClr val="0000CC"/>
                </a:solidFill>
              </a:rPr>
              <a:t>Y</a:t>
            </a:r>
            <a:r>
              <a:rPr lang="en-GB" altLang="en-US" sz="2000" baseline="-25000">
                <a:solidFill>
                  <a:srgbClr val="0000CC"/>
                </a:solidFill>
              </a:rPr>
              <a:t>1</a:t>
            </a:r>
          </a:p>
        </p:txBody>
      </p:sp>
      <p:grpSp>
        <p:nvGrpSpPr>
          <p:cNvPr id="10276" name="Group 36">
            <a:extLst>
              <a:ext uri="{FF2B5EF4-FFF2-40B4-BE49-F238E27FC236}">
                <a16:creationId xmlns:a16="http://schemas.microsoft.com/office/drawing/2014/main" id="{6E803D72-5CAF-45F5-9BF8-FB6F90FF09F1}"/>
              </a:ext>
            </a:extLst>
          </p:cNvPr>
          <p:cNvGrpSpPr>
            <a:grpSpLocks/>
          </p:cNvGrpSpPr>
          <p:nvPr/>
        </p:nvGrpSpPr>
        <p:grpSpPr bwMode="auto">
          <a:xfrm>
            <a:off x="5231150" y="3821114"/>
            <a:ext cx="452437" cy="2200275"/>
            <a:chOff x="2857" y="2407"/>
            <a:chExt cx="285" cy="1386"/>
          </a:xfrm>
        </p:grpSpPr>
        <p:sp>
          <p:nvSpPr>
            <p:cNvPr id="10251" name="Rectangle 13">
              <a:extLst>
                <a:ext uri="{FF2B5EF4-FFF2-40B4-BE49-F238E27FC236}">
                  <a16:creationId xmlns:a16="http://schemas.microsoft.com/office/drawing/2014/main" id="{B855B3EF-EED4-4CC0-9F4F-B20D5AC7D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3541"/>
              <a:ext cx="28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GB" altLang="en-US" sz="2000" i="1" dirty="0">
                  <a:solidFill>
                    <a:srgbClr val="006600"/>
                  </a:solidFill>
                </a:rPr>
                <a:t>Y</a:t>
              </a:r>
              <a:r>
                <a:rPr lang="en-GB" altLang="en-US" sz="2000" baseline="-25000" dirty="0">
                  <a:solidFill>
                    <a:srgbClr val="006600"/>
                  </a:solidFill>
                </a:rPr>
                <a:t>2</a:t>
              </a:r>
            </a:p>
          </p:txBody>
        </p:sp>
        <p:sp>
          <p:nvSpPr>
            <p:cNvPr id="10252" name="Line 14">
              <a:extLst>
                <a:ext uri="{FF2B5EF4-FFF2-40B4-BE49-F238E27FC236}">
                  <a16:creationId xmlns:a16="http://schemas.microsoft.com/office/drawing/2014/main" id="{9A8F8CE9-7CCC-44C9-A53D-BBCB50D4C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5" y="2407"/>
              <a:ext cx="1" cy="1095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0253" name="Line 15">
            <a:extLst>
              <a:ext uri="{FF2B5EF4-FFF2-40B4-BE49-F238E27FC236}">
                <a16:creationId xmlns:a16="http://schemas.microsoft.com/office/drawing/2014/main" id="{B3852B5A-CD3C-4FB2-9C27-94F642324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4211" y="4224339"/>
            <a:ext cx="0" cy="1336675"/>
          </a:xfrm>
          <a:prstGeom prst="line">
            <a:avLst/>
          </a:prstGeom>
          <a:noFill/>
          <a:ln w="19050">
            <a:solidFill>
              <a:srgbClr val="0000CC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54" name="Arc 16">
            <a:extLst>
              <a:ext uri="{FF2B5EF4-FFF2-40B4-BE49-F238E27FC236}">
                <a16:creationId xmlns:a16="http://schemas.microsoft.com/office/drawing/2014/main" id="{B7D2DF0A-CC11-4397-B61F-7EDEB0E24274}"/>
              </a:ext>
            </a:extLst>
          </p:cNvPr>
          <p:cNvSpPr>
            <a:spLocks/>
          </p:cNvSpPr>
          <p:nvPr/>
        </p:nvSpPr>
        <p:spPr bwMode="auto">
          <a:xfrm>
            <a:off x="2173625" y="973138"/>
            <a:ext cx="5521325" cy="3543300"/>
          </a:xfrm>
          <a:custGeom>
            <a:avLst/>
            <a:gdLst>
              <a:gd name="T0" fmla="*/ 2147483646 w 21459"/>
              <a:gd name="T1" fmla="*/ 2147483646 h 21600"/>
              <a:gd name="T2" fmla="*/ 0 w 21459"/>
              <a:gd name="T3" fmla="*/ 2147483646 h 21600"/>
              <a:gd name="T4" fmla="*/ 0 w 21459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459" h="21600" fill="none" extrusionOk="0">
                <a:moveTo>
                  <a:pt x="21459" y="2461"/>
                </a:moveTo>
                <a:cubicBezTo>
                  <a:pt x="20208" y="13366"/>
                  <a:pt x="10977" y="21600"/>
                  <a:pt x="0" y="21600"/>
                </a:cubicBezTo>
              </a:path>
              <a:path w="21459" h="21600" stroke="0" extrusionOk="0">
                <a:moveTo>
                  <a:pt x="21459" y="2461"/>
                </a:moveTo>
                <a:cubicBezTo>
                  <a:pt x="20208" y="13366"/>
                  <a:pt x="10977" y="21600"/>
                  <a:pt x="0" y="21600"/>
                </a:cubicBezTo>
                <a:lnTo>
                  <a:pt x="0" y="0"/>
                </a:lnTo>
                <a:lnTo>
                  <a:pt x="21459" y="2461"/>
                </a:lnTo>
                <a:close/>
              </a:path>
            </a:pathLst>
          </a:custGeom>
          <a:noFill/>
          <a:ln w="38100" cap="rnd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55" name="Line 17">
            <a:extLst>
              <a:ext uri="{FF2B5EF4-FFF2-40B4-BE49-F238E27FC236}">
                <a16:creationId xmlns:a16="http://schemas.microsoft.com/office/drawing/2014/main" id="{478AF279-EA7E-4E5D-8075-D0B95E0E90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70399" y="4241800"/>
            <a:ext cx="2563812" cy="0"/>
          </a:xfrm>
          <a:prstGeom prst="line">
            <a:avLst/>
          </a:prstGeom>
          <a:noFill/>
          <a:ln w="19050">
            <a:solidFill>
              <a:srgbClr val="0000CC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58" name="Oval 20">
            <a:extLst>
              <a:ext uri="{FF2B5EF4-FFF2-40B4-BE49-F238E27FC236}">
                <a16:creationId xmlns:a16="http://schemas.microsoft.com/office/drawing/2014/main" id="{CF991662-4E13-4AF7-A9AB-2B274912E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0236" y="4159250"/>
            <a:ext cx="127000" cy="127000"/>
          </a:xfrm>
          <a:prstGeom prst="ellipse">
            <a:avLst/>
          </a:prstGeom>
          <a:solidFill>
            <a:srgbClr val="66CCFF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59" name="Rectangle 21">
            <a:extLst>
              <a:ext uri="{FF2B5EF4-FFF2-40B4-BE49-F238E27FC236}">
                <a16:creationId xmlns:a16="http://schemas.microsoft.com/office/drawing/2014/main" id="{93051CBB-E2C8-49CC-868F-FDA643511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512" y="4059238"/>
            <a:ext cx="45204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i="1">
                <a:solidFill>
                  <a:srgbClr val="0000CC"/>
                </a:solidFill>
              </a:rPr>
              <a:t>P</a:t>
            </a:r>
            <a:r>
              <a:rPr lang="en-GB" altLang="en-US" sz="2000" baseline="-25000">
                <a:solidFill>
                  <a:srgbClr val="0000CC"/>
                </a:solidFill>
              </a:rPr>
              <a:t>1</a:t>
            </a:r>
          </a:p>
        </p:txBody>
      </p:sp>
      <p:grpSp>
        <p:nvGrpSpPr>
          <p:cNvPr id="10275" name="Group 35">
            <a:extLst>
              <a:ext uri="{FF2B5EF4-FFF2-40B4-BE49-F238E27FC236}">
                <a16:creationId xmlns:a16="http://schemas.microsoft.com/office/drawing/2014/main" id="{1D1D634C-1327-442F-8042-A87539E68079}"/>
              </a:ext>
            </a:extLst>
          </p:cNvPr>
          <p:cNvGrpSpPr>
            <a:grpSpLocks/>
          </p:cNvGrpSpPr>
          <p:nvPr/>
        </p:nvGrpSpPr>
        <p:grpSpPr bwMode="auto">
          <a:xfrm>
            <a:off x="1270336" y="3617913"/>
            <a:ext cx="4198938" cy="400050"/>
            <a:chOff x="362" y="2279"/>
            <a:chExt cx="2645" cy="252"/>
          </a:xfrm>
        </p:grpSpPr>
        <p:sp>
          <p:nvSpPr>
            <p:cNvPr id="10256" name="Line 18">
              <a:extLst>
                <a:ext uri="{FF2B5EF4-FFF2-40B4-BE49-F238E27FC236}">
                  <a16:creationId xmlns:a16="http://schemas.microsoft.com/office/drawing/2014/main" id="{71435B25-DFB5-4296-9E6E-BBBC40F55A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2418"/>
              <a:ext cx="2319" cy="0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60" name="Rectangle 22">
              <a:extLst>
                <a:ext uri="{FF2B5EF4-FFF2-40B4-BE49-F238E27FC236}">
                  <a16:creationId xmlns:a16="http://schemas.microsoft.com/office/drawing/2014/main" id="{CD7D3BDF-4295-4CE2-B763-D7F7BECAC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" y="2279"/>
              <a:ext cx="28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GB" altLang="en-US" sz="2000" i="1" dirty="0">
                  <a:solidFill>
                    <a:srgbClr val="006600"/>
                  </a:solidFill>
                </a:rPr>
                <a:t>P</a:t>
              </a:r>
              <a:r>
                <a:rPr lang="en-GB" altLang="en-US" sz="2000" baseline="-25000" dirty="0">
                  <a:solidFill>
                    <a:srgbClr val="006600"/>
                  </a:solidFill>
                </a:rPr>
                <a:t>2</a:t>
              </a:r>
            </a:p>
          </p:txBody>
        </p:sp>
      </p:grpSp>
      <p:sp>
        <p:nvSpPr>
          <p:cNvPr id="10262" name="Rectangle 24">
            <a:extLst>
              <a:ext uri="{FF2B5EF4-FFF2-40B4-BE49-F238E27FC236}">
                <a16:creationId xmlns:a16="http://schemas.microsoft.com/office/drawing/2014/main" id="{207DA6FB-693D-4161-95A9-8F146AB11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512" y="5048251"/>
            <a:ext cx="874713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400" i="1">
                <a:solidFill>
                  <a:srgbClr val="0000CC"/>
                </a:solidFill>
              </a:rPr>
              <a:t>AD</a:t>
            </a:r>
            <a:r>
              <a:rPr lang="en-GB" altLang="en-US" sz="2400" baseline="-25000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10263" name="AutoShape 26">
            <a:extLst>
              <a:ext uri="{FF2B5EF4-FFF2-40B4-BE49-F238E27FC236}">
                <a16:creationId xmlns:a16="http://schemas.microsoft.com/office/drawing/2014/main" id="{4145681C-C482-44B1-8B5C-EF1AF554A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5243" y="2164184"/>
            <a:ext cx="4556128" cy="1739059"/>
          </a:xfrm>
          <a:prstGeom prst="roundRect">
            <a:avLst>
              <a:gd name="adj" fmla="val 16667"/>
            </a:avLst>
          </a:prstGeom>
          <a:solidFill>
            <a:srgbClr val="FFFFEB"/>
          </a:solidFill>
          <a:ln w="25400">
            <a:solidFill>
              <a:schemeClr val="accent1"/>
            </a:solidFill>
            <a:round/>
            <a:headEnd type="none" w="sm" len="sm"/>
            <a:tailEnd type="none" w="sm" len="med"/>
          </a:ln>
          <a:effectLst/>
        </p:spPr>
        <p:txBody>
          <a:bodyPr wrap="square" lIns="90000" tIns="46800" rIns="90000" bIns="46800" anchor="ctr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 dirty="0">
                <a:solidFill>
                  <a:srgbClr val="660066"/>
                </a:solidFill>
              </a:rPr>
              <a:t>Aggregate supply becoming less and less responsive to aggregate demand as spare capacity is used up</a:t>
            </a:r>
          </a:p>
        </p:txBody>
      </p:sp>
      <p:sp>
        <p:nvSpPr>
          <p:cNvPr id="10264" name="Rectangle 29">
            <a:extLst>
              <a:ext uri="{FF2B5EF4-FFF2-40B4-BE49-F238E27FC236}">
                <a16:creationId xmlns:a16="http://schemas.microsoft.com/office/drawing/2014/main" id="{6356BF09-29FC-4274-A762-168B98486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588" y="6300788"/>
            <a:ext cx="7255211" cy="557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 b="1" dirty="0">
                <a:solidFill>
                  <a:schemeClr val="tx1"/>
                </a:solidFill>
              </a:rPr>
              <a:t>(b)</a:t>
            </a:r>
            <a:r>
              <a:rPr lang="en-GB" altLang="en-US" sz="2400" dirty="0">
                <a:solidFill>
                  <a:schemeClr val="tx1"/>
                </a:solidFill>
              </a:rPr>
              <a:t> Mainstream position</a:t>
            </a:r>
            <a:endParaRPr lang="en-GB" altLang="en-US" sz="2400" dirty="0"/>
          </a:p>
        </p:txBody>
      </p:sp>
      <p:sp>
        <p:nvSpPr>
          <p:cNvPr id="10265" name="Rectangle 30">
            <a:extLst>
              <a:ext uri="{FF2B5EF4-FFF2-40B4-BE49-F238E27FC236}">
                <a16:creationId xmlns:a16="http://schemas.microsoft.com/office/drawing/2014/main" id="{8FF94040-CF38-4B00-BF8D-2A716B5417F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08815" y="2992881"/>
            <a:ext cx="1370568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en-US" sz="2000">
                <a:solidFill>
                  <a:schemeClr val="tx1"/>
                </a:solidFill>
              </a:rPr>
              <a:t>Price level</a:t>
            </a:r>
          </a:p>
        </p:txBody>
      </p:sp>
      <p:sp>
        <p:nvSpPr>
          <p:cNvPr id="10266" name="Rectangle 6">
            <a:extLst>
              <a:ext uri="{FF2B5EF4-FFF2-40B4-BE49-F238E27FC236}">
                <a16:creationId xmlns:a16="http://schemas.microsoft.com/office/drawing/2014/main" id="{3B9E25C0-57DF-45BD-B00D-59BC804AE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706" y="5972175"/>
            <a:ext cx="3464089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000" dirty="0">
                <a:solidFill>
                  <a:schemeClr val="tx1"/>
                </a:solidFill>
              </a:rPr>
              <a:t>Real national income (GDP)</a:t>
            </a:r>
          </a:p>
        </p:txBody>
      </p:sp>
      <p:sp>
        <p:nvSpPr>
          <p:cNvPr id="10267" name="Rectangle 39">
            <a:extLst>
              <a:ext uri="{FF2B5EF4-FFF2-40B4-BE49-F238E27FC236}">
                <a16:creationId xmlns:a16="http://schemas.microsoft.com/office/drawing/2014/main" id="{385035D9-CC88-4A8F-84A0-BA064AD0CA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0"/>
            <a:ext cx="10687050" cy="615950"/>
          </a:xfrm>
          <a:prstGeom prst="rect">
            <a:avLst/>
          </a:prstGeom>
          <a:noFill/>
          <a:ln/>
          <a:effectLst>
            <a:outerShdw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2800" b="1" dirty="0">
                <a:solidFill>
                  <a:srgbClr val="660066"/>
                </a:solidFill>
                <a:effectLst/>
              </a:rPr>
              <a:t>Upward sloping short-run aggregate supply </a:t>
            </a:r>
            <a:r>
              <a:rPr lang="en-GB" altLang="en-US" sz="2800" b="1" dirty="0" err="1">
                <a:solidFill>
                  <a:srgbClr val="660066"/>
                </a:solidFill>
                <a:effectLst/>
              </a:rPr>
              <a:t>cureve</a:t>
            </a:r>
            <a:endParaRPr lang="en-GB" altLang="en-US" sz="2800" b="1" dirty="0">
              <a:solidFill>
                <a:srgbClr val="660066"/>
              </a:solidFill>
              <a:effectLst/>
            </a:endParaRPr>
          </a:p>
        </p:txBody>
      </p:sp>
      <p:sp>
        <p:nvSpPr>
          <p:cNvPr id="10268" name="Rectangle 21">
            <a:extLst>
              <a:ext uri="{FF2B5EF4-FFF2-40B4-BE49-F238E27FC236}">
                <a16:creationId xmlns:a16="http://schemas.microsoft.com/office/drawing/2014/main" id="{DB412B70-A307-4D50-AB02-A6B5659FF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699" y="3802063"/>
            <a:ext cx="328616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i="1">
                <a:solidFill>
                  <a:srgbClr val="0000CC"/>
                </a:solidFill>
              </a:rPr>
              <a:t>a</a:t>
            </a:r>
            <a:endParaRPr lang="en-GB" altLang="en-US" sz="2000" baseline="-25000">
              <a:solidFill>
                <a:srgbClr val="0000CC"/>
              </a:solidFill>
            </a:endParaRPr>
          </a:p>
        </p:txBody>
      </p:sp>
      <p:grpSp>
        <p:nvGrpSpPr>
          <p:cNvPr id="10274" name="Group 34">
            <a:extLst>
              <a:ext uri="{FF2B5EF4-FFF2-40B4-BE49-F238E27FC236}">
                <a16:creationId xmlns:a16="http://schemas.microsoft.com/office/drawing/2014/main" id="{3F979576-25D4-47BF-892E-2448E0FCD861}"/>
              </a:ext>
            </a:extLst>
          </p:cNvPr>
          <p:cNvGrpSpPr>
            <a:grpSpLocks/>
          </p:cNvGrpSpPr>
          <p:nvPr/>
        </p:nvGrpSpPr>
        <p:grpSpPr bwMode="auto">
          <a:xfrm>
            <a:off x="5313699" y="3402013"/>
            <a:ext cx="328612" cy="488950"/>
            <a:chOff x="2909" y="2143"/>
            <a:chExt cx="207" cy="308"/>
          </a:xfrm>
        </p:grpSpPr>
        <p:sp>
          <p:nvSpPr>
            <p:cNvPr id="10257" name="Oval 19">
              <a:extLst>
                <a:ext uri="{FF2B5EF4-FFF2-40B4-BE49-F238E27FC236}">
                  <a16:creationId xmlns:a16="http://schemas.microsoft.com/office/drawing/2014/main" id="{610197B5-BFB1-4B35-B40A-71FE8083F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5" y="2371"/>
              <a:ext cx="80" cy="80"/>
            </a:xfrm>
            <a:prstGeom prst="ellipse">
              <a:avLst/>
            </a:prstGeom>
            <a:solidFill>
              <a:srgbClr val="99FF66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269" name="Rectangle 22">
              <a:extLst>
                <a:ext uri="{FF2B5EF4-FFF2-40B4-BE49-F238E27FC236}">
                  <a16:creationId xmlns:a16="http://schemas.microsoft.com/office/drawing/2014/main" id="{AC6CCBA2-4DF7-4FE4-910D-F0D232C5E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9" y="2143"/>
              <a:ext cx="20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GB" altLang="en-US" sz="2000" i="1" dirty="0">
                  <a:solidFill>
                    <a:srgbClr val="006600"/>
                  </a:solidFill>
                </a:rPr>
                <a:t>b</a:t>
              </a:r>
              <a:endParaRPr lang="en-GB" altLang="en-US" sz="2000" baseline="-25000" dirty="0">
                <a:solidFill>
                  <a:srgbClr val="006600"/>
                </a:solidFill>
              </a:endParaRPr>
            </a:p>
          </p:txBody>
        </p:sp>
      </p:grpSp>
      <p:sp>
        <p:nvSpPr>
          <p:cNvPr id="10270" name="Line 5">
            <a:extLst>
              <a:ext uri="{FF2B5EF4-FFF2-40B4-BE49-F238E27FC236}">
                <a16:creationId xmlns:a16="http://schemas.microsoft.com/office/drawing/2014/main" id="{9FBB29A1-E653-4BBF-B3B2-2BC2944C4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461" y="739776"/>
            <a:ext cx="0" cy="4816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532093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3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6" name="Rectangle 4">
            <a:extLst>
              <a:ext uri="{FF2B5EF4-FFF2-40B4-BE49-F238E27FC236}">
                <a16:creationId xmlns:a16="http://schemas.microsoft.com/office/drawing/2014/main" id="{6C3C57BC-658F-4BC1-BEC0-E19A33818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700" dirty="0"/>
              <a:t>Long Run Aggregate Supply</a:t>
            </a:r>
          </a:p>
        </p:txBody>
      </p:sp>
      <p:sp>
        <p:nvSpPr>
          <p:cNvPr id="100357" name="Rectangle 5">
            <a:extLst>
              <a:ext uri="{FF2B5EF4-FFF2-40B4-BE49-F238E27FC236}">
                <a16:creationId xmlns:a16="http://schemas.microsoft.com/office/drawing/2014/main" id="{6151B0CD-3472-477E-A2E9-5A62B1DD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167" y="1446728"/>
            <a:ext cx="11379200" cy="500169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GB" altLang="en-US" dirty="0">
                <a:latin typeface="+mn-lt"/>
              </a:rPr>
              <a:t>Means that prices are fully flexible</a:t>
            </a:r>
          </a:p>
          <a:p>
            <a:pPr lvl="1">
              <a:spcBef>
                <a:spcPts val="1200"/>
              </a:spcBef>
            </a:pPr>
            <a:r>
              <a:rPr lang="en-GB" altLang="en-US" dirty="0">
                <a:latin typeface="+mn-lt"/>
              </a:rPr>
              <a:t>Any change in aggregate demand will feed through to the price level</a:t>
            </a:r>
          </a:p>
          <a:p>
            <a:pPr lvl="1">
              <a:spcBef>
                <a:spcPts val="1200"/>
              </a:spcBef>
            </a:pPr>
            <a:r>
              <a:rPr lang="en-GB" altLang="en-US" dirty="0">
                <a:latin typeface="+mn-lt"/>
              </a:rPr>
              <a:t>Output constant, so LRAS vertical</a:t>
            </a:r>
          </a:p>
          <a:p>
            <a:pPr>
              <a:spcBef>
                <a:spcPts val="1200"/>
              </a:spcBef>
            </a:pPr>
            <a:r>
              <a:rPr lang="en-GB" altLang="en-US" dirty="0">
                <a:latin typeface="+mn-lt"/>
              </a:rPr>
              <a:t>This is short run in New Classical approach</a:t>
            </a:r>
          </a:p>
          <a:p>
            <a:pPr lvl="1">
              <a:spcBef>
                <a:spcPts val="1200"/>
              </a:spcBef>
            </a:pPr>
            <a:r>
              <a:rPr lang="en-GB" altLang="en-US" dirty="0">
                <a:latin typeface="+mn-lt"/>
              </a:rPr>
              <a:t>Only if there is full information, so that changes in demand anticipated</a:t>
            </a:r>
          </a:p>
          <a:p>
            <a:pPr lvl="1">
              <a:spcBef>
                <a:spcPts val="1200"/>
              </a:spcBef>
            </a:pPr>
            <a:r>
              <a:rPr lang="en-GB" altLang="en-US" dirty="0">
                <a:latin typeface="+mn-lt"/>
              </a:rPr>
              <a:t>Two assumptions:</a:t>
            </a:r>
          </a:p>
          <a:p>
            <a:pPr lvl="1">
              <a:spcBef>
                <a:spcPts val="1200"/>
              </a:spcBef>
            </a:pPr>
            <a:r>
              <a:rPr lang="en-GB" altLang="en-US" b="1" dirty="0">
                <a:latin typeface="+mn-lt"/>
              </a:rPr>
              <a:t>market clearing </a:t>
            </a:r>
            <a:r>
              <a:rPr lang="en-GB" altLang="en-US" dirty="0">
                <a:latin typeface="+mn-lt"/>
              </a:rPr>
              <a:t>(all markets adjust to the new equilibrium), </a:t>
            </a:r>
          </a:p>
          <a:p>
            <a:pPr lvl="1">
              <a:spcBef>
                <a:spcPts val="1200"/>
              </a:spcBef>
            </a:pPr>
            <a:r>
              <a:rPr lang="en-GB" altLang="en-US" b="1" dirty="0">
                <a:latin typeface="+mn-lt"/>
              </a:rPr>
              <a:t>‘rational’  expectations </a:t>
            </a:r>
            <a:r>
              <a:rPr lang="en-GB" altLang="en-US" dirty="0">
                <a:latin typeface="+mn-lt"/>
              </a:rPr>
              <a:t>(people use all available information to make decisions)</a:t>
            </a:r>
          </a:p>
          <a:p>
            <a:pPr>
              <a:spcBef>
                <a:spcPts val="1200"/>
              </a:spcBef>
            </a:pPr>
            <a:r>
              <a:rPr lang="en-GB" altLang="en-US" dirty="0">
                <a:latin typeface="+mn-lt"/>
              </a:rPr>
              <a:t>An increase in AD leads only to increase in prices, no effect on income</a:t>
            </a:r>
          </a:p>
        </p:txBody>
      </p:sp>
    </p:spTree>
    <p:extLst>
      <p:ext uri="{BB962C8B-B14F-4D97-AF65-F5344CB8AC3E}">
        <p14:creationId xmlns:p14="http://schemas.microsoft.com/office/powerpoint/2010/main" val="3086483649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0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0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0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0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0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0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03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03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0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0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03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03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03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03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003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003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003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03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7" grpId="0" build="p" bldLvl="4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72" name="Group 36">
            <a:extLst>
              <a:ext uri="{FF2B5EF4-FFF2-40B4-BE49-F238E27FC236}">
                <a16:creationId xmlns:a16="http://schemas.microsoft.com/office/drawing/2014/main" id="{32641698-BA82-474B-85F3-3AA03A37407B}"/>
              </a:ext>
            </a:extLst>
          </p:cNvPr>
          <p:cNvGrpSpPr>
            <a:grpSpLocks/>
          </p:cNvGrpSpPr>
          <p:nvPr/>
        </p:nvGrpSpPr>
        <p:grpSpPr bwMode="auto">
          <a:xfrm>
            <a:off x="3521252" y="2522092"/>
            <a:ext cx="4176713" cy="1323975"/>
            <a:chOff x="1580" y="1565"/>
            <a:chExt cx="2631" cy="83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D214C5F-C801-47E5-90B7-72D6ADEAAE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580" y="1708"/>
              <a:ext cx="1588" cy="691"/>
            </a:xfrm>
            <a:prstGeom prst="line">
              <a:avLst/>
            </a:prstGeom>
            <a:noFill/>
            <a:ln w="38100" algn="ctr">
              <a:solidFill>
                <a:srgbClr val="660066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9" name="Rectangle 19">
              <a:extLst>
                <a:ext uri="{FF2B5EF4-FFF2-40B4-BE49-F238E27FC236}">
                  <a16:creationId xmlns:a16="http://schemas.microsoft.com/office/drawing/2014/main" id="{57442DA2-7A0D-4C4D-9978-1D7A9512A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5" y="1565"/>
              <a:ext cx="1076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GB" altLang="en-US" sz="2200" i="1">
                  <a:solidFill>
                    <a:srgbClr val="660066"/>
                  </a:solidFill>
                </a:rPr>
                <a:t>AS </a:t>
              </a:r>
              <a:r>
                <a:rPr lang="en-GB" altLang="en-US" sz="2200">
                  <a:solidFill>
                    <a:srgbClr val="660066"/>
                  </a:solidFill>
                </a:rPr>
                <a:t>(</a:t>
              </a:r>
              <a:r>
                <a:rPr lang="en-GB" altLang="en-US" sz="2200" i="1">
                  <a:solidFill>
                    <a:srgbClr val="660066"/>
                  </a:solidFill>
                </a:rPr>
                <a:t>P</a:t>
              </a:r>
              <a:r>
                <a:rPr lang="en-GB" altLang="en-US" sz="2200" baseline="30000">
                  <a:solidFill>
                    <a:srgbClr val="660066"/>
                  </a:solidFill>
                </a:rPr>
                <a:t>e</a:t>
              </a:r>
              <a:r>
                <a:rPr lang="en-GB" altLang="en-US" sz="2200" i="1" baseline="30000">
                  <a:solidFill>
                    <a:srgbClr val="660066"/>
                  </a:solidFill>
                </a:rPr>
                <a:t> </a:t>
              </a:r>
              <a:r>
                <a:rPr lang="en-GB" altLang="en-US" sz="2200" i="1">
                  <a:solidFill>
                    <a:srgbClr val="660066"/>
                  </a:solidFill>
                </a:rPr>
                <a:t>= P</a:t>
              </a:r>
              <a:r>
                <a:rPr lang="en-GB" altLang="en-US" sz="2200" baseline="-25000">
                  <a:solidFill>
                    <a:srgbClr val="660066"/>
                  </a:solidFill>
                </a:rPr>
                <a:t>2</a:t>
              </a:r>
              <a:r>
                <a:rPr lang="en-GB" altLang="en-US" sz="2200">
                  <a:solidFill>
                    <a:srgbClr val="660066"/>
                  </a:solidFill>
                </a:rPr>
                <a:t>)</a:t>
              </a:r>
            </a:p>
          </p:txBody>
        </p:sp>
      </p:grpSp>
      <p:grpSp>
        <p:nvGrpSpPr>
          <p:cNvPr id="14370" name="Group 34">
            <a:extLst>
              <a:ext uri="{FF2B5EF4-FFF2-40B4-BE49-F238E27FC236}">
                <a16:creationId xmlns:a16="http://schemas.microsoft.com/office/drawing/2014/main" id="{41308EDF-A9CC-4C45-A7E3-F2CD399A17DB}"/>
              </a:ext>
            </a:extLst>
          </p:cNvPr>
          <p:cNvGrpSpPr>
            <a:grpSpLocks/>
          </p:cNvGrpSpPr>
          <p:nvPr/>
        </p:nvGrpSpPr>
        <p:grpSpPr bwMode="auto">
          <a:xfrm>
            <a:off x="3941940" y="3503167"/>
            <a:ext cx="4260849" cy="1423987"/>
            <a:chOff x="1845" y="2183"/>
            <a:chExt cx="2684" cy="897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3D77D54-5D9F-4C17-A0FE-2734B7BDDA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845" y="2389"/>
              <a:ext cx="1588" cy="691"/>
            </a:xfrm>
            <a:prstGeom prst="line">
              <a:avLst/>
            </a:prstGeom>
            <a:noFill/>
            <a:ln w="38100" algn="ctr">
              <a:solidFill>
                <a:srgbClr val="800080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" name="Rectangle 19">
              <a:extLst>
                <a:ext uri="{FF2B5EF4-FFF2-40B4-BE49-F238E27FC236}">
                  <a16:creationId xmlns:a16="http://schemas.microsoft.com/office/drawing/2014/main" id="{DF6A2B71-DAC1-4DC1-868E-BECFA342C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3" y="2183"/>
              <a:ext cx="1076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GB" altLang="en-US" sz="2200" i="1">
                  <a:solidFill>
                    <a:srgbClr val="800080"/>
                  </a:solidFill>
                </a:rPr>
                <a:t>AS </a:t>
              </a:r>
              <a:r>
                <a:rPr lang="en-GB" altLang="en-US" sz="2200">
                  <a:solidFill>
                    <a:srgbClr val="800080"/>
                  </a:solidFill>
                </a:rPr>
                <a:t>(</a:t>
              </a:r>
              <a:r>
                <a:rPr lang="en-GB" altLang="en-US" sz="2200" i="1">
                  <a:solidFill>
                    <a:srgbClr val="800080"/>
                  </a:solidFill>
                </a:rPr>
                <a:t>P</a:t>
              </a:r>
              <a:r>
                <a:rPr lang="en-GB" altLang="en-US" sz="2200" baseline="30000">
                  <a:solidFill>
                    <a:srgbClr val="800080"/>
                  </a:solidFill>
                </a:rPr>
                <a:t>e</a:t>
              </a:r>
              <a:r>
                <a:rPr lang="en-GB" altLang="en-US" sz="2200" i="1" baseline="30000">
                  <a:solidFill>
                    <a:srgbClr val="800080"/>
                  </a:solidFill>
                </a:rPr>
                <a:t> </a:t>
              </a:r>
              <a:r>
                <a:rPr lang="en-GB" altLang="en-US" sz="2200" i="1">
                  <a:solidFill>
                    <a:srgbClr val="800080"/>
                  </a:solidFill>
                </a:rPr>
                <a:t>= P</a:t>
              </a:r>
              <a:r>
                <a:rPr lang="en-GB" altLang="en-US" sz="2200" baseline="-25000">
                  <a:solidFill>
                    <a:srgbClr val="800080"/>
                  </a:solidFill>
                </a:rPr>
                <a:t>1</a:t>
              </a:r>
              <a:r>
                <a:rPr lang="en-GB" altLang="en-US" sz="2200">
                  <a:solidFill>
                    <a:srgbClr val="800080"/>
                  </a:solidFill>
                </a:rPr>
                <a:t>)</a:t>
              </a:r>
            </a:p>
          </p:txBody>
        </p:sp>
      </p:grpSp>
      <p:sp>
        <p:nvSpPr>
          <p:cNvPr id="14340" name="Line 4">
            <a:extLst>
              <a:ext uri="{FF2B5EF4-FFF2-40B4-BE49-F238E27FC236}">
                <a16:creationId xmlns:a16="http://schemas.microsoft.com/office/drawing/2014/main" id="{FCDA4E45-C0F9-41EF-ABA5-B0044098DE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9801" y="634553"/>
            <a:ext cx="0" cy="5022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1" name="Line 5">
            <a:extLst>
              <a:ext uri="{FF2B5EF4-FFF2-40B4-BE49-F238E27FC236}">
                <a16:creationId xmlns:a16="http://schemas.microsoft.com/office/drawing/2014/main" id="{A6ED80FF-3E73-4A58-89E5-D0354F60B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9801" y="5657403"/>
            <a:ext cx="701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72898C5C-046B-4C4D-AF37-52124C866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127" y="5611366"/>
            <a:ext cx="384721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14343" name="Line 7">
            <a:extLst>
              <a:ext uri="{FF2B5EF4-FFF2-40B4-BE49-F238E27FC236}">
                <a16:creationId xmlns:a16="http://schemas.microsoft.com/office/drawing/2014/main" id="{371100EF-4563-41BD-BB8A-2A86C3CB15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9201" y="1152079"/>
            <a:ext cx="0" cy="45053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4" name="Arc 8">
            <a:extLst>
              <a:ext uri="{FF2B5EF4-FFF2-40B4-BE49-F238E27FC236}">
                <a16:creationId xmlns:a16="http://schemas.microsoft.com/office/drawing/2014/main" id="{FDD170D4-81F0-4156-BC7E-45A56AEB2819}"/>
              </a:ext>
            </a:extLst>
          </p:cNvPr>
          <p:cNvSpPr>
            <a:spLocks/>
          </p:cNvSpPr>
          <p:nvPr/>
        </p:nvSpPr>
        <p:spPr bwMode="auto">
          <a:xfrm>
            <a:off x="2595739" y="18603"/>
            <a:ext cx="7105650" cy="5461000"/>
          </a:xfrm>
          <a:custGeom>
            <a:avLst/>
            <a:gdLst>
              <a:gd name="T0" fmla="*/ 2147483646 w 20982"/>
              <a:gd name="T1" fmla="*/ 2147483646 h 19845"/>
              <a:gd name="T2" fmla="*/ 0 w 20982"/>
              <a:gd name="T3" fmla="*/ 2147483646 h 19845"/>
              <a:gd name="T4" fmla="*/ 2147483646 w 20982"/>
              <a:gd name="T5" fmla="*/ 0 h 198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982" h="19845" fill="none" extrusionOk="0">
                <a:moveTo>
                  <a:pt x="12453" y="19844"/>
                </a:moveTo>
                <a:cubicBezTo>
                  <a:pt x="6221" y="17166"/>
                  <a:pt x="1610" y="11717"/>
                  <a:pt x="-1" y="5129"/>
                </a:cubicBezTo>
              </a:path>
              <a:path w="20982" h="19845" stroke="0" extrusionOk="0">
                <a:moveTo>
                  <a:pt x="12453" y="19844"/>
                </a:moveTo>
                <a:cubicBezTo>
                  <a:pt x="6221" y="17166"/>
                  <a:pt x="1610" y="11717"/>
                  <a:pt x="-1" y="5129"/>
                </a:cubicBezTo>
                <a:lnTo>
                  <a:pt x="20982" y="0"/>
                </a:lnTo>
                <a:lnTo>
                  <a:pt x="12453" y="19844"/>
                </a:lnTo>
                <a:close/>
              </a:path>
            </a:pathLst>
          </a:custGeom>
          <a:noFill/>
          <a:ln w="38100" cap="rnd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40C0E018-EDD9-403E-BE62-23DB10999D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89326" y="4514403"/>
            <a:ext cx="2819400" cy="0"/>
          </a:xfrm>
          <a:prstGeom prst="line">
            <a:avLst/>
          </a:prstGeom>
          <a:noFill/>
          <a:ln w="19050">
            <a:solidFill>
              <a:srgbClr val="0000CC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6" name="Oval 10">
            <a:extLst>
              <a:ext uri="{FF2B5EF4-FFF2-40B4-BE49-F238E27FC236}">
                <a16:creationId xmlns:a16="http://schemas.microsoft.com/office/drawing/2014/main" id="{24004A98-FC79-4212-B639-D4E7AFBF7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5701" y="4450903"/>
            <a:ext cx="127000" cy="127000"/>
          </a:xfrm>
          <a:prstGeom prst="ellipse">
            <a:avLst/>
          </a:prstGeom>
          <a:solidFill>
            <a:srgbClr val="B5DAFF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5D700CD0-050B-4515-9C48-21C2E6501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80" y="4306441"/>
            <a:ext cx="45204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en-US" sz="2000" i="1">
                <a:solidFill>
                  <a:srgbClr val="0000CC"/>
                </a:solidFill>
              </a:rPr>
              <a:t>P</a:t>
            </a:r>
            <a:r>
              <a:rPr lang="en-GB" altLang="en-US" sz="2000" baseline="-25000">
                <a:solidFill>
                  <a:srgbClr val="0000CC"/>
                </a:solidFill>
              </a:rPr>
              <a:t>1</a:t>
            </a:r>
          </a:p>
        </p:txBody>
      </p:sp>
      <p:grpSp>
        <p:nvGrpSpPr>
          <p:cNvPr id="14369" name="Group 33">
            <a:extLst>
              <a:ext uri="{FF2B5EF4-FFF2-40B4-BE49-F238E27FC236}">
                <a16:creationId xmlns:a16="http://schemas.microsoft.com/office/drawing/2014/main" id="{6BF49D0B-4AEE-4955-83D0-93F206A88C85}"/>
              </a:ext>
            </a:extLst>
          </p:cNvPr>
          <p:cNvGrpSpPr>
            <a:grpSpLocks/>
          </p:cNvGrpSpPr>
          <p:nvPr/>
        </p:nvGrpSpPr>
        <p:grpSpPr bwMode="auto">
          <a:xfrm>
            <a:off x="3452989" y="-209997"/>
            <a:ext cx="6553200" cy="5141913"/>
            <a:chOff x="1537" y="-156"/>
            <a:chExt cx="4128" cy="3239"/>
          </a:xfrm>
        </p:grpSpPr>
        <p:sp>
          <p:nvSpPr>
            <p:cNvPr id="14348" name="Arc 14">
              <a:extLst>
                <a:ext uri="{FF2B5EF4-FFF2-40B4-BE49-F238E27FC236}">
                  <a16:creationId xmlns:a16="http://schemas.microsoft.com/office/drawing/2014/main" id="{729A6D2C-ACD8-4881-B48C-D7B8D4918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" y="-156"/>
              <a:ext cx="4128" cy="3071"/>
            </a:xfrm>
            <a:custGeom>
              <a:avLst/>
              <a:gdLst>
                <a:gd name="T0" fmla="*/ 2147483646 w 20982"/>
                <a:gd name="T1" fmla="*/ 2147483646 h 19845"/>
                <a:gd name="T2" fmla="*/ 0 w 20982"/>
                <a:gd name="T3" fmla="*/ 2147483646 h 19845"/>
                <a:gd name="T4" fmla="*/ 2147483646 w 20982"/>
                <a:gd name="T5" fmla="*/ 0 h 198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982" h="19845" fill="none" extrusionOk="0">
                  <a:moveTo>
                    <a:pt x="12453" y="19844"/>
                  </a:moveTo>
                  <a:cubicBezTo>
                    <a:pt x="6222" y="17166"/>
                    <a:pt x="1610" y="11717"/>
                    <a:pt x="0" y="5129"/>
                  </a:cubicBezTo>
                </a:path>
                <a:path w="20982" h="19845" stroke="0" extrusionOk="0">
                  <a:moveTo>
                    <a:pt x="12453" y="19844"/>
                  </a:moveTo>
                  <a:cubicBezTo>
                    <a:pt x="6222" y="17166"/>
                    <a:pt x="1610" y="11717"/>
                    <a:pt x="0" y="5129"/>
                  </a:cubicBezTo>
                  <a:lnTo>
                    <a:pt x="20982" y="0"/>
                  </a:lnTo>
                  <a:lnTo>
                    <a:pt x="12453" y="19844"/>
                  </a:lnTo>
                  <a:close/>
                </a:path>
              </a:pathLst>
            </a:custGeom>
            <a:noFill/>
            <a:ln w="38100" cap="rnd">
              <a:solidFill>
                <a:srgbClr val="0066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49" name="Rectangle 15">
              <a:extLst>
                <a:ext uri="{FF2B5EF4-FFF2-40B4-BE49-F238E27FC236}">
                  <a16:creationId xmlns:a16="http://schemas.microsoft.com/office/drawing/2014/main" id="{11E73F28-BA2A-46CA-864E-B4782F516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" y="2811"/>
              <a:ext cx="47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2200" i="1" dirty="0">
                  <a:solidFill>
                    <a:srgbClr val="006600"/>
                  </a:solidFill>
                </a:rPr>
                <a:t>AD</a:t>
              </a:r>
              <a:r>
                <a:rPr lang="en-GB" altLang="en-US" sz="2200" baseline="-25000" dirty="0">
                  <a:solidFill>
                    <a:srgbClr val="006600"/>
                  </a:solidFill>
                </a:rPr>
                <a:t>2</a:t>
              </a:r>
            </a:p>
          </p:txBody>
        </p:sp>
      </p:grpSp>
      <p:grpSp>
        <p:nvGrpSpPr>
          <p:cNvPr id="14374" name="Group 38">
            <a:extLst>
              <a:ext uri="{FF2B5EF4-FFF2-40B4-BE49-F238E27FC236}">
                <a16:creationId xmlns:a16="http://schemas.microsoft.com/office/drawing/2014/main" id="{A4B21D9C-85C4-41BC-8159-1899D716ED3B}"/>
              </a:ext>
            </a:extLst>
          </p:cNvPr>
          <p:cNvGrpSpPr>
            <a:grpSpLocks/>
          </p:cNvGrpSpPr>
          <p:nvPr/>
        </p:nvGrpSpPr>
        <p:grpSpPr bwMode="auto">
          <a:xfrm>
            <a:off x="1592440" y="3036441"/>
            <a:ext cx="3324225" cy="400050"/>
            <a:chOff x="365" y="1889"/>
            <a:chExt cx="2094" cy="252"/>
          </a:xfrm>
        </p:grpSpPr>
        <p:sp>
          <p:nvSpPr>
            <p:cNvPr id="14350" name="Line 16">
              <a:extLst>
                <a:ext uri="{FF2B5EF4-FFF2-40B4-BE49-F238E27FC236}">
                  <a16:creationId xmlns:a16="http://schemas.microsoft.com/office/drawing/2014/main" id="{7D22932D-56FF-4247-9419-55642D7D99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2026"/>
              <a:ext cx="1787" cy="0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1" name="Rectangle 17">
              <a:extLst>
                <a:ext uri="{FF2B5EF4-FFF2-40B4-BE49-F238E27FC236}">
                  <a16:creationId xmlns:a16="http://schemas.microsoft.com/office/drawing/2014/main" id="{97B0650E-2FFB-4DBA-AD39-D5ECECF0D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" y="1889"/>
              <a:ext cx="28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GB" altLang="en-US" sz="2000" i="1" dirty="0">
                  <a:solidFill>
                    <a:srgbClr val="006600"/>
                  </a:solidFill>
                </a:rPr>
                <a:t>P</a:t>
              </a:r>
              <a:r>
                <a:rPr lang="en-GB" altLang="en-US" sz="2000" baseline="-25000" dirty="0">
                  <a:solidFill>
                    <a:srgbClr val="006600"/>
                  </a:solidFill>
                </a:rPr>
                <a:t>2</a:t>
              </a:r>
            </a:p>
          </p:txBody>
        </p:sp>
      </p:grpSp>
      <p:sp>
        <p:nvSpPr>
          <p:cNvPr id="14352" name="Rectangle 18">
            <a:extLst>
              <a:ext uri="{FF2B5EF4-FFF2-40B4-BE49-F238E27FC236}">
                <a16:creationId xmlns:a16="http://schemas.microsoft.com/office/drawing/2014/main" id="{A9BBEBA5-8343-4DE2-B673-216B48471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384" y="5689153"/>
            <a:ext cx="452048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000" i="1">
                <a:solidFill>
                  <a:schemeClr val="accent2"/>
                </a:solidFill>
              </a:rPr>
              <a:t>Y</a:t>
            </a:r>
            <a:r>
              <a:rPr lang="en-GB" altLang="en-US" sz="2000" baseline="-25000">
                <a:solidFill>
                  <a:schemeClr val="accent2"/>
                </a:solidFill>
              </a:rPr>
              <a:t>p</a:t>
            </a:r>
            <a:endParaRPr lang="en-GB" altLang="en-US" sz="2000" i="1">
              <a:solidFill>
                <a:schemeClr val="accent2"/>
              </a:solidFill>
            </a:endParaRPr>
          </a:p>
        </p:txBody>
      </p:sp>
      <p:sp>
        <p:nvSpPr>
          <p:cNvPr id="14354" name="Rectangle 20">
            <a:extLst>
              <a:ext uri="{FF2B5EF4-FFF2-40B4-BE49-F238E27FC236}">
                <a16:creationId xmlns:a16="http://schemas.microsoft.com/office/drawing/2014/main" id="{3F9E3617-B3AC-4F27-8BCE-401EBB9B2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477" y="5157342"/>
            <a:ext cx="874713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200" i="1">
                <a:solidFill>
                  <a:srgbClr val="0000CC"/>
                </a:solidFill>
              </a:rPr>
              <a:t>AD</a:t>
            </a:r>
            <a:r>
              <a:rPr lang="en-GB" altLang="en-US" sz="2200" baseline="-25000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14356" name="AutoShape 23">
            <a:extLst>
              <a:ext uri="{FF2B5EF4-FFF2-40B4-BE49-F238E27FC236}">
                <a16:creationId xmlns:a16="http://schemas.microsoft.com/office/drawing/2014/main" id="{3278DF1E-AB09-4D5A-9685-1E3152C12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890" y="816191"/>
            <a:ext cx="4825156" cy="1330436"/>
          </a:xfrm>
          <a:prstGeom prst="roundRect">
            <a:avLst>
              <a:gd name="adj" fmla="val 16667"/>
            </a:avLst>
          </a:prstGeom>
          <a:solidFill>
            <a:srgbClr val="FFFFEB"/>
          </a:solidFill>
          <a:ln w="25400">
            <a:solidFill>
              <a:schemeClr val="accent1"/>
            </a:solidFill>
            <a:round/>
            <a:headEnd type="none" w="sm" len="sm"/>
            <a:tailEnd type="none" w="sm" len="med"/>
          </a:ln>
          <a:effectLst/>
        </p:spPr>
        <p:txBody>
          <a:bodyPr wrap="square" lIns="90000" tIns="46800" rIns="90000" bIns="46800" anchor="ctr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 dirty="0">
                <a:solidFill>
                  <a:srgbClr val="660066"/>
                </a:solidFill>
              </a:rPr>
              <a:t>Aggregate supply is independent of aggregate demand because changes in </a:t>
            </a:r>
            <a:r>
              <a:rPr lang="en-GB" altLang="en-US" sz="2400" i="1" dirty="0">
                <a:solidFill>
                  <a:srgbClr val="660066"/>
                </a:solidFill>
              </a:rPr>
              <a:t>AD</a:t>
            </a:r>
            <a:r>
              <a:rPr lang="en-GB" altLang="en-US" sz="2400" dirty="0">
                <a:solidFill>
                  <a:srgbClr val="660066"/>
                </a:solidFill>
              </a:rPr>
              <a:t> are </a:t>
            </a:r>
            <a:r>
              <a:rPr lang="en-GB" altLang="en-US" sz="2400" i="1" dirty="0">
                <a:solidFill>
                  <a:srgbClr val="660066"/>
                </a:solidFill>
              </a:rPr>
              <a:t>anticipated</a:t>
            </a:r>
            <a:endParaRPr lang="en-GB" altLang="en-US" sz="2400" dirty="0">
              <a:solidFill>
                <a:srgbClr val="660066"/>
              </a:solidFill>
            </a:endParaRPr>
          </a:p>
        </p:txBody>
      </p:sp>
      <p:sp>
        <p:nvSpPr>
          <p:cNvPr id="14357" name="Rectangle 24">
            <a:extLst>
              <a:ext uri="{FF2B5EF4-FFF2-40B4-BE49-F238E27FC236}">
                <a16:creationId xmlns:a16="http://schemas.microsoft.com/office/drawing/2014/main" id="{7BB22D1A-0DDF-4351-B52A-945BBEBA7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588" y="6378576"/>
            <a:ext cx="755508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400" b="1">
                <a:solidFill>
                  <a:schemeClr val="tx1"/>
                </a:solidFill>
              </a:rPr>
              <a:t>(c)</a:t>
            </a:r>
            <a:r>
              <a:rPr lang="en-GB" altLang="en-US" sz="2400">
                <a:solidFill>
                  <a:schemeClr val="tx1"/>
                </a:solidFill>
              </a:rPr>
              <a:t> New classical position</a:t>
            </a:r>
            <a:endParaRPr lang="en-GB" altLang="en-US" sz="2400"/>
          </a:p>
        </p:txBody>
      </p:sp>
      <p:sp>
        <p:nvSpPr>
          <p:cNvPr id="14358" name="Rectangle 25">
            <a:extLst>
              <a:ext uri="{FF2B5EF4-FFF2-40B4-BE49-F238E27FC236}">
                <a16:creationId xmlns:a16="http://schemas.microsoft.com/office/drawing/2014/main" id="{F61F4CF6-4403-495D-98AD-18AD5A7C3D7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69030" y="2951159"/>
            <a:ext cx="1370568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en-US" sz="2000">
                <a:solidFill>
                  <a:schemeClr val="tx1"/>
                </a:solidFill>
              </a:rPr>
              <a:t>Price level</a:t>
            </a:r>
          </a:p>
        </p:txBody>
      </p:sp>
      <p:sp>
        <p:nvSpPr>
          <p:cNvPr id="14361" name="Rectangle 21">
            <a:extLst>
              <a:ext uri="{FF2B5EF4-FFF2-40B4-BE49-F238E27FC236}">
                <a16:creationId xmlns:a16="http://schemas.microsoft.com/office/drawing/2014/main" id="{D4D0AE5A-2013-46B1-A0B1-62A3CA101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901" y="4314378"/>
            <a:ext cx="328616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i="1">
                <a:solidFill>
                  <a:srgbClr val="0000CC"/>
                </a:solidFill>
              </a:rPr>
              <a:t>a</a:t>
            </a:r>
            <a:endParaRPr lang="en-GB" altLang="en-US" sz="2000" baseline="-25000">
              <a:solidFill>
                <a:srgbClr val="0000CC"/>
              </a:solidFill>
            </a:endParaRPr>
          </a:p>
        </p:txBody>
      </p:sp>
      <p:sp>
        <p:nvSpPr>
          <p:cNvPr id="14362" name="Rectangle 19">
            <a:extLst>
              <a:ext uri="{FF2B5EF4-FFF2-40B4-BE49-F238E27FC236}">
                <a16:creationId xmlns:a16="http://schemas.microsoft.com/office/drawing/2014/main" id="{6E96F083-0361-46C5-8EF7-B4AF6DBA4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9464" y="785367"/>
            <a:ext cx="561051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200" i="1">
                <a:solidFill>
                  <a:schemeClr val="accent2"/>
                </a:solidFill>
              </a:rPr>
              <a:t>AS</a:t>
            </a:r>
          </a:p>
        </p:txBody>
      </p:sp>
      <p:grpSp>
        <p:nvGrpSpPr>
          <p:cNvPr id="14373" name="Group 37">
            <a:extLst>
              <a:ext uri="{FF2B5EF4-FFF2-40B4-BE49-F238E27FC236}">
                <a16:creationId xmlns:a16="http://schemas.microsoft.com/office/drawing/2014/main" id="{96592925-B6D8-433F-8BD7-D4FFF8C64724}"/>
              </a:ext>
            </a:extLst>
          </p:cNvPr>
          <p:cNvGrpSpPr>
            <a:grpSpLocks/>
          </p:cNvGrpSpPr>
          <p:nvPr/>
        </p:nvGrpSpPr>
        <p:grpSpPr bwMode="auto">
          <a:xfrm>
            <a:off x="4834115" y="2803078"/>
            <a:ext cx="344487" cy="501650"/>
            <a:chOff x="2407" y="1742"/>
            <a:chExt cx="217" cy="316"/>
          </a:xfrm>
        </p:grpSpPr>
        <p:sp>
          <p:nvSpPr>
            <p:cNvPr id="14355" name="Oval 22">
              <a:extLst>
                <a:ext uri="{FF2B5EF4-FFF2-40B4-BE49-F238E27FC236}">
                  <a16:creationId xmlns:a16="http://schemas.microsoft.com/office/drawing/2014/main" id="{798CE300-8833-4731-80FC-59E570D5C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7" y="1978"/>
              <a:ext cx="80" cy="80"/>
            </a:xfrm>
            <a:prstGeom prst="ellipse">
              <a:avLst/>
            </a:prstGeom>
            <a:solidFill>
              <a:srgbClr val="FFCCCC"/>
            </a:solidFill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" name="Rectangle 22">
              <a:extLst>
                <a:ext uri="{FF2B5EF4-FFF2-40B4-BE49-F238E27FC236}">
                  <a16:creationId xmlns:a16="http://schemas.microsoft.com/office/drawing/2014/main" id="{455B2A7E-7D72-435F-8CA6-EEEB756CA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7" y="1742"/>
              <a:ext cx="2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GB" altLang="en-US" sz="2000" i="1">
                  <a:solidFill>
                    <a:schemeClr val="accent2"/>
                  </a:solidFill>
                </a:rPr>
                <a:t>c</a:t>
              </a:r>
              <a:endParaRPr lang="en-GB" altLang="en-US" sz="2000" baseline="-25000">
                <a:solidFill>
                  <a:schemeClr val="accent2"/>
                </a:solidFill>
              </a:endParaRPr>
            </a:p>
          </p:txBody>
        </p:sp>
      </p:grpSp>
      <p:grpSp>
        <p:nvGrpSpPr>
          <p:cNvPr id="14371" name="Group 35">
            <a:extLst>
              <a:ext uri="{FF2B5EF4-FFF2-40B4-BE49-F238E27FC236}">
                <a16:creationId xmlns:a16="http://schemas.microsoft.com/office/drawing/2014/main" id="{96355921-5C34-49C7-BA7A-C6EC4DDAF452}"/>
              </a:ext>
            </a:extLst>
          </p:cNvPr>
          <p:cNvGrpSpPr>
            <a:grpSpLocks/>
          </p:cNvGrpSpPr>
          <p:nvPr/>
        </p:nvGrpSpPr>
        <p:grpSpPr bwMode="auto">
          <a:xfrm>
            <a:off x="5837414" y="3633342"/>
            <a:ext cx="328612" cy="477837"/>
            <a:chOff x="3039" y="2265"/>
            <a:chExt cx="207" cy="301"/>
          </a:xfrm>
        </p:grpSpPr>
        <p:sp>
          <p:nvSpPr>
            <p:cNvPr id="14360" name="Rectangle 22">
              <a:extLst>
                <a:ext uri="{FF2B5EF4-FFF2-40B4-BE49-F238E27FC236}">
                  <a16:creationId xmlns:a16="http://schemas.microsoft.com/office/drawing/2014/main" id="{89D2B097-6D18-470A-99C4-7AFCFB5A8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9" y="2265"/>
              <a:ext cx="20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GB" altLang="en-US" sz="2000" i="1" dirty="0">
                  <a:solidFill>
                    <a:srgbClr val="006600"/>
                  </a:solidFill>
                </a:rPr>
                <a:t>b</a:t>
              </a:r>
              <a:endParaRPr lang="en-GB" altLang="en-US" sz="2000" baseline="-25000" dirty="0">
                <a:solidFill>
                  <a:srgbClr val="006600"/>
                </a:solidFill>
              </a:endParaRPr>
            </a:p>
          </p:txBody>
        </p:sp>
        <p:sp>
          <p:nvSpPr>
            <p:cNvPr id="14365" name="Oval 22">
              <a:extLst>
                <a:ext uri="{FF2B5EF4-FFF2-40B4-BE49-F238E27FC236}">
                  <a16:creationId xmlns:a16="http://schemas.microsoft.com/office/drawing/2014/main" id="{0D71A272-301F-4892-BB39-44C1D9CEB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6" y="2486"/>
              <a:ext cx="80" cy="80"/>
            </a:xfrm>
            <a:prstGeom prst="ellipse">
              <a:avLst/>
            </a:prstGeom>
            <a:solidFill>
              <a:srgbClr val="AEFF85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8" name="Rectangle 39">
            <a:extLst>
              <a:ext uri="{FF2B5EF4-FFF2-40B4-BE49-F238E27FC236}">
                <a16:creationId xmlns:a16="http://schemas.microsoft.com/office/drawing/2014/main" id="{CE81DA67-8914-4DA1-9FF0-3F40AA849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"/>
            <a:ext cx="11252494" cy="616651"/>
          </a:xfrm>
          <a:prstGeom prst="rect">
            <a:avLst/>
          </a:prstGeom>
          <a:noFill/>
          <a:ln>
            <a:noFill/>
          </a:ln>
          <a:effectLst>
            <a:outerShdw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800" kern="1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altLang="en-US" sz="2800" b="1" dirty="0">
                <a:solidFill>
                  <a:srgbClr val="660066"/>
                </a:solidFill>
                <a:effectLst/>
              </a:rPr>
              <a:t>Long-run aggregate supply curves</a:t>
            </a:r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43DCCF4A-32B7-47F3-ACCB-9830BE2F5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046" y="6009828"/>
            <a:ext cx="3464089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000" dirty="0">
                <a:solidFill>
                  <a:schemeClr val="tx1"/>
                </a:solidFill>
              </a:rPr>
              <a:t>Real national income (GDP)</a:t>
            </a:r>
          </a:p>
        </p:txBody>
      </p:sp>
    </p:spTree>
    <p:extLst>
      <p:ext uri="{BB962C8B-B14F-4D97-AF65-F5344CB8AC3E}">
        <p14:creationId xmlns:p14="http://schemas.microsoft.com/office/powerpoint/2010/main" val="1156099295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6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7" name="Rectangle 3">
            <a:extLst>
              <a:ext uri="{FF2B5EF4-FFF2-40B4-BE49-F238E27FC236}">
                <a16:creationId xmlns:a16="http://schemas.microsoft.com/office/drawing/2014/main" id="{37DA4888-D3F7-4D68-9C0F-B7CCFC7D6FE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 sz="3700" dirty="0"/>
              <a:t>Vertical Long-run Aggregate Supply</a:t>
            </a:r>
          </a:p>
        </p:txBody>
      </p:sp>
      <p:sp>
        <p:nvSpPr>
          <p:cNvPr id="420866" name="Rectangle 2">
            <a:extLst>
              <a:ext uri="{FF2B5EF4-FFF2-40B4-BE49-F238E27FC236}">
                <a16:creationId xmlns:a16="http://schemas.microsoft.com/office/drawing/2014/main" id="{2E67B035-CF96-4812-A00C-5D3C4A8959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336" y="1545265"/>
            <a:ext cx="11338560" cy="48704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GB" altLang="en-US" dirty="0">
                <a:latin typeface="+mn-lt"/>
              </a:rPr>
              <a:t>Means capacity determined by practical constraints</a:t>
            </a:r>
          </a:p>
          <a:p>
            <a:pPr lvl="1">
              <a:spcBef>
                <a:spcPts val="1200"/>
              </a:spcBef>
            </a:pPr>
            <a:r>
              <a:rPr lang="en-GB" altLang="en-US" dirty="0">
                <a:latin typeface="+mn-lt"/>
              </a:rPr>
              <a:t>If demand increases, organisations initially try to produce more</a:t>
            </a:r>
          </a:p>
          <a:p>
            <a:pPr lvl="2">
              <a:spcBef>
                <a:spcPts val="1200"/>
              </a:spcBef>
            </a:pPr>
            <a:r>
              <a:rPr lang="en-GB" altLang="en-US" dirty="0">
                <a:latin typeface="+mn-lt"/>
              </a:rPr>
              <a:t>Output price level increase, along with output</a:t>
            </a:r>
          </a:p>
          <a:p>
            <a:pPr lvl="2">
              <a:spcBef>
                <a:spcPts val="1200"/>
              </a:spcBef>
            </a:pPr>
            <a:r>
              <a:rPr lang="en-GB" altLang="en-US" dirty="0">
                <a:latin typeface="+mn-lt"/>
              </a:rPr>
              <a:t>(Sticky) input prices – including wages – take time to adjust</a:t>
            </a:r>
          </a:p>
          <a:p>
            <a:pPr lvl="3">
              <a:spcBef>
                <a:spcPts val="1200"/>
              </a:spcBef>
            </a:pPr>
            <a:r>
              <a:rPr lang="en-GB" altLang="en-US" sz="2400" dirty="0">
                <a:latin typeface="+mn-lt"/>
              </a:rPr>
              <a:t>Costs increase – eroding profits – so higher demand means higher prices in long-run</a:t>
            </a:r>
          </a:p>
          <a:p>
            <a:pPr lvl="1">
              <a:spcBef>
                <a:spcPts val="1200"/>
              </a:spcBef>
            </a:pPr>
            <a:r>
              <a:rPr lang="en-GB" altLang="en-US" sz="2400" dirty="0">
                <a:latin typeface="+mn-lt"/>
              </a:rPr>
              <a:t>Differences between economists about speed of adjustment</a:t>
            </a:r>
          </a:p>
          <a:p>
            <a:pPr lvl="2">
              <a:spcBef>
                <a:spcPts val="1200"/>
              </a:spcBef>
            </a:pPr>
            <a:r>
              <a:rPr lang="en-GB" altLang="en-US" dirty="0">
                <a:latin typeface="+mn-lt"/>
              </a:rPr>
              <a:t>This is the Keynesian/New Classical dispute</a:t>
            </a:r>
          </a:p>
          <a:p>
            <a:pPr marL="914400" lvl="2" indent="0">
              <a:spcBef>
                <a:spcPts val="1200"/>
              </a:spcBef>
              <a:buNone/>
            </a:pPr>
            <a:endParaRPr lang="en-GB" altLang="en-US" sz="2600" dirty="0">
              <a:latin typeface="+mn-lt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altLang="en-US" dirty="0">
                <a:highlight>
                  <a:srgbClr val="FFFF00"/>
                </a:highlight>
                <a:latin typeface="+mn-lt"/>
              </a:rPr>
              <a:t>Quiz: What factors will shift LRAS?</a:t>
            </a:r>
          </a:p>
        </p:txBody>
      </p:sp>
    </p:spTree>
    <p:extLst>
      <p:ext uri="{BB962C8B-B14F-4D97-AF65-F5344CB8AC3E}">
        <p14:creationId xmlns:p14="http://schemas.microsoft.com/office/powerpoint/2010/main" val="190773281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2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2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2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20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20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20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20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20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20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20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20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20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20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20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20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6" grpId="0" build="p" bldLvl="4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8A41FDC-E8EA-4B6B-9ED0-8762C91A770D}"/>
              </a:ext>
            </a:extLst>
          </p:cNvPr>
          <p:cNvGrpSpPr/>
          <p:nvPr/>
        </p:nvGrpSpPr>
        <p:grpSpPr>
          <a:xfrm>
            <a:off x="3106738" y="213473"/>
            <a:ext cx="7105650" cy="5601047"/>
            <a:chOff x="3106738" y="213473"/>
            <a:chExt cx="7105650" cy="5601047"/>
          </a:xfrm>
        </p:grpSpPr>
        <p:sp>
          <p:nvSpPr>
            <p:cNvPr id="43014" name="Arc 6">
              <a:extLst>
                <a:ext uri="{FF2B5EF4-FFF2-40B4-BE49-F238E27FC236}">
                  <a16:creationId xmlns:a16="http://schemas.microsoft.com/office/drawing/2014/main" id="{4CDED457-CBB4-43DB-A5A8-2BA0FAB86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738" y="213473"/>
              <a:ext cx="7105650" cy="5461000"/>
            </a:xfrm>
            <a:custGeom>
              <a:avLst/>
              <a:gdLst>
                <a:gd name="G0" fmla="+- 20982 0 0"/>
                <a:gd name="G1" fmla="+- 0 0 0"/>
                <a:gd name="G2" fmla="+- 21600 0 0"/>
                <a:gd name="T0" fmla="*/ 12453 w 20982"/>
                <a:gd name="T1" fmla="*/ 19845 h 19845"/>
                <a:gd name="T2" fmla="*/ 0 w 20982"/>
                <a:gd name="T3" fmla="*/ 5129 h 19845"/>
                <a:gd name="T4" fmla="*/ 20982 w 20982"/>
                <a:gd name="T5" fmla="*/ 0 h 19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982" h="19845" fill="none" extrusionOk="0">
                  <a:moveTo>
                    <a:pt x="12453" y="19844"/>
                  </a:moveTo>
                  <a:cubicBezTo>
                    <a:pt x="6221" y="17166"/>
                    <a:pt x="1610" y="11717"/>
                    <a:pt x="-1" y="5129"/>
                  </a:cubicBezTo>
                </a:path>
                <a:path w="20982" h="19845" stroke="0" extrusionOk="0">
                  <a:moveTo>
                    <a:pt x="12453" y="19844"/>
                  </a:moveTo>
                  <a:cubicBezTo>
                    <a:pt x="6221" y="17166"/>
                    <a:pt x="1610" y="11717"/>
                    <a:pt x="-1" y="5129"/>
                  </a:cubicBezTo>
                  <a:lnTo>
                    <a:pt x="20982" y="0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5" name="Rectangle 17">
              <a:extLst>
                <a:ext uri="{FF2B5EF4-FFF2-40B4-BE49-F238E27FC236}">
                  <a16:creationId xmlns:a16="http://schemas.microsoft.com/office/drawing/2014/main" id="{6D7939E3-4F26-475E-84C1-32C4E88B4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6477" y="5352213"/>
              <a:ext cx="874713" cy="462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i="1">
                  <a:solidFill>
                    <a:schemeClr val="tx2"/>
                  </a:solidFill>
                  <a:latin typeface="Arial" panose="020B0604020202020204" pitchFamily="34" charset="0"/>
                </a:rPr>
                <a:t>AD</a:t>
              </a:r>
              <a:r>
                <a:rPr lang="en-GB" altLang="en-US" baseline="-25000">
                  <a:solidFill>
                    <a:schemeClr val="tx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5A21A24-6557-4CC3-ADE6-CB14D36F1626}"/>
              </a:ext>
            </a:extLst>
          </p:cNvPr>
          <p:cNvGrpSpPr/>
          <p:nvPr/>
        </p:nvGrpSpPr>
        <p:grpSpPr>
          <a:xfrm>
            <a:off x="4916462" y="911975"/>
            <a:ext cx="990657" cy="5372800"/>
            <a:chOff x="4916462" y="911975"/>
            <a:chExt cx="990657" cy="5372800"/>
          </a:xfrm>
        </p:grpSpPr>
        <p:sp>
          <p:nvSpPr>
            <p:cNvPr id="43013" name="Line 5">
              <a:extLst>
                <a:ext uri="{FF2B5EF4-FFF2-40B4-BE49-F238E27FC236}">
                  <a16:creationId xmlns:a16="http://schemas.microsoft.com/office/drawing/2014/main" id="{B5E543A0-EF08-4AE8-90CE-A39B02F38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1327900"/>
              <a:ext cx="0" cy="452437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3" name="Rectangle 15">
              <a:extLst>
                <a:ext uri="{FF2B5EF4-FFF2-40B4-BE49-F238E27FC236}">
                  <a16:creationId xmlns:a16="http://schemas.microsoft.com/office/drawing/2014/main" id="{054249D3-62FD-4F0A-BAEB-BE55A66CF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146" y="5884023"/>
              <a:ext cx="471284" cy="4007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 i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Y</a:t>
              </a:r>
              <a:r>
                <a:rPr lang="en-GB" altLang="en-US" sz="2000" baseline="-25000" dirty="0">
                  <a:solidFill>
                    <a:schemeClr val="accent2"/>
                  </a:solidFill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43024" name="Rectangle 16">
              <a:extLst>
                <a:ext uri="{FF2B5EF4-FFF2-40B4-BE49-F238E27FC236}">
                  <a16:creationId xmlns:a16="http://schemas.microsoft.com/office/drawing/2014/main" id="{72FC9EF5-5FF1-4300-9EC9-674BC7019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62" y="911975"/>
              <a:ext cx="990657" cy="462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i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LRAS</a:t>
              </a:r>
            </a:p>
          </p:txBody>
        </p:sp>
      </p:grpSp>
      <p:sp>
        <p:nvSpPr>
          <p:cNvPr id="43010" name="Line 2">
            <a:extLst>
              <a:ext uri="{FF2B5EF4-FFF2-40B4-BE49-F238E27FC236}">
                <a16:creationId xmlns:a16="http://schemas.microsoft.com/office/drawing/2014/main" id="{35ED81A2-CE36-4D1E-8C2A-09F0FFD607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831011"/>
            <a:ext cx="0" cy="50212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3011" name="Line 3">
            <a:extLst>
              <a:ext uri="{FF2B5EF4-FFF2-40B4-BE49-F238E27FC236}">
                <a16:creationId xmlns:a16="http://schemas.microsoft.com/office/drawing/2014/main" id="{6ABC718E-7AF4-45AE-B1D6-6415B7768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852273"/>
            <a:ext cx="76612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5B9B50DD-C908-435A-ABDE-960F67E67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27" y="5806236"/>
            <a:ext cx="384721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>
                <a:latin typeface="Arial" panose="020B0604020202020204" pitchFamily="34" charset="0"/>
              </a:rPr>
              <a:t>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24B186-41B8-4422-9739-6E8FD8DC3DA9}"/>
              </a:ext>
            </a:extLst>
          </p:cNvPr>
          <p:cNvGrpSpPr/>
          <p:nvPr/>
        </p:nvGrpSpPr>
        <p:grpSpPr>
          <a:xfrm>
            <a:off x="2097480" y="4434636"/>
            <a:ext cx="3374633" cy="400752"/>
            <a:chOff x="2097480" y="4434636"/>
            <a:chExt cx="3374633" cy="400752"/>
          </a:xfrm>
        </p:grpSpPr>
        <p:sp>
          <p:nvSpPr>
            <p:cNvPr id="43015" name="Line 7">
              <a:extLst>
                <a:ext uri="{FF2B5EF4-FFF2-40B4-BE49-F238E27FC236}">
                  <a16:creationId xmlns:a16="http://schemas.microsoft.com/office/drawing/2014/main" id="{951901AE-9D89-4A57-8E7A-DCB0EC815F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0800" y="4709273"/>
              <a:ext cx="2819400" cy="0"/>
            </a:xfrm>
            <a:prstGeom prst="line">
              <a:avLst/>
            </a:prstGeom>
            <a:noFill/>
            <a:ln w="15875">
              <a:solidFill>
                <a:schemeClr val="tx2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16" name="Oval 8">
              <a:extLst>
                <a:ext uri="{FF2B5EF4-FFF2-40B4-BE49-F238E27FC236}">
                  <a16:creationId xmlns:a16="http://schemas.microsoft.com/office/drawing/2014/main" id="{6C8F2E78-B4D7-460C-826F-710457A59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4631488"/>
              <a:ext cx="127000" cy="127000"/>
            </a:xfrm>
            <a:prstGeom prst="ellipse">
              <a:avLst/>
            </a:prstGeom>
            <a:solidFill>
              <a:srgbClr val="CCECFF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17" name="Rectangle 9">
              <a:extLst>
                <a:ext uri="{FF2B5EF4-FFF2-40B4-BE49-F238E27FC236}">
                  <a16:creationId xmlns:a16="http://schemas.microsoft.com/office/drawing/2014/main" id="{7EB8B46C-5E46-4F39-AAB2-46AACAB2C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480" y="4434636"/>
              <a:ext cx="452047" cy="4007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/>
              <a:r>
                <a:rPr lang="en-GB" altLang="en-US" sz="2000" i="1">
                  <a:solidFill>
                    <a:schemeClr val="tx2"/>
                  </a:solidFill>
                  <a:latin typeface="Arial" panose="020B0604020202020204" pitchFamily="34" charset="0"/>
                </a:rPr>
                <a:t>P</a:t>
              </a:r>
              <a:r>
                <a:rPr lang="en-GB" altLang="en-US" sz="2000" baseline="-25000">
                  <a:solidFill>
                    <a:schemeClr val="tx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43018" name="Rectangle 10">
            <a:extLst>
              <a:ext uri="{FF2B5EF4-FFF2-40B4-BE49-F238E27FC236}">
                <a16:creationId xmlns:a16="http://schemas.microsoft.com/office/drawing/2014/main" id="{E580E1D6-744F-4525-9A50-D0A706C9728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257817" y="2955529"/>
            <a:ext cx="1370568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2000">
                <a:latin typeface="Arial" panose="020B0604020202020204" pitchFamily="34" charset="0"/>
              </a:rPr>
              <a:t>Price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A9EA7F-27F9-4A99-BD39-BA1EEB05CC44}"/>
              </a:ext>
            </a:extLst>
          </p:cNvPr>
          <p:cNvGrpSpPr/>
          <p:nvPr/>
        </p:nvGrpSpPr>
        <p:grpSpPr>
          <a:xfrm>
            <a:off x="3963988" y="-15127"/>
            <a:ext cx="6553200" cy="5172422"/>
            <a:chOff x="3963988" y="-15127"/>
            <a:chExt cx="6553200" cy="5172422"/>
          </a:xfrm>
        </p:grpSpPr>
        <p:sp>
          <p:nvSpPr>
            <p:cNvPr id="43019" name="Arc 11">
              <a:extLst>
                <a:ext uri="{FF2B5EF4-FFF2-40B4-BE49-F238E27FC236}">
                  <a16:creationId xmlns:a16="http://schemas.microsoft.com/office/drawing/2014/main" id="{E69F703B-6763-4296-8995-7B7B93089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-15127"/>
              <a:ext cx="6553200" cy="4875213"/>
            </a:xfrm>
            <a:custGeom>
              <a:avLst/>
              <a:gdLst>
                <a:gd name="G0" fmla="+- 20982 0 0"/>
                <a:gd name="G1" fmla="+- 0 0 0"/>
                <a:gd name="G2" fmla="+- 21600 0 0"/>
                <a:gd name="T0" fmla="*/ 12453 w 20982"/>
                <a:gd name="T1" fmla="*/ 19845 h 19845"/>
                <a:gd name="T2" fmla="*/ 0 w 20982"/>
                <a:gd name="T3" fmla="*/ 5130 h 19845"/>
                <a:gd name="T4" fmla="*/ 20982 w 20982"/>
                <a:gd name="T5" fmla="*/ 0 h 19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982" h="19845" fill="none" extrusionOk="0">
                  <a:moveTo>
                    <a:pt x="12453" y="19844"/>
                  </a:moveTo>
                  <a:cubicBezTo>
                    <a:pt x="6222" y="17166"/>
                    <a:pt x="1610" y="11717"/>
                    <a:pt x="0" y="5129"/>
                  </a:cubicBezTo>
                </a:path>
                <a:path w="20982" h="19845" stroke="0" extrusionOk="0">
                  <a:moveTo>
                    <a:pt x="12453" y="19844"/>
                  </a:moveTo>
                  <a:cubicBezTo>
                    <a:pt x="6222" y="17166"/>
                    <a:pt x="1610" y="11717"/>
                    <a:pt x="0" y="5129"/>
                  </a:cubicBezTo>
                  <a:lnTo>
                    <a:pt x="20982" y="0"/>
                  </a:lnTo>
                  <a:close/>
                </a:path>
              </a:pathLst>
            </a:custGeom>
            <a:noFill/>
            <a:ln w="38100" cap="rnd">
              <a:solidFill>
                <a:srgbClr val="0066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srgbClr val="006600"/>
                </a:solidFill>
              </a:endParaRPr>
            </a:p>
          </p:txBody>
        </p:sp>
        <p:sp>
          <p:nvSpPr>
            <p:cNvPr id="43020" name="Rectangle 12">
              <a:extLst>
                <a:ext uri="{FF2B5EF4-FFF2-40B4-BE49-F238E27FC236}">
                  <a16:creationId xmlns:a16="http://schemas.microsoft.com/office/drawing/2014/main" id="{016EA2C7-E169-44AB-991C-862C8FD18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2565" y="4694988"/>
              <a:ext cx="750887" cy="462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i="1" dirty="0">
                  <a:solidFill>
                    <a:srgbClr val="006600"/>
                  </a:solidFill>
                  <a:latin typeface="Arial" panose="020B0604020202020204" pitchFamily="34" charset="0"/>
                </a:rPr>
                <a:t>AD</a:t>
              </a:r>
              <a:r>
                <a:rPr lang="en-GB" altLang="en-US" baseline="-25000" dirty="0">
                  <a:solidFill>
                    <a:srgbClr val="0066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A27FBE0-3510-49CD-AB6D-5668E1DD04B6}"/>
              </a:ext>
            </a:extLst>
          </p:cNvPr>
          <p:cNvGrpSpPr/>
          <p:nvPr/>
        </p:nvGrpSpPr>
        <p:grpSpPr>
          <a:xfrm>
            <a:off x="2103830" y="3231311"/>
            <a:ext cx="3368283" cy="400752"/>
            <a:chOff x="2103830" y="3231311"/>
            <a:chExt cx="3368283" cy="400752"/>
          </a:xfrm>
        </p:grpSpPr>
        <p:sp>
          <p:nvSpPr>
            <p:cNvPr id="43021" name="Line 13">
              <a:extLst>
                <a:ext uri="{FF2B5EF4-FFF2-40B4-BE49-F238E27FC236}">
                  <a16:creationId xmlns:a16="http://schemas.microsoft.com/office/drawing/2014/main" id="{68513B4F-8AAD-4F09-B221-C9345C06F0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6200" y="3448798"/>
              <a:ext cx="2801938" cy="0"/>
            </a:xfrm>
            <a:prstGeom prst="line">
              <a:avLst/>
            </a:prstGeom>
            <a:noFill/>
            <a:ln w="15875">
              <a:solidFill>
                <a:srgbClr val="006600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2" name="Rectangle 14">
              <a:extLst>
                <a:ext uri="{FF2B5EF4-FFF2-40B4-BE49-F238E27FC236}">
                  <a16:creationId xmlns:a16="http://schemas.microsoft.com/office/drawing/2014/main" id="{284CDB45-A121-4E44-A514-317F4517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830" y="3231311"/>
              <a:ext cx="452047" cy="4007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/>
              <a:r>
                <a:rPr lang="en-GB" altLang="en-US" sz="2000" i="1" dirty="0">
                  <a:solidFill>
                    <a:srgbClr val="006600"/>
                  </a:solidFill>
                  <a:latin typeface="Arial" panose="020B0604020202020204" pitchFamily="34" charset="0"/>
                </a:rPr>
                <a:t>P</a:t>
              </a:r>
              <a:r>
                <a:rPr lang="en-GB" altLang="en-US" sz="2000" baseline="-25000" dirty="0">
                  <a:solidFill>
                    <a:srgbClr val="0066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3026" name="Oval 18">
              <a:extLst>
                <a:ext uri="{FF2B5EF4-FFF2-40B4-BE49-F238E27FC236}">
                  <a16:creationId xmlns:a16="http://schemas.microsoft.com/office/drawing/2014/main" id="{D5A13F5A-BA5B-4031-84D1-9A7964C2C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3372598"/>
              <a:ext cx="127000" cy="127000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43029" name="AutoShape 21">
            <a:extLst>
              <a:ext uri="{FF2B5EF4-FFF2-40B4-BE49-F238E27FC236}">
                <a16:creationId xmlns:a16="http://schemas.microsoft.com/office/drawing/2014/main" id="{3FB9D8A2-ABB0-4B5A-B587-2B9E168D1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538" y="1474314"/>
            <a:ext cx="5030784" cy="1330436"/>
          </a:xfrm>
          <a:prstGeom prst="roundRect">
            <a:avLst>
              <a:gd name="adj" fmla="val 16667"/>
            </a:avLst>
          </a:prstGeom>
          <a:solidFill>
            <a:srgbClr val="FFFFEB"/>
          </a:solidFill>
          <a:ln w="22225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square" lIns="90000" tIns="46800" rIns="90000" bIns="46800" anchor="ctr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dirty="0">
                <a:solidFill>
                  <a:srgbClr val="660066"/>
                </a:solidFill>
                <a:latin typeface="Arial" panose="020B0604020202020204" pitchFamily="34" charset="0"/>
              </a:rPr>
              <a:t>Real aggregate supply totally unresponsive to changes in aggregate demand in the long run</a:t>
            </a:r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83A38C84-AB15-402C-A86F-63B5F05B8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1995" cy="780212"/>
          </a:xfrm>
          <a:prstGeom prst="rect">
            <a:avLst/>
          </a:prstGeom>
          <a:noFill/>
          <a:ln>
            <a:noFill/>
          </a:ln>
          <a:effectLst>
            <a:outerShdw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Long-run aggregate supply curve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83D1B7E3-0C27-4E9D-8648-16BA40873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701" y="6236448"/>
            <a:ext cx="3379130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2000" dirty="0">
                <a:latin typeface="Arial" panose="020B0604020202020204" pitchFamily="34" charset="0"/>
              </a:rPr>
              <a:t>Real national income (GDP)</a:t>
            </a:r>
          </a:p>
        </p:txBody>
      </p:sp>
      <p:sp>
        <p:nvSpPr>
          <p:cNvPr id="29" name="AutoShape 21">
            <a:extLst>
              <a:ext uri="{FF2B5EF4-FFF2-40B4-BE49-F238E27FC236}">
                <a16:creationId xmlns:a16="http://schemas.microsoft.com/office/drawing/2014/main" id="{78D8C6AC-1EA0-45AB-80AB-0A73A013E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353" y="3118267"/>
            <a:ext cx="4946894" cy="1330436"/>
          </a:xfrm>
          <a:prstGeom prst="roundRect">
            <a:avLst>
              <a:gd name="adj" fmla="val 16667"/>
            </a:avLst>
          </a:prstGeom>
          <a:solidFill>
            <a:srgbClr val="FFFFEB"/>
          </a:solidFill>
          <a:ln w="22225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square" lIns="90000" tIns="46800" rIns="90000" bIns="46800" anchor="ctr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dirty="0">
                <a:solidFill>
                  <a:srgbClr val="660066"/>
                </a:solidFill>
                <a:latin typeface="Arial" panose="020B0604020202020204" pitchFamily="34" charset="0"/>
              </a:rPr>
              <a:t>A rise in aggregate demand will merely lead to higher prices, not higher output</a:t>
            </a:r>
          </a:p>
        </p:txBody>
      </p:sp>
    </p:spTree>
    <p:extLst>
      <p:ext uri="{BB962C8B-B14F-4D97-AF65-F5344CB8AC3E}">
        <p14:creationId xmlns:p14="http://schemas.microsoft.com/office/powerpoint/2010/main" val="2955218527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7" name="Rectangle 3">
            <a:extLst>
              <a:ext uri="{FF2B5EF4-FFF2-40B4-BE49-F238E27FC236}">
                <a16:creationId xmlns:a16="http://schemas.microsoft.com/office/drawing/2014/main" id="{37DA4888-D3F7-4D68-9C0F-B7CCFC7D6FE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endParaRPr lang="en-GB" altLang="en-US" sz="3700" dirty="0"/>
          </a:p>
        </p:txBody>
      </p:sp>
      <p:sp>
        <p:nvSpPr>
          <p:cNvPr id="420866" name="Rectangle 2">
            <a:extLst>
              <a:ext uri="{FF2B5EF4-FFF2-40B4-BE49-F238E27FC236}">
                <a16:creationId xmlns:a16="http://schemas.microsoft.com/office/drawing/2014/main" id="{2E67B035-CF96-4812-A00C-5D3C4A8959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336" y="1451113"/>
            <a:ext cx="11338560" cy="496459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en-GB" altLang="en-US" dirty="0">
                <a:latin typeface="+mn-lt"/>
              </a:rPr>
              <a:t>Despite arguments about different types of Aggregate Supply curves, there are areas of agreement:</a:t>
            </a:r>
          </a:p>
          <a:p>
            <a:pPr lvl="1">
              <a:lnSpc>
                <a:spcPct val="100000"/>
              </a:lnSpc>
              <a:spcBef>
                <a:spcPts val="1500"/>
              </a:spcBef>
            </a:pPr>
            <a:r>
              <a:rPr lang="en-GB" altLang="en-US" dirty="0">
                <a:latin typeface="+mn-lt"/>
              </a:rPr>
              <a:t>Changes in </a:t>
            </a:r>
            <a:r>
              <a:rPr lang="en-GB" altLang="en-US" i="1" dirty="0">
                <a:latin typeface="+mn-lt"/>
              </a:rPr>
              <a:t>AD</a:t>
            </a:r>
            <a:r>
              <a:rPr lang="en-GB" altLang="en-US" dirty="0">
                <a:latin typeface="+mn-lt"/>
              </a:rPr>
              <a:t> can have a significant effect on output and employment in the short run</a:t>
            </a:r>
          </a:p>
          <a:p>
            <a:pPr lvl="2">
              <a:lnSpc>
                <a:spcPct val="100000"/>
              </a:lnSpc>
              <a:spcBef>
                <a:spcPts val="1500"/>
              </a:spcBef>
            </a:pPr>
            <a:r>
              <a:rPr lang="en-GB" altLang="en-US" dirty="0">
                <a:latin typeface="+mn-lt"/>
              </a:rPr>
              <a:t>if economy is in a deep recession, it may be necessary for the government to expand </a:t>
            </a:r>
            <a:r>
              <a:rPr lang="en-GB" altLang="en-US" i="1" dirty="0">
                <a:latin typeface="+mn-lt"/>
              </a:rPr>
              <a:t>AD</a:t>
            </a:r>
          </a:p>
          <a:p>
            <a:pPr lvl="2">
              <a:lnSpc>
                <a:spcPct val="100000"/>
              </a:lnSpc>
              <a:spcBef>
                <a:spcPts val="1500"/>
              </a:spcBef>
            </a:pPr>
            <a:r>
              <a:rPr lang="en-GB" altLang="en-US" dirty="0">
                <a:latin typeface="+mn-lt"/>
              </a:rPr>
              <a:t>if the economy is near full employment, expansion in </a:t>
            </a:r>
            <a:r>
              <a:rPr lang="en-GB" altLang="en-US" i="1" dirty="0">
                <a:latin typeface="+mn-lt"/>
              </a:rPr>
              <a:t>AD</a:t>
            </a:r>
            <a:r>
              <a:rPr lang="en-GB" altLang="en-US" dirty="0">
                <a:latin typeface="+mn-lt"/>
              </a:rPr>
              <a:t> will have little effect on output and more effect on prices</a:t>
            </a:r>
          </a:p>
          <a:p>
            <a:pPr lvl="1">
              <a:lnSpc>
                <a:spcPct val="100000"/>
              </a:lnSpc>
              <a:spcBef>
                <a:spcPts val="1500"/>
              </a:spcBef>
            </a:pPr>
            <a:r>
              <a:rPr lang="en-GB" dirty="0">
                <a:latin typeface="+mn-lt"/>
              </a:rPr>
              <a:t>In the long run, changes in </a:t>
            </a:r>
            <a:r>
              <a:rPr lang="en-GB" i="1" dirty="0">
                <a:latin typeface="+mn-lt"/>
              </a:rPr>
              <a:t>AD </a:t>
            </a:r>
            <a:r>
              <a:rPr lang="en-GB" dirty="0">
                <a:latin typeface="+mn-lt"/>
              </a:rPr>
              <a:t>will have much less effect on output and employment and much more effect on prices</a:t>
            </a:r>
          </a:p>
          <a:p>
            <a:pPr lvl="1">
              <a:lnSpc>
                <a:spcPct val="100000"/>
              </a:lnSpc>
              <a:spcBef>
                <a:spcPts val="1500"/>
              </a:spcBef>
            </a:pPr>
            <a:endParaRPr lang="en-GB" altLang="en-US" dirty="0"/>
          </a:p>
          <a:p>
            <a:pPr marL="0" indent="0">
              <a:lnSpc>
                <a:spcPct val="100000"/>
              </a:lnSpc>
              <a:spcBef>
                <a:spcPts val="1500"/>
              </a:spcBef>
              <a:buNone/>
            </a:pPr>
            <a:r>
              <a:rPr lang="en-GB" altLang="en-US" dirty="0">
                <a:highlight>
                  <a:srgbClr val="FFFF00"/>
                </a:highlight>
              </a:rPr>
              <a:t>Quiz: How do the different approaches to aggregate supply affect the multiplier?</a:t>
            </a:r>
          </a:p>
        </p:txBody>
      </p:sp>
    </p:spTree>
    <p:extLst>
      <p:ext uri="{BB962C8B-B14F-4D97-AF65-F5344CB8AC3E}">
        <p14:creationId xmlns:p14="http://schemas.microsoft.com/office/powerpoint/2010/main" val="1619390082"/>
      </p:ext>
    </p:extLst>
  </p:cSld>
  <p:clrMapOvr>
    <a:masterClrMapping/>
  </p:clrMapOvr>
  <p:transition spd="med">
    <p:pull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>
            <a:extLst>
              <a:ext uri="{FF2B5EF4-FFF2-40B4-BE49-F238E27FC236}">
                <a16:creationId xmlns:a16="http://schemas.microsoft.com/office/drawing/2014/main" id="{B5666468-0D43-4930-AA51-2886802CB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00387" name="Rectangle 3">
            <a:extLst>
              <a:ext uri="{FF2B5EF4-FFF2-40B4-BE49-F238E27FC236}">
                <a16:creationId xmlns:a16="http://schemas.microsoft.com/office/drawing/2014/main" id="{FA6676D8-A250-472C-B2CB-AF678BD6F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00390" name="Rectangle 6">
            <a:extLst>
              <a:ext uri="{FF2B5EF4-FFF2-40B4-BE49-F238E27FC236}">
                <a16:creationId xmlns:a16="http://schemas.microsoft.com/office/drawing/2014/main" id="{5060635A-0CE0-401F-BCAE-47AF0687A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Phillips’ curve</a:t>
            </a:r>
          </a:p>
        </p:txBody>
      </p:sp>
      <p:sp>
        <p:nvSpPr>
          <p:cNvPr id="400391" name="Rectangle 7">
            <a:extLst>
              <a:ext uri="{FF2B5EF4-FFF2-40B4-BE49-F238E27FC236}">
                <a16:creationId xmlns:a16="http://schemas.microsoft.com/office/drawing/2014/main" id="{63C2EBAC-2498-4DE2-AF28-AA2E0C002EE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89363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GB" altLang="en-US" dirty="0"/>
              <a:t>1958 – A. W. Phillips estimated relationship between wage inflation, unemployment</a:t>
            </a:r>
          </a:p>
          <a:p>
            <a:pPr lvl="1">
              <a:spcBef>
                <a:spcPts val="600"/>
              </a:spcBef>
            </a:pPr>
            <a:r>
              <a:rPr lang="en-GB" altLang="en-US" sz="2400" dirty="0"/>
              <a:t>Purely statistical argument – no clear theoretical underpinnings</a:t>
            </a:r>
          </a:p>
          <a:p>
            <a:pPr lvl="2">
              <a:spcBef>
                <a:spcPts val="600"/>
              </a:spcBef>
            </a:pPr>
            <a:r>
              <a:rPr lang="en-GB" altLang="en-US" sz="2400" dirty="0"/>
              <a:t>Can explain short-run relationship between prices, unemployment</a:t>
            </a:r>
          </a:p>
          <a:p>
            <a:pPr lvl="2">
              <a:spcBef>
                <a:spcPts val="600"/>
              </a:spcBef>
            </a:pPr>
            <a:r>
              <a:rPr lang="en-GB" altLang="en-US" sz="2400" dirty="0"/>
              <a:t>When AD increases, inflation increases, and unemployment decreases (upward movement along the curve)</a:t>
            </a:r>
          </a:p>
          <a:p>
            <a:pPr lvl="2">
              <a:spcBef>
                <a:spcPts val="600"/>
              </a:spcBef>
            </a:pPr>
            <a:r>
              <a:rPr lang="en-GB" altLang="en-US" sz="2400" dirty="0"/>
              <a:t>The position depends on non-demand factor causing inflation and unemployment (frictional and structural unemployment, cost-push inflation etc)</a:t>
            </a:r>
          </a:p>
          <a:p>
            <a:pPr lvl="2">
              <a:spcBef>
                <a:spcPts val="600"/>
              </a:spcBef>
            </a:pPr>
            <a:r>
              <a:rPr lang="en-GB" altLang="en-US" sz="2400" dirty="0"/>
              <a:t>But if structure, capacity of economy changes, Phillips relation will change</a:t>
            </a:r>
          </a:p>
        </p:txBody>
      </p:sp>
    </p:spTree>
    <p:extLst>
      <p:ext uri="{BB962C8B-B14F-4D97-AF65-F5344CB8AC3E}">
        <p14:creationId xmlns:p14="http://schemas.microsoft.com/office/powerpoint/2010/main" val="3500103554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0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00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00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00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00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00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003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003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003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003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003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003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91" grpId="0" build="p" bldLvl="3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Line 2">
            <a:extLst>
              <a:ext uri="{FF2B5EF4-FFF2-40B4-BE49-F238E27FC236}">
                <a16:creationId xmlns:a16="http://schemas.microsoft.com/office/drawing/2014/main" id="{93B7715F-1194-4483-8C7D-062AE58CF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1763" y="570824"/>
            <a:ext cx="0" cy="58658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53" name="Line 3">
            <a:extLst>
              <a:ext uri="{FF2B5EF4-FFF2-40B4-BE49-F238E27FC236}">
                <a16:creationId xmlns:a16="http://schemas.microsoft.com/office/drawing/2014/main" id="{F272E565-1BAD-4276-9200-A975247737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1763" y="5809572"/>
            <a:ext cx="75358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54" name="Rectangle 4">
            <a:extLst>
              <a:ext uri="{FF2B5EF4-FFF2-40B4-BE49-F238E27FC236}">
                <a16:creationId xmlns:a16="http://schemas.microsoft.com/office/drawing/2014/main" id="{2223F2D5-296B-492A-9916-48ED5F641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513" y="5607962"/>
            <a:ext cx="405560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200"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ED387445-D6F1-4783-AB38-45BA5C3A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4338" y="5863549"/>
            <a:ext cx="907300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200" i="1">
                <a:latin typeface="Arial" panose="020B0604020202020204" pitchFamily="34" charset="0"/>
              </a:rPr>
              <a:t>U </a:t>
            </a:r>
            <a:r>
              <a:rPr lang="en-GB" altLang="en-US" sz="2200">
                <a:latin typeface="Arial" panose="020B0604020202020204" pitchFamily="34" charset="0"/>
              </a:rPr>
              <a:t>(%)</a:t>
            </a:r>
          </a:p>
        </p:txBody>
      </p:sp>
      <p:sp>
        <p:nvSpPr>
          <p:cNvPr id="2068" name="Rectangle 34">
            <a:extLst>
              <a:ext uri="{FF2B5EF4-FFF2-40B4-BE49-F238E27FC236}">
                <a16:creationId xmlns:a16="http://schemas.microsoft.com/office/drawing/2014/main" id="{31E599A0-B129-4413-8F8F-ADE9B725B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244" y="516208"/>
            <a:ext cx="859210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200" i="1" dirty="0">
                <a:latin typeface="Symbol" panose="05050102010706020507" pitchFamily="18" charset="2"/>
              </a:rPr>
              <a:t>p</a:t>
            </a:r>
            <a:r>
              <a:rPr lang="en-GB" altLang="en-US" sz="2200" i="1" dirty="0">
                <a:latin typeface="Arial" panose="020B0604020202020204" pitchFamily="34" charset="0"/>
              </a:rPr>
              <a:t> </a:t>
            </a:r>
            <a:r>
              <a:rPr lang="en-GB" altLang="en-US" sz="2200" dirty="0">
                <a:latin typeface="Arial" panose="020B0604020202020204" pitchFamily="34" charset="0"/>
              </a:rPr>
              <a:t>(%)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9C0A6C-CD0E-40A4-B53A-A8C00C3BE42F}"/>
              </a:ext>
            </a:extLst>
          </p:cNvPr>
          <p:cNvGrpSpPr/>
          <p:nvPr/>
        </p:nvGrpSpPr>
        <p:grpSpPr>
          <a:xfrm>
            <a:off x="3579812" y="-73701"/>
            <a:ext cx="5799130" cy="6522278"/>
            <a:chOff x="3579812" y="98427"/>
            <a:chExt cx="5799130" cy="6522278"/>
          </a:xfrm>
        </p:grpSpPr>
        <p:sp>
          <p:nvSpPr>
            <p:cNvPr id="2078" name="Arc 30">
              <a:extLst>
                <a:ext uri="{FF2B5EF4-FFF2-40B4-BE49-F238E27FC236}">
                  <a16:creationId xmlns:a16="http://schemas.microsoft.com/office/drawing/2014/main" id="{78949E37-7E36-49A8-91C4-4C91AA6D9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812" y="98427"/>
              <a:ext cx="4516438" cy="6372225"/>
            </a:xfrm>
            <a:custGeom>
              <a:avLst/>
              <a:gdLst>
                <a:gd name="G0" fmla="+- 21319 0 0"/>
                <a:gd name="G1" fmla="+- 0 0 0"/>
                <a:gd name="G2" fmla="+- 21600 0 0"/>
                <a:gd name="T0" fmla="*/ 16734 w 21319"/>
                <a:gd name="T1" fmla="*/ 21108 h 21108"/>
                <a:gd name="T2" fmla="*/ 0 w 21319"/>
                <a:gd name="T3" fmla="*/ 3470 h 21108"/>
                <a:gd name="T4" fmla="*/ 21319 w 21319"/>
                <a:gd name="T5" fmla="*/ 0 h 21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19" h="21108" fill="none" extrusionOk="0">
                  <a:moveTo>
                    <a:pt x="16734" y="21107"/>
                  </a:moveTo>
                  <a:cubicBezTo>
                    <a:pt x="8062" y="19224"/>
                    <a:pt x="1425" y="12228"/>
                    <a:pt x="-1" y="3470"/>
                  </a:cubicBezTo>
                </a:path>
                <a:path w="21319" h="21108" stroke="0" extrusionOk="0">
                  <a:moveTo>
                    <a:pt x="16734" y="21107"/>
                  </a:moveTo>
                  <a:cubicBezTo>
                    <a:pt x="8062" y="19224"/>
                    <a:pt x="1425" y="12228"/>
                    <a:pt x="-1" y="3470"/>
                  </a:cubicBezTo>
                  <a:lnTo>
                    <a:pt x="21319" y="0"/>
                  </a:lnTo>
                  <a:close/>
                </a:path>
              </a:pathLst>
            </a:custGeom>
            <a:noFill/>
            <a:ln w="38100" cap="rnd">
              <a:solidFill>
                <a:srgbClr val="0000CC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91" name="Rectangle 16">
              <a:extLst>
                <a:ext uri="{FF2B5EF4-FFF2-40B4-BE49-F238E27FC236}">
                  <a16:creationId xmlns:a16="http://schemas.microsoft.com/office/drawing/2014/main" id="{26E5601D-458E-43E1-B186-F359BE3A5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9929" y="6189176"/>
              <a:ext cx="2259013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 dirty="0">
                  <a:solidFill>
                    <a:srgbClr val="0000CC"/>
                  </a:solidFill>
                  <a:latin typeface="Arial" panose="020B0604020202020204" pitchFamily="34" charset="0"/>
                </a:rPr>
                <a:t>EAPC</a:t>
              </a:r>
              <a:r>
                <a:rPr lang="en-GB" altLang="en-US" sz="2200" baseline="-25000" dirty="0">
                  <a:solidFill>
                    <a:srgbClr val="0000CC"/>
                  </a:solidFill>
                  <a:latin typeface="Arial" panose="020B0604020202020204" pitchFamily="34" charset="0"/>
                </a:rPr>
                <a:t>1</a:t>
              </a:r>
              <a:r>
                <a:rPr lang="en-GB" altLang="en-US" sz="2200" i="1" dirty="0">
                  <a:solidFill>
                    <a:srgbClr val="0000CC"/>
                  </a:solidFill>
                  <a:latin typeface="Arial" panose="020B0604020202020204" pitchFamily="34" charset="0"/>
                </a:rPr>
                <a:t> </a:t>
              </a:r>
              <a:r>
                <a:rPr lang="en-GB" altLang="en-US" sz="2200" dirty="0">
                  <a:solidFill>
                    <a:srgbClr val="0000CC"/>
                  </a:solidFill>
                  <a:latin typeface="Arial" panose="020B0604020202020204" pitchFamily="34" charset="0"/>
                </a:rPr>
                <a:t>(</a:t>
              </a:r>
              <a:r>
                <a:rPr lang="en-GB" altLang="en-US" sz="2200" i="1" dirty="0" err="1">
                  <a:solidFill>
                    <a:srgbClr val="0000CC"/>
                  </a:solidFill>
                  <a:latin typeface="Symbol" panose="05050102010706020507" pitchFamily="18" charset="2"/>
                </a:rPr>
                <a:t>p</a:t>
              </a:r>
              <a:r>
                <a:rPr lang="en-GB" altLang="en-US" sz="2200" baseline="30000" dirty="0" err="1">
                  <a:solidFill>
                    <a:srgbClr val="0000CC"/>
                  </a:solidFill>
                  <a:latin typeface="Arial" panose="020B0604020202020204" pitchFamily="34" charset="0"/>
                </a:rPr>
                <a:t>e</a:t>
              </a:r>
              <a:r>
                <a:rPr lang="en-GB" altLang="en-US" sz="2200" dirty="0">
                  <a:solidFill>
                    <a:srgbClr val="0000CC"/>
                  </a:solidFill>
                  <a:latin typeface="Arial" panose="020B0604020202020204" pitchFamily="34" charset="0"/>
                </a:rPr>
                <a:t> = </a:t>
              </a:r>
              <a:r>
                <a:rPr lang="en-GB" altLang="en-US" sz="2200" i="1" dirty="0">
                  <a:solidFill>
                    <a:srgbClr val="0000CC"/>
                  </a:solidFill>
                  <a:latin typeface="Symbol" panose="05050102010706020507" pitchFamily="18" charset="2"/>
                </a:rPr>
                <a:t>p</a:t>
              </a:r>
              <a:r>
                <a:rPr lang="en-GB" altLang="en-US" sz="2200" baseline="-25000" dirty="0">
                  <a:solidFill>
                    <a:srgbClr val="0000CC"/>
                  </a:solidFill>
                  <a:latin typeface="Arial" panose="020B0604020202020204" pitchFamily="34" charset="0"/>
                </a:rPr>
                <a:t>1</a:t>
              </a:r>
              <a:r>
                <a:rPr lang="en-GB" altLang="en-US" sz="2200" dirty="0">
                  <a:solidFill>
                    <a:srgbClr val="0000CC"/>
                  </a:solidFill>
                  <a:latin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2077" name="Rectangle 13">
            <a:extLst>
              <a:ext uri="{FF2B5EF4-FFF2-40B4-BE49-F238E27FC236}">
                <a16:creationId xmlns:a16="http://schemas.microsoft.com/office/drawing/2014/main" id="{EAFCECA3-CAB4-4B7F-90D3-50697A64E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0"/>
            <a:ext cx="12191998" cy="533400"/>
          </a:xfrm>
          <a:prstGeom prst="rect">
            <a:avLst/>
          </a:prstGeom>
          <a:noFill/>
          <a:ln>
            <a:noFill/>
          </a:ln>
          <a:effectLst>
            <a:outerShdw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91440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Expectations of inflation and the Phillips curve</a:t>
            </a:r>
            <a:endParaRPr lang="en-GB" altLang="en-US" sz="2800" b="1" i="1" dirty="0">
              <a:solidFill>
                <a:srgbClr val="660066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FF8C35-DAA1-4754-9ED5-246C12E0384E}"/>
              </a:ext>
            </a:extLst>
          </p:cNvPr>
          <p:cNvGrpSpPr/>
          <p:nvPr/>
        </p:nvGrpSpPr>
        <p:grpSpPr>
          <a:xfrm>
            <a:off x="4421179" y="4241890"/>
            <a:ext cx="493725" cy="1999211"/>
            <a:chOff x="4421179" y="4414018"/>
            <a:chExt cx="493725" cy="1999211"/>
          </a:xfrm>
        </p:grpSpPr>
        <p:sp>
          <p:nvSpPr>
            <p:cNvPr id="2064" name="Rectangle 22">
              <a:extLst>
                <a:ext uri="{FF2B5EF4-FFF2-40B4-BE49-F238E27FC236}">
                  <a16:creationId xmlns:a16="http://schemas.microsoft.com/office/drawing/2014/main" id="{C4505855-5072-4DEC-B8E8-528FE0D5C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1179" y="5981700"/>
              <a:ext cx="493725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 dirty="0">
                  <a:latin typeface="Arial" panose="020B0604020202020204" pitchFamily="34" charset="0"/>
                </a:rPr>
                <a:t>U</a:t>
              </a:r>
              <a:r>
                <a:rPr lang="en-GB" altLang="en-US" sz="2200" baseline="-25000" dirty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081" name="Line 33">
              <a:extLst>
                <a:ext uri="{FF2B5EF4-FFF2-40B4-BE49-F238E27FC236}">
                  <a16:creationId xmlns:a16="http://schemas.microsoft.com/office/drawing/2014/main" id="{CA12B56C-9424-4F70-8CDA-2B1505956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8042" y="4414018"/>
              <a:ext cx="0" cy="1567682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7DD517E-D33E-4EE0-AD61-BCE90805DC95}"/>
              </a:ext>
            </a:extLst>
          </p:cNvPr>
          <p:cNvGrpSpPr/>
          <p:nvPr/>
        </p:nvGrpSpPr>
        <p:grpSpPr>
          <a:xfrm>
            <a:off x="4181475" y="-500740"/>
            <a:ext cx="5665528" cy="6372225"/>
            <a:chOff x="4181475" y="-328612"/>
            <a:chExt cx="5665528" cy="6372225"/>
          </a:xfrm>
        </p:grpSpPr>
        <p:sp>
          <p:nvSpPr>
            <p:cNvPr id="3095" name="Rectangle 16">
              <a:extLst>
                <a:ext uri="{FF2B5EF4-FFF2-40B4-BE49-F238E27FC236}">
                  <a16:creationId xmlns:a16="http://schemas.microsoft.com/office/drawing/2014/main" id="{BFE5D9B9-91D9-4FFC-A551-E8903D34F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2799" y="5489577"/>
              <a:ext cx="2244204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>
                  <a:solidFill>
                    <a:srgbClr val="CC0000"/>
                  </a:solidFill>
                  <a:latin typeface="Arial" panose="020B0604020202020204" pitchFamily="34" charset="0"/>
                </a:rPr>
                <a:t>EAPC</a:t>
              </a:r>
              <a:r>
                <a:rPr lang="en-GB" altLang="en-US" sz="2200" i="1" baseline="-25000">
                  <a:solidFill>
                    <a:srgbClr val="CC0000"/>
                  </a:solidFill>
                  <a:latin typeface="Arial" panose="020B0604020202020204" pitchFamily="34" charset="0"/>
                </a:rPr>
                <a:t>2</a:t>
              </a:r>
              <a:r>
                <a:rPr lang="en-GB" altLang="en-US" sz="2200" i="1">
                  <a:solidFill>
                    <a:srgbClr val="CC0000"/>
                  </a:solidFill>
                  <a:latin typeface="Arial" panose="020B0604020202020204" pitchFamily="34" charset="0"/>
                </a:rPr>
                <a:t> </a:t>
              </a:r>
              <a:r>
                <a:rPr lang="en-GB" altLang="en-US" sz="2200">
                  <a:solidFill>
                    <a:srgbClr val="CC0000"/>
                  </a:solidFill>
                  <a:latin typeface="Arial" panose="020B0604020202020204" pitchFamily="34" charset="0"/>
                </a:rPr>
                <a:t>(</a:t>
              </a:r>
              <a:r>
                <a:rPr lang="en-GB" altLang="en-US" sz="2200" i="1">
                  <a:solidFill>
                    <a:srgbClr val="CC0000"/>
                  </a:solidFill>
                  <a:latin typeface="Symbol" panose="05050102010706020507" pitchFamily="18" charset="2"/>
                </a:rPr>
                <a:t>p</a:t>
              </a:r>
              <a:r>
                <a:rPr lang="en-GB" altLang="en-US" sz="2200" baseline="30000">
                  <a:solidFill>
                    <a:srgbClr val="CC0000"/>
                  </a:solidFill>
                  <a:latin typeface="Arial" panose="020B0604020202020204" pitchFamily="34" charset="0"/>
                </a:rPr>
                <a:t>e</a:t>
              </a:r>
              <a:r>
                <a:rPr lang="en-GB" altLang="en-US" sz="2200">
                  <a:solidFill>
                    <a:srgbClr val="CC0000"/>
                  </a:solidFill>
                  <a:latin typeface="Arial" panose="020B0604020202020204" pitchFamily="34" charset="0"/>
                </a:rPr>
                <a:t> =</a:t>
              </a:r>
              <a:r>
                <a:rPr lang="en-GB" altLang="en-US" sz="2200" i="1">
                  <a:solidFill>
                    <a:srgbClr val="CC0000"/>
                  </a:solidFill>
                  <a:latin typeface="Arial" panose="020B0604020202020204" pitchFamily="34" charset="0"/>
                </a:rPr>
                <a:t> </a:t>
              </a:r>
              <a:r>
                <a:rPr lang="en-GB" altLang="en-US" sz="2200" i="1">
                  <a:solidFill>
                    <a:srgbClr val="CC0000"/>
                  </a:solidFill>
                  <a:latin typeface="Symbol" panose="05050102010706020507" pitchFamily="18" charset="2"/>
                </a:rPr>
                <a:t>p</a:t>
              </a:r>
              <a:r>
                <a:rPr lang="en-GB" altLang="en-US" sz="2200" baseline="-25000">
                  <a:solidFill>
                    <a:srgbClr val="CC0000"/>
                  </a:solidFill>
                  <a:latin typeface="Arial" panose="020B0604020202020204" pitchFamily="34" charset="0"/>
                </a:rPr>
                <a:t>2</a:t>
              </a:r>
              <a:r>
                <a:rPr lang="en-GB" altLang="en-US" sz="2200">
                  <a:solidFill>
                    <a:srgbClr val="CC0000"/>
                  </a:solidFill>
                  <a:latin typeface="Arial" panose="020B0604020202020204" pitchFamily="34" charset="0"/>
                </a:rPr>
                <a:t> )</a:t>
              </a:r>
            </a:p>
          </p:txBody>
        </p:sp>
        <p:sp>
          <p:nvSpPr>
            <p:cNvPr id="26" name="Arc 30">
              <a:extLst>
                <a:ext uri="{FF2B5EF4-FFF2-40B4-BE49-F238E27FC236}">
                  <a16:creationId xmlns:a16="http://schemas.microsoft.com/office/drawing/2014/main" id="{33534447-1731-404C-86F1-74881A8F3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1475" y="-328612"/>
              <a:ext cx="4516438" cy="6372225"/>
            </a:xfrm>
            <a:custGeom>
              <a:avLst/>
              <a:gdLst>
                <a:gd name="G0" fmla="+- 21319 0 0"/>
                <a:gd name="G1" fmla="+- 0 0 0"/>
                <a:gd name="G2" fmla="+- 21600 0 0"/>
                <a:gd name="T0" fmla="*/ 16734 w 21319"/>
                <a:gd name="T1" fmla="*/ 21108 h 21108"/>
                <a:gd name="T2" fmla="*/ 0 w 21319"/>
                <a:gd name="T3" fmla="*/ 3470 h 21108"/>
                <a:gd name="T4" fmla="*/ 21319 w 21319"/>
                <a:gd name="T5" fmla="*/ 0 h 21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19" h="21108" fill="none" extrusionOk="0">
                  <a:moveTo>
                    <a:pt x="16734" y="21107"/>
                  </a:moveTo>
                  <a:cubicBezTo>
                    <a:pt x="8062" y="19224"/>
                    <a:pt x="1425" y="12228"/>
                    <a:pt x="-1" y="3470"/>
                  </a:cubicBezTo>
                </a:path>
                <a:path w="21319" h="21108" stroke="0" extrusionOk="0">
                  <a:moveTo>
                    <a:pt x="16734" y="21107"/>
                  </a:moveTo>
                  <a:cubicBezTo>
                    <a:pt x="8062" y="19224"/>
                    <a:pt x="1425" y="12228"/>
                    <a:pt x="-1" y="3470"/>
                  </a:cubicBezTo>
                  <a:lnTo>
                    <a:pt x="21319" y="0"/>
                  </a:lnTo>
                  <a:close/>
                </a:path>
              </a:pathLst>
            </a:custGeom>
            <a:noFill/>
            <a:ln w="38100" cap="rnd">
              <a:solidFill>
                <a:srgbClr val="CC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315CB90-B347-4B01-82E1-CF953996F39B}"/>
              </a:ext>
            </a:extLst>
          </p:cNvPr>
          <p:cNvGrpSpPr/>
          <p:nvPr/>
        </p:nvGrpSpPr>
        <p:grpSpPr>
          <a:xfrm>
            <a:off x="4613583" y="3888882"/>
            <a:ext cx="415383" cy="431529"/>
            <a:chOff x="4613583" y="4061010"/>
            <a:chExt cx="415383" cy="431529"/>
          </a:xfrm>
        </p:grpSpPr>
        <p:sp>
          <p:nvSpPr>
            <p:cNvPr id="2066" name="Rectangle 16">
              <a:extLst>
                <a:ext uri="{FF2B5EF4-FFF2-40B4-BE49-F238E27FC236}">
                  <a16:creationId xmlns:a16="http://schemas.microsoft.com/office/drawing/2014/main" id="{A520C48E-3ED7-4996-B5F5-A7BA56515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923" y="4061010"/>
              <a:ext cx="343043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 dirty="0">
                  <a:solidFill>
                    <a:srgbClr val="0000CC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067" name="Oval 19">
              <a:extLst>
                <a:ext uri="{FF2B5EF4-FFF2-40B4-BE49-F238E27FC236}">
                  <a16:creationId xmlns:a16="http://schemas.microsoft.com/office/drawing/2014/main" id="{4AEE94D5-81F8-4EBC-BFE0-87DE6C81F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583" y="4368141"/>
              <a:ext cx="103187" cy="103188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2200" i="1" noProof="1"/>
            </a:p>
          </p:txBody>
        </p:sp>
      </p:grpSp>
      <p:sp>
        <p:nvSpPr>
          <p:cNvPr id="34" name="AutoShape 22">
            <a:extLst>
              <a:ext uri="{FF2B5EF4-FFF2-40B4-BE49-F238E27FC236}">
                <a16:creationId xmlns:a16="http://schemas.microsoft.com/office/drawing/2014/main" id="{BDF0D521-0652-4BBC-85E6-A64632A2E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208" y="2113025"/>
            <a:ext cx="3121273" cy="1940957"/>
          </a:xfrm>
          <a:prstGeom prst="roundRect">
            <a:avLst>
              <a:gd name="adj" fmla="val 16667"/>
            </a:avLst>
          </a:prstGeom>
          <a:solidFill>
            <a:srgbClr val="FFFFD9"/>
          </a:solidFill>
          <a:ln w="19050">
            <a:solidFill>
              <a:srgbClr val="66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800" dirty="0">
                <a:solidFill>
                  <a:srgbClr val="660066"/>
                </a:solidFill>
              </a:rPr>
              <a:t>The vertical difference between the two curves is the difference between the expected rate of inflation that augments each curve, (</a:t>
            </a:r>
            <a:r>
              <a:rPr lang="en-GB" altLang="en-US" sz="1800" i="1" dirty="0" err="1">
                <a:solidFill>
                  <a:srgbClr val="660066"/>
                </a:solidFill>
                <a:latin typeface="Symbol" panose="05050102010706020507" pitchFamily="18" charset="2"/>
              </a:rPr>
              <a:t>p</a:t>
            </a:r>
            <a:r>
              <a:rPr lang="en-GB" altLang="en-US" sz="1800" baseline="-25000" dirty="0" err="1">
                <a:solidFill>
                  <a:srgbClr val="660066"/>
                </a:solidFill>
              </a:rPr>
              <a:t>b</a:t>
            </a:r>
            <a:r>
              <a:rPr lang="en-GB" altLang="en-US" sz="1800" i="1" dirty="0">
                <a:solidFill>
                  <a:srgbClr val="660066"/>
                </a:solidFill>
              </a:rPr>
              <a:t>−</a:t>
            </a:r>
            <a:r>
              <a:rPr lang="en-GB" altLang="en-US" sz="1800" i="1" dirty="0">
                <a:solidFill>
                  <a:srgbClr val="660066"/>
                </a:solidFill>
                <a:latin typeface="Symbol" panose="05050102010706020507" pitchFamily="18" charset="2"/>
              </a:rPr>
              <a:t>p</a:t>
            </a:r>
            <a:r>
              <a:rPr lang="en-GB" altLang="en-US" sz="1800" baseline="-25000" dirty="0">
                <a:solidFill>
                  <a:srgbClr val="660066"/>
                </a:solidFill>
              </a:rPr>
              <a:t>a</a:t>
            </a:r>
            <a:r>
              <a:rPr lang="en-GB" altLang="en-US" sz="1800" dirty="0">
                <a:solidFill>
                  <a:srgbClr val="660066"/>
                </a:solidFill>
              </a:rPr>
              <a:t>) = (</a:t>
            </a:r>
            <a:r>
              <a:rPr lang="en-GB" altLang="en-US" sz="1800" i="1" dirty="0">
                <a:solidFill>
                  <a:srgbClr val="660066"/>
                </a:solidFill>
                <a:latin typeface="Symbol" panose="05050102010706020507" pitchFamily="18" charset="2"/>
              </a:rPr>
              <a:t>p</a:t>
            </a:r>
            <a:r>
              <a:rPr lang="en-GB" altLang="en-US" sz="1800" baseline="-25000" dirty="0">
                <a:solidFill>
                  <a:srgbClr val="660066"/>
                </a:solidFill>
              </a:rPr>
              <a:t>2</a:t>
            </a:r>
            <a:r>
              <a:rPr lang="en-GB" altLang="en-US" sz="1800" i="1" dirty="0">
                <a:solidFill>
                  <a:srgbClr val="660066"/>
                </a:solidFill>
              </a:rPr>
              <a:t>−</a:t>
            </a:r>
            <a:r>
              <a:rPr lang="en-GB" altLang="en-US" sz="1800" i="1" dirty="0">
                <a:solidFill>
                  <a:srgbClr val="660066"/>
                </a:solidFill>
                <a:latin typeface="Symbol" panose="05050102010706020507" pitchFamily="18" charset="2"/>
              </a:rPr>
              <a:t>p</a:t>
            </a:r>
            <a:r>
              <a:rPr lang="en-GB" altLang="en-US" sz="1800" baseline="-25000" dirty="0">
                <a:solidFill>
                  <a:srgbClr val="660066"/>
                </a:solidFill>
              </a:rPr>
              <a:t>1</a:t>
            </a:r>
            <a:r>
              <a:rPr lang="en-GB" altLang="en-US" sz="1800" dirty="0">
                <a:solidFill>
                  <a:srgbClr val="660066"/>
                </a:solidFill>
              </a:rPr>
              <a:t>).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579795-1395-4BAF-BB4F-D810D14119FC}"/>
              </a:ext>
            </a:extLst>
          </p:cNvPr>
          <p:cNvGrpSpPr/>
          <p:nvPr/>
        </p:nvGrpSpPr>
        <p:grpSpPr>
          <a:xfrm>
            <a:off x="2266385" y="4023930"/>
            <a:ext cx="2357206" cy="431529"/>
            <a:chOff x="2266385" y="4196058"/>
            <a:chExt cx="2357206" cy="431529"/>
          </a:xfrm>
        </p:grpSpPr>
        <p:sp>
          <p:nvSpPr>
            <p:cNvPr id="31" name="Line 10">
              <a:extLst>
                <a:ext uri="{FF2B5EF4-FFF2-40B4-BE49-F238E27FC236}">
                  <a16:creationId xmlns:a16="http://schemas.microsoft.com/office/drawing/2014/main" id="{0E0C330E-F42C-4996-9DB7-CFDE278322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9699" y="4414018"/>
              <a:ext cx="1943892" cy="0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90711DDC-5B2F-4455-BBF9-397387F05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385" y="4196058"/>
              <a:ext cx="445635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 dirty="0">
                  <a:solidFill>
                    <a:srgbClr val="0000CC"/>
                  </a:solidFill>
                  <a:latin typeface="Symbol" panose="05050102010706020507" pitchFamily="18" charset="2"/>
                </a:rPr>
                <a:t>p</a:t>
              </a:r>
              <a:r>
                <a:rPr lang="en-GB" altLang="en-US" sz="2200" baseline="-25000" dirty="0">
                  <a:solidFill>
                    <a:srgbClr val="0000CC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9CA043D-B3DA-4A27-B2CB-EB9A1CA5CAB0}"/>
              </a:ext>
            </a:extLst>
          </p:cNvPr>
          <p:cNvGrpSpPr/>
          <p:nvPr/>
        </p:nvGrpSpPr>
        <p:grpSpPr>
          <a:xfrm>
            <a:off x="2252324" y="2304945"/>
            <a:ext cx="2415718" cy="431529"/>
            <a:chOff x="2252324" y="2477073"/>
            <a:chExt cx="2415718" cy="431529"/>
          </a:xfrm>
        </p:grpSpPr>
        <p:sp>
          <p:nvSpPr>
            <p:cNvPr id="32" name="Line 10">
              <a:extLst>
                <a:ext uri="{FF2B5EF4-FFF2-40B4-BE49-F238E27FC236}">
                  <a16:creationId xmlns:a16="http://schemas.microsoft.com/office/drawing/2014/main" id="{8CD763C2-8EAC-4CA0-BC26-439A32CC73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1763" y="2800594"/>
              <a:ext cx="1996279" cy="0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948204E-F290-4512-B129-3D47A13B2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2324" y="2477073"/>
              <a:ext cx="445635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 dirty="0" err="1">
                  <a:solidFill>
                    <a:srgbClr val="C00000"/>
                  </a:solidFill>
                  <a:latin typeface="Symbol" panose="05050102010706020507" pitchFamily="18" charset="2"/>
                </a:rPr>
                <a:t>p</a:t>
              </a:r>
              <a:r>
                <a:rPr lang="en-GB" altLang="en-US" sz="2200" baseline="-25000" dirty="0" err="1">
                  <a:solidFill>
                    <a:srgbClr val="C00000"/>
                  </a:solidFill>
                  <a:latin typeface="Arial" panose="020B0604020202020204" pitchFamily="34" charset="0"/>
                </a:rPr>
                <a:t>b</a:t>
              </a:r>
              <a:endParaRPr lang="en-GB" altLang="en-US" sz="2200" baseline="-25000" dirty="0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8F8C1D-F654-4D60-BA1F-E48CCD0A4902}"/>
              </a:ext>
            </a:extLst>
          </p:cNvPr>
          <p:cNvGrpSpPr/>
          <p:nvPr/>
        </p:nvGrpSpPr>
        <p:grpSpPr>
          <a:xfrm>
            <a:off x="4615315" y="2199861"/>
            <a:ext cx="343044" cy="2009371"/>
            <a:chOff x="4613581" y="2365466"/>
            <a:chExt cx="343044" cy="2009371"/>
          </a:xfrm>
        </p:grpSpPr>
        <p:sp>
          <p:nvSpPr>
            <p:cNvPr id="25" name="Line 33">
              <a:extLst>
                <a:ext uri="{FF2B5EF4-FFF2-40B4-BE49-F238E27FC236}">
                  <a16:creationId xmlns:a16="http://schemas.microsoft.com/office/drawing/2014/main" id="{167202C2-35AA-4B6E-BE88-8571B7391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8042" y="2807155"/>
              <a:ext cx="0" cy="1567682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72" name="Rectangle 9">
              <a:extLst>
                <a:ext uri="{FF2B5EF4-FFF2-40B4-BE49-F238E27FC236}">
                  <a16:creationId xmlns:a16="http://schemas.microsoft.com/office/drawing/2014/main" id="{E836FFC3-3B64-4A39-8544-4731DA103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581" y="2365466"/>
              <a:ext cx="343044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 dirty="0">
                  <a:solidFill>
                    <a:srgbClr val="CC0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073" name="Oval 12">
              <a:extLst>
                <a:ext uri="{FF2B5EF4-FFF2-40B4-BE49-F238E27FC236}">
                  <a16:creationId xmlns:a16="http://schemas.microsoft.com/office/drawing/2014/main" id="{F1FF57C0-D97C-47D4-8FC2-D2EB42365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3596" y="2733407"/>
              <a:ext cx="103187" cy="103187"/>
            </a:xfrm>
            <a:prstGeom prst="ellipse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2200" i="1" noProof="1">
                <a:solidFill>
                  <a:srgbClr val="CC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4792871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Arc 30">
            <a:extLst>
              <a:ext uri="{FF2B5EF4-FFF2-40B4-BE49-F238E27FC236}">
                <a16:creationId xmlns:a16="http://schemas.microsoft.com/office/drawing/2014/main" id="{60B0E02E-3C55-45E2-ADEF-1596C78108D0}"/>
              </a:ext>
            </a:extLst>
          </p:cNvPr>
          <p:cNvSpPr>
            <a:spLocks/>
          </p:cNvSpPr>
          <p:nvPr/>
        </p:nvSpPr>
        <p:spPr bwMode="auto">
          <a:xfrm>
            <a:off x="1949452" y="-57475"/>
            <a:ext cx="4516437" cy="6281738"/>
          </a:xfrm>
          <a:custGeom>
            <a:avLst/>
            <a:gdLst>
              <a:gd name="G0" fmla="+- 21319 0 0"/>
              <a:gd name="G1" fmla="+- 0 0 0"/>
              <a:gd name="G2" fmla="+- 21600 0 0"/>
              <a:gd name="T0" fmla="*/ 15502 w 21319"/>
              <a:gd name="T1" fmla="*/ 20802 h 20802"/>
              <a:gd name="T2" fmla="*/ 0 w 21319"/>
              <a:gd name="T3" fmla="*/ 3470 h 20802"/>
              <a:gd name="T4" fmla="*/ 21319 w 21319"/>
              <a:gd name="T5" fmla="*/ 0 h 208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319" h="20802" fill="none" extrusionOk="0">
                <a:moveTo>
                  <a:pt x="15502" y="20801"/>
                </a:moveTo>
                <a:cubicBezTo>
                  <a:pt x="7400" y="18536"/>
                  <a:pt x="1351" y="11773"/>
                  <a:pt x="-1" y="3470"/>
                </a:cubicBezTo>
              </a:path>
              <a:path w="21319" h="20802" stroke="0" extrusionOk="0">
                <a:moveTo>
                  <a:pt x="15502" y="20801"/>
                </a:moveTo>
                <a:cubicBezTo>
                  <a:pt x="7400" y="18536"/>
                  <a:pt x="1351" y="11773"/>
                  <a:pt x="-1" y="3470"/>
                </a:cubicBezTo>
                <a:lnTo>
                  <a:pt x="21319" y="0"/>
                </a:lnTo>
                <a:close/>
              </a:path>
            </a:pathLst>
          </a:custGeom>
          <a:noFill/>
          <a:ln w="38100" cap="rnd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52" name="Line 2">
            <a:extLst>
              <a:ext uri="{FF2B5EF4-FFF2-40B4-BE49-F238E27FC236}">
                <a16:creationId xmlns:a16="http://schemas.microsoft.com/office/drawing/2014/main" id="{46471615-F23E-4A09-A72C-5C32AAE79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962025" y="685477"/>
            <a:ext cx="0" cy="58658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53" name="Line 3">
            <a:extLst>
              <a:ext uri="{FF2B5EF4-FFF2-40B4-BE49-F238E27FC236}">
                <a16:creationId xmlns:a16="http://schemas.microsoft.com/office/drawing/2014/main" id="{7FC6299C-B2DE-4273-9CDA-399975971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962025" y="5924225"/>
            <a:ext cx="75358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54" name="Rectangle 4">
            <a:extLst>
              <a:ext uri="{FF2B5EF4-FFF2-40B4-BE49-F238E27FC236}">
                <a16:creationId xmlns:a16="http://schemas.microsoft.com/office/drawing/2014/main" id="{F15E0DBB-56F8-4D0C-8FA3-2A3D3E726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5722615"/>
            <a:ext cx="405560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200"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008DA416-D5D9-4CA0-ADE5-B4836A2BE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4600" y="5978202"/>
            <a:ext cx="907300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200" i="1">
                <a:latin typeface="Arial" panose="020B0604020202020204" pitchFamily="34" charset="0"/>
              </a:rPr>
              <a:t>U </a:t>
            </a:r>
            <a:r>
              <a:rPr lang="en-GB" altLang="en-US" sz="2200">
                <a:latin typeface="Arial" panose="020B0604020202020204" pitchFamily="34" charset="0"/>
              </a:rPr>
              <a:t>(%)</a:t>
            </a:r>
          </a:p>
        </p:txBody>
      </p:sp>
      <p:sp>
        <p:nvSpPr>
          <p:cNvPr id="2064" name="Rectangle 22">
            <a:extLst>
              <a:ext uri="{FF2B5EF4-FFF2-40B4-BE49-F238E27FC236}">
                <a16:creationId xmlns:a16="http://schemas.microsoft.com/office/drawing/2014/main" id="{5884C2B5-FF73-45D3-99B8-4B4ED93EB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374" y="5952802"/>
            <a:ext cx="493725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200" i="1" dirty="0">
                <a:latin typeface="Arial" panose="020B0604020202020204" pitchFamily="34" charset="0"/>
              </a:rPr>
              <a:t>U</a:t>
            </a:r>
            <a:r>
              <a:rPr lang="en-GB" altLang="en-US" sz="2200" baseline="-25000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068" name="Rectangle 34">
            <a:extLst>
              <a:ext uri="{FF2B5EF4-FFF2-40B4-BE49-F238E27FC236}">
                <a16:creationId xmlns:a16="http://schemas.microsoft.com/office/drawing/2014/main" id="{F1A7DAAF-481E-48B1-AF86-480176A22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599752"/>
            <a:ext cx="859210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200" i="1">
                <a:latin typeface="Symbol" panose="05050102010706020507" pitchFamily="18" charset="2"/>
              </a:rPr>
              <a:t>p</a:t>
            </a:r>
            <a:r>
              <a:rPr lang="en-GB" altLang="en-US" sz="2200" i="1">
                <a:latin typeface="Arial" panose="020B0604020202020204" pitchFamily="34" charset="0"/>
              </a:rPr>
              <a:t> </a:t>
            </a:r>
            <a:r>
              <a:rPr lang="en-GB" altLang="en-US" sz="2200">
                <a:latin typeface="Arial" panose="020B0604020202020204" pitchFamily="34" charset="0"/>
              </a:rPr>
              <a:t>(%)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1BBD34-39DD-4D81-B436-AF47B1012109}"/>
              </a:ext>
            </a:extLst>
          </p:cNvPr>
          <p:cNvGrpSpPr/>
          <p:nvPr/>
        </p:nvGrpSpPr>
        <p:grpSpPr>
          <a:xfrm>
            <a:off x="524897" y="3854954"/>
            <a:ext cx="2355140" cy="431529"/>
            <a:chOff x="2234635" y="3854954"/>
            <a:chExt cx="2355140" cy="431529"/>
          </a:xfrm>
        </p:grpSpPr>
        <p:sp>
          <p:nvSpPr>
            <p:cNvPr id="83978" name="Line 10">
              <a:extLst>
                <a:ext uri="{FF2B5EF4-FFF2-40B4-BE49-F238E27FC236}">
                  <a16:creationId xmlns:a16="http://schemas.microsoft.com/office/drawing/2014/main" id="{B2185C16-FD28-4D85-BBEA-79CC45B9D6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0020" y="4083338"/>
              <a:ext cx="1899755" cy="0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69" name="Rectangle 35">
              <a:extLst>
                <a:ext uri="{FF2B5EF4-FFF2-40B4-BE49-F238E27FC236}">
                  <a16:creationId xmlns:a16="http://schemas.microsoft.com/office/drawing/2014/main" id="{FC6DB3E5-7FDF-4C52-88CA-8945B3525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635" y="3854954"/>
              <a:ext cx="445635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 dirty="0">
                  <a:solidFill>
                    <a:srgbClr val="0000CC"/>
                  </a:solidFill>
                  <a:latin typeface="Symbol" panose="05050102010706020507" pitchFamily="18" charset="2"/>
                </a:rPr>
                <a:t>p</a:t>
              </a:r>
              <a:r>
                <a:rPr lang="en-GB" altLang="en-US" sz="2200" baseline="-25000" dirty="0">
                  <a:solidFill>
                    <a:srgbClr val="0000CC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3091" name="Rectangle 16">
            <a:extLst>
              <a:ext uri="{FF2B5EF4-FFF2-40B4-BE49-F238E27FC236}">
                <a16:creationId xmlns:a16="http://schemas.microsoft.com/office/drawing/2014/main" id="{F882BCA4-3F98-410C-94AD-49037F1D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900" y="6143302"/>
            <a:ext cx="2259012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762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200" i="1">
                <a:solidFill>
                  <a:srgbClr val="0000CC"/>
                </a:solidFill>
                <a:latin typeface="Arial" panose="020B0604020202020204" pitchFamily="34" charset="0"/>
              </a:rPr>
              <a:t>EAPC</a:t>
            </a:r>
            <a:r>
              <a:rPr lang="en-GB" altLang="en-US" sz="2200" baseline="-25000">
                <a:solidFill>
                  <a:srgbClr val="0000CC"/>
                </a:solidFill>
                <a:latin typeface="Arial" panose="020B0604020202020204" pitchFamily="34" charset="0"/>
              </a:rPr>
              <a:t>0</a:t>
            </a:r>
            <a:r>
              <a:rPr lang="en-GB" altLang="en-US" sz="2200" i="1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GB" altLang="en-US" sz="2200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en-GB" altLang="en-US" sz="2200" i="1">
                <a:solidFill>
                  <a:srgbClr val="0000CC"/>
                </a:solidFill>
                <a:latin typeface="Symbol" panose="05050102010706020507" pitchFamily="18" charset="2"/>
              </a:rPr>
              <a:t>p</a:t>
            </a:r>
            <a:r>
              <a:rPr lang="en-GB" altLang="en-US" sz="2200" baseline="30000">
                <a:solidFill>
                  <a:srgbClr val="0000CC"/>
                </a:solidFill>
                <a:latin typeface="Arial" panose="020B0604020202020204" pitchFamily="34" charset="0"/>
              </a:rPr>
              <a:t>e</a:t>
            </a:r>
            <a:r>
              <a:rPr lang="en-GB" altLang="en-US" sz="2200">
                <a:solidFill>
                  <a:srgbClr val="0000CC"/>
                </a:solidFill>
                <a:latin typeface="Arial" panose="020B0604020202020204" pitchFamily="34" charset="0"/>
              </a:rPr>
              <a:t> = </a:t>
            </a:r>
            <a:r>
              <a:rPr lang="en-US" altLang="en-US" sz="2200">
                <a:solidFill>
                  <a:srgbClr val="0000CC"/>
                </a:solidFill>
                <a:latin typeface="Arial" panose="020B0604020202020204" pitchFamily="34" charset="0"/>
              </a:rPr>
              <a:t>0</a:t>
            </a:r>
            <a:r>
              <a:rPr lang="en-GB" altLang="en-US" sz="2200">
                <a:solidFill>
                  <a:srgbClr val="0000CC"/>
                </a:solidFill>
                <a:latin typeface="Arial" panose="020B0604020202020204" pitchFamily="34" charset="0"/>
              </a:rPr>
              <a:t>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104CCA-7B59-45B5-A058-0ADC2CECA314}"/>
              </a:ext>
            </a:extLst>
          </p:cNvPr>
          <p:cNvGrpSpPr/>
          <p:nvPr/>
        </p:nvGrpSpPr>
        <p:grpSpPr>
          <a:xfrm>
            <a:off x="2817814" y="-389263"/>
            <a:ext cx="7089775" cy="6281738"/>
            <a:chOff x="4527552" y="-389263"/>
            <a:chExt cx="7089775" cy="6281738"/>
          </a:xfrm>
        </p:grpSpPr>
        <p:sp>
          <p:nvSpPr>
            <p:cNvPr id="2079" name="Arc 31">
              <a:extLst>
                <a:ext uri="{FF2B5EF4-FFF2-40B4-BE49-F238E27FC236}">
                  <a16:creationId xmlns:a16="http://schemas.microsoft.com/office/drawing/2014/main" id="{C32B0C0F-7539-4CDA-A0F5-844EE7919735}"/>
                </a:ext>
              </a:extLst>
            </p:cNvPr>
            <p:cNvSpPr>
              <a:spLocks/>
            </p:cNvSpPr>
            <p:nvPr/>
          </p:nvSpPr>
          <p:spPr bwMode="auto">
            <a:xfrm rot="343925">
              <a:off x="4527552" y="-389263"/>
              <a:ext cx="7089775" cy="6281738"/>
            </a:xfrm>
            <a:custGeom>
              <a:avLst/>
              <a:gdLst>
                <a:gd name="G0" fmla="+- 20736 0 0"/>
                <a:gd name="G1" fmla="+- 0 0 0"/>
                <a:gd name="G2" fmla="+- 21600 0 0"/>
                <a:gd name="T0" fmla="*/ 14951 w 20736"/>
                <a:gd name="T1" fmla="*/ 20811 h 20811"/>
                <a:gd name="T2" fmla="*/ 0 w 20736"/>
                <a:gd name="T3" fmla="*/ 6046 h 20811"/>
                <a:gd name="T4" fmla="*/ 20736 w 20736"/>
                <a:gd name="T5" fmla="*/ 0 h 20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36" h="20811" fill="none" extrusionOk="0">
                  <a:moveTo>
                    <a:pt x="14951" y="20810"/>
                  </a:moveTo>
                  <a:cubicBezTo>
                    <a:pt x="7747" y="18808"/>
                    <a:pt x="2092" y="13223"/>
                    <a:pt x="-1" y="6046"/>
                  </a:cubicBezTo>
                </a:path>
                <a:path w="20736" h="20811" stroke="0" extrusionOk="0">
                  <a:moveTo>
                    <a:pt x="14951" y="20810"/>
                  </a:moveTo>
                  <a:cubicBezTo>
                    <a:pt x="7747" y="18808"/>
                    <a:pt x="2092" y="13223"/>
                    <a:pt x="-1" y="6046"/>
                  </a:cubicBezTo>
                  <a:lnTo>
                    <a:pt x="20736" y="0"/>
                  </a:lnTo>
                  <a:close/>
                </a:path>
              </a:pathLst>
            </a:custGeom>
            <a:noFill/>
            <a:ln w="38100" cap="rnd">
              <a:solidFill>
                <a:srgbClr val="CC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95" name="Rectangle 16">
              <a:extLst>
                <a:ext uri="{FF2B5EF4-FFF2-40B4-BE49-F238E27FC236}">
                  <a16:creationId xmlns:a16="http://schemas.microsoft.com/office/drawing/2014/main" id="{E441D7B7-54D5-473F-8E8F-7CFC37969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1411" y="5041577"/>
              <a:ext cx="2244204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 dirty="0">
                  <a:solidFill>
                    <a:srgbClr val="CC0000"/>
                  </a:solidFill>
                  <a:latin typeface="Arial" panose="020B0604020202020204" pitchFamily="34" charset="0"/>
                </a:rPr>
                <a:t>EAPC</a:t>
              </a:r>
              <a:r>
                <a:rPr lang="en-GB" altLang="en-US" sz="22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1</a:t>
              </a:r>
              <a:r>
                <a:rPr lang="en-GB" altLang="en-US" sz="2200" i="1" dirty="0">
                  <a:solidFill>
                    <a:srgbClr val="CC0000"/>
                  </a:solidFill>
                  <a:latin typeface="Arial" panose="020B0604020202020204" pitchFamily="34" charset="0"/>
                </a:rPr>
                <a:t> </a:t>
              </a:r>
              <a:r>
                <a:rPr lang="en-GB" altLang="en-US" sz="2200" dirty="0">
                  <a:solidFill>
                    <a:srgbClr val="CC0000"/>
                  </a:solidFill>
                  <a:latin typeface="Arial" panose="020B0604020202020204" pitchFamily="34" charset="0"/>
                </a:rPr>
                <a:t>(</a:t>
              </a:r>
              <a:r>
                <a:rPr lang="en-GB" altLang="en-US" sz="2200" i="1" dirty="0" err="1">
                  <a:solidFill>
                    <a:srgbClr val="CC0000"/>
                  </a:solidFill>
                  <a:latin typeface="Symbol" panose="05050102010706020507" pitchFamily="18" charset="2"/>
                </a:rPr>
                <a:t>p</a:t>
              </a:r>
              <a:r>
                <a:rPr lang="en-GB" altLang="en-US" sz="2200" baseline="30000" dirty="0" err="1">
                  <a:solidFill>
                    <a:srgbClr val="CC0000"/>
                  </a:solidFill>
                  <a:latin typeface="Arial" panose="020B0604020202020204" pitchFamily="34" charset="0"/>
                </a:rPr>
                <a:t>e</a:t>
              </a:r>
              <a:r>
                <a:rPr lang="en-GB" altLang="en-US" sz="2200" dirty="0">
                  <a:solidFill>
                    <a:srgbClr val="CC0000"/>
                  </a:solidFill>
                  <a:latin typeface="Arial" panose="020B0604020202020204" pitchFamily="34" charset="0"/>
                </a:rPr>
                <a:t> =</a:t>
              </a:r>
              <a:r>
                <a:rPr lang="en-GB" altLang="en-US" sz="2200" i="1" dirty="0">
                  <a:solidFill>
                    <a:srgbClr val="CC0000"/>
                  </a:solidFill>
                  <a:latin typeface="Arial" panose="020B0604020202020204" pitchFamily="34" charset="0"/>
                </a:rPr>
                <a:t> </a:t>
              </a:r>
              <a:r>
                <a:rPr lang="en-GB" altLang="en-US" sz="2200" i="1" dirty="0">
                  <a:solidFill>
                    <a:srgbClr val="CC0000"/>
                  </a:solidFill>
                  <a:latin typeface="Symbol" panose="05050102010706020507" pitchFamily="18" charset="2"/>
                </a:rPr>
                <a:t>p</a:t>
              </a:r>
              <a:r>
                <a:rPr lang="en-GB" altLang="en-US" sz="22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1</a:t>
              </a:r>
              <a:r>
                <a:rPr lang="en-GB" altLang="en-US" sz="2200" dirty="0">
                  <a:solidFill>
                    <a:srgbClr val="CC0000"/>
                  </a:solidFill>
                  <a:latin typeface="Arial" panose="020B0604020202020204" pitchFamily="34" charset="0"/>
                </a:rPr>
                <a:t> )</a:t>
              </a:r>
            </a:p>
          </p:txBody>
        </p:sp>
      </p:grpSp>
      <p:sp>
        <p:nvSpPr>
          <p:cNvPr id="2077" name="Rectangle 13">
            <a:extLst>
              <a:ext uri="{FF2B5EF4-FFF2-40B4-BE49-F238E27FC236}">
                <a16:creationId xmlns:a16="http://schemas.microsoft.com/office/drawing/2014/main" id="{BE46CD66-C83E-4B7C-BB68-97E01B589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0"/>
            <a:ext cx="10353819" cy="608312"/>
          </a:xfrm>
          <a:prstGeom prst="rect">
            <a:avLst/>
          </a:prstGeom>
          <a:noFill/>
          <a:ln>
            <a:noFill/>
          </a:ln>
          <a:effectLst>
            <a:outerShdw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Adjustment to planned increase in aggregate demand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212D7F-C82A-4652-9F19-83BE2E152B5F}"/>
              </a:ext>
            </a:extLst>
          </p:cNvPr>
          <p:cNvGrpSpPr/>
          <p:nvPr/>
        </p:nvGrpSpPr>
        <p:grpSpPr>
          <a:xfrm>
            <a:off x="4375152" y="5509890"/>
            <a:ext cx="557284" cy="877616"/>
            <a:chOff x="6084890" y="5509890"/>
            <a:chExt cx="557284" cy="877616"/>
          </a:xfrm>
        </p:grpSpPr>
        <p:sp>
          <p:nvSpPr>
            <p:cNvPr id="83983" name="Rectangle 15">
              <a:extLst>
                <a:ext uri="{FF2B5EF4-FFF2-40B4-BE49-F238E27FC236}">
                  <a16:creationId xmlns:a16="http://schemas.microsoft.com/office/drawing/2014/main" id="{96300E56-3D98-447B-94F1-E74B1839C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890" y="5955977"/>
              <a:ext cx="492125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 dirty="0">
                  <a:latin typeface="Arial" panose="020B0604020202020204" pitchFamily="34" charset="0"/>
                </a:rPr>
                <a:t>U</a:t>
              </a:r>
              <a:r>
                <a:rPr lang="en-GB" altLang="en-US" sz="2200" baseline="-25000" dirty="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2066" name="Rectangle 16">
              <a:extLst>
                <a:ext uri="{FF2B5EF4-FFF2-40B4-BE49-F238E27FC236}">
                  <a16:creationId xmlns:a16="http://schemas.microsoft.com/office/drawing/2014/main" id="{BDC77CA4-1518-4103-A99A-4E83691C6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9131" y="5509890"/>
              <a:ext cx="343043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 dirty="0">
                  <a:solidFill>
                    <a:srgbClr val="0000CC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067" name="Oval 19">
              <a:extLst>
                <a:ext uri="{FF2B5EF4-FFF2-40B4-BE49-F238E27FC236}">
                  <a16:creationId xmlns:a16="http://schemas.microsoft.com/office/drawing/2014/main" id="{4BA7297B-9F6E-4887-9E5B-31077B857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275" y="5871840"/>
              <a:ext cx="103188" cy="103187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2200" i="1" noProof="1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09C061-9658-4028-BE16-0B546C06255C}"/>
              </a:ext>
            </a:extLst>
          </p:cNvPr>
          <p:cNvGrpSpPr/>
          <p:nvPr/>
        </p:nvGrpSpPr>
        <p:grpSpPr>
          <a:xfrm>
            <a:off x="4114800" y="609600"/>
            <a:ext cx="928687" cy="5289550"/>
            <a:chOff x="5830890" y="636265"/>
            <a:chExt cx="928687" cy="5289550"/>
          </a:xfrm>
        </p:grpSpPr>
        <p:sp>
          <p:nvSpPr>
            <p:cNvPr id="2082" name="Line 34">
              <a:extLst>
                <a:ext uri="{FF2B5EF4-FFF2-40B4-BE49-F238E27FC236}">
                  <a16:creationId xmlns:a16="http://schemas.microsoft.com/office/drawing/2014/main" id="{BCDF03B2-39BB-4210-8AC2-ED8FE2C0BF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6663" y="1101402"/>
              <a:ext cx="0" cy="4824413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83" name="Rectangle 35">
              <a:extLst>
                <a:ext uri="{FF2B5EF4-FFF2-40B4-BE49-F238E27FC236}">
                  <a16:creationId xmlns:a16="http://schemas.microsoft.com/office/drawing/2014/main" id="{9CEC2B13-E40F-42AE-83DE-6952C5F14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0890" y="636265"/>
              <a:ext cx="928687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CC"/>
                  </a:solidFill>
                  <a:prstDash val="dash"/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200" i="1">
                  <a:solidFill>
                    <a:srgbClr val="006600"/>
                  </a:solidFill>
                  <a:latin typeface="Arial" panose="020B0604020202020204" pitchFamily="34" charset="0"/>
                </a:rPr>
                <a:t>LRPC</a:t>
              </a:r>
              <a:endParaRPr lang="en-GB" altLang="en-US" sz="2200" i="1" noProof="1">
                <a:solidFill>
                  <a:srgbClr val="0066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C4F5EC-2610-4298-8CB1-AA687FC65C49}"/>
              </a:ext>
            </a:extLst>
          </p:cNvPr>
          <p:cNvGrpSpPr/>
          <p:nvPr/>
        </p:nvGrpSpPr>
        <p:grpSpPr>
          <a:xfrm>
            <a:off x="7101677" y="5532115"/>
            <a:ext cx="518396" cy="847454"/>
            <a:chOff x="8811415" y="5532115"/>
            <a:chExt cx="518396" cy="847454"/>
          </a:xfrm>
        </p:grpSpPr>
        <p:sp>
          <p:nvSpPr>
            <p:cNvPr id="2086" name="Rectangle 22">
              <a:extLst>
                <a:ext uri="{FF2B5EF4-FFF2-40B4-BE49-F238E27FC236}">
                  <a16:creationId xmlns:a16="http://schemas.microsoft.com/office/drawing/2014/main" id="{8163A928-1B12-4367-A1DB-ABEA3942B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1415" y="5948040"/>
              <a:ext cx="493725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>
                  <a:latin typeface="Arial" panose="020B0604020202020204" pitchFamily="34" charset="0"/>
                </a:rPr>
                <a:t>U</a:t>
              </a:r>
              <a:r>
                <a:rPr lang="en-GB" altLang="en-US" sz="2200" baseline="-250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087" name="Rectangle 9">
              <a:extLst>
                <a:ext uri="{FF2B5EF4-FFF2-40B4-BE49-F238E27FC236}">
                  <a16:creationId xmlns:a16="http://schemas.microsoft.com/office/drawing/2014/main" id="{9D810126-BE54-4926-9707-A770C615B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6768" y="5532115"/>
              <a:ext cx="343043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 dirty="0">
                  <a:solidFill>
                    <a:srgbClr val="C00000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28" name="Oval 19">
              <a:extLst>
                <a:ext uri="{FF2B5EF4-FFF2-40B4-BE49-F238E27FC236}">
                  <a16:creationId xmlns:a16="http://schemas.microsoft.com/office/drawing/2014/main" id="{EA6DA25D-B6DE-4FD9-9403-FAE7BEBF0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7287" y="5875269"/>
              <a:ext cx="103188" cy="103187"/>
            </a:xfrm>
            <a:prstGeom prst="ellipse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2200" i="1" noProof="1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4DDEEF1-2D37-4F71-BFE3-80A699842A4E}"/>
              </a:ext>
            </a:extLst>
          </p:cNvPr>
          <p:cNvGrpSpPr/>
          <p:nvPr/>
        </p:nvGrpSpPr>
        <p:grpSpPr>
          <a:xfrm>
            <a:off x="2931790" y="3776340"/>
            <a:ext cx="2037081" cy="431529"/>
            <a:chOff x="4641528" y="3776340"/>
            <a:chExt cx="2037081" cy="431529"/>
          </a:xfrm>
        </p:grpSpPr>
        <p:sp>
          <p:nvSpPr>
            <p:cNvPr id="33" name="Line 10">
              <a:extLst>
                <a:ext uri="{FF2B5EF4-FFF2-40B4-BE49-F238E27FC236}">
                  <a16:creationId xmlns:a16="http://schemas.microsoft.com/office/drawing/2014/main" id="{0E7AE620-9E10-4188-A2C1-CFC56AB900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41528" y="4078985"/>
              <a:ext cx="1647277" cy="0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A1D14F0-5C76-4F89-90A8-F30AEAF46F6A}"/>
                </a:ext>
              </a:extLst>
            </p:cNvPr>
            <p:cNvGrpSpPr/>
            <p:nvPr/>
          </p:nvGrpSpPr>
          <p:grpSpPr>
            <a:xfrm>
              <a:off x="6266695" y="3776340"/>
              <a:ext cx="411914" cy="431529"/>
              <a:chOff x="6266695" y="3776340"/>
              <a:chExt cx="411914" cy="431529"/>
            </a:xfrm>
          </p:grpSpPr>
          <p:sp>
            <p:nvSpPr>
              <p:cNvPr id="2072" name="Rectangle 9">
                <a:extLst>
                  <a:ext uri="{FF2B5EF4-FFF2-40B4-BE49-F238E27FC236}">
                    <a16:creationId xmlns:a16="http://schemas.microsoft.com/office/drawing/2014/main" id="{5FDBC0DD-A391-4585-A195-8812C9A02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1596" y="3776340"/>
                <a:ext cx="327013" cy="431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 defTabSz="7620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 defTabSz="7620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defTabSz="7620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defTabSz="7620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defTabSz="7620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defTabSz="7620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GB" altLang="en-US" sz="2200" i="1">
                    <a:solidFill>
                      <a:srgbClr val="CC0000"/>
                    </a:solidFill>
                    <a:latin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30" name="Oval 12">
                <a:extLst>
                  <a:ext uri="{FF2B5EF4-FFF2-40B4-BE49-F238E27FC236}">
                    <a16:creationId xmlns:a16="http://schemas.microsoft.com/office/drawing/2014/main" id="{F2FBC429-48E2-46C4-A6C7-15CBD87A97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6695" y="4027964"/>
                <a:ext cx="103188" cy="103187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GB" altLang="en-US" sz="2200" i="1" noProof="1">
                  <a:solidFill>
                    <a:srgbClr val="0000CC"/>
                  </a:solidFill>
                </a:endParaRPr>
              </a:p>
            </p:txBody>
          </p:sp>
        </p:grp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FDFD92-8EB3-44D8-82AA-EF84EBF8059B}"/>
              </a:ext>
            </a:extLst>
          </p:cNvPr>
          <p:cNvCxnSpPr/>
          <p:nvPr/>
        </p:nvCxnSpPr>
        <p:spPr bwMode="auto">
          <a:xfrm flipH="1">
            <a:off x="3183099" y="6193966"/>
            <a:ext cx="1142203" cy="0"/>
          </a:xfrm>
          <a:prstGeom prst="straightConnector1">
            <a:avLst/>
          </a:prstGeom>
          <a:solidFill>
            <a:schemeClr val="bg1"/>
          </a:solidFill>
          <a:ln w="31750" cap="flat" cmpd="sng" algn="ctr">
            <a:solidFill>
              <a:srgbClr val="660066"/>
            </a:solidFill>
            <a:prstDash val="solid"/>
            <a:miter lim="800000"/>
            <a:headEnd type="none" w="med" len="med"/>
            <a:tailEnd type="stealth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7F1A94-5697-41E9-AF0A-61286B02A11A}"/>
              </a:ext>
            </a:extLst>
          </p:cNvPr>
          <p:cNvCxnSpPr/>
          <p:nvPr/>
        </p:nvCxnSpPr>
        <p:spPr bwMode="auto">
          <a:xfrm flipV="1">
            <a:off x="524897" y="4346089"/>
            <a:ext cx="0" cy="1452283"/>
          </a:xfrm>
          <a:prstGeom prst="straightConnector1">
            <a:avLst/>
          </a:prstGeom>
          <a:solidFill>
            <a:schemeClr val="bg1"/>
          </a:solidFill>
          <a:ln w="31750" cap="flat" cmpd="sng" algn="ctr">
            <a:solidFill>
              <a:srgbClr val="660066"/>
            </a:solidFill>
            <a:prstDash val="solid"/>
            <a:miter lim="800000"/>
            <a:headEnd type="none" w="med" len="med"/>
            <a:tailEnd type="stealth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Rectangle 10">
            <a:extLst>
              <a:ext uri="{FF2B5EF4-FFF2-40B4-BE49-F238E27FC236}">
                <a16:creationId xmlns:a16="http://schemas.microsoft.com/office/drawing/2014/main" id="{938309C8-B5B3-4F69-A930-F25447DB0E3B}"/>
              </a:ext>
            </a:extLst>
          </p:cNvPr>
          <p:cNvSpPr txBox="1">
            <a:spLocks/>
          </p:cNvSpPr>
          <p:nvPr/>
        </p:nvSpPr>
        <p:spPr>
          <a:xfrm>
            <a:off x="8525665" y="685477"/>
            <a:ext cx="3666335" cy="5865810"/>
          </a:xfrm>
          <a:prstGeom prst="rect">
            <a:avLst/>
          </a:prstGeom>
          <a:solidFill>
            <a:srgbClr val="FFFFEB"/>
          </a:solidFill>
          <a:ln w="25400">
            <a:solidFill>
              <a:srgbClr val="660066"/>
            </a:solidFill>
          </a:ln>
        </p:spPr>
        <p:txBody>
          <a:bodyPr/>
          <a:lstStyle>
            <a:lvl1pPr marL="342900" indent="-342900" algn="l" rtl="0" eaLnBrk="1" fontAlgn="base" hangingPunct="1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990033"/>
              </a:buClr>
              <a:buSzPct val="85000"/>
              <a:buFont typeface="Wingdings 2" panose="05020102010507070707" pitchFamily="18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007A00"/>
              </a:buClr>
              <a:buSzPct val="70000"/>
              <a:buFont typeface="Wingdings" panose="05000000000000000000" pitchFamily="2" charset="2"/>
              <a:buChar char="¡"/>
              <a:defRPr sz="2500" kern="1200">
                <a:solidFill>
                  <a:srgbClr val="00436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 2" panose="05020102010507070707" pitchFamily="18" charset="2"/>
              <a:buChar char="÷"/>
              <a:defRPr sz="2200" kern="1200">
                <a:solidFill>
                  <a:srgbClr val="3B186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B56403"/>
              </a:buClr>
              <a:buSzPct val="65000"/>
              <a:buFont typeface="Wingdings 2" panose="05020102010507070707" pitchFamily="18" charset="2"/>
              <a:buChar char="°"/>
              <a:defRPr sz="2000" kern="1200">
                <a:solidFill>
                  <a:srgbClr val="3C415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har char="»"/>
              <a:defRPr sz="1600" kern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4163" lvl="1" indent="-284163">
              <a:lnSpc>
                <a:spcPct val="100000"/>
              </a:lnSpc>
              <a:spcBef>
                <a:spcPts val="700"/>
              </a:spcBef>
            </a:pPr>
            <a:r>
              <a:rPr lang="en-GB" altLang="en-US" dirty="0"/>
              <a:t>Increase in </a:t>
            </a:r>
            <a:r>
              <a:rPr lang="en-GB" altLang="en-US" i="1" dirty="0"/>
              <a:t>AD</a:t>
            </a:r>
          </a:p>
          <a:p>
            <a:pPr marL="514350" lvl="2" indent="-230188">
              <a:lnSpc>
                <a:spcPct val="100000"/>
              </a:lnSpc>
              <a:spcBef>
                <a:spcPts val="700"/>
              </a:spcBef>
            </a:pPr>
            <a:r>
              <a:rPr lang="en-GB" altLang="en-US" dirty="0"/>
              <a:t>movement along </a:t>
            </a:r>
            <a:r>
              <a:rPr lang="en-GB" altLang="en-US" i="1" dirty="0"/>
              <a:t>EAPC</a:t>
            </a:r>
            <a:r>
              <a:rPr lang="en-GB" altLang="en-US" dirty="0"/>
              <a:t>  </a:t>
            </a:r>
          </a:p>
          <a:p>
            <a:pPr marL="514350" lvl="2" indent="-230188">
              <a:lnSpc>
                <a:spcPct val="100000"/>
              </a:lnSpc>
              <a:spcBef>
                <a:spcPts val="700"/>
              </a:spcBef>
            </a:pPr>
            <a:r>
              <a:rPr lang="en-GB" altLang="en-US" dirty="0"/>
              <a:t>inflation rises (</a:t>
            </a:r>
            <a:r>
              <a:rPr lang="en-GB" altLang="en-US" dirty="0">
                <a:latin typeface="Symbol" panose="05050102010706020507" pitchFamily="18" charset="2"/>
              </a:rPr>
              <a:t>p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↑)</a:t>
            </a:r>
            <a:endParaRPr lang="en-GB" altLang="en-US" dirty="0"/>
          </a:p>
          <a:p>
            <a:pPr marL="514350" lvl="2" indent="-230188">
              <a:lnSpc>
                <a:spcPct val="100000"/>
              </a:lnSpc>
              <a:spcBef>
                <a:spcPts val="700"/>
              </a:spcBef>
            </a:pPr>
            <a:r>
              <a:rPr lang="en-GB" altLang="en-US" dirty="0"/>
              <a:t>next period, expected inflation rises and so </a:t>
            </a:r>
            <a:r>
              <a:rPr lang="en-GB" altLang="en-US" i="1" dirty="0"/>
              <a:t>EAPC</a:t>
            </a:r>
            <a:r>
              <a:rPr lang="en-GB" altLang="en-US" dirty="0"/>
              <a:t> shifts up</a:t>
            </a:r>
            <a:endParaRPr lang="en-GB" altLang="en-US" i="1" dirty="0"/>
          </a:p>
          <a:p>
            <a:pPr marL="288925" lvl="1" indent="-288925">
              <a:lnSpc>
                <a:spcPct val="100000"/>
              </a:lnSpc>
              <a:spcBef>
                <a:spcPts val="700"/>
              </a:spcBef>
            </a:pPr>
            <a:r>
              <a:rPr lang="en-GB" altLang="en-US" dirty="0"/>
              <a:t>Long-run equilibrium at </a:t>
            </a:r>
            <a:r>
              <a:rPr lang="en-GB" altLang="en-US" i="1" dirty="0"/>
              <a:t>U</a:t>
            </a:r>
            <a:r>
              <a:rPr lang="en-GB" altLang="en-US" baseline="-25000" dirty="0"/>
              <a:t>n</a:t>
            </a:r>
            <a:endParaRPr lang="en-GB" altLang="en-US" i="1" dirty="0"/>
          </a:p>
          <a:p>
            <a:pPr marL="288925" lvl="1" indent="-288925">
              <a:lnSpc>
                <a:spcPct val="100000"/>
              </a:lnSpc>
              <a:spcBef>
                <a:spcPts val="700"/>
              </a:spcBef>
            </a:pPr>
            <a:r>
              <a:rPr lang="en-GB" altLang="en-US" dirty="0"/>
              <a:t>Vertical </a:t>
            </a:r>
            <a:r>
              <a:rPr lang="en-GB" altLang="en-US" i="1" dirty="0"/>
              <a:t>LRPC</a:t>
            </a:r>
          </a:p>
          <a:p>
            <a:pPr marL="284163" lvl="1" indent="-284163">
              <a:lnSpc>
                <a:spcPct val="100000"/>
              </a:lnSpc>
              <a:spcBef>
                <a:spcPts val="700"/>
              </a:spcBef>
            </a:pPr>
            <a:r>
              <a:rPr lang="en-GB" altLang="en-US" dirty="0"/>
              <a:t>Decrease in </a:t>
            </a:r>
            <a:r>
              <a:rPr lang="en-GB" altLang="en-US" i="1" dirty="0"/>
              <a:t>AD</a:t>
            </a:r>
            <a:endParaRPr lang="en-GB" altLang="en-US" dirty="0"/>
          </a:p>
          <a:p>
            <a:pPr marL="514350" lvl="2" indent="-230188">
              <a:lnSpc>
                <a:spcPct val="100000"/>
              </a:lnSpc>
              <a:spcBef>
                <a:spcPts val="700"/>
              </a:spcBef>
            </a:pPr>
            <a:r>
              <a:rPr lang="en-GB" altLang="en-US" dirty="0"/>
              <a:t>inflation falls (</a:t>
            </a:r>
            <a:r>
              <a:rPr lang="en-GB" altLang="en-US" dirty="0">
                <a:latin typeface="Symbol" panose="05050102010706020507" pitchFamily="18" charset="2"/>
              </a:rPr>
              <a:t>p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↓)</a:t>
            </a:r>
            <a:endParaRPr lang="en-GB" altLang="en-US" dirty="0"/>
          </a:p>
          <a:p>
            <a:pPr marL="514350" lvl="2" indent="-230188">
              <a:lnSpc>
                <a:spcPct val="100000"/>
              </a:lnSpc>
              <a:spcBef>
                <a:spcPts val="700"/>
              </a:spcBef>
            </a:pPr>
            <a:r>
              <a:rPr lang="en-GB" altLang="en-US" dirty="0"/>
              <a:t>next period, expected inflation falls and so </a:t>
            </a:r>
            <a:r>
              <a:rPr lang="en-GB" altLang="en-US" i="1" dirty="0"/>
              <a:t>EAPC</a:t>
            </a:r>
            <a:r>
              <a:rPr lang="en-GB" altLang="en-US" dirty="0"/>
              <a:t> shifts down</a:t>
            </a:r>
          </a:p>
          <a:p>
            <a:pPr marL="114300" lvl="1" indent="-230188">
              <a:lnSpc>
                <a:spcPct val="100000"/>
              </a:lnSpc>
              <a:spcBef>
                <a:spcPts val="700"/>
              </a:spcBef>
            </a:pPr>
            <a:endParaRPr lang="en-GB" altLang="en-US" i="1" dirty="0"/>
          </a:p>
          <a:p>
            <a:pPr marL="284163" lvl="1" indent="-284163">
              <a:lnSpc>
                <a:spcPct val="100000"/>
              </a:lnSpc>
              <a:spcBef>
                <a:spcPts val="700"/>
              </a:spcBef>
            </a:pPr>
            <a:endParaRPr lang="en-GB" altLang="en-US" i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C2B61C6-8D92-402F-9ED6-7DA93D34AC69}"/>
              </a:ext>
            </a:extLst>
          </p:cNvPr>
          <p:cNvGrpSpPr/>
          <p:nvPr/>
        </p:nvGrpSpPr>
        <p:grpSpPr>
          <a:xfrm>
            <a:off x="2880038" y="3708077"/>
            <a:ext cx="396635" cy="2201863"/>
            <a:chOff x="4589776" y="3708077"/>
            <a:chExt cx="396635" cy="2201863"/>
          </a:xfrm>
        </p:grpSpPr>
        <p:sp>
          <p:nvSpPr>
            <p:cNvPr id="2081" name="Line 33">
              <a:extLst>
                <a:ext uri="{FF2B5EF4-FFF2-40B4-BE49-F238E27FC236}">
                  <a16:creationId xmlns:a16="http://schemas.microsoft.com/office/drawing/2014/main" id="{D3F02C09-F32B-4899-A656-3AF9E065E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529" y="4127177"/>
              <a:ext cx="0" cy="1782763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0" name="Oval 12">
              <a:extLst>
                <a:ext uri="{FF2B5EF4-FFF2-40B4-BE49-F238E27FC236}">
                  <a16:creationId xmlns:a16="http://schemas.microsoft.com/office/drawing/2014/main" id="{3E3027CD-DDB8-4024-A0F3-BD5CE7A09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9776" y="4029067"/>
              <a:ext cx="103188" cy="10318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2200" i="1" noProof="1">
                <a:solidFill>
                  <a:srgbClr val="0000CC"/>
                </a:solidFill>
              </a:endParaRPr>
            </a:p>
          </p:txBody>
        </p:sp>
        <p:sp>
          <p:nvSpPr>
            <p:cNvPr id="2059" name="Rectangle 9">
              <a:extLst>
                <a:ext uri="{FF2B5EF4-FFF2-40B4-BE49-F238E27FC236}">
                  <a16:creationId xmlns:a16="http://schemas.microsoft.com/office/drawing/2014/main" id="{630202B2-0906-410C-B8A7-BA29D9505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368" y="3708077"/>
              <a:ext cx="343043" cy="431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defTabSz="762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GB" altLang="en-US" sz="2200" i="1" dirty="0">
                  <a:solidFill>
                    <a:srgbClr val="0000CC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9678106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4" grpId="0"/>
      <p:bldP spid="43" grpId="0" uiExpand="1" build="p" bldLvl="3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2" name="Rectangle 12">
            <a:extLst>
              <a:ext uri="{FF2B5EF4-FFF2-40B4-BE49-F238E27FC236}">
                <a16:creationId xmlns:a16="http://schemas.microsoft.com/office/drawing/2014/main" id="{09D89000-B56B-4200-B78E-4CE0EF9C54CF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pPr>
              <a:spcBef>
                <a:spcPts val="600"/>
              </a:spcBef>
            </a:pPr>
            <a:r>
              <a:rPr lang="en-GB" altLang="en-US" dirty="0"/>
              <a:t>Output, Unemployment and Inflation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890" name="Rectangle 10">
                <a:extLst>
                  <a:ext uri="{FF2B5EF4-FFF2-40B4-BE49-F238E27FC236}">
                    <a16:creationId xmlns:a16="http://schemas.microsoft.com/office/drawing/2014/main" id="{AE7C417D-7A30-4260-98B7-ADE90B0934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608" y="1538177"/>
                <a:ext cx="11462198" cy="491024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GB" dirty="0">
                    <a:latin typeface="+mn-lt"/>
                  </a:rPr>
                  <a:t>A key conclusion of monetarists, such as Milton Friedman, was that, in the long run, </a:t>
                </a:r>
                <a:r>
                  <a:rPr lang="en-GB" b="1" dirty="0">
                    <a:latin typeface="+mn-lt"/>
                  </a:rPr>
                  <a:t>the equilibrium rate of unemployment is determined independently of aggregate demand</a:t>
                </a:r>
                <a:r>
                  <a:rPr lang="en-GB" dirty="0">
                    <a:latin typeface="+mn-lt"/>
                  </a:rPr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GB" altLang="en-US" dirty="0">
                    <a:latin typeface="+mn-lt"/>
                  </a:rPr>
                  <a:t>Natural rate hypothesis – unique non-accelerating inflation rate of unemployment (NAIRU)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GB" dirty="0">
                    <a:latin typeface="+mn-lt"/>
                  </a:rPr>
                  <a:t>Under the natural rate hypothesis the long-run Phillips curve (</a:t>
                </a:r>
                <a:r>
                  <a:rPr lang="en-GB" i="1" dirty="0">
                    <a:latin typeface="+mn-lt"/>
                  </a:rPr>
                  <a:t>LRPC</a:t>
                </a:r>
                <a:r>
                  <a:rPr lang="en-GB" dirty="0">
                    <a:latin typeface="+mn-lt"/>
                  </a:rPr>
                  <a:t>) is vertical. </a:t>
                </a:r>
                <a:endParaRPr lang="en-GB" altLang="en-US" dirty="0">
                  <a:latin typeface="+mn-lt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GB" altLang="en-US" dirty="0">
                    <a:latin typeface="+mn-lt"/>
                  </a:rPr>
                  <a:t>If prices adjust relatively quickly to changes in demand and supply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GB" altLang="en-US" dirty="0">
                    <a:latin typeface="+mn-lt"/>
                  </a:rPr>
                  <a:t>People have adaptive expectations, based on past behaviour so </a:t>
                </a:r>
                <a14:m>
                  <m:oMath xmlns:m="http://schemas.openxmlformats.org/officeDocument/2006/math">
                    <m:r>
                      <a:rPr lang="el-GR" altLang="en-US" i="1">
                        <a:latin typeface="+mn-lt"/>
                      </a:rPr>
                      <m:t>𝜋</m:t>
                    </m:r>
                    <m:r>
                      <m:rPr>
                        <m:sty m:val="p"/>
                      </m:rPr>
                      <a:rPr lang="en-GB" altLang="en-US" b="0" i="0" baseline="30000" smtClean="0">
                        <a:latin typeface="+mn-lt"/>
                      </a:rPr>
                      <m:t>e</m:t>
                    </m:r>
                    <m:r>
                      <m:rPr>
                        <m:sty m:val="p"/>
                      </m:rPr>
                      <a:rPr lang="en-GB" altLang="en-US" b="0" i="0" baseline="-25000" smtClean="0">
                        <a:latin typeface="+mn-lt"/>
                      </a:rPr>
                      <m:t>t</m:t>
                    </m:r>
                    <m:r>
                      <a:rPr lang="en-GB" altLang="en-US" i="1" smtClean="0">
                        <a:latin typeface="+mn-lt"/>
                      </a:rPr>
                      <m:t>=</m:t>
                    </m:r>
                    <m:r>
                      <a:rPr lang="el-GR" altLang="en-US" i="1" smtClean="0">
                        <a:latin typeface="+mn-lt"/>
                      </a:rPr>
                      <m:t>𝜋</m:t>
                    </m:r>
                    <m:r>
                      <m:rPr>
                        <m:nor/>
                      </m:rPr>
                      <a:rPr lang="en-GB" altLang="en-US" baseline="-25000" dirty="0">
                        <a:latin typeface="+mn-lt"/>
                      </a:rPr>
                      <m:t>t</m:t>
                    </m:r>
                    <m:r>
                      <m:rPr>
                        <m:nor/>
                      </m:rPr>
                      <a:rPr lang="en-GB" altLang="en-US" baseline="-25000" dirty="0">
                        <a:latin typeface="+mn-lt"/>
                      </a:rPr>
                      <m:t>−1</m:t>
                    </m:r>
                  </m:oMath>
                </a14:m>
                <a:endParaRPr lang="en-GB" altLang="en-US" baseline="-25000" dirty="0">
                  <a:latin typeface="+mn-lt"/>
                </a:endParaRP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GB" altLang="en-US" dirty="0">
                    <a:latin typeface="+mn-lt"/>
                  </a:rPr>
                  <a:t>Treat nominal rise in demand as </a:t>
                </a:r>
                <a:r>
                  <a:rPr lang="en-GB" altLang="en-US" i="1" dirty="0">
                    <a:latin typeface="+mn-lt"/>
                  </a:rPr>
                  <a:t>real</a:t>
                </a:r>
                <a:r>
                  <a:rPr lang="en-GB" altLang="en-US" dirty="0">
                    <a:latin typeface="+mn-lt"/>
                  </a:rPr>
                  <a:t> rise: people can be fooled (in short run)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endParaRPr lang="en-GB" altLang="en-US" dirty="0">
                  <a:latin typeface="+mn-lt"/>
                </a:endParaRP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endParaRPr lang="en-GB" altLang="en-US" dirty="0">
                  <a:latin typeface="+mn-lt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GB" altLang="en-US" dirty="0">
                    <a:highlight>
                      <a:srgbClr val="FFFF00"/>
                    </a:highlight>
                    <a:latin typeface="+mn-lt"/>
                  </a:rPr>
                  <a:t>Quiz: What happens when government increases spending to raise aggregate demand and reduce unemployment to 6%?</a:t>
                </a:r>
              </a:p>
            </p:txBody>
          </p:sp>
        </mc:Choice>
        <mc:Fallback>
          <p:sp>
            <p:nvSpPr>
              <p:cNvPr id="122890" name="Rectangle 10">
                <a:extLst>
                  <a:ext uri="{FF2B5EF4-FFF2-40B4-BE49-F238E27FC236}">
                    <a16:creationId xmlns:a16="http://schemas.microsoft.com/office/drawing/2014/main" id="{AE7C417D-7A30-4260-98B7-ADE90B0934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608" y="1538177"/>
                <a:ext cx="11462198" cy="4910248"/>
              </a:xfrm>
              <a:blipFill>
                <a:blip r:embed="rId3"/>
                <a:stretch>
                  <a:fillRect l="-798" t="-993" r="-37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124195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2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2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2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2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2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2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2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2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2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2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2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2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2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2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0" grpId="0" build="p" bldLvl="3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4" name="Rectangle 4">
            <a:extLst>
              <a:ext uri="{FF2B5EF4-FFF2-40B4-BE49-F238E27FC236}">
                <a16:creationId xmlns:a16="http://schemas.microsoft.com/office/drawing/2014/main" id="{7A15E48A-D9FD-4FDF-B2AC-E1E4EE18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Fiscal Policy and the Public Finances</a:t>
            </a:r>
          </a:p>
        </p:txBody>
      </p:sp>
      <p:sp>
        <p:nvSpPr>
          <p:cNvPr id="445445" name="Rectangle 5">
            <a:extLst>
              <a:ext uri="{FF2B5EF4-FFF2-40B4-BE49-F238E27FC236}">
                <a16:creationId xmlns:a16="http://schemas.microsoft.com/office/drawing/2014/main" id="{08BD9E38-24C7-4D18-A08E-789C17CDF98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336" y="1527047"/>
            <a:ext cx="11338560" cy="47370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ct val="75000"/>
              </a:spcBef>
            </a:pPr>
            <a:r>
              <a:rPr lang="en-GB" altLang="en-US" dirty="0">
                <a:latin typeface="+mn-lt"/>
                <a:cs typeface="Helvetica"/>
              </a:rPr>
              <a:t>Fiscal policy</a:t>
            </a:r>
          </a:p>
          <a:p>
            <a:pPr lvl="1">
              <a:lnSpc>
                <a:spcPct val="100000"/>
              </a:lnSpc>
              <a:spcBef>
                <a:spcPct val="75000"/>
              </a:spcBef>
            </a:pPr>
            <a:r>
              <a:rPr lang="en-GB" altLang="en-US" dirty="0">
                <a:latin typeface="+mn-lt"/>
                <a:cs typeface="Helvetica"/>
              </a:rPr>
              <a:t>seeks to control aggregate demand by altering the balance between government spending and taxation</a:t>
            </a:r>
          </a:p>
          <a:p>
            <a:pPr>
              <a:lnSpc>
                <a:spcPct val="100000"/>
              </a:lnSpc>
              <a:spcBef>
                <a:spcPct val="75000"/>
              </a:spcBef>
            </a:pPr>
            <a:r>
              <a:rPr lang="en-GB" altLang="en-US" dirty="0">
                <a:latin typeface="+mn-lt"/>
                <a:cs typeface="Helvetica"/>
              </a:rPr>
              <a:t>Roles for fiscal policy</a:t>
            </a:r>
          </a:p>
          <a:p>
            <a:pPr lvl="1">
              <a:lnSpc>
                <a:spcPct val="100000"/>
              </a:lnSpc>
              <a:spcBef>
                <a:spcPct val="75000"/>
              </a:spcBef>
            </a:pPr>
            <a:r>
              <a:rPr lang="en-GB" altLang="en-US" dirty="0">
                <a:latin typeface="+mn-lt"/>
                <a:cs typeface="Helvetica"/>
              </a:rPr>
              <a:t>correcting a fundamental disequilibrium (</a:t>
            </a:r>
            <a:r>
              <a:rPr lang="en-GB" dirty="0">
                <a:latin typeface="+mn-lt"/>
                <a:cs typeface="Helvetica"/>
              </a:rPr>
              <a:t>prevent an economy experiencing a</a:t>
            </a:r>
            <a:r>
              <a:rPr lang="en-GB" b="1" dirty="0">
                <a:latin typeface="+mn-lt"/>
                <a:cs typeface="Helvetica"/>
              </a:rPr>
              <a:t> </a:t>
            </a:r>
            <a:r>
              <a:rPr lang="en-GB" dirty="0">
                <a:latin typeface="+mn-lt"/>
                <a:cs typeface="Helvetica"/>
              </a:rPr>
              <a:t>severe or prolonged recession</a:t>
            </a:r>
            <a:r>
              <a:rPr lang="en-GB" altLang="en-US" dirty="0">
                <a:latin typeface="+mn-lt"/>
                <a:cs typeface="Helvetica"/>
              </a:rPr>
              <a:t>)</a:t>
            </a:r>
          </a:p>
          <a:p>
            <a:pPr lvl="1">
              <a:lnSpc>
                <a:spcPct val="100000"/>
              </a:lnSpc>
              <a:spcBef>
                <a:spcPct val="75000"/>
              </a:spcBef>
            </a:pPr>
            <a:r>
              <a:rPr lang="en-GB" altLang="en-US" dirty="0">
                <a:latin typeface="+mn-lt"/>
                <a:cs typeface="Helvetica"/>
              </a:rPr>
              <a:t>stabilisation policies (</a:t>
            </a:r>
            <a:r>
              <a:rPr lang="en-GB" dirty="0">
                <a:latin typeface="+mn-lt"/>
                <a:cs typeface="Helvetica"/>
              </a:rPr>
              <a:t>smooth out the fluctuations in the economy associated with the business cycle)</a:t>
            </a:r>
            <a:endParaRPr lang="en-GB" altLang="en-US" dirty="0">
              <a:latin typeface="+mn-lt"/>
              <a:cs typeface="Helvetica"/>
            </a:endParaRPr>
          </a:p>
          <a:p>
            <a:pPr lvl="1">
              <a:lnSpc>
                <a:spcPct val="100000"/>
              </a:lnSpc>
              <a:spcBef>
                <a:spcPct val="75000"/>
              </a:spcBef>
            </a:pPr>
            <a:r>
              <a:rPr lang="en-GB" altLang="en-US" dirty="0">
                <a:latin typeface="+mn-lt"/>
                <a:cs typeface="Helvetica"/>
              </a:rPr>
              <a:t>to influence aggregate supply (</a:t>
            </a:r>
            <a:r>
              <a:rPr lang="en-GB" dirty="0">
                <a:latin typeface="+mn-lt"/>
                <a:cs typeface="Helvetica"/>
              </a:rPr>
              <a:t>increase the rate of growth of the economy’s potential output and reduce the natural rate of unemployment)</a:t>
            </a:r>
          </a:p>
        </p:txBody>
      </p:sp>
    </p:spTree>
    <p:extLst>
      <p:ext uri="{BB962C8B-B14F-4D97-AF65-F5344CB8AC3E}">
        <p14:creationId xmlns:p14="http://schemas.microsoft.com/office/powerpoint/2010/main" val="1275937144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5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45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45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45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45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45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454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54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45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5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454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454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5" grpId="0" build="p" bldLvl="2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>
            <a:extLst>
              <a:ext uri="{FF2B5EF4-FFF2-40B4-BE49-F238E27FC236}">
                <a16:creationId xmlns:a16="http://schemas.microsoft.com/office/drawing/2014/main" id="{20808998-D2B6-494A-9D60-655DC9A74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7491" name="Rectangle 3">
            <a:extLst>
              <a:ext uri="{FF2B5EF4-FFF2-40B4-BE49-F238E27FC236}">
                <a16:creationId xmlns:a16="http://schemas.microsoft.com/office/drawing/2014/main" id="{9251D28A-4789-48E4-8153-56F1E59A2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7494" name="Rectangle 6">
            <a:extLst>
              <a:ext uri="{FF2B5EF4-FFF2-40B4-BE49-F238E27FC236}">
                <a16:creationId xmlns:a16="http://schemas.microsoft.com/office/drawing/2014/main" id="{B7142E4E-B474-48ED-B26E-3431379A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Fiscal Policy</a:t>
            </a:r>
          </a:p>
        </p:txBody>
      </p:sp>
      <p:sp>
        <p:nvSpPr>
          <p:cNvPr id="447495" name="Rectangle 7">
            <a:extLst>
              <a:ext uri="{FF2B5EF4-FFF2-40B4-BE49-F238E27FC236}">
                <a16:creationId xmlns:a16="http://schemas.microsoft.com/office/drawing/2014/main" id="{D5244396-FBD7-4A9B-A899-2D52FA172AE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167" y="1412355"/>
            <a:ext cx="11338560" cy="4836045"/>
          </a:xfrm>
        </p:spPr>
        <p:txBody>
          <a:bodyPr/>
          <a:lstStyle/>
          <a:p>
            <a:pPr>
              <a:spcBef>
                <a:spcPts val="1500"/>
              </a:spcBef>
            </a:pPr>
            <a:r>
              <a:rPr lang="en-GB" altLang="en-US" dirty="0">
                <a:latin typeface="+mn-lt"/>
              </a:rPr>
              <a:t>Two levers: spending (injection), taxation (withdrawal)</a:t>
            </a:r>
          </a:p>
          <a:p>
            <a:pPr lvl="1">
              <a:spcBef>
                <a:spcPts val="1500"/>
              </a:spcBef>
            </a:pPr>
            <a:r>
              <a:rPr lang="en-GB" altLang="en-US" dirty="0">
                <a:latin typeface="+mn-lt"/>
              </a:rPr>
              <a:t>Fixed price model – can rely on multiplier effects</a:t>
            </a:r>
          </a:p>
          <a:p>
            <a:pPr lvl="1">
              <a:spcBef>
                <a:spcPts val="1500"/>
              </a:spcBef>
            </a:pPr>
            <a:r>
              <a:rPr lang="en-GB" altLang="en-US" i="1" dirty="0">
                <a:latin typeface="+mn-lt"/>
              </a:rPr>
              <a:t>AS-AD</a:t>
            </a:r>
            <a:r>
              <a:rPr lang="en-GB" altLang="en-US" dirty="0">
                <a:latin typeface="+mn-lt"/>
              </a:rPr>
              <a:t> model – effectiveness depends on shape of </a:t>
            </a:r>
            <a:r>
              <a:rPr lang="en-GB" altLang="en-US" i="1" dirty="0">
                <a:latin typeface="+mn-lt"/>
              </a:rPr>
              <a:t>AS </a:t>
            </a:r>
            <a:r>
              <a:rPr lang="en-GB" altLang="en-US" dirty="0">
                <a:latin typeface="+mn-lt"/>
              </a:rPr>
              <a:t>curve</a:t>
            </a:r>
          </a:p>
          <a:p>
            <a:pPr lvl="1">
              <a:spcBef>
                <a:spcPts val="1500"/>
              </a:spcBef>
            </a:pPr>
            <a:endParaRPr lang="en-GB" altLang="en-US" dirty="0">
              <a:latin typeface="+mn-lt"/>
            </a:endParaRPr>
          </a:p>
          <a:p>
            <a:pPr>
              <a:spcBef>
                <a:spcPts val="1500"/>
              </a:spcBef>
            </a:pPr>
            <a:r>
              <a:rPr lang="en-GB" altLang="en-US" dirty="0">
                <a:latin typeface="+mn-lt"/>
              </a:rPr>
              <a:t>Interested in management of government finances</a:t>
            </a:r>
          </a:p>
          <a:p>
            <a:pPr lvl="1">
              <a:spcBef>
                <a:spcPts val="1500"/>
              </a:spcBef>
            </a:pPr>
            <a:r>
              <a:rPr lang="en-GB" altLang="en-US" dirty="0">
                <a:latin typeface="+mn-lt"/>
              </a:rPr>
              <a:t>Typically think in terms of position of central government</a:t>
            </a:r>
          </a:p>
          <a:p>
            <a:pPr lvl="2">
              <a:spcBef>
                <a:spcPts val="1500"/>
              </a:spcBef>
            </a:pPr>
            <a:r>
              <a:rPr lang="en-GB" altLang="en-US" dirty="0">
                <a:latin typeface="+mn-lt"/>
              </a:rPr>
              <a:t>Which spends more than its tax receipts, so has to finance a deficit</a:t>
            </a:r>
          </a:p>
          <a:p>
            <a:pPr lvl="2">
              <a:spcBef>
                <a:spcPts val="1500"/>
              </a:spcBef>
            </a:pPr>
            <a:r>
              <a:rPr lang="en-GB" altLang="en-US" dirty="0">
                <a:latin typeface="+mn-lt"/>
              </a:rPr>
              <a:t>Interested both in (stock of) national debt; revenue deficit (flow into debt)</a:t>
            </a:r>
          </a:p>
          <a:p>
            <a:pPr lvl="2">
              <a:spcBef>
                <a:spcPts val="1500"/>
              </a:spcBef>
            </a:pPr>
            <a:endParaRPr lang="en-GB" altLang="en-US" dirty="0">
              <a:latin typeface="+mn-lt"/>
            </a:endParaRPr>
          </a:p>
          <a:p>
            <a:pPr>
              <a:spcBef>
                <a:spcPts val="1500"/>
              </a:spcBef>
            </a:pPr>
            <a:r>
              <a:rPr lang="en-GB" altLang="en-US" dirty="0">
                <a:latin typeface="+mn-lt"/>
              </a:rPr>
              <a:t>Finance by tradable instruments – (short term) bills, (long term) bonds</a:t>
            </a:r>
          </a:p>
        </p:txBody>
      </p:sp>
    </p:spTree>
    <p:extLst>
      <p:ext uri="{BB962C8B-B14F-4D97-AF65-F5344CB8AC3E}">
        <p14:creationId xmlns:p14="http://schemas.microsoft.com/office/powerpoint/2010/main" val="226522652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7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47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47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47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47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47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47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7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47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7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474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474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474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474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474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474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5" grpId="0" build="p" bldLvl="4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>
            <a:extLst>
              <a:ext uri="{FF2B5EF4-FFF2-40B4-BE49-F238E27FC236}">
                <a16:creationId xmlns:a16="http://schemas.microsoft.com/office/drawing/2014/main" id="{20808998-D2B6-494A-9D60-655DC9A74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7491" name="Rectangle 3">
            <a:extLst>
              <a:ext uri="{FF2B5EF4-FFF2-40B4-BE49-F238E27FC236}">
                <a16:creationId xmlns:a16="http://schemas.microsoft.com/office/drawing/2014/main" id="{9251D28A-4789-48E4-8153-56F1E59A2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7494" name="Rectangle 6">
            <a:extLst>
              <a:ext uri="{FF2B5EF4-FFF2-40B4-BE49-F238E27FC236}">
                <a16:creationId xmlns:a16="http://schemas.microsoft.com/office/drawing/2014/main" id="{B7142E4E-B474-48ED-B26E-3431379A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Elements of public finance</a:t>
            </a:r>
          </a:p>
        </p:txBody>
      </p:sp>
      <p:sp>
        <p:nvSpPr>
          <p:cNvPr id="447495" name="Rectangle 7">
            <a:extLst>
              <a:ext uri="{FF2B5EF4-FFF2-40B4-BE49-F238E27FC236}">
                <a16:creationId xmlns:a16="http://schemas.microsoft.com/office/drawing/2014/main" id="{D5244396-FBD7-4A9B-A899-2D52FA172AE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altLang="en-US" dirty="0">
                <a:latin typeface="+mn-lt"/>
              </a:rPr>
              <a:t>Thinking about receipts, spending across public sector</a:t>
            </a:r>
          </a:p>
          <a:p>
            <a:pPr lvl="1">
              <a:spcBef>
                <a:spcPts val="1800"/>
              </a:spcBef>
            </a:pPr>
            <a:r>
              <a:rPr lang="en-GB" altLang="en-US" dirty="0">
                <a:latin typeface="+mn-lt"/>
              </a:rPr>
              <a:t>Most government spending on </a:t>
            </a:r>
            <a:r>
              <a:rPr lang="en-GB" altLang="en-US" b="1" dirty="0">
                <a:latin typeface="+mn-lt"/>
              </a:rPr>
              <a:t>current needs </a:t>
            </a:r>
            <a:r>
              <a:rPr lang="en-GB" altLang="en-US" dirty="0">
                <a:latin typeface="+mn-lt"/>
              </a:rPr>
              <a:t>– health, education</a:t>
            </a:r>
          </a:p>
          <a:p>
            <a:pPr lvl="2">
              <a:spcBef>
                <a:spcPts val="1800"/>
              </a:spcBef>
            </a:pPr>
            <a:r>
              <a:rPr lang="en-GB" altLang="en-US" dirty="0">
                <a:latin typeface="+mn-lt"/>
              </a:rPr>
              <a:t>But also substantial </a:t>
            </a:r>
            <a:r>
              <a:rPr lang="en-GB" altLang="en-US" b="1" dirty="0">
                <a:latin typeface="+mn-lt"/>
              </a:rPr>
              <a:t>capital expenditures </a:t>
            </a:r>
            <a:r>
              <a:rPr lang="en-GB" altLang="en-US" dirty="0">
                <a:latin typeface="+mn-lt"/>
              </a:rPr>
              <a:t>– road building, weapons systems</a:t>
            </a:r>
          </a:p>
          <a:p>
            <a:pPr lvl="1">
              <a:spcBef>
                <a:spcPts val="1800"/>
              </a:spcBef>
            </a:pPr>
            <a:r>
              <a:rPr lang="en-GB" altLang="en-US" dirty="0">
                <a:latin typeface="+mn-lt"/>
              </a:rPr>
              <a:t>Only </a:t>
            </a:r>
            <a:r>
              <a:rPr lang="en-GB" altLang="en-US" b="1" dirty="0">
                <a:latin typeface="+mn-lt"/>
              </a:rPr>
              <a:t>final expenditure </a:t>
            </a:r>
            <a:r>
              <a:rPr lang="en-GB" altLang="en-US" dirty="0">
                <a:latin typeface="+mn-lt"/>
              </a:rPr>
              <a:t>part of </a:t>
            </a:r>
            <a:r>
              <a:rPr lang="en-GB" altLang="en-US" i="1" dirty="0">
                <a:latin typeface="+mn-lt"/>
              </a:rPr>
              <a:t>AD </a:t>
            </a:r>
            <a:endParaRPr lang="en-GB" altLang="en-US" dirty="0">
              <a:latin typeface="+mn-lt"/>
            </a:endParaRPr>
          </a:p>
          <a:p>
            <a:pPr lvl="2">
              <a:spcBef>
                <a:spcPts val="1800"/>
              </a:spcBef>
            </a:pPr>
            <a:r>
              <a:rPr lang="en-GB" altLang="en-US" dirty="0">
                <a:latin typeface="+mn-lt"/>
              </a:rPr>
              <a:t>Should exclude </a:t>
            </a:r>
            <a:r>
              <a:rPr lang="en-GB" altLang="en-US" b="1" dirty="0">
                <a:latin typeface="+mn-lt"/>
              </a:rPr>
              <a:t>transfers</a:t>
            </a:r>
            <a:r>
              <a:rPr lang="en-GB" altLang="en-US" dirty="0">
                <a:latin typeface="+mn-lt"/>
              </a:rPr>
              <a:t> (subsidies and benefits)</a:t>
            </a:r>
          </a:p>
          <a:p>
            <a:pPr lvl="1">
              <a:spcBef>
                <a:spcPts val="1800"/>
              </a:spcBef>
            </a:pPr>
            <a:r>
              <a:rPr lang="en-GB" altLang="en-US" dirty="0">
                <a:latin typeface="+mn-lt"/>
              </a:rPr>
              <a:t>Deficit: accounting basis - </a:t>
            </a:r>
            <a:r>
              <a:rPr lang="en-GB" altLang="en-US" b="1" dirty="0">
                <a:latin typeface="+mn-lt"/>
              </a:rPr>
              <a:t>public-sector net borrowing </a:t>
            </a:r>
            <a:r>
              <a:rPr lang="en-GB" altLang="en-US" dirty="0">
                <a:latin typeface="+mn-lt"/>
              </a:rPr>
              <a:t>(PSNB) (through bonds sale)</a:t>
            </a:r>
          </a:p>
          <a:p>
            <a:pPr lvl="2">
              <a:spcBef>
                <a:spcPts val="1800"/>
              </a:spcBef>
            </a:pPr>
            <a:r>
              <a:rPr lang="en-GB" altLang="en-US" dirty="0">
                <a:latin typeface="+mn-lt"/>
              </a:rPr>
              <a:t>Money borrowed every year: </a:t>
            </a:r>
            <a:r>
              <a:rPr lang="en-GB" altLang="en-US" b="1" dirty="0">
                <a:latin typeface="+mn-lt"/>
              </a:rPr>
              <a:t>public-sector net cash requirement </a:t>
            </a:r>
            <a:r>
              <a:rPr lang="en-GB" altLang="en-US" dirty="0">
                <a:latin typeface="+mn-lt"/>
              </a:rPr>
              <a:t>(PSNCR)</a:t>
            </a:r>
          </a:p>
          <a:p>
            <a:pPr lvl="1">
              <a:spcBef>
                <a:spcPts val="1200"/>
              </a:spcBef>
            </a:pPr>
            <a:r>
              <a:rPr lang="en-GB" altLang="en-US" dirty="0">
                <a:latin typeface="+mn-lt"/>
              </a:rPr>
              <a:t>Can calculate total </a:t>
            </a:r>
            <a:r>
              <a:rPr lang="en-GB" altLang="en-US" b="1" dirty="0">
                <a:latin typeface="+mn-lt"/>
              </a:rPr>
              <a:t>public-sector </a:t>
            </a:r>
            <a:r>
              <a:rPr lang="en-GB" altLang="en-US" b="1" i="1" dirty="0">
                <a:latin typeface="+mn-lt"/>
              </a:rPr>
              <a:t>net </a:t>
            </a:r>
            <a:r>
              <a:rPr lang="en-GB" altLang="en-US" b="1" dirty="0">
                <a:latin typeface="+mn-lt"/>
              </a:rPr>
              <a:t>debt </a:t>
            </a:r>
            <a:r>
              <a:rPr lang="en-GB" altLang="en-US" dirty="0">
                <a:latin typeface="+mn-lt"/>
              </a:rPr>
              <a:t>(gross debt minus liquid assets)</a:t>
            </a:r>
          </a:p>
          <a:p>
            <a:pPr lvl="2">
              <a:spcBef>
                <a:spcPts val="1800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60180101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7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47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47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47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47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47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47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7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47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7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47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47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474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474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474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474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5" grpId="0" build="p" bldLvl="4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>
            <a:extLst>
              <a:ext uri="{FF2B5EF4-FFF2-40B4-BE49-F238E27FC236}">
                <a16:creationId xmlns:a16="http://schemas.microsoft.com/office/drawing/2014/main" id="{20808998-D2B6-494A-9D60-655DC9A74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7491" name="Rectangle 3">
            <a:extLst>
              <a:ext uri="{FF2B5EF4-FFF2-40B4-BE49-F238E27FC236}">
                <a16:creationId xmlns:a16="http://schemas.microsoft.com/office/drawing/2014/main" id="{9251D28A-4789-48E4-8153-56F1E59A2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7494" name="Rectangle 6">
            <a:extLst>
              <a:ext uri="{FF2B5EF4-FFF2-40B4-BE49-F238E27FC236}">
                <a16:creationId xmlns:a16="http://schemas.microsoft.com/office/drawing/2014/main" id="{B7142E4E-B474-48ED-B26E-3431379A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Are these deficits sustainable?</a:t>
            </a:r>
          </a:p>
        </p:txBody>
      </p:sp>
      <p:sp>
        <p:nvSpPr>
          <p:cNvPr id="447495" name="Rectangle 7">
            <a:extLst>
              <a:ext uri="{FF2B5EF4-FFF2-40B4-BE49-F238E27FC236}">
                <a16:creationId xmlns:a16="http://schemas.microsoft.com/office/drawing/2014/main" id="{D5244396-FBD7-4A9B-A899-2D52FA172AE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26720" y="1173702"/>
            <a:ext cx="11338560" cy="5174321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ts val="600"/>
              </a:spcBef>
            </a:pPr>
            <a:endParaRPr lang="en-GB" altLang="en-US" dirty="0"/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lang="en-GB" altLang="en-US" dirty="0">
                <a:latin typeface="+mn-lt"/>
              </a:rPr>
              <a:t>A full answer depends on factors: </a:t>
            </a:r>
            <a:r>
              <a:rPr lang="en-GB" altLang="en-US" b="1" dirty="0">
                <a:latin typeface="+mn-lt"/>
              </a:rPr>
              <a:t>interest rates on outstanding debt, growth rate of the economy, primary surplus (deficit)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endParaRPr lang="en-GB" altLang="en-US" b="1" dirty="0">
              <a:latin typeface="+mn-lt"/>
            </a:endParaRP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lang="en-GB" dirty="0">
                <a:latin typeface="+mn-lt"/>
              </a:rPr>
              <a:t>A </a:t>
            </a:r>
            <a:r>
              <a:rPr lang="en-GB" b="1" dirty="0">
                <a:latin typeface="+mn-lt"/>
              </a:rPr>
              <a:t>primary surplus </a:t>
            </a:r>
            <a:r>
              <a:rPr lang="en-GB" dirty="0">
                <a:latin typeface="+mn-lt"/>
              </a:rPr>
              <a:t>(deficit) occurs when public-sector receipts are greater (less) than public-sector expenditures </a:t>
            </a:r>
            <a:r>
              <a:rPr lang="en-GB" i="1" dirty="0">
                <a:latin typeface="+mn-lt"/>
              </a:rPr>
              <a:t>excluding </a:t>
            </a:r>
            <a:r>
              <a:rPr lang="en-GB" dirty="0">
                <a:latin typeface="+mn-lt"/>
              </a:rPr>
              <a:t>interest payments. 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endParaRPr lang="en-GB" altLang="en-US" b="1" dirty="0">
              <a:latin typeface="+mn-lt"/>
            </a:endParaRPr>
          </a:p>
          <a:p>
            <a:r>
              <a:rPr lang="en-GB" dirty="0">
                <a:latin typeface="+mn-lt"/>
              </a:rPr>
              <a:t>For the public sector to be able to run a primary deficit without the debt-to-GDP ratio rising, </a:t>
            </a:r>
            <a:r>
              <a:rPr lang="en-GB" b="1" dirty="0">
                <a:latin typeface="+mn-lt"/>
              </a:rPr>
              <a:t>the rate of economic growth must be greater than the rate of interest</a:t>
            </a:r>
            <a:r>
              <a:rPr lang="en-GB" dirty="0">
                <a:latin typeface="+mn-lt"/>
              </a:rPr>
              <a:t>. </a:t>
            </a:r>
          </a:p>
          <a:p>
            <a:pPr marL="0" indent="0">
              <a:buNone/>
            </a:pPr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The need to raise revenue from taxation are greater the higher the debt-to-GDP ratio and the lower the rate of economic growth. </a:t>
            </a:r>
          </a:p>
          <a:p>
            <a:endParaRPr lang="en-GB" dirty="0"/>
          </a:p>
          <a:p>
            <a:endParaRPr lang="en-GB" dirty="0"/>
          </a:p>
          <a:p>
            <a:pPr>
              <a:lnSpc>
                <a:spcPct val="95000"/>
              </a:lnSpc>
              <a:spcBef>
                <a:spcPts val="600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2606327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7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47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47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47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5" grpId="0" build="p" bldLvl="4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6B50BAA-43CB-A0DE-9EF5-B72E1965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>
            <a:extLst>
              <a:ext uri="{FF2B5EF4-FFF2-40B4-BE49-F238E27FC236}">
                <a16:creationId xmlns:a16="http://schemas.microsoft.com/office/drawing/2014/main" id="{89C6A49A-700F-12A4-8391-FA4C320AD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7491" name="Rectangle 3">
            <a:extLst>
              <a:ext uri="{FF2B5EF4-FFF2-40B4-BE49-F238E27FC236}">
                <a16:creationId xmlns:a16="http://schemas.microsoft.com/office/drawing/2014/main" id="{345FCAFA-B1E9-287E-0E11-82221F2E1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7494" name="Rectangle 6">
            <a:extLst>
              <a:ext uri="{FF2B5EF4-FFF2-40B4-BE49-F238E27FC236}">
                <a16:creationId xmlns:a16="http://schemas.microsoft.com/office/drawing/2014/main" id="{1FB1D52B-3CFA-46DF-7EB2-54BB2B0EE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Business cycle and public finances</a:t>
            </a:r>
          </a:p>
        </p:txBody>
      </p:sp>
      <p:sp>
        <p:nvSpPr>
          <p:cNvPr id="447495" name="Rectangle 7">
            <a:extLst>
              <a:ext uri="{FF2B5EF4-FFF2-40B4-BE49-F238E27FC236}">
                <a16:creationId xmlns:a16="http://schemas.microsoft.com/office/drawing/2014/main" id="{BD90AFFA-FC13-E524-6BA4-630AE1A94DC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167" y="1381223"/>
            <a:ext cx="11338560" cy="5174321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ts val="600"/>
              </a:spcBef>
            </a:pPr>
            <a:r>
              <a:rPr lang="en-GB" altLang="en-US" dirty="0">
                <a:latin typeface="+mn-lt"/>
              </a:rPr>
              <a:t>Public finances tend to be anti-cyclical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lang="en-GB" altLang="en-US" dirty="0">
                <a:latin typeface="+mn-lt"/>
              </a:rPr>
              <a:t>Tax revenue high, borrowing low in boom – reverse in recession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lang="en-GB" altLang="en-US" dirty="0">
                <a:latin typeface="+mn-lt"/>
              </a:rPr>
              <a:t>Structural deficit captures borrowing after allowing for cyclical effects</a:t>
            </a:r>
          </a:p>
          <a:p>
            <a:r>
              <a:rPr lang="en-GB" dirty="0">
                <a:latin typeface="+mn-lt"/>
              </a:rPr>
              <a:t>The government’s </a:t>
            </a:r>
            <a:r>
              <a:rPr lang="en-GB" b="1" i="1" dirty="0">
                <a:latin typeface="+mn-lt"/>
              </a:rPr>
              <a:t>fiscal stance </a:t>
            </a:r>
            <a:r>
              <a:rPr lang="en-GB" dirty="0">
                <a:latin typeface="+mn-lt"/>
              </a:rPr>
              <a:t>refers to whether it is pursuing an expansionary or contractionary fiscal policy. </a:t>
            </a:r>
          </a:p>
          <a:p>
            <a:pPr lvl="1">
              <a:lnSpc>
                <a:spcPct val="95000"/>
              </a:lnSpc>
              <a:spcBef>
                <a:spcPts val="600"/>
              </a:spcBef>
            </a:pPr>
            <a:r>
              <a:rPr lang="en-GB" altLang="en-US" dirty="0">
                <a:latin typeface="+mn-lt"/>
              </a:rPr>
              <a:t>Expansionary stance: tax, spending decisions contribute to injections exceeding withdrawals – typically requires deficit finance</a:t>
            </a:r>
          </a:p>
          <a:p>
            <a:pPr lvl="1">
              <a:spcBef>
                <a:spcPts val="600"/>
              </a:spcBef>
            </a:pPr>
            <a:r>
              <a:rPr lang="en-GB" altLang="en-US" dirty="0">
                <a:latin typeface="+mn-lt"/>
              </a:rPr>
              <a:t>Contractionary stance opposite – government policy reduces output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0419536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7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47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47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47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47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47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47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7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47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7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47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47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5" grpId="0" build="p" bldLvl="4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42" name="Rectangle 6">
            <a:extLst>
              <a:ext uri="{FF2B5EF4-FFF2-40B4-BE49-F238E27FC236}">
                <a16:creationId xmlns:a16="http://schemas.microsoft.com/office/drawing/2014/main" id="{0C181ADE-BD8E-4597-8FA8-2ADFC2732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Using tax and spending actively</a:t>
            </a:r>
          </a:p>
        </p:txBody>
      </p:sp>
      <p:sp>
        <p:nvSpPr>
          <p:cNvPr id="449543" name="Rectangle 7">
            <a:extLst>
              <a:ext uri="{FF2B5EF4-FFF2-40B4-BE49-F238E27FC236}">
                <a16:creationId xmlns:a16="http://schemas.microsoft.com/office/drawing/2014/main" id="{BC83908A-6240-41F2-BCA3-57F3883F4A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altLang="en-US" dirty="0">
                <a:latin typeface="+mn-lt"/>
              </a:rPr>
              <a:t>Government stance chosen to affect aggregate demand</a:t>
            </a:r>
          </a:p>
          <a:p>
            <a:r>
              <a:rPr lang="en-GB" altLang="en-US" dirty="0">
                <a:latin typeface="+mn-lt"/>
              </a:rPr>
              <a:t>As well as automatic stabilisers, can use discretionary fiscal policy</a:t>
            </a:r>
          </a:p>
          <a:p>
            <a:pPr lvl="1"/>
            <a:r>
              <a:rPr lang="en-GB" altLang="en-US" dirty="0">
                <a:latin typeface="+mn-lt"/>
              </a:rPr>
              <a:t>Adjust </a:t>
            </a:r>
            <a:r>
              <a:rPr lang="en-GB" altLang="en-US" i="1" dirty="0">
                <a:latin typeface="+mn-lt"/>
              </a:rPr>
              <a:t>G</a:t>
            </a:r>
            <a:r>
              <a:rPr lang="en-GB" altLang="en-US" dirty="0">
                <a:latin typeface="+mn-lt"/>
              </a:rPr>
              <a:t> (and </a:t>
            </a:r>
            <a:r>
              <a:rPr lang="en-GB" altLang="en-US" i="1" dirty="0">
                <a:latin typeface="+mn-lt"/>
              </a:rPr>
              <a:t>J</a:t>
            </a:r>
            <a:r>
              <a:rPr lang="en-GB" altLang="en-US" dirty="0">
                <a:latin typeface="+mn-lt"/>
              </a:rPr>
              <a:t>), </a:t>
            </a:r>
            <a:r>
              <a:rPr lang="en-GB" altLang="en-US" i="1" dirty="0">
                <a:latin typeface="+mn-lt"/>
              </a:rPr>
              <a:t>T</a:t>
            </a:r>
            <a:r>
              <a:rPr lang="en-GB" altLang="en-US" dirty="0">
                <a:latin typeface="+mn-lt"/>
              </a:rPr>
              <a:t> (and </a:t>
            </a:r>
            <a:r>
              <a:rPr lang="en-GB" altLang="en-US" i="1" dirty="0">
                <a:latin typeface="+mn-lt"/>
              </a:rPr>
              <a:t>W</a:t>
            </a:r>
            <a:r>
              <a:rPr lang="en-GB" altLang="en-US" dirty="0">
                <a:latin typeface="+mn-lt"/>
              </a:rPr>
              <a:t>) to close inflationary, contractionary gaps</a:t>
            </a:r>
          </a:p>
          <a:p>
            <a:pPr lvl="1"/>
            <a:r>
              <a:rPr lang="en-GB" altLang="en-US" dirty="0">
                <a:latin typeface="+mn-lt"/>
              </a:rPr>
              <a:t>To be effective, need to </a:t>
            </a:r>
          </a:p>
          <a:p>
            <a:pPr lvl="2"/>
            <a:endParaRPr lang="en-GB" altLang="en-US" dirty="0">
              <a:latin typeface="+mn-lt"/>
            </a:endParaRPr>
          </a:p>
          <a:p>
            <a:pPr lvl="1"/>
            <a:r>
              <a:rPr lang="en-GB" altLang="en-US" b="1" dirty="0">
                <a:latin typeface="+mn-lt"/>
              </a:rPr>
              <a:t>forecast future demand </a:t>
            </a:r>
            <a:r>
              <a:rPr lang="en-GB" altLang="en-US" dirty="0">
                <a:latin typeface="+mn-lt"/>
              </a:rPr>
              <a:t>accurately – thinking about time lags in spending</a:t>
            </a:r>
          </a:p>
          <a:p>
            <a:pPr lvl="1"/>
            <a:r>
              <a:rPr lang="en-GB" altLang="en-US" dirty="0">
                <a:latin typeface="+mn-lt"/>
              </a:rPr>
              <a:t>include </a:t>
            </a:r>
            <a:r>
              <a:rPr lang="en-GB" altLang="en-US" b="1" dirty="0">
                <a:latin typeface="+mn-lt"/>
              </a:rPr>
              <a:t>effects of policy measures </a:t>
            </a:r>
            <a:r>
              <a:rPr lang="en-GB" altLang="en-US" dirty="0">
                <a:latin typeface="+mn-lt"/>
              </a:rPr>
              <a:t>on injections, withdrawals, </a:t>
            </a:r>
          </a:p>
          <a:p>
            <a:pPr lvl="1"/>
            <a:r>
              <a:rPr lang="en-GB" altLang="en-US" b="1" dirty="0">
                <a:latin typeface="+mn-lt"/>
              </a:rPr>
              <a:t>model multiplier effects </a:t>
            </a:r>
            <a:r>
              <a:rPr lang="en-GB" altLang="en-US" dirty="0">
                <a:latin typeface="+mn-lt"/>
              </a:rPr>
              <a:t>on national income, and </a:t>
            </a:r>
          </a:p>
          <a:p>
            <a:pPr lvl="1"/>
            <a:r>
              <a:rPr lang="en-GB" altLang="en-US" dirty="0">
                <a:latin typeface="+mn-lt"/>
              </a:rPr>
              <a:t>take into account effects on </a:t>
            </a:r>
            <a:r>
              <a:rPr lang="en-GB" altLang="en-US" b="1" dirty="0">
                <a:latin typeface="+mn-lt"/>
              </a:rPr>
              <a:t>other macroeconomic objectives</a:t>
            </a:r>
            <a:r>
              <a:rPr lang="en-GB" altLang="en-US" dirty="0">
                <a:latin typeface="+mn-lt"/>
              </a:rPr>
              <a:t>, such as inflation, long-run run growth</a:t>
            </a:r>
          </a:p>
        </p:txBody>
      </p:sp>
    </p:spTree>
    <p:extLst>
      <p:ext uri="{BB962C8B-B14F-4D97-AF65-F5344CB8AC3E}">
        <p14:creationId xmlns:p14="http://schemas.microsoft.com/office/powerpoint/2010/main" val="300827569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9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49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49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49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49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49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49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9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495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95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495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495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495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495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495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495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43" grpId="0" build="p" bldLvl="2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9" name="Rectangle 5">
            <a:extLst>
              <a:ext uri="{FF2B5EF4-FFF2-40B4-BE49-F238E27FC236}">
                <a16:creationId xmlns:a16="http://schemas.microsoft.com/office/drawing/2014/main" id="{69256F24-E670-4CA8-AFF8-598D70BEEC5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167" y="1344168"/>
            <a:ext cx="11338560" cy="4572000"/>
          </a:xfrm>
        </p:spPr>
        <p:txBody>
          <a:bodyPr>
            <a:normAutofit/>
          </a:bodyPr>
          <a:lstStyle/>
          <a:p>
            <a:pPr>
              <a:spcBef>
                <a:spcPts val="500"/>
              </a:spcBef>
            </a:pPr>
            <a:r>
              <a:rPr lang="en-GB" altLang="en-US" dirty="0">
                <a:latin typeface="+mn-lt"/>
              </a:rPr>
              <a:t>Increasing government expenditure can cause crowding out</a:t>
            </a:r>
          </a:p>
          <a:p>
            <a:pPr>
              <a:spcBef>
                <a:spcPts val="500"/>
              </a:spcBef>
            </a:pPr>
            <a:endParaRPr lang="en-GB" altLang="en-US" dirty="0">
              <a:latin typeface="+mn-lt"/>
            </a:endParaRPr>
          </a:p>
          <a:p>
            <a:pPr lvl="1">
              <a:spcBef>
                <a:spcPts val="500"/>
              </a:spcBef>
            </a:pPr>
            <a:r>
              <a:rPr lang="en-GB" altLang="en-US" b="1" dirty="0">
                <a:latin typeface="+mn-lt"/>
              </a:rPr>
              <a:t>Borrowing raises interest rates</a:t>
            </a:r>
            <a:r>
              <a:rPr lang="en-GB" altLang="en-US" dirty="0">
                <a:latin typeface="+mn-lt"/>
              </a:rPr>
              <a:t>, reduces expenditure</a:t>
            </a:r>
          </a:p>
          <a:p>
            <a:pPr lvl="2">
              <a:spcBef>
                <a:spcPts val="500"/>
              </a:spcBef>
            </a:pPr>
            <a:r>
              <a:rPr lang="en-GB" altLang="en-US" dirty="0">
                <a:latin typeface="+mn-lt"/>
              </a:rPr>
              <a:t>Puts upward pressure on exchange rate, affect net exports,</a:t>
            </a:r>
          </a:p>
          <a:p>
            <a:pPr lvl="1">
              <a:spcBef>
                <a:spcPts val="500"/>
              </a:spcBef>
            </a:pPr>
            <a:r>
              <a:rPr lang="en-GB" altLang="en-US" dirty="0">
                <a:latin typeface="+mn-lt"/>
              </a:rPr>
              <a:t>But if spending restores </a:t>
            </a:r>
            <a:r>
              <a:rPr lang="en-GB" altLang="en-US" b="1" dirty="0">
                <a:latin typeface="+mn-lt"/>
              </a:rPr>
              <a:t>business confidence</a:t>
            </a:r>
            <a:r>
              <a:rPr lang="en-GB" altLang="en-US" dirty="0">
                <a:latin typeface="+mn-lt"/>
              </a:rPr>
              <a:t>, investment will rise</a:t>
            </a:r>
          </a:p>
          <a:p>
            <a:pPr lvl="2">
              <a:spcBef>
                <a:spcPts val="500"/>
              </a:spcBef>
            </a:pPr>
            <a:r>
              <a:rPr lang="en-GB" altLang="en-US" dirty="0">
                <a:latin typeface="+mn-lt"/>
              </a:rPr>
              <a:t>May also lead to better conditions in credit markets, sustaining investment</a:t>
            </a:r>
          </a:p>
          <a:p>
            <a:pPr lvl="1">
              <a:spcBef>
                <a:spcPts val="500"/>
              </a:spcBef>
            </a:pPr>
            <a:r>
              <a:rPr lang="en-GB" altLang="en-US" dirty="0">
                <a:latin typeface="+mn-lt"/>
              </a:rPr>
              <a:t>Cutting taxes has </a:t>
            </a:r>
            <a:r>
              <a:rPr lang="en-GB" altLang="en-US" b="1" dirty="0">
                <a:latin typeface="+mn-lt"/>
              </a:rPr>
              <a:t>smaller</a:t>
            </a:r>
            <a:r>
              <a:rPr lang="en-GB" altLang="en-US" dirty="0">
                <a:latin typeface="+mn-lt"/>
              </a:rPr>
              <a:t> multiplier effects than increasing spending </a:t>
            </a:r>
          </a:p>
          <a:p>
            <a:pPr lvl="2">
              <a:spcBef>
                <a:spcPts val="500"/>
              </a:spcBef>
            </a:pPr>
            <a:r>
              <a:rPr lang="en-GB" altLang="en-US" dirty="0">
                <a:latin typeface="+mn-lt"/>
              </a:rPr>
              <a:t>Households spend smaller proportion of temporary than permanent tax cut</a:t>
            </a:r>
          </a:p>
          <a:p>
            <a:pPr lvl="2">
              <a:spcBef>
                <a:spcPts val="500"/>
              </a:spcBef>
            </a:pPr>
            <a:endParaRPr lang="en-GB" altLang="en-US" dirty="0">
              <a:latin typeface="+mn-lt"/>
            </a:endParaRPr>
          </a:p>
          <a:p>
            <a:pPr>
              <a:spcBef>
                <a:spcPts val="500"/>
              </a:spcBef>
            </a:pPr>
            <a:r>
              <a:rPr lang="en-GB" altLang="en-US" b="1" dirty="0">
                <a:latin typeface="+mn-lt"/>
              </a:rPr>
              <a:t>Timing problems </a:t>
            </a:r>
            <a:r>
              <a:rPr lang="en-GB" altLang="en-US" dirty="0">
                <a:latin typeface="+mn-lt"/>
              </a:rPr>
              <a:t>– want to anticipate future needs</a:t>
            </a:r>
          </a:p>
          <a:p>
            <a:pPr>
              <a:spcBef>
                <a:spcPts val="500"/>
              </a:spcBef>
            </a:pPr>
            <a:endParaRPr lang="en-GB" altLang="en-US" dirty="0">
              <a:latin typeface="+mn-lt"/>
            </a:endParaRPr>
          </a:p>
          <a:p>
            <a:pPr lvl="1">
              <a:spcBef>
                <a:spcPts val="500"/>
              </a:spcBef>
            </a:pPr>
            <a:r>
              <a:rPr lang="en-GB" altLang="en-US" dirty="0">
                <a:latin typeface="+mn-lt"/>
              </a:rPr>
              <a:t>Recognition, planning, implementation, response lags all important</a:t>
            </a:r>
          </a:p>
          <a:p>
            <a:pPr lvl="2">
              <a:spcBef>
                <a:spcPts val="500"/>
              </a:spcBef>
            </a:pPr>
            <a:r>
              <a:rPr lang="en-GB" altLang="en-US" dirty="0">
                <a:latin typeface="+mn-lt"/>
              </a:rPr>
              <a:t>Policy stance chosen for today’s circumstances may be destabilising when takes effect in two years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C3051B-225B-4846-AC86-F95596272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204789"/>
            <a:ext cx="11379200" cy="785025"/>
          </a:xfrm>
        </p:spPr>
        <p:txBody>
          <a:bodyPr/>
          <a:lstStyle/>
          <a:p>
            <a:r>
              <a:rPr lang="en-GB" altLang="en-US" dirty="0"/>
              <a:t>Implementing discretionary policy</a:t>
            </a:r>
          </a:p>
        </p:txBody>
      </p:sp>
    </p:spTree>
    <p:extLst>
      <p:ext uri="{BB962C8B-B14F-4D97-AF65-F5344CB8AC3E}">
        <p14:creationId xmlns:p14="http://schemas.microsoft.com/office/powerpoint/2010/main" val="381988431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1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51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51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51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51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51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51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1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51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51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51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51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515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515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515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515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4515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515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515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515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9" grpId="0" build="p" bldLvl="3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8">
            <a:extLst>
              <a:ext uri="{FF2B5EF4-FFF2-40B4-BE49-F238E27FC236}">
                <a16:creationId xmlns:a16="http://schemas.microsoft.com/office/drawing/2014/main" id="{0972BC19-5C11-4CB9-A875-DC68C6F9E8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72136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54" name="Line 9">
            <a:extLst>
              <a:ext uri="{FF2B5EF4-FFF2-40B4-BE49-F238E27FC236}">
                <a16:creationId xmlns:a16="http://schemas.microsoft.com/office/drawing/2014/main" id="{63F220D5-7B94-4815-87F8-F48B8D775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6055360"/>
            <a:ext cx="755951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55" name="Rectangle 10">
            <a:extLst>
              <a:ext uri="{FF2B5EF4-FFF2-40B4-BE49-F238E27FC236}">
                <a16:creationId xmlns:a16="http://schemas.microsoft.com/office/drawing/2014/main" id="{23571DF3-0778-4419-A5E0-CF82B13A4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27" y="6009323"/>
            <a:ext cx="384721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/>
              <a:t>O</a:t>
            </a:r>
          </a:p>
        </p:txBody>
      </p:sp>
      <p:sp>
        <p:nvSpPr>
          <p:cNvPr id="2056" name="Rectangle 11">
            <a:extLst>
              <a:ext uri="{FF2B5EF4-FFF2-40B4-BE49-F238E27FC236}">
                <a16:creationId xmlns:a16="http://schemas.microsoft.com/office/drawing/2014/main" id="{6CF8CD51-6C15-47F3-846E-553B229F0CC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53101" y="2953523"/>
            <a:ext cx="2822889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200"/>
              <a:t>Real national income</a:t>
            </a:r>
          </a:p>
        </p:txBody>
      </p:sp>
      <p:sp>
        <p:nvSpPr>
          <p:cNvPr id="2057" name="Rectangle 12">
            <a:extLst>
              <a:ext uri="{FF2B5EF4-FFF2-40B4-BE49-F238E27FC236}">
                <a16:creationId xmlns:a16="http://schemas.microsoft.com/office/drawing/2014/main" id="{B24A26FF-82ED-425D-9FBF-B48E45B2B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925" y="6291900"/>
            <a:ext cx="803874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200"/>
              <a:t>Time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7BF827-BF3E-4948-AA42-9E23DC6B0238}"/>
              </a:ext>
            </a:extLst>
          </p:cNvPr>
          <p:cNvGrpSpPr/>
          <p:nvPr/>
        </p:nvGrpSpPr>
        <p:grpSpPr>
          <a:xfrm>
            <a:off x="3197225" y="2059623"/>
            <a:ext cx="6269041" cy="3528127"/>
            <a:chOff x="3197225" y="2059623"/>
            <a:chExt cx="6269041" cy="3528127"/>
          </a:xfrm>
        </p:grpSpPr>
        <p:sp>
          <p:nvSpPr>
            <p:cNvPr id="2058" name="Rectangle 18">
              <a:extLst>
                <a:ext uri="{FF2B5EF4-FFF2-40B4-BE49-F238E27FC236}">
                  <a16:creationId xmlns:a16="http://schemas.microsoft.com/office/drawing/2014/main" id="{2798C951-A67C-4582-9244-46EEF9E48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225" y="5186998"/>
              <a:ext cx="328616" cy="400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b="1" dirty="0"/>
                <a:t>1</a:t>
              </a:r>
            </a:p>
          </p:txBody>
        </p:sp>
        <p:sp>
          <p:nvSpPr>
            <p:cNvPr id="2059" name="Rectangle 19">
              <a:extLst>
                <a:ext uri="{FF2B5EF4-FFF2-40B4-BE49-F238E27FC236}">
                  <a16:creationId xmlns:a16="http://schemas.microsoft.com/office/drawing/2014/main" id="{B1B2F08C-102F-49F3-8BA8-A46DF6508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4236085"/>
              <a:ext cx="328616" cy="400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b="1"/>
                <a:t>2</a:t>
              </a:r>
            </a:p>
          </p:txBody>
        </p:sp>
        <p:sp>
          <p:nvSpPr>
            <p:cNvPr id="2060" name="Rectangle 20">
              <a:extLst>
                <a:ext uri="{FF2B5EF4-FFF2-40B4-BE49-F238E27FC236}">
                  <a16:creationId xmlns:a16="http://schemas.microsoft.com/office/drawing/2014/main" id="{8EC74548-39EE-478E-8BEE-5A87817C1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000" y="2948623"/>
              <a:ext cx="328616" cy="400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b="1"/>
                <a:t>3</a:t>
              </a:r>
            </a:p>
          </p:txBody>
        </p:sp>
        <p:sp>
          <p:nvSpPr>
            <p:cNvPr id="2061" name="Rectangle 21">
              <a:extLst>
                <a:ext uri="{FF2B5EF4-FFF2-40B4-BE49-F238E27FC236}">
                  <a16:creationId xmlns:a16="http://schemas.microsoft.com/office/drawing/2014/main" id="{2F057BA7-8995-4EDC-BDE2-FFEACEF4D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8038" y="3402648"/>
              <a:ext cx="328616" cy="400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b="1"/>
                <a:t>4</a:t>
              </a:r>
            </a:p>
          </p:txBody>
        </p:sp>
        <p:sp>
          <p:nvSpPr>
            <p:cNvPr id="2062" name="Rectangle 22">
              <a:extLst>
                <a:ext uri="{FF2B5EF4-FFF2-40B4-BE49-F238E27FC236}">
                  <a16:creationId xmlns:a16="http://schemas.microsoft.com/office/drawing/2014/main" id="{BB7D9129-9092-4ADE-960D-462726BED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3650" y="4269423"/>
              <a:ext cx="328616" cy="400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b="1"/>
                <a:t>1</a:t>
              </a:r>
            </a:p>
          </p:txBody>
        </p:sp>
        <p:sp>
          <p:nvSpPr>
            <p:cNvPr id="2063" name="Rectangle 23">
              <a:extLst>
                <a:ext uri="{FF2B5EF4-FFF2-40B4-BE49-F238E27FC236}">
                  <a16:creationId xmlns:a16="http://schemas.microsoft.com/office/drawing/2014/main" id="{3E7FB6CB-D933-4A43-9CE6-235E4742D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1863" y="3234373"/>
              <a:ext cx="328616" cy="400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b="1"/>
                <a:t>2</a:t>
              </a:r>
            </a:p>
          </p:txBody>
        </p:sp>
        <p:sp>
          <p:nvSpPr>
            <p:cNvPr id="2064" name="Rectangle 24">
              <a:extLst>
                <a:ext uri="{FF2B5EF4-FFF2-40B4-BE49-F238E27FC236}">
                  <a16:creationId xmlns:a16="http://schemas.microsoft.com/office/drawing/2014/main" id="{23D05BE8-50AC-4A47-B750-C665F15C8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5613" y="2059623"/>
              <a:ext cx="328616" cy="400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b="1"/>
                <a:t>3</a:t>
              </a:r>
            </a:p>
          </p:txBody>
        </p:sp>
        <p:sp>
          <p:nvSpPr>
            <p:cNvPr id="2065" name="Rectangle 25">
              <a:extLst>
                <a:ext uri="{FF2B5EF4-FFF2-40B4-BE49-F238E27FC236}">
                  <a16:creationId xmlns:a16="http://schemas.microsoft.com/office/drawing/2014/main" id="{3FA9F6F1-125C-48E4-A99B-973116A59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0" y="2667635"/>
              <a:ext cx="328616" cy="400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b="1"/>
                <a:t>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D42B46-7065-461D-843A-92BD2A2FF362}"/>
              </a:ext>
            </a:extLst>
          </p:cNvPr>
          <p:cNvGrpSpPr/>
          <p:nvPr/>
        </p:nvGrpSpPr>
        <p:grpSpPr>
          <a:xfrm>
            <a:off x="2638427" y="1870359"/>
            <a:ext cx="7024016" cy="3316639"/>
            <a:chOff x="2638427" y="1758599"/>
            <a:chExt cx="7024016" cy="3316639"/>
          </a:xfrm>
        </p:grpSpPr>
        <p:sp>
          <p:nvSpPr>
            <p:cNvPr id="2076" name="Arc 42">
              <a:extLst>
                <a:ext uri="{FF2B5EF4-FFF2-40B4-BE49-F238E27FC236}">
                  <a16:creationId xmlns:a16="http://schemas.microsoft.com/office/drawing/2014/main" id="{074EC6E3-861F-4230-9CB4-FFBD0E7D2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427" y="3786188"/>
              <a:ext cx="1400175" cy="1289050"/>
            </a:xfrm>
            <a:custGeom>
              <a:avLst/>
              <a:gdLst>
                <a:gd name="T0" fmla="*/ 2082409305 w 36307"/>
                <a:gd name="T1" fmla="*/ 1341998437 h 21600"/>
                <a:gd name="T2" fmla="*/ 0 w 36307"/>
                <a:gd name="T3" fmla="*/ 2147483647 h 21600"/>
                <a:gd name="T4" fmla="*/ 897672411 w 36307"/>
                <a:gd name="T5" fmla="*/ 0 h 21600"/>
                <a:gd name="T6" fmla="*/ 0 60000 65536"/>
                <a:gd name="T7" fmla="*/ 0 60000 65536"/>
                <a:gd name="T8" fmla="*/ 0 60000 65536"/>
                <a:gd name="T9" fmla="*/ 0 w 36307"/>
                <a:gd name="T10" fmla="*/ 0 h 21600"/>
                <a:gd name="T11" fmla="*/ 36307 w 3630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07" h="21600" fill="none" extrusionOk="0">
                  <a:moveTo>
                    <a:pt x="36307" y="6314"/>
                  </a:moveTo>
                  <a:cubicBezTo>
                    <a:pt x="33531" y="15396"/>
                    <a:pt x="25148" y="21599"/>
                    <a:pt x="15651" y="21600"/>
                  </a:cubicBezTo>
                  <a:cubicBezTo>
                    <a:pt x="9734" y="21600"/>
                    <a:pt x="4077" y="19173"/>
                    <a:pt x="0" y="14886"/>
                  </a:cubicBezTo>
                </a:path>
                <a:path w="36307" h="21600" stroke="0" extrusionOk="0">
                  <a:moveTo>
                    <a:pt x="36307" y="6314"/>
                  </a:moveTo>
                  <a:cubicBezTo>
                    <a:pt x="33531" y="15396"/>
                    <a:pt x="25148" y="21599"/>
                    <a:pt x="15651" y="21600"/>
                  </a:cubicBezTo>
                  <a:cubicBezTo>
                    <a:pt x="9734" y="21600"/>
                    <a:pt x="4077" y="19173"/>
                    <a:pt x="0" y="14886"/>
                  </a:cubicBezTo>
                  <a:lnTo>
                    <a:pt x="15651" y="0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77" name="Arc 43">
              <a:extLst>
                <a:ext uri="{FF2B5EF4-FFF2-40B4-BE49-F238E27FC236}">
                  <a16:creationId xmlns:a16="http://schemas.microsoft.com/office/drawing/2014/main" id="{9DB5198F-045A-4E1F-B73B-703375070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726" y="3201988"/>
              <a:ext cx="1784347" cy="1435100"/>
            </a:xfrm>
            <a:custGeom>
              <a:avLst/>
              <a:gdLst>
                <a:gd name="T0" fmla="*/ 0 w 36280"/>
                <a:gd name="T1" fmla="*/ 2147483647 h 21600"/>
                <a:gd name="T2" fmla="*/ 2147483647 w 36280"/>
                <a:gd name="T3" fmla="*/ 1961762387 h 21600"/>
                <a:gd name="T4" fmla="*/ 2147483647 w 36280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36280"/>
                <a:gd name="T10" fmla="*/ 0 h 21600"/>
                <a:gd name="T11" fmla="*/ 36280 w 3628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280" h="21600" fill="none" extrusionOk="0">
                  <a:moveTo>
                    <a:pt x="-1" y="15271"/>
                  </a:moveTo>
                  <a:cubicBezTo>
                    <a:pt x="2780" y="6196"/>
                    <a:pt x="11160" y="-1"/>
                    <a:pt x="20652" y="0"/>
                  </a:cubicBezTo>
                  <a:cubicBezTo>
                    <a:pt x="26556" y="0"/>
                    <a:pt x="32203" y="2417"/>
                    <a:pt x="36279" y="6689"/>
                  </a:cubicBezTo>
                </a:path>
                <a:path w="36280" h="21600" stroke="0" extrusionOk="0">
                  <a:moveTo>
                    <a:pt x="-1" y="15271"/>
                  </a:moveTo>
                  <a:cubicBezTo>
                    <a:pt x="2780" y="6196"/>
                    <a:pt x="11160" y="-1"/>
                    <a:pt x="20652" y="0"/>
                  </a:cubicBezTo>
                  <a:cubicBezTo>
                    <a:pt x="26556" y="0"/>
                    <a:pt x="32203" y="2417"/>
                    <a:pt x="36279" y="6689"/>
                  </a:cubicBezTo>
                  <a:lnTo>
                    <a:pt x="20652" y="21600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78" name="Arc 44">
              <a:extLst>
                <a:ext uri="{FF2B5EF4-FFF2-40B4-BE49-F238E27FC236}">
                  <a16:creationId xmlns:a16="http://schemas.microsoft.com/office/drawing/2014/main" id="{32543B41-E9BA-4C6E-8126-C7C01ED94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2156" y="2765425"/>
              <a:ext cx="1403029" cy="1309688"/>
            </a:xfrm>
            <a:custGeom>
              <a:avLst/>
              <a:gdLst>
                <a:gd name="T0" fmla="*/ 2147483647 w 36318"/>
                <a:gd name="T1" fmla="*/ 1409500753 h 21600"/>
                <a:gd name="T2" fmla="*/ 0 w 36318"/>
                <a:gd name="T3" fmla="*/ 2147483647 h 21600"/>
                <a:gd name="T4" fmla="*/ 953686399 w 36318"/>
                <a:gd name="T5" fmla="*/ 0 h 21600"/>
                <a:gd name="T6" fmla="*/ 0 60000 65536"/>
                <a:gd name="T7" fmla="*/ 0 60000 65536"/>
                <a:gd name="T8" fmla="*/ 0 60000 65536"/>
                <a:gd name="T9" fmla="*/ 0 w 36318"/>
                <a:gd name="T10" fmla="*/ 0 h 21600"/>
                <a:gd name="T11" fmla="*/ 36318 w 3631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18" h="21600" fill="none" extrusionOk="0">
                  <a:moveTo>
                    <a:pt x="36317" y="6322"/>
                  </a:moveTo>
                  <a:cubicBezTo>
                    <a:pt x="33538" y="15400"/>
                    <a:pt x="25157" y="21599"/>
                    <a:pt x="15664" y="21600"/>
                  </a:cubicBezTo>
                  <a:cubicBezTo>
                    <a:pt x="9740" y="21600"/>
                    <a:pt x="4077" y="19167"/>
                    <a:pt x="-1" y="14872"/>
                  </a:cubicBezTo>
                </a:path>
                <a:path w="36318" h="21600" stroke="0" extrusionOk="0">
                  <a:moveTo>
                    <a:pt x="36317" y="6322"/>
                  </a:moveTo>
                  <a:cubicBezTo>
                    <a:pt x="33538" y="15400"/>
                    <a:pt x="25157" y="21599"/>
                    <a:pt x="15664" y="21600"/>
                  </a:cubicBezTo>
                  <a:cubicBezTo>
                    <a:pt x="9740" y="21600"/>
                    <a:pt x="4077" y="19167"/>
                    <a:pt x="-1" y="14872"/>
                  </a:cubicBezTo>
                  <a:lnTo>
                    <a:pt x="15664" y="0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79" name="Arc 45">
              <a:extLst>
                <a:ext uri="{FF2B5EF4-FFF2-40B4-BE49-F238E27FC236}">
                  <a16:creationId xmlns:a16="http://schemas.microsoft.com/office/drawing/2014/main" id="{E1A48D1B-1F08-42D0-AA27-062FCA50D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5189" y="2378077"/>
              <a:ext cx="1821179" cy="1139825"/>
            </a:xfrm>
            <a:custGeom>
              <a:avLst/>
              <a:gdLst>
                <a:gd name="T0" fmla="*/ 0 w 36079"/>
                <a:gd name="T1" fmla="*/ 2147483647 h 21600"/>
                <a:gd name="T2" fmla="*/ 2147483647 w 36079"/>
                <a:gd name="T3" fmla="*/ 981000163 h 21600"/>
                <a:gd name="T4" fmla="*/ 2147483647 w 36079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36079"/>
                <a:gd name="T10" fmla="*/ 0 h 21600"/>
                <a:gd name="T11" fmla="*/ 36079 w 3607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079" h="21600" fill="none" extrusionOk="0">
                  <a:moveTo>
                    <a:pt x="0" y="14687"/>
                  </a:moveTo>
                  <a:cubicBezTo>
                    <a:pt x="2965" y="5909"/>
                    <a:pt x="11198" y="-1"/>
                    <a:pt x="20464" y="0"/>
                  </a:cubicBezTo>
                  <a:cubicBezTo>
                    <a:pt x="26362" y="0"/>
                    <a:pt x="32003" y="2411"/>
                    <a:pt x="36079" y="6675"/>
                  </a:cubicBezTo>
                </a:path>
                <a:path w="36079" h="21600" stroke="0" extrusionOk="0">
                  <a:moveTo>
                    <a:pt x="0" y="14687"/>
                  </a:moveTo>
                  <a:cubicBezTo>
                    <a:pt x="2965" y="5909"/>
                    <a:pt x="11198" y="-1"/>
                    <a:pt x="20464" y="0"/>
                  </a:cubicBezTo>
                  <a:cubicBezTo>
                    <a:pt x="26362" y="0"/>
                    <a:pt x="32003" y="2411"/>
                    <a:pt x="36079" y="6675"/>
                  </a:cubicBezTo>
                  <a:lnTo>
                    <a:pt x="20464" y="21600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80" name="Arc 46">
              <a:extLst>
                <a:ext uri="{FF2B5EF4-FFF2-40B4-BE49-F238E27FC236}">
                  <a16:creationId xmlns:a16="http://schemas.microsoft.com/office/drawing/2014/main" id="{6CEC2D24-8A0E-49B9-B0C4-2AE529306C54}"/>
                </a:ext>
              </a:extLst>
            </p:cNvPr>
            <p:cNvSpPr>
              <a:spLocks/>
            </p:cNvSpPr>
            <p:nvPr/>
          </p:nvSpPr>
          <p:spPr bwMode="auto">
            <a:xfrm rot="21360000">
              <a:off x="9009612" y="1758599"/>
              <a:ext cx="652831" cy="1399777"/>
            </a:xfrm>
            <a:custGeom>
              <a:avLst/>
              <a:gdLst>
                <a:gd name="T0" fmla="*/ 799049323 w 16271"/>
                <a:gd name="T1" fmla="*/ 2147483647 h 21146"/>
                <a:gd name="T2" fmla="*/ 0 w 16271"/>
                <a:gd name="T3" fmla="*/ 2147483647 h 21146"/>
                <a:gd name="T4" fmla="*/ 1095771101 w 16271"/>
                <a:gd name="T5" fmla="*/ 0 h 21146"/>
                <a:gd name="T6" fmla="*/ 0 60000 65536"/>
                <a:gd name="T7" fmla="*/ 0 60000 65536"/>
                <a:gd name="T8" fmla="*/ 0 60000 65536"/>
                <a:gd name="T9" fmla="*/ 0 w 16271"/>
                <a:gd name="T10" fmla="*/ 0 h 21146"/>
                <a:gd name="T11" fmla="*/ 16271 w 16271"/>
                <a:gd name="T12" fmla="*/ 21146 h 211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271" h="21146" fill="none" extrusionOk="0">
                  <a:moveTo>
                    <a:pt x="11865" y="21145"/>
                  </a:moveTo>
                  <a:cubicBezTo>
                    <a:pt x="7259" y="20186"/>
                    <a:pt x="3093" y="17749"/>
                    <a:pt x="-1" y="14206"/>
                  </a:cubicBezTo>
                </a:path>
                <a:path w="16271" h="21146" stroke="0" extrusionOk="0">
                  <a:moveTo>
                    <a:pt x="11865" y="21145"/>
                  </a:moveTo>
                  <a:cubicBezTo>
                    <a:pt x="7259" y="20186"/>
                    <a:pt x="3093" y="17749"/>
                    <a:pt x="-1" y="14206"/>
                  </a:cubicBezTo>
                  <a:lnTo>
                    <a:pt x="16271" y="0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90535A7-5CB5-4E28-B962-968C78462AB5}"/>
              </a:ext>
            </a:extLst>
          </p:cNvPr>
          <p:cNvGrpSpPr/>
          <p:nvPr/>
        </p:nvGrpSpPr>
        <p:grpSpPr>
          <a:xfrm>
            <a:off x="2636838" y="2186117"/>
            <a:ext cx="7046676" cy="2697671"/>
            <a:chOff x="2636838" y="2074357"/>
            <a:chExt cx="7046676" cy="2697671"/>
          </a:xfrm>
        </p:grpSpPr>
        <p:sp>
          <p:nvSpPr>
            <p:cNvPr id="2081" name="Arc 47">
              <a:extLst>
                <a:ext uri="{FF2B5EF4-FFF2-40B4-BE49-F238E27FC236}">
                  <a16:creationId xmlns:a16="http://schemas.microsoft.com/office/drawing/2014/main" id="{BEBB21BE-68C4-497E-9E1D-345DE1FBF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3432" y="3198814"/>
              <a:ext cx="1340753" cy="685800"/>
            </a:xfrm>
            <a:custGeom>
              <a:avLst/>
              <a:gdLst>
                <a:gd name="T0" fmla="*/ 2120845435 w 34277"/>
                <a:gd name="T1" fmla="*/ 32251717 h 21600"/>
                <a:gd name="T2" fmla="*/ 0 w 34277"/>
                <a:gd name="T3" fmla="*/ 781922190 h 21600"/>
                <a:gd name="T4" fmla="*/ 785116020 w 34277"/>
                <a:gd name="T5" fmla="*/ 0 h 21600"/>
                <a:gd name="T6" fmla="*/ 0 60000 65536"/>
                <a:gd name="T7" fmla="*/ 0 60000 65536"/>
                <a:gd name="T8" fmla="*/ 0 60000 65536"/>
                <a:gd name="T9" fmla="*/ 0 w 34277"/>
                <a:gd name="T10" fmla="*/ 0 h 21600"/>
                <a:gd name="T11" fmla="*/ 34277 w 34277"/>
                <a:gd name="T12" fmla="*/ 21600 h 21600"/>
                <a:gd name="connsiteX0" fmla="*/ 34276 w 34276"/>
                <a:gd name="connsiteY0" fmla="*/ 720 h 21600"/>
                <a:gd name="connsiteX1" fmla="*/ 12689 w 34276"/>
                <a:gd name="connsiteY1" fmla="*/ 21600 h 21600"/>
                <a:gd name="connsiteX2" fmla="*/ 0 w 34276"/>
                <a:gd name="connsiteY2" fmla="*/ 17479 h 21600"/>
                <a:gd name="connsiteX0" fmla="*/ 33442 w 34276"/>
                <a:gd name="connsiteY0" fmla="*/ 5460 h 21600"/>
                <a:gd name="connsiteX1" fmla="*/ 12689 w 34276"/>
                <a:gd name="connsiteY1" fmla="*/ 21600 h 21600"/>
                <a:gd name="connsiteX2" fmla="*/ 0 w 34276"/>
                <a:gd name="connsiteY2" fmla="*/ 17479 h 21600"/>
                <a:gd name="connsiteX3" fmla="*/ 12689 w 34276"/>
                <a:gd name="connsiteY3" fmla="*/ 0 h 21600"/>
                <a:gd name="connsiteX4" fmla="*/ 33442 w 34276"/>
                <a:gd name="connsiteY4" fmla="*/ 5460 h 21600"/>
                <a:gd name="connsiteX0" fmla="*/ 33516 w 33516"/>
                <a:gd name="connsiteY0" fmla="*/ 4050 h 21600"/>
                <a:gd name="connsiteX1" fmla="*/ 12689 w 33516"/>
                <a:gd name="connsiteY1" fmla="*/ 21600 h 21600"/>
                <a:gd name="connsiteX2" fmla="*/ 0 w 33516"/>
                <a:gd name="connsiteY2" fmla="*/ 17479 h 21600"/>
                <a:gd name="connsiteX0" fmla="*/ 33442 w 33516"/>
                <a:gd name="connsiteY0" fmla="*/ 5460 h 21600"/>
                <a:gd name="connsiteX1" fmla="*/ 12689 w 33516"/>
                <a:gd name="connsiteY1" fmla="*/ 21600 h 21600"/>
                <a:gd name="connsiteX2" fmla="*/ 0 w 33516"/>
                <a:gd name="connsiteY2" fmla="*/ 17479 h 21600"/>
                <a:gd name="connsiteX3" fmla="*/ 12689 w 33516"/>
                <a:gd name="connsiteY3" fmla="*/ 0 h 21600"/>
                <a:gd name="connsiteX4" fmla="*/ 33442 w 33516"/>
                <a:gd name="connsiteY4" fmla="*/ 5460 h 21600"/>
                <a:gd name="connsiteX0" fmla="*/ 33516 w 33516"/>
                <a:gd name="connsiteY0" fmla="*/ 4050 h 21600"/>
                <a:gd name="connsiteX1" fmla="*/ 12689 w 33516"/>
                <a:gd name="connsiteY1" fmla="*/ 21600 h 21600"/>
                <a:gd name="connsiteX2" fmla="*/ 0 w 33516"/>
                <a:gd name="connsiteY2" fmla="*/ 17479 h 21600"/>
                <a:gd name="connsiteX0" fmla="*/ 33442 w 33516"/>
                <a:gd name="connsiteY0" fmla="*/ 5460 h 21600"/>
                <a:gd name="connsiteX1" fmla="*/ 12689 w 33516"/>
                <a:gd name="connsiteY1" fmla="*/ 21600 h 21600"/>
                <a:gd name="connsiteX2" fmla="*/ 0 w 33516"/>
                <a:gd name="connsiteY2" fmla="*/ 17479 h 21600"/>
                <a:gd name="connsiteX3" fmla="*/ 12689 w 33516"/>
                <a:gd name="connsiteY3" fmla="*/ 0 h 21600"/>
                <a:gd name="connsiteX4" fmla="*/ 33442 w 33516"/>
                <a:gd name="connsiteY4" fmla="*/ 5460 h 21600"/>
                <a:gd name="connsiteX0" fmla="*/ 33442 w 33442"/>
                <a:gd name="connsiteY0" fmla="*/ 4980 h 21600"/>
                <a:gd name="connsiteX1" fmla="*/ 12689 w 33442"/>
                <a:gd name="connsiteY1" fmla="*/ 21600 h 21600"/>
                <a:gd name="connsiteX2" fmla="*/ 0 w 33442"/>
                <a:gd name="connsiteY2" fmla="*/ 17479 h 21600"/>
                <a:gd name="connsiteX0" fmla="*/ 33442 w 33442"/>
                <a:gd name="connsiteY0" fmla="*/ 5460 h 21600"/>
                <a:gd name="connsiteX1" fmla="*/ 12689 w 33442"/>
                <a:gd name="connsiteY1" fmla="*/ 21600 h 21600"/>
                <a:gd name="connsiteX2" fmla="*/ 0 w 33442"/>
                <a:gd name="connsiteY2" fmla="*/ 17479 h 21600"/>
                <a:gd name="connsiteX3" fmla="*/ 12689 w 33442"/>
                <a:gd name="connsiteY3" fmla="*/ 0 h 21600"/>
                <a:gd name="connsiteX4" fmla="*/ 33442 w 33442"/>
                <a:gd name="connsiteY4" fmla="*/ 5460 h 21600"/>
                <a:gd name="connsiteX0" fmla="*/ 33442 w 33442"/>
                <a:gd name="connsiteY0" fmla="*/ 4980 h 21600"/>
                <a:gd name="connsiteX1" fmla="*/ 12689 w 33442"/>
                <a:gd name="connsiteY1" fmla="*/ 21600 h 21600"/>
                <a:gd name="connsiteX2" fmla="*/ 0 w 33442"/>
                <a:gd name="connsiteY2" fmla="*/ 17479 h 21600"/>
                <a:gd name="connsiteX0" fmla="*/ 33442 w 33442"/>
                <a:gd name="connsiteY0" fmla="*/ 5460 h 21600"/>
                <a:gd name="connsiteX1" fmla="*/ 12689 w 33442"/>
                <a:gd name="connsiteY1" fmla="*/ 21600 h 21600"/>
                <a:gd name="connsiteX2" fmla="*/ 0 w 33442"/>
                <a:gd name="connsiteY2" fmla="*/ 17479 h 21600"/>
                <a:gd name="connsiteX3" fmla="*/ 12689 w 33442"/>
                <a:gd name="connsiteY3" fmla="*/ 0 h 21600"/>
                <a:gd name="connsiteX4" fmla="*/ 33442 w 33442"/>
                <a:gd name="connsiteY4" fmla="*/ 5460 h 21600"/>
                <a:gd name="connsiteX0" fmla="*/ 34521 w 34521"/>
                <a:gd name="connsiteY0" fmla="*/ 4980 h 21600"/>
                <a:gd name="connsiteX1" fmla="*/ 13768 w 34521"/>
                <a:gd name="connsiteY1" fmla="*/ 21600 h 21600"/>
                <a:gd name="connsiteX2" fmla="*/ 1079 w 34521"/>
                <a:gd name="connsiteY2" fmla="*/ 17479 h 21600"/>
                <a:gd name="connsiteX0" fmla="*/ 34521 w 34521"/>
                <a:gd name="connsiteY0" fmla="*/ 5460 h 21600"/>
                <a:gd name="connsiteX1" fmla="*/ 13768 w 34521"/>
                <a:gd name="connsiteY1" fmla="*/ 21600 h 21600"/>
                <a:gd name="connsiteX2" fmla="*/ 0 w 34521"/>
                <a:gd name="connsiteY2" fmla="*/ 16039 h 21600"/>
                <a:gd name="connsiteX3" fmla="*/ 13768 w 34521"/>
                <a:gd name="connsiteY3" fmla="*/ 0 h 21600"/>
                <a:gd name="connsiteX4" fmla="*/ 34521 w 34521"/>
                <a:gd name="connsiteY4" fmla="*/ 5460 h 21600"/>
                <a:gd name="connsiteX0" fmla="*/ 34521 w 34521"/>
                <a:gd name="connsiteY0" fmla="*/ 4980 h 21600"/>
                <a:gd name="connsiteX1" fmla="*/ 13768 w 34521"/>
                <a:gd name="connsiteY1" fmla="*/ 21600 h 21600"/>
                <a:gd name="connsiteX2" fmla="*/ 883 w 34521"/>
                <a:gd name="connsiteY2" fmla="*/ 16339 h 21600"/>
                <a:gd name="connsiteX0" fmla="*/ 34521 w 34521"/>
                <a:gd name="connsiteY0" fmla="*/ 5460 h 21600"/>
                <a:gd name="connsiteX1" fmla="*/ 13768 w 34521"/>
                <a:gd name="connsiteY1" fmla="*/ 21600 h 21600"/>
                <a:gd name="connsiteX2" fmla="*/ 0 w 34521"/>
                <a:gd name="connsiteY2" fmla="*/ 16039 h 21600"/>
                <a:gd name="connsiteX3" fmla="*/ 13768 w 34521"/>
                <a:gd name="connsiteY3" fmla="*/ 0 h 21600"/>
                <a:gd name="connsiteX4" fmla="*/ 34521 w 34521"/>
                <a:gd name="connsiteY4" fmla="*/ 546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21" h="21600" fill="none" extrusionOk="0">
                  <a:moveTo>
                    <a:pt x="34521" y="4980"/>
                  </a:moveTo>
                  <a:cubicBezTo>
                    <a:pt x="33054" y="16173"/>
                    <a:pt x="25416" y="21599"/>
                    <a:pt x="13768" y="21600"/>
                  </a:cubicBezTo>
                  <a:cubicBezTo>
                    <a:pt x="9209" y="21600"/>
                    <a:pt x="4571" y="19017"/>
                    <a:pt x="883" y="16339"/>
                  </a:cubicBezTo>
                </a:path>
                <a:path w="34521" h="21600" stroke="0" extrusionOk="0">
                  <a:moveTo>
                    <a:pt x="34521" y="5460"/>
                  </a:moveTo>
                  <a:cubicBezTo>
                    <a:pt x="34133" y="17103"/>
                    <a:pt x="25416" y="21599"/>
                    <a:pt x="13768" y="21600"/>
                  </a:cubicBezTo>
                  <a:cubicBezTo>
                    <a:pt x="9209" y="21600"/>
                    <a:pt x="3688" y="18717"/>
                    <a:pt x="0" y="16039"/>
                  </a:cubicBezTo>
                  <a:lnTo>
                    <a:pt x="13768" y="0"/>
                  </a:lnTo>
                  <a:cubicBezTo>
                    <a:pt x="20964" y="240"/>
                    <a:pt x="27325" y="5220"/>
                    <a:pt x="34521" y="5460"/>
                  </a:cubicBez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82" name="Arc 48">
              <a:extLst>
                <a:ext uri="{FF2B5EF4-FFF2-40B4-BE49-F238E27FC236}">
                  <a16:creationId xmlns:a16="http://schemas.microsoft.com/office/drawing/2014/main" id="{BE94FE11-429F-4149-90F6-FEBD452BC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795" y="3503613"/>
              <a:ext cx="1813238" cy="745240"/>
            </a:xfrm>
            <a:custGeom>
              <a:avLst/>
              <a:gdLst>
                <a:gd name="T0" fmla="*/ 0 w 36273"/>
                <a:gd name="T1" fmla="*/ 1465057012 h 21600"/>
                <a:gd name="T2" fmla="*/ 2147483647 w 36273"/>
                <a:gd name="T3" fmla="*/ 641814893 h 21600"/>
                <a:gd name="T4" fmla="*/ 2147483647 w 36273"/>
                <a:gd name="T5" fmla="*/ 2073465838 h 21600"/>
                <a:gd name="T6" fmla="*/ 0 60000 65536"/>
                <a:gd name="T7" fmla="*/ 0 60000 65536"/>
                <a:gd name="T8" fmla="*/ 0 60000 65536"/>
                <a:gd name="T9" fmla="*/ 0 w 36273"/>
                <a:gd name="T10" fmla="*/ 0 h 21600"/>
                <a:gd name="T11" fmla="*/ 36273 w 3627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273" h="21600" fill="none" extrusionOk="0">
                  <a:moveTo>
                    <a:pt x="-1" y="15261"/>
                  </a:moveTo>
                  <a:cubicBezTo>
                    <a:pt x="2783" y="6191"/>
                    <a:pt x="11161" y="-1"/>
                    <a:pt x="20649" y="0"/>
                  </a:cubicBezTo>
                  <a:cubicBezTo>
                    <a:pt x="26551" y="0"/>
                    <a:pt x="32197" y="2415"/>
                    <a:pt x="36273" y="6685"/>
                  </a:cubicBezTo>
                </a:path>
                <a:path w="36273" h="21600" stroke="0" extrusionOk="0">
                  <a:moveTo>
                    <a:pt x="-1" y="15261"/>
                  </a:moveTo>
                  <a:cubicBezTo>
                    <a:pt x="2783" y="6191"/>
                    <a:pt x="11161" y="-1"/>
                    <a:pt x="20649" y="0"/>
                  </a:cubicBezTo>
                  <a:cubicBezTo>
                    <a:pt x="26551" y="0"/>
                    <a:pt x="32197" y="2415"/>
                    <a:pt x="36273" y="6685"/>
                  </a:cubicBezTo>
                  <a:lnTo>
                    <a:pt x="20649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83" name="Arc 49">
              <a:extLst>
                <a:ext uri="{FF2B5EF4-FFF2-40B4-BE49-F238E27FC236}">
                  <a16:creationId xmlns:a16="http://schemas.microsoft.com/office/drawing/2014/main" id="{9937AC86-B3A1-43DD-92AB-B36E2D9E6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838" y="3714753"/>
              <a:ext cx="1441132" cy="1057275"/>
            </a:xfrm>
            <a:custGeom>
              <a:avLst/>
              <a:gdLst>
                <a:gd name="T0" fmla="*/ 2147483647 w 33365"/>
                <a:gd name="T1" fmla="*/ 649607527 h 21600"/>
                <a:gd name="T2" fmla="*/ 0 w 33365"/>
                <a:gd name="T3" fmla="*/ 1800983007 h 21600"/>
                <a:gd name="T4" fmla="*/ 958179803 w 33365"/>
                <a:gd name="T5" fmla="*/ 0 h 21600"/>
                <a:gd name="T6" fmla="*/ 0 60000 65536"/>
                <a:gd name="T7" fmla="*/ 0 60000 65536"/>
                <a:gd name="T8" fmla="*/ 0 60000 65536"/>
                <a:gd name="T9" fmla="*/ 0 w 33365"/>
                <a:gd name="T10" fmla="*/ 0 h 21600"/>
                <a:gd name="T11" fmla="*/ 33365 w 3336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365" h="21600" fill="none" extrusionOk="0">
                  <a:moveTo>
                    <a:pt x="33364" y="6300"/>
                  </a:moveTo>
                  <a:cubicBezTo>
                    <a:pt x="30592" y="15389"/>
                    <a:pt x="22206" y="21599"/>
                    <a:pt x="12704" y="21600"/>
                  </a:cubicBezTo>
                  <a:cubicBezTo>
                    <a:pt x="8139" y="21600"/>
                    <a:pt x="3691" y="20153"/>
                    <a:pt x="-1" y="17469"/>
                  </a:cubicBezTo>
                </a:path>
                <a:path w="33365" h="21600" stroke="0" extrusionOk="0">
                  <a:moveTo>
                    <a:pt x="33364" y="6300"/>
                  </a:moveTo>
                  <a:cubicBezTo>
                    <a:pt x="30592" y="15389"/>
                    <a:pt x="22206" y="21599"/>
                    <a:pt x="12704" y="21600"/>
                  </a:cubicBezTo>
                  <a:cubicBezTo>
                    <a:pt x="8139" y="21600"/>
                    <a:pt x="3691" y="20153"/>
                    <a:pt x="-1" y="17469"/>
                  </a:cubicBezTo>
                  <a:lnTo>
                    <a:pt x="12704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84" name="Arc 50">
              <a:extLst>
                <a:ext uri="{FF2B5EF4-FFF2-40B4-BE49-F238E27FC236}">
                  <a16:creationId xmlns:a16="http://schemas.microsoft.com/office/drawing/2014/main" id="{5F18F5EF-94D3-41D1-90D7-A06C182C195D}"/>
                </a:ext>
              </a:extLst>
            </p:cNvPr>
            <p:cNvSpPr>
              <a:spLocks/>
            </p:cNvSpPr>
            <p:nvPr/>
          </p:nvSpPr>
          <p:spPr bwMode="auto">
            <a:xfrm rot="21420000">
              <a:off x="7132465" y="2695995"/>
              <a:ext cx="2116322" cy="996950"/>
            </a:xfrm>
            <a:custGeom>
              <a:avLst/>
              <a:gdLst>
                <a:gd name="T0" fmla="*/ 0 w 36278"/>
                <a:gd name="T1" fmla="*/ 610225077 h 21600"/>
                <a:gd name="T2" fmla="*/ 2147483647 w 36278"/>
                <a:gd name="T3" fmla="*/ 266714268 h 21600"/>
                <a:gd name="T4" fmla="*/ 2147483647 w 36278"/>
                <a:gd name="T5" fmla="*/ 862170737 h 21600"/>
                <a:gd name="T6" fmla="*/ 0 60000 65536"/>
                <a:gd name="T7" fmla="*/ 0 60000 65536"/>
                <a:gd name="T8" fmla="*/ 0 60000 65536"/>
                <a:gd name="T9" fmla="*/ 0 w 36278"/>
                <a:gd name="T10" fmla="*/ 0 h 21600"/>
                <a:gd name="T11" fmla="*/ 36278 w 3627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278" h="21600" fill="none" extrusionOk="0">
                  <a:moveTo>
                    <a:pt x="-1" y="15287"/>
                  </a:moveTo>
                  <a:cubicBezTo>
                    <a:pt x="2775" y="6204"/>
                    <a:pt x="11158" y="-1"/>
                    <a:pt x="20657" y="0"/>
                  </a:cubicBezTo>
                  <a:cubicBezTo>
                    <a:pt x="26558" y="0"/>
                    <a:pt x="32202" y="2414"/>
                    <a:pt x="36277" y="6682"/>
                  </a:cubicBezTo>
                </a:path>
                <a:path w="36278" h="21600" stroke="0" extrusionOk="0">
                  <a:moveTo>
                    <a:pt x="-1" y="15287"/>
                  </a:moveTo>
                  <a:cubicBezTo>
                    <a:pt x="2775" y="6204"/>
                    <a:pt x="11158" y="-1"/>
                    <a:pt x="20657" y="0"/>
                  </a:cubicBezTo>
                  <a:cubicBezTo>
                    <a:pt x="26558" y="0"/>
                    <a:pt x="32202" y="2414"/>
                    <a:pt x="36277" y="6682"/>
                  </a:cubicBezTo>
                  <a:lnTo>
                    <a:pt x="20657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85" name="Arc 51">
              <a:extLst>
                <a:ext uri="{FF2B5EF4-FFF2-40B4-BE49-F238E27FC236}">
                  <a16:creationId xmlns:a16="http://schemas.microsoft.com/office/drawing/2014/main" id="{4F83EA15-3D3E-449A-9F55-CF866E77A852}"/>
                </a:ext>
              </a:extLst>
            </p:cNvPr>
            <p:cNvSpPr>
              <a:spLocks/>
            </p:cNvSpPr>
            <p:nvPr/>
          </p:nvSpPr>
          <p:spPr bwMode="auto">
            <a:xfrm rot="20825950">
              <a:off x="9151399" y="2074357"/>
              <a:ext cx="532115" cy="984250"/>
            </a:xfrm>
            <a:custGeom>
              <a:avLst/>
              <a:gdLst>
                <a:gd name="T0" fmla="*/ 620839234 w 12704"/>
                <a:gd name="T1" fmla="*/ 2147483647 h 20992"/>
                <a:gd name="T2" fmla="*/ 0 w 12704"/>
                <a:gd name="T3" fmla="*/ 1800620939 h 20992"/>
                <a:gd name="T4" fmla="*/ 1035737636 w 12704"/>
                <a:gd name="T5" fmla="*/ 0 h 20992"/>
                <a:gd name="T6" fmla="*/ 0 60000 65536"/>
                <a:gd name="T7" fmla="*/ 0 60000 65536"/>
                <a:gd name="T8" fmla="*/ 0 60000 65536"/>
                <a:gd name="T9" fmla="*/ 0 w 12704"/>
                <a:gd name="T10" fmla="*/ 0 h 20992"/>
                <a:gd name="T11" fmla="*/ 12704 w 12704"/>
                <a:gd name="T12" fmla="*/ 20992 h 209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04" h="20992" fill="none" extrusionOk="0">
                  <a:moveTo>
                    <a:pt x="7615" y="20991"/>
                  </a:moveTo>
                  <a:cubicBezTo>
                    <a:pt x="4870" y="20326"/>
                    <a:pt x="2283" y="19129"/>
                    <a:pt x="-1" y="17469"/>
                  </a:cubicBezTo>
                </a:path>
                <a:path w="12704" h="20992" stroke="0" extrusionOk="0">
                  <a:moveTo>
                    <a:pt x="7615" y="20991"/>
                  </a:moveTo>
                  <a:cubicBezTo>
                    <a:pt x="4870" y="20326"/>
                    <a:pt x="2283" y="19129"/>
                    <a:pt x="-1" y="17469"/>
                  </a:cubicBezTo>
                  <a:lnTo>
                    <a:pt x="12704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087" name="Rectangle 57">
            <a:extLst>
              <a:ext uri="{FF2B5EF4-FFF2-40B4-BE49-F238E27FC236}">
                <a16:creationId xmlns:a16="http://schemas.microsoft.com/office/drawing/2014/main" id="{836C859A-B6CF-4DB0-AD6D-3A5928E05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2832"/>
            <a:ext cx="12191987" cy="544991"/>
          </a:xfrm>
          <a:noFill/>
          <a:effectLst>
            <a:outerShdw dist="12700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GB" altLang="en-US" sz="2800" b="1" dirty="0">
                <a:solidFill>
                  <a:srgbClr val="660066"/>
                </a:solidFill>
                <a:effectLst/>
              </a:rPr>
              <a:t>Fiscal policy: stabilising or destabilising?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D07C97A-AFA9-46EE-8AE5-DE6E325B4F49}"/>
              </a:ext>
            </a:extLst>
          </p:cNvPr>
          <p:cNvGrpSpPr/>
          <p:nvPr/>
        </p:nvGrpSpPr>
        <p:grpSpPr>
          <a:xfrm>
            <a:off x="2657476" y="1477010"/>
            <a:ext cx="7040562" cy="4249736"/>
            <a:chOff x="1514476" y="1365250"/>
            <a:chExt cx="7040562" cy="4249736"/>
          </a:xfrm>
        </p:grpSpPr>
        <p:sp>
          <p:nvSpPr>
            <p:cNvPr id="34" name="Arc 26">
              <a:extLst>
                <a:ext uri="{FF2B5EF4-FFF2-40B4-BE49-F238E27FC236}">
                  <a16:creationId xmlns:a16="http://schemas.microsoft.com/office/drawing/2014/main" id="{8F8970DD-BFF0-40B4-8770-C845CAA8F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476" y="3544886"/>
              <a:ext cx="1370013" cy="2070100"/>
            </a:xfrm>
            <a:custGeom>
              <a:avLst/>
              <a:gdLst>
                <a:gd name="T0" fmla="*/ 1822343822 w 37564"/>
                <a:gd name="T1" fmla="*/ 2147483647 h 21600"/>
                <a:gd name="T2" fmla="*/ 0 w 37564"/>
                <a:gd name="T3" fmla="*/ 2147483647 h 21600"/>
                <a:gd name="T4" fmla="*/ 820355157 w 37564"/>
                <a:gd name="T5" fmla="*/ 0 h 21600"/>
                <a:gd name="T6" fmla="*/ 0 60000 65536"/>
                <a:gd name="T7" fmla="*/ 0 60000 65536"/>
                <a:gd name="T8" fmla="*/ 0 60000 65536"/>
                <a:gd name="T9" fmla="*/ 0 w 37564"/>
                <a:gd name="T10" fmla="*/ 0 h 21600"/>
                <a:gd name="T11" fmla="*/ 37564 w 375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564" h="21600" fill="none" extrusionOk="0">
                  <a:moveTo>
                    <a:pt x="37564" y="6321"/>
                  </a:moveTo>
                  <a:cubicBezTo>
                    <a:pt x="34785" y="15399"/>
                    <a:pt x="26404" y="21599"/>
                    <a:pt x="16910" y="21600"/>
                  </a:cubicBezTo>
                  <a:cubicBezTo>
                    <a:pt x="10324" y="21600"/>
                    <a:pt x="4098" y="18595"/>
                    <a:pt x="0" y="13439"/>
                  </a:cubicBezTo>
                </a:path>
                <a:path w="37564" h="21600" stroke="0" extrusionOk="0">
                  <a:moveTo>
                    <a:pt x="37564" y="6321"/>
                  </a:moveTo>
                  <a:cubicBezTo>
                    <a:pt x="34785" y="15399"/>
                    <a:pt x="26404" y="21599"/>
                    <a:pt x="16910" y="21600"/>
                  </a:cubicBezTo>
                  <a:cubicBezTo>
                    <a:pt x="10324" y="21600"/>
                    <a:pt x="4098" y="18595"/>
                    <a:pt x="0" y="13439"/>
                  </a:cubicBezTo>
                  <a:lnTo>
                    <a:pt x="16910" y="0"/>
                  </a:ln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5" name="Arc 27">
              <a:extLst>
                <a:ext uri="{FF2B5EF4-FFF2-40B4-BE49-F238E27FC236}">
                  <a16:creationId xmlns:a16="http://schemas.microsoft.com/office/drawing/2014/main" id="{5BF3AD17-6EB1-4C2F-922A-756662764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1950" y="2300286"/>
              <a:ext cx="1784350" cy="2311400"/>
            </a:xfrm>
            <a:custGeom>
              <a:avLst/>
              <a:gdLst>
                <a:gd name="T0" fmla="*/ 0 w 40776"/>
                <a:gd name="T1" fmla="*/ 2147483647 h 21600"/>
                <a:gd name="T2" fmla="*/ 2147483647 w 40776"/>
                <a:gd name="T3" fmla="*/ 2147483647 h 21600"/>
                <a:gd name="T4" fmla="*/ 1769950594 w 40776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40776"/>
                <a:gd name="T10" fmla="*/ 0 h 21600"/>
                <a:gd name="T11" fmla="*/ 40776 w 4077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776" h="21600" fill="none" extrusionOk="0">
                  <a:moveTo>
                    <a:pt x="0" y="17081"/>
                  </a:moveTo>
                  <a:cubicBezTo>
                    <a:pt x="2131" y="7118"/>
                    <a:pt x="10934" y="-1"/>
                    <a:pt x="21122" y="0"/>
                  </a:cubicBezTo>
                  <a:cubicBezTo>
                    <a:pt x="29583" y="0"/>
                    <a:pt x="37265" y="4940"/>
                    <a:pt x="40775" y="12640"/>
                  </a:cubicBezTo>
                </a:path>
                <a:path w="40776" h="21600" stroke="0" extrusionOk="0">
                  <a:moveTo>
                    <a:pt x="0" y="17081"/>
                  </a:moveTo>
                  <a:cubicBezTo>
                    <a:pt x="2131" y="7118"/>
                    <a:pt x="10934" y="-1"/>
                    <a:pt x="21122" y="0"/>
                  </a:cubicBezTo>
                  <a:cubicBezTo>
                    <a:pt x="29583" y="0"/>
                    <a:pt x="37265" y="4940"/>
                    <a:pt x="40775" y="12640"/>
                  </a:cubicBezTo>
                  <a:lnTo>
                    <a:pt x="21122" y="21600"/>
                  </a:ln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" name="Arc 28">
              <a:extLst>
                <a:ext uri="{FF2B5EF4-FFF2-40B4-BE49-F238E27FC236}">
                  <a16:creationId xmlns:a16="http://schemas.microsoft.com/office/drawing/2014/main" id="{9743F238-F665-4338-97B4-E1A0051A6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514" y="2489199"/>
              <a:ext cx="1360487" cy="2722563"/>
            </a:xfrm>
            <a:custGeom>
              <a:avLst/>
              <a:gdLst>
                <a:gd name="T0" fmla="*/ 1621901778 w 39403"/>
                <a:gd name="T1" fmla="*/ 2147483647 h 21600"/>
                <a:gd name="T2" fmla="*/ 0 w 39403"/>
                <a:gd name="T3" fmla="*/ 2147483647 h 21600"/>
                <a:gd name="T4" fmla="*/ 771661926 w 39403"/>
                <a:gd name="T5" fmla="*/ 0 h 21600"/>
                <a:gd name="T6" fmla="*/ 0 60000 65536"/>
                <a:gd name="T7" fmla="*/ 0 60000 65536"/>
                <a:gd name="T8" fmla="*/ 0 60000 65536"/>
                <a:gd name="T9" fmla="*/ 0 w 39403"/>
                <a:gd name="T10" fmla="*/ 0 h 21600"/>
                <a:gd name="T11" fmla="*/ 39403 w 394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403" h="21600" fill="none" extrusionOk="0">
                  <a:moveTo>
                    <a:pt x="39402" y="6315"/>
                  </a:moveTo>
                  <a:cubicBezTo>
                    <a:pt x="36626" y="15397"/>
                    <a:pt x="28243" y="21599"/>
                    <a:pt x="18747" y="21600"/>
                  </a:cubicBezTo>
                  <a:cubicBezTo>
                    <a:pt x="11000" y="21600"/>
                    <a:pt x="3847" y="17452"/>
                    <a:pt x="0" y="10728"/>
                  </a:cubicBezTo>
                </a:path>
                <a:path w="39403" h="21600" stroke="0" extrusionOk="0">
                  <a:moveTo>
                    <a:pt x="39402" y="6315"/>
                  </a:moveTo>
                  <a:cubicBezTo>
                    <a:pt x="36626" y="15397"/>
                    <a:pt x="28243" y="21599"/>
                    <a:pt x="18747" y="21600"/>
                  </a:cubicBezTo>
                  <a:cubicBezTo>
                    <a:pt x="11000" y="21600"/>
                    <a:pt x="3847" y="17452"/>
                    <a:pt x="0" y="10728"/>
                  </a:cubicBezTo>
                  <a:lnTo>
                    <a:pt x="18747" y="0"/>
                  </a:ln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" name="Arc 29">
              <a:extLst>
                <a:ext uri="{FF2B5EF4-FFF2-40B4-BE49-F238E27FC236}">
                  <a16:creationId xmlns:a16="http://schemas.microsoft.com/office/drawing/2014/main" id="{46689768-BB54-476C-BE2F-60D7D584B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4413" y="1365250"/>
              <a:ext cx="1784350" cy="2311400"/>
            </a:xfrm>
            <a:custGeom>
              <a:avLst/>
              <a:gdLst>
                <a:gd name="T0" fmla="*/ 0 w 40776"/>
                <a:gd name="T1" fmla="*/ 2147483647 h 21600"/>
                <a:gd name="T2" fmla="*/ 2147483647 w 40776"/>
                <a:gd name="T3" fmla="*/ 2147483647 h 21600"/>
                <a:gd name="T4" fmla="*/ 1769950594 w 40776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40776"/>
                <a:gd name="T10" fmla="*/ 0 h 21600"/>
                <a:gd name="T11" fmla="*/ 40776 w 4077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776" h="21600" fill="none" extrusionOk="0">
                  <a:moveTo>
                    <a:pt x="0" y="17081"/>
                  </a:moveTo>
                  <a:cubicBezTo>
                    <a:pt x="2131" y="7118"/>
                    <a:pt x="10934" y="-1"/>
                    <a:pt x="21122" y="0"/>
                  </a:cubicBezTo>
                  <a:cubicBezTo>
                    <a:pt x="29583" y="0"/>
                    <a:pt x="37265" y="4940"/>
                    <a:pt x="40775" y="12640"/>
                  </a:cubicBezTo>
                </a:path>
                <a:path w="40776" h="21600" stroke="0" extrusionOk="0">
                  <a:moveTo>
                    <a:pt x="0" y="17081"/>
                  </a:moveTo>
                  <a:cubicBezTo>
                    <a:pt x="2131" y="7118"/>
                    <a:pt x="10934" y="-1"/>
                    <a:pt x="21122" y="0"/>
                  </a:cubicBezTo>
                  <a:cubicBezTo>
                    <a:pt x="29583" y="0"/>
                    <a:pt x="37265" y="4940"/>
                    <a:pt x="40775" y="12640"/>
                  </a:cubicBezTo>
                  <a:lnTo>
                    <a:pt x="21122" y="21600"/>
                  </a:ln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8" name="Arc 30">
              <a:extLst>
                <a:ext uri="{FF2B5EF4-FFF2-40B4-BE49-F238E27FC236}">
                  <a16:creationId xmlns:a16="http://schemas.microsoft.com/office/drawing/2014/main" id="{BCCBD585-D06B-4DAD-BC34-28877927E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7500" y="1482725"/>
              <a:ext cx="617538" cy="2044700"/>
            </a:xfrm>
            <a:custGeom>
              <a:avLst/>
              <a:gdLst>
                <a:gd name="T0" fmla="*/ 658325442 w 16910"/>
                <a:gd name="T1" fmla="*/ 2147483647 h 21332"/>
                <a:gd name="T2" fmla="*/ 0 w 16910"/>
                <a:gd name="T3" fmla="*/ 2147483647 h 21332"/>
                <a:gd name="T4" fmla="*/ 823575759 w 16910"/>
                <a:gd name="T5" fmla="*/ 0 h 21332"/>
                <a:gd name="T6" fmla="*/ 0 60000 65536"/>
                <a:gd name="T7" fmla="*/ 0 60000 65536"/>
                <a:gd name="T8" fmla="*/ 0 60000 65536"/>
                <a:gd name="T9" fmla="*/ 0 w 16910"/>
                <a:gd name="T10" fmla="*/ 0 h 21332"/>
                <a:gd name="T11" fmla="*/ 16910 w 16910"/>
                <a:gd name="T12" fmla="*/ 21332 h 213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910" h="21332" fill="none" extrusionOk="0">
                  <a:moveTo>
                    <a:pt x="13517" y="21331"/>
                  </a:moveTo>
                  <a:cubicBezTo>
                    <a:pt x="8183" y="20483"/>
                    <a:pt x="3360" y="17667"/>
                    <a:pt x="0" y="13439"/>
                  </a:cubicBezTo>
                </a:path>
                <a:path w="16910" h="21332" stroke="0" extrusionOk="0">
                  <a:moveTo>
                    <a:pt x="13517" y="21331"/>
                  </a:moveTo>
                  <a:cubicBezTo>
                    <a:pt x="8183" y="20483"/>
                    <a:pt x="3360" y="17667"/>
                    <a:pt x="0" y="13439"/>
                  </a:cubicBezTo>
                  <a:lnTo>
                    <a:pt x="16910" y="0"/>
                  </a:ln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9" name="AutoShape 4">
            <a:extLst>
              <a:ext uri="{FF2B5EF4-FFF2-40B4-BE49-F238E27FC236}">
                <a16:creationId xmlns:a16="http://schemas.microsoft.com/office/drawing/2014/main" id="{5D78DABA-2582-4154-A231-B5E2ACCAD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428" y="768190"/>
            <a:ext cx="4575760" cy="1143000"/>
          </a:xfrm>
          <a:prstGeom prst="roundRect">
            <a:avLst>
              <a:gd name="adj" fmla="val 12495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1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EBBACA-F7D4-4C68-85AE-7A7AE2C106B2}"/>
              </a:ext>
            </a:extLst>
          </p:cNvPr>
          <p:cNvGrpSpPr/>
          <p:nvPr/>
        </p:nvGrpSpPr>
        <p:grpSpPr>
          <a:xfrm>
            <a:off x="2940703" y="810386"/>
            <a:ext cx="2940780" cy="369974"/>
            <a:chOff x="3203577" y="1049973"/>
            <a:chExt cx="2940780" cy="369974"/>
          </a:xfrm>
        </p:grpSpPr>
        <p:sp>
          <p:nvSpPr>
            <p:cNvPr id="40" name="Line 36">
              <a:extLst>
                <a:ext uri="{FF2B5EF4-FFF2-40B4-BE49-F238E27FC236}">
                  <a16:creationId xmlns:a16="http://schemas.microsoft.com/office/drawing/2014/main" id="{7F244952-3FFB-492E-855F-15CD33036D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3577" y="1250000"/>
              <a:ext cx="804863" cy="1587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1" name="Rectangle 37">
              <a:extLst>
                <a:ext uri="{FF2B5EF4-FFF2-40B4-BE49-F238E27FC236}">
                  <a16:creationId xmlns:a16="http://schemas.microsoft.com/office/drawing/2014/main" id="{C68AB7C2-F623-4D16-B296-70198FE7F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925" y="1049973"/>
              <a:ext cx="2045432" cy="369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800" dirty="0">
                  <a:solidFill>
                    <a:schemeClr val="tx2"/>
                  </a:solidFill>
                </a:rPr>
                <a:t>Path (a): no policy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C4927F8-5014-4F22-BD2F-595AF2ADB7D1}"/>
              </a:ext>
            </a:extLst>
          </p:cNvPr>
          <p:cNvGrpSpPr/>
          <p:nvPr/>
        </p:nvGrpSpPr>
        <p:grpSpPr>
          <a:xfrm>
            <a:off x="2958164" y="1518411"/>
            <a:ext cx="4149663" cy="369974"/>
            <a:chOff x="3221038" y="1757998"/>
            <a:chExt cx="4149663" cy="369974"/>
          </a:xfrm>
        </p:grpSpPr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1AECCA92-41E5-430E-BD15-A374607784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1038" y="1946910"/>
              <a:ext cx="768350" cy="15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id="{A4462996-1628-411E-A0CF-890F8D628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163" y="1757998"/>
              <a:ext cx="3276538" cy="369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800" dirty="0">
                  <a:solidFill>
                    <a:schemeClr val="accent2"/>
                  </a:solidFill>
                </a:rPr>
                <a:t>Path (c): mistimed anticipation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2AD1204-2D70-451F-8D02-4B56E740B975}"/>
              </a:ext>
            </a:extLst>
          </p:cNvPr>
          <p:cNvGrpSpPr/>
          <p:nvPr/>
        </p:nvGrpSpPr>
        <p:grpSpPr>
          <a:xfrm>
            <a:off x="2958164" y="1181861"/>
            <a:ext cx="4321760" cy="369974"/>
            <a:chOff x="3221038" y="1421448"/>
            <a:chExt cx="4087850" cy="369974"/>
          </a:xfrm>
        </p:grpSpPr>
        <p:sp>
          <p:nvSpPr>
            <p:cNvPr id="42" name="Line 38">
              <a:extLst>
                <a:ext uri="{FF2B5EF4-FFF2-40B4-BE49-F238E27FC236}">
                  <a16:creationId xmlns:a16="http://schemas.microsoft.com/office/drawing/2014/main" id="{3FEEB9B7-F580-45FC-A6C7-ECB9422DF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038" y="1599248"/>
              <a:ext cx="785812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" name="Rectangle 53">
              <a:extLst>
                <a:ext uri="{FF2B5EF4-FFF2-40B4-BE49-F238E27FC236}">
                  <a16:creationId xmlns:a16="http://schemas.microsoft.com/office/drawing/2014/main" id="{0C627908-9E88-40D8-9A67-FB5307853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7813" y="1421448"/>
              <a:ext cx="3221075" cy="369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800" dirty="0">
                  <a:solidFill>
                    <a:srgbClr val="006600"/>
                  </a:solidFill>
                </a:rPr>
                <a:t>Path (b): effective anticipation</a:t>
              </a:r>
            </a:p>
          </p:txBody>
        </p:sp>
      </p:grpSp>
      <p:sp>
        <p:nvSpPr>
          <p:cNvPr id="9" name="AutoShape 4">
            <a:extLst>
              <a:ext uri="{FF2B5EF4-FFF2-40B4-BE49-F238E27FC236}">
                <a16:creationId xmlns:a16="http://schemas.microsoft.com/office/drawing/2014/main" id="{2735747F-D664-F183-4D02-00CF12C09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0158" y="4355150"/>
            <a:ext cx="4575760" cy="1143000"/>
          </a:xfrm>
          <a:prstGeom prst="roundRect">
            <a:avLst>
              <a:gd name="adj" fmla="val 12495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>
            <a:normAutofit fontScale="92500" lnSpcReduction="10000"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660066"/>
                </a:solidFill>
              </a:rPr>
              <a:t>Since 1945, use of demand </a:t>
            </a:r>
            <a:br>
              <a:rPr lang="en-US" altLang="en-US" sz="2400" dirty="0">
                <a:solidFill>
                  <a:srgbClr val="660066"/>
                </a:solidFill>
              </a:rPr>
            </a:br>
            <a:r>
              <a:rPr lang="en-US" altLang="en-US" sz="2400" dirty="0">
                <a:solidFill>
                  <a:srgbClr val="660066"/>
                </a:solidFill>
              </a:rPr>
              <a:t>management has tended to reduce </a:t>
            </a:r>
            <a:br>
              <a:rPr lang="en-US" altLang="en-US" sz="2400" dirty="0">
                <a:solidFill>
                  <a:srgbClr val="660066"/>
                </a:solidFill>
              </a:rPr>
            </a:br>
            <a:r>
              <a:rPr lang="en-US" altLang="en-US" sz="2400" dirty="0">
                <a:solidFill>
                  <a:srgbClr val="660066"/>
                </a:solidFill>
              </a:rPr>
              <a:t>fluctuations – as on path (b)</a:t>
            </a:r>
          </a:p>
        </p:txBody>
      </p:sp>
    </p:spTree>
    <p:extLst>
      <p:ext uri="{BB962C8B-B14F-4D97-AF65-F5344CB8AC3E}">
        <p14:creationId xmlns:p14="http://schemas.microsoft.com/office/powerpoint/2010/main" val="2653977824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5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>
            <a:extLst>
              <a:ext uri="{FF2B5EF4-FFF2-40B4-BE49-F238E27FC236}">
                <a16:creationId xmlns:a16="http://schemas.microsoft.com/office/drawing/2014/main" id="{C810E023-74FB-4836-B018-ADFB9479E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5683" name="Rectangle 3">
            <a:extLst>
              <a:ext uri="{FF2B5EF4-FFF2-40B4-BE49-F238E27FC236}">
                <a16:creationId xmlns:a16="http://schemas.microsoft.com/office/drawing/2014/main" id="{C46ED810-CF51-4869-9EFF-A65911D45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5686" name="Rectangle 6">
            <a:extLst>
              <a:ext uri="{FF2B5EF4-FFF2-40B4-BE49-F238E27FC236}">
                <a16:creationId xmlns:a16="http://schemas.microsoft.com/office/drawing/2014/main" id="{B5E96A0E-1DAB-40D7-96B0-DA9CA0E7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Monetary Policy</a:t>
            </a:r>
          </a:p>
        </p:txBody>
      </p:sp>
      <p:sp>
        <p:nvSpPr>
          <p:cNvPr id="455687" name="Rectangle 7">
            <a:extLst>
              <a:ext uri="{FF2B5EF4-FFF2-40B4-BE49-F238E27FC236}">
                <a16:creationId xmlns:a16="http://schemas.microsoft.com/office/drawing/2014/main" id="{1715E8A5-CCC2-4018-A079-B1D14771D48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336" y="1527047"/>
            <a:ext cx="11338560" cy="499173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GB" altLang="en-US" dirty="0">
                <a:latin typeface="+mn-lt"/>
              </a:rPr>
              <a:t>Using central bank to manage conditions in credit market</a:t>
            </a:r>
          </a:p>
          <a:p>
            <a:pPr lvl="1">
              <a:spcBef>
                <a:spcPts val="600"/>
              </a:spcBef>
            </a:pPr>
            <a:r>
              <a:rPr lang="en-GB" altLang="en-US" dirty="0">
                <a:latin typeface="+mn-lt"/>
              </a:rPr>
              <a:t>Interest rates are important tools – bank rate: lending by CB to commercial banks to fund operations</a:t>
            </a:r>
          </a:p>
          <a:p>
            <a:pPr lvl="1">
              <a:spcBef>
                <a:spcPts val="600"/>
              </a:spcBef>
            </a:pPr>
            <a:r>
              <a:rPr lang="en-GB" altLang="en-US" dirty="0">
                <a:latin typeface="+mn-lt"/>
              </a:rPr>
              <a:t>Managed equilibrium – CB has monopsony power?</a:t>
            </a:r>
          </a:p>
          <a:p>
            <a:pPr lvl="1">
              <a:spcBef>
                <a:spcPts val="600"/>
              </a:spcBef>
            </a:pPr>
            <a:endParaRPr lang="en-GB" altLang="en-US" dirty="0">
              <a:latin typeface="+mn-lt"/>
            </a:endParaRPr>
          </a:p>
          <a:p>
            <a:pPr>
              <a:spcBef>
                <a:spcPts val="600"/>
              </a:spcBef>
            </a:pPr>
            <a:r>
              <a:rPr lang="en-GB" altLang="en-US" dirty="0">
                <a:latin typeface="+mn-lt"/>
              </a:rPr>
              <a:t>Another form of aggregate demand management</a:t>
            </a:r>
          </a:p>
          <a:p>
            <a:pPr lvl="1">
              <a:spcBef>
                <a:spcPts val="600"/>
              </a:spcBef>
            </a:pPr>
            <a:r>
              <a:rPr lang="en-GB" altLang="en-US" dirty="0">
                <a:latin typeface="+mn-lt"/>
              </a:rPr>
              <a:t>Higher interest rates reduce investment, demand, inflation (prices?)</a:t>
            </a:r>
          </a:p>
          <a:p>
            <a:pPr lvl="2">
              <a:spcBef>
                <a:spcPts val="600"/>
              </a:spcBef>
            </a:pPr>
            <a:r>
              <a:rPr lang="en-GB" altLang="en-US" dirty="0">
                <a:latin typeface="+mn-lt"/>
              </a:rPr>
              <a:t>Policy can operate automatically, or with discretion</a:t>
            </a:r>
          </a:p>
          <a:p>
            <a:pPr lvl="2">
              <a:spcBef>
                <a:spcPts val="600"/>
              </a:spcBef>
            </a:pPr>
            <a:endParaRPr lang="en-GB" altLang="en-US" dirty="0">
              <a:latin typeface="+mn-lt"/>
            </a:endParaRPr>
          </a:p>
          <a:p>
            <a:pPr lvl="1">
              <a:spcBef>
                <a:spcPts val="600"/>
              </a:spcBef>
            </a:pPr>
            <a:r>
              <a:rPr lang="en-GB" altLang="en-US" dirty="0">
                <a:latin typeface="+mn-lt"/>
              </a:rPr>
              <a:t>CB mandate for price stability then determines policy stance</a:t>
            </a:r>
          </a:p>
          <a:p>
            <a:pPr lvl="1">
              <a:spcBef>
                <a:spcPts val="600"/>
              </a:spcBef>
            </a:pPr>
            <a:r>
              <a:rPr lang="en-GB" altLang="en-US" dirty="0">
                <a:latin typeface="+mn-lt"/>
              </a:rPr>
              <a:t>Often seen as long-term objective – not way of ‘fine-tuning’ demand</a:t>
            </a:r>
          </a:p>
          <a:p>
            <a:pPr lvl="1">
              <a:spcBef>
                <a:spcPts val="600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62858674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5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55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55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55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55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55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55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5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556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556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556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556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556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556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556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556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7" grpId="0" build="p" bldLvl="2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>
            <a:extLst>
              <a:ext uri="{FF2B5EF4-FFF2-40B4-BE49-F238E27FC236}">
                <a16:creationId xmlns:a16="http://schemas.microsoft.com/office/drawing/2014/main" id="{36429F5B-0A12-4A51-BBB5-A2A63FCEE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7731" name="Rectangle 3">
            <a:extLst>
              <a:ext uri="{FF2B5EF4-FFF2-40B4-BE49-F238E27FC236}">
                <a16:creationId xmlns:a16="http://schemas.microsoft.com/office/drawing/2014/main" id="{C6B5C526-6726-420E-919F-440E0DD79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7734" name="Rectangle 6">
            <a:extLst>
              <a:ext uri="{FF2B5EF4-FFF2-40B4-BE49-F238E27FC236}">
                <a16:creationId xmlns:a16="http://schemas.microsoft.com/office/drawing/2014/main" id="{1EEDFBC7-6C3D-427A-9528-32F4840E2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Managing monetary policy</a:t>
            </a:r>
          </a:p>
        </p:txBody>
      </p:sp>
      <p:sp>
        <p:nvSpPr>
          <p:cNvPr id="457735" name="Rectangle 7">
            <a:extLst>
              <a:ext uri="{FF2B5EF4-FFF2-40B4-BE49-F238E27FC236}">
                <a16:creationId xmlns:a16="http://schemas.microsoft.com/office/drawing/2014/main" id="{7C3AF01B-EBCE-4E1B-9E13-559B8326C83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336" y="1498862"/>
            <a:ext cx="11338560" cy="491136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altLang="en-US" dirty="0">
                <a:latin typeface="+mn-lt"/>
              </a:rPr>
              <a:t>In longer-term, policy involves regulation to control liquidity</a:t>
            </a:r>
          </a:p>
          <a:p>
            <a:pPr lvl="1">
              <a:spcBef>
                <a:spcPts val="1200"/>
              </a:spcBef>
            </a:pPr>
            <a:r>
              <a:rPr lang="en-GB" altLang="en-US" dirty="0">
                <a:latin typeface="+mn-lt"/>
              </a:rPr>
              <a:t>Impose minimum </a:t>
            </a:r>
            <a:r>
              <a:rPr lang="en-GB" altLang="en-US" b="1" dirty="0">
                <a:latin typeface="+mn-lt"/>
              </a:rPr>
              <a:t>reserve ratios </a:t>
            </a:r>
            <a:r>
              <a:rPr lang="en-GB" altLang="en-US" dirty="0">
                <a:latin typeface="+mn-lt"/>
              </a:rPr>
              <a:t>– other bank keep mandatory deposits at CB</a:t>
            </a:r>
          </a:p>
          <a:p>
            <a:pPr lvl="2">
              <a:spcBef>
                <a:spcPts val="1200"/>
              </a:spcBef>
            </a:pPr>
            <a:r>
              <a:rPr lang="en-GB" altLang="en-US" dirty="0">
                <a:latin typeface="+mn-lt"/>
              </a:rPr>
              <a:t>Now seen as part of prudential regulation of financial system stability</a:t>
            </a:r>
          </a:p>
          <a:p>
            <a:pPr lvl="2">
              <a:spcBef>
                <a:spcPts val="1200"/>
              </a:spcBef>
            </a:pPr>
            <a:endParaRPr lang="en-GB" alt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altLang="en-US" dirty="0">
                <a:latin typeface="+mn-lt"/>
              </a:rPr>
              <a:t>Also limits on government deficits</a:t>
            </a:r>
          </a:p>
          <a:p>
            <a:pPr lvl="1">
              <a:spcBef>
                <a:spcPts val="1200"/>
              </a:spcBef>
            </a:pPr>
            <a:r>
              <a:rPr lang="en-GB" altLang="en-US" dirty="0">
                <a:latin typeface="+mn-lt"/>
              </a:rPr>
              <a:t>Avoid monetary financing (</a:t>
            </a:r>
            <a:r>
              <a:rPr lang="en-GB" dirty="0">
                <a:latin typeface="+mn-lt"/>
              </a:rPr>
              <a:t>government borrowing tends to lead to an increase in money supply </a:t>
            </a:r>
            <a:r>
              <a:rPr lang="en-GB" altLang="en-US" dirty="0">
                <a:latin typeface="+mn-lt"/>
              </a:rPr>
              <a:t>, </a:t>
            </a:r>
            <a:r>
              <a:rPr lang="en-GB" dirty="0">
                <a:latin typeface="+mn-lt"/>
              </a:rPr>
              <a:t>public-sector deficits must be financed by selling </a:t>
            </a:r>
            <a:r>
              <a:rPr lang="en-GB" i="1" dirty="0">
                <a:latin typeface="+mn-lt"/>
              </a:rPr>
              <a:t>bonds </a:t>
            </a:r>
            <a:r>
              <a:rPr lang="en-GB" altLang="en-US" dirty="0">
                <a:latin typeface="+mn-lt"/>
              </a:rPr>
              <a:t>(pushing up interest rates) </a:t>
            </a:r>
            <a:r>
              <a:rPr lang="en-GB" altLang="en-US" dirty="0">
                <a:latin typeface="+mn-lt"/>
                <a:sym typeface="Wingdings" pitchFamily="2" charset="2"/>
              </a:rPr>
              <a:t> </a:t>
            </a:r>
            <a:r>
              <a:rPr lang="en-GB" altLang="en-US" b="1" dirty="0">
                <a:latin typeface="+mn-lt"/>
                <a:sym typeface="Wingdings" pitchFamily="2" charset="2"/>
              </a:rPr>
              <a:t>financial crowding out</a:t>
            </a:r>
          </a:p>
          <a:p>
            <a:pPr marL="0" indent="0">
              <a:spcBef>
                <a:spcPts val="1200"/>
              </a:spcBef>
              <a:buNone/>
            </a:pPr>
            <a:endParaRPr lang="en-GB" altLang="en-US" b="1" dirty="0">
              <a:latin typeface="+mn-lt"/>
              <a:sym typeface="Wingdings" pitchFamily="2" charset="2"/>
            </a:endParaRPr>
          </a:p>
          <a:p>
            <a:pPr marL="0" indent="0">
              <a:spcBef>
                <a:spcPts val="1200"/>
              </a:spcBef>
              <a:buNone/>
            </a:pPr>
            <a:endParaRPr lang="en-GB" altLang="en-US" b="1" dirty="0">
              <a:latin typeface="+mn-lt"/>
              <a:sym typeface="Wingdings" pitchFamily="2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altLang="en-US" dirty="0">
                <a:highlight>
                  <a:srgbClr val="FFFF00"/>
                </a:highlight>
                <a:latin typeface="+mn-lt"/>
                <a:sym typeface="Wingdings" pitchFamily="2" charset="2"/>
              </a:rPr>
              <a:t>Quiz: What methods can be used to control money supply?</a:t>
            </a:r>
            <a:endParaRPr lang="en-GB" altLang="en-US" dirty="0">
              <a:highlight>
                <a:srgbClr val="FFFF00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013455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7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57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57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57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57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57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577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577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577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577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577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577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5" grpId="0" build="p" bldLvl="2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C57E5-1A72-E763-1EA4-2CF7A766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BC58-1BC9-DA8E-875B-C439B643AB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391920"/>
            <a:ext cx="10515600" cy="4785043"/>
          </a:xfrm>
        </p:spPr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Equilibrium condition characterised by Y=AE or W=J. Any deviation from these conditions will lead to output adjustments in the fixed price model (sticky prices)</a:t>
            </a:r>
          </a:p>
          <a:p>
            <a:r>
              <a:rPr lang="en-GB" dirty="0">
                <a:latin typeface="+mn-lt"/>
              </a:rPr>
              <a:t>If aggregate demand changes in a flexible price setting, not only does output adjust but prices too</a:t>
            </a:r>
          </a:p>
          <a:p>
            <a:r>
              <a:rPr lang="en-GB" dirty="0">
                <a:latin typeface="+mn-lt"/>
              </a:rPr>
              <a:t>An expansion in expenditure leads to more than a proportionate change in national income due to the multiplier effect. However, size of multiplier depends on the shape of the aggregate supply</a:t>
            </a:r>
          </a:p>
          <a:p>
            <a:pPr lvl="1"/>
            <a:r>
              <a:rPr lang="en-GB" b="1" dirty="0">
                <a:latin typeface="+mn-lt"/>
              </a:rPr>
              <a:t>Fiscal policy</a:t>
            </a:r>
            <a:r>
              <a:rPr lang="en-GB" dirty="0">
                <a:latin typeface="+mn-lt"/>
              </a:rPr>
              <a:t>: use of taxes and spending to manage aggregate demand</a:t>
            </a:r>
          </a:p>
          <a:p>
            <a:pPr lvl="1"/>
            <a:r>
              <a:rPr lang="en-GB" b="1" dirty="0">
                <a:latin typeface="+mn-lt"/>
              </a:rPr>
              <a:t>Monetary policy</a:t>
            </a:r>
            <a:r>
              <a:rPr lang="en-GB" dirty="0">
                <a:latin typeface="+mn-lt"/>
              </a:rPr>
              <a:t>: use of interest rates, market operations, regulation to regulate credit expansion, and money stock.</a:t>
            </a:r>
          </a:p>
          <a:p>
            <a:r>
              <a:rPr lang="en-GB" dirty="0">
                <a:latin typeface="+mn-lt"/>
              </a:rPr>
              <a:t>However, the effectiveness of these policies on output depends on the state of economy. Once full employment is reached, stimulating demand will only lead to inflation</a:t>
            </a:r>
          </a:p>
        </p:txBody>
      </p:sp>
    </p:spTree>
    <p:extLst>
      <p:ext uri="{BB962C8B-B14F-4D97-AF65-F5344CB8AC3E}">
        <p14:creationId xmlns:p14="http://schemas.microsoft.com/office/powerpoint/2010/main" val="28735346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83C1-D214-6D81-88A9-B274B811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Supplementary slides for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BE24C-56D0-61A7-8333-90BE2352E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>
                <a:latin typeface="+mn-lt"/>
              </a:rPr>
              <a:t>Circular flow of income diagram with equilibrium condition</a:t>
            </a:r>
          </a:p>
          <a:p>
            <a:r>
              <a:rPr lang="en-MY" dirty="0">
                <a:latin typeface="+mn-lt"/>
              </a:rPr>
              <a:t>How the multiplier works</a:t>
            </a:r>
          </a:p>
          <a:p>
            <a:r>
              <a:rPr lang="en-MY" dirty="0">
                <a:latin typeface="+mn-lt"/>
              </a:rPr>
              <a:t>The case for a very long run aggregate supply</a:t>
            </a:r>
          </a:p>
          <a:p>
            <a:r>
              <a:rPr lang="en-MY" dirty="0">
                <a:latin typeface="+mn-lt"/>
              </a:rPr>
              <a:t>Phillips curve throughout history</a:t>
            </a:r>
          </a:p>
          <a:p>
            <a:r>
              <a:rPr lang="en-MY" dirty="0">
                <a:latin typeface="+mn-lt"/>
              </a:rPr>
              <a:t>Phillips curve equations (will not be tested in assessment)</a:t>
            </a:r>
          </a:p>
          <a:p>
            <a:r>
              <a:rPr lang="en-MY" dirty="0">
                <a:latin typeface="+mn-lt"/>
              </a:rPr>
              <a:t>Data on government fiscal position</a:t>
            </a:r>
          </a:p>
        </p:txBody>
      </p:sp>
    </p:spTree>
    <p:extLst>
      <p:ext uri="{BB962C8B-B14F-4D97-AF65-F5344CB8AC3E}">
        <p14:creationId xmlns:p14="http://schemas.microsoft.com/office/powerpoint/2010/main" val="40994260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>
            <a:extLst>
              <a:ext uri="{FF2B5EF4-FFF2-40B4-BE49-F238E27FC236}">
                <a16:creationId xmlns:a16="http://schemas.microsoft.com/office/drawing/2014/main" id="{737FA665-3D10-4132-9A01-435D63A6E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8036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39299" name="Group 3">
            <a:extLst>
              <a:ext uri="{FF2B5EF4-FFF2-40B4-BE49-F238E27FC236}">
                <a16:creationId xmlns:a16="http://schemas.microsoft.com/office/drawing/2014/main" id="{CEC40602-6624-45D0-8401-F794C4AAEA84}"/>
              </a:ext>
            </a:extLst>
          </p:cNvPr>
          <p:cNvGrpSpPr>
            <a:grpSpLocks/>
          </p:cNvGrpSpPr>
          <p:nvPr/>
        </p:nvGrpSpPr>
        <p:grpSpPr bwMode="auto">
          <a:xfrm>
            <a:off x="6438213" y="2411755"/>
            <a:ext cx="2298701" cy="3632200"/>
            <a:chOff x="2914" y="1538"/>
            <a:chExt cx="1448" cy="2288"/>
          </a:xfrm>
        </p:grpSpPr>
        <p:sp>
          <p:nvSpPr>
            <p:cNvPr id="439300" name="Arc 4">
              <a:extLst>
                <a:ext uri="{FF2B5EF4-FFF2-40B4-BE49-F238E27FC236}">
                  <a16:creationId xmlns:a16="http://schemas.microsoft.com/office/drawing/2014/main" id="{B219795E-7BA8-4868-8289-3B01D4C25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1538"/>
              <a:ext cx="1058" cy="2288"/>
            </a:xfrm>
            <a:custGeom>
              <a:avLst/>
              <a:gdLst>
                <a:gd name="G0" fmla="+- 0 0 0"/>
                <a:gd name="G1" fmla="+- 21441 0 0"/>
                <a:gd name="G2" fmla="+- 21600 0 0"/>
                <a:gd name="T0" fmla="*/ 2612 w 21600"/>
                <a:gd name="T1" fmla="*/ 0 h 42817"/>
                <a:gd name="T2" fmla="*/ 3106 w 21600"/>
                <a:gd name="T3" fmla="*/ 42817 h 42817"/>
                <a:gd name="T4" fmla="*/ 0 w 21600"/>
                <a:gd name="T5" fmla="*/ 21441 h 42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2817" fill="none" extrusionOk="0">
                  <a:moveTo>
                    <a:pt x="2612" y="-1"/>
                  </a:moveTo>
                  <a:cubicBezTo>
                    <a:pt x="13451" y="1319"/>
                    <a:pt x="21600" y="10521"/>
                    <a:pt x="21600" y="21441"/>
                  </a:cubicBezTo>
                  <a:cubicBezTo>
                    <a:pt x="21600" y="32170"/>
                    <a:pt x="13724" y="41273"/>
                    <a:pt x="3105" y="42816"/>
                  </a:cubicBezTo>
                </a:path>
                <a:path w="21600" h="42817" stroke="0" extrusionOk="0">
                  <a:moveTo>
                    <a:pt x="2612" y="-1"/>
                  </a:moveTo>
                  <a:cubicBezTo>
                    <a:pt x="13451" y="1319"/>
                    <a:pt x="21600" y="10521"/>
                    <a:pt x="21600" y="21441"/>
                  </a:cubicBezTo>
                  <a:cubicBezTo>
                    <a:pt x="21600" y="32170"/>
                    <a:pt x="13724" y="41273"/>
                    <a:pt x="3105" y="42816"/>
                  </a:cubicBezTo>
                  <a:lnTo>
                    <a:pt x="0" y="21441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9301" name="Rectangle 5">
              <a:extLst>
                <a:ext uri="{FF2B5EF4-FFF2-40B4-BE49-F238E27FC236}">
                  <a16:creationId xmlns:a16="http://schemas.microsoft.com/office/drawing/2014/main" id="{31BE69A7-61AA-403E-A373-BACD1EE3F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" y="2483"/>
              <a:ext cx="3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i="1">
                  <a:solidFill>
                    <a:schemeClr val="tx2"/>
                  </a:solidFill>
                  <a:latin typeface="Arial" panose="020B0604020202020204" pitchFamily="34" charset="0"/>
                </a:rPr>
                <a:t>C</a:t>
              </a:r>
              <a:r>
                <a:rPr lang="en-GB" altLang="en-US" baseline="-25000">
                  <a:solidFill>
                    <a:schemeClr val="tx2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</p:grpSp>
      <p:grpSp>
        <p:nvGrpSpPr>
          <p:cNvPr id="439302" name="Group 6">
            <a:extLst>
              <a:ext uri="{FF2B5EF4-FFF2-40B4-BE49-F238E27FC236}">
                <a16:creationId xmlns:a16="http://schemas.microsoft.com/office/drawing/2014/main" id="{43D74D4B-934E-4B9F-9D7F-7E16AA7759C4}"/>
              </a:ext>
            </a:extLst>
          </p:cNvPr>
          <p:cNvGrpSpPr>
            <a:grpSpLocks/>
          </p:cNvGrpSpPr>
          <p:nvPr/>
        </p:nvGrpSpPr>
        <p:grpSpPr bwMode="auto">
          <a:xfrm>
            <a:off x="6909701" y="5605805"/>
            <a:ext cx="3132138" cy="536574"/>
            <a:chOff x="3076" y="3937"/>
            <a:chExt cx="1973" cy="338"/>
          </a:xfrm>
        </p:grpSpPr>
        <p:sp>
          <p:nvSpPr>
            <p:cNvPr id="439303" name="Line 7">
              <a:extLst>
                <a:ext uri="{FF2B5EF4-FFF2-40B4-BE49-F238E27FC236}">
                  <a16:creationId xmlns:a16="http://schemas.microsoft.com/office/drawing/2014/main" id="{858B75CF-B387-4399-B4A3-5192C0483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3937"/>
              <a:ext cx="197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9304" name="Rectangle 8">
              <a:extLst>
                <a:ext uri="{FF2B5EF4-FFF2-40B4-BE49-F238E27FC236}">
                  <a16:creationId xmlns:a16="http://schemas.microsoft.com/office/drawing/2014/main" id="{7127E110-4F59-4D11-B506-C3B653EAF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" y="3984"/>
              <a:ext cx="136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i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W = S + T + M</a:t>
              </a:r>
            </a:p>
          </p:txBody>
        </p:sp>
      </p:grpSp>
      <p:grpSp>
        <p:nvGrpSpPr>
          <p:cNvPr id="439305" name="Group 9">
            <a:extLst>
              <a:ext uri="{FF2B5EF4-FFF2-40B4-BE49-F238E27FC236}">
                <a16:creationId xmlns:a16="http://schemas.microsoft.com/office/drawing/2014/main" id="{7E44087C-D757-4A4C-8C7C-D973741E3F86}"/>
              </a:ext>
            </a:extLst>
          </p:cNvPr>
          <p:cNvGrpSpPr>
            <a:grpSpLocks/>
          </p:cNvGrpSpPr>
          <p:nvPr/>
        </p:nvGrpSpPr>
        <p:grpSpPr bwMode="auto">
          <a:xfrm>
            <a:off x="6841436" y="1765300"/>
            <a:ext cx="3132138" cy="495300"/>
            <a:chOff x="3168" y="1112"/>
            <a:chExt cx="1973" cy="312"/>
          </a:xfrm>
        </p:grpSpPr>
        <p:sp>
          <p:nvSpPr>
            <p:cNvPr id="439306" name="Line 10">
              <a:extLst>
                <a:ext uri="{FF2B5EF4-FFF2-40B4-BE49-F238E27FC236}">
                  <a16:creationId xmlns:a16="http://schemas.microsoft.com/office/drawing/2014/main" id="{683209A3-551D-4CAD-AD2D-EE30C430A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424"/>
              <a:ext cx="1973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srgbClr val="006600"/>
                </a:solidFill>
              </a:endParaRPr>
            </a:p>
          </p:txBody>
        </p:sp>
        <p:sp>
          <p:nvSpPr>
            <p:cNvPr id="439307" name="Rectangle 11">
              <a:extLst>
                <a:ext uri="{FF2B5EF4-FFF2-40B4-BE49-F238E27FC236}">
                  <a16:creationId xmlns:a16="http://schemas.microsoft.com/office/drawing/2014/main" id="{EEB90C63-88F6-4F86-89F6-4DBB37ECF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" y="1112"/>
              <a:ext cx="120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i="1" dirty="0">
                  <a:solidFill>
                    <a:srgbClr val="006600"/>
                  </a:solidFill>
                  <a:latin typeface="Arial" panose="020B0604020202020204" pitchFamily="34" charset="0"/>
                </a:rPr>
                <a:t>J = I + G + X</a:t>
              </a:r>
            </a:p>
          </p:txBody>
        </p:sp>
      </p:grpSp>
      <p:graphicFrame>
        <p:nvGraphicFramePr>
          <p:cNvPr id="439308" name="Object 12">
            <a:extLst>
              <a:ext uri="{FF2B5EF4-FFF2-40B4-BE49-F238E27FC236}">
                <a16:creationId xmlns:a16="http://schemas.microsoft.com/office/drawing/2014/main" id="{F97F713E-DA9E-44DB-8C94-AF8B2F74FF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2511" y="854076"/>
          <a:ext cx="2890838" cy="181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5905440" imgH="3697560" progId="MS_ClipArt_Gallery.2">
                  <p:embed/>
                </p:oleObj>
              </mc:Choice>
              <mc:Fallback>
                <p:oleObj name="Clip" r:id="rId3" imgW="5905440" imgH="3697560" progId="MS_ClipArt_Gallery.2">
                  <p:embed/>
                  <p:pic>
                    <p:nvPicPr>
                      <p:cNvPr id="439308" name="Object 12">
                        <a:extLst>
                          <a:ext uri="{FF2B5EF4-FFF2-40B4-BE49-F238E27FC236}">
                            <a16:creationId xmlns:a16="http://schemas.microsoft.com/office/drawing/2014/main" id="{F97F713E-DA9E-44DB-8C94-AF8B2F74FF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511" y="854076"/>
                        <a:ext cx="2890838" cy="181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9" name="Object 13">
            <a:extLst>
              <a:ext uri="{FF2B5EF4-FFF2-40B4-BE49-F238E27FC236}">
                <a16:creationId xmlns:a16="http://schemas.microsoft.com/office/drawing/2014/main" id="{45D51CD6-B7E6-438F-982C-3A090093A8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4024" y="5168546"/>
          <a:ext cx="1903412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2277720" imgH="3420720" progId="MS_ClipArt_Gallery.2">
                  <p:embed/>
                </p:oleObj>
              </mc:Choice>
              <mc:Fallback>
                <p:oleObj name="Clip" r:id="rId5" imgW="2277720" imgH="3420720" progId="MS_ClipArt_Gallery.2">
                  <p:embed/>
                  <p:pic>
                    <p:nvPicPr>
                      <p:cNvPr id="439309" name="Object 13">
                        <a:extLst>
                          <a:ext uri="{FF2B5EF4-FFF2-40B4-BE49-F238E27FC236}">
                            <a16:creationId xmlns:a16="http://schemas.microsoft.com/office/drawing/2014/main" id="{45D51CD6-B7E6-438F-982C-3A090093A8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024" y="5168546"/>
                        <a:ext cx="1903412" cy="1376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9310" name="Group 14">
            <a:extLst>
              <a:ext uri="{FF2B5EF4-FFF2-40B4-BE49-F238E27FC236}">
                <a16:creationId xmlns:a16="http://schemas.microsoft.com/office/drawing/2014/main" id="{ED08E516-190C-4234-B47B-A0242F13DA10}"/>
              </a:ext>
            </a:extLst>
          </p:cNvPr>
          <p:cNvGrpSpPr>
            <a:grpSpLocks/>
          </p:cNvGrpSpPr>
          <p:nvPr/>
        </p:nvGrpSpPr>
        <p:grpSpPr bwMode="auto">
          <a:xfrm>
            <a:off x="1812236" y="2429219"/>
            <a:ext cx="2833688" cy="3589337"/>
            <a:chOff x="0" y="1549"/>
            <a:chExt cx="1785" cy="2261"/>
          </a:xfrm>
        </p:grpSpPr>
        <p:sp>
          <p:nvSpPr>
            <p:cNvPr id="439311" name="Arc 15">
              <a:extLst>
                <a:ext uri="{FF2B5EF4-FFF2-40B4-BE49-F238E27FC236}">
                  <a16:creationId xmlns:a16="http://schemas.microsoft.com/office/drawing/2014/main" id="{19E386A2-CF93-4392-A2B6-362D1F0B3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1549"/>
              <a:ext cx="900" cy="2261"/>
            </a:xfrm>
            <a:custGeom>
              <a:avLst/>
              <a:gdLst>
                <a:gd name="G0" fmla="+- 21600 0 0"/>
                <a:gd name="G1" fmla="+- 21510 0 0"/>
                <a:gd name="G2" fmla="+- 21600 0 0"/>
                <a:gd name="T0" fmla="*/ 21384 w 21600"/>
                <a:gd name="T1" fmla="*/ 43109 h 43109"/>
                <a:gd name="T2" fmla="*/ 19633 w 21600"/>
                <a:gd name="T3" fmla="*/ 0 h 43109"/>
                <a:gd name="T4" fmla="*/ 21600 w 21600"/>
                <a:gd name="T5" fmla="*/ 21510 h 43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109" fill="none" extrusionOk="0">
                  <a:moveTo>
                    <a:pt x="21384" y="43108"/>
                  </a:moveTo>
                  <a:cubicBezTo>
                    <a:pt x="9539" y="42990"/>
                    <a:pt x="0" y="33355"/>
                    <a:pt x="0" y="21510"/>
                  </a:cubicBezTo>
                  <a:cubicBezTo>
                    <a:pt x="0" y="10342"/>
                    <a:pt x="8512" y="1016"/>
                    <a:pt x="19632" y="-1"/>
                  </a:cubicBezTo>
                </a:path>
                <a:path w="21600" h="43109" stroke="0" extrusionOk="0">
                  <a:moveTo>
                    <a:pt x="21384" y="43108"/>
                  </a:moveTo>
                  <a:cubicBezTo>
                    <a:pt x="9539" y="42990"/>
                    <a:pt x="0" y="33355"/>
                    <a:pt x="0" y="21510"/>
                  </a:cubicBezTo>
                  <a:cubicBezTo>
                    <a:pt x="0" y="10342"/>
                    <a:pt x="8512" y="1016"/>
                    <a:pt x="19632" y="-1"/>
                  </a:cubicBezTo>
                  <a:lnTo>
                    <a:pt x="21600" y="21510"/>
                  </a:lnTo>
                  <a:close/>
                </a:path>
              </a:pathLst>
            </a:custGeom>
            <a:noFill/>
            <a:ln w="38100" cap="rnd">
              <a:solidFill>
                <a:schemeClr val="tx2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9312" name="Rectangle 16">
              <a:extLst>
                <a:ext uri="{FF2B5EF4-FFF2-40B4-BE49-F238E27FC236}">
                  <a16:creationId xmlns:a16="http://schemas.microsoft.com/office/drawing/2014/main" id="{63BC6ED7-14DD-477F-9C0F-40737F010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94"/>
              <a:ext cx="85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dirty="0">
                  <a:solidFill>
                    <a:schemeClr val="tx2"/>
                  </a:solidFill>
                  <a:latin typeface="Arial" panose="020B0604020202020204" pitchFamily="34" charset="0"/>
                </a:rPr>
                <a:t>Incomes</a:t>
              </a:r>
            </a:p>
          </p:txBody>
        </p:sp>
        <p:sp>
          <p:nvSpPr>
            <p:cNvPr id="5" name="Rectangle 16">
              <a:extLst>
                <a:ext uri="{FF2B5EF4-FFF2-40B4-BE49-F238E27FC236}">
                  <a16:creationId xmlns:a16="http://schemas.microsoft.com/office/drawing/2014/main" id="{981972BC-FB81-8C10-6429-FF5F86FAF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" y="2483"/>
              <a:ext cx="85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dirty="0">
                  <a:solidFill>
                    <a:schemeClr val="tx2"/>
                  </a:solidFill>
                  <a:latin typeface="Arial" panose="020B0604020202020204" pitchFamily="34" charset="0"/>
                </a:rPr>
                <a:t>Incomes</a:t>
              </a:r>
            </a:p>
          </p:txBody>
        </p:sp>
      </p:grpSp>
      <p:sp>
        <p:nvSpPr>
          <p:cNvPr id="439313" name="Rectangle 17">
            <a:extLst>
              <a:ext uri="{FF2B5EF4-FFF2-40B4-BE49-F238E27FC236}">
                <a16:creationId xmlns:a16="http://schemas.microsoft.com/office/drawing/2014/main" id="{86056019-1857-4E9E-9634-41D8FFCE4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95251"/>
            <a:ext cx="12192000" cy="519113"/>
          </a:xfrm>
          <a:prstGeom prst="rect">
            <a:avLst/>
          </a:prstGeom>
          <a:noFill/>
          <a:ln>
            <a:noFill/>
          </a:ln>
          <a:effectLst>
            <a:outerShdw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800" b="1">
                <a:solidFill>
                  <a:schemeClr val="hlink"/>
                </a:solidFill>
                <a:latin typeface="Arial" panose="020B0604020202020204" pitchFamily="34" charset="0"/>
              </a:rPr>
              <a:t>The circular flow of  income</a:t>
            </a: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BDA1845-A0BF-1051-BEF0-5ED42856D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015" y="3542438"/>
            <a:ext cx="3111429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b="1" dirty="0">
                <a:solidFill>
                  <a:schemeClr val="tx2"/>
                </a:solidFill>
                <a:latin typeface="Arial" panose="020B0604020202020204" pitchFamily="34" charset="0"/>
              </a:rPr>
              <a:t>Equilibrium</a:t>
            </a:r>
            <a:br>
              <a:rPr lang="en-GB" altLang="en-US" b="1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GB" altLang="en-US" b="1" i="1" dirty="0">
                <a:solidFill>
                  <a:schemeClr val="tx2"/>
                </a:solidFill>
                <a:latin typeface="Arial" panose="020B0604020202020204" pitchFamily="34" charset="0"/>
              </a:rPr>
              <a:t>J = W</a:t>
            </a:r>
          </a:p>
          <a:p>
            <a:pPr algn="ctr"/>
            <a:r>
              <a:rPr lang="en-GB" altLang="en-US" b="1" i="1" dirty="0">
                <a:solidFill>
                  <a:schemeClr val="tx2"/>
                </a:solidFill>
                <a:latin typeface="Arial" panose="020B0604020202020204" pitchFamily="34" charset="0"/>
              </a:rPr>
              <a:t>I + G + X = S + T + M</a:t>
            </a:r>
            <a:endParaRPr lang="en-GB" altLang="en-US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564015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9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39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1" name="Line 3">
            <a:extLst>
              <a:ext uri="{FF2B5EF4-FFF2-40B4-BE49-F238E27FC236}">
                <a16:creationId xmlns:a16="http://schemas.microsoft.com/office/drawing/2014/main" id="{FF2CD3A9-7608-4161-BDEE-74923995F9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41925" y="3451226"/>
            <a:ext cx="0" cy="442913"/>
          </a:xfrm>
          <a:prstGeom prst="line">
            <a:avLst/>
          </a:prstGeom>
          <a:noFill/>
          <a:ln w="19050">
            <a:solidFill>
              <a:srgbClr val="000099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57732" name="Group 4">
            <a:extLst>
              <a:ext uri="{FF2B5EF4-FFF2-40B4-BE49-F238E27FC236}">
                <a16:creationId xmlns:a16="http://schemas.microsoft.com/office/drawing/2014/main" id="{DDA5D00C-7488-4669-B913-D48CA5578680}"/>
              </a:ext>
            </a:extLst>
          </p:cNvPr>
          <p:cNvGrpSpPr>
            <a:grpSpLocks/>
          </p:cNvGrpSpPr>
          <p:nvPr/>
        </p:nvGrpSpPr>
        <p:grpSpPr bwMode="auto">
          <a:xfrm>
            <a:off x="2803526" y="849314"/>
            <a:ext cx="5942013" cy="5203825"/>
            <a:chOff x="806" y="535"/>
            <a:chExt cx="3743" cy="3278"/>
          </a:xfrm>
        </p:grpSpPr>
        <p:sp>
          <p:nvSpPr>
            <p:cNvPr id="457733" name="Line 5">
              <a:extLst>
                <a:ext uri="{FF2B5EF4-FFF2-40B4-BE49-F238E27FC236}">
                  <a16:creationId xmlns:a16="http://schemas.microsoft.com/office/drawing/2014/main" id="{E981AE8A-2312-42C9-939B-6A193D6287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6" y="789"/>
              <a:ext cx="3426" cy="30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7734" name="Rectangle 6">
              <a:extLst>
                <a:ext uri="{FF2B5EF4-FFF2-40B4-BE49-F238E27FC236}">
                  <a16:creationId xmlns:a16="http://schemas.microsoft.com/office/drawing/2014/main" id="{B89AB09A-FBFB-4135-B10F-3BC1949D8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5" y="535"/>
              <a:ext cx="5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i="1">
                  <a:latin typeface="Arial" panose="020B0604020202020204" pitchFamily="34" charset="0"/>
                </a:rPr>
                <a:t>Y</a:t>
              </a:r>
            </a:p>
          </p:txBody>
        </p:sp>
      </p:grpSp>
      <p:grpSp>
        <p:nvGrpSpPr>
          <p:cNvPr id="457735" name="Group 7">
            <a:extLst>
              <a:ext uri="{FF2B5EF4-FFF2-40B4-BE49-F238E27FC236}">
                <a16:creationId xmlns:a16="http://schemas.microsoft.com/office/drawing/2014/main" id="{CC30BB6B-DEB0-47DF-8ABC-C22F9B8B9FF4}"/>
              </a:ext>
            </a:extLst>
          </p:cNvPr>
          <p:cNvGrpSpPr>
            <a:grpSpLocks/>
          </p:cNvGrpSpPr>
          <p:nvPr/>
        </p:nvGrpSpPr>
        <p:grpSpPr bwMode="auto">
          <a:xfrm>
            <a:off x="2820988" y="1747838"/>
            <a:ext cx="6237288" cy="3644900"/>
            <a:chOff x="817" y="1101"/>
            <a:chExt cx="3929" cy="2296"/>
          </a:xfrm>
        </p:grpSpPr>
        <p:sp>
          <p:nvSpPr>
            <p:cNvPr id="457736" name="Line 8">
              <a:extLst>
                <a:ext uri="{FF2B5EF4-FFF2-40B4-BE49-F238E27FC236}">
                  <a16:creationId xmlns:a16="http://schemas.microsoft.com/office/drawing/2014/main" id="{9C55993F-2561-4432-A771-5FCF6A3C30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" y="1184"/>
              <a:ext cx="3587" cy="2213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7737" name="Rectangle 9">
              <a:extLst>
                <a:ext uri="{FF2B5EF4-FFF2-40B4-BE49-F238E27FC236}">
                  <a16:creationId xmlns:a16="http://schemas.microsoft.com/office/drawing/2014/main" id="{0FA142FF-4D2B-47C9-B930-063D52325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8" y="1101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i="1">
                  <a:solidFill>
                    <a:srgbClr val="000099"/>
                  </a:solidFill>
                  <a:latin typeface="Arial" panose="020B0604020202020204" pitchFamily="34" charset="0"/>
                </a:rPr>
                <a:t>E</a:t>
              </a:r>
              <a:r>
                <a:rPr lang="en-GB" altLang="en-US" baseline="-25000">
                  <a:solidFill>
                    <a:srgbClr val="000099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457738" name="Line 10">
            <a:extLst>
              <a:ext uri="{FF2B5EF4-FFF2-40B4-BE49-F238E27FC236}">
                <a16:creationId xmlns:a16="http://schemas.microsoft.com/office/drawing/2014/main" id="{3AEF91A5-575F-4696-B46D-1B838978A4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8750" y="3903664"/>
            <a:ext cx="0" cy="2166937"/>
          </a:xfrm>
          <a:prstGeom prst="line">
            <a:avLst/>
          </a:prstGeom>
          <a:noFill/>
          <a:ln w="19050">
            <a:solidFill>
              <a:srgbClr val="000099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7739" name="Line 11">
            <a:extLst>
              <a:ext uri="{FF2B5EF4-FFF2-40B4-BE49-F238E27FC236}">
                <a16:creationId xmlns:a16="http://schemas.microsoft.com/office/drawing/2014/main" id="{457D478D-C38E-42FE-9450-324C7271AD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6575" y="2498726"/>
            <a:ext cx="0" cy="3590925"/>
          </a:xfrm>
          <a:prstGeom prst="line">
            <a:avLst/>
          </a:prstGeom>
          <a:noFill/>
          <a:ln w="19050">
            <a:solidFill>
              <a:srgbClr val="A5002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7740" name="Line 12">
            <a:extLst>
              <a:ext uri="{FF2B5EF4-FFF2-40B4-BE49-F238E27FC236}">
                <a16:creationId xmlns:a16="http://schemas.microsoft.com/office/drawing/2014/main" id="{023D75D8-B24D-4BDF-8077-E3C63E68F7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20989" y="2462213"/>
            <a:ext cx="4065587" cy="0"/>
          </a:xfrm>
          <a:prstGeom prst="line">
            <a:avLst/>
          </a:prstGeom>
          <a:noFill/>
          <a:ln w="19050">
            <a:solidFill>
              <a:srgbClr val="A5002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7741" name="Line 13">
            <a:extLst>
              <a:ext uri="{FF2B5EF4-FFF2-40B4-BE49-F238E27FC236}">
                <a16:creationId xmlns:a16="http://schemas.microsoft.com/office/drawing/2014/main" id="{4D8EF733-4369-48A2-9933-D70E0262AE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20988" y="3910013"/>
            <a:ext cx="2417762" cy="0"/>
          </a:xfrm>
          <a:prstGeom prst="line">
            <a:avLst/>
          </a:prstGeom>
          <a:noFill/>
          <a:ln w="19050">
            <a:solidFill>
              <a:srgbClr val="000099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7742" name="Line 14">
            <a:extLst>
              <a:ext uri="{FF2B5EF4-FFF2-40B4-BE49-F238E27FC236}">
                <a16:creationId xmlns:a16="http://schemas.microsoft.com/office/drawing/2014/main" id="{E896D3AB-7C83-478A-BE21-13E035BA90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3526" y="3457575"/>
            <a:ext cx="2435225" cy="0"/>
          </a:xfrm>
          <a:prstGeom prst="line">
            <a:avLst/>
          </a:prstGeom>
          <a:noFill/>
          <a:ln w="19050">
            <a:solidFill>
              <a:srgbClr val="A5002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7743" name="Line 15">
            <a:extLst>
              <a:ext uri="{FF2B5EF4-FFF2-40B4-BE49-F238E27FC236}">
                <a16:creationId xmlns:a16="http://schemas.microsoft.com/office/drawing/2014/main" id="{1308587A-7480-4FCE-833A-CF106A8DE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7175" y="933451"/>
            <a:ext cx="0" cy="51593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7744" name="Line 16">
            <a:extLst>
              <a:ext uri="{FF2B5EF4-FFF2-40B4-BE49-F238E27FC236}">
                <a16:creationId xmlns:a16="http://schemas.microsoft.com/office/drawing/2014/main" id="{FD6118AA-4ACA-4C80-86F2-61253E111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7174" y="6110288"/>
            <a:ext cx="755184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7745" name="Rectangle 17">
            <a:extLst>
              <a:ext uri="{FF2B5EF4-FFF2-40B4-BE49-F238E27FC236}">
                <a16:creationId xmlns:a16="http://schemas.microsoft.com/office/drawing/2014/main" id="{443DD374-C322-4024-8E27-47C76C1CC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1" y="6046788"/>
            <a:ext cx="384721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457746" name="Rectangle 18">
            <a:extLst>
              <a:ext uri="{FF2B5EF4-FFF2-40B4-BE49-F238E27FC236}">
                <a16:creationId xmlns:a16="http://schemas.microsoft.com/office/drawing/2014/main" id="{8F7EBA08-62D8-4508-AD84-00FA8248B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9322" y="6142039"/>
            <a:ext cx="3404778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200" dirty="0">
                <a:latin typeface="Arial" panose="020B0604020202020204" pitchFamily="34" charset="0"/>
              </a:rPr>
              <a:t>National income (</a:t>
            </a:r>
            <a:r>
              <a:rPr lang="en-GB" altLang="en-US" sz="2200" i="1" dirty="0">
                <a:latin typeface="Arial" panose="020B0604020202020204" pitchFamily="34" charset="0"/>
              </a:rPr>
              <a:t>Y</a:t>
            </a:r>
            <a:r>
              <a:rPr lang="en-GB" altLang="en-US" sz="2200" dirty="0">
                <a:latin typeface="Arial" panose="020B0604020202020204" pitchFamily="34" charset="0"/>
              </a:rPr>
              <a:t>) (£bn)</a:t>
            </a:r>
          </a:p>
        </p:txBody>
      </p:sp>
      <p:sp>
        <p:nvSpPr>
          <p:cNvPr id="457747" name="Oval 19">
            <a:extLst>
              <a:ext uri="{FF2B5EF4-FFF2-40B4-BE49-F238E27FC236}">
                <a16:creationId xmlns:a16="http://schemas.microsoft.com/office/drawing/2014/main" id="{8ADD5385-D14F-479C-AB7E-DEBAFC9F9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9" y="3854450"/>
            <a:ext cx="103187" cy="103188"/>
          </a:xfrm>
          <a:prstGeom prst="ellipse">
            <a:avLst/>
          </a:prstGeom>
          <a:solidFill>
            <a:srgbClr val="C0C0C0"/>
          </a:solidFill>
          <a:ln w="2540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7748" name="Rectangle 20">
            <a:extLst>
              <a:ext uri="{FF2B5EF4-FFF2-40B4-BE49-F238E27FC236}">
                <a16:creationId xmlns:a16="http://schemas.microsoft.com/office/drawing/2014/main" id="{36504563-894C-4A7A-9572-85CD2BF93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749" y="6089720"/>
            <a:ext cx="756618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000" dirty="0">
                <a:solidFill>
                  <a:srgbClr val="000099"/>
                </a:solidFill>
                <a:latin typeface="Arial" panose="020B0604020202020204" pitchFamily="34" charset="0"/>
              </a:rPr>
              <a:t>1000</a:t>
            </a:r>
            <a:endParaRPr lang="en-GB" altLang="en-US" sz="2000" baseline="-46000" dirty="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grpSp>
        <p:nvGrpSpPr>
          <p:cNvPr id="457749" name="Group 21">
            <a:extLst>
              <a:ext uri="{FF2B5EF4-FFF2-40B4-BE49-F238E27FC236}">
                <a16:creationId xmlns:a16="http://schemas.microsoft.com/office/drawing/2014/main" id="{AF1DBD31-C5A4-4E2C-96D9-ECEA5AEF3E4A}"/>
              </a:ext>
            </a:extLst>
          </p:cNvPr>
          <p:cNvGrpSpPr>
            <a:grpSpLocks/>
          </p:cNvGrpSpPr>
          <p:nvPr/>
        </p:nvGrpSpPr>
        <p:grpSpPr bwMode="auto">
          <a:xfrm>
            <a:off x="2808288" y="1168400"/>
            <a:ext cx="6256338" cy="3771900"/>
            <a:chOff x="809" y="736"/>
            <a:chExt cx="3941" cy="2376"/>
          </a:xfrm>
        </p:grpSpPr>
        <p:sp>
          <p:nvSpPr>
            <p:cNvPr id="457750" name="Line 22">
              <a:extLst>
                <a:ext uri="{FF2B5EF4-FFF2-40B4-BE49-F238E27FC236}">
                  <a16:creationId xmlns:a16="http://schemas.microsoft.com/office/drawing/2014/main" id="{1C4B8C43-952F-4109-A61F-ACA872FA50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9" y="893"/>
              <a:ext cx="3617" cy="2219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7751" name="Rectangle 23">
              <a:extLst>
                <a:ext uri="{FF2B5EF4-FFF2-40B4-BE49-F238E27FC236}">
                  <a16:creationId xmlns:a16="http://schemas.microsoft.com/office/drawing/2014/main" id="{76805C58-263E-42BE-903D-E151DBE25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" y="73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i="1" dirty="0">
                  <a:solidFill>
                    <a:srgbClr val="A50021"/>
                  </a:solidFill>
                  <a:latin typeface="Arial" panose="020B0604020202020204" pitchFamily="34" charset="0"/>
                </a:rPr>
                <a:t>E</a:t>
              </a:r>
              <a:r>
                <a:rPr lang="en-GB" altLang="en-US" baseline="-25000" dirty="0">
                  <a:solidFill>
                    <a:srgbClr val="A5002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457752" name="Oval 24">
            <a:extLst>
              <a:ext uri="{FF2B5EF4-FFF2-40B4-BE49-F238E27FC236}">
                <a16:creationId xmlns:a16="http://schemas.microsoft.com/office/drawing/2014/main" id="{8A05174F-984E-4820-8AA1-BD38683D1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0" y="2413000"/>
            <a:ext cx="103188" cy="103188"/>
          </a:xfrm>
          <a:prstGeom prst="ellipse">
            <a:avLst/>
          </a:prstGeom>
          <a:solidFill>
            <a:srgbClr val="FFCCCC"/>
          </a:solidFill>
          <a:ln w="2540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7753" name="Rectangle 25">
            <a:extLst>
              <a:ext uri="{FF2B5EF4-FFF2-40B4-BE49-F238E27FC236}">
                <a16:creationId xmlns:a16="http://schemas.microsoft.com/office/drawing/2014/main" id="{22E4CB84-ACD8-4E6F-BEFE-CF8144F2C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487" y="6115050"/>
            <a:ext cx="756618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000" dirty="0">
                <a:solidFill>
                  <a:srgbClr val="A50021"/>
                </a:solidFill>
                <a:latin typeface="Arial" panose="020B0604020202020204" pitchFamily="34" charset="0"/>
              </a:rPr>
              <a:t>1600</a:t>
            </a:r>
            <a:endParaRPr lang="en-GB" altLang="en-US" sz="2000" baseline="-46000" dirty="0">
              <a:solidFill>
                <a:srgbClr val="A50021"/>
              </a:solidFill>
              <a:latin typeface="Arial" panose="020B0604020202020204" pitchFamily="34" charset="0"/>
            </a:endParaRPr>
          </a:p>
        </p:txBody>
      </p:sp>
      <p:sp>
        <p:nvSpPr>
          <p:cNvPr id="457757" name="Oval 29">
            <a:extLst>
              <a:ext uri="{FF2B5EF4-FFF2-40B4-BE49-F238E27FC236}">
                <a16:creationId xmlns:a16="http://schemas.microsoft.com/office/drawing/2014/main" id="{9D18D525-B98B-4F79-B870-0E5D3052D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364" y="3409950"/>
            <a:ext cx="103187" cy="103188"/>
          </a:xfrm>
          <a:prstGeom prst="ellipse">
            <a:avLst/>
          </a:prstGeom>
          <a:solidFill>
            <a:srgbClr val="FFCCCC"/>
          </a:solidFill>
          <a:ln w="2540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7758" name="Rectangle 30">
            <a:extLst>
              <a:ext uri="{FF2B5EF4-FFF2-40B4-BE49-F238E27FC236}">
                <a16:creationId xmlns:a16="http://schemas.microsoft.com/office/drawing/2014/main" id="{AD6A1F6A-A755-489E-ADC4-1F2A60924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119" y="3708400"/>
            <a:ext cx="75661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 dirty="0">
                <a:solidFill>
                  <a:srgbClr val="000099"/>
                </a:solidFill>
                <a:latin typeface="Arial" panose="020B0604020202020204" pitchFamily="34" charset="0"/>
              </a:rPr>
              <a:t>1000</a:t>
            </a:r>
          </a:p>
        </p:txBody>
      </p:sp>
      <p:sp>
        <p:nvSpPr>
          <p:cNvPr id="457759" name="Rectangle 31">
            <a:extLst>
              <a:ext uri="{FF2B5EF4-FFF2-40B4-BE49-F238E27FC236}">
                <a16:creationId xmlns:a16="http://schemas.microsoft.com/office/drawing/2014/main" id="{5C7A09C9-021D-49F9-BB87-F651D43A8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192" y="3260933"/>
            <a:ext cx="756618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000" dirty="0">
                <a:solidFill>
                  <a:srgbClr val="A50021"/>
                </a:solidFill>
                <a:latin typeface="Arial" panose="020B0604020202020204" pitchFamily="34" charset="0"/>
              </a:rPr>
              <a:t>1200</a:t>
            </a:r>
          </a:p>
        </p:txBody>
      </p:sp>
      <p:sp>
        <p:nvSpPr>
          <p:cNvPr id="457760" name="Rectangle 32">
            <a:extLst>
              <a:ext uri="{FF2B5EF4-FFF2-40B4-BE49-F238E27FC236}">
                <a16:creationId xmlns:a16="http://schemas.microsoft.com/office/drawing/2014/main" id="{1FE9F20B-61C9-474B-BCD6-56C6AF776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8479" y="2248108"/>
            <a:ext cx="756618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2000" dirty="0">
                <a:solidFill>
                  <a:srgbClr val="A50021"/>
                </a:solidFill>
                <a:latin typeface="Arial" panose="020B0604020202020204" pitchFamily="34" charset="0"/>
              </a:rPr>
              <a:t>1600</a:t>
            </a:r>
          </a:p>
        </p:txBody>
      </p:sp>
      <p:sp>
        <p:nvSpPr>
          <p:cNvPr id="457761" name="Rectangle 33">
            <a:extLst>
              <a:ext uri="{FF2B5EF4-FFF2-40B4-BE49-F238E27FC236}">
                <a16:creationId xmlns:a16="http://schemas.microsoft.com/office/drawing/2014/main" id="{1D61864F-B0C0-4A54-9244-7FE91D50B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44" y="832288"/>
            <a:ext cx="227965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100" i="1">
                <a:latin typeface="Arial" panose="020B0604020202020204" pitchFamily="34" charset="0"/>
              </a:rPr>
              <a:t>C</a:t>
            </a:r>
            <a:r>
              <a:rPr lang="en-GB" altLang="en-US" sz="2100" baseline="-25000">
                <a:latin typeface="Arial" panose="020B0604020202020204" pitchFamily="34" charset="0"/>
              </a:rPr>
              <a:t>d</a:t>
            </a:r>
            <a:r>
              <a:rPr lang="en-GB" altLang="en-US" sz="2100" i="1">
                <a:latin typeface="Arial" panose="020B0604020202020204" pitchFamily="34" charset="0"/>
              </a:rPr>
              <a:t>, E, W, J</a:t>
            </a:r>
            <a:r>
              <a:rPr lang="en-GB" altLang="en-US" sz="2100">
                <a:latin typeface="Arial" panose="020B0604020202020204" pitchFamily="34" charset="0"/>
              </a:rPr>
              <a:t> (£bn)</a:t>
            </a:r>
            <a:endParaRPr lang="en-GB" altLang="en-US" sz="2100" i="1">
              <a:latin typeface="Arial" panose="020B0604020202020204" pitchFamily="34" charset="0"/>
            </a:endParaRPr>
          </a:p>
        </p:txBody>
      </p:sp>
      <p:grpSp>
        <p:nvGrpSpPr>
          <p:cNvPr id="457763" name="Group 35">
            <a:extLst>
              <a:ext uri="{FF2B5EF4-FFF2-40B4-BE49-F238E27FC236}">
                <a16:creationId xmlns:a16="http://schemas.microsoft.com/office/drawing/2014/main" id="{DABD36E4-A8F3-4263-BEA6-75FD1B577AEA}"/>
              </a:ext>
            </a:extLst>
          </p:cNvPr>
          <p:cNvGrpSpPr>
            <a:grpSpLocks/>
          </p:cNvGrpSpPr>
          <p:nvPr/>
        </p:nvGrpSpPr>
        <p:grpSpPr bwMode="auto">
          <a:xfrm>
            <a:off x="3603626" y="2873376"/>
            <a:ext cx="5486401" cy="3305175"/>
            <a:chOff x="1310" y="1810"/>
            <a:chExt cx="3456" cy="2082"/>
          </a:xfrm>
        </p:grpSpPr>
        <p:sp>
          <p:nvSpPr>
            <p:cNvPr id="457764" name="Line 36">
              <a:extLst>
                <a:ext uri="{FF2B5EF4-FFF2-40B4-BE49-F238E27FC236}">
                  <a16:creationId xmlns:a16="http://schemas.microsoft.com/office/drawing/2014/main" id="{9C03A781-084A-4CEC-A3FF-F04682E8CC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0" y="1993"/>
              <a:ext cx="3078" cy="1899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prstDash val="lg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7765" name="Rectangle 37">
              <a:extLst>
                <a:ext uri="{FF2B5EF4-FFF2-40B4-BE49-F238E27FC236}">
                  <a16:creationId xmlns:a16="http://schemas.microsoft.com/office/drawing/2014/main" id="{DCFC063F-9901-4077-841D-9A10D97CD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1810"/>
              <a:ext cx="3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i="1">
                  <a:solidFill>
                    <a:srgbClr val="006666"/>
                  </a:solidFill>
                  <a:latin typeface="Arial" panose="020B0604020202020204" pitchFamily="34" charset="0"/>
                </a:rPr>
                <a:t>C</a:t>
              </a:r>
              <a:r>
                <a:rPr lang="en-GB" altLang="en-US" baseline="-25000">
                  <a:solidFill>
                    <a:srgbClr val="006666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</p:grpSp>
      <p:sp>
        <p:nvSpPr>
          <p:cNvPr id="457766" name="Line 38">
            <a:extLst>
              <a:ext uri="{FF2B5EF4-FFF2-40B4-BE49-F238E27FC236}">
                <a16:creationId xmlns:a16="http://schemas.microsoft.com/office/drawing/2014/main" id="{0B592949-0B6F-4B03-9A96-D118EA35B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3513" y="5183188"/>
            <a:ext cx="1630362" cy="0"/>
          </a:xfrm>
          <a:prstGeom prst="line">
            <a:avLst/>
          </a:prstGeom>
          <a:noFill/>
          <a:ln w="19050">
            <a:solidFill>
              <a:srgbClr val="A5002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57767" name="Group 39">
            <a:extLst>
              <a:ext uri="{FF2B5EF4-FFF2-40B4-BE49-F238E27FC236}">
                <a16:creationId xmlns:a16="http://schemas.microsoft.com/office/drawing/2014/main" id="{9B781386-A3F9-4C1B-8411-BCF3C61D0B28}"/>
              </a:ext>
            </a:extLst>
          </p:cNvPr>
          <p:cNvGrpSpPr>
            <a:grpSpLocks/>
          </p:cNvGrpSpPr>
          <p:nvPr/>
        </p:nvGrpSpPr>
        <p:grpSpPr bwMode="auto">
          <a:xfrm>
            <a:off x="1478006" y="3490914"/>
            <a:ext cx="549275" cy="420687"/>
            <a:chOff x="38" y="2199"/>
            <a:chExt cx="346" cy="265"/>
          </a:xfrm>
        </p:grpSpPr>
        <p:sp>
          <p:nvSpPr>
            <p:cNvPr id="457768" name="Line 40">
              <a:extLst>
                <a:ext uri="{FF2B5EF4-FFF2-40B4-BE49-F238E27FC236}">
                  <a16:creationId xmlns:a16="http://schemas.microsoft.com/office/drawing/2014/main" id="{410FEFD7-913F-44AC-B3CD-70BB47BA8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199"/>
              <a:ext cx="0" cy="26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7769" name="Rectangle 41">
              <a:extLst>
                <a:ext uri="{FF2B5EF4-FFF2-40B4-BE49-F238E27FC236}">
                  <a16:creationId xmlns:a16="http://schemas.microsoft.com/office/drawing/2014/main" id="{FF5F58EA-EC0B-4727-89DF-CFE35EC64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" y="2208"/>
              <a:ext cx="3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>
                  <a:solidFill>
                    <a:srgbClr val="000099"/>
                  </a:solidFill>
                  <a:latin typeface="Symbol" panose="05050102010706020507" pitchFamily="18" charset="2"/>
                </a:rPr>
                <a:t>D</a:t>
              </a:r>
              <a:r>
                <a:rPr lang="en-GB" altLang="en-US" sz="1000">
                  <a:solidFill>
                    <a:srgbClr val="000099"/>
                  </a:solidFill>
                  <a:latin typeface="Symbol" panose="05050102010706020507" pitchFamily="18" charset="2"/>
                </a:rPr>
                <a:t> </a:t>
              </a:r>
              <a:r>
                <a:rPr lang="en-GB" altLang="en-US" sz="2000" i="1">
                  <a:solidFill>
                    <a:srgbClr val="000099"/>
                  </a:solidFill>
                  <a:latin typeface="Arial" panose="020B0604020202020204" pitchFamily="34" charset="0"/>
                </a:rPr>
                <a:t>J</a:t>
              </a:r>
            </a:p>
          </p:txBody>
        </p:sp>
      </p:grpSp>
      <p:grpSp>
        <p:nvGrpSpPr>
          <p:cNvPr id="457770" name="Group 42">
            <a:extLst>
              <a:ext uri="{FF2B5EF4-FFF2-40B4-BE49-F238E27FC236}">
                <a16:creationId xmlns:a16="http://schemas.microsoft.com/office/drawing/2014/main" id="{009ADE5E-9699-43CE-ACAE-7C3EDDB8F452}"/>
              </a:ext>
            </a:extLst>
          </p:cNvPr>
          <p:cNvGrpSpPr>
            <a:grpSpLocks/>
          </p:cNvGrpSpPr>
          <p:nvPr/>
        </p:nvGrpSpPr>
        <p:grpSpPr bwMode="auto">
          <a:xfrm>
            <a:off x="6983414" y="4214814"/>
            <a:ext cx="1562099" cy="949325"/>
            <a:chOff x="3439" y="2655"/>
            <a:chExt cx="786" cy="598"/>
          </a:xfrm>
        </p:grpSpPr>
        <p:sp>
          <p:nvSpPr>
            <p:cNvPr id="457771" name="Line 43">
              <a:extLst>
                <a:ext uri="{FF2B5EF4-FFF2-40B4-BE49-F238E27FC236}">
                  <a16:creationId xmlns:a16="http://schemas.microsoft.com/office/drawing/2014/main" id="{DD86DFF4-6D4B-4D08-B42B-0B10D3060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0" y="2655"/>
              <a:ext cx="0" cy="598"/>
            </a:xfrm>
            <a:prstGeom prst="line">
              <a:avLst/>
            </a:prstGeom>
            <a:noFill/>
            <a:ln w="28575">
              <a:solidFill>
                <a:srgbClr val="006666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7772" name="Rectangle 44">
              <a:extLst>
                <a:ext uri="{FF2B5EF4-FFF2-40B4-BE49-F238E27FC236}">
                  <a16:creationId xmlns:a16="http://schemas.microsoft.com/office/drawing/2014/main" id="{AC86BB6C-FF3D-4A65-A5B6-D48889107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9" y="2800"/>
              <a:ext cx="78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sz="2000" dirty="0" err="1">
                  <a:solidFill>
                    <a:srgbClr val="006666"/>
                  </a:solidFill>
                  <a:latin typeface="Symbol" panose="05050102010706020507" pitchFamily="18" charset="2"/>
                </a:rPr>
                <a:t>D</a:t>
              </a:r>
              <a:r>
                <a:rPr lang="en-GB" altLang="en-US" sz="2000" i="1" dirty="0" err="1">
                  <a:solidFill>
                    <a:srgbClr val="006666"/>
                  </a:solidFill>
                  <a:latin typeface="Arial" panose="020B0604020202020204" pitchFamily="34" charset="0"/>
                </a:rPr>
                <a:t>C</a:t>
              </a:r>
              <a:r>
                <a:rPr lang="en-GB" altLang="en-US" sz="2000" baseline="-25000" dirty="0" err="1">
                  <a:solidFill>
                    <a:srgbClr val="006666"/>
                  </a:solidFill>
                  <a:latin typeface="Arial" panose="020B0604020202020204" pitchFamily="34" charset="0"/>
                </a:rPr>
                <a:t>d</a:t>
              </a:r>
              <a:r>
                <a:rPr lang="en-GB" altLang="en-US" sz="2000" dirty="0">
                  <a:solidFill>
                    <a:srgbClr val="006666"/>
                  </a:solidFill>
                  <a:latin typeface="Arial" panose="020B0604020202020204" pitchFamily="34" charset="0"/>
                </a:rPr>
                <a:t> = 400</a:t>
              </a:r>
              <a:endParaRPr lang="en-GB" altLang="en-US" sz="2000" i="1" dirty="0">
                <a:solidFill>
                  <a:srgbClr val="006666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57773" name="Group 45">
            <a:extLst>
              <a:ext uri="{FF2B5EF4-FFF2-40B4-BE49-F238E27FC236}">
                <a16:creationId xmlns:a16="http://schemas.microsoft.com/office/drawing/2014/main" id="{27C0DBEC-27DD-4089-A0F9-C8D05E402843}"/>
              </a:ext>
            </a:extLst>
          </p:cNvPr>
          <p:cNvGrpSpPr>
            <a:grpSpLocks/>
          </p:cNvGrpSpPr>
          <p:nvPr/>
        </p:nvGrpSpPr>
        <p:grpSpPr bwMode="auto">
          <a:xfrm>
            <a:off x="1488838" y="2490788"/>
            <a:ext cx="639762" cy="1441450"/>
            <a:chOff x="91" y="1569"/>
            <a:chExt cx="403" cy="908"/>
          </a:xfrm>
        </p:grpSpPr>
        <p:sp>
          <p:nvSpPr>
            <p:cNvPr id="457774" name="Rectangle 46">
              <a:extLst>
                <a:ext uri="{FF2B5EF4-FFF2-40B4-BE49-F238E27FC236}">
                  <a16:creationId xmlns:a16="http://schemas.microsoft.com/office/drawing/2014/main" id="{073B1920-3191-4EB5-8280-9BB28CD95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" y="1860"/>
              <a:ext cx="3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>
                  <a:solidFill>
                    <a:srgbClr val="A50021"/>
                  </a:solidFill>
                  <a:latin typeface="Symbol" panose="05050102010706020507" pitchFamily="18" charset="2"/>
                </a:rPr>
                <a:t>D</a:t>
              </a:r>
              <a:r>
                <a:rPr lang="en-GB" altLang="en-US" sz="2000" i="1">
                  <a:solidFill>
                    <a:srgbClr val="A50021"/>
                  </a:solidFill>
                  <a:latin typeface="Arial" panose="020B0604020202020204" pitchFamily="34" charset="0"/>
                </a:rPr>
                <a:t>Y</a:t>
              </a:r>
            </a:p>
          </p:txBody>
        </p:sp>
        <p:sp>
          <p:nvSpPr>
            <p:cNvPr id="457775" name="Line 47">
              <a:extLst>
                <a:ext uri="{FF2B5EF4-FFF2-40B4-BE49-F238E27FC236}">
                  <a16:creationId xmlns:a16="http://schemas.microsoft.com/office/drawing/2014/main" id="{853F8A84-D17B-44E3-8354-79C18A5485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" y="1569"/>
              <a:ext cx="0" cy="908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457776" name="Group 48">
            <a:extLst>
              <a:ext uri="{FF2B5EF4-FFF2-40B4-BE49-F238E27FC236}">
                <a16:creationId xmlns:a16="http://schemas.microsoft.com/office/drawing/2014/main" id="{F91371C9-22FF-42F6-AA97-DA83F1A2F3F5}"/>
              </a:ext>
            </a:extLst>
          </p:cNvPr>
          <p:cNvGrpSpPr>
            <a:grpSpLocks/>
          </p:cNvGrpSpPr>
          <p:nvPr/>
        </p:nvGrpSpPr>
        <p:grpSpPr bwMode="auto">
          <a:xfrm>
            <a:off x="5430839" y="6461125"/>
            <a:ext cx="1336675" cy="400050"/>
            <a:chOff x="2480" y="4070"/>
            <a:chExt cx="768" cy="252"/>
          </a:xfrm>
        </p:grpSpPr>
        <p:sp>
          <p:nvSpPr>
            <p:cNvPr id="457777" name="Rectangle 49">
              <a:extLst>
                <a:ext uri="{FF2B5EF4-FFF2-40B4-BE49-F238E27FC236}">
                  <a16:creationId xmlns:a16="http://schemas.microsoft.com/office/drawing/2014/main" id="{30CEACF9-F870-470A-B848-969E39AA6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1" y="4070"/>
              <a:ext cx="7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GB" altLang="en-US" sz="2000" dirty="0">
                  <a:solidFill>
                    <a:srgbClr val="A50021"/>
                  </a:solidFill>
                  <a:latin typeface="Symbol" panose="05050102010706020507" pitchFamily="18" charset="2"/>
                </a:rPr>
                <a:t>D</a:t>
              </a:r>
              <a:r>
                <a:rPr lang="en-GB" altLang="en-US" sz="2000" i="1" dirty="0">
                  <a:solidFill>
                    <a:srgbClr val="A50021"/>
                  </a:solidFill>
                  <a:latin typeface="Arial" panose="020B0604020202020204" pitchFamily="34" charset="0"/>
                </a:rPr>
                <a:t>Y = </a:t>
              </a:r>
              <a:r>
                <a:rPr lang="en-GB" altLang="en-US" sz="2000" dirty="0">
                  <a:solidFill>
                    <a:srgbClr val="A50021"/>
                  </a:solidFill>
                  <a:latin typeface="Arial" panose="020B0604020202020204" pitchFamily="34" charset="0"/>
                </a:rPr>
                <a:t>600</a:t>
              </a:r>
            </a:p>
          </p:txBody>
        </p:sp>
        <p:sp>
          <p:nvSpPr>
            <p:cNvPr id="457778" name="Line 50">
              <a:extLst>
                <a:ext uri="{FF2B5EF4-FFF2-40B4-BE49-F238E27FC236}">
                  <a16:creationId xmlns:a16="http://schemas.microsoft.com/office/drawing/2014/main" id="{19AF0738-D2D5-494D-910F-2CA3AB6CB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4088"/>
              <a:ext cx="768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AutoShape 27" descr="Parchment">
                <a:extLst>
                  <a:ext uri="{FF2B5EF4-FFF2-40B4-BE49-F238E27FC236}">
                    <a16:creationId xmlns:a16="http://schemas.microsoft.com/office/drawing/2014/main" id="{7700BE7B-AA08-4C42-9690-5FEBB9573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95597" y="4185055"/>
                <a:ext cx="3892937" cy="1745442"/>
              </a:xfrm>
              <a:prstGeom prst="round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28575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defTabSz="762000">
                  <a:tabLst>
                    <a:tab pos="1143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tabLst>
                    <a:tab pos="1143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tabLst>
                    <a:tab pos="1143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tabLst>
                    <a:tab pos="1143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tabLst>
                    <a:tab pos="1143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143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143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143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1430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GB" altLang="en-US" sz="2000" i="1" dirty="0">
                    <a:solidFill>
                      <a:srgbClr val="660066"/>
                    </a:solidFill>
                    <a:latin typeface="Arial" panose="020B0604020202020204" pitchFamily="34" charset="0"/>
                  </a:rPr>
                  <a:t>MPC</a:t>
                </a:r>
                <a:r>
                  <a:rPr lang="en-GB" altLang="en-US" sz="2000" dirty="0">
                    <a:solidFill>
                      <a:srgbClr val="660066"/>
                    </a:solidFill>
                    <a:latin typeface="Arial" panose="020B0604020202020204" pitchFamily="34" charset="0"/>
                  </a:rPr>
                  <a:t> 			= </a:t>
                </a:r>
                <a:r>
                  <a:rPr lang="en-GB" altLang="en-US" sz="2000" dirty="0">
                    <a:solidFill>
                      <a:srgbClr val="660066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2000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en-US" sz="2000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</m:num>
                      <m:den>
                        <m:r>
                          <a:rPr lang="en-GB" altLang="en-US" sz="2000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  <m:t>600</m:t>
                        </m:r>
                      </m:den>
                    </m:f>
                    <m:r>
                      <a:rPr lang="en-GB" altLang="en-US" sz="2000" i="1">
                        <a:solidFill>
                          <a:srgbClr val="660066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altLang="en-US" sz="2000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en-US" sz="2000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altLang="en-US" sz="2000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altLang="en-US" sz="2000" dirty="0">
                  <a:solidFill>
                    <a:srgbClr val="660066"/>
                  </a:solidFill>
                  <a:latin typeface="Arial" panose="020B0604020202020204" pitchFamily="34" charset="0"/>
                </a:endParaRPr>
              </a:p>
              <a:p>
                <a:r>
                  <a:rPr lang="en-GB" altLang="en-US" sz="2000" dirty="0">
                    <a:solidFill>
                      <a:srgbClr val="660066"/>
                    </a:solidFill>
                    <a:latin typeface="Arial" panose="020B0604020202020204" pitchFamily="34" charset="0"/>
                  </a:rPr>
                  <a:t>1</a:t>
                </a:r>
                <a:r>
                  <a:rPr lang="en-GB" altLang="en-US" sz="2000" dirty="0">
                    <a:solidFill>
                      <a:srgbClr val="6600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–</a:t>
                </a:r>
                <a:r>
                  <a:rPr lang="en-GB" altLang="en-US" sz="2000" i="1" dirty="0">
                    <a:solidFill>
                      <a:srgbClr val="660066"/>
                    </a:solidFill>
                    <a:latin typeface="Arial" panose="020B0604020202020204" pitchFamily="34" charset="0"/>
                  </a:rPr>
                  <a:t> MPC = MPW</a:t>
                </a:r>
                <a:r>
                  <a:rPr lang="en-GB" altLang="en-US" sz="2000" dirty="0">
                    <a:solidFill>
                      <a:srgbClr val="660066"/>
                    </a:solidFill>
                    <a:latin typeface="Arial" panose="020B0604020202020204" pitchFamily="34" charset="0"/>
                  </a:rPr>
                  <a:t>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2000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en-US" sz="2000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altLang="en-US" sz="2000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altLang="en-US" sz="2000" i="1">
                        <a:solidFill>
                          <a:srgbClr val="66006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altLang="en-US" sz="2000" dirty="0">
                  <a:solidFill>
                    <a:srgbClr val="660066"/>
                  </a:solidFill>
                  <a:latin typeface="Arial" panose="020B0604020202020204" pitchFamily="34" charset="0"/>
                </a:endParaRPr>
              </a:p>
              <a:p>
                <a:pPr marL="0" lvl="1">
                  <a:lnSpc>
                    <a:spcPct val="95000"/>
                  </a:lnSpc>
                  <a:spcBef>
                    <a:spcPts val="0"/>
                  </a:spcBef>
                </a:pPr>
                <a:r>
                  <a:rPr lang="en-GB" altLang="en-US" b="1" i="1" dirty="0">
                    <a:solidFill>
                      <a:srgbClr val="660066"/>
                    </a:solidFill>
                  </a:rPr>
                  <a:t>k </a:t>
                </a:r>
                <a:r>
                  <a:rPr lang="en-GB" altLang="en-US" b="1" dirty="0">
                    <a:solidFill>
                      <a:srgbClr val="660066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b="1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en-US" b="1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altLang="en-US" b="1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  <m:t>𝑴𝑷𝑾</m:t>
                        </m:r>
                      </m:den>
                    </m:f>
                    <m:r>
                      <a:rPr lang="en-GB" altLang="en-US" b="1" i="1">
                        <a:solidFill>
                          <a:srgbClr val="66006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altLang="en-US" b="1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altLang="en-US" b="1" i="1">
                                <a:solidFill>
                                  <a:srgbClr val="66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altLang="en-US" b="1" i="1">
                                    <a:solidFill>
                                      <a:srgbClr val="66006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altLang="en-US" b="1" i="1">
                                    <a:solidFill>
                                      <a:srgbClr val="660066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GB" altLang="en-US" b="1" i="1">
                                    <a:solidFill>
                                      <a:srgbClr val="660066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altLang="en-US" b="1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altLang="en-US" b="1" i="1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GB" altLang="en-US" b="1" i="1">
                        <a:solidFill>
                          <a:srgbClr val="66006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en-US" b="1" i="1">
                        <a:solidFill>
                          <a:srgbClr val="660066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altLang="en-US" b="1" dirty="0">
                  <a:solidFill>
                    <a:srgbClr val="660066"/>
                  </a:solidFill>
                </a:endParaRPr>
              </a:p>
            </p:txBody>
          </p:sp>
        </mc:Choice>
        <mc:Fallback xmlns="">
          <p:sp>
            <p:nvSpPr>
              <p:cNvPr id="51" name="AutoShape 27" descr="Parchment">
                <a:extLst>
                  <a:ext uri="{FF2B5EF4-FFF2-40B4-BE49-F238E27FC236}">
                    <a16:creationId xmlns:a16="http://schemas.microsoft.com/office/drawing/2014/main" id="{7700BE7B-AA08-4C42-9690-5FEBB95739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95597" y="4185055"/>
                <a:ext cx="3892937" cy="174544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00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0BA5B595-6821-4006-B24C-BA741EC35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0"/>
            <a:ext cx="12014790" cy="863599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algn="ctr">
              <a:defRPr sz="3800">
                <a:solidFill>
                  <a:srgbClr val="438600"/>
                </a:solidFill>
                <a:latin typeface="Arial" panose="020B0604020202020204" pitchFamily="34" charset="0"/>
              </a:defRPr>
            </a:lvl1pPr>
            <a:lvl2pPr algn="ctr">
              <a:defRPr sz="3800">
                <a:solidFill>
                  <a:srgbClr val="438600"/>
                </a:solidFill>
                <a:latin typeface="Arial" panose="020B0604020202020204" pitchFamily="34" charset="0"/>
              </a:defRPr>
            </a:lvl2pPr>
            <a:lvl3pPr algn="ctr">
              <a:defRPr sz="3800">
                <a:solidFill>
                  <a:srgbClr val="438600"/>
                </a:solidFill>
                <a:latin typeface="Arial" panose="020B0604020202020204" pitchFamily="34" charset="0"/>
              </a:defRPr>
            </a:lvl3pPr>
            <a:lvl4pPr algn="ctr">
              <a:defRPr sz="3800">
                <a:solidFill>
                  <a:srgbClr val="438600"/>
                </a:solidFill>
                <a:latin typeface="Arial" panose="020B0604020202020204" pitchFamily="34" charset="0"/>
              </a:defRPr>
            </a:lvl4pPr>
            <a:lvl5pPr algn="ctr">
              <a:defRPr sz="3800">
                <a:solidFill>
                  <a:srgbClr val="438600"/>
                </a:solidFill>
                <a:latin typeface="Arial" panose="020B060402020202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438600"/>
                </a:solidFill>
                <a:latin typeface="Arial" panose="020B060402020202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438600"/>
                </a:solidFill>
                <a:latin typeface="Arial" panose="020B060402020202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438600"/>
                </a:solidFill>
                <a:latin typeface="Arial" panose="020B060402020202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438600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800" b="1">
                <a:solidFill>
                  <a:srgbClr val="333399"/>
                </a:solidFill>
              </a:rPr>
              <a:t>The multiplier: a rise in aggregate expenditure</a:t>
            </a:r>
          </a:p>
        </p:txBody>
      </p:sp>
    </p:spTree>
    <p:extLst>
      <p:ext uri="{BB962C8B-B14F-4D97-AF65-F5344CB8AC3E}">
        <p14:creationId xmlns:p14="http://schemas.microsoft.com/office/powerpoint/2010/main" val="2413418012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AD971C92-BE3F-4D2C-9977-E442C1802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089" y="2092326"/>
            <a:ext cx="7737475" cy="4562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56323" name="Object 3">
            <a:extLst>
              <a:ext uri="{FF2B5EF4-FFF2-40B4-BE49-F238E27FC236}">
                <a16:creationId xmlns:a16="http://schemas.microsoft.com/office/drawing/2014/main" id="{78862DED-94F7-4C0E-B3C5-6A939A71E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3613" y="2093913"/>
          <a:ext cx="7739062" cy="462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40800" imgH="2254680" progId="Word.Document.8">
                  <p:embed/>
                </p:oleObj>
              </mc:Choice>
              <mc:Fallback>
                <p:oleObj name="Document" r:id="rId2" imgW="3340800" imgH="2254680" progId="Word.Document.8">
                  <p:embed/>
                  <p:pic>
                    <p:nvPicPr>
                      <p:cNvPr id="56323" name="Object 3">
                        <a:extLst>
                          <a:ext uri="{FF2B5EF4-FFF2-40B4-BE49-F238E27FC236}">
                            <a16:creationId xmlns:a16="http://schemas.microsoft.com/office/drawing/2014/main" id="{78862DED-94F7-4C0E-B3C5-6A939A71EB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04" b="7254"/>
                      <a:stretch>
                        <a:fillRect/>
                      </a:stretch>
                    </p:blipFill>
                    <p:spPr bwMode="auto">
                      <a:xfrm>
                        <a:off x="2233613" y="2093913"/>
                        <a:ext cx="7739062" cy="462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5" name="Text Box 5">
            <a:extLst>
              <a:ext uri="{FF2B5EF4-FFF2-40B4-BE49-F238E27FC236}">
                <a16:creationId xmlns:a16="http://schemas.microsoft.com/office/drawing/2014/main" id="{B08C2D21-0FB5-4CE8-9CC4-FEABC8D42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1" y="701675"/>
            <a:ext cx="100028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altLang="en-US" sz="2800" b="1" dirty="0">
                <a:solidFill>
                  <a:schemeClr val="accent1"/>
                </a:solidFill>
                <a:latin typeface="Arial" panose="020B0604020202020204" pitchFamily="34" charset="0"/>
              </a:rPr>
              <a:t>For </a:t>
            </a:r>
            <a:r>
              <a:rPr lang="en-GB" altLang="en-US" sz="2800" b="1" i="1" dirty="0">
                <a:solidFill>
                  <a:schemeClr val="accent1"/>
                </a:solidFill>
                <a:latin typeface="Arial" panose="020B0604020202020204" pitchFamily="34" charset="0"/>
              </a:rPr>
              <a:t>MPC </a:t>
            </a:r>
            <a:r>
              <a:rPr lang="en-GB" altLang="en-US" sz="2800" b="1" dirty="0">
                <a:solidFill>
                  <a:schemeClr val="accent1"/>
                </a:solidFill>
                <a:latin typeface="Arial" panose="020B0604020202020204" pitchFamily="34" charset="0"/>
              </a:rPr>
              <a:t>= 0.5 and injections increasing by £160m</a:t>
            </a:r>
          </a:p>
        </p:txBody>
      </p:sp>
      <p:sp>
        <p:nvSpPr>
          <p:cNvPr id="56326" name="Line 6">
            <a:extLst>
              <a:ext uri="{FF2B5EF4-FFF2-40B4-BE49-F238E27FC236}">
                <a16:creationId xmlns:a16="http://schemas.microsoft.com/office/drawing/2014/main" id="{A618706C-B572-4699-B57E-16E7696916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8538" y="2941638"/>
            <a:ext cx="927100" cy="412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6327" name="Line 7">
            <a:extLst>
              <a:ext uri="{FF2B5EF4-FFF2-40B4-BE49-F238E27FC236}">
                <a16:creationId xmlns:a16="http://schemas.microsoft.com/office/drawing/2014/main" id="{1C0A2DAC-0417-474B-860C-A8139541E1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6475" y="3411538"/>
            <a:ext cx="927100" cy="412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6328" name="Line 8">
            <a:extLst>
              <a:ext uri="{FF2B5EF4-FFF2-40B4-BE49-F238E27FC236}">
                <a16:creationId xmlns:a16="http://schemas.microsoft.com/office/drawing/2014/main" id="{F6726BE2-A2B2-4FE5-B7B0-2FB8871A17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3916363"/>
            <a:ext cx="927100" cy="412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6329" name="Line 9">
            <a:extLst>
              <a:ext uri="{FF2B5EF4-FFF2-40B4-BE49-F238E27FC236}">
                <a16:creationId xmlns:a16="http://schemas.microsoft.com/office/drawing/2014/main" id="{82B50061-F6F5-4D6E-9945-01230317F7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0763" y="4419600"/>
            <a:ext cx="927100" cy="412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6330" name="Line 10">
            <a:extLst>
              <a:ext uri="{FF2B5EF4-FFF2-40B4-BE49-F238E27FC236}">
                <a16:creationId xmlns:a16="http://schemas.microsoft.com/office/drawing/2014/main" id="{4BEA26C0-1C3A-4F9B-9799-51E1DA6346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113" y="4924425"/>
            <a:ext cx="927100" cy="412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7318B9B9-2213-4671-AC0C-C2FE48313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851"/>
            <a:ext cx="12203512" cy="600164"/>
          </a:xfrm>
          <a:prstGeom prst="rect">
            <a:avLst/>
          </a:prstGeom>
          <a:noFill/>
          <a:ln>
            <a:noFill/>
          </a:ln>
          <a:effectLst>
            <a:outerShdw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91440">
            <a:spAutoFit/>
          </a:bodyPr>
          <a:lstStyle/>
          <a:p>
            <a:pPr algn="ctr"/>
            <a:r>
              <a:rPr lang="en-GB" altLang="en-US" sz="3000" b="1" dirty="0">
                <a:solidFill>
                  <a:srgbClr val="006666"/>
                </a:solidFill>
                <a:latin typeface="Arial" panose="020B0604020202020204" pitchFamily="34" charset="0"/>
              </a:rPr>
              <a:t>How the multiplier works</a:t>
            </a:r>
          </a:p>
        </p:txBody>
      </p:sp>
    </p:spTree>
    <p:extLst>
      <p:ext uri="{BB962C8B-B14F-4D97-AF65-F5344CB8AC3E}">
        <p14:creationId xmlns:p14="http://schemas.microsoft.com/office/powerpoint/2010/main" val="3393268118"/>
      </p:ext>
    </p:extLst>
  </p:cSld>
  <p:clrMapOvr>
    <a:masterClrMapping/>
  </p:clrMapOvr>
  <p:transition spd="slow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7" name="Rectangle 3">
            <a:extLst>
              <a:ext uri="{FF2B5EF4-FFF2-40B4-BE49-F238E27FC236}">
                <a16:creationId xmlns:a16="http://schemas.microsoft.com/office/drawing/2014/main" id="{37DA4888-D3F7-4D68-9C0F-B7CCFC7D6FE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 sz="3700" dirty="0"/>
              <a:t>(Very long run) Aggregate Supply curve</a:t>
            </a:r>
          </a:p>
        </p:txBody>
      </p:sp>
      <p:sp>
        <p:nvSpPr>
          <p:cNvPr id="420866" name="Rectangle 2">
            <a:extLst>
              <a:ext uri="{FF2B5EF4-FFF2-40B4-BE49-F238E27FC236}">
                <a16:creationId xmlns:a16="http://schemas.microsoft.com/office/drawing/2014/main" id="{2E67B035-CF96-4812-A00C-5D3C4A8959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336" y="1451113"/>
            <a:ext cx="11338560" cy="4964596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00"/>
              </a:spcBef>
            </a:pPr>
            <a:r>
              <a:rPr lang="en-GB" altLang="en-US" dirty="0">
                <a:latin typeface="+mn-lt"/>
              </a:rPr>
              <a:t>Suppose aggregate demand increases</a:t>
            </a:r>
          </a:p>
          <a:p>
            <a:pPr>
              <a:lnSpc>
                <a:spcPct val="90000"/>
              </a:lnSpc>
              <a:spcBef>
                <a:spcPts val="500"/>
              </a:spcBef>
            </a:pPr>
            <a:r>
              <a:rPr lang="en-GB" altLang="en-US" dirty="0">
                <a:latin typeface="+mn-lt"/>
              </a:rPr>
              <a:t>Increased investments shift the </a:t>
            </a:r>
            <a:r>
              <a:rPr lang="en-GB" altLang="en-US" i="1" dirty="0">
                <a:latin typeface="+mn-lt"/>
              </a:rPr>
              <a:t>LRAS</a:t>
            </a:r>
            <a:r>
              <a:rPr lang="en-GB" altLang="en-US" dirty="0">
                <a:latin typeface="+mn-lt"/>
              </a:rPr>
              <a:t> to the right</a:t>
            </a:r>
          </a:p>
          <a:p>
            <a:pPr>
              <a:lnSpc>
                <a:spcPct val="90000"/>
              </a:lnSpc>
              <a:spcBef>
                <a:spcPts val="500"/>
              </a:spcBef>
            </a:pPr>
            <a:r>
              <a:rPr lang="en-GB" altLang="en-US" dirty="0">
                <a:latin typeface="+mn-lt"/>
              </a:rPr>
              <a:t>If investment responsive to demand conditions can have flat </a:t>
            </a:r>
            <a:r>
              <a:rPr lang="en-GB" altLang="en-US" i="1" dirty="0" err="1">
                <a:latin typeface="+mn-lt"/>
              </a:rPr>
              <a:t>vLRAS</a:t>
            </a:r>
            <a:r>
              <a:rPr lang="en-GB" altLang="en-US" dirty="0">
                <a:latin typeface="+mn-lt"/>
              </a:rPr>
              <a:t> curve</a:t>
            </a:r>
          </a:p>
          <a:p>
            <a:pPr>
              <a:lnSpc>
                <a:spcPct val="90000"/>
              </a:lnSpc>
              <a:spcBef>
                <a:spcPts val="500"/>
              </a:spcBef>
            </a:pPr>
            <a:r>
              <a:rPr lang="en-GB" altLang="en-US" dirty="0" err="1">
                <a:latin typeface="+mn-lt"/>
              </a:rPr>
              <a:t>vLRAS</a:t>
            </a:r>
            <a:r>
              <a:rPr lang="en-GB" altLang="en-US" dirty="0">
                <a:latin typeface="+mn-lt"/>
              </a:rPr>
              <a:t> would be steeper if extra I cause shortages of materials, machinery or labour (economy is already operating near full-capacity)</a:t>
            </a:r>
          </a:p>
        </p:txBody>
      </p:sp>
    </p:spTree>
    <p:extLst>
      <p:ext uri="{BB962C8B-B14F-4D97-AF65-F5344CB8AC3E}">
        <p14:creationId xmlns:p14="http://schemas.microsoft.com/office/powerpoint/2010/main" val="3929000634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2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2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2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20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20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20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20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6" grpId="0" build="p" bldLvl="3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10">
            <a:extLst>
              <a:ext uri="{FF2B5EF4-FFF2-40B4-BE49-F238E27FC236}">
                <a16:creationId xmlns:a16="http://schemas.microsoft.com/office/drawing/2014/main" id="{00FACB42-5E19-4A66-9EF8-279D94350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3312" y="6019800"/>
            <a:ext cx="69024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3011" name="Line 3">
            <a:extLst>
              <a:ext uri="{FF2B5EF4-FFF2-40B4-BE49-F238E27FC236}">
                <a16:creationId xmlns:a16="http://schemas.microsoft.com/office/drawing/2014/main" id="{D88F63F9-F3B3-400A-B976-D3730E1DB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3313" y="914400"/>
            <a:ext cx="0" cy="510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3014" name="Line 6">
            <a:extLst>
              <a:ext uri="{FF2B5EF4-FFF2-40B4-BE49-F238E27FC236}">
                <a16:creationId xmlns:a16="http://schemas.microsoft.com/office/drawing/2014/main" id="{43D5C66B-3C5D-4998-911A-80919B3201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5313" y="1752600"/>
            <a:ext cx="3352800" cy="388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3015" name="Line 7">
            <a:extLst>
              <a:ext uri="{FF2B5EF4-FFF2-40B4-BE49-F238E27FC236}">
                <a16:creationId xmlns:a16="http://schemas.microsoft.com/office/drawing/2014/main" id="{34E309DD-363A-406E-BE82-4E71EA08E7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74842" y="1752600"/>
            <a:ext cx="0" cy="3906304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852F9025-FFC4-42E1-9D2B-365305858C2C}"/>
              </a:ext>
            </a:extLst>
          </p:cNvPr>
          <p:cNvGrpSpPr>
            <a:grpSpLocks/>
          </p:cNvGrpSpPr>
          <p:nvPr/>
        </p:nvGrpSpPr>
        <p:grpSpPr bwMode="auto">
          <a:xfrm>
            <a:off x="4337484" y="3658391"/>
            <a:ext cx="492124" cy="400050"/>
            <a:chOff x="2170" y="2310"/>
            <a:chExt cx="310" cy="252"/>
          </a:xfrm>
        </p:grpSpPr>
        <p:sp>
          <p:nvSpPr>
            <p:cNvPr id="43020" name="Oval 12">
              <a:extLst>
                <a:ext uri="{FF2B5EF4-FFF2-40B4-BE49-F238E27FC236}">
                  <a16:creationId xmlns:a16="http://schemas.microsoft.com/office/drawing/2014/main" id="{16FBFBBD-9E21-4A02-8DCD-2544AC854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9" y="2466"/>
              <a:ext cx="71" cy="71"/>
            </a:xfrm>
            <a:prstGeom prst="ellipse">
              <a:avLst/>
            </a:prstGeom>
            <a:solidFill>
              <a:srgbClr val="99CC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 altLang="en-US" noProof="1"/>
            </a:p>
          </p:txBody>
        </p:sp>
        <p:sp>
          <p:nvSpPr>
            <p:cNvPr id="43021" name="Rectangle 13">
              <a:extLst>
                <a:ext uri="{FF2B5EF4-FFF2-40B4-BE49-F238E27FC236}">
                  <a16:creationId xmlns:a16="http://schemas.microsoft.com/office/drawing/2014/main" id="{D31061CA-FD4F-4B8B-B1BE-C4B393327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2310"/>
              <a:ext cx="20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sz="2000" i="1" dirty="0">
                  <a:solidFill>
                    <a:schemeClr val="tx2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</p:grpSp>
      <p:sp>
        <p:nvSpPr>
          <p:cNvPr id="43022" name="Rectangle 14">
            <a:extLst>
              <a:ext uri="{FF2B5EF4-FFF2-40B4-BE49-F238E27FC236}">
                <a16:creationId xmlns:a16="http://schemas.microsoft.com/office/drawing/2014/main" id="{44BCCABD-4446-4D51-BCB5-B455C15AE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9114" y="1447801"/>
            <a:ext cx="113813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i="1" dirty="0">
                <a:solidFill>
                  <a:schemeClr val="tx2"/>
                </a:solidFill>
                <a:latin typeface="Arial" panose="020B0604020202020204" pitchFamily="34" charset="0"/>
              </a:rPr>
              <a:t>SRAS</a:t>
            </a:r>
            <a:r>
              <a:rPr lang="en-GB" altLang="en-US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31BD41AB-B05A-456C-AC99-905D09553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547" y="6380696"/>
            <a:ext cx="3379130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2000" dirty="0">
                <a:latin typeface="Arial" panose="020B0604020202020204" pitchFamily="34" charset="0"/>
              </a:rPr>
              <a:t>Real national income (GDP)</a:t>
            </a:r>
          </a:p>
        </p:txBody>
      </p:sp>
      <p:sp>
        <p:nvSpPr>
          <p:cNvPr id="16" name="Rectangle 29">
            <a:extLst>
              <a:ext uri="{FF2B5EF4-FFF2-40B4-BE49-F238E27FC236}">
                <a16:creationId xmlns:a16="http://schemas.microsoft.com/office/drawing/2014/main" id="{9AD2BD86-7EF4-4E62-B8F5-05FBC652B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"/>
            <a:ext cx="11201396" cy="715962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800" kern="1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sz="2800" b="1" kern="0">
                <a:solidFill>
                  <a:srgbClr val="660066"/>
                </a:solidFill>
                <a:effectLst/>
              </a:rPr>
              <a:t>Effect of investment on the long-run </a:t>
            </a:r>
            <a:r>
              <a:rPr lang="en-GB" sz="2800" b="1" i="1" kern="0">
                <a:solidFill>
                  <a:srgbClr val="660066"/>
                </a:solidFill>
                <a:effectLst/>
              </a:rPr>
              <a:t>AS</a:t>
            </a:r>
            <a:r>
              <a:rPr lang="en-GB" sz="2800" b="1" kern="0">
                <a:solidFill>
                  <a:srgbClr val="660066"/>
                </a:solidFill>
                <a:effectLst/>
              </a:rPr>
              <a:t> curve</a:t>
            </a:r>
            <a:endParaRPr lang="en-GB" sz="2800" b="1" kern="0" dirty="0">
              <a:solidFill>
                <a:srgbClr val="660066"/>
              </a:solidFill>
              <a:effectLst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4E1DF878-F585-474F-99BF-173491F82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645" y="5461880"/>
            <a:ext cx="72776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i="1">
                <a:solidFill>
                  <a:schemeClr val="tx2"/>
                </a:solidFill>
                <a:latin typeface="Arial" panose="020B0604020202020204" pitchFamily="34" charset="0"/>
              </a:rPr>
              <a:t>AD</a:t>
            </a:r>
            <a:r>
              <a:rPr lang="en-GB" altLang="en-US" baseline="-2500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4E5E9132-434C-4B13-B1E7-E9F997C40F0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19339" y="3286568"/>
            <a:ext cx="137056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>
                <a:latin typeface="Arial" panose="020B0604020202020204" pitchFamily="34" charset="0"/>
              </a:rPr>
              <a:t>Price level</a:t>
            </a:r>
          </a:p>
        </p:txBody>
      </p:sp>
    </p:spTree>
    <p:extLst>
      <p:ext uri="{BB962C8B-B14F-4D97-AF65-F5344CB8AC3E}">
        <p14:creationId xmlns:p14="http://schemas.microsoft.com/office/powerpoint/2010/main" val="3131109870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97C24C66-8725-4CE2-B321-AF5DA3827987}"/>
              </a:ext>
            </a:extLst>
          </p:cNvPr>
          <p:cNvGrpSpPr>
            <a:grpSpLocks/>
          </p:cNvGrpSpPr>
          <p:nvPr/>
        </p:nvGrpSpPr>
        <p:grpSpPr bwMode="auto">
          <a:xfrm>
            <a:off x="2753077" y="2844790"/>
            <a:ext cx="4951413" cy="1674813"/>
            <a:chOff x="1171" y="1796"/>
            <a:chExt cx="3119" cy="1055"/>
          </a:xfrm>
        </p:grpSpPr>
        <p:sp>
          <p:nvSpPr>
            <p:cNvPr id="45060" name="Line 4">
              <a:extLst>
                <a:ext uri="{FF2B5EF4-FFF2-40B4-BE49-F238E27FC236}">
                  <a16:creationId xmlns:a16="http://schemas.microsoft.com/office/drawing/2014/main" id="{796ED7C8-2121-4908-91D0-8A7529877A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1" y="1967"/>
              <a:ext cx="3119" cy="8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061" name="Rectangle 5">
              <a:extLst>
                <a:ext uri="{FF2B5EF4-FFF2-40B4-BE49-F238E27FC236}">
                  <a16:creationId xmlns:a16="http://schemas.microsoft.com/office/drawing/2014/main" id="{39C9042E-2C0F-4187-9E3D-240032DD3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9" y="1796"/>
              <a:ext cx="7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i="1" dirty="0" err="1">
                  <a:solidFill>
                    <a:schemeClr val="accent2"/>
                  </a:solidFill>
                  <a:latin typeface="Arial" panose="020B0604020202020204" pitchFamily="34" charset="0"/>
                </a:rPr>
                <a:t>vLRAS</a:t>
              </a:r>
              <a:endParaRPr lang="en-GB" altLang="en-US" baseline="-250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E2404ED0-12C6-43E2-BC2B-EFB9C5682F92}"/>
              </a:ext>
            </a:extLst>
          </p:cNvPr>
          <p:cNvGrpSpPr>
            <a:grpSpLocks/>
          </p:cNvGrpSpPr>
          <p:nvPr/>
        </p:nvGrpSpPr>
        <p:grpSpPr bwMode="auto">
          <a:xfrm>
            <a:off x="5878526" y="1417287"/>
            <a:ext cx="1206049" cy="4145311"/>
            <a:chOff x="-142502" y="876"/>
            <a:chExt cx="72412" cy="2663"/>
          </a:xfrm>
        </p:grpSpPr>
        <p:sp>
          <p:nvSpPr>
            <p:cNvPr id="45063" name="Line 7">
              <a:extLst>
                <a:ext uri="{FF2B5EF4-FFF2-40B4-BE49-F238E27FC236}">
                  <a16:creationId xmlns:a16="http://schemas.microsoft.com/office/drawing/2014/main" id="{7696AA0E-72E0-4D22-A3B0-0AB4FE94FC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42502" y="968"/>
              <a:ext cx="2318" cy="257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064" name="Rectangle 8">
              <a:extLst>
                <a:ext uri="{FF2B5EF4-FFF2-40B4-BE49-F238E27FC236}">
                  <a16:creationId xmlns:a16="http://schemas.microsoft.com/office/drawing/2014/main" id="{17D57B16-CF27-491A-B282-0817AC4F9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40051" y="876"/>
              <a:ext cx="69961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i="1" dirty="0">
                  <a:solidFill>
                    <a:srgbClr val="006600"/>
                  </a:solidFill>
                  <a:latin typeface="Arial" panose="020B0604020202020204" pitchFamily="34" charset="0"/>
                </a:rPr>
                <a:t>LRAS</a:t>
              </a:r>
              <a:r>
                <a:rPr lang="en-GB" altLang="en-US" baseline="-25000" dirty="0">
                  <a:solidFill>
                    <a:srgbClr val="006600"/>
                  </a:solidFill>
                  <a:latin typeface="Arial" panose="020B0604020202020204" pitchFamily="34" charset="0"/>
                </a:rPr>
                <a:t>2 </a:t>
              </a:r>
            </a:p>
          </p:txBody>
        </p:sp>
      </p:grpSp>
      <p:sp>
        <p:nvSpPr>
          <p:cNvPr id="45065" name="Line 9">
            <a:extLst>
              <a:ext uri="{FF2B5EF4-FFF2-40B4-BE49-F238E27FC236}">
                <a16:creationId xmlns:a16="http://schemas.microsoft.com/office/drawing/2014/main" id="{1703E6C7-A91B-4103-A441-7AF37FF604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3313" y="914400"/>
            <a:ext cx="0" cy="510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6" name="Line 10">
            <a:extLst>
              <a:ext uri="{FF2B5EF4-FFF2-40B4-BE49-F238E27FC236}">
                <a16:creationId xmlns:a16="http://schemas.microsoft.com/office/drawing/2014/main" id="{AE3EAC52-01CD-47EB-A702-7C8790908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3312" y="6019800"/>
            <a:ext cx="69024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7" name="Line 11">
            <a:extLst>
              <a:ext uri="{FF2B5EF4-FFF2-40B4-BE49-F238E27FC236}">
                <a16:creationId xmlns:a16="http://schemas.microsoft.com/office/drawing/2014/main" id="{46F62DE0-D2F3-46A1-A694-4EAED7C7C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5313" y="1752600"/>
            <a:ext cx="3352800" cy="388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8" name="Line 12">
            <a:extLst>
              <a:ext uri="{FF2B5EF4-FFF2-40B4-BE49-F238E27FC236}">
                <a16:creationId xmlns:a16="http://schemas.microsoft.com/office/drawing/2014/main" id="{B191099F-7269-422F-9875-07510D56416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58723" y="1560524"/>
            <a:ext cx="22761" cy="4002076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5069" name="Rectangle 13">
            <a:extLst>
              <a:ext uri="{FF2B5EF4-FFF2-40B4-BE49-F238E27FC236}">
                <a16:creationId xmlns:a16="http://schemas.microsoft.com/office/drawing/2014/main" id="{76D1D4E5-861A-4088-89ED-582879F3B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645" y="5461880"/>
            <a:ext cx="72776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i="1">
                <a:solidFill>
                  <a:schemeClr val="tx2"/>
                </a:solidFill>
                <a:latin typeface="Arial" panose="020B0604020202020204" pitchFamily="34" charset="0"/>
              </a:rPr>
              <a:t>AD</a:t>
            </a:r>
            <a:r>
              <a:rPr lang="en-GB" altLang="en-US" baseline="-2500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5070" name="Rectangle 14">
            <a:extLst>
              <a:ext uri="{FF2B5EF4-FFF2-40B4-BE49-F238E27FC236}">
                <a16:creationId xmlns:a16="http://schemas.microsoft.com/office/drawing/2014/main" id="{1BB4BCC0-0EBD-4674-8EE7-94628F339B7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19339" y="3286568"/>
            <a:ext cx="137056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>
                <a:latin typeface="Arial" panose="020B0604020202020204" pitchFamily="34" charset="0"/>
              </a:rPr>
              <a:t>Price level</a:t>
            </a:r>
          </a:p>
        </p:txBody>
      </p:sp>
      <p:sp>
        <p:nvSpPr>
          <p:cNvPr id="45072" name="Rectangle 16">
            <a:extLst>
              <a:ext uri="{FF2B5EF4-FFF2-40B4-BE49-F238E27FC236}">
                <a16:creationId xmlns:a16="http://schemas.microsoft.com/office/drawing/2014/main" id="{82C5002C-118C-4AF6-BD8C-28CE53D5D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307" y="3626737"/>
            <a:ext cx="325437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 i="1" dirty="0">
                <a:solidFill>
                  <a:schemeClr val="tx2"/>
                </a:solidFill>
                <a:latin typeface="Arial" panose="020B0604020202020204" pitchFamily="34" charset="0"/>
              </a:rPr>
              <a:t>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F7E499-753A-4559-8181-F799F3ABFEA5}"/>
              </a:ext>
            </a:extLst>
          </p:cNvPr>
          <p:cNvGrpSpPr/>
          <p:nvPr/>
        </p:nvGrpSpPr>
        <p:grpSpPr>
          <a:xfrm>
            <a:off x="3804001" y="1173163"/>
            <a:ext cx="4031201" cy="4276788"/>
            <a:chOff x="4433888" y="1173163"/>
            <a:chExt cx="4031201" cy="4276788"/>
          </a:xfrm>
        </p:grpSpPr>
        <p:sp>
          <p:nvSpPr>
            <p:cNvPr id="45073" name="Line 17">
              <a:extLst>
                <a:ext uri="{FF2B5EF4-FFF2-40B4-BE49-F238E27FC236}">
                  <a16:creationId xmlns:a16="http://schemas.microsoft.com/office/drawing/2014/main" id="{8439B5EB-F40F-49F9-9C27-461BE18BF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3888" y="1173163"/>
              <a:ext cx="3352800" cy="388620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5074" name="Rectangle 18">
              <a:extLst>
                <a:ext uri="{FF2B5EF4-FFF2-40B4-BE49-F238E27FC236}">
                  <a16:creationId xmlns:a16="http://schemas.microsoft.com/office/drawing/2014/main" id="{DF047775-4FB9-4D98-BCDE-0583F491A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326" y="4987644"/>
              <a:ext cx="727763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i="1" dirty="0">
                  <a:solidFill>
                    <a:srgbClr val="006600"/>
                  </a:solidFill>
                  <a:latin typeface="Arial" panose="020B0604020202020204" pitchFamily="34" charset="0"/>
                </a:rPr>
                <a:t>AD</a:t>
              </a:r>
              <a:r>
                <a:rPr lang="en-GB" altLang="en-US" baseline="-25000" dirty="0">
                  <a:solidFill>
                    <a:srgbClr val="0066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6CF7BBB9-AA22-4A4B-A469-268560A3EAFF}"/>
              </a:ext>
            </a:extLst>
          </p:cNvPr>
          <p:cNvGrpSpPr>
            <a:grpSpLocks/>
          </p:cNvGrpSpPr>
          <p:nvPr/>
        </p:nvGrpSpPr>
        <p:grpSpPr bwMode="auto">
          <a:xfrm>
            <a:off x="4407250" y="2039179"/>
            <a:ext cx="423863" cy="400050"/>
            <a:chOff x="2663" y="1831"/>
            <a:chExt cx="267" cy="252"/>
          </a:xfrm>
        </p:grpSpPr>
        <p:sp>
          <p:nvSpPr>
            <p:cNvPr id="45076" name="Oval 20">
              <a:extLst>
                <a:ext uri="{FF2B5EF4-FFF2-40B4-BE49-F238E27FC236}">
                  <a16:creationId xmlns:a16="http://schemas.microsoft.com/office/drawing/2014/main" id="{D06AD952-44F7-463C-81EC-381F67924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1946"/>
              <a:ext cx="71" cy="71"/>
            </a:xfrm>
            <a:prstGeom prst="ellipse">
              <a:avLst/>
            </a:prstGeom>
            <a:solidFill>
              <a:srgbClr val="66FF66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 altLang="en-US" noProof="1"/>
            </a:p>
          </p:txBody>
        </p:sp>
        <p:sp>
          <p:nvSpPr>
            <p:cNvPr id="45077" name="Rectangle 21">
              <a:extLst>
                <a:ext uri="{FF2B5EF4-FFF2-40B4-BE49-F238E27FC236}">
                  <a16:creationId xmlns:a16="http://schemas.microsoft.com/office/drawing/2014/main" id="{1E400CBB-29C0-404E-86DF-561D6A7AB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3" y="1831"/>
              <a:ext cx="20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sz="2000" i="1" dirty="0">
                  <a:solidFill>
                    <a:srgbClr val="0066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45078" name="Oval 22">
            <a:extLst>
              <a:ext uri="{FF2B5EF4-FFF2-40B4-BE49-F238E27FC236}">
                <a16:creationId xmlns:a16="http://schemas.microsoft.com/office/drawing/2014/main" id="{B2208ECF-6258-43FE-8B43-2F05213D2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401" y="3914776"/>
            <a:ext cx="112712" cy="112713"/>
          </a:xfrm>
          <a:prstGeom prst="ellipse">
            <a:avLst/>
          </a:prstGeom>
          <a:solidFill>
            <a:srgbClr val="99CCFF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GB" altLang="en-US" noProof="1"/>
          </a:p>
        </p:txBody>
      </p:sp>
      <p:grpSp>
        <p:nvGrpSpPr>
          <p:cNvPr id="5" name="Group 23">
            <a:extLst>
              <a:ext uri="{FF2B5EF4-FFF2-40B4-BE49-F238E27FC236}">
                <a16:creationId xmlns:a16="http://schemas.microsoft.com/office/drawing/2014/main" id="{7278C41A-1A1B-47CB-99AA-D67867BDBC91}"/>
              </a:ext>
            </a:extLst>
          </p:cNvPr>
          <p:cNvGrpSpPr>
            <a:grpSpLocks/>
          </p:cNvGrpSpPr>
          <p:nvPr/>
        </p:nvGrpSpPr>
        <p:grpSpPr bwMode="auto">
          <a:xfrm>
            <a:off x="5461349" y="3340097"/>
            <a:ext cx="509588" cy="400050"/>
            <a:chOff x="2877" y="2104"/>
            <a:chExt cx="321" cy="252"/>
          </a:xfrm>
        </p:grpSpPr>
        <p:sp>
          <p:nvSpPr>
            <p:cNvPr id="45080" name="Rectangle 24">
              <a:extLst>
                <a:ext uri="{FF2B5EF4-FFF2-40B4-BE49-F238E27FC236}">
                  <a16:creationId xmlns:a16="http://schemas.microsoft.com/office/drawing/2014/main" id="{61AAFEA2-29AE-46D5-B01B-5C34668FD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2104"/>
              <a:ext cx="2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GB" altLang="en-US" sz="2000" i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45081" name="Oval 25">
              <a:extLst>
                <a:ext uri="{FF2B5EF4-FFF2-40B4-BE49-F238E27FC236}">
                  <a16:creationId xmlns:a16="http://schemas.microsoft.com/office/drawing/2014/main" id="{049A085C-C25A-4D88-B1D8-3817FD863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2244"/>
              <a:ext cx="71" cy="71"/>
            </a:xfrm>
            <a:prstGeom prst="ellipse">
              <a:avLst/>
            </a:prstGeom>
            <a:solidFill>
              <a:srgbClr val="FFCCCC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 altLang="en-US" noProof="1"/>
            </a:p>
          </p:txBody>
        </p:sp>
      </p:grpSp>
      <p:sp>
        <p:nvSpPr>
          <p:cNvPr id="45082" name="Rectangle 26">
            <a:extLst>
              <a:ext uri="{FF2B5EF4-FFF2-40B4-BE49-F238E27FC236}">
                <a16:creationId xmlns:a16="http://schemas.microsoft.com/office/drawing/2014/main" id="{551AD117-BA6C-48FF-8D13-C53444867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405" y="1376818"/>
            <a:ext cx="116217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i="1" dirty="0">
                <a:solidFill>
                  <a:schemeClr val="tx2"/>
                </a:solidFill>
                <a:latin typeface="Arial" panose="020B0604020202020204" pitchFamily="34" charset="0"/>
              </a:rPr>
              <a:t>LRAS</a:t>
            </a:r>
            <a:r>
              <a:rPr lang="en-GB" altLang="en-US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1 </a:t>
            </a:r>
          </a:p>
        </p:txBody>
      </p:sp>
      <p:sp>
        <p:nvSpPr>
          <p:cNvPr id="26654" name="AutoShape 30">
            <a:extLst>
              <a:ext uri="{FF2B5EF4-FFF2-40B4-BE49-F238E27FC236}">
                <a16:creationId xmlns:a16="http://schemas.microsoft.com/office/drawing/2014/main" id="{89C5EFD6-38F1-48AF-8250-AF77CC1EE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5033" y="1134898"/>
            <a:ext cx="4683872" cy="921814"/>
          </a:xfrm>
          <a:prstGeom prst="roundRect">
            <a:avLst>
              <a:gd name="adj" fmla="val 16667"/>
            </a:avLst>
          </a:prstGeom>
          <a:solidFill>
            <a:srgbClr val="FFFFEB"/>
          </a:solidFill>
          <a:ln w="2222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square" lIns="90000" tIns="46800" rIns="90000" bIns="46800" anchor="ctr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>
                <a:solidFill>
                  <a:srgbClr val="660066"/>
                </a:solidFill>
                <a:latin typeface="Arial" panose="020B0604020202020204" pitchFamily="34" charset="0"/>
              </a:rPr>
              <a:t>Increased potential output in the long run from higher investment</a:t>
            </a: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6E999E94-8984-4F6B-AA0C-E550644E3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547" y="6380696"/>
            <a:ext cx="3379130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2000" dirty="0">
                <a:latin typeface="Arial" panose="020B0604020202020204" pitchFamily="34" charset="0"/>
              </a:rPr>
              <a:t>Real national income (GDP)</a:t>
            </a:r>
          </a:p>
        </p:txBody>
      </p:sp>
      <p:sp>
        <p:nvSpPr>
          <p:cNvPr id="31" name="AutoShape 30">
            <a:extLst>
              <a:ext uri="{FF2B5EF4-FFF2-40B4-BE49-F238E27FC236}">
                <a16:creationId xmlns:a16="http://schemas.microsoft.com/office/drawing/2014/main" id="{97444E04-3A5A-46EB-9B3E-F3B6C7867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8800" y="2410552"/>
            <a:ext cx="4150105" cy="1330436"/>
          </a:xfrm>
          <a:prstGeom prst="roundRect">
            <a:avLst>
              <a:gd name="adj" fmla="val 16667"/>
            </a:avLst>
          </a:prstGeom>
          <a:solidFill>
            <a:srgbClr val="FFFFEB"/>
          </a:solidFill>
          <a:ln w="2222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square" lIns="90000" tIns="46800" rIns="90000" bIns="46800" anchor="ctr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dirty="0">
                <a:solidFill>
                  <a:srgbClr val="660066"/>
                </a:solidFill>
                <a:latin typeface="Arial" panose="020B0604020202020204" pitchFamily="34" charset="0"/>
              </a:rPr>
              <a:t>When investment responsive to demand, </a:t>
            </a:r>
            <a:r>
              <a:rPr lang="en-GB" altLang="en-US" i="1" dirty="0" err="1">
                <a:solidFill>
                  <a:srgbClr val="660066"/>
                </a:solidFill>
                <a:latin typeface="Arial" panose="020B0604020202020204" pitchFamily="34" charset="0"/>
              </a:rPr>
              <a:t>vLRAS</a:t>
            </a:r>
            <a:r>
              <a:rPr lang="en-GB" altLang="en-US" dirty="0">
                <a:solidFill>
                  <a:srgbClr val="660066"/>
                </a:solidFill>
                <a:latin typeface="Arial" panose="020B0604020202020204" pitchFamily="34" charset="0"/>
              </a:rPr>
              <a:t> curve is flat</a:t>
            </a: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B6FB25F5-DF2D-4C65-9BD2-800A2365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"/>
            <a:ext cx="11201396" cy="715962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800" kern="1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sz="2800" b="1" kern="0">
                <a:solidFill>
                  <a:srgbClr val="660066"/>
                </a:solidFill>
                <a:effectLst/>
              </a:rPr>
              <a:t>Effect of investment on the long-run </a:t>
            </a:r>
            <a:r>
              <a:rPr lang="en-GB" sz="2800" b="1" i="1" kern="0">
                <a:solidFill>
                  <a:srgbClr val="660066"/>
                </a:solidFill>
                <a:effectLst/>
              </a:rPr>
              <a:t>AS</a:t>
            </a:r>
            <a:r>
              <a:rPr lang="en-GB" sz="2800" b="1" kern="0">
                <a:solidFill>
                  <a:srgbClr val="660066"/>
                </a:solidFill>
                <a:effectLst/>
              </a:rPr>
              <a:t> curve</a:t>
            </a:r>
            <a:endParaRPr lang="en-GB" sz="2800" b="1" kern="0" dirty="0">
              <a:solidFill>
                <a:srgbClr val="66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1034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54" grpId="0" animBg="1" autoUpdateAnimBg="0"/>
      <p:bldP spid="31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Object 2">
            <a:extLst>
              <a:ext uri="{FF2B5EF4-FFF2-40B4-BE49-F238E27FC236}">
                <a16:creationId xmlns:a16="http://schemas.microsoft.com/office/drawing/2014/main" id="{33E80C7B-A331-4303-B522-D693B0B24F0C}"/>
              </a:ext>
            </a:extLst>
          </p:cNvPr>
          <p:cNvGraphicFramePr>
            <a:graphicFrameLocks/>
          </p:cNvGraphicFramePr>
          <p:nvPr/>
        </p:nvGraphicFramePr>
        <p:xfrm>
          <a:off x="1555091" y="106199"/>
          <a:ext cx="8634412" cy="6453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6" name="Rectangle 31">
            <a:extLst>
              <a:ext uri="{FF2B5EF4-FFF2-40B4-BE49-F238E27FC236}">
                <a16:creationId xmlns:a16="http://schemas.microsoft.com/office/drawing/2014/main" id="{27E432A6-CB9C-47B0-A2E9-92B756CA2017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23647" y="3077483"/>
            <a:ext cx="1694375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1600" dirty="0">
                <a:solidFill>
                  <a:schemeClr val="tx1"/>
                </a:solidFill>
                <a:sym typeface="Symbol" panose="05050102010706020507" pitchFamily="18" charset="2"/>
              </a:rPr>
              <a:t>Inflation rate</a:t>
            </a:r>
            <a:r>
              <a:rPr lang="en-GB" altLang="en-US" sz="1600" dirty="0">
                <a:solidFill>
                  <a:schemeClr val="tx1"/>
                </a:solidFill>
              </a:rPr>
              <a:t> (%)</a:t>
            </a:r>
          </a:p>
        </p:txBody>
      </p:sp>
      <p:sp>
        <p:nvSpPr>
          <p:cNvPr id="2065" name="TextBox 1">
            <a:extLst>
              <a:ext uri="{FF2B5EF4-FFF2-40B4-BE49-F238E27FC236}">
                <a16:creationId xmlns:a16="http://schemas.microsoft.com/office/drawing/2014/main" id="{3B0C2D2E-C2DE-4F17-985F-CB3E3D248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9770" y="6616999"/>
            <a:ext cx="85382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</a:t>
            </a:r>
            <a:r>
              <a:rPr lang="en-GB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Based on data from the Office for National Statistics; forecasts based on data from </a:t>
            </a:r>
            <a:r>
              <a:rPr lang="en-GB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</a:t>
            </a:r>
            <a:r>
              <a:rPr lang="en-GB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Economic Outlook</a:t>
            </a:r>
            <a:r>
              <a:rPr lang="en-GB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Database</a:t>
            </a:r>
            <a:r>
              <a:rPr lang="en-GB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(IMF)</a:t>
            </a:r>
          </a:p>
        </p:txBody>
      </p:sp>
      <p:sp>
        <p:nvSpPr>
          <p:cNvPr id="84" name="Rectangle 1051">
            <a:extLst>
              <a:ext uri="{FF2B5EF4-FFF2-40B4-BE49-F238E27FC236}">
                <a16:creationId xmlns:a16="http://schemas.microsoft.com/office/drawing/2014/main" id="{CC7BEE2A-6869-4027-ABA6-CB45F3C34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445"/>
            <a:ext cx="12192000" cy="512779"/>
          </a:xfrm>
          <a:prstGeom prst="rect">
            <a:avLst/>
          </a:prstGeom>
          <a:noFill/>
          <a:ln>
            <a:noFill/>
          </a:ln>
          <a:effectLst>
            <a:outerShdw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defTabSz="762000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r" defTabSz="7620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r" defTabSz="7620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r" defTabSz="7620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r" defTabSz="7620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r" defTabSz="7620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r" defTabSz="7620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r" defTabSz="7620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r" defTabSz="7620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GB" altLang="en-US" sz="2600" dirty="0">
                <a:solidFill>
                  <a:srgbClr val="660066"/>
                </a:solidFill>
                <a:effectLst/>
                <a:latin typeface="Arial"/>
              </a:rPr>
              <a:t>Breakdown of the Phillips curve</a:t>
            </a:r>
          </a:p>
        </p:txBody>
      </p:sp>
      <p:sp>
        <p:nvSpPr>
          <p:cNvPr id="116" name="Rectangle 32">
            <a:extLst>
              <a:ext uri="{FF2B5EF4-FFF2-40B4-BE49-F238E27FC236}">
                <a16:creationId xmlns:a16="http://schemas.microsoft.com/office/drawing/2014/main" id="{BDDE1B4A-D1D4-42A0-A6B8-AA1F072E3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58" y="6345232"/>
            <a:ext cx="2354812" cy="33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1600" dirty="0">
                <a:solidFill>
                  <a:schemeClr val="tx1"/>
                </a:solidFill>
              </a:rPr>
              <a:t>Unemployment rate (%)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E9A53D9-F2CD-4568-B69E-9E98A4940C5B}"/>
              </a:ext>
            </a:extLst>
          </p:cNvPr>
          <p:cNvGrpSpPr/>
          <p:nvPr/>
        </p:nvGrpSpPr>
        <p:grpSpPr>
          <a:xfrm>
            <a:off x="2596375" y="3599895"/>
            <a:ext cx="3348038" cy="2344738"/>
            <a:chOff x="3057525" y="3719035"/>
            <a:chExt cx="3348038" cy="2344738"/>
          </a:xfrm>
        </p:grpSpPr>
        <p:sp>
          <p:nvSpPr>
            <p:cNvPr id="118" name="Rectangle 35">
              <a:extLst>
                <a:ext uri="{FF2B5EF4-FFF2-40B4-BE49-F238E27FC236}">
                  <a16:creationId xmlns:a16="http://schemas.microsoft.com/office/drawing/2014/main" id="{8259DFF9-F2ED-4265-A009-F7A7BCA7E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156" y="4748336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GB" altLang="en-US" sz="1100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67</a:t>
              </a:r>
            </a:p>
          </p:txBody>
        </p:sp>
        <p:sp>
          <p:nvSpPr>
            <p:cNvPr id="119" name="Rectangle 36">
              <a:extLst>
                <a:ext uri="{FF2B5EF4-FFF2-40B4-BE49-F238E27FC236}">
                  <a16:creationId xmlns:a16="http://schemas.microsoft.com/office/drawing/2014/main" id="{57FB6E98-C964-4494-B02D-63AC81461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021" y="5124949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63</a:t>
              </a:r>
            </a:p>
          </p:txBody>
        </p:sp>
        <p:sp>
          <p:nvSpPr>
            <p:cNvPr id="120" name="Rectangle 37">
              <a:extLst>
                <a:ext uri="{FF2B5EF4-FFF2-40B4-BE49-F238E27FC236}">
                  <a16:creationId xmlns:a16="http://schemas.microsoft.com/office/drawing/2014/main" id="{79FECD0A-F00D-4C5B-8363-4A92F7498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826" y="4722513"/>
              <a:ext cx="346075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GB" altLang="en-US" sz="1100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62</a:t>
              </a:r>
            </a:p>
          </p:txBody>
        </p:sp>
        <p:sp>
          <p:nvSpPr>
            <p:cNvPr id="121" name="Rectangle 38">
              <a:extLst>
                <a:ext uri="{FF2B5EF4-FFF2-40B4-BE49-F238E27FC236}">
                  <a16:creationId xmlns:a16="http://schemas.microsoft.com/office/drawing/2014/main" id="{2EC87196-C041-4582-B19E-522DC34DE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7456" y="4587313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65</a:t>
              </a:r>
            </a:p>
          </p:txBody>
        </p:sp>
        <p:sp>
          <p:nvSpPr>
            <p:cNvPr id="122" name="Rectangle 39">
              <a:extLst>
                <a:ext uri="{FF2B5EF4-FFF2-40B4-BE49-F238E27FC236}">
                  <a16:creationId xmlns:a16="http://schemas.microsoft.com/office/drawing/2014/main" id="{7009C830-1266-41E2-9E89-1769266E4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1115" y="4771550"/>
              <a:ext cx="330644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66</a:t>
              </a:r>
            </a:p>
          </p:txBody>
        </p:sp>
        <p:sp>
          <p:nvSpPr>
            <p:cNvPr id="123" name="Rectangle 40">
              <a:extLst>
                <a:ext uri="{FF2B5EF4-FFF2-40B4-BE49-F238E27FC236}">
                  <a16:creationId xmlns:a16="http://schemas.microsoft.com/office/drawing/2014/main" id="{FDB0EAC8-6908-4BDF-95CC-3317D6755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471" y="5017197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64</a:t>
              </a:r>
            </a:p>
          </p:txBody>
        </p:sp>
        <p:sp>
          <p:nvSpPr>
            <p:cNvPr id="124" name="Rectangle 41">
              <a:extLst>
                <a:ext uri="{FF2B5EF4-FFF2-40B4-BE49-F238E27FC236}">
                  <a16:creationId xmlns:a16="http://schemas.microsoft.com/office/drawing/2014/main" id="{DE53BA95-623E-49A4-85C0-2E5B44349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1627" y="5328617"/>
              <a:ext cx="346075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60</a:t>
              </a:r>
            </a:p>
          </p:txBody>
        </p:sp>
        <p:sp>
          <p:nvSpPr>
            <p:cNvPr id="125" name="Rectangle 42">
              <a:extLst>
                <a:ext uri="{FF2B5EF4-FFF2-40B4-BE49-F238E27FC236}">
                  <a16:creationId xmlns:a16="http://schemas.microsoft.com/office/drawing/2014/main" id="{129FA6CA-5618-44E7-9E3A-CCE621739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288" y="5002755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61</a:t>
              </a:r>
            </a:p>
          </p:txBody>
        </p:sp>
        <p:sp>
          <p:nvSpPr>
            <p:cNvPr id="126" name="Arc 45">
              <a:extLst>
                <a:ext uri="{FF2B5EF4-FFF2-40B4-BE49-F238E27FC236}">
                  <a16:creationId xmlns:a16="http://schemas.microsoft.com/office/drawing/2014/main" id="{75224444-A8C3-4D62-90A7-16784558B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7525" y="3719035"/>
              <a:ext cx="3348038" cy="2344738"/>
            </a:xfrm>
            <a:custGeom>
              <a:avLst/>
              <a:gdLst>
                <a:gd name="T0" fmla="*/ 2147483646 w 21453"/>
                <a:gd name="T1" fmla="*/ 2147483646 h 18376"/>
                <a:gd name="T2" fmla="*/ 0 w 21453"/>
                <a:gd name="T3" fmla="*/ 2147483646 h 18376"/>
                <a:gd name="T4" fmla="*/ 2147483646 w 21453"/>
                <a:gd name="T5" fmla="*/ 0 h 18376"/>
                <a:gd name="T6" fmla="*/ 0 60000 65536"/>
                <a:gd name="T7" fmla="*/ 0 60000 65536"/>
                <a:gd name="T8" fmla="*/ 0 60000 65536"/>
                <a:gd name="T9" fmla="*/ 0 w 21453"/>
                <a:gd name="T10" fmla="*/ 0 h 18376"/>
                <a:gd name="T11" fmla="*/ 21453 w 21453"/>
                <a:gd name="T12" fmla="*/ 18376 h 183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53" h="18376" fill="none" extrusionOk="0">
                  <a:moveTo>
                    <a:pt x="10100" y="18375"/>
                  </a:moveTo>
                  <a:cubicBezTo>
                    <a:pt x="4487" y="14908"/>
                    <a:pt x="767" y="9065"/>
                    <a:pt x="-1" y="2513"/>
                  </a:cubicBezTo>
                </a:path>
                <a:path w="21453" h="18376" stroke="0" extrusionOk="0">
                  <a:moveTo>
                    <a:pt x="10100" y="18375"/>
                  </a:moveTo>
                  <a:cubicBezTo>
                    <a:pt x="4487" y="14908"/>
                    <a:pt x="767" y="9065"/>
                    <a:pt x="-1" y="2513"/>
                  </a:cubicBezTo>
                  <a:lnTo>
                    <a:pt x="21453" y="0"/>
                  </a:lnTo>
                  <a:lnTo>
                    <a:pt x="10100" y="18375"/>
                  </a:lnTo>
                  <a:close/>
                </a:path>
              </a:pathLst>
            </a:custGeom>
            <a:noFill/>
            <a:ln w="25400" cap="rnd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 sz="110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D7AD8DC-5436-4B5C-812F-1F5A9E4329D1}"/>
              </a:ext>
            </a:extLst>
          </p:cNvPr>
          <p:cNvGrpSpPr/>
          <p:nvPr/>
        </p:nvGrpSpPr>
        <p:grpSpPr>
          <a:xfrm>
            <a:off x="4092825" y="2231205"/>
            <a:ext cx="919214" cy="3021990"/>
            <a:chOff x="4512174" y="2288652"/>
            <a:chExt cx="919214" cy="2932158"/>
          </a:xfrm>
        </p:grpSpPr>
        <p:sp>
          <p:nvSpPr>
            <p:cNvPr id="128" name="Rectangle 11">
              <a:extLst>
                <a:ext uri="{FF2B5EF4-FFF2-40B4-BE49-F238E27FC236}">
                  <a16:creationId xmlns:a16="http://schemas.microsoft.com/office/drawing/2014/main" id="{34564AE3-B06D-46F6-BFA1-78C862569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500" y="4255613"/>
              <a:ext cx="369888" cy="254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rgbClr val="006600"/>
                  </a:solidFill>
                  <a:latin typeface="Arial Narrow" panose="020B0606020202030204" pitchFamily="34" charset="0"/>
                </a:rPr>
                <a:t>70</a:t>
              </a:r>
            </a:p>
          </p:txBody>
        </p:sp>
        <p:sp>
          <p:nvSpPr>
            <p:cNvPr id="129" name="Rectangle 4">
              <a:extLst>
                <a:ext uri="{FF2B5EF4-FFF2-40B4-BE49-F238E27FC236}">
                  <a16:creationId xmlns:a16="http://schemas.microsoft.com/office/drawing/2014/main" id="{1E640885-77A0-4DE1-BD2A-8F0C8D774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8898" y="2288652"/>
              <a:ext cx="346075" cy="254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rgbClr val="006600"/>
                  </a:solidFill>
                  <a:latin typeface="Arial Narrow" panose="020B0606020202030204" pitchFamily="34" charset="0"/>
                </a:rPr>
                <a:t>74</a:t>
              </a:r>
            </a:p>
          </p:txBody>
        </p:sp>
        <p:sp>
          <p:nvSpPr>
            <p:cNvPr id="130" name="Rectangle 9">
              <a:extLst>
                <a:ext uri="{FF2B5EF4-FFF2-40B4-BE49-F238E27FC236}">
                  <a16:creationId xmlns:a16="http://schemas.microsoft.com/office/drawing/2014/main" id="{6EAEA317-09F9-4E6D-9511-439C71E1D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925" y="3611088"/>
              <a:ext cx="369888" cy="254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rgbClr val="006600"/>
                  </a:solidFill>
                  <a:latin typeface="Arial Narrow" panose="020B0606020202030204" pitchFamily="34" charset="0"/>
                </a:rPr>
                <a:t>71</a:t>
              </a:r>
            </a:p>
          </p:txBody>
        </p:sp>
        <p:sp>
          <p:nvSpPr>
            <p:cNvPr id="131" name="Rectangle 10">
              <a:extLst>
                <a:ext uri="{FF2B5EF4-FFF2-40B4-BE49-F238E27FC236}">
                  <a16:creationId xmlns:a16="http://schemas.microsoft.com/office/drawing/2014/main" id="{97E781C0-D0F1-468C-8071-D16142CC3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174" y="3758596"/>
              <a:ext cx="369888" cy="254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rgbClr val="006600"/>
                  </a:solidFill>
                  <a:latin typeface="Arial Narrow" panose="020B0606020202030204" pitchFamily="34" charset="0"/>
                </a:rPr>
                <a:t>73</a:t>
              </a:r>
            </a:p>
          </p:txBody>
        </p:sp>
        <p:sp>
          <p:nvSpPr>
            <p:cNvPr id="132" name="Rectangle 12">
              <a:extLst>
                <a:ext uri="{FF2B5EF4-FFF2-40B4-BE49-F238E27FC236}">
                  <a16:creationId xmlns:a16="http://schemas.microsoft.com/office/drawing/2014/main" id="{B3512A87-428B-49F5-90E7-DA4116FE7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958" y="4140152"/>
              <a:ext cx="369888" cy="254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rgbClr val="006600"/>
                  </a:solidFill>
                  <a:latin typeface="Arial Narrow" panose="020B0606020202030204" pitchFamily="34" charset="0"/>
                </a:rPr>
                <a:t>72</a:t>
              </a:r>
            </a:p>
          </p:txBody>
        </p:sp>
        <p:sp>
          <p:nvSpPr>
            <p:cNvPr id="133" name="Rectangle 33">
              <a:extLst>
                <a:ext uri="{FF2B5EF4-FFF2-40B4-BE49-F238E27FC236}">
                  <a16:creationId xmlns:a16="http://schemas.microsoft.com/office/drawing/2014/main" id="{6B450808-84BD-4741-981C-A09CB38CB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069" y="4413750"/>
              <a:ext cx="314189" cy="254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GB" altLang="en-US" sz="1100" dirty="0">
                  <a:solidFill>
                    <a:srgbClr val="006600"/>
                  </a:solidFill>
                  <a:latin typeface="Arial Narrow" panose="020B0606020202030204" pitchFamily="34" charset="0"/>
                </a:rPr>
                <a:t>69</a:t>
              </a:r>
            </a:p>
          </p:txBody>
        </p:sp>
        <p:sp>
          <p:nvSpPr>
            <p:cNvPr id="134" name="Rectangle 34">
              <a:extLst>
                <a:ext uri="{FF2B5EF4-FFF2-40B4-BE49-F238E27FC236}">
                  <a16:creationId xmlns:a16="http://schemas.microsoft.com/office/drawing/2014/main" id="{66BBFEE0-3F4C-4A94-B4F7-D43B4878F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155" y="4575066"/>
              <a:ext cx="378665" cy="254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GB" altLang="en-US" sz="1100" dirty="0">
                  <a:solidFill>
                    <a:srgbClr val="006600"/>
                  </a:solidFill>
                  <a:latin typeface="Arial Narrow" panose="020B0606020202030204" pitchFamily="34" charset="0"/>
                </a:rPr>
                <a:t>68</a:t>
              </a:r>
            </a:p>
          </p:txBody>
        </p:sp>
        <p:sp>
          <p:nvSpPr>
            <p:cNvPr id="135" name="Line 46">
              <a:extLst>
                <a:ext uri="{FF2B5EF4-FFF2-40B4-BE49-F238E27FC236}">
                  <a16:creationId xmlns:a16="http://schemas.microsoft.com/office/drawing/2014/main" id="{784EE12C-6015-41BE-AEC6-F5006E254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40288" y="2547460"/>
              <a:ext cx="146050" cy="2673350"/>
            </a:xfrm>
            <a:prstGeom prst="line">
              <a:avLst/>
            </a:prstGeom>
            <a:noFill/>
            <a:ln w="25400">
              <a:solidFill>
                <a:srgbClr val="006600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sz="1100">
                <a:solidFill>
                  <a:srgbClr val="006600"/>
                </a:solidFill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D71F906-B687-40C8-AC5D-B5E80903E5A8}"/>
              </a:ext>
            </a:extLst>
          </p:cNvPr>
          <p:cNvGrpSpPr/>
          <p:nvPr/>
        </p:nvGrpSpPr>
        <p:grpSpPr>
          <a:xfrm>
            <a:off x="4510900" y="-54527"/>
            <a:ext cx="5657850" cy="4638675"/>
            <a:chOff x="4972050" y="64612"/>
            <a:chExt cx="5657850" cy="4638675"/>
          </a:xfrm>
        </p:grpSpPr>
        <p:sp>
          <p:nvSpPr>
            <p:cNvPr id="137" name="Rectangle 3">
              <a:extLst>
                <a:ext uri="{FF2B5EF4-FFF2-40B4-BE49-F238E27FC236}">
                  <a16:creationId xmlns:a16="http://schemas.microsoft.com/office/drawing/2014/main" id="{095FE239-09FD-4E74-BD59-CC7E48CA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1763" y="739299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75</a:t>
              </a:r>
            </a:p>
          </p:txBody>
        </p:sp>
        <p:sp>
          <p:nvSpPr>
            <p:cNvPr id="138" name="Rectangle 6">
              <a:extLst>
                <a:ext uri="{FF2B5EF4-FFF2-40B4-BE49-F238E27FC236}">
                  <a16:creationId xmlns:a16="http://schemas.microsoft.com/office/drawing/2014/main" id="{0DF776F1-96EC-435D-B14F-F1640D880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944" y="2279719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76</a:t>
              </a:r>
            </a:p>
          </p:txBody>
        </p:sp>
        <p:sp>
          <p:nvSpPr>
            <p:cNvPr id="139" name="Rectangle 7">
              <a:extLst>
                <a:ext uri="{FF2B5EF4-FFF2-40B4-BE49-F238E27FC236}">
                  <a16:creationId xmlns:a16="http://schemas.microsoft.com/office/drawing/2014/main" id="{89EC6016-C3FD-44E2-8504-06BA1C0A1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0268" y="2484423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77</a:t>
              </a:r>
            </a:p>
          </p:txBody>
        </p:sp>
        <p:sp>
          <p:nvSpPr>
            <p:cNvPr id="140" name="Rectangle 8">
              <a:extLst>
                <a:ext uri="{FF2B5EF4-FFF2-40B4-BE49-F238E27FC236}">
                  <a16:creationId xmlns:a16="http://schemas.microsoft.com/office/drawing/2014/main" id="{FE2B7990-4272-4CEE-8BB6-A6D2060A0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5322" y="3045868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79</a:t>
              </a:r>
            </a:p>
          </p:txBody>
        </p:sp>
        <p:sp>
          <p:nvSpPr>
            <p:cNvPr id="141" name="Rectangle 13">
              <a:extLst>
                <a:ext uri="{FF2B5EF4-FFF2-40B4-BE49-F238E27FC236}">
                  <a16:creationId xmlns:a16="http://schemas.microsoft.com/office/drawing/2014/main" id="{0D087EDE-CBDD-44DF-AFEE-F64E4A495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1068" y="3911997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78</a:t>
              </a:r>
            </a:p>
          </p:txBody>
        </p:sp>
        <p:sp>
          <p:nvSpPr>
            <p:cNvPr id="142" name="Arc 47">
              <a:extLst>
                <a:ext uri="{FF2B5EF4-FFF2-40B4-BE49-F238E27FC236}">
                  <a16:creationId xmlns:a16="http://schemas.microsoft.com/office/drawing/2014/main" id="{46ADE6FE-970A-4672-803D-8B0F2C4F7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0" y="64612"/>
              <a:ext cx="5657850" cy="4638675"/>
            </a:xfrm>
            <a:custGeom>
              <a:avLst/>
              <a:gdLst>
                <a:gd name="T0" fmla="*/ 2147483646 w 21486"/>
                <a:gd name="T1" fmla="*/ 2147483646 h 16844"/>
                <a:gd name="T2" fmla="*/ 0 w 21486"/>
                <a:gd name="T3" fmla="*/ 2147483646 h 16844"/>
                <a:gd name="T4" fmla="*/ 2147483646 w 21486"/>
                <a:gd name="T5" fmla="*/ 0 h 16844"/>
                <a:gd name="T6" fmla="*/ 0 60000 65536"/>
                <a:gd name="T7" fmla="*/ 0 60000 65536"/>
                <a:gd name="T8" fmla="*/ 0 60000 65536"/>
                <a:gd name="T9" fmla="*/ 0 w 21486"/>
                <a:gd name="T10" fmla="*/ 0 h 16844"/>
                <a:gd name="T11" fmla="*/ 21486 w 21486"/>
                <a:gd name="T12" fmla="*/ 16844 h 168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86" h="16844" fill="none" extrusionOk="0">
                  <a:moveTo>
                    <a:pt x="7964" y="16843"/>
                  </a:moveTo>
                  <a:cubicBezTo>
                    <a:pt x="3459" y="13227"/>
                    <a:pt x="591" y="7958"/>
                    <a:pt x="-1" y="2212"/>
                  </a:cubicBezTo>
                </a:path>
                <a:path w="21486" h="16844" stroke="0" extrusionOk="0">
                  <a:moveTo>
                    <a:pt x="7964" y="16843"/>
                  </a:moveTo>
                  <a:cubicBezTo>
                    <a:pt x="3459" y="13227"/>
                    <a:pt x="591" y="7958"/>
                    <a:pt x="-1" y="2212"/>
                  </a:cubicBezTo>
                  <a:lnTo>
                    <a:pt x="21486" y="0"/>
                  </a:lnTo>
                  <a:lnTo>
                    <a:pt x="7964" y="16843"/>
                  </a:lnTo>
                  <a:close/>
                </a:path>
              </a:pathLst>
            </a:custGeom>
            <a:noFill/>
            <a:ln w="25400" cap="rnd">
              <a:solidFill>
                <a:srgbClr val="FF0000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 sz="1100" dirty="0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0DCBDD8-27FF-4452-9D3C-78108A0B4E6F}"/>
              </a:ext>
            </a:extLst>
          </p:cNvPr>
          <p:cNvGrpSpPr/>
          <p:nvPr/>
        </p:nvGrpSpPr>
        <p:grpSpPr>
          <a:xfrm>
            <a:off x="5943627" y="-33891"/>
            <a:ext cx="4509289" cy="4942194"/>
            <a:chOff x="6404776" y="85248"/>
            <a:chExt cx="4509289" cy="4942194"/>
          </a:xfrm>
        </p:grpSpPr>
        <p:sp>
          <p:nvSpPr>
            <p:cNvPr id="144" name="Rectangle 5">
              <a:extLst>
                <a:ext uri="{FF2B5EF4-FFF2-40B4-BE49-F238E27FC236}">
                  <a16:creationId xmlns:a16="http://schemas.microsoft.com/office/drawing/2014/main" id="{40C3237D-7C6D-466B-A587-AD0F4DF87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4776" y="2053855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chemeClr val="accent1"/>
                  </a:solidFill>
                  <a:latin typeface="Arial Narrow" panose="020B0606020202030204" pitchFamily="34" charset="0"/>
                </a:rPr>
                <a:t>80</a:t>
              </a:r>
            </a:p>
          </p:txBody>
        </p:sp>
        <p:sp>
          <p:nvSpPr>
            <p:cNvPr id="145" name="Rectangle 21">
              <a:extLst>
                <a:ext uri="{FF2B5EF4-FFF2-40B4-BE49-F238E27FC236}">
                  <a16:creationId xmlns:a16="http://schemas.microsoft.com/office/drawing/2014/main" id="{301EC618-92D7-4BB4-9027-9525587B0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6425" y="3864466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chemeClr val="accent1"/>
                  </a:solidFill>
                  <a:latin typeface="Arial Narrow" panose="020B0606020202030204" pitchFamily="34" charset="0"/>
                </a:rPr>
                <a:t>82</a:t>
              </a:r>
            </a:p>
          </p:txBody>
        </p:sp>
        <p:sp>
          <p:nvSpPr>
            <p:cNvPr id="146" name="Rectangle 22">
              <a:extLst>
                <a:ext uri="{FF2B5EF4-FFF2-40B4-BE49-F238E27FC236}">
                  <a16:creationId xmlns:a16="http://schemas.microsoft.com/office/drawing/2014/main" id="{21496DE2-4C71-45DC-BCB0-0D15ACB0E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0451" y="4765190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chemeClr val="accent1"/>
                  </a:solidFill>
                  <a:latin typeface="Arial Narrow" panose="020B0606020202030204" pitchFamily="34" charset="0"/>
                </a:rPr>
                <a:t>83</a:t>
              </a:r>
            </a:p>
          </p:txBody>
        </p:sp>
        <p:sp>
          <p:nvSpPr>
            <p:cNvPr id="147" name="Rectangle 23">
              <a:extLst>
                <a:ext uri="{FF2B5EF4-FFF2-40B4-BE49-F238E27FC236}">
                  <a16:creationId xmlns:a16="http://schemas.microsoft.com/office/drawing/2014/main" id="{B5C917DB-DCA6-497D-82D9-FF832778F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2717" y="4511648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chemeClr val="accent1"/>
                  </a:solidFill>
                  <a:latin typeface="Arial Narrow" panose="020B0606020202030204" pitchFamily="34" charset="0"/>
                </a:rPr>
                <a:t>84</a:t>
              </a:r>
            </a:p>
          </p:txBody>
        </p:sp>
        <p:sp>
          <p:nvSpPr>
            <p:cNvPr id="148" name="Rectangle 24">
              <a:extLst>
                <a:ext uri="{FF2B5EF4-FFF2-40B4-BE49-F238E27FC236}">
                  <a16:creationId xmlns:a16="http://schemas.microsoft.com/office/drawing/2014/main" id="{7753F1B0-C81C-4A04-AEC9-D98EE7A8A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1470" y="4307272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rgbClr val="660066"/>
                  </a:solidFill>
                  <a:latin typeface="Arial Narrow" panose="020B0606020202030204" pitchFamily="34" charset="0"/>
                </a:rPr>
                <a:t>85</a:t>
              </a:r>
            </a:p>
          </p:txBody>
        </p:sp>
        <p:sp>
          <p:nvSpPr>
            <p:cNvPr id="149" name="Rectangle 30">
              <a:extLst>
                <a:ext uri="{FF2B5EF4-FFF2-40B4-BE49-F238E27FC236}">
                  <a16:creationId xmlns:a16="http://schemas.microsoft.com/office/drawing/2014/main" id="{9E36E363-91E0-4592-AF96-34A7EDDE1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1402" y="3189175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chemeClr val="accent1"/>
                  </a:solidFill>
                  <a:latin typeface="Arial Narrow" panose="020B0606020202030204" pitchFamily="34" charset="0"/>
                </a:rPr>
                <a:t>81</a:t>
              </a:r>
            </a:p>
          </p:txBody>
        </p:sp>
        <p:sp>
          <p:nvSpPr>
            <p:cNvPr id="150" name="Arc 49">
              <a:extLst>
                <a:ext uri="{FF2B5EF4-FFF2-40B4-BE49-F238E27FC236}">
                  <a16:creationId xmlns:a16="http://schemas.microsoft.com/office/drawing/2014/main" id="{1B5B276B-A09F-40E8-8EF5-9159667B2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7652" y="85248"/>
              <a:ext cx="4316413" cy="4799012"/>
            </a:xfrm>
            <a:custGeom>
              <a:avLst/>
              <a:gdLst>
                <a:gd name="T0" fmla="*/ 2147483646 w 20698"/>
                <a:gd name="T1" fmla="*/ 2147483646 h 21278"/>
                <a:gd name="T2" fmla="*/ 0 w 20698"/>
                <a:gd name="T3" fmla="*/ 2147483646 h 21278"/>
                <a:gd name="T4" fmla="*/ 2147483646 w 20698"/>
                <a:gd name="T5" fmla="*/ 0 h 21278"/>
                <a:gd name="T6" fmla="*/ 0 60000 65536"/>
                <a:gd name="T7" fmla="*/ 0 60000 65536"/>
                <a:gd name="T8" fmla="*/ 0 60000 65536"/>
                <a:gd name="T9" fmla="*/ 0 w 20698"/>
                <a:gd name="T10" fmla="*/ 0 h 21278"/>
                <a:gd name="T11" fmla="*/ 20698 w 20698"/>
                <a:gd name="T12" fmla="*/ 21278 h 212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98" h="21278" fill="none" extrusionOk="0">
                  <a:moveTo>
                    <a:pt x="16980" y="21277"/>
                  </a:moveTo>
                  <a:cubicBezTo>
                    <a:pt x="8916" y="19868"/>
                    <a:pt x="2341" y="14022"/>
                    <a:pt x="0" y="6177"/>
                  </a:cubicBezTo>
                </a:path>
                <a:path w="20698" h="21278" stroke="0" extrusionOk="0">
                  <a:moveTo>
                    <a:pt x="16980" y="21277"/>
                  </a:moveTo>
                  <a:cubicBezTo>
                    <a:pt x="8916" y="19868"/>
                    <a:pt x="2341" y="14022"/>
                    <a:pt x="0" y="6177"/>
                  </a:cubicBezTo>
                  <a:lnTo>
                    <a:pt x="20698" y="0"/>
                  </a:lnTo>
                  <a:lnTo>
                    <a:pt x="16980" y="21277"/>
                  </a:lnTo>
                  <a:close/>
                </a:path>
              </a:pathLst>
            </a:custGeom>
            <a:noFill/>
            <a:ln w="25400" cap="rnd">
              <a:solidFill>
                <a:schemeClr val="accent1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 sz="1100" dirty="0"/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A5ECAB8-FBB8-427F-A242-95C086B7462F}"/>
              </a:ext>
            </a:extLst>
          </p:cNvPr>
          <p:cNvGrpSpPr/>
          <p:nvPr/>
        </p:nvGrpSpPr>
        <p:grpSpPr>
          <a:xfrm>
            <a:off x="6077763" y="1415498"/>
            <a:ext cx="4151312" cy="3904358"/>
            <a:chOff x="6538913" y="1534637"/>
            <a:chExt cx="4151312" cy="3904358"/>
          </a:xfrm>
        </p:grpSpPr>
        <p:sp>
          <p:nvSpPr>
            <p:cNvPr id="152" name="Rectangle 25">
              <a:extLst>
                <a:ext uri="{FF2B5EF4-FFF2-40B4-BE49-F238E27FC236}">
                  <a16:creationId xmlns:a16="http://schemas.microsoft.com/office/drawing/2014/main" id="{5BCAD6C2-0D69-4328-BCC2-2C2AE24AF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5918" y="4951913"/>
              <a:ext cx="314189" cy="26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GB" altLang="en-US" sz="1100" dirty="0">
                  <a:solidFill>
                    <a:schemeClr val="tx2"/>
                  </a:solidFill>
                  <a:latin typeface="Arial Narrow" panose="020B0606020202030204" pitchFamily="34" charset="0"/>
                </a:rPr>
                <a:t>86</a:t>
              </a: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18041114-5D27-460C-9BCB-DAC5BEA4316B}"/>
                </a:ext>
              </a:extLst>
            </p:cNvPr>
            <p:cNvGrpSpPr/>
            <p:nvPr/>
          </p:nvGrpSpPr>
          <p:grpSpPr>
            <a:xfrm>
              <a:off x="6538913" y="1534637"/>
              <a:ext cx="4151312" cy="3904358"/>
              <a:chOff x="6538913" y="1534637"/>
              <a:chExt cx="4151312" cy="3904358"/>
            </a:xfrm>
          </p:grpSpPr>
          <p:sp>
            <p:nvSpPr>
              <p:cNvPr id="154" name="Rectangle 14">
                <a:extLst>
                  <a:ext uri="{FF2B5EF4-FFF2-40B4-BE49-F238E27FC236}">
                    <a16:creationId xmlns:a16="http://schemas.microsoft.com/office/drawing/2014/main" id="{EC915718-2331-4673-B4A8-1D5BF4164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53692" y="3646641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chemeClr val="tx2"/>
                    </a:solidFill>
                    <a:latin typeface="Arial Narrow" panose="020B0606020202030204" pitchFamily="34" charset="0"/>
                  </a:rPr>
                  <a:t>90</a:t>
                </a:r>
              </a:p>
            </p:txBody>
          </p:sp>
          <p:sp>
            <p:nvSpPr>
              <p:cNvPr id="155" name="Rectangle 15">
                <a:extLst>
                  <a:ext uri="{FF2B5EF4-FFF2-40B4-BE49-F238E27FC236}">
                    <a16:creationId xmlns:a16="http://schemas.microsoft.com/office/drawing/2014/main" id="{5175D74D-C781-4B30-B4F3-C913C7250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74378" y="4008944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chemeClr val="tx2"/>
                    </a:solidFill>
                    <a:latin typeface="Arial Narrow" panose="020B0606020202030204" pitchFamily="34" charset="0"/>
                  </a:rPr>
                  <a:t>89</a:t>
                </a:r>
              </a:p>
            </p:txBody>
          </p:sp>
          <p:sp>
            <p:nvSpPr>
              <p:cNvPr id="156" name="Rectangle 18">
                <a:extLst>
                  <a:ext uri="{FF2B5EF4-FFF2-40B4-BE49-F238E27FC236}">
                    <a16:creationId xmlns:a16="http://schemas.microsoft.com/office/drawing/2014/main" id="{087D5355-FF65-4E3F-91D5-79CD6FCFB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75581" y="4357501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chemeClr val="tx2"/>
                    </a:solidFill>
                    <a:latin typeface="Arial Narrow" panose="020B0606020202030204" pitchFamily="34" charset="0"/>
                  </a:rPr>
                  <a:t>91</a:t>
                </a:r>
              </a:p>
            </p:txBody>
          </p:sp>
          <p:sp>
            <p:nvSpPr>
              <p:cNvPr id="157" name="Rectangle 19">
                <a:extLst>
                  <a:ext uri="{FF2B5EF4-FFF2-40B4-BE49-F238E27FC236}">
                    <a16:creationId xmlns:a16="http://schemas.microsoft.com/office/drawing/2014/main" id="{F90EFBD0-E1A7-410D-9F0B-3735F789D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9828" y="4625447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chemeClr val="tx2"/>
                    </a:solidFill>
                    <a:latin typeface="Arial Narrow" panose="020B0606020202030204" pitchFamily="34" charset="0"/>
                  </a:rPr>
                  <a:t>88</a:t>
                </a:r>
              </a:p>
            </p:txBody>
          </p:sp>
          <p:sp>
            <p:nvSpPr>
              <p:cNvPr id="158" name="Rectangle 20">
                <a:extLst>
                  <a:ext uri="{FF2B5EF4-FFF2-40B4-BE49-F238E27FC236}">
                    <a16:creationId xmlns:a16="http://schemas.microsoft.com/office/drawing/2014/main" id="{5C80A8CF-F4A6-44D9-901B-F95EACE4A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6513" y="4811237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chemeClr val="tx2"/>
                    </a:solidFill>
                    <a:latin typeface="Arial Narrow" panose="020B0606020202030204" pitchFamily="34" charset="0"/>
                  </a:rPr>
                  <a:t>95</a:t>
                </a:r>
              </a:p>
            </p:txBody>
          </p:sp>
          <p:sp>
            <p:nvSpPr>
              <p:cNvPr id="159" name="Rectangle 26">
                <a:extLst>
                  <a:ext uri="{FF2B5EF4-FFF2-40B4-BE49-F238E27FC236}">
                    <a16:creationId xmlns:a16="http://schemas.microsoft.com/office/drawing/2014/main" id="{0D64A3E1-8113-4A3D-B1E4-190740FA9B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38667" y="5176743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chemeClr val="tx2"/>
                    </a:solidFill>
                    <a:latin typeface="Arial Narrow" panose="020B0606020202030204" pitchFamily="34" charset="0"/>
                  </a:rPr>
                  <a:t>93</a:t>
                </a:r>
              </a:p>
            </p:txBody>
          </p:sp>
          <p:sp>
            <p:nvSpPr>
              <p:cNvPr id="160" name="Rectangle 27">
                <a:extLst>
                  <a:ext uri="{FF2B5EF4-FFF2-40B4-BE49-F238E27FC236}">
                    <a16:creationId xmlns:a16="http://schemas.microsoft.com/office/drawing/2014/main" id="{EE41D027-1F68-4AF6-8315-92D78AF64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1725" y="4685825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chemeClr val="tx2"/>
                    </a:solidFill>
                    <a:latin typeface="Arial Narrow" panose="020B0606020202030204" pitchFamily="34" charset="0"/>
                  </a:rPr>
                  <a:t>87</a:t>
                </a:r>
              </a:p>
            </p:txBody>
          </p:sp>
          <p:sp>
            <p:nvSpPr>
              <p:cNvPr id="161" name="Rectangle 28">
                <a:extLst>
                  <a:ext uri="{FF2B5EF4-FFF2-40B4-BE49-F238E27FC236}">
                    <a16:creationId xmlns:a16="http://schemas.microsoft.com/office/drawing/2014/main" id="{C2DB40A0-68B3-47F6-BBDE-565AED85E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4804" y="4766126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chemeClr val="tx2"/>
                    </a:solidFill>
                    <a:latin typeface="Arial Narrow" panose="020B0606020202030204" pitchFamily="34" charset="0"/>
                  </a:rPr>
                  <a:t>92</a:t>
                </a:r>
              </a:p>
            </p:txBody>
          </p:sp>
          <p:sp>
            <p:nvSpPr>
              <p:cNvPr id="162" name="Rectangle 29">
                <a:extLst>
                  <a:ext uri="{FF2B5EF4-FFF2-40B4-BE49-F238E27FC236}">
                    <a16:creationId xmlns:a16="http://schemas.microsoft.com/office/drawing/2014/main" id="{E38DB813-A72C-4D51-8100-63114FB7A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97850" y="5030381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chemeClr val="tx2"/>
                    </a:solidFill>
                    <a:latin typeface="Arial Narrow" panose="020B0606020202030204" pitchFamily="34" charset="0"/>
                  </a:rPr>
                  <a:t>94</a:t>
                </a:r>
              </a:p>
            </p:txBody>
          </p:sp>
          <p:sp>
            <p:nvSpPr>
              <p:cNvPr id="163" name="Arc 48">
                <a:extLst>
                  <a:ext uri="{FF2B5EF4-FFF2-40B4-BE49-F238E27FC236}">
                    <a16:creationId xmlns:a16="http://schemas.microsoft.com/office/drawing/2014/main" id="{812CEBF4-6C75-43DD-BD32-DEC8749EC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8913" y="1534637"/>
                <a:ext cx="4151312" cy="3857625"/>
              </a:xfrm>
              <a:custGeom>
                <a:avLst/>
                <a:gdLst>
                  <a:gd name="T0" fmla="*/ 2147483646 w 18370"/>
                  <a:gd name="T1" fmla="*/ 2147483646 h 21451"/>
                  <a:gd name="T2" fmla="*/ 0 w 18370"/>
                  <a:gd name="T3" fmla="*/ 2147483646 h 21451"/>
                  <a:gd name="T4" fmla="*/ 2147483646 w 18370"/>
                  <a:gd name="T5" fmla="*/ 0 h 21451"/>
                  <a:gd name="T6" fmla="*/ 0 60000 65536"/>
                  <a:gd name="T7" fmla="*/ 0 60000 65536"/>
                  <a:gd name="T8" fmla="*/ 0 60000 65536"/>
                  <a:gd name="T9" fmla="*/ 0 w 18370"/>
                  <a:gd name="T10" fmla="*/ 0 h 21451"/>
                  <a:gd name="T11" fmla="*/ 18370 w 18370"/>
                  <a:gd name="T12" fmla="*/ 21451 h 214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370" h="21451" fill="none" extrusionOk="0">
                    <a:moveTo>
                      <a:pt x="15840" y="21451"/>
                    </a:moveTo>
                    <a:cubicBezTo>
                      <a:pt x="9298" y="20680"/>
                      <a:pt x="3465" y="16965"/>
                      <a:pt x="0" y="11362"/>
                    </a:cubicBezTo>
                  </a:path>
                  <a:path w="18370" h="21451" stroke="0" extrusionOk="0">
                    <a:moveTo>
                      <a:pt x="15840" y="21451"/>
                    </a:moveTo>
                    <a:cubicBezTo>
                      <a:pt x="9298" y="20680"/>
                      <a:pt x="3465" y="16965"/>
                      <a:pt x="0" y="11362"/>
                    </a:cubicBezTo>
                    <a:lnTo>
                      <a:pt x="18370" y="0"/>
                    </a:lnTo>
                    <a:lnTo>
                      <a:pt x="15840" y="21451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2"/>
                </a:solidFill>
                <a:prstDash val="lg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 sz="1100"/>
              </a:p>
            </p:txBody>
          </p:sp>
          <p:sp>
            <p:nvSpPr>
              <p:cNvPr id="164" name="Rectangle 27">
                <a:extLst>
                  <a:ext uri="{FF2B5EF4-FFF2-40B4-BE49-F238E27FC236}">
                    <a16:creationId xmlns:a16="http://schemas.microsoft.com/office/drawing/2014/main" id="{082F1C7F-7DF0-47F4-948D-ED5508FCF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1051" y="4963628"/>
                <a:ext cx="449263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GB" altLang="en-US" sz="1100" dirty="0">
                  <a:solidFill>
                    <a:schemeClr val="tx2"/>
                  </a:solidFill>
                  <a:latin typeface="Arial Narrow" panose="020B0606020202030204" pitchFamily="34" charset="0"/>
                </a:endParaRPr>
              </a:p>
            </p:txBody>
          </p:sp>
        </p:grpSp>
      </p:grpSp>
      <p:sp>
        <p:nvSpPr>
          <p:cNvPr id="165" name="AutoShape 50">
            <a:extLst>
              <a:ext uri="{FF2B5EF4-FFF2-40B4-BE49-F238E27FC236}">
                <a16:creationId xmlns:a16="http://schemas.microsoft.com/office/drawing/2014/main" id="{49E31AF2-14F3-45A8-AC0D-138D8A1AB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8529" y="916407"/>
            <a:ext cx="2624137" cy="404813"/>
          </a:xfrm>
          <a:prstGeom prst="roundRect">
            <a:avLst>
              <a:gd name="adj" fmla="val 16667"/>
            </a:avLst>
          </a:prstGeom>
          <a:solidFill>
            <a:srgbClr val="FFFFD7"/>
          </a:solidFill>
          <a:ln w="19050">
            <a:solidFill>
              <a:schemeClr val="accent1"/>
            </a:solidFill>
            <a:round/>
            <a:headEnd type="none" w="sm" len="sm"/>
            <a:tailEnd type="none" w="sm" len="med"/>
          </a:ln>
        </p:spPr>
        <p:txBody>
          <a:bodyPr wrap="none" lIns="90000" tIns="46800" rIns="90000" bIns="46800" anchor="ctr">
            <a:spAutoFit/>
          </a:bodyPr>
          <a:lstStyle>
            <a:lvl1pPr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hlink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700">
                <a:solidFill>
                  <a:srgbClr val="660066"/>
                </a:solidFill>
              </a:rPr>
              <a:t>Possible Phillips curves?</a:t>
            </a: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6D7DE211-3B73-46FC-A20E-36E61437C734}"/>
              </a:ext>
            </a:extLst>
          </p:cNvPr>
          <p:cNvCxnSpPr/>
          <p:nvPr/>
        </p:nvCxnSpPr>
        <p:spPr bwMode="auto">
          <a:xfrm>
            <a:off x="2108731" y="5629106"/>
            <a:ext cx="7858665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93450277-9444-0299-72C2-2910A1BFE8FC}"/>
              </a:ext>
            </a:extLst>
          </p:cNvPr>
          <p:cNvGrpSpPr/>
          <p:nvPr/>
        </p:nvGrpSpPr>
        <p:grpSpPr>
          <a:xfrm>
            <a:off x="4160925" y="2990244"/>
            <a:ext cx="3102455" cy="2966857"/>
            <a:chOff x="4160925" y="2990244"/>
            <a:chExt cx="3102455" cy="296685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AF38F05-8195-B435-1DAA-0C62EC499E67}"/>
                </a:ext>
              </a:extLst>
            </p:cNvPr>
            <p:cNvGrpSpPr/>
            <p:nvPr/>
          </p:nvGrpSpPr>
          <p:grpSpPr>
            <a:xfrm>
              <a:off x="4160925" y="2990244"/>
              <a:ext cx="3102455" cy="2966857"/>
              <a:chOff x="4160925" y="2990244"/>
              <a:chExt cx="3102455" cy="2966857"/>
            </a:xfrm>
          </p:grpSpPr>
          <p:sp>
            <p:nvSpPr>
              <p:cNvPr id="6" name="Text Box 64">
                <a:extLst>
                  <a:ext uri="{FF2B5EF4-FFF2-40B4-BE49-F238E27FC236}">
                    <a16:creationId xmlns:a16="http://schemas.microsoft.com/office/drawing/2014/main" id="{7EA09D35-AA4C-818E-C7C0-A701C2F245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85812" y="4377106"/>
                <a:ext cx="358775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11</a:t>
                </a:r>
                <a:endParaRPr lang="en-US" altLang="en-US" sz="1100" dirty="0">
                  <a:solidFill>
                    <a:srgbClr val="996633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7" name="Line 58">
                <a:extLst>
                  <a:ext uri="{FF2B5EF4-FFF2-40B4-BE49-F238E27FC236}">
                    <a16:creationId xmlns:a16="http://schemas.microsoft.com/office/drawing/2014/main" id="{401E20AA-EADA-70DB-DFB4-E7FA126EC0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206106" y="5144671"/>
                <a:ext cx="2932112" cy="20638"/>
              </a:xfrm>
              <a:prstGeom prst="line">
                <a:avLst/>
              </a:prstGeom>
              <a:noFill/>
              <a:ln w="25400">
                <a:solidFill>
                  <a:srgbClr val="996600"/>
                </a:solidFill>
                <a:prstDash val="lgDash"/>
                <a:round/>
                <a:headEnd type="none" w="sm" len="sm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en-GB" sz="1100"/>
              </a:p>
            </p:txBody>
          </p:sp>
          <p:sp>
            <p:nvSpPr>
              <p:cNvPr id="8" name="Rectangle 55">
                <a:extLst>
                  <a:ext uri="{FF2B5EF4-FFF2-40B4-BE49-F238E27FC236}">
                    <a16:creationId xmlns:a16="http://schemas.microsoft.com/office/drawing/2014/main" id="{19E4F2C6-8BCE-6BCE-DE3A-222E05B70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2210" y="4806398"/>
                <a:ext cx="346075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04</a:t>
                </a:r>
              </a:p>
            </p:txBody>
          </p:sp>
          <p:sp>
            <p:nvSpPr>
              <p:cNvPr id="9" name="Rectangle 54">
                <a:extLst>
                  <a:ext uri="{FF2B5EF4-FFF2-40B4-BE49-F238E27FC236}">
                    <a16:creationId xmlns:a16="http://schemas.microsoft.com/office/drawing/2014/main" id="{CFB0E2D2-F279-DCAA-A4EE-5C7E3C421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6315" y="4829144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03</a:t>
                </a:r>
              </a:p>
            </p:txBody>
          </p:sp>
          <p:sp>
            <p:nvSpPr>
              <p:cNvPr id="10" name="Rectangle 53">
                <a:extLst>
                  <a:ext uri="{FF2B5EF4-FFF2-40B4-BE49-F238E27FC236}">
                    <a16:creationId xmlns:a16="http://schemas.microsoft.com/office/drawing/2014/main" id="{65C89C8C-D07B-E1E6-640E-487587584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2115" y="5168624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02</a:t>
                </a:r>
              </a:p>
            </p:txBody>
          </p:sp>
          <p:sp>
            <p:nvSpPr>
              <p:cNvPr id="11" name="Rectangle 51">
                <a:extLst>
                  <a:ext uri="{FF2B5EF4-FFF2-40B4-BE49-F238E27FC236}">
                    <a16:creationId xmlns:a16="http://schemas.microsoft.com/office/drawing/2014/main" id="{0F020D69-DECD-783F-E1FE-7E9C5D923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8379" y="5195277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16</a:t>
                </a:r>
              </a:p>
            </p:txBody>
          </p:sp>
          <p:sp>
            <p:nvSpPr>
              <p:cNvPr id="12" name="Text Box 61">
                <a:extLst>
                  <a:ext uri="{FF2B5EF4-FFF2-40B4-BE49-F238E27FC236}">
                    <a16:creationId xmlns:a16="http://schemas.microsoft.com/office/drawing/2014/main" id="{BF43957B-FFF6-6D34-3177-40E349BDDD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09783" y="5349270"/>
                <a:ext cx="358775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15</a:t>
                </a:r>
              </a:p>
            </p:txBody>
          </p:sp>
          <p:sp>
            <p:nvSpPr>
              <p:cNvPr id="13" name="Text Box 61">
                <a:extLst>
                  <a:ext uri="{FF2B5EF4-FFF2-40B4-BE49-F238E27FC236}">
                    <a16:creationId xmlns:a16="http://schemas.microsoft.com/office/drawing/2014/main" id="{DB62A151-FFD5-731B-73F6-20EDEBC665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2577" y="5118493"/>
                <a:ext cx="358775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14</a:t>
                </a:r>
              </a:p>
            </p:txBody>
          </p:sp>
          <p:sp>
            <p:nvSpPr>
              <p:cNvPr id="14" name="Rectangle 56">
                <a:extLst>
                  <a:ext uri="{FF2B5EF4-FFF2-40B4-BE49-F238E27FC236}">
                    <a16:creationId xmlns:a16="http://schemas.microsoft.com/office/drawing/2014/main" id="{DF1BA0E0-3796-B6CC-9590-3341F5320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9430" y="4946488"/>
                <a:ext cx="349250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05</a:t>
                </a:r>
              </a:p>
            </p:txBody>
          </p:sp>
          <p:sp>
            <p:nvSpPr>
              <p:cNvPr id="15" name="Text Box 64">
                <a:extLst>
                  <a:ext uri="{FF2B5EF4-FFF2-40B4-BE49-F238E27FC236}">
                    <a16:creationId xmlns:a16="http://schemas.microsoft.com/office/drawing/2014/main" id="{D6E3CDC3-0F7F-27AA-1059-958B1B7DE8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00692" y="4468397"/>
                <a:ext cx="358775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10</a:t>
                </a:r>
                <a:endParaRPr lang="en-US" altLang="en-US" sz="1100" dirty="0">
                  <a:solidFill>
                    <a:srgbClr val="996633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6" name="Rectangle 16">
                <a:extLst>
                  <a:ext uri="{FF2B5EF4-FFF2-40B4-BE49-F238E27FC236}">
                    <a16:creationId xmlns:a16="http://schemas.microsoft.com/office/drawing/2014/main" id="{4C1E5589-DF5B-B6B8-E7B7-5405436AD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5432" y="4795352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97</a:t>
                </a: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163A40F8-4BB2-2BA5-D3E4-E82A73FF84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17305" y="4938686"/>
                <a:ext cx="346075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96</a:t>
                </a:r>
              </a:p>
            </p:txBody>
          </p:sp>
          <p:sp>
            <p:nvSpPr>
              <p:cNvPr id="18" name="Rectangle 43">
                <a:extLst>
                  <a:ext uri="{FF2B5EF4-FFF2-40B4-BE49-F238E27FC236}">
                    <a16:creationId xmlns:a16="http://schemas.microsoft.com/office/drawing/2014/main" id="{8E611A7B-A534-DE76-B0DC-19EC0ECAA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33371" y="5301417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99</a:t>
                </a:r>
              </a:p>
            </p:txBody>
          </p:sp>
          <p:sp>
            <p:nvSpPr>
              <p:cNvPr id="19" name="Rectangle 44">
                <a:extLst>
                  <a:ext uri="{FF2B5EF4-FFF2-40B4-BE49-F238E27FC236}">
                    <a16:creationId xmlns:a16="http://schemas.microsoft.com/office/drawing/2014/main" id="{A6C7F22B-802C-E2A6-6B22-DBAB86AA0F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2101" y="4730860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98</a:t>
                </a:r>
              </a:p>
            </p:txBody>
          </p:sp>
          <p:sp>
            <p:nvSpPr>
              <p:cNvPr id="20" name="Rectangle 51">
                <a:extLst>
                  <a:ext uri="{FF2B5EF4-FFF2-40B4-BE49-F238E27FC236}">
                    <a16:creationId xmlns:a16="http://schemas.microsoft.com/office/drawing/2014/main" id="{BC62F391-4C37-DA9A-2EE4-B4DB28121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9233" y="4909664"/>
                <a:ext cx="444232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00</a:t>
                </a:r>
              </a:p>
            </p:txBody>
          </p:sp>
          <p:sp>
            <p:nvSpPr>
              <p:cNvPr id="21" name="Rectangle 52">
                <a:extLst>
                  <a:ext uri="{FF2B5EF4-FFF2-40B4-BE49-F238E27FC236}">
                    <a16:creationId xmlns:a16="http://schemas.microsoft.com/office/drawing/2014/main" id="{AABF408D-830A-5082-CD33-5B30C5DCD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2624" y="5083909"/>
                <a:ext cx="346075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01</a:t>
                </a:r>
              </a:p>
            </p:txBody>
          </p:sp>
          <p:sp>
            <p:nvSpPr>
              <p:cNvPr id="22" name="Rectangle 57">
                <a:extLst>
                  <a:ext uri="{FF2B5EF4-FFF2-40B4-BE49-F238E27FC236}">
                    <a16:creationId xmlns:a16="http://schemas.microsoft.com/office/drawing/2014/main" id="{91252FD3-2920-1526-CF84-44303F556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4637" y="4788852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06</a:t>
                </a:r>
              </a:p>
            </p:txBody>
          </p:sp>
          <p:sp>
            <p:nvSpPr>
              <p:cNvPr id="23" name="Text Box 59">
                <a:extLst>
                  <a:ext uri="{FF2B5EF4-FFF2-40B4-BE49-F238E27FC236}">
                    <a16:creationId xmlns:a16="http://schemas.microsoft.com/office/drawing/2014/main" id="{63568EFA-966D-7276-BC96-DED14C74C2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2407" y="4554965"/>
                <a:ext cx="358775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07</a:t>
                </a:r>
                <a:endParaRPr lang="en-US" altLang="en-US" sz="1100" dirty="0">
                  <a:solidFill>
                    <a:srgbClr val="996633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24" name="Text Box 60">
                <a:extLst>
                  <a:ext uri="{FF2B5EF4-FFF2-40B4-BE49-F238E27FC236}">
                    <a16:creationId xmlns:a16="http://schemas.microsoft.com/office/drawing/2014/main" id="{7C7793EE-4860-0C4C-FEBB-B7C13B91D3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22053" y="4630379"/>
                <a:ext cx="358775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08</a:t>
                </a:r>
                <a:endParaRPr lang="en-US" altLang="en-US" sz="1100" dirty="0">
                  <a:solidFill>
                    <a:srgbClr val="996633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25" name="Text Box 61">
                <a:extLst>
                  <a:ext uri="{FF2B5EF4-FFF2-40B4-BE49-F238E27FC236}">
                    <a16:creationId xmlns:a16="http://schemas.microsoft.com/office/drawing/2014/main" id="{88BB9BF1-2630-DC24-46B8-651C33611D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92003" y="5693310"/>
                <a:ext cx="358775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09</a:t>
                </a:r>
                <a:endParaRPr lang="en-US" altLang="en-US" sz="1100" dirty="0">
                  <a:solidFill>
                    <a:srgbClr val="996633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26" name="Text Box 64">
                <a:extLst>
                  <a:ext uri="{FF2B5EF4-FFF2-40B4-BE49-F238E27FC236}">
                    <a16:creationId xmlns:a16="http://schemas.microsoft.com/office/drawing/2014/main" id="{21B3BF99-042E-D0A1-4C77-144E277708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92003" y="4826630"/>
                <a:ext cx="358775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12</a:t>
                </a:r>
                <a:endParaRPr lang="en-US" altLang="en-US" sz="1100" dirty="0">
                  <a:solidFill>
                    <a:srgbClr val="996633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27" name="Text Box 64">
                <a:extLst>
                  <a:ext uri="{FF2B5EF4-FFF2-40B4-BE49-F238E27FC236}">
                    <a16:creationId xmlns:a16="http://schemas.microsoft.com/office/drawing/2014/main" id="{2403F2B3-9923-2694-74F5-ED5D7874C9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8449" y="4922104"/>
                <a:ext cx="358775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13</a:t>
                </a:r>
                <a:endParaRPr lang="en-US" altLang="en-US" sz="1100" dirty="0">
                  <a:solidFill>
                    <a:srgbClr val="996633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28" name="Rectangle 51">
                <a:extLst>
                  <a:ext uri="{FF2B5EF4-FFF2-40B4-BE49-F238E27FC236}">
                    <a16:creationId xmlns:a16="http://schemas.microsoft.com/office/drawing/2014/main" id="{B1752C00-F275-0241-4CAA-B1477D1A2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0925" y="4914933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19</a:t>
                </a:r>
              </a:p>
            </p:txBody>
          </p:sp>
          <p:sp>
            <p:nvSpPr>
              <p:cNvPr id="29" name="Rectangle 51">
                <a:extLst>
                  <a:ext uri="{FF2B5EF4-FFF2-40B4-BE49-F238E27FC236}">
                    <a16:creationId xmlns:a16="http://schemas.microsoft.com/office/drawing/2014/main" id="{3584894E-F6C7-5EA6-9195-0CBCC8457B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7849" y="4764899"/>
                <a:ext cx="349455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17</a:t>
                </a:r>
              </a:p>
            </p:txBody>
          </p:sp>
          <p:sp>
            <p:nvSpPr>
              <p:cNvPr id="30" name="Rectangle 51">
                <a:extLst>
                  <a:ext uri="{FF2B5EF4-FFF2-40B4-BE49-F238E27FC236}">
                    <a16:creationId xmlns:a16="http://schemas.microsoft.com/office/drawing/2014/main" id="{25668BBC-F473-4422-BCD0-FA427FD8F0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3805" y="4783807"/>
                <a:ext cx="314189" cy="26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18</a:t>
                </a:r>
              </a:p>
            </p:txBody>
          </p:sp>
          <p:sp>
            <p:nvSpPr>
              <p:cNvPr id="31" name="Text Box 61">
                <a:extLst>
                  <a:ext uri="{FF2B5EF4-FFF2-40B4-BE49-F238E27FC236}">
                    <a16:creationId xmlns:a16="http://schemas.microsoft.com/office/drawing/2014/main" id="{6C9C8AD1-837F-6B96-E8C9-8A0C57C52C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8959" y="5303011"/>
                <a:ext cx="358775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20</a:t>
                </a:r>
              </a:p>
            </p:txBody>
          </p:sp>
          <p:sp>
            <p:nvSpPr>
              <p:cNvPr id="2048" name="Text Box 61">
                <a:extLst>
                  <a:ext uri="{FF2B5EF4-FFF2-40B4-BE49-F238E27FC236}">
                    <a16:creationId xmlns:a16="http://schemas.microsoft.com/office/drawing/2014/main" id="{7CE3AA41-05A1-089E-1000-07CB43722D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624924" y="2990244"/>
                <a:ext cx="340540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22</a:t>
                </a:r>
              </a:p>
            </p:txBody>
          </p:sp>
          <p:sp>
            <p:nvSpPr>
              <p:cNvPr id="2049" name="Text Box 59">
                <a:extLst>
                  <a:ext uri="{FF2B5EF4-FFF2-40B4-BE49-F238E27FC236}">
                    <a16:creationId xmlns:a16="http://schemas.microsoft.com/office/drawing/2014/main" id="{0A913E8C-592D-1F61-6919-116FAD2D5F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3745" y="4453117"/>
                <a:ext cx="358775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23</a:t>
                </a:r>
                <a:endParaRPr lang="en-US" altLang="en-US" sz="1100" dirty="0">
                  <a:solidFill>
                    <a:srgbClr val="996633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2050" name="Text Box 59">
                <a:extLst>
                  <a:ext uri="{FF2B5EF4-FFF2-40B4-BE49-F238E27FC236}">
                    <a16:creationId xmlns:a16="http://schemas.microsoft.com/office/drawing/2014/main" id="{C2428D91-E893-B660-25E9-545954773D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6873" y="4642572"/>
                <a:ext cx="358775" cy="2637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med"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900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1100" dirty="0">
                    <a:solidFill>
                      <a:srgbClr val="996633"/>
                    </a:solidFill>
                    <a:latin typeface="Arial Narrow" panose="020B0606020202030204" pitchFamily="34" charset="0"/>
                  </a:rPr>
                  <a:t>21</a:t>
                </a:r>
                <a:endParaRPr lang="en-US" altLang="en-US" sz="1100" dirty="0">
                  <a:solidFill>
                    <a:srgbClr val="996633"/>
                  </a:solidFill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4" name="Text Box 61">
              <a:extLst>
                <a:ext uri="{FF2B5EF4-FFF2-40B4-BE49-F238E27FC236}">
                  <a16:creationId xmlns:a16="http://schemas.microsoft.com/office/drawing/2014/main" id="{F3239647-DAFC-EE97-6129-362355771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1262" y="5118493"/>
              <a:ext cx="358775" cy="263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med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100" dirty="0">
                  <a:solidFill>
                    <a:srgbClr val="996633"/>
                  </a:solidFill>
                  <a:latin typeface="Arial Narrow" panose="020B0606020202030204" pitchFamily="34" charset="0"/>
                </a:rPr>
                <a:t>25</a:t>
              </a:r>
            </a:p>
          </p:txBody>
        </p:sp>
        <p:sp>
          <p:nvSpPr>
            <p:cNvPr id="5" name="Text Box 61">
              <a:extLst>
                <a:ext uri="{FF2B5EF4-FFF2-40B4-BE49-F238E27FC236}">
                  <a16:creationId xmlns:a16="http://schemas.microsoft.com/office/drawing/2014/main" id="{C16F4B45-07D8-E13B-B01B-110CD792B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0053" y="5060681"/>
              <a:ext cx="358775" cy="263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med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hlink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100" dirty="0">
                  <a:solidFill>
                    <a:srgbClr val="996633"/>
                  </a:solidFill>
                  <a:latin typeface="Arial Narrow" panose="020B0606020202030204" pitchFamily="34" charset="0"/>
                </a:rPr>
                <a:t>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8101753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2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2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2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6" name="Rectangle 4">
            <a:extLst>
              <a:ext uri="{FF2B5EF4-FFF2-40B4-BE49-F238E27FC236}">
                <a16:creationId xmlns:a16="http://schemas.microsoft.com/office/drawing/2014/main" id="{5C2BFC78-5A83-496D-8748-DBD1204B7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1800"/>
              </a:spcBef>
            </a:pPr>
            <a:r>
              <a:rPr lang="en-GB" altLang="en-US" dirty="0"/>
              <a:t>Explaining the changing Phillips’ relation (will not </a:t>
            </a:r>
            <a:r>
              <a:rPr lang="en-GB" altLang="en-US"/>
              <a:t>be tested in exam)</a:t>
            </a:r>
            <a:endParaRPr lang="en-GB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837" name="Rectangle 5">
                <a:extLst>
                  <a:ext uri="{FF2B5EF4-FFF2-40B4-BE49-F238E27FC236}">
                    <a16:creationId xmlns:a16="http://schemas.microsoft.com/office/drawing/2014/main" id="{BE4DEFB3-64E5-4058-8702-3EDDF5A6D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167" y="1422103"/>
                <a:ext cx="11379200" cy="483076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GB" altLang="en-US" dirty="0">
                    <a:latin typeface="+mn-lt"/>
                  </a:rPr>
                  <a:t>Since 1970s, economists have used expectations-augmented Phillips curve (</a:t>
                </a:r>
                <a:r>
                  <a:rPr lang="en-GB" altLang="en-US" i="1" dirty="0">
                    <a:latin typeface="+mn-lt"/>
                  </a:rPr>
                  <a:t>EAPC</a:t>
                </a:r>
                <a:r>
                  <a:rPr lang="en-GB" altLang="en-US" dirty="0">
                    <a:latin typeface="+mn-lt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+mn-lt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GB" b="0" i="1" smtClean="0">
                          <a:latin typeface="+mn-lt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+mn-lt"/>
                          <a:ea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GB" b="0" i="1" smtClean="0">
                              <a:latin typeface="+mn-lt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+mn-lt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U</m:t>
                              </m:r>
                            </m:den>
                          </m:f>
                        </m:e>
                      </m:d>
                      <m:r>
                        <a:rPr lang="en-GB" b="0" i="0" smtClean="0">
                          <a:latin typeface="+mn-lt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+mn-lt"/>
                          <a:ea typeface="Cambria Math" panose="02040503050406030204" pitchFamily="18" charset="0"/>
                        </a:rPr>
                        <m:t>𝜋</m:t>
                      </m:r>
                      <m:r>
                        <m:rPr>
                          <m:nor/>
                        </m:rPr>
                        <a:rPr lang="en-GB" baseline="30000" dirty="0" err="1">
                          <a:latin typeface="+mn-lt"/>
                        </a:rPr>
                        <m:t>e</m:t>
                      </m:r>
                      <m:r>
                        <m:rPr>
                          <m:nor/>
                        </m:rPr>
                        <a:rPr lang="en-GB" b="0" i="0" dirty="0" smtClean="0">
                          <a:latin typeface="+mn-lt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i="1" dirty="0" smtClean="0">
                          <a:latin typeface="+mn-lt"/>
                          <a:ea typeface="Cambria Math" panose="02040503050406030204" pitchFamily="18" charset="0"/>
                        </a:rPr>
                        <m:t>κ</m:t>
                      </m:r>
                    </m:oMath>
                  </m:oMathPara>
                </a14:m>
                <a:endParaRPr lang="en-GB" altLang="en-US" dirty="0">
                  <a:latin typeface="+mn-lt"/>
                </a:endParaRPr>
              </a:p>
              <a:p>
                <a:pPr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GB" altLang="en-US" dirty="0">
                    <a:latin typeface="+mn-lt"/>
                  </a:rPr>
                  <a:t>Inflation depends on</a:t>
                </a:r>
              </a:p>
              <a:p>
                <a:pPr lvl="2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GB" altLang="en-US" sz="2400" b="1" dirty="0">
                    <a:latin typeface="+mn-lt"/>
                  </a:rPr>
                  <a:t>aggregate demand</a:t>
                </a:r>
                <a:r>
                  <a:rPr lang="en-GB" altLang="en-US" sz="2400" dirty="0">
                    <a:latin typeface="+mn-lt"/>
                  </a:rPr>
                  <a:t>, captured as inverse of unemployment (1/</a:t>
                </a:r>
                <a:r>
                  <a:rPr lang="en-GB" altLang="en-US" sz="2400" i="1" dirty="0">
                    <a:latin typeface="+mn-lt"/>
                  </a:rPr>
                  <a:t>U</a:t>
                </a:r>
                <a:r>
                  <a:rPr lang="en-GB" altLang="en-US" sz="2400" dirty="0">
                    <a:latin typeface="+mn-lt"/>
                  </a:rPr>
                  <a:t>)</a:t>
                </a:r>
              </a:p>
              <a:p>
                <a:pPr lvl="3">
                  <a:spcBef>
                    <a:spcPts val="1800"/>
                  </a:spcBef>
                </a:pPr>
                <a:r>
                  <a:rPr lang="en-GB" altLang="en-US" sz="2000" dirty="0">
                    <a:latin typeface="+mn-lt"/>
                  </a:rPr>
                  <a:t>as aggregate demand increases, unemployment falls, prices rise</a:t>
                </a:r>
              </a:p>
              <a:p>
                <a:pPr lvl="2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GB" altLang="en-US" sz="2400" b="1" dirty="0">
                    <a:latin typeface="+mn-lt"/>
                  </a:rPr>
                  <a:t>expected level of inflation </a:t>
                </a:r>
                <a:r>
                  <a:rPr lang="en-GB" altLang="en-US" sz="2400" dirty="0">
                    <a:latin typeface="+mn-lt"/>
                  </a:rPr>
                  <a:t>(</a:t>
                </a:r>
                <a:r>
                  <a:rPr lang="en-GB" altLang="en-US" sz="2400" i="1" dirty="0">
                    <a:latin typeface="+mn-lt"/>
                  </a:rPr>
                  <a:t>p</a:t>
                </a:r>
                <a:r>
                  <a:rPr lang="en-GB" altLang="en-US" sz="2400" i="1" baseline="30000" dirty="0">
                    <a:latin typeface="+mn-lt"/>
                    <a:cs typeface="Arial" panose="020B0604020202020204" pitchFamily="34" charset="0"/>
                  </a:rPr>
                  <a:t>e</a:t>
                </a:r>
                <a:r>
                  <a:rPr lang="en-GB" altLang="en-US" sz="2400" dirty="0">
                    <a:latin typeface="+mn-lt"/>
                  </a:rPr>
                  <a:t>) – making expectations self-fulfilling?</a:t>
                </a:r>
              </a:p>
              <a:p>
                <a:pPr lvl="3">
                  <a:spcBef>
                    <a:spcPts val="1800"/>
                  </a:spcBef>
                </a:pPr>
                <a:r>
                  <a:rPr lang="en-GB" altLang="en-US" sz="2000" dirty="0">
                    <a:latin typeface="+mn-lt"/>
                  </a:rPr>
                  <a:t>If prices expected to rise, unemployment at any price level higher</a:t>
                </a:r>
              </a:p>
              <a:p>
                <a:pPr lvl="2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GB" altLang="en-US" sz="2400" b="1" dirty="0">
                    <a:latin typeface="+mn-lt"/>
                    <a:cs typeface="Arial" panose="020B0604020202020204" pitchFamily="34" charset="0"/>
                  </a:rPr>
                  <a:t>cost-pressures</a:t>
                </a:r>
                <a:r>
                  <a:rPr lang="en-GB" altLang="en-US" sz="2400" dirty="0">
                    <a:latin typeface="+mn-lt"/>
                    <a:cs typeface="Arial" panose="020B0604020202020204" pitchFamily="34" charset="0"/>
                  </a:rPr>
                  <a:t> (</a:t>
                </a:r>
                <a:r>
                  <a:rPr lang="en-GB" altLang="en-US" sz="2400" i="1" dirty="0">
                    <a:latin typeface="+mn-lt"/>
                    <a:cs typeface="Arial" panose="020B0604020202020204" pitchFamily="34" charset="0"/>
                  </a:rPr>
                  <a:t>k</a:t>
                </a:r>
                <a:r>
                  <a:rPr lang="en-GB" altLang="en-US" sz="2400" dirty="0">
                    <a:latin typeface="+mn-lt"/>
                    <a:cs typeface="Arial" panose="020B0604020202020204" pitchFamily="34" charset="0"/>
                  </a:rPr>
                  <a:t>) – often from external sources, e.g. energy prices</a:t>
                </a:r>
              </a:p>
            </p:txBody>
          </p:sp>
        </mc:Choice>
        <mc:Fallback>
          <p:sp>
            <p:nvSpPr>
              <p:cNvPr id="120837" name="Rectangle 5">
                <a:extLst>
                  <a:ext uri="{FF2B5EF4-FFF2-40B4-BE49-F238E27FC236}">
                    <a16:creationId xmlns:a16="http://schemas.microsoft.com/office/drawing/2014/main" id="{BE4DEFB3-64E5-4058-8702-3EDDF5A6D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167" y="1422103"/>
                <a:ext cx="11379200" cy="4830762"/>
              </a:xfrm>
              <a:blipFill>
                <a:blip r:embed="rId3"/>
                <a:stretch>
                  <a:fillRect l="-750" t="-100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4">
            <a:extLst>
              <a:ext uri="{FF2B5EF4-FFF2-40B4-BE49-F238E27FC236}">
                <a16:creationId xmlns:a16="http://schemas.microsoft.com/office/drawing/2014/main" id="{2F7AE020-DF7B-47E7-B1FE-3AE041274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19" y="-429035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979552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0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0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0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0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20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0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208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08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208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08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208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08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6" grpId="0" autoUpdateAnimBg="0"/>
      <p:bldP spid="120837" grpId="0" build="p" bldLvl="3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8" name="Text Box 4">
            <a:extLst>
              <a:ext uri="{FF2B5EF4-FFF2-40B4-BE49-F238E27FC236}">
                <a16:creationId xmlns:a16="http://schemas.microsoft.com/office/drawing/2014/main" id="{AF44830B-1596-4343-8A90-A443233B3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"/>
            <a:ext cx="9144000" cy="847725"/>
          </a:xfrm>
          <a:prstGeom prst="rect">
            <a:avLst/>
          </a:prstGeom>
          <a:noFill/>
          <a:ln>
            <a:noFill/>
          </a:ln>
          <a:effectLst>
            <a:outerShdw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99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GB" altLang="en-US" sz="2600" b="1">
                <a:solidFill>
                  <a:srgbClr val="660066"/>
                </a:solidFill>
                <a:latin typeface="Arial" panose="020B0604020202020204" pitchFamily="34" charset="0"/>
              </a:rPr>
              <a:t>General government deficits/surpluses</a:t>
            </a:r>
          </a:p>
          <a:p>
            <a:pPr algn="ctr">
              <a:lnSpc>
                <a:spcPct val="95000"/>
              </a:lnSpc>
            </a:pPr>
            <a:r>
              <a:rPr lang="en-GB" altLang="en-US" sz="2600" b="1">
                <a:solidFill>
                  <a:srgbClr val="660066"/>
                </a:solidFill>
                <a:latin typeface="Arial" panose="020B0604020202020204" pitchFamily="34" charset="0"/>
              </a:rPr>
              <a:t>and debt as % of GDP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6DE22E25-6F93-A21C-3A22-4B364214FF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4250" y="947738"/>
          <a:ext cx="9418638" cy="612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12695" imgH="3456655" progId="Word.Document.12">
                  <p:embed/>
                </p:oleObj>
              </mc:Choice>
              <mc:Fallback>
                <p:oleObj name="Document" r:id="rId3" imgW="5412695" imgH="3456655" progId="Word.Document.12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6DE22E25-6F93-A21C-3A22-4B364214FF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-6178" r="6213" b="-1686"/>
                      <a:stretch>
                        <a:fillRect/>
                      </a:stretch>
                    </p:blipFill>
                    <p:spPr bwMode="auto">
                      <a:xfrm>
                        <a:off x="984250" y="947738"/>
                        <a:ext cx="9418638" cy="612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>
            <a:extLst>
              <a:ext uri="{FF2B5EF4-FFF2-40B4-BE49-F238E27FC236}">
                <a16:creationId xmlns:a16="http://schemas.microsoft.com/office/drawing/2014/main" id="{032AFCB9-00EC-2FF2-C988-97A9DC8FF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734" y="6426203"/>
            <a:ext cx="796564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GB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Based on data from </a:t>
            </a:r>
            <a:r>
              <a:rPr lang="en-GB" alt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AMECO </a:t>
            </a:r>
            <a:r>
              <a:rPr lang="en-GB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database, Tables 16.3 and 18.1 (European Commission, DGECFIN, 2022)</a:t>
            </a:r>
            <a:r>
              <a:rPr lang="en-GB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892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 dir="d"/>
      </p:transition>
    </mc:Choice>
    <mc:Fallback xmlns="">
      <p:transition spd="slow">
        <p:wipe dir="d"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33E8BDE1-FFFF-4B2D-AE77-2F5C64365A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" y="833438"/>
          <a:ext cx="12192000" cy="5763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27" name="Rectangle 39">
            <a:extLst>
              <a:ext uri="{FF2B5EF4-FFF2-40B4-BE49-F238E27FC236}">
                <a16:creationId xmlns:a16="http://schemas.microsoft.com/office/drawing/2014/main" id="{3017547C-1399-44FD-902D-3127BC7C9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966788"/>
          </a:xfrm>
          <a:prstGeom prst="rect">
            <a:avLst/>
          </a:prstGeom>
          <a:noFill/>
          <a:ln>
            <a:noFill/>
          </a:ln>
          <a:effectLst>
            <a:outerShdw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91440" rIns="92075" bIns="46038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UK public-sector current and capital expenditures</a:t>
            </a:r>
            <a:br>
              <a:rPr lang="en-GB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</a:br>
            <a:r>
              <a:rPr lang="en-GB" altLang="en-US" sz="2600" b="1" dirty="0">
                <a:solidFill>
                  <a:srgbClr val="660066"/>
                </a:solidFill>
                <a:latin typeface="Arial" panose="020B0604020202020204" pitchFamily="34" charset="0"/>
              </a:rPr>
              <a:t>(financial years beginning)</a:t>
            </a:r>
          </a:p>
        </p:txBody>
      </p:sp>
      <p:sp>
        <p:nvSpPr>
          <p:cNvPr id="1028" name="TextBox 4">
            <a:extLst>
              <a:ext uri="{FF2B5EF4-FFF2-40B4-BE49-F238E27FC236}">
                <a16:creationId xmlns:a16="http://schemas.microsoft.com/office/drawing/2014/main" id="{3B20CAD8-F4AF-4A04-A054-D0EBE35F7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1" y="6369050"/>
            <a:ext cx="97155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300" i="1" dirty="0">
                <a:solidFill>
                  <a:srgbClr val="696E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  <a:r>
              <a:rPr lang="en-GB" altLang="en-US" sz="1300" dirty="0">
                <a:solidFill>
                  <a:srgbClr val="696E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1300" dirty="0">
                <a:solidFill>
                  <a:srgbClr val="696E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lang="en-GB" altLang="en-US" sz="1300" dirty="0">
                <a:solidFill>
                  <a:srgbClr val="696E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 are based on financial years; forecasts from 2022/23</a:t>
            </a:r>
          </a:p>
          <a:p>
            <a:pPr eaLnBrk="1" hangingPunct="1"/>
            <a:r>
              <a:rPr lang="en-GB" altLang="en-US" sz="1300" i="1" dirty="0">
                <a:solidFill>
                  <a:srgbClr val="696E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</a:t>
            </a:r>
            <a:r>
              <a:rPr lang="en-GB" altLang="en-US" sz="1300" dirty="0">
                <a:solidFill>
                  <a:srgbClr val="696E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altLang="en-US" sz="1300" i="1" dirty="0">
                <a:solidFill>
                  <a:srgbClr val="696E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Finances Databank</a:t>
            </a:r>
            <a:r>
              <a:rPr lang="en-GB" altLang="en-US" sz="1300" dirty="0">
                <a:solidFill>
                  <a:srgbClr val="696E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altLang="en-US" sz="1300" dirty="0">
                <a:solidFill>
                  <a:srgbClr val="696E9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 for Budget Responsibility</a:t>
            </a:r>
            <a:endParaRPr lang="en-GB" altLang="en-US" sz="1300" dirty="0">
              <a:solidFill>
                <a:srgbClr val="696E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177256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Chart bld="series" animBg="0"/>
        </p:bldSub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9">
            <a:extLst>
              <a:ext uri="{FF2B5EF4-FFF2-40B4-BE49-F238E27FC236}">
                <a16:creationId xmlns:a16="http://schemas.microsoft.com/office/drawing/2014/main" id="{B992E88A-C101-FBDC-15B9-1EAC37A12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620688"/>
          </a:xfrm>
          <a:prstGeom prst="rect">
            <a:avLst/>
          </a:prstGeom>
          <a:noFill/>
          <a:ln>
            <a:noFill/>
          </a:ln>
          <a:effectLst>
            <a:outerShdw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91440" rIns="92075" bIns="46038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en-US" sz="2800" b="1" dirty="0">
                <a:solidFill>
                  <a:srgbClr val="660066"/>
                </a:solidFill>
                <a:latin typeface="Arial" panose="020B0604020202020204" pitchFamily="34" charset="0"/>
              </a:rPr>
              <a:t>UK public-sector spending and receipts (financial years)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2D0614DB-5F08-7A68-434C-8B42B59E4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6369050"/>
            <a:ext cx="89773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Notes</a:t>
            </a:r>
            <a:r>
              <a:rPr lang="en-GB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OBR forecasts from 2022/23. Figures exclude public banks.</a:t>
            </a:r>
          </a:p>
          <a:p>
            <a:pPr eaLnBrk="1" hangingPunct="1"/>
            <a:r>
              <a:rPr lang="en-GB" alt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n-GB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alt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 Finances Databank</a:t>
            </a:r>
            <a:r>
              <a:rPr lang="en-GB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Office for Budget Responsibility (November 2022)</a:t>
            </a: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1CF75807-01F8-7F64-A4C6-1538F1BA05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11499"/>
          <a:ext cx="12191999" cy="5999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32305901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Chart bld="series" animBg="0"/>
        </p:bldSub>
      </p:bldGraphic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BS PowerPoint Template (Official).pptx" id="{0B949918-01BA-4D49-8100-B241C941CF28}" vid="{818D0F1B-ED24-4043-861A-D433F19CA78C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BS PowerPoint Template (Official).pptx" id="{0B949918-01BA-4D49-8100-B241C941CF28}" vid="{8079BABB-D5A2-4A04-86CD-415D03243D00}"/>
    </a:ext>
  </a:extLst>
</a:theme>
</file>

<file path=ppt/theme/theme3.xml><?xml version="1.0" encoding="utf-8"?>
<a:theme xmlns:a="http://schemas.openxmlformats.org/drawingml/2006/main" name="1_Office Theme">
  <a:themeElements>
    <a:clrScheme name="Heriot-Watt Colours 2">
      <a:dk1>
        <a:srgbClr val="000000"/>
      </a:dk1>
      <a:lt1>
        <a:srgbClr val="FFFFFF"/>
      </a:lt1>
      <a:dk2>
        <a:srgbClr val="003454"/>
      </a:dk2>
      <a:lt2>
        <a:srgbClr val="0094BD"/>
      </a:lt2>
      <a:accent1>
        <a:srgbClr val="257039"/>
      </a:accent1>
      <a:accent2>
        <a:srgbClr val="B8D137"/>
      </a:accent2>
      <a:accent3>
        <a:srgbClr val="A7BE33"/>
      </a:accent3>
      <a:accent4>
        <a:srgbClr val="51160F"/>
      </a:accent4>
      <a:accent5>
        <a:srgbClr val="E8822C"/>
      </a:accent5>
      <a:accent6>
        <a:srgbClr val="D91D5B"/>
      </a:accent6>
      <a:hlink>
        <a:srgbClr val="E88EAD"/>
      </a:hlink>
      <a:folHlink>
        <a:srgbClr val="6F185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BS PowerPoint Template (Official).pptx" id="{0B949918-01BA-4D49-8100-B241C941CF28}" vid="{0D2A3BC3-CEDD-4C53-A3FC-3DE9294C301B}"/>
    </a:ext>
  </a:extLst>
</a:theme>
</file>

<file path=ppt/theme/theme4.xml><?xml version="1.0" encoding="utf-8"?>
<a:theme xmlns:a="http://schemas.openxmlformats.org/drawingml/2006/main" name="4_Custom Design">
  <a:themeElements>
    <a:clrScheme name="Heriot-Watt Colours 2">
      <a:dk1>
        <a:srgbClr val="000000"/>
      </a:dk1>
      <a:lt1>
        <a:srgbClr val="FFFFFF"/>
      </a:lt1>
      <a:dk2>
        <a:srgbClr val="003454"/>
      </a:dk2>
      <a:lt2>
        <a:srgbClr val="0094BD"/>
      </a:lt2>
      <a:accent1>
        <a:srgbClr val="257039"/>
      </a:accent1>
      <a:accent2>
        <a:srgbClr val="B8D137"/>
      </a:accent2>
      <a:accent3>
        <a:srgbClr val="A7BE33"/>
      </a:accent3>
      <a:accent4>
        <a:srgbClr val="51160F"/>
      </a:accent4>
      <a:accent5>
        <a:srgbClr val="E8822C"/>
      </a:accent5>
      <a:accent6>
        <a:srgbClr val="D91D5B"/>
      </a:accent6>
      <a:hlink>
        <a:srgbClr val="E88EAD"/>
      </a:hlink>
      <a:folHlink>
        <a:srgbClr val="6F185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BS PowerPoint Template (Official).pptx" id="{0B949918-01BA-4D49-8100-B241C941CF28}" vid="{34F82C73-F6DE-4FCA-855E-58081A0B843E}"/>
    </a:ext>
  </a:extLst>
</a:theme>
</file>

<file path=ppt/theme/theme5.xml><?xml version="1.0" encoding="utf-8"?>
<a:theme xmlns:a="http://schemas.openxmlformats.org/drawingml/2006/main" name="5_Custom Design">
  <a:themeElements>
    <a:clrScheme name="Heriot-Watt Colours 2">
      <a:dk1>
        <a:srgbClr val="000000"/>
      </a:dk1>
      <a:lt1>
        <a:srgbClr val="FFFFFF"/>
      </a:lt1>
      <a:dk2>
        <a:srgbClr val="003454"/>
      </a:dk2>
      <a:lt2>
        <a:srgbClr val="0094BD"/>
      </a:lt2>
      <a:accent1>
        <a:srgbClr val="257039"/>
      </a:accent1>
      <a:accent2>
        <a:srgbClr val="B8D137"/>
      </a:accent2>
      <a:accent3>
        <a:srgbClr val="A7BE33"/>
      </a:accent3>
      <a:accent4>
        <a:srgbClr val="51160F"/>
      </a:accent4>
      <a:accent5>
        <a:srgbClr val="E8822C"/>
      </a:accent5>
      <a:accent6>
        <a:srgbClr val="D91D5B"/>
      </a:accent6>
      <a:hlink>
        <a:srgbClr val="E88EAD"/>
      </a:hlink>
      <a:folHlink>
        <a:srgbClr val="6F185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BS PowerPoint Template (Official).pptx" id="{0B949918-01BA-4D49-8100-B241C941CF28}" vid="{B3867412-9FC6-4B77-B245-0DBC0A5A1474}"/>
    </a:ext>
  </a:extLst>
</a:theme>
</file>

<file path=ppt/theme/theme6.xml><?xml version="1.0" encoding="utf-8"?>
<a:theme xmlns:a="http://schemas.openxmlformats.org/drawingml/2006/main" name="6_Custom Design">
  <a:themeElements>
    <a:clrScheme name="Heriot-Watt Colours 2">
      <a:dk1>
        <a:srgbClr val="000000"/>
      </a:dk1>
      <a:lt1>
        <a:srgbClr val="FFFFFF"/>
      </a:lt1>
      <a:dk2>
        <a:srgbClr val="003454"/>
      </a:dk2>
      <a:lt2>
        <a:srgbClr val="0094BD"/>
      </a:lt2>
      <a:accent1>
        <a:srgbClr val="257039"/>
      </a:accent1>
      <a:accent2>
        <a:srgbClr val="B8D137"/>
      </a:accent2>
      <a:accent3>
        <a:srgbClr val="A7BE33"/>
      </a:accent3>
      <a:accent4>
        <a:srgbClr val="51160F"/>
      </a:accent4>
      <a:accent5>
        <a:srgbClr val="E8822C"/>
      </a:accent5>
      <a:accent6>
        <a:srgbClr val="D91D5B"/>
      </a:accent6>
      <a:hlink>
        <a:srgbClr val="E88EAD"/>
      </a:hlink>
      <a:folHlink>
        <a:srgbClr val="6F185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BS PowerPoint Template (Official).pptx" id="{0B949918-01BA-4D49-8100-B241C941CF28}" vid="{B3867412-9FC6-4B77-B245-0DBC0A5A1474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A621054F1D04C90C60CDB3C987234" ma:contentTypeVersion="17" ma:contentTypeDescription="Create a new document." ma:contentTypeScope="" ma:versionID="18071292a42031f7c77aa4bdf678ff00">
  <xsd:schema xmlns:xsd="http://www.w3.org/2001/XMLSchema" xmlns:xs="http://www.w3.org/2001/XMLSchema" xmlns:p="http://schemas.microsoft.com/office/2006/metadata/properties" xmlns:ns2="4e318df0-612d-4dff-ad55-c2016fd214d1" xmlns:ns3="750e769a-c6ab-48a0-ac99-347a633d873e" targetNamespace="http://schemas.microsoft.com/office/2006/metadata/properties" ma:root="true" ma:fieldsID="f3dd89fd09c91a75d61e58820517e053" ns2:_="" ns3:_="">
    <xsd:import namespace="4e318df0-612d-4dff-ad55-c2016fd214d1"/>
    <xsd:import namespace="750e769a-c6ab-48a0-ac99-347a633d87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318df0-612d-4dff-ad55-c2016fd214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f8fe375-cbb6-4b35-9ea2-3916cf22ce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0e769a-c6ab-48a0-ac99-347a633d873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26268af-b411-43de-b041-f690f17633b8}" ma:internalName="TaxCatchAll" ma:showField="CatchAllData" ma:web="750e769a-c6ab-48a0-ac99-347a633d87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50e769a-c6ab-48a0-ac99-347a633d873e" xsi:nil="true"/>
    <lcf76f155ced4ddcb4097134ff3c332f xmlns="4e318df0-612d-4dff-ad55-c2016fd214d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D7B2099-E7CC-434D-9C82-BE12EDC62CEE}">
  <ds:schemaRefs>
    <ds:schemaRef ds:uri="4e318df0-612d-4dff-ad55-c2016fd214d1"/>
    <ds:schemaRef ds:uri="750e769a-c6ab-48a0-ac99-347a633d87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ECF88A7-10E3-4B78-AAB4-E035B0995F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2C876A-3CFF-456F-9860-B4CE26D1D368}">
  <ds:schemaRefs>
    <ds:schemaRef ds:uri="4e318df0-612d-4dff-ad55-c2016fd214d1"/>
    <ds:schemaRef ds:uri="750e769a-c6ab-48a0-ac99-347a633d873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</TotalTime>
  <Words>3602</Words>
  <Application>Microsoft Office PowerPoint</Application>
  <PresentationFormat>Widescreen</PresentationFormat>
  <Paragraphs>613</Paragraphs>
  <Slides>51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67" baseType="lpstr">
      <vt:lpstr>Aptos</vt:lpstr>
      <vt:lpstr>Arial</vt:lpstr>
      <vt:lpstr>Arial Narrow</vt:lpstr>
      <vt:lpstr>Calibri</vt:lpstr>
      <vt:lpstr>Cambria Math</vt:lpstr>
      <vt:lpstr>Helvetica</vt:lpstr>
      <vt:lpstr>Symbol</vt:lpstr>
      <vt:lpstr>Times New Roman</vt:lpstr>
      <vt:lpstr>Custom Design</vt:lpstr>
      <vt:lpstr>1_Custom Design</vt:lpstr>
      <vt:lpstr>1_Office Theme</vt:lpstr>
      <vt:lpstr>4_Custom Design</vt:lpstr>
      <vt:lpstr>5_Custom Design</vt:lpstr>
      <vt:lpstr>6_Custom Design</vt:lpstr>
      <vt:lpstr>Clip</vt:lpstr>
      <vt:lpstr>Document</vt:lpstr>
      <vt:lpstr>C29PE Economics for Professionals</vt:lpstr>
      <vt:lpstr>Session Aims</vt:lpstr>
      <vt:lpstr>References</vt:lpstr>
      <vt:lpstr>Income and expenditure</vt:lpstr>
      <vt:lpstr>A diagram of the simple Keynesian model</vt:lpstr>
      <vt:lpstr>PowerPoint Presentation</vt:lpstr>
      <vt:lpstr>When injections equal withdrawals</vt:lpstr>
      <vt:lpstr>PowerPoint Presentation</vt:lpstr>
      <vt:lpstr>Marginal propensities</vt:lpstr>
      <vt:lpstr>The multiplier</vt:lpstr>
      <vt:lpstr>The multiplier and marginal propensities</vt:lpstr>
      <vt:lpstr>The policy problem – full employment</vt:lpstr>
      <vt:lpstr>PowerPoint Presentation</vt:lpstr>
      <vt:lpstr>The policy problem – full employment</vt:lpstr>
      <vt:lpstr>PowerPoint Presentation</vt:lpstr>
      <vt:lpstr>Short Run Aggregate Supply: Extreme case </vt:lpstr>
      <vt:lpstr>PowerPoint Presentation</vt:lpstr>
      <vt:lpstr>Short Run Aggregate Supply</vt:lpstr>
      <vt:lpstr>Upward sloping short-run aggregate supply cureve</vt:lpstr>
      <vt:lpstr>Long Run Aggregate Supply</vt:lpstr>
      <vt:lpstr>PowerPoint Presentation</vt:lpstr>
      <vt:lpstr>Vertical Long-run Aggregate Supply</vt:lpstr>
      <vt:lpstr>PowerPoint Presentation</vt:lpstr>
      <vt:lpstr>PowerPoint Presentation</vt:lpstr>
      <vt:lpstr>Phillips’ curve</vt:lpstr>
      <vt:lpstr>PowerPoint Presentation</vt:lpstr>
      <vt:lpstr>PowerPoint Presentation</vt:lpstr>
      <vt:lpstr>Output, Unemployment and Inflation</vt:lpstr>
      <vt:lpstr>Fiscal Policy and the Public Finances</vt:lpstr>
      <vt:lpstr>Fiscal Policy</vt:lpstr>
      <vt:lpstr>Elements of public finance</vt:lpstr>
      <vt:lpstr>Are these deficits sustainable?</vt:lpstr>
      <vt:lpstr>Business cycle and public finances</vt:lpstr>
      <vt:lpstr>Using tax and spending actively</vt:lpstr>
      <vt:lpstr>Implementing discretionary policy</vt:lpstr>
      <vt:lpstr>Fiscal policy: stabilising or destabilising?</vt:lpstr>
      <vt:lpstr>Monetary Policy</vt:lpstr>
      <vt:lpstr>Managing monetary policy</vt:lpstr>
      <vt:lpstr>Summary</vt:lpstr>
      <vt:lpstr>Supplementary slides for reading</vt:lpstr>
      <vt:lpstr>PowerPoint Presentation</vt:lpstr>
      <vt:lpstr>PowerPoint Presentation</vt:lpstr>
      <vt:lpstr>PowerPoint Presentation</vt:lpstr>
      <vt:lpstr>(Very long run) Aggregate Supply curve</vt:lpstr>
      <vt:lpstr>PowerPoint Presentation</vt:lpstr>
      <vt:lpstr>PowerPoint Presentation</vt:lpstr>
      <vt:lpstr>PowerPoint Presentation</vt:lpstr>
      <vt:lpstr>Explaining the changing Phillips’ relation (will not be tested in exam)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Grant Campbell</dc:creator>
  <cp:lastModifiedBy>Hui, Hon Chung</cp:lastModifiedBy>
  <cp:revision>15</cp:revision>
  <cp:lastPrinted>2024-03-27T09:31:09Z</cp:lastPrinted>
  <dcterms:created xsi:type="dcterms:W3CDTF">2024-03-26T13:44:16Z</dcterms:created>
  <dcterms:modified xsi:type="dcterms:W3CDTF">2025-08-29T02:01:57Z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0x010100B93A621054F1D04C90C60CDB3C987234</vt:lpwstr>
  </property>
  <property fmtid="{D5CDD505-2E9C-101B-9397-08002B2CF9AE}" pid="3" name="MediaServiceImageTags">
    <vt:lpwstr/>
  </property>
</Properties>
</file>