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tags/tag1.xml" ContentType="application/vnd.openxmlformats-officedocument.presentationml.tags+xml"/>
  <Override PartName="/ppt/notesSlides/notesSlide21.xml" ContentType="application/vnd.openxmlformats-officedocument.presentationml.notesSlide+xml"/>
  <Override PartName="/ppt/tags/tag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4.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5.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6.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5.xml" ContentType="application/vnd.openxmlformats-officedocument.drawingml.chart+xml"/>
  <Override PartName="/ppt/notesSlides/notesSlide44.xml" ContentType="application/vnd.openxmlformats-officedocument.presentationml.notesSlide+xml"/>
  <Override PartName="/ppt/charts/chart6.xml" ContentType="application/vnd.openxmlformats-officedocument.drawingml.chart+xml"/>
  <Override PartName="/ppt/notesSlides/notesSlide45.xml" ContentType="application/vnd.openxmlformats-officedocument.presentationml.notesSlide+xml"/>
  <Override PartName="/ppt/charts/chart7.xml" ContentType="application/vnd.openxmlformats-officedocument.drawingml.chart+xml"/>
  <Override PartName="/ppt/notesSlides/notesSlide46.xml" ContentType="application/vnd.openxmlformats-officedocument.presentationml.notesSlide+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65"/>
  </p:notesMasterIdLst>
  <p:sldIdLst>
    <p:sldId id="1019" r:id="rId10"/>
    <p:sldId id="1020" r:id="rId11"/>
    <p:sldId id="628" r:id="rId12"/>
    <p:sldId id="629" r:id="rId13"/>
    <p:sldId id="630" r:id="rId14"/>
    <p:sldId id="398" r:id="rId15"/>
    <p:sldId id="399" r:id="rId16"/>
    <p:sldId id="572" r:id="rId17"/>
    <p:sldId id="1011" r:id="rId18"/>
    <p:sldId id="568" r:id="rId19"/>
    <p:sldId id="998" r:id="rId20"/>
    <p:sldId id="1014" r:id="rId21"/>
    <p:sldId id="404" r:id="rId22"/>
    <p:sldId id="1016" r:id="rId23"/>
    <p:sldId id="1017" r:id="rId24"/>
    <p:sldId id="963" r:id="rId25"/>
    <p:sldId id="405" r:id="rId26"/>
    <p:sldId id="452" r:id="rId27"/>
    <p:sldId id="964" r:id="rId28"/>
    <p:sldId id="569" r:id="rId29"/>
    <p:sldId id="626" r:id="rId30"/>
    <p:sldId id="617" r:id="rId31"/>
    <p:sldId id="625" r:id="rId32"/>
    <p:sldId id="257" r:id="rId33"/>
    <p:sldId id="607" r:id="rId34"/>
    <p:sldId id="624" r:id="rId35"/>
    <p:sldId id="460" r:id="rId36"/>
    <p:sldId id="485" r:id="rId37"/>
    <p:sldId id="1003" r:id="rId38"/>
    <p:sldId id="1018" r:id="rId39"/>
    <p:sldId id="488" r:id="rId40"/>
    <p:sldId id="606" r:id="rId41"/>
    <p:sldId id="490" r:id="rId42"/>
    <p:sldId id="600" r:id="rId43"/>
    <p:sldId id="608" r:id="rId44"/>
    <p:sldId id="495" r:id="rId45"/>
    <p:sldId id="522" r:id="rId46"/>
    <p:sldId id="523" r:id="rId47"/>
    <p:sldId id="966" r:id="rId48"/>
    <p:sldId id="1021" r:id="rId49"/>
    <p:sldId id="1006" r:id="rId50"/>
    <p:sldId id="1007" r:id="rId51"/>
    <p:sldId id="1008" r:id="rId52"/>
    <p:sldId id="1009" r:id="rId53"/>
    <p:sldId id="1010" r:id="rId54"/>
    <p:sldId id="1012" r:id="rId55"/>
    <p:sldId id="1013" r:id="rId56"/>
    <p:sldId id="999" r:id="rId57"/>
    <p:sldId id="1015" r:id="rId58"/>
    <p:sldId id="586" r:id="rId59"/>
    <p:sldId id="580" r:id="rId60"/>
    <p:sldId id="622" r:id="rId61"/>
    <p:sldId id="962" r:id="rId62"/>
    <p:sldId id="1000" r:id="rId63"/>
    <p:sldId id="605"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6"/>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viewProps" Target="viewProp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519274934383196E-2"/>
          <c:y val="3.8775520666015049E-2"/>
          <c:w val="0.85135843175853021"/>
          <c:h val="0.87728564516495278"/>
        </c:manualLayout>
      </c:layout>
      <c:lineChart>
        <c:grouping val="standard"/>
        <c:varyColors val="0"/>
        <c:ser>
          <c:idx val="1"/>
          <c:order val="0"/>
          <c:tx>
            <c:strRef>
              <c:f>Sheet1!$B$1</c:f>
              <c:strCache>
                <c:ptCount val="1"/>
                <c:pt idx="0">
                  <c:v>M4</c:v>
                </c:pt>
              </c:strCache>
            </c:strRef>
          </c:tx>
          <c:spPr>
            <a:ln w="38100">
              <a:solidFill>
                <a:srgbClr val="0000FF"/>
              </a:solidFill>
              <a:prstDash val="solid"/>
            </a:ln>
          </c:spPr>
          <c:marker>
            <c:symbol val="none"/>
          </c:marker>
          <c:cat>
            <c:numRef>
              <c:f>Sheet1!$A$2:$A$211</c:f>
              <c:numCache>
                <c:formatCode>d\-mmm\-yy</c:formatCode>
                <c:ptCount val="210"/>
                <c:pt idx="0">
                  <c:v>25658</c:v>
                </c:pt>
                <c:pt idx="1">
                  <c:v>25749</c:v>
                </c:pt>
                <c:pt idx="2">
                  <c:v>25841</c:v>
                </c:pt>
                <c:pt idx="3">
                  <c:v>25933</c:v>
                </c:pt>
                <c:pt idx="4">
                  <c:v>26023</c:v>
                </c:pt>
                <c:pt idx="5">
                  <c:v>26114</c:v>
                </c:pt>
                <c:pt idx="6">
                  <c:v>26206</c:v>
                </c:pt>
                <c:pt idx="7">
                  <c:v>26298</c:v>
                </c:pt>
                <c:pt idx="8">
                  <c:v>26389</c:v>
                </c:pt>
                <c:pt idx="9">
                  <c:v>26480</c:v>
                </c:pt>
                <c:pt idx="10">
                  <c:v>26572</c:v>
                </c:pt>
                <c:pt idx="11">
                  <c:v>26664</c:v>
                </c:pt>
                <c:pt idx="12">
                  <c:v>26754</c:v>
                </c:pt>
                <c:pt idx="13">
                  <c:v>26845</c:v>
                </c:pt>
                <c:pt idx="14">
                  <c:v>26937</c:v>
                </c:pt>
                <c:pt idx="15">
                  <c:v>27029</c:v>
                </c:pt>
                <c:pt idx="16">
                  <c:v>27119</c:v>
                </c:pt>
                <c:pt idx="17">
                  <c:v>27210</c:v>
                </c:pt>
                <c:pt idx="18">
                  <c:v>27302</c:v>
                </c:pt>
                <c:pt idx="19">
                  <c:v>27394</c:v>
                </c:pt>
                <c:pt idx="20">
                  <c:v>27484</c:v>
                </c:pt>
                <c:pt idx="21">
                  <c:v>27575</c:v>
                </c:pt>
                <c:pt idx="22">
                  <c:v>27667</c:v>
                </c:pt>
                <c:pt idx="23">
                  <c:v>27759</c:v>
                </c:pt>
                <c:pt idx="24">
                  <c:v>27850</c:v>
                </c:pt>
                <c:pt idx="25">
                  <c:v>27941</c:v>
                </c:pt>
                <c:pt idx="26">
                  <c:v>28033</c:v>
                </c:pt>
                <c:pt idx="27">
                  <c:v>28125</c:v>
                </c:pt>
                <c:pt idx="28">
                  <c:v>28215</c:v>
                </c:pt>
                <c:pt idx="29">
                  <c:v>28306</c:v>
                </c:pt>
                <c:pt idx="30">
                  <c:v>28398</c:v>
                </c:pt>
                <c:pt idx="31">
                  <c:v>28490</c:v>
                </c:pt>
                <c:pt idx="32">
                  <c:v>28580</c:v>
                </c:pt>
                <c:pt idx="33">
                  <c:v>28671</c:v>
                </c:pt>
                <c:pt idx="34">
                  <c:v>28763</c:v>
                </c:pt>
                <c:pt idx="35">
                  <c:v>28855</c:v>
                </c:pt>
                <c:pt idx="36">
                  <c:v>28945</c:v>
                </c:pt>
                <c:pt idx="37">
                  <c:v>29036</c:v>
                </c:pt>
                <c:pt idx="38">
                  <c:v>29128</c:v>
                </c:pt>
                <c:pt idx="39">
                  <c:v>29220</c:v>
                </c:pt>
                <c:pt idx="40">
                  <c:v>29311</c:v>
                </c:pt>
                <c:pt idx="41">
                  <c:v>29402</c:v>
                </c:pt>
                <c:pt idx="42">
                  <c:v>29494</c:v>
                </c:pt>
                <c:pt idx="43">
                  <c:v>29586</c:v>
                </c:pt>
                <c:pt idx="44">
                  <c:v>29676</c:v>
                </c:pt>
                <c:pt idx="45">
                  <c:v>29767</c:v>
                </c:pt>
                <c:pt idx="46">
                  <c:v>29859</c:v>
                </c:pt>
                <c:pt idx="47">
                  <c:v>29951</c:v>
                </c:pt>
                <c:pt idx="48">
                  <c:v>30041</c:v>
                </c:pt>
                <c:pt idx="49">
                  <c:v>30132</c:v>
                </c:pt>
                <c:pt idx="50">
                  <c:v>30224</c:v>
                </c:pt>
                <c:pt idx="51">
                  <c:v>30316</c:v>
                </c:pt>
                <c:pt idx="52">
                  <c:v>30406</c:v>
                </c:pt>
                <c:pt idx="53">
                  <c:v>30497</c:v>
                </c:pt>
                <c:pt idx="54">
                  <c:v>30589</c:v>
                </c:pt>
                <c:pt idx="55">
                  <c:v>30681</c:v>
                </c:pt>
                <c:pt idx="56">
                  <c:v>30772</c:v>
                </c:pt>
                <c:pt idx="57">
                  <c:v>30863</c:v>
                </c:pt>
                <c:pt idx="58">
                  <c:v>30955</c:v>
                </c:pt>
                <c:pt idx="59">
                  <c:v>31047</c:v>
                </c:pt>
                <c:pt idx="60">
                  <c:v>31137</c:v>
                </c:pt>
                <c:pt idx="61">
                  <c:v>31228</c:v>
                </c:pt>
                <c:pt idx="62">
                  <c:v>31320</c:v>
                </c:pt>
                <c:pt idx="63">
                  <c:v>31412</c:v>
                </c:pt>
                <c:pt idx="64">
                  <c:v>31502</c:v>
                </c:pt>
                <c:pt idx="65">
                  <c:v>31593</c:v>
                </c:pt>
                <c:pt idx="66">
                  <c:v>31685</c:v>
                </c:pt>
                <c:pt idx="67">
                  <c:v>31777</c:v>
                </c:pt>
                <c:pt idx="68">
                  <c:v>31867</c:v>
                </c:pt>
                <c:pt idx="69">
                  <c:v>31958</c:v>
                </c:pt>
                <c:pt idx="70">
                  <c:v>32050</c:v>
                </c:pt>
                <c:pt idx="71">
                  <c:v>32142</c:v>
                </c:pt>
                <c:pt idx="72">
                  <c:v>32233</c:v>
                </c:pt>
                <c:pt idx="73">
                  <c:v>32324</c:v>
                </c:pt>
                <c:pt idx="74">
                  <c:v>32416</c:v>
                </c:pt>
                <c:pt idx="75">
                  <c:v>32508</c:v>
                </c:pt>
                <c:pt idx="76">
                  <c:v>32598</c:v>
                </c:pt>
                <c:pt idx="77">
                  <c:v>32689</c:v>
                </c:pt>
                <c:pt idx="78">
                  <c:v>32781</c:v>
                </c:pt>
                <c:pt idx="79">
                  <c:v>32873</c:v>
                </c:pt>
                <c:pt idx="80">
                  <c:v>32963</c:v>
                </c:pt>
                <c:pt idx="81">
                  <c:v>33054</c:v>
                </c:pt>
                <c:pt idx="82">
                  <c:v>33146</c:v>
                </c:pt>
                <c:pt idx="83">
                  <c:v>33238</c:v>
                </c:pt>
                <c:pt idx="84">
                  <c:v>33328</c:v>
                </c:pt>
                <c:pt idx="85">
                  <c:v>33419</c:v>
                </c:pt>
                <c:pt idx="86">
                  <c:v>33511</c:v>
                </c:pt>
                <c:pt idx="87">
                  <c:v>33603</c:v>
                </c:pt>
                <c:pt idx="88">
                  <c:v>33694</c:v>
                </c:pt>
                <c:pt idx="89">
                  <c:v>33785</c:v>
                </c:pt>
                <c:pt idx="90">
                  <c:v>33877</c:v>
                </c:pt>
                <c:pt idx="91">
                  <c:v>33969</c:v>
                </c:pt>
                <c:pt idx="92">
                  <c:v>34059</c:v>
                </c:pt>
                <c:pt idx="93">
                  <c:v>34150</c:v>
                </c:pt>
                <c:pt idx="94">
                  <c:v>34242</c:v>
                </c:pt>
                <c:pt idx="95">
                  <c:v>34334</c:v>
                </c:pt>
                <c:pt idx="96">
                  <c:v>34424</c:v>
                </c:pt>
                <c:pt idx="97">
                  <c:v>34515</c:v>
                </c:pt>
                <c:pt idx="98">
                  <c:v>34607</c:v>
                </c:pt>
                <c:pt idx="99">
                  <c:v>34699</c:v>
                </c:pt>
                <c:pt idx="100">
                  <c:v>34789</c:v>
                </c:pt>
                <c:pt idx="101">
                  <c:v>34880</c:v>
                </c:pt>
                <c:pt idx="102">
                  <c:v>34972</c:v>
                </c:pt>
                <c:pt idx="103">
                  <c:v>35064</c:v>
                </c:pt>
                <c:pt idx="104">
                  <c:v>35155</c:v>
                </c:pt>
                <c:pt idx="105">
                  <c:v>35246</c:v>
                </c:pt>
                <c:pt idx="106">
                  <c:v>35338</c:v>
                </c:pt>
                <c:pt idx="107">
                  <c:v>35430</c:v>
                </c:pt>
                <c:pt idx="108">
                  <c:v>35520</c:v>
                </c:pt>
                <c:pt idx="109">
                  <c:v>35611</c:v>
                </c:pt>
                <c:pt idx="110">
                  <c:v>35703</c:v>
                </c:pt>
                <c:pt idx="111">
                  <c:v>35795</c:v>
                </c:pt>
                <c:pt idx="112">
                  <c:v>35885</c:v>
                </c:pt>
                <c:pt idx="113">
                  <c:v>35976</c:v>
                </c:pt>
                <c:pt idx="114">
                  <c:v>36068</c:v>
                </c:pt>
                <c:pt idx="115">
                  <c:v>36160</c:v>
                </c:pt>
                <c:pt idx="116">
                  <c:v>36250</c:v>
                </c:pt>
                <c:pt idx="117">
                  <c:v>36341</c:v>
                </c:pt>
                <c:pt idx="118">
                  <c:v>36433</c:v>
                </c:pt>
                <c:pt idx="119">
                  <c:v>36525</c:v>
                </c:pt>
                <c:pt idx="120">
                  <c:v>36616</c:v>
                </c:pt>
                <c:pt idx="121">
                  <c:v>36707</c:v>
                </c:pt>
                <c:pt idx="122">
                  <c:v>36799</c:v>
                </c:pt>
                <c:pt idx="123">
                  <c:v>36891</c:v>
                </c:pt>
                <c:pt idx="124">
                  <c:v>36981</c:v>
                </c:pt>
                <c:pt idx="125">
                  <c:v>37072</c:v>
                </c:pt>
                <c:pt idx="126">
                  <c:v>37164</c:v>
                </c:pt>
                <c:pt idx="127">
                  <c:v>37256</c:v>
                </c:pt>
                <c:pt idx="128">
                  <c:v>37346</c:v>
                </c:pt>
                <c:pt idx="129">
                  <c:v>37437</c:v>
                </c:pt>
                <c:pt idx="130">
                  <c:v>37529</c:v>
                </c:pt>
                <c:pt idx="131">
                  <c:v>37621</c:v>
                </c:pt>
                <c:pt idx="132">
                  <c:v>37711</c:v>
                </c:pt>
                <c:pt idx="133">
                  <c:v>37802</c:v>
                </c:pt>
                <c:pt idx="134">
                  <c:v>37894</c:v>
                </c:pt>
                <c:pt idx="135">
                  <c:v>37986</c:v>
                </c:pt>
                <c:pt idx="136">
                  <c:v>38077</c:v>
                </c:pt>
                <c:pt idx="137">
                  <c:v>38168</c:v>
                </c:pt>
                <c:pt idx="138">
                  <c:v>38260</c:v>
                </c:pt>
                <c:pt idx="139">
                  <c:v>38352</c:v>
                </c:pt>
                <c:pt idx="140">
                  <c:v>38442</c:v>
                </c:pt>
                <c:pt idx="141">
                  <c:v>38533</c:v>
                </c:pt>
                <c:pt idx="142">
                  <c:v>38625</c:v>
                </c:pt>
                <c:pt idx="143">
                  <c:v>38717</c:v>
                </c:pt>
                <c:pt idx="144">
                  <c:v>38807</c:v>
                </c:pt>
                <c:pt idx="145">
                  <c:v>38898</c:v>
                </c:pt>
                <c:pt idx="146">
                  <c:v>38990</c:v>
                </c:pt>
                <c:pt idx="147">
                  <c:v>39082</c:v>
                </c:pt>
                <c:pt idx="148">
                  <c:v>39172</c:v>
                </c:pt>
                <c:pt idx="149">
                  <c:v>39263</c:v>
                </c:pt>
                <c:pt idx="150">
                  <c:v>39355</c:v>
                </c:pt>
                <c:pt idx="151">
                  <c:v>39447</c:v>
                </c:pt>
                <c:pt idx="152">
                  <c:v>39538</c:v>
                </c:pt>
                <c:pt idx="153">
                  <c:v>39629</c:v>
                </c:pt>
                <c:pt idx="154">
                  <c:v>39721</c:v>
                </c:pt>
                <c:pt idx="155">
                  <c:v>39813</c:v>
                </c:pt>
                <c:pt idx="156">
                  <c:v>39903</c:v>
                </c:pt>
                <c:pt idx="157">
                  <c:v>39994</c:v>
                </c:pt>
                <c:pt idx="158">
                  <c:v>40086</c:v>
                </c:pt>
                <c:pt idx="159">
                  <c:v>40178</c:v>
                </c:pt>
                <c:pt idx="160">
                  <c:v>40268</c:v>
                </c:pt>
                <c:pt idx="161">
                  <c:v>40359</c:v>
                </c:pt>
                <c:pt idx="162">
                  <c:v>40451</c:v>
                </c:pt>
                <c:pt idx="163">
                  <c:v>40543</c:v>
                </c:pt>
                <c:pt idx="164">
                  <c:v>40633</c:v>
                </c:pt>
                <c:pt idx="165">
                  <c:v>40724</c:v>
                </c:pt>
                <c:pt idx="166">
                  <c:v>40816</c:v>
                </c:pt>
                <c:pt idx="167">
                  <c:v>40908</c:v>
                </c:pt>
                <c:pt idx="168">
                  <c:v>40999</c:v>
                </c:pt>
                <c:pt idx="169">
                  <c:v>41090</c:v>
                </c:pt>
                <c:pt idx="170">
                  <c:v>41182</c:v>
                </c:pt>
                <c:pt idx="171">
                  <c:v>41274</c:v>
                </c:pt>
                <c:pt idx="172">
                  <c:v>41364</c:v>
                </c:pt>
                <c:pt idx="173">
                  <c:v>41455</c:v>
                </c:pt>
                <c:pt idx="174">
                  <c:v>41547</c:v>
                </c:pt>
                <c:pt idx="175">
                  <c:v>41639</c:v>
                </c:pt>
                <c:pt idx="176">
                  <c:v>41729</c:v>
                </c:pt>
                <c:pt idx="177">
                  <c:v>41820</c:v>
                </c:pt>
                <c:pt idx="178">
                  <c:v>41912</c:v>
                </c:pt>
                <c:pt idx="179">
                  <c:v>42004</c:v>
                </c:pt>
                <c:pt idx="180">
                  <c:v>42094</c:v>
                </c:pt>
                <c:pt idx="181">
                  <c:v>42185</c:v>
                </c:pt>
                <c:pt idx="182">
                  <c:v>42277</c:v>
                </c:pt>
                <c:pt idx="183">
                  <c:v>42369</c:v>
                </c:pt>
                <c:pt idx="184">
                  <c:v>42460</c:v>
                </c:pt>
                <c:pt idx="185">
                  <c:v>42551</c:v>
                </c:pt>
                <c:pt idx="186">
                  <c:v>42643</c:v>
                </c:pt>
                <c:pt idx="187">
                  <c:v>42735</c:v>
                </c:pt>
                <c:pt idx="188">
                  <c:v>42825</c:v>
                </c:pt>
                <c:pt idx="189">
                  <c:v>42916</c:v>
                </c:pt>
                <c:pt idx="190">
                  <c:v>43008</c:v>
                </c:pt>
                <c:pt idx="191">
                  <c:v>43100</c:v>
                </c:pt>
                <c:pt idx="192">
                  <c:v>43190</c:v>
                </c:pt>
                <c:pt idx="193">
                  <c:v>43281</c:v>
                </c:pt>
                <c:pt idx="194">
                  <c:v>43373</c:v>
                </c:pt>
                <c:pt idx="195">
                  <c:v>43465</c:v>
                </c:pt>
                <c:pt idx="196">
                  <c:v>43555</c:v>
                </c:pt>
                <c:pt idx="197">
                  <c:v>43646</c:v>
                </c:pt>
                <c:pt idx="198">
                  <c:v>43738</c:v>
                </c:pt>
                <c:pt idx="199">
                  <c:v>43830</c:v>
                </c:pt>
                <c:pt idx="200">
                  <c:v>43921</c:v>
                </c:pt>
                <c:pt idx="201">
                  <c:v>44012</c:v>
                </c:pt>
                <c:pt idx="202">
                  <c:v>44104</c:v>
                </c:pt>
                <c:pt idx="203">
                  <c:v>44196</c:v>
                </c:pt>
                <c:pt idx="204">
                  <c:v>44286</c:v>
                </c:pt>
                <c:pt idx="205">
                  <c:v>44377</c:v>
                </c:pt>
                <c:pt idx="206">
                  <c:v>44469</c:v>
                </c:pt>
                <c:pt idx="207">
                  <c:v>44561</c:v>
                </c:pt>
                <c:pt idx="208">
                  <c:v>44651</c:v>
                </c:pt>
                <c:pt idx="209">
                  <c:v>44742</c:v>
                </c:pt>
              </c:numCache>
            </c:numRef>
          </c:cat>
          <c:val>
            <c:numRef>
              <c:f>Sheet1!$B$2:$B$211</c:f>
              <c:numCache>
                <c:formatCode>0.000</c:formatCode>
                <c:ptCount val="210"/>
                <c:pt idx="0">
                  <c:v>6.2050359712230216</c:v>
                </c:pt>
                <c:pt idx="1">
                  <c:v>6.3464367233071268</c:v>
                </c:pt>
                <c:pt idx="2">
                  <c:v>6.3831152801777336</c:v>
                </c:pt>
                <c:pt idx="3">
                  <c:v>6.5223990208078328</c:v>
                </c:pt>
                <c:pt idx="4">
                  <c:v>6.3058152793614601</c:v>
                </c:pt>
                <c:pt idx="5">
                  <c:v>6.6257269132356358</c:v>
                </c:pt>
                <c:pt idx="6">
                  <c:v>6.8398980537534761</c:v>
                </c:pt>
                <c:pt idx="7">
                  <c:v>7.2238283982280258</c:v>
                </c:pt>
                <c:pt idx="8">
                  <c:v>7.5356164383561648</c:v>
                </c:pt>
                <c:pt idx="9">
                  <c:v>7.6316248636859321</c:v>
                </c:pt>
                <c:pt idx="10">
                  <c:v>7.8245915735167664</c:v>
                </c:pt>
                <c:pt idx="11">
                  <c:v>7.867916752524212</c:v>
                </c:pt>
                <c:pt idx="12">
                  <c:v>8.0258309971966373</c:v>
                </c:pt>
                <c:pt idx="13">
                  <c:v>8.2512238104562368</c:v>
                </c:pt>
                <c:pt idx="14">
                  <c:v>8.5692071414858901</c:v>
                </c:pt>
                <c:pt idx="15">
                  <c:v>8.707180254300674</c:v>
                </c:pt>
                <c:pt idx="16">
                  <c:v>8.6527476500361526</c:v>
                </c:pt>
                <c:pt idx="17">
                  <c:v>8.7197064614283164</c:v>
                </c:pt>
                <c:pt idx="18">
                  <c:v>8.3979332542774863</c:v>
                </c:pt>
                <c:pt idx="19">
                  <c:v>8.3582524271844676</c:v>
                </c:pt>
                <c:pt idx="20">
                  <c:v>8.3796354494028922</c:v>
                </c:pt>
                <c:pt idx="21">
                  <c:v>8.3816130507699338</c:v>
                </c:pt>
                <c:pt idx="22">
                  <c:v>8.472970960536113</c:v>
                </c:pt>
                <c:pt idx="23">
                  <c:v>8.3907745865970398</c:v>
                </c:pt>
                <c:pt idx="24">
                  <c:v>8.4043993231810497</c:v>
                </c:pt>
                <c:pt idx="25">
                  <c:v>8.4403405190168872</c:v>
                </c:pt>
                <c:pt idx="26">
                  <c:v>8.4632655772552141</c:v>
                </c:pt>
                <c:pt idx="27">
                  <c:v>8.374788823911631</c:v>
                </c:pt>
                <c:pt idx="28">
                  <c:v>8.3707764885885503</c:v>
                </c:pt>
                <c:pt idx="29">
                  <c:v>8.3564684242795852</c:v>
                </c:pt>
                <c:pt idx="30">
                  <c:v>8.5481060147646133</c:v>
                </c:pt>
                <c:pt idx="31">
                  <c:v>8.5417099342332996</c:v>
                </c:pt>
                <c:pt idx="32">
                  <c:v>8.7196376649519127</c:v>
                </c:pt>
                <c:pt idx="33">
                  <c:v>8.5990530506833114</c:v>
                </c:pt>
                <c:pt idx="34">
                  <c:v>8.6205343111576749</c:v>
                </c:pt>
                <c:pt idx="35">
                  <c:v>8.6208502024291498</c:v>
                </c:pt>
                <c:pt idx="36">
                  <c:v>8.6511856735215975</c:v>
                </c:pt>
                <c:pt idx="37">
                  <c:v>8.7234674329501907</c:v>
                </c:pt>
                <c:pt idx="38">
                  <c:v>8.7525524410618161</c:v>
                </c:pt>
                <c:pt idx="39">
                  <c:v>8.8416757344940144</c:v>
                </c:pt>
                <c:pt idx="40">
                  <c:v>8.9609193346449647</c:v>
                </c:pt>
                <c:pt idx="41">
                  <c:v>9.2008599508599502</c:v>
                </c:pt>
                <c:pt idx="42">
                  <c:v>9.4266701235848238</c:v>
                </c:pt>
                <c:pt idx="43">
                  <c:v>9.802280716796707</c:v>
                </c:pt>
                <c:pt idx="44">
                  <c:v>9.8356897849912155</c:v>
                </c:pt>
                <c:pt idx="45">
                  <c:v>10.179840584523413</c:v>
                </c:pt>
                <c:pt idx="46">
                  <c:v>10.685214760023536</c:v>
                </c:pt>
                <c:pt idx="47">
                  <c:v>11.496747289407841</c:v>
                </c:pt>
                <c:pt idx="48">
                  <c:v>11.847984580574877</c:v>
                </c:pt>
                <c:pt idx="49">
                  <c:v>12.11167597299775</c:v>
                </c:pt>
                <c:pt idx="50">
                  <c:v>12.306124126592685</c:v>
                </c:pt>
                <c:pt idx="51">
                  <c:v>12.463874939251578</c:v>
                </c:pt>
                <c:pt idx="52">
                  <c:v>12.847483274928321</c:v>
                </c:pt>
                <c:pt idx="53">
                  <c:v>13.04645861174436</c:v>
                </c:pt>
                <c:pt idx="54">
                  <c:v>13.189260700389106</c:v>
                </c:pt>
                <c:pt idx="55">
                  <c:v>13.386836648490899</c:v>
                </c:pt>
                <c:pt idx="56">
                  <c:v>13.562641338760741</c:v>
                </c:pt>
                <c:pt idx="57">
                  <c:v>13.873931465100721</c:v>
                </c:pt>
                <c:pt idx="58">
                  <c:v>14.07311701659081</c:v>
                </c:pt>
                <c:pt idx="59">
                  <c:v>14.387174086716538</c:v>
                </c:pt>
                <c:pt idx="60">
                  <c:v>14.654758502429265</c:v>
                </c:pt>
                <c:pt idx="61">
                  <c:v>14.939132281123928</c:v>
                </c:pt>
                <c:pt idx="62">
                  <c:v>15.409004034826927</c:v>
                </c:pt>
                <c:pt idx="63">
                  <c:v>15.655957535968712</c:v>
                </c:pt>
                <c:pt idx="64">
                  <c:v>16.255560160243128</c:v>
                </c:pt>
                <c:pt idx="65">
                  <c:v>16.73894290017801</c:v>
                </c:pt>
                <c:pt idx="66">
                  <c:v>16.865359918891517</c:v>
                </c:pt>
                <c:pt idx="67">
                  <c:v>17.091945641365594</c:v>
                </c:pt>
                <c:pt idx="68">
                  <c:v>17.924887595874107</c:v>
                </c:pt>
                <c:pt idx="69">
                  <c:v>18.477966769554079</c:v>
                </c:pt>
                <c:pt idx="70">
                  <c:v>18.851722802942316</c:v>
                </c:pt>
                <c:pt idx="71">
                  <c:v>19.268687891638709</c:v>
                </c:pt>
                <c:pt idx="72">
                  <c:v>19.838263806366879</c:v>
                </c:pt>
                <c:pt idx="73">
                  <c:v>20.180657830142366</c:v>
                </c:pt>
                <c:pt idx="74">
                  <c:v>20.62318926974665</c:v>
                </c:pt>
                <c:pt idx="75">
                  <c:v>21.164072210713229</c:v>
                </c:pt>
                <c:pt idx="76">
                  <c:v>21.885450373595344</c:v>
                </c:pt>
                <c:pt idx="77">
                  <c:v>22.640113880657719</c:v>
                </c:pt>
                <c:pt idx="78">
                  <c:v>23.300291711948748</c:v>
                </c:pt>
                <c:pt idx="79">
                  <c:v>23.789250195552576</c:v>
                </c:pt>
                <c:pt idx="80">
                  <c:v>24.471560039915733</c:v>
                </c:pt>
                <c:pt idx="81">
                  <c:v>24.965340319851535</c:v>
                </c:pt>
                <c:pt idx="82">
                  <c:v>25.442518397383484</c:v>
                </c:pt>
                <c:pt idx="83">
                  <c:v>26.072119324700868</c:v>
                </c:pt>
                <c:pt idx="84">
                  <c:v>26.183190004867757</c:v>
                </c:pt>
                <c:pt idx="85">
                  <c:v>26.37119469263282</c:v>
                </c:pt>
                <c:pt idx="86">
                  <c:v>26.552607745991153</c:v>
                </c:pt>
                <c:pt idx="87">
                  <c:v>26.657053821370095</c:v>
                </c:pt>
                <c:pt idx="88">
                  <c:v>26.974447330753328</c:v>
                </c:pt>
                <c:pt idx="89">
                  <c:v>27.095867333508817</c:v>
                </c:pt>
                <c:pt idx="90">
                  <c:v>27.097300396080886</c:v>
                </c:pt>
                <c:pt idx="91">
                  <c:v>26.482848525126524</c:v>
                </c:pt>
                <c:pt idx="92">
                  <c:v>26.392887854722041</c:v>
                </c:pt>
                <c:pt idx="93">
                  <c:v>26.485206802858006</c:v>
                </c:pt>
                <c:pt idx="94">
                  <c:v>26.325839920948621</c:v>
                </c:pt>
                <c:pt idx="95">
                  <c:v>26.296133184919903</c:v>
                </c:pt>
                <c:pt idx="96">
                  <c:v>26.422892720306518</c:v>
                </c:pt>
                <c:pt idx="97">
                  <c:v>26.146223080910421</c:v>
                </c:pt>
                <c:pt idx="98">
                  <c:v>25.921125717459731</c:v>
                </c:pt>
                <c:pt idx="99">
                  <c:v>25.867199269573156</c:v>
                </c:pt>
                <c:pt idx="100">
                  <c:v>25.879526151095213</c:v>
                </c:pt>
                <c:pt idx="101">
                  <c:v>26.337403627612638</c:v>
                </c:pt>
                <c:pt idx="102">
                  <c:v>26.600965547509325</c:v>
                </c:pt>
                <c:pt idx="103">
                  <c:v>26.847666695419651</c:v>
                </c:pt>
                <c:pt idx="104">
                  <c:v>26.86322869955157</c:v>
                </c:pt>
                <c:pt idx="105">
                  <c:v>26.950338132182711</c:v>
                </c:pt>
                <c:pt idx="106">
                  <c:v>27.295978420794508</c:v>
                </c:pt>
                <c:pt idx="107">
                  <c:v>27.572804142897603</c:v>
                </c:pt>
                <c:pt idx="108">
                  <c:v>28.210612212403472</c:v>
                </c:pt>
                <c:pt idx="109">
                  <c:v>28.254054897067995</c:v>
                </c:pt>
                <c:pt idx="110">
                  <c:v>27.271416454622564</c:v>
                </c:pt>
                <c:pt idx="111">
                  <c:v>27.351088484480073</c:v>
                </c:pt>
                <c:pt idx="112">
                  <c:v>27.679941610210729</c:v>
                </c:pt>
                <c:pt idx="113">
                  <c:v>27.851526929483619</c:v>
                </c:pt>
                <c:pt idx="114">
                  <c:v>28.117719905299584</c:v>
                </c:pt>
                <c:pt idx="115">
                  <c:v>28.001648863717833</c:v>
                </c:pt>
                <c:pt idx="116">
                  <c:v>28.005960405875257</c:v>
                </c:pt>
                <c:pt idx="117">
                  <c:v>27.449286354547333</c:v>
                </c:pt>
                <c:pt idx="118">
                  <c:v>27.029949066213923</c:v>
                </c:pt>
                <c:pt idx="119">
                  <c:v>26.154986652944391</c:v>
                </c:pt>
                <c:pt idx="120">
                  <c:v>27.193004842298127</c:v>
                </c:pt>
                <c:pt idx="121">
                  <c:v>27.234359483614696</c:v>
                </c:pt>
                <c:pt idx="122">
                  <c:v>27.223097442334854</c:v>
                </c:pt>
                <c:pt idx="123">
                  <c:v>27.112467708205195</c:v>
                </c:pt>
                <c:pt idx="124">
                  <c:v>27.185969256787363</c:v>
                </c:pt>
                <c:pt idx="125">
                  <c:v>27.49935398575764</c:v>
                </c:pt>
                <c:pt idx="126">
                  <c:v>27.635779735423231</c:v>
                </c:pt>
                <c:pt idx="127">
                  <c:v>26.861542857142858</c:v>
                </c:pt>
                <c:pt idx="128">
                  <c:v>26.709160992628441</c:v>
                </c:pt>
                <c:pt idx="129">
                  <c:v>26.466601151966806</c:v>
                </c:pt>
                <c:pt idx="130">
                  <c:v>27.034030485643388</c:v>
                </c:pt>
                <c:pt idx="131">
                  <c:v>27.010231209216144</c:v>
                </c:pt>
                <c:pt idx="132">
                  <c:v>26.862977532539535</c:v>
                </c:pt>
                <c:pt idx="133">
                  <c:v>26.828002057084081</c:v>
                </c:pt>
                <c:pt idx="134">
                  <c:v>26.644129554655873</c:v>
                </c:pt>
                <c:pt idx="135">
                  <c:v>26.937456254374563</c:v>
                </c:pt>
                <c:pt idx="136">
                  <c:v>27.101173743650438</c:v>
                </c:pt>
                <c:pt idx="137">
                  <c:v>27.255080588647509</c:v>
                </c:pt>
                <c:pt idx="138">
                  <c:v>27.488413802998778</c:v>
                </c:pt>
                <c:pt idx="139">
                  <c:v>27.749166489323972</c:v>
                </c:pt>
                <c:pt idx="140">
                  <c:v>28.456943075695715</c:v>
                </c:pt>
                <c:pt idx="141">
                  <c:v>28.966623189080916</c:v>
                </c:pt>
                <c:pt idx="142">
                  <c:v>28.972669539578131</c:v>
                </c:pt>
                <c:pt idx="143">
                  <c:v>29.855368634977985</c:v>
                </c:pt>
                <c:pt idx="144">
                  <c:v>29.92717678100264</c:v>
                </c:pt>
                <c:pt idx="145">
                  <c:v>20.990900169506649</c:v>
                </c:pt>
                <c:pt idx="146">
                  <c:v>22.734795194223107</c:v>
                </c:pt>
                <c:pt idx="147">
                  <c:v>22.600112043121463</c:v>
                </c:pt>
                <c:pt idx="148">
                  <c:v>23.979522769806611</c:v>
                </c:pt>
                <c:pt idx="149">
                  <c:v>24.375549597855226</c:v>
                </c:pt>
                <c:pt idx="150">
                  <c:v>22.640419334450822</c:v>
                </c:pt>
                <c:pt idx="151">
                  <c:v>23.073738322922999</c:v>
                </c:pt>
                <c:pt idx="152">
                  <c:v>22.762925649272972</c:v>
                </c:pt>
                <c:pt idx="153">
                  <c:v>22.466205435212729</c:v>
                </c:pt>
                <c:pt idx="154">
                  <c:v>21.008997710301344</c:v>
                </c:pt>
                <c:pt idx="155">
                  <c:v>20.349067225033931</c:v>
                </c:pt>
                <c:pt idx="156">
                  <c:v>21.230823810986266</c:v>
                </c:pt>
                <c:pt idx="157">
                  <c:v>11.026210238983902</c:v>
                </c:pt>
                <c:pt idx="158">
                  <c:v>10.462781538269434</c:v>
                </c:pt>
                <c:pt idx="159">
                  <c:v>10.136162043100368</c:v>
                </c:pt>
                <c:pt idx="160">
                  <c:v>10.654337656865703</c:v>
                </c:pt>
                <c:pt idx="161">
                  <c:v>10.661820465138744</c:v>
                </c:pt>
                <c:pt idx="162">
                  <c:v>10.828690317365062</c:v>
                </c:pt>
                <c:pt idx="163">
                  <c:v>10.890145542753183</c:v>
                </c:pt>
                <c:pt idx="164">
                  <c:v>11.178076330210907</c:v>
                </c:pt>
                <c:pt idx="165">
                  <c:v>11.465841704944467</c:v>
                </c:pt>
                <c:pt idx="166">
                  <c:v>11.522209674892073</c:v>
                </c:pt>
                <c:pt idx="167">
                  <c:v>9.2694896204915889</c:v>
                </c:pt>
                <c:pt idx="168">
                  <c:v>7.8477422824078289</c:v>
                </c:pt>
                <c:pt idx="169">
                  <c:v>7.1218012462967231</c:v>
                </c:pt>
                <c:pt idx="170">
                  <c:v>6.3900596580261855</c:v>
                </c:pt>
                <c:pt idx="171">
                  <c:v>6.1585761471349976</c:v>
                </c:pt>
                <c:pt idx="172">
                  <c:v>6.103842670913977</c:v>
                </c:pt>
                <c:pt idx="173">
                  <c:v>5.9051547494398848</c:v>
                </c:pt>
                <c:pt idx="174">
                  <c:v>5.9359436811551678</c:v>
                </c:pt>
                <c:pt idx="175">
                  <c:v>5.759771231545967</c:v>
                </c:pt>
                <c:pt idx="176">
                  <c:v>5.7577799488911445</c:v>
                </c:pt>
                <c:pt idx="177">
                  <c:v>5.6763350858519068</c:v>
                </c:pt>
                <c:pt idx="178">
                  <c:v>5.8431050228310495</c:v>
                </c:pt>
                <c:pt idx="179">
                  <c:v>5.6709443301637279</c:v>
                </c:pt>
                <c:pt idx="180">
                  <c:v>5.6063339282678895</c:v>
                </c:pt>
                <c:pt idx="181">
                  <c:v>5.4444868528280086</c:v>
                </c:pt>
                <c:pt idx="182">
                  <c:v>5.4999043699024561</c:v>
                </c:pt>
                <c:pt idx="183">
                  <c:v>5.5668079058873063</c:v>
                </c:pt>
                <c:pt idx="184">
                  <c:v>5.4753861300843027</c:v>
                </c:pt>
                <c:pt idx="185">
                  <c:v>5.5584358534882243</c:v>
                </c:pt>
                <c:pt idx="186">
                  <c:v>5.5655255606254732</c:v>
                </c:pt>
                <c:pt idx="187">
                  <c:v>5.0092612827980538</c:v>
                </c:pt>
                <c:pt idx="188">
                  <c:v>4.6165123503393355</c:v>
                </c:pt>
                <c:pt idx="189">
                  <c:v>4.4304571075075021</c:v>
                </c:pt>
                <c:pt idx="190">
                  <c:v>4.4994058762847207</c:v>
                </c:pt>
                <c:pt idx="191">
                  <c:v>4.333216186825986</c:v>
                </c:pt>
                <c:pt idx="192">
                  <c:v>4.2250800117422154</c:v>
                </c:pt>
                <c:pt idx="193">
                  <c:v>4.1617076394025325</c:v>
                </c:pt>
                <c:pt idx="194">
                  <c:v>4.1760327522358551</c:v>
                </c:pt>
                <c:pt idx="195">
                  <c:v>4.2454940005105941</c:v>
                </c:pt>
                <c:pt idx="196">
                  <c:v>4.3367047565760695</c:v>
                </c:pt>
                <c:pt idx="197">
                  <c:v>4.2449374994540481</c:v>
                </c:pt>
                <c:pt idx="198">
                  <c:v>4.4658956617441428</c:v>
                </c:pt>
                <c:pt idx="199">
                  <c:v>4.4567568385756031</c:v>
                </c:pt>
                <c:pt idx="200">
                  <c:v>4.7468159907216112</c:v>
                </c:pt>
                <c:pt idx="201">
                  <c:v>3.5894791768581022</c:v>
                </c:pt>
                <c:pt idx="202">
                  <c:v>3.4168230815595741</c:v>
                </c:pt>
                <c:pt idx="203">
                  <c:v>3.268536981004039</c:v>
                </c:pt>
                <c:pt idx="204">
                  <c:v>3.2210475964295955</c:v>
                </c:pt>
                <c:pt idx="205">
                  <c:v>3.1602922240716653</c:v>
                </c:pt>
                <c:pt idx="206">
                  <c:v>3.1096418576028864</c:v>
                </c:pt>
                <c:pt idx="207">
                  <c:v>2.8071895946002994</c:v>
                </c:pt>
                <c:pt idx="208">
                  <c:v>2.8942699104906215</c:v>
                </c:pt>
                <c:pt idx="209">
                  <c:v>2.9046803500227458</c:v>
                </c:pt>
              </c:numCache>
            </c:numRef>
          </c:val>
          <c:smooth val="0"/>
          <c:extLst>
            <c:ext xmlns:c16="http://schemas.microsoft.com/office/drawing/2014/chart" uri="{C3380CC4-5D6E-409C-BE32-E72D297353CC}">
              <c16:uniqueId val="{00000000-3727-4B9D-9B7E-9323C4D904A5}"/>
            </c:ext>
          </c:extLst>
        </c:ser>
        <c:dLbls>
          <c:showLegendKey val="0"/>
          <c:showVal val="0"/>
          <c:showCatName val="0"/>
          <c:showSerName val="0"/>
          <c:showPercent val="0"/>
          <c:showBubbleSize val="0"/>
        </c:dLbls>
        <c:smooth val="0"/>
        <c:axId val="227143352"/>
        <c:axId val="1"/>
      </c:lineChart>
      <c:catAx>
        <c:axId val="227143352"/>
        <c:scaling>
          <c:orientation val="minMax"/>
        </c:scaling>
        <c:delete val="0"/>
        <c:axPos val="b"/>
        <c:numFmt formatCode="yyyy" sourceLinked="0"/>
        <c:majorTickMark val="out"/>
        <c:minorTickMark val="none"/>
        <c:tickLblPos val="low"/>
        <c:spPr>
          <a:ln w="12700">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1"/>
        <c:crossesAt val="-10"/>
        <c:auto val="0"/>
        <c:lblAlgn val="ctr"/>
        <c:lblOffset val="0"/>
        <c:tickLblSkip val="20"/>
        <c:tickMarkSkip val="4"/>
        <c:noMultiLvlLbl val="0"/>
      </c:catAx>
      <c:valAx>
        <c:axId val="1"/>
        <c:scaling>
          <c:orientation val="minMax"/>
          <c:max val="32"/>
          <c:min val="0"/>
        </c:scaling>
        <c:delete val="0"/>
        <c:axPos val="l"/>
        <c:title>
          <c:tx>
            <c:rich>
              <a:bodyPr/>
              <a:lstStyle/>
              <a:p>
                <a:pPr>
                  <a:defRPr sz="1800" b="0" i="0" u="none" strike="noStrike" baseline="0">
                    <a:solidFill>
                      <a:srgbClr val="000000"/>
                    </a:solidFill>
                    <a:latin typeface="Arial"/>
                    <a:ea typeface="Arial"/>
                    <a:cs typeface="Arial"/>
                  </a:defRPr>
                </a:pPr>
                <a:r>
                  <a:rPr lang="en-GB" sz="1800" dirty="0"/>
                  <a:t>Ratio of M4 to monetary</a:t>
                </a:r>
                <a:r>
                  <a:rPr lang="en-GB" sz="1800" baseline="0" dirty="0"/>
                  <a:t> base</a:t>
                </a:r>
                <a:endParaRPr lang="en-GB" sz="1800" dirty="0"/>
              </a:p>
            </c:rich>
          </c:tx>
          <c:layout>
            <c:manualLayout>
              <c:xMode val="edge"/>
              <c:yMode val="edge"/>
              <c:x val="2.2561515748031495E-2"/>
              <c:y val="0.19310393534714229"/>
            </c:manualLayout>
          </c:layout>
          <c:overlay val="0"/>
          <c:spPr>
            <a:noFill/>
            <a:ln w="30522">
              <a:noFill/>
            </a:ln>
          </c:spPr>
        </c:title>
        <c:numFmt formatCode="#,##0" sourceLinked="0"/>
        <c:majorTickMark val="out"/>
        <c:minorTickMark val="none"/>
        <c:tickLblPos val="nextTo"/>
        <c:spPr>
          <a:ln w="12700">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227143352"/>
        <c:crosses val="autoZero"/>
        <c:crossBetween val="midCat"/>
        <c:majorUnit val="4"/>
        <c:minorUnit val="2"/>
      </c:valAx>
      <c:spPr>
        <a:noFill/>
        <a:ln w="25400">
          <a:noFill/>
        </a:ln>
      </c:spPr>
    </c:plotArea>
    <c:plotVisOnly val="1"/>
    <c:dispBlanksAs val="span"/>
    <c:showDLblsOverMax val="0"/>
  </c:chart>
  <c:spPr>
    <a:noFill/>
    <a:ln>
      <a:noFill/>
    </a:ln>
  </c:spPr>
  <c:txPr>
    <a:bodyPr/>
    <a:lstStyle/>
    <a:p>
      <a:pPr>
        <a:defRPr sz="1922" b="1" i="0" u="none" strike="noStrike" baseline="0">
          <a:solidFill>
            <a:schemeClr val="tx1"/>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200171613163739"/>
          <c:y val="2.4169794804662241E-2"/>
          <c:w val="0.85117736725217041"/>
          <c:h val="0.8717941514334232"/>
        </c:manualLayout>
      </c:layout>
      <c:lineChart>
        <c:grouping val="standard"/>
        <c:varyColors val="0"/>
        <c:ser>
          <c:idx val="1"/>
          <c:order val="0"/>
          <c:tx>
            <c:strRef>
              <c:f>Sheet1!$B$1</c:f>
              <c:strCache>
                <c:ptCount val="1"/>
                <c:pt idx="0">
                  <c:v>M4</c:v>
                </c:pt>
              </c:strCache>
            </c:strRef>
          </c:tx>
          <c:spPr>
            <a:ln w="38100">
              <a:solidFill>
                <a:srgbClr val="0000FF"/>
              </a:solidFill>
              <a:prstDash val="solid"/>
            </a:ln>
          </c:spPr>
          <c:marker>
            <c:symbol val="none"/>
          </c:marker>
          <c:cat>
            <c:numRef>
              <c:f>Sheet1!$A$2:$A$211</c:f>
              <c:numCache>
                <c:formatCode>mmm\-yy</c:formatCode>
                <c:ptCount val="210"/>
                <c:pt idx="0">
                  <c:v>25628</c:v>
                </c:pt>
                <c:pt idx="1">
                  <c:v>25720</c:v>
                </c:pt>
                <c:pt idx="2">
                  <c:v>25812</c:v>
                </c:pt>
                <c:pt idx="3">
                  <c:v>25903</c:v>
                </c:pt>
                <c:pt idx="4">
                  <c:v>25993</c:v>
                </c:pt>
                <c:pt idx="5">
                  <c:v>26085</c:v>
                </c:pt>
                <c:pt idx="6">
                  <c:v>26177</c:v>
                </c:pt>
                <c:pt idx="7">
                  <c:v>26268</c:v>
                </c:pt>
                <c:pt idx="8">
                  <c:v>26359</c:v>
                </c:pt>
                <c:pt idx="9">
                  <c:v>26451</c:v>
                </c:pt>
                <c:pt idx="10">
                  <c:v>26543</c:v>
                </c:pt>
                <c:pt idx="11">
                  <c:v>26634</c:v>
                </c:pt>
                <c:pt idx="12">
                  <c:v>26724</c:v>
                </c:pt>
                <c:pt idx="13">
                  <c:v>26816</c:v>
                </c:pt>
                <c:pt idx="14">
                  <c:v>26908</c:v>
                </c:pt>
                <c:pt idx="15">
                  <c:v>26999</c:v>
                </c:pt>
                <c:pt idx="16">
                  <c:v>27089</c:v>
                </c:pt>
                <c:pt idx="17">
                  <c:v>27181</c:v>
                </c:pt>
                <c:pt idx="18">
                  <c:v>27273</c:v>
                </c:pt>
                <c:pt idx="19">
                  <c:v>27364</c:v>
                </c:pt>
                <c:pt idx="20">
                  <c:v>27454</c:v>
                </c:pt>
                <c:pt idx="21">
                  <c:v>27546</c:v>
                </c:pt>
                <c:pt idx="22">
                  <c:v>27638</c:v>
                </c:pt>
                <c:pt idx="23">
                  <c:v>27729</c:v>
                </c:pt>
                <c:pt idx="24">
                  <c:v>27820</c:v>
                </c:pt>
                <c:pt idx="25">
                  <c:v>27912</c:v>
                </c:pt>
                <c:pt idx="26">
                  <c:v>28004</c:v>
                </c:pt>
                <c:pt idx="27">
                  <c:v>28095</c:v>
                </c:pt>
                <c:pt idx="28">
                  <c:v>28185</c:v>
                </c:pt>
                <c:pt idx="29">
                  <c:v>28277</c:v>
                </c:pt>
                <c:pt idx="30">
                  <c:v>28369</c:v>
                </c:pt>
                <c:pt idx="31">
                  <c:v>28460</c:v>
                </c:pt>
                <c:pt idx="32">
                  <c:v>28550</c:v>
                </c:pt>
                <c:pt idx="33">
                  <c:v>28642</c:v>
                </c:pt>
                <c:pt idx="34">
                  <c:v>28734</c:v>
                </c:pt>
                <c:pt idx="35">
                  <c:v>28825</c:v>
                </c:pt>
                <c:pt idx="36">
                  <c:v>28915</c:v>
                </c:pt>
                <c:pt idx="37">
                  <c:v>29007</c:v>
                </c:pt>
                <c:pt idx="38">
                  <c:v>29099</c:v>
                </c:pt>
                <c:pt idx="39">
                  <c:v>29190</c:v>
                </c:pt>
                <c:pt idx="40">
                  <c:v>29281</c:v>
                </c:pt>
                <c:pt idx="41">
                  <c:v>29373</c:v>
                </c:pt>
                <c:pt idx="42">
                  <c:v>29465</c:v>
                </c:pt>
                <c:pt idx="43">
                  <c:v>29556</c:v>
                </c:pt>
                <c:pt idx="44">
                  <c:v>29646</c:v>
                </c:pt>
                <c:pt idx="45">
                  <c:v>29738</c:v>
                </c:pt>
                <c:pt idx="46">
                  <c:v>29830</c:v>
                </c:pt>
                <c:pt idx="47">
                  <c:v>29921</c:v>
                </c:pt>
                <c:pt idx="48">
                  <c:v>30011</c:v>
                </c:pt>
                <c:pt idx="49">
                  <c:v>30103</c:v>
                </c:pt>
                <c:pt idx="50">
                  <c:v>30195</c:v>
                </c:pt>
                <c:pt idx="51">
                  <c:v>30286</c:v>
                </c:pt>
                <c:pt idx="52">
                  <c:v>30376</c:v>
                </c:pt>
                <c:pt idx="53">
                  <c:v>30468</c:v>
                </c:pt>
                <c:pt idx="54">
                  <c:v>30560</c:v>
                </c:pt>
                <c:pt idx="55">
                  <c:v>30651</c:v>
                </c:pt>
                <c:pt idx="56">
                  <c:v>30742</c:v>
                </c:pt>
                <c:pt idx="57">
                  <c:v>30834</c:v>
                </c:pt>
                <c:pt idx="58">
                  <c:v>30926</c:v>
                </c:pt>
                <c:pt idx="59">
                  <c:v>31017</c:v>
                </c:pt>
                <c:pt idx="60">
                  <c:v>31107</c:v>
                </c:pt>
                <c:pt idx="61">
                  <c:v>31199</c:v>
                </c:pt>
                <c:pt idx="62">
                  <c:v>31291</c:v>
                </c:pt>
                <c:pt idx="63">
                  <c:v>31382</c:v>
                </c:pt>
                <c:pt idx="64">
                  <c:v>31472</c:v>
                </c:pt>
                <c:pt idx="65">
                  <c:v>31564</c:v>
                </c:pt>
                <c:pt idx="66">
                  <c:v>31656</c:v>
                </c:pt>
                <c:pt idx="67">
                  <c:v>31747</c:v>
                </c:pt>
                <c:pt idx="68">
                  <c:v>31837</c:v>
                </c:pt>
                <c:pt idx="69">
                  <c:v>31929</c:v>
                </c:pt>
                <c:pt idx="70">
                  <c:v>32021</c:v>
                </c:pt>
                <c:pt idx="71">
                  <c:v>32112</c:v>
                </c:pt>
                <c:pt idx="72">
                  <c:v>32203</c:v>
                </c:pt>
                <c:pt idx="73">
                  <c:v>32295</c:v>
                </c:pt>
                <c:pt idx="74">
                  <c:v>32387</c:v>
                </c:pt>
                <c:pt idx="75">
                  <c:v>32478</c:v>
                </c:pt>
                <c:pt idx="76">
                  <c:v>32568</c:v>
                </c:pt>
                <c:pt idx="77">
                  <c:v>32660</c:v>
                </c:pt>
                <c:pt idx="78">
                  <c:v>32752</c:v>
                </c:pt>
                <c:pt idx="79">
                  <c:v>32843</c:v>
                </c:pt>
                <c:pt idx="80">
                  <c:v>32933</c:v>
                </c:pt>
                <c:pt idx="81">
                  <c:v>33025</c:v>
                </c:pt>
                <c:pt idx="82">
                  <c:v>33117</c:v>
                </c:pt>
                <c:pt idx="83">
                  <c:v>33208</c:v>
                </c:pt>
                <c:pt idx="84">
                  <c:v>33298</c:v>
                </c:pt>
                <c:pt idx="85">
                  <c:v>33390</c:v>
                </c:pt>
                <c:pt idx="86">
                  <c:v>33482</c:v>
                </c:pt>
                <c:pt idx="87">
                  <c:v>33573</c:v>
                </c:pt>
                <c:pt idx="88">
                  <c:v>33664</c:v>
                </c:pt>
                <c:pt idx="89">
                  <c:v>33756</c:v>
                </c:pt>
                <c:pt idx="90">
                  <c:v>33848</c:v>
                </c:pt>
                <c:pt idx="91">
                  <c:v>33939</c:v>
                </c:pt>
                <c:pt idx="92">
                  <c:v>34029</c:v>
                </c:pt>
                <c:pt idx="93">
                  <c:v>34121</c:v>
                </c:pt>
                <c:pt idx="94">
                  <c:v>34213</c:v>
                </c:pt>
                <c:pt idx="95">
                  <c:v>34304</c:v>
                </c:pt>
                <c:pt idx="96">
                  <c:v>34394</c:v>
                </c:pt>
                <c:pt idx="97">
                  <c:v>34486</c:v>
                </c:pt>
                <c:pt idx="98">
                  <c:v>34578</c:v>
                </c:pt>
                <c:pt idx="99">
                  <c:v>34669</c:v>
                </c:pt>
                <c:pt idx="100">
                  <c:v>34759</c:v>
                </c:pt>
                <c:pt idx="101">
                  <c:v>34851</c:v>
                </c:pt>
                <c:pt idx="102">
                  <c:v>34943</c:v>
                </c:pt>
                <c:pt idx="103">
                  <c:v>35034</c:v>
                </c:pt>
                <c:pt idx="104">
                  <c:v>35125</c:v>
                </c:pt>
                <c:pt idx="105">
                  <c:v>35217</c:v>
                </c:pt>
                <c:pt idx="106">
                  <c:v>35309</c:v>
                </c:pt>
                <c:pt idx="107">
                  <c:v>35400</c:v>
                </c:pt>
                <c:pt idx="108">
                  <c:v>35490</c:v>
                </c:pt>
                <c:pt idx="109">
                  <c:v>35582</c:v>
                </c:pt>
                <c:pt idx="110">
                  <c:v>35674</c:v>
                </c:pt>
                <c:pt idx="111">
                  <c:v>35765</c:v>
                </c:pt>
                <c:pt idx="112">
                  <c:v>35855</c:v>
                </c:pt>
                <c:pt idx="113">
                  <c:v>35947</c:v>
                </c:pt>
                <c:pt idx="114">
                  <c:v>36039</c:v>
                </c:pt>
                <c:pt idx="115">
                  <c:v>36130</c:v>
                </c:pt>
                <c:pt idx="116">
                  <c:v>36220</c:v>
                </c:pt>
                <c:pt idx="117">
                  <c:v>36312</c:v>
                </c:pt>
                <c:pt idx="118">
                  <c:v>36404</c:v>
                </c:pt>
                <c:pt idx="119">
                  <c:v>36495</c:v>
                </c:pt>
                <c:pt idx="120">
                  <c:v>36586</c:v>
                </c:pt>
                <c:pt idx="121">
                  <c:v>36678</c:v>
                </c:pt>
                <c:pt idx="122">
                  <c:v>36770</c:v>
                </c:pt>
                <c:pt idx="123">
                  <c:v>36861</c:v>
                </c:pt>
                <c:pt idx="124">
                  <c:v>36951</c:v>
                </c:pt>
                <c:pt idx="125">
                  <c:v>37043</c:v>
                </c:pt>
                <c:pt idx="126">
                  <c:v>37135</c:v>
                </c:pt>
                <c:pt idx="127">
                  <c:v>37226</c:v>
                </c:pt>
                <c:pt idx="128">
                  <c:v>37316</c:v>
                </c:pt>
                <c:pt idx="129">
                  <c:v>37408</c:v>
                </c:pt>
                <c:pt idx="130">
                  <c:v>37500</c:v>
                </c:pt>
                <c:pt idx="131">
                  <c:v>37591</c:v>
                </c:pt>
                <c:pt idx="132">
                  <c:v>37681</c:v>
                </c:pt>
                <c:pt idx="133">
                  <c:v>37773</c:v>
                </c:pt>
                <c:pt idx="134">
                  <c:v>37865</c:v>
                </c:pt>
                <c:pt idx="135">
                  <c:v>37956</c:v>
                </c:pt>
                <c:pt idx="136">
                  <c:v>38047</c:v>
                </c:pt>
                <c:pt idx="137">
                  <c:v>38139</c:v>
                </c:pt>
                <c:pt idx="138">
                  <c:v>38231</c:v>
                </c:pt>
                <c:pt idx="139">
                  <c:v>38322</c:v>
                </c:pt>
                <c:pt idx="140">
                  <c:v>38412</c:v>
                </c:pt>
                <c:pt idx="141">
                  <c:v>38504</c:v>
                </c:pt>
                <c:pt idx="142">
                  <c:v>38596</c:v>
                </c:pt>
                <c:pt idx="143">
                  <c:v>38687</c:v>
                </c:pt>
                <c:pt idx="144">
                  <c:v>38777</c:v>
                </c:pt>
                <c:pt idx="145">
                  <c:v>38869</c:v>
                </c:pt>
                <c:pt idx="146">
                  <c:v>38961</c:v>
                </c:pt>
                <c:pt idx="147">
                  <c:v>39052</c:v>
                </c:pt>
                <c:pt idx="148">
                  <c:v>39142</c:v>
                </c:pt>
                <c:pt idx="149">
                  <c:v>39234</c:v>
                </c:pt>
                <c:pt idx="150">
                  <c:v>39326</c:v>
                </c:pt>
                <c:pt idx="151">
                  <c:v>39417</c:v>
                </c:pt>
                <c:pt idx="152">
                  <c:v>39508</c:v>
                </c:pt>
                <c:pt idx="153">
                  <c:v>39600</c:v>
                </c:pt>
                <c:pt idx="154">
                  <c:v>39692</c:v>
                </c:pt>
                <c:pt idx="155">
                  <c:v>39783</c:v>
                </c:pt>
                <c:pt idx="156">
                  <c:v>39873</c:v>
                </c:pt>
                <c:pt idx="157">
                  <c:v>39965</c:v>
                </c:pt>
                <c:pt idx="158">
                  <c:v>40057</c:v>
                </c:pt>
                <c:pt idx="159">
                  <c:v>40148</c:v>
                </c:pt>
                <c:pt idx="160">
                  <c:v>40238</c:v>
                </c:pt>
                <c:pt idx="161">
                  <c:v>40330</c:v>
                </c:pt>
                <c:pt idx="162">
                  <c:v>40422</c:v>
                </c:pt>
                <c:pt idx="163">
                  <c:v>40513</c:v>
                </c:pt>
                <c:pt idx="164">
                  <c:v>40603</c:v>
                </c:pt>
                <c:pt idx="165">
                  <c:v>40695</c:v>
                </c:pt>
                <c:pt idx="166">
                  <c:v>40787</c:v>
                </c:pt>
                <c:pt idx="167">
                  <c:v>40878</c:v>
                </c:pt>
                <c:pt idx="168">
                  <c:v>40969</c:v>
                </c:pt>
                <c:pt idx="169">
                  <c:v>41061</c:v>
                </c:pt>
                <c:pt idx="170">
                  <c:v>41153</c:v>
                </c:pt>
                <c:pt idx="171">
                  <c:v>41244</c:v>
                </c:pt>
                <c:pt idx="172">
                  <c:v>41334</c:v>
                </c:pt>
                <c:pt idx="173">
                  <c:v>41426</c:v>
                </c:pt>
                <c:pt idx="174">
                  <c:v>41518</c:v>
                </c:pt>
                <c:pt idx="175">
                  <c:v>41609</c:v>
                </c:pt>
                <c:pt idx="176">
                  <c:v>41699</c:v>
                </c:pt>
                <c:pt idx="177">
                  <c:v>41791</c:v>
                </c:pt>
                <c:pt idx="178">
                  <c:v>41883</c:v>
                </c:pt>
                <c:pt idx="179">
                  <c:v>41974</c:v>
                </c:pt>
                <c:pt idx="180">
                  <c:v>42064</c:v>
                </c:pt>
                <c:pt idx="181">
                  <c:v>42156</c:v>
                </c:pt>
                <c:pt idx="182">
                  <c:v>42248</c:v>
                </c:pt>
                <c:pt idx="183">
                  <c:v>42339</c:v>
                </c:pt>
                <c:pt idx="184">
                  <c:v>42430</c:v>
                </c:pt>
                <c:pt idx="185">
                  <c:v>42522</c:v>
                </c:pt>
                <c:pt idx="186">
                  <c:v>42614</c:v>
                </c:pt>
                <c:pt idx="187">
                  <c:v>42705</c:v>
                </c:pt>
                <c:pt idx="188">
                  <c:v>42795</c:v>
                </c:pt>
                <c:pt idx="189">
                  <c:v>42887</c:v>
                </c:pt>
                <c:pt idx="190">
                  <c:v>42979</c:v>
                </c:pt>
                <c:pt idx="191">
                  <c:v>43070</c:v>
                </c:pt>
                <c:pt idx="192">
                  <c:v>43160</c:v>
                </c:pt>
                <c:pt idx="193">
                  <c:v>43252</c:v>
                </c:pt>
                <c:pt idx="194">
                  <c:v>43344</c:v>
                </c:pt>
                <c:pt idx="195">
                  <c:v>43435</c:v>
                </c:pt>
                <c:pt idx="196">
                  <c:v>43525</c:v>
                </c:pt>
                <c:pt idx="197">
                  <c:v>43617</c:v>
                </c:pt>
                <c:pt idx="198">
                  <c:v>43709</c:v>
                </c:pt>
                <c:pt idx="199">
                  <c:v>43800</c:v>
                </c:pt>
                <c:pt idx="200">
                  <c:v>43891</c:v>
                </c:pt>
                <c:pt idx="201">
                  <c:v>43983</c:v>
                </c:pt>
                <c:pt idx="202">
                  <c:v>44075</c:v>
                </c:pt>
                <c:pt idx="203">
                  <c:v>44166</c:v>
                </c:pt>
                <c:pt idx="204">
                  <c:v>44256</c:v>
                </c:pt>
                <c:pt idx="205">
                  <c:v>44348</c:v>
                </c:pt>
                <c:pt idx="206">
                  <c:v>44440</c:v>
                </c:pt>
                <c:pt idx="207">
                  <c:v>44531</c:v>
                </c:pt>
                <c:pt idx="208">
                  <c:v>44621</c:v>
                </c:pt>
                <c:pt idx="209">
                  <c:v>44713</c:v>
                </c:pt>
              </c:numCache>
            </c:numRef>
          </c:cat>
          <c:val>
            <c:numRef>
              <c:f>Sheet1!$B$2:$B$211</c:f>
              <c:numCache>
                <c:formatCode>General</c:formatCode>
                <c:ptCount val="210"/>
                <c:pt idx="0">
                  <c:v>5</c:v>
                </c:pt>
                <c:pt idx="1">
                  <c:v>8.9</c:v>
                </c:pt>
                <c:pt idx="2">
                  <c:v>10.7</c:v>
                </c:pt>
                <c:pt idx="3">
                  <c:v>12</c:v>
                </c:pt>
                <c:pt idx="4">
                  <c:v>14.5</c:v>
                </c:pt>
                <c:pt idx="5">
                  <c:v>13.8</c:v>
                </c:pt>
                <c:pt idx="6">
                  <c:v>14.2</c:v>
                </c:pt>
                <c:pt idx="7">
                  <c:v>16.3</c:v>
                </c:pt>
                <c:pt idx="8">
                  <c:v>17.899999999999999</c:v>
                </c:pt>
                <c:pt idx="9">
                  <c:v>21.4</c:v>
                </c:pt>
                <c:pt idx="10">
                  <c:v>21.8</c:v>
                </c:pt>
                <c:pt idx="11">
                  <c:v>21.7</c:v>
                </c:pt>
                <c:pt idx="12">
                  <c:v>21.7</c:v>
                </c:pt>
                <c:pt idx="13">
                  <c:v>20.7</c:v>
                </c:pt>
                <c:pt idx="14">
                  <c:v>22.9</c:v>
                </c:pt>
                <c:pt idx="15">
                  <c:v>22.3</c:v>
                </c:pt>
                <c:pt idx="16">
                  <c:v>19.399999999999999</c:v>
                </c:pt>
                <c:pt idx="17">
                  <c:v>15.6</c:v>
                </c:pt>
                <c:pt idx="18">
                  <c:v>11.1</c:v>
                </c:pt>
                <c:pt idx="19">
                  <c:v>10.9</c:v>
                </c:pt>
                <c:pt idx="20">
                  <c:v>11.4</c:v>
                </c:pt>
                <c:pt idx="21">
                  <c:v>12.9</c:v>
                </c:pt>
                <c:pt idx="22">
                  <c:v>14.8</c:v>
                </c:pt>
                <c:pt idx="23">
                  <c:v>12.1</c:v>
                </c:pt>
                <c:pt idx="24">
                  <c:v>12.4</c:v>
                </c:pt>
                <c:pt idx="25">
                  <c:v>12.3</c:v>
                </c:pt>
                <c:pt idx="26">
                  <c:v>12.5</c:v>
                </c:pt>
                <c:pt idx="27">
                  <c:v>11.9</c:v>
                </c:pt>
                <c:pt idx="28">
                  <c:v>10.1</c:v>
                </c:pt>
                <c:pt idx="29">
                  <c:v>10.9</c:v>
                </c:pt>
                <c:pt idx="30">
                  <c:v>10.9</c:v>
                </c:pt>
                <c:pt idx="31">
                  <c:v>14.9</c:v>
                </c:pt>
                <c:pt idx="32">
                  <c:v>18.8</c:v>
                </c:pt>
                <c:pt idx="33">
                  <c:v>17.399999999999999</c:v>
                </c:pt>
                <c:pt idx="34">
                  <c:v>16.600000000000001</c:v>
                </c:pt>
                <c:pt idx="35">
                  <c:v>15.2</c:v>
                </c:pt>
                <c:pt idx="36">
                  <c:v>12.9</c:v>
                </c:pt>
                <c:pt idx="37">
                  <c:v>14</c:v>
                </c:pt>
                <c:pt idx="38">
                  <c:v>14.6</c:v>
                </c:pt>
                <c:pt idx="39">
                  <c:v>14.5</c:v>
                </c:pt>
                <c:pt idx="40">
                  <c:v>14</c:v>
                </c:pt>
                <c:pt idx="41">
                  <c:v>15.1</c:v>
                </c:pt>
                <c:pt idx="42">
                  <c:v>15.7</c:v>
                </c:pt>
                <c:pt idx="43">
                  <c:v>17.3</c:v>
                </c:pt>
                <c:pt idx="44">
                  <c:v>17.3</c:v>
                </c:pt>
                <c:pt idx="45">
                  <c:v>16.899999999999999</c:v>
                </c:pt>
                <c:pt idx="46">
                  <c:v>16.5</c:v>
                </c:pt>
                <c:pt idx="47">
                  <c:v>14</c:v>
                </c:pt>
                <c:pt idx="48">
                  <c:v>13.8</c:v>
                </c:pt>
                <c:pt idx="49">
                  <c:v>12</c:v>
                </c:pt>
                <c:pt idx="50">
                  <c:v>11.4</c:v>
                </c:pt>
                <c:pt idx="51">
                  <c:v>12.2</c:v>
                </c:pt>
                <c:pt idx="52">
                  <c:v>14.2</c:v>
                </c:pt>
                <c:pt idx="53">
                  <c:v>14.1</c:v>
                </c:pt>
                <c:pt idx="54">
                  <c:v>13.1</c:v>
                </c:pt>
                <c:pt idx="55">
                  <c:v>13.2</c:v>
                </c:pt>
                <c:pt idx="56">
                  <c:v>12.4</c:v>
                </c:pt>
                <c:pt idx="57">
                  <c:v>13.1</c:v>
                </c:pt>
                <c:pt idx="58">
                  <c:v>13.5</c:v>
                </c:pt>
                <c:pt idx="59">
                  <c:v>13.6</c:v>
                </c:pt>
                <c:pt idx="60">
                  <c:v>13.7</c:v>
                </c:pt>
                <c:pt idx="61">
                  <c:v>13.3</c:v>
                </c:pt>
                <c:pt idx="62">
                  <c:v>14.7</c:v>
                </c:pt>
                <c:pt idx="63">
                  <c:v>14.8</c:v>
                </c:pt>
                <c:pt idx="64">
                  <c:v>16.899999999999999</c:v>
                </c:pt>
                <c:pt idx="65">
                  <c:v>17.600000000000001</c:v>
                </c:pt>
                <c:pt idx="66">
                  <c:v>16.7</c:v>
                </c:pt>
                <c:pt idx="67">
                  <c:v>15.7</c:v>
                </c:pt>
                <c:pt idx="68">
                  <c:v>14.9</c:v>
                </c:pt>
                <c:pt idx="69">
                  <c:v>14.8</c:v>
                </c:pt>
                <c:pt idx="70">
                  <c:v>15.3</c:v>
                </c:pt>
                <c:pt idx="71">
                  <c:v>16.7</c:v>
                </c:pt>
                <c:pt idx="72">
                  <c:v>16.899999999999999</c:v>
                </c:pt>
                <c:pt idx="73">
                  <c:v>16.7</c:v>
                </c:pt>
                <c:pt idx="74">
                  <c:v>18.2</c:v>
                </c:pt>
                <c:pt idx="75">
                  <c:v>17.2</c:v>
                </c:pt>
                <c:pt idx="76">
                  <c:v>17.2</c:v>
                </c:pt>
                <c:pt idx="77">
                  <c:v>17.8</c:v>
                </c:pt>
                <c:pt idx="78">
                  <c:v>16.8</c:v>
                </c:pt>
                <c:pt idx="79">
                  <c:v>18.100000000000001</c:v>
                </c:pt>
                <c:pt idx="80">
                  <c:v>17.7</c:v>
                </c:pt>
                <c:pt idx="81">
                  <c:v>17</c:v>
                </c:pt>
                <c:pt idx="82">
                  <c:v>14.5</c:v>
                </c:pt>
                <c:pt idx="83">
                  <c:v>12</c:v>
                </c:pt>
                <c:pt idx="84">
                  <c:v>9.4</c:v>
                </c:pt>
                <c:pt idx="85">
                  <c:v>7.4</c:v>
                </c:pt>
                <c:pt idx="86">
                  <c:v>6.5</c:v>
                </c:pt>
                <c:pt idx="87">
                  <c:v>6</c:v>
                </c:pt>
                <c:pt idx="88">
                  <c:v>5.6</c:v>
                </c:pt>
                <c:pt idx="89">
                  <c:v>5</c:v>
                </c:pt>
                <c:pt idx="90">
                  <c:v>4.8</c:v>
                </c:pt>
                <c:pt idx="91">
                  <c:v>3.4</c:v>
                </c:pt>
                <c:pt idx="92">
                  <c:v>3.2</c:v>
                </c:pt>
                <c:pt idx="93">
                  <c:v>2.8</c:v>
                </c:pt>
                <c:pt idx="94">
                  <c:v>3.1</c:v>
                </c:pt>
                <c:pt idx="95">
                  <c:v>4.5</c:v>
                </c:pt>
                <c:pt idx="96">
                  <c:v>5.4</c:v>
                </c:pt>
                <c:pt idx="97">
                  <c:v>5.3</c:v>
                </c:pt>
                <c:pt idx="98">
                  <c:v>4.9000000000000004</c:v>
                </c:pt>
                <c:pt idx="99">
                  <c:v>4.7</c:v>
                </c:pt>
                <c:pt idx="100">
                  <c:v>5.3</c:v>
                </c:pt>
                <c:pt idx="101">
                  <c:v>6.8</c:v>
                </c:pt>
                <c:pt idx="102">
                  <c:v>8.4</c:v>
                </c:pt>
                <c:pt idx="103">
                  <c:v>9.8000000000000007</c:v>
                </c:pt>
                <c:pt idx="104">
                  <c:v>9.6999999999999993</c:v>
                </c:pt>
                <c:pt idx="105">
                  <c:v>9.8000000000000007</c:v>
                </c:pt>
                <c:pt idx="106">
                  <c:v>10.199999999999999</c:v>
                </c:pt>
                <c:pt idx="107">
                  <c:v>9.5</c:v>
                </c:pt>
                <c:pt idx="108">
                  <c:v>11.4</c:v>
                </c:pt>
                <c:pt idx="109">
                  <c:v>11.8</c:v>
                </c:pt>
                <c:pt idx="110">
                  <c:v>11.7</c:v>
                </c:pt>
                <c:pt idx="111">
                  <c:v>11.8</c:v>
                </c:pt>
                <c:pt idx="112">
                  <c:v>10</c:v>
                </c:pt>
                <c:pt idx="113">
                  <c:v>9.5</c:v>
                </c:pt>
                <c:pt idx="114">
                  <c:v>9.5</c:v>
                </c:pt>
                <c:pt idx="115">
                  <c:v>8.3000000000000007</c:v>
                </c:pt>
                <c:pt idx="116">
                  <c:v>7</c:v>
                </c:pt>
                <c:pt idx="117">
                  <c:v>5.7</c:v>
                </c:pt>
                <c:pt idx="118">
                  <c:v>2.9</c:v>
                </c:pt>
                <c:pt idx="119">
                  <c:v>4.0999999999999996</c:v>
                </c:pt>
                <c:pt idx="120">
                  <c:v>5.2</c:v>
                </c:pt>
                <c:pt idx="121">
                  <c:v>6.7</c:v>
                </c:pt>
                <c:pt idx="122">
                  <c:v>8.9</c:v>
                </c:pt>
                <c:pt idx="123">
                  <c:v>8.3000000000000007</c:v>
                </c:pt>
                <c:pt idx="124">
                  <c:v>8.3000000000000007</c:v>
                </c:pt>
                <c:pt idx="125">
                  <c:v>7.7</c:v>
                </c:pt>
                <c:pt idx="126">
                  <c:v>8.4</c:v>
                </c:pt>
                <c:pt idx="127">
                  <c:v>6.8</c:v>
                </c:pt>
                <c:pt idx="128">
                  <c:v>5.7</c:v>
                </c:pt>
                <c:pt idx="129">
                  <c:v>6.2</c:v>
                </c:pt>
                <c:pt idx="130">
                  <c:v>6</c:v>
                </c:pt>
                <c:pt idx="131">
                  <c:v>7.3</c:v>
                </c:pt>
                <c:pt idx="132">
                  <c:v>7.5</c:v>
                </c:pt>
                <c:pt idx="133">
                  <c:v>8.1</c:v>
                </c:pt>
                <c:pt idx="134">
                  <c:v>6.6</c:v>
                </c:pt>
                <c:pt idx="135">
                  <c:v>7.2</c:v>
                </c:pt>
                <c:pt idx="136">
                  <c:v>7.9</c:v>
                </c:pt>
                <c:pt idx="137">
                  <c:v>8</c:v>
                </c:pt>
                <c:pt idx="138">
                  <c:v>8.9</c:v>
                </c:pt>
                <c:pt idx="139">
                  <c:v>9.1</c:v>
                </c:pt>
                <c:pt idx="140">
                  <c:v>10.5</c:v>
                </c:pt>
                <c:pt idx="141">
                  <c:v>10.5</c:v>
                </c:pt>
                <c:pt idx="142">
                  <c:v>11.5</c:v>
                </c:pt>
                <c:pt idx="143">
                  <c:v>12.8</c:v>
                </c:pt>
                <c:pt idx="144">
                  <c:v>12.5</c:v>
                </c:pt>
                <c:pt idx="145">
                  <c:v>13.2</c:v>
                </c:pt>
                <c:pt idx="146">
                  <c:v>14</c:v>
                </c:pt>
                <c:pt idx="147">
                  <c:v>12.6</c:v>
                </c:pt>
                <c:pt idx="148">
                  <c:v>12.7</c:v>
                </c:pt>
                <c:pt idx="149">
                  <c:v>12.6</c:v>
                </c:pt>
                <c:pt idx="150">
                  <c:v>13.2</c:v>
                </c:pt>
                <c:pt idx="151">
                  <c:v>12.7</c:v>
                </c:pt>
                <c:pt idx="152">
                  <c:v>11.9</c:v>
                </c:pt>
                <c:pt idx="153">
                  <c:v>11.2</c:v>
                </c:pt>
                <c:pt idx="154">
                  <c:v>10.9</c:v>
                </c:pt>
                <c:pt idx="155">
                  <c:v>15.6</c:v>
                </c:pt>
                <c:pt idx="156">
                  <c:v>17.2</c:v>
                </c:pt>
                <c:pt idx="157">
                  <c:v>13.5</c:v>
                </c:pt>
                <c:pt idx="158">
                  <c:v>11.1</c:v>
                </c:pt>
                <c:pt idx="159">
                  <c:v>6.5</c:v>
                </c:pt>
                <c:pt idx="160">
                  <c:v>3.6</c:v>
                </c:pt>
                <c:pt idx="161">
                  <c:v>3.3</c:v>
                </c:pt>
                <c:pt idx="162">
                  <c:v>1.1000000000000001</c:v>
                </c:pt>
                <c:pt idx="163">
                  <c:v>-1.4</c:v>
                </c:pt>
                <c:pt idx="164">
                  <c:v>-1.3</c:v>
                </c:pt>
                <c:pt idx="165">
                  <c:v>-0.7</c:v>
                </c:pt>
                <c:pt idx="166">
                  <c:v>-1.6</c:v>
                </c:pt>
                <c:pt idx="167">
                  <c:v>-2.5</c:v>
                </c:pt>
                <c:pt idx="168">
                  <c:v>-4.7</c:v>
                </c:pt>
                <c:pt idx="169">
                  <c:v>-5.5</c:v>
                </c:pt>
                <c:pt idx="170">
                  <c:v>-3.7</c:v>
                </c:pt>
                <c:pt idx="171">
                  <c:v>-1</c:v>
                </c:pt>
                <c:pt idx="172">
                  <c:v>0.3</c:v>
                </c:pt>
                <c:pt idx="173">
                  <c:v>1.5</c:v>
                </c:pt>
                <c:pt idx="174">
                  <c:v>2.8</c:v>
                </c:pt>
                <c:pt idx="175">
                  <c:v>0.2</c:v>
                </c:pt>
                <c:pt idx="176">
                  <c:v>-0.1</c:v>
                </c:pt>
                <c:pt idx="177">
                  <c:v>-0.6</c:v>
                </c:pt>
                <c:pt idx="178">
                  <c:v>-2.6</c:v>
                </c:pt>
                <c:pt idx="179">
                  <c:v>-1</c:v>
                </c:pt>
                <c:pt idx="180">
                  <c:v>-0.7</c:v>
                </c:pt>
                <c:pt idx="181">
                  <c:v>-0.3</c:v>
                </c:pt>
                <c:pt idx="182">
                  <c:v>-0.6</c:v>
                </c:pt>
                <c:pt idx="183">
                  <c:v>0.3</c:v>
                </c:pt>
                <c:pt idx="184">
                  <c:v>1.4</c:v>
                </c:pt>
                <c:pt idx="185">
                  <c:v>3.6</c:v>
                </c:pt>
                <c:pt idx="186">
                  <c:v>6.1</c:v>
                </c:pt>
                <c:pt idx="187">
                  <c:v>6.3</c:v>
                </c:pt>
                <c:pt idx="188">
                  <c:v>6.8</c:v>
                </c:pt>
                <c:pt idx="189">
                  <c:v>5.4</c:v>
                </c:pt>
                <c:pt idx="190">
                  <c:v>4.8</c:v>
                </c:pt>
                <c:pt idx="191">
                  <c:v>3.8</c:v>
                </c:pt>
                <c:pt idx="192">
                  <c:v>2.2000000000000002</c:v>
                </c:pt>
                <c:pt idx="193">
                  <c:v>1.7</c:v>
                </c:pt>
                <c:pt idx="194">
                  <c:v>0.8</c:v>
                </c:pt>
                <c:pt idx="195">
                  <c:v>2</c:v>
                </c:pt>
                <c:pt idx="196">
                  <c:v>2.2000000000000002</c:v>
                </c:pt>
                <c:pt idx="197">
                  <c:v>2.2999999999999998</c:v>
                </c:pt>
                <c:pt idx="198">
                  <c:v>4</c:v>
                </c:pt>
                <c:pt idx="199">
                  <c:v>3.8</c:v>
                </c:pt>
                <c:pt idx="200">
                  <c:v>8.3000000000000007</c:v>
                </c:pt>
                <c:pt idx="201">
                  <c:v>13.1</c:v>
                </c:pt>
                <c:pt idx="202">
                  <c:v>12.3</c:v>
                </c:pt>
                <c:pt idx="203">
                  <c:v>13.4</c:v>
                </c:pt>
                <c:pt idx="204">
                  <c:v>10.8</c:v>
                </c:pt>
                <c:pt idx="205">
                  <c:v>7</c:v>
                </c:pt>
                <c:pt idx="206">
                  <c:v>7</c:v>
                </c:pt>
                <c:pt idx="207">
                  <c:v>6.3</c:v>
                </c:pt>
                <c:pt idx="208">
                  <c:v>5.4</c:v>
                </c:pt>
                <c:pt idx="209">
                  <c:v>4.0999999999999996</c:v>
                </c:pt>
              </c:numCache>
            </c:numRef>
          </c:val>
          <c:smooth val="0"/>
          <c:extLst>
            <c:ext xmlns:c16="http://schemas.microsoft.com/office/drawing/2014/chart" uri="{C3380CC4-5D6E-409C-BE32-E72D297353CC}">
              <c16:uniqueId val="{00000000-E08E-4552-8BCE-A0E6A6EFBACE}"/>
            </c:ext>
          </c:extLst>
        </c:ser>
        <c:ser>
          <c:idx val="0"/>
          <c:order val="1"/>
          <c:tx>
            <c:strRef>
              <c:f>Sheet1!$C$1</c:f>
              <c:strCache>
                <c:ptCount val="1"/>
              </c:strCache>
            </c:strRef>
          </c:tx>
          <c:spPr>
            <a:ln w="12700">
              <a:solidFill>
                <a:schemeClr val="tx1">
                  <a:lumMod val="85000"/>
                  <a:lumOff val="15000"/>
                </a:schemeClr>
              </a:solidFill>
            </a:ln>
          </c:spPr>
          <c:marker>
            <c:symbol val="none"/>
          </c:marker>
          <c:cat>
            <c:numRef>
              <c:f>Sheet1!$A$2:$A$211</c:f>
              <c:numCache>
                <c:formatCode>mmm\-yy</c:formatCode>
                <c:ptCount val="210"/>
                <c:pt idx="0">
                  <c:v>25628</c:v>
                </c:pt>
                <c:pt idx="1">
                  <c:v>25720</c:v>
                </c:pt>
                <c:pt idx="2">
                  <c:v>25812</c:v>
                </c:pt>
                <c:pt idx="3">
                  <c:v>25903</c:v>
                </c:pt>
                <c:pt idx="4">
                  <c:v>25993</c:v>
                </c:pt>
                <c:pt idx="5">
                  <c:v>26085</c:v>
                </c:pt>
                <c:pt idx="6">
                  <c:v>26177</c:v>
                </c:pt>
                <c:pt idx="7">
                  <c:v>26268</c:v>
                </c:pt>
                <c:pt idx="8">
                  <c:v>26359</c:v>
                </c:pt>
                <c:pt idx="9">
                  <c:v>26451</c:v>
                </c:pt>
                <c:pt idx="10">
                  <c:v>26543</c:v>
                </c:pt>
                <c:pt idx="11">
                  <c:v>26634</c:v>
                </c:pt>
                <c:pt idx="12">
                  <c:v>26724</c:v>
                </c:pt>
                <c:pt idx="13">
                  <c:v>26816</c:v>
                </c:pt>
                <c:pt idx="14">
                  <c:v>26908</c:v>
                </c:pt>
                <c:pt idx="15">
                  <c:v>26999</c:v>
                </c:pt>
                <c:pt idx="16">
                  <c:v>27089</c:v>
                </c:pt>
                <c:pt idx="17">
                  <c:v>27181</c:v>
                </c:pt>
                <c:pt idx="18">
                  <c:v>27273</c:v>
                </c:pt>
                <c:pt idx="19">
                  <c:v>27364</c:v>
                </c:pt>
                <c:pt idx="20">
                  <c:v>27454</c:v>
                </c:pt>
                <c:pt idx="21">
                  <c:v>27546</c:v>
                </c:pt>
                <c:pt idx="22">
                  <c:v>27638</c:v>
                </c:pt>
                <c:pt idx="23">
                  <c:v>27729</c:v>
                </c:pt>
                <c:pt idx="24">
                  <c:v>27820</c:v>
                </c:pt>
                <c:pt idx="25">
                  <c:v>27912</c:v>
                </c:pt>
                <c:pt idx="26">
                  <c:v>28004</c:v>
                </c:pt>
                <c:pt idx="27">
                  <c:v>28095</c:v>
                </c:pt>
                <c:pt idx="28">
                  <c:v>28185</c:v>
                </c:pt>
                <c:pt idx="29">
                  <c:v>28277</c:v>
                </c:pt>
                <c:pt idx="30">
                  <c:v>28369</c:v>
                </c:pt>
                <c:pt idx="31">
                  <c:v>28460</c:v>
                </c:pt>
                <c:pt idx="32">
                  <c:v>28550</c:v>
                </c:pt>
                <c:pt idx="33">
                  <c:v>28642</c:v>
                </c:pt>
                <c:pt idx="34">
                  <c:v>28734</c:v>
                </c:pt>
                <c:pt idx="35">
                  <c:v>28825</c:v>
                </c:pt>
                <c:pt idx="36">
                  <c:v>28915</c:v>
                </c:pt>
                <c:pt idx="37">
                  <c:v>29007</c:v>
                </c:pt>
                <c:pt idx="38">
                  <c:v>29099</c:v>
                </c:pt>
                <c:pt idx="39">
                  <c:v>29190</c:v>
                </c:pt>
                <c:pt idx="40">
                  <c:v>29281</c:v>
                </c:pt>
                <c:pt idx="41">
                  <c:v>29373</c:v>
                </c:pt>
                <c:pt idx="42">
                  <c:v>29465</c:v>
                </c:pt>
                <c:pt idx="43">
                  <c:v>29556</c:v>
                </c:pt>
                <c:pt idx="44">
                  <c:v>29646</c:v>
                </c:pt>
                <c:pt idx="45">
                  <c:v>29738</c:v>
                </c:pt>
                <c:pt idx="46">
                  <c:v>29830</c:v>
                </c:pt>
                <c:pt idx="47">
                  <c:v>29921</c:v>
                </c:pt>
                <c:pt idx="48">
                  <c:v>30011</c:v>
                </c:pt>
                <c:pt idx="49">
                  <c:v>30103</c:v>
                </c:pt>
                <c:pt idx="50">
                  <c:v>30195</c:v>
                </c:pt>
                <c:pt idx="51">
                  <c:v>30286</c:v>
                </c:pt>
                <c:pt idx="52">
                  <c:v>30376</c:v>
                </c:pt>
                <c:pt idx="53">
                  <c:v>30468</c:v>
                </c:pt>
                <c:pt idx="54">
                  <c:v>30560</c:v>
                </c:pt>
                <c:pt idx="55">
                  <c:v>30651</c:v>
                </c:pt>
                <c:pt idx="56">
                  <c:v>30742</c:v>
                </c:pt>
                <c:pt idx="57">
                  <c:v>30834</c:v>
                </c:pt>
                <c:pt idx="58">
                  <c:v>30926</c:v>
                </c:pt>
                <c:pt idx="59">
                  <c:v>31017</c:v>
                </c:pt>
                <c:pt idx="60">
                  <c:v>31107</c:v>
                </c:pt>
                <c:pt idx="61">
                  <c:v>31199</c:v>
                </c:pt>
                <c:pt idx="62">
                  <c:v>31291</c:v>
                </c:pt>
                <c:pt idx="63">
                  <c:v>31382</c:v>
                </c:pt>
                <c:pt idx="64">
                  <c:v>31472</c:v>
                </c:pt>
                <c:pt idx="65">
                  <c:v>31564</c:v>
                </c:pt>
                <c:pt idx="66">
                  <c:v>31656</c:v>
                </c:pt>
                <c:pt idx="67">
                  <c:v>31747</c:v>
                </c:pt>
                <c:pt idx="68">
                  <c:v>31837</c:v>
                </c:pt>
                <c:pt idx="69">
                  <c:v>31929</c:v>
                </c:pt>
                <c:pt idx="70">
                  <c:v>32021</c:v>
                </c:pt>
                <c:pt idx="71">
                  <c:v>32112</c:v>
                </c:pt>
                <c:pt idx="72">
                  <c:v>32203</c:v>
                </c:pt>
                <c:pt idx="73">
                  <c:v>32295</c:v>
                </c:pt>
                <c:pt idx="74">
                  <c:v>32387</c:v>
                </c:pt>
                <c:pt idx="75">
                  <c:v>32478</c:v>
                </c:pt>
                <c:pt idx="76">
                  <c:v>32568</c:v>
                </c:pt>
                <c:pt idx="77">
                  <c:v>32660</c:v>
                </c:pt>
                <c:pt idx="78">
                  <c:v>32752</c:v>
                </c:pt>
                <c:pt idx="79">
                  <c:v>32843</c:v>
                </c:pt>
                <c:pt idx="80">
                  <c:v>32933</c:v>
                </c:pt>
                <c:pt idx="81">
                  <c:v>33025</c:v>
                </c:pt>
                <c:pt idx="82">
                  <c:v>33117</c:v>
                </c:pt>
                <c:pt idx="83">
                  <c:v>33208</c:v>
                </c:pt>
                <c:pt idx="84">
                  <c:v>33298</c:v>
                </c:pt>
                <c:pt idx="85">
                  <c:v>33390</c:v>
                </c:pt>
                <c:pt idx="86">
                  <c:v>33482</c:v>
                </c:pt>
                <c:pt idx="87">
                  <c:v>33573</c:v>
                </c:pt>
                <c:pt idx="88">
                  <c:v>33664</c:v>
                </c:pt>
                <c:pt idx="89">
                  <c:v>33756</c:v>
                </c:pt>
                <c:pt idx="90">
                  <c:v>33848</c:v>
                </c:pt>
                <c:pt idx="91">
                  <c:v>33939</c:v>
                </c:pt>
                <c:pt idx="92">
                  <c:v>34029</c:v>
                </c:pt>
                <c:pt idx="93">
                  <c:v>34121</c:v>
                </c:pt>
                <c:pt idx="94">
                  <c:v>34213</c:v>
                </c:pt>
                <c:pt idx="95">
                  <c:v>34304</c:v>
                </c:pt>
                <c:pt idx="96">
                  <c:v>34394</c:v>
                </c:pt>
                <c:pt idx="97">
                  <c:v>34486</c:v>
                </c:pt>
                <c:pt idx="98">
                  <c:v>34578</c:v>
                </c:pt>
                <c:pt idx="99">
                  <c:v>34669</c:v>
                </c:pt>
                <c:pt idx="100">
                  <c:v>34759</c:v>
                </c:pt>
                <c:pt idx="101">
                  <c:v>34851</c:v>
                </c:pt>
                <c:pt idx="102">
                  <c:v>34943</c:v>
                </c:pt>
                <c:pt idx="103">
                  <c:v>35034</c:v>
                </c:pt>
                <c:pt idx="104">
                  <c:v>35125</c:v>
                </c:pt>
                <c:pt idx="105">
                  <c:v>35217</c:v>
                </c:pt>
                <c:pt idx="106">
                  <c:v>35309</c:v>
                </c:pt>
                <c:pt idx="107">
                  <c:v>35400</c:v>
                </c:pt>
                <c:pt idx="108">
                  <c:v>35490</c:v>
                </c:pt>
                <c:pt idx="109">
                  <c:v>35582</c:v>
                </c:pt>
                <c:pt idx="110">
                  <c:v>35674</c:v>
                </c:pt>
                <c:pt idx="111">
                  <c:v>35765</c:v>
                </c:pt>
                <c:pt idx="112">
                  <c:v>35855</c:v>
                </c:pt>
                <c:pt idx="113">
                  <c:v>35947</c:v>
                </c:pt>
                <c:pt idx="114">
                  <c:v>36039</c:v>
                </c:pt>
                <c:pt idx="115">
                  <c:v>36130</c:v>
                </c:pt>
                <c:pt idx="116">
                  <c:v>36220</c:v>
                </c:pt>
                <c:pt idx="117">
                  <c:v>36312</c:v>
                </c:pt>
                <c:pt idx="118">
                  <c:v>36404</c:v>
                </c:pt>
                <c:pt idx="119">
                  <c:v>36495</c:v>
                </c:pt>
                <c:pt idx="120">
                  <c:v>36586</c:v>
                </c:pt>
                <c:pt idx="121">
                  <c:v>36678</c:v>
                </c:pt>
                <c:pt idx="122">
                  <c:v>36770</c:v>
                </c:pt>
                <c:pt idx="123">
                  <c:v>36861</c:v>
                </c:pt>
                <c:pt idx="124">
                  <c:v>36951</c:v>
                </c:pt>
                <c:pt idx="125">
                  <c:v>37043</c:v>
                </c:pt>
                <c:pt idx="126">
                  <c:v>37135</c:v>
                </c:pt>
                <c:pt idx="127">
                  <c:v>37226</c:v>
                </c:pt>
                <c:pt idx="128">
                  <c:v>37316</c:v>
                </c:pt>
                <c:pt idx="129">
                  <c:v>37408</c:v>
                </c:pt>
                <c:pt idx="130">
                  <c:v>37500</c:v>
                </c:pt>
                <c:pt idx="131">
                  <c:v>37591</c:v>
                </c:pt>
                <c:pt idx="132">
                  <c:v>37681</c:v>
                </c:pt>
                <c:pt idx="133">
                  <c:v>37773</c:v>
                </c:pt>
                <c:pt idx="134">
                  <c:v>37865</c:v>
                </c:pt>
                <c:pt idx="135">
                  <c:v>37956</c:v>
                </c:pt>
                <c:pt idx="136">
                  <c:v>38047</c:v>
                </c:pt>
                <c:pt idx="137">
                  <c:v>38139</c:v>
                </c:pt>
                <c:pt idx="138">
                  <c:v>38231</c:v>
                </c:pt>
                <c:pt idx="139">
                  <c:v>38322</c:v>
                </c:pt>
                <c:pt idx="140">
                  <c:v>38412</c:v>
                </c:pt>
                <c:pt idx="141">
                  <c:v>38504</c:v>
                </c:pt>
                <c:pt idx="142">
                  <c:v>38596</c:v>
                </c:pt>
                <c:pt idx="143">
                  <c:v>38687</c:v>
                </c:pt>
                <c:pt idx="144">
                  <c:v>38777</c:v>
                </c:pt>
                <c:pt idx="145">
                  <c:v>38869</c:v>
                </c:pt>
                <c:pt idx="146">
                  <c:v>38961</c:v>
                </c:pt>
                <c:pt idx="147">
                  <c:v>39052</c:v>
                </c:pt>
                <c:pt idx="148">
                  <c:v>39142</c:v>
                </c:pt>
                <c:pt idx="149">
                  <c:v>39234</c:v>
                </c:pt>
                <c:pt idx="150">
                  <c:v>39326</c:v>
                </c:pt>
                <c:pt idx="151">
                  <c:v>39417</c:v>
                </c:pt>
                <c:pt idx="152">
                  <c:v>39508</c:v>
                </c:pt>
                <c:pt idx="153">
                  <c:v>39600</c:v>
                </c:pt>
                <c:pt idx="154">
                  <c:v>39692</c:v>
                </c:pt>
                <c:pt idx="155">
                  <c:v>39783</c:v>
                </c:pt>
                <c:pt idx="156">
                  <c:v>39873</c:v>
                </c:pt>
                <c:pt idx="157">
                  <c:v>39965</c:v>
                </c:pt>
                <c:pt idx="158">
                  <c:v>40057</c:v>
                </c:pt>
                <c:pt idx="159">
                  <c:v>40148</c:v>
                </c:pt>
                <c:pt idx="160">
                  <c:v>40238</c:v>
                </c:pt>
                <c:pt idx="161">
                  <c:v>40330</c:v>
                </c:pt>
                <c:pt idx="162">
                  <c:v>40422</c:v>
                </c:pt>
                <c:pt idx="163">
                  <c:v>40513</c:v>
                </c:pt>
                <c:pt idx="164">
                  <c:v>40603</c:v>
                </c:pt>
                <c:pt idx="165">
                  <c:v>40695</c:v>
                </c:pt>
                <c:pt idx="166">
                  <c:v>40787</c:v>
                </c:pt>
                <c:pt idx="167">
                  <c:v>40878</c:v>
                </c:pt>
                <c:pt idx="168">
                  <c:v>40969</c:v>
                </c:pt>
                <c:pt idx="169">
                  <c:v>41061</c:v>
                </c:pt>
                <c:pt idx="170">
                  <c:v>41153</c:v>
                </c:pt>
                <c:pt idx="171">
                  <c:v>41244</c:v>
                </c:pt>
                <c:pt idx="172">
                  <c:v>41334</c:v>
                </c:pt>
                <c:pt idx="173">
                  <c:v>41426</c:v>
                </c:pt>
                <c:pt idx="174">
                  <c:v>41518</c:v>
                </c:pt>
                <c:pt idx="175">
                  <c:v>41609</c:v>
                </c:pt>
                <c:pt idx="176">
                  <c:v>41699</c:v>
                </c:pt>
                <c:pt idx="177">
                  <c:v>41791</c:v>
                </c:pt>
                <c:pt idx="178">
                  <c:v>41883</c:v>
                </c:pt>
                <c:pt idx="179">
                  <c:v>41974</c:v>
                </c:pt>
                <c:pt idx="180">
                  <c:v>42064</c:v>
                </c:pt>
                <c:pt idx="181">
                  <c:v>42156</c:v>
                </c:pt>
                <c:pt idx="182">
                  <c:v>42248</c:v>
                </c:pt>
                <c:pt idx="183">
                  <c:v>42339</c:v>
                </c:pt>
                <c:pt idx="184">
                  <c:v>42430</c:v>
                </c:pt>
                <c:pt idx="185">
                  <c:v>42522</c:v>
                </c:pt>
                <c:pt idx="186">
                  <c:v>42614</c:v>
                </c:pt>
                <c:pt idx="187">
                  <c:v>42705</c:v>
                </c:pt>
                <c:pt idx="188">
                  <c:v>42795</c:v>
                </c:pt>
                <c:pt idx="189">
                  <c:v>42887</c:v>
                </c:pt>
                <c:pt idx="190">
                  <c:v>42979</c:v>
                </c:pt>
                <c:pt idx="191">
                  <c:v>43070</c:v>
                </c:pt>
                <c:pt idx="192">
                  <c:v>43160</c:v>
                </c:pt>
                <c:pt idx="193">
                  <c:v>43252</c:v>
                </c:pt>
                <c:pt idx="194">
                  <c:v>43344</c:v>
                </c:pt>
                <c:pt idx="195">
                  <c:v>43435</c:v>
                </c:pt>
                <c:pt idx="196">
                  <c:v>43525</c:v>
                </c:pt>
                <c:pt idx="197">
                  <c:v>43617</c:v>
                </c:pt>
                <c:pt idx="198">
                  <c:v>43709</c:v>
                </c:pt>
                <c:pt idx="199">
                  <c:v>43800</c:v>
                </c:pt>
                <c:pt idx="200">
                  <c:v>43891</c:v>
                </c:pt>
                <c:pt idx="201">
                  <c:v>43983</c:v>
                </c:pt>
                <c:pt idx="202">
                  <c:v>44075</c:v>
                </c:pt>
                <c:pt idx="203">
                  <c:v>44166</c:v>
                </c:pt>
                <c:pt idx="204">
                  <c:v>44256</c:v>
                </c:pt>
                <c:pt idx="205">
                  <c:v>44348</c:v>
                </c:pt>
                <c:pt idx="206">
                  <c:v>44440</c:v>
                </c:pt>
                <c:pt idx="207">
                  <c:v>44531</c:v>
                </c:pt>
                <c:pt idx="208">
                  <c:v>44621</c:v>
                </c:pt>
                <c:pt idx="209">
                  <c:v>44713</c:v>
                </c:pt>
              </c:numCache>
            </c:numRef>
          </c:cat>
          <c:val>
            <c:numRef>
              <c:f>Sheet1!$C$2:$C$211</c:f>
              <c:numCache>
                <c:formatCode>General</c:formatCode>
                <c:ptCount val="210"/>
                <c:pt idx="0">
                  <c:v>0</c:v>
                </c:pt>
                <c:pt idx="209">
                  <c:v>0</c:v>
                </c:pt>
              </c:numCache>
            </c:numRef>
          </c:val>
          <c:smooth val="0"/>
          <c:extLst>
            <c:ext xmlns:c16="http://schemas.microsoft.com/office/drawing/2014/chart" uri="{C3380CC4-5D6E-409C-BE32-E72D297353CC}">
              <c16:uniqueId val="{00000001-E08E-4552-8BCE-A0E6A6EFBACE}"/>
            </c:ext>
          </c:extLst>
        </c:ser>
        <c:dLbls>
          <c:showLegendKey val="0"/>
          <c:showVal val="0"/>
          <c:showCatName val="0"/>
          <c:showSerName val="0"/>
          <c:showPercent val="0"/>
          <c:showBubbleSize val="0"/>
        </c:dLbls>
        <c:smooth val="0"/>
        <c:axId val="221965792"/>
        <c:axId val="1"/>
      </c:lineChart>
      <c:catAx>
        <c:axId val="221965792"/>
        <c:scaling>
          <c:orientation val="minMax"/>
        </c:scaling>
        <c:delete val="0"/>
        <c:axPos val="b"/>
        <c:majorGridlines>
          <c:spPr>
            <a:ln>
              <a:noFill/>
            </a:ln>
          </c:spPr>
        </c:majorGridlines>
        <c:numFmt formatCode="yyyy" sourceLinked="0"/>
        <c:majorTickMark val="out"/>
        <c:minorTickMark val="none"/>
        <c:tickLblPos val="low"/>
        <c:spPr>
          <a:ln w="12700">
            <a:solidFill>
              <a:schemeClr val="tx1"/>
            </a:solidFill>
            <a:prstDash val="solid"/>
          </a:ln>
        </c:spPr>
        <c:txPr>
          <a:bodyPr rot="0" vert="horz"/>
          <a:lstStyle/>
          <a:p>
            <a:pPr>
              <a:defRPr sz="1800"/>
            </a:pPr>
            <a:endParaRPr lang="en-US"/>
          </a:p>
        </c:txPr>
        <c:crossAx val="1"/>
        <c:crossesAt val="-10"/>
        <c:auto val="0"/>
        <c:lblAlgn val="ctr"/>
        <c:lblOffset val="0"/>
        <c:tickLblSkip val="20"/>
        <c:tickMarkSkip val="4"/>
        <c:noMultiLvlLbl val="0"/>
      </c:catAx>
      <c:valAx>
        <c:axId val="1"/>
        <c:scaling>
          <c:orientation val="minMax"/>
          <c:max val="24"/>
          <c:min val="-6"/>
        </c:scaling>
        <c:delete val="0"/>
        <c:axPos val="l"/>
        <c:title>
          <c:tx>
            <c:rich>
              <a:bodyPr/>
              <a:lstStyle/>
              <a:p>
                <a:pPr>
                  <a:defRPr/>
                </a:pPr>
                <a:r>
                  <a:rPr lang="en-GB"/>
                  <a:t>Annual % change </a:t>
                </a:r>
              </a:p>
            </c:rich>
          </c:tx>
          <c:layout>
            <c:manualLayout>
              <c:xMode val="edge"/>
              <c:yMode val="edge"/>
              <c:x val="2.0440452755905513E-2"/>
              <c:y val="0.31439714264671453"/>
            </c:manualLayout>
          </c:layout>
          <c:overlay val="0"/>
          <c:spPr>
            <a:noFill/>
            <a:ln w="30522">
              <a:noFill/>
            </a:ln>
          </c:spPr>
        </c:title>
        <c:numFmt formatCode="#,##0_ ;\−#,##0\ " sourceLinked="0"/>
        <c:majorTickMark val="out"/>
        <c:minorTickMark val="none"/>
        <c:tickLblPos val="nextTo"/>
        <c:spPr>
          <a:ln w="12700">
            <a:solidFill>
              <a:schemeClr val="tx1"/>
            </a:solidFill>
            <a:prstDash val="solid"/>
          </a:ln>
        </c:spPr>
        <c:txPr>
          <a:bodyPr rot="0" vert="horz"/>
          <a:lstStyle/>
          <a:p>
            <a:pPr>
              <a:defRPr/>
            </a:pPr>
            <a:endParaRPr lang="en-US"/>
          </a:p>
        </c:txPr>
        <c:crossAx val="221965792"/>
        <c:crosses val="autoZero"/>
        <c:crossBetween val="midCat"/>
        <c:majorUnit val="2"/>
      </c:valAx>
      <c:spPr>
        <a:noFill/>
        <a:ln w="25400">
          <a:noFill/>
        </a:ln>
      </c:spPr>
    </c:plotArea>
    <c:plotVisOnly val="1"/>
    <c:dispBlanksAs val="span"/>
    <c:showDLblsOverMax val="0"/>
  </c:chart>
  <c:spPr>
    <a:noFill/>
    <a:ln>
      <a:noFill/>
    </a:ln>
  </c:spPr>
  <c:txPr>
    <a:bodyPr/>
    <a:lstStyle/>
    <a:p>
      <a:pPr>
        <a:defRPr sz="1800" b="0" i="0" u="none" strike="noStrike" baseline="0">
          <a:solidFill>
            <a:schemeClr val="tx1"/>
          </a:solidFill>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17068569553805"/>
          <c:y val="2.0249178390648263E-2"/>
          <c:w val="0.8453877952755906"/>
          <c:h val="0.95524757816572481"/>
        </c:manualLayout>
      </c:layout>
      <c:barChart>
        <c:barDir val="col"/>
        <c:grouping val="stacked"/>
        <c:varyColors val="0"/>
        <c:ser>
          <c:idx val="0"/>
          <c:order val="0"/>
          <c:tx>
            <c:strRef>
              <c:f>Sheet1!$B$1</c:f>
              <c:strCache>
                <c:ptCount val="1"/>
                <c:pt idx="0">
                  <c:v>PSNCR</c:v>
                </c:pt>
              </c:strCache>
            </c:strRef>
          </c:tx>
          <c:spPr>
            <a:solidFill>
              <a:srgbClr val="FF9900"/>
            </a:solidFill>
            <a:ln w="12700">
              <a:solidFill>
                <a:schemeClr val="tx1"/>
              </a:solidFill>
              <a:prstDash val="solid"/>
            </a:ln>
          </c:spPr>
          <c:invertIfNegative val="0"/>
          <c:cat>
            <c:numRef>
              <c:f>Sheet1!$A$2:$A$32</c:f>
              <c:numCache>
                <c:formatCode>General</c:formatCode>
                <c:ptCount val="31"/>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numCache>
            </c:numRef>
          </c:cat>
          <c:val>
            <c:numRef>
              <c:f>Sheet1!$B$2:$B$32</c:f>
              <c:numCache>
                <c:formatCode>General</c:formatCode>
                <c:ptCount val="31"/>
                <c:pt idx="0">
                  <c:v>6.8449999999999998</c:v>
                </c:pt>
                <c:pt idx="1">
                  <c:v>28.667000000000002</c:v>
                </c:pt>
                <c:pt idx="2">
                  <c:v>43.017000000000003</c:v>
                </c:pt>
                <c:pt idx="3">
                  <c:v>39.341000000000001</c:v>
                </c:pt>
                <c:pt idx="4">
                  <c:v>35.371000000000002</c:v>
                </c:pt>
                <c:pt idx="5">
                  <c:v>24.721</c:v>
                </c:pt>
                <c:pt idx="6">
                  <c:v>12.010999999999999</c:v>
                </c:pt>
                <c:pt idx="7">
                  <c:v>-6.2709999999999999</c:v>
                </c:pt>
                <c:pt idx="8">
                  <c:v>-3.2719999999999998</c:v>
                </c:pt>
                <c:pt idx="9">
                  <c:v>-36.860999999999997</c:v>
                </c:pt>
                <c:pt idx="10">
                  <c:v>-2.0099999999999998</c:v>
                </c:pt>
                <c:pt idx="11">
                  <c:v>18.074000000000002</c:v>
                </c:pt>
                <c:pt idx="12">
                  <c:v>37.125999999999998</c:v>
                </c:pt>
                <c:pt idx="13">
                  <c:v>41.960999999999999</c:v>
                </c:pt>
                <c:pt idx="14">
                  <c:v>40.896999999999998</c:v>
                </c:pt>
                <c:pt idx="15">
                  <c:v>35.720999999999997</c:v>
                </c:pt>
                <c:pt idx="16">
                  <c:v>35.707000000000001</c:v>
                </c:pt>
                <c:pt idx="17">
                  <c:v>103.432</c:v>
                </c:pt>
                <c:pt idx="18">
                  <c:v>193.202</c:v>
                </c:pt>
                <c:pt idx="19">
                  <c:v>153.64599999999999</c:v>
                </c:pt>
                <c:pt idx="20">
                  <c:v>117.78700000000001</c:v>
                </c:pt>
                <c:pt idx="21">
                  <c:v>99.525999999999996</c:v>
                </c:pt>
                <c:pt idx="22">
                  <c:v>73.242999999999995</c:v>
                </c:pt>
                <c:pt idx="23">
                  <c:v>98.391999999999996</c:v>
                </c:pt>
                <c:pt idx="24">
                  <c:v>69.334999999999994</c:v>
                </c:pt>
                <c:pt idx="25">
                  <c:v>82.9</c:v>
                </c:pt>
                <c:pt idx="26">
                  <c:v>38.929000000000002</c:v>
                </c:pt>
                <c:pt idx="27">
                  <c:v>29.808</c:v>
                </c:pt>
                <c:pt idx="28">
                  <c:v>49.384</c:v>
                </c:pt>
                <c:pt idx="29">
                  <c:v>313.55900000000003</c:v>
                </c:pt>
                <c:pt idx="30">
                  <c:v>141.72999999999999</c:v>
                </c:pt>
              </c:numCache>
            </c:numRef>
          </c:val>
          <c:extLst>
            <c:ext xmlns:c16="http://schemas.microsoft.com/office/drawing/2014/chart" uri="{C3380CC4-5D6E-409C-BE32-E72D297353CC}">
              <c16:uniqueId val="{00000000-0D75-4290-AF1F-818F86B59C2E}"/>
            </c:ext>
          </c:extLst>
        </c:ser>
        <c:ser>
          <c:idx val="4"/>
          <c:order val="1"/>
          <c:tx>
            <c:strRef>
              <c:f>Sheet1!$C$1</c:f>
              <c:strCache>
                <c:ptCount val="1"/>
                <c:pt idx="0">
                  <c:v>Purchases of public-sector debt</c:v>
                </c:pt>
              </c:strCache>
            </c:strRef>
          </c:tx>
          <c:spPr>
            <a:solidFill>
              <a:srgbClr val="3366FF"/>
            </a:solidFill>
            <a:ln w="12700">
              <a:solidFill>
                <a:schemeClr val="tx1"/>
              </a:solidFill>
              <a:prstDash val="solid"/>
            </a:ln>
          </c:spPr>
          <c:invertIfNegative val="0"/>
          <c:cat>
            <c:numRef>
              <c:f>Sheet1!$A$2:$A$32</c:f>
              <c:numCache>
                <c:formatCode>General</c:formatCode>
                <c:ptCount val="31"/>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numCache>
            </c:numRef>
          </c:cat>
          <c:val>
            <c:numRef>
              <c:f>Sheet1!$C$2:$C$32</c:f>
              <c:numCache>
                <c:formatCode>General</c:formatCode>
                <c:ptCount val="31"/>
                <c:pt idx="0">
                  <c:v>-5.6210000000000004</c:v>
                </c:pt>
                <c:pt idx="1">
                  <c:v>-20.140999999999998</c:v>
                </c:pt>
                <c:pt idx="2">
                  <c:v>-30.459</c:v>
                </c:pt>
                <c:pt idx="3">
                  <c:v>-23.222999999999999</c:v>
                </c:pt>
                <c:pt idx="4">
                  <c:v>-21.57</c:v>
                </c:pt>
                <c:pt idx="5">
                  <c:v>-18.975999999999999</c:v>
                </c:pt>
                <c:pt idx="6">
                  <c:v>-16.157</c:v>
                </c:pt>
                <c:pt idx="7">
                  <c:v>1.3720000000000001</c:v>
                </c:pt>
                <c:pt idx="8">
                  <c:v>0.14799999999999999</c:v>
                </c:pt>
                <c:pt idx="9">
                  <c:v>13.113</c:v>
                </c:pt>
                <c:pt idx="10">
                  <c:v>6.9859999999999998</c:v>
                </c:pt>
                <c:pt idx="11">
                  <c:v>-8.9510000000000005</c:v>
                </c:pt>
                <c:pt idx="12">
                  <c:v>-30.763999999999999</c:v>
                </c:pt>
                <c:pt idx="13">
                  <c:v>-32.476999999999997</c:v>
                </c:pt>
                <c:pt idx="14">
                  <c:v>-11.037000000000001</c:v>
                </c:pt>
                <c:pt idx="15">
                  <c:v>-22.891999999999999</c:v>
                </c:pt>
                <c:pt idx="16">
                  <c:v>-3.9220000000000002</c:v>
                </c:pt>
                <c:pt idx="17">
                  <c:v>-52.368000000000002</c:v>
                </c:pt>
                <c:pt idx="18">
                  <c:v>31.885999999999999</c:v>
                </c:pt>
                <c:pt idx="19">
                  <c:v>-33.770000000000003</c:v>
                </c:pt>
                <c:pt idx="20">
                  <c:v>-16.064</c:v>
                </c:pt>
                <c:pt idx="21">
                  <c:v>24.425000000000001</c:v>
                </c:pt>
                <c:pt idx="22">
                  <c:v>-2.4430000000000001</c:v>
                </c:pt>
                <c:pt idx="23">
                  <c:v>-93.260999999999996</c:v>
                </c:pt>
                <c:pt idx="24">
                  <c:v>-13</c:v>
                </c:pt>
                <c:pt idx="25">
                  <c:v>3.0830000000000002</c:v>
                </c:pt>
                <c:pt idx="26">
                  <c:v>-19.805</c:v>
                </c:pt>
                <c:pt idx="27">
                  <c:v>-25.381</c:v>
                </c:pt>
                <c:pt idx="28">
                  <c:v>-9.4149999999999991</c:v>
                </c:pt>
                <c:pt idx="29">
                  <c:v>-1.863</c:v>
                </c:pt>
                <c:pt idx="30">
                  <c:v>71.56</c:v>
                </c:pt>
              </c:numCache>
            </c:numRef>
          </c:val>
          <c:extLst>
            <c:ext xmlns:c16="http://schemas.microsoft.com/office/drawing/2014/chart" uri="{C3380CC4-5D6E-409C-BE32-E72D297353CC}">
              <c16:uniqueId val="{00000001-0D75-4290-AF1F-818F86B59C2E}"/>
            </c:ext>
          </c:extLst>
        </c:ser>
        <c:ser>
          <c:idx val="5"/>
          <c:order val="2"/>
          <c:tx>
            <c:strRef>
              <c:f>Sheet1!$D$1</c:f>
              <c:strCache>
                <c:ptCount val="1"/>
                <c:pt idx="0">
                  <c:v>Bank lending </c:v>
                </c:pt>
              </c:strCache>
            </c:strRef>
          </c:tx>
          <c:spPr>
            <a:solidFill>
              <a:srgbClr val="FF5050"/>
            </a:solidFill>
            <a:ln w="12700">
              <a:solidFill>
                <a:schemeClr val="tx1"/>
              </a:solidFill>
              <a:prstDash val="solid"/>
            </a:ln>
          </c:spPr>
          <c:invertIfNegative val="0"/>
          <c:cat>
            <c:numRef>
              <c:f>Sheet1!$A$2:$A$32</c:f>
              <c:numCache>
                <c:formatCode>General</c:formatCode>
                <c:ptCount val="31"/>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numCache>
            </c:numRef>
          </c:cat>
          <c:val>
            <c:numRef>
              <c:f>Sheet1!$D$2:$D$32</c:f>
              <c:numCache>
                <c:formatCode>General</c:formatCode>
                <c:ptCount val="31"/>
                <c:pt idx="0">
                  <c:v>29.696000000000002</c:v>
                </c:pt>
                <c:pt idx="1">
                  <c:v>14.441000000000001</c:v>
                </c:pt>
                <c:pt idx="2">
                  <c:v>9.4649999999999999</c:v>
                </c:pt>
                <c:pt idx="3">
                  <c:v>18.579999999999998</c:v>
                </c:pt>
                <c:pt idx="4">
                  <c:v>47.95</c:v>
                </c:pt>
                <c:pt idx="5">
                  <c:v>48.575000000000003</c:v>
                </c:pt>
                <c:pt idx="6">
                  <c:v>63.6</c:v>
                </c:pt>
                <c:pt idx="7">
                  <c:v>56.737000000000002</c:v>
                </c:pt>
                <c:pt idx="8">
                  <c:v>79.37</c:v>
                </c:pt>
                <c:pt idx="9">
                  <c:v>90.563999999999993</c:v>
                </c:pt>
                <c:pt idx="10">
                  <c:v>85.808999999999997</c:v>
                </c:pt>
                <c:pt idx="11">
                  <c:v>98.316000000000003</c:v>
                </c:pt>
                <c:pt idx="12">
                  <c:v>131.09800000000001</c:v>
                </c:pt>
                <c:pt idx="13">
                  <c:v>116.651</c:v>
                </c:pt>
                <c:pt idx="14">
                  <c:v>153.89500000000001</c:v>
                </c:pt>
                <c:pt idx="15">
                  <c:v>236.345</c:v>
                </c:pt>
                <c:pt idx="16">
                  <c:v>297.983</c:v>
                </c:pt>
                <c:pt idx="17">
                  <c:v>203.05600000000001</c:v>
                </c:pt>
                <c:pt idx="18">
                  <c:v>79.298000000000002</c:v>
                </c:pt>
                <c:pt idx="19">
                  <c:v>-123.626</c:v>
                </c:pt>
                <c:pt idx="20">
                  <c:v>-119.685</c:v>
                </c:pt>
                <c:pt idx="21">
                  <c:v>-19.779</c:v>
                </c:pt>
                <c:pt idx="22">
                  <c:v>-30.193999999999999</c:v>
                </c:pt>
                <c:pt idx="23">
                  <c:v>-173.19800000000001</c:v>
                </c:pt>
                <c:pt idx="24">
                  <c:v>40.067999999999998</c:v>
                </c:pt>
                <c:pt idx="25">
                  <c:v>101.10899999999999</c:v>
                </c:pt>
                <c:pt idx="26">
                  <c:v>109.247</c:v>
                </c:pt>
                <c:pt idx="27">
                  <c:v>25.126000000000001</c:v>
                </c:pt>
                <c:pt idx="28">
                  <c:v>154.15299999999999</c:v>
                </c:pt>
                <c:pt idx="29">
                  <c:v>126.354</c:v>
                </c:pt>
                <c:pt idx="30">
                  <c:v>14.717000000000001</c:v>
                </c:pt>
              </c:numCache>
            </c:numRef>
          </c:val>
          <c:extLst>
            <c:ext xmlns:c16="http://schemas.microsoft.com/office/drawing/2014/chart" uri="{C3380CC4-5D6E-409C-BE32-E72D297353CC}">
              <c16:uniqueId val="{00000002-0D75-4290-AF1F-818F86B59C2E}"/>
            </c:ext>
          </c:extLst>
        </c:ser>
        <c:ser>
          <c:idx val="1"/>
          <c:order val="3"/>
          <c:tx>
            <c:strRef>
              <c:f>Sheet1!$E$1</c:f>
              <c:strCache>
                <c:ptCount val="1"/>
                <c:pt idx="0">
                  <c:v>External effect</c:v>
                </c:pt>
              </c:strCache>
            </c:strRef>
          </c:tx>
          <c:spPr>
            <a:solidFill>
              <a:srgbClr val="339966"/>
            </a:solidFill>
            <a:ln w="12700">
              <a:solidFill>
                <a:schemeClr val="tx1"/>
              </a:solidFill>
              <a:prstDash val="solid"/>
            </a:ln>
          </c:spPr>
          <c:invertIfNegative val="0"/>
          <c:cat>
            <c:numRef>
              <c:f>Sheet1!$A$2:$A$32</c:f>
              <c:numCache>
                <c:formatCode>General</c:formatCode>
                <c:ptCount val="31"/>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numCache>
            </c:numRef>
          </c:cat>
          <c:val>
            <c:numRef>
              <c:f>Sheet1!$E$2:$E$32</c:f>
              <c:numCache>
                <c:formatCode>General</c:formatCode>
                <c:ptCount val="31"/>
                <c:pt idx="0">
                  <c:v>-2.8390000000000022</c:v>
                </c:pt>
                <c:pt idx="1">
                  <c:v>-5.1239999999999988</c:v>
                </c:pt>
                <c:pt idx="2">
                  <c:v>1.8540000000000001</c:v>
                </c:pt>
                <c:pt idx="3">
                  <c:v>-9.141</c:v>
                </c:pt>
                <c:pt idx="4">
                  <c:v>-5.8659999999999988</c:v>
                </c:pt>
                <c:pt idx="5">
                  <c:v>5.0189999999999966</c:v>
                </c:pt>
                <c:pt idx="6">
                  <c:v>20.812000000000001</c:v>
                </c:pt>
                <c:pt idx="7">
                  <c:v>8.2569999999999979</c:v>
                </c:pt>
                <c:pt idx="8">
                  <c:v>-42.917999999999999</c:v>
                </c:pt>
                <c:pt idx="9">
                  <c:v>0.38499999999998913</c:v>
                </c:pt>
                <c:pt idx="10">
                  <c:v>-31.78700000000001</c:v>
                </c:pt>
                <c:pt idx="11">
                  <c:v>-38.616000000000014</c:v>
                </c:pt>
                <c:pt idx="12">
                  <c:v>-64.182000000000002</c:v>
                </c:pt>
                <c:pt idx="13">
                  <c:v>-26.099999999999998</c:v>
                </c:pt>
                <c:pt idx="14">
                  <c:v>-32.910000000000011</c:v>
                </c:pt>
                <c:pt idx="15">
                  <c:v>-82.121000000000009</c:v>
                </c:pt>
                <c:pt idx="16">
                  <c:v>-142.196</c:v>
                </c:pt>
                <c:pt idx="17">
                  <c:v>5.7350000000000279</c:v>
                </c:pt>
                <c:pt idx="18">
                  <c:v>-174.91500000000002</c:v>
                </c:pt>
                <c:pt idx="19">
                  <c:v>-28.728000000000002</c:v>
                </c:pt>
                <c:pt idx="20">
                  <c:v>-33.686000000000007</c:v>
                </c:pt>
                <c:pt idx="21">
                  <c:v>-127.41199999999999</c:v>
                </c:pt>
                <c:pt idx="22">
                  <c:v>-36.277999999999999</c:v>
                </c:pt>
                <c:pt idx="23">
                  <c:v>146.11799999999999</c:v>
                </c:pt>
                <c:pt idx="24">
                  <c:v>-88.406000000000006</c:v>
                </c:pt>
                <c:pt idx="25">
                  <c:v>-53.732999999999983</c:v>
                </c:pt>
                <c:pt idx="26">
                  <c:v>-42.706000000000003</c:v>
                </c:pt>
                <c:pt idx="27">
                  <c:v>16.653000000000002</c:v>
                </c:pt>
                <c:pt idx="28">
                  <c:v>-102.069</c:v>
                </c:pt>
                <c:pt idx="29">
                  <c:v>-96.305000000000021</c:v>
                </c:pt>
                <c:pt idx="30">
                  <c:v>-47.585000000000008</c:v>
                </c:pt>
              </c:numCache>
            </c:numRef>
          </c:val>
          <c:extLst>
            <c:ext xmlns:c16="http://schemas.microsoft.com/office/drawing/2014/chart" uri="{C3380CC4-5D6E-409C-BE32-E72D297353CC}">
              <c16:uniqueId val="{00000003-0D75-4290-AF1F-818F86B59C2E}"/>
            </c:ext>
          </c:extLst>
        </c:ser>
        <c:dLbls>
          <c:showLegendKey val="0"/>
          <c:showVal val="0"/>
          <c:showCatName val="0"/>
          <c:showSerName val="0"/>
          <c:showPercent val="0"/>
          <c:showBubbleSize val="0"/>
        </c:dLbls>
        <c:gapWidth val="35"/>
        <c:overlap val="100"/>
        <c:axId val="145920856"/>
        <c:axId val="1"/>
      </c:barChart>
      <c:lineChart>
        <c:grouping val="standard"/>
        <c:varyColors val="0"/>
        <c:ser>
          <c:idx val="2"/>
          <c:order val="4"/>
          <c:tx>
            <c:strRef>
              <c:f>Sheet1!$F$1</c:f>
              <c:strCache>
                <c:ptCount val="1"/>
                <c:pt idx="0">
                  <c:v>Change in M4</c:v>
                </c:pt>
              </c:strCache>
            </c:strRef>
          </c:tx>
          <c:spPr>
            <a:ln w="47066">
              <a:solidFill>
                <a:srgbClr val="000080"/>
              </a:solidFill>
              <a:prstDash val="solid"/>
            </a:ln>
          </c:spPr>
          <c:marker>
            <c:symbol val="none"/>
          </c:marker>
          <c:cat>
            <c:numRef>
              <c:f>Sheet1!$A$2:$A$32</c:f>
              <c:numCache>
                <c:formatCode>General</c:formatCode>
                <c:ptCount val="31"/>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numCache>
            </c:numRef>
          </c:cat>
          <c:val>
            <c:numRef>
              <c:f>Sheet1!$F$2:$F$32</c:f>
              <c:numCache>
                <c:formatCode>General</c:formatCode>
                <c:ptCount val="31"/>
                <c:pt idx="0">
                  <c:v>28.081</c:v>
                </c:pt>
                <c:pt idx="1">
                  <c:v>17.843</c:v>
                </c:pt>
                <c:pt idx="2">
                  <c:v>23.876999999999999</c:v>
                </c:pt>
                <c:pt idx="3">
                  <c:v>25.556999999999999</c:v>
                </c:pt>
                <c:pt idx="4">
                  <c:v>55.884999999999998</c:v>
                </c:pt>
                <c:pt idx="5">
                  <c:v>59.338999999999999</c:v>
                </c:pt>
                <c:pt idx="6">
                  <c:v>80.266000000000005</c:v>
                </c:pt>
                <c:pt idx="7">
                  <c:v>60.094999999999999</c:v>
                </c:pt>
                <c:pt idx="8">
                  <c:v>33.328000000000003</c:v>
                </c:pt>
                <c:pt idx="9">
                  <c:v>67.200999999999993</c:v>
                </c:pt>
                <c:pt idx="10">
                  <c:v>58.997999999999998</c:v>
                </c:pt>
                <c:pt idx="11">
                  <c:v>68.822999999999993</c:v>
                </c:pt>
                <c:pt idx="12">
                  <c:v>73.278000000000006</c:v>
                </c:pt>
                <c:pt idx="13">
                  <c:v>100.035</c:v>
                </c:pt>
                <c:pt idx="14">
                  <c:v>150.845</c:v>
                </c:pt>
                <c:pt idx="15">
                  <c:v>167.053</c:v>
                </c:pt>
                <c:pt idx="16">
                  <c:v>187.572</c:v>
                </c:pt>
                <c:pt idx="17">
                  <c:v>259.85500000000002</c:v>
                </c:pt>
                <c:pt idx="18">
                  <c:v>129.471</c:v>
                </c:pt>
                <c:pt idx="19">
                  <c:v>-32.478000000000002</c:v>
                </c:pt>
                <c:pt idx="20">
                  <c:v>-51.648000000000003</c:v>
                </c:pt>
                <c:pt idx="21">
                  <c:v>-23.24</c:v>
                </c:pt>
                <c:pt idx="22">
                  <c:v>4.3280000000000003</c:v>
                </c:pt>
                <c:pt idx="23">
                  <c:v>-21.949000000000002</c:v>
                </c:pt>
                <c:pt idx="24">
                  <c:v>7.9969999999999999</c:v>
                </c:pt>
                <c:pt idx="25">
                  <c:v>133.35900000000001</c:v>
                </c:pt>
                <c:pt idx="26">
                  <c:v>85.665000000000006</c:v>
                </c:pt>
                <c:pt idx="27">
                  <c:v>46.206000000000003</c:v>
                </c:pt>
                <c:pt idx="28">
                  <c:v>92.052999999999997</c:v>
                </c:pt>
                <c:pt idx="29">
                  <c:v>341.745</c:v>
                </c:pt>
                <c:pt idx="30">
                  <c:v>180.422</c:v>
                </c:pt>
              </c:numCache>
            </c:numRef>
          </c:val>
          <c:smooth val="0"/>
          <c:extLst>
            <c:ext xmlns:c16="http://schemas.microsoft.com/office/drawing/2014/chart" uri="{C3380CC4-5D6E-409C-BE32-E72D297353CC}">
              <c16:uniqueId val="{00000004-0D75-4290-AF1F-818F86B59C2E}"/>
            </c:ext>
          </c:extLst>
        </c:ser>
        <c:dLbls>
          <c:showLegendKey val="0"/>
          <c:showVal val="0"/>
          <c:showCatName val="0"/>
          <c:showSerName val="0"/>
          <c:showPercent val="0"/>
          <c:showBubbleSize val="0"/>
        </c:dLbls>
        <c:marker val="1"/>
        <c:smooth val="0"/>
        <c:axId val="145920856"/>
        <c:axId val="1"/>
      </c:lineChart>
      <c:catAx>
        <c:axId val="145920856"/>
        <c:scaling>
          <c:orientation val="minMax"/>
        </c:scaling>
        <c:delete val="0"/>
        <c:axPos val="b"/>
        <c:minorGridlines/>
        <c:numFmt formatCode="General" sourceLinked="1"/>
        <c:majorTickMark val="out"/>
        <c:minorTickMark val="none"/>
        <c:tickLblPos val="low"/>
        <c:spPr>
          <a:ln w="15689">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1"/>
        <c:crossesAt val="0"/>
        <c:auto val="1"/>
        <c:lblAlgn val="ctr"/>
        <c:lblOffset val="100"/>
        <c:tickLblSkip val="3"/>
        <c:tickMarkSkip val="2"/>
        <c:noMultiLvlLbl val="0"/>
      </c:catAx>
      <c:valAx>
        <c:axId val="1"/>
        <c:scaling>
          <c:orientation val="minMax"/>
          <c:max val="500"/>
          <c:min val="-300"/>
        </c:scaling>
        <c:delete val="0"/>
        <c:axPos val="l"/>
        <c:majorGridlines/>
        <c:title>
          <c:tx>
            <c:rich>
              <a:bodyPr/>
              <a:lstStyle/>
              <a:p>
                <a:pPr>
                  <a:defRPr sz="1800" b="0" i="0" u="none" strike="noStrike" baseline="0">
                    <a:solidFill>
                      <a:schemeClr val="tx1"/>
                    </a:solidFill>
                    <a:latin typeface="Arial"/>
                    <a:ea typeface="Arial"/>
                    <a:cs typeface="Arial"/>
                  </a:defRPr>
                </a:pPr>
                <a:r>
                  <a:rPr lang="en-GB" sz="1800" dirty="0"/>
                  <a:t>£ billions</a:t>
                </a:r>
              </a:p>
            </c:rich>
          </c:tx>
          <c:layout>
            <c:manualLayout>
              <c:xMode val="edge"/>
              <c:yMode val="edge"/>
              <c:x val="2.6814140419947508E-2"/>
              <c:y val="0.36159051822454347"/>
            </c:manualLayout>
          </c:layout>
          <c:overlay val="0"/>
          <c:spPr>
            <a:noFill/>
            <a:ln w="31377">
              <a:noFill/>
            </a:ln>
          </c:spPr>
        </c:title>
        <c:numFmt formatCode="#,##0_ ;\−#,##0\ " sourceLinked="0"/>
        <c:majorTickMark val="out"/>
        <c:minorTickMark val="none"/>
        <c:tickLblPos val="nextTo"/>
        <c:spPr>
          <a:ln w="15689">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145920856"/>
        <c:crosses val="autoZero"/>
        <c:crossBetween val="between"/>
        <c:majorUnit val="100"/>
      </c:valAx>
      <c:spPr>
        <a:solidFill>
          <a:schemeClr val="bg1"/>
        </a:solidFill>
        <a:ln w="12700">
          <a:solidFill>
            <a:schemeClr val="tx1"/>
          </a:solidFill>
        </a:ln>
      </c:spPr>
    </c:plotArea>
    <c:legend>
      <c:legendPos val="b"/>
      <c:legendEntry>
        <c:idx val="0"/>
        <c:txPr>
          <a:bodyPr/>
          <a:lstStyle/>
          <a:p>
            <a:pPr>
              <a:defRPr sz="1800" b="0" i="0" u="none" strike="noStrike" baseline="0">
                <a:solidFill>
                  <a:srgbClr val="FF9900"/>
                </a:solidFill>
                <a:latin typeface="Arial"/>
                <a:ea typeface="Arial"/>
                <a:cs typeface="Arial"/>
              </a:defRPr>
            </a:pPr>
            <a:endParaRPr lang="en-US"/>
          </a:p>
        </c:txPr>
      </c:legendEntry>
      <c:legendEntry>
        <c:idx val="1"/>
        <c:txPr>
          <a:bodyPr/>
          <a:lstStyle/>
          <a:p>
            <a:pPr>
              <a:defRPr sz="1800" b="0" i="0" u="none" strike="noStrike" baseline="0">
                <a:solidFill>
                  <a:srgbClr val="0070C0"/>
                </a:solidFill>
                <a:latin typeface="Arial"/>
                <a:ea typeface="Arial"/>
                <a:cs typeface="Arial"/>
              </a:defRPr>
            </a:pPr>
            <a:endParaRPr lang="en-US"/>
          </a:p>
        </c:txPr>
      </c:legendEntry>
      <c:legendEntry>
        <c:idx val="2"/>
        <c:txPr>
          <a:bodyPr/>
          <a:lstStyle/>
          <a:p>
            <a:pPr>
              <a:defRPr sz="1800" b="0" i="0" u="none" strike="noStrike" baseline="0">
                <a:solidFill>
                  <a:srgbClr val="FF5050"/>
                </a:solidFill>
                <a:latin typeface="Arial"/>
                <a:ea typeface="Arial"/>
                <a:cs typeface="Arial"/>
              </a:defRPr>
            </a:pPr>
            <a:endParaRPr lang="en-US"/>
          </a:p>
        </c:txPr>
      </c:legendEntry>
      <c:legendEntry>
        <c:idx val="3"/>
        <c:txPr>
          <a:bodyPr/>
          <a:lstStyle/>
          <a:p>
            <a:pPr>
              <a:defRPr sz="1800" b="0" i="0" u="none" strike="noStrike" baseline="0">
                <a:solidFill>
                  <a:srgbClr val="00B050"/>
                </a:solidFill>
                <a:latin typeface="Arial"/>
                <a:ea typeface="Arial"/>
                <a:cs typeface="Arial"/>
              </a:defRPr>
            </a:pPr>
            <a:endParaRPr lang="en-US"/>
          </a:p>
        </c:txPr>
      </c:legendEntry>
      <c:legendEntry>
        <c:idx val="4"/>
        <c:txPr>
          <a:bodyPr/>
          <a:lstStyle/>
          <a:p>
            <a:pPr>
              <a:defRPr sz="1800" b="0" i="0" u="none" strike="noStrike" baseline="0">
                <a:solidFill>
                  <a:srgbClr val="000080"/>
                </a:solidFill>
                <a:latin typeface="Arial"/>
                <a:ea typeface="Arial"/>
                <a:cs typeface="Arial"/>
              </a:defRPr>
            </a:pPr>
            <a:endParaRPr lang="en-US"/>
          </a:p>
        </c:txPr>
      </c:legendEntry>
      <c:layout>
        <c:manualLayout>
          <c:xMode val="edge"/>
          <c:yMode val="edge"/>
          <c:x val="0.13189363443333629"/>
          <c:y val="4.5424025157996345E-2"/>
          <c:w val="0.37053636202778029"/>
          <c:h val="0.27878161336232354"/>
        </c:manualLayout>
      </c:layout>
      <c:overlay val="0"/>
      <c:spPr>
        <a:noFill/>
        <a:ln w="19050">
          <a:solidFill>
            <a:srgbClr val="663300"/>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span"/>
    <c:showDLblsOverMax val="0"/>
  </c:chart>
  <c:spPr>
    <a:noFill/>
    <a:ln>
      <a:noFill/>
    </a:ln>
  </c:spPr>
  <c:txPr>
    <a:bodyPr/>
    <a:lstStyle/>
    <a:p>
      <a:pPr>
        <a:defRPr sz="2625" b="1" i="0" u="none" strike="noStrike" baseline="0">
          <a:solidFill>
            <a:schemeClr val="tx1"/>
          </a:solidFill>
          <a:latin typeface="Times New Roman"/>
          <a:ea typeface="Times New Roman"/>
          <a:cs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394438976377946E-2"/>
          <c:y val="3.5163757954913173E-2"/>
          <c:w val="0.86796210629921255"/>
          <c:h val="0.87888633372883163"/>
        </c:manualLayout>
      </c:layout>
      <c:barChart>
        <c:barDir val="col"/>
        <c:grouping val="stacked"/>
        <c:varyColors val="0"/>
        <c:ser>
          <c:idx val="1"/>
          <c:order val="0"/>
          <c:tx>
            <c:strRef>
              <c:f>Sheet1!$B$1</c:f>
              <c:strCache>
                <c:ptCount val="1"/>
                <c:pt idx="0">
                  <c:v>Private non-financial corporations</c:v>
                </c:pt>
              </c:strCache>
            </c:strRef>
          </c:tx>
          <c:spPr>
            <a:solidFill>
              <a:srgbClr val="000080"/>
            </a:solidFill>
            <a:ln w="29497">
              <a:noFill/>
            </a:ln>
          </c:spPr>
          <c:invertIfNegative val="0"/>
          <c:cat>
            <c:numRef>
              <c:f>Sheet1!$A$2:$A$231</c:f>
              <c:numCache>
                <c:formatCode>mmm\-yy</c:formatCode>
                <c:ptCount val="230"/>
                <c:pt idx="0">
                  <c:v>23802</c:v>
                </c:pt>
                <c:pt idx="1">
                  <c:v>23894</c:v>
                </c:pt>
                <c:pt idx="2">
                  <c:v>23986</c:v>
                </c:pt>
                <c:pt idx="3">
                  <c:v>24077</c:v>
                </c:pt>
                <c:pt idx="4">
                  <c:v>24167</c:v>
                </c:pt>
                <c:pt idx="5">
                  <c:v>24259</c:v>
                </c:pt>
                <c:pt idx="6">
                  <c:v>24351</c:v>
                </c:pt>
                <c:pt idx="7">
                  <c:v>24442</c:v>
                </c:pt>
                <c:pt idx="8">
                  <c:v>24532</c:v>
                </c:pt>
                <c:pt idx="9">
                  <c:v>24624</c:v>
                </c:pt>
                <c:pt idx="10">
                  <c:v>24716</c:v>
                </c:pt>
                <c:pt idx="11">
                  <c:v>24807</c:v>
                </c:pt>
                <c:pt idx="12">
                  <c:v>24898</c:v>
                </c:pt>
                <c:pt idx="13">
                  <c:v>24990</c:v>
                </c:pt>
                <c:pt idx="14">
                  <c:v>25082</c:v>
                </c:pt>
                <c:pt idx="15">
                  <c:v>25173</c:v>
                </c:pt>
                <c:pt idx="16">
                  <c:v>25263</c:v>
                </c:pt>
                <c:pt idx="17">
                  <c:v>25355</c:v>
                </c:pt>
                <c:pt idx="18">
                  <c:v>25447</c:v>
                </c:pt>
                <c:pt idx="19">
                  <c:v>25538</c:v>
                </c:pt>
                <c:pt idx="20">
                  <c:v>25628</c:v>
                </c:pt>
                <c:pt idx="21">
                  <c:v>25720</c:v>
                </c:pt>
                <c:pt idx="22">
                  <c:v>25812</c:v>
                </c:pt>
                <c:pt idx="23">
                  <c:v>25903</c:v>
                </c:pt>
                <c:pt idx="24">
                  <c:v>25993</c:v>
                </c:pt>
                <c:pt idx="25">
                  <c:v>26085</c:v>
                </c:pt>
                <c:pt idx="26">
                  <c:v>26177</c:v>
                </c:pt>
                <c:pt idx="27">
                  <c:v>26268</c:v>
                </c:pt>
                <c:pt idx="28">
                  <c:v>26359</c:v>
                </c:pt>
                <c:pt idx="29">
                  <c:v>26451</c:v>
                </c:pt>
                <c:pt idx="30">
                  <c:v>26543</c:v>
                </c:pt>
                <c:pt idx="31">
                  <c:v>26634</c:v>
                </c:pt>
                <c:pt idx="32">
                  <c:v>26724</c:v>
                </c:pt>
                <c:pt idx="33">
                  <c:v>26816</c:v>
                </c:pt>
                <c:pt idx="34">
                  <c:v>26908</c:v>
                </c:pt>
                <c:pt idx="35">
                  <c:v>26999</c:v>
                </c:pt>
                <c:pt idx="36">
                  <c:v>27089</c:v>
                </c:pt>
                <c:pt idx="37">
                  <c:v>27181</c:v>
                </c:pt>
                <c:pt idx="38">
                  <c:v>27273</c:v>
                </c:pt>
                <c:pt idx="39">
                  <c:v>27364</c:v>
                </c:pt>
                <c:pt idx="40">
                  <c:v>27454</c:v>
                </c:pt>
                <c:pt idx="41">
                  <c:v>27546</c:v>
                </c:pt>
                <c:pt idx="42">
                  <c:v>27638</c:v>
                </c:pt>
                <c:pt idx="43">
                  <c:v>27729</c:v>
                </c:pt>
                <c:pt idx="44">
                  <c:v>27820</c:v>
                </c:pt>
                <c:pt idx="45">
                  <c:v>27912</c:v>
                </c:pt>
                <c:pt idx="46">
                  <c:v>28004</c:v>
                </c:pt>
                <c:pt idx="47">
                  <c:v>28095</c:v>
                </c:pt>
                <c:pt idx="48">
                  <c:v>28185</c:v>
                </c:pt>
                <c:pt idx="49">
                  <c:v>28277</c:v>
                </c:pt>
                <c:pt idx="50">
                  <c:v>28369</c:v>
                </c:pt>
                <c:pt idx="51">
                  <c:v>28460</c:v>
                </c:pt>
                <c:pt idx="52">
                  <c:v>28550</c:v>
                </c:pt>
                <c:pt idx="53">
                  <c:v>28642</c:v>
                </c:pt>
                <c:pt idx="54">
                  <c:v>28734</c:v>
                </c:pt>
                <c:pt idx="55">
                  <c:v>28825</c:v>
                </c:pt>
                <c:pt idx="56">
                  <c:v>28915</c:v>
                </c:pt>
                <c:pt idx="57">
                  <c:v>29007</c:v>
                </c:pt>
                <c:pt idx="58">
                  <c:v>29099</c:v>
                </c:pt>
                <c:pt idx="59">
                  <c:v>29190</c:v>
                </c:pt>
                <c:pt idx="60">
                  <c:v>29281</c:v>
                </c:pt>
                <c:pt idx="61">
                  <c:v>29373</c:v>
                </c:pt>
                <c:pt idx="62">
                  <c:v>29465</c:v>
                </c:pt>
                <c:pt idx="63">
                  <c:v>29556</c:v>
                </c:pt>
                <c:pt idx="64">
                  <c:v>29646</c:v>
                </c:pt>
                <c:pt idx="65">
                  <c:v>29738</c:v>
                </c:pt>
                <c:pt idx="66">
                  <c:v>29830</c:v>
                </c:pt>
                <c:pt idx="67">
                  <c:v>29921</c:v>
                </c:pt>
                <c:pt idx="68">
                  <c:v>30011</c:v>
                </c:pt>
                <c:pt idx="69">
                  <c:v>30103</c:v>
                </c:pt>
                <c:pt idx="70">
                  <c:v>30195</c:v>
                </c:pt>
                <c:pt idx="71">
                  <c:v>30286</c:v>
                </c:pt>
                <c:pt idx="72">
                  <c:v>30376</c:v>
                </c:pt>
                <c:pt idx="73">
                  <c:v>30468</c:v>
                </c:pt>
                <c:pt idx="74">
                  <c:v>30560</c:v>
                </c:pt>
                <c:pt idx="75">
                  <c:v>30651</c:v>
                </c:pt>
                <c:pt idx="76">
                  <c:v>30742</c:v>
                </c:pt>
                <c:pt idx="77">
                  <c:v>30834</c:v>
                </c:pt>
                <c:pt idx="78">
                  <c:v>30926</c:v>
                </c:pt>
                <c:pt idx="79">
                  <c:v>31017</c:v>
                </c:pt>
                <c:pt idx="80">
                  <c:v>31107</c:v>
                </c:pt>
                <c:pt idx="81">
                  <c:v>31199</c:v>
                </c:pt>
                <c:pt idx="82">
                  <c:v>31291</c:v>
                </c:pt>
                <c:pt idx="83">
                  <c:v>31382</c:v>
                </c:pt>
                <c:pt idx="84">
                  <c:v>31472</c:v>
                </c:pt>
                <c:pt idx="85">
                  <c:v>31564</c:v>
                </c:pt>
                <c:pt idx="86">
                  <c:v>31656</c:v>
                </c:pt>
                <c:pt idx="87">
                  <c:v>31747</c:v>
                </c:pt>
                <c:pt idx="88">
                  <c:v>31837</c:v>
                </c:pt>
                <c:pt idx="89">
                  <c:v>31929</c:v>
                </c:pt>
                <c:pt idx="90">
                  <c:v>32021</c:v>
                </c:pt>
                <c:pt idx="91">
                  <c:v>32112</c:v>
                </c:pt>
                <c:pt idx="92">
                  <c:v>32203</c:v>
                </c:pt>
                <c:pt idx="93">
                  <c:v>32295</c:v>
                </c:pt>
                <c:pt idx="94">
                  <c:v>32387</c:v>
                </c:pt>
                <c:pt idx="95">
                  <c:v>32478</c:v>
                </c:pt>
                <c:pt idx="96">
                  <c:v>32568</c:v>
                </c:pt>
                <c:pt idx="97">
                  <c:v>32660</c:v>
                </c:pt>
                <c:pt idx="98">
                  <c:v>32752</c:v>
                </c:pt>
                <c:pt idx="99">
                  <c:v>32843</c:v>
                </c:pt>
                <c:pt idx="100">
                  <c:v>32933</c:v>
                </c:pt>
                <c:pt idx="101">
                  <c:v>33025</c:v>
                </c:pt>
                <c:pt idx="102">
                  <c:v>33117</c:v>
                </c:pt>
                <c:pt idx="103">
                  <c:v>33208</c:v>
                </c:pt>
                <c:pt idx="104">
                  <c:v>33298</c:v>
                </c:pt>
                <c:pt idx="105">
                  <c:v>33390</c:v>
                </c:pt>
                <c:pt idx="106">
                  <c:v>33482</c:v>
                </c:pt>
                <c:pt idx="107">
                  <c:v>33573</c:v>
                </c:pt>
                <c:pt idx="108">
                  <c:v>33664</c:v>
                </c:pt>
                <c:pt idx="109">
                  <c:v>33756</c:v>
                </c:pt>
                <c:pt idx="110">
                  <c:v>33848</c:v>
                </c:pt>
                <c:pt idx="111">
                  <c:v>33939</c:v>
                </c:pt>
                <c:pt idx="112">
                  <c:v>34029</c:v>
                </c:pt>
                <c:pt idx="113">
                  <c:v>34121</c:v>
                </c:pt>
                <c:pt idx="114">
                  <c:v>34213</c:v>
                </c:pt>
                <c:pt idx="115">
                  <c:v>34304</c:v>
                </c:pt>
                <c:pt idx="116">
                  <c:v>34394</c:v>
                </c:pt>
                <c:pt idx="117">
                  <c:v>34486</c:v>
                </c:pt>
                <c:pt idx="118">
                  <c:v>34578</c:v>
                </c:pt>
                <c:pt idx="119">
                  <c:v>34669</c:v>
                </c:pt>
                <c:pt idx="120">
                  <c:v>34759</c:v>
                </c:pt>
                <c:pt idx="121">
                  <c:v>34851</c:v>
                </c:pt>
                <c:pt idx="122">
                  <c:v>34943</c:v>
                </c:pt>
                <c:pt idx="123">
                  <c:v>35034</c:v>
                </c:pt>
                <c:pt idx="124">
                  <c:v>35125</c:v>
                </c:pt>
                <c:pt idx="125">
                  <c:v>35217</c:v>
                </c:pt>
                <c:pt idx="126">
                  <c:v>35309</c:v>
                </c:pt>
                <c:pt idx="127">
                  <c:v>35400</c:v>
                </c:pt>
                <c:pt idx="128">
                  <c:v>35490</c:v>
                </c:pt>
                <c:pt idx="129">
                  <c:v>35582</c:v>
                </c:pt>
                <c:pt idx="130">
                  <c:v>35674</c:v>
                </c:pt>
                <c:pt idx="131">
                  <c:v>35765</c:v>
                </c:pt>
                <c:pt idx="132">
                  <c:v>35855</c:v>
                </c:pt>
                <c:pt idx="133">
                  <c:v>35947</c:v>
                </c:pt>
                <c:pt idx="134">
                  <c:v>36039</c:v>
                </c:pt>
                <c:pt idx="135">
                  <c:v>36130</c:v>
                </c:pt>
                <c:pt idx="136">
                  <c:v>36220</c:v>
                </c:pt>
                <c:pt idx="137">
                  <c:v>36312</c:v>
                </c:pt>
                <c:pt idx="138">
                  <c:v>36404</c:v>
                </c:pt>
                <c:pt idx="139">
                  <c:v>36495</c:v>
                </c:pt>
                <c:pt idx="140">
                  <c:v>36586</c:v>
                </c:pt>
                <c:pt idx="141">
                  <c:v>36678</c:v>
                </c:pt>
                <c:pt idx="142">
                  <c:v>36770</c:v>
                </c:pt>
                <c:pt idx="143">
                  <c:v>36861</c:v>
                </c:pt>
                <c:pt idx="144">
                  <c:v>36951</c:v>
                </c:pt>
                <c:pt idx="145">
                  <c:v>37043</c:v>
                </c:pt>
                <c:pt idx="146">
                  <c:v>37135</c:v>
                </c:pt>
                <c:pt idx="147">
                  <c:v>37226</c:v>
                </c:pt>
                <c:pt idx="148">
                  <c:v>37316</c:v>
                </c:pt>
                <c:pt idx="149">
                  <c:v>37408</c:v>
                </c:pt>
                <c:pt idx="150">
                  <c:v>37500</c:v>
                </c:pt>
                <c:pt idx="151">
                  <c:v>37591</c:v>
                </c:pt>
                <c:pt idx="152">
                  <c:v>37681</c:v>
                </c:pt>
                <c:pt idx="153">
                  <c:v>37773</c:v>
                </c:pt>
                <c:pt idx="154">
                  <c:v>37865</c:v>
                </c:pt>
                <c:pt idx="155">
                  <c:v>37956</c:v>
                </c:pt>
                <c:pt idx="156">
                  <c:v>38047</c:v>
                </c:pt>
                <c:pt idx="157">
                  <c:v>38139</c:v>
                </c:pt>
                <c:pt idx="158">
                  <c:v>38231</c:v>
                </c:pt>
                <c:pt idx="159">
                  <c:v>38322</c:v>
                </c:pt>
                <c:pt idx="160">
                  <c:v>38412</c:v>
                </c:pt>
                <c:pt idx="161">
                  <c:v>38504</c:v>
                </c:pt>
                <c:pt idx="162">
                  <c:v>38596</c:v>
                </c:pt>
                <c:pt idx="163">
                  <c:v>38687</c:v>
                </c:pt>
                <c:pt idx="164">
                  <c:v>38777</c:v>
                </c:pt>
                <c:pt idx="165">
                  <c:v>38869</c:v>
                </c:pt>
                <c:pt idx="166">
                  <c:v>38961</c:v>
                </c:pt>
                <c:pt idx="167">
                  <c:v>39052</c:v>
                </c:pt>
                <c:pt idx="168">
                  <c:v>39142</c:v>
                </c:pt>
                <c:pt idx="169">
                  <c:v>39234</c:v>
                </c:pt>
                <c:pt idx="170">
                  <c:v>39326</c:v>
                </c:pt>
                <c:pt idx="171">
                  <c:v>39417</c:v>
                </c:pt>
                <c:pt idx="172">
                  <c:v>39508</c:v>
                </c:pt>
                <c:pt idx="173">
                  <c:v>39600</c:v>
                </c:pt>
                <c:pt idx="174">
                  <c:v>39692</c:v>
                </c:pt>
                <c:pt idx="175">
                  <c:v>39783</c:v>
                </c:pt>
                <c:pt idx="176">
                  <c:v>39873</c:v>
                </c:pt>
                <c:pt idx="177">
                  <c:v>39965</c:v>
                </c:pt>
                <c:pt idx="178">
                  <c:v>40057</c:v>
                </c:pt>
                <c:pt idx="179">
                  <c:v>40148</c:v>
                </c:pt>
                <c:pt idx="180">
                  <c:v>40238</c:v>
                </c:pt>
                <c:pt idx="181">
                  <c:v>40330</c:v>
                </c:pt>
                <c:pt idx="182">
                  <c:v>40422</c:v>
                </c:pt>
                <c:pt idx="183">
                  <c:v>40513</c:v>
                </c:pt>
                <c:pt idx="184">
                  <c:v>40603</c:v>
                </c:pt>
                <c:pt idx="185">
                  <c:v>40695</c:v>
                </c:pt>
                <c:pt idx="186">
                  <c:v>40787</c:v>
                </c:pt>
                <c:pt idx="187">
                  <c:v>40878</c:v>
                </c:pt>
                <c:pt idx="188">
                  <c:v>40969</c:v>
                </c:pt>
                <c:pt idx="189">
                  <c:v>41061</c:v>
                </c:pt>
                <c:pt idx="190">
                  <c:v>41153</c:v>
                </c:pt>
                <c:pt idx="191">
                  <c:v>41244</c:v>
                </c:pt>
                <c:pt idx="192">
                  <c:v>41334</c:v>
                </c:pt>
                <c:pt idx="193">
                  <c:v>41426</c:v>
                </c:pt>
                <c:pt idx="194">
                  <c:v>41518</c:v>
                </c:pt>
                <c:pt idx="195">
                  <c:v>41609</c:v>
                </c:pt>
                <c:pt idx="196">
                  <c:v>41699</c:v>
                </c:pt>
                <c:pt idx="197">
                  <c:v>41791</c:v>
                </c:pt>
                <c:pt idx="198">
                  <c:v>41883</c:v>
                </c:pt>
                <c:pt idx="199">
                  <c:v>41974</c:v>
                </c:pt>
                <c:pt idx="200">
                  <c:v>42064</c:v>
                </c:pt>
                <c:pt idx="201">
                  <c:v>42156</c:v>
                </c:pt>
                <c:pt idx="202">
                  <c:v>42248</c:v>
                </c:pt>
                <c:pt idx="203">
                  <c:v>42339</c:v>
                </c:pt>
                <c:pt idx="204">
                  <c:v>42430</c:v>
                </c:pt>
                <c:pt idx="205">
                  <c:v>42522</c:v>
                </c:pt>
                <c:pt idx="206">
                  <c:v>42614</c:v>
                </c:pt>
                <c:pt idx="207">
                  <c:v>42705</c:v>
                </c:pt>
                <c:pt idx="208">
                  <c:v>42795</c:v>
                </c:pt>
                <c:pt idx="209">
                  <c:v>42887</c:v>
                </c:pt>
                <c:pt idx="210">
                  <c:v>42979</c:v>
                </c:pt>
                <c:pt idx="211">
                  <c:v>43070</c:v>
                </c:pt>
                <c:pt idx="212">
                  <c:v>43160</c:v>
                </c:pt>
                <c:pt idx="213">
                  <c:v>43252</c:v>
                </c:pt>
                <c:pt idx="214">
                  <c:v>43344</c:v>
                </c:pt>
                <c:pt idx="215">
                  <c:v>43435</c:v>
                </c:pt>
                <c:pt idx="216">
                  <c:v>43525</c:v>
                </c:pt>
                <c:pt idx="217">
                  <c:v>43617</c:v>
                </c:pt>
                <c:pt idx="218">
                  <c:v>43709</c:v>
                </c:pt>
                <c:pt idx="219">
                  <c:v>43800</c:v>
                </c:pt>
                <c:pt idx="220">
                  <c:v>43891</c:v>
                </c:pt>
                <c:pt idx="221">
                  <c:v>43983</c:v>
                </c:pt>
                <c:pt idx="222">
                  <c:v>44075</c:v>
                </c:pt>
                <c:pt idx="223">
                  <c:v>44166</c:v>
                </c:pt>
                <c:pt idx="224">
                  <c:v>44256</c:v>
                </c:pt>
                <c:pt idx="225">
                  <c:v>44348</c:v>
                </c:pt>
                <c:pt idx="226">
                  <c:v>44440</c:v>
                </c:pt>
                <c:pt idx="227">
                  <c:v>44531</c:v>
                </c:pt>
                <c:pt idx="228">
                  <c:v>44621</c:v>
                </c:pt>
                <c:pt idx="229">
                  <c:v>44713</c:v>
                </c:pt>
              </c:numCache>
            </c:numRef>
          </c:cat>
          <c:val>
            <c:numRef>
              <c:f>Sheet1!$B$2:$B$231</c:f>
              <c:numCache>
                <c:formatCode>0.000_ ;[Red]\-0.000\ </c:formatCode>
                <c:ptCount val="230"/>
                <c:pt idx="0">
                  <c:v>1.6384051329055915</c:v>
                </c:pt>
                <c:pt idx="1">
                  <c:v>2.2367902762928367</c:v>
                </c:pt>
                <c:pt idx="2">
                  <c:v>1.9139416703490946</c:v>
                </c:pt>
                <c:pt idx="3">
                  <c:v>1.2167961323265795</c:v>
                </c:pt>
                <c:pt idx="4">
                  <c:v>1.6120408490616478</c:v>
                </c:pt>
                <c:pt idx="5">
                  <c:v>0.79229740011018712</c:v>
                </c:pt>
                <c:pt idx="6">
                  <c:v>0.72958828533862685</c:v>
                </c:pt>
                <c:pt idx="7">
                  <c:v>0.47228499606429164</c:v>
                </c:pt>
                <c:pt idx="8">
                  <c:v>0.25791911856767247</c:v>
                </c:pt>
                <c:pt idx="9">
                  <c:v>0.11583487369069623</c:v>
                </c:pt>
                <c:pt idx="10">
                  <c:v>0.3041066562864928</c:v>
                </c:pt>
                <c:pt idx="11">
                  <c:v>0.71281140498247986</c:v>
                </c:pt>
                <c:pt idx="12">
                  <c:v>0.69239074308782811</c:v>
                </c:pt>
                <c:pt idx="13">
                  <c:v>1.2067337586071898</c:v>
                </c:pt>
                <c:pt idx="14">
                  <c:v>0.70748360434821678</c:v>
                </c:pt>
                <c:pt idx="15">
                  <c:v>1.0942209408989647</c:v>
                </c:pt>
                <c:pt idx="16">
                  <c:v>1.5008017103153395</c:v>
                </c:pt>
                <c:pt idx="17">
                  <c:v>1.1189425470060443</c:v>
                </c:pt>
                <c:pt idx="18">
                  <c:v>1.8270177165354329</c:v>
                </c:pt>
                <c:pt idx="19">
                  <c:v>1.1918639707360215</c:v>
                </c:pt>
                <c:pt idx="20">
                  <c:v>1.137770441549254</c:v>
                </c:pt>
                <c:pt idx="21">
                  <c:v>1.7397939717665012</c:v>
                </c:pt>
                <c:pt idx="22">
                  <c:v>1.3393681876962866</c:v>
                </c:pt>
                <c:pt idx="23">
                  <c:v>1.2584791146019279</c:v>
                </c:pt>
                <c:pt idx="24">
                  <c:v>0.9536006645783216</c:v>
                </c:pt>
                <c:pt idx="25">
                  <c:v>0.35310140736132362</c:v>
                </c:pt>
                <c:pt idx="26">
                  <c:v>0.54076131351086421</c:v>
                </c:pt>
                <c:pt idx="27">
                  <c:v>1.0295825973488646</c:v>
                </c:pt>
                <c:pt idx="28">
                  <c:v>1.9831171249456891</c:v>
                </c:pt>
                <c:pt idx="29">
                  <c:v>3.0998869204673953</c:v>
                </c:pt>
                <c:pt idx="30">
                  <c:v>3.4400705052878964</c:v>
                </c:pt>
                <c:pt idx="31">
                  <c:v>3.8566281807608291</c:v>
                </c:pt>
                <c:pt idx="32">
                  <c:v>3.5539928325106502</c:v>
                </c:pt>
                <c:pt idx="33">
                  <c:v>3.0592884341101501</c:v>
                </c:pt>
                <c:pt idx="34">
                  <c:v>3.7480748352563946</c:v>
                </c:pt>
                <c:pt idx="35">
                  <c:v>4.8661353703771715</c:v>
                </c:pt>
                <c:pt idx="36">
                  <c:v>5.0180640639914929</c:v>
                </c:pt>
                <c:pt idx="37">
                  <c:v>5.2813113834066039</c:v>
                </c:pt>
                <c:pt idx="38">
                  <c:v>5.0868248984323134</c:v>
                </c:pt>
                <c:pt idx="39">
                  <c:v>3.292843711500637</c:v>
                </c:pt>
                <c:pt idx="40">
                  <c:v>2.8327054271459118</c:v>
                </c:pt>
                <c:pt idx="41">
                  <c:v>1.7697834788059992</c:v>
                </c:pt>
                <c:pt idx="42">
                  <c:v>0.34573199809251304</c:v>
                </c:pt>
                <c:pt idx="43">
                  <c:v>0.13659775875269714</c:v>
                </c:pt>
                <c:pt idx="44">
                  <c:v>-0.37158687502073584</c:v>
                </c:pt>
                <c:pt idx="45">
                  <c:v>0.34274899004357917</c:v>
                </c:pt>
                <c:pt idx="46">
                  <c:v>1.2180695581826648</c:v>
                </c:pt>
                <c:pt idx="47">
                  <c:v>1.8092105263157896</c:v>
                </c:pt>
                <c:pt idx="48">
                  <c:v>1.807888970051132</c:v>
                </c:pt>
                <c:pt idx="49">
                  <c:v>1.5693177143396659</c:v>
                </c:pt>
                <c:pt idx="50">
                  <c:v>1.3702987264206057</c:v>
                </c:pt>
                <c:pt idx="51">
                  <c:v>1.0324465284220556</c:v>
                </c:pt>
                <c:pt idx="52">
                  <c:v>1.11107756408321</c:v>
                </c:pt>
                <c:pt idx="53">
                  <c:v>1.0774973730196049</c:v>
                </c:pt>
                <c:pt idx="54">
                  <c:v>0.90171577248845614</c:v>
                </c:pt>
                <c:pt idx="55">
                  <c:v>0.96912886023773537</c:v>
                </c:pt>
                <c:pt idx="56">
                  <c:v>1.4223633193681853</c:v>
                </c:pt>
                <c:pt idx="57">
                  <c:v>1.6009710726256428</c:v>
                </c:pt>
                <c:pt idx="58">
                  <c:v>1.641142028874945</c:v>
                </c:pt>
                <c:pt idx="59">
                  <c:v>1.5232154352497438</c:v>
                </c:pt>
                <c:pt idx="60">
                  <c:v>1.6545867193791637</c:v>
                </c:pt>
                <c:pt idx="61">
                  <c:v>1.7282858512872237</c:v>
                </c:pt>
                <c:pt idx="62">
                  <c:v>2.0146680575573943</c:v>
                </c:pt>
                <c:pt idx="63">
                  <c:v>1.9915298324849036</c:v>
                </c:pt>
                <c:pt idx="64">
                  <c:v>1.3874237833389444</c:v>
                </c:pt>
                <c:pt idx="65">
                  <c:v>0.59647425522551434</c:v>
                </c:pt>
                <c:pt idx="66">
                  <c:v>0.46028410761931421</c:v>
                </c:pt>
                <c:pt idx="67">
                  <c:v>1.1261751129800139</c:v>
                </c:pt>
                <c:pt idx="68">
                  <c:v>1.8588999377450237</c:v>
                </c:pt>
                <c:pt idx="69">
                  <c:v>2.4762967094255437</c:v>
                </c:pt>
                <c:pt idx="70">
                  <c:v>2.7368319815343183</c:v>
                </c:pt>
                <c:pt idx="71">
                  <c:v>1.8034539293226621</c:v>
                </c:pt>
                <c:pt idx="72">
                  <c:v>0.7727247718199991</c:v>
                </c:pt>
                <c:pt idx="73">
                  <c:v>0.49736521970451009</c:v>
                </c:pt>
                <c:pt idx="74">
                  <c:v>1.3424072279874407E-2</c:v>
                </c:pt>
                <c:pt idx="75">
                  <c:v>0.33664658949354787</c:v>
                </c:pt>
                <c:pt idx="76">
                  <c:v>1.0650552567483862</c:v>
                </c:pt>
                <c:pt idx="77">
                  <c:v>1.2784223630477676</c:v>
                </c:pt>
                <c:pt idx="78">
                  <c:v>1.5525550836926336</c:v>
                </c:pt>
                <c:pt idx="79">
                  <c:v>1.8667889110883815</c:v>
                </c:pt>
                <c:pt idx="80">
                  <c:v>1.8962742656291842</c:v>
                </c:pt>
                <c:pt idx="81">
                  <c:v>1.9138234660652977</c:v>
                </c:pt>
                <c:pt idx="82">
                  <c:v>1.6415750427249112</c:v>
                </c:pt>
                <c:pt idx="83">
                  <c:v>1.2794541253280729</c:v>
                </c:pt>
                <c:pt idx="84">
                  <c:v>1.3244064469859964</c:v>
                </c:pt>
                <c:pt idx="85">
                  <c:v>1.0880187936849877</c:v>
                </c:pt>
                <c:pt idx="86">
                  <c:v>1.0008220304151254</c:v>
                </c:pt>
                <c:pt idx="87">
                  <c:v>1.8700110448717517</c:v>
                </c:pt>
                <c:pt idx="88">
                  <c:v>1.254608823058482</c:v>
                </c:pt>
                <c:pt idx="89">
                  <c:v>1.6685560284901504</c:v>
                </c:pt>
                <c:pt idx="90">
                  <c:v>2.2931708753405857</c:v>
                </c:pt>
                <c:pt idx="91">
                  <c:v>2.0436252836409219</c:v>
                </c:pt>
                <c:pt idx="92">
                  <c:v>3.2342826531948878</c:v>
                </c:pt>
                <c:pt idx="93">
                  <c:v>3.8394106729950099</c:v>
                </c:pt>
                <c:pt idx="94">
                  <c:v>4.1106672518941174</c:v>
                </c:pt>
                <c:pt idx="95">
                  <c:v>4.3920644627504579</c:v>
                </c:pt>
                <c:pt idx="96">
                  <c:v>4.2661715917521734</c:v>
                </c:pt>
                <c:pt idx="97">
                  <c:v>4.3331106505971535</c:v>
                </c:pt>
                <c:pt idx="98">
                  <c:v>5.0657424491763487</c:v>
                </c:pt>
                <c:pt idx="99">
                  <c:v>4.8081284291810604</c:v>
                </c:pt>
                <c:pt idx="100">
                  <c:v>4.6415132748710999</c:v>
                </c:pt>
                <c:pt idx="101">
                  <c:v>4.163063811290586</c:v>
                </c:pt>
                <c:pt idx="102">
                  <c:v>2.9224127065119507</c:v>
                </c:pt>
                <c:pt idx="103">
                  <c:v>2.5733236001451019</c:v>
                </c:pt>
                <c:pt idx="104">
                  <c:v>2.0608098188331323</c:v>
                </c:pt>
                <c:pt idx="105">
                  <c:v>1.0372989934272028</c:v>
                </c:pt>
                <c:pt idx="106">
                  <c:v>0.66757110241731021</c:v>
                </c:pt>
                <c:pt idx="107">
                  <c:v>0.18731758111318145</c:v>
                </c:pt>
                <c:pt idx="108">
                  <c:v>-0.22771332738406622</c:v>
                </c:pt>
                <c:pt idx="109">
                  <c:v>0.16163285222376861</c:v>
                </c:pt>
                <c:pt idx="110">
                  <c:v>5.1469849540143046E-2</c:v>
                </c:pt>
                <c:pt idx="111">
                  <c:v>4.9160515912303096E-2</c:v>
                </c:pt>
                <c:pt idx="112">
                  <c:v>-0.1325712063979782</c:v>
                </c:pt>
                <c:pt idx="113">
                  <c:v>-0.30472626024930694</c:v>
                </c:pt>
                <c:pt idx="114">
                  <c:v>-0.37917034793218057</c:v>
                </c:pt>
                <c:pt idx="115">
                  <c:v>-0.61665979616652011</c:v>
                </c:pt>
                <c:pt idx="116">
                  <c:v>-0.60056559984835367</c:v>
                </c:pt>
                <c:pt idx="117">
                  <c:v>-0.76913940288398841</c:v>
                </c:pt>
                <c:pt idx="118">
                  <c:v>-0.57971412589647797</c:v>
                </c:pt>
                <c:pt idx="119">
                  <c:v>-0.1096900241170322</c:v>
                </c:pt>
                <c:pt idx="120">
                  <c:v>0.72936113660095558</c:v>
                </c:pt>
                <c:pt idx="121">
                  <c:v>1.2217025932026113</c:v>
                </c:pt>
                <c:pt idx="122">
                  <c:v>1.6100062242508668</c:v>
                </c:pt>
                <c:pt idx="123">
                  <c:v>2.0665050842213337</c:v>
                </c:pt>
                <c:pt idx="124">
                  <c:v>2.031512473976445</c:v>
                </c:pt>
                <c:pt idx="125">
                  <c:v>2.3181227717461095</c:v>
                </c:pt>
                <c:pt idx="126">
                  <c:v>2.3563322447465072</c:v>
                </c:pt>
                <c:pt idx="127">
                  <c:v>2.3318930937640956</c:v>
                </c:pt>
                <c:pt idx="128">
                  <c:v>1.56581973645047</c:v>
                </c:pt>
                <c:pt idx="129">
                  <c:v>1.3064482791487686</c:v>
                </c:pt>
                <c:pt idx="130">
                  <c:v>0.82153920271817937</c:v>
                </c:pt>
                <c:pt idx="131">
                  <c:v>0.50462688369016939</c:v>
                </c:pt>
                <c:pt idx="132">
                  <c:v>1.0568313143826333</c:v>
                </c:pt>
                <c:pt idx="133">
                  <c:v>0.9334874771813032</c:v>
                </c:pt>
                <c:pt idx="134">
                  <c:v>1.0080180941998715</c:v>
                </c:pt>
                <c:pt idx="135">
                  <c:v>1.1879982129942563</c:v>
                </c:pt>
                <c:pt idx="136">
                  <c:v>1.0202268837728952</c:v>
                </c:pt>
                <c:pt idx="137">
                  <c:v>0.83772661159317496</c:v>
                </c:pt>
                <c:pt idx="138">
                  <c:v>0.76815000971790992</c:v>
                </c:pt>
                <c:pt idx="139">
                  <c:v>0.99436644049252854</c:v>
                </c:pt>
                <c:pt idx="140">
                  <c:v>1.6177016243443834</c:v>
                </c:pt>
                <c:pt idx="141">
                  <c:v>2.3555116354515024</c:v>
                </c:pt>
                <c:pt idx="142">
                  <c:v>3.0490496079846015</c:v>
                </c:pt>
                <c:pt idx="143">
                  <c:v>2.327901684114702</c:v>
                </c:pt>
                <c:pt idx="144">
                  <c:v>2.2637791723655103</c:v>
                </c:pt>
                <c:pt idx="145">
                  <c:v>1.9400582499321841</c:v>
                </c:pt>
                <c:pt idx="146">
                  <c:v>1.3481947563422998</c:v>
                </c:pt>
                <c:pt idx="147">
                  <c:v>1.7166904694563949</c:v>
                </c:pt>
                <c:pt idx="148">
                  <c:v>1.04195381075969</c:v>
                </c:pt>
                <c:pt idx="149">
                  <c:v>0.63753929786383057</c:v>
                </c:pt>
                <c:pt idx="150">
                  <c:v>0.76803778596178707</c:v>
                </c:pt>
                <c:pt idx="151">
                  <c:v>1.5768656917038548</c:v>
                </c:pt>
                <c:pt idx="152">
                  <c:v>1.7718142612149559</c:v>
                </c:pt>
                <c:pt idx="153">
                  <c:v>2.2542018970876549</c:v>
                </c:pt>
                <c:pt idx="154">
                  <c:v>1.875200845342442</c:v>
                </c:pt>
                <c:pt idx="155">
                  <c:v>1.44741541465273</c:v>
                </c:pt>
                <c:pt idx="156">
                  <c:v>1.4218351405249285</c:v>
                </c:pt>
                <c:pt idx="157">
                  <c:v>1.1257153103465332</c:v>
                </c:pt>
                <c:pt idx="158">
                  <c:v>1.8238520188798224</c:v>
                </c:pt>
                <c:pt idx="159">
                  <c:v>1.6411462093521672</c:v>
                </c:pt>
                <c:pt idx="160">
                  <c:v>2.3323784886784482</c:v>
                </c:pt>
                <c:pt idx="161">
                  <c:v>3.2894620616553309</c:v>
                </c:pt>
                <c:pt idx="162">
                  <c:v>3.3806493576258063</c:v>
                </c:pt>
                <c:pt idx="163">
                  <c:v>3.7921460701772434</c:v>
                </c:pt>
                <c:pt idx="164">
                  <c:v>3.7722176570573063</c:v>
                </c:pt>
                <c:pt idx="165">
                  <c:v>3.7386026468315166</c:v>
                </c:pt>
                <c:pt idx="166">
                  <c:v>4.3508878167605936</c:v>
                </c:pt>
                <c:pt idx="167">
                  <c:v>4.4874390711318721</c:v>
                </c:pt>
                <c:pt idx="168">
                  <c:v>4.6073525921915062</c:v>
                </c:pt>
                <c:pt idx="169">
                  <c:v>4.5949548702122254</c:v>
                </c:pt>
                <c:pt idx="170">
                  <c:v>4.4550304430775096</c:v>
                </c:pt>
                <c:pt idx="171">
                  <c:v>4.5542264906890315</c:v>
                </c:pt>
                <c:pt idx="172">
                  <c:v>4.0076965470421877</c:v>
                </c:pt>
                <c:pt idx="173">
                  <c:v>3.8039667403113224</c:v>
                </c:pt>
                <c:pt idx="174">
                  <c:v>2.6513574772512314</c:v>
                </c:pt>
                <c:pt idx="175">
                  <c:v>1.1562768959788634</c:v>
                </c:pt>
                <c:pt idx="176">
                  <c:v>0.87663698668188539</c:v>
                </c:pt>
                <c:pt idx="177">
                  <c:v>-0.39343394261923142</c:v>
                </c:pt>
                <c:pt idx="178">
                  <c:v>-1.0529190823913499</c:v>
                </c:pt>
                <c:pt idx="179">
                  <c:v>-0.81239724619810938</c:v>
                </c:pt>
                <c:pt idx="180">
                  <c:v>-1.4102952125180221</c:v>
                </c:pt>
                <c:pt idx="181">
                  <c:v>-1.2992896457339833</c:v>
                </c:pt>
                <c:pt idx="182">
                  <c:v>-1.0250458729984473</c:v>
                </c:pt>
                <c:pt idx="183">
                  <c:v>-1.0338079450686797</c:v>
                </c:pt>
                <c:pt idx="184">
                  <c:v>-0.69122123917651157</c:v>
                </c:pt>
                <c:pt idx="185">
                  <c:v>-0.41861931076277553</c:v>
                </c:pt>
                <c:pt idx="186">
                  <c:v>-0.5359127367607267</c:v>
                </c:pt>
                <c:pt idx="187">
                  <c:v>-0.75573117605236029</c:v>
                </c:pt>
                <c:pt idx="188">
                  <c:v>-0.74768395100603657</c:v>
                </c:pt>
                <c:pt idx="189">
                  <c:v>-0.9795303723671569</c:v>
                </c:pt>
                <c:pt idx="190">
                  <c:v>-0.84373599266418431</c:v>
                </c:pt>
                <c:pt idx="191">
                  <c:v>-0.68347319408256868</c:v>
                </c:pt>
                <c:pt idx="192">
                  <c:v>-0.64807354624024627</c:v>
                </c:pt>
                <c:pt idx="193">
                  <c:v>-0.79038470748411027</c:v>
                </c:pt>
                <c:pt idx="194">
                  <c:v>-0.46813615674661169</c:v>
                </c:pt>
                <c:pt idx="195">
                  <c:v>-7.4449782645672008E-2</c:v>
                </c:pt>
                <c:pt idx="196">
                  <c:v>-0.29935208274844627</c:v>
                </c:pt>
                <c:pt idx="197">
                  <c:v>5.8708893581976375E-2</c:v>
                </c:pt>
                <c:pt idx="198">
                  <c:v>-7.7975560845943417E-3</c:v>
                </c:pt>
                <c:pt idx="199">
                  <c:v>-0.31798959791318659</c:v>
                </c:pt>
                <c:pt idx="200">
                  <c:v>6.8729903111984275E-4</c:v>
                </c:pt>
                <c:pt idx="201">
                  <c:v>-0.11344762946307217</c:v>
                </c:pt>
                <c:pt idx="202">
                  <c:v>4.4074365474837542E-2</c:v>
                </c:pt>
                <c:pt idx="203">
                  <c:v>0.18840313102647152</c:v>
                </c:pt>
                <c:pt idx="204">
                  <c:v>0.4136425703943003</c:v>
                </c:pt>
                <c:pt idx="205">
                  <c:v>0.68731366320868903</c:v>
                </c:pt>
                <c:pt idx="206">
                  <c:v>0.69498829797441175</c:v>
                </c:pt>
                <c:pt idx="207">
                  <c:v>0.56812377828841865</c:v>
                </c:pt>
                <c:pt idx="208">
                  <c:v>0.56006582206774003</c:v>
                </c:pt>
                <c:pt idx="209">
                  <c:v>0.55369340156537472</c:v>
                </c:pt>
                <c:pt idx="210">
                  <c:v>0.52759820338446328</c:v>
                </c:pt>
                <c:pt idx="211">
                  <c:v>0.65641684901792574</c:v>
                </c:pt>
                <c:pt idx="212">
                  <c:v>0.47568515402665429</c:v>
                </c:pt>
                <c:pt idx="213">
                  <c:v>0.42380663248478306</c:v>
                </c:pt>
                <c:pt idx="214">
                  <c:v>0.50875433102051848</c:v>
                </c:pt>
                <c:pt idx="215">
                  <c:v>0.84318288431644883</c:v>
                </c:pt>
                <c:pt idx="216">
                  <c:v>0.84864134951918369</c:v>
                </c:pt>
                <c:pt idx="217">
                  <c:v>0.93668911080860717</c:v>
                </c:pt>
                <c:pt idx="218">
                  <c:v>1.0750891215815874</c:v>
                </c:pt>
                <c:pt idx="219">
                  <c:v>0.55079562077131783</c:v>
                </c:pt>
                <c:pt idx="220">
                  <c:v>1.5298528436116494</c:v>
                </c:pt>
                <c:pt idx="221">
                  <c:v>2.0128800167610388</c:v>
                </c:pt>
                <c:pt idx="222">
                  <c:v>1.6183880461244984</c:v>
                </c:pt>
                <c:pt idx="223">
                  <c:v>1.8235373173405085</c:v>
                </c:pt>
                <c:pt idx="224">
                  <c:v>0.72563749739461536</c:v>
                </c:pt>
                <c:pt idx="225">
                  <c:v>5.1256294465619523E-2</c:v>
                </c:pt>
                <c:pt idx="226">
                  <c:v>-6.4833476624712838E-2</c:v>
                </c:pt>
                <c:pt idx="227">
                  <c:v>-0.11350620227236828</c:v>
                </c:pt>
                <c:pt idx="228">
                  <c:v>-6.1489954052523756E-2</c:v>
                </c:pt>
                <c:pt idx="229">
                  <c:v>-0.11093892330682965</c:v>
                </c:pt>
              </c:numCache>
            </c:numRef>
          </c:val>
          <c:extLst>
            <c:ext xmlns:c16="http://schemas.microsoft.com/office/drawing/2014/chart" uri="{C3380CC4-5D6E-409C-BE32-E72D297353CC}">
              <c16:uniqueId val="{00000000-9FBD-463D-9BE8-A945754B14C9}"/>
            </c:ext>
          </c:extLst>
        </c:ser>
        <c:ser>
          <c:idx val="0"/>
          <c:order val="1"/>
          <c:tx>
            <c:strRef>
              <c:f>Sheet1!$C$1</c:f>
              <c:strCache>
                <c:ptCount val="1"/>
                <c:pt idx="0">
                  <c:v>Households</c:v>
                </c:pt>
              </c:strCache>
            </c:strRef>
          </c:tx>
          <c:spPr>
            <a:solidFill>
              <a:srgbClr val="FF0000"/>
            </a:solidFill>
            <a:ln w="29497">
              <a:noFill/>
            </a:ln>
          </c:spPr>
          <c:invertIfNegative val="0"/>
          <c:cat>
            <c:numRef>
              <c:f>Sheet1!$A$2:$A$231</c:f>
              <c:numCache>
                <c:formatCode>mmm\-yy</c:formatCode>
                <c:ptCount val="230"/>
                <c:pt idx="0">
                  <c:v>23802</c:v>
                </c:pt>
                <c:pt idx="1">
                  <c:v>23894</c:v>
                </c:pt>
                <c:pt idx="2">
                  <c:v>23986</c:v>
                </c:pt>
                <c:pt idx="3">
                  <c:v>24077</c:v>
                </c:pt>
                <c:pt idx="4">
                  <c:v>24167</c:v>
                </c:pt>
                <c:pt idx="5">
                  <c:v>24259</c:v>
                </c:pt>
                <c:pt idx="6">
                  <c:v>24351</c:v>
                </c:pt>
                <c:pt idx="7">
                  <c:v>24442</c:v>
                </c:pt>
                <c:pt idx="8">
                  <c:v>24532</c:v>
                </c:pt>
                <c:pt idx="9">
                  <c:v>24624</c:v>
                </c:pt>
                <c:pt idx="10">
                  <c:v>24716</c:v>
                </c:pt>
                <c:pt idx="11">
                  <c:v>24807</c:v>
                </c:pt>
                <c:pt idx="12">
                  <c:v>24898</c:v>
                </c:pt>
                <c:pt idx="13">
                  <c:v>24990</c:v>
                </c:pt>
                <c:pt idx="14">
                  <c:v>25082</c:v>
                </c:pt>
                <c:pt idx="15">
                  <c:v>25173</c:v>
                </c:pt>
                <c:pt idx="16">
                  <c:v>25263</c:v>
                </c:pt>
                <c:pt idx="17">
                  <c:v>25355</c:v>
                </c:pt>
                <c:pt idx="18">
                  <c:v>25447</c:v>
                </c:pt>
                <c:pt idx="19">
                  <c:v>25538</c:v>
                </c:pt>
                <c:pt idx="20">
                  <c:v>25628</c:v>
                </c:pt>
                <c:pt idx="21">
                  <c:v>25720</c:v>
                </c:pt>
                <c:pt idx="22">
                  <c:v>25812</c:v>
                </c:pt>
                <c:pt idx="23">
                  <c:v>25903</c:v>
                </c:pt>
                <c:pt idx="24">
                  <c:v>25993</c:v>
                </c:pt>
                <c:pt idx="25">
                  <c:v>26085</c:v>
                </c:pt>
                <c:pt idx="26">
                  <c:v>26177</c:v>
                </c:pt>
                <c:pt idx="27">
                  <c:v>26268</c:v>
                </c:pt>
                <c:pt idx="28">
                  <c:v>26359</c:v>
                </c:pt>
                <c:pt idx="29">
                  <c:v>26451</c:v>
                </c:pt>
                <c:pt idx="30">
                  <c:v>26543</c:v>
                </c:pt>
                <c:pt idx="31">
                  <c:v>26634</c:v>
                </c:pt>
                <c:pt idx="32">
                  <c:v>26724</c:v>
                </c:pt>
                <c:pt idx="33">
                  <c:v>26816</c:v>
                </c:pt>
                <c:pt idx="34">
                  <c:v>26908</c:v>
                </c:pt>
                <c:pt idx="35">
                  <c:v>26999</c:v>
                </c:pt>
                <c:pt idx="36">
                  <c:v>27089</c:v>
                </c:pt>
                <c:pt idx="37">
                  <c:v>27181</c:v>
                </c:pt>
                <c:pt idx="38">
                  <c:v>27273</c:v>
                </c:pt>
                <c:pt idx="39">
                  <c:v>27364</c:v>
                </c:pt>
                <c:pt idx="40">
                  <c:v>27454</c:v>
                </c:pt>
                <c:pt idx="41">
                  <c:v>27546</c:v>
                </c:pt>
                <c:pt idx="42">
                  <c:v>27638</c:v>
                </c:pt>
                <c:pt idx="43">
                  <c:v>27729</c:v>
                </c:pt>
                <c:pt idx="44">
                  <c:v>27820</c:v>
                </c:pt>
                <c:pt idx="45">
                  <c:v>27912</c:v>
                </c:pt>
                <c:pt idx="46">
                  <c:v>28004</c:v>
                </c:pt>
                <c:pt idx="47">
                  <c:v>28095</c:v>
                </c:pt>
                <c:pt idx="48">
                  <c:v>28185</c:v>
                </c:pt>
                <c:pt idx="49">
                  <c:v>28277</c:v>
                </c:pt>
                <c:pt idx="50">
                  <c:v>28369</c:v>
                </c:pt>
                <c:pt idx="51">
                  <c:v>28460</c:v>
                </c:pt>
                <c:pt idx="52">
                  <c:v>28550</c:v>
                </c:pt>
                <c:pt idx="53">
                  <c:v>28642</c:v>
                </c:pt>
                <c:pt idx="54">
                  <c:v>28734</c:v>
                </c:pt>
                <c:pt idx="55">
                  <c:v>28825</c:v>
                </c:pt>
                <c:pt idx="56">
                  <c:v>28915</c:v>
                </c:pt>
                <c:pt idx="57">
                  <c:v>29007</c:v>
                </c:pt>
                <c:pt idx="58">
                  <c:v>29099</c:v>
                </c:pt>
                <c:pt idx="59">
                  <c:v>29190</c:v>
                </c:pt>
                <c:pt idx="60">
                  <c:v>29281</c:v>
                </c:pt>
                <c:pt idx="61">
                  <c:v>29373</c:v>
                </c:pt>
                <c:pt idx="62">
                  <c:v>29465</c:v>
                </c:pt>
                <c:pt idx="63">
                  <c:v>29556</c:v>
                </c:pt>
                <c:pt idx="64">
                  <c:v>29646</c:v>
                </c:pt>
                <c:pt idx="65">
                  <c:v>29738</c:v>
                </c:pt>
                <c:pt idx="66">
                  <c:v>29830</c:v>
                </c:pt>
                <c:pt idx="67">
                  <c:v>29921</c:v>
                </c:pt>
                <c:pt idx="68">
                  <c:v>30011</c:v>
                </c:pt>
                <c:pt idx="69">
                  <c:v>30103</c:v>
                </c:pt>
                <c:pt idx="70">
                  <c:v>30195</c:v>
                </c:pt>
                <c:pt idx="71">
                  <c:v>30286</c:v>
                </c:pt>
                <c:pt idx="72">
                  <c:v>30376</c:v>
                </c:pt>
                <c:pt idx="73">
                  <c:v>30468</c:v>
                </c:pt>
                <c:pt idx="74">
                  <c:v>30560</c:v>
                </c:pt>
                <c:pt idx="75">
                  <c:v>30651</c:v>
                </c:pt>
                <c:pt idx="76">
                  <c:v>30742</c:v>
                </c:pt>
                <c:pt idx="77">
                  <c:v>30834</c:v>
                </c:pt>
                <c:pt idx="78">
                  <c:v>30926</c:v>
                </c:pt>
                <c:pt idx="79">
                  <c:v>31017</c:v>
                </c:pt>
                <c:pt idx="80">
                  <c:v>31107</c:v>
                </c:pt>
                <c:pt idx="81">
                  <c:v>31199</c:v>
                </c:pt>
                <c:pt idx="82">
                  <c:v>31291</c:v>
                </c:pt>
                <c:pt idx="83">
                  <c:v>31382</c:v>
                </c:pt>
                <c:pt idx="84">
                  <c:v>31472</c:v>
                </c:pt>
                <c:pt idx="85">
                  <c:v>31564</c:v>
                </c:pt>
                <c:pt idx="86">
                  <c:v>31656</c:v>
                </c:pt>
                <c:pt idx="87">
                  <c:v>31747</c:v>
                </c:pt>
                <c:pt idx="88">
                  <c:v>31837</c:v>
                </c:pt>
                <c:pt idx="89">
                  <c:v>31929</c:v>
                </c:pt>
                <c:pt idx="90">
                  <c:v>32021</c:v>
                </c:pt>
                <c:pt idx="91">
                  <c:v>32112</c:v>
                </c:pt>
                <c:pt idx="92">
                  <c:v>32203</c:v>
                </c:pt>
                <c:pt idx="93">
                  <c:v>32295</c:v>
                </c:pt>
                <c:pt idx="94">
                  <c:v>32387</c:v>
                </c:pt>
                <c:pt idx="95">
                  <c:v>32478</c:v>
                </c:pt>
                <c:pt idx="96">
                  <c:v>32568</c:v>
                </c:pt>
                <c:pt idx="97">
                  <c:v>32660</c:v>
                </c:pt>
                <c:pt idx="98">
                  <c:v>32752</c:v>
                </c:pt>
                <c:pt idx="99">
                  <c:v>32843</c:v>
                </c:pt>
                <c:pt idx="100">
                  <c:v>32933</c:v>
                </c:pt>
                <c:pt idx="101">
                  <c:v>33025</c:v>
                </c:pt>
                <c:pt idx="102">
                  <c:v>33117</c:v>
                </c:pt>
                <c:pt idx="103">
                  <c:v>33208</c:v>
                </c:pt>
                <c:pt idx="104">
                  <c:v>33298</c:v>
                </c:pt>
                <c:pt idx="105">
                  <c:v>33390</c:v>
                </c:pt>
                <c:pt idx="106">
                  <c:v>33482</c:v>
                </c:pt>
                <c:pt idx="107">
                  <c:v>33573</c:v>
                </c:pt>
                <c:pt idx="108">
                  <c:v>33664</c:v>
                </c:pt>
                <c:pt idx="109">
                  <c:v>33756</c:v>
                </c:pt>
                <c:pt idx="110">
                  <c:v>33848</c:v>
                </c:pt>
                <c:pt idx="111">
                  <c:v>33939</c:v>
                </c:pt>
                <c:pt idx="112">
                  <c:v>34029</c:v>
                </c:pt>
                <c:pt idx="113">
                  <c:v>34121</c:v>
                </c:pt>
                <c:pt idx="114">
                  <c:v>34213</c:v>
                </c:pt>
                <c:pt idx="115">
                  <c:v>34304</c:v>
                </c:pt>
                <c:pt idx="116">
                  <c:v>34394</c:v>
                </c:pt>
                <c:pt idx="117">
                  <c:v>34486</c:v>
                </c:pt>
                <c:pt idx="118">
                  <c:v>34578</c:v>
                </c:pt>
                <c:pt idx="119">
                  <c:v>34669</c:v>
                </c:pt>
                <c:pt idx="120">
                  <c:v>34759</c:v>
                </c:pt>
                <c:pt idx="121">
                  <c:v>34851</c:v>
                </c:pt>
                <c:pt idx="122">
                  <c:v>34943</c:v>
                </c:pt>
                <c:pt idx="123">
                  <c:v>35034</c:v>
                </c:pt>
                <c:pt idx="124">
                  <c:v>35125</c:v>
                </c:pt>
                <c:pt idx="125">
                  <c:v>35217</c:v>
                </c:pt>
                <c:pt idx="126">
                  <c:v>35309</c:v>
                </c:pt>
                <c:pt idx="127">
                  <c:v>35400</c:v>
                </c:pt>
                <c:pt idx="128">
                  <c:v>35490</c:v>
                </c:pt>
                <c:pt idx="129">
                  <c:v>35582</c:v>
                </c:pt>
                <c:pt idx="130">
                  <c:v>35674</c:v>
                </c:pt>
                <c:pt idx="131">
                  <c:v>35765</c:v>
                </c:pt>
                <c:pt idx="132">
                  <c:v>35855</c:v>
                </c:pt>
                <c:pt idx="133">
                  <c:v>35947</c:v>
                </c:pt>
                <c:pt idx="134">
                  <c:v>36039</c:v>
                </c:pt>
                <c:pt idx="135">
                  <c:v>36130</c:v>
                </c:pt>
                <c:pt idx="136">
                  <c:v>36220</c:v>
                </c:pt>
                <c:pt idx="137">
                  <c:v>36312</c:v>
                </c:pt>
                <c:pt idx="138">
                  <c:v>36404</c:v>
                </c:pt>
                <c:pt idx="139">
                  <c:v>36495</c:v>
                </c:pt>
                <c:pt idx="140">
                  <c:v>36586</c:v>
                </c:pt>
                <c:pt idx="141">
                  <c:v>36678</c:v>
                </c:pt>
                <c:pt idx="142">
                  <c:v>36770</c:v>
                </c:pt>
                <c:pt idx="143">
                  <c:v>36861</c:v>
                </c:pt>
                <c:pt idx="144">
                  <c:v>36951</c:v>
                </c:pt>
                <c:pt idx="145">
                  <c:v>37043</c:v>
                </c:pt>
                <c:pt idx="146">
                  <c:v>37135</c:v>
                </c:pt>
                <c:pt idx="147">
                  <c:v>37226</c:v>
                </c:pt>
                <c:pt idx="148">
                  <c:v>37316</c:v>
                </c:pt>
                <c:pt idx="149">
                  <c:v>37408</c:v>
                </c:pt>
                <c:pt idx="150">
                  <c:v>37500</c:v>
                </c:pt>
                <c:pt idx="151">
                  <c:v>37591</c:v>
                </c:pt>
                <c:pt idx="152">
                  <c:v>37681</c:v>
                </c:pt>
                <c:pt idx="153">
                  <c:v>37773</c:v>
                </c:pt>
                <c:pt idx="154">
                  <c:v>37865</c:v>
                </c:pt>
                <c:pt idx="155">
                  <c:v>37956</c:v>
                </c:pt>
                <c:pt idx="156">
                  <c:v>38047</c:v>
                </c:pt>
                <c:pt idx="157">
                  <c:v>38139</c:v>
                </c:pt>
                <c:pt idx="158">
                  <c:v>38231</c:v>
                </c:pt>
                <c:pt idx="159">
                  <c:v>38322</c:v>
                </c:pt>
                <c:pt idx="160">
                  <c:v>38412</c:v>
                </c:pt>
                <c:pt idx="161">
                  <c:v>38504</c:v>
                </c:pt>
                <c:pt idx="162">
                  <c:v>38596</c:v>
                </c:pt>
                <c:pt idx="163">
                  <c:v>38687</c:v>
                </c:pt>
                <c:pt idx="164">
                  <c:v>38777</c:v>
                </c:pt>
                <c:pt idx="165">
                  <c:v>38869</c:v>
                </c:pt>
                <c:pt idx="166">
                  <c:v>38961</c:v>
                </c:pt>
                <c:pt idx="167">
                  <c:v>39052</c:v>
                </c:pt>
                <c:pt idx="168">
                  <c:v>39142</c:v>
                </c:pt>
                <c:pt idx="169">
                  <c:v>39234</c:v>
                </c:pt>
                <c:pt idx="170">
                  <c:v>39326</c:v>
                </c:pt>
                <c:pt idx="171">
                  <c:v>39417</c:v>
                </c:pt>
                <c:pt idx="172">
                  <c:v>39508</c:v>
                </c:pt>
                <c:pt idx="173">
                  <c:v>39600</c:v>
                </c:pt>
                <c:pt idx="174">
                  <c:v>39692</c:v>
                </c:pt>
                <c:pt idx="175">
                  <c:v>39783</c:v>
                </c:pt>
                <c:pt idx="176">
                  <c:v>39873</c:v>
                </c:pt>
                <c:pt idx="177">
                  <c:v>39965</c:v>
                </c:pt>
                <c:pt idx="178">
                  <c:v>40057</c:v>
                </c:pt>
                <c:pt idx="179">
                  <c:v>40148</c:v>
                </c:pt>
                <c:pt idx="180">
                  <c:v>40238</c:v>
                </c:pt>
                <c:pt idx="181">
                  <c:v>40330</c:v>
                </c:pt>
                <c:pt idx="182">
                  <c:v>40422</c:v>
                </c:pt>
                <c:pt idx="183">
                  <c:v>40513</c:v>
                </c:pt>
                <c:pt idx="184">
                  <c:v>40603</c:v>
                </c:pt>
                <c:pt idx="185">
                  <c:v>40695</c:v>
                </c:pt>
                <c:pt idx="186">
                  <c:v>40787</c:v>
                </c:pt>
                <c:pt idx="187">
                  <c:v>40878</c:v>
                </c:pt>
                <c:pt idx="188">
                  <c:v>40969</c:v>
                </c:pt>
                <c:pt idx="189">
                  <c:v>41061</c:v>
                </c:pt>
                <c:pt idx="190">
                  <c:v>41153</c:v>
                </c:pt>
                <c:pt idx="191">
                  <c:v>41244</c:v>
                </c:pt>
                <c:pt idx="192">
                  <c:v>41334</c:v>
                </c:pt>
                <c:pt idx="193">
                  <c:v>41426</c:v>
                </c:pt>
                <c:pt idx="194">
                  <c:v>41518</c:v>
                </c:pt>
                <c:pt idx="195">
                  <c:v>41609</c:v>
                </c:pt>
                <c:pt idx="196">
                  <c:v>41699</c:v>
                </c:pt>
                <c:pt idx="197">
                  <c:v>41791</c:v>
                </c:pt>
                <c:pt idx="198">
                  <c:v>41883</c:v>
                </c:pt>
                <c:pt idx="199">
                  <c:v>41974</c:v>
                </c:pt>
                <c:pt idx="200">
                  <c:v>42064</c:v>
                </c:pt>
                <c:pt idx="201">
                  <c:v>42156</c:v>
                </c:pt>
                <c:pt idx="202">
                  <c:v>42248</c:v>
                </c:pt>
                <c:pt idx="203">
                  <c:v>42339</c:v>
                </c:pt>
                <c:pt idx="204">
                  <c:v>42430</c:v>
                </c:pt>
                <c:pt idx="205">
                  <c:v>42522</c:v>
                </c:pt>
                <c:pt idx="206">
                  <c:v>42614</c:v>
                </c:pt>
                <c:pt idx="207">
                  <c:v>42705</c:v>
                </c:pt>
                <c:pt idx="208">
                  <c:v>42795</c:v>
                </c:pt>
                <c:pt idx="209">
                  <c:v>42887</c:v>
                </c:pt>
                <c:pt idx="210">
                  <c:v>42979</c:v>
                </c:pt>
                <c:pt idx="211">
                  <c:v>43070</c:v>
                </c:pt>
                <c:pt idx="212">
                  <c:v>43160</c:v>
                </c:pt>
                <c:pt idx="213">
                  <c:v>43252</c:v>
                </c:pt>
                <c:pt idx="214">
                  <c:v>43344</c:v>
                </c:pt>
                <c:pt idx="215">
                  <c:v>43435</c:v>
                </c:pt>
                <c:pt idx="216">
                  <c:v>43525</c:v>
                </c:pt>
                <c:pt idx="217">
                  <c:v>43617</c:v>
                </c:pt>
                <c:pt idx="218">
                  <c:v>43709</c:v>
                </c:pt>
                <c:pt idx="219">
                  <c:v>43800</c:v>
                </c:pt>
                <c:pt idx="220">
                  <c:v>43891</c:v>
                </c:pt>
                <c:pt idx="221">
                  <c:v>43983</c:v>
                </c:pt>
                <c:pt idx="222">
                  <c:v>44075</c:v>
                </c:pt>
                <c:pt idx="223">
                  <c:v>44166</c:v>
                </c:pt>
                <c:pt idx="224">
                  <c:v>44256</c:v>
                </c:pt>
                <c:pt idx="225">
                  <c:v>44348</c:v>
                </c:pt>
                <c:pt idx="226">
                  <c:v>44440</c:v>
                </c:pt>
                <c:pt idx="227">
                  <c:v>44531</c:v>
                </c:pt>
                <c:pt idx="228">
                  <c:v>44621</c:v>
                </c:pt>
                <c:pt idx="229">
                  <c:v>44713</c:v>
                </c:pt>
              </c:numCache>
            </c:numRef>
          </c:cat>
          <c:val>
            <c:numRef>
              <c:f>Sheet1!$C$2:$C$231</c:f>
              <c:numCache>
                <c:formatCode>0.000_ ;[Red]\-0.000\ </c:formatCode>
                <c:ptCount val="230"/>
                <c:pt idx="0">
                  <c:v>1.606897341888176</c:v>
                </c:pt>
                <c:pt idx="1">
                  <c:v>1.4067863372910923</c:v>
                </c:pt>
                <c:pt idx="2">
                  <c:v>1.1737737516570923</c:v>
                </c:pt>
                <c:pt idx="3">
                  <c:v>1.2086479439404638</c:v>
                </c:pt>
                <c:pt idx="4">
                  <c:v>1.320643746992461</c:v>
                </c:pt>
                <c:pt idx="5">
                  <c:v>1.5583597869716928</c:v>
                </c:pt>
                <c:pt idx="6">
                  <c:v>1.742762123282374</c:v>
                </c:pt>
                <c:pt idx="7">
                  <c:v>1.6326841530609653</c:v>
                </c:pt>
                <c:pt idx="8">
                  <c:v>1.5825716789783399</c:v>
                </c:pt>
                <c:pt idx="9">
                  <c:v>1.5995070856438693</c:v>
                </c:pt>
                <c:pt idx="10">
                  <c:v>1.7662514597119501</c:v>
                </c:pt>
                <c:pt idx="11">
                  <c:v>2.0736331781308501</c:v>
                </c:pt>
                <c:pt idx="12">
                  <c:v>2.3024926066751163</c:v>
                </c:pt>
                <c:pt idx="13">
                  <c:v>2.2937153121617575</c:v>
                </c:pt>
                <c:pt idx="14">
                  <c:v>2.151648549097116</c:v>
                </c:pt>
                <c:pt idx="15">
                  <c:v>1.9285371074127464</c:v>
                </c:pt>
                <c:pt idx="16">
                  <c:v>1.735970069481561</c:v>
                </c:pt>
                <c:pt idx="17">
                  <c:v>1.6104406751301945</c:v>
                </c:pt>
                <c:pt idx="18">
                  <c:v>1.5604494750656166</c:v>
                </c:pt>
                <c:pt idx="19">
                  <c:v>1.5536439281263816</c:v>
                </c:pt>
                <c:pt idx="20">
                  <c:v>1.5681188469020806</c:v>
                </c:pt>
                <c:pt idx="21">
                  <c:v>1.6844715757344524</c:v>
                </c:pt>
                <c:pt idx="22">
                  <c:v>1.8307777572510624</c:v>
                </c:pt>
                <c:pt idx="23">
                  <c:v>2.0046411995715814</c:v>
                </c:pt>
                <c:pt idx="24">
                  <c:v>2.1200740727920944</c:v>
                </c:pt>
                <c:pt idx="25">
                  <c:v>2.2850705362097088</c:v>
                </c:pt>
                <c:pt idx="26">
                  <c:v>2.4734520503185755</c:v>
                </c:pt>
                <c:pt idx="27">
                  <c:v>2.6813704428637357</c:v>
                </c:pt>
                <c:pt idx="28">
                  <c:v>2.9746756874185336</c:v>
                </c:pt>
                <c:pt idx="29">
                  <c:v>3.268752355823596</c:v>
                </c:pt>
                <c:pt idx="30">
                  <c:v>3.5237955346651</c:v>
                </c:pt>
                <c:pt idx="31">
                  <c:v>3.6240106663640748</c:v>
                </c:pt>
                <c:pt idx="32">
                  <c:v>3.7338562445060521</c:v>
                </c:pt>
                <c:pt idx="33">
                  <c:v>3.5224997710113448</c:v>
                </c:pt>
                <c:pt idx="34">
                  <c:v>3.2128159163784185</c:v>
                </c:pt>
                <c:pt idx="35">
                  <c:v>2.8205222373205041</c:v>
                </c:pt>
                <c:pt idx="36">
                  <c:v>2.3525573639757855</c:v>
                </c:pt>
                <c:pt idx="37">
                  <c:v>1.9034702085866617</c:v>
                </c:pt>
                <c:pt idx="38">
                  <c:v>1.6554688994676843</c:v>
                </c:pt>
                <c:pt idx="39">
                  <c:v>1.704238442086152</c:v>
                </c:pt>
                <c:pt idx="40">
                  <c:v>1.7900417472762449</c:v>
                </c:pt>
                <c:pt idx="41">
                  <c:v>2.0976997637073826</c:v>
                </c:pt>
                <c:pt idx="42">
                  <c:v>2.3082425442940471</c:v>
                </c:pt>
                <c:pt idx="43">
                  <c:v>2.7232546808658729</c:v>
                </c:pt>
                <c:pt idx="44">
                  <c:v>2.8474503168441663</c:v>
                </c:pt>
                <c:pt idx="45">
                  <c:v>3.0020358176670801</c:v>
                </c:pt>
                <c:pt idx="46">
                  <c:v>3.0993612003632842</c:v>
                </c:pt>
                <c:pt idx="47">
                  <c:v>2.8918128654970761</c:v>
                </c:pt>
                <c:pt idx="48">
                  <c:v>2.8916390402876888</c:v>
                </c:pt>
                <c:pt idx="49">
                  <c:v>2.8263904343779713</c:v>
                </c:pt>
                <c:pt idx="50">
                  <c:v>2.9054747036753348</c:v>
                </c:pt>
                <c:pt idx="51">
                  <c:v>3.096085855419874</c:v>
                </c:pt>
                <c:pt idx="52">
                  <c:v>3.2015941547658593</c:v>
                </c:pt>
                <c:pt idx="53">
                  <c:v>3.4043343725145281</c:v>
                </c:pt>
                <c:pt idx="54">
                  <c:v>3.3773861967694567</c:v>
                </c:pt>
                <c:pt idx="55">
                  <c:v>3.2862131868250133</c:v>
                </c:pt>
                <c:pt idx="56">
                  <c:v>3.3412266777693924</c:v>
                </c:pt>
                <c:pt idx="57">
                  <c:v>3.2648820376540404</c:v>
                </c:pt>
                <c:pt idx="58">
                  <c:v>3.3094615986115614</c:v>
                </c:pt>
                <c:pt idx="59">
                  <c:v>3.3252336957014497</c:v>
                </c:pt>
                <c:pt idx="60">
                  <c:v>3.2191659883808565</c:v>
                </c:pt>
                <c:pt idx="61">
                  <c:v>3.1267051373203918</c:v>
                </c:pt>
                <c:pt idx="62">
                  <c:v>3.0470858981199092</c:v>
                </c:pt>
                <c:pt idx="63">
                  <c:v>3.0543470302390374</c:v>
                </c:pt>
                <c:pt idx="64">
                  <c:v>3.1679946133991694</c:v>
                </c:pt>
                <c:pt idx="65">
                  <c:v>3.3871736212897665</c:v>
                </c:pt>
                <c:pt idx="66">
                  <c:v>3.5302621741425928</c:v>
                </c:pt>
                <c:pt idx="67">
                  <c:v>3.8228500999471784</c:v>
                </c:pt>
                <c:pt idx="68">
                  <c:v>4.2114650110208132</c:v>
                </c:pt>
                <c:pt idx="69">
                  <c:v>4.5861356254716057</c:v>
                </c:pt>
                <c:pt idx="70">
                  <c:v>5.1937934793062546</c:v>
                </c:pt>
                <c:pt idx="71">
                  <c:v>5.6420239561879493</c:v>
                </c:pt>
                <c:pt idx="72">
                  <c:v>5.8785770615673352</c:v>
                </c:pt>
                <c:pt idx="73">
                  <c:v>5.9734638917035054</c:v>
                </c:pt>
                <c:pt idx="74">
                  <c:v>5.7863588079423813</c:v>
                </c:pt>
                <c:pt idx="75">
                  <c:v>5.5456895839093763</c:v>
                </c:pt>
                <c:pt idx="76">
                  <c:v>5.3516223874614974</c:v>
                </c:pt>
                <c:pt idx="77">
                  <c:v>5.3703632456318742</c:v>
                </c:pt>
                <c:pt idx="78">
                  <c:v>5.4621735230870643</c:v>
                </c:pt>
                <c:pt idx="79">
                  <c:v>5.4543623769827176</c:v>
                </c:pt>
                <c:pt idx="80">
                  <c:v>5.6396870913482164</c:v>
                </c:pt>
                <c:pt idx="81">
                  <c:v>5.534200757623748</c:v>
                </c:pt>
                <c:pt idx="82">
                  <c:v>5.6374655484100407</c:v>
                </c:pt>
                <c:pt idx="83">
                  <c:v>6.0044282296015314</c:v>
                </c:pt>
                <c:pt idx="84">
                  <c:v>5.997103008341826</c:v>
                </c:pt>
                <c:pt idx="85">
                  <c:v>6.4415262440718406</c:v>
                </c:pt>
                <c:pt idx="86">
                  <c:v>6.6906425537744898</c:v>
                </c:pt>
                <c:pt idx="87">
                  <c:v>6.7147443437038632</c:v>
                </c:pt>
                <c:pt idx="88">
                  <c:v>6.9244756195727755</c:v>
                </c:pt>
                <c:pt idx="89">
                  <c:v>6.745449489872307</c:v>
                </c:pt>
                <c:pt idx="90">
                  <c:v>6.6325493822808532</c:v>
                </c:pt>
                <c:pt idx="91">
                  <c:v>6.9405875548641154</c:v>
                </c:pt>
                <c:pt idx="92">
                  <c:v>7.1473677830803801</c:v>
                </c:pt>
                <c:pt idx="93">
                  <c:v>7.9665251916757924</c:v>
                </c:pt>
                <c:pt idx="94">
                  <c:v>8.6947020247758626</c:v>
                </c:pt>
                <c:pt idx="95">
                  <c:v>8.6091226303104413</c:v>
                </c:pt>
                <c:pt idx="96">
                  <c:v>8.6525539986281625</c:v>
                </c:pt>
                <c:pt idx="97">
                  <c:v>8.0066941157223095</c:v>
                </c:pt>
                <c:pt idx="98">
                  <c:v>7.4121910271114881</c:v>
                </c:pt>
                <c:pt idx="99">
                  <c:v>7.3965454175980492</c:v>
                </c:pt>
                <c:pt idx="100">
                  <c:v>7.2856729359300987</c:v>
                </c:pt>
                <c:pt idx="101">
                  <c:v>7.0132652348389</c:v>
                </c:pt>
                <c:pt idx="102">
                  <c:v>6.5391338153400858</c:v>
                </c:pt>
                <c:pt idx="103">
                  <c:v>5.967698354762768</c:v>
                </c:pt>
                <c:pt idx="104">
                  <c:v>5.2412132601227359</c:v>
                </c:pt>
                <c:pt idx="105">
                  <c:v>4.7947359648677832</c:v>
                </c:pt>
                <c:pt idx="106">
                  <c:v>4.4928754173215699</c:v>
                </c:pt>
                <c:pt idx="107">
                  <c:v>4.0699130331441769</c:v>
                </c:pt>
                <c:pt idx="108">
                  <c:v>3.8058058506099863</c:v>
                </c:pt>
                <c:pt idx="109">
                  <c:v>3.5679828330939793</c:v>
                </c:pt>
                <c:pt idx="110">
                  <c:v>3.2629682689753783</c:v>
                </c:pt>
                <c:pt idx="111">
                  <c:v>2.9212271010999666</c:v>
                </c:pt>
                <c:pt idx="112">
                  <c:v>2.5025177729117329</c:v>
                </c:pt>
                <c:pt idx="113">
                  <c:v>2.3164801781106972</c:v>
                </c:pt>
                <c:pt idx="114">
                  <c:v>2.3397071816231225</c:v>
                </c:pt>
                <c:pt idx="115">
                  <c:v>2.4790838641766939</c:v>
                </c:pt>
                <c:pt idx="116">
                  <c:v>2.7254074214487347</c:v>
                </c:pt>
                <c:pt idx="117">
                  <c:v>2.912292583813072</c:v>
                </c:pt>
                <c:pt idx="118">
                  <c:v>2.989716722935853</c:v>
                </c:pt>
                <c:pt idx="119">
                  <c:v>3.0835084557343508</c:v>
                </c:pt>
                <c:pt idx="120">
                  <c:v>3.1663254949018955</c:v>
                </c:pt>
                <c:pt idx="121">
                  <c:v>3.0548575962682891</c:v>
                </c:pt>
                <c:pt idx="122">
                  <c:v>2.9339340229408104</c:v>
                </c:pt>
                <c:pt idx="123">
                  <c:v>2.8986390507578279</c:v>
                </c:pt>
                <c:pt idx="124">
                  <c:v>2.8549081406069119</c:v>
                </c:pt>
                <c:pt idx="125">
                  <c:v>2.9904772512112263</c:v>
                </c:pt>
                <c:pt idx="126">
                  <c:v>3.2096546698586623</c:v>
                </c:pt>
                <c:pt idx="127">
                  <c:v>3.3011739580395325</c:v>
                </c:pt>
                <c:pt idx="128">
                  <c:v>3.4723597694618071</c:v>
                </c:pt>
                <c:pt idx="129">
                  <c:v>3.614446218646687</c:v>
                </c:pt>
                <c:pt idx="130">
                  <c:v>3.4376597965591711</c:v>
                </c:pt>
                <c:pt idx="131">
                  <c:v>3.4434722360734216</c:v>
                </c:pt>
                <c:pt idx="132">
                  <c:v>3.4349875703584227</c:v>
                </c:pt>
                <c:pt idx="133">
                  <c:v>3.3854835099621972</c:v>
                </c:pt>
                <c:pt idx="134">
                  <c:v>3.5949996434138543</c:v>
                </c:pt>
                <c:pt idx="135">
                  <c:v>3.6010569778367212</c:v>
                </c:pt>
                <c:pt idx="136">
                  <c:v>3.7541230509886439</c:v>
                </c:pt>
                <c:pt idx="137">
                  <c:v>3.929383241365096</c:v>
                </c:pt>
                <c:pt idx="138">
                  <c:v>4.2324640074726378</c:v>
                </c:pt>
                <c:pt idx="139">
                  <c:v>4.6678887108074134</c:v>
                </c:pt>
                <c:pt idx="140">
                  <c:v>4.9639440527852612</c:v>
                </c:pt>
                <c:pt idx="141">
                  <c:v>5.1053692950480496</c:v>
                </c:pt>
                <c:pt idx="142">
                  <c:v>4.9818988306340533</c:v>
                </c:pt>
                <c:pt idx="143">
                  <c:v>4.9261720527992718</c:v>
                </c:pt>
                <c:pt idx="144">
                  <c:v>4.8817587684001973</c:v>
                </c:pt>
                <c:pt idx="145">
                  <c:v>5.0588567023114361</c:v>
                </c:pt>
                <c:pt idx="146">
                  <c:v>5.4825525396175383</c:v>
                </c:pt>
                <c:pt idx="147">
                  <c:v>5.806362919135605</c:v>
                </c:pt>
                <c:pt idx="148">
                  <c:v>6.2721805267327886</c:v>
                </c:pt>
                <c:pt idx="149">
                  <c:v>6.8099381125843479</c:v>
                </c:pt>
                <c:pt idx="150">
                  <c:v>7.3286015808238973</c:v>
                </c:pt>
                <c:pt idx="151">
                  <c:v>7.8955857841819448</c:v>
                </c:pt>
                <c:pt idx="152">
                  <c:v>8.1244348073309478</c:v>
                </c:pt>
                <c:pt idx="153">
                  <c:v>8.2007917340479981</c:v>
                </c:pt>
                <c:pt idx="154">
                  <c:v>8.3831939865998422</c:v>
                </c:pt>
                <c:pt idx="155">
                  <c:v>8.5076628808622434</c:v>
                </c:pt>
                <c:pt idx="156">
                  <c:v>8.7919145722613923</c:v>
                </c:pt>
                <c:pt idx="157">
                  <c:v>8.9030053082133538</c:v>
                </c:pt>
                <c:pt idx="158">
                  <c:v>8.7399056008866634</c:v>
                </c:pt>
                <c:pt idx="159">
                  <c:v>8.1581802168892388</c:v>
                </c:pt>
                <c:pt idx="160">
                  <c:v>7.7205832961396696</c:v>
                </c:pt>
                <c:pt idx="161">
                  <c:v>7.2717368901451582</c:v>
                </c:pt>
                <c:pt idx="162">
                  <c:v>6.8610413009801485</c:v>
                </c:pt>
                <c:pt idx="163">
                  <c:v>6.8105305875157907</c:v>
                </c:pt>
                <c:pt idx="164">
                  <c:v>6.6773275774733492</c:v>
                </c:pt>
                <c:pt idx="165">
                  <c:v>6.7789383926668094</c:v>
                </c:pt>
                <c:pt idx="166">
                  <c:v>6.9605299842377493</c:v>
                </c:pt>
                <c:pt idx="167">
                  <c:v>7.1845614814433576</c:v>
                </c:pt>
                <c:pt idx="168">
                  <c:v>7.0793182858880908</c:v>
                </c:pt>
                <c:pt idx="169">
                  <c:v>6.915585101885517</c:v>
                </c:pt>
                <c:pt idx="170">
                  <c:v>6.7819795759485988</c:v>
                </c:pt>
                <c:pt idx="171">
                  <c:v>6.2096530045669152</c:v>
                </c:pt>
                <c:pt idx="172">
                  <c:v>6.1770701632941831</c:v>
                </c:pt>
                <c:pt idx="173">
                  <c:v>5.7050688923717985</c:v>
                </c:pt>
                <c:pt idx="174">
                  <c:v>4.7774135415343029</c:v>
                </c:pt>
                <c:pt idx="175">
                  <c:v>4.1521136486459431</c:v>
                </c:pt>
                <c:pt idx="176">
                  <c:v>2.9662728976116286</c:v>
                </c:pt>
                <c:pt idx="177">
                  <c:v>2.106354448215578</c:v>
                </c:pt>
                <c:pt idx="178">
                  <c:v>1.6303263211220904</c:v>
                </c:pt>
                <c:pt idx="179">
                  <c:v>1.406892211261817</c:v>
                </c:pt>
                <c:pt idx="180">
                  <c:v>1.2721837195730104</c:v>
                </c:pt>
                <c:pt idx="181">
                  <c:v>1.1165602326889505</c:v>
                </c:pt>
                <c:pt idx="182">
                  <c:v>0.99625174474224865</c:v>
                </c:pt>
                <c:pt idx="183">
                  <c:v>0.70543575684082882</c:v>
                </c:pt>
                <c:pt idx="184">
                  <c:v>0.60640318156514728</c:v>
                </c:pt>
                <c:pt idx="185">
                  <c:v>0.60614615898528623</c:v>
                </c:pt>
                <c:pt idx="186">
                  <c:v>0.60035755701584848</c:v>
                </c:pt>
                <c:pt idx="187">
                  <c:v>0.55914643167542066</c:v>
                </c:pt>
                <c:pt idx="188">
                  <c:v>0.56537001320389457</c:v>
                </c:pt>
                <c:pt idx="189">
                  <c:v>0.50616172432387951</c:v>
                </c:pt>
                <c:pt idx="190">
                  <c:v>0.41870398635960143</c:v>
                </c:pt>
                <c:pt idx="191">
                  <c:v>0.45040099224157709</c:v>
                </c:pt>
                <c:pt idx="192">
                  <c:v>0.45232112611489322</c:v>
                </c:pt>
                <c:pt idx="193">
                  <c:v>0.52099368513235222</c:v>
                </c:pt>
                <c:pt idx="194">
                  <c:v>0.70214780597855464</c:v>
                </c:pt>
                <c:pt idx="195">
                  <c:v>0.84487955586661501</c:v>
                </c:pt>
                <c:pt idx="196">
                  <c:v>1.1310752563869668</c:v>
                </c:pt>
                <c:pt idx="197">
                  <c:v>1.4104268082203324</c:v>
                </c:pt>
                <c:pt idx="198">
                  <c:v>1.5349892474390405</c:v>
                </c:pt>
                <c:pt idx="199">
                  <c:v>1.5984227374821576</c:v>
                </c:pt>
                <c:pt idx="200">
                  <c:v>1.5156529710879731</c:v>
                </c:pt>
                <c:pt idx="201">
                  <c:v>1.5417564269967647</c:v>
                </c:pt>
                <c:pt idx="202">
                  <c:v>1.7912821217305874</c:v>
                </c:pt>
                <c:pt idx="203">
                  <c:v>2.1173390822297504</c:v>
                </c:pt>
                <c:pt idx="204">
                  <c:v>2.5852532555202297</c:v>
                </c:pt>
                <c:pt idx="205">
                  <c:v>2.5578913377255335</c:v>
                </c:pt>
                <c:pt idx="206">
                  <c:v>2.5167266880027488</c:v>
                </c:pt>
                <c:pt idx="207">
                  <c:v>2.4674730913530341</c:v>
                </c:pt>
                <c:pt idx="208">
                  <c:v>2.3164643866448631</c:v>
                </c:pt>
                <c:pt idx="209">
                  <c:v>2.4648412216312856</c:v>
                </c:pt>
                <c:pt idx="210">
                  <c:v>2.4547778124815021</c:v>
                </c:pt>
                <c:pt idx="211">
                  <c:v>2.3474317202021986</c:v>
                </c:pt>
                <c:pt idx="212">
                  <c:v>2.1697371743762748</c:v>
                </c:pt>
                <c:pt idx="213">
                  <c:v>2.1805942850289348</c:v>
                </c:pt>
                <c:pt idx="214">
                  <c:v>2.078750718261869</c:v>
                </c:pt>
                <c:pt idx="215">
                  <c:v>2.0113319658937261</c:v>
                </c:pt>
                <c:pt idx="216">
                  <c:v>1.9570578550788</c:v>
                </c:pt>
                <c:pt idx="217">
                  <c:v>1.8780255712517659</c:v>
                </c:pt>
                <c:pt idx="218">
                  <c:v>1.9373946023912914</c:v>
                </c:pt>
                <c:pt idx="219">
                  <c:v>1.9948715970456923</c:v>
                </c:pt>
                <c:pt idx="220">
                  <c:v>1.9324759795931103</c:v>
                </c:pt>
                <c:pt idx="221">
                  <c:v>1.3645791304936548</c:v>
                </c:pt>
                <c:pt idx="222">
                  <c:v>1.2510116947522221</c:v>
                </c:pt>
                <c:pt idx="223">
                  <c:v>1.3804530452975543</c:v>
                </c:pt>
                <c:pt idx="224">
                  <c:v>1.8109229845980388</c:v>
                </c:pt>
                <c:pt idx="225">
                  <c:v>2.9014467805984174</c:v>
                </c:pt>
                <c:pt idx="226">
                  <c:v>2.9018706572141335</c:v>
                </c:pt>
                <c:pt idx="227">
                  <c:v>2.6288122762784121</c:v>
                </c:pt>
                <c:pt idx="228">
                  <c:v>2.5418226126053147</c:v>
                </c:pt>
                <c:pt idx="229">
                  <c:v>2.2403045385160847</c:v>
                </c:pt>
              </c:numCache>
            </c:numRef>
          </c:val>
          <c:extLst>
            <c:ext xmlns:c16="http://schemas.microsoft.com/office/drawing/2014/chart" uri="{C3380CC4-5D6E-409C-BE32-E72D297353CC}">
              <c16:uniqueId val="{00000001-9FBD-463D-9BE8-A945754B14C9}"/>
            </c:ext>
          </c:extLst>
        </c:ser>
        <c:dLbls>
          <c:showLegendKey val="0"/>
          <c:showVal val="0"/>
          <c:showCatName val="0"/>
          <c:showSerName val="0"/>
          <c:showPercent val="0"/>
          <c:showBubbleSize val="0"/>
        </c:dLbls>
        <c:gapWidth val="0"/>
        <c:overlap val="100"/>
        <c:axId val="164287352"/>
        <c:axId val="1"/>
      </c:barChart>
      <c:catAx>
        <c:axId val="164287352"/>
        <c:scaling>
          <c:orientation val="minMax"/>
        </c:scaling>
        <c:delete val="0"/>
        <c:axPos val="b"/>
        <c:majorGridlines>
          <c:spPr>
            <a:ln w="6350"/>
          </c:spPr>
        </c:majorGridlines>
        <c:numFmt formatCode="yyyy" sourceLinked="0"/>
        <c:majorTickMark val="out"/>
        <c:minorTickMark val="none"/>
        <c:tickLblPos val="low"/>
        <c:spPr>
          <a:ln w="9525">
            <a:solidFill>
              <a:schemeClr val="tx1"/>
            </a:solidFill>
            <a:prstDash val="solid"/>
          </a:ln>
        </c:spPr>
        <c:txPr>
          <a:bodyPr rot="0" vert="horz"/>
          <a:lstStyle/>
          <a:p>
            <a:pPr>
              <a:defRPr sz="1858" b="0" i="0" u="none" strike="noStrike" baseline="0">
                <a:solidFill>
                  <a:schemeClr val="tx1"/>
                </a:solidFill>
                <a:latin typeface="Arial"/>
                <a:ea typeface="Arial"/>
                <a:cs typeface="Arial"/>
              </a:defRPr>
            </a:pPr>
            <a:endParaRPr lang="en-US"/>
          </a:p>
        </c:txPr>
        <c:crossAx val="1"/>
        <c:crossesAt val="0"/>
        <c:auto val="0"/>
        <c:lblAlgn val="ctr"/>
        <c:lblOffset val="100"/>
        <c:tickLblSkip val="20"/>
        <c:tickMarkSkip val="4"/>
        <c:noMultiLvlLbl val="0"/>
      </c:catAx>
      <c:valAx>
        <c:axId val="1"/>
        <c:scaling>
          <c:orientation val="minMax"/>
          <c:max val="14"/>
          <c:min val="-2"/>
        </c:scaling>
        <c:delete val="0"/>
        <c:axPos val="l"/>
        <c:majorGridlines>
          <c:spPr>
            <a:ln w="6350">
              <a:solidFill>
                <a:srgbClr val="8A8A8A"/>
              </a:solidFill>
            </a:ln>
          </c:spPr>
        </c:majorGridlines>
        <c:title>
          <c:tx>
            <c:rich>
              <a:bodyPr/>
              <a:lstStyle/>
              <a:p>
                <a:pPr>
                  <a:defRPr sz="1858" b="0" i="0" u="none" strike="noStrike" baseline="0">
                    <a:solidFill>
                      <a:schemeClr val="tx1"/>
                    </a:solidFill>
                    <a:latin typeface="Arial"/>
                    <a:ea typeface="Arial"/>
                    <a:cs typeface="Arial"/>
                  </a:defRPr>
                </a:pPr>
                <a:r>
                  <a:rPr lang="en-GB" dirty="0"/>
                  <a:t>% of annual GDP</a:t>
                </a:r>
              </a:p>
            </c:rich>
          </c:tx>
          <c:layout>
            <c:manualLayout>
              <c:xMode val="edge"/>
              <c:yMode val="edge"/>
              <c:x val="1.3643650312941652E-2"/>
              <c:y val="0.27776317549347429"/>
            </c:manualLayout>
          </c:layout>
          <c:overlay val="0"/>
          <c:spPr>
            <a:noFill/>
            <a:ln w="29497">
              <a:noFill/>
            </a:ln>
          </c:spPr>
        </c:title>
        <c:numFmt formatCode="0_ ;\−0\ " sourceLinked="0"/>
        <c:majorTickMark val="out"/>
        <c:minorTickMark val="none"/>
        <c:tickLblPos val="nextTo"/>
        <c:spPr>
          <a:ln w="15875">
            <a:solidFill>
              <a:schemeClr val="tx1"/>
            </a:solidFill>
            <a:prstDash val="solid"/>
          </a:ln>
        </c:spPr>
        <c:txPr>
          <a:bodyPr rot="0" vert="horz"/>
          <a:lstStyle/>
          <a:p>
            <a:pPr>
              <a:defRPr sz="1858" b="0" i="0" u="none" strike="noStrike" baseline="0">
                <a:solidFill>
                  <a:schemeClr val="tx1"/>
                </a:solidFill>
                <a:latin typeface="Arial"/>
                <a:ea typeface="Arial"/>
                <a:cs typeface="Arial"/>
              </a:defRPr>
            </a:pPr>
            <a:endParaRPr lang="en-US"/>
          </a:p>
        </c:txPr>
        <c:crossAx val="164287352"/>
        <c:crosses val="autoZero"/>
        <c:crossBetween val="between"/>
        <c:majorUnit val="2"/>
      </c:valAx>
      <c:spPr>
        <a:solidFill>
          <a:schemeClr val="bg1"/>
        </a:solidFill>
        <a:ln w="6350">
          <a:solidFill>
            <a:schemeClr val="tx1"/>
          </a:solidFill>
          <a:prstDash val="solid"/>
        </a:ln>
      </c:spPr>
    </c:plotArea>
    <c:legend>
      <c:legendPos val="r"/>
      <c:legendEntry>
        <c:idx val="0"/>
        <c:txPr>
          <a:bodyPr/>
          <a:lstStyle/>
          <a:p>
            <a:pPr>
              <a:defRPr sz="1600" b="0" i="0" u="none" strike="noStrike" baseline="0">
                <a:solidFill>
                  <a:srgbClr val="FF0000"/>
                </a:solidFill>
                <a:latin typeface="Arial"/>
                <a:ea typeface="Arial"/>
                <a:cs typeface="Arial"/>
              </a:defRPr>
            </a:pPr>
            <a:endParaRPr lang="en-US"/>
          </a:p>
        </c:txPr>
      </c:legendEntry>
      <c:legendEntry>
        <c:idx val="1"/>
        <c:txPr>
          <a:bodyPr/>
          <a:lstStyle/>
          <a:p>
            <a:pPr>
              <a:defRPr sz="1600" b="0" i="0" u="none" strike="noStrike" baseline="0">
                <a:solidFill>
                  <a:srgbClr val="000080"/>
                </a:solidFill>
                <a:latin typeface="Arial"/>
                <a:ea typeface="Arial"/>
                <a:cs typeface="Arial"/>
              </a:defRPr>
            </a:pPr>
            <a:endParaRPr lang="en-US"/>
          </a:p>
        </c:txPr>
      </c:legendEntry>
      <c:layout>
        <c:manualLayout>
          <c:xMode val="edge"/>
          <c:yMode val="edge"/>
          <c:x val="0.11010205935796487"/>
          <c:y val="5.1858914895911983E-2"/>
          <c:w val="0.28327206364829394"/>
          <c:h val="0.11640116492287779"/>
        </c:manualLayout>
      </c:layout>
      <c:overlay val="0"/>
      <c:spPr>
        <a:solidFill>
          <a:srgbClr val="FFFFD7"/>
        </a:solidFill>
        <a:ln w="19050">
          <a:solidFill>
            <a:srgbClr val="663300"/>
          </a:solidFill>
          <a:prstDash val="solid"/>
        </a:ln>
      </c:spPr>
      <c:txPr>
        <a:bodyPr/>
        <a:lstStyle/>
        <a:p>
          <a:pPr>
            <a:defRPr sz="1600" b="0"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2090" b="1" i="0" u="none" strike="noStrike" baseline="0">
          <a:solidFill>
            <a:schemeClr val="tx1"/>
          </a:solidFill>
          <a:latin typeface="Arial"/>
          <a:ea typeface="Arial"/>
          <a:cs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729234088457389"/>
          <c:y val="4.1166380789022301E-2"/>
          <c:w val="0.75620280474649404"/>
          <c:h val="0.84905660377358494"/>
        </c:manualLayout>
      </c:layout>
      <c:barChart>
        <c:barDir val="col"/>
        <c:grouping val="clustered"/>
        <c:varyColors val="0"/>
        <c:ser>
          <c:idx val="0"/>
          <c:order val="0"/>
          <c:tx>
            <c:strRef>
              <c:f>Sheet1!$B$1</c:f>
              <c:strCache>
                <c:ptCount val="1"/>
                <c:pt idx="0">
                  <c:v>£ billions</c:v>
                </c:pt>
              </c:strCache>
            </c:strRef>
          </c:tx>
          <c:spPr>
            <a:solidFill>
              <a:srgbClr val="FFBFA3"/>
            </a:solidFill>
            <a:ln w="15875" cmpd="thickThin">
              <a:solidFill>
                <a:srgbClr val="996633"/>
              </a:solidFill>
              <a:prstDash val="solid"/>
            </a:ln>
          </c:spPr>
          <c:invertIfNegative val="0"/>
          <c:cat>
            <c:strRef>
              <c:f>Sheet1!$A$2:$A$99</c:f>
              <c:strCache>
                <c:ptCount val="97"/>
                <c:pt idx="0">
                  <c:v>1998</c:v>
                </c:pt>
                <c:pt idx="4">
                  <c:v>1999</c:v>
                </c:pt>
                <c:pt idx="8">
                  <c:v>2000</c:v>
                </c:pt>
                <c:pt idx="12">
                  <c:v>2001</c:v>
                </c:pt>
                <c:pt idx="16">
                  <c:v>2002</c:v>
                </c:pt>
                <c:pt idx="20">
                  <c:v>2003</c:v>
                </c:pt>
                <c:pt idx="24">
                  <c:v>2004</c:v>
                </c:pt>
                <c:pt idx="28">
                  <c:v>2005</c:v>
                </c:pt>
                <c:pt idx="32">
                  <c:v>2006</c:v>
                </c:pt>
                <c:pt idx="36">
                  <c:v>2007</c:v>
                </c:pt>
                <c:pt idx="40">
                  <c:v>2008</c:v>
                </c:pt>
                <c:pt idx="44">
                  <c:v>2009</c:v>
                </c:pt>
                <c:pt idx="48">
                  <c:v>2010</c:v>
                </c:pt>
                <c:pt idx="52">
                  <c:v>2011</c:v>
                </c:pt>
                <c:pt idx="56">
                  <c:v>2012</c:v>
                </c:pt>
                <c:pt idx="60">
                  <c:v>2013</c:v>
                </c:pt>
                <c:pt idx="64">
                  <c:v>2014</c:v>
                </c:pt>
                <c:pt idx="68">
                  <c:v>2015</c:v>
                </c:pt>
                <c:pt idx="72">
                  <c:v>2016</c:v>
                </c:pt>
                <c:pt idx="76">
                  <c:v>2017</c:v>
                </c:pt>
                <c:pt idx="80">
                  <c:v>2018</c:v>
                </c:pt>
                <c:pt idx="84">
                  <c:v>2019</c:v>
                </c:pt>
                <c:pt idx="88">
                  <c:v>2020</c:v>
                </c:pt>
                <c:pt idx="92">
                  <c:v>2021</c:v>
                </c:pt>
                <c:pt idx="96">
                  <c:v>2022</c:v>
                </c:pt>
              </c:strCache>
            </c:strRef>
          </c:cat>
          <c:val>
            <c:numRef>
              <c:f>Sheet1!$B$2:$B$99</c:f>
              <c:numCache>
                <c:formatCode>General</c:formatCode>
                <c:ptCount val="98"/>
                <c:pt idx="0">
                  <c:v>2631.3110000000001</c:v>
                </c:pt>
                <c:pt idx="1">
                  <c:v>2724.0810000000001</c:v>
                </c:pt>
                <c:pt idx="2">
                  <c:v>2823.0030000000002</c:v>
                </c:pt>
                <c:pt idx="3">
                  <c:v>2740.2049999999999</c:v>
                </c:pt>
                <c:pt idx="4">
                  <c:v>2813.5709999999999</c:v>
                </c:pt>
                <c:pt idx="5">
                  <c:v>2819.2840000000001</c:v>
                </c:pt>
                <c:pt idx="6">
                  <c:v>2844.1770000000001</c:v>
                </c:pt>
                <c:pt idx="7">
                  <c:v>2808.047</c:v>
                </c:pt>
                <c:pt idx="8">
                  <c:v>3038.665</c:v>
                </c:pt>
                <c:pt idx="9">
                  <c:v>3203.319</c:v>
                </c:pt>
                <c:pt idx="10">
                  <c:v>3272.9749999999999</c:v>
                </c:pt>
                <c:pt idx="11">
                  <c:v>3303.34</c:v>
                </c:pt>
                <c:pt idx="12">
                  <c:v>3638.4989999999998</c:v>
                </c:pt>
                <c:pt idx="13">
                  <c:v>3627.3359999999998</c:v>
                </c:pt>
                <c:pt idx="14">
                  <c:v>3657.83</c:v>
                </c:pt>
                <c:pt idx="15">
                  <c:v>3600.3870000000002</c:v>
                </c:pt>
                <c:pt idx="16">
                  <c:v>3716.614</c:v>
                </c:pt>
                <c:pt idx="17">
                  <c:v>3789.788</c:v>
                </c:pt>
                <c:pt idx="18">
                  <c:v>3816.6309999999999</c:v>
                </c:pt>
                <c:pt idx="19">
                  <c:v>3831.4110000000001</c:v>
                </c:pt>
                <c:pt idx="20">
                  <c:v>4243.7439999999997</c:v>
                </c:pt>
                <c:pt idx="21">
                  <c:v>4429.22</c:v>
                </c:pt>
                <c:pt idx="22">
                  <c:v>4521.3580000000002</c:v>
                </c:pt>
                <c:pt idx="23">
                  <c:v>4379.0730000000003</c:v>
                </c:pt>
                <c:pt idx="24">
                  <c:v>4719.4539999999997</c:v>
                </c:pt>
                <c:pt idx="25">
                  <c:v>4780.6859999999997</c:v>
                </c:pt>
                <c:pt idx="26">
                  <c:v>4958.1120000000001</c:v>
                </c:pt>
                <c:pt idx="27">
                  <c:v>4954.24</c:v>
                </c:pt>
                <c:pt idx="28">
                  <c:v>5323.7820000000002</c:v>
                </c:pt>
                <c:pt idx="29">
                  <c:v>5546.4440000000004</c:v>
                </c:pt>
                <c:pt idx="30">
                  <c:v>5713.0370000000003</c:v>
                </c:pt>
                <c:pt idx="31">
                  <c:v>5792.8559999999998</c:v>
                </c:pt>
                <c:pt idx="32">
                  <c:v>6366.7539999999999</c:v>
                </c:pt>
                <c:pt idx="33">
                  <c:v>6369.6819999999998</c:v>
                </c:pt>
                <c:pt idx="34">
                  <c:v>6528.3440000000001</c:v>
                </c:pt>
                <c:pt idx="35">
                  <c:v>6566.6949999999997</c:v>
                </c:pt>
                <c:pt idx="36">
                  <c:v>7241.4470000000001</c:v>
                </c:pt>
                <c:pt idx="37">
                  <c:v>7367.4229999999998</c:v>
                </c:pt>
                <c:pt idx="38">
                  <c:v>7239.4930000000004</c:v>
                </c:pt>
                <c:pt idx="39">
                  <c:v>7309.4229999999998</c:v>
                </c:pt>
                <c:pt idx="40">
                  <c:v>7893.7969999999996</c:v>
                </c:pt>
                <c:pt idx="41">
                  <c:v>7451.4769999999999</c:v>
                </c:pt>
                <c:pt idx="42">
                  <c:v>7933.4669999999996</c:v>
                </c:pt>
                <c:pt idx="43">
                  <c:v>8313</c:v>
                </c:pt>
                <c:pt idx="44">
                  <c:v>8232.56</c:v>
                </c:pt>
                <c:pt idx="45">
                  <c:v>7684.9390000000003</c:v>
                </c:pt>
                <c:pt idx="46">
                  <c:v>7990.1390000000001</c:v>
                </c:pt>
                <c:pt idx="47">
                  <c:v>7953.96</c:v>
                </c:pt>
                <c:pt idx="48">
                  <c:v>8462.0920000000006</c:v>
                </c:pt>
                <c:pt idx="49">
                  <c:v>8039.1369999999997</c:v>
                </c:pt>
                <c:pt idx="50">
                  <c:v>8144.5879999999997</c:v>
                </c:pt>
                <c:pt idx="51">
                  <c:v>7895.518</c:v>
                </c:pt>
                <c:pt idx="52">
                  <c:v>8101.4390000000003</c:v>
                </c:pt>
                <c:pt idx="53">
                  <c:v>8187.3010000000004</c:v>
                </c:pt>
                <c:pt idx="54">
                  <c:v>8509.6769999999997</c:v>
                </c:pt>
                <c:pt idx="55">
                  <c:v>8126.7030000000004</c:v>
                </c:pt>
                <c:pt idx="56">
                  <c:v>8281.2270000000008</c:v>
                </c:pt>
                <c:pt idx="57">
                  <c:v>8122.8270000000002</c:v>
                </c:pt>
                <c:pt idx="58">
                  <c:v>8082.6909999999998</c:v>
                </c:pt>
                <c:pt idx="59">
                  <c:v>7798.2139999999999</c:v>
                </c:pt>
                <c:pt idx="60">
                  <c:v>8034.9409999999998</c:v>
                </c:pt>
                <c:pt idx="61">
                  <c:v>7947.1260000000002</c:v>
                </c:pt>
                <c:pt idx="62">
                  <c:v>7644.0609999999997</c:v>
                </c:pt>
                <c:pt idx="63">
                  <c:v>7413.6719999999996</c:v>
                </c:pt>
                <c:pt idx="64">
                  <c:v>7257.8940000000002</c:v>
                </c:pt>
                <c:pt idx="65">
                  <c:v>7132.3620000000001</c:v>
                </c:pt>
                <c:pt idx="66">
                  <c:v>7113.442</c:v>
                </c:pt>
                <c:pt idx="67">
                  <c:v>7004.3149999999996</c:v>
                </c:pt>
                <c:pt idx="68">
                  <c:v>7227.3890000000001</c:v>
                </c:pt>
                <c:pt idx="69">
                  <c:v>6923.7079999999996</c:v>
                </c:pt>
                <c:pt idx="70">
                  <c:v>6945.7139999999999</c:v>
                </c:pt>
                <c:pt idx="71">
                  <c:v>6862.5429999999997</c:v>
                </c:pt>
                <c:pt idx="72">
                  <c:v>7083.857</c:v>
                </c:pt>
                <c:pt idx="73">
                  <c:v>7522.6310000000003</c:v>
                </c:pt>
                <c:pt idx="74">
                  <c:v>7665.5349999999999</c:v>
                </c:pt>
                <c:pt idx="75">
                  <c:v>7596.5950000000003</c:v>
                </c:pt>
                <c:pt idx="76">
                  <c:v>7911.7089999999998</c:v>
                </c:pt>
                <c:pt idx="77">
                  <c:v>7963.1959999999999</c:v>
                </c:pt>
                <c:pt idx="78">
                  <c:v>8025.1360000000004</c:v>
                </c:pt>
                <c:pt idx="79">
                  <c:v>7959.1589999999997</c:v>
                </c:pt>
                <c:pt idx="80">
                  <c:v>8005.8419999999996</c:v>
                </c:pt>
                <c:pt idx="81">
                  <c:v>8100.2219999999998</c:v>
                </c:pt>
                <c:pt idx="82">
                  <c:v>8034.89</c:v>
                </c:pt>
                <c:pt idx="83">
                  <c:v>8064.8639999999996</c:v>
                </c:pt>
                <c:pt idx="84">
                  <c:v>8062.8440000000001</c:v>
                </c:pt>
                <c:pt idx="85">
                  <c:v>8201.0349999999999</c:v>
                </c:pt>
                <c:pt idx="86">
                  <c:v>8369.3029999999999</c:v>
                </c:pt>
                <c:pt idx="87">
                  <c:v>7985.232</c:v>
                </c:pt>
                <c:pt idx="88">
                  <c:v>8956.4210000000003</c:v>
                </c:pt>
                <c:pt idx="89">
                  <c:v>8752.0120000000006</c:v>
                </c:pt>
                <c:pt idx="90">
                  <c:v>8707.7479999999996</c:v>
                </c:pt>
                <c:pt idx="91">
                  <c:v>8523.8050000000003</c:v>
                </c:pt>
                <c:pt idx="92">
                  <c:v>8601.2199999999993</c:v>
                </c:pt>
                <c:pt idx="93">
                  <c:v>8649.41</c:v>
                </c:pt>
                <c:pt idx="94">
                  <c:v>8840.5460000000003</c:v>
                </c:pt>
                <c:pt idx="95">
                  <c:v>8902.1239999999998</c:v>
                </c:pt>
                <c:pt idx="96">
                  <c:v>9263.3379999999997</c:v>
                </c:pt>
                <c:pt idx="97">
                  <c:v>9516.5400000000009</c:v>
                </c:pt>
              </c:numCache>
            </c:numRef>
          </c:val>
          <c:extLst>
            <c:ext xmlns:c16="http://schemas.microsoft.com/office/drawing/2014/chart" uri="{C3380CC4-5D6E-409C-BE32-E72D297353CC}">
              <c16:uniqueId val="{00000000-BFBE-43EE-AC36-B92802DFFB60}"/>
            </c:ext>
          </c:extLst>
        </c:ser>
        <c:dLbls>
          <c:showLegendKey val="0"/>
          <c:showVal val="0"/>
          <c:showCatName val="0"/>
          <c:showSerName val="0"/>
          <c:showPercent val="0"/>
          <c:showBubbleSize val="0"/>
        </c:dLbls>
        <c:gapWidth val="0"/>
        <c:axId val="207083688"/>
        <c:axId val="1"/>
      </c:barChart>
      <c:lineChart>
        <c:grouping val="standard"/>
        <c:varyColors val="0"/>
        <c:ser>
          <c:idx val="1"/>
          <c:order val="1"/>
          <c:tx>
            <c:strRef>
              <c:f>Sheet1!$C$1</c:f>
              <c:strCache>
                <c:ptCount val="1"/>
                <c:pt idx="0">
                  <c:v>% of GDP</c:v>
                </c:pt>
              </c:strCache>
            </c:strRef>
          </c:tx>
          <c:spPr>
            <a:ln w="38030">
              <a:solidFill>
                <a:srgbClr val="000080"/>
              </a:solidFill>
              <a:prstDash val="solid"/>
            </a:ln>
          </c:spPr>
          <c:marker>
            <c:symbol val="none"/>
          </c:marker>
          <c:cat>
            <c:strRef>
              <c:f>Sheet1!$A$2:$A$99</c:f>
              <c:strCache>
                <c:ptCount val="97"/>
                <c:pt idx="0">
                  <c:v>1998</c:v>
                </c:pt>
                <c:pt idx="4">
                  <c:v>1999</c:v>
                </c:pt>
                <c:pt idx="8">
                  <c:v>2000</c:v>
                </c:pt>
                <c:pt idx="12">
                  <c:v>2001</c:v>
                </c:pt>
                <c:pt idx="16">
                  <c:v>2002</c:v>
                </c:pt>
                <c:pt idx="20">
                  <c:v>2003</c:v>
                </c:pt>
                <c:pt idx="24">
                  <c:v>2004</c:v>
                </c:pt>
                <c:pt idx="28">
                  <c:v>2005</c:v>
                </c:pt>
                <c:pt idx="32">
                  <c:v>2006</c:v>
                </c:pt>
                <c:pt idx="36">
                  <c:v>2007</c:v>
                </c:pt>
                <c:pt idx="40">
                  <c:v>2008</c:v>
                </c:pt>
                <c:pt idx="44">
                  <c:v>2009</c:v>
                </c:pt>
                <c:pt idx="48">
                  <c:v>2010</c:v>
                </c:pt>
                <c:pt idx="52">
                  <c:v>2011</c:v>
                </c:pt>
                <c:pt idx="56">
                  <c:v>2012</c:v>
                </c:pt>
                <c:pt idx="60">
                  <c:v>2013</c:v>
                </c:pt>
                <c:pt idx="64">
                  <c:v>2014</c:v>
                </c:pt>
                <c:pt idx="68">
                  <c:v>2015</c:v>
                </c:pt>
                <c:pt idx="72">
                  <c:v>2016</c:v>
                </c:pt>
                <c:pt idx="76">
                  <c:v>2017</c:v>
                </c:pt>
                <c:pt idx="80">
                  <c:v>2018</c:v>
                </c:pt>
                <c:pt idx="84">
                  <c:v>2019</c:v>
                </c:pt>
                <c:pt idx="88">
                  <c:v>2020</c:v>
                </c:pt>
                <c:pt idx="92">
                  <c:v>2021</c:v>
                </c:pt>
                <c:pt idx="96">
                  <c:v>2022</c:v>
                </c:pt>
              </c:strCache>
            </c:strRef>
          </c:cat>
          <c:val>
            <c:numRef>
              <c:f>Sheet1!$C$2:$C$99</c:f>
              <c:numCache>
                <c:formatCode>General</c:formatCode>
                <c:ptCount val="98"/>
                <c:pt idx="0">
                  <c:v>273.464</c:v>
                </c:pt>
                <c:pt idx="1">
                  <c:v>279.685</c:v>
                </c:pt>
                <c:pt idx="2">
                  <c:v>287.613</c:v>
                </c:pt>
                <c:pt idx="3">
                  <c:v>274.48200000000003</c:v>
                </c:pt>
                <c:pt idx="4">
                  <c:v>277.69</c:v>
                </c:pt>
                <c:pt idx="5">
                  <c:v>275.39499999999998</c:v>
                </c:pt>
                <c:pt idx="6">
                  <c:v>275.01900000000001</c:v>
                </c:pt>
                <c:pt idx="7">
                  <c:v>269.49400000000003</c:v>
                </c:pt>
                <c:pt idx="8">
                  <c:v>288.35899999999998</c:v>
                </c:pt>
                <c:pt idx="9">
                  <c:v>299.48200000000003</c:v>
                </c:pt>
                <c:pt idx="10">
                  <c:v>301.57600000000002</c:v>
                </c:pt>
                <c:pt idx="11">
                  <c:v>300.714</c:v>
                </c:pt>
                <c:pt idx="12">
                  <c:v>328.262</c:v>
                </c:pt>
                <c:pt idx="13">
                  <c:v>323.67</c:v>
                </c:pt>
                <c:pt idx="14">
                  <c:v>323.52300000000002</c:v>
                </c:pt>
                <c:pt idx="15">
                  <c:v>315.26400000000001</c:v>
                </c:pt>
                <c:pt idx="16">
                  <c:v>322.17500000000001</c:v>
                </c:pt>
                <c:pt idx="17">
                  <c:v>325.97699999999998</c:v>
                </c:pt>
                <c:pt idx="18">
                  <c:v>324.69200000000001</c:v>
                </c:pt>
                <c:pt idx="19">
                  <c:v>321.87599999999998</c:v>
                </c:pt>
                <c:pt idx="20">
                  <c:v>351.75599999999997</c:v>
                </c:pt>
                <c:pt idx="21">
                  <c:v>362.11900000000003</c:v>
                </c:pt>
                <c:pt idx="22">
                  <c:v>364.14800000000002</c:v>
                </c:pt>
                <c:pt idx="23">
                  <c:v>347.55399999999997</c:v>
                </c:pt>
                <c:pt idx="24">
                  <c:v>370.1</c:v>
                </c:pt>
                <c:pt idx="25">
                  <c:v>369.495</c:v>
                </c:pt>
                <c:pt idx="26">
                  <c:v>378.98099999999999</c:v>
                </c:pt>
                <c:pt idx="27">
                  <c:v>374.52800000000002</c:v>
                </c:pt>
                <c:pt idx="28">
                  <c:v>397.346</c:v>
                </c:pt>
                <c:pt idx="29">
                  <c:v>408.27100000000002</c:v>
                </c:pt>
                <c:pt idx="30">
                  <c:v>414.726</c:v>
                </c:pt>
                <c:pt idx="31">
                  <c:v>413.87700000000001</c:v>
                </c:pt>
                <c:pt idx="32">
                  <c:v>447.92399999999998</c:v>
                </c:pt>
                <c:pt idx="33">
                  <c:v>442.29700000000003</c:v>
                </c:pt>
                <c:pt idx="34">
                  <c:v>447.20299999999997</c:v>
                </c:pt>
                <c:pt idx="35">
                  <c:v>444.68099999999998</c:v>
                </c:pt>
                <c:pt idx="36">
                  <c:v>484.07499999999999</c:v>
                </c:pt>
                <c:pt idx="37">
                  <c:v>486.666</c:v>
                </c:pt>
                <c:pt idx="38">
                  <c:v>472.03399999999999</c:v>
                </c:pt>
                <c:pt idx="39">
                  <c:v>470.82499999999999</c:v>
                </c:pt>
                <c:pt idx="40">
                  <c:v>501.77600000000001</c:v>
                </c:pt>
                <c:pt idx="41">
                  <c:v>469.02699999999999</c:v>
                </c:pt>
                <c:pt idx="42">
                  <c:v>496.59899999999999</c:v>
                </c:pt>
                <c:pt idx="43">
                  <c:v>519.96799999999996</c:v>
                </c:pt>
                <c:pt idx="44">
                  <c:v>519.73</c:v>
                </c:pt>
                <c:pt idx="45">
                  <c:v>489.084</c:v>
                </c:pt>
                <c:pt idx="46">
                  <c:v>511.08499999999998</c:v>
                </c:pt>
                <c:pt idx="47">
                  <c:v>510.81200000000001</c:v>
                </c:pt>
                <c:pt idx="48">
                  <c:v>540.32000000000005</c:v>
                </c:pt>
                <c:pt idx="49">
                  <c:v>508.65199999999999</c:v>
                </c:pt>
                <c:pt idx="50">
                  <c:v>510.92899999999997</c:v>
                </c:pt>
                <c:pt idx="51">
                  <c:v>489.73700000000002</c:v>
                </c:pt>
                <c:pt idx="52">
                  <c:v>496.13600000000002</c:v>
                </c:pt>
                <c:pt idx="53">
                  <c:v>498.16300000000001</c:v>
                </c:pt>
                <c:pt idx="54">
                  <c:v>513.96900000000005</c:v>
                </c:pt>
                <c:pt idx="55">
                  <c:v>486.77199999999999</c:v>
                </c:pt>
                <c:pt idx="56">
                  <c:v>493.87700000000001</c:v>
                </c:pt>
                <c:pt idx="57">
                  <c:v>480.81700000000001</c:v>
                </c:pt>
                <c:pt idx="58">
                  <c:v>473.58699999999999</c:v>
                </c:pt>
                <c:pt idx="59">
                  <c:v>453.02800000000002</c:v>
                </c:pt>
                <c:pt idx="60">
                  <c:v>462.74200000000002</c:v>
                </c:pt>
                <c:pt idx="61">
                  <c:v>453.09699999999998</c:v>
                </c:pt>
                <c:pt idx="62">
                  <c:v>431.34800000000001</c:v>
                </c:pt>
                <c:pt idx="63">
                  <c:v>413.44299999999998</c:v>
                </c:pt>
                <c:pt idx="64">
                  <c:v>399.53399999999999</c:v>
                </c:pt>
                <c:pt idx="65">
                  <c:v>387.71600000000001</c:v>
                </c:pt>
                <c:pt idx="66">
                  <c:v>382.53399999999999</c:v>
                </c:pt>
                <c:pt idx="67">
                  <c:v>373.33199999999999</c:v>
                </c:pt>
                <c:pt idx="68">
                  <c:v>382.10599999999999</c:v>
                </c:pt>
                <c:pt idx="69">
                  <c:v>362.64</c:v>
                </c:pt>
                <c:pt idx="70">
                  <c:v>361.42599999999999</c:v>
                </c:pt>
                <c:pt idx="71">
                  <c:v>354.61500000000001</c:v>
                </c:pt>
                <c:pt idx="72">
                  <c:v>362.96100000000001</c:v>
                </c:pt>
                <c:pt idx="73">
                  <c:v>381.94600000000003</c:v>
                </c:pt>
                <c:pt idx="74">
                  <c:v>385.07100000000003</c:v>
                </c:pt>
                <c:pt idx="75">
                  <c:v>376.69600000000003</c:v>
                </c:pt>
                <c:pt idx="76">
                  <c:v>387.70499999999998</c:v>
                </c:pt>
                <c:pt idx="77">
                  <c:v>386.66699999999997</c:v>
                </c:pt>
                <c:pt idx="78">
                  <c:v>386.21199999999999</c:v>
                </c:pt>
                <c:pt idx="79">
                  <c:v>379.524</c:v>
                </c:pt>
                <c:pt idx="80">
                  <c:v>378.59199999999998</c:v>
                </c:pt>
                <c:pt idx="81">
                  <c:v>379.49700000000001</c:v>
                </c:pt>
                <c:pt idx="82">
                  <c:v>372.63299999999998</c:v>
                </c:pt>
                <c:pt idx="83">
                  <c:v>370.904</c:v>
                </c:pt>
                <c:pt idx="84">
                  <c:v>367.20299999999997</c:v>
                </c:pt>
                <c:pt idx="85">
                  <c:v>370.03</c:v>
                </c:pt>
                <c:pt idx="86">
                  <c:v>373.971</c:v>
                </c:pt>
                <c:pt idx="87">
                  <c:v>354.06799999999998</c:v>
                </c:pt>
                <c:pt idx="88">
                  <c:v>396.40100000000001</c:v>
                </c:pt>
                <c:pt idx="89">
                  <c:v>400.36200000000002</c:v>
                </c:pt>
                <c:pt idx="90">
                  <c:v>402.49400000000003</c:v>
                </c:pt>
                <c:pt idx="91">
                  <c:v>396.38600000000002</c:v>
                </c:pt>
                <c:pt idx="92">
                  <c:v>401.065</c:v>
                </c:pt>
                <c:pt idx="93">
                  <c:v>387.53199999999998</c:v>
                </c:pt>
                <c:pt idx="94">
                  <c:v>389.37700000000001</c:v>
                </c:pt>
                <c:pt idx="95">
                  <c:v>384.2</c:v>
                </c:pt>
                <c:pt idx="96">
                  <c:v>388.80700000000002</c:v>
                </c:pt>
                <c:pt idx="97">
                  <c:v>394.96199999999999</c:v>
                </c:pt>
              </c:numCache>
            </c:numRef>
          </c:val>
          <c:smooth val="0"/>
          <c:extLst>
            <c:ext xmlns:c16="http://schemas.microsoft.com/office/drawing/2014/chart" uri="{C3380CC4-5D6E-409C-BE32-E72D297353CC}">
              <c16:uniqueId val="{00000001-BFBE-43EE-AC36-B92802DFFB60}"/>
            </c:ext>
          </c:extLst>
        </c:ser>
        <c:dLbls>
          <c:showLegendKey val="0"/>
          <c:showVal val="0"/>
          <c:showCatName val="0"/>
          <c:showSerName val="0"/>
          <c:showPercent val="0"/>
          <c:showBubbleSize val="0"/>
        </c:dLbls>
        <c:marker val="1"/>
        <c:smooth val="0"/>
        <c:axId val="3"/>
        <c:axId val="4"/>
      </c:lineChart>
      <c:dateAx>
        <c:axId val="207083688"/>
        <c:scaling>
          <c:orientation val="minMax"/>
        </c:scaling>
        <c:delete val="0"/>
        <c:axPos val="b"/>
        <c:numFmt formatCode="yyyy" sourceLinked="0"/>
        <c:majorTickMark val="out"/>
        <c:minorTickMark val="none"/>
        <c:tickLblPos val="nextTo"/>
        <c:spPr>
          <a:ln w="15875">
            <a:solidFill>
              <a:schemeClr val="tx1"/>
            </a:solidFill>
            <a:prstDash val="solid"/>
          </a:ln>
        </c:spPr>
        <c:txPr>
          <a:bodyPr rot="0" vert="horz"/>
          <a:lstStyle/>
          <a:p>
            <a:pPr>
              <a:defRPr sz="1697" b="0" i="0" u="none" strike="noStrike" baseline="0">
                <a:solidFill>
                  <a:schemeClr val="tx1"/>
                </a:solidFill>
                <a:latin typeface="Arial"/>
                <a:ea typeface="Arial"/>
                <a:cs typeface="Arial"/>
              </a:defRPr>
            </a:pPr>
            <a:endParaRPr lang="en-US"/>
          </a:p>
        </c:txPr>
        <c:crossAx val="1"/>
        <c:crosses val="autoZero"/>
        <c:auto val="1"/>
        <c:lblOffset val="100"/>
        <c:baseTimeUnit val="days"/>
        <c:majorUnit val="8"/>
        <c:majorTimeUnit val="months"/>
        <c:minorUnit val="4"/>
        <c:minorTimeUnit val="days"/>
      </c:dateAx>
      <c:valAx>
        <c:axId val="1"/>
        <c:scaling>
          <c:orientation val="minMax"/>
          <c:max val="10000"/>
        </c:scaling>
        <c:delete val="0"/>
        <c:axPos val="l"/>
        <c:title>
          <c:tx>
            <c:rich>
              <a:bodyPr/>
              <a:lstStyle/>
              <a:p>
                <a:pPr>
                  <a:defRPr sz="1695" b="0" i="0" u="none" strike="noStrike" baseline="0">
                    <a:solidFill>
                      <a:srgbClr val="C85100"/>
                    </a:solidFill>
                    <a:latin typeface="Arial"/>
                    <a:ea typeface="Arial"/>
                    <a:cs typeface="Arial"/>
                  </a:defRPr>
                </a:pPr>
                <a:r>
                  <a:rPr lang="en-GB"/>
                  <a:t>£ billions</a:t>
                </a:r>
              </a:p>
            </c:rich>
          </c:tx>
          <c:layout>
            <c:manualLayout>
              <c:xMode val="edge"/>
              <c:yMode val="edge"/>
              <c:x val="3.0356627296587925E-2"/>
              <c:y val="0.38479791230224669"/>
            </c:manualLayout>
          </c:layout>
          <c:overlay val="0"/>
          <c:spPr>
            <a:noFill/>
            <a:ln w="25353">
              <a:noFill/>
            </a:ln>
          </c:spPr>
        </c:title>
        <c:numFmt formatCode="0" sourceLinked="0"/>
        <c:majorTickMark val="out"/>
        <c:minorTickMark val="none"/>
        <c:tickLblPos val="nextTo"/>
        <c:spPr>
          <a:ln w="15875">
            <a:solidFill>
              <a:srgbClr val="C85100"/>
            </a:solidFill>
            <a:prstDash val="solid"/>
          </a:ln>
        </c:spPr>
        <c:txPr>
          <a:bodyPr rot="0" vert="horz"/>
          <a:lstStyle/>
          <a:p>
            <a:pPr>
              <a:defRPr sz="1695" b="0" i="0" u="none" strike="noStrike" baseline="0">
                <a:solidFill>
                  <a:srgbClr val="C85100"/>
                </a:solidFill>
                <a:latin typeface="Arial"/>
                <a:ea typeface="Arial"/>
                <a:cs typeface="Arial"/>
              </a:defRPr>
            </a:pPr>
            <a:endParaRPr lang="en-US"/>
          </a:p>
        </c:txPr>
        <c:crossAx val="207083688"/>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1"/>
        <c:lblAlgn val="ctr"/>
        <c:lblOffset val="100"/>
        <c:noMultiLvlLbl val="1"/>
      </c:catAx>
      <c:valAx>
        <c:axId val="4"/>
        <c:scaling>
          <c:orientation val="minMax"/>
          <c:min val="0"/>
        </c:scaling>
        <c:delete val="0"/>
        <c:axPos val="r"/>
        <c:title>
          <c:tx>
            <c:rich>
              <a:bodyPr rot="5400000" vert="horz"/>
              <a:lstStyle/>
              <a:p>
                <a:pPr algn="ctr">
                  <a:defRPr sz="1695" b="0" i="0" u="none" strike="noStrike" baseline="0">
                    <a:solidFill>
                      <a:srgbClr val="000080"/>
                    </a:solidFill>
                    <a:latin typeface="Arial"/>
                    <a:ea typeface="Arial"/>
                    <a:cs typeface="Arial"/>
                  </a:defRPr>
                </a:pPr>
                <a:r>
                  <a:rPr lang="en-GB"/>
                  <a:t>% of GDP</a:t>
                </a:r>
              </a:p>
            </c:rich>
          </c:tx>
          <c:layout>
            <c:manualLayout>
              <c:xMode val="edge"/>
              <c:yMode val="edge"/>
              <c:x val="0.94822003039093794"/>
              <c:y val="0.3687820981140244"/>
            </c:manualLayout>
          </c:layout>
          <c:overlay val="0"/>
          <c:spPr>
            <a:noFill/>
            <a:ln w="25353">
              <a:noFill/>
            </a:ln>
          </c:spPr>
        </c:title>
        <c:numFmt formatCode="General" sourceLinked="1"/>
        <c:majorTickMark val="out"/>
        <c:minorTickMark val="none"/>
        <c:tickLblPos val="nextTo"/>
        <c:spPr>
          <a:ln w="15875">
            <a:solidFill>
              <a:schemeClr val="tx1"/>
            </a:solidFill>
            <a:prstDash val="solid"/>
          </a:ln>
        </c:spPr>
        <c:txPr>
          <a:bodyPr rot="0" vert="horz"/>
          <a:lstStyle/>
          <a:p>
            <a:pPr>
              <a:defRPr sz="1695" b="0" i="0" u="none" strike="noStrike" baseline="0">
                <a:solidFill>
                  <a:srgbClr val="000080"/>
                </a:solidFill>
                <a:latin typeface="Arial"/>
                <a:ea typeface="Arial"/>
                <a:cs typeface="Arial"/>
              </a:defRPr>
            </a:pPr>
            <a:endParaRPr lang="en-US"/>
          </a:p>
        </c:txPr>
        <c:crossAx val="3"/>
        <c:crosses val="max"/>
        <c:crossBetween val="between"/>
        <c:majorUnit val="50"/>
      </c:valAx>
      <c:spPr>
        <a:noFill/>
        <a:ln w="25400">
          <a:noFill/>
        </a:ln>
      </c:spPr>
    </c:plotArea>
    <c:legend>
      <c:legendPos val="r"/>
      <c:legendEntry>
        <c:idx val="0"/>
        <c:txPr>
          <a:bodyPr/>
          <a:lstStyle/>
          <a:p>
            <a:pPr>
              <a:defRPr sz="2400" b="0" i="0" u="none" strike="noStrike" baseline="0">
                <a:solidFill>
                  <a:srgbClr val="C85100"/>
                </a:solidFill>
                <a:latin typeface="Arial"/>
                <a:ea typeface="Arial"/>
                <a:cs typeface="Arial"/>
              </a:defRPr>
            </a:pPr>
            <a:endParaRPr lang="en-US"/>
          </a:p>
        </c:txPr>
      </c:legendEntry>
      <c:legendEntry>
        <c:idx val="1"/>
        <c:txPr>
          <a:bodyPr/>
          <a:lstStyle/>
          <a:p>
            <a:pPr>
              <a:defRPr sz="2400" b="0" i="0" u="none" strike="noStrike" baseline="0">
                <a:solidFill>
                  <a:srgbClr val="000080"/>
                </a:solidFill>
                <a:latin typeface="Arial"/>
                <a:ea typeface="Arial"/>
                <a:cs typeface="Arial"/>
              </a:defRPr>
            </a:pPr>
            <a:endParaRPr lang="en-US"/>
          </a:p>
        </c:txPr>
      </c:legendEntry>
      <c:layout>
        <c:manualLayout>
          <c:xMode val="edge"/>
          <c:yMode val="edge"/>
          <c:x val="0.16940067257217847"/>
          <c:y val="9.6633135880950655E-2"/>
          <c:w val="0.19535392060367454"/>
          <c:h val="0.16370548291555298"/>
        </c:manualLayout>
      </c:layout>
      <c:overlay val="0"/>
      <c:spPr>
        <a:solidFill>
          <a:srgbClr val="FFFFDD"/>
        </a:solidFill>
        <a:ln w="12677">
          <a:solidFill>
            <a:srgbClr val="993366"/>
          </a:solidFill>
          <a:prstDash val="solid"/>
        </a:ln>
      </c:spPr>
      <c:txPr>
        <a:bodyPr/>
        <a:lstStyle/>
        <a:p>
          <a:pPr>
            <a:defRPr sz="2400" b="0" i="0" u="none" strike="noStrike" baseline="0">
              <a:solidFill>
                <a:schemeClr val="tx1"/>
              </a:solidFill>
              <a:latin typeface="Arial"/>
              <a:ea typeface="Arial"/>
              <a:cs typeface="Arial"/>
            </a:defRPr>
          </a:pPr>
          <a:endParaRPr lang="en-US"/>
        </a:p>
      </c:txPr>
    </c:legend>
    <c:plotVisOnly val="1"/>
    <c:dispBlanksAs val="span"/>
    <c:showDLblsOverMax val="0"/>
  </c:chart>
  <c:spPr>
    <a:noFill/>
    <a:ln>
      <a:noFill/>
    </a:ln>
  </c:spPr>
  <c:txPr>
    <a:bodyPr/>
    <a:lstStyle/>
    <a:p>
      <a:pPr>
        <a:defRPr sz="1797" b="1" i="0" u="none" strike="noStrike" baseline="0">
          <a:solidFill>
            <a:schemeClr val="tx1"/>
          </a:solidFill>
          <a:latin typeface="Arial"/>
          <a:ea typeface="Arial"/>
          <a:cs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910569105691054E-2"/>
          <c:y val="4.5871559633027525E-2"/>
          <c:w val="0.90360046457607435"/>
          <c:h val="0.86084652151741203"/>
        </c:manualLayout>
      </c:layout>
      <c:lineChart>
        <c:grouping val="standard"/>
        <c:varyColors val="0"/>
        <c:ser>
          <c:idx val="2"/>
          <c:order val="2"/>
          <c:tx>
            <c:strRef>
              <c:f>Sheet1!$A$4</c:f>
              <c:strCache>
                <c:ptCount val="1"/>
                <c:pt idx="0">
                  <c:v>UK</c:v>
                </c:pt>
              </c:strCache>
            </c:strRef>
          </c:tx>
          <c:spPr>
            <a:ln w="31750">
              <a:solidFill>
                <a:srgbClr val="FF0000"/>
              </a:solidFill>
              <a:prstDash val="solid"/>
            </a:ln>
          </c:spPr>
          <c:marker>
            <c:symbol val="none"/>
          </c:marker>
          <c:cat>
            <c:numRef>
              <c:f>Sheet1!$B$1:$BE$1</c:f>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extLst/>
            </c:numRef>
          </c:cat>
          <c:val>
            <c:numRef>
              <c:f>Sheet1!$B$4:$BE$4</c:f>
              <c:numCache>
                <c:formatCode>0.0</c:formatCode>
                <c:ptCount val="28"/>
                <c:pt idx="0">
                  <c:v>3.1539999999999999</c:v>
                </c:pt>
                <c:pt idx="1">
                  <c:v>2.99</c:v>
                </c:pt>
                <c:pt idx="2">
                  <c:v>3.6720000000000002</c:v>
                </c:pt>
                <c:pt idx="3">
                  <c:v>2.073</c:v>
                </c:pt>
                <c:pt idx="4">
                  <c:v>2.1230000000000002</c:v>
                </c:pt>
                <c:pt idx="5">
                  <c:v>3.03</c:v>
                </c:pt>
                <c:pt idx="6">
                  <c:v>2.3559999999999999</c:v>
                </c:pt>
                <c:pt idx="7">
                  <c:v>2.593</c:v>
                </c:pt>
                <c:pt idx="8">
                  <c:v>2.5840000000000001</c:v>
                </c:pt>
                <c:pt idx="9">
                  <c:v>2.2690000000000001</c:v>
                </c:pt>
                <c:pt idx="10">
                  <c:v>-0.24</c:v>
                </c:pt>
                <c:pt idx="11">
                  <c:v>-4.2469999999999999</c:v>
                </c:pt>
                <c:pt idx="12">
                  <c:v>2.1309999999999998</c:v>
                </c:pt>
                <c:pt idx="13">
                  <c:v>1.458</c:v>
                </c:pt>
                <c:pt idx="14">
                  <c:v>1.47</c:v>
                </c:pt>
                <c:pt idx="15">
                  <c:v>1.89</c:v>
                </c:pt>
                <c:pt idx="16">
                  <c:v>2.9910000000000001</c:v>
                </c:pt>
                <c:pt idx="17">
                  <c:v>2.6230000000000002</c:v>
                </c:pt>
                <c:pt idx="18">
                  <c:v>2.2629999999999999</c:v>
                </c:pt>
                <c:pt idx="19">
                  <c:v>2.1339999999999999</c:v>
                </c:pt>
                <c:pt idx="20">
                  <c:v>1.651</c:v>
                </c:pt>
                <c:pt idx="21">
                  <c:v>1.6719999999999999</c:v>
                </c:pt>
                <c:pt idx="22">
                  <c:v>-9.27</c:v>
                </c:pt>
                <c:pt idx="23">
                  <c:v>7.4409999999999998</c:v>
                </c:pt>
                <c:pt idx="24">
                  <c:v>3.605</c:v>
                </c:pt>
                <c:pt idx="25">
                  <c:v>0.315</c:v>
                </c:pt>
                <c:pt idx="26">
                  <c:v>0.56200000000000006</c:v>
                </c:pt>
                <c:pt idx="27">
                  <c:v>2.3460000000000001</c:v>
                </c:pt>
              </c:numCache>
              <c:extLst/>
            </c:numRef>
          </c:val>
          <c:smooth val="0"/>
          <c:extLst>
            <c:ext xmlns:c16="http://schemas.microsoft.com/office/drawing/2014/chart" uri="{C3380CC4-5D6E-409C-BE32-E72D297353CC}">
              <c16:uniqueId val="{00000002-2AAC-432D-B288-F3AE9BAA3CDE}"/>
            </c:ext>
          </c:extLst>
        </c:ser>
        <c:ser>
          <c:idx val="3"/>
          <c:order val="6"/>
          <c:tx>
            <c:strRef>
              <c:f>Sheet1!$A$8</c:f>
              <c:strCache>
                <c:ptCount val="1"/>
                <c:pt idx="0">
                  <c:v>Zero</c:v>
                </c:pt>
              </c:strCache>
            </c:strRef>
          </c:tx>
          <c:spPr>
            <a:ln w="12700"/>
          </c:spPr>
          <c:marker>
            <c:symbol val="none"/>
          </c:marker>
          <c:cat>
            <c:numRef>
              <c:f>Sheet1!$B$1:$BE$1</c:f>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extLst/>
            </c:numRef>
          </c:cat>
          <c:val>
            <c:numRef>
              <c:f>Sheet1!$B$8:$BE$8</c:f>
              <c:numCache>
                <c:formatCode>General</c:formatCode>
                <c:ptCount val="2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numCache>
              <c:extLst/>
            </c:numRef>
          </c:val>
          <c:smooth val="0"/>
          <c:extLst>
            <c:ext xmlns:c16="http://schemas.microsoft.com/office/drawing/2014/chart" uri="{C3380CC4-5D6E-409C-BE32-E72D297353CC}">
              <c16:uniqueId val="{00000006-2AAC-432D-B288-F3AE9BAA3CDE}"/>
            </c:ext>
          </c:extLst>
        </c:ser>
        <c:dLbls>
          <c:showLegendKey val="0"/>
          <c:showVal val="0"/>
          <c:showCatName val="0"/>
          <c:showSerName val="0"/>
          <c:showPercent val="0"/>
          <c:showBubbleSize val="0"/>
        </c:dLbls>
        <c:smooth val="0"/>
        <c:axId val="203712856"/>
        <c:axId val="1"/>
        <c:extLst>
          <c:ext xmlns:c15="http://schemas.microsoft.com/office/drawing/2012/chart" uri="{02D57815-91ED-43cb-92C2-25804820EDAC}">
            <c15:filteredLineSeries>
              <c15:ser>
                <c:idx val="1"/>
                <c:order val="0"/>
                <c:tx>
                  <c:strRef>
                    <c:extLst>
                      <c:ext uri="{02D57815-91ED-43cb-92C2-25804820EDAC}">
                        <c15:formulaRef>
                          <c15:sqref>Sheet1!$A$2</c15:sqref>
                        </c15:formulaRef>
                      </c:ext>
                    </c:extLst>
                    <c:strCache>
                      <c:ptCount val="1"/>
                      <c:pt idx="0">
                        <c:v>Eurozone</c:v>
                      </c:pt>
                    </c:strCache>
                  </c:strRef>
                </c:tx>
                <c:spPr>
                  <a:ln w="31750">
                    <a:solidFill>
                      <a:schemeClr val="tx1"/>
                    </a:solidFill>
                    <a:prstDash val="solid"/>
                  </a:ln>
                </c:spPr>
                <c:marker>
                  <c:symbol val="none"/>
                </c:marker>
                <c:cat>
                  <c:numRef>
                    <c:extLst>
                      <c:ext uri="{02D57815-91ED-43cb-92C2-25804820EDAC}">
                        <c15:formulaRef>
                          <c15:sqref>Sheet1!$B$1:$BE$1</c15:sqref>
                        </c15:formulaRef>
                      </c:ext>
                    </c:extLst>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numRef>
                </c:cat>
                <c:val>
                  <c:numRef>
                    <c:extLst>
                      <c:ext uri="{02D57815-91ED-43cb-92C2-25804820EDAC}">
                        <c15:formulaRef>
                          <c15:sqref>Sheet1!$B$2:$BE$2</c15:sqref>
                        </c15:formulaRef>
                      </c:ext>
                    </c:extLst>
                    <c:numCache>
                      <c:formatCode>0.0</c:formatCode>
                      <c:ptCount val="28"/>
                      <c:pt idx="0">
                        <c:v>2.9860000000000002</c:v>
                      </c:pt>
                      <c:pt idx="1">
                        <c:v>2.93</c:v>
                      </c:pt>
                      <c:pt idx="2">
                        <c:v>3.819</c:v>
                      </c:pt>
                      <c:pt idx="3">
                        <c:v>2.17</c:v>
                      </c:pt>
                      <c:pt idx="4">
                        <c:v>0.90700000000000003</c:v>
                      </c:pt>
                      <c:pt idx="5">
                        <c:v>0.64600000000000002</c:v>
                      </c:pt>
                      <c:pt idx="6">
                        <c:v>2.2770000000000001</c:v>
                      </c:pt>
                      <c:pt idx="7">
                        <c:v>1.6619999999999999</c:v>
                      </c:pt>
                      <c:pt idx="8">
                        <c:v>3.22</c:v>
                      </c:pt>
                      <c:pt idx="9">
                        <c:v>2.9870000000000001</c:v>
                      </c:pt>
                      <c:pt idx="10">
                        <c:v>0.41299999999999998</c:v>
                      </c:pt>
                      <c:pt idx="11">
                        <c:v>-4.4950000000000001</c:v>
                      </c:pt>
                      <c:pt idx="12">
                        <c:v>2.1360000000000001</c:v>
                      </c:pt>
                      <c:pt idx="13">
                        <c:v>1.6879999999999999</c:v>
                      </c:pt>
                      <c:pt idx="14">
                        <c:v>-0.875</c:v>
                      </c:pt>
                      <c:pt idx="15">
                        <c:v>-0.23300000000000001</c:v>
                      </c:pt>
                      <c:pt idx="16">
                        <c:v>1.39</c:v>
                      </c:pt>
                      <c:pt idx="17">
                        <c:v>2.036</c:v>
                      </c:pt>
                      <c:pt idx="18">
                        <c:v>1.8640000000000001</c:v>
                      </c:pt>
                      <c:pt idx="19">
                        <c:v>2.6160000000000001</c:v>
                      </c:pt>
                      <c:pt idx="20">
                        <c:v>1.7889999999999999</c:v>
                      </c:pt>
                      <c:pt idx="21">
                        <c:v>1.5920000000000001</c:v>
                      </c:pt>
                      <c:pt idx="22">
                        <c:v>-6.0860000000000003</c:v>
                      </c:pt>
                      <c:pt idx="23">
                        <c:v>5.2439999999999998</c:v>
                      </c:pt>
                      <c:pt idx="24">
                        <c:v>3.0579999999999998</c:v>
                      </c:pt>
                      <c:pt idx="25">
                        <c:v>0.501</c:v>
                      </c:pt>
                      <c:pt idx="26">
                        <c:v>1.788</c:v>
                      </c:pt>
                      <c:pt idx="27">
                        <c:v>1.9359999999999999</c:v>
                      </c:pt>
                    </c:numCache>
                  </c:numRef>
                </c:val>
                <c:smooth val="0"/>
                <c:extLst>
                  <c:ext xmlns:c16="http://schemas.microsoft.com/office/drawing/2014/chart" uri="{C3380CC4-5D6E-409C-BE32-E72D297353CC}">
                    <c16:uniqueId val="{00000000-2AAC-432D-B288-F3AE9BAA3CDE}"/>
                  </c:ext>
                </c:extLst>
              </c15:ser>
            </c15:filteredLineSeries>
            <c15:filteredLineSeries>
              <c15:ser>
                <c:idx val="4"/>
                <c:order val="1"/>
                <c:tx>
                  <c:strRef>
                    <c:extLst xmlns:c15="http://schemas.microsoft.com/office/drawing/2012/chart">
                      <c:ext xmlns:c15="http://schemas.microsoft.com/office/drawing/2012/chart" uri="{02D57815-91ED-43cb-92C2-25804820EDAC}">
                        <c15:formulaRef>
                          <c15:sqref>Sheet1!$A$3</c15:sqref>
                        </c15:formulaRef>
                      </c:ext>
                    </c:extLst>
                    <c:strCache>
                      <c:ptCount val="1"/>
                      <c:pt idx="0">
                        <c:v>Germany</c:v>
                      </c:pt>
                    </c:strCache>
                  </c:strRef>
                </c:tx>
                <c:spPr>
                  <a:ln w="31750">
                    <a:solidFill>
                      <a:srgbClr val="B68600"/>
                    </a:solidFill>
                    <a:prstDash val="solid"/>
                  </a:ln>
                </c:spPr>
                <c:marker>
                  <c:symbol val="none"/>
                </c:marker>
                <c:cat>
                  <c:numRef>
                    <c:extLst xmlns:c15="http://schemas.microsoft.com/office/drawing/2012/chart">
                      <c:ext xmlns:c15="http://schemas.microsoft.com/office/drawing/2012/chart" uri="{02D57815-91ED-43cb-92C2-25804820EDAC}">
                        <c15:formulaRef>
                          <c15:sqref>Sheet1!$B$1:$BE$1</c15:sqref>
                        </c15:formulaRef>
                      </c:ext>
                    </c:extLst>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numRef>
                </c:cat>
                <c:val>
                  <c:numRef>
                    <c:extLst xmlns:c15="http://schemas.microsoft.com/office/drawing/2012/chart">
                      <c:ext xmlns:c15="http://schemas.microsoft.com/office/drawing/2012/chart" uri="{02D57815-91ED-43cb-92C2-25804820EDAC}">
                        <c15:formulaRef>
                          <c15:sqref>Sheet1!$B$3:$BE$3</c15:sqref>
                        </c15:formulaRef>
                      </c:ext>
                    </c:extLst>
                    <c:numCache>
                      <c:formatCode>0.0</c:formatCode>
                      <c:ptCount val="28"/>
                      <c:pt idx="0">
                        <c:v>2.02</c:v>
                      </c:pt>
                      <c:pt idx="1">
                        <c:v>1.887</c:v>
                      </c:pt>
                      <c:pt idx="2">
                        <c:v>2.9039999999999999</c:v>
                      </c:pt>
                      <c:pt idx="3">
                        <c:v>1.6870000000000001</c:v>
                      </c:pt>
                      <c:pt idx="4">
                        <c:v>-0.20100000000000001</c:v>
                      </c:pt>
                      <c:pt idx="5">
                        <c:v>-0.70299999999999996</c:v>
                      </c:pt>
                      <c:pt idx="6">
                        <c:v>1.1839999999999999</c:v>
                      </c:pt>
                      <c:pt idx="7">
                        <c:v>0.72599999999999998</c:v>
                      </c:pt>
                      <c:pt idx="8">
                        <c:v>3.8140000000000001</c:v>
                      </c:pt>
                      <c:pt idx="9">
                        <c:v>2.9820000000000002</c:v>
                      </c:pt>
                      <c:pt idx="10">
                        <c:v>0.95899999999999996</c:v>
                      </c:pt>
                      <c:pt idx="11">
                        <c:v>-5.6959999999999997</c:v>
                      </c:pt>
                      <c:pt idx="12">
                        <c:v>4.1849999999999996</c:v>
                      </c:pt>
                      <c:pt idx="13">
                        <c:v>3.9140000000000001</c:v>
                      </c:pt>
                      <c:pt idx="14">
                        <c:v>0.42699999999999999</c:v>
                      </c:pt>
                      <c:pt idx="15">
                        <c:v>0.432</c:v>
                      </c:pt>
                      <c:pt idx="16">
                        <c:v>2.2170000000000001</c:v>
                      </c:pt>
                      <c:pt idx="17">
                        <c:v>1.4870000000000001</c:v>
                      </c:pt>
                      <c:pt idx="18">
                        <c:v>2.23</c:v>
                      </c:pt>
                      <c:pt idx="19">
                        <c:v>2.68</c:v>
                      </c:pt>
                      <c:pt idx="20">
                        <c:v>0.98399999999999999</c:v>
                      </c:pt>
                      <c:pt idx="21">
                        <c:v>1.054</c:v>
                      </c:pt>
                      <c:pt idx="22">
                        <c:v>-3.6920000000000002</c:v>
                      </c:pt>
                      <c:pt idx="23">
                        <c:v>2.625</c:v>
                      </c:pt>
                      <c:pt idx="24">
                        <c:v>1.5469999999999999</c:v>
                      </c:pt>
                      <c:pt idx="25">
                        <c:v>-0.29399999999999998</c:v>
                      </c:pt>
                      <c:pt idx="26">
                        <c:v>1.5029999999999999</c:v>
                      </c:pt>
                      <c:pt idx="27">
                        <c:v>2.16</c:v>
                      </c:pt>
                    </c:numCache>
                  </c:numRef>
                </c:val>
                <c:smooth val="0"/>
                <c:extLst xmlns:c15="http://schemas.microsoft.com/office/drawing/2012/chart">
                  <c:ext xmlns:c16="http://schemas.microsoft.com/office/drawing/2014/chart" uri="{C3380CC4-5D6E-409C-BE32-E72D297353CC}">
                    <c16:uniqueId val="{00000001-2AAC-432D-B288-F3AE9BAA3CDE}"/>
                  </c:ext>
                </c:extLst>
              </c15:ser>
            </c15:filteredLineSeries>
            <c15:filteredLineSeries>
              <c15:ser>
                <c:idx val="6"/>
                <c:order val="3"/>
                <c:tx>
                  <c:strRef>
                    <c:extLst xmlns:c15="http://schemas.microsoft.com/office/drawing/2012/chart">
                      <c:ext xmlns:c15="http://schemas.microsoft.com/office/drawing/2012/chart" uri="{02D57815-91ED-43cb-92C2-25804820EDAC}">
                        <c15:formulaRef>
                          <c15:sqref>Sheet1!$A$5</c15:sqref>
                        </c15:formulaRef>
                      </c:ext>
                    </c:extLst>
                    <c:strCache>
                      <c:ptCount val="1"/>
                      <c:pt idx="0">
                        <c:v>USA</c:v>
                      </c:pt>
                    </c:strCache>
                  </c:strRef>
                </c:tx>
                <c:spPr>
                  <a:ln w="31750">
                    <a:solidFill>
                      <a:schemeClr val="tx2"/>
                    </a:solidFill>
                    <a:prstDash val="solid"/>
                  </a:ln>
                </c:spPr>
                <c:marker>
                  <c:symbol val="none"/>
                </c:marker>
                <c:cat>
                  <c:numRef>
                    <c:extLst xmlns:c15="http://schemas.microsoft.com/office/drawing/2012/chart">
                      <c:ext xmlns:c15="http://schemas.microsoft.com/office/drawing/2012/chart" uri="{02D57815-91ED-43cb-92C2-25804820EDAC}">
                        <c15:formulaRef>
                          <c15:sqref>Sheet1!$B$1:$BE$1</c15:sqref>
                        </c15:formulaRef>
                      </c:ext>
                    </c:extLst>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numRef>
                </c:cat>
                <c:val>
                  <c:numRef>
                    <c:extLst xmlns:c15="http://schemas.microsoft.com/office/drawing/2012/chart">
                      <c:ext xmlns:c15="http://schemas.microsoft.com/office/drawing/2012/chart" uri="{02D57815-91ED-43cb-92C2-25804820EDAC}">
                        <c15:formulaRef>
                          <c15:sqref>Sheet1!$B$5:$BE$5</c15:sqref>
                        </c15:formulaRef>
                      </c:ext>
                    </c:extLst>
                    <c:numCache>
                      <c:formatCode>0.0</c:formatCode>
                      <c:ptCount val="28"/>
                      <c:pt idx="0">
                        <c:v>4.4809999999999999</c:v>
                      </c:pt>
                      <c:pt idx="1">
                        <c:v>4.7949999999999999</c:v>
                      </c:pt>
                      <c:pt idx="2">
                        <c:v>4.077</c:v>
                      </c:pt>
                      <c:pt idx="3">
                        <c:v>0.95399999999999996</c:v>
                      </c:pt>
                      <c:pt idx="4">
                        <c:v>1.696</c:v>
                      </c:pt>
                      <c:pt idx="5">
                        <c:v>2.7959999999999998</c:v>
                      </c:pt>
                      <c:pt idx="6">
                        <c:v>3.8519999999999999</c:v>
                      </c:pt>
                      <c:pt idx="7">
                        <c:v>3.4830000000000001</c:v>
                      </c:pt>
                      <c:pt idx="8">
                        <c:v>2.7829999999999999</c:v>
                      </c:pt>
                      <c:pt idx="9">
                        <c:v>2.0110000000000001</c:v>
                      </c:pt>
                      <c:pt idx="10">
                        <c:v>0.122</c:v>
                      </c:pt>
                      <c:pt idx="11">
                        <c:v>-2.6</c:v>
                      </c:pt>
                      <c:pt idx="12">
                        <c:v>2.7090000000000001</c:v>
                      </c:pt>
                      <c:pt idx="13">
                        <c:v>1.55</c:v>
                      </c:pt>
                      <c:pt idx="14">
                        <c:v>2.2810000000000001</c:v>
                      </c:pt>
                      <c:pt idx="15">
                        <c:v>1.8420000000000001</c:v>
                      </c:pt>
                      <c:pt idx="16">
                        <c:v>2.2879999999999998</c:v>
                      </c:pt>
                      <c:pt idx="17">
                        <c:v>2.7069999999999999</c:v>
                      </c:pt>
                      <c:pt idx="18">
                        <c:v>1.6679999999999999</c:v>
                      </c:pt>
                      <c:pt idx="19">
                        <c:v>2.2549999999999999</c:v>
                      </c:pt>
                      <c:pt idx="20">
                        <c:v>2.919</c:v>
                      </c:pt>
                      <c:pt idx="21">
                        <c:v>2.2890000000000001</c:v>
                      </c:pt>
                      <c:pt idx="22">
                        <c:v>-3.4049999999999998</c:v>
                      </c:pt>
                      <c:pt idx="23">
                        <c:v>5.6710000000000003</c:v>
                      </c:pt>
                      <c:pt idx="24">
                        <c:v>1.641</c:v>
                      </c:pt>
                      <c:pt idx="25">
                        <c:v>0.995</c:v>
                      </c:pt>
                      <c:pt idx="26">
                        <c:v>1.2070000000000001</c:v>
                      </c:pt>
                      <c:pt idx="27">
                        <c:v>1.7609999999999999</c:v>
                      </c:pt>
                    </c:numCache>
                  </c:numRef>
                </c:val>
                <c:smooth val="0"/>
                <c:extLst xmlns:c15="http://schemas.microsoft.com/office/drawing/2012/chart">
                  <c:ext xmlns:c16="http://schemas.microsoft.com/office/drawing/2014/chart" uri="{C3380CC4-5D6E-409C-BE32-E72D297353CC}">
                    <c16:uniqueId val="{00000003-2AAC-432D-B288-F3AE9BAA3CDE}"/>
                  </c:ext>
                </c:extLst>
              </c15:ser>
            </c15:filteredLineSeries>
            <c15:filteredLineSeries>
              <c15:ser>
                <c:idx val="5"/>
                <c:order val="4"/>
                <c:tx>
                  <c:strRef>
                    <c:extLst xmlns:c15="http://schemas.microsoft.com/office/drawing/2012/chart">
                      <c:ext xmlns:c15="http://schemas.microsoft.com/office/drawing/2012/chart" uri="{02D57815-91ED-43cb-92C2-25804820EDAC}">
                        <c15:formulaRef>
                          <c15:sqref>Sheet1!$A$6</c15:sqref>
                        </c15:formulaRef>
                      </c:ext>
                    </c:extLst>
                    <c:strCache>
                      <c:ptCount val="1"/>
                      <c:pt idx="0">
                        <c:v>Japan</c:v>
                      </c:pt>
                    </c:strCache>
                  </c:strRef>
                </c:tx>
                <c:spPr>
                  <a:ln w="31750">
                    <a:solidFill>
                      <a:srgbClr val="FF9900"/>
                    </a:solidFill>
                    <a:prstDash val="solid"/>
                  </a:ln>
                </c:spPr>
                <c:marker>
                  <c:symbol val="none"/>
                </c:marker>
                <c:cat>
                  <c:numRef>
                    <c:extLst xmlns:c15="http://schemas.microsoft.com/office/drawing/2012/chart">
                      <c:ext xmlns:c15="http://schemas.microsoft.com/office/drawing/2012/chart" uri="{02D57815-91ED-43cb-92C2-25804820EDAC}">
                        <c15:formulaRef>
                          <c15:sqref>Sheet1!$B$1:$BE$1</c15:sqref>
                        </c15:formulaRef>
                      </c:ext>
                    </c:extLst>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numRef>
                </c:cat>
                <c:val>
                  <c:numRef>
                    <c:extLst xmlns:c15="http://schemas.microsoft.com/office/drawing/2012/chart">
                      <c:ext xmlns:c15="http://schemas.microsoft.com/office/drawing/2012/chart" uri="{02D57815-91ED-43cb-92C2-25804820EDAC}">
                        <c15:formulaRef>
                          <c15:sqref>Sheet1!$B$6:$BE$6</c15:sqref>
                        </c15:formulaRef>
                      </c:ext>
                    </c:extLst>
                    <c:numCache>
                      <c:formatCode>0.0</c:formatCode>
                      <c:ptCount val="28"/>
                      <c:pt idx="0">
                        <c:v>-1.27</c:v>
                      </c:pt>
                      <c:pt idx="1">
                        <c:v>-0.33400000000000002</c:v>
                      </c:pt>
                      <c:pt idx="2">
                        <c:v>2.7650000000000001</c:v>
                      </c:pt>
                      <c:pt idx="3">
                        <c:v>0.38600000000000001</c:v>
                      </c:pt>
                      <c:pt idx="4">
                        <c:v>4.2000000000000003E-2</c:v>
                      </c:pt>
                      <c:pt idx="5">
                        <c:v>1.5349999999999999</c:v>
                      </c:pt>
                      <c:pt idx="6">
                        <c:v>2.1859999999999999</c:v>
                      </c:pt>
                      <c:pt idx="7">
                        <c:v>1.804</c:v>
                      </c:pt>
                      <c:pt idx="8">
                        <c:v>1.3720000000000001</c:v>
                      </c:pt>
                      <c:pt idx="9">
                        <c:v>1.484</c:v>
                      </c:pt>
                      <c:pt idx="10">
                        <c:v>-1.224</c:v>
                      </c:pt>
                      <c:pt idx="11">
                        <c:v>-5.6929999999999996</c:v>
                      </c:pt>
                      <c:pt idx="12">
                        <c:v>4.0979999999999999</c:v>
                      </c:pt>
                      <c:pt idx="13">
                        <c:v>2.4E-2</c:v>
                      </c:pt>
                      <c:pt idx="14">
                        <c:v>1.375</c:v>
                      </c:pt>
                      <c:pt idx="15">
                        <c:v>2.0049999999999999</c:v>
                      </c:pt>
                      <c:pt idx="16">
                        <c:v>0.29599999999999999</c:v>
                      </c:pt>
                      <c:pt idx="17">
                        <c:v>1.5609999999999999</c:v>
                      </c:pt>
                      <c:pt idx="18">
                        <c:v>0.754</c:v>
                      </c:pt>
                      <c:pt idx="19">
                        <c:v>1.675</c:v>
                      </c:pt>
                      <c:pt idx="20">
                        <c:v>0.64300000000000002</c:v>
                      </c:pt>
                      <c:pt idx="21">
                        <c:v>-0.35699999999999998</c:v>
                      </c:pt>
                      <c:pt idx="22">
                        <c:v>-4.6189999999999998</c:v>
                      </c:pt>
                      <c:pt idx="23">
                        <c:v>1.657</c:v>
                      </c:pt>
                      <c:pt idx="24">
                        <c:v>1.7450000000000001</c:v>
                      </c:pt>
                      <c:pt idx="25">
                        <c:v>1.613</c:v>
                      </c:pt>
                      <c:pt idx="26">
                        <c:v>1.341</c:v>
                      </c:pt>
                      <c:pt idx="27">
                        <c:v>0.93200000000000005</c:v>
                      </c:pt>
                    </c:numCache>
                  </c:numRef>
                </c:val>
                <c:smooth val="0"/>
                <c:extLst xmlns:c15="http://schemas.microsoft.com/office/drawing/2012/chart">
                  <c:ext xmlns:c16="http://schemas.microsoft.com/office/drawing/2014/chart" uri="{C3380CC4-5D6E-409C-BE32-E72D297353CC}">
                    <c16:uniqueId val="{00000004-2AAC-432D-B288-F3AE9BAA3CDE}"/>
                  </c:ext>
                </c:extLst>
              </c15:ser>
            </c15:filteredLineSeries>
            <c15:filteredLineSeries>
              <c15:ser>
                <c:idx val="0"/>
                <c:order val="5"/>
                <c:tx>
                  <c:strRef>
                    <c:extLst xmlns:c15="http://schemas.microsoft.com/office/drawing/2012/chart">
                      <c:ext xmlns:c15="http://schemas.microsoft.com/office/drawing/2012/chart" uri="{02D57815-91ED-43cb-92C2-25804820EDAC}">
                        <c15:formulaRef>
                          <c15:sqref>Sheet1!$A$7</c15:sqref>
                        </c15:formulaRef>
                      </c:ext>
                    </c:extLst>
                    <c:strCache>
                      <c:ptCount val="1"/>
                      <c:pt idx="0">
                        <c:v>Australia</c:v>
                      </c:pt>
                    </c:strCache>
                  </c:strRef>
                </c:tx>
                <c:spPr>
                  <a:ln w="31750">
                    <a:solidFill>
                      <a:srgbClr val="008000"/>
                    </a:solidFill>
                  </a:ln>
                </c:spPr>
                <c:marker>
                  <c:symbol val="none"/>
                </c:marker>
                <c:cat>
                  <c:numRef>
                    <c:extLst xmlns:c15="http://schemas.microsoft.com/office/drawing/2012/chart">
                      <c:ext xmlns:c15="http://schemas.microsoft.com/office/drawing/2012/chart" uri="{02D57815-91ED-43cb-92C2-25804820EDAC}">
                        <c15:formulaRef>
                          <c15:sqref>Sheet1!$B$1:$BE$1</c15:sqref>
                        </c15:formulaRef>
                      </c:ext>
                    </c:extLst>
                    <c:numCache>
                      <c:formatCode>##############</c:formatCode>
                      <c:ptCount val="28"/>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pt idx="24">
                        <c:v>2022</c:v>
                      </c:pt>
                      <c:pt idx="25">
                        <c:v>2023</c:v>
                      </c:pt>
                      <c:pt idx="26">
                        <c:v>2024</c:v>
                      </c:pt>
                      <c:pt idx="27">
                        <c:v>2025</c:v>
                      </c:pt>
                    </c:numCache>
                  </c:numRef>
                </c:cat>
                <c:val>
                  <c:numRef>
                    <c:extLst xmlns:c15="http://schemas.microsoft.com/office/drawing/2012/chart">
                      <c:ext xmlns:c15="http://schemas.microsoft.com/office/drawing/2012/chart" uri="{02D57815-91ED-43cb-92C2-25804820EDAC}">
                        <c15:formulaRef>
                          <c15:sqref>Sheet1!$B$7:$BE$7</c15:sqref>
                        </c15:formulaRef>
                      </c:ext>
                    </c:extLst>
                    <c:numCache>
                      <c:formatCode>0.0</c:formatCode>
                      <c:ptCount val="28"/>
                      <c:pt idx="0">
                        <c:v>4.6500000000000004</c:v>
                      </c:pt>
                      <c:pt idx="1">
                        <c:v>4.3479999999999999</c:v>
                      </c:pt>
                      <c:pt idx="2">
                        <c:v>3.101</c:v>
                      </c:pt>
                      <c:pt idx="3">
                        <c:v>2.6640000000000001</c:v>
                      </c:pt>
                      <c:pt idx="4">
                        <c:v>4.17</c:v>
                      </c:pt>
                      <c:pt idx="5">
                        <c:v>3.0169999999999999</c:v>
                      </c:pt>
                      <c:pt idx="6">
                        <c:v>4.109</c:v>
                      </c:pt>
                      <c:pt idx="7">
                        <c:v>2.9950000000000001</c:v>
                      </c:pt>
                      <c:pt idx="8">
                        <c:v>2.6059999999999999</c:v>
                      </c:pt>
                      <c:pt idx="9">
                        <c:v>4.3639999999999999</c:v>
                      </c:pt>
                      <c:pt idx="10">
                        <c:v>2.5619999999999998</c:v>
                      </c:pt>
                      <c:pt idx="11">
                        <c:v>1.9119999999999999</c:v>
                      </c:pt>
                      <c:pt idx="12">
                        <c:v>2.4380000000000002</c:v>
                      </c:pt>
                      <c:pt idx="13">
                        <c:v>2.8279999999999998</c:v>
                      </c:pt>
                      <c:pt idx="14">
                        <c:v>3.7770000000000001</c:v>
                      </c:pt>
                      <c:pt idx="15">
                        <c:v>2.206</c:v>
                      </c:pt>
                      <c:pt idx="16">
                        <c:v>2.556</c:v>
                      </c:pt>
                      <c:pt idx="17">
                        <c:v>2.31</c:v>
                      </c:pt>
                      <c:pt idx="18">
                        <c:v>2.7010000000000001</c:v>
                      </c:pt>
                      <c:pt idx="19">
                        <c:v>2.3780000000000001</c:v>
                      </c:pt>
                      <c:pt idx="20">
                        <c:v>2.7770000000000001</c:v>
                      </c:pt>
                      <c:pt idx="21">
                        <c:v>1.9830000000000001</c:v>
                      </c:pt>
                      <c:pt idx="22">
                        <c:v>-2.1379999999999999</c:v>
                      </c:pt>
                      <c:pt idx="23">
                        <c:v>4.9059999999999997</c:v>
                      </c:pt>
                      <c:pt idx="24">
                        <c:v>3.7509999999999999</c:v>
                      </c:pt>
                      <c:pt idx="25">
                        <c:v>1.891</c:v>
                      </c:pt>
                      <c:pt idx="26">
                        <c:v>1.8009999999999999</c:v>
                      </c:pt>
                      <c:pt idx="27">
                        <c:v>2.0110000000000001</c:v>
                      </c:pt>
                    </c:numCache>
                  </c:numRef>
                </c:val>
                <c:smooth val="0"/>
                <c:extLst xmlns:c15="http://schemas.microsoft.com/office/drawing/2012/chart">
                  <c:ext xmlns:c16="http://schemas.microsoft.com/office/drawing/2014/chart" uri="{C3380CC4-5D6E-409C-BE32-E72D297353CC}">
                    <c16:uniqueId val="{00000005-2AAC-432D-B288-F3AE9BAA3CDE}"/>
                  </c:ext>
                </c:extLst>
              </c15:ser>
            </c15:filteredLineSeries>
          </c:ext>
        </c:extLst>
      </c:lineChart>
      <c:catAx>
        <c:axId val="203712856"/>
        <c:scaling>
          <c:orientation val="minMax"/>
        </c:scaling>
        <c:delete val="0"/>
        <c:axPos val="b"/>
        <c:numFmt formatCode="##############" sourceLinked="1"/>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10"/>
        <c:auto val="0"/>
        <c:lblAlgn val="ctr"/>
        <c:lblOffset val="100"/>
        <c:tickLblSkip val="5"/>
        <c:tickMarkSkip val="1"/>
        <c:noMultiLvlLbl val="0"/>
      </c:catAx>
      <c:valAx>
        <c:axId val="1"/>
        <c:scaling>
          <c:orientation val="minMax"/>
          <c:max val="10"/>
          <c:min val="-10"/>
        </c:scaling>
        <c:delete val="0"/>
        <c:axPos val="l"/>
        <c:numFmt formatCode="0_ ;\–0\ " sourceLinked="0"/>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03712856"/>
        <c:crosses val="autoZero"/>
        <c:crossBetween val="midCat"/>
        <c:majorUnit val="2"/>
      </c:valAx>
      <c:spPr>
        <a:noFill/>
        <a:ln w="25400">
          <a:noFill/>
        </a:ln>
      </c:spPr>
    </c:plotArea>
    <c:legend>
      <c:legendPos val="r"/>
      <c:legendEntry>
        <c:idx val="0"/>
        <c:txPr>
          <a:bodyPr/>
          <a:lstStyle/>
          <a:p>
            <a:pPr>
              <a:defRPr sz="1800" b="0">
                <a:solidFill>
                  <a:schemeClr val="tx1"/>
                </a:solidFill>
              </a:defRPr>
            </a:pPr>
            <a:endParaRPr lang="en-US"/>
          </a:p>
        </c:txPr>
      </c:legendEntry>
      <c:legendEntry>
        <c:idx val="1"/>
        <c:txPr>
          <a:bodyPr/>
          <a:lstStyle/>
          <a:p>
            <a:pPr>
              <a:defRPr sz="1800" b="0">
                <a:solidFill>
                  <a:srgbClr val="B68600"/>
                </a:solidFill>
              </a:defRPr>
            </a:pPr>
            <a:endParaRPr lang="en-US"/>
          </a:p>
        </c:txPr>
      </c:legendEntry>
      <c:layout>
        <c:manualLayout>
          <c:xMode val="edge"/>
          <c:yMode val="edge"/>
          <c:x val="7.3760465075622089E-2"/>
          <c:y val="0.79693044466977592"/>
          <c:w val="0.15479313575366541"/>
          <c:h val="7.8625892369224265E-2"/>
        </c:manualLayout>
      </c:layout>
      <c:overlay val="0"/>
      <c:spPr>
        <a:noFill/>
        <a:ln w="19050">
          <a:solidFill>
            <a:srgbClr val="7030A0"/>
          </a:solidFill>
        </a:ln>
      </c:spPr>
      <c:txPr>
        <a:bodyPr/>
        <a:lstStyle/>
        <a:p>
          <a:pPr>
            <a:defRPr sz="1800" b="0"/>
          </a:pPr>
          <a:endParaRPr lang="en-US"/>
        </a:p>
      </c:txPr>
    </c:legend>
    <c:plotVisOnly val="1"/>
    <c:dispBlanksAs val="span"/>
    <c:showDLblsOverMax val="0"/>
  </c:chart>
  <c:spPr>
    <a:noFill/>
    <a:ln>
      <a:noFill/>
    </a:ln>
  </c:spPr>
  <c:txPr>
    <a:bodyPr/>
    <a:lstStyle/>
    <a:p>
      <a:pPr>
        <a:defRPr sz="1888" b="1" i="0" u="none" strike="noStrike" baseline="0">
          <a:solidFill>
            <a:schemeClr val="tx1"/>
          </a:solidFill>
          <a:latin typeface="Arial"/>
          <a:ea typeface="Arial"/>
          <a:cs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390505699432323"/>
          <c:y val="3.0760318389612608E-2"/>
          <c:w val="0.78526804518002513"/>
          <c:h val="0.89283171072542256"/>
        </c:manualLayout>
      </c:layout>
      <c:barChart>
        <c:barDir val="col"/>
        <c:grouping val="stacked"/>
        <c:varyColors val="0"/>
        <c:ser>
          <c:idx val="1"/>
          <c:order val="0"/>
          <c:tx>
            <c:strRef>
              <c:f>Sheet1!$B$1</c:f>
              <c:strCache>
                <c:ptCount val="1"/>
                <c:pt idx="0">
                  <c:v>secured</c:v>
                </c:pt>
              </c:strCache>
            </c:strRef>
          </c:tx>
          <c:spPr>
            <a:solidFill>
              <a:srgbClr val="A5A5E9"/>
            </a:solidFill>
            <a:ln w="12700">
              <a:solidFill>
                <a:srgbClr val="0000CC"/>
              </a:solidFill>
              <a:prstDash val="solid"/>
            </a:ln>
          </c:spPr>
          <c:invertIfNegative val="0"/>
          <c:cat>
            <c:numRef>
              <c:f>Sheet1!$A$2:$A$26</c:f>
              <c:numCache>
                <c:formatCode>General</c:formatCode>
                <c:ptCount val="25"/>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pt idx="18">
                  <c:v>2015</c:v>
                </c:pt>
                <c:pt idx="19">
                  <c:v>2016</c:v>
                </c:pt>
                <c:pt idx="20">
                  <c:v>2017</c:v>
                </c:pt>
                <c:pt idx="21">
                  <c:v>2018</c:v>
                </c:pt>
                <c:pt idx="22">
                  <c:v>2019</c:v>
                </c:pt>
                <c:pt idx="23">
                  <c:v>2020</c:v>
                </c:pt>
                <c:pt idx="24">
                  <c:v>2021</c:v>
                </c:pt>
              </c:numCache>
            </c:numRef>
          </c:cat>
          <c:val>
            <c:numRef>
              <c:f>Sheet1!$B$2:$B$26</c:f>
              <c:numCache>
                <c:formatCode>0.000</c:formatCode>
                <c:ptCount val="25"/>
                <c:pt idx="0">
                  <c:v>1.0780000000000001</c:v>
                </c:pt>
                <c:pt idx="1">
                  <c:v>0.35199999999999998</c:v>
                </c:pt>
                <c:pt idx="2">
                  <c:v>2.577</c:v>
                </c:pt>
                <c:pt idx="3">
                  <c:v>8.109</c:v>
                </c:pt>
                <c:pt idx="4">
                  <c:v>11.063000000000001</c:v>
                </c:pt>
                <c:pt idx="5">
                  <c:v>12.528</c:v>
                </c:pt>
                <c:pt idx="6">
                  <c:v>20.199000000000002</c:v>
                </c:pt>
                <c:pt idx="7">
                  <c:v>25.846</c:v>
                </c:pt>
                <c:pt idx="8">
                  <c:v>31.045000000000002</c:v>
                </c:pt>
                <c:pt idx="9">
                  <c:v>49.186</c:v>
                </c:pt>
                <c:pt idx="10">
                  <c:v>63.228999999999999</c:v>
                </c:pt>
                <c:pt idx="11">
                  <c:v>102.101</c:v>
                </c:pt>
                <c:pt idx="12">
                  <c:v>-3.3519999999999999</c:v>
                </c:pt>
                <c:pt idx="13">
                  <c:v>-19.300999999999998</c:v>
                </c:pt>
                <c:pt idx="14">
                  <c:v>-22.92</c:v>
                </c:pt>
                <c:pt idx="15">
                  <c:v>-100.018</c:v>
                </c:pt>
                <c:pt idx="16">
                  <c:v>-34.423999999999999</c:v>
                </c:pt>
                <c:pt idx="17">
                  <c:v>-20.914999999999999</c:v>
                </c:pt>
                <c:pt idx="18">
                  <c:v>-32.603999999999999</c:v>
                </c:pt>
                <c:pt idx="19">
                  <c:v>-18.228999999999999</c:v>
                </c:pt>
                <c:pt idx="20">
                  <c:v>-12.617000000000001</c:v>
                </c:pt>
                <c:pt idx="21">
                  <c:v>2.2730000000000001</c:v>
                </c:pt>
                <c:pt idx="22">
                  <c:v>0.503</c:v>
                </c:pt>
                <c:pt idx="23">
                  <c:v>-0.94099999999999995</c:v>
                </c:pt>
                <c:pt idx="24">
                  <c:v>-12.364000000000001</c:v>
                </c:pt>
              </c:numCache>
            </c:numRef>
          </c:val>
          <c:extLst>
            <c:ext xmlns:c16="http://schemas.microsoft.com/office/drawing/2014/chart" uri="{C3380CC4-5D6E-409C-BE32-E72D297353CC}">
              <c16:uniqueId val="{00000000-5DE8-4FBD-AB4C-E8EABDC671F5}"/>
            </c:ext>
          </c:extLst>
        </c:ser>
        <c:dLbls>
          <c:showLegendKey val="0"/>
          <c:showVal val="0"/>
          <c:showCatName val="0"/>
          <c:showSerName val="0"/>
          <c:showPercent val="0"/>
          <c:showBubbleSize val="0"/>
        </c:dLbls>
        <c:gapWidth val="25"/>
        <c:overlap val="100"/>
        <c:axId val="207888056"/>
        <c:axId val="1"/>
      </c:barChart>
      <c:lineChart>
        <c:grouping val="standard"/>
        <c:varyColors val="0"/>
        <c:ser>
          <c:idx val="0"/>
          <c:order val="1"/>
          <c:tx>
            <c:strRef>
              <c:f>Sheet1!$C$1</c:f>
              <c:strCache>
                <c:ptCount val="1"/>
                <c:pt idx="0">
                  <c:v>% of GDP</c:v>
                </c:pt>
              </c:strCache>
            </c:strRef>
          </c:tx>
          <c:spPr>
            <a:ln>
              <a:solidFill>
                <a:srgbClr val="C00000"/>
              </a:solidFill>
            </a:ln>
          </c:spPr>
          <c:marker>
            <c:symbol val="none"/>
          </c:marker>
          <c:cat>
            <c:numRef>
              <c:f>Sheet1!$A$2:$A$26</c:f>
              <c:numCache>
                <c:formatCode>General</c:formatCode>
                <c:ptCount val="25"/>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pt idx="18">
                  <c:v>2015</c:v>
                </c:pt>
                <c:pt idx="19">
                  <c:v>2016</c:v>
                </c:pt>
                <c:pt idx="20">
                  <c:v>2017</c:v>
                </c:pt>
                <c:pt idx="21">
                  <c:v>2018</c:v>
                </c:pt>
                <c:pt idx="22">
                  <c:v>2019</c:v>
                </c:pt>
                <c:pt idx="23">
                  <c:v>2020</c:v>
                </c:pt>
                <c:pt idx="24">
                  <c:v>2021</c:v>
                </c:pt>
              </c:numCache>
            </c:numRef>
          </c:cat>
          <c:val>
            <c:numRef>
              <c:f>Sheet1!$C$2:$C$26</c:f>
              <c:numCache>
                <c:formatCode>0.000</c:formatCode>
                <c:ptCount val="25"/>
                <c:pt idx="0">
                  <c:v>0.11316575423715469</c:v>
                </c:pt>
                <c:pt idx="1">
                  <c:v>3.5259306152949262E-2</c:v>
                </c:pt>
                <c:pt idx="2">
                  <c:v>0.24731998042170122</c:v>
                </c:pt>
                <c:pt idx="3">
                  <c:v>0.73818843878015483</c:v>
                </c:pt>
                <c:pt idx="4">
                  <c:v>0.96871954417730632</c:v>
                </c:pt>
                <c:pt idx="5">
                  <c:v>1.0524759395666434</c:v>
                </c:pt>
                <c:pt idx="6">
                  <c:v>1.6031334079382842</c:v>
                </c:pt>
                <c:pt idx="7">
                  <c:v>1.9538930824504177</c:v>
                </c:pt>
                <c:pt idx="8">
                  <c:v>2.2180450053441705</c:v>
                </c:pt>
                <c:pt idx="9">
                  <c:v>3.3307555518235659</c:v>
                </c:pt>
                <c:pt idx="10">
                  <c:v>4.0728001185208083</c:v>
                </c:pt>
                <c:pt idx="11">
                  <c:v>6.3862938091711534</c:v>
                </c:pt>
                <c:pt idx="12">
                  <c:v>-0.21526921496095355</c:v>
                </c:pt>
                <c:pt idx="13">
                  <c:v>-1.1971876851125329</c:v>
                </c:pt>
                <c:pt idx="14">
                  <c:v>-1.372858726727439</c:v>
                </c:pt>
                <c:pt idx="15">
                  <c:v>-5.8104226031237021</c:v>
                </c:pt>
                <c:pt idx="16">
                  <c:v>-1.9197448073367891</c:v>
                </c:pt>
                <c:pt idx="17">
                  <c:v>-1.1147758029423898</c:v>
                </c:pt>
                <c:pt idx="18">
                  <c:v>-1.6847766549608001</c:v>
                </c:pt>
                <c:pt idx="19">
                  <c:v>-0.90393020462770213</c:v>
                </c:pt>
                <c:pt idx="20">
                  <c:v>-0.60162802441225993</c:v>
                </c:pt>
                <c:pt idx="21">
                  <c:v>0.10453554576476973</c:v>
                </c:pt>
                <c:pt idx="22">
                  <c:v>2.2303187670904272E-2</c:v>
                </c:pt>
                <c:pt idx="23">
                  <c:v>-4.3759687236819896E-2</c:v>
                </c:pt>
                <c:pt idx="24">
                  <c:v>-0.53360862543557463</c:v>
                </c:pt>
              </c:numCache>
            </c:numRef>
          </c:val>
          <c:smooth val="0"/>
          <c:extLst>
            <c:ext xmlns:c16="http://schemas.microsoft.com/office/drawing/2014/chart" uri="{C3380CC4-5D6E-409C-BE32-E72D297353CC}">
              <c16:uniqueId val="{00000001-5DE8-4FBD-AB4C-E8EABDC671F5}"/>
            </c:ext>
          </c:extLst>
        </c:ser>
        <c:dLbls>
          <c:showLegendKey val="0"/>
          <c:showVal val="0"/>
          <c:showCatName val="0"/>
          <c:showSerName val="0"/>
          <c:showPercent val="0"/>
          <c:showBubbleSize val="0"/>
        </c:dLbls>
        <c:marker val="1"/>
        <c:smooth val="0"/>
        <c:axId val="444292168"/>
        <c:axId val="444274128"/>
      </c:lineChart>
      <c:catAx>
        <c:axId val="207888056"/>
        <c:scaling>
          <c:orientation val="minMax"/>
        </c:scaling>
        <c:delete val="0"/>
        <c:axPos val="b"/>
        <c:numFmt formatCode="General" sourceLinked="0"/>
        <c:majorTickMark val="out"/>
        <c:minorTickMark val="none"/>
        <c:tickLblPos val="low"/>
        <c:spPr>
          <a:ln w="15875">
            <a:solidFill>
              <a:schemeClr val="tx1"/>
            </a:solidFill>
            <a:prstDash val="solid"/>
          </a:ln>
        </c:spPr>
        <c:txPr>
          <a:bodyPr rot="0" vert="horz"/>
          <a:lstStyle/>
          <a:p>
            <a:pPr>
              <a:defRPr sz="1800"/>
            </a:pPr>
            <a:endParaRPr lang="en-US"/>
          </a:p>
        </c:txPr>
        <c:crossAx val="1"/>
        <c:crosses val="autoZero"/>
        <c:auto val="1"/>
        <c:lblAlgn val="ctr"/>
        <c:lblOffset val="100"/>
        <c:tickLblSkip val="2"/>
        <c:tickMarkSkip val="1"/>
        <c:noMultiLvlLbl val="0"/>
      </c:catAx>
      <c:valAx>
        <c:axId val="1"/>
        <c:scaling>
          <c:orientation val="minMax"/>
          <c:max val="120"/>
          <c:min val="-120"/>
        </c:scaling>
        <c:delete val="0"/>
        <c:axPos val="l"/>
        <c:title>
          <c:tx>
            <c:rich>
              <a:bodyPr/>
              <a:lstStyle/>
              <a:p>
                <a:pPr>
                  <a:defRPr sz="1800">
                    <a:solidFill>
                      <a:srgbClr val="22228B"/>
                    </a:solidFill>
                  </a:defRPr>
                </a:pPr>
                <a:r>
                  <a:rPr lang="en-GB" sz="1800">
                    <a:solidFill>
                      <a:srgbClr val="22228B"/>
                    </a:solidFill>
                  </a:rPr>
                  <a:t>£ billions</a:t>
                </a:r>
              </a:p>
            </c:rich>
          </c:tx>
          <c:layout>
            <c:manualLayout>
              <c:xMode val="edge"/>
              <c:yMode val="edge"/>
              <c:x val="1.7094017094017096E-2"/>
              <c:y val="0.39152542372881355"/>
            </c:manualLayout>
          </c:layout>
          <c:overlay val="0"/>
          <c:spPr>
            <a:noFill/>
            <a:ln w="22527">
              <a:noFill/>
            </a:ln>
          </c:spPr>
        </c:title>
        <c:numFmt formatCode="#,##0_ ;\−#,##0\ " sourceLinked="0"/>
        <c:majorTickMark val="out"/>
        <c:minorTickMark val="none"/>
        <c:tickLblPos val="nextTo"/>
        <c:spPr>
          <a:ln w="15875">
            <a:solidFill>
              <a:srgbClr val="22228B"/>
            </a:solidFill>
            <a:prstDash val="solid"/>
          </a:ln>
        </c:spPr>
        <c:txPr>
          <a:bodyPr rot="0" vert="horz"/>
          <a:lstStyle/>
          <a:p>
            <a:pPr>
              <a:defRPr sz="1800">
                <a:solidFill>
                  <a:srgbClr val="22228B"/>
                </a:solidFill>
              </a:defRPr>
            </a:pPr>
            <a:endParaRPr lang="en-US"/>
          </a:p>
        </c:txPr>
        <c:crossAx val="207888056"/>
        <c:crosses val="autoZero"/>
        <c:crossBetween val="between"/>
        <c:majorUnit val="20"/>
        <c:minorUnit val="1"/>
      </c:valAx>
      <c:valAx>
        <c:axId val="444274128"/>
        <c:scaling>
          <c:orientation val="minMax"/>
        </c:scaling>
        <c:delete val="0"/>
        <c:axPos val="r"/>
        <c:title>
          <c:tx>
            <c:rich>
              <a:bodyPr rot="5400000" vert="horz"/>
              <a:lstStyle/>
              <a:p>
                <a:pPr>
                  <a:defRPr sz="1800">
                    <a:solidFill>
                      <a:srgbClr val="FF0000"/>
                    </a:solidFill>
                  </a:defRPr>
                </a:pPr>
                <a:r>
                  <a:rPr lang="en-GB" sz="1800" dirty="0">
                    <a:solidFill>
                      <a:srgbClr val="FF0000"/>
                    </a:solidFill>
                  </a:rPr>
                  <a:t>% of GDP</a:t>
                </a:r>
              </a:p>
            </c:rich>
          </c:tx>
          <c:layout>
            <c:manualLayout>
              <c:xMode val="edge"/>
              <c:yMode val="edge"/>
              <c:x val="0.9551393095093883"/>
              <c:y val="0.3831668364983789"/>
            </c:manualLayout>
          </c:layout>
          <c:overlay val="0"/>
        </c:title>
        <c:numFmt formatCode="0_ ;\ \−0\ " sourceLinked="0"/>
        <c:majorTickMark val="out"/>
        <c:minorTickMark val="none"/>
        <c:tickLblPos val="nextTo"/>
        <c:spPr>
          <a:ln w="15875">
            <a:solidFill>
              <a:srgbClr val="FF0000"/>
            </a:solidFill>
          </a:ln>
        </c:spPr>
        <c:txPr>
          <a:bodyPr rot="60000" vert="horz" anchor="b" anchorCtr="0"/>
          <a:lstStyle/>
          <a:p>
            <a:pPr>
              <a:defRPr sz="1800">
                <a:solidFill>
                  <a:srgbClr val="FF0000"/>
                </a:solidFill>
              </a:defRPr>
            </a:pPr>
            <a:endParaRPr lang="en-US"/>
          </a:p>
        </c:txPr>
        <c:crossAx val="444292168"/>
        <c:crosses val="max"/>
        <c:crossBetween val="between"/>
      </c:valAx>
      <c:catAx>
        <c:axId val="444292168"/>
        <c:scaling>
          <c:orientation val="minMax"/>
        </c:scaling>
        <c:delete val="1"/>
        <c:axPos val="b"/>
        <c:numFmt formatCode="General" sourceLinked="1"/>
        <c:majorTickMark val="out"/>
        <c:minorTickMark val="none"/>
        <c:tickLblPos val="nextTo"/>
        <c:crossAx val="444274128"/>
        <c:crosses val="autoZero"/>
        <c:auto val="1"/>
        <c:lblAlgn val="ctr"/>
        <c:lblOffset val="100"/>
        <c:noMultiLvlLbl val="0"/>
      </c:catAx>
      <c:spPr>
        <a:noFill/>
        <a:ln w="25400">
          <a:noFill/>
        </a:ln>
      </c:spPr>
    </c:plotArea>
    <c:plotVisOnly val="1"/>
    <c:dispBlanksAs val="span"/>
    <c:showDLblsOverMax val="0"/>
  </c:chart>
  <c:spPr>
    <a:noFill/>
    <a:ln>
      <a:noFill/>
    </a:ln>
  </c:spPr>
  <c:txPr>
    <a:bodyPr/>
    <a:lstStyle/>
    <a:p>
      <a:pPr>
        <a:defRPr sz="2000" b="0" i="0" u="none" strike="noStrike" baseline="0">
          <a:solidFill>
            <a:schemeClr val="tx1"/>
          </a:solidFill>
          <a:latin typeface="Arial" panose="020B0604020202020204" pitchFamily="34" charset="0"/>
          <a:ea typeface="Times New Roman"/>
          <a:cs typeface="Arial" panose="020B060402020202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1267915597628942E-2"/>
          <c:y val="3.9419615587371448E-2"/>
          <c:w val="0.88080921916010479"/>
          <c:h val="0.86659556706342544"/>
        </c:manualLayout>
      </c:layout>
      <c:lineChart>
        <c:grouping val="standard"/>
        <c:varyColors val="0"/>
        <c:ser>
          <c:idx val="1"/>
          <c:order val="0"/>
          <c:tx>
            <c:strRef>
              <c:f>Sheet1!$B$1</c:f>
              <c:strCache>
                <c:ptCount val="1"/>
                <c:pt idx="0">
                  <c:v>Bank rate</c:v>
                </c:pt>
              </c:strCache>
            </c:strRef>
          </c:tx>
          <c:spPr>
            <a:ln w="34925">
              <a:solidFill>
                <a:srgbClr val="0000FF"/>
              </a:solidFill>
              <a:prstDash val="solid"/>
            </a:ln>
          </c:spPr>
          <c:marker>
            <c:symbol val="none"/>
          </c:marker>
          <c:cat>
            <c:numRef>
              <c:f>Sheet1!$A$2:$A$310</c:f>
              <c:numCache>
                <c:formatCode>mmm\-yy</c:formatCode>
                <c:ptCount val="309"/>
                <c:pt idx="0">
                  <c:v>35431</c:v>
                </c:pt>
                <c:pt idx="1">
                  <c:v>35462</c:v>
                </c:pt>
                <c:pt idx="2">
                  <c:v>35490</c:v>
                </c:pt>
                <c:pt idx="3">
                  <c:v>35521</c:v>
                </c:pt>
                <c:pt idx="4">
                  <c:v>35551</c:v>
                </c:pt>
                <c:pt idx="5">
                  <c:v>35582</c:v>
                </c:pt>
                <c:pt idx="6">
                  <c:v>35612</c:v>
                </c:pt>
                <c:pt idx="7">
                  <c:v>35643</c:v>
                </c:pt>
                <c:pt idx="8">
                  <c:v>35674</c:v>
                </c:pt>
                <c:pt idx="9">
                  <c:v>35704</c:v>
                </c:pt>
                <c:pt idx="10">
                  <c:v>35735</c:v>
                </c:pt>
                <c:pt idx="11">
                  <c:v>35765</c:v>
                </c:pt>
                <c:pt idx="12">
                  <c:v>35796</c:v>
                </c:pt>
                <c:pt idx="13">
                  <c:v>35827</c:v>
                </c:pt>
                <c:pt idx="14">
                  <c:v>35855</c:v>
                </c:pt>
                <c:pt idx="15">
                  <c:v>35886</c:v>
                </c:pt>
                <c:pt idx="16">
                  <c:v>35916</c:v>
                </c:pt>
                <c:pt idx="17">
                  <c:v>35947</c:v>
                </c:pt>
                <c:pt idx="18">
                  <c:v>35977</c:v>
                </c:pt>
                <c:pt idx="19">
                  <c:v>36008</c:v>
                </c:pt>
                <c:pt idx="20">
                  <c:v>36039</c:v>
                </c:pt>
                <c:pt idx="21">
                  <c:v>36069</c:v>
                </c:pt>
                <c:pt idx="22">
                  <c:v>36100</c:v>
                </c:pt>
                <c:pt idx="23">
                  <c:v>36130</c:v>
                </c:pt>
                <c:pt idx="24">
                  <c:v>36161</c:v>
                </c:pt>
                <c:pt idx="25">
                  <c:v>36192</c:v>
                </c:pt>
                <c:pt idx="26">
                  <c:v>36220</c:v>
                </c:pt>
                <c:pt idx="27">
                  <c:v>36251</c:v>
                </c:pt>
                <c:pt idx="28">
                  <c:v>36281</c:v>
                </c:pt>
                <c:pt idx="29">
                  <c:v>36312</c:v>
                </c:pt>
                <c:pt idx="30">
                  <c:v>36342</c:v>
                </c:pt>
                <c:pt idx="31">
                  <c:v>36373</c:v>
                </c:pt>
                <c:pt idx="32">
                  <c:v>36404</c:v>
                </c:pt>
                <c:pt idx="33">
                  <c:v>36434</c:v>
                </c:pt>
                <c:pt idx="34">
                  <c:v>36465</c:v>
                </c:pt>
                <c:pt idx="35">
                  <c:v>36495</c:v>
                </c:pt>
                <c:pt idx="36">
                  <c:v>36526</c:v>
                </c:pt>
                <c:pt idx="37">
                  <c:v>36557</c:v>
                </c:pt>
                <c:pt idx="38">
                  <c:v>36586</c:v>
                </c:pt>
                <c:pt idx="39">
                  <c:v>36617</c:v>
                </c:pt>
                <c:pt idx="40">
                  <c:v>36647</c:v>
                </c:pt>
                <c:pt idx="41">
                  <c:v>36678</c:v>
                </c:pt>
                <c:pt idx="42">
                  <c:v>36708</c:v>
                </c:pt>
                <c:pt idx="43">
                  <c:v>36739</c:v>
                </c:pt>
                <c:pt idx="44">
                  <c:v>36770</c:v>
                </c:pt>
                <c:pt idx="45">
                  <c:v>36800</c:v>
                </c:pt>
                <c:pt idx="46">
                  <c:v>36831</c:v>
                </c:pt>
                <c:pt idx="47">
                  <c:v>36861</c:v>
                </c:pt>
                <c:pt idx="48">
                  <c:v>36892</c:v>
                </c:pt>
                <c:pt idx="49">
                  <c:v>36923</c:v>
                </c:pt>
                <c:pt idx="50">
                  <c:v>36951</c:v>
                </c:pt>
                <c:pt idx="51">
                  <c:v>36982</c:v>
                </c:pt>
                <c:pt idx="52">
                  <c:v>37012</c:v>
                </c:pt>
                <c:pt idx="53">
                  <c:v>37043</c:v>
                </c:pt>
                <c:pt idx="54">
                  <c:v>37073</c:v>
                </c:pt>
                <c:pt idx="55">
                  <c:v>37104</c:v>
                </c:pt>
                <c:pt idx="56">
                  <c:v>37135</c:v>
                </c:pt>
                <c:pt idx="57">
                  <c:v>37165</c:v>
                </c:pt>
                <c:pt idx="58">
                  <c:v>37196</c:v>
                </c:pt>
                <c:pt idx="59">
                  <c:v>37226</c:v>
                </c:pt>
                <c:pt idx="60">
                  <c:v>37257</c:v>
                </c:pt>
                <c:pt idx="61">
                  <c:v>37288</c:v>
                </c:pt>
                <c:pt idx="62">
                  <c:v>37316</c:v>
                </c:pt>
                <c:pt idx="63">
                  <c:v>37347</c:v>
                </c:pt>
                <c:pt idx="64">
                  <c:v>37377</c:v>
                </c:pt>
                <c:pt idx="65">
                  <c:v>37408</c:v>
                </c:pt>
                <c:pt idx="66">
                  <c:v>37438</c:v>
                </c:pt>
                <c:pt idx="67">
                  <c:v>37469</c:v>
                </c:pt>
                <c:pt idx="68">
                  <c:v>37500</c:v>
                </c:pt>
                <c:pt idx="69">
                  <c:v>37530</c:v>
                </c:pt>
                <c:pt idx="70">
                  <c:v>37561</c:v>
                </c:pt>
                <c:pt idx="71">
                  <c:v>37591</c:v>
                </c:pt>
                <c:pt idx="72">
                  <c:v>37622</c:v>
                </c:pt>
                <c:pt idx="73">
                  <c:v>37653</c:v>
                </c:pt>
                <c:pt idx="74">
                  <c:v>37681</c:v>
                </c:pt>
                <c:pt idx="75">
                  <c:v>37712</c:v>
                </c:pt>
                <c:pt idx="76">
                  <c:v>37742</c:v>
                </c:pt>
                <c:pt idx="77">
                  <c:v>37773</c:v>
                </c:pt>
                <c:pt idx="78">
                  <c:v>37803</c:v>
                </c:pt>
                <c:pt idx="79">
                  <c:v>37834</c:v>
                </c:pt>
                <c:pt idx="80">
                  <c:v>37865</c:v>
                </c:pt>
                <c:pt idx="81">
                  <c:v>37895</c:v>
                </c:pt>
                <c:pt idx="82">
                  <c:v>37926</c:v>
                </c:pt>
                <c:pt idx="83">
                  <c:v>37956</c:v>
                </c:pt>
                <c:pt idx="84">
                  <c:v>37987</c:v>
                </c:pt>
                <c:pt idx="85">
                  <c:v>38018</c:v>
                </c:pt>
                <c:pt idx="86">
                  <c:v>38047</c:v>
                </c:pt>
                <c:pt idx="87">
                  <c:v>38078</c:v>
                </c:pt>
                <c:pt idx="88">
                  <c:v>38108</c:v>
                </c:pt>
                <c:pt idx="89">
                  <c:v>38139</c:v>
                </c:pt>
                <c:pt idx="90">
                  <c:v>38169</c:v>
                </c:pt>
                <c:pt idx="91">
                  <c:v>38200</c:v>
                </c:pt>
                <c:pt idx="92">
                  <c:v>38231</c:v>
                </c:pt>
                <c:pt idx="93">
                  <c:v>38261</c:v>
                </c:pt>
                <c:pt idx="94">
                  <c:v>38292</c:v>
                </c:pt>
                <c:pt idx="95">
                  <c:v>38322</c:v>
                </c:pt>
                <c:pt idx="96">
                  <c:v>38353</c:v>
                </c:pt>
                <c:pt idx="97">
                  <c:v>38384</c:v>
                </c:pt>
                <c:pt idx="98">
                  <c:v>38412</c:v>
                </c:pt>
                <c:pt idx="99">
                  <c:v>38443</c:v>
                </c:pt>
                <c:pt idx="100">
                  <c:v>38473</c:v>
                </c:pt>
                <c:pt idx="101">
                  <c:v>38504</c:v>
                </c:pt>
                <c:pt idx="102">
                  <c:v>38534</c:v>
                </c:pt>
                <c:pt idx="103">
                  <c:v>38565</c:v>
                </c:pt>
                <c:pt idx="104">
                  <c:v>38596</c:v>
                </c:pt>
                <c:pt idx="105">
                  <c:v>38626</c:v>
                </c:pt>
                <c:pt idx="106">
                  <c:v>38657</c:v>
                </c:pt>
                <c:pt idx="107">
                  <c:v>38687</c:v>
                </c:pt>
                <c:pt idx="108">
                  <c:v>38718</c:v>
                </c:pt>
                <c:pt idx="109">
                  <c:v>38749</c:v>
                </c:pt>
                <c:pt idx="110">
                  <c:v>38777</c:v>
                </c:pt>
                <c:pt idx="111">
                  <c:v>38808</c:v>
                </c:pt>
                <c:pt idx="112">
                  <c:v>38838</c:v>
                </c:pt>
                <c:pt idx="113">
                  <c:v>38869</c:v>
                </c:pt>
                <c:pt idx="114">
                  <c:v>38899</c:v>
                </c:pt>
                <c:pt idx="115">
                  <c:v>38930</c:v>
                </c:pt>
                <c:pt idx="116">
                  <c:v>38961</c:v>
                </c:pt>
                <c:pt idx="117">
                  <c:v>38991</c:v>
                </c:pt>
                <c:pt idx="118">
                  <c:v>39022</c:v>
                </c:pt>
                <c:pt idx="119">
                  <c:v>39052</c:v>
                </c:pt>
                <c:pt idx="120">
                  <c:v>39083</c:v>
                </c:pt>
                <c:pt idx="121">
                  <c:v>39114</c:v>
                </c:pt>
                <c:pt idx="122">
                  <c:v>39142</c:v>
                </c:pt>
                <c:pt idx="123">
                  <c:v>39173</c:v>
                </c:pt>
                <c:pt idx="124">
                  <c:v>39203</c:v>
                </c:pt>
                <c:pt idx="125">
                  <c:v>39234</c:v>
                </c:pt>
                <c:pt idx="126">
                  <c:v>39264</c:v>
                </c:pt>
                <c:pt idx="127">
                  <c:v>39295</c:v>
                </c:pt>
                <c:pt idx="128">
                  <c:v>39326</c:v>
                </c:pt>
                <c:pt idx="129">
                  <c:v>39356</c:v>
                </c:pt>
                <c:pt idx="130">
                  <c:v>39387</c:v>
                </c:pt>
                <c:pt idx="131">
                  <c:v>39417</c:v>
                </c:pt>
                <c:pt idx="132">
                  <c:v>39448</c:v>
                </c:pt>
                <c:pt idx="133">
                  <c:v>39479</c:v>
                </c:pt>
                <c:pt idx="134">
                  <c:v>39508</c:v>
                </c:pt>
                <c:pt idx="135">
                  <c:v>39539</c:v>
                </c:pt>
                <c:pt idx="136">
                  <c:v>39569</c:v>
                </c:pt>
                <c:pt idx="137">
                  <c:v>39600</c:v>
                </c:pt>
                <c:pt idx="138">
                  <c:v>39630</c:v>
                </c:pt>
                <c:pt idx="139">
                  <c:v>39661</c:v>
                </c:pt>
                <c:pt idx="140">
                  <c:v>39692</c:v>
                </c:pt>
                <c:pt idx="141">
                  <c:v>39722</c:v>
                </c:pt>
                <c:pt idx="142">
                  <c:v>39753</c:v>
                </c:pt>
                <c:pt idx="143">
                  <c:v>39783</c:v>
                </c:pt>
                <c:pt idx="144">
                  <c:v>39814</c:v>
                </c:pt>
                <c:pt idx="145">
                  <c:v>39845</c:v>
                </c:pt>
                <c:pt idx="146">
                  <c:v>39873</c:v>
                </c:pt>
                <c:pt idx="147">
                  <c:v>39904</c:v>
                </c:pt>
                <c:pt idx="148">
                  <c:v>39934</c:v>
                </c:pt>
                <c:pt idx="149">
                  <c:v>39965</c:v>
                </c:pt>
                <c:pt idx="150">
                  <c:v>39995</c:v>
                </c:pt>
                <c:pt idx="151">
                  <c:v>40026</c:v>
                </c:pt>
                <c:pt idx="152">
                  <c:v>40057</c:v>
                </c:pt>
                <c:pt idx="153">
                  <c:v>40087</c:v>
                </c:pt>
                <c:pt idx="154">
                  <c:v>40118</c:v>
                </c:pt>
                <c:pt idx="155">
                  <c:v>40148</c:v>
                </c:pt>
                <c:pt idx="156">
                  <c:v>40179</c:v>
                </c:pt>
                <c:pt idx="157">
                  <c:v>40210</c:v>
                </c:pt>
                <c:pt idx="158">
                  <c:v>40238</c:v>
                </c:pt>
                <c:pt idx="159">
                  <c:v>40269</c:v>
                </c:pt>
                <c:pt idx="160">
                  <c:v>40299</c:v>
                </c:pt>
                <c:pt idx="161">
                  <c:v>40330</c:v>
                </c:pt>
                <c:pt idx="162">
                  <c:v>40360</c:v>
                </c:pt>
                <c:pt idx="163">
                  <c:v>40391</c:v>
                </c:pt>
                <c:pt idx="164">
                  <c:v>40422</c:v>
                </c:pt>
                <c:pt idx="165">
                  <c:v>40452</c:v>
                </c:pt>
                <c:pt idx="166">
                  <c:v>40483</c:v>
                </c:pt>
                <c:pt idx="167">
                  <c:v>40513</c:v>
                </c:pt>
                <c:pt idx="168">
                  <c:v>40544</c:v>
                </c:pt>
                <c:pt idx="169">
                  <c:v>40575</c:v>
                </c:pt>
                <c:pt idx="170">
                  <c:v>40603</c:v>
                </c:pt>
                <c:pt idx="171">
                  <c:v>40634</c:v>
                </c:pt>
                <c:pt idx="172">
                  <c:v>40664</c:v>
                </c:pt>
                <c:pt idx="173">
                  <c:v>40695</c:v>
                </c:pt>
                <c:pt idx="174">
                  <c:v>40725</c:v>
                </c:pt>
                <c:pt idx="175">
                  <c:v>40756</c:v>
                </c:pt>
                <c:pt idx="176">
                  <c:v>40787</c:v>
                </c:pt>
                <c:pt idx="177">
                  <c:v>40817</c:v>
                </c:pt>
                <c:pt idx="178">
                  <c:v>40848</c:v>
                </c:pt>
                <c:pt idx="179">
                  <c:v>40878</c:v>
                </c:pt>
                <c:pt idx="180">
                  <c:v>40909</c:v>
                </c:pt>
                <c:pt idx="181">
                  <c:v>40940</c:v>
                </c:pt>
                <c:pt idx="182">
                  <c:v>40969</c:v>
                </c:pt>
                <c:pt idx="183">
                  <c:v>41000</c:v>
                </c:pt>
                <c:pt idx="184">
                  <c:v>41030</c:v>
                </c:pt>
                <c:pt idx="185">
                  <c:v>41061</c:v>
                </c:pt>
                <c:pt idx="186">
                  <c:v>41091</c:v>
                </c:pt>
                <c:pt idx="187">
                  <c:v>41122</c:v>
                </c:pt>
                <c:pt idx="188">
                  <c:v>41153</c:v>
                </c:pt>
                <c:pt idx="189">
                  <c:v>41183</c:v>
                </c:pt>
                <c:pt idx="190">
                  <c:v>41214</c:v>
                </c:pt>
                <c:pt idx="191">
                  <c:v>41244</c:v>
                </c:pt>
                <c:pt idx="192">
                  <c:v>41275</c:v>
                </c:pt>
                <c:pt idx="193">
                  <c:v>41306</c:v>
                </c:pt>
                <c:pt idx="194">
                  <c:v>41334</c:v>
                </c:pt>
                <c:pt idx="195">
                  <c:v>41365</c:v>
                </c:pt>
                <c:pt idx="196">
                  <c:v>41395</c:v>
                </c:pt>
                <c:pt idx="197">
                  <c:v>41426</c:v>
                </c:pt>
                <c:pt idx="198">
                  <c:v>41456</c:v>
                </c:pt>
                <c:pt idx="199">
                  <c:v>41487</c:v>
                </c:pt>
                <c:pt idx="200">
                  <c:v>41518</c:v>
                </c:pt>
                <c:pt idx="201">
                  <c:v>41548</c:v>
                </c:pt>
                <c:pt idx="202">
                  <c:v>41579</c:v>
                </c:pt>
                <c:pt idx="203">
                  <c:v>41609</c:v>
                </c:pt>
                <c:pt idx="204">
                  <c:v>41640</c:v>
                </c:pt>
                <c:pt idx="205">
                  <c:v>41671</c:v>
                </c:pt>
                <c:pt idx="206">
                  <c:v>41699</c:v>
                </c:pt>
                <c:pt idx="207">
                  <c:v>41730</c:v>
                </c:pt>
                <c:pt idx="208">
                  <c:v>41760</c:v>
                </c:pt>
                <c:pt idx="209">
                  <c:v>41791</c:v>
                </c:pt>
                <c:pt idx="210">
                  <c:v>41821</c:v>
                </c:pt>
                <c:pt idx="211">
                  <c:v>41852</c:v>
                </c:pt>
                <c:pt idx="212">
                  <c:v>41883</c:v>
                </c:pt>
                <c:pt idx="213">
                  <c:v>41913</c:v>
                </c:pt>
                <c:pt idx="214">
                  <c:v>41944</c:v>
                </c:pt>
                <c:pt idx="215">
                  <c:v>41974</c:v>
                </c:pt>
                <c:pt idx="216">
                  <c:v>42005</c:v>
                </c:pt>
                <c:pt idx="217">
                  <c:v>42036</c:v>
                </c:pt>
                <c:pt idx="218">
                  <c:v>42064</c:v>
                </c:pt>
                <c:pt idx="219">
                  <c:v>42095</c:v>
                </c:pt>
                <c:pt idx="220">
                  <c:v>42125</c:v>
                </c:pt>
                <c:pt idx="221">
                  <c:v>42156</c:v>
                </c:pt>
                <c:pt idx="222">
                  <c:v>42186</c:v>
                </c:pt>
                <c:pt idx="223">
                  <c:v>42217</c:v>
                </c:pt>
                <c:pt idx="224">
                  <c:v>42248</c:v>
                </c:pt>
                <c:pt idx="225">
                  <c:v>42278</c:v>
                </c:pt>
                <c:pt idx="226">
                  <c:v>42309</c:v>
                </c:pt>
                <c:pt idx="227">
                  <c:v>42339</c:v>
                </c:pt>
                <c:pt idx="228">
                  <c:v>42370</c:v>
                </c:pt>
                <c:pt idx="229">
                  <c:v>42401</c:v>
                </c:pt>
                <c:pt idx="230">
                  <c:v>42430</c:v>
                </c:pt>
                <c:pt idx="231">
                  <c:v>42461</c:v>
                </c:pt>
                <c:pt idx="232">
                  <c:v>42491</c:v>
                </c:pt>
                <c:pt idx="233">
                  <c:v>42522</c:v>
                </c:pt>
                <c:pt idx="234">
                  <c:v>42552</c:v>
                </c:pt>
                <c:pt idx="235">
                  <c:v>42583</c:v>
                </c:pt>
                <c:pt idx="236">
                  <c:v>42614</c:v>
                </c:pt>
                <c:pt idx="237">
                  <c:v>42644</c:v>
                </c:pt>
                <c:pt idx="238">
                  <c:v>42675</c:v>
                </c:pt>
                <c:pt idx="239">
                  <c:v>42705</c:v>
                </c:pt>
                <c:pt idx="240">
                  <c:v>42736</c:v>
                </c:pt>
                <c:pt idx="241">
                  <c:v>42767</c:v>
                </c:pt>
                <c:pt idx="242">
                  <c:v>42795</c:v>
                </c:pt>
                <c:pt idx="243">
                  <c:v>42826</c:v>
                </c:pt>
                <c:pt idx="244">
                  <c:v>42856</c:v>
                </c:pt>
                <c:pt idx="245">
                  <c:v>42887</c:v>
                </c:pt>
                <c:pt idx="246">
                  <c:v>42917</c:v>
                </c:pt>
                <c:pt idx="247">
                  <c:v>42948</c:v>
                </c:pt>
                <c:pt idx="248">
                  <c:v>42979</c:v>
                </c:pt>
                <c:pt idx="249">
                  <c:v>43009</c:v>
                </c:pt>
                <c:pt idx="250">
                  <c:v>43040</c:v>
                </c:pt>
                <c:pt idx="251">
                  <c:v>43070</c:v>
                </c:pt>
                <c:pt idx="252">
                  <c:v>43101</c:v>
                </c:pt>
                <c:pt idx="253">
                  <c:v>43132</c:v>
                </c:pt>
                <c:pt idx="254">
                  <c:v>43160</c:v>
                </c:pt>
                <c:pt idx="255">
                  <c:v>43191</c:v>
                </c:pt>
                <c:pt idx="256">
                  <c:v>43221</c:v>
                </c:pt>
                <c:pt idx="257">
                  <c:v>43252</c:v>
                </c:pt>
                <c:pt idx="258">
                  <c:v>43282</c:v>
                </c:pt>
                <c:pt idx="259">
                  <c:v>43313</c:v>
                </c:pt>
                <c:pt idx="260">
                  <c:v>43344</c:v>
                </c:pt>
                <c:pt idx="261">
                  <c:v>43374</c:v>
                </c:pt>
                <c:pt idx="262">
                  <c:v>43405</c:v>
                </c:pt>
                <c:pt idx="263">
                  <c:v>43435</c:v>
                </c:pt>
                <c:pt idx="264">
                  <c:v>43466</c:v>
                </c:pt>
                <c:pt idx="265">
                  <c:v>43497</c:v>
                </c:pt>
                <c:pt idx="266">
                  <c:v>43525</c:v>
                </c:pt>
                <c:pt idx="267">
                  <c:v>43556</c:v>
                </c:pt>
                <c:pt idx="268">
                  <c:v>43586</c:v>
                </c:pt>
                <c:pt idx="269">
                  <c:v>43617</c:v>
                </c:pt>
                <c:pt idx="270">
                  <c:v>43647</c:v>
                </c:pt>
                <c:pt idx="271">
                  <c:v>43678</c:v>
                </c:pt>
                <c:pt idx="272">
                  <c:v>43709</c:v>
                </c:pt>
                <c:pt idx="273">
                  <c:v>43739</c:v>
                </c:pt>
                <c:pt idx="274">
                  <c:v>43770</c:v>
                </c:pt>
                <c:pt idx="275">
                  <c:v>43800</c:v>
                </c:pt>
                <c:pt idx="276">
                  <c:v>43831</c:v>
                </c:pt>
                <c:pt idx="277">
                  <c:v>43862</c:v>
                </c:pt>
                <c:pt idx="278">
                  <c:v>43891</c:v>
                </c:pt>
                <c:pt idx="279">
                  <c:v>43922</c:v>
                </c:pt>
                <c:pt idx="280">
                  <c:v>43952</c:v>
                </c:pt>
                <c:pt idx="281">
                  <c:v>43983</c:v>
                </c:pt>
                <c:pt idx="282">
                  <c:v>44013</c:v>
                </c:pt>
                <c:pt idx="283">
                  <c:v>44044</c:v>
                </c:pt>
                <c:pt idx="284">
                  <c:v>44075</c:v>
                </c:pt>
                <c:pt idx="285">
                  <c:v>44105</c:v>
                </c:pt>
                <c:pt idx="286">
                  <c:v>44136</c:v>
                </c:pt>
                <c:pt idx="287">
                  <c:v>44166</c:v>
                </c:pt>
                <c:pt idx="288">
                  <c:v>44197</c:v>
                </c:pt>
                <c:pt idx="289">
                  <c:v>44228</c:v>
                </c:pt>
                <c:pt idx="290">
                  <c:v>44256</c:v>
                </c:pt>
                <c:pt idx="291">
                  <c:v>44287</c:v>
                </c:pt>
                <c:pt idx="292">
                  <c:v>44317</c:v>
                </c:pt>
                <c:pt idx="293">
                  <c:v>44348</c:v>
                </c:pt>
                <c:pt idx="294">
                  <c:v>44378</c:v>
                </c:pt>
                <c:pt idx="295">
                  <c:v>44409</c:v>
                </c:pt>
                <c:pt idx="296">
                  <c:v>44440</c:v>
                </c:pt>
                <c:pt idx="297">
                  <c:v>44470</c:v>
                </c:pt>
                <c:pt idx="298">
                  <c:v>44501</c:v>
                </c:pt>
                <c:pt idx="299">
                  <c:v>44531</c:v>
                </c:pt>
                <c:pt idx="300">
                  <c:v>44562</c:v>
                </c:pt>
                <c:pt idx="301">
                  <c:v>44593</c:v>
                </c:pt>
                <c:pt idx="302">
                  <c:v>44621</c:v>
                </c:pt>
                <c:pt idx="303">
                  <c:v>44652</c:v>
                </c:pt>
                <c:pt idx="304">
                  <c:v>44682</c:v>
                </c:pt>
                <c:pt idx="305">
                  <c:v>44713</c:v>
                </c:pt>
                <c:pt idx="306">
                  <c:v>44743</c:v>
                </c:pt>
                <c:pt idx="307">
                  <c:v>44774</c:v>
                </c:pt>
                <c:pt idx="308">
                  <c:v>44805</c:v>
                </c:pt>
              </c:numCache>
            </c:numRef>
          </c:cat>
          <c:val>
            <c:numRef>
              <c:f>Sheet1!$B$2:$B$310</c:f>
              <c:numCache>
                <c:formatCode>General</c:formatCode>
                <c:ptCount val="309"/>
                <c:pt idx="0">
                  <c:v>5.9375</c:v>
                </c:pt>
                <c:pt idx="1">
                  <c:v>5.9375</c:v>
                </c:pt>
                <c:pt idx="2">
                  <c:v>5.9375</c:v>
                </c:pt>
                <c:pt idx="3">
                  <c:v>5.9375</c:v>
                </c:pt>
                <c:pt idx="4">
                  <c:v>6.2187999999999999</c:v>
                </c:pt>
                <c:pt idx="5">
                  <c:v>6.4523999999999999</c:v>
                </c:pt>
                <c:pt idx="6">
                  <c:v>6.6738999999999997</c:v>
                </c:pt>
                <c:pt idx="7" formatCode="0.00">
                  <c:v>6.95</c:v>
                </c:pt>
                <c:pt idx="8" formatCode="0">
                  <c:v>7</c:v>
                </c:pt>
                <c:pt idx="9" formatCode="0">
                  <c:v>7</c:v>
                </c:pt>
                <c:pt idx="10">
                  <c:v>7.2125000000000004</c:v>
                </c:pt>
                <c:pt idx="11" formatCode="0.00">
                  <c:v>7.25</c:v>
                </c:pt>
                <c:pt idx="12" formatCode="0.00">
                  <c:v>7.25</c:v>
                </c:pt>
                <c:pt idx="13" formatCode="0.00">
                  <c:v>7.25</c:v>
                </c:pt>
                <c:pt idx="14" formatCode="0.00">
                  <c:v>7.25</c:v>
                </c:pt>
                <c:pt idx="15" formatCode="0.00">
                  <c:v>7.25</c:v>
                </c:pt>
                <c:pt idx="16" formatCode="0.00">
                  <c:v>7.25</c:v>
                </c:pt>
                <c:pt idx="17">
                  <c:v>7.4659000000000004</c:v>
                </c:pt>
                <c:pt idx="18">
                  <c:v>7.5</c:v>
                </c:pt>
                <c:pt idx="19">
                  <c:v>7.5</c:v>
                </c:pt>
                <c:pt idx="20">
                  <c:v>7.5</c:v>
                </c:pt>
                <c:pt idx="21">
                  <c:v>7.3068</c:v>
                </c:pt>
                <c:pt idx="22">
                  <c:v>6.8213999999999997</c:v>
                </c:pt>
                <c:pt idx="23">
                  <c:v>6.4166999999999996</c:v>
                </c:pt>
                <c:pt idx="24">
                  <c:v>6.0374999999999996</c:v>
                </c:pt>
                <c:pt idx="25">
                  <c:v>5.5750000000000002</c:v>
                </c:pt>
                <c:pt idx="26">
                  <c:v>5.5</c:v>
                </c:pt>
                <c:pt idx="27">
                  <c:v>5.2874999999999996</c:v>
                </c:pt>
                <c:pt idx="28" formatCode="0.00">
                  <c:v>5.25</c:v>
                </c:pt>
                <c:pt idx="29">
                  <c:v>5.0795000000000003</c:v>
                </c:pt>
                <c:pt idx="30" formatCode="0">
                  <c:v>5</c:v>
                </c:pt>
                <c:pt idx="31" formatCode="0">
                  <c:v>5</c:v>
                </c:pt>
                <c:pt idx="32">
                  <c:v>5.1932</c:v>
                </c:pt>
                <c:pt idx="33" formatCode="0.00">
                  <c:v>5.25</c:v>
                </c:pt>
                <c:pt idx="34">
                  <c:v>5.4659000000000004</c:v>
                </c:pt>
                <c:pt idx="35">
                  <c:v>5.5</c:v>
                </c:pt>
                <c:pt idx="36">
                  <c:v>5.6624999999999996</c:v>
                </c:pt>
                <c:pt idx="37">
                  <c:v>5.9166999999999996</c:v>
                </c:pt>
                <c:pt idx="38" formatCode="0">
                  <c:v>6</c:v>
                </c:pt>
                <c:pt idx="39" formatCode="0">
                  <c:v>6</c:v>
                </c:pt>
                <c:pt idx="40" formatCode="0">
                  <c:v>6</c:v>
                </c:pt>
                <c:pt idx="41" formatCode="0">
                  <c:v>6</c:v>
                </c:pt>
                <c:pt idx="42" formatCode="0">
                  <c:v>6</c:v>
                </c:pt>
                <c:pt idx="43" formatCode="0">
                  <c:v>6</c:v>
                </c:pt>
                <c:pt idx="44" formatCode="0">
                  <c:v>6</c:v>
                </c:pt>
                <c:pt idx="45" formatCode="0">
                  <c:v>6</c:v>
                </c:pt>
                <c:pt idx="46" formatCode="0">
                  <c:v>6</c:v>
                </c:pt>
                <c:pt idx="47" formatCode="0">
                  <c:v>6</c:v>
                </c:pt>
                <c:pt idx="48" formatCode="0">
                  <c:v>6</c:v>
                </c:pt>
                <c:pt idx="49">
                  <c:v>5.8125</c:v>
                </c:pt>
                <c:pt idx="50" formatCode="0.00">
                  <c:v>5.75</c:v>
                </c:pt>
                <c:pt idx="51">
                  <c:v>5.5395000000000003</c:v>
                </c:pt>
                <c:pt idx="52">
                  <c:v>5.3213999999999997</c:v>
                </c:pt>
                <c:pt idx="53" formatCode="0.00">
                  <c:v>5.25</c:v>
                </c:pt>
                <c:pt idx="54" formatCode="0.00">
                  <c:v>5.25</c:v>
                </c:pt>
                <c:pt idx="55">
                  <c:v>5.0114000000000001</c:v>
                </c:pt>
                <c:pt idx="56">
                  <c:v>4.8875000000000002</c:v>
                </c:pt>
                <c:pt idx="57">
                  <c:v>4.5326000000000004</c:v>
                </c:pt>
                <c:pt idx="58">
                  <c:v>4.1135999999999999</c:v>
                </c:pt>
                <c:pt idx="59" formatCode="0">
                  <c:v>4</c:v>
                </c:pt>
                <c:pt idx="60" formatCode="0">
                  <c:v>4</c:v>
                </c:pt>
                <c:pt idx="61" formatCode="0">
                  <c:v>4</c:v>
                </c:pt>
                <c:pt idx="62" formatCode="0">
                  <c:v>4</c:v>
                </c:pt>
                <c:pt idx="63" formatCode="0">
                  <c:v>4</c:v>
                </c:pt>
                <c:pt idx="64" formatCode="0">
                  <c:v>4</c:v>
                </c:pt>
                <c:pt idx="65" formatCode="0">
                  <c:v>4</c:v>
                </c:pt>
                <c:pt idx="66" formatCode="0">
                  <c:v>4</c:v>
                </c:pt>
                <c:pt idx="67" formatCode="0">
                  <c:v>4</c:v>
                </c:pt>
                <c:pt idx="68" formatCode="0">
                  <c:v>4</c:v>
                </c:pt>
                <c:pt idx="69" formatCode="0">
                  <c:v>4</c:v>
                </c:pt>
                <c:pt idx="70" formatCode="0">
                  <c:v>4</c:v>
                </c:pt>
                <c:pt idx="71" formatCode="0">
                  <c:v>4</c:v>
                </c:pt>
                <c:pt idx="72" formatCode="0">
                  <c:v>4</c:v>
                </c:pt>
                <c:pt idx="73">
                  <c:v>3.7875000000000001</c:v>
                </c:pt>
                <c:pt idx="74" formatCode="0.00">
                  <c:v>3.75</c:v>
                </c:pt>
                <c:pt idx="75" formatCode="0.00">
                  <c:v>3.75</c:v>
                </c:pt>
                <c:pt idx="76" formatCode="0.00">
                  <c:v>3.75</c:v>
                </c:pt>
                <c:pt idx="77" formatCode="0.00">
                  <c:v>3.75</c:v>
                </c:pt>
                <c:pt idx="78">
                  <c:v>3.5760999999999998</c:v>
                </c:pt>
                <c:pt idx="79">
                  <c:v>3.5</c:v>
                </c:pt>
                <c:pt idx="80">
                  <c:v>3.5</c:v>
                </c:pt>
                <c:pt idx="81">
                  <c:v>3.5</c:v>
                </c:pt>
                <c:pt idx="82">
                  <c:v>3.7124999999999999</c:v>
                </c:pt>
                <c:pt idx="83" formatCode="0.00">
                  <c:v>3.75</c:v>
                </c:pt>
                <c:pt idx="84" formatCode="0.00">
                  <c:v>3.75</c:v>
                </c:pt>
                <c:pt idx="85">
                  <c:v>3.9624999999999999</c:v>
                </c:pt>
                <c:pt idx="86" formatCode="0">
                  <c:v>4</c:v>
                </c:pt>
                <c:pt idx="87" formatCode="0">
                  <c:v>4</c:v>
                </c:pt>
                <c:pt idx="88">
                  <c:v>4.2237</c:v>
                </c:pt>
                <c:pt idx="89">
                  <c:v>4.4204999999999997</c:v>
                </c:pt>
                <c:pt idx="90">
                  <c:v>4.5</c:v>
                </c:pt>
                <c:pt idx="91">
                  <c:v>4.7142999999999997</c:v>
                </c:pt>
                <c:pt idx="92" formatCode="0.00">
                  <c:v>4.75</c:v>
                </c:pt>
                <c:pt idx="93" formatCode="0.00">
                  <c:v>4.75</c:v>
                </c:pt>
                <c:pt idx="94" formatCode="0.00">
                  <c:v>4.75</c:v>
                </c:pt>
                <c:pt idx="95" formatCode="0.00">
                  <c:v>4.75</c:v>
                </c:pt>
                <c:pt idx="96" formatCode="0.00">
                  <c:v>4.75</c:v>
                </c:pt>
                <c:pt idx="97" formatCode="0.00">
                  <c:v>4.75</c:v>
                </c:pt>
                <c:pt idx="98" formatCode="0.00">
                  <c:v>4.75</c:v>
                </c:pt>
                <c:pt idx="99" formatCode="0.00">
                  <c:v>4.75</c:v>
                </c:pt>
                <c:pt idx="100" formatCode="0.00">
                  <c:v>4.75</c:v>
                </c:pt>
                <c:pt idx="101" formatCode="0.00">
                  <c:v>4.75</c:v>
                </c:pt>
                <c:pt idx="102" formatCode="0.00">
                  <c:v>4.75</c:v>
                </c:pt>
                <c:pt idx="103">
                  <c:v>4.5340999999999996</c:v>
                </c:pt>
                <c:pt idx="104">
                  <c:v>4.5</c:v>
                </c:pt>
                <c:pt idx="105">
                  <c:v>4.5</c:v>
                </c:pt>
                <c:pt idx="106">
                  <c:v>4.5</c:v>
                </c:pt>
                <c:pt idx="107">
                  <c:v>4.5</c:v>
                </c:pt>
                <c:pt idx="108">
                  <c:v>4.5</c:v>
                </c:pt>
                <c:pt idx="109">
                  <c:v>4.5</c:v>
                </c:pt>
                <c:pt idx="110">
                  <c:v>4.5</c:v>
                </c:pt>
                <c:pt idx="111">
                  <c:v>4.5</c:v>
                </c:pt>
                <c:pt idx="112">
                  <c:v>4.5</c:v>
                </c:pt>
                <c:pt idx="113">
                  <c:v>4.5</c:v>
                </c:pt>
                <c:pt idx="114">
                  <c:v>4.5</c:v>
                </c:pt>
                <c:pt idx="115">
                  <c:v>4.7272999999999996</c:v>
                </c:pt>
                <c:pt idx="116" formatCode="0.00">
                  <c:v>4.75</c:v>
                </c:pt>
                <c:pt idx="117" formatCode="0.00">
                  <c:v>4.75</c:v>
                </c:pt>
                <c:pt idx="118">
                  <c:v>4.9318</c:v>
                </c:pt>
                <c:pt idx="119" formatCode="0">
                  <c:v>5</c:v>
                </c:pt>
                <c:pt idx="120">
                  <c:v>5.1704999999999997</c:v>
                </c:pt>
                <c:pt idx="121" formatCode="0.00">
                  <c:v>5.25</c:v>
                </c:pt>
                <c:pt idx="122" formatCode="0.00">
                  <c:v>5.25</c:v>
                </c:pt>
                <c:pt idx="123" formatCode="0.00">
                  <c:v>5.25</c:v>
                </c:pt>
                <c:pt idx="124">
                  <c:v>5.4286000000000003</c:v>
                </c:pt>
                <c:pt idx="125">
                  <c:v>5.5</c:v>
                </c:pt>
                <c:pt idx="126">
                  <c:v>5.7159000000000004</c:v>
                </c:pt>
                <c:pt idx="127" formatCode="0.00">
                  <c:v>5.75</c:v>
                </c:pt>
                <c:pt idx="128" formatCode="0.00">
                  <c:v>5.75</c:v>
                </c:pt>
                <c:pt idx="129" formatCode="0.00">
                  <c:v>5.75</c:v>
                </c:pt>
                <c:pt idx="130" formatCode="0.00">
                  <c:v>5.75</c:v>
                </c:pt>
                <c:pt idx="131">
                  <c:v>5.5395000000000003</c:v>
                </c:pt>
                <c:pt idx="132">
                  <c:v>5.5</c:v>
                </c:pt>
                <c:pt idx="133">
                  <c:v>5.2976000000000001</c:v>
                </c:pt>
                <c:pt idx="134" formatCode="0.00">
                  <c:v>5.25</c:v>
                </c:pt>
                <c:pt idx="135">
                  <c:v>5.0795000000000003</c:v>
                </c:pt>
                <c:pt idx="136" formatCode="0">
                  <c:v>5</c:v>
                </c:pt>
                <c:pt idx="137" formatCode="0">
                  <c:v>5</c:v>
                </c:pt>
                <c:pt idx="138" formatCode="0">
                  <c:v>5</c:v>
                </c:pt>
                <c:pt idx="139" formatCode="0">
                  <c:v>5</c:v>
                </c:pt>
                <c:pt idx="140" formatCode="0">
                  <c:v>5</c:v>
                </c:pt>
                <c:pt idx="141">
                  <c:v>4.6086999999999998</c:v>
                </c:pt>
                <c:pt idx="142">
                  <c:v>3.2250000000000001</c:v>
                </c:pt>
                <c:pt idx="143">
                  <c:v>2.1429</c:v>
                </c:pt>
                <c:pt idx="144">
                  <c:v>1.5952</c:v>
                </c:pt>
                <c:pt idx="145">
                  <c:v>1.075</c:v>
                </c:pt>
                <c:pt idx="146">
                  <c:v>0.56820000000000004</c:v>
                </c:pt>
                <c:pt idx="147">
                  <c:v>0.5</c:v>
                </c:pt>
                <c:pt idx="148">
                  <c:v>0.5</c:v>
                </c:pt>
                <c:pt idx="149">
                  <c:v>0.5</c:v>
                </c:pt>
                <c:pt idx="150">
                  <c:v>0.5</c:v>
                </c:pt>
                <c:pt idx="151">
                  <c:v>0.5</c:v>
                </c:pt>
                <c:pt idx="152">
                  <c:v>0.5</c:v>
                </c:pt>
                <c:pt idx="153">
                  <c:v>0.5</c:v>
                </c:pt>
                <c:pt idx="154">
                  <c:v>0.5</c:v>
                </c:pt>
                <c:pt idx="155">
                  <c:v>0.5</c:v>
                </c:pt>
                <c:pt idx="156">
                  <c:v>0.5</c:v>
                </c:pt>
                <c:pt idx="157">
                  <c:v>0.5</c:v>
                </c:pt>
                <c:pt idx="158">
                  <c:v>0.5</c:v>
                </c:pt>
                <c:pt idx="159">
                  <c:v>0.5</c:v>
                </c:pt>
                <c:pt idx="160">
                  <c:v>0.5</c:v>
                </c:pt>
                <c:pt idx="161">
                  <c:v>0.5</c:v>
                </c:pt>
                <c:pt idx="162">
                  <c:v>0.5</c:v>
                </c:pt>
                <c:pt idx="163">
                  <c:v>0.5</c:v>
                </c:pt>
                <c:pt idx="164">
                  <c:v>0.5</c:v>
                </c:pt>
                <c:pt idx="165">
                  <c:v>0.5</c:v>
                </c:pt>
                <c:pt idx="166">
                  <c:v>0.5</c:v>
                </c:pt>
                <c:pt idx="167">
                  <c:v>0.5</c:v>
                </c:pt>
                <c:pt idx="168">
                  <c:v>0.5</c:v>
                </c:pt>
                <c:pt idx="169">
                  <c:v>0.5</c:v>
                </c:pt>
                <c:pt idx="170">
                  <c:v>0.5</c:v>
                </c:pt>
                <c:pt idx="171">
                  <c:v>0.5</c:v>
                </c:pt>
                <c:pt idx="172">
                  <c:v>0.5</c:v>
                </c:pt>
                <c:pt idx="173">
                  <c:v>0.5</c:v>
                </c:pt>
                <c:pt idx="174">
                  <c:v>0.5</c:v>
                </c:pt>
                <c:pt idx="175">
                  <c:v>0.5</c:v>
                </c:pt>
                <c:pt idx="176">
                  <c:v>0.5</c:v>
                </c:pt>
                <c:pt idx="177">
                  <c:v>0.5</c:v>
                </c:pt>
                <c:pt idx="178">
                  <c:v>0.5</c:v>
                </c:pt>
                <c:pt idx="179">
                  <c:v>0.5</c:v>
                </c:pt>
                <c:pt idx="180">
                  <c:v>0.5</c:v>
                </c:pt>
                <c:pt idx="181">
                  <c:v>0.5</c:v>
                </c:pt>
                <c:pt idx="182">
                  <c:v>0.5</c:v>
                </c:pt>
                <c:pt idx="183">
                  <c:v>0.5</c:v>
                </c:pt>
                <c:pt idx="184">
                  <c:v>0.5</c:v>
                </c:pt>
                <c:pt idx="185">
                  <c:v>0.5</c:v>
                </c:pt>
                <c:pt idx="186">
                  <c:v>0.5</c:v>
                </c:pt>
                <c:pt idx="187">
                  <c:v>0.5</c:v>
                </c:pt>
                <c:pt idx="188">
                  <c:v>0.5</c:v>
                </c:pt>
                <c:pt idx="189">
                  <c:v>0.5</c:v>
                </c:pt>
                <c:pt idx="190">
                  <c:v>0.5</c:v>
                </c:pt>
                <c:pt idx="191">
                  <c:v>0.5</c:v>
                </c:pt>
                <c:pt idx="192">
                  <c:v>0.5</c:v>
                </c:pt>
                <c:pt idx="193">
                  <c:v>0.5</c:v>
                </c:pt>
                <c:pt idx="194">
                  <c:v>0.5</c:v>
                </c:pt>
                <c:pt idx="195">
                  <c:v>0.5</c:v>
                </c:pt>
                <c:pt idx="196">
                  <c:v>0.5</c:v>
                </c:pt>
                <c:pt idx="197">
                  <c:v>0.5</c:v>
                </c:pt>
                <c:pt idx="198">
                  <c:v>0.5</c:v>
                </c:pt>
                <c:pt idx="199">
                  <c:v>0.5</c:v>
                </c:pt>
                <c:pt idx="200">
                  <c:v>0.5</c:v>
                </c:pt>
                <c:pt idx="201">
                  <c:v>0.5</c:v>
                </c:pt>
                <c:pt idx="202">
                  <c:v>0.5</c:v>
                </c:pt>
                <c:pt idx="203">
                  <c:v>0.5</c:v>
                </c:pt>
                <c:pt idx="204">
                  <c:v>0.5</c:v>
                </c:pt>
                <c:pt idx="205">
                  <c:v>0.5</c:v>
                </c:pt>
                <c:pt idx="206">
                  <c:v>0.5</c:v>
                </c:pt>
                <c:pt idx="207">
                  <c:v>0.5</c:v>
                </c:pt>
                <c:pt idx="208">
                  <c:v>0.5</c:v>
                </c:pt>
                <c:pt idx="209">
                  <c:v>0.5</c:v>
                </c:pt>
                <c:pt idx="210">
                  <c:v>0.5</c:v>
                </c:pt>
                <c:pt idx="211">
                  <c:v>0.5</c:v>
                </c:pt>
                <c:pt idx="212">
                  <c:v>0.5</c:v>
                </c:pt>
                <c:pt idx="213">
                  <c:v>0.5</c:v>
                </c:pt>
                <c:pt idx="214">
                  <c:v>0.5</c:v>
                </c:pt>
                <c:pt idx="215">
                  <c:v>0.5</c:v>
                </c:pt>
                <c:pt idx="216">
                  <c:v>0.5</c:v>
                </c:pt>
                <c:pt idx="217">
                  <c:v>0.5</c:v>
                </c:pt>
                <c:pt idx="218">
                  <c:v>0.5</c:v>
                </c:pt>
                <c:pt idx="219">
                  <c:v>0.5</c:v>
                </c:pt>
                <c:pt idx="220">
                  <c:v>0.5</c:v>
                </c:pt>
                <c:pt idx="221">
                  <c:v>0.5</c:v>
                </c:pt>
                <c:pt idx="222">
                  <c:v>0.5</c:v>
                </c:pt>
                <c:pt idx="223">
                  <c:v>0.5</c:v>
                </c:pt>
                <c:pt idx="224">
                  <c:v>0.5</c:v>
                </c:pt>
                <c:pt idx="225">
                  <c:v>0.5</c:v>
                </c:pt>
                <c:pt idx="226">
                  <c:v>0.5</c:v>
                </c:pt>
                <c:pt idx="227">
                  <c:v>0.5</c:v>
                </c:pt>
                <c:pt idx="228">
                  <c:v>0.5</c:v>
                </c:pt>
                <c:pt idx="229">
                  <c:v>0.5</c:v>
                </c:pt>
                <c:pt idx="230">
                  <c:v>0.5</c:v>
                </c:pt>
                <c:pt idx="231">
                  <c:v>0.5</c:v>
                </c:pt>
                <c:pt idx="232">
                  <c:v>0.5</c:v>
                </c:pt>
                <c:pt idx="233">
                  <c:v>0.5</c:v>
                </c:pt>
                <c:pt idx="234">
                  <c:v>0.5</c:v>
                </c:pt>
                <c:pt idx="235">
                  <c:v>0.28410000000000002</c:v>
                </c:pt>
                <c:pt idx="236" formatCode="0.00">
                  <c:v>0.25</c:v>
                </c:pt>
                <c:pt idx="237" formatCode="0.00">
                  <c:v>0.25</c:v>
                </c:pt>
                <c:pt idx="238" formatCode="0.00">
                  <c:v>0.25</c:v>
                </c:pt>
                <c:pt idx="239" formatCode="0.00">
                  <c:v>0.25</c:v>
                </c:pt>
                <c:pt idx="240" formatCode="0.00">
                  <c:v>0.25</c:v>
                </c:pt>
                <c:pt idx="241" formatCode="0.00">
                  <c:v>0.25</c:v>
                </c:pt>
                <c:pt idx="242" formatCode="0.00">
                  <c:v>0.25</c:v>
                </c:pt>
                <c:pt idx="243" formatCode="0.00">
                  <c:v>0.25</c:v>
                </c:pt>
                <c:pt idx="244" formatCode="0.00">
                  <c:v>0.25</c:v>
                </c:pt>
                <c:pt idx="245" formatCode="0.00">
                  <c:v>0.25</c:v>
                </c:pt>
                <c:pt idx="246" formatCode="0.00">
                  <c:v>0.25</c:v>
                </c:pt>
                <c:pt idx="247" formatCode="0.00">
                  <c:v>0.25</c:v>
                </c:pt>
                <c:pt idx="248" formatCode="0.00">
                  <c:v>0.25</c:v>
                </c:pt>
                <c:pt idx="249" formatCode="0.00">
                  <c:v>0.25</c:v>
                </c:pt>
                <c:pt idx="250">
                  <c:v>0.48859999999999998</c:v>
                </c:pt>
                <c:pt idx="251">
                  <c:v>0.5</c:v>
                </c:pt>
                <c:pt idx="252">
                  <c:v>0.5</c:v>
                </c:pt>
                <c:pt idx="253">
                  <c:v>0.5</c:v>
                </c:pt>
                <c:pt idx="254">
                  <c:v>0.5</c:v>
                </c:pt>
                <c:pt idx="255">
                  <c:v>0.5</c:v>
                </c:pt>
                <c:pt idx="256">
                  <c:v>0.5</c:v>
                </c:pt>
                <c:pt idx="257">
                  <c:v>0.5</c:v>
                </c:pt>
                <c:pt idx="258">
                  <c:v>0.5</c:v>
                </c:pt>
                <c:pt idx="259">
                  <c:v>0.73860000000000003</c:v>
                </c:pt>
                <c:pt idx="260" formatCode="0.00">
                  <c:v>0.75</c:v>
                </c:pt>
                <c:pt idx="261" formatCode="0.00">
                  <c:v>0.75</c:v>
                </c:pt>
                <c:pt idx="262" formatCode="0.00">
                  <c:v>0.75</c:v>
                </c:pt>
                <c:pt idx="263" formatCode="0.00">
                  <c:v>0.75</c:v>
                </c:pt>
                <c:pt idx="264" formatCode="0.00">
                  <c:v>0.75</c:v>
                </c:pt>
                <c:pt idx="265" formatCode="0.00">
                  <c:v>0.75</c:v>
                </c:pt>
                <c:pt idx="266" formatCode="0.00">
                  <c:v>0.75</c:v>
                </c:pt>
                <c:pt idx="267" formatCode="0.00">
                  <c:v>0.75</c:v>
                </c:pt>
                <c:pt idx="268" formatCode="0.00">
                  <c:v>0.75</c:v>
                </c:pt>
                <c:pt idx="269" formatCode="0.00">
                  <c:v>0.75</c:v>
                </c:pt>
                <c:pt idx="270" formatCode="0.00">
                  <c:v>0.75</c:v>
                </c:pt>
                <c:pt idx="271" formatCode="0.00">
                  <c:v>0.75</c:v>
                </c:pt>
                <c:pt idx="272" formatCode="0.00">
                  <c:v>0.75</c:v>
                </c:pt>
                <c:pt idx="273" formatCode="0.00">
                  <c:v>0.75</c:v>
                </c:pt>
                <c:pt idx="274" formatCode="0.00">
                  <c:v>0.75</c:v>
                </c:pt>
                <c:pt idx="275" formatCode="0.00">
                  <c:v>0.75</c:v>
                </c:pt>
                <c:pt idx="276" formatCode="0.00">
                  <c:v>0.75</c:v>
                </c:pt>
                <c:pt idx="277" formatCode="0.00">
                  <c:v>0.75</c:v>
                </c:pt>
                <c:pt idx="278">
                  <c:v>0.34770000000000001</c:v>
                </c:pt>
                <c:pt idx="279">
                  <c:v>0.1</c:v>
                </c:pt>
                <c:pt idx="280">
                  <c:v>0.1</c:v>
                </c:pt>
                <c:pt idx="281">
                  <c:v>0.1</c:v>
                </c:pt>
                <c:pt idx="282">
                  <c:v>0.1</c:v>
                </c:pt>
                <c:pt idx="283">
                  <c:v>0.1</c:v>
                </c:pt>
                <c:pt idx="284">
                  <c:v>0.1</c:v>
                </c:pt>
                <c:pt idx="285">
                  <c:v>0.1</c:v>
                </c:pt>
                <c:pt idx="286">
                  <c:v>0.1</c:v>
                </c:pt>
                <c:pt idx="287">
                  <c:v>0.1</c:v>
                </c:pt>
                <c:pt idx="288">
                  <c:v>0.1</c:v>
                </c:pt>
                <c:pt idx="289">
                  <c:v>0.1</c:v>
                </c:pt>
                <c:pt idx="290">
                  <c:v>0.1</c:v>
                </c:pt>
                <c:pt idx="291">
                  <c:v>0.1</c:v>
                </c:pt>
                <c:pt idx="292">
                  <c:v>0.1</c:v>
                </c:pt>
                <c:pt idx="293">
                  <c:v>0.1</c:v>
                </c:pt>
                <c:pt idx="294">
                  <c:v>0.1</c:v>
                </c:pt>
                <c:pt idx="295">
                  <c:v>0.1</c:v>
                </c:pt>
                <c:pt idx="296">
                  <c:v>0.1</c:v>
                </c:pt>
                <c:pt idx="297">
                  <c:v>0.1</c:v>
                </c:pt>
                <c:pt idx="298">
                  <c:v>0.1</c:v>
                </c:pt>
                <c:pt idx="299">
                  <c:v>0.1714</c:v>
                </c:pt>
                <c:pt idx="300" formatCode="0.00">
                  <c:v>0.25</c:v>
                </c:pt>
                <c:pt idx="301">
                  <c:v>0.47499999999999998</c:v>
                </c:pt>
                <c:pt idx="302">
                  <c:v>0.61960000000000004</c:v>
                </c:pt>
                <c:pt idx="303" formatCode="0.00">
                  <c:v>0.75</c:v>
                </c:pt>
                <c:pt idx="304">
                  <c:v>0.97619999999999996</c:v>
                </c:pt>
                <c:pt idx="305">
                  <c:v>1.1375</c:v>
                </c:pt>
                <c:pt idx="306">
                  <c:v>1.25</c:v>
                </c:pt>
                <c:pt idx="307">
                  <c:v>1.6818</c:v>
                </c:pt>
                <c:pt idx="308">
                  <c:v>1.9167000000000001</c:v>
                </c:pt>
              </c:numCache>
            </c:numRef>
          </c:val>
          <c:smooth val="0"/>
          <c:extLst>
            <c:ext xmlns:c16="http://schemas.microsoft.com/office/drawing/2014/chart" uri="{C3380CC4-5D6E-409C-BE32-E72D297353CC}">
              <c16:uniqueId val="{00000000-3052-4B72-A39C-F8B47A0BFAC4}"/>
            </c:ext>
          </c:extLst>
        </c:ser>
        <c:ser>
          <c:idx val="2"/>
          <c:order val="1"/>
          <c:tx>
            <c:strRef>
              <c:f>Sheet1!$C$1</c:f>
              <c:strCache>
                <c:ptCount val="1"/>
                <c:pt idx="0">
                  <c:v>SONIA (overnight borrowing by banks)</c:v>
                </c:pt>
              </c:strCache>
            </c:strRef>
          </c:tx>
          <c:spPr>
            <a:ln w="31750">
              <a:solidFill>
                <a:srgbClr val="009900"/>
              </a:solidFill>
              <a:prstDash val="solid"/>
            </a:ln>
          </c:spPr>
          <c:marker>
            <c:symbol val="none"/>
          </c:marker>
          <c:cat>
            <c:numRef>
              <c:f>Sheet1!$A$2:$A$310</c:f>
              <c:numCache>
                <c:formatCode>mmm\-yy</c:formatCode>
                <c:ptCount val="309"/>
                <c:pt idx="0">
                  <c:v>35431</c:v>
                </c:pt>
                <c:pt idx="1">
                  <c:v>35462</c:v>
                </c:pt>
                <c:pt idx="2">
                  <c:v>35490</c:v>
                </c:pt>
                <c:pt idx="3">
                  <c:v>35521</c:v>
                </c:pt>
                <c:pt idx="4">
                  <c:v>35551</c:v>
                </c:pt>
                <c:pt idx="5">
                  <c:v>35582</c:v>
                </c:pt>
                <c:pt idx="6">
                  <c:v>35612</c:v>
                </c:pt>
                <c:pt idx="7">
                  <c:v>35643</c:v>
                </c:pt>
                <c:pt idx="8">
                  <c:v>35674</c:v>
                </c:pt>
                <c:pt idx="9">
                  <c:v>35704</c:v>
                </c:pt>
                <c:pt idx="10">
                  <c:v>35735</c:v>
                </c:pt>
                <c:pt idx="11">
                  <c:v>35765</c:v>
                </c:pt>
                <c:pt idx="12">
                  <c:v>35796</c:v>
                </c:pt>
                <c:pt idx="13">
                  <c:v>35827</c:v>
                </c:pt>
                <c:pt idx="14">
                  <c:v>35855</c:v>
                </c:pt>
                <c:pt idx="15">
                  <c:v>35886</c:v>
                </c:pt>
                <c:pt idx="16">
                  <c:v>35916</c:v>
                </c:pt>
                <c:pt idx="17">
                  <c:v>35947</c:v>
                </c:pt>
                <c:pt idx="18">
                  <c:v>35977</c:v>
                </c:pt>
                <c:pt idx="19">
                  <c:v>36008</c:v>
                </c:pt>
                <c:pt idx="20">
                  <c:v>36039</c:v>
                </c:pt>
                <c:pt idx="21">
                  <c:v>36069</c:v>
                </c:pt>
                <c:pt idx="22">
                  <c:v>36100</c:v>
                </c:pt>
                <c:pt idx="23">
                  <c:v>36130</c:v>
                </c:pt>
                <c:pt idx="24">
                  <c:v>36161</c:v>
                </c:pt>
                <c:pt idx="25">
                  <c:v>36192</c:v>
                </c:pt>
                <c:pt idx="26">
                  <c:v>36220</c:v>
                </c:pt>
                <c:pt idx="27">
                  <c:v>36251</c:v>
                </c:pt>
                <c:pt idx="28">
                  <c:v>36281</c:v>
                </c:pt>
                <c:pt idx="29">
                  <c:v>36312</c:v>
                </c:pt>
                <c:pt idx="30">
                  <c:v>36342</c:v>
                </c:pt>
                <c:pt idx="31">
                  <c:v>36373</c:v>
                </c:pt>
                <c:pt idx="32">
                  <c:v>36404</c:v>
                </c:pt>
                <c:pt idx="33">
                  <c:v>36434</c:v>
                </c:pt>
                <c:pt idx="34">
                  <c:v>36465</c:v>
                </c:pt>
                <c:pt idx="35">
                  <c:v>36495</c:v>
                </c:pt>
                <c:pt idx="36">
                  <c:v>36526</c:v>
                </c:pt>
                <c:pt idx="37">
                  <c:v>36557</c:v>
                </c:pt>
                <c:pt idx="38">
                  <c:v>36586</c:v>
                </c:pt>
                <c:pt idx="39">
                  <c:v>36617</c:v>
                </c:pt>
                <c:pt idx="40">
                  <c:v>36647</c:v>
                </c:pt>
                <c:pt idx="41">
                  <c:v>36678</c:v>
                </c:pt>
                <c:pt idx="42">
                  <c:v>36708</c:v>
                </c:pt>
                <c:pt idx="43">
                  <c:v>36739</c:v>
                </c:pt>
                <c:pt idx="44">
                  <c:v>36770</c:v>
                </c:pt>
                <c:pt idx="45">
                  <c:v>36800</c:v>
                </c:pt>
                <c:pt idx="46">
                  <c:v>36831</c:v>
                </c:pt>
                <c:pt idx="47">
                  <c:v>36861</c:v>
                </c:pt>
                <c:pt idx="48">
                  <c:v>36892</c:v>
                </c:pt>
                <c:pt idx="49">
                  <c:v>36923</c:v>
                </c:pt>
                <c:pt idx="50">
                  <c:v>36951</c:v>
                </c:pt>
                <c:pt idx="51">
                  <c:v>36982</c:v>
                </c:pt>
                <c:pt idx="52">
                  <c:v>37012</c:v>
                </c:pt>
                <c:pt idx="53">
                  <c:v>37043</c:v>
                </c:pt>
                <c:pt idx="54">
                  <c:v>37073</c:v>
                </c:pt>
                <c:pt idx="55">
                  <c:v>37104</c:v>
                </c:pt>
                <c:pt idx="56">
                  <c:v>37135</c:v>
                </c:pt>
                <c:pt idx="57">
                  <c:v>37165</c:v>
                </c:pt>
                <c:pt idx="58">
                  <c:v>37196</c:v>
                </c:pt>
                <c:pt idx="59">
                  <c:v>37226</c:v>
                </c:pt>
                <c:pt idx="60">
                  <c:v>37257</c:v>
                </c:pt>
                <c:pt idx="61">
                  <c:v>37288</c:v>
                </c:pt>
                <c:pt idx="62">
                  <c:v>37316</c:v>
                </c:pt>
                <c:pt idx="63">
                  <c:v>37347</c:v>
                </c:pt>
                <c:pt idx="64">
                  <c:v>37377</c:v>
                </c:pt>
                <c:pt idx="65">
                  <c:v>37408</c:v>
                </c:pt>
                <c:pt idx="66">
                  <c:v>37438</c:v>
                </c:pt>
                <c:pt idx="67">
                  <c:v>37469</c:v>
                </c:pt>
                <c:pt idx="68">
                  <c:v>37500</c:v>
                </c:pt>
                <c:pt idx="69">
                  <c:v>37530</c:v>
                </c:pt>
                <c:pt idx="70">
                  <c:v>37561</c:v>
                </c:pt>
                <c:pt idx="71">
                  <c:v>37591</c:v>
                </c:pt>
                <c:pt idx="72">
                  <c:v>37622</c:v>
                </c:pt>
                <c:pt idx="73">
                  <c:v>37653</c:v>
                </c:pt>
                <c:pt idx="74">
                  <c:v>37681</c:v>
                </c:pt>
                <c:pt idx="75">
                  <c:v>37712</c:v>
                </c:pt>
                <c:pt idx="76">
                  <c:v>37742</c:v>
                </c:pt>
                <c:pt idx="77">
                  <c:v>37773</c:v>
                </c:pt>
                <c:pt idx="78">
                  <c:v>37803</c:v>
                </c:pt>
                <c:pt idx="79">
                  <c:v>37834</c:v>
                </c:pt>
                <c:pt idx="80">
                  <c:v>37865</c:v>
                </c:pt>
                <c:pt idx="81">
                  <c:v>37895</c:v>
                </c:pt>
                <c:pt idx="82">
                  <c:v>37926</c:v>
                </c:pt>
                <c:pt idx="83">
                  <c:v>37956</c:v>
                </c:pt>
                <c:pt idx="84">
                  <c:v>37987</c:v>
                </c:pt>
                <c:pt idx="85">
                  <c:v>38018</c:v>
                </c:pt>
                <c:pt idx="86">
                  <c:v>38047</c:v>
                </c:pt>
                <c:pt idx="87">
                  <c:v>38078</c:v>
                </c:pt>
                <c:pt idx="88">
                  <c:v>38108</c:v>
                </c:pt>
                <c:pt idx="89">
                  <c:v>38139</c:v>
                </c:pt>
                <c:pt idx="90">
                  <c:v>38169</c:v>
                </c:pt>
                <c:pt idx="91">
                  <c:v>38200</c:v>
                </c:pt>
                <c:pt idx="92">
                  <c:v>38231</c:v>
                </c:pt>
                <c:pt idx="93">
                  <c:v>38261</c:v>
                </c:pt>
                <c:pt idx="94">
                  <c:v>38292</c:v>
                </c:pt>
                <c:pt idx="95">
                  <c:v>38322</c:v>
                </c:pt>
                <c:pt idx="96">
                  <c:v>38353</c:v>
                </c:pt>
                <c:pt idx="97">
                  <c:v>38384</c:v>
                </c:pt>
                <c:pt idx="98">
                  <c:v>38412</c:v>
                </c:pt>
                <c:pt idx="99">
                  <c:v>38443</c:v>
                </c:pt>
                <c:pt idx="100">
                  <c:v>38473</c:v>
                </c:pt>
                <c:pt idx="101">
                  <c:v>38504</c:v>
                </c:pt>
                <c:pt idx="102">
                  <c:v>38534</c:v>
                </c:pt>
                <c:pt idx="103">
                  <c:v>38565</c:v>
                </c:pt>
                <c:pt idx="104">
                  <c:v>38596</c:v>
                </c:pt>
                <c:pt idx="105">
                  <c:v>38626</c:v>
                </c:pt>
                <c:pt idx="106">
                  <c:v>38657</c:v>
                </c:pt>
                <c:pt idx="107">
                  <c:v>38687</c:v>
                </c:pt>
                <c:pt idx="108">
                  <c:v>38718</c:v>
                </c:pt>
                <c:pt idx="109">
                  <c:v>38749</c:v>
                </c:pt>
                <c:pt idx="110">
                  <c:v>38777</c:v>
                </c:pt>
                <c:pt idx="111">
                  <c:v>38808</c:v>
                </c:pt>
                <c:pt idx="112">
                  <c:v>38838</c:v>
                </c:pt>
                <c:pt idx="113">
                  <c:v>38869</c:v>
                </c:pt>
                <c:pt idx="114">
                  <c:v>38899</c:v>
                </c:pt>
                <c:pt idx="115">
                  <c:v>38930</c:v>
                </c:pt>
                <c:pt idx="116">
                  <c:v>38961</c:v>
                </c:pt>
                <c:pt idx="117">
                  <c:v>38991</c:v>
                </c:pt>
                <c:pt idx="118">
                  <c:v>39022</c:v>
                </c:pt>
                <c:pt idx="119">
                  <c:v>39052</c:v>
                </c:pt>
                <c:pt idx="120">
                  <c:v>39083</c:v>
                </c:pt>
                <c:pt idx="121">
                  <c:v>39114</c:v>
                </c:pt>
                <c:pt idx="122">
                  <c:v>39142</c:v>
                </c:pt>
                <c:pt idx="123">
                  <c:v>39173</c:v>
                </c:pt>
                <c:pt idx="124">
                  <c:v>39203</c:v>
                </c:pt>
                <c:pt idx="125">
                  <c:v>39234</c:v>
                </c:pt>
                <c:pt idx="126">
                  <c:v>39264</c:v>
                </c:pt>
                <c:pt idx="127">
                  <c:v>39295</c:v>
                </c:pt>
                <c:pt idx="128">
                  <c:v>39326</c:v>
                </c:pt>
                <c:pt idx="129">
                  <c:v>39356</c:v>
                </c:pt>
                <c:pt idx="130">
                  <c:v>39387</c:v>
                </c:pt>
                <c:pt idx="131">
                  <c:v>39417</c:v>
                </c:pt>
                <c:pt idx="132">
                  <c:v>39448</c:v>
                </c:pt>
                <c:pt idx="133">
                  <c:v>39479</c:v>
                </c:pt>
                <c:pt idx="134">
                  <c:v>39508</c:v>
                </c:pt>
                <c:pt idx="135">
                  <c:v>39539</c:v>
                </c:pt>
                <c:pt idx="136">
                  <c:v>39569</c:v>
                </c:pt>
                <c:pt idx="137">
                  <c:v>39600</c:v>
                </c:pt>
                <c:pt idx="138">
                  <c:v>39630</c:v>
                </c:pt>
                <c:pt idx="139">
                  <c:v>39661</c:v>
                </c:pt>
                <c:pt idx="140">
                  <c:v>39692</c:v>
                </c:pt>
                <c:pt idx="141">
                  <c:v>39722</c:v>
                </c:pt>
                <c:pt idx="142">
                  <c:v>39753</c:v>
                </c:pt>
                <c:pt idx="143">
                  <c:v>39783</c:v>
                </c:pt>
                <c:pt idx="144">
                  <c:v>39814</c:v>
                </c:pt>
                <c:pt idx="145">
                  <c:v>39845</c:v>
                </c:pt>
                <c:pt idx="146">
                  <c:v>39873</c:v>
                </c:pt>
                <c:pt idx="147">
                  <c:v>39904</c:v>
                </c:pt>
                <c:pt idx="148">
                  <c:v>39934</c:v>
                </c:pt>
                <c:pt idx="149">
                  <c:v>39965</c:v>
                </c:pt>
                <c:pt idx="150">
                  <c:v>39995</c:v>
                </c:pt>
                <c:pt idx="151">
                  <c:v>40026</c:v>
                </c:pt>
                <c:pt idx="152">
                  <c:v>40057</c:v>
                </c:pt>
                <c:pt idx="153">
                  <c:v>40087</c:v>
                </c:pt>
                <c:pt idx="154">
                  <c:v>40118</c:v>
                </c:pt>
                <c:pt idx="155">
                  <c:v>40148</c:v>
                </c:pt>
                <c:pt idx="156">
                  <c:v>40179</c:v>
                </c:pt>
                <c:pt idx="157">
                  <c:v>40210</c:v>
                </c:pt>
                <c:pt idx="158">
                  <c:v>40238</c:v>
                </c:pt>
                <c:pt idx="159">
                  <c:v>40269</c:v>
                </c:pt>
                <c:pt idx="160">
                  <c:v>40299</c:v>
                </c:pt>
                <c:pt idx="161">
                  <c:v>40330</c:v>
                </c:pt>
                <c:pt idx="162">
                  <c:v>40360</c:v>
                </c:pt>
                <c:pt idx="163">
                  <c:v>40391</c:v>
                </c:pt>
                <c:pt idx="164">
                  <c:v>40422</c:v>
                </c:pt>
                <c:pt idx="165">
                  <c:v>40452</c:v>
                </c:pt>
                <c:pt idx="166">
                  <c:v>40483</c:v>
                </c:pt>
                <c:pt idx="167">
                  <c:v>40513</c:v>
                </c:pt>
                <c:pt idx="168">
                  <c:v>40544</c:v>
                </c:pt>
                <c:pt idx="169">
                  <c:v>40575</c:v>
                </c:pt>
                <c:pt idx="170">
                  <c:v>40603</c:v>
                </c:pt>
                <c:pt idx="171">
                  <c:v>40634</c:v>
                </c:pt>
                <c:pt idx="172">
                  <c:v>40664</c:v>
                </c:pt>
                <c:pt idx="173">
                  <c:v>40695</c:v>
                </c:pt>
                <c:pt idx="174">
                  <c:v>40725</c:v>
                </c:pt>
                <c:pt idx="175">
                  <c:v>40756</c:v>
                </c:pt>
                <c:pt idx="176">
                  <c:v>40787</c:v>
                </c:pt>
                <c:pt idx="177">
                  <c:v>40817</c:v>
                </c:pt>
                <c:pt idx="178">
                  <c:v>40848</c:v>
                </c:pt>
                <c:pt idx="179">
                  <c:v>40878</c:v>
                </c:pt>
                <c:pt idx="180">
                  <c:v>40909</c:v>
                </c:pt>
                <c:pt idx="181">
                  <c:v>40940</c:v>
                </c:pt>
                <c:pt idx="182">
                  <c:v>40969</c:v>
                </c:pt>
                <c:pt idx="183">
                  <c:v>41000</c:v>
                </c:pt>
                <c:pt idx="184">
                  <c:v>41030</c:v>
                </c:pt>
                <c:pt idx="185">
                  <c:v>41061</c:v>
                </c:pt>
                <c:pt idx="186">
                  <c:v>41091</c:v>
                </c:pt>
                <c:pt idx="187">
                  <c:v>41122</c:v>
                </c:pt>
                <c:pt idx="188">
                  <c:v>41153</c:v>
                </c:pt>
                <c:pt idx="189">
                  <c:v>41183</c:v>
                </c:pt>
                <c:pt idx="190">
                  <c:v>41214</c:v>
                </c:pt>
                <c:pt idx="191">
                  <c:v>41244</c:v>
                </c:pt>
                <c:pt idx="192">
                  <c:v>41275</c:v>
                </c:pt>
                <c:pt idx="193">
                  <c:v>41306</c:v>
                </c:pt>
                <c:pt idx="194">
                  <c:v>41334</c:v>
                </c:pt>
                <c:pt idx="195">
                  <c:v>41365</c:v>
                </c:pt>
                <c:pt idx="196">
                  <c:v>41395</c:v>
                </c:pt>
                <c:pt idx="197">
                  <c:v>41426</c:v>
                </c:pt>
                <c:pt idx="198">
                  <c:v>41456</c:v>
                </c:pt>
                <c:pt idx="199">
                  <c:v>41487</c:v>
                </c:pt>
                <c:pt idx="200">
                  <c:v>41518</c:v>
                </c:pt>
                <c:pt idx="201">
                  <c:v>41548</c:v>
                </c:pt>
                <c:pt idx="202">
                  <c:v>41579</c:v>
                </c:pt>
                <c:pt idx="203">
                  <c:v>41609</c:v>
                </c:pt>
                <c:pt idx="204">
                  <c:v>41640</c:v>
                </c:pt>
                <c:pt idx="205">
                  <c:v>41671</c:v>
                </c:pt>
                <c:pt idx="206">
                  <c:v>41699</c:v>
                </c:pt>
                <c:pt idx="207">
                  <c:v>41730</c:v>
                </c:pt>
                <c:pt idx="208">
                  <c:v>41760</c:v>
                </c:pt>
                <c:pt idx="209">
                  <c:v>41791</c:v>
                </c:pt>
                <c:pt idx="210">
                  <c:v>41821</c:v>
                </c:pt>
                <c:pt idx="211">
                  <c:v>41852</c:v>
                </c:pt>
                <c:pt idx="212">
                  <c:v>41883</c:v>
                </c:pt>
                <c:pt idx="213">
                  <c:v>41913</c:v>
                </c:pt>
                <c:pt idx="214">
                  <c:v>41944</c:v>
                </c:pt>
                <c:pt idx="215">
                  <c:v>41974</c:v>
                </c:pt>
                <c:pt idx="216">
                  <c:v>42005</c:v>
                </c:pt>
                <c:pt idx="217">
                  <c:v>42036</c:v>
                </c:pt>
                <c:pt idx="218">
                  <c:v>42064</c:v>
                </c:pt>
                <c:pt idx="219">
                  <c:v>42095</c:v>
                </c:pt>
                <c:pt idx="220">
                  <c:v>42125</c:v>
                </c:pt>
                <c:pt idx="221">
                  <c:v>42156</c:v>
                </c:pt>
                <c:pt idx="222">
                  <c:v>42186</c:v>
                </c:pt>
                <c:pt idx="223">
                  <c:v>42217</c:v>
                </c:pt>
                <c:pt idx="224">
                  <c:v>42248</c:v>
                </c:pt>
                <c:pt idx="225">
                  <c:v>42278</c:v>
                </c:pt>
                <c:pt idx="226">
                  <c:v>42309</c:v>
                </c:pt>
                <c:pt idx="227">
                  <c:v>42339</c:v>
                </c:pt>
                <c:pt idx="228">
                  <c:v>42370</c:v>
                </c:pt>
                <c:pt idx="229">
                  <c:v>42401</c:v>
                </c:pt>
                <c:pt idx="230">
                  <c:v>42430</c:v>
                </c:pt>
                <c:pt idx="231">
                  <c:v>42461</c:v>
                </c:pt>
                <c:pt idx="232">
                  <c:v>42491</c:v>
                </c:pt>
                <c:pt idx="233">
                  <c:v>42522</c:v>
                </c:pt>
                <c:pt idx="234">
                  <c:v>42552</c:v>
                </c:pt>
                <c:pt idx="235">
                  <c:v>42583</c:v>
                </c:pt>
                <c:pt idx="236">
                  <c:v>42614</c:v>
                </c:pt>
                <c:pt idx="237">
                  <c:v>42644</c:v>
                </c:pt>
                <c:pt idx="238">
                  <c:v>42675</c:v>
                </c:pt>
                <c:pt idx="239">
                  <c:v>42705</c:v>
                </c:pt>
                <c:pt idx="240">
                  <c:v>42736</c:v>
                </c:pt>
                <c:pt idx="241">
                  <c:v>42767</c:v>
                </c:pt>
                <c:pt idx="242">
                  <c:v>42795</c:v>
                </c:pt>
                <c:pt idx="243">
                  <c:v>42826</c:v>
                </c:pt>
                <c:pt idx="244">
                  <c:v>42856</c:v>
                </c:pt>
                <c:pt idx="245">
                  <c:v>42887</c:v>
                </c:pt>
                <c:pt idx="246">
                  <c:v>42917</c:v>
                </c:pt>
                <c:pt idx="247">
                  <c:v>42948</c:v>
                </c:pt>
                <c:pt idx="248">
                  <c:v>42979</c:v>
                </c:pt>
                <c:pt idx="249">
                  <c:v>43009</c:v>
                </c:pt>
                <c:pt idx="250">
                  <c:v>43040</c:v>
                </c:pt>
                <c:pt idx="251">
                  <c:v>43070</c:v>
                </c:pt>
                <c:pt idx="252">
                  <c:v>43101</c:v>
                </c:pt>
                <c:pt idx="253">
                  <c:v>43132</c:v>
                </c:pt>
                <c:pt idx="254">
                  <c:v>43160</c:v>
                </c:pt>
                <c:pt idx="255">
                  <c:v>43191</c:v>
                </c:pt>
                <c:pt idx="256">
                  <c:v>43221</c:v>
                </c:pt>
                <c:pt idx="257">
                  <c:v>43252</c:v>
                </c:pt>
                <c:pt idx="258">
                  <c:v>43282</c:v>
                </c:pt>
                <c:pt idx="259">
                  <c:v>43313</c:v>
                </c:pt>
                <c:pt idx="260">
                  <c:v>43344</c:v>
                </c:pt>
                <c:pt idx="261">
                  <c:v>43374</c:v>
                </c:pt>
                <c:pt idx="262">
                  <c:v>43405</c:v>
                </c:pt>
                <c:pt idx="263">
                  <c:v>43435</c:v>
                </c:pt>
                <c:pt idx="264">
                  <c:v>43466</c:v>
                </c:pt>
                <c:pt idx="265">
                  <c:v>43497</c:v>
                </c:pt>
                <c:pt idx="266">
                  <c:v>43525</c:v>
                </c:pt>
                <c:pt idx="267">
                  <c:v>43556</c:v>
                </c:pt>
                <c:pt idx="268">
                  <c:v>43586</c:v>
                </c:pt>
                <c:pt idx="269">
                  <c:v>43617</c:v>
                </c:pt>
                <c:pt idx="270">
                  <c:v>43647</c:v>
                </c:pt>
                <c:pt idx="271">
                  <c:v>43678</c:v>
                </c:pt>
                <c:pt idx="272">
                  <c:v>43709</c:v>
                </c:pt>
                <c:pt idx="273">
                  <c:v>43739</c:v>
                </c:pt>
                <c:pt idx="274">
                  <c:v>43770</c:v>
                </c:pt>
                <c:pt idx="275">
                  <c:v>43800</c:v>
                </c:pt>
                <c:pt idx="276">
                  <c:v>43831</c:v>
                </c:pt>
                <c:pt idx="277">
                  <c:v>43862</c:v>
                </c:pt>
                <c:pt idx="278">
                  <c:v>43891</c:v>
                </c:pt>
                <c:pt idx="279">
                  <c:v>43922</c:v>
                </c:pt>
                <c:pt idx="280">
                  <c:v>43952</c:v>
                </c:pt>
                <c:pt idx="281">
                  <c:v>43983</c:v>
                </c:pt>
                <c:pt idx="282">
                  <c:v>44013</c:v>
                </c:pt>
                <c:pt idx="283">
                  <c:v>44044</c:v>
                </c:pt>
                <c:pt idx="284">
                  <c:v>44075</c:v>
                </c:pt>
                <c:pt idx="285">
                  <c:v>44105</c:v>
                </c:pt>
                <c:pt idx="286">
                  <c:v>44136</c:v>
                </c:pt>
                <c:pt idx="287">
                  <c:v>44166</c:v>
                </c:pt>
                <c:pt idx="288">
                  <c:v>44197</c:v>
                </c:pt>
                <c:pt idx="289">
                  <c:v>44228</c:v>
                </c:pt>
                <c:pt idx="290">
                  <c:v>44256</c:v>
                </c:pt>
                <c:pt idx="291">
                  <c:v>44287</c:v>
                </c:pt>
                <c:pt idx="292">
                  <c:v>44317</c:v>
                </c:pt>
                <c:pt idx="293">
                  <c:v>44348</c:v>
                </c:pt>
                <c:pt idx="294">
                  <c:v>44378</c:v>
                </c:pt>
                <c:pt idx="295">
                  <c:v>44409</c:v>
                </c:pt>
                <c:pt idx="296">
                  <c:v>44440</c:v>
                </c:pt>
                <c:pt idx="297">
                  <c:v>44470</c:v>
                </c:pt>
                <c:pt idx="298">
                  <c:v>44501</c:v>
                </c:pt>
                <c:pt idx="299">
                  <c:v>44531</c:v>
                </c:pt>
                <c:pt idx="300">
                  <c:v>44562</c:v>
                </c:pt>
                <c:pt idx="301">
                  <c:v>44593</c:v>
                </c:pt>
                <c:pt idx="302">
                  <c:v>44621</c:v>
                </c:pt>
                <c:pt idx="303">
                  <c:v>44652</c:v>
                </c:pt>
                <c:pt idx="304">
                  <c:v>44682</c:v>
                </c:pt>
                <c:pt idx="305">
                  <c:v>44713</c:v>
                </c:pt>
                <c:pt idx="306">
                  <c:v>44743</c:v>
                </c:pt>
                <c:pt idx="307">
                  <c:v>44774</c:v>
                </c:pt>
                <c:pt idx="308">
                  <c:v>44805</c:v>
                </c:pt>
              </c:numCache>
            </c:numRef>
          </c:cat>
          <c:val>
            <c:numRef>
              <c:f>Sheet1!$C$2:$C$310</c:f>
              <c:numCache>
                <c:formatCode>General</c:formatCode>
                <c:ptCount val="309"/>
                <c:pt idx="0">
                  <c:v>5.9005000000000001</c:v>
                </c:pt>
                <c:pt idx="1">
                  <c:v>5.9850000000000003</c:v>
                </c:pt>
                <c:pt idx="2">
                  <c:v>5.9650999999999996</c:v>
                </c:pt>
                <c:pt idx="3">
                  <c:v>5.9618000000000002</c:v>
                </c:pt>
                <c:pt idx="4">
                  <c:v>6.2153999999999998</c:v>
                </c:pt>
                <c:pt idx="5">
                  <c:v>6.2226999999999997</c:v>
                </c:pt>
                <c:pt idx="6">
                  <c:v>6.5191999999999997</c:v>
                </c:pt>
                <c:pt idx="7">
                  <c:v>6.9488000000000003</c:v>
                </c:pt>
                <c:pt idx="8">
                  <c:v>6.9771999999999998</c:v>
                </c:pt>
                <c:pt idx="9">
                  <c:v>7.1462000000000003</c:v>
                </c:pt>
                <c:pt idx="10">
                  <c:v>7.2268999999999997</c:v>
                </c:pt>
                <c:pt idx="11">
                  <c:v>7.1379000000000001</c:v>
                </c:pt>
                <c:pt idx="12">
                  <c:v>7.2679</c:v>
                </c:pt>
                <c:pt idx="13">
                  <c:v>7.3406000000000002</c:v>
                </c:pt>
                <c:pt idx="14">
                  <c:v>7.4032999999999998</c:v>
                </c:pt>
                <c:pt idx="15">
                  <c:v>7.2519</c:v>
                </c:pt>
                <c:pt idx="16">
                  <c:v>7.2595999999999998</c:v>
                </c:pt>
                <c:pt idx="17">
                  <c:v>7.1409000000000002</c:v>
                </c:pt>
                <c:pt idx="18">
                  <c:v>7.3282999999999996</c:v>
                </c:pt>
                <c:pt idx="19">
                  <c:v>7.5308999999999999</c:v>
                </c:pt>
                <c:pt idx="20">
                  <c:v>7.2789999999999999</c:v>
                </c:pt>
                <c:pt idx="21">
                  <c:v>7.5533999999999999</c:v>
                </c:pt>
                <c:pt idx="22">
                  <c:v>6.8577000000000004</c:v>
                </c:pt>
                <c:pt idx="23">
                  <c:v>6.375</c:v>
                </c:pt>
                <c:pt idx="24">
                  <c:v>5.9922000000000004</c:v>
                </c:pt>
                <c:pt idx="25">
                  <c:v>5.7693000000000003</c:v>
                </c:pt>
                <c:pt idx="26">
                  <c:v>5.5664999999999996</c:v>
                </c:pt>
                <c:pt idx="27">
                  <c:v>5.3295000000000003</c:v>
                </c:pt>
                <c:pt idx="28">
                  <c:v>5.2689000000000004</c:v>
                </c:pt>
                <c:pt idx="29">
                  <c:v>4.8971999999999998</c:v>
                </c:pt>
                <c:pt idx="30">
                  <c:v>4.9969999999999999</c:v>
                </c:pt>
                <c:pt idx="31">
                  <c:v>4.8418999999999999</c:v>
                </c:pt>
                <c:pt idx="32">
                  <c:v>4.9189999999999996</c:v>
                </c:pt>
                <c:pt idx="33">
                  <c:v>5.0622999999999996</c:v>
                </c:pt>
                <c:pt idx="34">
                  <c:v>5.2512999999999996</c:v>
                </c:pt>
                <c:pt idx="35">
                  <c:v>4.7813999999999997</c:v>
                </c:pt>
                <c:pt idx="36">
                  <c:v>5.3526999999999996</c:v>
                </c:pt>
                <c:pt idx="37">
                  <c:v>5.8407999999999998</c:v>
                </c:pt>
                <c:pt idx="38">
                  <c:v>5.7619999999999996</c:v>
                </c:pt>
                <c:pt idx="39">
                  <c:v>5.9347000000000003</c:v>
                </c:pt>
                <c:pt idx="40">
                  <c:v>5.9122000000000003</c:v>
                </c:pt>
                <c:pt idx="41">
                  <c:v>5.9032</c:v>
                </c:pt>
                <c:pt idx="42">
                  <c:v>5.9866999999999999</c:v>
                </c:pt>
                <c:pt idx="43">
                  <c:v>5.8845999999999998</c:v>
                </c:pt>
                <c:pt idx="44">
                  <c:v>6.1258999999999997</c:v>
                </c:pt>
                <c:pt idx="45">
                  <c:v>5.8135000000000003</c:v>
                </c:pt>
                <c:pt idx="46">
                  <c:v>5.9810999999999996</c:v>
                </c:pt>
                <c:pt idx="47">
                  <c:v>5.7382999999999997</c:v>
                </c:pt>
                <c:pt idx="48">
                  <c:v>5.9207999999999998</c:v>
                </c:pt>
                <c:pt idx="49">
                  <c:v>5.8446999999999996</c:v>
                </c:pt>
                <c:pt idx="50">
                  <c:v>5.4016999999999999</c:v>
                </c:pt>
                <c:pt idx="51">
                  <c:v>5.3159000000000001</c:v>
                </c:pt>
                <c:pt idx="52">
                  <c:v>5.5202999999999998</c:v>
                </c:pt>
                <c:pt idx="53">
                  <c:v>4.7796000000000003</c:v>
                </c:pt>
                <c:pt idx="54">
                  <c:v>5.2942999999999998</c:v>
                </c:pt>
                <c:pt idx="55">
                  <c:v>4.8045999999999998</c:v>
                </c:pt>
                <c:pt idx="56">
                  <c:v>4.8525999999999998</c:v>
                </c:pt>
                <c:pt idx="57">
                  <c:v>4.5972999999999997</c:v>
                </c:pt>
                <c:pt idx="58">
                  <c:v>3.5760999999999998</c:v>
                </c:pt>
                <c:pt idx="59">
                  <c:v>4.5841000000000003</c:v>
                </c:pt>
                <c:pt idx="60">
                  <c:v>3.7685</c:v>
                </c:pt>
                <c:pt idx="61">
                  <c:v>4.0574000000000003</c:v>
                </c:pt>
                <c:pt idx="62">
                  <c:v>4.0430999999999999</c:v>
                </c:pt>
                <c:pt idx="63">
                  <c:v>3.7519999999999998</c:v>
                </c:pt>
                <c:pt idx="64">
                  <c:v>3.9272999999999998</c:v>
                </c:pt>
                <c:pt idx="65">
                  <c:v>3.5005999999999999</c:v>
                </c:pt>
                <c:pt idx="66">
                  <c:v>3.8610000000000002</c:v>
                </c:pt>
                <c:pt idx="67">
                  <c:v>4.1371000000000002</c:v>
                </c:pt>
                <c:pt idx="68">
                  <c:v>3.8711000000000002</c:v>
                </c:pt>
                <c:pt idx="69">
                  <c:v>4.0884</c:v>
                </c:pt>
                <c:pt idx="70">
                  <c:v>3.6520999999999999</c:v>
                </c:pt>
                <c:pt idx="71">
                  <c:v>4.3952999999999998</c:v>
                </c:pt>
                <c:pt idx="72">
                  <c:v>3.8043999999999998</c:v>
                </c:pt>
                <c:pt idx="73">
                  <c:v>3.7242999999999999</c:v>
                </c:pt>
                <c:pt idx="74">
                  <c:v>3.9196</c:v>
                </c:pt>
                <c:pt idx="75">
                  <c:v>3.6190000000000002</c:v>
                </c:pt>
                <c:pt idx="76">
                  <c:v>3.6875</c:v>
                </c:pt>
                <c:pt idx="77">
                  <c:v>3.6535000000000002</c:v>
                </c:pt>
                <c:pt idx="78">
                  <c:v>3.2923</c:v>
                </c:pt>
                <c:pt idx="79">
                  <c:v>3.5053000000000001</c:v>
                </c:pt>
                <c:pt idx="80">
                  <c:v>3.5179</c:v>
                </c:pt>
                <c:pt idx="81">
                  <c:v>3.355</c:v>
                </c:pt>
                <c:pt idx="82">
                  <c:v>3.5482999999999998</c:v>
                </c:pt>
                <c:pt idx="83">
                  <c:v>3.7778</c:v>
                </c:pt>
                <c:pt idx="84">
                  <c:v>3.7159</c:v>
                </c:pt>
                <c:pt idx="85">
                  <c:v>4.0872999999999999</c:v>
                </c:pt>
                <c:pt idx="86">
                  <c:v>3.9039999999999999</c:v>
                </c:pt>
                <c:pt idx="87">
                  <c:v>3.8914</c:v>
                </c:pt>
                <c:pt idx="88">
                  <c:v>4.2030000000000003</c:v>
                </c:pt>
                <c:pt idx="89">
                  <c:v>4.3628</c:v>
                </c:pt>
                <c:pt idx="90">
                  <c:v>4.4622999999999999</c:v>
                </c:pt>
                <c:pt idx="91" formatCode="0.00">
                  <c:v>4.63</c:v>
                </c:pt>
                <c:pt idx="92">
                  <c:v>4.7313999999999998</c:v>
                </c:pt>
                <c:pt idx="93">
                  <c:v>4.7297000000000002</c:v>
                </c:pt>
                <c:pt idx="94">
                  <c:v>4.7408000000000001</c:v>
                </c:pt>
                <c:pt idx="95">
                  <c:v>4.7618</c:v>
                </c:pt>
                <c:pt idx="96">
                  <c:v>4.7599</c:v>
                </c:pt>
                <c:pt idx="97">
                  <c:v>4.8159999999999998</c:v>
                </c:pt>
                <c:pt idx="98">
                  <c:v>4.7618</c:v>
                </c:pt>
                <c:pt idx="99">
                  <c:v>4.8125</c:v>
                </c:pt>
                <c:pt idx="100">
                  <c:v>4.7079000000000004</c:v>
                </c:pt>
                <c:pt idx="101">
                  <c:v>4.7934999999999999</c:v>
                </c:pt>
                <c:pt idx="102">
                  <c:v>4.7545999999999999</c:v>
                </c:pt>
                <c:pt idx="103">
                  <c:v>4.5774999999999997</c:v>
                </c:pt>
                <c:pt idx="104">
                  <c:v>4.5499000000000001</c:v>
                </c:pt>
                <c:pt idx="105">
                  <c:v>4.4245999999999999</c:v>
                </c:pt>
                <c:pt idx="106">
                  <c:v>4.5457999999999998</c:v>
                </c:pt>
                <c:pt idx="107">
                  <c:v>4.6380999999999997</c:v>
                </c:pt>
                <c:pt idx="108">
                  <c:v>4.4828999999999999</c:v>
                </c:pt>
                <c:pt idx="109">
                  <c:v>4.4255000000000004</c:v>
                </c:pt>
                <c:pt idx="110">
                  <c:v>4.5401999999999996</c:v>
                </c:pt>
                <c:pt idx="111">
                  <c:v>4.4927999999999999</c:v>
                </c:pt>
                <c:pt idx="112">
                  <c:v>4.5092999999999996</c:v>
                </c:pt>
                <c:pt idx="113">
                  <c:v>4.5712000000000002</c:v>
                </c:pt>
                <c:pt idx="114">
                  <c:v>4.5458999999999996</c:v>
                </c:pt>
                <c:pt idx="115">
                  <c:v>4.8026</c:v>
                </c:pt>
                <c:pt idx="116">
                  <c:v>4.7892000000000001</c:v>
                </c:pt>
                <c:pt idx="117">
                  <c:v>4.8254999999999999</c:v>
                </c:pt>
                <c:pt idx="118">
                  <c:v>4.9968000000000004</c:v>
                </c:pt>
                <c:pt idx="119">
                  <c:v>5.0843999999999996</c:v>
                </c:pt>
                <c:pt idx="120">
                  <c:v>5.2230999999999996</c:v>
                </c:pt>
                <c:pt idx="121">
                  <c:v>5.3182999999999998</c:v>
                </c:pt>
                <c:pt idx="122">
                  <c:v>5.3032000000000004</c:v>
                </c:pt>
                <c:pt idx="123">
                  <c:v>5.2915000000000001</c:v>
                </c:pt>
                <c:pt idx="124">
                  <c:v>5.4778000000000002</c:v>
                </c:pt>
                <c:pt idx="125">
                  <c:v>5.6093000000000002</c:v>
                </c:pt>
                <c:pt idx="126">
                  <c:v>5.8433999999999999</c:v>
                </c:pt>
                <c:pt idx="127">
                  <c:v>5.9127000000000001</c:v>
                </c:pt>
                <c:pt idx="128">
                  <c:v>5.8246000000000002</c:v>
                </c:pt>
                <c:pt idx="129">
                  <c:v>5.7751000000000001</c:v>
                </c:pt>
                <c:pt idx="130">
                  <c:v>5.7892000000000001</c:v>
                </c:pt>
                <c:pt idx="131">
                  <c:v>5.5964</c:v>
                </c:pt>
                <c:pt idx="132">
                  <c:v>5.5049000000000001</c:v>
                </c:pt>
                <c:pt idx="133">
                  <c:v>5.3322000000000003</c:v>
                </c:pt>
                <c:pt idx="134">
                  <c:v>5.3078000000000003</c:v>
                </c:pt>
                <c:pt idx="135" formatCode="0.00">
                  <c:v>5.08</c:v>
                </c:pt>
                <c:pt idx="136">
                  <c:v>5.0313999999999997</c:v>
                </c:pt>
                <c:pt idx="137">
                  <c:v>5.0326000000000004</c:v>
                </c:pt>
                <c:pt idx="138">
                  <c:v>5.0099</c:v>
                </c:pt>
                <c:pt idx="139">
                  <c:v>4.9969999999999999</c:v>
                </c:pt>
                <c:pt idx="140">
                  <c:v>4.8925000000000001</c:v>
                </c:pt>
                <c:pt idx="141">
                  <c:v>4.4115000000000002</c:v>
                </c:pt>
                <c:pt idx="142">
                  <c:v>2.7846000000000002</c:v>
                </c:pt>
                <c:pt idx="143">
                  <c:v>1.6525000000000001</c:v>
                </c:pt>
                <c:pt idx="144">
                  <c:v>1.3260000000000001</c:v>
                </c:pt>
                <c:pt idx="145">
                  <c:v>0.89729999999999999</c:v>
                </c:pt>
                <c:pt idx="146">
                  <c:v>0.52239999999999998</c:v>
                </c:pt>
                <c:pt idx="147">
                  <c:v>0.40989999999999999</c:v>
                </c:pt>
                <c:pt idx="148">
                  <c:v>0.4133</c:v>
                </c:pt>
                <c:pt idx="149">
                  <c:v>0.4158</c:v>
                </c:pt>
                <c:pt idx="150">
                  <c:v>0.4173</c:v>
                </c:pt>
                <c:pt idx="151">
                  <c:v>0.42199999999999999</c:v>
                </c:pt>
                <c:pt idx="152">
                  <c:v>0.43020000000000003</c:v>
                </c:pt>
                <c:pt idx="153">
                  <c:v>0.44719999999999999</c:v>
                </c:pt>
                <c:pt idx="154">
                  <c:v>0.45090000000000002</c:v>
                </c:pt>
                <c:pt idx="155">
                  <c:v>0.44919999999999999</c:v>
                </c:pt>
                <c:pt idx="156">
                  <c:v>0.45450000000000002</c:v>
                </c:pt>
                <c:pt idx="157">
                  <c:v>0.4672</c:v>
                </c:pt>
                <c:pt idx="158">
                  <c:v>0.4713</c:v>
                </c:pt>
                <c:pt idx="159">
                  <c:v>0.47260000000000002</c:v>
                </c:pt>
                <c:pt idx="160">
                  <c:v>0.48420000000000002</c:v>
                </c:pt>
                <c:pt idx="161">
                  <c:v>0.48699999999999999</c:v>
                </c:pt>
                <c:pt idx="162" formatCode="0.00">
                  <c:v>0.49</c:v>
                </c:pt>
                <c:pt idx="163">
                  <c:v>0.49099999999999999</c:v>
                </c:pt>
                <c:pt idx="164">
                  <c:v>0.501</c:v>
                </c:pt>
                <c:pt idx="165">
                  <c:v>0.50829999999999997</c:v>
                </c:pt>
                <c:pt idx="166">
                  <c:v>0.50860000000000005</c:v>
                </c:pt>
                <c:pt idx="167">
                  <c:v>0.51729999999999998</c:v>
                </c:pt>
                <c:pt idx="168">
                  <c:v>0.50590000000000002</c:v>
                </c:pt>
                <c:pt idx="169">
                  <c:v>0.50839999999999996</c:v>
                </c:pt>
                <c:pt idx="170">
                  <c:v>0.51539999999999997</c:v>
                </c:pt>
                <c:pt idx="171">
                  <c:v>0.52400000000000002</c:v>
                </c:pt>
                <c:pt idx="172">
                  <c:v>0.52170000000000005</c:v>
                </c:pt>
                <c:pt idx="173">
                  <c:v>0.53110000000000002</c:v>
                </c:pt>
                <c:pt idx="174">
                  <c:v>0.52280000000000004</c:v>
                </c:pt>
                <c:pt idx="175">
                  <c:v>0.53800000000000003</c:v>
                </c:pt>
                <c:pt idx="176">
                  <c:v>0.54859999999999998</c:v>
                </c:pt>
                <c:pt idx="177">
                  <c:v>0.53580000000000005</c:v>
                </c:pt>
                <c:pt idx="178">
                  <c:v>0.53469999999999995</c:v>
                </c:pt>
                <c:pt idx="179">
                  <c:v>0.52010000000000001</c:v>
                </c:pt>
                <c:pt idx="180">
                  <c:v>0.51570000000000005</c:v>
                </c:pt>
                <c:pt idx="181">
                  <c:v>0.49930000000000002</c:v>
                </c:pt>
                <c:pt idx="182" formatCode="0.00">
                  <c:v>0.49</c:v>
                </c:pt>
                <c:pt idx="183">
                  <c:v>0.48609999999999998</c:v>
                </c:pt>
                <c:pt idx="184">
                  <c:v>0.48480000000000001</c:v>
                </c:pt>
                <c:pt idx="185">
                  <c:v>0.4859</c:v>
                </c:pt>
                <c:pt idx="186">
                  <c:v>0.46460000000000001</c:v>
                </c:pt>
                <c:pt idx="187" formatCode="0.00">
                  <c:v>0.45</c:v>
                </c:pt>
                <c:pt idx="188">
                  <c:v>0.42709999999999998</c:v>
                </c:pt>
                <c:pt idx="189">
                  <c:v>0.43340000000000001</c:v>
                </c:pt>
                <c:pt idx="190">
                  <c:v>0.42559999999999998</c:v>
                </c:pt>
                <c:pt idx="191">
                  <c:v>0.43090000000000001</c:v>
                </c:pt>
                <c:pt idx="192">
                  <c:v>0.40970000000000001</c:v>
                </c:pt>
                <c:pt idx="193">
                  <c:v>0.42609999999999998</c:v>
                </c:pt>
                <c:pt idx="194">
                  <c:v>0.43530000000000002</c:v>
                </c:pt>
                <c:pt idx="195">
                  <c:v>0.43959999999999999</c:v>
                </c:pt>
                <c:pt idx="196">
                  <c:v>0.43359999999999999</c:v>
                </c:pt>
                <c:pt idx="197">
                  <c:v>0.42520000000000002</c:v>
                </c:pt>
                <c:pt idx="198">
                  <c:v>0.43009999999999998</c:v>
                </c:pt>
                <c:pt idx="199">
                  <c:v>0.42699999999999999</c:v>
                </c:pt>
                <c:pt idx="200">
                  <c:v>0.4299</c:v>
                </c:pt>
                <c:pt idx="201">
                  <c:v>0.43130000000000002</c:v>
                </c:pt>
                <c:pt idx="202" formatCode="0.00">
                  <c:v>0.43</c:v>
                </c:pt>
                <c:pt idx="203">
                  <c:v>0.42149999999999999</c:v>
                </c:pt>
                <c:pt idx="204">
                  <c:v>0.42870000000000003</c:v>
                </c:pt>
                <c:pt idx="205">
                  <c:v>0.41970000000000002</c:v>
                </c:pt>
                <c:pt idx="206">
                  <c:v>0.41589999999999999</c:v>
                </c:pt>
                <c:pt idx="207">
                  <c:v>0.42199999999999999</c:v>
                </c:pt>
                <c:pt idx="208">
                  <c:v>0.42330000000000001</c:v>
                </c:pt>
                <c:pt idx="209">
                  <c:v>0.42509999999999998</c:v>
                </c:pt>
                <c:pt idx="210">
                  <c:v>0.42830000000000001</c:v>
                </c:pt>
                <c:pt idx="211">
                  <c:v>0.42280000000000001</c:v>
                </c:pt>
                <c:pt idx="212">
                  <c:v>0.43190000000000001</c:v>
                </c:pt>
                <c:pt idx="213">
                  <c:v>0.43080000000000002</c:v>
                </c:pt>
                <c:pt idx="214">
                  <c:v>0.4325</c:v>
                </c:pt>
                <c:pt idx="215">
                  <c:v>0.42799999999999999</c:v>
                </c:pt>
                <c:pt idx="216">
                  <c:v>0.4355</c:v>
                </c:pt>
                <c:pt idx="217">
                  <c:v>0.4511</c:v>
                </c:pt>
                <c:pt idx="218">
                  <c:v>0.45679999999999998</c:v>
                </c:pt>
                <c:pt idx="219">
                  <c:v>0.45739999999999997</c:v>
                </c:pt>
                <c:pt idx="220">
                  <c:v>0.46200000000000002</c:v>
                </c:pt>
                <c:pt idx="221">
                  <c:v>0.45660000000000001</c:v>
                </c:pt>
                <c:pt idx="222">
                  <c:v>0.45490000000000003</c:v>
                </c:pt>
                <c:pt idx="223">
                  <c:v>0.45900000000000002</c:v>
                </c:pt>
                <c:pt idx="224">
                  <c:v>0.45440000000000003</c:v>
                </c:pt>
                <c:pt idx="225">
                  <c:v>0.4622</c:v>
                </c:pt>
                <c:pt idx="226">
                  <c:v>0.46360000000000001</c:v>
                </c:pt>
                <c:pt idx="227">
                  <c:v>0.45750000000000002</c:v>
                </c:pt>
                <c:pt idx="228">
                  <c:v>0.46589999999999998</c:v>
                </c:pt>
                <c:pt idx="229">
                  <c:v>0.4657</c:v>
                </c:pt>
                <c:pt idx="230">
                  <c:v>0.46460000000000001</c:v>
                </c:pt>
                <c:pt idx="231">
                  <c:v>0.46629999999999999</c:v>
                </c:pt>
                <c:pt idx="232">
                  <c:v>0.46329999999999999</c:v>
                </c:pt>
                <c:pt idx="233">
                  <c:v>0.45979999999999999</c:v>
                </c:pt>
                <c:pt idx="234">
                  <c:v>0.4577</c:v>
                </c:pt>
                <c:pt idx="235">
                  <c:v>0.24779999999999999</c:v>
                </c:pt>
                <c:pt idx="236">
                  <c:v>0.21299999999999999</c:v>
                </c:pt>
                <c:pt idx="237">
                  <c:v>0.21199999999999999</c:v>
                </c:pt>
                <c:pt idx="238">
                  <c:v>0.21079999999999999</c:v>
                </c:pt>
                <c:pt idx="239">
                  <c:v>0.21249999999999999</c:v>
                </c:pt>
                <c:pt idx="240">
                  <c:v>0.2135</c:v>
                </c:pt>
                <c:pt idx="241">
                  <c:v>0.21060000000000001</c:v>
                </c:pt>
                <c:pt idx="242">
                  <c:v>0.20949999999999999</c:v>
                </c:pt>
                <c:pt idx="243">
                  <c:v>0.2114</c:v>
                </c:pt>
                <c:pt idx="244">
                  <c:v>0.21260000000000001</c:v>
                </c:pt>
                <c:pt idx="245">
                  <c:v>0.21210000000000001</c:v>
                </c:pt>
                <c:pt idx="246">
                  <c:v>0.21240000000000001</c:v>
                </c:pt>
                <c:pt idx="247">
                  <c:v>0.2132</c:v>
                </c:pt>
                <c:pt idx="248">
                  <c:v>0.21229999999999999</c:v>
                </c:pt>
                <c:pt idx="249">
                  <c:v>0.21099999999999999</c:v>
                </c:pt>
                <c:pt idx="250">
                  <c:v>0.44929999999999998</c:v>
                </c:pt>
                <c:pt idx="251">
                  <c:v>0.46189999999999998</c:v>
                </c:pt>
                <c:pt idx="252">
                  <c:v>0.46310000000000001</c:v>
                </c:pt>
                <c:pt idx="253">
                  <c:v>0.46339999999999998</c:v>
                </c:pt>
                <c:pt idx="254">
                  <c:v>0.4637</c:v>
                </c:pt>
                <c:pt idx="255">
                  <c:v>0.4617</c:v>
                </c:pt>
                <c:pt idx="256">
                  <c:v>0.45290000000000002</c:v>
                </c:pt>
                <c:pt idx="257">
                  <c:v>0.45069999999999999</c:v>
                </c:pt>
                <c:pt idx="258">
                  <c:v>0.45450000000000002</c:v>
                </c:pt>
                <c:pt idx="259">
                  <c:v>0.69110000000000005</c:v>
                </c:pt>
                <c:pt idx="260">
                  <c:v>0.70120000000000005</c:v>
                </c:pt>
                <c:pt idx="261">
                  <c:v>0.70109999999999995</c:v>
                </c:pt>
                <c:pt idx="262">
                  <c:v>0.70169999999999999</c:v>
                </c:pt>
                <c:pt idx="263">
                  <c:v>0.7026</c:v>
                </c:pt>
                <c:pt idx="264">
                  <c:v>0.70530000000000004</c:v>
                </c:pt>
                <c:pt idx="265">
                  <c:v>0.70609999999999995</c:v>
                </c:pt>
                <c:pt idx="266">
                  <c:v>0.70530000000000004</c:v>
                </c:pt>
                <c:pt idx="267">
                  <c:v>0.70809999999999995</c:v>
                </c:pt>
                <c:pt idx="268">
                  <c:v>0.70940000000000003</c:v>
                </c:pt>
                <c:pt idx="269">
                  <c:v>0.70850000000000002</c:v>
                </c:pt>
                <c:pt idx="270">
                  <c:v>0.70899999999999996</c:v>
                </c:pt>
                <c:pt idx="271">
                  <c:v>0.71009999999999995</c:v>
                </c:pt>
                <c:pt idx="272">
                  <c:v>0.70979999999999999</c:v>
                </c:pt>
                <c:pt idx="273">
                  <c:v>0.71079999999999999</c:v>
                </c:pt>
                <c:pt idx="274">
                  <c:v>0.71050000000000002</c:v>
                </c:pt>
                <c:pt idx="275">
                  <c:v>0.71009999999999995</c:v>
                </c:pt>
                <c:pt idx="276">
                  <c:v>0.71130000000000004</c:v>
                </c:pt>
                <c:pt idx="277">
                  <c:v>0.71040000000000003</c:v>
                </c:pt>
                <c:pt idx="278">
                  <c:v>0.31919999999999998</c:v>
                </c:pt>
                <c:pt idx="279">
                  <c:v>6.59E-2</c:v>
                </c:pt>
                <c:pt idx="280">
                  <c:v>6.7400000000000002E-2</c:v>
                </c:pt>
                <c:pt idx="281">
                  <c:v>6.4600000000000005E-2</c:v>
                </c:pt>
                <c:pt idx="282">
                  <c:v>5.9900000000000002E-2</c:v>
                </c:pt>
                <c:pt idx="283">
                  <c:v>5.62E-2</c:v>
                </c:pt>
                <c:pt idx="284">
                  <c:v>5.4699999999999999E-2</c:v>
                </c:pt>
                <c:pt idx="285">
                  <c:v>5.3800000000000001E-2</c:v>
                </c:pt>
                <c:pt idx="286">
                  <c:v>5.3699999999999998E-2</c:v>
                </c:pt>
                <c:pt idx="287">
                  <c:v>4.9200000000000001E-2</c:v>
                </c:pt>
                <c:pt idx="288">
                  <c:v>4.9399999999999999E-2</c:v>
                </c:pt>
                <c:pt idx="289">
                  <c:v>4.8599999999999997E-2</c:v>
                </c:pt>
                <c:pt idx="290">
                  <c:v>4.8599999999999997E-2</c:v>
                </c:pt>
                <c:pt idx="291">
                  <c:v>4.8599999999999997E-2</c:v>
                </c:pt>
                <c:pt idx="292">
                  <c:v>4.9500000000000002E-2</c:v>
                </c:pt>
                <c:pt idx="293">
                  <c:v>4.9799999999999997E-2</c:v>
                </c:pt>
                <c:pt idx="294">
                  <c:v>5.0599999999999999E-2</c:v>
                </c:pt>
                <c:pt idx="295">
                  <c:v>5.04E-2</c:v>
                </c:pt>
                <c:pt idx="296" formatCode="0.00">
                  <c:v>0.05</c:v>
                </c:pt>
                <c:pt idx="297">
                  <c:v>5.0200000000000002E-2</c:v>
                </c:pt>
                <c:pt idx="298">
                  <c:v>4.6800000000000001E-2</c:v>
                </c:pt>
                <c:pt idx="299">
                  <c:v>0.11409999999999999</c:v>
                </c:pt>
                <c:pt idx="300">
                  <c:v>0.1958</c:v>
                </c:pt>
                <c:pt idx="301">
                  <c:v>0.4199</c:v>
                </c:pt>
                <c:pt idx="302">
                  <c:v>0.56230000000000002</c:v>
                </c:pt>
                <c:pt idx="303">
                  <c:v>0.69059999999999999</c:v>
                </c:pt>
                <c:pt idx="304">
                  <c:v>0.91579999999999995</c:v>
                </c:pt>
                <c:pt idx="305">
                  <c:v>1.0767</c:v>
                </c:pt>
                <c:pt idx="306">
                  <c:v>1.1908000000000001</c:v>
                </c:pt>
                <c:pt idx="307">
                  <c:v>1.6220000000000001</c:v>
                </c:pt>
                <c:pt idx="308">
                  <c:v>1.8569</c:v>
                </c:pt>
              </c:numCache>
            </c:numRef>
          </c:val>
          <c:smooth val="0"/>
          <c:extLst>
            <c:ext xmlns:c16="http://schemas.microsoft.com/office/drawing/2014/chart" uri="{C3380CC4-5D6E-409C-BE32-E72D297353CC}">
              <c16:uniqueId val="{00000001-3052-4B72-A39C-F8B47A0BFAC4}"/>
            </c:ext>
          </c:extLst>
        </c:ser>
        <c:ser>
          <c:idx val="0"/>
          <c:order val="2"/>
          <c:tx>
            <c:strRef>
              <c:f>Sheet1!$D$1</c:f>
              <c:strCache>
                <c:ptCount val="1"/>
                <c:pt idx="0">
                  <c:v>Cash ISA (2-year fixed rate)</c:v>
                </c:pt>
              </c:strCache>
            </c:strRef>
          </c:tx>
          <c:spPr>
            <a:ln w="31750">
              <a:solidFill>
                <a:srgbClr val="BC10B0"/>
              </a:solidFill>
            </a:ln>
          </c:spPr>
          <c:marker>
            <c:symbol val="none"/>
          </c:marker>
          <c:cat>
            <c:numRef>
              <c:f>Sheet1!$A$2:$A$310</c:f>
              <c:numCache>
                <c:formatCode>mmm\-yy</c:formatCode>
                <c:ptCount val="309"/>
                <c:pt idx="0">
                  <c:v>35431</c:v>
                </c:pt>
                <c:pt idx="1">
                  <c:v>35462</c:v>
                </c:pt>
                <c:pt idx="2">
                  <c:v>35490</c:v>
                </c:pt>
                <c:pt idx="3">
                  <c:v>35521</c:v>
                </c:pt>
                <c:pt idx="4">
                  <c:v>35551</c:v>
                </c:pt>
                <c:pt idx="5">
                  <c:v>35582</c:v>
                </c:pt>
                <c:pt idx="6">
                  <c:v>35612</c:v>
                </c:pt>
                <c:pt idx="7">
                  <c:v>35643</c:v>
                </c:pt>
                <c:pt idx="8">
                  <c:v>35674</c:v>
                </c:pt>
                <c:pt idx="9">
                  <c:v>35704</c:v>
                </c:pt>
                <c:pt idx="10">
                  <c:v>35735</c:v>
                </c:pt>
                <c:pt idx="11">
                  <c:v>35765</c:v>
                </c:pt>
                <c:pt idx="12">
                  <c:v>35796</c:v>
                </c:pt>
                <c:pt idx="13">
                  <c:v>35827</c:v>
                </c:pt>
                <c:pt idx="14">
                  <c:v>35855</c:v>
                </c:pt>
                <c:pt idx="15">
                  <c:v>35886</c:v>
                </c:pt>
                <c:pt idx="16">
                  <c:v>35916</c:v>
                </c:pt>
                <c:pt idx="17">
                  <c:v>35947</c:v>
                </c:pt>
                <c:pt idx="18">
                  <c:v>35977</c:v>
                </c:pt>
                <c:pt idx="19">
                  <c:v>36008</c:v>
                </c:pt>
                <c:pt idx="20">
                  <c:v>36039</c:v>
                </c:pt>
                <c:pt idx="21">
                  <c:v>36069</c:v>
                </c:pt>
                <c:pt idx="22">
                  <c:v>36100</c:v>
                </c:pt>
                <c:pt idx="23">
                  <c:v>36130</c:v>
                </c:pt>
                <c:pt idx="24">
                  <c:v>36161</c:v>
                </c:pt>
                <c:pt idx="25">
                  <c:v>36192</c:v>
                </c:pt>
                <c:pt idx="26">
                  <c:v>36220</c:v>
                </c:pt>
                <c:pt idx="27">
                  <c:v>36251</c:v>
                </c:pt>
                <c:pt idx="28">
                  <c:v>36281</c:v>
                </c:pt>
                <c:pt idx="29">
                  <c:v>36312</c:v>
                </c:pt>
                <c:pt idx="30">
                  <c:v>36342</c:v>
                </c:pt>
                <c:pt idx="31">
                  <c:v>36373</c:v>
                </c:pt>
                <c:pt idx="32">
                  <c:v>36404</c:v>
                </c:pt>
                <c:pt idx="33">
                  <c:v>36434</c:v>
                </c:pt>
                <c:pt idx="34">
                  <c:v>36465</c:v>
                </c:pt>
                <c:pt idx="35">
                  <c:v>36495</c:v>
                </c:pt>
                <c:pt idx="36">
                  <c:v>36526</c:v>
                </c:pt>
                <c:pt idx="37">
                  <c:v>36557</c:v>
                </c:pt>
                <c:pt idx="38">
                  <c:v>36586</c:v>
                </c:pt>
                <c:pt idx="39">
                  <c:v>36617</c:v>
                </c:pt>
                <c:pt idx="40">
                  <c:v>36647</c:v>
                </c:pt>
                <c:pt idx="41">
                  <c:v>36678</c:v>
                </c:pt>
                <c:pt idx="42">
                  <c:v>36708</c:v>
                </c:pt>
                <c:pt idx="43">
                  <c:v>36739</c:v>
                </c:pt>
                <c:pt idx="44">
                  <c:v>36770</c:v>
                </c:pt>
                <c:pt idx="45">
                  <c:v>36800</c:v>
                </c:pt>
                <c:pt idx="46">
                  <c:v>36831</c:v>
                </c:pt>
                <c:pt idx="47">
                  <c:v>36861</c:v>
                </c:pt>
                <c:pt idx="48">
                  <c:v>36892</c:v>
                </c:pt>
                <c:pt idx="49">
                  <c:v>36923</c:v>
                </c:pt>
                <c:pt idx="50">
                  <c:v>36951</c:v>
                </c:pt>
                <c:pt idx="51">
                  <c:v>36982</c:v>
                </c:pt>
                <c:pt idx="52">
                  <c:v>37012</c:v>
                </c:pt>
                <c:pt idx="53">
                  <c:v>37043</c:v>
                </c:pt>
                <c:pt idx="54">
                  <c:v>37073</c:v>
                </c:pt>
                <c:pt idx="55">
                  <c:v>37104</c:v>
                </c:pt>
                <c:pt idx="56">
                  <c:v>37135</c:v>
                </c:pt>
                <c:pt idx="57">
                  <c:v>37165</c:v>
                </c:pt>
                <c:pt idx="58">
                  <c:v>37196</c:v>
                </c:pt>
                <c:pt idx="59">
                  <c:v>37226</c:v>
                </c:pt>
                <c:pt idx="60">
                  <c:v>37257</c:v>
                </c:pt>
                <c:pt idx="61">
                  <c:v>37288</c:v>
                </c:pt>
                <c:pt idx="62">
                  <c:v>37316</c:v>
                </c:pt>
                <c:pt idx="63">
                  <c:v>37347</c:v>
                </c:pt>
                <c:pt idx="64">
                  <c:v>37377</c:v>
                </c:pt>
                <c:pt idx="65">
                  <c:v>37408</c:v>
                </c:pt>
                <c:pt idx="66">
                  <c:v>37438</c:v>
                </c:pt>
                <c:pt idx="67">
                  <c:v>37469</c:v>
                </c:pt>
                <c:pt idx="68">
                  <c:v>37500</c:v>
                </c:pt>
                <c:pt idx="69">
                  <c:v>37530</c:v>
                </c:pt>
                <c:pt idx="70">
                  <c:v>37561</c:v>
                </c:pt>
                <c:pt idx="71">
                  <c:v>37591</c:v>
                </c:pt>
                <c:pt idx="72">
                  <c:v>37622</c:v>
                </c:pt>
                <c:pt idx="73">
                  <c:v>37653</c:v>
                </c:pt>
                <c:pt idx="74">
                  <c:v>37681</c:v>
                </c:pt>
                <c:pt idx="75">
                  <c:v>37712</c:v>
                </c:pt>
                <c:pt idx="76">
                  <c:v>37742</c:v>
                </c:pt>
                <c:pt idx="77">
                  <c:v>37773</c:v>
                </c:pt>
                <c:pt idx="78">
                  <c:v>37803</c:v>
                </c:pt>
                <c:pt idx="79">
                  <c:v>37834</c:v>
                </c:pt>
                <c:pt idx="80">
                  <c:v>37865</c:v>
                </c:pt>
                <c:pt idx="81">
                  <c:v>37895</c:v>
                </c:pt>
                <c:pt idx="82">
                  <c:v>37926</c:v>
                </c:pt>
                <c:pt idx="83">
                  <c:v>37956</c:v>
                </c:pt>
                <c:pt idx="84">
                  <c:v>37987</c:v>
                </c:pt>
                <c:pt idx="85">
                  <c:v>38018</c:v>
                </c:pt>
                <c:pt idx="86">
                  <c:v>38047</c:v>
                </c:pt>
                <c:pt idx="87">
                  <c:v>38078</c:v>
                </c:pt>
                <c:pt idx="88">
                  <c:v>38108</c:v>
                </c:pt>
                <c:pt idx="89">
                  <c:v>38139</c:v>
                </c:pt>
                <c:pt idx="90">
                  <c:v>38169</c:v>
                </c:pt>
                <c:pt idx="91">
                  <c:v>38200</c:v>
                </c:pt>
                <c:pt idx="92">
                  <c:v>38231</c:v>
                </c:pt>
                <c:pt idx="93">
                  <c:v>38261</c:v>
                </c:pt>
                <c:pt idx="94">
                  <c:v>38292</c:v>
                </c:pt>
                <c:pt idx="95">
                  <c:v>38322</c:v>
                </c:pt>
                <c:pt idx="96">
                  <c:v>38353</c:v>
                </c:pt>
                <c:pt idx="97">
                  <c:v>38384</c:v>
                </c:pt>
                <c:pt idx="98">
                  <c:v>38412</c:v>
                </c:pt>
                <c:pt idx="99">
                  <c:v>38443</c:v>
                </c:pt>
                <c:pt idx="100">
                  <c:v>38473</c:v>
                </c:pt>
                <c:pt idx="101">
                  <c:v>38504</c:v>
                </c:pt>
                <c:pt idx="102">
                  <c:v>38534</c:v>
                </c:pt>
                <c:pt idx="103">
                  <c:v>38565</c:v>
                </c:pt>
                <c:pt idx="104">
                  <c:v>38596</c:v>
                </c:pt>
                <c:pt idx="105">
                  <c:v>38626</c:v>
                </c:pt>
                <c:pt idx="106">
                  <c:v>38657</c:v>
                </c:pt>
                <c:pt idx="107">
                  <c:v>38687</c:v>
                </c:pt>
                <c:pt idx="108">
                  <c:v>38718</c:v>
                </c:pt>
                <c:pt idx="109">
                  <c:v>38749</c:v>
                </c:pt>
                <c:pt idx="110">
                  <c:v>38777</c:v>
                </c:pt>
                <c:pt idx="111">
                  <c:v>38808</c:v>
                </c:pt>
                <c:pt idx="112">
                  <c:v>38838</c:v>
                </c:pt>
                <c:pt idx="113">
                  <c:v>38869</c:v>
                </c:pt>
                <c:pt idx="114">
                  <c:v>38899</c:v>
                </c:pt>
                <c:pt idx="115">
                  <c:v>38930</c:v>
                </c:pt>
                <c:pt idx="116">
                  <c:v>38961</c:v>
                </c:pt>
                <c:pt idx="117">
                  <c:v>38991</c:v>
                </c:pt>
                <c:pt idx="118">
                  <c:v>39022</c:v>
                </c:pt>
                <c:pt idx="119">
                  <c:v>39052</c:v>
                </c:pt>
                <c:pt idx="120">
                  <c:v>39083</c:v>
                </c:pt>
                <c:pt idx="121">
                  <c:v>39114</c:v>
                </c:pt>
                <c:pt idx="122">
                  <c:v>39142</c:v>
                </c:pt>
                <c:pt idx="123">
                  <c:v>39173</c:v>
                </c:pt>
                <c:pt idx="124">
                  <c:v>39203</c:v>
                </c:pt>
                <c:pt idx="125">
                  <c:v>39234</c:v>
                </c:pt>
                <c:pt idx="126">
                  <c:v>39264</c:v>
                </c:pt>
                <c:pt idx="127">
                  <c:v>39295</c:v>
                </c:pt>
                <c:pt idx="128">
                  <c:v>39326</c:v>
                </c:pt>
                <c:pt idx="129">
                  <c:v>39356</c:v>
                </c:pt>
                <c:pt idx="130">
                  <c:v>39387</c:v>
                </c:pt>
                <c:pt idx="131">
                  <c:v>39417</c:v>
                </c:pt>
                <c:pt idx="132">
                  <c:v>39448</c:v>
                </c:pt>
                <c:pt idx="133">
                  <c:v>39479</c:v>
                </c:pt>
                <c:pt idx="134">
                  <c:v>39508</c:v>
                </c:pt>
                <c:pt idx="135">
                  <c:v>39539</c:v>
                </c:pt>
                <c:pt idx="136">
                  <c:v>39569</c:v>
                </c:pt>
                <c:pt idx="137">
                  <c:v>39600</c:v>
                </c:pt>
                <c:pt idx="138">
                  <c:v>39630</c:v>
                </c:pt>
                <c:pt idx="139">
                  <c:v>39661</c:v>
                </c:pt>
                <c:pt idx="140">
                  <c:v>39692</c:v>
                </c:pt>
                <c:pt idx="141">
                  <c:v>39722</c:v>
                </c:pt>
                <c:pt idx="142">
                  <c:v>39753</c:v>
                </c:pt>
                <c:pt idx="143">
                  <c:v>39783</c:v>
                </c:pt>
                <c:pt idx="144">
                  <c:v>39814</c:v>
                </c:pt>
                <c:pt idx="145">
                  <c:v>39845</c:v>
                </c:pt>
                <c:pt idx="146">
                  <c:v>39873</c:v>
                </c:pt>
                <c:pt idx="147">
                  <c:v>39904</c:v>
                </c:pt>
                <c:pt idx="148">
                  <c:v>39934</c:v>
                </c:pt>
                <c:pt idx="149">
                  <c:v>39965</c:v>
                </c:pt>
                <c:pt idx="150">
                  <c:v>39995</c:v>
                </c:pt>
                <c:pt idx="151">
                  <c:v>40026</c:v>
                </c:pt>
                <c:pt idx="152">
                  <c:v>40057</c:v>
                </c:pt>
                <c:pt idx="153">
                  <c:v>40087</c:v>
                </c:pt>
                <c:pt idx="154">
                  <c:v>40118</c:v>
                </c:pt>
                <c:pt idx="155">
                  <c:v>40148</c:v>
                </c:pt>
                <c:pt idx="156">
                  <c:v>40179</c:v>
                </c:pt>
                <c:pt idx="157">
                  <c:v>40210</c:v>
                </c:pt>
                <c:pt idx="158">
                  <c:v>40238</c:v>
                </c:pt>
                <c:pt idx="159">
                  <c:v>40269</c:v>
                </c:pt>
                <c:pt idx="160">
                  <c:v>40299</c:v>
                </c:pt>
                <c:pt idx="161">
                  <c:v>40330</c:v>
                </c:pt>
                <c:pt idx="162">
                  <c:v>40360</c:v>
                </c:pt>
                <c:pt idx="163">
                  <c:v>40391</c:v>
                </c:pt>
                <c:pt idx="164">
                  <c:v>40422</c:v>
                </c:pt>
                <c:pt idx="165">
                  <c:v>40452</c:v>
                </c:pt>
                <c:pt idx="166">
                  <c:v>40483</c:v>
                </c:pt>
                <c:pt idx="167">
                  <c:v>40513</c:v>
                </c:pt>
                <c:pt idx="168">
                  <c:v>40544</c:v>
                </c:pt>
                <c:pt idx="169">
                  <c:v>40575</c:v>
                </c:pt>
                <c:pt idx="170">
                  <c:v>40603</c:v>
                </c:pt>
                <c:pt idx="171">
                  <c:v>40634</c:v>
                </c:pt>
                <c:pt idx="172">
                  <c:v>40664</c:v>
                </c:pt>
                <c:pt idx="173">
                  <c:v>40695</c:v>
                </c:pt>
                <c:pt idx="174">
                  <c:v>40725</c:v>
                </c:pt>
                <c:pt idx="175">
                  <c:v>40756</c:v>
                </c:pt>
                <c:pt idx="176">
                  <c:v>40787</c:v>
                </c:pt>
                <c:pt idx="177">
                  <c:v>40817</c:v>
                </c:pt>
                <c:pt idx="178">
                  <c:v>40848</c:v>
                </c:pt>
                <c:pt idx="179">
                  <c:v>40878</c:v>
                </c:pt>
                <c:pt idx="180">
                  <c:v>40909</c:v>
                </c:pt>
                <c:pt idx="181">
                  <c:v>40940</c:v>
                </c:pt>
                <c:pt idx="182">
                  <c:v>40969</c:v>
                </c:pt>
                <c:pt idx="183">
                  <c:v>41000</c:v>
                </c:pt>
                <c:pt idx="184">
                  <c:v>41030</c:v>
                </c:pt>
                <c:pt idx="185">
                  <c:v>41061</c:v>
                </c:pt>
                <c:pt idx="186">
                  <c:v>41091</c:v>
                </c:pt>
                <c:pt idx="187">
                  <c:v>41122</c:v>
                </c:pt>
                <c:pt idx="188">
                  <c:v>41153</c:v>
                </c:pt>
                <c:pt idx="189">
                  <c:v>41183</c:v>
                </c:pt>
                <c:pt idx="190">
                  <c:v>41214</c:v>
                </c:pt>
                <c:pt idx="191">
                  <c:v>41244</c:v>
                </c:pt>
                <c:pt idx="192">
                  <c:v>41275</c:v>
                </c:pt>
                <c:pt idx="193">
                  <c:v>41306</c:v>
                </c:pt>
                <c:pt idx="194">
                  <c:v>41334</c:v>
                </c:pt>
                <c:pt idx="195">
                  <c:v>41365</c:v>
                </c:pt>
                <c:pt idx="196">
                  <c:v>41395</c:v>
                </c:pt>
                <c:pt idx="197">
                  <c:v>41426</c:v>
                </c:pt>
                <c:pt idx="198">
                  <c:v>41456</c:v>
                </c:pt>
                <c:pt idx="199">
                  <c:v>41487</c:v>
                </c:pt>
                <c:pt idx="200">
                  <c:v>41518</c:v>
                </c:pt>
                <c:pt idx="201">
                  <c:v>41548</c:v>
                </c:pt>
                <c:pt idx="202">
                  <c:v>41579</c:v>
                </c:pt>
                <c:pt idx="203">
                  <c:v>41609</c:v>
                </c:pt>
                <c:pt idx="204">
                  <c:v>41640</c:v>
                </c:pt>
                <c:pt idx="205">
                  <c:v>41671</c:v>
                </c:pt>
                <c:pt idx="206">
                  <c:v>41699</c:v>
                </c:pt>
                <c:pt idx="207">
                  <c:v>41730</c:v>
                </c:pt>
                <c:pt idx="208">
                  <c:v>41760</c:v>
                </c:pt>
                <c:pt idx="209">
                  <c:v>41791</c:v>
                </c:pt>
                <c:pt idx="210">
                  <c:v>41821</c:v>
                </c:pt>
                <c:pt idx="211">
                  <c:v>41852</c:v>
                </c:pt>
                <c:pt idx="212">
                  <c:v>41883</c:v>
                </c:pt>
                <c:pt idx="213">
                  <c:v>41913</c:v>
                </c:pt>
                <c:pt idx="214">
                  <c:v>41944</c:v>
                </c:pt>
                <c:pt idx="215">
                  <c:v>41974</c:v>
                </c:pt>
                <c:pt idx="216">
                  <c:v>42005</c:v>
                </c:pt>
                <c:pt idx="217">
                  <c:v>42036</c:v>
                </c:pt>
                <c:pt idx="218">
                  <c:v>42064</c:v>
                </c:pt>
                <c:pt idx="219">
                  <c:v>42095</c:v>
                </c:pt>
                <c:pt idx="220">
                  <c:v>42125</c:v>
                </c:pt>
                <c:pt idx="221">
                  <c:v>42156</c:v>
                </c:pt>
                <c:pt idx="222">
                  <c:v>42186</c:v>
                </c:pt>
                <c:pt idx="223">
                  <c:v>42217</c:v>
                </c:pt>
                <c:pt idx="224">
                  <c:v>42248</c:v>
                </c:pt>
                <c:pt idx="225">
                  <c:v>42278</c:v>
                </c:pt>
                <c:pt idx="226">
                  <c:v>42309</c:v>
                </c:pt>
                <c:pt idx="227">
                  <c:v>42339</c:v>
                </c:pt>
                <c:pt idx="228">
                  <c:v>42370</c:v>
                </c:pt>
                <c:pt idx="229">
                  <c:v>42401</c:v>
                </c:pt>
                <c:pt idx="230">
                  <c:v>42430</c:v>
                </c:pt>
                <c:pt idx="231">
                  <c:v>42461</c:v>
                </c:pt>
                <c:pt idx="232">
                  <c:v>42491</c:v>
                </c:pt>
                <c:pt idx="233">
                  <c:v>42522</c:v>
                </c:pt>
                <c:pt idx="234">
                  <c:v>42552</c:v>
                </c:pt>
                <c:pt idx="235">
                  <c:v>42583</c:v>
                </c:pt>
                <c:pt idx="236">
                  <c:v>42614</c:v>
                </c:pt>
                <c:pt idx="237">
                  <c:v>42644</c:v>
                </c:pt>
                <c:pt idx="238">
                  <c:v>42675</c:v>
                </c:pt>
                <c:pt idx="239">
                  <c:v>42705</c:v>
                </c:pt>
                <c:pt idx="240">
                  <c:v>42736</c:v>
                </c:pt>
                <c:pt idx="241">
                  <c:v>42767</c:v>
                </c:pt>
                <c:pt idx="242">
                  <c:v>42795</c:v>
                </c:pt>
                <c:pt idx="243">
                  <c:v>42826</c:v>
                </c:pt>
                <c:pt idx="244">
                  <c:v>42856</c:v>
                </c:pt>
                <c:pt idx="245">
                  <c:v>42887</c:v>
                </c:pt>
                <c:pt idx="246">
                  <c:v>42917</c:v>
                </c:pt>
                <c:pt idx="247">
                  <c:v>42948</c:v>
                </c:pt>
                <c:pt idx="248">
                  <c:v>42979</c:v>
                </c:pt>
                <c:pt idx="249">
                  <c:v>43009</c:v>
                </c:pt>
                <c:pt idx="250">
                  <c:v>43040</c:v>
                </c:pt>
                <c:pt idx="251">
                  <c:v>43070</c:v>
                </c:pt>
                <c:pt idx="252">
                  <c:v>43101</c:v>
                </c:pt>
                <c:pt idx="253">
                  <c:v>43132</c:v>
                </c:pt>
                <c:pt idx="254">
                  <c:v>43160</c:v>
                </c:pt>
                <c:pt idx="255">
                  <c:v>43191</c:v>
                </c:pt>
                <c:pt idx="256">
                  <c:v>43221</c:v>
                </c:pt>
                <c:pt idx="257">
                  <c:v>43252</c:v>
                </c:pt>
                <c:pt idx="258">
                  <c:v>43282</c:v>
                </c:pt>
                <c:pt idx="259">
                  <c:v>43313</c:v>
                </c:pt>
                <c:pt idx="260">
                  <c:v>43344</c:v>
                </c:pt>
                <c:pt idx="261">
                  <c:v>43374</c:v>
                </c:pt>
                <c:pt idx="262">
                  <c:v>43405</c:v>
                </c:pt>
                <c:pt idx="263">
                  <c:v>43435</c:v>
                </c:pt>
                <c:pt idx="264">
                  <c:v>43466</c:v>
                </c:pt>
                <c:pt idx="265">
                  <c:v>43497</c:v>
                </c:pt>
                <c:pt idx="266">
                  <c:v>43525</c:v>
                </c:pt>
                <c:pt idx="267">
                  <c:v>43556</c:v>
                </c:pt>
                <c:pt idx="268">
                  <c:v>43586</c:v>
                </c:pt>
                <c:pt idx="269">
                  <c:v>43617</c:v>
                </c:pt>
                <c:pt idx="270">
                  <c:v>43647</c:v>
                </c:pt>
                <c:pt idx="271">
                  <c:v>43678</c:v>
                </c:pt>
                <c:pt idx="272">
                  <c:v>43709</c:v>
                </c:pt>
                <c:pt idx="273">
                  <c:v>43739</c:v>
                </c:pt>
                <c:pt idx="274">
                  <c:v>43770</c:v>
                </c:pt>
                <c:pt idx="275">
                  <c:v>43800</c:v>
                </c:pt>
                <c:pt idx="276">
                  <c:v>43831</c:v>
                </c:pt>
                <c:pt idx="277">
                  <c:v>43862</c:v>
                </c:pt>
                <c:pt idx="278">
                  <c:v>43891</c:v>
                </c:pt>
                <c:pt idx="279">
                  <c:v>43922</c:v>
                </c:pt>
                <c:pt idx="280">
                  <c:v>43952</c:v>
                </c:pt>
                <c:pt idx="281">
                  <c:v>43983</c:v>
                </c:pt>
                <c:pt idx="282">
                  <c:v>44013</c:v>
                </c:pt>
                <c:pt idx="283">
                  <c:v>44044</c:v>
                </c:pt>
                <c:pt idx="284">
                  <c:v>44075</c:v>
                </c:pt>
                <c:pt idx="285">
                  <c:v>44105</c:v>
                </c:pt>
                <c:pt idx="286">
                  <c:v>44136</c:v>
                </c:pt>
                <c:pt idx="287">
                  <c:v>44166</c:v>
                </c:pt>
                <c:pt idx="288">
                  <c:v>44197</c:v>
                </c:pt>
                <c:pt idx="289">
                  <c:v>44228</c:v>
                </c:pt>
                <c:pt idx="290">
                  <c:v>44256</c:v>
                </c:pt>
                <c:pt idx="291">
                  <c:v>44287</c:v>
                </c:pt>
                <c:pt idx="292">
                  <c:v>44317</c:v>
                </c:pt>
                <c:pt idx="293">
                  <c:v>44348</c:v>
                </c:pt>
                <c:pt idx="294">
                  <c:v>44378</c:v>
                </c:pt>
                <c:pt idx="295">
                  <c:v>44409</c:v>
                </c:pt>
                <c:pt idx="296">
                  <c:v>44440</c:v>
                </c:pt>
                <c:pt idx="297">
                  <c:v>44470</c:v>
                </c:pt>
                <c:pt idx="298">
                  <c:v>44501</c:v>
                </c:pt>
                <c:pt idx="299">
                  <c:v>44531</c:v>
                </c:pt>
                <c:pt idx="300">
                  <c:v>44562</c:v>
                </c:pt>
                <c:pt idx="301">
                  <c:v>44593</c:v>
                </c:pt>
                <c:pt idx="302">
                  <c:v>44621</c:v>
                </c:pt>
                <c:pt idx="303">
                  <c:v>44652</c:v>
                </c:pt>
                <c:pt idx="304">
                  <c:v>44682</c:v>
                </c:pt>
                <c:pt idx="305">
                  <c:v>44713</c:v>
                </c:pt>
                <c:pt idx="306">
                  <c:v>44743</c:v>
                </c:pt>
                <c:pt idx="307">
                  <c:v>44774</c:v>
                </c:pt>
                <c:pt idx="308">
                  <c:v>44805</c:v>
                </c:pt>
              </c:numCache>
            </c:numRef>
          </c:cat>
          <c:val>
            <c:numRef>
              <c:f>Sheet1!$D$2:$D$310</c:f>
              <c:numCache>
                <c:formatCode>General</c:formatCode>
                <c:ptCount val="309"/>
                <c:pt idx="180" formatCode="0.00">
                  <c:v>3.45</c:v>
                </c:pt>
                <c:pt idx="181" formatCode="0.00">
                  <c:v>3.42</c:v>
                </c:pt>
                <c:pt idx="182" formatCode="0.00">
                  <c:v>3.68</c:v>
                </c:pt>
                <c:pt idx="183" formatCode="0.00">
                  <c:v>3.68</c:v>
                </c:pt>
                <c:pt idx="184">
                  <c:v>3.5</c:v>
                </c:pt>
                <c:pt idx="185" formatCode="0.00">
                  <c:v>3.33</c:v>
                </c:pt>
                <c:pt idx="186" formatCode="0.00">
                  <c:v>3.22</c:v>
                </c:pt>
                <c:pt idx="187" formatCode="0.00">
                  <c:v>3.11</c:v>
                </c:pt>
                <c:pt idx="188" formatCode="0.00">
                  <c:v>2.98</c:v>
                </c:pt>
                <c:pt idx="189">
                  <c:v>2.7</c:v>
                </c:pt>
                <c:pt idx="190" formatCode="0.00">
                  <c:v>2.58</c:v>
                </c:pt>
                <c:pt idx="191" formatCode="0.00">
                  <c:v>2.44</c:v>
                </c:pt>
                <c:pt idx="192" formatCode="0.00">
                  <c:v>2.31</c:v>
                </c:pt>
                <c:pt idx="193" formatCode="0.00">
                  <c:v>2.37</c:v>
                </c:pt>
                <c:pt idx="194" formatCode="0.00">
                  <c:v>2.48</c:v>
                </c:pt>
                <c:pt idx="195" formatCode="0.00">
                  <c:v>2.11</c:v>
                </c:pt>
                <c:pt idx="196" formatCode="0.00">
                  <c:v>2.14</c:v>
                </c:pt>
                <c:pt idx="197" formatCode="0.00">
                  <c:v>2.15</c:v>
                </c:pt>
                <c:pt idx="198" formatCode="0.00">
                  <c:v>2.0699999999999998</c:v>
                </c:pt>
                <c:pt idx="199" formatCode="0.00">
                  <c:v>2.02</c:v>
                </c:pt>
                <c:pt idx="200" formatCode="0.00">
                  <c:v>1.95</c:v>
                </c:pt>
                <c:pt idx="201" formatCode="0.00">
                  <c:v>1.93</c:v>
                </c:pt>
                <c:pt idx="202" formatCode="0.00">
                  <c:v>1.91</c:v>
                </c:pt>
                <c:pt idx="203" formatCode="0.00">
                  <c:v>1.75</c:v>
                </c:pt>
                <c:pt idx="204" formatCode="0.00">
                  <c:v>1.67</c:v>
                </c:pt>
                <c:pt idx="205" formatCode="0.00">
                  <c:v>1.68</c:v>
                </c:pt>
                <c:pt idx="206" formatCode="0.00">
                  <c:v>1.94</c:v>
                </c:pt>
                <c:pt idx="207">
                  <c:v>1.9</c:v>
                </c:pt>
                <c:pt idx="208">
                  <c:v>1.8</c:v>
                </c:pt>
                <c:pt idx="209" formatCode="0.00">
                  <c:v>1.75</c:v>
                </c:pt>
                <c:pt idx="210" formatCode="0.00">
                  <c:v>1.76</c:v>
                </c:pt>
                <c:pt idx="211" formatCode="0.00">
                  <c:v>1.71</c:v>
                </c:pt>
                <c:pt idx="212" formatCode="0.00">
                  <c:v>1.68</c:v>
                </c:pt>
                <c:pt idx="213" formatCode="0.00">
                  <c:v>1.71</c:v>
                </c:pt>
                <c:pt idx="214">
                  <c:v>1.7</c:v>
                </c:pt>
                <c:pt idx="215" formatCode="0.00">
                  <c:v>1.62</c:v>
                </c:pt>
                <c:pt idx="216" formatCode="0.00">
                  <c:v>1.59</c:v>
                </c:pt>
                <c:pt idx="217" formatCode="0.00">
                  <c:v>1.56</c:v>
                </c:pt>
                <c:pt idx="218" formatCode="0.00">
                  <c:v>1.57</c:v>
                </c:pt>
                <c:pt idx="219" formatCode="0.00">
                  <c:v>1.56</c:v>
                </c:pt>
                <c:pt idx="220" formatCode="0.00">
                  <c:v>1.52</c:v>
                </c:pt>
                <c:pt idx="221" formatCode="0.00">
                  <c:v>1.48</c:v>
                </c:pt>
                <c:pt idx="222" formatCode="0.00">
                  <c:v>1.62</c:v>
                </c:pt>
                <c:pt idx="223" formatCode="0.00">
                  <c:v>1.62</c:v>
                </c:pt>
                <c:pt idx="224" formatCode="0.00">
                  <c:v>1.64</c:v>
                </c:pt>
                <c:pt idx="225" formatCode="0.00">
                  <c:v>1.64</c:v>
                </c:pt>
                <c:pt idx="226" formatCode="0.00">
                  <c:v>1.48</c:v>
                </c:pt>
                <c:pt idx="227" formatCode="0.00">
                  <c:v>1.35</c:v>
                </c:pt>
                <c:pt idx="228" formatCode="0.00">
                  <c:v>1.54</c:v>
                </c:pt>
                <c:pt idx="229" formatCode="0.00">
                  <c:v>1.22</c:v>
                </c:pt>
                <c:pt idx="230" formatCode="0.00">
                  <c:v>1.24</c:v>
                </c:pt>
                <c:pt idx="231" formatCode="0.00">
                  <c:v>1.26</c:v>
                </c:pt>
                <c:pt idx="232" formatCode="0.00">
                  <c:v>1.1599999999999999</c:v>
                </c:pt>
                <c:pt idx="233" formatCode="0.00">
                  <c:v>1.1599999999999999</c:v>
                </c:pt>
                <c:pt idx="234" formatCode="0.00">
                  <c:v>1.07</c:v>
                </c:pt>
                <c:pt idx="235" formatCode="0.00">
                  <c:v>0.94</c:v>
                </c:pt>
                <c:pt idx="236" formatCode="0.00">
                  <c:v>0.84</c:v>
                </c:pt>
                <c:pt idx="237">
                  <c:v>0.9</c:v>
                </c:pt>
                <c:pt idx="238" formatCode="0.00">
                  <c:v>0.78</c:v>
                </c:pt>
                <c:pt idx="239" formatCode="0.00">
                  <c:v>0.71</c:v>
                </c:pt>
                <c:pt idx="240" formatCode="0.00">
                  <c:v>0.82</c:v>
                </c:pt>
                <c:pt idx="241">
                  <c:v>0.9</c:v>
                </c:pt>
                <c:pt idx="242" formatCode="0.00">
                  <c:v>0.93</c:v>
                </c:pt>
                <c:pt idx="243" formatCode="0.00">
                  <c:v>0.98</c:v>
                </c:pt>
                <c:pt idx="244" formatCode="0.00">
                  <c:v>0.76</c:v>
                </c:pt>
                <c:pt idx="245" formatCode="0.00">
                  <c:v>0.91</c:v>
                </c:pt>
                <c:pt idx="246" formatCode="0">
                  <c:v>1</c:v>
                </c:pt>
                <c:pt idx="247">
                  <c:v>1.1000000000000001</c:v>
                </c:pt>
                <c:pt idx="248" formatCode="0.00">
                  <c:v>1.1399999999999999</c:v>
                </c:pt>
                <c:pt idx="249">
                  <c:v>1.5</c:v>
                </c:pt>
                <c:pt idx="250" formatCode="0.00">
                  <c:v>1.37</c:v>
                </c:pt>
                <c:pt idx="251" formatCode="0.00">
                  <c:v>1.26</c:v>
                </c:pt>
                <c:pt idx="252" formatCode="0.00">
                  <c:v>1.38</c:v>
                </c:pt>
                <c:pt idx="253" formatCode="0.00">
                  <c:v>1.32</c:v>
                </c:pt>
                <c:pt idx="254" formatCode="0.00">
                  <c:v>1.37</c:v>
                </c:pt>
                <c:pt idx="255" formatCode="0.00">
                  <c:v>1.06</c:v>
                </c:pt>
                <c:pt idx="256" formatCode="0.00">
                  <c:v>1.24</c:v>
                </c:pt>
                <c:pt idx="257" formatCode="0.00">
                  <c:v>1.26</c:v>
                </c:pt>
                <c:pt idx="258" formatCode="0.00">
                  <c:v>1.23</c:v>
                </c:pt>
                <c:pt idx="259" formatCode="0.00">
                  <c:v>1.32</c:v>
                </c:pt>
                <c:pt idx="260" formatCode="0.00">
                  <c:v>1.38</c:v>
                </c:pt>
                <c:pt idx="261" formatCode="0.00">
                  <c:v>1.47</c:v>
                </c:pt>
                <c:pt idx="262" formatCode="0.00">
                  <c:v>1.45</c:v>
                </c:pt>
                <c:pt idx="263" formatCode="0.00">
                  <c:v>1.48</c:v>
                </c:pt>
                <c:pt idx="264">
                  <c:v>1.4</c:v>
                </c:pt>
                <c:pt idx="265" formatCode="0.00">
                  <c:v>1.27</c:v>
                </c:pt>
                <c:pt idx="266" formatCode="0.00">
                  <c:v>1.29</c:v>
                </c:pt>
                <c:pt idx="267" formatCode="0.00">
                  <c:v>1.31</c:v>
                </c:pt>
                <c:pt idx="268" formatCode="0.00">
                  <c:v>1.36</c:v>
                </c:pt>
                <c:pt idx="269">
                  <c:v>1.3</c:v>
                </c:pt>
                <c:pt idx="270" formatCode="0.00">
                  <c:v>1.0900000000000001</c:v>
                </c:pt>
                <c:pt idx="271" formatCode="0.00">
                  <c:v>1.0900000000000001</c:v>
                </c:pt>
                <c:pt idx="272" formatCode="0.00">
                  <c:v>0.94</c:v>
                </c:pt>
                <c:pt idx="273" formatCode="0.00">
                  <c:v>0.94</c:v>
                </c:pt>
                <c:pt idx="274" formatCode="0.00">
                  <c:v>0.85</c:v>
                </c:pt>
                <c:pt idx="275">
                  <c:v>0.9</c:v>
                </c:pt>
                <c:pt idx="276" formatCode="0.00">
                  <c:v>1.04</c:v>
                </c:pt>
                <c:pt idx="277" formatCode="0.00">
                  <c:v>0.93</c:v>
                </c:pt>
                <c:pt idx="278" formatCode="0.00">
                  <c:v>0.95</c:v>
                </c:pt>
                <c:pt idx="279" formatCode="0.00">
                  <c:v>0.81</c:v>
                </c:pt>
                <c:pt idx="280" formatCode="0.00">
                  <c:v>0.82</c:v>
                </c:pt>
                <c:pt idx="281" formatCode="0.00">
                  <c:v>0.43</c:v>
                </c:pt>
                <c:pt idx="282" formatCode="0.00">
                  <c:v>0.41</c:v>
                </c:pt>
                <c:pt idx="283" formatCode="0.00">
                  <c:v>0.37</c:v>
                </c:pt>
                <c:pt idx="284" formatCode="0.00">
                  <c:v>0.38</c:v>
                </c:pt>
                <c:pt idx="285" formatCode="0.00">
                  <c:v>0.47</c:v>
                </c:pt>
                <c:pt idx="286">
                  <c:v>0.4</c:v>
                </c:pt>
                <c:pt idx="287" formatCode="0.00">
                  <c:v>0.38</c:v>
                </c:pt>
                <c:pt idx="288" formatCode="0.00">
                  <c:v>0.36</c:v>
                </c:pt>
                <c:pt idx="289">
                  <c:v>0.3</c:v>
                </c:pt>
                <c:pt idx="290" formatCode="0.00">
                  <c:v>0.32</c:v>
                </c:pt>
                <c:pt idx="291" formatCode="0.00">
                  <c:v>0.27</c:v>
                </c:pt>
                <c:pt idx="292" formatCode="0.00">
                  <c:v>0.28000000000000003</c:v>
                </c:pt>
                <c:pt idx="293" formatCode="0.00">
                  <c:v>0.18</c:v>
                </c:pt>
                <c:pt idx="294">
                  <c:v>0.2</c:v>
                </c:pt>
                <c:pt idx="295">
                  <c:v>0.3</c:v>
                </c:pt>
                <c:pt idx="296" formatCode="0.00">
                  <c:v>0.34</c:v>
                </c:pt>
                <c:pt idx="297" formatCode="0.00">
                  <c:v>0.34</c:v>
                </c:pt>
                <c:pt idx="298" formatCode="0.00">
                  <c:v>0.35</c:v>
                </c:pt>
                <c:pt idx="299" formatCode="0.00">
                  <c:v>0.32</c:v>
                </c:pt>
                <c:pt idx="300" formatCode="0.00">
                  <c:v>0.52</c:v>
                </c:pt>
                <c:pt idx="301">
                  <c:v>0.6</c:v>
                </c:pt>
                <c:pt idx="302" formatCode="0.00">
                  <c:v>1.04</c:v>
                </c:pt>
                <c:pt idx="303" formatCode="0.00">
                  <c:v>1.19</c:v>
                </c:pt>
                <c:pt idx="304" formatCode="0.00">
                  <c:v>1.31</c:v>
                </c:pt>
                <c:pt idx="305" formatCode="0.00">
                  <c:v>1.56</c:v>
                </c:pt>
                <c:pt idx="306" formatCode="0.00">
                  <c:v>1.93</c:v>
                </c:pt>
                <c:pt idx="307">
                  <c:v>2.0699999999999998</c:v>
                </c:pt>
                <c:pt idx="308">
                  <c:v>2.68</c:v>
                </c:pt>
              </c:numCache>
            </c:numRef>
          </c:val>
          <c:smooth val="0"/>
          <c:extLst>
            <c:ext xmlns:c16="http://schemas.microsoft.com/office/drawing/2014/chart" uri="{C3380CC4-5D6E-409C-BE32-E72D297353CC}">
              <c16:uniqueId val="{00000002-3052-4B72-A39C-F8B47A0BFAC4}"/>
            </c:ext>
          </c:extLst>
        </c:ser>
        <c:ser>
          <c:idx val="3"/>
          <c:order val="3"/>
          <c:tx>
            <c:strRef>
              <c:f>Sheet1!$E$1</c:f>
              <c:strCache>
                <c:ptCount val="1"/>
                <c:pt idx="0">
                  <c:v>Govt securities (20 years)</c:v>
                </c:pt>
              </c:strCache>
            </c:strRef>
          </c:tx>
          <c:spPr>
            <a:ln w="31750">
              <a:solidFill>
                <a:srgbClr val="FF9933"/>
              </a:solidFill>
            </a:ln>
          </c:spPr>
          <c:marker>
            <c:symbol val="none"/>
          </c:marker>
          <c:cat>
            <c:numRef>
              <c:f>Sheet1!$A$2:$A$310</c:f>
              <c:numCache>
                <c:formatCode>mmm\-yy</c:formatCode>
                <c:ptCount val="309"/>
                <c:pt idx="0">
                  <c:v>35431</c:v>
                </c:pt>
                <c:pt idx="1">
                  <c:v>35462</c:v>
                </c:pt>
                <c:pt idx="2">
                  <c:v>35490</c:v>
                </c:pt>
                <c:pt idx="3">
                  <c:v>35521</c:v>
                </c:pt>
                <c:pt idx="4">
                  <c:v>35551</c:v>
                </c:pt>
                <c:pt idx="5">
                  <c:v>35582</c:v>
                </c:pt>
                <c:pt idx="6">
                  <c:v>35612</c:v>
                </c:pt>
                <c:pt idx="7">
                  <c:v>35643</c:v>
                </c:pt>
                <c:pt idx="8">
                  <c:v>35674</c:v>
                </c:pt>
                <c:pt idx="9">
                  <c:v>35704</c:v>
                </c:pt>
                <c:pt idx="10">
                  <c:v>35735</c:v>
                </c:pt>
                <c:pt idx="11">
                  <c:v>35765</c:v>
                </c:pt>
                <c:pt idx="12">
                  <c:v>35796</c:v>
                </c:pt>
                <c:pt idx="13">
                  <c:v>35827</c:v>
                </c:pt>
                <c:pt idx="14">
                  <c:v>35855</c:v>
                </c:pt>
                <c:pt idx="15">
                  <c:v>35886</c:v>
                </c:pt>
                <c:pt idx="16">
                  <c:v>35916</c:v>
                </c:pt>
                <c:pt idx="17">
                  <c:v>35947</c:v>
                </c:pt>
                <c:pt idx="18">
                  <c:v>35977</c:v>
                </c:pt>
                <c:pt idx="19">
                  <c:v>36008</c:v>
                </c:pt>
                <c:pt idx="20">
                  <c:v>36039</c:v>
                </c:pt>
                <c:pt idx="21">
                  <c:v>36069</c:v>
                </c:pt>
                <c:pt idx="22">
                  <c:v>36100</c:v>
                </c:pt>
                <c:pt idx="23">
                  <c:v>36130</c:v>
                </c:pt>
                <c:pt idx="24">
                  <c:v>36161</c:v>
                </c:pt>
                <c:pt idx="25">
                  <c:v>36192</c:v>
                </c:pt>
                <c:pt idx="26">
                  <c:v>36220</c:v>
                </c:pt>
                <c:pt idx="27">
                  <c:v>36251</c:v>
                </c:pt>
                <c:pt idx="28">
                  <c:v>36281</c:v>
                </c:pt>
                <c:pt idx="29">
                  <c:v>36312</c:v>
                </c:pt>
                <c:pt idx="30">
                  <c:v>36342</c:v>
                </c:pt>
                <c:pt idx="31">
                  <c:v>36373</c:v>
                </c:pt>
                <c:pt idx="32">
                  <c:v>36404</c:v>
                </c:pt>
                <c:pt idx="33">
                  <c:v>36434</c:v>
                </c:pt>
                <c:pt idx="34">
                  <c:v>36465</c:v>
                </c:pt>
                <c:pt idx="35">
                  <c:v>36495</c:v>
                </c:pt>
                <c:pt idx="36">
                  <c:v>36526</c:v>
                </c:pt>
                <c:pt idx="37">
                  <c:v>36557</c:v>
                </c:pt>
                <c:pt idx="38">
                  <c:v>36586</c:v>
                </c:pt>
                <c:pt idx="39">
                  <c:v>36617</c:v>
                </c:pt>
                <c:pt idx="40">
                  <c:v>36647</c:v>
                </c:pt>
                <c:pt idx="41">
                  <c:v>36678</c:v>
                </c:pt>
                <c:pt idx="42">
                  <c:v>36708</c:v>
                </c:pt>
                <c:pt idx="43">
                  <c:v>36739</c:v>
                </c:pt>
                <c:pt idx="44">
                  <c:v>36770</c:v>
                </c:pt>
                <c:pt idx="45">
                  <c:v>36800</c:v>
                </c:pt>
                <c:pt idx="46">
                  <c:v>36831</c:v>
                </c:pt>
                <c:pt idx="47">
                  <c:v>36861</c:v>
                </c:pt>
                <c:pt idx="48">
                  <c:v>36892</c:v>
                </c:pt>
                <c:pt idx="49">
                  <c:v>36923</c:v>
                </c:pt>
                <c:pt idx="50">
                  <c:v>36951</c:v>
                </c:pt>
                <c:pt idx="51">
                  <c:v>36982</c:v>
                </c:pt>
                <c:pt idx="52">
                  <c:v>37012</c:v>
                </c:pt>
                <c:pt idx="53">
                  <c:v>37043</c:v>
                </c:pt>
                <c:pt idx="54">
                  <c:v>37073</c:v>
                </c:pt>
                <c:pt idx="55">
                  <c:v>37104</c:v>
                </c:pt>
                <c:pt idx="56">
                  <c:v>37135</c:v>
                </c:pt>
                <c:pt idx="57">
                  <c:v>37165</c:v>
                </c:pt>
                <c:pt idx="58">
                  <c:v>37196</c:v>
                </c:pt>
                <c:pt idx="59">
                  <c:v>37226</c:v>
                </c:pt>
                <c:pt idx="60">
                  <c:v>37257</c:v>
                </c:pt>
                <c:pt idx="61">
                  <c:v>37288</c:v>
                </c:pt>
                <c:pt idx="62">
                  <c:v>37316</c:v>
                </c:pt>
                <c:pt idx="63">
                  <c:v>37347</c:v>
                </c:pt>
                <c:pt idx="64">
                  <c:v>37377</c:v>
                </c:pt>
                <c:pt idx="65">
                  <c:v>37408</c:v>
                </c:pt>
                <c:pt idx="66">
                  <c:v>37438</c:v>
                </c:pt>
                <c:pt idx="67">
                  <c:v>37469</c:v>
                </c:pt>
                <c:pt idx="68">
                  <c:v>37500</c:v>
                </c:pt>
                <c:pt idx="69">
                  <c:v>37530</c:v>
                </c:pt>
                <c:pt idx="70">
                  <c:v>37561</c:v>
                </c:pt>
                <c:pt idx="71">
                  <c:v>37591</c:v>
                </c:pt>
                <c:pt idx="72">
                  <c:v>37622</c:v>
                </c:pt>
                <c:pt idx="73">
                  <c:v>37653</c:v>
                </c:pt>
                <c:pt idx="74">
                  <c:v>37681</c:v>
                </c:pt>
                <c:pt idx="75">
                  <c:v>37712</c:v>
                </c:pt>
                <c:pt idx="76">
                  <c:v>37742</c:v>
                </c:pt>
                <c:pt idx="77">
                  <c:v>37773</c:v>
                </c:pt>
                <c:pt idx="78">
                  <c:v>37803</c:v>
                </c:pt>
                <c:pt idx="79">
                  <c:v>37834</c:v>
                </c:pt>
                <c:pt idx="80">
                  <c:v>37865</c:v>
                </c:pt>
                <c:pt idx="81">
                  <c:v>37895</c:v>
                </c:pt>
                <c:pt idx="82">
                  <c:v>37926</c:v>
                </c:pt>
                <c:pt idx="83">
                  <c:v>37956</c:v>
                </c:pt>
                <c:pt idx="84">
                  <c:v>37987</c:v>
                </c:pt>
                <c:pt idx="85">
                  <c:v>38018</c:v>
                </c:pt>
                <c:pt idx="86">
                  <c:v>38047</c:v>
                </c:pt>
                <c:pt idx="87">
                  <c:v>38078</c:v>
                </c:pt>
                <c:pt idx="88">
                  <c:v>38108</c:v>
                </c:pt>
                <c:pt idx="89">
                  <c:v>38139</c:v>
                </c:pt>
                <c:pt idx="90">
                  <c:v>38169</c:v>
                </c:pt>
                <c:pt idx="91">
                  <c:v>38200</c:v>
                </c:pt>
                <c:pt idx="92">
                  <c:v>38231</c:v>
                </c:pt>
                <c:pt idx="93">
                  <c:v>38261</c:v>
                </c:pt>
                <c:pt idx="94">
                  <c:v>38292</c:v>
                </c:pt>
                <c:pt idx="95">
                  <c:v>38322</c:v>
                </c:pt>
                <c:pt idx="96">
                  <c:v>38353</c:v>
                </c:pt>
                <c:pt idx="97">
                  <c:v>38384</c:v>
                </c:pt>
                <c:pt idx="98">
                  <c:v>38412</c:v>
                </c:pt>
                <c:pt idx="99">
                  <c:v>38443</c:v>
                </c:pt>
                <c:pt idx="100">
                  <c:v>38473</c:v>
                </c:pt>
                <c:pt idx="101">
                  <c:v>38504</c:v>
                </c:pt>
                <c:pt idx="102">
                  <c:v>38534</c:v>
                </c:pt>
                <c:pt idx="103">
                  <c:v>38565</c:v>
                </c:pt>
                <c:pt idx="104">
                  <c:v>38596</c:v>
                </c:pt>
                <c:pt idx="105">
                  <c:v>38626</c:v>
                </c:pt>
                <c:pt idx="106">
                  <c:v>38657</c:v>
                </c:pt>
                <c:pt idx="107">
                  <c:v>38687</c:v>
                </c:pt>
                <c:pt idx="108">
                  <c:v>38718</c:v>
                </c:pt>
                <c:pt idx="109">
                  <c:v>38749</c:v>
                </c:pt>
                <c:pt idx="110">
                  <c:v>38777</c:v>
                </c:pt>
                <c:pt idx="111">
                  <c:v>38808</c:v>
                </c:pt>
                <c:pt idx="112">
                  <c:v>38838</c:v>
                </c:pt>
                <c:pt idx="113">
                  <c:v>38869</c:v>
                </c:pt>
                <c:pt idx="114">
                  <c:v>38899</c:v>
                </c:pt>
                <c:pt idx="115">
                  <c:v>38930</c:v>
                </c:pt>
                <c:pt idx="116">
                  <c:v>38961</c:v>
                </c:pt>
                <c:pt idx="117">
                  <c:v>38991</c:v>
                </c:pt>
                <c:pt idx="118">
                  <c:v>39022</c:v>
                </c:pt>
                <c:pt idx="119">
                  <c:v>39052</c:v>
                </c:pt>
                <c:pt idx="120">
                  <c:v>39083</c:v>
                </c:pt>
                <c:pt idx="121">
                  <c:v>39114</c:v>
                </c:pt>
                <c:pt idx="122">
                  <c:v>39142</c:v>
                </c:pt>
                <c:pt idx="123">
                  <c:v>39173</c:v>
                </c:pt>
                <c:pt idx="124">
                  <c:v>39203</c:v>
                </c:pt>
                <c:pt idx="125">
                  <c:v>39234</c:v>
                </c:pt>
                <c:pt idx="126">
                  <c:v>39264</c:v>
                </c:pt>
                <c:pt idx="127">
                  <c:v>39295</c:v>
                </c:pt>
                <c:pt idx="128">
                  <c:v>39326</c:v>
                </c:pt>
                <c:pt idx="129">
                  <c:v>39356</c:v>
                </c:pt>
                <c:pt idx="130">
                  <c:v>39387</c:v>
                </c:pt>
                <c:pt idx="131">
                  <c:v>39417</c:v>
                </c:pt>
                <c:pt idx="132">
                  <c:v>39448</c:v>
                </c:pt>
                <c:pt idx="133">
                  <c:v>39479</c:v>
                </c:pt>
                <c:pt idx="134">
                  <c:v>39508</c:v>
                </c:pt>
                <c:pt idx="135">
                  <c:v>39539</c:v>
                </c:pt>
                <c:pt idx="136">
                  <c:v>39569</c:v>
                </c:pt>
                <c:pt idx="137">
                  <c:v>39600</c:v>
                </c:pt>
                <c:pt idx="138">
                  <c:v>39630</c:v>
                </c:pt>
                <c:pt idx="139">
                  <c:v>39661</c:v>
                </c:pt>
                <c:pt idx="140">
                  <c:v>39692</c:v>
                </c:pt>
                <c:pt idx="141">
                  <c:v>39722</c:v>
                </c:pt>
                <c:pt idx="142">
                  <c:v>39753</c:v>
                </c:pt>
                <c:pt idx="143">
                  <c:v>39783</c:v>
                </c:pt>
                <c:pt idx="144">
                  <c:v>39814</c:v>
                </c:pt>
                <c:pt idx="145">
                  <c:v>39845</c:v>
                </c:pt>
                <c:pt idx="146">
                  <c:v>39873</c:v>
                </c:pt>
                <c:pt idx="147">
                  <c:v>39904</c:v>
                </c:pt>
                <c:pt idx="148">
                  <c:v>39934</c:v>
                </c:pt>
                <c:pt idx="149">
                  <c:v>39965</c:v>
                </c:pt>
                <c:pt idx="150">
                  <c:v>39995</c:v>
                </c:pt>
                <c:pt idx="151">
                  <c:v>40026</c:v>
                </c:pt>
                <c:pt idx="152">
                  <c:v>40057</c:v>
                </c:pt>
                <c:pt idx="153">
                  <c:v>40087</c:v>
                </c:pt>
                <c:pt idx="154">
                  <c:v>40118</c:v>
                </c:pt>
                <c:pt idx="155">
                  <c:v>40148</c:v>
                </c:pt>
                <c:pt idx="156">
                  <c:v>40179</c:v>
                </c:pt>
                <c:pt idx="157">
                  <c:v>40210</c:v>
                </c:pt>
                <c:pt idx="158">
                  <c:v>40238</c:v>
                </c:pt>
                <c:pt idx="159">
                  <c:v>40269</c:v>
                </c:pt>
                <c:pt idx="160">
                  <c:v>40299</c:v>
                </c:pt>
                <c:pt idx="161">
                  <c:v>40330</c:v>
                </c:pt>
                <c:pt idx="162">
                  <c:v>40360</c:v>
                </c:pt>
                <c:pt idx="163">
                  <c:v>40391</c:v>
                </c:pt>
                <c:pt idx="164">
                  <c:v>40422</c:v>
                </c:pt>
                <c:pt idx="165">
                  <c:v>40452</c:v>
                </c:pt>
                <c:pt idx="166">
                  <c:v>40483</c:v>
                </c:pt>
                <c:pt idx="167">
                  <c:v>40513</c:v>
                </c:pt>
                <c:pt idx="168">
                  <c:v>40544</c:v>
                </c:pt>
                <c:pt idx="169">
                  <c:v>40575</c:v>
                </c:pt>
                <c:pt idx="170">
                  <c:v>40603</c:v>
                </c:pt>
                <c:pt idx="171">
                  <c:v>40634</c:v>
                </c:pt>
                <c:pt idx="172">
                  <c:v>40664</c:v>
                </c:pt>
                <c:pt idx="173">
                  <c:v>40695</c:v>
                </c:pt>
                <c:pt idx="174">
                  <c:v>40725</c:v>
                </c:pt>
                <c:pt idx="175">
                  <c:v>40756</c:v>
                </c:pt>
                <c:pt idx="176">
                  <c:v>40787</c:v>
                </c:pt>
                <c:pt idx="177">
                  <c:v>40817</c:v>
                </c:pt>
                <c:pt idx="178">
                  <c:v>40848</c:v>
                </c:pt>
                <c:pt idx="179">
                  <c:v>40878</c:v>
                </c:pt>
                <c:pt idx="180">
                  <c:v>40909</c:v>
                </c:pt>
                <c:pt idx="181">
                  <c:v>40940</c:v>
                </c:pt>
                <c:pt idx="182">
                  <c:v>40969</c:v>
                </c:pt>
                <c:pt idx="183">
                  <c:v>41000</c:v>
                </c:pt>
                <c:pt idx="184">
                  <c:v>41030</c:v>
                </c:pt>
                <c:pt idx="185">
                  <c:v>41061</c:v>
                </c:pt>
                <c:pt idx="186">
                  <c:v>41091</c:v>
                </c:pt>
                <c:pt idx="187">
                  <c:v>41122</c:v>
                </c:pt>
                <c:pt idx="188">
                  <c:v>41153</c:v>
                </c:pt>
                <c:pt idx="189">
                  <c:v>41183</c:v>
                </c:pt>
                <c:pt idx="190">
                  <c:v>41214</c:v>
                </c:pt>
                <c:pt idx="191">
                  <c:v>41244</c:v>
                </c:pt>
                <c:pt idx="192">
                  <c:v>41275</c:v>
                </c:pt>
                <c:pt idx="193">
                  <c:v>41306</c:v>
                </c:pt>
                <c:pt idx="194">
                  <c:v>41334</c:v>
                </c:pt>
                <c:pt idx="195">
                  <c:v>41365</c:v>
                </c:pt>
                <c:pt idx="196">
                  <c:v>41395</c:v>
                </c:pt>
                <c:pt idx="197">
                  <c:v>41426</c:v>
                </c:pt>
                <c:pt idx="198">
                  <c:v>41456</c:v>
                </c:pt>
                <c:pt idx="199">
                  <c:v>41487</c:v>
                </c:pt>
                <c:pt idx="200">
                  <c:v>41518</c:v>
                </c:pt>
                <c:pt idx="201">
                  <c:v>41548</c:v>
                </c:pt>
                <c:pt idx="202">
                  <c:v>41579</c:v>
                </c:pt>
                <c:pt idx="203">
                  <c:v>41609</c:v>
                </c:pt>
                <c:pt idx="204">
                  <c:v>41640</c:v>
                </c:pt>
                <c:pt idx="205">
                  <c:v>41671</c:v>
                </c:pt>
                <c:pt idx="206">
                  <c:v>41699</c:v>
                </c:pt>
                <c:pt idx="207">
                  <c:v>41730</c:v>
                </c:pt>
                <c:pt idx="208">
                  <c:v>41760</c:v>
                </c:pt>
                <c:pt idx="209">
                  <c:v>41791</c:v>
                </c:pt>
                <c:pt idx="210">
                  <c:v>41821</c:v>
                </c:pt>
                <c:pt idx="211">
                  <c:v>41852</c:v>
                </c:pt>
                <c:pt idx="212">
                  <c:v>41883</c:v>
                </c:pt>
                <c:pt idx="213">
                  <c:v>41913</c:v>
                </c:pt>
                <c:pt idx="214">
                  <c:v>41944</c:v>
                </c:pt>
                <c:pt idx="215">
                  <c:v>41974</c:v>
                </c:pt>
                <c:pt idx="216">
                  <c:v>42005</c:v>
                </c:pt>
                <c:pt idx="217">
                  <c:v>42036</c:v>
                </c:pt>
                <c:pt idx="218">
                  <c:v>42064</c:v>
                </c:pt>
                <c:pt idx="219">
                  <c:v>42095</c:v>
                </c:pt>
                <c:pt idx="220">
                  <c:v>42125</c:v>
                </c:pt>
                <c:pt idx="221">
                  <c:v>42156</c:v>
                </c:pt>
                <c:pt idx="222">
                  <c:v>42186</c:v>
                </c:pt>
                <c:pt idx="223">
                  <c:v>42217</c:v>
                </c:pt>
                <c:pt idx="224">
                  <c:v>42248</c:v>
                </c:pt>
                <c:pt idx="225">
                  <c:v>42278</c:v>
                </c:pt>
                <c:pt idx="226">
                  <c:v>42309</c:v>
                </c:pt>
                <c:pt idx="227">
                  <c:v>42339</c:v>
                </c:pt>
                <c:pt idx="228">
                  <c:v>42370</c:v>
                </c:pt>
                <c:pt idx="229">
                  <c:v>42401</c:v>
                </c:pt>
                <c:pt idx="230">
                  <c:v>42430</c:v>
                </c:pt>
                <c:pt idx="231">
                  <c:v>42461</c:v>
                </c:pt>
                <c:pt idx="232">
                  <c:v>42491</c:v>
                </c:pt>
                <c:pt idx="233">
                  <c:v>42522</c:v>
                </c:pt>
                <c:pt idx="234">
                  <c:v>42552</c:v>
                </c:pt>
                <c:pt idx="235">
                  <c:v>42583</c:v>
                </c:pt>
                <c:pt idx="236">
                  <c:v>42614</c:v>
                </c:pt>
                <c:pt idx="237">
                  <c:v>42644</c:v>
                </c:pt>
                <c:pt idx="238">
                  <c:v>42675</c:v>
                </c:pt>
                <c:pt idx="239">
                  <c:v>42705</c:v>
                </c:pt>
                <c:pt idx="240">
                  <c:v>42736</c:v>
                </c:pt>
                <c:pt idx="241">
                  <c:v>42767</c:v>
                </c:pt>
                <c:pt idx="242">
                  <c:v>42795</c:v>
                </c:pt>
                <c:pt idx="243">
                  <c:v>42826</c:v>
                </c:pt>
                <c:pt idx="244">
                  <c:v>42856</c:v>
                </c:pt>
                <c:pt idx="245">
                  <c:v>42887</c:v>
                </c:pt>
                <c:pt idx="246">
                  <c:v>42917</c:v>
                </c:pt>
                <c:pt idx="247">
                  <c:v>42948</c:v>
                </c:pt>
                <c:pt idx="248">
                  <c:v>42979</c:v>
                </c:pt>
                <c:pt idx="249">
                  <c:v>43009</c:v>
                </c:pt>
                <c:pt idx="250">
                  <c:v>43040</c:v>
                </c:pt>
                <c:pt idx="251">
                  <c:v>43070</c:v>
                </c:pt>
                <c:pt idx="252">
                  <c:v>43101</c:v>
                </c:pt>
                <c:pt idx="253">
                  <c:v>43132</c:v>
                </c:pt>
                <c:pt idx="254">
                  <c:v>43160</c:v>
                </c:pt>
                <c:pt idx="255">
                  <c:v>43191</c:v>
                </c:pt>
                <c:pt idx="256">
                  <c:v>43221</c:v>
                </c:pt>
                <c:pt idx="257">
                  <c:v>43252</c:v>
                </c:pt>
                <c:pt idx="258">
                  <c:v>43282</c:v>
                </c:pt>
                <c:pt idx="259">
                  <c:v>43313</c:v>
                </c:pt>
                <c:pt idx="260">
                  <c:v>43344</c:v>
                </c:pt>
                <c:pt idx="261">
                  <c:v>43374</c:v>
                </c:pt>
                <c:pt idx="262">
                  <c:v>43405</c:v>
                </c:pt>
                <c:pt idx="263">
                  <c:v>43435</c:v>
                </c:pt>
                <c:pt idx="264">
                  <c:v>43466</c:v>
                </c:pt>
                <c:pt idx="265">
                  <c:v>43497</c:v>
                </c:pt>
                <c:pt idx="266">
                  <c:v>43525</c:v>
                </c:pt>
                <c:pt idx="267">
                  <c:v>43556</c:v>
                </c:pt>
                <c:pt idx="268">
                  <c:v>43586</c:v>
                </c:pt>
                <c:pt idx="269">
                  <c:v>43617</c:v>
                </c:pt>
                <c:pt idx="270">
                  <c:v>43647</c:v>
                </c:pt>
                <c:pt idx="271">
                  <c:v>43678</c:v>
                </c:pt>
                <c:pt idx="272">
                  <c:v>43709</c:v>
                </c:pt>
                <c:pt idx="273">
                  <c:v>43739</c:v>
                </c:pt>
                <c:pt idx="274">
                  <c:v>43770</c:v>
                </c:pt>
                <c:pt idx="275">
                  <c:v>43800</c:v>
                </c:pt>
                <c:pt idx="276">
                  <c:v>43831</c:v>
                </c:pt>
                <c:pt idx="277">
                  <c:v>43862</c:v>
                </c:pt>
                <c:pt idx="278">
                  <c:v>43891</c:v>
                </c:pt>
                <c:pt idx="279">
                  <c:v>43922</c:v>
                </c:pt>
                <c:pt idx="280">
                  <c:v>43952</c:v>
                </c:pt>
                <c:pt idx="281">
                  <c:v>43983</c:v>
                </c:pt>
                <c:pt idx="282">
                  <c:v>44013</c:v>
                </c:pt>
                <c:pt idx="283">
                  <c:v>44044</c:v>
                </c:pt>
                <c:pt idx="284">
                  <c:v>44075</c:v>
                </c:pt>
                <c:pt idx="285">
                  <c:v>44105</c:v>
                </c:pt>
                <c:pt idx="286">
                  <c:v>44136</c:v>
                </c:pt>
                <c:pt idx="287">
                  <c:v>44166</c:v>
                </c:pt>
                <c:pt idx="288">
                  <c:v>44197</c:v>
                </c:pt>
                <c:pt idx="289">
                  <c:v>44228</c:v>
                </c:pt>
                <c:pt idx="290">
                  <c:v>44256</c:v>
                </c:pt>
                <c:pt idx="291">
                  <c:v>44287</c:v>
                </c:pt>
                <c:pt idx="292">
                  <c:v>44317</c:v>
                </c:pt>
                <c:pt idx="293">
                  <c:v>44348</c:v>
                </c:pt>
                <c:pt idx="294">
                  <c:v>44378</c:v>
                </c:pt>
                <c:pt idx="295">
                  <c:v>44409</c:v>
                </c:pt>
                <c:pt idx="296">
                  <c:v>44440</c:v>
                </c:pt>
                <c:pt idx="297">
                  <c:v>44470</c:v>
                </c:pt>
                <c:pt idx="298">
                  <c:v>44501</c:v>
                </c:pt>
                <c:pt idx="299">
                  <c:v>44531</c:v>
                </c:pt>
                <c:pt idx="300">
                  <c:v>44562</c:v>
                </c:pt>
                <c:pt idx="301">
                  <c:v>44593</c:v>
                </c:pt>
                <c:pt idx="302">
                  <c:v>44621</c:v>
                </c:pt>
                <c:pt idx="303">
                  <c:v>44652</c:v>
                </c:pt>
                <c:pt idx="304">
                  <c:v>44682</c:v>
                </c:pt>
                <c:pt idx="305">
                  <c:v>44713</c:v>
                </c:pt>
                <c:pt idx="306">
                  <c:v>44743</c:v>
                </c:pt>
                <c:pt idx="307">
                  <c:v>44774</c:v>
                </c:pt>
                <c:pt idx="308">
                  <c:v>44805</c:v>
                </c:pt>
              </c:numCache>
            </c:numRef>
          </c:cat>
          <c:val>
            <c:numRef>
              <c:f>Sheet1!$E$2:$E$310</c:f>
              <c:numCache>
                <c:formatCode>General</c:formatCode>
                <c:ptCount val="309"/>
                <c:pt idx="0">
                  <c:v>7.7358000000000002</c:v>
                </c:pt>
                <c:pt idx="1">
                  <c:v>7.3872</c:v>
                </c:pt>
                <c:pt idx="2">
                  <c:v>7.5914999999999999</c:v>
                </c:pt>
                <c:pt idx="3">
                  <c:v>7.7287999999999997</c:v>
                </c:pt>
                <c:pt idx="4">
                  <c:v>7.1571999999999996</c:v>
                </c:pt>
                <c:pt idx="5">
                  <c:v>7.0820999999999996</c:v>
                </c:pt>
                <c:pt idx="6">
                  <c:v>6.8011999999999997</c:v>
                </c:pt>
                <c:pt idx="7">
                  <c:v>6.8616999999999999</c:v>
                </c:pt>
                <c:pt idx="8">
                  <c:v>6.6418999999999997</c:v>
                </c:pt>
                <c:pt idx="9">
                  <c:v>6.3616999999999999</c:v>
                </c:pt>
                <c:pt idx="10">
                  <c:v>6.3722000000000003</c:v>
                </c:pt>
                <c:pt idx="11">
                  <c:v>6.1708999999999996</c:v>
                </c:pt>
                <c:pt idx="12">
                  <c:v>5.9446000000000003</c:v>
                </c:pt>
                <c:pt idx="13">
                  <c:v>5.8841000000000001</c:v>
                </c:pt>
                <c:pt idx="14">
                  <c:v>5.7782</c:v>
                </c:pt>
                <c:pt idx="15">
                  <c:v>5.6136999999999997</c:v>
                </c:pt>
                <c:pt idx="16">
                  <c:v>5.6715999999999998</c:v>
                </c:pt>
                <c:pt idx="17">
                  <c:v>5.4211999999999998</c:v>
                </c:pt>
                <c:pt idx="18">
                  <c:v>5.4528999999999996</c:v>
                </c:pt>
                <c:pt idx="19">
                  <c:v>5.2976999999999999</c:v>
                </c:pt>
                <c:pt idx="20">
                  <c:v>4.9135999999999997</c:v>
                </c:pt>
                <c:pt idx="21">
                  <c:v>4.8655999999999997</c:v>
                </c:pt>
                <c:pt idx="22">
                  <c:v>4.7458</c:v>
                </c:pt>
                <c:pt idx="23">
                  <c:v>4.4663000000000004</c:v>
                </c:pt>
                <c:pt idx="24">
                  <c:v>4.3653000000000004</c:v>
                </c:pt>
                <c:pt idx="25">
                  <c:v>4.4406999999999996</c:v>
                </c:pt>
                <c:pt idx="26">
                  <c:v>4.5720000000000001</c:v>
                </c:pt>
                <c:pt idx="27">
                  <c:v>4.5050999999999997</c:v>
                </c:pt>
                <c:pt idx="28">
                  <c:v>4.7259000000000002</c:v>
                </c:pt>
                <c:pt idx="29">
                  <c:v>4.7584</c:v>
                </c:pt>
                <c:pt idx="30">
                  <c:v>4.6546000000000003</c:v>
                </c:pt>
                <c:pt idx="31">
                  <c:v>4.5301</c:v>
                </c:pt>
                <c:pt idx="32">
                  <c:v>4.6367000000000003</c:v>
                </c:pt>
                <c:pt idx="33">
                  <c:v>4.5770999999999997</c:v>
                </c:pt>
                <c:pt idx="34">
                  <c:v>4.0839999999999996</c:v>
                </c:pt>
                <c:pt idx="35">
                  <c:v>4.2138</c:v>
                </c:pt>
                <c:pt idx="36">
                  <c:v>4.468</c:v>
                </c:pt>
                <c:pt idx="37">
                  <c:v>4.3811</c:v>
                </c:pt>
                <c:pt idx="38">
                  <c:v>4.2523999999999997</c:v>
                </c:pt>
                <c:pt idx="39">
                  <c:v>4.351</c:v>
                </c:pt>
                <c:pt idx="40">
                  <c:v>4.3966000000000003</c:v>
                </c:pt>
                <c:pt idx="41">
                  <c:v>4.3705999999999996</c:v>
                </c:pt>
                <c:pt idx="42">
                  <c:v>4.3827999999999996</c:v>
                </c:pt>
                <c:pt idx="43">
                  <c:v>4.4859</c:v>
                </c:pt>
                <c:pt idx="44">
                  <c:v>4.6318999999999999</c:v>
                </c:pt>
                <c:pt idx="45">
                  <c:v>4.6096000000000004</c:v>
                </c:pt>
                <c:pt idx="46">
                  <c:v>4.3864000000000001</c:v>
                </c:pt>
                <c:pt idx="47">
                  <c:v>4.2954999999999997</c:v>
                </c:pt>
                <c:pt idx="48">
                  <c:v>4.3345000000000002</c:v>
                </c:pt>
                <c:pt idx="49">
                  <c:v>4.4173</c:v>
                </c:pt>
                <c:pt idx="50">
                  <c:v>4.4367999999999999</c:v>
                </c:pt>
                <c:pt idx="51">
                  <c:v>4.7393999999999998</c:v>
                </c:pt>
                <c:pt idx="52">
                  <c:v>4.8517999999999999</c:v>
                </c:pt>
                <c:pt idx="53">
                  <c:v>4.9808000000000003</c:v>
                </c:pt>
                <c:pt idx="54">
                  <c:v>4.8872999999999998</c:v>
                </c:pt>
                <c:pt idx="55">
                  <c:v>4.6894999999999998</c:v>
                </c:pt>
                <c:pt idx="56">
                  <c:v>4.8757000000000001</c:v>
                </c:pt>
                <c:pt idx="57">
                  <c:v>4.7529000000000003</c:v>
                </c:pt>
                <c:pt idx="58">
                  <c:v>4.4737999999999998</c:v>
                </c:pt>
                <c:pt idx="59">
                  <c:v>4.6443000000000003</c:v>
                </c:pt>
                <c:pt idx="60">
                  <c:v>4.7152000000000003</c:v>
                </c:pt>
                <c:pt idx="61">
                  <c:v>4.7266000000000004</c:v>
                </c:pt>
                <c:pt idx="62">
                  <c:v>4.9897</c:v>
                </c:pt>
                <c:pt idx="63">
                  <c:v>5.0214999999999996</c:v>
                </c:pt>
                <c:pt idx="64">
                  <c:v>5.0827</c:v>
                </c:pt>
                <c:pt idx="65">
                  <c:v>4.9410999999999996</c:v>
                </c:pt>
                <c:pt idx="66">
                  <c:v>4.8226000000000004</c:v>
                </c:pt>
                <c:pt idx="67">
                  <c:v>4.5792999999999999</c:v>
                </c:pt>
                <c:pt idx="68">
                  <c:v>4.3933</c:v>
                </c:pt>
                <c:pt idx="69">
                  <c:v>4.5450999999999997</c:v>
                </c:pt>
                <c:pt idx="70">
                  <c:v>4.6043000000000003</c:v>
                </c:pt>
                <c:pt idx="71" formatCode="0.00">
                  <c:v>4.57</c:v>
                </c:pt>
                <c:pt idx="72">
                  <c:v>4.4474999999999998</c:v>
                </c:pt>
                <c:pt idx="73">
                  <c:v>4.3944000000000001</c:v>
                </c:pt>
                <c:pt idx="74">
                  <c:v>4.5567000000000002</c:v>
                </c:pt>
                <c:pt idx="75">
                  <c:v>4.6822999999999997</c:v>
                </c:pt>
                <c:pt idx="76">
                  <c:v>4.4897999999999998</c:v>
                </c:pt>
                <c:pt idx="77">
                  <c:v>4.4550000000000001</c:v>
                </c:pt>
                <c:pt idx="78">
                  <c:v>4.7107999999999999</c:v>
                </c:pt>
                <c:pt idx="79">
                  <c:v>4.6879999999999997</c:v>
                </c:pt>
                <c:pt idx="80">
                  <c:v>4.7481999999999998</c:v>
                </c:pt>
                <c:pt idx="81">
                  <c:v>4.8212999999999999</c:v>
                </c:pt>
                <c:pt idx="82">
                  <c:v>4.8757999999999999</c:v>
                </c:pt>
                <c:pt idx="83">
                  <c:v>4.7648999999999999</c:v>
                </c:pt>
                <c:pt idx="84">
                  <c:v>4.6985999999999999</c:v>
                </c:pt>
                <c:pt idx="85">
                  <c:v>4.7302999999999997</c:v>
                </c:pt>
                <c:pt idx="86">
                  <c:v>4.6298000000000004</c:v>
                </c:pt>
                <c:pt idx="87">
                  <c:v>4.8056000000000001</c:v>
                </c:pt>
                <c:pt idx="88">
                  <c:v>4.907</c:v>
                </c:pt>
                <c:pt idx="89">
                  <c:v>4.8883000000000001</c:v>
                </c:pt>
                <c:pt idx="90">
                  <c:v>4.8167999999999997</c:v>
                </c:pt>
                <c:pt idx="91">
                  <c:v>4.7015000000000002</c:v>
                </c:pt>
                <c:pt idx="92">
                  <c:v>4.6509</c:v>
                </c:pt>
                <c:pt idx="93">
                  <c:v>4.5910000000000002</c:v>
                </c:pt>
                <c:pt idx="94">
                  <c:v>4.4991000000000003</c:v>
                </c:pt>
                <c:pt idx="95">
                  <c:v>4.3963000000000001</c:v>
                </c:pt>
                <c:pt idx="96">
                  <c:v>4.4295999999999998</c:v>
                </c:pt>
                <c:pt idx="97">
                  <c:v>4.4359000000000002</c:v>
                </c:pt>
                <c:pt idx="98">
                  <c:v>4.6557000000000004</c:v>
                </c:pt>
                <c:pt idx="99">
                  <c:v>4.5315000000000003</c:v>
                </c:pt>
                <c:pt idx="100">
                  <c:v>4.3678999999999997</c:v>
                </c:pt>
                <c:pt idx="101">
                  <c:v>4.2746000000000004</c:v>
                </c:pt>
                <c:pt idx="102">
                  <c:v>4.3140999999999998</c:v>
                </c:pt>
                <c:pt idx="103">
                  <c:v>4.3086000000000002</c:v>
                </c:pt>
                <c:pt idx="104">
                  <c:v>4.1856</c:v>
                </c:pt>
                <c:pt idx="105">
                  <c:v>4.2785000000000002</c:v>
                </c:pt>
                <c:pt idx="106">
                  <c:v>4.1821999999999999</c:v>
                </c:pt>
                <c:pt idx="107">
                  <c:v>4.0640000000000001</c:v>
                </c:pt>
                <c:pt idx="108">
                  <c:v>3.843</c:v>
                </c:pt>
                <c:pt idx="109">
                  <c:v>3.9043000000000001</c:v>
                </c:pt>
                <c:pt idx="110">
                  <c:v>4.0523999999999996</c:v>
                </c:pt>
                <c:pt idx="111">
                  <c:v>4.2563000000000004</c:v>
                </c:pt>
                <c:pt idx="112">
                  <c:v>4.3122999999999996</c:v>
                </c:pt>
                <c:pt idx="113" formatCode="0.00">
                  <c:v>4.3600000000000003</c:v>
                </c:pt>
                <c:pt idx="114">
                  <c:v>4.3437000000000001</c:v>
                </c:pt>
                <c:pt idx="115">
                  <c:v>4.2944000000000004</c:v>
                </c:pt>
                <c:pt idx="116">
                  <c:v>4.1688999999999998</c:v>
                </c:pt>
                <c:pt idx="117">
                  <c:v>4.1801000000000004</c:v>
                </c:pt>
                <c:pt idx="118">
                  <c:v>4.1106999999999996</c:v>
                </c:pt>
                <c:pt idx="119">
                  <c:v>4.1864999999999997</c:v>
                </c:pt>
                <c:pt idx="120">
                  <c:v>4.3330000000000002</c:v>
                </c:pt>
                <c:pt idx="121">
                  <c:v>4.3837999999999999</c:v>
                </c:pt>
                <c:pt idx="122">
                  <c:v>4.3571999999999997</c:v>
                </c:pt>
                <c:pt idx="123">
                  <c:v>4.5598999999999998</c:v>
                </c:pt>
                <c:pt idx="124">
                  <c:v>4.6281999999999996</c:v>
                </c:pt>
                <c:pt idx="125">
                  <c:v>4.8575999999999997</c:v>
                </c:pt>
                <c:pt idx="126">
                  <c:v>4.8095999999999997</c:v>
                </c:pt>
                <c:pt idx="127">
                  <c:v>4.6150000000000002</c:v>
                </c:pt>
                <c:pt idx="128">
                  <c:v>4.5902000000000003</c:v>
                </c:pt>
                <c:pt idx="129">
                  <c:v>4.6007999999999996</c:v>
                </c:pt>
                <c:pt idx="130">
                  <c:v>4.4923000000000002</c:v>
                </c:pt>
                <c:pt idx="131">
                  <c:v>4.5049000000000001</c:v>
                </c:pt>
                <c:pt idx="132">
                  <c:v>4.399</c:v>
                </c:pt>
                <c:pt idx="133">
                  <c:v>4.5686</c:v>
                </c:pt>
                <c:pt idx="134">
                  <c:v>4.5259999999999998</c:v>
                </c:pt>
                <c:pt idx="135">
                  <c:v>4.7050000000000001</c:v>
                </c:pt>
                <c:pt idx="136">
                  <c:v>4.7793000000000001</c:v>
                </c:pt>
                <c:pt idx="137">
                  <c:v>4.8811</c:v>
                </c:pt>
                <c:pt idx="138">
                  <c:v>4.8266</c:v>
                </c:pt>
                <c:pt idx="139">
                  <c:v>4.6821999999999999</c:v>
                </c:pt>
                <c:pt idx="140">
                  <c:v>4.6352000000000002</c:v>
                </c:pt>
                <c:pt idx="141">
                  <c:v>4.7797999999999998</c:v>
                </c:pt>
                <c:pt idx="142">
                  <c:v>4.8251999999999997</c:v>
                </c:pt>
                <c:pt idx="143">
                  <c:v>4.2930999999999999</c:v>
                </c:pt>
                <c:pt idx="144">
                  <c:v>4.4795999999999996</c:v>
                </c:pt>
                <c:pt idx="145">
                  <c:v>4.5594999999999999</c:v>
                </c:pt>
                <c:pt idx="146">
                  <c:v>4.2321999999999997</c:v>
                </c:pt>
                <c:pt idx="147">
                  <c:v>4.5026000000000002</c:v>
                </c:pt>
                <c:pt idx="148">
                  <c:v>4.6250999999999998</c:v>
                </c:pt>
                <c:pt idx="149">
                  <c:v>4.7167000000000003</c:v>
                </c:pt>
                <c:pt idx="150">
                  <c:v>4.6673</c:v>
                </c:pt>
                <c:pt idx="151">
                  <c:v>4.3746</c:v>
                </c:pt>
                <c:pt idx="152">
                  <c:v>4.1985000000000001</c:v>
                </c:pt>
                <c:pt idx="153">
                  <c:v>4.1980000000000004</c:v>
                </c:pt>
                <c:pt idx="154">
                  <c:v>4.3672000000000004</c:v>
                </c:pt>
                <c:pt idx="155">
                  <c:v>4.4840999999999998</c:v>
                </c:pt>
                <c:pt idx="156">
                  <c:v>4.5534999999999997</c:v>
                </c:pt>
                <c:pt idx="157">
                  <c:v>4.6891999999999996</c:v>
                </c:pt>
                <c:pt idx="158">
                  <c:v>4.7611999999999997</c:v>
                </c:pt>
                <c:pt idx="159">
                  <c:v>4.7385000000000002</c:v>
                </c:pt>
                <c:pt idx="160">
                  <c:v>4.5145</c:v>
                </c:pt>
                <c:pt idx="161">
                  <c:v>4.4454000000000002</c:v>
                </c:pt>
                <c:pt idx="162">
                  <c:v>4.4313000000000002</c:v>
                </c:pt>
                <c:pt idx="163" formatCode="0.00">
                  <c:v>4.25</c:v>
                </c:pt>
                <c:pt idx="164">
                  <c:v>4.1611000000000002</c:v>
                </c:pt>
                <c:pt idx="165">
                  <c:v>4.1595000000000004</c:v>
                </c:pt>
                <c:pt idx="166">
                  <c:v>4.4027000000000003</c:v>
                </c:pt>
                <c:pt idx="167">
                  <c:v>4.5129000000000001</c:v>
                </c:pt>
                <c:pt idx="168">
                  <c:v>4.5559000000000003</c:v>
                </c:pt>
                <c:pt idx="169">
                  <c:v>4.6035000000000004</c:v>
                </c:pt>
                <c:pt idx="170">
                  <c:v>4.4980000000000002</c:v>
                </c:pt>
                <c:pt idx="171">
                  <c:v>4.4819000000000004</c:v>
                </c:pt>
                <c:pt idx="172">
                  <c:v>4.3555000000000001</c:v>
                </c:pt>
                <c:pt idx="173">
                  <c:v>4.3776999999999999</c:v>
                </c:pt>
                <c:pt idx="174">
                  <c:v>4.3705999999999996</c:v>
                </c:pt>
                <c:pt idx="175">
                  <c:v>4.0107999999999997</c:v>
                </c:pt>
                <c:pt idx="176">
                  <c:v>3.6734</c:v>
                </c:pt>
                <c:pt idx="177">
                  <c:v>3.4363000000000001</c:v>
                </c:pt>
                <c:pt idx="178">
                  <c:v>3.1907000000000001</c:v>
                </c:pt>
                <c:pt idx="179">
                  <c:v>3.1633</c:v>
                </c:pt>
                <c:pt idx="180">
                  <c:v>3.0726</c:v>
                </c:pt>
                <c:pt idx="181">
                  <c:v>3.3151999999999999</c:v>
                </c:pt>
                <c:pt idx="182">
                  <c:v>3.4119999999999999</c:v>
                </c:pt>
                <c:pt idx="183">
                  <c:v>3.3773</c:v>
                </c:pt>
                <c:pt idx="184">
                  <c:v>3.1469999999999998</c:v>
                </c:pt>
                <c:pt idx="185" formatCode="0.00">
                  <c:v>2.94</c:v>
                </c:pt>
                <c:pt idx="186">
                  <c:v>2.8561000000000001</c:v>
                </c:pt>
                <c:pt idx="187">
                  <c:v>2.8525</c:v>
                </c:pt>
                <c:pt idx="188">
                  <c:v>2.9721000000000002</c:v>
                </c:pt>
                <c:pt idx="189">
                  <c:v>3.0221</c:v>
                </c:pt>
                <c:pt idx="190">
                  <c:v>3.0043000000000002</c:v>
                </c:pt>
                <c:pt idx="191">
                  <c:v>3.0636000000000001</c:v>
                </c:pt>
                <c:pt idx="192">
                  <c:v>3.2418</c:v>
                </c:pt>
                <c:pt idx="193">
                  <c:v>3.3631000000000002</c:v>
                </c:pt>
                <c:pt idx="194">
                  <c:v>3.2090000000000001</c:v>
                </c:pt>
                <c:pt idx="195">
                  <c:v>2.9971999999999999</c:v>
                </c:pt>
                <c:pt idx="196">
                  <c:v>3.1341000000000001</c:v>
                </c:pt>
                <c:pt idx="197">
                  <c:v>3.3913000000000002</c:v>
                </c:pt>
                <c:pt idx="198">
                  <c:v>3.5175000000000001</c:v>
                </c:pt>
                <c:pt idx="199">
                  <c:v>3.6486000000000001</c:v>
                </c:pt>
                <c:pt idx="200">
                  <c:v>3.6907000000000001</c:v>
                </c:pt>
                <c:pt idx="201">
                  <c:v>3.5304000000000002</c:v>
                </c:pt>
                <c:pt idx="202">
                  <c:v>3.6202000000000001</c:v>
                </c:pt>
                <c:pt idx="203">
                  <c:v>3.7067999999999999</c:v>
                </c:pt>
                <c:pt idx="204">
                  <c:v>3.6438000000000001</c:v>
                </c:pt>
                <c:pt idx="205">
                  <c:v>3.5760000000000001</c:v>
                </c:pt>
                <c:pt idx="206">
                  <c:v>3.5432000000000001</c:v>
                </c:pt>
                <c:pt idx="207">
                  <c:v>3.5082</c:v>
                </c:pt>
                <c:pt idx="208">
                  <c:v>3.4493</c:v>
                </c:pt>
                <c:pt idx="209">
                  <c:v>3.4849000000000001</c:v>
                </c:pt>
                <c:pt idx="210">
                  <c:v>3.3851</c:v>
                </c:pt>
                <c:pt idx="211">
                  <c:v>3.1375000000000002</c:v>
                </c:pt>
                <c:pt idx="212">
                  <c:v>3.1185999999999998</c:v>
                </c:pt>
                <c:pt idx="213">
                  <c:v>2.9377</c:v>
                </c:pt>
                <c:pt idx="214">
                  <c:v>2.8662999999999998</c:v>
                </c:pt>
                <c:pt idx="215">
                  <c:v>2.5983000000000001</c:v>
                </c:pt>
                <c:pt idx="216">
                  <c:v>2.2141999999999999</c:v>
                </c:pt>
                <c:pt idx="217">
                  <c:v>2.3573</c:v>
                </c:pt>
                <c:pt idx="218">
                  <c:v>2.4275000000000002</c:v>
                </c:pt>
                <c:pt idx="219">
                  <c:v>2.3498000000000001</c:v>
                </c:pt>
                <c:pt idx="220">
                  <c:v>2.6139999999999999</c:v>
                </c:pt>
                <c:pt idx="221">
                  <c:v>2.7774999999999999</c:v>
                </c:pt>
                <c:pt idx="222">
                  <c:v>2.7496</c:v>
                </c:pt>
                <c:pt idx="223">
                  <c:v>2.5392999999999999</c:v>
                </c:pt>
                <c:pt idx="224">
                  <c:v>2.5495000000000001</c:v>
                </c:pt>
                <c:pt idx="225">
                  <c:v>2.5871</c:v>
                </c:pt>
                <c:pt idx="226">
                  <c:v>2.6877</c:v>
                </c:pt>
                <c:pt idx="227">
                  <c:v>2.6257000000000001</c:v>
                </c:pt>
                <c:pt idx="228">
                  <c:v>2.5365000000000002</c:v>
                </c:pt>
                <c:pt idx="229">
                  <c:v>2.3315000000000001</c:v>
                </c:pt>
                <c:pt idx="230">
                  <c:v>2.3515999999999999</c:v>
                </c:pt>
                <c:pt idx="231">
                  <c:v>2.3772000000000002</c:v>
                </c:pt>
                <c:pt idx="232">
                  <c:v>2.3307000000000002</c:v>
                </c:pt>
                <c:pt idx="233" formatCode="0.00">
                  <c:v>2.08</c:v>
                </c:pt>
                <c:pt idx="234">
                  <c:v>1.6876</c:v>
                </c:pt>
                <c:pt idx="235">
                  <c:v>1.3688</c:v>
                </c:pt>
                <c:pt idx="236">
                  <c:v>1.4745999999999999</c:v>
                </c:pt>
                <c:pt idx="237">
                  <c:v>1.7455000000000001</c:v>
                </c:pt>
                <c:pt idx="238">
                  <c:v>2.0478999999999998</c:v>
                </c:pt>
                <c:pt idx="239">
                  <c:v>2.0958999999999999</c:v>
                </c:pt>
                <c:pt idx="240">
                  <c:v>2.0842999999999998</c:v>
                </c:pt>
                <c:pt idx="241">
                  <c:v>2.0181</c:v>
                </c:pt>
                <c:pt idx="242">
                  <c:v>1.9176</c:v>
                </c:pt>
                <c:pt idx="243">
                  <c:v>1.7912999999999999</c:v>
                </c:pt>
                <c:pt idx="244">
                  <c:v>1.851</c:v>
                </c:pt>
                <c:pt idx="245">
                  <c:v>1.8104</c:v>
                </c:pt>
                <c:pt idx="246">
                  <c:v>1.9724999999999999</c:v>
                </c:pt>
                <c:pt idx="247">
                  <c:v>1.8411999999999999</c:v>
                </c:pt>
                <c:pt idx="248">
                  <c:v>1.9149</c:v>
                </c:pt>
                <c:pt idx="249">
                  <c:v>2.0124</c:v>
                </c:pt>
                <c:pt idx="250">
                  <c:v>1.9388000000000001</c:v>
                </c:pt>
                <c:pt idx="251">
                  <c:v>1.8665</c:v>
                </c:pt>
                <c:pt idx="252">
                  <c:v>1.9157</c:v>
                </c:pt>
                <c:pt idx="253">
                  <c:v>2.0323000000000002</c:v>
                </c:pt>
                <c:pt idx="254">
                  <c:v>1.8895</c:v>
                </c:pt>
                <c:pt idx="255">
                  <c:v>1.8863000000000001</c:v>
                </c:pt>
                <c:pt idx="256">
                  <c:v>1.9071</c:v>
                </c:pt>
                <c:pt idx="257">
                  <c:v>1.8438000000000001</c:v>
                </c:pt>
                <c:pt idx="258">
                  <c:v>1.7735000000000001</c:v>
                </c:pt>
                <c:pt idx="259">
                  <c:v>1.8049999999999999</c:v>
                </c:pt>
                <c:pt idx="260">
                  <c:v>1.9273</c:v>
                </c:pt>
                <c:pt idx="261">
                  <c:v>1.9947999999999999</c:v>
                </c:pt>
                <c:pt idx="262">
                  <c:v>1.9993000000000001</c:v>
                </c:pt>
                <c:pt idx="263">
                  <c:v>1.8493999999999999</c:v>
                </c:pt>
                <c:pt idx="264">
                  <c:v>1.8172999999999999</c:v>
                </c:pt>
                <c:pt idx="265">
                  <c:v>1.7459</c:v>
                </c:pt>
                <c:pt idx="266">
                  <c:v>1.6832</c:v>
                </c:pt>
                <c:pt idx="267">
                  <c:v>1.6955</c:v>
                </c:pt>
                <c:pt idx="268">
                  <c:v>1.6318999999999999</c:v>
                </c:pt>
                <c:pt idx="269">
                  <c:v>1.4745999999999999</c:v>
                </c:pt>
                <c:pt idx="270">
                  <c:v>1.3707</c:v>
                </c:pt>
                <c:pt idx="271">
                  <c:v>1.0839000000000001</c:v>
                </c:pt>
                <c:pt idx="272">
                  <c:v>1.0376000000000001</c:v>
                </c:pt>
                <c:pt idx="273">
                  <c:v>1.1131</c:v>
                </c:pt>
                <c:pt idx="274">
                  <c:v>1.2634000000000001</c:v>
                </c:pt>
                <c:pt idx="275">
                  <c:v>1.3002</c:v>
                </c:pt>
                <c:pt idx="276">
                  <c:v>1.1778</c:v>
                </c:pt>
                <c:pt idx="277">
                  <c:v>1.0581</c:v>
                </c:pt>
                <c:pt idx="278">
                  <c:v>0.86760000000000004</c:v>
                </c:pt>
                <c:pt idx="279">
                  <c:v>0.73040000000000005</c:v>
                </c:pt>
                <c:pt idx="280">
                  <c:v>0.63260000000000005</c:v>
                </c:pt>
                <c:pt idx="281">
                  <c:v>0.68589999999999995</c:v>
                </c:pt>
                <c:pt idx="282">
                  <c:v>0.65859999999999996</c:v>
                </c:pt>
                <c:pt idx="283">
                  <c:v>0.76670000000000005</c:v>
                </c:pt>
                <c:pt idx="284">
                  <c:v>0.76939999999999997</c:v>
                </c:pt>
                <c:pt idx="285">
                  <c:v>0.80089999999999995</c:v>
                </c:pt>
                <c:pt idx="286">
                  <c:v>0.88329999999999997</c:v>
                </c:pt>
                <c:pt idx="287">
                  <c:v>0.80430000000000001</c:v>
                </c:pt>
                <c:pt idx="288">
                  <c:v>0.84530000000000005</c:v>
                </c:pt>
                <c:pt idx="289">
                  <c:v>1.1389</c:v>
                </c:pt>
                <c:pt idx="290">
                  <c:v>1.3246</c:v>
                </c:pt>
                <c:pt idx="291">
                  <c:v>1.3150999999999999</c:v>
                </c:pt>
                <c:pt idx="292">
                  <c:v>1.381</c:v>
                </c:pt>
                <c:pt idx="293">
                  <c:v>1.3028999999999999</c:v>
                </c:pt>
                <c:pt idx="294">
                  <c:v>1.1065</c:v>
                </c:pt>
                <c:pt idx="295">
                  <c:v>1.0051000000000001</c:v>
                </c:pt>
                <c:pt idx="296">
                  <c:v>1.1720999999999999</c:v>
                </c:pt>
                <c:pt idx="297">
                  <c:v>1.4045000000000001</c:v>
                </c:pt>
                <c:pt idx="298">
                  <c:v>1.1506000000000001</c:v>
                </c:pt>
                <c:pt idx="299">
                  <c:v>1.0506</c:v>
                </c:pt>
                <c:pt idx="300">
                  <c:v>1.3885000000000001</c:v>
                </c:pt>
                <c:pt idx="301">
                  <c:v>1.6304000000000001</c:v>
                </c:pt>
                <c:pt idx="302">
                  <c:v>1.7799</c:v>
                </c:pt>
                <c:pt idx="303">
                  <c:v>2.0356000000000001</c:v>
                </c:pt>
                <c:pt idx="304">
                  <c:v>2.2259000000000002</c:v>
                </c:pt>
                <c:pt idx="305">
                  <c:v>2.7115</c:v>
                </c:pt>
                <c:pt idx="306">
                  <c:v>2.6762999999999999</c:v>
                </c:pt>
                <c:pt idx="307">
                  <c:v>2.7262</c:v>
                </c:pt>
                <c:pt idx="308">
                  <c:v>3.7587000000000002</c:v>
                </c:pt>
              </c:numCache>
            </c:numRef>
          </c:val>
          <c:smooth val="0"/>
          <c:extLst>
            <c:ext xmlns:c16="http://schemas.microsoft.com/office/drawing/2014/chart" uri="{C3380CC4-5D6E-409C-BE32-E72D297353CC}">
              <c16:uniqueId val="{00000003-3052-4B72-A39C-F8B47A0BFAC4}"/>
            </c:ext>
          </c:extLst>
        </c:ser>
        <c:ser>
          <c:idx val="4"/>
          <c:order val="4"/>
          <c:tx>
            <c:strRef>
              <c:f>Sheet1!$F$1</c:f>
              <c:strCache>
                <c:ptCount val="1"/>
                <c:pt idx="0">
                  <c:v>Mortgages (revert-to-rate)</c:v>
                </c:pt>
              </c:strCache>
            </c:strRef>
          </c:tx>
          <c:spPr>
            <a:ln w="31750">
              <a:solidFill>
                <a:srgbClr val="FF0000"/>
              </a:solidFill>
            </a:ln>
          </c:spPr>
          <c:marker>
            <c:symbol val="none"/>
          </c:marker>
          <c:cat>
            <c:numRef>
              <c:f>Sheet1!$A$2:$A$310</c:f>
              <c:numCache>
                <c:formatCode>mmm\-yy</c:formatCode>
                <c:ptCount val="309"/>
                <c:pt idx="0">
                  <c:v>35431</c:v>
                </c:pt>
                <c:pt idx="1">
                  <c:v>35462</c:v>
                </c:pt>
                <c:pt idx="2">
                  <c:v>35490</c:v>
                </c:pt>
                <c:pt idx="3">
                  <c:v>35521</c:v>
                </c:pt>
                <c:pt idx="4">
                  <c:v>35551</c:v>
                </c:pt>
                <c:pt idx="5">
                  <c:v>35582</c:v>
                </c:pt>
                <c:pt idx="6">
                  <c:v>35612</c:v>
                </c:pt>
                <c:pt idx="7">
                  <c:v>35643</c:v>
                </c:pt>
                <c:pt idx="8">
                  <c:v>35674</c:v>
                </c:pt>
                <c:pt idx="9">
                  <c:v>35704</c:v>
                </c:pt>
                <c:pt idx="10">
                  <c:v>35735</c:v>
                </c:pt>
                <c:pt idx="11">
                  <c:v>35765</c:v>
                </c:pt>
                <c:pt idx="12">
                  <c:v>35796</c:v>
                </c:pt>
                <c:pt idx="13">
                  <c:v>35827</c:v>
                </c:pt>
                <c:pt idx="14">
                  <c:v>35855</c:v>
                </c:pt>
                <c:pt idx="15">
                  <c:v>35886</c:v>
                </c:pt>
                <c:pt idx="16">
                  <c:v>35916</c:v>
                </c:pt>
                <c:pt idx="17">
                  <c:v>35947</c:v>
                </c:pt>
                <c:pt idx="18">
                  <c:v>35977</c:v>
                </c:pt>
                <c:pt idx="19">
                  <c:v>36008</c:v>
                </c:pt>
                <c:pt idx="20">
                  <c:v>36039</c:v>
                </c:pt>
                <c:pt idx="21">
                  <c:v>36069</c:v>
                </c:pt>
                <c:pt idx="22">
                  <c:v>36100</c:v>
                </c:pt>
                <c:pt idx="23">
                  <c:v>36130</c:v>
                </c:pt>
                <c:pt idx="24">
                  <c:v>36161</c:v>
                </c:pt>
                <c:pt idx="25">
                  <c:v>36192</c:v>
                </c:pt>
                <c:pt idx="26">
                  <c:v>36220</c:v>
                </c:pt>
                <c:pt idx="27">
                  <c:v>36251</c:v>
                </c:pt>
                <c:pt idx="28">
                  <c:v>36281</c:v>
                </c:pt>
                <c:pt idx="29">
                  <c:v>36312</c:v>
                </c:pt>
                <c:pt idx="30">
                  <c:v>36342</c:v>
                </c:pt>
                <c:pt idx="31">
                  <c:v>36373</c:v>
                </c:pt>
                <c:pt idx="32">
                  <c:v>36404</c:v>
                </c:pt>
                <c:pt idx="33">
                  <c:v>36434</c:v>
                </c:pt>
                <c:pt idx="34">
                  <c:v>36465</c:v>
                </c:pt>
                <c:pt idx="35">
                  <c:v>36495</c:v>
                </c:pt>
                <c:pt idx="36">
                  <c:v>36526</c:v>
                </c:pt>
                <c:pt idx="37">
                  <c:v>36557</c:v>
                </c:pt>
                <c:pt idx="38">
                  <c:v>36586</c:v>
                </c:pt>
                <c:pt idx="39">
                  <c:v>36617</c:v>
                </c:pt>
                <c:pt idx="40">
                  <c:v>36647</c:v>
                </c:pt>
                <c:pt idx="41">
                  <c:v>36678</c:v>
                </c:pt>
                <c:pt idx="42">
                  <c:v>36708</c:v>
                </c:pt>
                <c:pt idx="43">
                  <c:v>36739</c:v>
                </c:pt>
                <c:pt idx="44">
                  <c:v>36770</c:v>
                </c:pt>
                <c:pt idx="45">
                  <c:v>36800</c:v>
                </c:pt>
                <c:pt idx="46">
                  <c:v>36831</c:v>
                </c:pt>
                <c:pt idx="47">
                  <c:v>36861</c:v>
                </c:pt>
                <c:pt idx="48">
                  <c:v>36892</c:v>
                </c:pt>
                <c:pt idx="49">
                  <c:v>36923</c:v>
                </c:pt>
                <c:pt idx="50">
                  <c:v>36951</c:v>
                </c:pt>
                <c:pt idx="51">
                  <c:v>36982</c:v>
                </c:pt>
                <c:pt idx="52">
                  <c:v>37012</c:v>
                </c:pt>
                <c:pt idx="53">
                  <c:v>37043</c:v>
                </c:pt>
                <c:pt idx="54">
                  <c:v>37073</c:v>
                </c:pt>
                <c:pt idx="55">
                  <c:v>37104</c:v>
                </c:pt>
                <c:pt idx="56">
                  <c:v>37135</c:v>
                </c:pt>
                <c:pt idx="57">
                  <c:v>37165</c:v>
                </c:pt>
                <c:pt idx="58">
                  <c:v>37196</c:v>
                </c:pt>
                <c:pt idx="59">
                  <c:v>37226</c:v>
                </c:pt>
                <c:pt idx="60">
                  <c:v>37257</c:v>
                </c:pt>
                <c:pt idx="61">
                  <c:v>37288</c:v>
                </c:pt>
                <c:pt idx="62">
                  <c:v>37316</c:v>
                </c:pt>
                <c:pt idx="63">
                  <c:v>37347</c:v>
                </c:pt>
                <c:pt idx="64">
                  <c:v>37377</c:v>
                </c:pt>
                <c:pt idx="65">
                  <c:v>37408</c:v>
                </c:pt>
                <c:pt idx="66">
                  <c:v>37438</c:v>
                </c:pt>
                <c:pt idx="67">
                  <c:v>37469</c:v>
                </c:pt>
                <c:pt idx="68">
                  <c:v>37500</c:v>
                </c:pt>
                <c:pt idx="69">
                  <c:v>37530</c:v>
                </c:pt>
                <c:pt idx="70">
                  <c:v>37561</c:v>
                </c:pt>
                <c:pt idx="71">
                  <c:v>37591</c:v>
                </c:pt>
                <c:pt idx="72">
                  <c:v>37622</c:v>
                </c:pt>
                <c:pt idx="73">
                  <c:v>37653</c:v>
                </c:pt>
                <c:pt idx="74">
                  <c:v>37681</c:v>
                </c:pt>
                <c:pt idx="75">
                  <c:v>37712</c:v>
                </c:pt>
                <c:pt idx="76">
                  <c:v>37742</c:v>
                </c:pt>
                <c:pt idx="77">
                  <c:v>37773</c:v>
                </c:pt>
                <c:pt idx="78">
                  <c:v>37803</c:v>
                </c:pt>
                <c:pt idx="79">
                  <c:v>37834</c:v>
                </c:pt>
                <c:pt idx="80">
                  <c:v>37865</c:v>
                </c:pt>
                <c:pt idx="81">
                  <c:v>37895</c:v>
                </c:pt>
                <c:pt idx="82">
                  <c:v>37926</c:v>
                </c:pt>
                <c:pt idx="83">
                  <c:v>37956</c:v>
                </c:pt>
                <c:pt idx="84">
                  <c:v>37987</c:v>
                </c:pt>
                <c:pt idx="85">
                  <c:v>38018</c:v>
                </c:pt>
                <c:pt idx="86">
                  <c:v>38047</c:v>
                </c:pt>
                <c:pt idx="87">
                  <c:v>38078</c:v>
                </c:pt>
                <c:pt idx="88">
                  <c:v>38108</c:v>
                </c:pt>
                <c:pt idx="89">
                  <c:v>38139</c:v>
                </c:pt>
                <c:pt idx="90">
                  <c:v>38169</c:v>
                </c:pt>
                <c:pt idx="91">
                  <c:v>38200</c:v>
                </c:pt>
                <c:pt idx="92">
                  <c:v>38231</c:v>
                </c:pt>
                <c:pt idx="93">
                  <c:v>38261</c:v>
                </c:pt>
                <c:pt idx="94">
                  <c:v>38292</c:v>
                </c:pt>
                <c:pt idx="95">
                  <c:v>38322</c:v>
                </c:pt>
                <c:pt idx="96">
                  <c:v>38353</c:v>
                </c:pt>
                <c:pt idx="97">
                  <c:v>38384</c:v>
                </c:pt>
                <c:pt idx="98">
                  <c:v>38412</c:v>
                </c:pt>
                <c:pt idx="99">
                  <c:v>38443</c:v>
                </c:pt>
                <c:pt idx="100">
                  <c:v>38473</c:v>
                </c:pt>
                <c:pt idx="101">
                  <c:v>38504</c:v>
                </c:pt>
                <c:pt idx="102">
                  <c:v>38534</c:v>
                </c:pt>
                <c:pt idx="103">
                  <c:v>38565</c:v>
                </c:pt>
                <c:pt idx="104">
                  <c:v>38596</c:v>
                </c:pt>
                <c:pt idx="105">
                  <c:v>38626</c:v>
                </c:pt>
                <c:pt idx="106">
                  <c:v>38657</c:v>
                </c:pt>
                <c:pt idx="107">
                  <c:v>38687</c:v>
                </c:pt>
                <c:pt idx="108">
                  <c:v>38718</c:v>
                </c:pt>
                <c:pt idx="109">
                  <c:v>38749</c:v>
                </c:pt>
                <c:pt idx="110">
                  <c:v>38777</c:v>
                </c:pt>
                <c:pt idx="111">
                  <c:v>38808</c:v>
                </c:pt>
                <c:pt idx="112">
                  <c:v>38838</c:v>
                </c:pt>
                <c:pt idx="113">
                  <c:v>38869</c:v>
                </c:pt>
                <c:pt idx="114">
                  <c:v>38899</c:v>
                </c:pt>
                <c:pt idx="115">
                  <c:v>38930</c:v>
                </c:pt>
                <c:pt idx="116">
                  <c:v>38961</c:v>
                </c:pt>
                <c:pt idx="117">
                  <c:v>38991</c:v>
                </c:pt>
                <c:pt idx="118">
                  <c:v>39022</c:v>
                </c:pt>
                <c:pt idx="119">
                  <c:v>39052</c:v>
                </c:pt>
                <c:pt idx="120">
                  <c:v>39083</c:v>
                </c:pt>
                <c:pt idx="121">
                  <c:v>39114</c:v>
                </c:pt>
                <c:pt idx="122">
                  <c:v>39142</c:v>
                </c:pt>
                <c:pt idx="123">
                  <c:v>39173</c:v>
                </c:pt>
                <c:pt idx="124">
                  <c:v>39203</c:v>
                </c:pt>
                <c:pt idx="125">
                  <c:v>39234</c:v>
                </c:pt>
                <c:pt idx="126">
                  <c:v>39264</c:v>
                </c:pt>
                <c:pt idx="127">
                  <c:v>39295</c:v>
                </c:pt>
                <c:pt idx="128">
                  <c:v>39326</c:v>
                </c:pt>
                <c:pt idx="129">
                  <c:v>39356</c:v>
                </c:pt>
                <c:pt idx="130">
                  <c:v>39387</c:v>
                </c:pt>
                <c:pt idx="131">
                  <c:v>39417</c:v>
                </c:pt>
                <c:pt idx="132">
                  <c:v>39448</c:v>
                </c:pt>
                <c:pt idx="133">
                  <c:v>39479</c:v>
                </c:pt>
                <c:pt idx="134">
                  <c:v>39508</c:v>
                </c:pt>
                <c:pt idx="135">
                  <c:v>39539</c:v>
                </c:pt>
                <c:pt idx="136">
                  <c:v>39569</c:v>
                </c:pt>
                <c:pt idx="137">
                  <c:v>39600</c:v>
                </c:pt>
                <c:pt idx="138">
                  <c:v>39630</c:v>
                </c:pt>
                <c:pt idx="139">
                  <c:v>39661</c:v>
                </c:pt>
                <c:pt idx="140">
                  <c:v>39692</c:v>
                </c:pt>
                <c:pt idx="141">
                  <c:v>39722</c:v>
                </c:pt>
                <c:pt idx="142">
                  <c:v>39753</c:v>
                </c:pt>
                <c:pt idx="143">
                  <c:v>39783</c:v>
                </c:pt>
                <c:pt idx="144">
                  <c:v>39814</c:v>
                </c:pt>
                <c:pt idx="145">
                  <c:v>39845</c:v>
                </c:pt>
                <c:pt idx="146">
                  <c:v>39873</c:v>
                </c:pt>
                <c:pt idx="147">
                  <c:v>39904</c:v>
                </c:pt>
                <c:pt idx="148">
                  <c:v>39934</c:v>
                </c:pt>
                <c:pt idx="149">
                  <c:v>39965</c:v>
                </c:pt>
                <c:pt idx="150">
                  <c:v>39995</c:v>
                </c:pt>
                <c:pt idx="151">
                  <c:v>40026</c:v>
                </c:pt>
                <c:pt idx="152">
                  <c:v>40057</c:v>
                </c:pt>
                <c:pt idx="153">
                  <c:v>40087</c:v>
                </c:pt>
                <c:pt idx="154">
                  <c:v>40118</c:v>
                </c:pt>
                <c:pt idx="155">
                  <c:v>40148</c:v>
                </c:pt>
                <c:pt idx="156">
                  <c:v>40179</c:v>
                </c:pt>
                <c:pt idx="157">
                  <c:v>40210</c:v>
                </c:pt>
                <c:pt idx="158">
                  <c:v>40238</c:v>
                </c:pt>
                <c:pt idx="159">
                  <c:v>40269</c:v>
                </c:pt>
                <c:pt idx="160">
                  <c:v>40299</c:v>
                </c:pt>
                <c:pt idx="161">
                  <c:v>40330</c:v>
                </c:pt>
                <c:pt idx="162">
                  <c:v>40360</c:v>
                </c:pt>
                <c:pt idx="163">
                  <c:v>40391</c:v>
                </c:pt>
                <c:pt idx="164">
                  <c:v>40422</c:v>
                </c:pt>
                <c:pt idx="165">
                  <c:v>40452</c:v>
                </c:pt>
                <c:pt idx="166">
                  <c:v>40483</c:v>
                </c:pt>
                <c:pt idx="167">
                  <c:v>40513</c:v>
                </c:pt>
                <c:pt idx="168">
                  <c:v>40544</c:v>
                </c:pt>
                <c:pt idx="169">
                  <c:v>40575</c:v>
                </c:pt>
                <c:pt idx="170">
                  <c:v>40603</c:v>
                </c:pt>
                <c:pt idx="171">
                  <c:v>40634</c:v>
                </c:pt>
                <c:pt idx="172">
                  <c:v>40664</c:v>
                </c:pt>
                <c:pt idx="173">
                  <c:v>40695</c:v>
                </c:pt>
                <c:pt idx="174">
                  <c:v>40725</c:v>
                </c:pt>
                <c:pt idx="175">
                  <c:v>40756</c:v>
                </c:pt>
                <c:pt idx="176">
                  <c:v>40787</c:v>
                </c:pt>
                <c:pt idx="177">
                  <c:v>40817</c:v>
                </c:pt>
                <c:pt idx="178">
                  <c:v>40848</c:v>
                </c:pt>
                <c:pt idx="179">
                  <c:v>40878</c:v>
                </c:pt>
                <c:pt idx="180">
                  <c:v>40909</c:v>
                </c:pt>
                <c:pt idx="181">
                  <c:v>40940</c:v>
                </c:pt>
                <c:pt idx="182">
                  <c:v>40969</c:v>
                </c:pt>
                <c:pt idx="183">
                  <c:v>41000</c:v>
                </c:pt>
                <c:pt idx="184">
                  <c:v>41030</c:v>
                </c:pt>
                <c:pt idx="185">
                  <c:v>41061</c:v>
                </c:pt>
                <c:pt idx="186">
                  <c:v>41091</c:v>
                </c:pt>
                <c:pt idx="187">
                  <c:v>41122</c:v>
                </c:pt>
                <c:pt idx="188">
                  <c:v>41153</c:v>
                </c:pt>
                <c:pt idx="189">
                  <c:v>41183</c:v>
                </c:pt>
                <c:pt idx="190">
                  <c:v>41214</c:v>
                </c:pt>
                <c:pt idx="191">
                  <c:v>41244</c:v>
                </c:pt>
                <c:pt idx="192">
                  <c:v>41275</c:v>
                </c:pt>
                <c:pt idx="193">
                  <c:v>41306</c:v>
                </c:pt>
                <c:pt idx="194">
                  <c:v>41334</c:v>
                </c:pt>
                <c:pt idx="195">
                  <c:v>41365</c:v>
                </c:pt>
                <c:pt idx="196">
                  <c:v>41395</c:v>
                </c:pt>
                <c:pt idx="197">
                  <c:v>41426</c:v>
                </c:pt>
                <c:pt idx="198">
                  <c:v>41456</c:v>
                </c:pt>
                <c:pt idx="199">
                  <c:v>41487</c:v>
                </c:pt>
                <c:pt idx="200">
                  <c:v>41518</c:v>
                </c:pt>
                <c:pt idx="201">
                  <c:v>41548</c:v>
                </c:pt>
                <c:pt idx="202">
                  <c:v>41579</c:v>
                </c:pt>
                <c:pt idx="203">
                  <c:v>41609</c:v>
                </c:pt>
                <c:pt idx="204">
                  <c:v>41640</c:v>
                </c:pt>
                <c:pt idx="205">
                  <c:v>41671</c:v>
                </c:pt>
                <c:pt idx="206">
                  <c:v>41699</c:v>
                </c:pt>
                <c:pt idx="207">
                  <c:v>41730</c:v>
                </c:pt>
                <c:pt idx="208">
                  <c:v>41760</c:v>
                </c:pt>
                <c:pt idx="209">
                  <c:v>41791</c:v>
                </c:pt>
                <c:pt idx="210">
                  <c:v>41821</c:v>
                </c:pt>
                <c:pt idx="211">
                  <c:v>41852</c:v>
                </c:pt>
                <c:pt idx="212">
                  <c:v>41883</c:v>
                </c:pt>
                <c:pt idx="213">
                  <c:v>41913</c:v>
                </c:pt>
                <c:pt idx="214">
                  <c:v>41944</c:v>
                </c:pt>
                <c:pt idx="215">
                  <c:v>41974</c:v>
                </c:pt>
                <c:pt idx="216">
                  <c:v>42005</c:v>
                </c:pt>
                <c:pt idx="217">
                  <c:v>42036</c:v>
                </c:pt>
                <c:pt idx="218">
                  <c:v>42064</c:v>
                </c:pt>
                <c:pt idx="219">
                  <c:v>42095</c:v>
                </c:pt>
                <c:pt idx="220">
                  <c:v>42125</c:v>
                </c:pt>
                <c:pt idx="221">
                  <c:v>42156</c:v>
                </c:pt>
                <c:pt idx="222">
                  <c:v>42186</c:v>
                </c:pt>
                <c:pt idx="223">
                  <c:v>42217</c:v>
                </c:pt>
                <c:pt idx="224">
                  <c:v>42248</c:v>
                </c:pt>
                <c:pt idx="225">
                  <c:v>42278</c:v>
                </c:pt>
                <c:pt idx="226">
                  <c:v>42309</c:v>
                </c:pt>
                <c:pt idx="227">
                  <c:v>42339</c:v>
                </c:pt>
                <c:pt idx="228">
                  <c:v>42370</c:v>
                </c:pt>
                <c:pt idx="229">
                  <c:v>42401</c:v>
                </c:pt>
                <c:pt idx="230">
                  <c:v>42430</c:v>
                </c:pt>
                <c:pt idx="231">
                  <c:v>42461</c:v>
                </c:pt>
                <c:pt idx="232">
                  <c:v>42491</c:v>
                </c:pt>
                <c:pt idx="233">
                  <c:v>42522</c:v>
                </c:pt>
                <c:pt idx="234">
                  <c:v>42552</c:v>
                </c:pt>
                <c:pt idx="235">
                  <c:v>42583</c:v>
                </c:pt>
                <c:pt idx="236">
                  <c:v>42614</c:v>
                </c:pt>
                <c:pt idx="237">
                  <c:v>42644</c:v>
                </c:pt>
                <c:pt idx="238">
                  <c:v>42675</c:v>
                </c:pt>
                <c:pt idx="239">
                  <c:v>42705</c:v>
                </c:pt>
                <c:pt idx="240">
                  <c:v>42736</c:v>
                </c:pt>
                <c:pt idx="241">
                  <c:v>42767</c:v>
                </c:pt>
                <c:pt idx="242">
                  <c:v>42795</c:v>
                </c:pt>
                <c:pt idx="243">
                  <c:v>42826</c:v>
                </c:pt>
                <c:pt idx="244">
                  <c:v>42856</c:v>
                </c:pt>
                <c:pt idx="245">
                  <c:v>42887</c:v>
                </c:pt>
                <c:pt idx="246">
                  <c:v>42917</c:v>
                </c:pt>
                <c:pt idx="247">
                  <c:v>42948</c:v>
                </c:pt>
                <c:pt idx="248">
                  <c:v>42979</c:v>
                </c:pt>
                <c:pt idx="249">
                  <c:v>43009</c:v>
                </c:pt>
                <c:pt idx="250">
                  <c:v>43040</c:v>
                </c:pt>
                <c:pt idx="251">
                  <c:v>43070</c:v>
                </c:pt>
                <c:pt idx="252">
                  <c:v>43101</c:v>
                </c:pt>
                <c:pt idx="253">
                  <c:v>43132</c:v>
                </c:pt>
                <c:pt idx="254">
                  <c:v>43160</c:v>
                </c:pt>
                <c:pt idx="255">
                  <c:v>43191</c:v>
                </c:pt>
                <c:pt idx="256">
                  <c:v>43221</c:v>
                </c:pt>
                <c:pt idx="257">
                  <c:v>43252</c:v>
                </c:pt>
                <c:pt idx="258">
                  <c:v>43282</c:v>
                </c:pt>
                <c:pt idx="259">
                  <c:v>43313</c:v>
                </c:pt>
                <c:pt idx="260">
                  <c:v>43344</c:v>
                </c:pt>
                <c:pt idx="261">
                  <c:v>43374</c:v>
                </c:pt>
                <c:pt idx="262">
                  <c:v>43405</c:v>
                </c:pt>
                <c:pt idx="263">
                  <c:v>43435</c:v>
                </c:pt>
                <c:pt idx="264">
                  <c:v>43466</c:v>
                </c:pt>
                <c:pt idx="265">
                  <c:v>43497</c:v>
                </c:pt>
                <c:pt idx="266">
                  <c:v>43525</c:v>
                </c:pt>
                <c:pt idx="267">
                  <c:v>43556</c:v>
                </c:pt>
                <c:pt idx="268">
                  <c:v>43586</c:v>
                </c:pt>
                <c:pt idx="269">
                  <c:v>43617</c:v>
                </c:pt>
                <c:pt idx="270">
                  <c:v>43647</c:v>
                </c:pt>
                <c:pt idx="271">
                  <c:v>43678</c:v>
                </c:pt>
                <c:pt idx="272">
                  <c:v>43709</c:v>
                </c:pt>
                <c:pt idx="273">
                  <c:v>43739</c:v>
                </c:pt>
                <c:pt idx="274">
                  <c:v>43770</c:v>
                </c:pt>
                <c:pt idx="275">
                  <c:v>43800</c:v>
                </c:pt>
                <c:pt idx="276">
                  <c:v>43831</c:v>
                </c:pt>
                <c:pt idx="277">
                  <c:v>43862</c:v>
                </c:pt>
                <c:pt idx="278">
                  <c:v>43891</c:v>
                </c:pt>
                <c:pt idx="279">
                  <c:v>43922</c:v>
                </c:pt>
                <c:pt idx="280">
                  <c:v>43952</c:v>
                </c:pt>
                <c:pt idx="281">
                  <c:v>43983</c:v>
                </c:pt>
                <c:pt idx="282">
                  <c:v>44013</c:v>
                </c:pt>
                <c:pt idx="283">
                  <c:v>44044</c:v>
                </c:pt>
                <c:pt idx="284">
                  <c:v>44075</c:v>
                </c:pt>
                <c:pt idx="285">
                  <c:v>44105</c:v>
                </c:pt>
                <c:pt idx="286">
                  <c:v>44136</c:v>
                </c:pt>
                <c:pt idx="287">
                  <c:v>44166</c:v>
                </c:pt>
                <c:pt idx="288">
                  <c:v>44197</c:v>
                </c:pt>
                <c:pt idx="289">
                  <c:v>44228</c:v>
                </c:pt>
                <c:pt idx="290">
                  <c:v>44256</c:v>
                </c:pt>
                <c:pt idx="291">
                  <c:v>44287</c:v>
                </c:pt>
                <c:pt idx="292">
                  <c:v>44317</c:v>
                </c:pt>
                <c:pt idx="293">
                  <c:v>44348</c:v>
                </c:pt>
                <c:pt idx="294">
                  <c:v>44378</c:v>
                </c:pt>
                <c:pt idx="295">
                  <c:v>44409</c:v>
                </c:pt>
                <c:pt idx="296">
                  <c:v>44440</c:v>
                </c:pt>
                <c:pt idx="297">
                  <c:v>44470</c:v>
                </c:pt>
                <c:pt idx="298">
                  <c:v>44501</c:v>
                </c:pt>
                <c:pt idx="299">
                  <c:v>44531</c:v>
                </c:pt>
                <c:pt idx="300">
                  <c:v>44562</c:v>
                </c:pt>
                <c:pt idx="301">
                  <c:v>44593</c:v>
                </c:pt>
                <c:pt idx="302">
                  <c:v>44621</c:v>
                </c:pt>
                <c:pt idx="303">
                  <c:v>44652</c:v>
                </c:pt>
                <c:pt idx="304">
                  <c:v>44682</c:v>
                </c:pt>
                <c:pt idx="305">
                  <c:v>44713</c:v>
                </c:pt>
                <c:pt idx="306">
                  <c:v>44743</c:v>
                </c:pt>
                <c:pt idx="307">
                  <c:v>44774</c:v>
                </c:pt>
                <c:pt idx="308">
                  <c:v>44805</c:v>
                </c:pt>
              </c:numCache>
            </c:numRef>
          </c:cat>
          <c:val>
            <c:numRef>
              <c:f>Sheet1!$F$2:$F$310</c:f>
              <c:numCache>
                <c:formatCode>0.00</c:formatCode>
                <c:ptCount val="309"/>
                <c:pt idx="0">
                  <c:v>7.18</c:v>
                </c:pt>
                <c:pt idx="1">
                  <c:v>7.22</c:v>
                </c:pt>
                <c:pt idx="2">
                  <c:v>7.21</c:v>
                </c:pt>
                <c:pt idx="3">
                  <c:v>7.22</c:v>
                </c:pt>
                <c:pt idx="4">
                  <c:v>7.27</c:v>
                </c:pt>
                <c:pt idx="5">
                  <c:v>7.64</c:v>
                </c:pt>
                <c:pt idx="6">
                  <c:v>7.86</c:v>
                </c:pt>
                <c:pt idx="7">
                  <c:v>8.15</c:v>
                </c:pt>
                <c:pt idx="8">
                  <c:v>8.33</c:v>
                </c:pt>
                <c:pt idx="9">
                  <c:v>8.36</c:v>
                </c:pt>
                <c:pt idx="10">
                  <c:v>8.3699999999999992</c:v>
                </c:pt>
                <c:pt idx="11" formatCode="General">
                  <c:v>8.5</c:v>
                </c:pt>
                <c:pt idx="12">
                  <c:v>8.56</c:v>
                </c:pt>
                <c:pt idx="13">
                  <c:v>8.59</c:v>
                </c:pt>
                <c:pt idx="14">
                  <c:v>8.59</c:v>
                </c:pt>
                <c:pt idx="15">
                  <c:v>8.59</c:v>
                </c:pt>
                <c:pt idx="16">
                  <c:v>8.59</c:v>
                </c:pt>
                <c:pt idx="17">
                  <c:v>8.59</c:v>
                </c:pt>
                <c:pt idx="18" formatCode="General">
                  <c:v>8.8000000000000007</c:v>
                </c:pt>
                <c:pt idx="19">
                  <c:v>8.83</c:v>
                </c:pt>
                <c:pt idx="20">
                  <c:v>8.8699999999999992</c:v>
                </c:pt>
                <c:pt idx="21">
                  <c:v>8.85</c:v>
                </c:pt>
                <c:pt idx="22">
                  <c:v>8.58</c:v>
                </c:pt>
                <c:pt idx="23" formatCode="0">
                  <c:v>8</c:v>
                </c:pt>
                <c:pt idx="24" formatCode="General">
                  <c:v>7.6</c:v>
                </c:pt>
                <c:pt idx="25">
                  <c:v>7.35</c:v>
                </c:pt>
                <c:pt idx="26">
                  <c:v>6.85</c:v>
                </c:pt>
                <c:pt idx="27">
                  <c:v>6.83</c:v>
                </c:pt>
                <c:pt idx="28">
                  <c:v>6.75</c:v>
                </c:pt>
                <c:pt idx="29">
                  <c:v>6.73</c:v>
                </c:pt>
                <c:pt idx="30">
                  <c:v>6.72</c:v>
                </c:pt>
                <c:pt idx="31">
                  <c:v>6.72</c:v>
                </c:pt>
                <c:pt idx="32">
                  <c:v>6.72</c:v>
                </c:pt>
                <c:pt idx="33">
                  <c:v>6.82</c:v>
                </c:pt>
                <c:pt idx="34">
                  <c:v>6.87</c:v>
                </c:pt>
                <c:pt idx="35" formatCode="General">
                  <c:v>7.1</c:v>
                </c:pt>
                <c:pt idx="36">
                  <c:v>7.13</c:v>
                </c:pt>
                <c:pt idx="37">
                  <c:v>7.38</c:v>
                </c:pt>
                <c:pt idx="38">
                  <c:v>7.62</c:v>
                </c:pt>
                <c:pt idx="39">
                  <c:v>7.63</c:v>
                </c:pt>
                <c:pt idx="40">
                  <c:v>7.64</c:v>
                </c:pt>
                <c:pt idx="41">
                  <c:v>7.64</c:v>
                </c:pt>
                <c:pt idx="42">
                  <c:v>7.64</c:v>
                </c:pt>
                <c:pt idx="43">
                  <c:v>7.63</c:v>
                </c:pt>
                <c:pt idx="44">
                  <c:v>7.59</c:v>
                </c:pt>
                <c:pt idx="45">
                  <c:v>7.59</c:v>
                </c:pt>
                <c:pt idx="46">
                  <c:v>7.59</c:v>
                </c:pt>
                <c:pt idx="47">
                  <c:v>7.55</c:v>
                </c:pt>
                <c:pt idx="48">
                  <c:v>7.56</c:v>
                </c:pt>
                <c:pt idx="49">
                  <c:v>7.56</c:v>
                </c:pt>
                <c:pt idx="50">
                  <c:v>7.27</c:v>
                </c:pt>
                <c:pt idx="51" formatCode="General">
                  <c:v>7.3</c:v>
                </c:pt>
                <c:pt idx="52">
                  <c:v>7.03</c:v>
                </c:pt>
                <c:pt idx="53">
                  <c:v>6.81</c:v>
                </c:pt>
                <c:pt idx="54">
                  <c:v>6.81</c:v>
                </c:pt>
                <c:pt idx="55" formatCode="General">
                  <c:v>6.8</c:v>
                </c:pt>
                <c:pt idx="56">
                  <c:v>6.54</c:v>
                </c:pt>
                <c:pt idx="57">
                  <c:v>6.32</c:v>
                </c:pt>
                <c:pt idx="58">
                  <c:v>6.06</c:v>
                </c:pt>
                <c:pt idx="59">
                  <c:v>5.67</c:v>
                </c:pt>
                <c:pt idx="60">
                  <c:v>5.66</c:v>
                </c:pt>
                <c:pt idx="61">
                  <c:v>5.66</c:v>
                </c:pt>
                <c:pt idx="62">
                  <c:v>5.65</c:v>
                </c:pt>
                <c:pt idx="63">
                  <c:v>5.65</c:v>
                </c:pt>
                <c:pt idx="64">
                  <c:v>5.66</c:v>
                </c:pt>
                <c:pt idx="65">
                  <c:v>5.66</c:v>
                </c:pt>
                <c:pt idx="66">
                  <c:v>5.66</c:v>
                </c:pt>
                <c:pt idx="67">
                  <c:v>5.66</c:v>
                </c:pt>
                <c:pt idx="68">
                  <c:v>5.65</c:v>
                </c:pt>
                <c:pt idx="69">
                  <c:v>5.66</c:v>
                </c:pt>
                <c:pt idx="70">
                  <c:v>5.65</c:v>
                </c:pt>
                <c:pt idx="71">
                  <c:v>5.64</c:v>
                </c:pt>
                <c:pt idx="72">
                  <c:v>5.64</c:v>
                </c:pt>
                <c:pt idx="73">
                  <c:v>5.63</c:v>
                </c:pt>
                <c:pt idx="74">
                  <c:v>5.49</c:v>
                </c:pt>
                <c:pt idx="75">
                  <c:v>5.51</c:v>
                </c:pt>
                <c:pt idx="76" formatCode="General">
                  <c:v>5.5</c:v>
                </c:pt>
                <c:pt idx="77" formatCode="General">
                  <c:v>5.5</c:v>
                </c:pt>
                <c:pt idx="78" formatCode="General">
                  <c:v>5.5</c:v>
                </c:pt>
                <c:pt idx="79">
                  <c:v>5.32</c:v>
                </c:pt>
                <c:pt idx="80">
                  <c:v>5.31</c:v>
                </c:pt>
                <c:pt idx="81" formatCode="General">
                  <c:v>5.3</c:v>
                </c:pt>
                <c:pt idx="82">
                  <c:v>5.32</c:v>
                </c:pt>
                <c:pt idx="83">
                  <c:v>5.59</c:v>
                </c:pt>
                <c:pt idx="84">
                  <c:v>5.59</c:v>
                </c:pt>
                <c:pt idx="85">
                  <c:v>5.59</c:v>
                </c:pt>
                <c:pt idx="86">
                  <c:v>5.81</c:v>
                </c:pt>
                <c:pt idx="87">
                  <c:v>5.81</c:v>
                </c:pt>
                <c:pt idx="88">
                  <c:v>5.82</c:v>
                </c:pt>
                <c:pt idx="89">
                  <c:v>6.08</c:v>
                </c:pt>
                <c:pt idx="90">
                  <c:v>6.32</c:v>
                </c:pt>
                <c:pt idx="91">
                  <c:v>6.32</c:v>
                </c:pt>
                <c:pt idx="92">
                  <c:v>6.59</c:v>
                </c:pt>
                <c:pt idx="93">
                  <c:v>6.61</c:v>
                </c:pt>
                <c:pt idx="94" formatCode="General">
                  <c:v>6.6</c:v>
                </c:pt>
                <c:pt idx="95" formatCode="General">
                  <c:v>6.6</c:v>
                </c:pt>
                <c:pt idx="96">
                  <c:v>6.61</c:v>
                </c:pt>
                <c:pt idx="97">
                  <c:v>6.61</c:v>
                </c:pt>
                <c:pt idx="98">
                  <c:v>6.61</c:v>
                </c:pt>
                <c:pt idx="99">
                  <c:v>6.62</c:v>
                </c:pt>
                <c:pt idx="100">
                  <c:v>6.62</c:v>
                </c:pt>
                <c:pt idx="101">
                  <c:v>6.62</c:v>
                </c:pt>
                <c:pt idx="102">
                  <c:v>6.61</c:v>
                </c:pt>
                <c:pt idx="103">
                  <c:v>6.58</c:v>
                </c:pt>
                <c:pt idx="104" formatCode="General">
                  <c:v>6.4</c:v>
                </c:pt>
                <c:pt idx="105">
                  <c:v>6.35</c:v>
                </c:pt>
                <c:pt idx="106">
                  <c:v>6.35</c:v>
                </c:pt>
                <c:pt idx="107">
                  <c:v>6.35</c:v>
                </c:pt>
                <c:pt idx="108">
                  <c:v>6.36</c:v>
                </c:pt>
                <c:pt idx="109">
                  <c:v>6.37</c:v>
                </c:pt>
                <c:pt idx="110">
                  <c:v>6.41</c:v>
                </c:pt>
                <c:pt idx="111">
                  <c:v>6.41</c:v>
                </c:pt>
                <c:pt idx="112" formatCode="General">
                  <c:v>6.4</c:v>
                </c:pt>
                <c:pt idx="113" formatCode="General">
                  <c:v>6.4</c:v>
                </c:pt>
                <c:pt idx="114" formatCode="General">
                  <c:v>6.4</c:v>
                </c:pt>
                <c:pt idx="115" formatCode="General">
                  <c:v>6.4</c:v>
                </c:pt>
                <c:pt idx="116">
                  <c:v>6.65</c:v>
                </c:pt>
                <c:pt idx="117">
                  <c:v>6.68</c:v>
                </c:pt>
                <c:pt idx="118" formatCode="General">
                  <c:v>6.7</c:v>
                </c:pt>
                <c:pt idx="119">
                  <c:v>6.98</c:v>
                </c:pt>
                <c:pt idx="120">
                  <c:v>7.01</c:v>
                </c:pt>
                <c:pt idx="121" formatCode="General">
                  <c:v>7.2</c:v>
                </c:pt>
                <c:pt idx="122">
                  <c:v>7.19</c:v>
                </c:pt>
                <c:pt idx="123">
                  <c:v>7.22</c:v>
                </c:pt>
                <c:pt idx="124">
                  <c:v>7.23</c:v>
                </c:pt>
                <c:pt idx="125">
                  <c:v>7.46</c:v>
                </c:pt>
                <c:pt idx="126">
                  <c:v>7.44</c:v>
                </c:pt>
                <c:pt idx="127">
                  <c:v>7.69</c:v>
                </c:pt>
                <c:pt idx="128">
                  <c:v>7.74</c:v>
                </c:pt>
                <c:pt idx="129">
                  <c:v>7.74</c:v>
                </c:pt>
                <c:pt idx="130">
                  <c:v>7.72</c:v>
                </c:pt>
                <c:pt idx="131">
                  <c:v>7.68</c:v>
                </c:pt>
                <c:pt idx="132">
                  <c:v>7.51</c:v>
                </c:pt>
                <c:pt idx="133" formatCode="General">
                  <c:v>7.5</c:v>
                </c:pt>
                <c:pt idx="134">
                  <c:v>7.24</c:v>
                </c:pt>
                <c:pt idx="135">
                  <c:v>7.23</c:v>
                </c:pt>
                <c:pt idx="136">
                  <c:v>6.95</c:v>
                </c:pt>
                <c:pt idx="137">
                  <c:v>6.92</c:v>
                </c:pt>
                <c:pt idx="138">
                  <c:v>6.92</c:v>
                </c:pt>
                <c:pt idx="139">
                  <c:v>6.93</c:v>
                </c:pt>
                <c:pt idx="140">
                  <c:v>6.95</c:v>
                </c:pt>
                <c:pt idx="141">
                  <c:v>6.91</c:v>
                </c:pt>
                <c:pt idx="142">
                  <c:v>6.34</c:v>
                </c:pt>
                <c:pt idx="143">
                  <c:v>5.38</c:v>
                </c:pt>
                <c:pt idx="144">
                  <c:v>4.7300000000000004</c:v>
                </c:pt>
                <c:pt idx="145">
                  <c:v>4.38</c:v>
                </c:pt>
                <c:pt idx="146">
                  <c:v>4.0599999999999996</c:v>
                </c:pt>
                <c:pt idx="147">
                  <c:v>3.82</c:v>
                </c:pt>
                <c:pt idx="148">
                  <c:v>3.83</c:v>
                </c:pt>
                <c:pt idx="149">
                  <c:v>3.95</c:v>
                </c:pt>
                <c:pt idx="150">
                  <c:v>4.1100000000000003</c:v>
                </c:pt>
                <c:pt idx="151">
                  <c:v>3.93</c:v>
                </c:pt>
                <c:pt idx="152">
                  <c:v>3.91</c:v>
                </c:pt>
                <c:pt idx="153">
                  <c:v>3.91</c:v>
                </c:pt>
                <c:pt idx="154">
                  <c:v>3.98</c:v>
                </c:pt>
                <c:pt idx="155">
                  <c:v>3.97</c:v>
                </c:pt>
                <c:pt idx="156">
                  <c:v>4.08</c:v>
                </c:pt>
                <c:pt idx="157">
                  <c:v>4.05</c:v>
                </c:pt>
                <c:pt idx="158">
                  <c:v>4.04</c:v>
                </c:pt>
                <c:pt idx="159">
                  <c:v>3.99</c:v>
                </c:pt>
                <c:pt idx="160">
                  <c:v>3.94</c:v>
                </c:pt>
                <c:pt idx="161">
                  <c:v>3.92</c:v>
                </c:pt>
                <c:pt idx="162">
                  <c:v>3.92</c:v>
                </c:pt>
                <c:pt idx="163">
                  <c:v>3.94</c:v>
                </c:pt>
                <c:pt idx="164">
                  <c:v>3.93</c:v>
                </c:pt>
                <c:pt idx="165">
                  <c:v>3.91</c:v>
                </c:pt>
                <c:pt idx="166">
                  <c:v>3.91</c:v>
                </c:pt>
                <c:pt idx="167">
                  <c:v>3.91</c:v>
                </c:pt>
                <c:pt idx="168">
                  <c:v>4.04</c:v>
                </c:pt>
                <c:pt idx="169">
                  <c:v>4.07</c:v>
                </c:pt>
                <c:pt idx="170">
                  <c:v>4.07</c:v>
                </c:pt>
                <c:pt idx="171" formatCode="0">
                  <c:v>4</c:v>
                </c:pt>
                <c:pt idx="172" formatCode="0">
                  <c:v>4</c:v>
                </c:pt>
                <c:pt idx="173">
                  <c:v>4.05</c:v>
                </c:pt>
                <c:pt idx="174" formatCode="General">
                  <c:v>4.0999999999999996</c:v>
                </c:pt>
                <c:pt idx="175">
                  <c:v>4.1100000000000003</c:v>
                </c:pt>
                <c:pt idx="176">
                  <c:v>4.12</c:v>
                </c:pt>
                <c:pt idx="177">
                  <c:v>4.1399999999999997</c:v>
                </c:pt>
                <c:pt idx="178">
                  <c:v>4.13</c:v>
                </c:pt>
                <c:pt idx="179">
                  <c:v>4.12</c:v>
                </c:pt>
                <c:pt idx="180">
                  <c:v>4.18</c:v>
                </c:pt>
                <c:pt idx="181">
                  <c:v>4.1399999999999997</c:v>
                </c:pt>
                <c:pt idx="182" formatCode="General">
                  <c:v>4.0999999999999996</c:v>
                </c:pt>
                <c:pt idx="183" formatCode="General">
                  <c:v>4.0999999999999996</c:v>
                </c:pt>
                <c:pt idx="184">
                  <c:v>4.16</c:v>
                </c:pt>
                <c:pt idx="185">
                  <c:v>4.22</c:v>
                </c:pt>
                <c:pt idx="186">
                  <c:v>4.24</c:v>
                </c:pt>
                <c:pt idx="187">
                  <c:v>4.2699999999999996</c:v>
                </c:pt>
                <c:pt idx="188">
                  <c:v>4.29</c:v>
                </c:pt>
                <c:pt idx="189">
                  <c:v>4.32</c:v>
                </c:pt>
                <c:pt idx="190">
                  <c:v>4.32</c:v>
                </c:pt>
                <c:pt idx="191">
                  <c:v>4.3499999999999996</c:v>
                </c:pt>
                <c:pt idx="192">
                  <c:v>4.38</c:v>
                </c:pt>
                <c:pt idx="193">
                  <c:v>4.38</c:v>
                </c:pt>
                <c:pt idx="194">
                  <c:v>4.34</c:v>
                </c:pt>
                <c:pt idx="195">
                  <c:v>4.3499999999999996</c:v>
                </c:pt>
                <c:pt idx="196">
                  <c:v>4.38</c:v>
                </c:pt>
                <c:pt idx="197">
                  <c:v>4.38</c:v>
                </c:pt>
                <c:pt idx="198">
                  <c:v>4.37</c:v>
                </c:pt>
                <c:pt idx="199">
                  <c:v>4.3600000000000003</c:v>
                </c:pt>
                <c:pt idx="200">
                  <c:v>4.3499999999999996</c:v>
                </c:pt>
                <c:pt idx="201">
                  <c:v>4.37</c:v>
                </c:pt>
                <c:pt idx="202">
                  <c:v>4.41</c:v>
                </c:pt>
                <c:pt idx="203">
                  <c:v>4.3899999999999997</c:v>
                </c:pt>
                <c:pt idx="204">
                  <c:v>4.41</c:v>
                </c:pt>
                <c:pt idx="205">
                  <c:v>4.43</c:v>
                </c:pt>
                <c:pt idx="206">
                  <c:v>4.43</c:v>
                </c:pt>
                <c:pt idx="207">
                  <c:v>4.43</c:v>
                </c:pt>
                <c:pt idx="208">
                  <c:v>4.42</c:v>
                </c:pt>
                <c:pt idx="209">
                  <c:v>4.3600000000000003</c:v>
                </c:pt>
                <c:pt idx="210">
                  <c:v>4.45</c:v>
                </c:pt>
                <c:pt idx="211">
                  <c:v>4.45</c:v>
                </c:pt>
                <c:pt idx="212">
                  <c:v>4.5199999999999996</c:v>
                </c:pt>
                <c:pt idx="213">
                  <c:v>4.53</c:v>
                </c:pt>
                <c:pt idx="214">
                  <c:v>4.49</c:v>
                </c:pt>
                <c:pt idx="215">
                  <c:v>4.4800000000000004</c:v>
                </c:pt>
                <c:pt idx="216">
                  <c:v>4.5599999999999996</c:v>
                </c:pt>
                <c:pt idx="217">
                  <c:v>4.51</c:v>
                </c:pt>
                <c:pt idx="218">
                  <c:v>4.51</c:v>
                </c:pt>
                <c:pt idx="219">
                  <c:v>4.53</c:v>
                </c:pt>
                <c:pt idx="220">
                  <c:v>4.55</c:v>
                </c:pt>
                <c:pt idx="221">
                  <c:v>4.49</c:v>
                </c:pt>
                <c:pt idx="222" formatCode="General">
                  <c:v>4.5</c:v>
                </c:pt>
                <c:pt idx="223">
                  <c:v>4.4800000000000004</c:v>
                </c:pt>
                <c:pt idx="224" formatCode="General">
                  <c:v>4.5</c:v>
                </c:pt>
                <c:pt idx="225">
                  <c:v>4.54</c:v>
                </c:pt>
                <c:pt idx="226">
                  <c:v>4.49</c:v>
                </c:pt>
                <c:pt idx="227">
                  <c:v>4.49</c:v>
                </c:pt>
                <c:pt idx="228">
                  <c:v>4.5599999999999996</c:v>
                </c:pt>
                <c:pt idx="229">
                  <c:v>4.58</c:v>
                </c:pt>
                <c:pt idx="230">
                  <c:v>4.57</c:v>
                </c:pt>
                <c:pt idx="231">
                  <c:v>4.6399999999999997</c:v>
                </c:pt>
                <c:pt idx="232">
                  <c:v>4.5599999999999996</c:v>
                </c:pt>
                <c:pt idx="233">
                  <c:v>4.5199999999999996</c:v>
                </c:pt>
                <c:pt idx="234">
                  <c:v>4.55</c:v>
                </c:pt>
                <c:pt idx="235" formatCode="General">
                  <c:v>4.3</c:v>
                </c:pt>
                <c:pt idx="236">
                  <c:v>4.24</c:v>
                </c:pt>
                <c:pt idx="237">
                  <c:v>4.24</c:v>
                </c:pt>
                <c:pt idx="238">
                  <c:v>4.28</c:v>
                </c:pt>
                <c:pt idx="239">
                  <c:v>4.2300000000000004</c:v>
                </c:pt>
                <c:pt idx="240">
                  <c:v>4.49</c:v>
                </c:pt>
                <c:pt idx="241">
                  <c:v>4.37</c:v>
                </c:pt>
                <c:pt idx="242">
                  <c:v>4.28</c:v>
                </c:pt>
                <c:pt idx="243">
                  <c:v>4.54</c:v>
                </c:pt>
                <c:pt idx="244">
                  <c:v>4.2300000000000004</c:v>
                </c:pt>
                <c:pt idx="245">
                  <c:v>4.28</c:v>
                </c:pt>
                <c:pt idx="246">
                  <c:v>4.51</c:v>
                </c:pt>
                <c:pt idx="247">
                  <c:v>4.32</c:v>
                </c:pt>
                <c:pt idx="248">
                  <c:v>4.3099999999999996</c:v>
                </c:pt>
                <c:pt idx="249">
                  <c:v>4.3099999999999996</c:v>
                </c:pt>
                <c:pt idx="250">
                  <c:v>4.34</c:v>
                </c:pt>
                <c:pt idx="251">
                  <c:v>4.54</c:v>
                </c:pt>
                <c:pt idx="252">
                  <c:v>4.21</c:v>
                </c:pt>
                <c:pt idx="253">
                  <c:v>4.2300000000000004</c:v>
                </c:pt>
                <c:pt idx="254">
                  <c:v>4.1399999999999997</c:v>
                </c:pt>
                <c:pt idx="255">
                  <c:v>4.17</c:v>
                </c:pt>
                <c:pt idx="256">
                  <c:v>4.16</c:v>
                </c:pt>
                <c:pt idx="257">
                  <c:v>4.0599999999999996</c:v>
                </c:pt>
                <c:pt idx="258" formatCode="General">
                  <c:v>4.0999999999999996</c:v>
                </c:pt>
                <c:pt idx="259">
                  <c:v>4.3499999999999996</c:v>
                </c:pt>
                <c:pt idx="260">
                  <c:v>4.3899999999999997</c:v>
                </c:pt>
                <c:pt idx="261">
                  <c:v>4.45</c:v>
                </c:pt>
                <c:pt idx="262">
                  <c:v>4.41</c:v>
                </c:pt>
                <c:pt idx="263" formatCode="General">
                  <c:v>4.4000000000000004</c:v>
                </c:pt>
                <c:pt idx="264">
                  <c:v>4.4800000000000004</c:v>
                </c:pt>
                <c:pt idx="265">
                  <c:v>4.3099999999999996</c:v>
                </c:pt>
                <c:pt idx="266">
                  <c:v>4.3099999999999996</c:v>
                </c:pt>
                <c:pt idx="267">
                  <c:v>4.3099999999999996</c:v>
                </c:pt>
                <c:pt idx="268">
                  <c:v>4.29</c:v>
                </c:pt>
                <c:pt idx="269">
                  <c:v>4.29</c:v>
                </c:pt>
                <c:pt idx="270">
                  <c:v>4.29</c:v>
                </c:pt>
                <c:pt idx="271">
                  <c:v>4.29</c:v>
                </c:pt>
                <c:pt idx="272">
                  <c:v>4.29</c:v>
                </c:pt>
                <c:pt idx="273">
                  <c:v>4.2699999999999996</c:v>
                </c:pt>
                <c:pt idx="274">
                  <c:v>4.2699999999999996</c:v>
                </c:pt>
                <c:pt idx="275">
                  <c:v>4.2699999999999996</c:v>
                </c:pt>
                <c:pt idx="276">
                  <c:v>4.2699999999999996</c:v>
                </c:pt>
                <c:pt idx="277">
                  <c:v>4.26</c:v>
                </c:pt>
                <c:pt idx="278" formatCode="General">
                  <c:v>4.0999999999999996</c:v>
                </c:pt>
                <c:pt idx="279">
                  <c:v>3.66</c:v>
                </c:pt>
                <c:pt idx="280">
                  <c:v>3.65</c:v>
                </c:pt>
                <c:pt idx="281">
                  <c:v>3.65</c:v>
                </c:pt>
                <c:pt idx="282">
                  <c:v>3.66</c:v>
                </c:pt>
                <c:pt idx="283">
                  <c:v>3.65</c:v>
                </c:pt>
                <c:pt idx="284">
                  <c:v>3.65</c:v>
                </c:pt>
                <c:pt idx="285">
                  <c:v>3.64</c:v>
                </c:pt>
                <c:pt idx="286">
                  <c:v>3.62</c:v>
                </c:pt>
                <c:pt idx="287">
                  <c:v>3.62</c:v>
                </c:pt>
                <c:pt idx="288">
                  <c:v>3.62</c:v>
                </c:pt>
                <c:pt idx="289">
                  <c:v>3.62</c:v>
                </c:pt>
                <c:pt idx="290">
                  <c:v>3.62</c:v>
                </c:pt>
                <c:pt idx="291">
                  <c:v>3.61</c:v>
                </c:pt>
                <c:pt idx="292">
                  <c:v>3.61</c:v>
                </c:pt>
                <c:pt idx="293">
                  <c:v>3.61</c:v>
                </c:pt>
                <c:pt idx="294">
                  <c:v>3.61</c:v>
                </c:pt>
                <c:pt idx="295">
                  <c:v>3.61</c:v>
                </c:pt>
                <c:pt idx="296">
                  <c:v>3.61</c:v>
                </c:pt>
                <c:pt idx="297" formatCode="General">
                  <c:v>3.6</c:v>
                </c:pt>
                <c:pt idx="298">
                  <c:v>3.59</c:v>
                </c:pt>
                <c:pt idx="299">
                  <c:v>3.61</c:v>
                </c:pt>
                <c:pt idx="300">
                  <c:v>3.67</c:v>
                </c:pt>
                <c:pt idx="301">
                  <c:v>3.84</c:v>
                </c:pt>
                <c:pt idx="302">
                  <c:v>3.99</c:v>
                </c:pt>
                <c:pt idx="303" formatCode="General">
                  <c:v>4.0999999999999996</c:v>
                </c:pt>
                <c:pt idx="304">
                  <c:v>4.25</c:v>
                </c:pt>
                <c:pt idx="305">
                  <c:v>4.3899999999999997</c:v>
                </c:pt>
                <c:pt idx="306">
                  <c:v>4.55</c:v>
                </c:pt>
                <c:pt idx="307" formatCode="General">
                  <c:v>4.8899999999999997</c:v>
                </c:pt>
                <c:pt idx="308" formatCode="General">
                  <c:v>5.0999999999999996</c:v>
                </c:pt>
              </c:numCache>
            </c:numRef>
          </c:val>
          <c:smooth val="0"/>
          <c:extLst>
            <c:ext xmlns:c16="http://schemas.microsoft.com/office/drawing/2014/chart" uri="{C3380CC4-5D6E-409C-BE32-E72D297353CC}">
              <c16:uniqueId val="{00000004-3052-4B72-A39C-F8B47A0BFAC4}"/>
            </c:ext>
          </c:extLst>
        </c:ser>
        <c:dLbls>
          <c:showLegendKey val="0"/>
          <c:showVal val="0"/>
          <c:showCatName val="0"/>
          <c:showSerName val="0"/>
          <c:showPercent val="0"/>
          <c:showBubbleSize val="0"/>
        </c:dLbls>
        <c:smooth val="0"/>
        <c:axId val="133872144"/>
        <c:axId val="1"/>
      </c:lineChart>
      <c:catAx>
        <c:axId val="133872144"/>
        <c:scaling>
          <c:orientation val="minMax"/>
        </c:scaling>
        <c:delete val="0"/>
        <c:axPos val="b"/>
        <c:numFmt formatCode="yyyy" sourceLinked="0"/>
        <c:majorTickMark val="out"/>
        <c:minorTickMark val="none"/>
        <c:tickLblPos val="low"/>
        <c:spPr>
          <a:ln w="12700">
            <a:solidFill>
              <a:schemeClr val="tx1"/>
            </a:solidFill>
            <a:prstDash val="solid"/>
          </a:ln>
        </c:spPr>
        <c:txPr>
          <a:bodyPr rot="0" vert="horz"/>
          <a:lstStyle/>
          <a:p>
            <a:pPr>
              <a:defRPr sz="1799" b="0" i="0" u="none" strike="noStrike" baseline="0">
                <a:solidFill>
                  <a:schemeClr val="tx1"/>
                </a:solidFill>
                <a:latin typeface="Arial"/>
                <a:ea typeface="Arial"/>
                <a:cs typeface="Arial"/>
              </a:defRPr>
            </a:pPr>
            <a:endParaRPr lang="en-US"/>
          </a:p>
        </c:txPr>
        <c:crossAx val="1"/>
        <c:crosses val="autoZero"/>
        <c:auto val="0"/>
        <c:lblAlgn val="ctr"/>
        <c:lblOffset val="100"/>
        <c:tickLblSkip val="24"/>
        <c:tickMarkSkip val="12"/>
        <c:noMultiLvlLbl val="0"/>
      </c:catAx>
      <c:valAx>
        <c:axId val="1"/>
        <c:scaling>
          <c:orientation val="minMax"/>
          <c:max val="9"/>
          <c:min val="0"/>
        </c:scaling>
        <c:delete val="0"/>
        <c:axPos val="l"/>
        <c:title>
          <c:tx>
            <c:rich>
              <a:bodyPr/>
              <a:lstStyle/>
              <a:p>
                <a:pPr>
                  <a:defRPr sz="1795" b="0" i="0" u="none" strike="noStrike" baseline="0">
                    <a:solidFill>
                      <a:srgbClr val="000000"/>
                    </a:solidFill>
                    <a:latin typeface="Arial"/>
                    <a:ea typeface="Arial"/>
                    <a:cs typeface="Arial"/>
                  </a:defRPr>
                </a:pPr>
                <a:r>
                  <a:rPr lang="en-GB"/>
                  <a:t>Interest rate (%)</a:t>
                </a:r>
              </a:p>
            </c:rich>
          </c:tx>
          <c:layout>
            <c:manualLayout>
              <c:xMode val="edge"/>
              <c:yMode val="edge"/>
              <c:x val="7.6777710478497883E-3"/>
              <c:y val="0.33363423318796243"/>
            </c:manualLayout>
          </c:layout>
          <c:overlay val="0"/>
          <c:spPr>
            <a:noFill/>
            <a:ln w="30447">
              <a:noFill/>
            </a:ln>
          </c:spPr>
        </c:title>
        <c:numFmt formatCode="General" sourceLinked="1"/>
        <c:majorTickMark val="out"/>
        <c:minorTickMark val="none"/>
        <c:tickLblPos val="nextTo"/>
        <c:spPr>
          <a:ln w="12700">
            <a:solidFill>
              <a:schemeClr val="tx1"/>
            </a:solidFill>
            <a:prstDash val="solid"/>
          </a:ln>
        </c:spPr>
        <c:txPr>
          <a:bodyPr rot="0" vert="horz"/>
          <a:lstStyle/>
          <a:p>
            <a:pPr>
              <a:defRPr sz="1799" b="0" i="0" u="none" strike="noStrike" baseline="0">
                <a:solidFill>
                  <a:schemeClr val="tx1"/>
                </a:solidFill>
                <a:latin typeface="Arial"/>
                <a:ea typeface="Arial"/>
                <a:cs typeface="Arial"/>
              </a:defRPr>
            </a:pPr>
            <a:endParaRPr lang="en-US"/>
          </a:p>
        </c:txPr>
        <c:crossAx val="133872144"/>
        <c:crosses val="autoZero"/>
        <c:crossBetween val="between"/>
        <c:majorUnit val="1"/>
      </c:valAx>
      <c:spPr>
        <a:noFill/>
        <a:ln w="25400">
          <a:noFill/>
        </a:ln>
      </c:spPr>
    </c:plotArea>
    <c:legend>
      <c:legendPos val="r"/>
      <c:legendEntry>
        <c:idx val="0"/>
        <c:txPr>
          <a:bodyPr/>
          <a:lstStyle/>
          <a:p>
            <a:pPr>
              <a:defRPr sz="1600">
                <a:solidFill>
                  <a:schemeClr val="tx2"/>
                </a:solidFill>
              </a:defRPr>
            </a:pPr>
            <a:endParaRPr lang="en-US"/>
          </a:p>
        </c:txPr>
      </c:legendEntry>
      <c:legendEntry>
        <c:idx val="1"/>
        <c:txPr>
          <a:bodyPr/>
          <a:lstStyle/>
          <a:p>
            <a:pPr>
              <a:defRPr sz="1600">
                <a:solidFill>
                  <a:srgbClr val="00B050"/>
                </a:solidFill>
              </a:defRPr>
            </a:pPr>
            <a:endParaRPr lang="en-US"/>
          </a:p>
        </c:txPr>
      </c:legendEntry>
      <c:legendEntry>
        <c:idx val="2"/>
        <c:txPr>
          <a:bodyPr/>
          <a:lstStyle/>
          <a:p>
            <a:pPr>
              <a:defRPr sz="1600">
                <a:solidFill>
                  <a:srgbClr val="BC10B0"/>
                </a:solidFill>
              </a:defRPr>
            </a:pPr>
            <a:endParaRPr lang="en-US"/>
          </a:p>
        </c:txPr>
      </c:legendEntry>
      <c:legendEntry>
        <c:idx val="3"/>
        <c:txPr>
          <a:bodyPr/>
          <a:lstStyle/>
          <a:p>
            <a:pPr>
              <a:defRPr sz="1600">
                <a:solidFill>
                  <a:srgbClr val="F67B00"/>
                </a:solidFill>
              </a:defRPr>
            </a:pPr>
            <a:endParaRPr lang="en-US"/>
          </a:p>
        </c:txPr>
      </c:legendEntry>
      <c:legendEntry>
        <c:idx val="4"/>
        <c:txPr>
          <a:bodyPr/>
          <a:lstStyle/>
          <a:p>
            <a:pPr>
              <a:defRPr sz="1600">
                <a:solidFill>
                  <a:srgbClr val="FF0000"/>
                </a:solidFill>
              </a:defRPr>
            </a:pPr>
            <a:endParaRPr lang="en-US"/>
          </a:p>
        </c:txPr>
      </c:legendEntry>
      <c:layout>
        <c:manualLayout>
          <c:xMode val="edge"/>
          <c:yMode val="edge"/>
          <c:x val="0.62319742454068228"/>
          <c:y val="6.1514531625001728E-2"/>
          <c:w val="0.32680257545931757"/>
          <c:h val="0.28621792129000506"/>
        </c:manualLayout>
      </c:layout>
      <c:overlay val="0"/>
      <c:spPr>
        <a:solidFill>
          <a:srgbClr val="FFFFD7"/>
        </a:solidFill>
        <a:ln w="15875">
          <a:solidFill>
            <a:srgbClr val="663300"/>
          </a:solidFill>
        </a:ln>
      </c:spPr>
      <c:txPr>
        <a:bodyPr/>
        <a:lstStyle/>
        <a:p>
          <a:pPr>
            <a:defRPr sz="1600"/>
          </a:pPr>
          <a:endParaRPr lang="en-US"/>
        </a:p>
      </c:txPr>
    </c:legend>
    <c:plotVisOnly val="1"/>
    <c:dispBlanksAs val="gap"/>
    <c:showDLblsOverMax val="0"/>
  </c:chart>
  <c:spPr>
    <a:noFill/>
    <a:ln>
      <a:noFill/>
    </a:ln>
  </c:spPr>
  <c:txPr>
    <a:bodyPr/>
    <a:lstStyle/>
    <a:p>
      <a:pPr>
        <a:defRPr sz="1319" b="0" i="0" u="none" strike="noStrike" baseline="0">
          <a:solidFill>
            <a:schemeClr val="tx1"/>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329C-BA19-7741-82E1-E99DDC8851B4}"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252F9-E879-1640-ADA4-A5A78E6B455C}" type="slidenum">
              <a:rPr lang="en-US" smtClean="0"/>
              <a:t>‹#›</a:t>
            </a:fld>
            <a:endParaRPr lang="en-US"/>
          </a:p>
        </p:txBody>
      </p:sp>
    </p:spTree>
    <p:extLst>
      <p:ext uri="{BB962C8B-B14F-4D97-AF65-F5344CB8AC3E}">
        <p14:creationId xmlns:p14="http://schemas.microsoft.com/office/powerpoint/2010/main" val="2517255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091AC77-68F6-4C0E-B5EC-2E9CF91D6E3B}"/>
              </a:ext>
            </a:extLst>
          </p:cNvPr>
          <p:cNvSpPr>
            <a:spLocks noGrp="1" noChangeArrowheads="1"/>
          </p:cNvSpPr>
          <p:nvPr>
            <p:ph type="sldNum" sz="quarter" idx="5"/>
          </p:nvPr>
        </p:nvSpPr>
        <p:spPr>
          <a:ln/>
        </p:spPr>
        <p:txBody>
          <a:bodyPr/>
          <a:lstStyle/>
          <a:p>
            <a:fld id="{859E40C1-81B0-4FBB-B5ED-BD6C78F2CBA8}" type="slidenum">
              <a:rPr lang="en-GB" altLang="en-US"/>
              <a:pPr/>
              <a:t>4</a:t>
            </a:fld>
            <a:endParaRPr lang="en-GB" altLang="en-US"/>
          </a:p>
        </p:txBody>
      </p:sp>
      <p:sp>
        <p:nvSpPr>
          <p:cNvPr id="393218" name="Rectangle 2">
            <a:extLst>
              <a:ext uri="{FF2B5EF4-FFF2-40B4-BE49-F238E27FC236}">
                <a16:creationId xmlns:a16="http://schemas.microsoft.com/office/drawing/2014/main" id="{5E2AC94B-D65D-4187-BB08-47A96952A4A8}"/>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3219" name="Rectangle 3">
            <a:extLst>
              <a:ext uri="{FF2B5EF4-FFF2-40B4-BE49-F238E27FC236}">
                <a16:creationId xmlns:a16="http://schemas.microsoft.com/office/drawing/2014/main" id="{4CDF07AF-CF91-465B-B91D-C5AFA6661650}"/>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393220" name="Rectangle 4">
            <a:extLst>
              <a:ext uri="{FF2B5EF4-FFF2-40B4-BE49-F238E27FC236}">
                <a16:creationId xmlns:a16="http://schemas.microsoft.com/office/drawing/2014/main" id="{EF6EFE8B-F0FF-425F-B372-C97467E65C6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3221" name="Rectangle 5">
            <a:extLst>
              <a:ext uri="{FF2B5EF4-FFF2-40B4-BE49-F238E27FC236}">
                <a16:creationId xmlns:a16="http://schemas.microsoft.com/office/drawing/2014/main" id="{4F3CC176-6ED4-4CDD-8AE9-E8CBD6224D2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3222" name="Rectangle 6">
            <a:extLst>
              <a:ext uri="{FF2B5EF4-FFF2-40B4-BE49-F238E27FC236}">
                <a16:creationId xmlns:a16="http://schemas.microsoft.com/office/drawing/2014/main" id="{81F62999-8B91-46A9-AE64-D1D82AC63B9F}"/>
              </a:ext>
            </a:extLst>
          </p:cNvPr>
          <p:cNvSpPr>
            <a:spLocks noGrp="1" noChangeArrowheads="1"/>
          </p:cNvSpPr>
          <p:nvPr>
            <p:ph type="body" idx="1"/>
          </p:nvPr>
        </p:nvSpPr>
        <p:spPr>
          <a:ln/>
        </p:spPr>
        <p:txBody>
          <a:bodyPr lIns="92075" tIns="46038" rIns="92075" bIns="46038"/>
          <a:lstStyle/>
          <a:p>
            <a:endParaRPr lang="en-GB" altLang="en-US" noProof="1"/>
          </a:p>
        </p:txBody>
      </p:sp>
      <p:sp>
        <p:nvSpPr>
          <p:cNvPr id="393223" name="Rectangle 7">
            <a:extLst>
              <a:ext uri="{FF2B5EF4-FFF2-40B4-BE49-F238E27FC236}">
                <a16:creationId xmlns:a16="http://schemas.microsoft.com/office/drawing/2014/main" id="{A91F0C1E-0970-4BB5-BE49-A0346FF3763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425766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A2FB4B0-29A3-4108-BE89-B91D6D21EC94}"/>
              </a:ext>
            </a:extLst>
          </p:cNvPr>
          <p:cNvSpPr>
            <a:spLocks noGrp="1" noChangeArrowheads="1"/>
          </p:cNvSpPr>
          <p:nvPr>
            <p:ph type="sldNum" sz="quarter" idx="5"/>
          </p:nvPr>
        </p:nvSpPr>
        <p:spPr>
          <a:ln/>
        </p:spPr>
        <p:txBody>
          <a:bodyPr/>
          <a:lstStyle/>
          <a:p>
            <a:fld id="{F1D10349-CF90-4C87-9043-3168BB9E3AC9}" type="slidenum">
              <a:rPr lang="en-GB" altLang="en-US"/>
              <a:pPr/>
              <a:t>6</a:t>
            </a:fld>
            <a:endParaRPr lang="en-GB" altLang="en-US"/>
          </a:p>
        </p:txBody>
      </p:sp>
      <p:sp>
        <p:nvSpPr>
          <p:cNvPr id="395266" name="Rectangle 2">
            <a:extLst>
              <a:ext uri="{FF2B5EF4-FFF2-40B4-BE49-F238E27FC236}">
                <a16:creationId xmlns:a16="http://schemas.microsoft.com/office/drawing/2014/main" id="{5C222392-F660-411D-B6F0-566C1D2CD5C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5267" name="Rectangle 3">
            <a:extLst>
              <a:ext uri="{FF2B5EF4-FFF2-40B4-BE49-F238E27FC236}">
                <a16:creationId xmlns:a16="http://schemas.microsoft.com/office/drawing/2014/main" id="{BC8D4BA0-AC2A-4229-931E-91080BA73C78}"/>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5268" name="Rectangle 4">
            <a:extLst>
              <a:ext uri="{FF2B5EF4-FFF2-40B4-BE49-F238E27FC236}">
                <a16:creationId xmlns:a16="http://schemas.microsoft.com/office/drawing/2014/main" id="{55AEDF92-41D3-4A93-8385-A131E970BF96}"/>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5269" name="Rectangle 5">
            <a:extLst>
              <a:ext uri="{FF2B5EF4-FFF2-40B4-BE49-F238E27FC236}">
                <a16:creationId xmlns:a16="http://schemas.microsoft.com/office/drawing/2014/main" id="{0CD690AC-C726-4679-A7FF-B3D0C0695F3A}"/>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5270" name="Rectangle 6">
            <a:extLst>
              <a:ext uri="{FF2B5EF4-FFF2-40B4-BE49-F238E27FC236}">
                <a16:creationId xmlns:a16="http://schemas.microsoft.com/office/drawing/2014/main" id="{61AC7EA4-B15D-4216-AE21-1EF8BEB379AA}"/>
              </a:ext>
            </a:extLst>
          </p:cNvPr>
          <p:cNvSpPr>
            <a:spLocks noGrp="1" noChangeArrowheads="1"/>
          </p:cNvSpPr>
          <p:nvPr>
            <p:ph type="body" idx="1"/>
          </p:nvPr>
        </p:nvSpPr>
        <p:spPr>
          <a:ln/>
        </p:spPr>
        <p:txBody>
          <a:bodyPr lIns="92075" tIns="46038" rIns="92075" bIns="46038"/>
          <a:lstStyle/>
          <a:p>
            <a:endParaRPr lang="en-GB" altLang="en-US" noProof="1"/>
          </a:p>
        </p:txBody>
      </p:sp>
      <p:sp>
        <p:nvSpPr>
          <p:cNvPr id="395271" name="Rectangle 7">
            <a:extLst>
              <a:ext uri="{FF2B5EF4-FFF2-40B4-BE49-F238E27FC236}">
                <a16:creationId xmlns:a16="http://schemas.microsoft.com/office/drawing/2014/main" id="{FAC409EB-CD4F-42F9-B757-6084D4C3210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61652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6B64E9B-1776-4F2D-9FEF-202724E7F0B5}"/>
              </a:ext>
            </a:extLst>
          </p:cNvPr>
          <p:cNvSpPr>
            <a:spLocks noGrp="1" noChangeArrowheads="1"/>
          </p:cNvSpPr>
          <p:nvPr>
            <p:ph type="sldNum" sz="quarter" idx="5"/>
          </p:nvPr>
        </p:nvSpPr>
        <p:spPr>
          <a:ln/>
        </p:spPr>
        <p:txBody>
          <a:bodyPr/>
          <a:lstStyle/>
          <a:p>
            <a:fld id="{0EA61828-C01E-433E-AD7D-6FD3A9787BD2}" type="slidenum">
              <a:rPr lang="en-GB" altLang="en-US"/>
              <a:pPr/>
              <a:t>7</a:t>
            </a:fld>
            <a:endParaRPr lang="en-GB" altLang="en-US"/>
          </a:p>
        </p:txBody>
      </p:sp>
      <p:sp>
        <p:nvSpPr>
          <p:cNvPr id="397314" name="Rectangle 2">
            <a:extLst>
              <a:ext uri="{FF2B5EF4-FFF2-40B4-BE49-F238E27FC236}">
                <a16:creationId xmlns:a16="http://schemas.microsoft.com/office/drawing/2014/main" id="{0DB18ECD-FF2E-4C31-B450-AB8B7EEF387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8DEC0039-CB29-4EB1-8738-5E2D5C6951C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6FCD1965-2B0F-4476-8182-25FE5318C84B}"/>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AC748A60-2EB6-4765-BA70-F42CAB8F4E58}"/>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8F14D74A-D80A-4438-836A-08842E1C3060}"/>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0F20D8B1-7C0E-4523-88C9-0AD7B4A55181}"/>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426764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572BB3C2-92EF-41AE-9777-726CBA3C107E}"/>
              </a:ext>
            </a:extLst>
          </p:cNvPr>
          <p:cNvSpPr>
            <a:spLocks noGrp="1" noChangeArrowheads="1"/>
          </p:cNvSpPr>
          <p:nvPr>
            <p:ph type="sldNum" sz="quarter" idx="5"/>
          </p:nvPr>
        </p:nvSpPr>
        <p:spPr>
          <a:ln/>
        </p:spPr>
        <p:txBody>
          <a:bodyPr/>
          <a:lstStyle/>
          <a:p>
            <a:fld id="{BC451D82-0574-4510-B426-9EFB09AA70F1}" type="slidenum">
              <a:rPr lang="en-GB" altLang="en-US"/>
              <a:pPr/>
              <a:t>8</a:t>
            </a:fld>
            <a:endParaRPr lang="en-GB" altLang="en-US"/>
          </a:p>
        </p:txBody>
      </p:sp>
      <p:sp>
        <p:nvSpPr>
          <p:cNvPr id="486402" name="Rectangle 7">
            <a:extLst>
              <a:ext uri="{FF2B5EF4-FFF2-40B4-BE49-F238E27FC236}">
                <a16:creationId xmlns:a16="http://schemas.microsoft.com/office/drawing/2014/main" id="{BE414191-2B50-4A8A-B775-1CF92F5586F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ED7A5E26-761D-43F8-818D-8FAB864E099B}" type="slidenum">
              <a:rPr lang="en-GB" altLang="en-US" sz="1000" i="1"/>
              <a:pPr algn="r"/>
              <a:t>8</a:t>
            </a:fld>
            <a:endParaRPr lang="en-GB" altLang="en-US" sz="1000" i="1"/>
          </a:p>
        </p:txBody>
      </p:sp>
      <p:sp>
        <p:nvSpPr>
          <p:cNvPr id="486403" name="Rectangle 7">
            <a:extLst>
              <a:ext uri="{FF2B5EF4-FFF2-40B4-BE49-F238E27FC236}">
                <a16:creationId xmlns:a16="http://schemas.microsoft.com/office/drawing/2014/main" id="{AF420162-D611-47F5-A106-9DE4D31E591B}"/>
              </a:ext>
            </a:extLst>
          </p:cNvPr>
          <p:cNvSpPr txBox="1">
            <a:spLocks noGrp="1" noChangeArrowheads="1"/>
          </p:cNvSpPr>
          <p:nvPr/>
        </p:nvSpPr>
        <p:spPr bwMode="auto">
          <a:xfrm>
            <a:off x="3886200" y="8696325"/>
            <a:ext cx="2971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602D700-74D2-49E3-AFED-D57C1820598B}" type="slidenum">
              <a:rPr lang="en-GB" altLang="en-US" sz="1200">
                <a:latin typeface="Arial" panose="020B0604020202020204" pitchFamily="34" charset="0"/>
              </a:rPr>
              <a:pPr algn="r"/>
              <a:t>8</a:t>
            </a:fld>
            <a:endParaRPr lang="en-GB" altLang="en-US" sz="1200">
              <a:latin typeface="Arial" panose="020B0604020202020204" pitchFamily="34" charset="0"/>
            </a:endParaRPr>
          </a:p>
        </p:txBody>
      </p:sp>
      <p:sp>
        <p:nvSpPr>
          <p:cNvPr id="486404" name="Rectangle 2">
            <a:extLst>
              <a:ext uri="{FF2B5EF4-FFF2-40B4-BE49-F238E27FC236}">
                <a16:creationId xmlns:a16="http://schemas.microsoft.com/office/drawing/2014/main" id="{7BE0F85C-5984-45BE-9B39-22C14C0ECD00}"/>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5" name="Rectangle 3">
            <a:extLst>
              <a:ext uri="{FF2B5EF4-FFF2-40B4-BE49-F238E27FC236}">
                <a16:creationId xmlns:a16="http://schemas.microsoft.com/office/drawing/2014/main" id="{A9C9A26F-888D-4B68-B379-EF430470FB53}"/>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latin typeface="Arial" panose="020B0604020202020204" pitchFamily="34" charset="0"/>
              </a:rPr>
              <a:t>5</a:t>
            </a:r>
          </a:p>
        </p:txBody>
      </p:sp>
      <p:sp>
        <p:nvSpPr>
          <p:cNvPr id="486406" name="Rectangle 4">
            <a:extLst>
              <a:ext uri="{FF2B5EF4-FFF2-40B4-BE49-F238E27FC236}">
                <a16:creationId xmlns:a16="http://schemas.microsoft.com/office/drawing/2014/main" id="{0A11EAA0-875A-4E49-9ED2-6EF14028A272}"/>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7" name="Rectangle 5">
            <a:extLst>
              <a:ext uri="{FF2B5EF4-FFF2-40B4-BE49-F238E27FC236}">
                <a16:creationId xmlns:a16="http://schemas.microsoft.com/office/drawing/2014/main" id="{E5CE20A9-1BB3-4128-8180-399DE6DC19E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8" name="Rectangle 6">
            <a:extLst>
              <a:ext uri="{FF2B5EF4-FFF2-40B4-BE49-F238E27FC236}">
                <a16:creationId xmlns:a16="http://schemas.microsoft.com/office/drawing/2014/main" id="{02CAAC2E-659A-46B8-B777-D28F19AC504A}"/>
              </a:ext>
            </a:extLst>
          </p:cNvPr>
          <p:cNvSpPr>
            <a:spLocks noGrp="1" noChangeArrowheads="1"/>
          </p:cNvSpPr>
          <p:nvPr>
            <p:ph type="body" idx="1"/>
          </p:nvPr>
        </p:nvSpPr>
        <p:spPr/>
        <p:txBody>
          <a:bodyPr lIns="92075" tIns="46038" rIns="92075" bIns="46038"/>
          <a:lstStyle/>
          <a:p>
            <a:pPr algn="ctr">
              <a:spcBef>
                <a:spcPct val="0"/>
              </a:spcBef>
            </a:pPr>
            <a:endParaRPr lang="en-GB" altLang="en-US" sz="2000" noProof="1">
              <a:latin typeface="Arial" panose="020B0604020202020204" pitchFamily="34" charset="0"/>
            </a:endParaRPr>
          </a:p>
        </p:txBody>
      </p:sp>
      <p:sp>
        <p:nvSpPr>
          <p:cNvPr id="486409" name="Rectangle 7">
            <a:extLst>
              <a:ext uri="{FF2B5EF4-FFF2-40B4-BE49-F238E27FC236}">
                <a16:creationId xmlns:a16="http://schemas.microsoft.com/office/drawing/2014/main" id="{78C72E9E-C7F5-466D-BDA0-4B0B9C19DFE1}"/>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3401269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C136E-DA7F-13F1-122D-56CAE2B582F8}"/>
            </a:ext>
          </a:extLst>
        </p:cNvPr>
        <p:cNvGrpSpPr/>
        <p:nvPr/>
      </p:nvGrpSpPr>
      <p:grpSpPr>
        <a:xfrm>
          <a:off x="0" y="0"/>
          <a:ext cx="0" cy="0"/>
          <a:chOff x="0" y="0"/>
          <a:chExt cx="0" cy="0"/>
        </a:xfrm>
      </p:grpSpPr>
      <p:sp>
        <p:nvSpPr>
          <p:cNvPr id="13" name="Rectangle 7">
            <a:extLst>
              <a:ext uri="{FF2B5EF4-FFF2-40B4-BE49-F238E27FC236}">
                <a16:creationId xmlns:a16="http://schemas.microsoft.com/office/drawing/2014/main" id="{F34BC35E-0EC4-58B0-7F6A-0525AA630AEF}"/>
              </a:ext>
            </a:extLst>
          </p:cNvPr>
          <p:cNvSpPr>
            <a:spLocks noGrp="1" noChangeArrowheads="1"/>
          </p:cNvSpPr>
          <p:nvPr>
            <p:ph type="sldNum" sz="quarter" idx="5"/>
          </p:nvPr>
        </p:nvSpPr>
        <p:spPr>
          <a:ln/>
        </p:spPr>
        <p:txBody>
          <a:bodyPr/>
          <a:lstStyle/>
          <a:p>
            <a:fld id="{BC451D82-0574-4510-B426-9EFB09AA70F1}" type="slidenum">
              <a:rPr lang="en-GB" altLang="en-US"/>
              <a:pPr/>
              <a:t>9</a:t>
            </a:fld>
            <a:endParaRPr lang="en-GB" altLang="en-US"/>
          </a:p>
        </p:txBody>
      </p:sp>
      <p:sp>
        <p:nvSpPr>
          <p:cNvPr id="486402" name="Rectangle 7">
            <a:extLst>
              <a:ext uri="{FF2B5EF4-FFF2-40B4-BE49-F238E27FC236}">
                <a16:creationId xmlns:a16="http://schemas.microsoft.com/office/drawing/2014/main" id="{F662CAF3-7403-301E-8BAD-121ABCFBBE1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ED7A5E26-761D-43F8-818D-8FAB864E099B}" type="slidenum">
              <a:rPr lang="en-GB" altLang="en-US" sz="1000" i="1"/>
              <a:pPr algn="r"/>
              <a:t>9</a:t>
            </a:fld>
            <a:endParaRPr lang="en-GB" altLang="en-US" sz="1000" i="1"/>
          </a:p>
        </p:txBody>
      </p:sp>
      <p:sp>
        <p:nvSpPr>
          <p:cNvPr id="486403" name="Rectangle 7">
            <a:extLst>
              <a:ext uri="{FF2B5EF4-FFF2-40B4-BE49-F238E27FC236}">
                <a16:creationId xmlns:a16="http://schemas.microsoft.com/office/drawing/2014/main" id="{BB681707-7523-924C-048F-240C95927F82}"/>
              </a:ext>
            </a:extLst>
          </p:cNvPr>
          <p:cNvSpPr txBox="1">
            <a:spLocks noGrp="1" noChangeArrowheads="1"/>
          </p:cNvSpPr>
          <p:nvPr/>
        </p:nvSpPr>
        <p:spPr bwMode="auto">
          <a:xfrm>
            <a:off x="3886200" y="8696325"/>
            <a:ext cx="2971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602D700-74D2-49E3-AFED-D57C1820598B}" type="slidenum">
              <a:rPr lang="en-GB" altLang="en-US" sz="1200">
                <a:latin typeface="Arial" panose="020B0604020202020204" pitchFamily="34" charset="0"/>
              </a:rPr>
              <a:pPr algn="r"/>
              <a:t>9</a:t>
            </a:fld>
            <a:endParaRPr lang="en-GB" altLang="en-US" sz="1200">
              <a:latin typeface="Arial" panose="020B0604020202020204" pitchFamily="34" charset="0"/>
            </a:endParaRPr>
          </a:p>
        </p:txBody>
      </p:sp>
      <p:sp>
        <p:nvSpPr>
          <p:cNvPr id="486404" name="Rectangle 2">
            <a:extLst>
              <a:ext uri="{FF2B5EF4-FFF2-40B4-BE49-F238E27FC236}">
                <a16:creationId xmlns:a16="http://schemas.microsoft.com/office/drawing/2014/main" id="{ECA3FA45-3639-115E-8878-A3DC073551AE}"/>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5" name="Rectangle 3">
            <a:extLst>
              <a:ext uri="{FF2B5EF4-FFF2-40B4-BE49-F238E27FC236}">
                <a16:creationId xmlns:a16="http://schemas.microsoft.com/office/drawing/2014/main" id="{6DFEA43D-D58C-01FB-6D4E-BDB7339D9296}"/>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latin typeface="Arial" panose="020B0604020202020204" pitchFamily="34" charset="0"/>
              </a:rPr>
              <a:t>5</a:t>
            </a:r>
          </a:p>
        </p:txBody>
      </p:sp>
      <p:sp>
        <p:nvSpPr>
          <p:cNvPr id="486406" name="Rectangle 4">
            <a:extLst>
              <a:ext uri="{FF2B5EF4-FFF2-40B4-BE49-F238E27FC236}">
                <a16:creationId xmlns:a16="http://schemas.microsoft.com/office/drawing/2014/main" id="{CDF58170-5FD5-BF20-E176-2264FCCF6EC9}"/>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7" name="Rectangle 5">
            <a:extLst>
              <a:ext uri="{FF2B5EF4-FFF2-40B4-BE49-F238E27FC236}">
                <a16:creationId xmlns:a16="http://schemas.microsoft.com/office/drawing/2014/main" id="{551AA1D8-E881-6F64-1989-74FFD826CCCD}"/>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8" name="Rectangle 6">
            <a:extLst>
              <a:ext uri="{FF2B5EF4-FFF2-40B4-BE49-F238E27FC236}">
                <a16:creationId xmlns:a16="http://schemas.microsoft.com/office/drawing/2014/main" id="{925E6A9F-B7FC-E3C3-E742-14D453106E4F}"/>
              </a:ext>
            </a:extLst>
          </p:cNvPr>
          <p:cNvSpPr>
            <a:spLocks noGrp="1" noChangeArrowheads="1"/>
          </p:cNvSpPr>
          <p:nvPr>
            <p:ph type="body" idx="1"/>
          </p:nvPr>
        </p:nvSpPr>
        <p:spPr/>
        <p:txBody>
          <a:bodyPr lIns="92075" tIns="46038" rIns="92075" bIns="46038"/>
          <a:lstStyle/>
          <a:p>
            <a:pPr algn="ctr">
              <a:spcBef>
                <a:spcPct val="0"/>
              </a:spcBef>
            </a:pPr>
            <a:endParaRPr lang="en-GB" altLang="en-US" sz="2000" noProof="1">
              <a:latin typeface="Arial" panose="020B0604020202020204" pitchFamily="34" charset="0"/>
            </a:endParaRPr>
          </a:p>
        </p:txBody>
      </p:sp>
      <p:sp>
        <p:nvSpPr>
          <p:cNvPr id="486409" name="Rectangle 7">
            <a:extLst>
              <a:ext uri="{FF2B5EF4-FFF2-40B4-BE49-F238E27FC236}">
                <a16:creationId xmlns:a16="http://schemas.microsoft.com/office/drawing/2014/main" id="{9390D5F7-13AD-D60E-1EF9-A3CBF4EECBBD}"/>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3656999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72ABC3D6-6FFC-4631-8E4D-8EC7A0DD1B58}"/>
              </a:ext>
            </a:extLst>
          </p:cNvPr>
          <p:cNvSpPr>
            <a:spLocks noGrp="1" noChangeArrowheads="1"/>
          </p:cNvSpPr>
          <p:nvPr>
            <p:ph type="sldNum" sz="quarter" idx="5"/>
          </p:nvPr>
        </p:nvSpPr>
        <p:spPr>
          <a:ln/>
        </p:spPr>
        <p:txBody>
          <a:bodyPr/>
          <a:lstStyle/>
          <a:p>
            <a:fld id="{3F1B2A9D-35D2-402E-9BDB-EF238A36507A}" type="slidenum">
              <a:rPr lang="en-GB" altLang="en-US"/>
              <a:pPr/>
              <a:t>10</a:t>
            </a:fld>
            <a:endParaRPr lang="en-GB" altLang="en-US"/>
          </a:p>
        </p:txBody>
      </p:sp>
      <p:sp>
        <p:nvSpPr>
          <p:cNvPr id="448514" name="Rectangle 7">
            <a:extLst>
              <a:ext uri="{FF2B5EF4-FFF2-40B4-BE49-F238E27FC236}">
                <a16:creationId xmlns:a16="http://schemas.microsoft.com/office/drawing/2014/main" id="{A7644C79-BC8B-4FA6-B0CA-E907B02D2A4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F250465F-E762-4E7F-A617-035303A6162F}" type="slidenum">
              <a:rPr lang="en-GB" altLang="en-US" sz="1000" i="1"/>
              <a:pPr algn="r"/>
              <a:t>10</a:t>
            </a:fld>
            <a:endParaRPr lang="en-GB" altLang="en-US" sz="1000" i="1"/>
          </a:p>
        </p:txBody>
      </p:sp>
      <p:sp>
        <p:nvSpPr>
          <p:cNvPr id="448515" name="Rectangle 7">
            <a:extLst>
              <a:ext uri="{FF2B5EF4-FFF2-40B4-BE49-F238E27FC236}">
                <a16:creationId xmlns:a16="http://schemas.microsoft.com/office/drawing/2014/main" id="{F7EFB120-79F1-4DCF-B544-20857E54BFBC}"/>
              </a:ext>
            </a:extLst>
          </p:cNvPr>
          <p:cNvSpPr txBox="1">
            <a:spLocks noGrp="1" noChangeArrowheads="1"/>
          </p:cNvSpPr>
          <p:nvPr/>
        </p:nvSpPr>
        <p:spPr bwMode="auto">
          <a:xfrm>
            <a:off x="3886200" y="8696325"/>
            <a:ext cx="2971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DDF75FD6-8039-4305-9097-9CF5258F2188}" type="slidenum">
              <a:rPr lang="en-GB" altLang="en-US" sz="1200">
                <a:latin typeface="Arial" panose="020B0604020202020204" pitchFamily="34" charset="0"/>
              </a:rPr>
              <a:pPr algn="r"/>
              <a:t>10</a:t>
            </a:fld>
            <a:endParaRPr lang="en-GB" altLang="en-US" sz="1200">
              <a:latin typeface="Arial" panose="020B0604020202020204" pitchFamily="34" charset="0"/>
            </a:endParaRPr>
          </a:p>
        </p:txBody>
      </p:sp>
      <p:sp>
        <p:nvSpPr>
          <p:cNvPr id="448516" name="Rectangle 1026">
            <a:extLst>
              <a:ext uri="{FF2B5EF4-FFF2-40B4-BE49-F238E27FC236}">
                <a16:creationId xmlns:a16="http://schemas.microsoft.com/office/drawing/2014/main" id="{82E78F65-FBE2-46DC-BF30-F67DE1111909}"/>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48517" name="Rectangle 1027">
            <a:extLst>
              <a:ext uri="{FF2B5EF4-FFF2-40B4-BE49-F238E27FC236}">
                <a16:creationId xmlns:a16="http://schemas.microsoft.com/office/drawing/2014/main" id="{B01980F4-C6E8-4135-AC5A-D82110C2555A}"/>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latin typeface="Arial" panose="020B0604020202020204" pitchFamily="34" charset="0"/>
              </a:rPr>
              <a:t>4</a:t>
            </a:r>
          </a:p>
        </p:txBody>
      </p:sp>
      <p:sp>
        <p:nvSpPr>
          <p:cNvPr id="448518" name="Rectangle 1028">
            <a:extLst>
              <a:ext uri="{FF2B5EF4-FFF2-40B4-BE49-F238E27FC236}">
                <a16:creationId xmlns:a16="http://schemas.microsoft.com/office/drawing/2014/main" id="{625B3A1E-BE1A-4FA9-8C78-C652BFF165E6}"/>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48519" name="Rectangle 1029">
            <a:extLst>
              <a:ext uri="{FF2B5EF4-FFF2-40B4-BE49-F238E27FC236}">
                <a16:creationId xmlns:a16="http://schemas.microsoft.com/office/drawing/2014/main" id="{EB2228C5-12D4-4570-BDCD-E1A02051EC7A}"/>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48520" name="Rectangle 1030">
            <a:extLst>
              <a:ext uri="{FF2B5EF4-FFF2-40B4-BE49-F238E27FC236}">
                <a16:creationId xmlns:a16="http://schemas.microsoft.com/office/drawing/2014/main" id="{193B8240-11D5-48CF-B51F-D4D2D6E35CA4}"/>
              </a:ext>
            </a:extLst>
          </p:cNvPr>
          <p:cNvSpPr>
            <a:spLocks noGrp="1" noChangeArrowheads="1"/>
          </p:cNvSpPr>
          <p:nvPr>
            <p:ph type="body" idx="1"/>
          </p:nvPr>
        </p:nvSpPr>
        <p:spPr/>
        <p:txBody>
          <a:bodyPr lIns="92075" tIns="46038" rIns="92075" bIns="46038"/>
          <a:lstStyle/>
          <a:p>
            <a:pPr algn="ctr">
              <a:spcBef>
                <a:spcPct val="0"/>
              </a:spcBef>
            </a:pPr>
            <a:endParaRPr lang="en-GB" altLang="en-US" sz="2000" noProof="1">
              <a:latin typeface="Arial" panose="020B0604020202020204" pitchFamily="34" charset="0"/>
            </a:endParaRPr>
          </a:p>
        </p:txBody>
      </p:sp>
      <p:sp>
        <p:nvSpPr>
          <p:cNvPr id="448521" name="Rectangle 1031">
            <a:extLst>
              <a:ext uri="{FF2B5EF4-FFF2-40B4-BE49-F238E27FC236}">
                <a16:creationId xmlns:a16="http://schemas.microsoft.com/office/drawing/2014/main" id="{8213A0FA-A315-4751-9EBB-E410FB22B78B}"/>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1531473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A3DC905-F5FC-4E45-890C-0897721C7099}"/>
              </a:ext>
            </a:extLst>
          </p:cNvPr>
          <p:cNvSpPr>
            <a:spLocks noGrp="1" noChangeArrowheads="1"/>
          </p:cNvSpPr>
          <p:nvPr>
            <p:ph type="sldNum" sz="quarter" idx="5"/>
          </p:nvPr>
        </p:nvSpPr>
        <p:spPr>
          <a:ln/>
        </p:spPr>
        <p:txBody>
          <a:bodyPr/>
          <a:lstStyle/>
          <a:p>
            <a:fld id="{0FFE5C08-35F3-40FC-BDBA-F702C67A2141}" type="slidenum">
              <a:rPr lang="en-GB" altLang="en-US"/>
              <a:pPr/>
              <a:t>11</a:t>
            </a:fld>
            <a:endParaRPr lang="en-GB" altLang="en-US"/>
          </a:p>
        </p:txBody>
      </p:sp>
      <p:sp>
        <p:nvSpPr>
          <p:cNvPr id="403458" name="Rectangle 2">
            <a:extLst>
              <a:ext uri="{FF2B5EF4-FFF2-40B4-BE49-F238E27FC236}">
                <a16:creationId xmlns:a16="http://schemas.microsoft.com/office/drawing/2014/main" id="{6258E9A1-ADFD-4EA2-A94E-2926BA235814}"/>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A20EDB8A-3EB8-44AF-BB4E-95E4CF063BA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3460" name="Rectangle 4">
            <a:extLst>
              <a:ext uri="{FF2B5EF4-FFF2-40B4-BE49-F238E27FC236}">
                <a16:creationId xmlns:a16="http://schemas.microsoft.com/office/drawing/2014/main" id="{DB72EC26-1891-47E3-AAAC-A43E3FDE35E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CD64E193-CFBA-4E8D-AB2D-7C5843B82E25}"/>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D92EE6E6-9053-4AF5-9A9F-EA16272927EF}"/>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97E461E5-6D15-4623-882D-5440F9CB107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472452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6EA7C-1C47-1379-34E3-0D3627A114A6}"/>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8C1D7C67-1A0B-3AA5-E03C-24A990A9DE8F}"/>
              </a:ext>
            </a:extLst>
          </p:cNvPr>
          <p:cNvSpPr>
            <a:spLocks noGrp="1" noChangeArrowheads="1"/>
          </p:cNvSpPr>
          <p:nvPr>
            <p:ph type="sldNum" sz="quarter" idx="5"/>
          </p:nvPr>
        </p:nvSpPr>
        <p:spPr>
          <a:ln/>
        </p:spPr>
        <p:txBody>
          <a:bodyPr/>
          <a:lstStyle/>
          <a:p>
            <a:fld id="{0FFE5C08-35F3-40FC-BDBA-F702C67A2141}" type="slidenum">
              <a:rPr lang="en-GB" altLang="en-US"/>
              <a:pPr/>
              <a:t>12</a:t>
            </a:fld>
            <a:endParaRPr lang="en-GB" altLang="en-US"/>
          </a:p>
        </p:txBody>
      </p:sp>
      <p:sp>
        <p:nvSpPr>
          <p:cNvPr id="403458" name="Rectangle 2">
            <a:extLst>
              <a:ext uri="{FF2B5EF4-FFF2-40B4-BE49-F238E27FC236}">
                <a16:creationId xmlns:a16="http://schemas.microsoft.com/office/drawing/2014/main" id="{FCD7AC27-43DD-4A2F-B934-6957520A55E7}"/>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7FFEDB91-E598-E70C-4335-322AB41EF03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3460" name="Rectangle 4">
            <a:extLst>
              <a:ext uri="{FF2B5EF4-FFF2-40B4-BE49-F238E27FC236}">
                <a16:creationId xmlns:a16="http://schemas.microsoft.com/office/drawing/2014/main" id="{646352FB-16F5-5FC3-3A18-80E839505538}"/>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150F9418-3D88-5FF9-60DF-B57C8C9F65B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4B6FE279-DBF2-1390-22BA-38221F1B5346}"/>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FDE01C01-C40F-F2FC-27B7-E62448C6F497}"/>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2895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DED3641-280E-44A5-AACD-9D538C131886}"/>
              </a:ext>
            </a:extLst>
          </p:cNvPr>
          <p:cNvSpPr>
            <a:spLocks noGrp="1" noChangeArrowheads="1"/>
          </p:cNvSpPr>
          <p:nvPr>
            <p:ph type="sldNum" sz="quarter" idx="5"/>
          </p:nvPr>
        </p:nvSpPr>
        <p:spPr>
          <a:ln/>
        </p:spPr>
        <p:txBody>
          <a:bodyPr/>
          <a:lstStyle/>
          <a:p>
            <a:fld id="{7151A407-64FC-4A15-AB3B-372FA3F86160}" type="slidenum">
              <a:rPr lang="en-GB" altLang="en-US"/>
              <a:pPr/>
              <a:t>13</a:t>
            </a:fld>
            <a:endParaRPr lang="en-GB" altLang="en-US"/>
          </a:p>
        </p:txBody>
      </p:sp>
      <p:sp>
        <p:nvSpPr>
          <p:cNvPr id="407554" name="Rectangle 2">
            <a:extLst>
              <a:ext uri="{FF2B5EF4-FFF2-40B4-BE49-F238E27FC236}">
                <a16:creationId xmlns:a16="http://schemas.microsoft.com/office/drawing/2014/main" id="{70435C30-580B-4ACC-8A01-A10DF753CEE3}"/>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5" name="Rectangle 3">
            <a:extLst>
              <a:ext uri="{FF2B5EF4-FFF2-40B4-BE49-F238E27FC236}">
                <a16:creationId xmlns:a16="http://schemas.microsoft.com/office/drawing/2014/main" id="{C5A92A00-BD7E-435B-ABC1-38220BEB64D3}"/>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07556" name="Rectangle 4">
            <a:extLst>
              <a:ext uri="{FF2B5EF4-FFF2-40B4-BE49-F238E27FC236}">
                <a16:creationId xmlns:a16="http://schemas.microsoft.com/office/drawing/2014/main" id="{1081F6D6-F055-48DE-A171-0ADCC7F0F2E5}"/>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7" name="Rectangle 5">
            <a:extLst>
              <a:ext uri="{FF2B5EF4-FFF2-40B4-BE49-F238E27FC236}">
                <a16:creationId xmlns:a16="http://schemas.microsoft.com/office/drawing/2014/main" id="{44BBA8A6-2EB6-44C9-9350-9DE742BB97FC}"/>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8" name="Rectangle 6">
            <a:extLst>
              <a:ext uri="{FF2B5EF4-FFF2-40B4-BE49-F238E27FC236}">
                <a16:creationId xmlns:a16="http://schemas.microsoft.com/office/drawing/2014/main" id="{ED5BE4C9-B02D-4BEC-A4FE-5ACD817F5713}"/>
              </a:ext>
            </a:extLst>
          </p:cNvPr>
          <p:cNvSpPr>
            <a:spLocks noGrp="1" noChangeArrowheads="1"/>
          </p:cNvSpPr>
          <p:nvPr>
            <p:ph type="body" idx="1"/>
          </p:nvPr>
        </p:nvSpPr>
        <p:spPr>
          <a:ln/>
        </p:spPr>
        <p:txBody>
          <a:bodyPr lIns="92075" tIns="46038" rIns="92075" bIns="46038"/>
          <a:lstStyle/>
          <a:p>
            <a:endParaRPr lang="en-GB" altLang="en-US" noProof="1"/>
          </a:p>
        </p:txBody>
      </p:sp>
      <p:sp>
        <p:nvSpPr>
          <p:cNvPr id="407559" name="Rectangle 7">
            <a:extLst>
              <a:ext uri="{FF2B5EF4-FFF2-40B4-BE49-F238E27FC236}">
                <a16:creationId xmlns:a16="http://schemas.microsoft.com/office/drawing/2014/main" id="{20D860D3-FE8B-4BFF-B4F6-EB12774DE187}"/>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365530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307D-4BF9-300F-C003-BDD2ED09CD09}"/>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43F6685E-B6E3-8074-8A2F-518AF3B373BF}"/>
              </a:ext>
            </a:extLst>
          </p:cNvPr>
          <p:cNvSpPr>
            <a:spLocks noGrp="1" noChangeArrowheads="1"/>
          </p:cNvSpPr>
          <p:nvPr>
            <p:ph type="sldNum" sz="quarter" idx="5"/>
          </p:nvPr>
        </p:nvSpPr>
        <p:spPr>
          <a:ln/>
        </p:spPr>
        <p:txBody>
          <a:bodyPr/>
          <a:lstStyle/>
          <a:p>
            <a:fld id="{7151A407-64FC-4A15-AB3B-372FA3F86160}" type="slidenum">
              <a:rPr lang="en-GB" altLang="en-US"/>
              <a:pPr/>
              <a:t>14</a:t>
            </a:fld>
            <a:endParaRPr lang="en-GB" altLang="en-US"/>
          </a:p>
        </p:txBody>
      </p:sp>
      <p:sp>
        <p:nvSpPr>
          <p:cNvPr id="407554" name="Rectangle 2">
            <a:extLst>
              <a:ext uri="{FF2B5EF4-FFF2-40B4-BE49-F238E27FC236}">
                <a16:creationId xmlns:a16="http://schemas.microsoft.com/office/drawing/2014/main" id="{181B6F6B-F0D3-C891-6B1B-8B82391B6F0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5" name="Rectangle 3">
            <a:extLst>
              <a:ext uri="{FF2B5EF4-FFF2-40B4-BE49-F238E27FC236}">
                <a16:creationId xmlns:a16="http://schemas.microsoft.com/office/drawing/2014/main" id="{74EE434C-44DF-FE65-A5ED-52D3180020A0}"/>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07556" name="Rectangle 4">
            <a:extLst>
              <a:ext uri="{FF2B5EF4-FFF2-40B4-BE49-F238E27FC236}">
                <a16:creationId xmlns:a16="http://schemas.microsoft.com/office/drawing/2014/main" id="{CE55D0D0-ABCE-299C-A7A4-BBAC42505A5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7" name="Rectangle 5">
            <a:extLst>
              <a:ext uri="{FF2B5EF4-FFF2-40B4-BE49-F238E27FC236}">
                <a16:creationId xmlns:a16="http://schemas.microsoft.com/office/drawing/2014/main" id="{D12A8FCE-AD37-B533-3A44-FB8990D62CA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8" name="Rectangle 6">
            <a:extLst>
              <a:ext uri="{FF2B5EF4-FFF2-40B4-BE49-F238E27FC236}">
                <a16:creationId xmlns:a16="http://schemas.microsoft.com/office/drawing/2014/main" id="{1F983515-24E0-F097-E8B1-46D5F33F1D95}"/>
              </a:ext>
            </a:extLst>
          </p:cNvPr>
          <p:cNvSpPr>
            <a:spLocks noGrp="1" noChangeArrowheads="1"/>
          </p:cNvSpPr>
          <p:nvPr>
            <p:ph type="body" idx="1"/>
          </p:nvPr>
        </p:nvSpPr>
        <p:spPr>
          <a:ln/>
        </p:spPr>
        <p:txBody>
          <a:bodyPr lIns="92075" tIns="46038" rIns="92075" bIns="46038"/>
          <a:lstStyle/>
          <a:p>
            <a:endParaRPr lang="en-GB" altLang="en-US" noProof="1"/>
          </a:p>
        </p:txBody>
      </p:sp>
      <p:sp>
        <p:nvSpPr>
          <p:cNvPr id="407559" name="Rectangle 7">
            <a:extLst>
              <a:ext uri="{FF2B5EF4-FFF2-40B4-BE49-F238E27FC236}">
                <a16:creationId xmlns:a16="http://schemas.microsoft.com/office/drawing/2014/main" id="{C5C9493D-103A-E9AD-BAF1-875791B72A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565685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BCFC-00FC-50DE-73C6-908D8F58C8A5}"/>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7AB48ABD-52A1-73E9-D932-42776BD17A9E}"/>
              </a:ext>
            </a:extLst>
          </p:cNvPr>
          <p:cNvSpPr>
            <a:spLocks noGrp="1" noChangeArrowheads="1"/>
          </p:cNvSpPr>
          <p:nvPr>
            <p:ph type="sldNum" sz="quarter" idx="5"/>
          </p:nvPr>
        </p:nvSpPr>
        <p:spPr>
          <a:ln/>
        </p:spPr>
        <p:txBody>
          <a:bodyPr/>
          <a:lstStyle/>
          <a:p>
            <a:fld id="{7151A407-64FC-4A15-AB3B-372FA3F86160}" type="slidenum">
              <a:rPr lang="en-GB" altLang="en-US"/>
              <a:pPr/>
              <a:t>15</a:t>
            </a:fld>
            <a:endParaRPr lang="en-GB" altLang="en-US"/>
          </a:p>
        </p:txBody>
      </p:sp>
      <p:sp>
        <p:nvSpPr>
          <p:cNvPr id="407554" name="Rectangle 2">
            <a:extLst>
              <a:ext uri="{FF2B5EF4-FFF2-40B4-BE49-F238E27FC236}">
                <a16:creationId xmlns:a16="http://schemas.microsoft.com/office/drawing/2014/main" id="{6D134448-D5D3-55DE-D8A4-24D80D1217B0}"/>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5" name="Rectangle 3">
            <a:extLst>
              <a:ext uri="{FF2B5EF4-FFF2-40B4-BE49-F238E27FC236}">
                <a16:creationId xmlns:a16="http://schemas.microsoft.com/office/drawing/2014/main" id="{6D654D2A-6FAD-2CEA-E4FC-DDEAAEA553F0}"/>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07556" name="Rectangle 4">
            <a:extLst>
              <a:ext uri="{FF2B5EF4-FFF2-40B4-BE49-F238E27FC236}">
                <a16:creationId xmlns:a16="http://schemas.microsoft.com/office/drawing/2014/main" id="{0A9BBF36-BD37-F329-0E26-5933D78557B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7" name="Rectangle 5">
            <a:extLst>
              <a:ext uri="{FF2B5EF4-FFF2-40B4-BE49-F238E27FC236}">
                <a16:creationId xmlns:a16="http://schemas.microsoft.com/office/drawing/2014/main" id="{F4783B72-F3AE-B588-3778-2EEBB5A187FA}"/>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8" name="Rectangle 6">
            <a:extLst>
              <a:ext uri="{FF2B5EF4-FFF2-40B4-BE49-F238E27FC236}">
                <a16:creationId xmlns:a16="http://schemas.microsoft.com/office/drawing/2014/main" id="{F7F1B54C-8D4D-29FB-A74E-0F7E645C92D6}"/>
              </a:ext>
            </a:extLst>
          </p:cNvPr>
          <p:cNvSpPr>
            <a:spLocks noGrp="1" noChangeArrowheads="1"/>
          </p:cNvSpPr>
          <p:nvPr>
            <p:ph type="body" idx="1"/>
          </p:nvPr>
        </p:nvSpPr>
        <p:spPr>
          <a:ln/>
        </p:spPr>
        <p:txBody>
          <a:bodyPr lIns="92075" tIns="46038" rIns="92075" bIns="46038"/>
          <a:lstStyle/>
          <a:p>
            <a:endParaRPr lang="en-GB" altLang="en-US" noProof="1"/>
          </a:p>
        </p:txBody>
      </p:sp>
      <p:sp>
        <p:nvSpPr>
          <p:cNvPr id="407559" name="Rectangle 7">
            <a:extLst>
              <a:ext uri="{FF2B5EF4-FFF2-40B4-BE49-F238E27FC236}">
                <a16:creationId xmlns:a16="http://schemas.microsoft.com/office/drawing/2014/main" id="{74D0DD1D-1DE3-CC90-D6CF-AEC220D1C12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019805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58CC4DA-CDC5-4F87-B2C2-2A11D9F156BB}"/>
              </a:ext>
            </a:extLst>
          </p:cNvPr>
          <p:cNvSpPr>
            <a:spLocks noGrp="1" noChangeArrowheads="1"/>
          </p:cNvSpPr>
          <p:nvPr>
            <p:ph type="sldNum" sz="quarter" idx="5"/>
          </p:nvPr>
        </p:nvSpPr>
        <p:spPr>
          <a:ln/>
        </p:spPr>
        <p:txBody>
          <a:bodyPr/>
          <a:lstStyle/>
          <a:p>
            <a:fld id="{AE3AD685-43AA-445C-A0E6-F2B154A5B127}" type="slidenum">
              <a:rPr lang="en-GB" altLang="en-US"/>
              <a:pPr/>
              <a:t>17</a:t>
            </a:fld>
            <a:endParaRPr lang="en-GB" altLang="en-US"/>
          </a:p>
        </p:txBody>
      </p:sp>
      <p:sp>
        <p:nvSpPr>
          <p:cNvPr id="409602" name="Rectangle 2">
            <a:extLst>
              <a:ext uri="{FF2B5EF4-FFF2-40B4-BE49-F238E27FC236}">
                <a16:creationId xmlns:a16="http://schemas.microsoft.com/office/drawing/2014/main" id="{A327C2A9-8467-4FF4-A75D-1466FC90FE68}"/>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3" name="Rectangle 3">
            <a:extLst>
              <a:ext uri="{FF2B5EF4-FFF2-40B4-BE49-F238E27FC236}">
                <a16:creationId xmlns:a16="http://schemas.microsoft.com/office/drawing/2014/main" id="{B5E1825D-5251-44D0-B9C2-2A3F5186009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409604" name="Rectangle 4">
            <a:extLst>
              <a:ext uri="{FF2B5EF4-FFF2-40B4-BE49-F238E27FC236}">
                <a16:creationId xmlns:a16="http://schemas.microsoft.com/office/drawing/2014/main" id="{0565E346-E229-426D-9473-A2BCE42DE1AB}"/>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5" name="Rectangle 5">
            <a:extLst>
              <a:ext uri="{FF2B5EF4-FFF2-40B4-BE49-F238E27FC236}">
                <a16:creationId xmlns:a16="http://schemas.microsoft.com/office/drawing/2014/main" id="{96E635F8-CE50-4304-B24A-4F400638F66D}"/>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6" name="Rectangle 6">
            <a:extLst>
              <a:ext uri="{FF2B5EF4-FFF2-40B4-BE49-F238E27FC236}">
                <a16:creationId xmlns:a16="http://schemas.microsoft.com/office/drawing/2014/main" id="{EB20B2F4-E4B6-41AF-A8A4-1F58F15EB98A}"/>
              </a:ext>
            </a:extLst>
          </p:cNvPr>
          <p:cNvSpPr>
            <a:spLocks noGrp="1" noChangeArrowheads="1"/>
          </p:cNvSpPr>
          <p:nvPr>
            <p:ph type="body" idx="1"/>
          </p:nvPr>
        </p:nvSpPr>
        <p:spPr>
          <a:ln/>
        </p:spPr>
        <p:txBody>
          <a:bodyPr lIns="92075" tIns="46038" rIns="92075" bIns="46038"/>
          <a:lstStyle/>
          <a:p>
            <a:endParaRPr lang="en-GB" altLang="en-US" noProof="1"/>
          </a:p>
        </p:txBody>
      </p:sp>
      <p:sp>
        <p:nvSpPr>
          <p:cNvPr id="409607" name="Rectangle 7">
            <a:extLst>
              <a:ext uri="{FF2B5EF4-FFF2-40B4-BE49-F238E27FC236}">
                <a16:creationId xmlns:a16="http://schemas.microsoft.com/office/drawing/2014/main" id="{3A263F52-BDA4-4D4A-A43C-311015505AD5}"/>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518353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0D39DFD-2957-4804-BD85-61A3DE012440}"/>
              </a:ext>
            </a:extLst>
          </p:cNvPr>
          <p:cNvSpPr>
            <a:spLocks noGrp="1" noChangeArrowheads="1"/>
          </p:cNvSpPr>
          <p:nvPr>
            <p:ph type="sldNum" sz="quarter" idx="5"/>
          </p:nvPr>
        </p:nvSpPr>
        <p:spPr>
          <a:ln/>
        </p:spPr>
        <p:txBody>
          <a:bodyPr/>
          <a:lstStyle/>
          <a:p>
            <a:fld id="{D3B454A7-75DC-408E-9556-EB54F689914B}" type="slidenum">
              <a:rPr lang="en-GB" altLang="en-US"/>
              <a:pPr/>
              <a:t>18</a:t>
            </a:fld>
            <a:endParaRPr lang="en-GB" altLang="en-US"/>
          </a:p>
        </p:txBody>
      </p:sp>
      <p:sp>
        <p:nvSpPr>
          <p:cNvPr id="462850" name="Rectangle 2">
            <a:extLst>
              <a:ext uri="{FF2B5EF4-FFF2-40B4-BE49-F238E27FC236}">
                <a16:creationId xmlns:a16="http://schemas.microsoft.com/office/drawing/2014/main" id="{25E76CF3-D8D4-4402-943E-89CFE82DF607}"/>
              </a:ext>
            </a:extLst>
          </p:cNvPr>
          <p:cNvSpPr>
            <a:spLocks noGrp="1" noRot="1" noChangeAspect="1" noChangeArrowheads="1" noTextEdit="1"/>
          </p:cNvSpPr>
          <p:nvPr>
            <p:ph type="sldImg"/>
          </p:nvPr>
        </p:nvSpPr>
        <p:spPr>
          <a:xfrm>
            <a:off x="393700" y="692150"/>
            <a:ext cx="6070600" cy="3416300"/>
          </a:xfrm>
          <a:ln/>
        </p:spPr>
      </p:sp>
      <p:sp>
        <p:nvSpPr>
          <p:cNvPr id="462851" name="Rectangle 3">
            <a:extLst>
              <a:ext uri="{FF2B5EF4-FFF2-40B4-BE49-F238E27FC236}">
                <a16:creationId xmlns:a16="http://schemas.microsoft.com/office/drawing/2014/main" id="{134FAD11-0271-45E4-B503-0F1819E2AD24}"/>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3192162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58CC4DA-CDC5-4F87-B2C2-2A11D9F156BB}"/>
              </a:ext>
            </a:extLst>
          </p:cNvPr>
          <p:cNvSpPr>
            <a:spLocks noGrp="1" noChangeArrowheads="1"/>
          </p:cNvSpPr>
          <p:nvPr>
            <p:ph type="sldNum" sz="quarter" idx="5"/>
          </p:nvPr>
        </p:nvSpPr>
        <p:spPr>
          <a:ln/>
        </p:spPr>
        <p:txBody>
          <a:bodyPr/>
          <a:lstStyle/>
          <a:p>
            <a:fld id="{AE3AD685-43AA-445C-A0E6-F2B154A5B127}" type="slidenum">
              <a:rPr lang="en-GB" altLang="en-US"/>
              <a:pPr/>
              <a:t>20</a:t>
            </a:fld>
            <a:endParaRPr lang="en-GB" altLang="en-US"/>
          </a:p>
        </p:txBody>
      </p:sp>
      <p:sp>
        <p:nvSpPr>
          <p:cNvPr id="409602" name="Rectangle 2">
            <a:extLst>
              <a:ext uri="{FF2B5EF4-FFF2-40B4-BE49-F238E27FC236}">
                <a16:creationId xmlns:a16="http://schemas.microsoft.com/office/drawing/2014/main" id="{A327C2A9-8467-4FF4-A75D-1466FC90FE68}"/>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3" name="Rectangle 3">
            <a:extLst>
              <a:ext uri="{FF2B5EF4-FFF2-40B4-BE49-F238E27FC236}">
                <a16:creationId xmlns:a16="http://schemas.microsoft.com/office/drawing/2014/main" id="{B5E1825D-5251-44D0-B9C2-2A3F5186009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409604" name="Rectangle 4">
            <a:extLst>
              <a:ext uri="{FF2B5EF4-FFF2-40B4-BE49-F238E27FC236}">
                <a16:creationId xmlns:a16="http://schemas.microsoft.com/office/drawing/2014/main" id="{0565E346-E229-426D-9473-A2BCE42DE1AB}"/>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5" name="Rectangle 5">
            <a:extLst>
              <a:ext uri="{FF2B5EF4-FFF2-40B4-BE49-F238E27FC236}">
                <a16:creationId xmlns:a16="http://schemas.microsoft.com/office/drawing/2014/main" id="{96E635F8-CE50-4304-B24A-4F400638F66D}"/>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6" name="Rectangle 6">
            <a:extLst>
              <a:ext uri="{FF2B5EF4-FFF2-40B4-BE49-F238E27FC236}">
                <a16:creationId xmlns:a16="http://schemas.microsoft.com/office/drawing/2014/main" id="{EB20B2F4-E4B6-41AF-A8A4-1F58F15EB98A}"/>
              </a:ext>
            </a:extLst>
          </p:cNvPr>
          <p:cNvSpPr>
            <a:spLocks noGrp="1" noChangeArrowheads="1"/>
          </p:cNvSpPr>
          <p:nvPr>
            <p:ph type="body" idx="1"/>
          </p:nvPr>
        </p:nvSpPr>
        <p:spPr>
          <a:ln/>
        </p:spPr>
        <p:txBody>
          <a:bodyPr lIns="92075" tIns="46038" rIns="92075" bIns="46038"/>
          <a:lstStyle/>
          <a:p>
            <a:endParaRPr lang="en-GB" altLang="en-US" noProof="1"/>
          </a:p>
        </p:txBody>
      </p:sp>
      <p:sp>
        <p:nvSpPr>
          <p:cNvPr id="409607" name="Rectangle 7">
            <a:extLst>
              <a:ext uri="{FF2B5EF4-FFF2-40B4-BE49-F238E27FC236}">
                <a16:creationId xmlns:a16="http://schemas.microsoft.com/office/drawing/2014/main" id="{3A263F52-BDA4-4D4A-A43C-311015505AD5}"/>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222006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09597D2B-398E-4B43-AF14-2157871A34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0FFDE9F-4435-4A0F-810B-84A57C713626}" type="slidenum">
              <a:rPr lang="en-GB" altLang="en-US" smtClean="0">
                <a:latin typeface="Times New Roman" panose="02020603050405020304" pitchFamily="18" charset="0"/>
              </a:rPr>
              <a:pPr>
                <a:spcBef>
                  <a:spcPct val="0"/>
                </a:spcBef>
              </a:pPr>
              <a:t>21</a:t>
            </a:fld>
            <a:endParaRPr lang="en-GB" altLang="en-US">
              <a:latin typeface="Times New Roman" panose="02020603050405020304" pitchFamily="18" charset="0"/>
            </a:endParaRPr>
          </a:p>
        </p:txBody>
      </p:sp>
      <p:sp>
        <p:nvSpPr>
          <p:cNvPr id="4099" name="Rectangle 7">
            <a:extLst>
              <a:ext uri="{FF2B5EF4-FFF2-40B4-BE49-F238E27FC236}">
                <a16:creationId xmlns:a16="http://schemas.microsoft.com/office/drawing/2014/main" id="{011B0BB0-C065-471E-8020-A23CD959AC0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8193CB7E-B6F0-4DB9-8E25-AD970AB8873C}" type="slidenum">
              <a:rPr lang="en-GB" altLang="en-US">
                <a:latin typeface="Times New Roman" panose="02020603050405020304" pitchFamily="18" charset="0"/>
              </a:rPr>
              <a:pPr algn="r" eaLnBrk="1" hangingPunct="1">
                <a:spcBef>
                  <a:spcPct val="0"/>
                </a:spcBef>
              </a:pPr>
              <a:t>21</a:t>
            </a:fld>
            <a:endParaRPr lang="en-GB" altLang="en-US">
              <a:latin typeface="Times New Roman" panose="02020603050405020304" pitchFamily="18" charset="0"/>
            </a:endParaRPr>
          </a:p>
        </p:txBody>
      </p:sp>
      <p:sp>
        <p:nvSpPr>
          <p:cNvPr id="4100" name="Rectangle 2">
            <a:extLst>
              <a:ext uri="{FF2B5EF4-FFF2-40B4-BE49-F238E27FC236}">
                <a16:creationId xmlns:a16="http://schemas.microsoft.com/office/drawing/2014/main" id="{087C8D9B-5A72-4095-B483-BAE046E07E9A}"/>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3">
            <a:extLst>
              <a:ext uri="{FF2B5EF4-FFF2-40B4-BE49-F238E27FC236}">
                <a16:creationId xmlns:a16="http://schemas.microsoft.com/office/drawing/2014/main" id="{08923E19-E55D-47E4-80A7-50018118364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986903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8E7585-E8DA-4799-91CD-BE8A06B11E60}"/>
              </a:ext>
            </a:extLst>
          </p:cNvPr>
          <p:cNvSpPr>
            <a:spLocks noGrp="1" noChangeArrowheads="1"/>
          </p:cNvSpPr>
          <p:nvPr>
            <p:ph type="sldNum" sz="quarter" idx="5"/>
          </p:nvPr>
        </p:nvSpPr>
        <p:spPr>
          <a:ln/>
        </p:spPr>
        <p:txBody>
          <a:bodyPr/>
          <a:lstStyle/>
          <a:p>
            <a:fld id="{83257C0C-C2DE-4CBE-BA04-5281FBE76D55}" type="slidenum">
              <a:rPr lang="en-GB" altLang="en-US"/>
              <a:pPr/>
              <a:t>22</a:t>
            </a:fld>
            <a:endParaRPr lang="en-GB" altLang="en-US"/>
          </a:p>
        </p:txBody>
      </p:sp>
      <p:sp>
        <p:nvSpPr>
          <p:cNvPr id="464898" name="Rectangle 2">
            <a:extLst>
              <a:ext uri="{FF2B5EF4-FFF2-40B4-BE49-F238E27FC236}">
                <a16:creationId xmlns:a16="http://schemas.microsoft.com/office/drawing/2014/main" id="{AE89501E-117B-4F42-A14B-E2DC508EC22B}"/>
              </a:ext>
            </a:extLst>
          </p:cNvPr>
          <p:cNvSpPr>
            <a:spLocks noGrp="1" noRot="1" noChangeAspect="1" noChangeArrowheads="1" noTextEdit="1"/>
          </p:cNvSpPr>
          <p:nvPr>
            <p:ph type="sldImg"/>
          </p:nvPr>
        </p:nvSpPr>
        <p:spPr>
          <a:xfrm>
            <a:off x="393700" y="692150"/>
            <a:ext cx="6070600" cy="3416300"/>
          </a:xfrm>
          <a:ln/>
        </p:spPr>
      </p:sp>
      <p:sp>
        <p:nvSpPr>
          <p:cNvPr id="464899" name="Rectangle 3">
            <a:extLst>
              <a:ext uri="{FF2B5EF4-FFF2-40B4-BE49-F238E27FC236}">
                <a16:creationId xmlns:a16="http://schemas.microsoft.com/office/drawing/2014/main" id="{AB016917-C3E1-4ACA-8029-E23BEB4450FB}"/>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3399616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3FC36B8-0A8A-4214-B875-EB0EC1EC18A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7A8EB31-F59D-4C0B-A082-2E905A51A43C}" type="slidenum">
              <a:rPr lang="en-GB" altLang="en-US" smtClean="0">
                <a:latin typeface="Times New Roman" panose="02020603050405020304" pitchFamily="18" charset="0"/>
              </a:rPr>
              <a:pPr>
                <a:spcBef>
                  <a:spcPct val="0"/>
                </a:spcBef>
              </a:pPr>
              <a:t>23</a:t>
            </a:fld>
            <a:endParaRPr lang="en-GB" altLang="en-US">
              <a:latin typeface="Times New Roman" panose="02020603050405020304" pitchFamily="18" charset="0"/>
            </a:endParaRPr>
          </a:p>
        </p:txBody>
      </p:sp>
      <p:sp>
        <p:nvSpPr>
          <p:cNvPr id="4099" name="Rectangle 7">
            <a:extLst>
              <a:ext uri="{FF2B5EF4-FFF2-40B4-BE49-F238E27FC236}">
                <a16:creationId xmlns:a16="http://schemas.microsoft.com/office/drawing/2014/main" id="{AD312F15-897D-49A6-8E3F-5779ABAA63F8}"/>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15DF3C17-E3FA-4648-BF85-B2F475B91DB0}" type="slidenum">
              <a:rPr lang="en-GB" altLang="en-US">
                <a:latin typeface="Times New Roman" panose="02020603050405020304" pitchFamily="18" charset="0"/>
              </a:rPr>
              <a:pPr algn="r" eaLnBrk="1" hangingPunct="1">
                <a:spcBef>
                  <a:spcPct val="0"/>
                </a:spcBef>
              </a:pPr>
              <a:t>23</a:t>
            </a:fld>
            <a:endParaRPr lang="en-GB" altLang="en-US">
              <a:latin typeface="Times New Roman" panose="02020603050405020304" pitchFamily="18" charset="0"/>
            </a:endParaRPr>
          </a:p>
        </p:txBody>
      </p:sp>
      <p:sp>
        <p:nvSpPr>
          <p:cNvPr id="4100" name="Rectangle 2">
            <a:extLst>
              <a:ext uri="{FF2B5EF4-FFF2-40B4-BE49-F238E27FC236}">
                <a16:creationId xmlns:a16="http://schemas.microsoft.com/office/drawing/2014/main" id="{5DC185E9-2322-49AB-858D-B561987337FE}"/>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3">
            <a:extLst>
              <a:ext uri="{FF2B5EF4-FFF2-40B4-BE49-F238E27FC236}">
                <a16:creationId xmlns:a16="http://schemas.microsoft.com/office/drawing/2014/main" id="{A492EAB3-9B3F-412E-AC00-24D90A50F9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269976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C48D63D-829F-4E0F-AC9E-565DAC00E2D4}" type="slidenum">
              <a:rPr lang="en-GB" altLang="en-US" sz="1200" smtClean="0"/>
              <a:pPr/>
              <a:t>24</a:t>
            </a:fld>
            <a:endParaRPr lang="en-GB" altLang="en-US" sz="12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47691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7AB9A9AD-148A-42F6-8808-8D564571FCF0}"/>
              </a:ext>
            </a:extLst>
          </p:cNvPr>
          <p:cNvSpPr>
            <a:spLocks noGrp="1" noChangeArrowheads="1"/>
          </p:cNvSpPr>
          <p:nvPr>
            <p:ph type="sldNum" sz="quarter" idx="5"/>
          </p:nvPr>
        </p:nvSpPr>
        <p:spPr>
          <a:ln/>
        </p:spPr>
        <p:txBody>
          <a:bodyPr/>
          <a:lstStyle/>
          <a:p>
            <a:fld id="{635CABF3-9B79-4296-A102-B07DCD3F10E8}" type="slidenum">
              <a:rPr lang="en-GB" altLang="en-US"/>
              <a:pPr/>
              <a:t>25</a:t>
            </a:fld>
            <a:endParaRPr lang="en-GB" altLang="en-US"/>
          </a:p>
        </p:txBody>
      </p:sp>
      <p:sp>
        <p:nvSpPr>
          <p:cNvPr id="432130" name="Rectangle 7">
            <a:extLst>
              <a:ext uri="{FF2B5EF4-FFF2-40B4-BE49-F238E27FC236}">
                <a16:creationId xmlns:a16="http://schemas.microsoft.com/office/drawing/2014/main" id="{5E835659-EA2D-47CB-9493-C733C42D5FE8}"/>
              </a:ext>
            </a:extLst>
          </p:cNvPr>
          <p:cNvSpPr txBox="1">
            <a:spLocks noGrp="1"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3FF85073-46E0-4674-954A-C3B361A4ED68}" type="slidenum">
              <a:rPr lang="en-GB" altLang="en-US" sz="1200"/>
              <a:pPr algn="r"/>
              <a:t>25</a:t>
            </a:fld>
            <a:endParaRPr lang="en-GB" altLang="en-US" sz="1200"/>
          </a:p>
        </p:txBody>
      </p:sp>
      <p:sp>
        <p:nvSpPr>
          <p:cNvPr id="432131" name="Rectangle 2">
            <a:extLst>
              <a:ext uri="{FF2B5EF4-FFF2-40B4-BE49-F238E27FC236}">
                <a16:creationId xmlns:a16="http://schemas.microsoft.com/office/drawing/2014/main" id="{224B24AE-2DD9-482F-A25C-D1B5D6DB9480}"/>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2132" name="Rectangle 3">
            <a:extLst>
              <a:ext uri="{FF2B5EF4-FFF2-40B4-BE49-F238E27FC236}">
                <a16:creationId xmlns:a16="http://schemas.microsoft.com/office/drawing/2014/main" id="{A0CF2637-B7A1-45D2-A028-14BE86B69F4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32133" name="Rectangle 4">
            <a:extLst>
              <a:ext uri="{FF2B5EF4-FFF2-40B4-BE49-F238E27FC236}">
                <a16:creationId xmlns:a16="http://schemas.microsoft.com/office/drawing/2014/main" id="{4C6D9A1E-2681-471E-A80E-FF17C7E8283F}"/>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2134" name="Rectangle 5">
            <a:extLst>
              <a:ext uri="{FF2B5EF4-FFF2-40B4-BE49-F238E27FC236}">
                <a16:creationId xmlns:a16="http://schemas.microsoft.com/office/drawing/2014/main" id="{736CBC15-BC32-40BA-A022-74A54C80615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2135" name="Rectangle 6">
            <a:extLst>
              <a:ext uri="{FF2B5EF4-FFF2-40B4-BE49-F238E27FC236}">
                <a16:creationId xmlns:a16="http://schemas.microsoft.com/office/drawing/2014/main" id="{FDCC6008-E604-4961-81DE-234AA67A3AB0}"/>
              </a:ext>
            </a:extLst>
          </p:cNvPr>
          <p:cNvSpPr>
            <a:spLocks noGrp="1" noChangeArrowheads="1"/>
          </p:cNvSpPr>
          <p:nvPr>
            <p:ph type="body" idx="1"/>
          </p:nvPr>
        </p:nvSpPr>
        <p:spPr/>
        <p:txBody>
          <a:bodyPr lIns="92075" tIns="46038" rIns="92075" bIns="46038"/>
          <a:lstStyle/>
          <a:p>
            <a:endParaRPr lang="en-GB" altLang="en-US" noProof="1"/>
          </a:p>
        </p:txBody>
      </p:sp>
      <p:sp>
        <p:nvSpPr>
          <p:cNvPr id="432136" name="Rectangle 7">
            <a:extLst>
              <a:ext uri="{FF2B5EF4-FFF2-40B4-BE49-F238E27FC236}">
                <a16:creationId xmlns:a16="http://schemas.microsoft.com/office/drawing/2014/main" id="{85173B17-7A98-4F0E-B0DD-D097CA4F4671}"/>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107041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B937A97C-EF92-40D9-8609-A89C6DE463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8C5B3E7-9EDC-435D-BD0C-4C10761AD9BD}" type="slidenum">
              <a:rPr lang="en-GB" altLang="en-US" smtClean="0">
                <a:solidFill>
                  <a:srgbClr val="000000"/>
                </a:solidFill>
                <a:cs typeface="Arial" panose="020B0604020202020204" pitchFamily="34" charset="0"/>
              </a:rPr>
              <a:pPr fontAlgn="base">
                <a:spcBef>
                  <a:spcPct val="0"/>
                </a:spcBef>
                <a:spcAft>
                  <a:spcPct val="0"/>
                </a:spcAft>
              </a:pPr>
              <a:t>26</a:t>
            </a:fld>
            <a:endParaRPr lang="en-GB" altLang="en-US">
              <a:solidFill>
                <a:srgbClr val="000000"/>
              </a:solidFill>
              <a:cs typeface="Arial" panose="020B0604020202020204" pitchFamily="34" charset="0"/>
            </a:endParaRPr>
          </a:p>
        </p:txBody>
      </p:sp>
      <p:sp>
        <p:nvSpPr>
          <p:cNvPr id="4099" name="Rectangle 2">
            <a:extLst>
              <a:ext uri="{FF2B5EF4-FFF2-40B4-BE49-F238E27FC236}">
                <a16:creationId xmlns:a16="http://schemas.microsoft.com/office/drawing/2014/main" id="{F8FB3F3E-FBDD-4265-9C95-A8EE4C554952}"/>
              </a:ext>
            </a:extLst>
          </p:cNvPr>
          <p:cNvSpPr>
            <a:spLocks noGrp="1" noRot="1" noChangeAspect="1" noChangeArrowheads="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0" name="Rectangle 3">
            <a:extLst>
              <a:ext uri="{FF2B5EF4-FFF2-40B4-BE49-F238E27FC236}">
                <a16:creationId xmlns:a16="http://schemas.microsoft.com/office/drawing/2014/main" id="{42951D40-9658-4B15-A7AF-6DEFC0F5939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Tree>
    <p:extLst>
      <p:ext uri="{BB962C8B-B14F-4D97-AF65-F5344CB8AC3E}">
        <p14:creationId xmlns:p14="http://schemas.microsoft.com/office/powerpoint/2010/main" val="6159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C5CE31D-BEBC-4FF4-B473-9EA9491A34D0}"/>
              </a:ext>
            </a:extLst>
          </p:cNvPr>
          <p:cNvSpPr>
            <a:spLocks noGrp="1" noChangeArrowheads="1"/>
          </p:cNvSpPr>
          <p:nvPr>
            <p:ph type="sldNum" sz="quarter" idx="5"/>
          </p:nvPr>
        </p:nvSpPr>
        <p:spPr>
          <a:ln/>
        </p:spPr>
        <p:txBody>
          <a:bodyPr/>
          <a:lstStyle/>
          <a:p>
            <a:fld id="{DBB236A8-80D8-46C8-B4BF-4F8B985A445A}" type="slidenum">
              <a:rPr lang="en-GB" altLang="en-US"/>
              <a:pPr/>
              <a:t>27</a:t>
            </a:fld>
            <a:endParaRPr lang="en-GB" altLang="en-US"/>
          </a:p>
        </p:txBody>
      </p:sp>
      <p:sp>
        <p:nvSpPr>
          <p:cNvPr id="494594" name="Rectangle 2">
            <a:extLst>
              <a:ext uri="{FF2B5EF4-FFF2-40B4-BE49-F238E27FC236}">
                <a16:creationId xmlns:a16="http://schemas.microsoft.com/office/drawing/2014/main" id="{6C3455D7-C0F5-4B30-8F10-911761C8D092}"/>
              </a:ext>
            </a:extLst>
          </p:cNvPr>
          <p:cNvSpPr>
            <a:spLocks noGrp="1" noRot="1" noChangeAspect="1" noChangeArrowheads="1" noTextEdit="1"/>
          </p:cNvSpPr>
          <p:nvPr>
            <p:ph type="sldImg"/>
          </p:nvPr>
        </p:nvSpPr>
        <p:spPr>
          <a:ln/>
        </p:spPr>
      </p:sp>
      <p:sp>
        <p:nvSpPr>
          <p:cNvPr id="494595" name="Rectangle 3">
            <a:extLst>
              <a:ext uri="{FF2B5EF4-FFF2-40B4-BE49-F238E27FC236}">
                <a16:creationId xmlns:a16="http://schemas.microsoft.com/office/drawing/2014/main" id="{31761EEF-E37E-4C09-96CC-A4868755C0B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286627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B58349F-111A-4784-8895-0B820075B212}"/>
              </a:ext>
            </a:extLst>
          </p:cNvPr>
          <p:cNvSpPr>
            <a:spLocks noGrp="1" noChangeArrowheads="1"/>
          </p:cNvSpPr>
          <p:nvPr>
            <p:ph type="sldNum" sz="quarter" idx="5"/>
          </p:nvPr>
        </p:nvSpPr>
        <p:spPr>
          <a:ln/>
        </p:spPr>
        <p:txBody>
          <a:bodyPr/>
          <a:lstStyle/>
          <a:p>
            <a:fld id="{920E3635-1D38-4387-B5C5-220CC378424B}" type="slidenum">
              <a:rPr lang="en-GB" altLang="en-US"/>
              <a:pPr/>
              <a:t>28</a:t>
            </a:fld>
            <a:endParaRPr lang="en-GB" altLang="en-US"/>
          </a:p>
        </p:txBody>
      </p:sp>
      <p:sp>
        <p:nvSpPr>
          <p:cNvPr id="574466" name="Rectangle 7">
            <a:extLst>
              <a:ext uri="{FF2B5EF4-FFF2-40B4-BE49-F238E27FC236}">
                <a16:creationId xmlns:a16="http://schemas.microsoft.com/office/drawing/2014/main" id="{AB09CEB9-2C65-4DDD-BE13-75AC059D1EF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A0DE3002-EE47-4299-A55B-F9076AAD2117}" type="slidenum">
              <a:rPr lang="en-GB" altLang="en-US" sz="1200"/>
              <a:pPr algn="r"/>
              <a:t>28</a:t>
            </a:fld>
            <a:endParaRPr lang="en-GB" altLang="en-US" sz="1200"/>
          </a:p>
        </p:txBody>
      </p:sp>
      <p:sp>
        <p:nvSpPr>
          <p:cNvPr id="574467" name="Rectangle 2">
            <a:extLst>
              <a:ext uri="{FF2B5EF4-FFF2-40B4-BE49-F238E27FC236}">
                <a16:creationId xmlns:a16="http://schemas.microsoft.com/office/drawing/2014/main" id="{553CBB88-B8AE-4226-A360-38C2AA1A5266}"/>
              </a:ext>
            </a:extLst>
          </p:cNvPr>
          <p:cNvSpPr>
            <a:spLocks noGrp="1" noChangeArrowheads="1"/>
          </p:cNvSpPr>
          <p:nvPr>
            <p:ph type="body" idx="1"/>
          </p:nvPr>
        </p:nvSpPr>
        <p:spPr/>
        <p:txBody>
          <a:bodyPr lIns="92075" tIns="46038" rIns="92075" bIns="46038"/>
          <a:lstStyle/>
          <a:p>
            <a:endParaRPr lang="en-GB" altLang="en-US" noProof="1"/>
          </a:p>
        </p:txBody>
      </p:sp>
      <p:sp>
        <p:nvSpPr>
          <p:cNvPr id="574468" name="Rectangle 3">
            <a:extLst>
              <a:ext uri="{FF2B5EF4-FFF2-40B4-BE49-F238E27FC236}">
                <a16:creationId xmlns:a16="http://schemas.microsoft.com/office/drawing/2014/main" id="{FF5B3199-0AB2-45E4-830E-0D74A552DCC6}"/>
              </a:ext>
            </a:extLst>
          </p:cNvPr>
          <p:cNvSpPr>
            <a:spLocks noGrp="1" noRot="1" noChangeAspect="1" noChangeArrowheads="1" noTextEdit="1"/>
          </p:cNvSpPr>
          <p:nvPr>
            <p:ph type="sldImg"/>
          </p:nvPr>
        </p:nvSpPr>
        <p:spPr>
          <a:xfrm>
            <a:off x="393700" y="692150"/>
            <a:ext cx="6070600" cy="3416300"/>
          </a:xfrm>
          <a:ln w="12700" cap="flat">
            <a:solidFill>
              <a:schemeClr val="tx1"/>
            </a:solidFill>
          </a:ln>
        </p:spPr>
      </p:sp>
    </p:spTree>
    <p:extLst>
      <p:ext uri="{BB962C8B-B14F-4D97-AF65-F5344CB8AC3E}">
        <p14:creationId xmlns:p14="http://schemas.microsoft.com/office/powerpoint/2010/main" val="232921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855A0357-485C-4839-AED1-9B4C93CF1CA9}"/>
              </a:ext>
            </a:extLst>
          </p:cNvPr>
          <p:cNvSpPr>
            <a:spLocks noGrp="1" noChangeArrowheads="1"/>
          </p:cNvSpPr>
          <p:nvPr>
            <p:ph type="sldNum" sz="quarter" idx="5"/>
          </p:nvPr>
        </p:nvSpPr>
        <p:spPr>
          <a:ln/>
        </p:spPr>
        <p:txBody>
          <a:bodyPr/>
          <a:lstStyle/>
          <a:p>
            <a:fld id="{945B3DBD-FFFA-4C06-8286-6868F83ABA16}" type="slidenum">
              <a:rPr lang="en-GB" altLang="en-US"/>
              <a:pPr/>
              <a:t>29</a:t>
            </a:fld>
            <a:endParaRPr lang="en-GB" altLang="en-US"/>
          </a:p>
        </p:txBody>
      </p:sp>
      <p:sp>
        <p:nvSpPr>
          <p:cNvPr id="413698" name="Rectangle 2">
            <a:extLst>
              <a:ext uri="{FF2B5EF4-FFF2-40B4-BE49-F238E27FC236}">
                <a16:creationId xmlns:a16="http://schemas.microsoft.com/office/drawing/2014/main" id="{5F6F0AE5-C166-4A9A-8557-8F69C7D2BA8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699" name="Rectangle 3">
            <a:extLst>
              <a:ext uri="{FF2B5EF4-FFF2-40B4-BE49-F238E27FC236}">
                <a16:creationId xmlns:a16="http://schemas.microsoft.com/office/drawing/2014/main" id="{54DCEC35-5F8E-4184-B6F2-90A2923DD22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413700" name="Rectangle 4">
            <a:extLst>
              <a:ext uri="{FF2B5EF4-FFF2-40B4-BE49-F238E27FC236}">
                <a16:creationId xmlns:a16="http://schemas.microsoft.com/office/drawing/2014/main" id="{DF0036BD-B78E-48E9-BBDA-39C9527BB93D}"/>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1" name="Rectangle 5">
            <a:extLst>
              <a:ext uri="{FF2B5EF4-FFF2-40B4-BE49-F238E27FC236}">
                <a16:creationId xmlns:a16="http://schemas.microsoft.com/office/drawing/2014/main" id="{FA2FE2EA-8652-4198-9982-69AC79827B6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2" name="Rectangle 6">
            <a:extLst>
              <a:ext uri="{FF2B5EF4-FFF2-40B4-BE49-F238E27FC236}">
                <a16:creationId xmlns:a16="http://schemas.microsoft.com/office/drawing/2014/main" id="{03C13382-18E8-4DA3-A420-56601EA32C17}"/>
              </a:ext>
            </a:extLst>
          </p:cNvPr>
          <p:cNvSpPr>
            <a:spLocks noGrp="1" noChangeArrowheads="1"/>
          </p:cNvSpPr>
          <p:nvPr>
            <p:ph type="body" idx="1"/>
          </p:nvPr>
        </p:nvSpPr>
        <p:spPr>
          <a:ln/>
        </p:spPr>
        <p:txBody>
          <a:bodyPr lIns="92075" tIns="46038" rIns="92075" bIns="46038"/>
          <a:lstStyle/>
          <a:p>
            <a:endParaRPr lang="en-GB" altLang="en-US" noProof="1"/>
          </a:p>
        </p:txBody>
      </p:sp>
      <p:sp>
        <p:nvSpPr>
          <p:cNvPr id="413703" name="Rectangle 7">
            <a:extLst>
              <a:ext uri="{FF2B5EF4-FFF2-40B4-BE49-F238E27FC236}">
                <a16:creationId xmlns:a16="http://schemas.microsoft.com/office/drawing/2014/main" id="{711D8456-A730-44FA-A529-EC45337FA5E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416475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A26B-A652-305E-17A1-EF9D96AD67F3}"/>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D9110CB0-CCA0-F353-49A4-3D722A01AFBB}"/>
              </a:ext>
            </a:extLst>
          </p:cNvPr>
          <p:cNvSpPr>
            <a:spLocks noGrp="1" noChangeArrowheads="1"/>
          </p:cNvSpPr>
          <p:nvPr>
            <p:ph type="sldNum" sz="quarter" idx="5"/>
          </p:nvPr>
        </p:nvSpPr>
        <p:spPr>
          <a:ln/>
        </p:spPr>
        <p:txBody>
          <a:bodyPr/>
          <a:lstStyle/>
          <a:p>
            <a:fld id="{945B3DBD-FFFA-4C06-8286-6868F83ABA16}" type="slidenum">
              <a:rPr lang="en-GB" altLang="en-US"/>
              <a:pPr/>
              <a:t>30</a:t>
            </a:fld>
            <a:endParaRPr lang="en-GB" altLang="en-US"/>
          </a:p>
        </p:txBody>
      </p:sp>
      <p:sp>
        <p:nvSpPr>
          <p:cNvPr id="413698" name="Rectangle 2">
            <a:extLst>
              <a:ext uri="{FF2B5EF4-FFF2-40B4-BE49-F238E27FC236}">
                <a16:creationId xmlns:a16="http://schemas.microsoft.com/office/drawing/2014/main" id="{F8243A1C-1E02-3527-1D6D-F159854FB9E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699" name="Rectangle 3">
            <a:extLst>
              <a:ext uri="{FF2B5EF4-FFF2-40B4-BE49-F238E27FC236}">
                <a16:creationId xmlns:a16="http://schemas.microsoft.com/office/drawing/2014/main" id="{ADA75AFB-24CA-147F-631C-B95298E0FE9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413700" name="Rectangle 4">
            <a:extLst>
              <a:ext uri="{FF2B5EF4-FFF2-40B4-BE49-F238E27FC236}">
                <a16:creationId xmlns:a16="http://schemas.microsoft.com/office/drawing/2014/main" id="{0FECCB6E-74B7-6ADC-9818-BD245310283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1" name="Rectangle 5">
            <a:extLst>
              <a:ext uri="{FF2B5EF4-FFF2-40B4-BE49-F238E27FC236}">
                <a16:creationId xmlns:a16="http://schemas.microsoft.com/office/drawing/2014/main" id="{AD92D138-324E-2D69-2AF8-07EE6A0ACAF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2" name="Rectangle 6">
            <a:extLst>
              <a:ext uri="{FF2B5EF4-FFF2-40B4-BE49-F238E27FC236}">
                <a16:creationId xmlns:a16="http://schemas.microsoft.com/office/drawing/2014/main" id="{F5786659-31FA-6C5B-2D0C-28AF79718EFC}"/>
              </a:ext>
            </a:extLst>
          </p:cNvPr>
          <p:cNvSpPr>
            <a:spLocks noGrp="1" noChangeArrowheads="1"/>
          </p:cNvSpPr>
          <p:nvPr>
            <p:ph type="body" idx="1"/>
          </p:nvPr>
        </p:nvSpPr>
        <p:spPr>
          <a:ln/>
        </p:spPr>
        <p:txBody>
          <a:bodyPr lIns="92075" tIns="46038" rIns="92075" bIns="46038"/>
          <a:lstStyle/>
          <a:p>
            <a:endParaRPr lang="en-GB" altLang="en-US" noProof="1"/>
          </a:p>
        </p:txBody>
      </p:sp>
      <p:sp>
        <p:nvSpPr>
          <p:cNvPr id="413703" name="Rectangle 7">
            <a:extLst>
              <a:ext uri="{FF2B5EF4-FFF2-40B4-BE49-F238E27FC236}">
                <a16:creationId xmlns:a16="http://schemas.microsoft.com/office/drawing/2014/main" id="{66FFD1D1-05F0-4117-AF08-16E3A82547D1}"/>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696759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8862FE-C1DC-4905-A2AA-3B938916CA16}"/>
              </a:ext>
            </a:extLst>
          </p:cNvPr>
          <p:cNvSpPr>
            <a:spLocks noGrp="1" noChangeArrowheads="1"/>
          </p:cNvSpPr>
          <p:nvPr>
            <p:ph type="sldNum" sz="quarter" idx="5"/>
          </p:nvPr>
        </p:nvSpPr>
        <p:spPr>
          <a:ln/>
        </p:spPr>
        <p:txBody>
          <a:bodyPr/>
          <a:lstStyle/>
          <a:p>
            <a:fld id="{4F460DDB-746C-4D94-BF8D-3FE739C1C26D}" type="slidenum">
              <a:rPr lang="en-GB" altLang="en-US"/>
              <a:pPr/>
              <a:t>31</a:t>
            </a:fld>
            <a:endParaRPr lang="en-GB" altLang="en-US"/>
          </a:p>
        </p:txBody>
      </p:sp>
      <p:sp>
        <p:nvSpPr>
          <p:cNvPr id="580610" name="Rectangle 7">
            <a:extLst>
              <a:ext uri="{FF2B5EF4-FFF2-40B4-BE49-F238E27FC236}">
                <a16:creationId xmlns:a16="http://schemas.microsoft.com/office/drawing/2014/main" id="{7B26047B-3F7A-4607-8015-5664F325C02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6D6935C-69C7-4985-BBE3-7C792B02EBCD}" type="slidenum">
              <a:rPr lang="en-GB" altLang="en-US" sz="1200"/>
              <a:pPr algn="r"/>
              <a:t>31</a:t>
            </a:fld>
            <a:endParaRPr lang="en-GB" altLang="en-US" sz="1200"/>
          </a:p>
        </p:txBody>
      </p:sp>
      <p:sp>
        <p:nvSpPr>
          <p:cNvPr id="580611" name="Rectangle 2">
            <a:extLst>
              <a:ext uri="{FF2B5EF4-FFF2-40B4-BE49-F238E27FC236}">
                <a16:creationId xmlns:a16="http://schemas.microsoft.com/office/drawing/2014/main" id="{B4C19233-4CB1-4883-A448-B372116010FF}"/>
              </a:ext>
            </a:extLst>
          </p:cNvPr>
          <p:cNvSpPr>
            <a:spLocks noGrp="1" noChangeArrowheads="1"/>
          </p:cNvSpPr>
          <p:nvPr>
            <p:ph type="body" idx="1"/>
          </p:nvPr>
        </p:nvSpPr>
        <p:spPr/>
        <p:txBody>
          <a:bodyPr lIns="92075" tIns="46038" rIns="92075" bIns="46038"/>
          <a:lstStyle/>
          <a:p>
            <a:endParaRPr lang="en-US" altLang="en-US"/>
          </a:p>
        </p:txBody>
      </p:sp>
      <p:sp>
        <p:nvSpPr>
          <p:cNvPr id="580612" name="Rectangle 3">
            <a:extLst>
              <a:ext uri="{FF2B5EF4-FFF2-40B4-BE49-F238E27FC236}">
                <a16:creationId xmlns:a16="http://schemas.microsoft.com/office/drawing/2014/main" id="{7218EFB3-DCFE-4F03-933A-69CD42A646A5}"/>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467193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79453D7-00FB-4AF0-9572-4756D6C6CBCE}"/>
              </a:ext>
            </a:extLst>
          </p:cNvPr>
          <p:cNvSpPr>
            <a:spLocks noGrp="1" noChangeArrowheads="1"/>
          </p:cNvSpPr>
          <p:nvPr>
            <p:ph type="sldNum" sz="quarter" idx="5"/>
          </p:nvPr>
        </p:nvSpPr>
        <p:spPr>
          <a:ln/>
        </p:spPr>
        <p:txBody>
          <a:bodyPr/>
          <a:lstStyle/>
          <a:p>
            <a:fld id="{0B3D379C-307E-4BE0-97CD-2A57A6D759C0}" type="slidenum">
              <a:rPr lang="en-GB" altLang="en-US"/>
              <a:pPr/>
              <a:t>32</a:t>
            </a:fld>
            <a:endParaRPr lang="en-GB" altLang="en-US"/>
          </a:p>
        </p:txBody>
      </p:sp>
      <p:sp>
        <p:nvSpPr>
          <p:cNvPr id="468994" name="Rectangle 2">
            <a:extLst>
              <a:ext uri="{FF2B5EF4-FFF2-40B4-BE49-F238E27FC236}">
                <a16:creationId xmlns:a16="http://schemas.microsoft.com/office/drawing/2014/main" id="{DD7690FE-098D-4371-9B04-6085A5560FB3}"/>
              </a:ext>
            </a:extLst>
          </p:cNvPr>
          <p:cNvSpPr>
            <a:spLocks noGrp="1" noRot="1" noChangeAspect="1" noChangeArrowheads="1" noTextEdit="1"/>
          </p:cNvSpPr>
          <p:nvPr>
            <p:ph type="sldImg"/>
          </p:nvPr>
        </p:nvSpPr>
        <p:spPr>
          <a:xfrm>
            <a:off x="393700" y="692150"/>
            <a:ext cx="6070600" cy="3416300"/>
          </a:xfrm>
          <a:ln/>
        </p:spPr>
      </p:sp>
      <p:sp>
        <p:nvSpPr>
          <p:cNvPr id="468995" name="Rectangle 3">
            <a:extLst>
              <a:ext uri="{FF2B5EF4-FFF2-40B4-BE49-F238E27FC236}">
                <a16:creationId xmlns:a16="http://schemas.microsoft.com/office/drawing/2014/main" id="{E16FA6EC-7143-4856-AD42-B177DA2861E0}"/>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95736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145882-DEDC-452B-BCBF-6832A3F7DA86}"/>
              </a:ext>
            </a:extLst>
          </p:cNvPr>
          <p:cNvSpPr>
            <a:spLocks noGrp="1" noChangeArrowheads="1"/>
          </p:cNvSpPr>
          <p:nvPr>
            <p:ph type="sldNum" sz="quarter" idx="5"/>
          </p:nvPr>
        </p:nvSpPr>
        <p:spPr>
          <a:ln/>
        </p:spPr>
        <p:txBody>
          <a:bodyPr/>
          <a:lstStyle/>
          <a:p>
            <a:fld id="{32C9809B-07B3-4025-9915-2AB3C07343E6}" type="slidenum">
              <a:rPr lang="en-GB" altLang="en-US"/>
              <a:pPr/>
              <a:t>33</a:t>
            </a:fld>
            <a:endParaRPr lang="en-GB" altLang="en-US"/>
          </a:p>
        </p:txBody>
      </p:sp>
      <p:sp>
        <p:nvSpPr>
          <p:cNvPr id="584706" name="Rectangle 7">
            <a:extLst>
              <a:ext uri="{FF2B5EF4-FFF2-40B4-BE49-F238E27FC236}">
                <a16:creationId xmlns:a16="http://schemas.microsoft.com/office/drawing/2014/main" id="{09D35EF4-62C5-49AA-A4FD-C484966D8234}"/>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C2E258C1-D962-4A60-BDAA-39C27867F438}" type="slidenum">
              <a:rPr lang="en-GB" altLang="en-US" sz="1200"/>
              <a:pPr algn="r"/>
              <a:t>33</a:t>
            </a:fld>
            <a:endParaRPr lang="en-GB" altLang="en-US" sz="1200"/>
          </a:p>
        </p:txBody>
      </p:sp>
      <p:sp>
        <p:nvSpPr>
          <p:cNvPr id="584707" name="Rectangle 2">
            <a:extLst>
              <a:ext uri="{FF2B5EF4-FFF2-40B4-BE49-F238E27FC236}">
                <a16:creationId xmlns:a16="http://schemas.microsoft.com/office/drawing/2014/main" id="{79DAF6CD-DC44-41E8-8531-30A5094CF39F}"/>
              </a:ext>
            </a:extLst>
          </p:cNvPr>
          <p:cNvSpPr>
            <a:spLocks noGrp="1" noChangeArrowheads="1"/>
          </p:cNvSpPr>
          <p:nvPr>
            <p:ph type="body" idx="1"/>
          </p:nvPr>
        </p:nvSpPr>
        <p:spPr/>
        <p:txBody>
          <a:bodyPr lIns="92075" tIns="46038" rIns="92075" bIns="46038"/>
          <a:lstStyle/>
          <a:p>
            <a:endParaRPr lang="en-GB" altLang="en-US" noProof="1"/>
          </a:p>
        </p:txBody>
      </p:sp>
      <p:sp>
        <p:nvSpPr>
          <p:cNvPr id="584708" name="Rectangle 3">
            <a:extLst>
              <a:ext uri="{FF2B5EF4-FFF2-40B4-BE49-F238E27FC236}">
                <a16:creationId xmlns:a16="http://schemas.microsoft.com/office/drawing/2014/main" id="{79903DFE-4FBB-4D2E-A5AE-02847F3E17AF}"/>
              </a:ext>
            </a:extLst>
          </p:cNvPr>
          <p:cNvSpPr>
            <a:spLocks noGrp="1" noRot="1" noChangeAspect="1" noChangeArrowheads="1" noTextEdit="1"/>
          </p:cNvSpPr>
          <p:nvPr>
            <p:ph type="sldImg"/>
          </p:nvPr>
        </p:nvSpPr>
        <p:spPr>
          <a:xfrm>
            <a:off x="393700" y="692150"/>
            <a:ext cx="6070600" cy="3416300"/>
          </a:xfrm>
          <a:ln w="12700" cap="flat">
            <a:solidFill>
              <a:schemeClr val="tx1"/>
            </a:solidFill>
          </a:ln>
        </p:spPr>
      </p:sp>
    </p:spTree>
    <p:extLst>
      <p:ext uri="{BB962C8B-B14F-4D97-AF65-F5344CB8AC3E}">
        <p14:creationId xmlns:p14="http://schemas.microsoft.com/office/powerpoint/2010/main" val="11220371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79453D7-00FB-4AF0-9572-4756D6C6CBCE}"/>
              </a:ext>
            </a:extLst>
          </p:cNvPr>
          <p:cNvSpPr>
            <a:spLocks noGrp="1" noChangeArrowheads="1"/>
          </p:cNvSpPr>
          <p:nvPr>
            <p:ph type="sldNum" sz="quarter" idx="5"/>
          </p:nvPr>
        </p:nvSpPr>
        <p:spPr>
          <a:ln/>
        </p:spPr>
        <p:txBody>
          <a:bodyPr/>
          <a:lstStyle/>
          <a:p>
            <a:fld id="{0B3D379C-307E-4BE0-97CD-2A57A6D759C0}" type="slidenum">
              <a:rPr lang="en-GB" altLang="en-US"/>
              <a:pPr/>
              <a:t>34</a:t>
            </a:fld>
            <a:endParaRPr lang="en-GB" altLang="en-US"/>
          </a:p>
        </p:txBody>
      </p:sp>
      <p:sp>
        <p:nvSpPr>
          <p:cNvPr id="468994" name="Rectangle 2">
            <a:extLst>
              <a:ext uri="{FF2B5EF4-FFF2-40B4-BE49-F238E27FC236}">
                <a16:creationId xmlns:a16="http://schemas.microsoft.com/office/drawing/2014/main" id="{DD7690FE-098D-4371-9B04-6085A5560FB3}"/>
              </a:ext>
            </a:extLst>
          </p:cNvPr>
          <p:cNvSpPr>
            <a:spLocks noGrp="1" noRot="1" noChangeAspect="1" noChangeArrowheads="1" noTextEdit="1"/>
          </p:cNvSpPr>
          <p:nvPr>
            <p:ph type="sldImg"/>
          </p:nvPr>
        </p:nvSpPr>
        <p:spPr>
          <a:xfrm>
            <a:off x="393700" y="692150"/>
            <a:ext cx="6070600" cy="3416300"/>
          </a:xfrm>
          <a:ln/>
        </p:spPr>
      </p:sp>
      <p:sp>
        <p:nvSpPr>
          <p:cNvPr id="468995" name="Rectangle 3">
            <a:extLst>
              <a:ext uri="{FF2B5EF4-FFF2-40B4-BE49-F238E27FC236}">
                <a16:creationId xmlns:a16="http://schemas.microsoft.com/office/drawing/2014/main" id="{E16FA6EC-7143-4856-AD42-B177DA2861E0}"/>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9334999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C0D1A05D-5E25-41DC-9E44-E3E3849630E1}"/>
              </a:ext>
            </a:extLst>
          </p:cNvPr>
          <p:cNvSpPr>
            <a:spLocks noGrp="1" noChangeArrowheads="1"/>
          </p:cNvSpPr>
          <p:nvPr>
            <p:ph type="sldNum" sz="quarter" idx="5"/>
          </p:nvPr>
        </p:nvSpPr>
        <p:spPr>
          <a:ln/>
        </p:spPr>
        <p:txBody>
          <a:bodyPr/>
          <a:lstStyle/>
          <a:p>
            <a:fld id="{C4DF25D8-0F04-4E67-B544-800BD62F5B9D}" type="slidenum">
              <a:rPr lang="en-GB" altLang="en-US"/>
              <a:pPr/>
              <a:t>35</a:t>
            </a:fld>
            <a:endParaRPr lang="en-GB" altLang="en-US"/>
          </a:p>
        </p:txBody>
      </p:sp>
      <p:sp>
        <p:nvSpPr>
          <p:cNvPr id="436226" name="Rectangle 7">
            <a:extLst>
              <a:ext uri="{FF2B5EF4-FFF2-40B4-BE49-F238E27FC236}">
                <a16:creationId xmlns:a16="http://schemas.microsoft.com/office/drawing/2014/main" id="{0D591080-3F28-4BE4-BD4F-6E7585FC825C}"/>
              </a:ext>
            </a:extLst>
          </p:cNvPr>
          <p:cNvSpPr txBox="1">
            <a:spLocks noGrp="1"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76640E22-7B1B-4174-8F4E-4F0083A92F15}" type="slidenum">
              <a:rPr lang="en-GB" altLang="en-US" sz="1200"/>
              <a:pPr algn="r"/>
              <a:t>35</a:t>
            </a:fld>
            <a:endParaRPr lang="en-GB" altLang="en-US" sz="1200"/>
          </a:p>
        </p:txBody>
      </p:sp>
      <p:sp>
        <p:nvSpPr>
          <p:cNvPr id="436227" name="Rectangle 2">
            <a:extLst>
              <a:ext uri="{FF2B5EF4-FFF2-40B4-BE49-F238E27FC236}">
                <a16:creationId xmlns:a16="http://schemas.microsoft.com/office/drawing/2014/main" id="{7DC8F94B-EC05-47DA-BF24-515C0F627C1E}"/>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6228" name="Rectangle 3">
            <a:extLst>
              <a:ext uri="{FF2B5EF4-FFF2-40B4-BE49-F238E27FC236}">
                <a16:creationId xmlns:a16="http://schemas.microsoft.com/office/drawing/2014/main" id="{A9D18D78-98D8-4045-9724-63B523E74EF3}"/>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36229" name="Rectangle 4">
            <a:extLst>
              <a:ext uri="{FF2B5EF4-FFF2-40B4-BE49-F238E27FC236}">
                <a16:creationId xmlns:a16="http://schemas.microsoft.com/office/drawing/2014/main" id="{27A30E94-BE28-4E4A-8022-F6F0580E13A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6230" name="Rectangle 5">
            <a:extLst>
              <a:ext uri="{FF2B5EF4-FFF2-40B4-BE49-F238E27FC236}">
                <a16:creationId xmlns:a16="http://schemas.microsoft.com/office/drawing/2014/main" id="{78A28125-6969-477F-AFD8-7F372804E1F8}"/>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6231" name="Rectangle 6">
            <a:extLst>
              <a:ext uri="{FF2B5EF4-FFF2-40B4-BE49-F238E27FC236}">
                <a16:creationId xmlns:a16="http://schemas.microsoft.com/office/drawing/2014/main" id="{16E7D814-5B65-4516-B742-C86A24B54013}"/>
              </a:ext>
            </a:extLst>
          </p:cNvPr>
          <p:cNvSpPr>
            <a:spLocks noGrp="1" noChangeArrowheads="1"/>
          </p:cNvSpPr>
          <p:nvPr>
            <p:ph type="body" idx="1"/>
          </p:nvPr>
        </p:nvSpPr>
        <p:spPr/>
        <p:txBody>
          <a:bodyPr lIns="92075" tIns="46038" rIns="92075" bIns="46038"/>
          <a:lstStyle/>
          <a:p>
            <a:endParaRPr lang="en-GB" altLang="en-US" noProof="1"/>
          </a:p>
        </p:txBody>
      </p:sp>
      <p:sp>
        <p:nvSpPr>
          <p:cNvPr id="436232" name="Rectangle 7">
            <a:extLst>
              <a:ext uri="{FF2B5EF4-FFF2-40B4-BE49-F238E27FC236}">
                <a16:creationId xmlns:a16="http://schemas.microsoft.com/office/drawing/2014/main" id="{D710C692-A4D1-4EAB-96FF-2EB80069CD04}"/>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8834744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439997-7938-4FDC-AAB0-972F933DB2C3}"/>
              </a:ext>
            </a:extLst>
          </p:cNvPr>
          <p:cNvSpPr>
            <a:spLocks noGrp="1" noChangeArrowheads="1"/>
          </p:cNvSpPr>
          <p:nvPr>
            <p:ph type="sldNum" sz="quarter" idx="5"/>
          </p:nvPr>
        </p:nvSpPr>
        <p:spPr>
          <a:ln/>
        </p:spPr>
        <p:txBody>
          <a:bodyPr/>
          <a:lstStyle/>
          <a:p>
            <a:fld id="{5070054A-B613-49A7-9E0E-F890343A9075}" type="slidenum">
              <a:rPr lang="en-GB" altLang="en-US"/>
              <a:pPr/>
              <a:t>36</a:t>
            </a:fld>
            <a:endParaRPr lang="en-GB" altLang="en-US"/>
          </a:p>
        </p:txBody>
      </p:sp>
      <p:sp>
        <p:nvSpPr>
          <p:cNvPr id="594946" name="Rectangle 2">
            <a:extLst>
              <a:ext uri="{FF2B5EF4-FFF2-40B4-BE49-F238E27FC236}">
                <a16:creationId xmlns:a16="http://schemas.microsoft.com/office/drawing/2014/main" id="{86059301-B60E-4468-8A0D-A7B259831A32}"/>
              </a:ext>
            </a:extLst>
          </p:cNvPr>
          <p:cNvSpPr>
            <a:spLocks noGrp="1" noRot="1" noChangeAspect="1" noChangeArrowheads="1" noTextEdit="1"/>
          </p:cNvSpPr>
          <p:nvPr>
            <p:ph type="sldImg"/>
          </p:nvPr>
        </p:nvSpPr>
        <p:spPr>
          <a:ln/>
        </p:spPr>
      </p:sp>
      <p:sp>
        <p:nvSpPr>
          <p:cNvPr id="594947" name="Rectangle 3">
            <a:extLst>
              <a:ext uri="{FF2B5EF4-FFF2-40B4-BE49-F238E27FC236}">
                <a16:creationId xmlns:a16="http://schemas.microsoft.com/office/drawing/2014/main" id="{904B9239-3B39-44DB-AFCC-8ECA34DA4F5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2196411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B4507386-1530-4871-9C33-E8677B7F1399}"/>
              </a:ext>
            </a:extLst>
          </p:cNvPr>
          <p:cNvSpPr>
            <a:spLocks noGrp="1" noRot="1" noChangeAspect="1" noChangeArrowheads="1" noTextEdit="1"/>
          </p:cNvSpPr>
          <p:nvPr>
            <p:ph type="sldImg"/>
          </p:nvPr>
        </p:nvSpPr>
        <p:spPr>
          <a:xfrm>
            <a:off x="393700" y="692150"/>
            <a:ext cx="6070600" cy="3416300"/>
          </a:xfrm>
          <a:ln/>
        </p:spPr>
      </p:sp>
      <p:sp>
        <p:nvSpPr>
          <p:cNvPr id="103427" name="Rectangle 3">
            <a:extLst>
              <a:ext uri="{FF2B5EF4-FFF2-40B4-BE49-F238E27FC236}">
                <a16:creationId xmlns:a16="http://schemas.microsoft.com/office/drawing/2014/main" id="{75DC5526-762A-4395-95B7-74FCE05310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pPr>
            <a:endParaRPr lang="en-GB" altLang="en-US" sz="3800" noProof="1">
              <a:solidFill>
                <a:srgbClr val="6E853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04315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87BE777-809B-447D-A4E1-F340DE48DCA4}"/>
              </a:ext>
            </a:extLst>
          </p:cNvPr>
          <p:cNvSpPr>
            <a:spLocks noGrp="1" noRot="1" noChangeAspect="1" noChangeArrowheads="1" noTextEdit="1"/>
          </p:cNvSpPr>
          <p:nvPr>
            <p:ph type="sldImg"/>
          </p:nvPr>
        </p:nvSpPr>
        <p:spPr>
          <a:xfrm>
            <a:off x="393700" y="692150"/>
            <a:ext cx="6070600" cy="3416300"/>
          </a:xfrm>
          <a:ln/>
        </p:spPr>
      </p:sp>
      <p:sp>
        <p:nvSpPr>
          <p:cNvPr id="105475" name="Rectangle 3">
            <a:extLst>
              <a:ext uri="{FF2B5EF4-FFF2-40B4-BE49-F238E27FC236}">
                <a16:creationId xmlns:a16="http://schemas.microsoft.com/office/drawing/2014/main" id="{CE0A531F-A106-474E-96EE-4254420DCB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pPr>
            <a:endParaRPr lang="en-GB" altLang="en-US" sz="3800" noProof="1">
              <a:solidFill>
                <a:srgbClr val="6E853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08040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6F318-E271-E509-E5A1-53496B2C3A90}"/>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DD8192C1-E255-6AAD-DC99-9541059F1175}"/>
              </a:ext>
            </a:extLst>
          </p:cNvPr>
          <p:cNvSpPr>
            <a:spLocks noGrp="1" noChangeArrowheads="1"/>
          </p:cNvSpPr>
          <p:nvPr>
            <p:ph type="sldNum" sz="quarter" idx="5"/>
          </p:nvPr>
        </p:nvSpPr>
        <p:spPr>
          <a:ln/>
        </p:spPr>
        <p:txBody>
          <a:bodyPr/>
          <a:lstStyle/>
          <a:p>
            <a:fld id="{0EA61828-C01E-433E-AD7D-6FD3A9787BD2}" type="slidenum">
              <a:rPr lang="en-GB" altLang="en-US"/>
              <a:pPr/>
              <a:t>41</a:t>
            </a:fld>
            <a:endParaRPr lang="en-GB" altLang="en-US"/>
          </a:p>
        </p:txBody>
      </p:sp>
      <p:sp>
        <p:nvSpPr>
          <p:cNvPr id="397314" name="Rectangle 2">
            <a:extLst>
              <a:ext uri="{FF2B5EF4-FFF2-40B4-BE49-F238E27FC236}">
                <a16:creationId xmlns:a16="http://schemas.microsoft.com/office/drawing/2014/main" id="{D57AFF18-9ABE-6B87-40AC-8C1809C59A34}"/>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5E39D799-A087-F59A-D3D0-E55A5ACBC801}"/>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A05CC46B-2178-B3EB-A2BE-11717938800D}"/>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EEFAA90B-4214-05C4-C482-E39BEF31852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6744D724-2DD9-68C1-765F-3524D7951FA2}"/>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D33F0B9A-8225-6595-70B5-01FA33E50F3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47909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A8BD2-63C2-8F5A-227A-D3FC9C0B4896}"/>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E84C0EF0-6B51-AE59-4D7C-79724893169D}"/>
              </a:ext>
            </a:extLst>
          </p:cNvPr>
          <p:cNvSpPr>
            <a:spLocks noGrp="1" noChangeArrowheads="1"/>
          </p:cNvSpPr>
          <p:nvPr>
            <p:ph type="sldNum" sz="quarter" idx="5"/>
          </p:nvPr>
        </p:nvSpPr>
        <p:spPr>
          <a:ln/>
        </p:spPr>
        <p:txBody>
          <a:bodyPr/>
          <a:lstStyle/>
          <a:p>
            <a:fld id="{0EA61828-C01E-433E-AD7D-6FD3A9787BD2}" type="slidenum">
              <a:rPr lang="en-GB" altLang="en-US"/>
              <a:pPr/>
              <a:t>42</a:t>
            </a:fld>
            <a:endParaRPr lang="en-GB" altLang="en-US"/>
          </a:p>
        </p:txBody>
      </p:sp>
      <p:sp>
        <p:nvSpPr>
          <p:cNvPr id="397314" name="Rectangle 2">
            <a:extLst>
              <a:ext uri="{FF2B5EF4-FFF2-40B4-BE49-F238E27FC236}">
                <a16:creationId xmlns:a16="http://schemas.microsoft.com/office/drawing/2014/main" id="{94CE2CD5-15A8-C3F3-8D5D-01AEE342912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83B98F8C-1975-7A6A-E79C-941090913093}"/>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111979BC-CF34-6204-4229-4A29DFD2785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B6773EAA-2307-9460-CC9B-24E72043D572}"/>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A9FFD756-C50B-3A9D-0F35-676DF93B4A59}"/>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876977F4-6DA3-05F6-213D-FF435444847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3918769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E2A28-61AB-58DF-C88B-68B2FF58FAB1}"/>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97257189-421D-3A6B-2BE4-D446A9EF149F}"/>
              </a:ext>
            </a:extLst>
          </p:cNvPr>
          <p:cNvSpPr>
            <a:spLocks noGrp="1" noChangeArrowheads="1"/>
          </p:cNvSpPr>
          <p:nvPr>
            <p:ph type="sldNum" sz="quarter" idx="5"/>
          </p:nvPr>
        </p:nvSpPr>
        <p:spPr>
          <a:ln/>
        </p:spPr>
        <p:txBody>
          <a:bodyPr/>
          <a:lstStyle/>
          <a:p>
            <a:fld id="{0EA61828-C01E-433E-AD7D-6FD3A9787BD2}" type="slidenum">
              <a:rPr lang="en-GB" altLang="en-US"/>
              <a:pPr/>
              <a:t>43</a:t>
            </a:fld>
            <a:endParaRPr lang="en-GB" altLang="en-US"/>
          </a:p>
        </p:txBody>
      </p:sp>
      <p:sp>
        <p:nvSpPr>
          <p:cNvPr id="397314" name="Rectangle 2">
            <a:extLst>
              <a:ext uri="{FF2B5EF4-FFF2-40B4-BE49-F238E27FC236}">
                <a16:creationId xmlns:a16="http://schemas.microsoft.com/office/drawing/2014/main" id="{40FE4623-8DB8-1DF4-44B8-7F76F1BF6930}"/>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3C59CFD9-E588-B58E-91FB-947FC358955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6B049B71-9BD9-F95A-B200-4ED95B66F81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B88F5C70-FBF8-1965-559E-B79F4C52C508}"/>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E58CA094-2C64-152D-A2A4-7869DEEC7515}"/>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333B1ECA-0E9A-6138-D280-CE08B837725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125971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5889-4AA2-AC63-DAC3-295A7366B386}"/>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66510EAF-0F88-2202-2D03-45D20315DC76}"/>
              </a:ext>
            </a:extLst>
          </p:cNvPr>
          <p:cNvSpPr>
            <a:spLocks noGrp="1" noChangeArrowheads="1"/>
          </p:cNvSpPr>
          <p:nvPr>
            <p:ph type="sldNum" sz="quarter" idx="5"/>
          </p:nvPr>
        </p:nvSpPr>
        <p:spPr>
          <a:ln/>
        </p:spPr>
        <p:txBody>
          <a:bodyPr/>
          <a:lstStyle/>
          <a:p>
            <a:fld id="{0EA61828-C01E-433E-AD7D-6FD3A9787BD2}" type="slidenum">
              <a:rPr lang="en-GB" altLang="en-US"/>
              <a:pPr/>
              <a:t>44</a:t>
            </a:fld>
            <a:endParaRPr lang="en-GB" altLang="en-US"/>
          </a:p>
        </p:txBody>
      </p:sp>
      <p:sp>
        <p:nvSpPr>
          <p:cNvPr id="397314" name="Rectangle 2">
            <a:extLst>
              <a:ext uri="{FF2B5EF4-FFF2-40B4-BE49-F238E27FC236}">
                <a16:creationId xmlns:a16="http://schemas.microsoft.com/office/drawing/2014/main" id="{AF2D8E9A-68A8-9DC3-71F2-1EE096F3912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40C34846-1EA1-7E3A-C02E-3E42E69FFF2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4C49A0A7-5717-138A-CCD6-80603B6ABD4B}"/>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DB446E8F-9170-A497-D5DC-CFF1227168AD}"/>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835319F7-E033-D3B0-2CBD-853AAAD75964}"/>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6C200A6D-5CE2-37EC-C86B-3C745F95C500}"/>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5425377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C7F1B-DF54-EA73-BD8E-7F63AA0E0773}"/>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8FA3E529-C203-8196-F52D-E132EA7A9F79}"/>
              </a:ext>
            </a:extLst>
          </p:cNvPr>
          <p:cNvSpPr>
            <a:spLocks noGrp="1" noChangeArrowheads="1"/>
          </p:cNvSpPr>
          <p:nvPr>
            <p:ph type="sldNum" sz="quarter" idx="5"/>
          </p:nvPr>
        </p:nvSpPr>
        <p:spPr>
          <a:ln/>
        </p:spPr>
        <p:txBody>
          <a:bodyPr/>
          <a:lstStyle/>
          <a:p>
            <a:fld id="{0EA61828-C01E-433E-AD7D-6FD3A9787BD2}" type="slidenum">
              <a:rPr lang="en-GB" altLang="en-US"/>
              <a:pPr/>
              <a:t>45</a:t>
            </a:fld>
            <a:endParaRPr lang="en-GB" altLang="en-US"/>
          </a:p>
        </p:txBody>
      </p:sp>
      <p:sp>
        <p:nvSpPr>
          <p:cNvPr id="397314" name="Rectangle 2">
            <a:extLst>
              <a:ext uri="{FF2B5EF4-FFF2-40B4-BE49-F238E27FC236}">
                <a16:creationId xmlns:a16="http://schemas.microsoft.com/office/drawing/2014/main" id="{0692B237-4F17-C1C2-424F-734A338A2CA0}"/>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EE4ED744-49B5-8E08-7076-FCC54E98215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CB4D19D0-BE5D-E9E8-11D8-9FAC298C9C56}"/>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D65E3D3A-AAF5-A8BA-71F5-8DC70B0153D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577D1458-2B11-4C27-39D2-0424DC49FA76}"/>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ADDB1435-878D-B64F-77D9-39CB0165CF1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5956503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FEACD-E67E-FD3E-84CC-0BFDF7EB4244}"/>
            </a:ext>
          </a:extLst>
        </p:cNvPr>
        <p:cNvGrpSpPr/>
        <p:nvPr/>
      </p:nvGrpSpPr>
      <p:grpSpPr>
        <a:xfrm>
          <a:off x="0" y="0"/>
          <a:ext cx="0" cy="0"/>
          <a:chOff x="0" y="0"/>
          <a:chExt cx="0" cy="0"/>
        </a:xfrm>
      </p:grpSpPr>
      <p:sp>
        <p:nvSpPr>
          <p:cNvPr id="13" name="Rectangle 7">
            <a:extLst>
              <a:ext uri="{FF2B5EF4-FFF2-40B4-BE49-F238E27FC236}">
                <a16:creationId xmlns:a16="http://schemas.microsoft.com/office/drawing/2014/main" id="{620CCAFB-84D4-DA5D-DB28-7EFD01A52B57}"/>
              </a:ext>
            </a:extLst>
          </p:cNvPr>
          <p:cNvSpPr>
            <a:spLocks noGrp="1" noChangeArrowheads="1"/>
          </p:cNvSpPr>
          <p:nvPr>
            <p:ph type="sldNum" sz="quarter" idx="5"/>
          </p:nvPr>
        </p:nvSpPr>
        <p:spPr>
          <a:ln/>
        </p:spPr>
        <p:txBody>
          <a:bodyPr/>
          <a:lstStyle/>
          <a:p>
            <a:fld id="{BC451D82-0574-4510-B426-9EFB09AA70F1}" type="slidenum">
              <a:rPr lang="en-GB" altLang="en-US"/>
              <a:pPr/>
              <a:t>46</a:t>
            </a:fld>
            <a:endParaRPr lang="en-GB" altLang="en-US"/>
          </a:p>
        </p:txBody>
      </p:sp>
      <p:sp>
        <p:nvSpPr>
          <p:cNvPr id="486402" name="Rectangle 7">
            <a:extLst>
              <a:ext uri="{FF2B5EF4-FFF2-40B4-BE49-F238E27FC236}">
                <a16:creationId xmlns:a16="http://schemas.microsoft.com/office/drawing/2014/main" id="{6E6BC493-D5D6-7624-82D0-D6E60A87A35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ED7A5E26-761D-43F8-818D-8FAB864E099B}" type="slidenum">
              <a:rPr lang="en-GB" altLang="en-US" sz="1000" i="1"/>
              <a:pPr algn="r"/>
              <a:t>46</a:t>
            </a:fld>
            <a:endParaRPr lang="en-GB" altLang="en-US" sz="1000" i="1"/>
          </a:p>
        </p:txBody>
      </p:sp>
      <p:sp>
        <p:nvSpPr>
          <p:cNvPr id="486403" name="Rectangle 7">
            <a:extLst>
              <a:ext uri="{FF2B5EF4-FFF2-40B4-BE49-F238E27FC236}">
                <a16:creationId xmlns:a16="http://schemas.microsoft.com/office/drawing/2014/main" id="{320CB8FE-B707-6C9A-19F6-0E51E6BEFC01}"/>
              </a:ext>
            </a:extLst>
          </p:cNvPr>
          <p:cNvSpPr txBox="1">
            <a:spLocks noGrp="1" noChangeArrowheads="1"/>
          </p:cNvSpPr>
          <p:nvPr/>
        </p:nvSpPr>
        <p:spPr bwMode="auto">
          <a:xfrm>
            <a:off x="3886200" y="8696325"/>
            <a:ext cx="2971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602D700-74D2-49E3-AFED-D57C1820598B}" type="slidenum">
              <a:rPr lang="en-GB" altLang="en-US" sz="1200">
                <a:latin typeface="Arial" panose="020B0604020202020204" pitchFamily="34" charset="0"/>
              </a:rPr>
              <a:pPr algn="r"/>
              <a:t>46</a:t>
            </a:fld>
            <a:endParaRPr lang="en-GB" altLang="en-US" sz="1200">
              <a:latin typeface="Arial" panose="020B0604020202020204" pitchFamily="34" charset="0"/>
            </a:endParaRPr>
          </a:p>
        </p:txBody>
      </p:sp>
      <p:sp>
        <p:nvSpPr>
          <p:cNvPr id="486404" name="Rectangle 2">
            <a:extLst>
              <a:ext uri="{FF2B5EF4-FFF2-40B4-BE49-F238E27FC236}">
                <a16:creationId xmlns:a16="http://schemas.microsoft.com/office/drawing/2014/main" id="{E242473B-41B7-EF12-1B33-BB46E088CB44}"/>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5" name="Rectangle 3">
            <a:extLst>
              <a:ext uri="{FF2B5EF4-FFF2-40B4-BE49-F238E27FC236}">
                <a16:creationId xmlns:a16="http://schemas.microsoft.com/office/drawing/2014/main" id="{F7F6EBA2-3A28-FFC0-F0FD-D60C9B93FBAA}"/>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latin typeface="Arial" panose="020B0604020202020204" pitchFamily="34" charset="0"/>
              </a:rPr>
              <a:t>5</a:t>
            </a:r>
          </a:p>
        </p:txBody>
      </p:sp>
      <p:sp>
        <p:nvSpPr>
          <p:cNvPr id="486406" name="Rectangle 4">
            <a:extLst>
              <a:ext uri="{FF2B5EF4-FFF2-40B4-BE49-F238E27FC236}">
                <a16:creationId xmlns:a16="http://schemas.microsoft.com/office/drawing/2014/main" id="{BD47CE84-A9C6-15E9-8C9C-3ED5D134EFA8}"/>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7" name="Rectangle 5">
            <a:extLst>
              <a:ext uri="{FF2B5EF4-FFF2-40B4-BE49-F238E27FC236}">
                <a16:creationId xmlns:a16="http://schemas.microsoft.com/office/drawing/2014/main" id="{E520DBA5-4D58-1DC3-39CD-A4EEDD624BD1}"/>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8" name="Rectangle 6">
            <a:extLst>
              <a:ext uri="{FF2B5EF4-FFF2-40B4-BE49-F238E27FC236}">
                <a16:creationId xmlns:a16="http://schemas.microsoft.com/office/drawing/2014/main" id="{6B09317C-FF58-7D27-07FA-B54D671FE078}"/>
              </a:ext>
            </a:extLst>
          </p:cNvPr>
          <p:cNvSpPr>
            <a:spLocks noGrp="1" noChangeArrowheads="1"/>
          </p:cNvSpPr>
          <p:nvPr>
            <p:ph type="body" idx="1"/>
          </p:nvPr>
        </p:nvSpPr>
        <p:spPr/>
        <p:txBody>
          <a:bodyPr lIns="92075" tIns="46038" rIns="92075" bIns="46038"/>
          <a:lstStyle/>
          <a:p>
            <a:pPr algn="ctr">
              <a:spcBef>
                <a:spcPct val="0"/>
              </a:spcBef>
            </a:pPr>
            <a:endParaRPr lang="en-GB" altLang="en-US" sz="2000" noProof="1">
              <a:latin typeface="Arial" panose="020B0604020202020204" pitchFamily="34" charset="0"/>
            </a:endParaRPr>
          </a:p>
        </p:txBody>
      </p:sp>
      <p:sp>
        <p:nvSpPr>
          <p:cNvPr id="486409" name="Rectangle 7">
            <a:extLst>
              <a:ext uri="{FF2B5EF4-FFF2-40B4-BE49-F238E27FC236}">
                <a16:creationId xmlns:a16="http://schemas.microsoft.com/office/drawing/2014/main" id="{23053FBF-6083-5B89-B435-DB65BC84B036}"/>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6108782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80E1-6908-B1F9-37D6-C3FC59743CD3}"/>
            </a:ext>
          </a:extLst>
        </p:cNvPr>
        <p:cNvGrpSpPr/>
        <p:nvPr/>
      </p:nvGrpSpPr>
      <p:grpSpPr>
        <a:xfrm>
          <a:off x="0" y="0"/>
          <a:ext cx="0" cy="0"/>
          <a:chOff x="0" y="0"/>
          <a:chExt cx="0" cy="0"/>
        </a:xfrm>
      </p:grpSpPr>
      <p:sp>
        <p:nvSpPr>
          <p:cNvPr id="13" name="Rectangle 7">
            <a:extLst>
              <a:ext uri="{FF2B5EF4-FFF2-40B4-BE49-F238E27FC236}">
                <a16:creationId xmlns:a16="http://schemas.microsoft.com/office/drawing/2014/main" id="{791401D2-C25B-835E-75BE-BF433F837E82}"/>
              </a:ext>
            </a:extLst>
          </p:cNvPr>
          <p:cNvSpPr>
            <a:spLocks noGrp="1" noChangeArrowheads="1"/>
          </p:cNvSpPr>
          <p:nvPr>
            <p:ph type="sldNum" sz="quarter" idx="5"/>
          </p:nvPr>
        </p:nvSpPr>
        <p:spPr>
          <a:ln/>
        </p:spPr>
        <p:txBody>
          <a:bodyPr/>
          <a:lstStyle/>
          <a:p>
            <a:fld id="{BC451D82-0574-4510-B426-9EFB09AA70F1}" type="slidenum">
              <a:rPr lang="en-GB" altLang="en-US"/>
              <a:pPr/>
              <a:t>47</a:t>
            </a:fld>
            <a:endParaRPr lang="en-GB" altLang="en-US"/>
          </a:p>
        </p:txBody>
      </p:sp>
      <p:sp>
        <p:nvSpPr>
          <p:cNvPr id="486402" name="Rectangle 7">
            <a:extLst>
              <a:ext uri="{FF2B5EF4-FFF2-40B4-BE49-F238E27FC236}">
                <a16:creationId xmlns:a16="http://schemas.microsoft.com/office/drawing/2014/main" id="{24362F85-652F-11C1-1AFA-FEDAB11D8AE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ED7A5E26-761D-43F8-818D-8FAB864E099B}" type="slidenum">
              <a:rPr lang="en-GB" altLang="en-US" sz="1000" i="1"/>
              <a:pPr algn="r"/>
              <a:t>47</a:t>
            </a:fld>
            <a:endParaRPr lang="en-GB" altLang="en-US" sz="1000" i="1"/>
          </a:p>
        </p:txBody>
      </p:sp>
      <p:sp>
        <p:nvSpPr>
          <p:cNvPr id="486403" name="Rectangle 7">
            <a:extLst>
              <a:ext uri="{FF2B5EF4-FFF2-40B4-BE49-F238E27FC236}">
                <a16:creationId xmlns:a16="http://schemas.microsoft.com/office/drawing/2014/main" id="{44F628E6-72E2-F102-3B48-DE5E1E28916E}"/>
              </a:ext>
            </a:extLst>
          </p:cNvPr>
          <p:cNvSpPr txBox="1">
            <a:spLocks noGrp="1" noChangeArrowheads="1"/>
          </p:cNvSpPr>
          <p:nvPr/>
        </p:nvSpPr>
        <p:spPr bwMode="auto">
          <a:xfrm>
            <a:off x="3886200" y="8696325"/>
            <a:ext cx="29718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602D700-74D2-49E3-AFED-D57C1820598B}" type="slidenum">
              <a:rPr lang="en-GB" altLang="en-US" sz="1200">
                <a:latin typeface="Arial" panose="020B0604020202020204" pitchFamily="34" charset="0"/>
              </a:rPr>
              <a:pPr algn="r"/>
              <a:t>47</a:t>
            </a:fld>
            <a:endParaRPr lang="en-GB" altLang="en-US" sz="1200">
              <a:latin typeface="Arial" panose="020B0604020202020204" pitchFamily="34" charset="0"/>
            </a:endParaRPr>
          </a:p>
        </p:txBody>
      </p:sp>
      <p:sp>
        <p:nvSpPr>
          <p:cNvPr id="486404" name="Rectangle 2">
            <a:extLst>
              <a:ext uri="{FF2B5EF4-FFF2-40B4-BE49-F238E27FC236}">
                <a16:creationId xmlns:a16="http://schemas.microsoft.com/office/drawing/2014/main" id="{669F3130-DB45-EB77-9136-87653D66B022}"/>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5" name="Rectangle 3">
            <a:extLst>
              <a:ext uri="{FF2B5EF4-FFF2-40B4-BE49-F238E27FC236}">
                <a16:creationId xmlns:a16="http://schemas.microsoft.com/office/drawing/2014/main" id="{A88DBDB8-4A9B-67AE-AEE1-1678D34BAA0C}"/>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latin typeface="Arial" panose="020B0604020202020204" pitchFamily="34" charset="0"/>
              </a:rPr>
              <a:t>5</a:t>
            </a:r>
          </a:p>
        </p:txBody>
      </p:sp>
      <p:sp>
        <p:nvSpPr>
          <p:cNvPr id="486406" name="Rectangle 4">
            <a:extLst>
              <a:ext uri="{FF2B5EF4-FFF2-40B4-BE49-F238E27FC236}">
                <a16:creationId xmlns:a16="http://schemas.microsoft.com/office/drawing/2014/main" id="{4DD3F4BA-AB53-3D15-9D39-1FA4D5B38E9A}"/>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7" name="Rectangle 5">
            <a:extLst>
              <a:ext uri="{FF2B5EF4-FFF2-40B4-BE49-F238E27FC236}">
                <a16:creationId xmlns:a16="http://schemas.microsoft.com/office/drawing/2014/main" id="{CE3C7F36-1F2E-C64A-A7E5-7D624BAAAA2C}"/>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6408" name="Rectangle 6">
            <a:extLst>
              <a:ext uri="{FF2B5EF4-FFF2-40B4-BE49-F238E27FC236}">
                <a16:creationId xmlns:a16="http://schemas.microsoft.com/office/drawing/2014/main" id="{CE3814B5-EC26-3422-1467-2F175FD1D21A}"/>
              </a:ext>
            </a:extLst>
          </p:cNvPr>
          <p:cNvSpPr>
            <a:spLocks noGrp="1" noChangeArrowheads="1"/>
          </p:cNvSpPr>
          <p:nvPr>
            <p:ph type="body" idx="1"/>
          </p:nvPr>
        </p:nvSpPr>
        <p:spPr/>
        <p:txBody>
          <a:bodyPr lIns="92075" tIns="46038" rIns="92075" bIns="46038"/>
          <a:lstStyle/>
          <a:p>
            <a:pPr algn="ctr">
              <a:spcBef>
                <a:spcPct val="0"/>
              </a:spcBef>
            </a:pPr>
            <a:endParaRPr lang="en-GB" altLang="en-US" sz="2000" noProof="1">
              <a:latin typeface="Arial" panose="020B0604020202020204" pitchFamily="34" charset="0"/>
            </a:endParaRPr>
          </a:p>
        </p:txBody>
      </p:sp>
      <p:sp>
        <p:nvSpPr>
          <p:cNvPr id="486409" name="Rectangle 7">
            <a:extLst>
              <a:ext uri="{FF2B5EF4-FFF2-40B4-BE49-F238E27FC236}">
                <a16:creationId xmlns:a16="http://schemas.microsoft.com/office/drawing/2014/main" id="{EDFC8907-DFCB-6C39-0F8F-2862429D7025}"/>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13742130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64E6ADD6-71C1-407C-8917-1282ADC56B35}"/>
              </a:ext>
            </a:extLst>
          </p:cNvPr>
          <p:cNvSpPr>
            <a:spLocks noGrp="1" noChangeArrowheads="1"/>
          </p:cNvSpPr>
          <p:nvPr>
            <p:ph type="sldNum" sz="quarter" idx="5"/>
          </p:nvPr>
        </p:nvSpPr>
        <p:spPr>
          <a:ln/>
        </p:spPr>
        <p:txBody>
          <a:bodyPr/>
          <a:lstStyle/>
          <a:p>
            <a:fld id="{B20F82D2-E62D-4BA6-AAD1-E42EF5D646C3}" type="slidenum">
              <a:rPr lang="en-GB" altLang="en-US"/>
              <a:pPr/>
              <a:t>48</a:t>
            </a:fld>
            <a:endParaRPr lang="en-GB" altLang="en-US"/>
          </a:p>
        </p:txBody>
      </p:sp>
      <p:sp>
        <p:nvSpPr>
          <p:cNvPr id="405506" name="Rectangle 2">
            <a:extLst>
              <a:ext uri="{FF2B5EF4-FFF2-40B4-BE49-F238E27FC236}">
                <a16:creationId xmlns:a16="http://schemas.microsoft.com/office/drawing/2014/main" id="{D7BFDBFF-6E1B-4764-9663-96E04D15CA5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DF88B6FE-F754-4617-98C6-FCD835E658AC}"/>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5508" name="Rectangle 4">
            <a:extLst>
              <a:ext uri="{FF2B5EF4-FFF2-40B4-BE49-F238E27FC236}">
                <a16:creationId xmlns:a16="http://schemas.microsoft.com/office/drawing/2014/main" id="{BD366CE5-A8D5-49F4-B6AD-1F5112815FCF}"/>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1192FC29-816D-45CB-A6D3-7E1E0EE43B90}"/>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972F5876-C37C-4637-B3B6-3ABB20AC5EFB}"/>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E4CFA37A-1C12-4CCD-863F-B8C236C6BAC0}"/>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7573526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C7CB6-E11F-CEA0-6574-832AC04996AA}"/>
            </a:ext>
          </a:extLst>
        </p:cNvPr>
        <p:cNvGrpSpPr/>
        <p:nvPr/>
      </p:nvGrpSpPr>
      <p:grpSpPr>
        <a:xfrm>
          <a:off x="0" y="0"/>
          <a:ext cx="0" cy="0"/>
          <a:chOff x="0" y="0"/>
          <a:chExt cx="0" cy="0"/>
        </a:xfrm>
      </p:grpSpPr>
      <p:sp>
        <p:nvSpPr>
          <p:cNvPr id="11" name="Rectangle 7">
            <a:extLst>
              <a:ext uri="{FF2B5EF4-FFF2-40B4-BE49-F238E27FC236}">
                <a16:creationId xmlns:a16="http://schemas.microsoft.com/office/drawing/2014/main" id="{C9DE924D-0F9D-2F48-B658-E8EBD4B8DA5F}"/>
              </a:ext>
            </a:extLst>
          </p:cNvPr>
          <p:cNvSpPr>
            <a:spLocks noGrp="1" noChangeArrowheads="1"/>
          </p:cNvSpPr>
          <p:nvPr>
            <p:ph type="sldNum" sz="quarter" idx="5"/>
          </p:nvPr>
        </p:nvSpPr>
        <p:spPr>
          <a:ln/>
        </p:spPr>
        <p:txBody>
          <a:bodyPr/>
          <a:lstStyle/>
          <a:p>
            <a:fld id="{B20F82D2-E62D-4BA6-AAD1-E42EF5D646C3}" type="slidenum">
              <a:rPr lang="en-GB" altLang="en-US"/>
              <a:pPr/>
              <a:t>49</a:t>
            </a:fld>
            <a:endParaRPr lang="en-GB" altLang="en-US"/>
          </a:p>
        </p:txBody>
      </p:sp>
      <p:sp>
        <p:nvSpPr>
          <p:cNvPr id="405506" name="Rectangle 2">
            <a:extLst>
              <a:ext uri="{FF2B5EF4-FFF2-40B4-BE49-F238E27FC236}">
                <a16:creationId xmlns:a16="http://schemas.microsoft.com/office/drawing/2014/main" id="{AD37FB6F-A095-76AA-83C9-146AABE5341E}"/>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C39D3D79-915D-3812-FBBA-D456AFB7B62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5508" name="Rectangle 4">
            <a:extLst>
              <a:ext uri="{FF2B5EF4-FFF2-40B4-BE49-F238E27FC236}">
                <a16:creationId xmlns:a16="http://schemas.microsoft.com/office/drawing/2014/main" id="{28775EC5-E129-297C-2E1D-CA33A794AE5F}"/>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E70BBAC1-7BB6-CA1A-5A95-E1BE92FA2AEA}"/>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69C7BC11-DF46-59F0-94B2-ABFAFC526259}"/>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D0D07528-D18E-5504-08DD-1013301FA05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8640011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0D96E7-249C-4510-BCA8-A2645890C1A4}"/>
              </a:ext>
            </a:extLst>
          </p:cNvPr>
          <p:cNvSpPr>
            <a:spLocks noGrp="1" noChangeArrowheads="1"/>
          </p:cNvSpPr>
          <p:nvPr>
            <p:ph type="sldNum" sz="quarter" idx="5"/>
          </p:nvPr>
        </p:nvSpPr>
        <p:spPr>
          <a:ln/>
        </p:spPr>
        <p:txBody>
          <a:bodyPr/>
          <a:lstStyle/>
          <a:p>
            <a:fld id="{359F17D6-D1B6-4FC3-9224-999B75CCDD37}" type="slidenum">
              <a:rPr lang="en-GB" altLang="en-US"/>
              <a:pPr/>
              <a:t>50</a:t>
            </a:fld>
            <a:endParaRPr lang="en-GB" altLang="en-US"/>
          </a:p>
        </p:txBody>
      </p:sp>
      <p:sp>
        <p:nvSpPr>
          <p:cNvPr id="777218" name="Rectangle 7">
            <a:extLst>
              <a:ext uri="{FF2B5EF4-FFF2-40B4-BE49-F238E27FC236}">
                <a16:creationId xmlns:a16="http://schemas.microsoft.com/office/drawing/2014/main" id="{85A49526-4C7D-4B5C-9C69-7873131B4E7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50E99CD0-9979-4C80-8AA1-6DDFDD610C0D}" type="slidenum">
              <a:rPr lang="en-GB" altLang="en-US" sz="1200"/>
              <a:pPr algn="r"/>
              <a:t>50</a:t>
            </a:fld>
            <a:endParaRPr lang="en-GB" altLang="en-US" sz="1200"/>
          </a:p>
        </p:txBody>
      </p:sp>
      <p:sp>
        <p:nvSpPr>
          <p:cNvPr id="777219" name="Rectangle 2">
            <a:extLst>
              <a:ext uri="{FF2B5EF4-FFF2-40B4-BE49-F238E27FC236}">
                <a16:creationId xmlns:a16="http://schemas.microsoft.com/office/drawing/2014/main" id="{0BE4641D-1DA5-4F63-9667-9F3E5748723D}"/>
              </a:ext>
            </a:extLst>
          </p:cNvPr>
          <p:cNvSpPr>
            <a:spLocks noGrp="1" noRot="1" noChangeAspect="1" noChangeArrowheads="1" noTextEdit="1"/>
          </p:cNvSpPr>
          <p:nvPr>
            <p:ph type="sldImg"/>
          </p:nvPr>
        </p:nvSpPr>
        <p:spPr>
          <a:ln/>
        </p:spPr>
      </p:sp>
      <p:sp>
        <p:nvSpPr>
          <p:cNvPr id="777220" name="Rectangle 3">
            <a:extLst>
              <a:ext uri="{FF2B5EF4-FFF2-40B4-BE49-F238E27FC236}">
                <a16:creationId xmlns:a16="http://schemas.microsoft.com/office/drawing/2014/main" id="{2A98C101-CBAF-4841-9342-43CA93496A4C}"/>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214929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64E6ADD6-71C1-407C-8917-1282ADC56B35}"/>
              </a:ext>
            </a:extLst>
          </p:cNvPr>
          <p:cNvSpPr>
            <a:spLocks noGrp="1" noChangeArrowheads="1"/>
          </p:cNvSpPr>
          <p:nvPr>
            <p:ph type="sldNum" sz="quarter" idx="5"/>
          </p:nvPr>
        </p:nvSpPr>
        <p:spPr>
          <a:ln/>
        </p:spPr>
        <p:txBody>
          <a:bodyPr/>
          <a:lstStyle/>
          <a:p>
            <a:fld id="{B20F82D2-E62D-4BA6-AAD1-E42EF5D646C3}" type="slidenum">
              <a:rPr lang="en-GB" altLang="en-US"/>
              <a:pPr/>
              <a:t>51</a:t>
            </a:fld>
            <a:endParaRPr lang="en-GB" altLang="en-US"/>
          </a:p>
        </p:txBody>
      </p:sp>
      <p:sp>
        <p:nvSpPr>
          <p:cNvPr id="405506" name="Rectangle 2">
            <a:extLst>
              <a:ext uri="{FF2B5EF4-FFF2-40B4-BE49-F238E27FC236}">
                <a16:creationId xmlns:a16="http://schemas.microsoft.com/office/drawing/2014/main" id="{D7BFDBFF-6E1B-4764-9663-96E04D15CA5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DF88B6FE-F754-4617-98C6-FCD835E658AC}"/>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5508" name="Rectangle 4">
            <a:extLst>
              <a:ext uri="{FF2B5EF4-FFF2-40B4-BE49-F238E27FC236}">
                <a16:creationId xmlns:a16="http://schemas.microsoft.com/office/drawing/2014/main" id="{BD366CE5-A8D5-49F4-B6AD-1F5112815FCF}"/>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1192FC29-816D-45CB-A6D3-7E1E0EE43B90}"/>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972F5876-C37C-4637-B3B6-3ABB20AC5EFB}"/>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E4CFA37A-1C12-4CCD-863F-B8C236C6BAC0}"/>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2070695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D555B4FC-8546-4D3B-BD5E-B55F5968E2F3}"/>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EA305A4-1010-477B-B7C6-446FC1CA2779}" type="slidenum">
              <a:rPr lang="en-GB" altLang="en-US" sz="1200" smtClean="0"/>
              <a:pPr/>
              <a:t>53</a:t>
            </a:fld>
            <a:endParaRPr lang="en-GB" altLang="en-US" sz="1200"/>
          </a:p>
        </p:txBody>
      </p:sp>
      <p:sp>
        <p:nvSpPr>
          <p:cNvPr id="4099" name="Rectangle 2">
            <a:extLst>
              <a:ext uri="{FF2B5EF4-FFF2-40B4-BE49-F238E27FC236}">
                <a16:creationId xmlns:a16="http://schemas.microsoft.com/office/drawing/2014/main" id="{D75573C6-F61A-4A71-B254-3C976D79E076}"/>
              </a:ext>
            </a:extLst>
          </p:cNvPr>
          <p:cNvSpPr>
            <a:spLocks noGrp="1" noChangeArrowheads="1"/>
          </p:cNvSpPr>
          <p:nvPr>
            <p:ph type="body" idx="1"/>
          </p:nvPr>
        </p:nvSpPr>
        <p:spPr>
          <a:noFill/>
        </p:spPr>
        <p:txBody>
          <a:bodyPr lIns="92075" tIns="46038" rIns="92075" bIns="46038"/>
          <a:lstStyle/>
          <a:p>
            <a:endParaRPr lang="en-US" altLang="en-US"/>
          </a:p>
        </p:txBody>
      </p:sp>
      <p:sp>
        <p:nvSpPr>
          <p:cNvPr id="4100" name="Rectangle 3">
            <a:extLst>
              <a:ext uri="{FF2B5EF4-FFF2-40B4-BE49-F238E27FC236}">
                <a16:creationId xmlns:a16="http://schemas.microsoft.com/office/drawing/2014/main" id="{49A10471-C52A-4B64-9B11-81DD85282D8F}"/>
              </a:ext>
            </a:extLst>
          </p:cNvPr>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22105705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49FD9EE4-E06F-43DA-A1A1-DF2F7CAE4D7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EE3CFF1-25FF-43B3-B1F0-C168207EB715}" type="slidenum">
              <a:rPr lang="en-GB" altLang="en-US" smtClean="0">
                <a:solidFill>
                  <a:srgbClr val="000000"/>
                </a:solidFill>
                <a:latin typeface="Times New Roman" panose="02020603050405020304" pitchFamily="18" charset="0"/>
              </a:rPr>
              <a:pPr>
                <a:spcBef>
                  <a:spcPct val="0"/>
                </a:spcBef>
              </a:pPr>
              <a:t>54</a:t>
            </a:fld>
            <a:endParaRPr lang="en-GB" altLang="en-US">
              <a:solidFill>
                <a:srgbClr val="000000"/>
              </a:solidFill>
              <a:latin typeface="Times New Roman" panose="02020603050405020304" pitchFamily="18" charset="0"/>
            </a:endParaRPr>
          </a:p>
        </p:txBody>
      </p:sp>
      <p:sp>
        <p:nvSpPr>
          <p:cNvPr id="16387" name="Rectangle 2">
            <a:extLst>
              <a:ext uri="{FF2B5EF4-FFF2-40B4-BE49-F238E27FC236}">
                <a16:creationId xmlns:a16="http://schemas.microsoft.com/office/drawing/2014/main" id="{1D190CDC-24D2-4D46-8312-4A4880F2A6C4}"/>
              </a:ext>
            </a:extLst>
          </p:cNvPr>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3">
            <a:extLst>
              <a:ext uri="{FF2B5EF4-FFF2-40B4-BE49-F238E27FC236}">
                <a16:creationId xmlns:a16="http://schemas.microsoft.com/office/drawing/2014/main" id="{B6EA6B1F-F417-42F0-ADE8-BA35F56C4C6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45639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693879B-BD69-41A6-BDF4-B7E6235DCABC}" type="slidenum">
              <a:rPr lang="en-GB" altLang="en-US" sz="1200" smtClean="0"/>
              <a:pPr/>
              <a:t>55</a:t>
            </a:fld>
            <a:endParaRPr lang="en-GB" altLang="en-US" sz="1200"/>
          </a:p>
        </p:txBody>
      </p:sp>
      <p:sp>
        <p:nvSpPr>
          <p:cNvPr id="4099" name="Rectangle 2"/>
          <p:cNvSpPr>
            <a:spLocks noGrp="1" noRot="1" noChangeAspect="1" noChangeArrowheads="1" noTextEdit="1"/>
          </p:cNvSpPr>
          <p:nvPr>
            <p:ph type="sldImg"/>
          </p:nvPr>
        </p:nvSpPr>
        <p:spPr>
          <a:xfrm>
            <a:off x="177800" y="762000"/>
            <a:ext cx="6502400" cy="3657600"/>
          </a:xfrm>
          <a:ln/>
        </p:spPr>
      </p:sp>
      <p:sp>
        <p:nvSpPr>
          <p:cNvPr id="4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19388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151C-A25C-40DC-9FB7-A0F1FC10D28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774280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Chart Placeholder 2"/>
          <p:cNvSpPr>
            <a:spLocks noGrp="1"/>
          </p:cNvSpPr>
          <p:nvPr>
            <p:ph type="chart" idx="1"/>
          </p:nvPr>
        </p:nvSpPr>
        <p:spPr>
          <a:xfrm>
            <a:off x="914400" y="1981200"/>
            <a:ext cx="10363200" cy="4114800"/>
          </a:xfrm>
        </p:spPr>
        <p:txBody>
          <a:bodyPr/>
          <a:lstStyle/>
          <a:p>
            <a:pPr lvl="0"/>
            <a:endParaRPr lang="en-GB" noProof="0"/>
          </a:p>
        </p:txBody>
      </p:sp>
      <p:sp>
        <p:nvSpPr>
          <p:cNvPr id="4" name="Rectangle 4">
            <a:extLst>
              <a:ext uri="{FF2B5EF4-FFF2-40B4-BE49-F238E27FC236}">
                <a16:creationId xmlns:a16="http://schemas.microsoft.com/office/drawing/2014/main" id="{EB8B499B-929C-4BB3-ACA3-E6B3A091B95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625C0E9-9814-451C-8193-E9B7D7B2EE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D8EE1A-649B-4CAA-9FF7-AFD0C2A6AB05}"/>
              </a:ext>
            </a:extLst>
          </p:cNvPr>
          <p:cNvSpPr>
            <a:spLocks noGrp="1" noChangeArrowheads="1"/>
          </p:cNvSpPr>
          <p:nvPr>
            <p:ph type="sldNum" sz="quarter" idx="12"/>
          </p:nvPr>
        </p:nvSpPr>
        <p:spPr>
          <a:ln/>
        </p:spPr>
        <p:txBody>
          <a:bodyPr/>
          <a:lstStyle>
            <a:lvl1pPr>
              <a:defRPr/>
            </a:lvl1pPr>
          </a:lstStyle>
          <a:p>
            <a:pPr>
              <a:defRPr/>
            </a:pPr>
            <a:fld id="{48F81C64-B4D7-4BCA-8C48-0E4CB23DD96A}" type="slidenum">
              <a:rPr lang="en-GB" altLang="en-US"/>
              <a:pPr>
                <a:defRPr/>
              </a:pPr>
              <a:t>‹#›</a:t>
            </a:fld>
            <a:endParaRPr lang="en-GB" altLang="en-US"/>
          </a:p>
        </p:txBody>
      </p:sp>
    </p:spTree>
    <p:extLst>
      <p:ext uri="{BB962C8B-B14F-4D97-AF65-F5344CB8AC3E}">
        <p14:creationId xmlns:p14="http://schemas.microsoft.com/office/powerpoint/2010/main" val="6884523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24" r:id="rId6"/>
    <p:sldLayoutId id="2147483725" r:id="rId7"/>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hyperlink" Target="http://www.bankofengland.co.uk/boeapps/iadb/FromShowColumns.asp?Travel=NIxSTxTAx&amp;SearchText=LPMBL22" TargetMode="External"/><Relationship Id="rId2" Type="http://schemas.openxmlformats.org/officeDocument/2006/relationships/notesSlide" Target="../notesSlides/notesSlide15.xml"/><Relationship Id="rId1" Type="http://schemas.openxmlformats.org/officeDocument/2006/relationships/slideLayout" Target="../slideLayouts/slideLayout25.xml"/><Relationship Id="rId6" Type="http://schemas.openxmlformats.org/officeDocument/2006/relationships/chart" Target="../charts/chart1.xml"/><Relationship Id="rId5" Type="http://schemas.openxmlformats.org/officeDocument/2006/relationships/hyperlink" Target="http://www.bankofengland.co.uk/boeapps/iadb/FromShowColumns.asp?Travel=&amp;searchText=LPMAUYN" TargetMode="External"/><Relationship Id="rId4" Type="http://schemas.openxmlformats.org/officeDocument/2006/relationships/hyperlink" Target="http://www.bankofengland.co.uk/boeapps/iadb/FromShowColumns.asp?Travel=NIxSTxTAx&amp;SearchText=LPMAVAB"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25.xml"/><Relationship Id="rId4" Type="http://schemas.openxmlformats.org/officeDocument/2006/relationships/hyperlink" Target="http://www.bankofengland.co.uk/boeapps/iadb/FromShowColumns.asp?Travel=NIxSSx&amp;SearchText=LPMVQJW" TargetMode="Externa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hyperlink" Target="http://www.bankofengland.co.uk/boeapps/iadb/FromShowColumns.asp?Travel=&amp;searchText=LPQVWNV" TargetMode="External"/><Relationship Id="rId2" Type="http://schemas.openxmlformats.org/officeDocument/2006/relationships/notesSlide" Target="../notesSlides/notesSlide20.xml"/><Relationship Id="rId1" Type="http://schemas.openxmlformats.org/officeDocument/2006/relationships/slideLayout" Target="../slideLayouts/slideLayout25.xml"/><Relationship Id="rId6" Type="http://schemas.openxmlformats.org/officeDocument/2006/relationships/chart" Target="../charts/chart4.xml"/><Relationship Id="rId5" Type="http://schemas.openxmlformats.org/officeDocument/2006/relationships/hyperlink" Target="https://www.ons.gov.uk/economy/grossdomesticproductgdp/timeseries/ybha/ukea" TargetMode="External"/><Relationship Id="rId4" Type="http://schemas.openxmlformats.org/officeDocument/2006/relationships/hyperlink" Target="http://www.bankofengland.co.uk/boeapps/iadb/FromShowColumns.asp?Travel=&amp;searchText=LPQVWNQ"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2.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5.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5.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5.xml"/><Relationship Id="rId1" Type="http://schemas.openxmlformats.org/officeDocument/2006/relationships/tags" Target="../tags/tag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5.xml"/><Relationship Id="rId1" Type="http://schemas.openxmlformats.org/officeDocument/2006/relationships/tags" Target="../tags/tag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5.xml"/><Relationship Id="rId1" Type="http://schemas.openxmlformats.org/officeDocument/2006/relationships/tags" Target="../tags/tag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hyperlink" Target="http://www.bankofengland.co.uk/boeapps/iadb/fromshowcolumns.asp?Cats=&amp;SearchType=Advanced&amp;Travel=NIxASx&amp;SearchText=RPMTBJF&amp;SearchExclude=&amp;Thes=Y&amp;SearchTextFields=TC&amp;Cat1=any&amp;Frequency=any&amp;Cat8=any&amp;Cat2=any#BM" TargetMode="External"/><Relationship Id="rId2" Type="http://schemas.openxmlformats.org/officeDocument/2006/relationships/hyperlink" Target="http://www.bankofengland.co.uk/boeapps/iadb/fromshowcolumns.asp?Cats=&amp;SearchType=Advanced&amp;Travel=NIxASx&amp;SearchText=LPMALOA&amp;SearchExclude=&amp;Thes=Y&amp;SearchTextFields=TC&amp;Cat1=any&amp;Frequency=any&amp;Cat8=any&amp;Cat2=any#BM" TargetMode="External"/><Relationship Id="rId1" Type="http://schemas.openxmlformats.org/officeDocument/2006/relationships/slideLayout" Target="../slideLayouts/slideLayout26.xml"/><Relationship Id="rId6" Type="http://schemas.openxmlformats.org/officeDocument/2006/relationships/chart" Target="../charts/chart5.xml"/><Relationship Id="rId5" Type="http://schemas.openxmlformats.org/officeDocument/2006/relationships/hyperlink" Target="https://www.ons.gov.uk/economy/grossdomesticproductgdp/timeseries/ybha/qna" TargetMode="External"/><Relationship Id="rId4" Type="http://schemas.openxmlformats.org/officeDocument/2006/relationships/hyperlink" Target="https://www.bankofengland.co.uk/boeapps/database/FromShowColumns.asp?Travel=&amp;searchText=RPMB3UQ"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economy-finance.ec.europa.eu/economic-research-and-databases/economic-databases/macro-economic-database-ameco/ameco-database_en" TargetMode="External"/><Relationship Id="rId2" Type="http://schemas.openxmlformats.org/officeDocument/2006/relationships/notesSlide" Target="../notesSlides/notesSlide44.xml"/><Relationship Id="rId1" Type="http://schemas.openxmlformats.org/officeDocument/2006/relationships/slideLayout" Target="../slideLayouts/slideLayout26.xml"/><Relationship Id="rId5" Type="http://schemas.openxmlformats.org/officeDocument/2006/relationships/chart" Target="../charts/chart6.xml"/><Relationship Id="rId4" Type="http://schemas.openxmlformats.org/officeDocument/2006/relationships/hyperlink" Target="https://www.imf.org/en/Publications/SPROLLS/world-economic-outlook-databases"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www.bankofengland.co.uk/boeapps/iadb/fromshowcolumns.asp?Cats=&amp;SearchType=Advanced&amp;Travel=NIxASx&amp;SearchText=LPMVUJD&amp;SearchExclude=&amp;Thes=Y&amp;SearchTextFields=TC&amp;Cat1=any&amp;Frequency=any&amp;Cat8=any&amp;Cat2=any" TargetMode="External"/><Relationship Id="rId2" Type="http://schemas.openxmlformats.org/officeDocument/2006/relationships/notesSlide" Target="../notesSlides/notesSlide45.xml"/><Relationship Id="rId1" Type="http://schemas.openxmlformats.org/officeDocument/2006/relationships/slideLayout" Target="../slideLayouts/slideLayout25.xml"/><Relationship Id="rId5" Type="http://schemas.openxmlformats.org/officeDocument/2006/relationships/chart" Target="../charts/chart7.xml"/><Relationship Id="rId4" Type="http://schemas.openxmlformats.org/officeDocument/2006/relationships/hyperlink" Target="http://www.bankofengland.co.uk/boeapps/iadb/fromshowcolumns.asp?Cats=&amp;SearchType=Advanced&amp;Travel=NIxASx&amp;SearchText=LPMB8GO&amp;SearchExclude=&amp;Thes=Y&amp;SearchTextFields=TC&amp;Cat1=any&amp;Frequency=any&amp;Cat8=any&amp;Cat2=any" TargetMode="External"/></Relationships>
</file>

<file path=ppt/slides/_rels/slide55.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hyperlink" Target="http://www.bankofengland.co.uk/boeapps/iadb/fromshowcolumns.asp?Cats=&amp;SearchType=Advanced&amp;Travel=NIxASx&amp;SearchText=IUMABEDR&amp;SearchExclude=&amp;Thes=Y&amp;SearchTextFields=TC&amp;Cat1=any&amp;Frequency=any&amp;Cat8=any&amp;Cat2=any" TargetMode="External"/><Relationship Id="rId7" Type="http://schemas.openxmlformats.org/officeDocument/2006/relationships/hyperlink" Target="http://www.bankofengland.co.uk/boeapps/iadb/FromShowColumns.asp?Travel=NIxSSx&amp;SearchText=IUMTLMV" TargetMode="External"/><Relationship Id="rId2" Type="http://schemas.openxmlformats.org/officeDocument/2006/relationships/notesSlide" Target="../notesSlides/notesSlide46.xml"/><Relationship Id="rId1" Type="http://schemas.openxmlformats.org/officeDocument/2006/relationships/slideLayout" Target="../slideLayouts/slideLayout27.xml"/><Relationship Id="rId6" Type="http://schemas.openxmlformats.org/officeDocument/2006/relationships/hyperlink" Target="http://www.bankofengland.co.uk/boeapps/iadb/FromShowColumns.asp?Travel=NIxSSx&amp;SearchText=IUMALNZC" TargetMode="External"/><Relationship Id="rId5" Type="http://schemas.openxmlformats.org/officeDocument/2006/relationships/hyperlink" Target="https://www.bankofengland.co.uk/boeapps/database/FromShowColumns.asp?Travel=&amp;searchText=IUMZID2" TargetMode="External"/><Relationship Id="rId4" Type="http://schemas.openxmlformats.org/officeDocument/2006/relationships/hyperlink" Target="http://www.bankofengland.co.uk/boeapps/iadb/FromShowColumns.asp?Travel=NIxSSx&amp;SearchText=IUMASO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dirty="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a:lstStyle/>
          <a:p>
            <a:r>
              <a:rPr lang="en-GB" altLang="en-US" sz="2400" dirty="0"/>
              <a:t>Week 9 – </a:t>
            </a:r>
            <a:r>
              <a:rPr lang="en-GB" altLang="en-US" dirty="0"/>
              <a:t>Money, Banking </a:t>
            </a:r>
            <a:r>
              <a:rPr lang="en-GB" altLang="en-US"/>
              <a:t>and Prices</a:t>
            </a:r>
            <a:endParaRPr lang="en-GB" altLang="en-US" sz="2400" dirty="0"/>
          </a:p>
          <a:p>
            <a:r>
              <a:rPr lang="en-GB" altLang="en-US" sz="2000" dirty="0"/>
              <a:t>Sloman </a:t>
            </a:r>
            <a:r>
              <a:rPr lang="en-GB" altLang="en-US" sz="2000" i="1" dirty="0"/>
              <a:t>et al</a:t>
            </a:r>
            <a:r>
              <a:rPr lang="en-GB" altLang="en-US" sz="2000" dirty="0"/>
              <a:t>., 2023, Chapter 28</a:t>
            </a:r>
          </a:p>
          <a:p>
            <a:endParaRPr lang="en-GB" dirty="0"/>
          </a:p>
        </p:txBody>
      </p:sp>
    </p:spTree>
    <p:extLst>
      <p:ext uri="{BB962C8B-B14F-4D97-AF65-F5344CB8AC3E}">
        <p14:creationId xmlns:p14="http://schemas.microsoft.com/office/powerpoint/2010/main" val="270339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8526-D4E2-3B02-226F-AC762A5C77FF}"/>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DEEFEBE0-DBF2-29D7-C4C6-F701E2695E99}"/>
              </a:ext>
            </a:extLst>
          </p:cNvPr>
          <p:cNvSpPr>
            <a:spLocks noGrp="1"/>
          </p:cNvSpPr>
          <p:nvPr>
            <p:ph idx="1"/>
          </p:nvPr>
        </p:nvSpPr>
        <p:spPr/>
        <p:txBody>
          <a:bodyPr>
            <a:normAutofit/>
          </a:bodyPr>
          <a:lstStyle/>
          <a:p>
            <a:r>
              <a:rPr lang="en-MY" dirty="0">
                <a:latin typeface="+mn-lt"/>
              </a:rPr>
              <a:t>Sloman et al (2023) </a:t>
            </a:r>
          </a:p>
          <a:p>
            <a:pPr lvl="1"/>
            <a:r>
              <a:rPr lang="en-MY" dirty="0">
                <a:latin typeface="+mn-lt"/>
              </a:rPr>
              <a:t>Chapter 28.1 – 28.6 </a:t>
            </a:r>
          </a:p>
          <a:p>
            <a:pPr lvl="1"/>
            <a:r>
              <a:rPr lang="en-MY" dirty="0">
                <a:latin typeface="+mn-lt"/>
              </a:rPr>
              <a:t>Box 28.1 	</a:t>
            </a:r>
          </a:p>
          <a:p>
            <a:pPr marL="457200" lvl="1" indent="0">
              <a:buNone/>
            </a:pPr>
            <a:endParaRPr lang="en-MY" dirty="0">
              <a:latin typeface="+mn-lt"/>
            </a:endParaRPr>
          </a:p>
          <a:p>
            <a:pPr lvl="1"/>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9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pPr marL="457200" lvl="1" indent="0">
              <a:buNone/>
            </a:pPr>
            <a:endParaRPr lang="en-MY" dirty="0"/>
          </a:p>
          <a:p>
            <a:pPr lvl="1"/>
            <a:endParaRPr lang="en-MY" dirty="0"/>
          </a:p>
        </p:txBody>
      </p:sp>
    </p:spTree>
    <p:extLst>
      <p:ext uri="{BB962C8B-B14F-4D97-AF65-F5344CB8AC3E}">
        <p14:creationId xmlns:p14="http://schemas.microsoft.com/office/powerpoint/2010/main" val="175203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E8A5-F298-7E14-2DC7-17E28AB1D443}"/>
              </a:ext>
            </a:extLst>
          </p:cNvPr>
          <p:cNvSpPr>
            <a:spLocks noGrp="1"/>
          </p:cNvSpPr>
          <p:nvPr>
            <p:ph type="title"/>
          </p:nvPr>
        </p:nvSpPr>
        <p:spPr/>
        <p:txBody>
          <a:bodyPr/>
          <a:lstStyle/>
          <a:p>
            <a:r>
              <a:rPr lang="en-GB" dirty="0"/>
              <a:t>Session Aims</a:t>
            </a:r>
          </a:p>
        </p:txBody>
      </p:sp>
      <p:sp>
        <p:nvSpPr>
          <p:cNvPr id="3" name="Content Placeholder 2">
            <a:extLst>
              <a:ext uri="{FF2B5EF4-FFF2-40B4-BE49-F238E27FC236}">
                <a16:creationId xmlns:a16="http://schemas.microsoft.com/office/drawing/2014/main" id="{4B272418-9847-DAAF-0F24-F55A210C9EB7}"/>
              </a:ext>
            </a:extLst>
          </p:cNvPr>
          <p:cNvSpPr>
            <a:spLocks noGrp="1"/>
          </p:cNvSpPr>
          <p:nvPr>
            <p:ph sz="quarter" idx="1"/>
          </p:nvPr>
        </p:nvSpPr>
        <p:spPr/>
        <p:txBody>
          <a:bodyPr/>
          <a:lstStyle/>
          <a:p>
            <a:r>
              <a:rPr lang="en-GB" dirty="0">
                <a:latin typeface="+mn-lt"/>
              </a:rPr>
              <a:t>To define money – in terms of functions</a:t>
            </a:r>
          </a:p>
          <a:p>
            <a:r>
              <a:rPr lang="en-GB" dirty="0">
                <a:latin typeface="+mn-lt"/>
              </a:rPr>
              <a:t>To define and explain banking system – in terms of services, and products</a:t>
            </a:r>
          </a:p>
          <a:p>
            <a:pPr lvl="2"/>
            <a:r>
              <a:rPr lang="en-GB" dirty="0">
                <a:latin typeface="+mn-lt"/>
              </a:rPr>
              <a:t>Deposits, loans, financial instruments, liquidity and securitisation</a:t>
            </a:r>
          </a:p>
          <a:p>
            <a:pPr lvl="2"/>
            <a:r>
              <a:rPr lang="en-GB" dirty="0">
                <a:latin typeface="+mn-lt"/>
              </a:rPr>
              <a:t>The need for regulation – real effects of financial sector volatility</a:t>
            </a:r>
          </a:p>
          <a:p>
            <a:pPr lvl="2"/>
            <a:r>
              <a:rPr lang="en-GB" dirty="0">
                <a:latin typeface="+mn-lt"/>
              </a:rPr>
              <a:t>Central banks – the ultimate source of liquidity</a:t>
            </a:r>
          </a:p>
          <a:p>
            <a:r>
              <a:rPr lang="en-GB" dirty="0">
                <a:latin typeface="+mn-lt"/>
              </a:rPr>
              <a:t>To illustrate the process of money supply, and credit creation</a:t>
            </a:r>
          </a:p>
          <a:p>
            <a:pPr lvl="1"/>
            <a:r>
              <a:rPr lang="en-GB" dirty="0">
                <a:latin typeface="+mn-lt"/>
              </a:rPr>
              <a:t>Cycles in credit supply – and the role of interest rates</a:t>
            </a:r>
          </a:p>
          <a:p>
            <a:pPr lvl="1"/>
            <a:r>
              <a:rPr lang="en-GB" dirty="0">
                <a:latin typeface="+mn-lt"/>
              </a:rPr>
              <a:t>Then demand for money, the role of interest rates, and equilibrium</a:t>
            </a:r>
          </a:p>
          <a:p>
            <a:pPr lvl="2"/>
            <a:r>
              <a:rPr lang="en-GB" dirty="0">
                <a:latin typeface="+mn-lt"/>
              </a:rPr>
              <a:t>Finish with discussion of inflation and aggregate demand</a:t>
            </a:r>
          </a:p>
          <a:p>
            <a:pPr lvl="2"/>
            <a:endParaRPr lang="en-GB" dirty="0"/>
          </a:p>
        </p:txBody>
      </p:sp>
    </p:spTree>
    <p:extLst>
      <p:ext uri="{BB962C8B-B14F-4D97-AF65-F5344CB8AC3E}">
        <p14:creationId xmlns:p14="http://schemas.microsoft.com/office/powerpoint/2010/main" val="3417708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8379CC93-7B8F-470E-9F4E-3B005AC14125}"/>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195" name="Rectangle 3">
            <a:extLst>
              <a:ext uri="{FF2B5EF4-FFF2-40B4-BE49-F238E27FC236}">
                <a16:creationId xmlns:a16="http://schemas.microsoft.com/office/drawing/2014/main" id="{80D525AE-3D74-41C4-B602-89E9DCB1DD7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198" name="Rectangle 6">
            <a:extLst>
              <a:ext uri="{FF2B5EF4-FFF2-40B4-BE49-F238E27FC236}">
                <a16:creationId xmlns:a16="http://schemas.microsoft.com/office/drawing/2014/main" id="{2D5C9309-FBED-4C36-A6A5-E7F665F2D77D}"/>
              </a:ext>
            </a:extLst>
          </p:cNvPr>
          <p:cNvSpPr>
            <a:spLocks noGrp="1"/>
          </p:cNvSpPr>
          <p:nvPr>
            <p:ph type="title"/>
          </p:nvPr>
        </p:nvSpPr>
        <p:spPr/>
        <p:txBody>
          <a:bodyPr/>
          <a:lstStyle/>
          <a:p>
            <a:r>
              <a:rPr lang="en-GB" altLang="en-US" dirty="0"/>
              <a:t>What is money?</a:t>
            </a:r>
          </a:p>
        </p:txBody>
      </p:sp>
      <p:sp>
        <p:nvSpPr>
          <p:cNvPr id="392199" name="Rectangle 7">
            <a:extLst>
              <a:ext uri="{FF2B5EF4-FFF2-40B4-BE49-F238E27FC236}">
                <a16:creationId xmlns:a16="http://schemas.microsoft.com/office/drawing/2014/main" id="{5571D822-5525-42D8-A850-B8224FAC374A}"/>
              </a:ext>
            </a:extLst>
          </p:cNvPr>
          <p:cNvSpPr>
            <a:spLocks noGrp="1"/>
          </p:cNvSpPr>
          <p:nvPr>
            <p:ph type="body" idx="1"/>
          </p:nvPr>
        </p:nvSpPr>
        <p:spPr/>
        <p:txBody>
          <a:bodyPr/>
          <a:lstStyle/>
          <a:p>
            <a:pPr>
              <a:spcBef>
                <a:spcPts val="600"/>
              </a:spcBef>
            </a:pPr>
            <a:r>
              <a:rPr lang="en-GB" altLang="en-US" dirty="0">
                <a:latin typeface="+mn-lt"/>
              </a:rPr>
              <a:t>Not just notes and coins – mostly deposits with banks</a:t>
            </a:r>
          </a:p>
          <a:p>
            <a:pPr lvl="1">
              <a:spcBef>
                <a:spcPts val="600"/>
              </a:spcBef>
            </a:pPr>
            <a:r>
              <a:rPr lang="en-GB" altLang="en-US" dirty="0">
                <a:latin typeface="+mn-lt"/>
              </a:rPr>
              <a:t>We can instruct our bank to debit our account, and credit another one</a:t>
            </a:r>
          </a:p>
          <a:p>
            <a:pPr lvl="1">
              <a:spcBef>
                <a:spcPts val="600"/>
              </a:spcBef>
            </a:pPr>
            <a:r>
              <a:rPr lang="en-GB" altLang="en-US" dirty="0">
                <a:latin typeface="+mn-lt"/>
              </a:rPr>
              <a:t>Or insist on receiving banknotes</a:t>
            </a:r>
          </a:p>
          <a:p>
            <a:pPr>
              <a:spcBef>
                <a:spcPts val="600"/>
              </a:spcBef>
            </a:pPr>
            <a:r>
              <a:rPr lang="en-GB" altLang="en-US" dirty="0">
                <a:latin typeface="+mn-lt"/>
              </a:rPr>
              <a:t>What should count as money?</a:t>
            </a:r>
          </a:p>
          <a:p>
            <a:pPr lvl="1">
              <a:spcBef>
                <a:spcPts val="600"/>
              </a:spcBef>
            </a:pPr>
            <a:r>
              <a:rPr lang="en-GB" altLang="en-US" dirty="0">
                <a:latin typeface="+mn-lt"/>
              </a:rPr>
              <a:t>narrow definitions of money: based on cash, and deposits with central bank (will explain that later)</a:t>
            </a:r>
          </a:p>
          <a:p>
            <a:pPr lvl="1">
              <a:spcBef>
                <a:spcPct val="40000"/>
              </a:spcBef>
            </a:pPr>
            <a:r>
              <a:rPr lang="en-GB" altLang="en-US" dirty="0">
                <a:latin typeface="+mn-lt"/>
              </a:rPr>
              <a:t>broad definitions of money: based on deposits with retail banks –</a:t>
            </a:r>
          </a:p>
          <a:p>
            <a:pPr lvl="2">
              <a:spcBef>
                <a:spcPts val="0"/>
              </a:spcBef>
            </a:pPr>
            <a:r>
              <a:rPr lang="en-GB" altLang="en-US" dirty="0">
                <a:latin typeface="+mn-lt"/>
              </a:rPr>
              <a:t>including term deposits and notice accounts, where orders for withdrawal and transfer cannot take effect immediately</a:t>
            </a:r>
          </a:p>
        </p:txBody>
      </p:sp>
    </p:spTree>
    <p:extLst>
      <p:ext uri="{BB962C8B-B14F-4D97-AF65-F5344CB8AC3E}">
        <p14:creationId xmlns:p14="http://schemas.microsoft.com/office/powerpoint/2010/main" val="330282936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2199">
                                            <p:txEl>
                                              <p:pRg st="0" end="0"/>
                                            </p:txEl>
                                          </p:spTgt>
                                        </p:tgtEl>
                                        <p:attrNameLst>
                                          <p:attrName>style.visibility</p:attrName>
                                        </p:attrNameLst>
                                      </p:cBhvr>
                                      <p:to>
                                        <p:strVal val="visible"/>
                                      </p:to>
                                    </p:set>
                                    <p:anim calcmode="lin" valueType="num">
                                      <p:cBhvr additive="base">
                                        <p:cTn id="7" dur="500"/>
                                        <p:tgtEl>
                                          <p:spTgt spid="39219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219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2199">
                                            <p:txEl>
                                              <p:pRg st="1" end="1"/>
                                            </p:txEl>
                                          </p:spTgt>
                                        </p:tgtEl>
                                        <p:attrNameLst>
                                          <p:attrName>style.visibility</p:attrName>
                                        </p:attrNameLst>
                                      </p:cBhvr>
                                      <p:to>
                                        <p:strVal val="visible"/>
                                      </p:to>
                                    </p:set>
                                    <p:anim calcmode="lin" valueType="num">
                                      <p:cBhvr additive="base">
                                        <p:cTn id="13" dur="500"/>
                                        <p:tgtEl>
                                          <p:spTgt spid="39219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219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2199">
                                            <p:txEl>
                                              <p:pRg st="2" end="2"/>
                                            </p:txEl>
                                          </p:spTgt>
                                        </p:tgtEl>
                                        <p:attrNameLst>
                                          <p:attrName>style.visibility</p:attrName>
                                        </p:attrNameLst>
                                      </p:cBhvr>
                                      <p:to>
                                        <p:strVal val="visible"/>
                                      </p:to>
                                    </p:set>
                                    <p:anim calcmode="lin" valueType="num">
                                      <p:cBhvr additive="base">
                                        <p:cTn id="19" dur="500"/>
                                        <p:tgtEl>
                                          <p:spTgt spid="39219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2199">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2199">
                                            <p:txEl>
                                              <p:pRg st="3" end="3"/>
                                            </p:txEl>
                                          </p:spTgt>
                                        </p:tgtEl>
                                        <p:attrNameLst>
                                          <p:attrName>style.visibility</p:attrName>
                                        </p:attrNameLst>
                                      </p:cBhvr>
                                      <p:to>
                                        <p:strVal val="visible"/>
                                      </p:to>
                                    </p:set>
                                    <p:anim calcmode="lin" valueType="num">
                                      <p:cBhvr additive="base">
                                        <p:cTn id="25" dur="500"/>
                                        <p:tgtEl>
                                          <p:spTgt spid="39219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2199">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2199">
                                            <p:txEl>
                                              <p:pRg st="4" end="4"/>
                                            </p:txEl>
                                          </p:spTgt>
                                        </p:tgtEl>
                                        <p:attrNameLst>
                                          <p:attrName>style.visibility</p:attrName>
                                        </p:attrNameLst>
                                      </p:cBhvr>
                                      <p:to>
                                        <p:strVal val="visible"/>
                                      </p:to>
                                    </p:set>
                                    <p:anim calcmode="lin" valueType="num">
                                      <p:cBhvr additive="base">
                                        <p:cTn id="31" dur="500"/>
                                        <p:tgtEl>
                                          <p:spTgt spid="39219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219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2199">
                                            <p:txEl>
                                              <p:pRg st="5" end="5"/>
                                            </p:txEl>
                                          </p:spTgt>
                                        </p:tgtEl>
                                        <p:attrNameLst>
                                          <p:attrName>style.visibility</p:attrName>
                                        </p:attrNameLst>
                                      </p:cBhvr>
                                      <p:to>
                                        <p:strVal val="visible"/>
                                      </p:to>
                                    </p:set>
                                    <p:anim calcmode="lin" valueType="num">
                                      <p:cBhvr additive="base">
                                        <p:cTn id="37" dur="500"/>
                                        <p:tgtEl>
                                          <p:spTgt spid="39219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219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2199">
                                            <p:txEl>
                                              <p:pRg st="6" end="6"/>
                                            </p:txEl>
                                          </p:spTgt>
                                        </p:tgtEl>
                                        <p:attrNameLst>
                                          <p:attrName>style.visibility</p:attrName>
                                        </p:attrNameLst>
                                      </p:cBhvr>
                                      <p:to>
                                        <p:strVal val="visible"/>
                                      </p:to>
                                    </p:set>
                                    <p:anim calcmode="lin" valueType="num">
                                      <p:cBhvr additive="base">
                                        <p:cTn id="43" dur="500"/>
                                        <p:tgtEl>
                                          <p:spTgt spid="39219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21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9" grpId="0" build="p" bldLvl="3"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D1E703-8BB6-1D52-777F-21B8BB93CBF7}"/>
              </a:ext>
            </a:extLst>
          </p:cNvPr>
          <p:cNvSpPr>
            <a:spLocks noGrp="1"/>
          </p:cNvSpPr>
          <p:nvPr>
            <p:ph type="title"/>
          </p:nvPr>
        </p:nvSpPr>
        <p:spPr>
          <a:xfrm>
            <a:off x="543560" y="265384"/>
            <a:ext cx="10515600" cy="908198"/>
          </a:xfrm>
        </p:spPr>
        <p:txBody>
          <a:bodyPr/>
          <a:lstStyle/>
          <a:p>
            <a:r>
              <a:rPr lang="en-GB" dirty="0"/>
              <a:t>What does money do?</a:t>
            </a:r>
          </a:p>
        </p:txBody>
      </p:sp>
      <p:sp>
        <p:nvSpPr>
          <p:cNvPr id="5" name="Content Placeholder 4">
            <a:extLst>
              <a:ext uri="{FF2B5EF4-FFF2-40B4-BE49-F238E27FC236}">
                <a16:creationId xmlns:a16="http://schemas.microsoft.com/office/drawing/2014/main" id="{FAAC5D02-1222-4FB1-F842-2D0BA9A662A4}"/>
              </a:ext>
            </a:extLst>
          </p:cNvPr>
          <p:cNvSpPr>
            <a:spLocks noGrp="1"/>
          </p:cNvSpPr>
          <p:nvPr>
            <p:ph sz="quarter" idx="1"/>
          </p:nvPr>
        </p:nvSpPr>
        <p:spPr>
          <a:xfrm>
            <a:off x="402336" y="1442640"/>
            <a:ext cx="11338560" cy="5149976"/>
          </a:xfrm>
        </p:spPr>
        <p:txBody>
          <a:bodyPr/>
          <a:lstStyle/>
          <a:p>
            <a:pPr>
              <a:spcBef>
                <a:spcPts val="600"/>
              </a:spcBef>
            </a:pPr>
            <a:r>
              <a:rPr lang="en-GB" altLang="en-US" dirty="0">
                <a:latin typeface="+mn-lt"/>
              </a:rPr>
              <a:t>Medium of exchange – and </a:t>
            </a:r>
            <a:r>
              <a:rPr lang="en-GB" altLang="en-US" i="1" dirty="0">
                <a:solidFill>
                  <a:srgbClr val="FF0000"/>
                </a:solidFill>
                <a:latin typeface="+mn-lt"/>
              </a:rPr>
              <a:t>means of payment </a:t>
            </a:r>
            <a:r>
              <a:rPr lang="en-GB" altLang="en-US" dirty="0">
                <a:latin typeface="+mn-lt"/>
              </a:rPr>
              <a:t>– </a:t>
            </a:r>
          </a:p>
          <a:p>
            <a:pPr lvl="1">
              <a:spcBef>
                <a:spcPts val="600"/>
              </a:spcBef>
            </a:pPr>
            <a:r>
              <a:rPr lang="en-GB" altLang="en-US" dirty="0">
                <a:latin typeface="+mn-lt"/>
              </a:rPr>
              <a:t>universally acceptable as form of payment for goods and services</a:t>
            </a:r>
          </a:p>
          <a:p>
            <a:pPr lvl="1">
              <a:spcBef>
                <a:spcPts val="600"/>
              </a:spcBef>
            </a:pPr>
            <a:r>
              <a:rPr lang="en-GB" altLang="en-US" dirty="0">
                <a:latin typeface="+mn-lt"/>
              </a:rPr>
              <a:t>eliminates need for barter relations</a:t>
            </a:r>
          </a:p>
          <a:p>
            <a:pPr>
              <a:spcBef>
                <a:spcPts val="600"/>
              </a:spcBef>
            </a:pPr>
            <a:r>
              <a:rPr lang="en-GB" altLang="en-US" dirty="0">
                <a:latin typeface="+mn-lt"/>
              </a:rPr>
              <a:t>Means of evaluation – and </a:t>
            </a:r>
            <a:r>
              <a:rPr lang="en-GB" altLang="en-US" i="1" dirty="0">
                <a:latin typeface="+mn-lt"/>
              </a:rPr>
              <a:t>unit of account </a:t>
            </a:r>
            <a:r>
              <a:rPr lang="en-GB" altLang="en-US" dirty="0">
                <a:latin typeface="+mn-lt"/>
              </a:rPr>
              <a:t>– </a:t>
            </a:r>
          </a:p>
          <a:p>
            <a:pPr lvl="1">
              <a:spcBef>
                <a:spcPts val="600"/>
              </a:spcBef>
            </a:pPr>
            <a:r>
              <a:rPr lang="en-GB" altLang="en-US" dirty="0">
                <a:latin typeface="+mn-lt"/>
              </a:rPr>
              <a:t>allowing all goods and services to be priced in terms of money</a:t>
            </a:r>
          </a:p>
          <a:p>
            <a:pPr>
              <a:spcBef>
                <a:spcPts val="600"/>
              </a:spcBef>
            </a:pPr>
            <a:r>
              <a:rPr lang="en-GB" altLang="en-US" dirty="0">
                <a:latin typeface="+mn-lt"/>
              </a:rPr>
              <a:t>Means of storing wealth – or spending power</a:t>
            </a:r>
          </a:p>
          <a:p>
            <a:pPr lvl="1">
              <a:spcBef>
                <a:spcPts val="600"/>
              </a:spcBef>
            </a:pPr>
            <a:r>
              <a:rPr lang="en-GB" altLang="en-US" dirty="0">
                <a:latin typeface="+mn-lt"/>
              </a:rPr>
              <a:t>use bank deposits to fund future purchases – </a:t>
            </a:r>
          </a:p>
          <a:p>
            <a:pPr lvl="2">
              <a:spcBef>
                <a:spcPts val="600"/>
              </a:spcBef>
            </a:pPr>
            <a:r>
              <a:rPr lang="en-GB" altLang="en-US" dirty="0">
                <a:latin typeface="+mn-lt"/>
              </a:rPr>
              <a:t>borrow to fund current ones</a:t>
            </a:r>
          </a:p>
          <a:p>
            <a:pPr>
              <a:spcBef>
                <a:spcPts val="600"/>
              </a:spcBef>
            </a:pPr>
            <a:r>
              <a:rPr lang="en-GB" altLang="en-US" dirty="0">
                <a:latin typeface="+mn-lt"/>
              </a:rPr>
              <a:t>Means of establishing value of future claims and payments</a:t>
            </a:r>
          </a:p>
          <a:p>
            <a:pPr lvl="1">
              <a:spcBef>
                <a:spcPts val="600"/>
              </a:spcBef>
            </a:pPr>
            <a:r>
              <a:rPr lang="en-GB" dirty="0">
                <a:latin typeface="+mn-lt"/>
              </a:rPr>
              <a:t>embedded in contracts</a:t>
            </a:r>
          </a:p>
        </p:txBody>
      </p:sp>
    </p:spTree>
    <p:extLst>
      <p:ext uri="{BB962C8B-B14F-4D97-AF65-F5344CB8AC3E}">
        <p14:creationId xmlns:p14="http://schemas.microsoft.com/office/powerpoint/2010/main" val="794114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2" name="Rectangle 2">
            <a:extLst>
              <a:ext uri="{FF2B5EF4-FFF2-40B4-BE49-F238E27FC236}">
                <a16:creationId xmlns:a16="http://schemas.microsoft.com/office/drawing/2014/main" id="{43138722-47B4-4F1B-834E-8DF83E389B4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4243" name="Rectangle 3">
            <a:extLst>
              <a:ext uri="{FF2B5EF4-FFF2-40B4-BE49-F238E27FC236}">
                <a16:creationId xmlns:a16="http://schemas.microsoft.com/office/drawing/2014/main" id="{3BBAF7C8-B97E-4C6C-B414-63E1D148836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4244" name="Rectangle 4">
            <a:extLst>
              <a:ext uri="{FF2B5EF4-FFF2-40B4-BE49-F238E27FC236}">
                <a16:creationId xmlns:a16="http://schemas.microsoft.com/office/drawing/2014/main" id="{F094C752-B285-47A9-8794-1BE2E55EA4BD}"/>
              </a:ext>
            </a:extLst>
          </p:cNvPr>
          <p:cNvSpPr>
            <a:spLocks noGrp="1"/>
          </p:cNvSpPr>
          <p:nvPr>
            <p:ph type="title"/>
          </p:nvPr>
        </p:nvSpPr>
        <p:spPr/>
        <p:txBody>
          <a:bodyPr/>
          <a:lstStyle/>
          <a:p>
            <a:r>
              <a:rPr lang="en-GB" altLang="en-US" dirty="0"/>
              <a:t>The Financial System </a:t>
            </a:r>
          </a:p>
        </p:txBody>
      </p:sp>
      <p:sp>
        <p:nvSpPr>
          <p:cNvPr id="394245" name="Rectangle 5">
            <a:extLst>
              <a:ext uri="{FF2B5EF4-FFF2-40B4-BE49-F238E27FC236}">
                <a16:creationId xmlns:a16="http://schemas.microsoft.com/office/drawing/2014/main" id="{8387C2B5-6613-43D3-87FB-041B3139B187}"/>
              </a:ext>
            </a:extLst>
          </p:cNvPr>
          <p:cNvSpPr>
            <a:spLocks noGrp="1"/>
          </p:cNvSpPr>
          <p:nvPr>
            <p:ph type="body" idx="1"/>
          </p:nvPr>
        </p:nvSpPr>
        <p:spPr/>
        <p:txBody>
          <a:bodyPr/>
          <a:lstStyle/>
          <a:p>
            <a:pPr>
              <a:spcBef>
                <a:spcPts val="1000"/>
              </a:spcBef>
            </a:pPr>
            <a:r>
              <a:rPr lang="en-GB" altLang="en-US" sz="2800" dirty="0">
                <a:latin typeface="+mn-lt"/>
              </a:rPr>
              <a:t>The banking system – involves monetary financial institutions (MFIs)</a:t>
            </a:r>
          </a:p>
          <a:p>
            <a:pPr lvl="1">
              <a:lnSpc>
                <a:spcPct val="100000"/>
              </a:lnSpc>
              <a:spcBef>
                <a:spcPts val="1000"/>
              </a:spcBef>
            </a:pPr>
            <a:r>
              <a:rPr lang="en-GB" altLang="en-US" sz="2200" dirty="0">
                <a:latin typeface="+mn-lt"/>
              </a:rPr>
              <a:t>Divide into retail, wholesale banking</a:t>
            </a:r>
          </a:p>
          <a:p>
            <a:pPr lvl="2">
              <a:lnSpc>
                <a:spcPct val="100000"/>
              </a:lnSpc>
              <a:spcBef>
                <a:spcPts val="1000"/>
              </a:spcBef>
            </a:pPr>
            <a:r>
              <a:rPr lang="en-GB" altLang="en-US" sz="2200" b="1" dirty="0">
                <a:latin typeface="+mn-lt"/>
              </a:rPr>
              <a:t>retail banks</a:t>
            </a:r>
            <a:r>
              <a:rPr lang="en-GB" altLang="en-US" sz="2200" dirty="0">
                <a:latin typeface="+mn-lt"/>
              </a:rPr>
              <a:t>: deposits and loans to the private sector – households, firms</a:t>
            </a:r>
          </a:p>
          <a:p>
            <a:pPr lvl="2">
              <a:spcBef>
                <a:spcPts val="1000"/>
              </a:spcBef>
            </a:pPr>
            <a:r>
              <a:rPr lang="en-GB" altLang="en-US" sz="2200" b="1" dirty="0">
                <a:latin typeface="+mn-lt"/>
              </a:rPr>
              <a:t>wholesale banks</a:t>
            </a:r>
            <a:r>
              <a:rPr lang="en-GB" altLang="en-US" sz="2200" dirty="0">
                <a:latin typeface="+mn-lt"/>
              </a:rPr>
              <a:t>: active in inter-bank deposits and lending, formerly role of investment banks (</a:t>
            </a:r>
            <a:r>
              <a:rPr lang="en-GB" sz="2200" dirty="0">
                <a:latin typeface="+mn-lt"/>
              </a:rPr>
              <a:t>Morgan Stanley, Rothschild, SG Hambros and Goldman Sachs)</a:t>
            </a:r>
            <a:endParaRPr lang="en-GB" altLang="en-US" sz="2200" dirty="0">
              <a:latin typeface="+mn-lt"/>
            </a:endParaRPr>
          </a:p>
          <a:p>
            <a:pPr lvl="2">
              <a:lnSpc>
                <a:spcPct val="100000"/>
              </a:lnSpc>
              <a:spcBef>
                <a:spcPts val="1000"/>
              </a:spcBef>
            </a:pPr>
            <a:r>
              <a:rPr lang="en-GB" altLang="en-US" sz="2200" b="1" dirty="0">
                <a:latin typeface="+mn-lt"/>
              </a:rPr>
              <a:t>universal banks</a:t>
            </a:r>
            <a:r>
              <a:rPr lang="en-GB" altLang="en-US" sz="2200" dirty="0">
                <a:latin typeface="+mn-lt"/>
              </a:rPr>
              <a:t>: have retail and wholesale divisions – dominant since 2008</a:t>
            </a:r>
          </a:p>
          <a:p>
            <a:pPr lvl="2">
              <a:lnSpc>
                <a:spcPct val="100000"/>
              </a:lnSpc>
              <a:spcBef>
                <a:spcPts val="1000"/>
              </a:spcBef>
            </a:pPr>
            <a:r>
              <a:rPr lang="en-GB" altLang="en-US" sz="2000" b="1" dirty="0">
                <a:latin typeface="+mn-lt"/>
              </a:rPr>
              <a:t>building societies</a:t>
            </a:r>
            <a:r>
              <a:rPr lang="en-GB" altLang="en-US" sz="2000" dirty="0">
                <a:latin typeface="+mn-lt"/>
              </a:rPr>
              <a:t>: specialist institutions for housing finance</a:t>
            </a:r>
          </a:p>
        </p:txBody>
      </p:sp>
    </p:spTree>
    <p:extLst>
      <p:ext uri="{BB962C8B-B14F-4D97-AF65-F5344CB8AC3E}">
        <p14:creationId xmlns:p14="http://schemas.microsoft.com/office/powerpoint/2010/main" val="281077421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4245">
                                            <p:txEl>
                                              <p:pRg st="0" end="0"/>
                                            </p:txEl>
                                          </p:spTgt>
                                        </p:tgtEl>
                                        <p:attrNameLst>
                                          <p:attrName>style.visibility</p:attrName>
                                        </p:attrNameLst>
                                      </p:cBhvr>
                                      <p:to>
                                        <p:strVal val="visible"/>
                                      </p:to>
                                    </p:set>
                                    <p:anim calcmode="lin" valueType="num">
                                      <p:cBhvr additive="base">
                                        <p:cTn id="7" dur="500"/>
                                        <p:tgtEl>
                                          <p:spTgt spid="39424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424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4245">
                                            <p:txEl>
                                              <p:pRg st="1" end="1"/>
                                            </p:txEl>
                                          </p:spTgt>
                                        </p:tgtEl>
                                        <p:attrNameLst>
                                          <p:attrName>style.visibility</p:attrName>
                                        </p:attrNameLst>
                                      </p:cBhvr>
                                      <p:to>
                                        <p:strVal val="visible"/>
                                      </p:to>
                                    </p:set>
                                    <p:anim calcmode="lin" valueType="num">
                                      <p:cBhvr additive="base">
                                        <p:cTn id="13" dur="500"/>
                                        <p:tgtEl>
                                          <p:spTgt spid="39424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424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94245">
                                            <p:txEl>
                                              <p:pRg st="2" end="2"/>
                                            </p:txEl>
                                          </p:spTgt>
                                        </p:tgtEl>
                                        <p:attrNameLst>
                                          <p:attrName>style.visibility</p:attrName>
                                        </p:attrNameLst>
                                      </p:cBhvr>
                                      <p:to>
                                        <p:strVal val="visible"/>
                                      </p:to>
                                    </p:set>
                                    <p:anim calcmode="lin" valueType="num">
                                      <p:cBhvr additive="base">
                                        <p:cTn id="17" dur="500"/>
                                        <p:tgtEl>
                                          <p:spTgt spid="39424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9424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94245">
                                            <p:txEl>
                                              <p:pRg st="3" end="3"/>
                                            </p:txEl>
                                          </p:spTgt>
                                        </p:tgtEl>
                                        <p:attrNameLst>
                                          <p:attrName>style.visibility</p:attrName>
                                        </p:attrNameLst>
                                      </p:cBhvr>
                                      <p:to>
                                        <p:strVal val="visible"/>
                                      </p:to>
                                    </p:set>
                                    <p:anim calcmode="lin" valueType="num">
                                      <p:cBhvr additive="base">
                                        <p:cTn id="21" dur="500"/>
                                        <p:tgtEl>
                                          <p:spTgt spid="39424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94245">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94245">
                                            <p:txEl>
                                              <p:pRg st="4" end="4"/>
                                            </p:txEl>
                                          </p:spTgt>
                                        </p:tgtEl>
                                        <p:attrNameLst>
                                          <p:attrName>style.visibility</p:attrName>
                                        </p:attrNameLst>
                                      </p:cBhvr>
                                      <p:to>
                                        <p:strVal val="visible"/>
                                      </p:to>
                                    </p:set>
                                    <p:anim calcmode="lin" valueType="num">
                                      <p:cBhvr additive="base">
                                        <p:cTn id="25" dur="500"/>
                                        <p:tgtEl>
                                          <p:spTgt spid="39424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4245">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94245">
                                            <p:txEl>
                                              <p:pRg st="5" end="5"/>
                                            </p:txEl>
                                          </p:spTgt>
                                        </p:tgtEl>
                                        <p:attrNameLst>
                                          <p:attrName>style.visibility</p:attrName>
                                        </p:attrNameLst>
                                      </p:cBhvr>
                                      <p:to>
                                        <p:strVal val="visible"/>
                                      </p:to>
                                    </p:set>
                                    <p:anim calcmode="lin" valueType="num">
                                      <p:cBhvr additive="base">
                                        <p:cTn id="29" dur="500"/>
                                        <p:tgtEl>
                                          <p:spTgt spid="394245">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942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5"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B53E89E2-1A17-4772-B7F3-44F3E1DAC74D}"/>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73E49E3A-6D95-417C-97EA-5B091A39588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4" name="Rectangle 6">
            <a:extLst>
              <a:ext uri="{FF2B5EF4-FFF2-40B4-BE49-F238E27FC236}">
                <a16:creationId xmlns:a16="http://schemas.microsoft.com/office/drawing/2014/main" id="{A58BD1D6-C22B-4E1B-8F21-3893953E0295}"/>
              </a:ext>
            </a:extLst>
          </p:cNvPr>
          <p:cNvSpPr>
            <a:spLocks noGrp="1"/>
          </p:cNvSpPr>
          <p:nvPr>
            <p:ph type="title"/>
          </p:nvPr>
        </p:nvSpPr>
        <p:spPr/>
        <p:txBody>
          <a:bodyPr/>
          <a:lstStyle/>
          <a:p>
            <a:r>
              <a:rPr lang="en-GB" altLang="en-US" dirty="0"/>
              <a:t>Structure of a bank’s balance sheet</a:t>
            </a:r>
          </a:p>
        </p:txBody>
      </p:sp>
      <p:sp>
        <p:nvSpPr>
          <p:cNvPr id="396295" name="Rectangle 7">
            <a:extLst>
              <a:ext uri="{FF2B5EF4-FFF2-40B4-BE49-F238E27FC236}">
                <a16:creationId xmlns:a16="http://schemas.microsoft.com/office/drawing/2014/main" id="{C8CA8DDC-3DEC-430A-8676-6B0AE8FD53D8}"/>
              </a:ext>
            </a:extLst>
          </p:cNvPr>
          <p:cNvSpPr>
            <a:spLocks noGrp="1"/>
          </p:cNvSpPr>
          <p:nvPr>
            <p:ph type="body" idx="1"/>
          </p:nvPr>
        </p:nvSpPr>
        <p:spPr>
          <a:xfrm>
            <a:off x="402336" y="1527048"/>
            <a:ext cx="11338560" cy="4873752"/>
          </a:xfrm>
        </p:spPr>
        <p:txBody>
          <a:bodyPr/>
          <a:lstStyle/>
          <a:p>
            <a:pPr>
              <a:lnSpc>
                <a:spcPct val="100000"/>
              </a:lnSpc>
              <a:spcBef>
                <a:spcPts val="600"/>
              </a:spcBef>
            </a:pPr>
            <a:r>
              <a:rPr lang="en-GB" altLang="en-US" dirty="0">
                <a:latin typeface="+mn-lt"/>
              </a:rPr>
              <a:t>A specialist ‘economics of banking’ required because banks make money from money</a:t>
            </a:r>
          </a:p>
          <a:p>
            <a:pPr lvl="1">
              <a:spcBef>
                <a:spcPts val="600"/>
              </a:spcBef>
            </a:pPr>
            <a:r>
              <a:rPr lang="en-GB" altLang="en-US" dirty="0">
                <a:latin typeface="+mn-lt"/>
              </a:rPr>
              <a:t>Bank liabilities and assets are almost all financial claims</a:t>
            </a:r>
          </a:p>
          <a:p>
            <a:pPr lvl="1">
              <a:spcBef>
                <a:spcPts val="600"/>
              </a:spcBef>
            </a:pPr>
            <a:r>
              <a:rPr lang="en-GB" altLang="en-US" dirty="0">
                <a:latin typeface="+mn-lt"/>
              </a:rPr>
              <a:t>Deposits are banks’ main </a:t>
            </a:r>
            <a:r>
              <a:rPr lang="en-GB" altLang="en-US" b="1" dirty="0">
                <a:latin typeface="+mn-lt"/>
              </a:rPr>
              <a:t>liabilities</a:t>
            </a:r>
          </a:p>
          <a:p>
            <a:pPr lvl="2">
              <a:spcBef>
                <a:spcPts val="600"/>
              </a:spcBef>
            </a:pPr>
            <a:r>
              <a:rPr lang="en-GB" altLang="en-US" dirty="0">
                <a:latin typeface="+mn-lt"/>
              </a:rPr>
              <a:t>Promise to pay fixed sum in money, on order of customer</a:t>
            </a:r>
          </a:p>
          <a:p>
            <a:pPr lvl="2">
              <a:spcBef>
                <a:spcPts val="600"/>
              </a:spcBef>
            </a:pPr>
            <a:r>
              <a:rPr lang="en-GB" altLang="en-US" dirty="0">
                <a:latin typeface="+mn-lt"/>
              </a:rPr>
              <a:t>Distinguish between </a:t>
            </a:r>
            <a:r>
              <a:rPr lang="en-GB" altLang="en-US" b="1" dirty="0">
                <a:latin typeface="+mn-lt"/>
              </a:rPr>
              <a:t>sight deposits, time deposits, certificates of deposit</a:t>
            </a:r>
          </a:p>
          <a:p>
            <a:pPr lvl="2">
              <a:spcBef>
                <a:spcPts val="600"/>
              </a:spcBef>
            </a:pPr>
            <a:r>
              <a:rPr lang="en-GB" altLang="en-US" b="1" dirty="0">
                <a:latin typeface="+mn-lt"/>
              </a:rPr>
              <a:t>Repo contracts </a:t>
            </a:r>
            <a:r>
              <a:rPr lang="en-GB" altLang="en-US" dirty="0">
                <a:latin typeface="+mn-lt"/>
              </a:rPr>
              <a:t>(sale and repurchase agreements) also liabilities</a:t>
            </a:r>
          </a:p>
          <a:p>
            <a:pPr lvl="1">
              <a:spcBef>
                <a:spcPts val="600"/>
              </a:spcBef>
            </a:pPr>
            <a:r>
              <a:rPr lang="en-GB" altLang="en-US" dirty="0">
                <a:latin typeface="+mn-lt"/>
              </a:rPr>
              <a:t>Capital – shareholders’ funds and long-term debt also appear on liabilities side of balance sheet</a:t>
            </a:r>
          </a:p>
        </p:txBody>
      </p:sp>
    </p:spTree>
    <p:extLst>
      <p:ext uri="{BB962C8B-B14F-4D97-AF65-F5344CB8AC3E}">
        <p14:creationId xmlns:p14="http://schemas.microsoft.com/office/powerpoint/2010/main" val="362384432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6295">
                                            <p:txEl>
                                              <p:pRg st="0" end="0"/>
                                            </p:txEl>
                                          </p:spTgt>
                                        </p:tgtEl>
                                        <p:attrNameLst>
                                          <p:attrName>style.visibility</p:attrName>
                                        </p:attrNameLst>
                                      </p:cBhvr>
                                      <p:to>
                                        <p:strVal val="visible"/>
                                      </p:to>
                                    </p:set>
                                    <p:anim calcmode="lin" valueType="num">
                                      <p:cBhvr additive="base">
                                        <p:cTn id="7" dur="500"/>
                                        <p:tgtEl>
                                          <p:spTgt spid="39629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629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6295">
                                            <p:txEl>
                                              <p:pRg st="1" end="1"/>
                                            </p:txEl>
                                          </p:spTgt>
                                        </p:tgtEl>
                                        <p:attrNameLst>
                                          <p:attrName>style.visibility</p:attrName>
                                        </p:attrNameLst>
                                      </p:cBhvr>
                                      <p:to>
                                        <p:strVal val="visible"/>
                                      </p:to>
                                    </p:set>
                                    <p:anim calcmode="lin" valueType="num">
                                      <p:cBhvr additive="base">
                                        <p:cTn id="13" dur="500"/>
                                        <p:tgtEl>
                                          <p:spTgt spid="39629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629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6295">
                                            <p:txEl>
                                              <p:pRg st="2" end="2"/>
                                            </p:txEl>
                                          </p:spTgt>
                                        </p:tgtEl>
                                        <p:attrNameLst>
                                          <p:attrName>style.visibility</p:attrName>
                                        </p:attrNameLst>
                                      </p:cBhvr>
                                      <p:to>
                                        <p:strVal val="visible"/>
                                      </p:to>
                                    </p:set>
                                    <p:anim calcmode="lin" valueType="num">
                                      <p:cBhvr additive="base">
                                        <p:cTn id="19" dur="500"/>
                                        <p:tgtEl>
                                          <p:spTgt spid="39629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6295">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96295">
                                            <p:txEl>
                                              <p:pRg st="3" end="3"/>
                                            </p:txEl>
                                          </p:spTgt>
                                        </p:tgtEl>
                                        <p:attrNameLst>
                                          <p:attrName>style.visibility</p:attrName>
                                        </p:attrNameLst>
                                      </p:cBhvr>
                                      <p:to>
                                        <p:strVal val="visible"/>
                                      </p:to>
                                    </p:set>
                                    <p:anim calcmode="lin" valueType="num">
                                      <p:cBhvr additive="base">
                                        <p:cTn id="23" dur="500"/>
                                        <p:tgtEl>
                                          <p:spTgt spid="396295">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96295">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96295">
                                            <p:txEl>
                                              <p:pRg st="4" end="4"/>
                                            </p:txEl>
                                          </p:spTgt>
                                        </p:tgtEl>
                                        <p:attrNameLst>
                                          <p:attrName>style.visibility</p:attrName>
                                        </p:attrNameLst>
                                      </p:cBhvr>
                                      <p:to>
                                        <p:strVal val="visible"/>
                                      </p:to>
                                    </p:set>
                                    <p:anim calcmode="lin" valueType="num">
                                      <p:cBhvr additive="base">
                                        <p:cTn id="27" dur="500"/>
                                        <p:tgtEl>
                                          <p:spTgt spid="396295">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96295">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96295">
                                            <p:txEl>
                                              <p:pRg st="5" end="5"/>
                                            </p:txEl>
                                          </p:spTgt>
                                        </p:tgtEl>
                                        <p:attrNameLst>
                                          <p:attrName>style.visibility</p:attrName>
                                        </p:attrNameLst>
                                      </p:cBhvr>
                                      <p:to>
                                        <p:strVal val="visible"/>
                                      </p:to>
                                    </p:set>
                                    <p:anim calcmode="lin" valueType="num">
                                      <p:cBhvr additive="base">
                                        <p:cTn id="31" dur="500"/>
                                        <p:tgtEl>
                                          <p:spTgt spid="39629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62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6295">
                                            <p:txEl>
                                              <p:pRg st="6" end="6"/>
                                            </p:txEl>
                                          </p:spTgt>
                                        </p:tgtEl>
                                        <p:attrNameLst>
                                          <p:attrName>style.visibility</p:attrName>
                                        </p:attrNameLst>
                                      </p:cBhvr>
                                      <p:to>
                                        <p:strVal val="visible"/>
                                      </p:to>
                                    </p:set>
                                    <p:anim calcmode="lin" valueType="num">
                                      <p:cBhvr additive="base">
                                        <p:cTn id="37" dur="500"/>
                                        <p:tgtEl>
                                          <p:spTgt spid="39629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62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5"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5378" name="Rectangle 2">
            <a:extLst>
              <a:ext uri="{FF2B5EF4-FFF2-40B4-BE49-F238E27FC236}">
                <a16:creationId xmlns:a16="http://schemas.microsoft.com/office/drawing/2014/main" id="{A43C9CE3-33D5-42A7-AA46-C4CFEC13EB5B}"/>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79" name="Rectangle 3">
            <a:extLst>
              <a:ext uri="{FF2B5EF4-FFF2-40B4-BE49-F238E27FC236}">
                <a16:creationId xmlns:a16="http://schemas.microsoft.com/office/drawing/2014/main" id="{89101196-C8B0-4EE7-B91E-3A90B505D8BA}"/>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80" name="Rectangle 4">
            <a:extLst>
              <a:ext uri="{FF2B5EF4-FFF2-40B4-BE49-F238E27FC236}">
                <a16:creationId xmlns:a16="http://schemas.microsoft.com/office/drawing/2014/main" id="{FEA62D15-703C-4291-A1EC-3290082C0B1F}"/>
              </a:ext>
            </a:extLst>
          </p:cNvPr>
          <p:cNvSpPr>
            <a:spLocks noGrp="1"/>
          </p:cNvSpPr>
          <p:nvPr>
            <p:ph type="title"/>
          </p:nvPr>
        </p:nvSpPr>
        <p:spPr/>
        <p:txBody>
          <a:bodyPr/>
          <a:lstStyle/>
          <a:p>
            <a:r>
              <a:rPr lang="en-GB" altLang="en-US" dirty="0"/>
              <a:t>Assets</a:t>
            </a:r>
          </a:p>
        </p:txBody>
      </p:sp>
      <p:sp>
        <p:nvSpPr>
          <p:cNvPr id="485381" name="Rectangle 5">
            <a:extLst>
              <a:ext uri="{FF2B5EF4-FFF2-40B4-BE49-F238E27FC236}">
                <a16:creationId xmlns:a16="http://schemas.microsoft.com/office/drawing/2014/main" id="{32F6CA85-A1DF-44C1-B8E9-93924944AB58}"/>
              </a:ext>
            </a:extLst>
          </p:cNvPr>
          <p:cNvSpPr>
            <a:spLocks noGrp="1"/>
          </p:cNvSpPr>
          <p:nvPr>
            <p:ph sz="quarter" idx="1"/>
          </p:nvPr>
        </p:nvSpPr>
        <p:spPr>
          <a:xfrm>
            <a:off x="402167" y="1386368"/>
            <a:ext cx="11338729" cy="5098838"/>
          </a:xfrm>
        </p:spPr>
        <p:txBody>
          <a:bodyPr/>
          <a:lstStyle/>
          <a:p>
            <a:pPr>
              <a:spcBef>
                <a:spcPts val="600"/>
              </a:spcBef>
            </a:pPr>
            <a:r>
              <a:rPr lang="en-GB" altLang="en-US" b="1" dirty="0">
                <a:latin typeface="+mn-lt"/>
              </a:rPr>
              <a:t>Three types:</a:t>
            </a:r>
            <a:endParaRPr lang="en-GB" altLang="en-US" dirty="0">
              <a:latin typeface="+mn-lt"/>
            </a:endParaRPr>
          </a:p>
          <a:p>
            <a:pPr>
              <a:spcBef>
                <a:spcPts val="600"/>
              </a:spcBef>
            </a:pPr>
            <a:endParaRPr lang="en-GB" altLang="en-US" dirty="0">
              <a:latin typeface="+mn-lt"/>
            </a:endParaRPr>
          </a:p>
          <a:p>
            <a:pPr lvl="1">
              <a:spcBef>
                <a:spcPts val="600"/>
              </a:spcBef>
            </a:pPr>
            <a:r>
              <a:rPr lang="en-GB" altLang="en-US" b="1" dirty="0">
                <a:latin typeface="+mn-lt"/>
              </a:rPr>
              <a:t>Balances held with the central bank</a:t>
            </a:r>
            <a:r>
              <a:rPr lang="en-GB" altLang="en-US" dirty="0">
                <a:latin typeface="+mn-lt"/>
              </a:rPr>
              <a:t>, including cash reserves</a:t>
            </a:r>
          </a:p>
          <a:p>
            <a:pPr lvl="2">
              <a:spcBef>
                <a:spcPts val="600"/>
              </a:spcBef>
            </a:pPr>
            <a:r>
              <a:rPr lang="en-GB" altLang="en-US" dirty="0">
                <a:latin typeface="+mn-lt"/>
              </a:rPr>
              <a:t>Used to support liquidity, and to participate in payments system</a:t>
            </a:r>
          </a:p>
          <a:p>
            <a:pPr lvl="2">
              <a:spcBef>
                <a:spcPts val="600"/>
              </a:spcBef>
            </a:pPr>
            <a:r>
              <a:rPr lang="en-GB" altLang="en-US" dirty="0">
                <a:latin typeface="+mn-lt"/>
              </a:rPr>
              <a:t>If I instruct my bank to make a payment to your account, order routed through central bank’s payment system</a:t>
            </a:r>
          </a:p>
          <a:p>
            <a:pPr lvl="1">
              <a:spcBef>
                <a:spcPts val="600"/>
              </a:spcBef>
            </a:pPr>
            <a:r>
              <a:rPr lang="en-GB" altLang="en-US" b="1" dirty="0">
                <a:latin typeface="+mn-lt"/>
              </a:rPr>
              <a:t>Loans</a:t>
            </a:r>
            <a:r>
              <a:rPr lang="en-GB" altLang="en-US" dirty="0">
                <a:latin typeface="+mn-lt"/>
              </a:rPr>
              <a:t> on money market</a:t>
            </a:r>
          </a:p>
          <a:p>
            <a:pPr lvl="2">
              <a:spcBef>
                <a:spcPts val="600"/>
              </a:spcBef>
            </a:pPr>
            <a:r>
              <a:rPr lang="en-GB" altLang="en-US" dirty="0">
                <a:latin typeface="+mn-lt"/>
              </a:rPr>
              <a:t>Lending for liquidity in overnight market (at call), or for days (at short notice)</a:t>
            </a:r>
          </a:p>
          <a:p>
            <a:pPr lvl="2">
              <a:spcBef>
                <a:spcPts val="600"/>
              </a:spcBef>
            </a:pPr>
            <a:r>
              <a:rPr lang="en-GB" altLang="en-US" dirty="0">
                <a:latin typeface="+mn-lt"/>
              </a:rPr>
              <a:t>Longer term funding – CDs, commercial and government bills, reverse repo</a:t>
            </a:r>
          </a:p>
          <a:p>
            <a:pPr lvl="1">
              <a:spcBef>
                <a:spcPts val="600"/>
              </a:spcBef>
            </a:pPr>
            <a:r>
              <a:rPr lang="en-GB" altLang="en-US" b="1" dirty="0">
                <a:latin typeface="+mn-lt"/>
              </a:rPr>
              <a:t>Commercial lending </a:t>
            </a:r>
          </a:p>
          <a:p>
            <a:pPr lvl="2">
              <a:spcBef>
                <a:spcPts val="600"/>
              </a:spcBef>
            </a:pPr>
            <a:r>
              <a:rPr lang="en-GB" altLang="en-US" dirty="0">
                <a:latin typeface="+mn-lt"/>
              </a:rPr>
              <a:t>Business lending car loans, outstanding credit card balances, mortgages</a:t>
            </a:r>
          </a:p>
          <a:p>
            <a:pPr lvl="1">
              <a:spcBef>
                <a:spcPts val="600"/>
              </a:spcBef>
            </a:pPr>
            <a:r>
              <a:rPr lang="en-GB" altLang="en-US" dirty="0">
                <a:latin typeface="+mn-lt"/>
              </a:rPr>
              <a:t>Investments in tradable financial instrument, often government bonds</a:t>
            </a:r>
          </a:p>
        </p:txBody>
      </p:sp>
    </p:spTree>
    <p:extLst>
      <p:ext uri="{BB962C8B-B14F-4D97-AF65-F5344CB8AC3E}">
        <p14:creationId xmlns:p14="http://schemas.microsoft.com/office/powerpoint/2010/main" val="293493787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5381">
                                            <p:txEl>
                                              <p:pRg st="0" end="0"/>
                                            </p:txEl>
                                          </p:spTgt>
                                        </p:tgtEl>
                                        <p:attrNameLst>
                                          <p:attrName>style.visibility</p:attrName>
                                        </p:attrNameLst>
                                      </p:cBhvr>
                                      <p:to>
                                        <p:strVal val="visible"/>
                                      </p:to>
                                    </p:set>
                                    <p:anim calcmode="lin" valueType="num">
                                      <p:cBhvr additive="base">
                                        <p:cTn id="7" dur="500"/>
                                        <p:tgtEl>
                                          <p:spTgt spid="48538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85381">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85381">
                                            <p:txEl>
                                              <p:pRg st="2" end="2"/>
                                            </p:txEl>
                                          </p:spTgt>
                                        </p:tgtEl>
                                        <p:attrNameLst>
                                          <p:attrName>style.visibility</p:attrName>
                                        </p:attrNameLst>
                                      </p:cBhvr>
                                      <p:to>
                                        <p:strVal val="visible"/>
                                      </p:to>
                                    </p:set>
                                    <p:anim calcmode="lin" valueType="num">
                                      <p:cBhvr additive="base">
                                        <p:cTn id="13" dur="500"/>
                                        <p:tgtEl>
                                          <p:spTgt spid="48538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8538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85381">
                                            <p:txEl>
                                              <p:pRg st="3" end="3"/>
                                            </p:txEl>
                                          </p:spTgt>
                                        </p:tgtEl>
                                        <p:attrNameLst>
                                          <p:attrName>style.visibility</p:attrName>
                                        </p:attrNameLst>
                                      </p:cBhvr>
                                      <p:to>
                                        <p:strVal val="visible"/>
                                      </p:to>
                                    </p:set>
                                    <p:anim calcmode="lin" valueType="num">
                                      <p:cBhvr additive="base">
                                        <p:cTn id="19" dur="500"/>
                                        <p:tgtEl>
                                          <p:spTgt spid="48538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8538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85381">
                                            <p:txEl>
                                              <p:pRg st="4" end="4"/>
                                            </p:txEl>
                                          </p:spTgt>
                                        </p:tgtEl>
                                        <p:attrNameLst>
                                          <p:attrName>style.visibility</p:attrName>
                                        </p:attrNameLst>
                                      </p:cBhvr>
                                      <p:to>
                                        <p:strVal val="visible"/>
                                      </p:to>
                                    </p:set>
                                    <p:anim calcmode="lin" valueType="num">
                                      <p:cBhvr additive="base">
                                        <p:cTn id="25" dur="500"/>
                                        <p:tgtEl>
                                          <p:spTgt spid="48538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85381">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85381">
                                            <p:txEl>
                                              <p:pRg st="5" end="5"/>
                                            </p:txEl>
                                          </p:spTgt>
                                        </p:tgtEl>
                                        <p:attrNameLst>
                                          <p:attrName>style.visibility</p:attrName>
                                        </p:attrNameLst>
                                      </p:cBhvr>
                                      <p:to>
                                        <p:strVal val="visible"/>
                                      </p:to>
                                    </p:set>
                                    <p:anim calcmode="lin" valueType="num">
                                      <p:cBhvr additive="base">
                                        <p:cTn id="31" dur="500"/>
                                        <p:tgtEl>
                                          <p:spTgt spid="48538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8538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85381">
                                            <p:txEl>
                                              <p:pRg st="6" end="6"/>
                                            </p:txEl>
                                          </p:spTgt>
                                        </p:tgtEl>
                                        <p:attrNameLst>
                                          <p:attrName>style.visibility</p:attrName>
                                        </p:attrNameLst>
                                      </p:cBhvr>
                                      <p:to>
                                        <p:strVal val="visible"/>
                                      </p:to>
                                    </p:set>
                                    <p:anim calcmode="lin" valueType="num">
                                      <p:cBhvr additive="base">
                                        <p:cTn id="37" dur="500"/>
                                        <p:tgtEl>
                                          <p:spTgt spid="48538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85381">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85381">
                                            <p:txEl>
                                              <p:pRg st="7" end="7"/>
                                            </p:txEl>
                                          </p:spTgt>
                                        </p:tgtEl>
                                        <p:attrNameLst>
                                          <p:attrName>style.visibility</p:attrName>
                                        </p:attrNameLst>
                                      </p:cBhvr>
                                      <p:to>
                                        <p:strVal val="visible"/>
                                      </p:to>
                                    </p:set>
                                    <p:anim calcmode="lin" valueType="num">
                                      <p:cBhvr additive="base">
                                        <p:cTn id="43" dur="500"/>
                                        <p:tgtEl>
                                          <p:spTgt spid="485381">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85381">
                                            <p:txEl>
                                              <p:pRg st="7" end="7"/>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85381">
                                            <p:txEl>
                                              <p:pRg st="8" end="8"/>
                                            </p:txEl>
                                          </p:spTgt>
                                        </p:tgtEl>
                                        <p:attrNameLst>
                                          <p:attrName>style.visibility</p:attrName>
                                        </p:attrNameLst>
                                      </p:cBhvr>
                                      <p:to>
                                        <p:strVal val="visible"/>
                                      </p:to>
                                    </p:set>
                                    <p:anim calcmode="lin" valueType="num">
                                      <p:cBhvr additive="base">
                                        <p:cTn id="49" dur="500"/>
                                        <p:tgtEl>
                                          <p:spTgt spid="485381">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85381">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85381">
                                            <p:txEl>
                                              <p:pRg st="9" end="9"/>
                                            </p:txEl>
                                          </p:spTgt>
                                        </p:tgtEl>
                                        <p:attrNameLst>
                                          <p:attrName>style.visibility</p:attrName>
                                        </p:attrNameLst>
                                      </p:cBhvr>
                                      <p:to>
                                        <p:strVal val="visible"/>
                                      </p:to>
                                    </p:set>
                                    <p:anim calcmode="lin" valueType="num">
                                      <p:cBhvr additive="base">
                                        <p:cTn id="55" dur="500"/>
                                        <p:tgtEl>
                                          <p:spTgt spid="485381">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85381">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85381">
                                            <p:txEl>
                                              <p:pRg st="10" end="10"/>
                                            </p:txEl>
                                          </p:spTgt>
                                        </p:tgtEl>
                                        <p:attrNameLst>
                                          <p:attrName>style.visibility</p:attrName>
                                        </p:attrNameLst>
                                      </p:cBhvr>
                                      <p:to>
                                        <p:strVal val="visible"/>
                                      </p:to>
                                    </p:set>
                                    <p:anim calcmode="lin" valueType="num">
                                      <p:cBhvr additive="base">
                                        <p:cTn id="61" dur="500"/>
                                        <p:tgtEl>
                                          <p:spTgt spid="485381">
                                            <p:txEl>
                                              <p:pRg st="10" end="10"/>
                                            </p:txEl>
                                          </p:spTgt>
                                        </p:tgtEl>
                                        <p:attrNameLst>
                                          <p:attrName>ppt_y</p:attrName>
                                        </p:attrNameLst>
                                      </p:cBhvr>
                                      <p:tavLst>
                                        <p:tav tm="0">
                                          <p:val>
                                            <p:strVal val="#ppt_y+#ppt_h*1.125000"/>
                                          </p:val>
                                        </p:tav>
                                        <p:tav tm="100000">
                                          <p:val>
                                            <p:strVal val="#ppt_y"/>
                                          </p:val>
                                        </p:tav>
                                      </p:tavLst>
                                    </p:anim>
                                    <p:animEffect transition="in" filter="wipe(up)">
                                      <p:cBhvr>
                                        <p:cTn id="62" dur="500"/>
                                        <p:tgtEl>
                                          <p:spTgt spid="48538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1" grpId="0"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6A7338A-2EE3-E737-544A-9924229C4664}"/>
            </a:ext>
          </a:extLst>
        </p:cNvPr>
        <p:cNvGrpSpPr/>
        <p:nvPr/>
      </p:nvGrpSpPr>
      <p:grpSpPr>
        <a:xfrm>
          <a:off x="0" y="0"/>
          <a:ext cx="0" cy="0"/>
          <a:chOff x="0" y="0"/>
          <a:chExt cx="0" cy="0"/>
        </a:xfrm>
      </p:grpSpPr>
      <p:sp>
        <p:nvSpPr>
          <p:cNvPr id="485378" name="Rectangle 2">
            <a:extLst>
              <a:ext uri="{FF2B5EF4-FFF2-40B4-BE49-F238E27FC236}">
                <a16:creationId xmlns:a16="http://schemas.microsoft.com/office/drawing/2014/main" id="{7557DA92-1099-C320-0E3E-901156D298AD}"/>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79" name="Rectangle 3">
            <a:extLst>
              <a:ext uri="{FF2B5EF4-FFF2-40B4-BE49-F238E27FC236}">
                <a16:creationId xmlns:a16="http://schemas.microsoft.com/office/drawing/2014/main" id="{7560A6A1-F500-E100-B87D-C77C1A4EA059}"/>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80" name="Rectangle 4">
            <a:extLst>
              <a:ext uri="{FF2B5EF4-FFF2-40B4-BE49-F238E27FC236}">
                <a16:creationId xmlns:a16="http://schemas.microsoft.com/office/drawing/2014/main" id="{BEFB78EB-7A5E-08F9-E7F3-AAAFB5BD38FB}"/>
              </a:ext>
            </a:extLst>
          </p:cNvPr>
          <p:cNvSpPr>
            <a:spLocks noGrp="1"/>
          </p:cNvSpPr>
          <p:nvPr>
            <p:ph type="title"/>
          </p:nvPr>
        </p:nvSpPr>
        <p:spPr/>
        <p:txBody>
          <a:bodyPr>
            <a:normAutofit fontScale="90000"/>
          </a:bodyPr>
          <a:lstStyle/>
          <a:p>
            <a:r>
              <a:rPr lang="en-GB" dirty="0"/>
              <a:t>Cash and reserve balances in the central bank</a:t>
            </a:r>
            <a:endParaRPr lang="en-GB" altLang="en-US" dirty="0"/>
          </a:p>
        </p:txBody>
      </p:sp>
      <p:sp>
        <p:nvSpPr>
          <p:cNvPr id="485381" name="Rectangle 5">
            <a:extLst>
              <a:ext uri="{FF2B5EF4-FFF2-40B4-BE49-F238E27FC236}">
                <a16:creationId xmlns:a16="http://schemas.microsoft.com/office/drawing/2014/main" id="{999D2DF7-D06C-885F-27C8-043372E6756B}"/>
              </a:ext>
            </a:extLst>
          </p:cNvPr>
          <p:cNvSpPr>
            <a:spLocks noGrp="1"/>
          </p:cNvSpPr>
          <p:nvPr>
            <p:ph sz="quarter" idx="1"/>
          </p:nvPr>
        </p:nvSpPr>
        <p:spPr>
          <a:xfrm>
            <a:off x="402167" y="1386368"/>
            <a:ext cx="11338729" cy="5098838"/>
          </a:xfrm>
        </p:spPr>
        <p:txBody>
          <a:bodyPr>
            <a:normAutofit/>
          </a:bodyPr>
          <a:lstStyle/>
          <a:p>
            <a:r>
              <a:rPr lang="en-GB" dirty="0">
                <a:latin typeface="+mn-lt"/>
              </a:rPr>
              <a:t>Banks need to </a:t>
            </a:r>
            <a:r>
              <a:rPr lang="en-GB" b="1" dirty="0">
                <a:latin typeface="+mn-lt"/>
              </a:rPr>
              <a:t>hold a certain amount of their assets as cash</a:t>
            </a:r>
            <a:r>
              <a:rPr lang="en-GB" dirty="0">
                <a:latin typeface="+mn-lt"/>
              </a:rPr>
              <a:t>. This is used largely to meet the </a:t>
            </a:r>
            <a:r>
              <a:rPr lang="en-GB" dirty="0" err="1">
                <a:latin typeface="+mn-lt"/>
              </a:rPr>
              <a:t>day­to­day</a:t>
            </a:r>
            <a:r>
              <a:rPr lang="en-GB" dirty="0">
                <a:latin typeface="+mn-lt"/>
              </a:rPr>
              <a:t> demands of customers. Typically less than 1% of their total assets </a:t>
            </a:r>
          </a:p>
          <a:p>
            <a:r>
              <a:rPr lang="en-GB" dirty="0">
                <a:latin typeface="+mn-lt"/>
              </a:rPr>
              <a:t>They also keep ‘reserve balances’ in the central bank. In the UK, these earn interest at the Bank of England’s repo rate (or ‘Bank Rate’ as it is called), if kept within an agreed target range. These are like the banks’ own current accounts and are used for clearing purposes (i.e. for settling the </a:t>
            </a:r>
            <a:r>
              <a:rPr lang="en-GB" dirty="0" err="1">
                <a:latin typeface="+mn-lt"/>
              </a:rPr>
              <a:t>day­to­day</a:t>
            </a:r>
            <a:r>
              <a:rPr lang="en-GB" dirty="0">
                <a:latin typeface="+mn-lt"/>
              </a:rPr>
              <a:t> payments between banks). </a:t>
            </a:r>
          </a:p>
          <a:p>
            <a:r>
              <a:rPr lang="en-GB" dirty="0">
                <a:latin typeface="+mn-lt"/>
              </a:rPr>
              <a:t>In the UK, banks and building societies are also required to deposit a small fraction of their assets as ‘cash ratio depos­its’ with the Bank of England. These cannot be drawn on demand and earn no interest. </a:t>
            </a:r>
          </a:p>
        </p:txBody>
      </p:sp>
    </p:spTree>
    <p:extLst>
      <p:ext uri="{BB962C8B-B14F-4D97-AF65-F5344CB8AC3E}">
        <p14:creationId xmlns:p14="http://schemas.microsoft.com/office/powerpoint/2010/main" val="366727538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5381">
                                            <p:txEl>
                                              <p:pRg st="0" end="0"/>
                                            </p:txEl>
                                          </p:spTgt>
                                        </p:tgtEl>
                                        <p:attrNameLst>
                                          <p:attrName>style.visibility</p:attrName>
                                        </p:attrNameLst>
                                      </p:cBhvr>
                                      <p:to>
                                        <p:strVal val="visible"/>
                                      </p:to>
                                    </p:set>
                                    <p:anim calcmode="lin" valueType="num">
                                      <p:cBhvr additive="base">
                                        <p:cTn id="7" dur="500"/>
                                        <p:tgtEl>
                                          <p:spTgt spid="48538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8538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85381">
                                            <p:txEl>
                                              <p:pRg st="1" end="1"/>
                                            </p:txEl>
                                          </p:spTgt>
                                        </p:tgtEl>
                                        <p:attrNameLst>
                                          <p:attrName>style.visibility</p:attrName>
                                        </p:attrNameLst>
                                      </p:cBhvr>
                                      <p:to>
                                        <p:strVal val="visible"/>
                                      </p:to>
                                    </p:set>
                                    <p:anim calcmode="lin" valueType="num">
                                      <p:cBhvr additive="base">
                                        <p:cTn id="13" dur="500"/>
                                        <p:tgtEl>
                                          <p:spTgt spid="48538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8538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85381">
                                            <p:txEl>
                                              <p:pRg st="2" end="2"/>
                                            </p:txEl>
                                          </p:spTgt>
                                        </p:tgtEl>
                                        <p:attrNameLst>
                                          <p:attrName>style.visibility</p:attrName>
                                        </p:attrNameLst>
                                      </p:cBhvr>
                                      <p:to>
                                        <p:strVal val="visible"/>
                                      </p:to>
                                    </p:set>
                                    <p:anim calcmode="lin" valueType="num">
                                      <p:cBhvr additive="base">
                                        <p:cTn id="19" dur="500"/>
                                        <p:tgtEl>
                                          <p:spTgt spid="48538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853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1" grpId="0" build="p" bldLvl="3"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7490" name="Rectangle 2">
            <a:extLst>
              <a:ext uri="{FF2B5EF4-FFF2-40B4-BE49-F238E27FC236}">
                <a16:creationId xmlns:a16="http://schemas.microsoft.com/office/drawing/2014/main" id="{B1E37E27-D87D-4AB8-8B8E-8CB7D90005D8}"/>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47491" name="Rectangle 3">
            <a:extLst>
              <a:ext uri="{FF2B5EF4-FFF2-40B4-BE49-F238E27FC236}">
                <a16:creationId xmlns:a16="http://schemas.microsoft.com/office/drawing/2014/main" id="{0BEEC039-10DD-4E4E-940B-0088E44A9944}"/>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47494" name="Rectangle 6">
            <a:extLst>
              <a:ext uri="{FF2B5EF4-FFF2-40B4-BE49-F238E27FC236}">
                <a16:creationId xmlns:a16="http://schemas.microsoft.com/office/drawing/2014/main" id="{36305708-44AF-4ED6-9089-CF6D0AA4482B}"/>
              </a:ext>
            </a:extLst>
          </p:cNvPr>
          <p:cNvSpPr>
            <a:spLocks noGrp="1"/>
          </p:cNvSpPr>
          <p:nvPr>
            <p:ph type="title"/>
          </p:nvPr>
        </p:nvSpPr>
        <p:spPr/>
        <p:txBody>
          <a:bodyPr/>
          <a:lstStyle/>
          <a:p>
            <a:r>
              <a:rPr lang="en-GB" altLang="en-US" dirty="0"/>
              <a:t>Financial intermediation</a:t>
            </a:r>
          </a:p>
        </p:txBody>
      </p:sp>
      <p:sp>
        <p:nvSpPr>
          <p:cNvPr id="447495" name="Rectangle 7">
            <a:extLst>
              <a:ext uri="{FF2B5EF4-FFF2-40B4-BE49-F238E27FC236}">
                <a16:creationId xmlns:a16="http://schemas.microsoft.com/office/drawing/2014/main" id="{6FFA9519-8967-42A8-AB5E-66A5D2E856A7}"/>
              </a:ext>
            </a:extLst>
          </p:cNvPr>
          <p:cNvSpPr>
            <a:spLocks noGrp="1"/>
          </p:cNvSpPr>
          <p:nvPr>
            <p:ph sz="quarter" idx="1"/>
          </p:nvPr>
        </p:nvSpPr>
        <p:spPr>
          <a:xfrm>
            <a:off x="402336" y="1316027"/>
            <a:ext cx="11338560" cy="5211381"/>
          </a:xfrm>
        </p:spPr>
        <p:txBody>
          <a:bodyPr/>
          <a:lstStyle/>
          <a:p>
            <a:pPr>
              <a:lnSpc>
                <a:spcPct val="100000"/>
              </a:lnSpc>
              <a:spcBef>
                <a:spcPts val="600"/>
              </a:spcBef>
            </a:pPr>
            <a:r>
              <a:rPr lang="en-GB" altLang="en-US" dirty="0">
                <a:latin typeface="+mn-lt"/>
              </a:rPr>
              <a:t>Intermediation – bringing together depositors and borrowers</a:t>
            </a:r>
          </a:p>
          <a:p>
            <a:pPr>
              <a:lnSpc>
                <a:spcPct val="100000"/>
              </a:lnSpc>
              <a:spcBef>
                <a:spcPts val="600"/>
              </a:spcBef>
            </a:pPr>
            <a:r>
              <a:rPr lang="en-GB" altLang="en-US" dirty="0">
                <a:latin typeface="+mn-lt"/>
              </a:rPr>
              <a:t>The three transformations: maturity, risk, and size</a:t>
            </a:r>
          </a:p>
          <a:p>
            <a:pPr lvl="1">
              <a:spcBef>
                <a:spcPts val="600"/>
              </a:spcBef>
            </a:pPr>
            <a:r>
              <a:rPr lang="en-GB" altLang="en-US" dirty="0">
                <a:latin typeface="+mn-lt"/>
              </a:rPr>
              <a:t>Maturity – fund long assets with short-term deposits</a:t>
            </a:r>
          </a:p>
          <a:p>
            <a:pPr lvl="2">
              <a:spcBef>
                <a:spcPts val="600"/>
              </a:spcBef>
            </a:pPr>
            <a:r>
              <a:rPr lang="en-GB" altLang="en-US" dirty="0">
                <a:latin typeface="+mn-lt"/>
              </a:rPr>
              <a:t>So need to continue to generate new deposits to fund existing lending</a:t>
            </a:r>
          </a:p>
          <a:p>
            <a:pPr lvl="2">
              <a:spcBef>
                <a:spcPts val="600"/>
              </a:spcBef>
            </a:pPr>
            <a:r>
              <a:rPr lang="en-GB" altLang="en-US" dirty="0">
                <a:latin typeface="+mn-lt"/>
              </a:rPr>
              <a:t>(or use wholesale markets to fund lending)</a:t>
            </a:r>
          </a:p>
          <a:p>
            <a:pPr lvl="1">
              <a:spcBef>
                <a:spcPts val="600"/>
              </a:spcBef>
            </a:pPr>
            <a:r>
              <a:rPr lang="en-GB" altLang="en-US" dirty="0">
                <a:latin typeface="+mn-lt"/>
              </a:rPr>
              <a:t>Risk transformation – law of large numbers</a:t>
            </a:r>
          </a:p>
          <a:p>
            <a:pPr lvl="2">
              <a:spcBef>
                <a:spcPts val="600"/>
              </a:spcBef>
            </a:pPr>
            <a:r>
              <a:rPr lang="en-GB" altLang="en-US" dirty="0">
                <a:latin typeface="+mn-lt"/>
              </a:rPr>
              <a:t>Banks should have information (skill) needed to manage lending risk</a:t>
            </a:r>
          </a:p>
          <a:p>
            <a:pPr lvl="2">
              <a:spcBef>
                <a:spcPts val="600"/>
              </a:spcBef>
            </a:pPr>
            <a:r>
              <a:rPr lang="en-GB" altLang="en-US" dirty="0">
                <a:latin typeface="+mn-lt"/>
              </a:rPr>
              <a:t>Payments history important source of information, so banks provide payments services</a:t>
            </a:r>
          </a:p>
          <a:p>
            <a:pPr lvl="1">
              <a:spcBef>
                <a:spcPts val="600"/>
              </a:spcBef>
            </a:pPr>
            <a:r>
              <a:rPr lang="en-GB" altLang="en-US" dirty="0">
                <a:latin typeface="+mn-lt"/>
              </a:rPr>
              <a:t>Size: many loans too large for individual savers – </a:t>
            </a:r>
          </a:p>
          <a:p>
            <a:pPr lvl="2">
              <a:spcBef>
                <a:spcPts val="600"/>
              </a:spcBef>
            </a:pPr>
            <a:r>
              <a:rPr lang="en-GB" altLang="en-US" dirty="0">
                <a:latin typeface="+mn-lt"/>
              </a:rPr>
              <a:t>Banks aggregate small deposits into large loans</a:t>
            </a:r>
          </a:p>
          <a:p>
            <a:pPr lvl="2">
              <a:spcBef>
                <a:spcPts val="600"/>
              </a:spcBef>
            </a:pPr>
            <a:endParaRPr lang="en-GB" altLang="en-US" dirty="0"/>
          </a:p>
        </p:txBody>
      </p:sp>
    </p:spTree>
    <p:extLst>
      <p:ext uri="{BB962C8B-B14F-4D97-AF65-F5344CB8AC3E}">
        <p14:creationId xmlns:p14="http://schemas.microsoft.com/office/powerpoint/2010/main" val="1447611641"/>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47495">
                                            <p:txEl>
                                              <p:pRg st="0" end="0"/>
                                            </p:txEl>
                                          </p:spTgt>
                                        </p:tgtEl>
                                        <p:attrNameLst>
                                          <p:attrName>style.visibility</p:attrName>
                                        </p:attrNameLst>
                                      </p:cBhvr>
                                      <p:to>
                                        <p:strVal val="visible"/>
                                      </p:to>
                                    </p:set>
                                    <p:anim calcmode="lin" valueType="num">
                                      <p:cBhvr additive="base">
                                        <p:cTn id="7" dur="500"/>
                                        <p:tgtEl>
                                          <p:spTgt spid="44749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4749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47495">
                                            <p:txEl>
                                              <p:pRg st="1" end="1"/>
                                            </p:txEl>
                                          </p:spTgt>
                                        </p:tgtEl>
                                        <p:attrNameLst>
                                          <p:attrName>style.visibility</p:attrName>
                                        </p:attrNameLst>
                                      </p:cBhvr>
                                      <p:to>
                                        <p:strVal val="visible"/>
                                      </p:to>
                                    </p:set>
                                    <p:anim calcmode="lin" valueType="num">
                                      <p:cBhvr additive="base">
                                        <p:cTn id="13" dur="500"/>
                                        <p:tgtEl>
                                          <p:spTgt spid="44749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4749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47495">
                                            <p:txEl>
                                              <p:pRg st="2" end="2"/>
                                            </p:txEl>
                                          </p:spTgt>
                                        </p:tgtEl>
                                        <p:attrNameLst>
                                          <p:attrName>style.visibility</p:attrName>
                                        </p:attrNameLst>
                                      </p:cBhvr>
                                      <p:to>
                                        <p:strVal val="visible"/>
                                      </p:to>
                                    </p:set>
                                    <p:anim calcmode="lin" valueType="num">
                                      <p:cBhvr additive="base">
                                        <p:cTn id="19" dur="500"/>
                                        <p:tgtEl>
                                          <p:spTgt spid="44749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4749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47495">
                                            <p:txEl>
                                              <p:pRg st="3" end="3"/>
                                            </p:txEl>
                                          </p:spTgt>
                                        </p:tgtEl>
                                        <p:attrNameLst>
                                          <p:attrName>style.visibility</p:attrName>
                                        </p:attrNameLst>
                                      </p:cBhvr>
                                      <p:to>
                                        <p:strVal val="visible"/>
                                      </p:to>
                                    </p:set>
                                    <p:anim calcmode="lin" valueType="num">
                                      <p:cBhvr additive="base">
                                        <p:cTn id="25" dur="500"/>
                                        <p:tgtEl>
                                          <p:spTgt spid="44749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4749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47495">
                                            <p:txEl>
                                              <p:pRg st="4" end="4"/>
                                            </p:txEl>
                                          </p:spTgt>
                                        </p:tgtEl>
                                        <p:attrNameLst>
                                          <p:attrName>style.visibility</p:attrName>
                                        </p:attrNameLst>
                                      </p:cBhvr>
                                      <p:to>
                                        <p:strVal val="visible"/>
                                      </p:to>
                                    </p:set>
                                    <p:anim calcmode="lin" valueType="num">
                                      <p:cBhvr additive="base">
                                        <p:cTn id="31" dur="500"/>
                                        <p:tgtEl>
                                          <p:spTgt spid="44749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4749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47495">
                                            <p:txEl>
                                              <p:pRg st="5" end="5"/>
                                            </p:txEl>
                                          </p:spTgt>
                                        </p:tgtEl>
                                        <p:attrNameLst>
                                          <p:attrName>style.visibility</p:attrName>
                                        </p:attrNameLst>
                                      </p:cBhvr>
                                      <p:to>
                                        <p:strVal val="visible"/>
                                      </p:to>
                                    </p:set>
                                    <p:anim calcmode="lin" valueType="num">
                                      <p:cBhvr additive="base">
                                        <p:cTn id="37" dur="500"/>
                                        <p:tgtEl>
                                          <p:spTgt spid="44749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4749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47495">
                                            <p:txEl>
                                              <p:pRg st="6" end="6"/>
                                            </p:txEl>
                                          </p:spTgt>
                                        </p:tgtEl>
                                        <p:attrNameLst>
                                          <p:attrName>style.visibility</p:attrName>
                                        </p:attrNameLst>
                                      </p:cBhvr>
                                      <p:to>
                                        <p:strVal val="visible"/>
                                      </p:to>
                                    </p:set>
                                    <p:anim calcmode="lin" valueType="num">
                                      <p:cBhvr additive="base">
                                        <p:cTn id="43" dur="500"/>
                                        <p:tgtEl>
                                          <p:spTgt spid="44749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4749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47495">
                                            <p:txEl>
                                              <p:pRg st="7" end="7"/>
                                            </p:txEl>
                                          </p:spTgt>
                                        </p:tgtEl>
                                        <p:attrNameLst>
                                          <p:attrName>style.visibility</p:attrName>
                                        </p:attrNameLst>
                                      </p:cBhvr>
                                      <p:to>
                                        <p:strVal val="visible"/>
                                      </p:to>
                                    </p:set>
                                    <p:anim calcmode="lin" valueType="num">
                                      <p:cBhvr additive="base">
                                        <p:cTn id="49" dur="500"/>
                                        <p:tgtEl>
                                          <p:spTgt spid="447495">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47495">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47495">
                                            <p:txEl>
                                              <p:pRg st="8" end="8"/>
                                            </p:txEl>
                                          </p:spTgt>
                                        </p:tgtEl>
                                        <p:attrNameLst>
                                          <p:attrName>style.visibility</p:attrName>
                                        </p:attrNameLst>
                                      </p:cBhvr>
                                      <p:to>
                                        <p:strVal val="visible"/>
                                      </p:to>
                                    </p:set>
                                    <p:anim calcmode="lin" valueType="num">
                                      <p:cBhvr additive="base">
                                        <p:cTn id="55" dur="500"/>
                                        <p:tgtEl>
                                          <p:spTgt spid="447495">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47495">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47495">
                                            <p:txEl>
                                              <p:pRg st="9" end="9"/>
                                            </p:txEl>
                                          </p:spTgt>
                                        </p:tgtEl>
                                        <p:attrNameLst>
                                          <p:attrName>style.visibility</p:attrName>
                                        </p:attrNameLst>
                                      </p:cBhvr>
                                      <p:to>
                                        <p:strVal val="visible"/>
                                      </p:to>
                                    </p:set>
                                    <p:anim calcmode="lin" valueType="num">
                                      <p:cBhvr additive="base">
                                        <p:cTn id="61" dur="500"/>
                                        <p:tgtEl>
                                          <p:spTgt spid="447495">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4474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5" grpId="0" build="p" bldLvl="4"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591B20A9-1410-4478-B076-3EA3A60DE4BF}"/>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3650C507-CD54-4409-A124-EAF16A3044B8}"/>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40" name="Rectangle 8">
            <a:extLst>
              <a:ext uri="{FF2B5EF4-FFF2-40B4-BE49-F238E27FC236}">
                <a16:creationId xmlns:a16="http://schemas.microsoft.com/office/drawing/2014/main" id="{A37E9A8E-A26E-499F-A914-CB42254B9FD0}"/>
              </a:ext>
            </a:extLst>
          </p:cNvPr>
          <p:cNvSpPr>
            <a:spLocks noGrp="1"/>
          </p:cNvSpPr>
          <p:nvPr>
            <p:ph type="title"/>
          </p:nvPr>
        </p:nvSpPr>
        <p:spPr/>
        <p:txBody>
          <a:bodyPr/>
          <a:lstStyle/>
          <a:p>
            <a:r>
              <a:rPr lang="en-GB" altLang="en-US" dirty="0"/>
              <a:t>Profitability, liquidity, crisis</a:t>
            </a:r>
          </a:p>
        </p:txBody>
      </p:sp>
      <p:sp>
        <p:nvSpPr>
          <p:cNvPr id="402441" name="Rectangle 9">
            <a:extLst>
              <a:ext uri="{FF2B5EF4-FFF2-40B4-BE49-F238E27FC236}">
                <a16:creationId xmlns:a16="http://schemas.microsoft.com/office/drawing/2014/main" id="{1D11AD6E-0CAE-4263-B402-75E33A63E052}"/>
              </a:ext>
            </a:extLst>
          </p:cNvPr>
          <p:cNvSpPr>
            <a:spLocks noGrp="1"/>
          </p:cNvSpPr>
          <p:nvPr>
            <p:ph type="body" idx="1"/>
          </p:nvPr>
        </p:nvSpPr>
        <p:spPr>
          <a:xfrm>
            <a:off x="267286" y="1527048"/>
            <a:ext cx="11608660" cy="4916282"/>
          </a:xfrm>
        </p:spPr>
        <p:txBody>
          <a:bodyPr/>
          <a:lstStyle/>
          <a:p>
            <a:pPr>
              <a:spcBef>
                <a:spcPts val="600"/>
              </a:spcBef>
            </a:pPr>
            <a:r>
              <a:rPr lang="en-GB" altLang="en-US" sz="2800" dirty="0">
                <a:latin typeface="+mn-lt"/>
              </a:rPr>
              <a:t>Profits: difference between interest charged on loans, paid on deposits</a:t>
            </a:r>
          </a:p>
          <a:p>
            <a:pPr lvl="1">
              <a:spcBef>
                <a:spcPts val="600"/>
              </a:spcBef>
            </a:pPr>
            <a:r>
              <a:rPr lang="en-GB" altLang="en-US" dirty="0">
                <a:latin typeface="+mn-lt"/>
              </a:rPr>
              <a:t>Less costs of debt impairments – unrecoverable advances</a:t>
            </a:r>
          </a:p>
          <a:p>
            <a:pPr lvl="1">
              <a:spcBef>
                <a:spcPts val="600"/>
              </a:spcBef>
            </a:pPr>
            <a:endParaRPr lang="en-GB" altLang="en-US" dirty="0">
              <a:latin typeface="+mn-lt"/>
            </a:endParaRPr>
          </a:p>
          <a:p>
            <a:pPr>
              <a:spcBef>
                <a:spcPts val="600"/>
              </a:spcBef>
            </a:pPr>
            <a:r>
              <a:rPr lang="en-GB" altLang="en-US" sz="2800" dirty="0">
                <a:latin typeface="+mn-lt"/>
              </a:rPr>
              <a:t>Liquidity: ease with which asset can be converted into cash</a:t>
            </a:r>
          </a:p>
          <a:p>
            <a:pPr lvl="1">
              <a:spcBef>
                <a:spcPts val="600"/>
              </a:spcBef>
            </a:pPr>
            <a:r>
              <a:rPr lang="en-GB" altLang="en-US" dirty="0">
                <a:latin typeface="+mn-lt"/>
              </a:rPr>
              <a:t>For bank – ability to make payments in full, on time</a:t>
            </a:r>
          </a:p>
          <a:p>
            <a:pPr lvl="1">
              <a:spcBef>
                <a:spcPts val="600"/>
              </a:spcBef>
            </a:pPr>
            <a:r>
              <a:rPr lang="en-GB" altLang="en-US" dirty="0">
                <a:latin typeface="+mn-lt"/>
              </a:rPr>
              <a:t>Bank run – depositors believe that bank cannot pay</a:t>
            </a:r>
          </a:p>
          <a:p>
            <a:pPr lvl="2">
              <a:spcBef>
                <a:spcPts val="600"/>
              </a:spcBef>
            </a:pPr>
            <a:r>
              <a:rPr lang="en-GB" altLang="en-US" dirty="0">
                <a:latin typeface="+mn-lt"/>
              </a:rPr>
              <a:t>All demand payment; can’t receive it – expectations self-fulfilling</a:t>
            </a:r>
          </a:p>
          <a:p>
            <a:pPr lvl="1">
              <a:spcBef>
                <a:spcPts val="600"/>
              </a:spcBef>
            </a:pPr>
            <a:r>
              <a:rPr lang="en-GB" dirty="0">
                <a:latin typeface="+mn-lt"/>
              </a:rPr>
              <a:t>Banks must always be able to meet the demands of their customers for withdrawals of money. To do this, they must hold sufficient cash or other assets that can be readily turned into cash. In other words, banks must maintain sufficient liquidity. </a:t>
            </a:r>
          </a:p>
          <a:p>
            <a:pPr lvl="2">
              <a:spcBef>
                <a:spcPts val="600"/>
              </a:spcBef>
            </a:pPr>
            <a:endParaRPr lang="en-GB" altLang="en-US" dirty="0"/>
          </a:p>
          <a:p>
            <a:pPr lvl="1">
              <a:spcBef>
                <a:spcPts val="600"/>
              </a:spcBef>
            </a:pPr>
            <a:endParaRPr lang="en-GB" altLang="en-US" dirty="0"/>
          </a:p>
        </p:txBody>
      </p:sp>
    </p:spTree>
    <p:extLst>
      <p:ext uri="{BB962C8B-B14F-4D97-AF65-F5344CB8AC3E}">
        <p14:creationId xmlns:p14="http://schemas.microsoft.com/office/powerpoint/2010/main" val="34503229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41">
                                            <p:txEl>
                                              <p:pRg st="0" end="0"/>
                                            </p:txEl>
                                          </p:spTgt>
                                        </p:tgtEl>
                                        <p:attrNameLst>
                                          <p:attrName>style.visibility</p:attrName>
                                        </p:attrNameLst>
                                      </p:cBhvr>
                                      <p:to>
                                        <p:strVal val="visible"/>
                                      </p:to>
                                    </p:set>
                                    <p:anim calcmode="lin" valueType="num">
                                      <p:cBhvr additive="base">
                                        <p:cTn id="7" dur="500"/>
                                        <p:tgtEl>
                                          <p:spTgt spid="40244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4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41">
                                            <p:txEl>
                                              <p:pRg st="1" end="1"/>
                                            </p:txEl>
                                          </p:spTgt>
                                        </p:tgtEl>
                                        <p:attrNameLst>
                                          <p:attrName>style.visibility</p:attrName>
                                        </p:attrNameLst>
                                      </p:cBhvr>
                                      <p:to>
                                        <p:strVal val="visible"/>
                                      </p:to>
                                    </p:set>
                                    <p:anim calcmode="lin" valueType="num">
                                      <p:cBhvr additive="base">
                                        <p:cTn id="13" dur="500"/>
                                        <p:tgtEl>
                                          <p:spTgt spid="40244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4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41">
                                            <p:txEl>
                                              <p:pRg st="3" end="3"/>
                                            </p:txEl>
                                          </p:spTgt>
                                        </p:tgtEl>
                                        <p:attrNameLst>
                                          <p:attrName>style.visibility</p:attrName>
                                        </p:attrNameLst>
                                      </p:cBhvr>
                                      <p:to>
                                        <p:strVal val="visible"/>
                                      </p:to>
                                    </p:set>
                                    <p:anim calcmode="lin" valueType="num">
                                      <p:cBhvr additive="base">
                                        <p:cTn id="19" dur="500"/>
                                        <p:tgtEl>
                                          <p:spTgt spid="40244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4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41">
                                            <p:txEl>
                                              <p:pRg st="4" end="4"/>
                                            </p:txEl>
                                          </p:spTgt>
                                        </p:tgtEl>
                                        <p:attrNameLst>
                                          <p:attrName>style.visibility</p:attrName>
                                        </p:attrNameLst>
                                      </p:cBhvr>
                                      <p:to>
                                        <p:strVal val="visible"/>
                                      </p:to>
                                    </p:set>
                                    <p:anim calcmode="lin" valueType="num">
                                      <p:cBhvr additive="base">
                                        <p:cTn id="25" dur="500"/>
                                        <p:tgtEl>
                                          <p:spTgt spid="40244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4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41">
                                            <p:txEl>
                                              <p:pRg st="5" end="5"/>
                                            </p:txEl>
                                          </p:spTgt>
                                        </p:tgtEl>
                                        <p:attrNameLst>
                                          <p:attrName>style.visibility</p:attrName>
                                        </p:attrNameLst>
                                      </p:cBhvr>
                                      <p:to>
                                        <p:strVal val="visible"/>
                                      </p:to>
                                    </p:set>
                                    <p:anim calcmode="lin" valueType="num">
                                      <p:cBhvr additive="base">
                                        <p:cTn id="31" dur="500"/>
                                        <p:tgtEl>
                                          <p:spTgt spid="40244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2441">
                                            <p:txEl>
                                              <p:pRg st="6" end="6"/>
                                            </p:txEl>
                                          </p:spTgt>
                                        </p:tgtEl>
                                        <p:attrNameLst>
                                          <p:attrName>style.visibility</p:attrName>
                                        </p:attrNameLst>
                                      </p:cBhvr>
                                      <p:to>
                                        <p:strVal val="visible"/>
                                      </p:to>
                                    </p:set>
                                    <p:anim calcmode="lin" valueType="num">
                                      <p:cBhvr additive="base">
                                        <p:cTn id="37" dur="500"/>
                                        <p:tgtEl>
                                          <p:spTgt spid="40244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2441">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2441">
                                            <p:txEl>
                                              <p:pRg st="7" end="7"/>
                                            </p:txEl>
                                          </p:spTgt>
                                        </p:tgtEl>
                                        <p:attrNameLst>
                                          <p:attrName>style.visibility</p:attrName>
                                        </p:attrNameLst>
                                      </p:cBhvr>
                                      <p:to>
                                        <p:strVal val="visible"/>
                                      </p:to>
                                    </p:set>
                                    <p:anim calcmode="lin" valueType="num">
                                      <p:cBhvr additive="base">
                                        <p:cTn id="43" dur="500"/>
                                        <p:tgtEl>
                                          <p:spTgt spid="402441">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244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41" grpId="0" build="p" bldLvl="3"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3C79605-CF33-4C85-BB16-3039F2479306}"/>
            </a:ext>
          </a:extLst>
        </p:cNvPr>
        <p:cNvGrpSpPr/>
        <p:nvPr/>
      </p:nvGrpSpPr>
      <p:grpSpPr>
        <a:xfrm>
          <a:off x="0" y="0"/>
          <a:ext cx="0" cy="0"/>
          <a:chOff x="0" y="0"/>
          <a:chExt cx="0" cy="0"/>
        </a:xfrm>
      </p:grpSpPr>
      <p:sp>
        <p:nvSpPr>
          <p:cNvPr id="402434" name="Rectangle 2">
            <a:extLst>
              <a:ext uri="{FF2B5EF4-FFF2-40B4-BE49-F238E27FC236}">
                <a16:creationId xmlns:a16="http://schemas.microsoft.com/office/drawing/2014/main" id="{AD3AFFD4-1D15-576C-A00C-9F9C261ADCA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BC165193-A29A-3E69-3369-0F52BF393ED3}"/>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40" name="Rectangle 8">
            <a:extLst>
              <a:ext uri="{FF2B5EF4-FFF2-40B4-BE49-F238E27FC236}">
                <a16:creationId xmlns:a16="http://schemas.microsoft.com/office/drawing/2014/main" id="{8740BE12-5140-3E3C-358B-81AEDA37E37A}"/>
              </a:ext>
            </a:extLst>
          </p:cNvPr>
          <p:cNvSpPr>
            <a:spLocks noGrp="1"/>
          </p:cNvSpPr>
          <p:nvPr>
            <p:ph type="title"/>
          </p:nvPr>
        </p:nvSpPr>
        <p:spPr/>
        <p:txBody>
          <a:bodyPr/>
          <a:lstStyle/>
          <a:p>
            <a:r>
              <a:rPr lang="en-GB" altLang="en-US" dirty="0"/>
              <a:t>Profitability vs liquidity</a:t>
            </a:r>
          </a:p>
        </p:txBody>
      </p:sp>
      <p:sp>
        <p:nvSpPr>
          <p:cNvPr id="402441" name="Rectangle 9">
            <a:extLst>
              <a:ext uri="{FF2B5EF4-FFF2-40B4-BE49-F238E27FC236}">
                <a16:creationId xmlns:a16="http://schemas.microsoft.com/office/drawing/2014/main" id="{A64EF531-4031-AB72-A816-D6C099E3BA76}"/>
              </a:ext>
            </a:extLst>
          </p:cNvPr>
          <p:cNvSpPr>
            <a:spLocks noGrp="1"/>
          </p:cNvSpPr>
          <p:nvPr>
            <p:ph type="body" idx="1"/>
          </p:nvPr>
        </p:nvSpPr>
        <p:spPr>
          <a:xfrm>
            <a:off x="267286" y="1527048"/>
            <a:ext cx="11608660" cy="4916282"/>
          </a:xfrm>
        </p:spPr>
        <p:txBody>
          <a:bodyPr/>
          <a:lstStyle/>
          <a:p>
            <a:pPr lvl="2">
              <a:spcBef>
                <a:spcPts val="600"/>
              </a:spcBef>
            </a:pPr>
            <a:endParaRPr lang="en-GB" altLang="en-US" dirty="0"/>
          </a:p>
          <a:p>
            <a:pPr lvl="1">
              <a:spcBef>
                <a:spcPts val="600"/>
              </a:spcBef>
            </a:pPr>
            <a:r>
              <a:rPr lang="en-GB" altLang="en-US" dirty="0">
                <a:latin typeface="+mn-lt"/>
              </a:rPr>
              <a:t>Liquidity tends to come at expense of operating profit: a trade off</a:t>
            </a:r>
          </a:p>
          <a:p>
            <a:pPr lvl="1">
              <a:spcBef>
                <a:spcPts val="600"/>
              </a:spcBef>
            </a:pPr>
            <a:r>
              <a:rPr lang="en-GB" altLang="en-US" dirty="0">
                <a:latin typeface="+mn-lt"/>
              </a:rPr>
              <a:t>The more liquid an asset, the less profitable it is, and vice versa. Personal and business loans to customers are profitable to banks, but highly illiquid. Cash is totally liquid, but earns no profit. Thus financial institutions like to hold a range of assets with varying degrees of liquidity and profitability. </a:t>
            </a:r>
          </a:p>
          <a:p>
            <a:pPr lvl="1">
              <a:spcBef>
                <a:spcPts val="600"/>
              </a:spcBef>
            </a:pPr>
            <a:r>
              <a:rPr lang="en-GB" dirty="0">
                <a:latin typeface="+mn-lt"/>
              </a:rPr>
              <a:t>For reasons of </a:t>
            </a:r>
            <a:r>
              <a:rPr lang="en-GB" i="1" dirty="0">
                <a:latin typeface="+mn-lt"/>
              </a:rPr>
              <a:t>profitability, </a:t>
            </a:r>
            <a:r>
              <a:rPr lang="en-GB" dirty="0">
                <a:latin typeface="+mn-lt"/>
              </a:rPr>
              <a:t>banks will want to ‘borrow short’ (at low rates of interest, such as people’s deposits in current accounts) and ‘lend long’ (at higher rates of interest, such as on personal loans or mortgages). </a:t>
            </a:r>
          </a:p>
          <a:p>
            <a:pPr lvl="1">
              <a:spcBef>
                <a:spcPts val="600"/>
              </a:spcBef>
            </a:pPr>
            <a:r>
              <a:rPr lang="en-GB" altLang="en-US" b="1" dirty="0">
                <a:latin typeface="+mn-lt"/>
              </a:rPr>
              <a:t>Maturity gap </a:t>
            </a:r>
            <a:r>
              <a:rPr lang="en-GB" altLang="en-US" dirty="0">
                <a:latin typeface="+mn-lt"/>
              </a:rPr>
              <a:t>– difference in average maturity of assets, liabilities</a:t>
            </a:r>
          </a:p>
          <a:p>
            <a:pPr lvl="1">
              <a:spcBef>
                <a:spcPts val="600"/>
              </a:spcBef>
            </a:pPr>
            <a:r>
              <a:rPr lang="en-GB" altLang="en-US" b="1" dirty="0">
                <a:latin typeface="+mn-lt"/>
              </a:rPr>
              <a:t>Liquidity ratio </a:t>
            </a:r>
            <a:r>
              <a:rPr lang="en-GB" altLang="en-US" dirty="0">
                <a:latin typeface="+mn-lt"/>
              </a:rPr>
              <a:t>– proportion of assets which are available to make payments on total assets</a:t>
            </a:r>
          </a:p>
          <a:p>
            <a:pPr lvl="2">
              <a:spcBef>
                <a:spcPts val="600"/>
              </a:spcBef>
            </a:pPr>
            <a:endParaRPr lang="en-GB" altLang="en-US" dirty="0"/>
          </a:p>
        </p:txBody>
      </p:sp>
    </p:spTree>
    <p:extLst>
      <p:ext uri="{BB962C8B-B14F-4D97-AF65-F5344CB8AC3E}">
        <p14:creationId xmlns:p14="http://schemas.microsoft.com/office/powerpoint/2010/main" val="411348809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41">
                                            <p:txEl>
                                              <p:pRg st="1" end="1"/>
                                            </p:txEl>
                                          </p:spTgt>
                                        </p:tgtEl>
                                        <p:attrNameLst>
                                          <p:attrName>style.visibility</p:attrName>
                                        </p:attrNameLst>
                                      </p:cBhvr>
                                      <p:to>
                                        <p:strVal val="visible"/>
                                      </p:to>
                                    </p:set>
                                    <p:anim calcmode="lin" valueType="num">
                                      <p:cBhvr additive="base">
                                        <p:cTn id="7" dur="500"/>
                                        <p:tgtEl>
                                          <p:spTgt spid="402441">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41">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41">
                                            <p:txEl>
                                              <p:pRg st="2" end="2"/>
                                            </p:txEl>
                                          </p:spTgt>
                                        </p:tgtEl>
                                        <p:attrNameLst>
                                          <p:attrName>style.visibility</p:attrName>
                                        </p:attrNameLst>
                                      </p:cBhvr>
                                      <p:to>
                                        <p:strVal val="visible"/>
                                      </p:to>
                                    </p:set>
                                    <p:anim calcmode="lin" valueType="num">
                                      <p:cBhvr additive="base">
                                        <p:cTn id="13" dur="500"/>
                                        <p:tgtEl>
                                          <p:spTgt spid="40244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4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41">
                                            <p:txEl>
                                              <p:pRg st="3" end="3"/>
                                            </p:txEl>
                                          </p:spTgt>
                                        </p:tgtEl>
                                        <p:attrNameLst>
                                          <p:attrName>style.visibility</p:attrName>
                                        </p:attrNameLst>
                                      </p:cBhvr>
                                      <p:to>
                                        <p:strVal val="visible"/>
                                      </p:to>
                                    </p:set>
                                    <p:anim calcmode="lin" valueType="num">
                                      <p:cBhvr additive="base">
                                        <p:cTn id="19" dur="500"/>
                                        <p:tgtEl>
                                          <p:spTgt spid="40244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4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41">
                                            <p:txEl>
                                              <p:pRg st="4" end="4"/>
                                            </p:txEl>
                                          </p:spTgt>
                                        </p:tgtEl>
                                        <p:attrNameLst>
                                          <p:attrName>style.visibility</p:attrName>
                                        </p:attrNameLst>
                                      </p:cBhvr>
                                      <p:to>
                                        <p:strVal val="visible"/>
                                      </p:to>
                                    </p:set>
                                    <p:anim calcmode="lin" valueType="num">
                                      <p:cBhvr additive="base">
                                        <p:cTn id="25" dur="500"/>
                                        <p:tgtEl>
                                          <p:spTgt spid="40244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4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41">
                                            <p:txEl>
                                              <p:pRg st="5" end="5"/>
                                            </p:txEl>
                                          </p:spTgt>
                                        </p:tgtEl>
                                        <p:attrNameLst>
                                          <p:attrName>style.visibility</p:attrName>
                                        </p:attrNameLst>
                                      </p:cBhvr>
                                      <p:to>
                                        <p:strVal val="visible"/>
                                      </p:to>
                                    </p:set>
                                    <p:anim calcmode="lin" valueType="num">
                                      <p:cBhvr additive="base">
                                        <p:cTn id="31" dur="500"/>
                                        <p:tgtEl>
                                          <p:spTgt spid="40244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4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41" grpId="0" build="p" bldLvl="3"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A52997D2-9660-4155-987A-DCB492E8F222}"/>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1" name="Rectangle 3">
            <a:extLst>
              <a:ext uri="{FF2B5EF4-FFF2-40B4-BE49-F238E27FC236}">
                <a16:creationId xmlns:a16="http://schemas.microsoft.com/office/drawing/2014/main" id="{10B31F24-8AAD-4449-AF13-FCA98E5293D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2" name="Rectangle 4">
            <a:extLst>
              <a:ext uri="{FF2B5EF4-FFF2-40B4-BE49-F238E27FC236}">
                <a16:creationId xmlns:a16="http://schemas.microsoft.com/office/drawing/2014/main" id="{8C7E1659-0DA1-46F8-A9F2-3D53DFC1D2F9}"/>
              </a:ext>
            </a:extLst>
          </p:cNvPr>
          <p:cNvSpPr>
            <a:spLocks noGrp="1"/>
          </p:cNvSpPr>
          <p:nvPr>
            <p:ph type="title"/>
          </p:nvPr>
        </p:nvSpPr>
        <p:spPr/>
        <p:txBody>
          <a:bodyPr/>
          <a:lstStyle/>
          <a:p>
            <a:r>
              <a:rPr lang="en-GB" altLang="en-US" dirty="0"/>
              <a:t>Central Banks</a:t>
            </a:r>
          </a:p>
        </p:txBody>
      </p:sp>
      <p:sp>
        <p:nvSpPr>
          <p:cNvPr id="406533" name="Rectangle 5">
            <a:extLst>
              <a:ext uri="{FF2B5EF4-FFF2-40B4-BE49-F238E27FC236}">
                <a16:creationId xmlns:a16="http://schemas.microsoft.com/office/drawing/2014/main" id="{0E8E11EA-8CBE-4C93-A473-2E1BDAB76A5C}"/>
              </a:ext>
            </a:extLst>
          </p:cNvPr>
          <p:cNvSpPr>
            <a:spLocks noGrp="1"/>
          </p:cNvSpPr>
          <p:nvPr>
            <p:ph type="body" idx="1"/>
          </p:nvPr>
        </p:nvSpPr>
        <p:spPr>
          <a:xfrm>
            <a:off x="402336" y="1294226"/>
            <a:ext cx="11338560" cy="5507502"/>
          </a:xfrm>
        </p:spPr>
        <p:txBody>
          <a:bodyPr/>
          <a:lstStyle/>
          <a:p>
            <a:pPr>
              <a:lnSpc>
                <a:spcPct val="95000"/>
              </a:lnSpc>
              <a:spcBef>
                <a:spcPts val="500"/>
              </a:spcBef>
            </a:pPr>
            <a:r>
              <a:rPr lang="en-GB" altLang="en-US" dirty="0">
                <a:latin typeface="+mn-lt"/>
              </a:rPr>
              <a:t>Two main roles:</a:t>
            </a:r>
          </a:p>
          <a:p>
            <a:pPr lvl="1"/>
            <a:r>
              <a:rPr lang="en-GB" dirty="0">
                <a:latin typeface="+mn-lt"/>
              </a:rPr>
              <a:t>The first is to </a:t>
            </a:r>
            <a:r>
              <a:rPr lang="en-GB" b="1" dirty="0">
                <a:latin typeface="+mn-lt"/>
              </a:rPr>
              <a:t>oversee the whole monetary system </a:t>
            </a:r>
            <a:r>
              <a:rPr lang="en-GB" dirty="0">
                <a:latin typeface="+mn-lt"/>
              </a:rPr>
              <a:t>and ensure that banks and other financial institutions operate as stably and as efficiently as possible. </a:t>
            </a:r>
          </a:p>
          <a:p>
            <a:pPr lvl="1"/>
            <a:r>
              <a:rPr lang="en-GB" dirty="0">
                <a:latin typeface="+mn-lt"/>
              </a:rPr>
              <a:t>The second is to </a:t>
            </a:r>
            <a:r>
              <a:rPr lang="en-GB" b="1" dirty="0">
                <a:latin typeface="+mn-lt"/>
              </a:rPr>
              <a:t>act as the government’s agent</a:t>
            </a:r>
            <a:r>
              <a:rPr lang="en-GB" dirty="0">
                <a:latin typeface="+mn-lt"/>
              </a:rPr>
              <a:t>, both as its banker and in carrying out monetary policy. </a:t>
            </a:r>
          </a:p>
          <a:p>
            <a:r>
              <a:rPr lang="en-GB" dirty="0">
                <a:latin typeface="+mn-lt"/>
              </a:rPr>
              <a:t>Although the degree of independence of central banks from government varies considerably around the world, there has been a general trend to make central banks </a:t>
            </a:r>
            <a:r>
              <a:rPr lang="en-GB" b="1" dirty="0">
                <a:latin typeface="+mn-lt"/>
              </a:rPr>
              <a:t>more independent</a:t>
            </a:r>
            <a:r>
              <a:rPr lang="en-GB" dirty="0">
                <a:latin typeface="+mn-lt"/>
              </a:rPr>
              <a:t>. </a:t>
            </a:r>
          </a:p>
          <a:p>
            <a:r>
              <a:rPr lang="en-GB" dirty="0">
                <a:latin typeface="+mn-lt"/>
              </a:rPr>
              <a:t>Within their two broad roles, central banks typically have a </a:t>
            </a:r>
            <a:r>
              <a:rPr lang="en-GB" b="1" dirty="0">
                <a:latin typeface="+mn-lt"/>
              </a:rPr>
              <a:t>number of different functions</a:t>
            </a:r>
            <a:r>
              <a:rPr lang="en-GB" dirty="0">
                <a:latin typeface="+mn-lt"/>
              </a:rPr>
              <a:t>. Although we will consider the case of the Bank of England, the same principles apply to other central banks, such as the ECB and the Fed</a:t>
            </a:r>
            <a:r>
              <a:rPr lang="en-GB" dirty="0"/>
              <a:t>. </a:t>
            </a:r>
          </a:p>
          <a:p>
            <a:endParaRPr lang="en-GB" dirty="0"/>
          </a:p>
        </p:txBody>
      </p:sp>
    </p:spTree>
    <p:extLst>
      <p:ext uri="{BB962C8B-B14F-4D97-AF65-F5344CB8AC3E}">
        <p14:creationId xmlns:p14="http://schemas.microsoft.com/office/powerpoint/2010/main" val="427896726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3">
                                            <p:txEl>
                                              <p:pRg st="0" end="0"/>
                                            </p:txEl>
                                          </p:spTgt>
                                        </p:tgtEl>
                                        <p:attrNameLst>
                                          <p:attrName>style.visibility</p:attrName>
                                        </p:attrNameLst>
                                      </p:cBhvr>
                                      <p:to>
                                        <p:strVal val="visible"/>
                                      </p:to>
                                    </p:set>
                                    <p:anim calcmode="lin" valueType="num">
                                      <p:cBhvr additive="base">
                                        <p:cTn id="7" dur="500"/>
                                        <p:tgtEl>
                                          <p:spTgt spid="40653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3"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1E5F070-43FD-F1B4-C5AC-6243C816B124}"/>
            </a:ext>
          </a:extLst>
        </p:cNvPr>
        <p:cNvGrpSpPr/>
        <p:nvPr/>
      </p:nvGrpSpPr>
      <p:grpSpPr>
        <a:xfrm>
          <a:off x="0" y="0"/>
          <a:ext cx="0" cy="0"/>
          <a:chOff x="0" y="0"/>
          <a:chExt cx="0" cy="0"/>
        </a:xfrm>
      </p:grpSpPr>
      <p:sp>
        <p:nvSpPr>
          <p:cNvPr id="406530" name="Rectangle 2">
            <a:extLst>
              <a:ext uri="{FF2B5EF4-FFF2-40B4-BE49-F238E27FC236}">
                <a16:creationId xmlns:a16="http://schemas.microsoft.com/office/drawing/2014/main" id="{5AD3491F-10D7-1A22-212A-8CFEB567500E}"/>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1" name="Rectangle 3">
            <a:extLst>
              <a:ext uri="{FF2B5EF4-FFF2-40B4-BE49-F238E27FC236}">
                <a16:creationId xmlns:a16="http://schemas.microsoft.com/office/drawing/2014/main" id="{D5EB442A-283C-C3DB-3474-837EB77EC4BC}"/>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2" name="Rectangle 4">
            <a:extLst>
              <a:ext uri="{FF2B5EF4-FFF2-40B4-BE49-F238E27FC236}">
                <a16:creationId xmlns:a16="http://schemas.microsoft.com/office/drawing/2014/main" id="{2532BE04-77C5-FAB0-DE28-3A559E22F962}"/>
              </a:ext>
            </a:extLst>
          </p:cNvPr>
          <p:cNvSpPr>
            <a:spLocks noGrp="1"/>
          </p:cNvSpPr>
          <p:nvPr>
            <p:ph type="title"/>
          </p:nvPr>
        </p:nvSpPr>
        <p:spPr/>
        <p:txBody>
          <a:bodyPr/>
          <a:lstStyle/>
          <a:p>
            <a:r>
              <a:rPr lang="en-GB" altLang="en-US" dirty="0"/>
              <a:t>Central Banks’s functions</a:t>
            </a:r>
          </a:p>
        </p:txBody>
      </p:sp>
      <p:sp>
        <p:nvSpPr>
          <p:cNvPr id="406533" name="Rectangle 5">
            <a:extLst>
              <a:ext uri="{FF2B5EF4-FFF2-40B4-BE49-F238E27FC236}">
                <a16:creationId xmlns:a16="http://schemas.microsoft.com/office/drawing/2014/main" id="{4B97BBE5-8138-F60F-14FF-77084D906979}"/>
              </a:ext>
            </a:extLst>
          </p:cNvPr>
          <p:cNvSpPr>
            <a:spLocks noGrp="1"/>
          </p:cNvSpPr>
          <p:nvPr>
            <p:ph type="body" idx="1"/>
          </p:nvPr>
        </p:nvSpPr>
        <p:spPr>
          <a:xfrm>
            <a:off x="402336" y="1294226"/>
            <a:ext cx="11338560" cy="5507502"/>
          </a:xfrm>
        </p:spPr>
        <p:txBody>
          <a:bodyPr>
            <a:normAutofit/>
          </a:bodyPr>
          <a:lstStyle/>
          <a:p>
            <a:r>
              <a:rPr lang="en-GB" dirty="0">
                <a:latin typeface="+mn-lt"/>
              </a:rPr>
              <a:t>The Bank of England is the </a:t>
            </a:r>
            <a:r>
              <a:rPr lang="en-GB" b="1" dirty="0">
                <a:latin typeface="+mn-lt"/>
              </a:rPr>
              <a:t>sole issuer of banknotes </a:t>
            </a:r>
            <a:r>
              <a:rPr lang="en-GB" dirty="0">
                <a:latin typeface="+mn-lt"/>
              </a:rPr>
              <a:t>in England and Wales (in Scotland and Northern Ireland retail banks issue banknotes). The amount of banknotes issued by the Bank of England depends largely on the demand for notes from the general public</a:t>
            </a:r>
          </a:p>
          <a:p>
            <a:r>
              <a:rPr lang="en-GB" dirty="0">
                <a:latin typeface="+mn-lt"/>
              </a:rPr>
              <a:t>It </a:t>
            </a:r>
            <a:r>
              <a:rPr lang="en-GB" b="1" dirty="0">
                <a:latin typeface="+mn-lt"/>
              </a:rPr>
              <a:t>acts as a bank</a:t>
            </a:r>
            <a:r>
              <a:rPr lang="en-GB" dirty="0">
                <a:latin typeface="+mn-lt"/>
              </a:rPr>
              <a:t>:</a:t>
            </a:r>
          </a:p>
          <a:p>
            <a:pPr lvl="1"/>
            <a:r>
              <a:rPr lang="en-GB" i="1" dirty="0">
                <a:latin typeface="+mn-lt"/>
              </a:rPr>
              <a:t>To the government. </a:t>
            </a:r>
            <a:r>
              <a:rPr lang="en-GB" dirty="0">
                <a:latin typeface="+mn-lt"/>
              </a:rPr>
              <a:t>It keeps the two major government accounts: ‘The Exchequer’ and the ‘National Loans Fund’. Taxation and government spending pass through the Exchequer. Government borrowing and lending pass through the National Loans Fund. The government tends to keep its deposits in the Bank of England to a minimum. </a:t>
            </a:r>
          </a:p>
          <a:p>
            <a:pPr lvl="1"/>
            <a:r>
              <a:rPr lang="en-GB" i="1" dirty="0">
                <a:latin typeface="+mn-lt"/>
              </a:rPr>
              <a:t>To the banks. </a:t>
            </a:r>
            <a:r>
              <a:rPr lang="en-GB" dirty="0">
                <a:latin typeface="+mn-lt"/>
              </a:rPr>
              <a:t>Banks’ deposits in the Bank of England consist of reserve balances and cash ratio deposits. </a:t>
            </a:r>
          </a:p>
          <a:p>
            <a:pPr lvl="1"/>
            <a:r>
              <a:rPr lang="en-GB" i="1" dirty="0">
                <a:latin typeface="+mn-lt"/>
              </a:rPr>
              <a:t>To overseas central banks. </a:t>
            </a:r>
            <a:r>
              <a:rPr lang="en-GB" dirty="0">
                <a:latin typeface="+mn-lt"/>
              </a:rPr>
              <a:t>The Bank of England holds deposits of sterling (and similarly the European Central Bank holds deposits of euros) made by overseas authorities</a:t>
            </a:r>
          </a:p>
          <a:p>
            <a:pPr lvl="1"/>
            <a:endParaRPr lang="en-GB" dirty="0"/>
          </a:p>
        </p:txBody>
      </p:sp>
    </p:spTree>
    <p:extLst>
      <p:ext uri="{BB962C8B-B14F-4D97-AF65-F5344CB8AC3E}">
        <p14:creationId xmlns:p14="http://schemas.microsoft.com/office/powerpoint/2010/main" val="159557984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3">
                                            <p:txEl>
                                              <p:pRg st="0" end="0"/>
                                            </p:txEl>
                                          </p:spTgt>
                                        </p:tgtEl>
                                        <p:attrNameLst>
                                          <p:attrName>style.visibility</p:attrName>
                                        </p:attrNameLst>
                                      </p:cBhvr>
                                      <p:to>
                                        <p:strVal val="visible"/>
                                      </p:to>
                                    </p:set>
                                    <p:anim calcmode="lin" valueType="num">
                                      <p:cBhvr additive="base">
                                        <p:cTn id="7" dur="500"/>
                                        <p:tgtEl>
                                          <p:spTgt spid="40653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6533">
                                            <p:txEl>
                                              <p:pRg st="1" end="1"/>
                                            </p:txEl>
                                          </p:spTgt>
                                        </p:tgtEl>
                                        <p:attrNameLst>
                                          <p:attrName>style.visibility</p:attrName>
                                        </p:attrNameLst>
                                      </p:cBhvr>
                                      <p:to>
                                        <p:strVal val="visible"/>
                                      </p:to>
                                    </p:set>
                                    <p:anim calcmode="lin" valueType="num">
                                      <p:cBhvr additive="base">
                                        <p:cTn id="13" dur="500"/>
                                        <p:tgtEl>
                                          <p:spTgt spid="40653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653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6533">
                                            <p:txEl>
                                              <p:pRg st="2" end="2"/>
                                            </p:txEl>
                                          </p:spTgt>
                                        </p:tgtEl>
                                        <p:attrNameLst>
                                          <p:attrName>style.visibility</p:attrName>
                                        </p:attrNameLst>
                                      </p:cBhvr>
                                      <p:to>
                                        <p:strVal val="visible"/>
                                      </p:to>
                                    </p:set>
                                    <p:anim calcmode="lin" valueType="num">
                                      <p:cBhvr additive="base">
                                        <p:cTn id="19" dur="500"/>
                                        <p:tgtEl>
                                          <p:spTgt spid="40653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653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6533">
                                            <p:txEl>
                                              <p:pRg st="3" end="3"/>
                                            </p:txEl>
                                          </p:spTgt>
                                        </p:tgtEl>
                                        <p:attrNameLst>
                                          <p:attrName>style.visibility</p:attrName>
                                        </p:attrNameLst>
                                      </p:cBhvr>
                                      <p:to>
                                        <p:strVal val="visible"/>
                                      </p:to>
                                    </p:set>
                                    <p:anim calcmode="lin" valueType="num">
                                      <p:cBhvr additive="base">
                                        <p:cTn id="25" dur="500"/>
                                        <p:tgtEl>
                                          <p:spTgt spid="40653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653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6533">
                                            <p:txEl>
                                              <p:pRg st="4" end="4"/>
                                            </p:txEl>
                                          </p:spTgt>
                                        </p:tgtEl>
                                        <p:attrNameLst>
                                          <p:attrName>style.visibility</p:attrName>
                                        </p:attrNameLst>
                                      </p:cBhvr>
                                      <p:to>
                                        <p:strVal val="visible"/>
                                      </p:to>
                                    </p:set>
                                    <p:anim calcmode="lin" valueType="num">
                                      <p:cBhvr additive="base">
                                        <p:cTn id="31" dur="500"/>
                                        <p:tgtEl>
                                          <p:spTgt spid="40653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65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3"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CBC9E1F-7018-B05E-FF3D-38868C761E8B}"/>
            </a:ext>
          </a:extLst>
        </p:cNvPr>
        <p:cNvGrpSpPr/>
        <p:nvPr/>
      </p:nvGrpSpPr>
      <p:grpSpPr>
        <a:xfrm>
          <a:off x="0" y="0"/>
          <a:ext cx="0" cy="0"/>
          <a:chOff x="0" y="0"/>
          <a:chExt cx="0" cy="0"/>
        </a:xfrm>
      </p:grpSpPr>
      <p:sp>
        <p:nvSpPr>
          <p:cNvPr id="406530" name="Rectangle 2">
            <a:extLst>
              <a:ext uri="{FF2B5EF4-FFF2-40B4-BE49-F238E27FC236}">
                <a16:creationId xmlns:a16="http://schemas.microsoft.com/office/drawing/2014/main" id="{563C1C03-936F-BA1D-C4B8-247A158D75C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1" name="Rectangle 3">
            <a:extLst>
              <a:ext uri="{FF2B5EF4-FFF2-40B4-BE49-F238E27FC236}">
                <a16:creationId xmlns:a16="http://schemas.microsoft.com/office/drawing/2014/main" id="{FAA18EA7-0D27-1463-B9D5-CABE3D25E10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2" name="Rectangle 4">
            <a:extLst>
              <a:ext uri="{FF2B5EF4-FFF2-40B4-BE49-F238E27FC236}">
                <a16:creationId xmlns:a16="http://schemas.microsoft.com/office/drawing/2014/main" id="{8DC36D5A-7365-FCB6-E97D-3C106DB81C1C}"/>
              </a:ext>
            </a:extLst>
          </p:cNvPr>
          <p:cNvSpPr>
            <a:spLocks noGrp="1"/>
          </p:cNvSpPr>
          <p:nvPr>
            <p:ph type="title"/>
          </p:nvPr>
        </p:nvSpPr>
        <p:spPr/>
        <p:txBody>
          <a:bodyPr/>
          <a:lstStyle/>
          <a:p>
            <a:pPr algn="ctr"/>
            <a:endParaRPr lang="en-GB" altLang="en-US" dirty="0"/>
          </a:p>
        </p:txBody>
      </p:sp>
      <p:sp>
        <p:nvSpPr>
          <p:cNvPr id="406533" name="Rectangle 5">
            <a:extLst>
              <a:ext uri="{FF2B5EF4-FFF2-40B4-BE49-F238E27FC236}">
                <a16:creationId xmlns:a16="http://schemas.microsoft.com/office/drawing/2014/main" id="{2725364A-EEE3-D914-D6A4-B9C49420BD74}"/>
              </a:ext>
            </a:extLst>
          </p:cNvPr>
          <p:cNvSpPr>
            <a:spLocks noGrp="1"/>
          </p:cNvSpPr>
          <p:nvPr>
            <p:ph type="body" idx="1"/>
          </p:nvPr>
        </p:nvSpPr>
        <p:spPr>
          <a:xfrm>
            <a:off x="402336" y="1294226"/>
            <a:ext cx="11338560" cy="5507502"/>
          </a:xfrm>
        </p:spPr>
        <p:txBody>
          <a:bodyPr>
            <a:normAutofit/>
          </a:bodyPr>
          <a:lstStyle/>
          <a:p>
            <a:r>
              <a:rPr lang="en-GB" b="1" dirty="0">
                <a:latin typeface="+mn-lt"/>
              </a:rPr>
              <a:t>It operates the country’s monetary policy </a:t>
            </a:r>
          </a:p>
          <a:p>
            <a:pPr lvl="1"/>
            <a:r>
              <a:rPr lang="en-GB" dirty="0">
                <a:latin typeface="+mn-lt"/>
              </a:rPr>
              <a:t>The Bank of England conducts </a:t>
            </a:r>
            <a:r>
              <a:rPr lang="en-GB" b="1" i="1" dirty="0">
                <a:latin typeface="+mn-lt"/>
              </a:rPr>
              <a:t>open-market operations </a:t>
            </a:r>
            <a:r>
              <a:rPr lang="en-GB" b="1" dirty="0">
                <a:latin typeface="+mn-lt"/>
              </a:rPr>
              <a:t>(OMOs) </a:t>
            </a:r>
            <a:r>
              <a:rPr lang="en-GB" dirty="0">
                <a:latin typeface="+mn-lt"/>
              </a:rPr>
              <a:t>to keep interest rates in line with the level decided by the MPC. By purchasing securities (gilts and/or Treasury bills), for example through reverse repos (repos to the banks), the Bank of England provides liquidity, thereby putting downward pressure on interest rates. </a:t>
            </a:r>
          </a:p>
          <a:p>
            <a:pPr lvl="1"/>
            <a:r>
              <a:rPr lang="en-GB" dirty="0">
                <a:latin typeface="+mn-lt"/>
              </a:rPr>
              <a:t>March 2009 saw the Bank begin a programme of </a:t>
            </a:r>
            <a:r>
              <a:rPr lang="en-GB" b="1" i="1" dirty="0">
                <a:latin typeface="+mn-lt"/>
              </a:rPr>
              <a:t>quantitative easing (QE)</a:t>
            </a:r>
            <a:r>
              <a:rPr lang="en-GB" dirty="0">
                <a:latin typeface="+mn-lt"/>
              </a:rPr>
              <a:t>. The aim was to increase the amount of money in the financial system and thereby stimulate bank lending and hence aggregate demand </a:t>
            </a:r>
          </a:p>
          <a:p>
            <a:pPr lvl="1"/>
            <a:endParaRPr lang="en-GB" dirty="0">
              <a:latin typeface="+mn-lt"/>
            </a:endParaRPr>
          </a:p>
          <a:p>
            <a:r>
              <a:rPr lang="en-GB" b="1" dirty="0">
                <a:latin typeface="+mn-lt"/>
              </a:rPr>
              <a:t>It provides liquidity to banks</a:t>
            </a:r>
          </a:p>
          <a:p>
            <a:pPr lvl="1"/>
            <a:r>
              <a:rPr lang="en-GB" dirty="0">
                <a:latin typeface="+mn-lt"/>
              </a:rPr>
              <a:t>It acts as a ‘liquidity back­ stop’ for the banking system. It attempts to ensure that there is always an adequate supply of liquidity to meet the legiti­mate demands of depositors in banks. </a:t>
            </a:r>
          </a:p>
          <a:p>
            <a:pPr marL="0" indent="0">
              <a:buNone/>
            </a:pPr>
            <a:br>
              <a:rPr lang="en-GB" b="1" dirty="0"/>
            </a:br>
            <a:endParaRPr lang="en-GB" b="1" dirty="0"/>
          </a:p>
          <a:p>
            <a:pPr lvl="1"/>
            <a:endParaRPr lang="en-GB" b="1" dirty="0"/>
          </a:p>
          <a:p>
            <a:endParaRPr lang="en-GB" dirty="0"/>
          </a:p>
        </p:txBody>
      </p:sp>
    </p:spTree>
    <p:extLst>
      <p:ext uri="{BB962C8B-B14F-4D97-AF65-F5344CB8AC3E}">
        <p14:creationId xmlns:p14="http://schemas.microsoft.com/office/powerpoint/2010/main" val="317945070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3">
                                            <p:txEl>
                                              <p:pRg st="0" end="0"/>
                                            </p:txEl>
                                          </p:spTgt>
                                        </p:tgtEl>
                                        <p:attrNameLst>
                                          <p:attrName>style.visibility</p:attrName>
                                        </p:attrNameLst>
                                      </p:cBhvr>
                                      <p:to>
                                        <p:strVal val="visible"/>
                                      </p:to>
                                    </p:set>
                                    <p:anim calcmode="lin" valueType="num">
                                      <p:cBhvr additive="base">
                                        <p:cTn id="7" dur="500"/>
                                        <p:tgtEl>
                                          <p:spTgt spid="40653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6533">
                                            <p:txEl>
                                              <p:pRg st="1" end="1"/>
                                            </p:txEl>
                                          </p:spTgt>
                                        </p:tgtEl>
                                        <p:attrNameLst>
                                          <p:attrName>style.visibility</p:attrName>
                                        </p:attrNameLst>
                                      </p:cBhvr>
                                      <p:to>
                                        <p:strVal val="visible"/>
                                      </p:to>
                                    </p:set>
                                    <p:anim calcmode="lin" valueType="num">
                                      <p:cBhvr additive="base">
                                        <p:cTn id="13" dur="500"/>
                                        <p:tgtEl>
                                          <p:spTgt spid="40653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653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6533">
                                            <p:txEl>
                                              <p:pRg st="2" end="2"/>
                                            </p:txEl>
                                          </p:spTgt>
                                        </p:tgtEl>
                                        <p:attrNameLst>
                                          <p:attrName>style.visibility</p:attrName>
                                        </p:attrNameLst>
                                      </p:cBhvr>
                                      <p:to>
                                        <p:strVal val="visible"/>
                                      </p:to>
                                    </p:set>
                                    <p:anim calcmode="lin" valueType="num">
                                      <p:cBhvr additive="base">
                                        <p:cTn id="19" dur="500"/>
                                        <p:tgtEl>
                                          <p:spTgt spid="40653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653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6533">
                                            <p:txEl>
                                              <p:pRg st="4" end="4"/>
                                            </p:txEl>
                                          </p:spTgt>
                                        </p:tgtEl>
                                        <p:attrNameLst>
                                          <p:attrName>style.visibility</p:attrName>
                                        </p:attrNameLst>
                                      </p:cBhvr>
                                      <p:to>
                                        <p:strVal val="visible"/>
                                      </p:to>
                                    </p:set>
                                    <p:anim calcmode="lin" valueType="num">
                                      <p:cBhvr additive="base">
                                        <p:cTn id="25" dur="500"/>
                                        <p:tgtEl>
                                          <p:spTgt spid="406533">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653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6533">
                                            <p:txEl>
                                              <p:pRg st="5" end="5"/>
                                            </p:txEl>
                                          </p:spTgt>
                                        </p:tgtEl>
                                        <p:attrNameLst>
                                          <p:attrName>style.visibility</p:attrName>
                                        </p:attrNameLst>
                                      </p:cBhvr>
                                      <p:to>
                                        <p:strVal val="visible"/>
                                      </p:to>
                                    </p:set>
                                    <p:anim calcmode="lin" valueType="num">
                                      <p:cBhvr additive="base">
                                        <p:cTn id="31" dur="500"/>
                                        <p:tgtEl>
                                          <p:spTgt spid="406533">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653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6533">
                                            <p:txEl>
                                              <p:pRg st="6" end="6"/>
                                            </p:txEl>
                                          </p:spTgt>
                                        </p:tgtEl>
                                        <p:attrNameLst>
                                          <p:attrName>style.visibility</p:attrName>
                                        </p:attrNameLst>
                                      </p:cBhvr>
                                      <p:to>
                                        <p:strVal val="visible"/>
                                      </p:to>
                                    </p:set>
                                    <p:anim calcmode="lin" valueType="num">
                                      <p:cBhvr additive="base">
                                        <p:cTn id="37" dur="500"/>
                                        <p:tgtEl>
                                          <p:spTgt spid="406533">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653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3"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0DA7D-C3C9-9921-205C-93751A6BD1D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E381DFF-4EC1-20F4-BC9A-300ECBE9A5BB}"/>
              </a:ext>
            </a:extLst>
          </p:cNvPr>
          <p:cNvSpPr>
            <a:spLocks noGrp="1"/>
          </p:cNvSpPr>
          <p:nvPr>
            <p:ph sz="quarter" idx="1"/>
          </p:nvPr>
        </p:nvSpPr>
        <p:spPr/>
        <p:txBody>
          <a:bodyPr/>
          <a:lstStyle/>
          <a:p>
            <a:r>
              <a:rPr lang="en-GB" b="1" dirty="0">
                <a:latin typeface="+mn-lt"/>
              </a:rPr>
              <a:t>It oversees the activities of banks and other financial institutions</a:t>
            </a:r>
          </a:p>
          <a:p>
            <a:pPr lvl="1"/>
            <a:r>
              <a:rPr lang="en-GB" dirty="0">
                <a:latin typeface="+mn-lt"/>
              </a:rPr>
              <a:t>The Bank of England requires all recognised banks to main­ </a:t>
            </a:r>
            <a:r>
              <a:rPr lang="en-GB" dirty="0" err="1">
                <a:latin typeface="+mn-lt"/>
              </a:rPr>
              <a:t>tain</a:t>
            </a:r>
            <a:r>
              <a:rPr lang="en-GB" dirty="0">
                <a:latin typeface="+mn-lt"/>
              </a:rPr>
              <a:t> adequate liquidity: this is called </a:t>
            </a:r>
            <a:r>
              <a:rPr lang="en-GB" b="1" i="1" dirty="0">
                <a:latin typeface="+mn-lt"/>
              </a:rPr>
              <a:t>prudential control</a:t>
            </a:r>
            <a:r>
              <a:rPr lang="en-GB" dirty="0">
                <a:latin typeface="+mn-lt"/>
              </a:rPr>
              <a:t>. </a:t>
            </a:r>
          </a:p>
          <a:p>
            <a:pPr lvl="1"/>
            <a:endParaRPr lang="en-GB" dirty="0">
              <a:latin typeface="+mn-lt"/>
            </a:endParaRPr>
          </a:p>
          <a:p>
            <a:r>
              <a:rPr lang="en-GB" b="1" dirty="0">
                <a:latin typeface="+mn-lt"/>
              </a:rPr>
              <a:t>It operates the government’s exchange rate policy </a:t>
            </a:r>
          </a:p>
          <a:p>
            <a:pPr lvl="1"/>
            <a:r>
              <a:rPr lang="en-GB" b="0" dirty="0">
                <a:effectLst/>
                <a:latin typeface="+mn-lt"/>
              </a:rPr>
              <a:t>The Bank of England manages the country’s gold and foreign currency reserves. This is done through the </a:t>
            </a:r>
            <a:r>
              <a:rPr lang="en-GB" b="1" i="1" dirty="0">
                <a:effectLst/>
                <a:latin typeface="+mn-lt"/>
              </a:rPr>
              <a:t>exchange equalisation account</a:t>
            </a:r>
            <a:r>
              <a:rPr lang="en-GB" b="0" dirty="0">
                <a:effectLst/>
                <a:latin typeface="+mn-lt"/>
              </a:rPr>
              <a:t>. </a:t>
            </a:r>
            <a:endParaRPr lang="en-GB" dirty="0">
              <a:latin typeface="+mn-lt"/>
            </a:endParaRPr>
          </a:p>
          <a:p>
            <a:endParaRPr lang="en-GB" b="1" dirty="0"/>
          </a:p>
        </p:txBody>
      </p:sp>
    </p:spTree>
    <p:extLst>
      <p:ext uri="{BB962C8B-B14F-4D97-AF65-F5344CB8AC3E}">
        <p14:creationId xmlns:p14="http://schemas.microsoft.com/office/powerpoint/2010/main" val="49337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83C65F97-4B14-4450-8AD0-34762A28354E}"/>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79" name="Rectangle 3">
            <a:extLst>
              <a:ext uri="{FF2B5EF4-FFF2-40B4-BE49-F238E27FC236}">
                <a16:creationId xmlns:a16="http://schemas.microsoft.com/office/drawing/2014/main" id="{E7BE2CA3-CEC9-4F2E-A3B8-71797E06EC2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80" name="Rectangle 4">
            <a:extLst>
              <a:ext uri="{FF2B5EF4-FFF2-40B4-BE49-F238E27FC236}">
                <a16:creationId xmlns:a16="http://schemas.microsoft.com/office/drawing/2014/main" id="{B1DF945D-915C-4345-ABE7-CE7737569850}"/>
              </a:ext>
            </a:extLst>
          </p:cNvPr>
          <p:cNvSpPr>
            <a:spLocks noGrp="1"/>
          </p:cNvSpPr>
          <p:nvPr>
            <p:ph type="title"/>
          </p:nvPr>
        </p:nvSpPr>
        <p:spPr/>
        <p:txBody>
          <a:bodyPr/>
          <a:lstStyle/>
          <a:p>
            <a:r>
              <a:rPr lang="en-GB" altLang="en-US" dirty="0"/>
              <a:t>The Supply of Money</a:t>
            </a:r>
          </a:p>
        </p:txBody>
      </p:sp>
      <p:sp>
        <p:nvSpPr>
          <p:cNvPr id="408581" name="Rectangle 5">
            <a:extLst>
              <a:ext uri="{FF2B5EF4-FFF2-40B4-BE49-F238E27FC236}">
                <a16:creationId xmlns:a16="http://schemas.microsoft.com/office/drawing/2014/main" id="{514027F7-A009-45A5-A351-900407066D34}"/>
              </a:ext>
            </a:extLst>
          </p:cNvPr>
          <p:cNvSpPr>
            <a:spLocks noGrp="1"/>
          </p:cNvSpPr>
          <p:nvPr>
            <p:ph sz="quarter" idx="1"/>
          </p:nvPr>
        </p:nvSpPr>
        <p:spPr>
          <a:xfrm>
            <a:off x="402167" y="1323974"/>
            <a:ext cx="11338560" cy="5353050"/>
          </a:xfrm>
        </p:spPr>
        <p:txBody>
          <a:bodyPr/>
          <a:lstStyle/>
          <a:p>
            <a:pPr>
              <a:lnSpc>
                <a:spcPct val="100000"/>
              </a:lnSpc>
              <a:spcBef>
                <a:spcPts val="600"/>
              </a:spcBef>
            </a:pPr>
            <a:r>
              <a:rPr lang="en-GB" altLang="en-US" dirty="0">
                <a:latin typeface="+mn-lt"/>
                <a:cs typeface="Helvetica" panose="020B0604020202020204"/>
              </a:rPr>
              <a:t>Start with money as notes and coins</a:t>
            </a:r>
          </a:p>
          <a:p>
            <a:pPr lvl="1">
              <a:spcBef>
                <a:spcPts val="600"/>
              </a:spcBef>
            </a:pPr>
            <a:r>
              <a:rPr lang="en-GB" altLang="en-US" dirty="0">
                <a:latin typeface="+mn-lt"/>
                <a:cs typeface="Helvetica" panose="020B0604020202020204"/>
              </a:rPr>
              <a:t>But also bank deposits – including deposits with CB</a:t>
            </a:r>
          </a:p>
          <a:p>
            <a:pPr>
              <a:lnSpc>
                <a:spcPct val="100000"/>
              </a:lnSpc>
              <a:spcBef>
                <a:spcPts val="600"/>
              </a:spcBef>
            </a:pPr>
            <a:r>
              <a:rPr lang="en-GB" altLang="en-US" dirty="0">
                <a:latin typeface="+mn-lt"/>
                <a:cs typeface="Helvetica" panose="020B0604020202020204"/>
              </a:rPr>
              <a:t>Different types of money, and financial securities like money</a:t>
            </a:r>
          </a:p>
          <a:p>
            <a:pPr lvl="1">
              <a:spcBef>
                <a:spcPts val="600"/>
              </a:spcBef>
            </a:pPr>
            <a:r>
              <a:rPr lang="en-GB" altLang="en-US" dirty="0">
                <a:latin typeface="+mn-lt"/>
                <a:cs typeface="Helvetica" panose="020B0604020202020204"/>
              </a:rPr>
              <a:t>Distinguish between central bank money (with government guarantee), private money (counterpart of bank credit)</a:t>
            </a:r>
          </a:p>
          <a:p>
            <a:pPr lvl="1">
              <a:lnSpc>
                <a:spcPct val="100000"/>
              </a:lnSpc>
              <a:spcBef>
                <a:spcPts val="600"/>
              </a:spcBef>
            </a:pPr>
            <a:r>
              <a:rPr lang="en-GB" altLang="en-US" b="1" dirty="0">
                <a:latin typeface="+mn-lt"/>
                <a:cs typeface="Helvetica" panose="020B0604020202020204"/>
              </a:rPr>
              <a:t>Monetary base </a:t>
            </a:r>
            <a:r>
              <a:rPr lang="en-GB" altLang="en-US" dirty="0">
                <a:latin typeface="+mn-lt"/>
                <a:cs typeface="Helvetica" panose="020B0604020202020204"/>
              </a:rPr>
              <a:t>– notes, coins (&amp; non-interest bearing deposits at CB)</a:t>
            </a:r>
          </a:p>
          <a:p>
            <a:pPr lvl="1">
              <a:lnSpc>
                <a:spcPct val="100000"/>
              </a:lnSpc>
              <a:spcBef>
                <a:spcPts val="600"/>
              </a:spcBef>
            </a:pPr>
            <a:r>
              <a:rPr lang="en-GB" altLang="en-US" b="1" dirty="0">
                <a:latin typeface="+mn-lt"/>
                <a:cs typeface="Helvetica" panose="020B0604020202020204"/>
              </a:rPr>
              <a:t>Broad money </a:t>
            </a:r>
            <a:r>
              <a:rPr lang="en-GB" altLang="en-US" dirty="0">
                <a:latin typeface="+mn-lt"/>
                <a:cs typeface="Helvetica" panose="020B0604020202020204"/>
              </a:rPr>
              <a:t>– needs to include at least some bank deposits</a:t>
            </a:r>
          </a:p>
          <a:p>
            <a:pPr lvl="2">
              <a:spcBef>
                <a:spcPts val="600"/>
              </a:spcBef>
            </a:pPr>
            <a:r>
              <a:rPr lang="en-GB" altLang="en-US" dirty="0">
                <a:latin typeface="+mn-lt"/>
                <a:cs typeface="Helvetica" panose="020B0604020202020204"/>
              </a:rPr>
              <a:t>Variety of approaches: narrow money (M1) includes sight deposits</a:t>
            </a:r>
          </a:p>
          <a:p>
            <a:pPr lvl="2">
              <a:spcBef>
                <a:spcPts val="600"/>
              </a:spcBef>
            </a:pPr>
            <a:r>
              <a:rPr lang="en-GB" altLang="en-US" dirty="0">
                <a:latin typeface="+mn-lt"/>
                <a:cs typeface="Helvetica" panose="020B0604020202020204"/>
              </a:rPr>
              <a:t>With digitised banking, most deposits accessible – so M3/M4 (broad money)</a:t>
            </a:r>
          </a:p>
          <a:p>
            <a:pPr lvl="3">
              <a:spcBef>
                <a:spcPts val="600"/>
              </a:spcBef>
            </a:pPr>
            <a:r>
              <a:rPr lang="en-GB" altLang="en-US" dirty="0">
                <a:latin typeface="+mn-lt"/>
                <a:cs typeface="Helvetica" panose="020B0604020202020204"/>
              </a:rPr>
              <a:t>All deposits – wholesale/commercial; sight/time; across MFIs, not just banks</a:t>
            </a:r>
          </a:p>
        </p:txBody>
      </p:sp>
    </p:spTree>
    <p:extLst>
      <p:ext uri="{BB962C8B-B14F-4D97-AF65-F5344CB8AC3E}">
        <p14:creationId xmlns:p14="http://schemas.microsoft.com/office/powerpoint/2010/main" val="858816932"/>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8581">
                                            <p:txEl>
                                              <p:pRg st="0" end="0"/>
                                            </p:txEl>
                                          </p:spTgt>
                                        </p:tgtEl>
                                        <p:attrNameLst>
                                          <p:attrName>style.visibility</p:attrName>
                                        </p:attrNameLst>
                                      </p:cBhvr>
                                      <p:to>
                                        <p:strVal val="visible"/>
                                      </p:to>
                                    </p:set>
                                    <p:anim calcmode="lin" valueType="num">
                                      <p:cBhvr additive="base">
                                        <p:cTn id="7" dur="500"/>
                                        <p:tgtEl>
                                          <p:spTgt spid="40858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858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8581">
                                            <p:txEl>
                                              <p:pRg st="1" end="1"/>
                                            </p:txEl>
                                          </p:spTgt>
                                        </p:tgtEl>
                                        <p:attrNameLst>
                                          <p:attrName>style.visibility</p:attrName>
                                        </p:attrNameLst>
                                      </p:cBhvr>
                                      <p:to>
                                        <p:strVal val="visible"/>
                                      </p:to>
                                    </p:set>
                                    <p:anim calcmode="lin" valueType="num">
                                      <p:cBhvr additive="base">
                                        <p:cTn id="13" dur="500"/>
                                        <p:tgtEl>
                                          <p:spTgt spid="40858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858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8581">
                                            <p:txEl>
                                              <p:pRg st="2" end="2"/>
                                            </p:txEl>
                                          </p:spTgt>
                                        </p:tgtEl>
                                        <p:attrNameLst>
                                          <p:attrName>style.visibility</p:attrName>
                                        </p:attrNameLst>
                                      </p:cBhvr>
                                      <p:to>
                                        <p:strVal val="visible"/>
                                      </p:to>
                                    </p:set>
                                    <p:anim calcmode="lin" valueType="num">
                                      <p:cBhvr additive="base">
                                        <p:cTn id="19" dur="500"/>
                                        <p:tgtEl>
                                          <p:spTgt spid="40858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858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8581">
                                            <p:txEl>
                                              <p:pRg st="3" end="3"/>
                                            </p:txEl>
                                          </p:spTgt>
                                        </p:tgtEl>
                                        <p:attrNameLst>
                                          <p:attrName>style.visibility</p:attrName>
                                        </p:attrNameLst>
                                      </p:cBhvr>
                                      <p:to>
                                        <p:strVal val="visible"/>
                                      </p:to>
                                    </p:set>
                                    <p:anim calcmode="lin" valueType="num">
                                      <p:cBhvr additive="base">
                                        <p:cTn id="25" dur="500"/>
                                        <p:tgtEl>
                                          <p:spTgt spid="40858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858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8581">
                                            <p:txEl>
                                              <p:pRg st="4" end="4"/>
                                            </p:txEl>
                                          </p:spTgt>
                                        </p:tgtEl>
                                        <p:attrNameLst>
                                          <p:attrName>style.visibility</p:attrName>
                                        </p:attrNameLst>
                                      </p:cBhvr>
                                      <p:to>
                                        <p:strVal val="visible"/>
                                      </p:to>
                                    </p:set>
                                    <p:anim calcmode="lin" valueType="num">
                                      <p:cBhvr additive="base">
                                        <p:cTn id="31" dur="500"/>
                                        <p:tgtEl>
                                          <p:spTgt spid="40858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858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8581">
                                            <p:txEl>
                                              <p:pRg st="5" end="5"/>
                                            </p:txEl>
                                          </p:spTgt>
                                        </p:tgtEl>
                                        <p:attrNameLst>
                                          <p:attrName>style.visibility</p:attrName>
                                        </p:attrNameLst>
                                      </p:cBhvr>
                                      <p:to>
                                        <p:strVal val="visible"/>
                                      </p:to>
                                    </p:set>
                                    <p:anim calcmode="lin" valueType="num">
                                      <p:cBhvr additive="base">
                                        <p:cTn id="37" dur="500"/>
                                        <p:tgtEl>
                                          <p:spTgt spid="40858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858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8581">
                                            <p:txEl>
                                              <p:pRg st="6" end="6"/>
                                            </p:txEl>
                                          </p:spTgt>
                                        </p:tgtEl>
                                        <p:attrNameLst>
                                          <p:attrName>style.visibility</p:attrName>
                                        </p:attrNameLst>
                                      </p:cBhvr>
                                      <p:to>
                                        <p:strVal val="visible"/>
                                      </p:to>
                                    </p:set>
                                    <p:anim calcmode="lin" valueType="num">
                                      <p:cBhvr additive="base">
                                        <p:cTn id="43" dur="500"/>
                                        <p:tgtEl>
                                          <p:spTgt spid="40858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858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8581">
                                            <p:txEl>
                                              <p:pRg st="7" end="7"/>
                                            </p:txEl>
                                          </p:spTgt>
                                        </p:tgtEl>
                                        <p:attrNameLst>
                                          <p:attrName>style.visibility</p:attrName>
                                        </p:attrNameLst>
                                      </p:cBhvr>
                                      <p:to>
                                        <p:strVal val="visible"/>
                                      </p:to>
                                    </p:set>
                                    <p:anim calcmode="lin" valueType="num">
                                      <p:cBhvr additive="base">
                                        <p:cTn id="49" dur="500"/>
                                        <p:tgtEl>
                                          <p:spTgt spid="40858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8581">
                                            <p:txEl>
                                              <p:pRg st="7" end="7"/>
                                            </p:txEl>
                                          </p:spTgt>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408581">
                                            <p:txEl>
                                              <p:pRg st="8" end="8"/>
                                            </p:txEl>
                                          </p:spTgt>
                                        </p:tgtEl>
                                        <p:attrNameLst>
                                          <p:attrName>style.visibility</p:attrName>
                                        </p:attrNameLst>
                                      </p:cBhvr>
                                      <p:to>
                                        <p:strVal val="visible"/>
                                      </p:to>
                                    </p:set>
                                    <p:anim calcmode="lin" valueType="num">
                                      <p:cBhvr additive="base">
                                        <p:cTn id="53" dur="500"/>
                                        <p:tgtEl>
                                          <p:spTgt spid="408581">
                                            <p:txEl>
                                              <p:pRg st="8" end="8"/>
                                            </p:txEl>
                                          </p:spTgt>
                                        </p:tgtEl>
                                        <p:attrNameLst>
                                          <p:attrName>ppt_y</p:attrName>
                                        </p:attrNameLst>
                                      </p:cBhvr>
                                      <p:tavLst>
                                        <p:tav tm="0">
                                          <p:val>
                                            <p:strVal val="#ppt_y+#ppt_h*1.125000"/>
                                          </p:val>
                                        </p:tav>
                                        <p:tav tm="100000">
                                          <p:val>
                                            <p:strVal val="#ppt_y"/>
                                          </p:val>
                                        </p:tav>
                                      </p:tavLst>
                                    </p:anim>
                                    <p:animEffect transition="in" filter="wipe(up)">
                                      <p:cBhvr>
                                        <p:cTn id="54" dur="500"/>
                                        <p:tgtEl>
                                          <p:spTgt spid="40858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1" grpId="0" build="p" bldLvl="3"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1830" name="Rectangle 6">
            <a:extLst>
              <a:ext uri="{FF2B5EF4-FFF2-40B4-BE49-F238E27FC236}">
                <a16:creationId xmlns:a16="http://schemas.microsoft.com/office/drawing/2014/main" id="{7A31AF90-9F43-46D6-BD2F-3B7E2CFDFFBC}"/>
              </a:ext>
            </a:extLst>
          </p:cNvPr>
          <p:cNvSpPr>
            <a:spLocks noGrp="1"/>
          </p:cNvSpPr>
          <p:nvPr>
            <p:ph type="title"/>
          </p:nvPr>
        </p:nvSpPr>
        <p:spPr/>
        <p:txBody>
          <a:bodyPr/>
          <a:lstStyle/>
          <a:p>
            <a:r>
              <a:rPr lang="en-GB" altLang="en-US" dirty="0"/>
              <a:t>Bank money and credit creation</a:t>
            </a:r>
          </a:p>
        </p:txBody>
      </p:sp>
      <p:sp>
        <p:nvSpPr>
          <p:cNvPr id="461831" name="Rectangle 7">
            <a:extLst>
              <a:ext uri="{FF2B5EF4-FFF2-40B4-BE49-F238E27FC236}">
                <a16:creationId xmlns:a16="http://schemas.microsoft.com/office/drawing/2014/main" id="{E479FF93-4C70-4834-99C0-02A2F6BE7EE4}"/>
              </a:ext>
            </a:extLst>
          </p:cNvPr>
          <p:cNvSpPr>
            <a:spLocks noGrp="1"/>
          </p:cNvSpPr>
          <p:nvPr>
            <p:ph sz="quarter" idx="1"/>
          </p:nvPr>
        </p:nvSpPr>
        <p:spPr>
          <a:xfrm>
            <a:off x="402335" y="1479296"/>
            <a:ext cx="5492027" cy="1674369"/>
          </a:xfrm>
        </p:spPr>
        <p:txBody>
          <a:bodyPr/>
          <a:lstStyle/>
          <a:p>
            <a:pPr>
              <a:spcBef>
                <a:spcPts val="1000"/>
              </a:spcBef>
            </a:pPr>
            <a:r>
              <a:rPr lang="en-GB" altLang="en-US" sz="2300" dirty="0"/>
              <a:t>Banks must have 10% of deposits as reserves</a:t>
            </a:r>
          </a:p>
          <a:p>
            <a:pPr>
              <a:spcBef>
                <a:spcPts val="1000"/>
              </a:spcBef>
            </a:pPr>
            <a:r>
              <a:rPr lang="en-GB" altLang="en-US" sz="2300" dirty="0"/>
              <a:t>Deposits = loans + reserve</a:t>
            </a:r>
          </a:p>
          <a:p>
            <a:pPr>
              <a:spcBef>
                <a:spcPts val="1000"/>
              </a:spcBef>
            </a:pPr>
            <a:r>
              <a:rPr lang="en-GB" altLang="en-US" sz="2300" dirty="0"/>
              <a:t>L = 0.9D; R = 0.1D</a:t>
            </a:r>
          </a:p>
        </p:txBody>
      </p:sp>
      <p:graphicFrame>
        <p:nvGraphicFramePr>
          <p:cNvPr id="4" name="Table 4">
            <a:extLst>
              <a:ext uri="{FF2B5EF4-FFF2-40B4-BE49-F238E27FC236}">
                <a16:creationId xmlns:a16="http://schemas.microsoft.com/office/drawing/2014/main" id="{0A1661B9-035D-5687-725E-E1A0A10A9678}"/>
              </a:ext>
            </a:extLst>
          </p:cNvPr>
          <p:cNvGraphicFramePr>
            <a:graphicFrameLocks noGrp="1"/>
          </p:cNvGraphicFramePr>
          <p:nvPr/>
        </p:nvGraphicFramePr>
        <p:xfrm>
          <a:off x="6822830" y="1380820"/>
          <a:ext cx="5177849" cy="2285238"/>
        </p:xfrm>
        <a:graphic>
          <a:graphicData uri="http://schemas.openxmlformats.org/drawingml/2006/table">
            <a:tbl>
              <a:tblPr firstRow="1" bandRow="1">
                <a:tableStyleId>{5C22544A-7EE6-4342-B048-85BDC9FD1C3A}</a:tableStyleId>
              </a:tblPr>
              <a:tblGrid>
                <a:gridCol w="3853678">
                  <a:extLst>
                    <a:ext uri="{9D8B030D-6E8A-4147-A177-3AD203B41FA5}">
                      <a16:colId xmlns:a16="http://schemas.microsoft.com/office/drawing/2014/main" val="1489114736"/>
                    </a:ext>
                  </a:extLst>
                </a:gridCol>
                <a:gridCol w="1324171">
                  <a:extLst>
                    <a:ext uri="{9D8B030D-6E8A-4147-A177-3AD203B41FA5}">
                      <a16:colId xmlns:a16="http://schemas.microsoft.com/office/drawing/2014/main" val="2298989296"/>
                    </a:ext>
                  </a:extLst>
                </a:gridCol>
              </a:tblGrid>
              <a:tr h="487426">
                <a:tc gridSpan="2">
                  <a:txBody>
                    <a:bodyPr/>
                    <a:lstStyle/>
                    <a:p>
                      <a:r>
                        <a:rPr lang="en-GB" sz="2400" dirty="0"/>
                        <a:t>Initial assets and liabilities</a:t>
                      </a:r>
                    </a:p>
                  </a:txBody>
                  <a:tcPr>
                    <a:solidFill>
                      <a:schemeClr val="accent2">
                        <a:lumMod val="75000"/>
                      </a:schemeClr>
                    </a:solidFill>
                  </a:tcPr>
                </a:tc>
                <a:tc hMerge="1">
                  <a:txBody>
                    <a:bodyPr/>
                    <a:lstStyle/>
                    <a:p>
                      <a:endParaRPr lang="en-GB" dirty="0"/>
                    </a:p>
                  </a:txBody>
                  <a:tcPr/>
                </a:tc>
                <a:extLst>
                  <a:ext uri="{0D108BD9-81ED-4DB2-BD59-A6C34878D82A}">
                    <a16:rowId xmlns:a16="http://schemas.microsoft.com/office/drawing/2014/main" val="1615739529"/>
                  </a:ext>
                </a:extLst>
              </a:tr>
              <a:tr h="487426">
                <a:tc>
                  <a:txBody>
                    <a:bodyPr/>
                    <a:lstStyle/>
                    <a:p>
                      <a:r>
                        <a:rPr lang="en-GB" sz="2400" dirty="0"/>
                        <a:t>Customers’ Deposits</a:t>
                      </a:r>
                    </a:p>
                  </a:txBody>
                  <a:tcPr anchor="ctr"/>
                </a:tc>
                <a:tc>
                  <a:txBody>
                    <a:bodyPr/>
                    <a:lstStyle/>
                    <a:p>
                      <a:pPr algn="r"/>
                      <a:r>
                        <a:rPr lang="en-GB" sz="2400" dirty="0"/>
                        <a:t>100</a:t>
                      </a:r>
                    </a:p>
                  </a:txBody>
                  <a:tcPr anchor="ctr"/>
                </a:tc>
                <a:extLst>
                  <a:ext uri="{0D108BD9-81ED-4DB2-BD59-A6C34878D82A}">
                    <a16:rowId xmlns:a16="http://schemas.microsoft.com/office/drawing/2014/main" val="948614204"/>
                  </a:ext>
                </a:extLst>
              </a:tr>
              <a:tr h="487426">
                <a:tc>
                  <a:txBody>
                    <a:bodyPr/>
                    <a:lstStyle/>
                    <a:p>
                      <a:r>
                        <a:rPr lang="en-GB" sz="2400" dirty="0"/>
                        <a:t>Represented by Loans advanced</a:t>
                      </a:r>
                    </a:p>
                  </a:txBody>
                  <a:tcPr anchor="ctr"/>
                </a:tc>
                <a:tc>
                  <a:txBody>
                    <a:bodyPr/>
                    <a:lstStyle/>
                    <a:p>
                      <a:pPr algn="r"/>
                      <a:r>
                        <a:rPr lang="en-GB" sz="2400" dirty="0"/>
                        <a:t>90</a:t>
                      </a:r>
                    </a:p>
                  </a:txBody>
                  <a:tcPr anchor="ctr"/>
                </a:tc>
                <a:extLst>
                  <a:ext uri="{0D108BD9-81ED-4DB2-BD59-A6C34878D82A}">
                    <a16:rowId xmlns:a16="http://schemas.microsoft.com/office/drawing/2014/main" val="2998711313"/>
                  </a:ext>
                </a:extLst>
              </a:tr>
              <a:tr h="487426">
                <a:tc>
                  <a:txBody>
                    <a:bodyPr/>
                    <a:lstStyle/>
                    <a:p>
                      <a:r>
                        <a:rPr lang="en-GB" sz="2400" dirty="0"/>
                        <a:t>Held at central bank</a:t>
                      </a:r>
                    </a:p>
                  </a:txBody>
                  <a:tcPr anchor="ctr"/>
                </a:tc>
                <a:tc>
                  <a:txBody>
                    <a:bodyPr/>
                    <a:lstStyle/>
                    <a:p>
                      <a:pPr algn="r"/>
                      <a:r>
                        <a:rPr lang="en-GB" sz="2400" dirty="0"/>
                        <a:t>10</a:t>
                      </a:r>
                    </a:p>
                  </a:txBody>
                  <a:tcPr anchor="ctr"/>
                </a:tc>
                <a:extLst>
                  <a:ext uri="{0D108BD9-81ED-4DB2-BD59-A6C34878D82A}">
                    <a16:rowId xmlns:a16="http://schemas.microsoft.com/office/drawing/2014/main" val="241578095"/>
                  </a:ext>
                </a:extLst>
              </a:tr>
            </a:tbl>
          </a:graphicData>
        </a:graphic>
      </p:graphicFrame>
      <p:graphicFrame>
        <p:nvGraphicFramePr>
          <p:cNvPr id="5" name="Table 4">
            <a:extLst>
              <a:ext uri="{FF2B5EF4-FFF2-40B4-BE49-F238E27FC236}">
                <a16:creationId xmlns:a16="http://schemas.microsoft.com/office/drawing/2014/main" id="{31F8AD04-3840-CF3F-5D65-B64C0313B024}"/>
              </a:ext>
            </a:extLst>
          </p:cNvPr>
          <p:cNvGraphicFramePr>
            <a:graphicFrameLocks noGrp="1"/>
          </p:cNvGraphicFramePr>
          <p:nvPr/>
        </p:nvGraphicFramePr>
        <p:xfrm>
          <a:off x="554890" y="3429000"/>
          <a:ext cx="5339472" cy="2560320"/>
        </p:xfrm>
        <a:graphic>
          <a:graphicData uri="http://schemas.openxmlformats.org/drawingml/2006/table">
            <a:tbl>
              <a:tblPr firstRow="1" bandRow="1">
                <a:tableStyleId>{5C22544A-7EE6-4342-B048-85BDC9FD1C3A}</a:tableStyleId>
              </a:tblPr>
              <a:tblGrid>
                <a:gridCol w="3973968">
                  <a:extLst>
                    <a:ext uri="{9D8B030D-6E8A-4147-A177-3AD203B41FA5}">
                      <a16:colId xmlns:a16="http://schemas.microsoft.com/office/drawing/2014/main" val="1489114736"/>
                    </a:ext>
                  </a:extLst>
                </a:gridCol>
                <a:gridCol w="1365504">
                  <a:extLst>
                    <a:ext uri="{9D8B030D-6E8A-4147-A177-3AD203B41FA5}">
                      <a16:colId xmlns:a16="http://schemas.microsoft.com/office/drawing/2014/main" val="2298989296"/>
                    </a:ext>
                  </a:extLst>
                </a:gridCol>
              </a:tblGrid>
              <a:tr h="370840">
                <a:tc gridSpan="2">
                  <a:txBody>
                    <a:bodyPr/>
                    <a:lstStyle/>
                    <a:p>
                      <a:r>
                        <a:rPr lang="en-GB" sz="2400" dirty="0"/>
                        <a:t>Assets and liabilities – </a:t>
                      </a:r>
                      <a:br>
                        <a:rPr lang="en-GB" sz="2400" dirty="0"/>
                      </a:br>
                      <a:r>
                        <a:rPr lang="en-GB" sz="2400" dirty="0"/>
                        <a:t>new £10m deposit</a:t>
                      </a:r>
                    </a:p>
                  </a:txBody>
                  <a:tcPr>
                    <a:solidFill>
                      <a:schemeClr val="accent2">
                        <a:lumMod val="75000"/>
                      </a:schemeClr>
                    </a:solidFill>
                  </a:tcPr>
                </a:tc>
                <a:tc hMerge="1">
                  <a:txBody>
                    <a:bodyPr/>
                    <a:lstStyle/>
                    <a:p>
                      <a:endParaRPr lang="en-GB" dirty="0"/>
                    </a:p>
                  </a:txBody>
                  <a:tcPr/>
                </a:tc>
                <a:extLst>
                  <a:ext uri="{0D108BD9-81ED-4DB2-BD59-A6C34878D82A}">
                    <a16:rowId xmlns:a16="http://schemas.microsoft.com/office/drawing/2014/main" val="1615739529"/>
                  </a:ext>
                </a:extLst>
              </a:tr>
              <a:tr h="370840">
                <a:tc>
                  <a:txBody>
                    <a:bodyPr/>
                    <a:lstStyle/>
                    <a:p>
                      <a:r>
                        <a:rPr lang="en-GB" sz="2400" dirty="0"/>
                        <a:t>Customers’ Deposits</a:t>
                      </a:r>
                    </a:p>
                  </a:txBody>
                  <a:tcPr anchor="ctr"/>
                </a:tc>
                <a:tc>
                  <a:txBody>
                    <a:bodyPr/>
                    <a:lstStyle/>
                    <a:p>
                      <a:pPr algn="r"/>
                      <a:r>
                        <a:rPr lang="en-GB" sz="2400" dirty="0"/>
                        <a:t>110</a:t>
                      </a:r>
                    </a:p>
                  </a:txBody>
                  <a:tcPr anchor="ctr"/>
                </a:tc>
                <a:extLst>
                  <a:ext uri="{0D108BD9-81ED-4DB2-BD59-A6C34878D82A}">
                    <a16:rowId xmlns:a16="http://schemas.microsoft.com/office/drawing/2014/main" val="948614204"/>
                  </a:ext>
                </a:extLst>
              </a:tr>
              <a:tr h="370840">
                <a:tc>
                  <a:txBody>
                    <a:bodyPr/>
                    <a:lstStyle/>
                    <a:p>
                      <a:r>
                        <a:rPr lang="en-GB" sz="2400" dirty="0"/>
                        <a:t>Represented by Loans advanced</a:t>
                      </a:r>
                    </a:p>
                  </a:txBody>
                  <a:tcPr anchor="ctr"/>
                </a:tc>
                <a:tc>
                  <a:txBody>
                    <a:bodyPr/>
                    <a:lstStyle/>
                    <a:p>
                      <a:pPr algn="r"/>
                      <a:r>
                        <a:rPr lang="en-GB" sz="2400" dirty="0"/>
                        <a:t>90</a:t>
                      </a:r>
                    </a:p>
                  </a:txBody>
                  <a:tcPr anchor="ctr"/>
                </a:tc>
                <a:extLst>
                  <a:ext uri="{0D108BD9-81ED-4DB2-BD59-A6C34878D82A}">
                    <a16:rowId xmlns:a16="http://schemas.microsoft.com/office/drawing/2014/main" val="2998711313"/>
                  </a:ext>
                </a:extLst>
              </a:tr>
              <a:tr h="370840">
                <a:tc>
                  <a:txBody>
                    <a:bodyPr/>
                    <a:lstStyle/>
                    <a:p>
                      <a:r>
                        <a:rPr lang="en-GB" sz="2400" dirty="0"/>
                        <a:t>Held at central bank</a:t>
                      </a:r>
                    </a:p>
                  </a:txBody>
                  <a:tcPr anchor="ctr"/>
                </a:tc>
                <a:tc>
                  <a:txBody>
                    <a:bodyPr/>
                    <a:lstStyle/>
                    <a:p>
                      <a:pPr algn="r"/>
                      <a:r>
                        <a:rPr lang="en-GB" sz="2400" dirty="0"/>
                        <a:t>20</a:t>
                      </a:r>
                    </a:p>
                  </a:txBody>
                  <a:tcPr anchor="ctr"/>
                </a:tc>
                <a:extLst>
                  <a:ext uri="{0D108BD9-81ED-4DB2-BD59-A6C34878D82A}">
                    <a16:rowId xmlns:a16="http://schemas.microsoft.com/office/drawing/2014/main" val="241578095"/>
                  </a:ext>
                </a:extLst>
              </a:tr>
            </a:tbl>
          </a:graphicData>
        </a:graphic>
      </p:graphicFrame>
      <p:graphicFrame>
        <p:nvGraphicFramePr>
          <p:cNvPr id="6" name="Table 4">
            <a:extLst>
              <a:ext uri="{FF2B5EF4-FFF2-40B4-BE49-F238E27FC236}">
                <a16:creationId xmlns:a16="http://schemas.microsoft.com/office/drawing/2014/main" id="{0EC0D75D-8789-5E96-5B3D-6A95F86B4542}"/>
              </a:ext>
            </a:extLst>
          </p:cNvPr>
          <p:cNvGraphicFramePr>
            <a:graphicFrameLocks noGrp="1"/>
          </p:cNvGraphicFramePr>
          <p:nvPr/>
        </p:nvGraphicFramePr>
        <p:xfrm>
          <a:off x="6836903" y="3815158"/>
          <a:ext cx="5169552" cy="2560320"/>
        </p:xfrm>
        <a:graphic>
          <a:graphicData uri="http://schemas.openxmlformats.org/drawingml/2006/table">
            <a:tbl>
              <a:tblPr firstRow="1" bandRow="1">
                <a:tableStyleId>{5C22544A-7EE6-4342-B048-85BDC9FD1C3A}</a:tableStyleId>
              </a:tblPr>
              <a:tblGrid>
                <a:gridCol w="3847503">
                  <a:extLst>
                    <a:ext uri="{9D8B030D-6E8A-4147-A177-3AD203B41FA5}">
                      <a16:colId xmlns:a16="http://schemas.microsoft.com/office/drawing/2014/main" val="1489114736"/>
                    </a:ext>
                  </a:extLst>
                </a:gridCol>
                <a:gridCol w="1322049">
                  <a:extLst>
                    <a:ext uri="{9D8B030D-6E8A-4147-A177-3AD203B41FA5}">
                      <a16:colId xmlns:a16="http://schemas.microsoft.com/office/drawing/2014/main" val="2298989296"/>
                    </a:ext>
                  </a:extLst>
                </a:gridCol>
              </a:tblGrid>
              <a:tr h="370840">
                <a:tc gridSpan="2">
                  <a:txBody>
                    <a:bodyPr/>
                    <a:lstStyle/>
                    <a:p>
                      <a:r>
                        <a:rPr lang="en-GB" sz="2400" dirty="0"/>
                        <a:t>Final equilibrium </a:t>
                      </a:r>
                      <a:br>
                        <a:rPr lang="en-GB" sz="2400" dirty="0"/>
                      </a:br>
                      <a:r>
                        <a:rPr lang="en-GB" sz="2400" dirty="0"/>
                        <a:t>assets and liabilities</a:t>
                      </a:r>
                    </a:p>
                  </a:txBody>
                  <a:tcPr>
                    <a:solidFill>
                      <a:schemeClr val="accent2">
                        <a:lumMod val="75000"/>
                      </a:schemeClr>
                    </a:solidFill>
                  </a:tcPr>
                </a:tc>
                <a:tc hMerge="1">
                  <a:txBody>
                    <a:bodyPr/>
                    <a:lstStyle/>
                    <a:p>
                      <a:endParaRPr lang="en-GB" dirty="0"/>
                    </a:p>
                  </a:txBody>
                  <a:tcPr/>
                </a:tc>
                <a:extLst>
                  <a:ext uri="{0D108BD9-81ED-4DB2-BD59-A6C34878D82A}">
                    <a16:rowId xmlns:a16="http://schemas.microsoft.com/office/drawing/2014/main" val="1615739529"/>
                  </a:ext>
                </a:extLst>
              </a:tr>
              <a:tr h="370840">
                <a:tc>
                  <a:txBody>
                    <a:bodyPr/>
                    <a:lstStyle/>
                    <a:p>
                      <a:r>
                        <a:rPr lang="en-GB" sz="2400" dirty="0"/>
                        <a:t>Customers’ Deposits</a:t>
                      </a:r>
                    </a:p>
                  </a:txBody>
                  <a:tcPr anchor="ctr"/>
                </a:tc>
                <a:tc>
                  <a:txBody>
                    <a:bodyPr/>
                    <a:lstStyle/>
                    <a:p>
                      <a:pPr algn="r"/>
                      <a:r>
                        <a:rPr lang="en-GB" sz="2400" dirty="0"/>
                        <a:t>200</a:t>
                      </a:r>
                    </a:p>
                  </a:txBody>
                  <a:tcPr anchor="ctr"/>
                </a:tc>
                <a:extLst>
                  <a:ext uri="{0D108BD9-81ED-4DB2-BD59-A6C34878D82A}">
                    <a16:rowId xmlns:a16="http://schemas.microsoft.com/office/drawing/2014/main" val="948614204"/>
                  </a:ext>
                </a:extLst>
              </a:tr>
              <a:tr h="370840">
                <a:tc>
                  <a:txBody>
                    <a:bodyPr/>
                    <a:lstStyle/>
                    <a:p>
                      <a:r>
                        <a:rPr lang="en-GB" sz="2400" dirty="0"/>
                        <a:t>Represented by Loans advanced</a:t>
                      </a:r>
                    </a:p>
                  </a:txBody>
                  <a:tcPr anchor="ctr"/>
                </a:tc>
                <a:tc>
                  <a:txBody>
                    <a:bodyPr/>
                    <a:lstStyle/>
                    <a:p>
                      <a:pPr algn="r"/>
                      <a:r>
                        <a:rPr lang="en-GB" sz="2400" dirty="0"/>
                        <a:t>180</a:t>
                      </a:r>
                    </a:p>
                  </a:txBody>
                  <a:tcPr anchor="ctr"/>
                </a:tc>
                <a:extLst>
                  <a:ext uri="{0D108BD9-81ED-4DB2-BD59-A6C34878D82A}">
                    <a16:rowId xmlns:a16="http://schemas.microsoft.com/office/drawing/2014/main" val="2998711313"/>
                  </a:ext>
                </a:extLst>
              </a:tr>
              <a:tr h="370840">
                <a:tc>
                  <a:txBody>
                    <a:bodyPr/>
                    <a:lstStyle/>
                    <a:p>
                      <a:r>
                        <a:rPr lang="en-GB" sz="2400" dirty="0"/>
                        <a:t>Held at central bank</a:t>
                      </a:r>
                    </a:p>
                  </a:txBody>
                  <a:tcPr anchor="ctr"/>
                </a:tc>
                <a:tc>
                  <a:txBody>
                    <a:bodyPr/>
                    <a:lstStyle/>
                    <a:p>
                      <a:pPr algn="r"/>
                      <a:r>
                        <a:rPr lang="en-GB" sz="2400" dirty="0"/>
                        <a:t>20</a:t>
                      </a:r>
                    </a:p>
                  </a:txBody>
                  <a:tcPr anchor="ctr"/>
                </a:tc>
                <a:extLst>
                  <a:ext uri="{0D108BD9-81ED-4DB2-BD59-A6C34878D82A}">
                    <a16:rowId xmlns:a16="http://schemas.microsoft.com/office/drawing/2014/main" val="241578095"/>
                  </a:ext>
                </a:extLst>
              </a:tr>
            </a:tbl>
          </a:graphicData>
        </a:graphic>
      </p:graphicFrame>
    </p:spTree>
    <p:extLst>
      <p:ext uri="{BB962C8B-B14F-4D97-AF65-F5344CB8AC3E}">
        <p14:creationId xmlns:p14="http://schemas.microsoft.com/office/powerpoint/2010/main" val="14466598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61831">
                                            <p:txEl>
                                              <p:pRg st="0" end="0"/>
                                            </p:txEl>
                                          </p:spTgt>
                                        </p:tgtEl>
                                        <p:attrNameLst>
                                          <p:attrName>style.visibility</p:attrName>
                                        </p:attrNameLst>
                                      </p:cBhvr>
                                      <p:to>
                                        <p:strVal val="visible"/>
                                      </p:to>
                                    </p:set>
                                    <p:anim calcmode="lin" valueType="num">
                                      <p:cBhvr additive="base">
                                        <p:cTn id="7" dur="500"/>
                                        <p:tgtEl>
                                          <p:spTgt spid="4618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61831">
                                            <p:txEl>
                                              <p:pRg st="0" end="0"/>
                                            </p:txEl>
                                          </p:spTgt>
                                        </p:tgtEl>
                                      </p:cBhvr>
                                    </p:animEffect>
                                  </p:childTnLst>
                                </p:cTn>
                              </p:par>
                            </p:childTnLst>
                          </p:cTn>
                        </p:par>
                        <p:par>
                          <p:cTn id="9" fill="hold">
                            <p:stCondLst>
                              <p:cond delay="500"/>
                            </p:stCondLst>
                            <p:childTnLst>
                              <p:par>
                                <p:cTn id="10" presetID="42" presetClass="entr" presetSubtype="0" fill="hold" grpId="0" nodeType="afterEffect">
                                  <p:stCondLst>
                                    <p:cond delay="2000"/>
                                  </p:stCondLst>
                                  <p:childTnLst>
                                    <p:set>
                                      <p:cBhvr>
                                        <p:cTn id="11" dur="1" fill="hold">
                                          <p:stCondLst>
                                            <p:cond delay="0"/>
                                          </p:stCondLst>
                                        </p:cTn>
                                        <p:tgtEl>
                                          <p:spTgt spid="461831">
                                            <p:txEl>
                                              <p:pRg st="1" end="1"/>
                                            </p:txEl>
                                          </p:spTgt>
                                        </p:tgtEl>
                                        <p:attrNameLst>
                                          <p:attrName>style.visibility</p:attrName>
                                        </p:attrNameLst>
                                      </p:cBhvr>
                                      <p:to>
                                        <p:strVal val="visible"/>
                                      </p:to>
                                    </p:set>
                                    <p:animEffect transition="in" filter="fade">
                                      <p:cBhvr>
                                        <p:cTn id="12" dur="1000"/>
                                        <p:tgtEl>
                                          <p:spTgt spid="461831">
                                            <p:txEl>
                                              <p:pRg st="1" end="1"/>
                                            </p:txEl>
                                          </p:spTgt>
                                        </p:tgtEl>
                                      </p:cBhvr>
                                    </p:animEffect>
                                    <p:anim calcmode="lin" valueType="num">
                                      <p:cBhvr>
                                        <p:cTn id="13" dur="1000" fill="hold"/>
                                        <p:tgtEl>
                                          <p:spTgt spid="46183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6183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000"/>
                                  </p:stCondLst>
                                  <p:childTnLst>
                                    <p:set>
                                      <p:cBhvr>
                                        <p:cTn id="16" dur="1" fill="hold">
                                          <p:stCondLst>
                                            <p:cond delay="0"/>
                                          </p:stCondLst>
                                        </p:cTn>
                                        <p:tgtEl>
                                          <p:spTgt spid="461831">
                                            <p:txEl>
                                              <p:pRg st="2" end="2"/>
                                            </p:txEl>
                                          </p:spTgt>
                                        </p:tgtEl>
                                        <p:attrNameLst>
                                          <p:attrName>style.visibility</p:attrName>
                                        </p:attrNameLst>
                                      </p:cBhvr>
                                      <p:to>
                                        <p:strVal val="visible"/>
                                      </p:to>
                                    </p:set>
                                    <p:animEffect transition="in" filter="fade">
                                      <p:cBhvr>
                                        <p:cTn id="17" dur="1000"/>
                                        <p:tgtEl>
                                          <p:spTgt spid="461831">
                                            <p:txEl>
                                              <p:pRg st="2" end="2"/>
                                            </p:txEl>
                                          </p:spTgt>
                                        </p:tgtEl>
                                      </p:cBhvr>
                                    </p:animEffect>
                                    <p:anim calcmode="lin" valueType="num">
                                      <p:cBhvr>
                                        <p:cTn id="18" dur="1000" fill="hold"/>
                                        <p:tgtEl>
                                          <p:spTgt spid="46183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6183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31" grpId="0" build="p" bldLvl="3"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2A833-8961-D4F1-DF48-B47B16554CF1}"/>
              </a:ext>
            </a:extLst>
          </p:cNvPr>
          <p:cNvSpPr>
            <a:spLocks noGrp="1"/>
          </p:cNvSpPr>
          <p:nvPr>
            <p:ph type="title"/>
          </p:nvPr>
        </p:nvSpPr>
        <p:spPr/>
        <p:txBody>
          <a:bodyPr/>
          <a:lstStyle/>
          <a:p>
            <a:r>
              <a:rPr lang="en-GB" dirty="0"/>
              <a:t>Bank money and credit creation</a:t>
            </a:r>
          </a:p>
        </p:txBody>
      </p:sp>
      <p:sp>
        <p:nvSpPr>
          <p:cNvPr id="3" name="Content Placeholder 2">
            <a:extLst>
              <a:ext uri="{FF2B5EF4-FFF2-40B4-BE49-F238E27FC236}">
                <a16:creationId xmlns:a16="http://schemas.microsoft.com/office/drawing/2014/main" id="{D8ACD162-F1C3-12F8-F621-1DB649ABF8B4}"/>
              </a:ext>
            </a:extLst>
          </p:cNvPr>
          <p:cNvSpPr>
            <a:spLocks noGrp="1"/>
          </p:cNvSpPr>
          <p:nvPr>
            <p:ph sz="quarter" idx="1"/>
          </p:nvPr>
        </p:nvSpPr>
        <p:spPr>
          <a:xfrm>
            <a:off x="402337" y="1366938"/>
            <a:ext cx="8854680" cy="5310086"/>
          </a:xfrm>
        </p:spPr>
        <p:txBody>
          <a:bodyPr/>
          <a:lstStyle/>
          <a:p>
            <a:r>
              <a:rPr lang="en-GB" dirty="0">
                <a:latin typeface="+mn-lt"/>
              </a:rPr>
              <a:t>Start from bank’s required reserves so R = 0.1D</a:t>
            </a:r>
          </a:p>
          <a:p>
            <a:pPr lvl="1"/>
            <a:r>
              <a:rPr lang="en-GB" dirty="0">
                <a:latin typeface="+mn-lt"/>
              </a:rPr>
              <a:t>Bank receives new deposits of 10bn (from– OMO?)</a:t>
            </a:r>
          </a:p>
          <a:p>
            <a:pPr lvl="2"/>
            <a:r>
              <a:rPr lang="en-GB" dirty="0">
                <a:latin typeface="+mn-lt"/>
              </a:rPr>
              <a:t>So R = 2D/11 – increasing lending capacity</a:t>
            </a:r>
          </a:p>
          <a:p>
            <a:pPr lvl="2"/>
            <a:r>
              <a:rPr lang="en-GB" dirty="0">
                <a:latin typeface="+mn-lt"/>
              </a:rPr>
              <a:t>Has to keep 10% of new deposits as reserves – lends 9bn </a:t>
            </a:r>
          </a:p>
          <a:p>
            <a:pPr lvl="3"/>
            <a:r>
              <a:rPr lang="en-GB" sz="2400" dirty="0">
                <a:latin typeface="+mn-lt"/>
              </a:rPr>
              <a:t>But that 9bn will return to bank(</a:t>
            </a:r>
            <a:r>
              <a:rPr lang="en-GB" sz="2400" dirty="0" err="1">
                <a:latin typeface="+mn-lt"/>
              </a:rPr>
              <a:t>ing</a:t>
            </a:r>
            <a:r>
              <a:rPr lang="en-GB" sz="2400" dirty="0">
                <a:latin typeface="+mn-lt"/>
              </a:rPr>
              <a:t> system) as deposits</a:t>
            </a:r>
          </a:p>
          <a:p>
            <a:pPr lvl="3"/>
            <a:r>
              <a:rPr lang="en-GB" sz="2400" dirty="0">
                <a:latin typeface="+mn-lt"/>
              </a:rPr>
              <a:t>Bank will keep 0.9bn, lend 8.1bn – so deposits increase by 8.1bn</a:t>
            </a:r>
          </a:p>
          <a:p>
            <a:pPr lvl="1"/>
            <a:r>
              <a:rPr lang="en-GB" sz="2200" dirty="0">
                <a:latin typeface="+mn-lt"/>
              </a:rPr>
              <a:t>Carry on as shown until R = 0.1D once again</a:t>
            </a:r>
          </a:p>
          <a:p>
            <a:pPr lvl="2"/>
            <a:r>
              <a:rPr lang="en-GB" sz="2600" dirty="0">
                <a:latin typeface="+mn-lt"/>
              </a:rPr>
              <a:t>Requires R = 20, D = 200, L = 180</a:t>
            </a:r>
          </a:p>
          <a:p>
            <a:pPr lvl="2"/>
            <a:r>
              <a:rPr lang="en-GB" sz="2600" dirty="0">
                <a:latin typeface="+mn-lt"/>
              </a:rPr>
              <a:t>Central bank creates 10% of total money supply</a:t>
            </a:r>
          </a:p>
          <a:p>
            <a:pPr lvl="3"/>
            <a:r>
              <a:rPr lang="en-GB" sz="2400" dirty="0">
                <a:latin typeface="+mn-lt"/>
              </a:rPr>
              <a:t>Commercial banks create 90% of it</a:t>
            </a:r>
          </a:p>
        </p:txBody>
      </p:sp>
      <p:graphicFrame>
        <p:nvGraphicFramePr>
          <p:cNvPr id="4" name="Table 4">
            <a:extLst>
              <a:ext uri="{FF2B5EF4-FFF2-40B4-BE49-F238E27FC236}">
                <a16:creationId xmlns:a16="http://schemas.microsoft.com/office/drawing/2014/main" id="{F278C043-C6F2-92AC-09E5-7D779B3FFE51}"/>
              </a:ext>
            </a:extLst>
          </p:cNvPr>
          <p:cNvGraphicFramePr>
            <a:graphicFrameLocks noGrp="1"/>
          </p:cNvGraphicFramePr>
          <p:nvPr/>
        </p:nvGraphicFramePr>
        <p:xfrm>
          <a:off x="9257017" y="1366938"/>
          <a:ext cx="2743200" cy="52095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34799071"/>
                    </a:ext>
                  </a:extLst>
                </a:gridCol>
                <a:gridCol w="914400">
                  <a:extLst>
                    <a:ext uri="{9D8B030D-6E8A-4147-A177-3AD203B41FA5}">
                      <a16:colId xmlns:a16="http://schemas.microsoft.com/office/drawing/2014/main" val="1301684652"/>
                    </a:ext>
                  </a:extLst>
                </a:gridCol>
                <a:gridCol w="914400">
                  <a:extLst>
                    <a:ext uri="{9D8B030D-6E8A-4147-A177-3AD203B41FA5}">
                      <a16:colId xmlns:a16="http://schemas.microsoft.com/office/drawing/2014/main" val="25736663"/>
                    </a:ext>
                  </a:extLst>
                </a:gridCol>
              </a:tblGrid>
              <a:tr h="370840">
                <a:tc>
                  <a:txBody>
                    <a:bodyPr/>
                    <a:lstStyle/>
                    <a:p>
                      <a:pPr algn="ctr" rtl="0" fontAlgn="ctr"/>
                      <a:r>
                        <a:rPr lang="en-GB" sz="2400" b="1" i="0" u="none" strike="noStrike" dirty="0">
                          <a:solidFill>
                            <a:srgbClr val="FFFFFF"/>
                          </a:solidFill>
                          <a:effectLst/>
                          <a:latin typeface="Arial" panose="020B0604020202020204" pitchFamily="34" charset="0"/>
                        </a:rPr>
                        <a:t>D</a:t>
                      </a:r>
                    </a:p>
                  </a:txBody>
                  <a:tcPr marL="6350" marR="6350" marT="6350" marB="0" anchor="ctr"/>
                </a:tc>
                <a:tc>
                  <a:txBody>
                    <a:bodyPr/>
                    <a:lstStyle/>
                    <a:p>
                      <a:pPr algn="ctr" rtl="0" fontAlgn="ctr"/>
                      <a:r>
                        <a:rPr lang="en-GB" sz="2400" b="1" i="0" u="none" strike="noStrike">
                          <a:solidFill>
                            <a:srgbClr val="FFFFFF"/>
                          </a:solidFill>
                          <a:effectLst/>
                          <a:latin typeface="Arial" panose="020B0604020202020204" pitchFamily="34" charset="0"/>
                        </a:rPr>
                        <a:t>R</a:t>
                      </a:r>
                    </a:p>
                  </a:txBody>
                  <a:tcPr marL="6350" marR="6350" marT="6350" marB="0" anchor="ctr"/>
                </a:tc>
                <a:tc>
                  <a:txBody>
                    <a:bodyPr/>
                    <a:lstStyle/>
                    <a:p>
                      <a:pPr algn="ctr" rtl="0" fontAlgn="ctr"/>
                      <a:r>
                        <a:rPr lang="en-GB" sz="2400" b="1" i="0" u="none" strike="noStrike">
                          <a:solidFill>
                            <a:srgbClr val="FFFFFF"/>
                          </a:solidFill>
                          <a:effectLst/>
                          <a:latin typeface="Arial" panose="020B0604020202020204" pitchFamily="34" charset="0"/>
                        </a:rPr>
                        <a:t>L</a:t>
                      </a:r>
                    </a:p>
                  </a:txBody>
                  <a:tcPr marL="6350" marR="6350" marT="6350" marB="0" anchor="ctr"/>
                </a:tc>
                <a:extLst>
                  <a:ext uri="{0D108BD9-81ED-4DB2-BD59-A6C34878D82A}">
                    <a16:rowId xmlns:a16="http://schemas.microsoft.com/office/drawing/2014/main" val="394897198"/>
                  </a:ext>
                </a:extLst>
              </a:tr>
              <a:tr h="370840">
                <a:tc>
                  <a:txBody>
                    <a:bodyPr/>
                    <a:lstStyle/>
                    <a:p>
                      <a:pPr algn="ctr" rtl="0" fontAlgn="ctr"/>
                      <a:r>
                        <a:rPr lang="en-GB" sz="2400" b="0" i="0" u="none" strike="noStrike">
                          <a:solidFill>
                            <a:srgbClr val="000000"/>
                          </a:solidFill>
                          <a:effectLst/>
                          <a:latin typeface="Arial" panose="020B0604020202020204" pitchFamily="34" charset="0"/>
                        </a:rPr>
                        <a:t>10</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1</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9</a:t>
                      </a:r>
                    </a:p>
                  </a:txBody>
                  <a:tcPr marL="6350" marR="6350" marT="6350" marB="0" anchor="ctr"/>
                </a:tc>
                <a:extLst>
                  <a:ext uri="{0D108BD9-81ED-4DB2-BD59-A6C34878D82A}">
                    <a16:rowId xmlns:a16="http://schemas.microsoft.com/office/drawing/2014/main" val="2853151294"/>
                  </a:ext>
                </a:extLst>
              </a:tr>
              <a:tr h="370840">
                <a:tc>
                  <a:txBody>
                    <a:bodyPr/>
                    <a:lstStyle/>
                    <a:p>
                      <a:pPr algn="ctr" rtl="0" fontAlgn="ctr"/>
                      <a:r>
                        <a:rPr lang="en-GB" sz="2400" b="0" i="0" u="none" strike="noStrike">
                          <a:solidFill>
                            <a:srgbClr val="000000"/>
                          </a:solidFill>
                          <a:effectLst/>
                          <a:latin typeface="Arial" panose="020B0604020202020204" pitchFamily="34" charset="0"/>
                        </a:rPr>
                        <a:t>9</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0.9</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8.1</a:t>
                      </a:r>
                    </a:p>
                  </a:txBody>
                  <a:tcPr marL="6350" marR="6350" marT="6350" marB="0" anchor="ctr"/>
                </a:tc>
                <a:extLst>
                  <a:ext uri="{0D108BD9-81ED-4DB2-BD59-A6C34878D82A}">
                    <a16:rowId xmlns:a16="http://schemas.microsoft.com/office/drawing/2014/main" val="334126341"/>
                  </a:ext>
                </a:extLst>
              </a:tr>
              <a:tr h="370840">
                <a:tc>
                  <a:txBody>
                    <a:bodyPr/>
                    <a:lstStyle/>
                    <a:p>
                      <a:pPr algn="ctr" rtl="0" fontAlgn="ctr"/>
                      <a:r>
                        <a:rPr lang="en-GB" sz="2400" b="0" i="0" u="none" strike="noStrike">
                          <a:solidFill>
                            <a:srgbClr val="000000"/>
                          </a:solidFill>
                          <a:effectLst/>
                          <a:latin typeface="Arial" panose="020B0604020202020204" pitchFamily="34" charset="0"/>
                        </a:rPr>
                        <a:t>8.1</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0.81</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7.29</a:t>
                      </a:r>
                    </a:p>
                  </a:txBody>
                  <a:tcPr marL="6350" marR="6350" marT="6350" marB="0" anchor="ctr"/>
                </a:tc>
                <a:extLst>
                  <a:ext uri="{0D108BD9-81ED-4DB2-BD59-A6C34878D82A}">
                    <a16:rowId xmlns:a16="http://schemas.microsoft.com/office/drawing/2014/main" val="1280997347"/>
                  </a:ext>
                </a:extLst>
              </a:tr>
              <a:tr h="370840">
                <a:tc>
                  <a:txBody>
                    <a:bodyPr/>
                    <a:lstStyle/>
                    <a:p>
                      <a:pPr algn="ctr" rtl="0" fontAlgn="ctr"/>
                      <a:r>
                        <a:rPr lang="en-GB" sz="2400" b="0" i="0" u="none" strike="noStrike">
                          <a:solidFill>
                            <a:srgbClr val="000000"/>
                          </a:solidFill>
                          <a:effectLst/>
                          <a:latin typeface="Arial" panose="020B0604020202020204" pitchFamily="34" charset="0"/>
                        </a:rPr>
                        <a:t>7.29</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0.73</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6.56</a:t>
                      </a:r>
                    </a:p>
                  </a:txBody>
                  <a:tcPr marL="6350" marR="6350" marT="6350" marB="0" anchor="ctr"/>
                </a:tc>
                <a:extLst>
                  <a:ext uri="{0D108BD9-81ED-4DB2-BD59-A6C34878D82A}">
                    <a16:rowId xmlns:a16="http://schemas.microsoft.com/office/drawing/2014/main" val="3628383447"/>
                  </a:ext>
                </a:extLst>
              </a:tr>
              <a:tr h="370840">
                <a:tc>
                  <a:txBody>
                    <a:bodyPr/>
                    <a:lstStyle/>
                    <a:p>
                      <a:pPr algn="ctr" rtl="0" fontAlgn="ctr"/>
                      <a:r>
                        <a:rPr lang="en-GB" sz="2400" b="0" i="0" u="none" strike="noStrike">
                          <a:solidFill>
                            <a:srgbClr val="000000"/>
                          </a:solidFill>
                          <a:effectLst/>
                          <a:latin typeface="Arial" panose="020B0604020202020204" pitchFamily="34" charset="0"/>
                        </a:rPr>
                        <a:t>6.56</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0.66</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5.90</a:t>
                      </a:r>
                    </a:p>
                  </a:txBody>
                  <a:tcPr marL="6350" marR="6350" marT="6350" marB="0" anchor="ctr"/>
                </a:tc>
                <a:extLst>
                  <a:ext uri="{0D108BD9-81ED-4DB2-BD59-A6C34878D82A}">
                    <a16:rowId xmlns:a16="http://schemas.microsoft.com/office/drawing/2014/main" val="41311204"/>
                  </a:ext>
                </a:extLst>
              </a:tr>
              <a:tr h="370840">
                <a:tc>
                  <a:txBody>
                    <a:bodyPr/>
                    <a:lstStyle/>
                    <a:p>
                      <a:pPr algn="ctr" rtl="0" fontAlgn="ctr"/>
                      <a:r>
                        <a:rPr lang="en-GB" sz="2400" b="0" i="0" u="none" strike="noStrike">
                          <a:solidFill>
                            <a:srgbClr val="000000"/>
                          </a:solidFill>
                          <a:effectLst/>
                          <a:latin typeface="Arial" panose="020B0604020202020204" pitchFamily="34" charset="0"/>
                        </a:rPr>
                        <a:t>5.90</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0.59</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5.31</a:t>
                      </a:r>
                    </a:p>
                  </a:txBody>
                  <a:tcPr marL="6350" marR="6350" marT="6350" marB="0" anchor="ctr"/>
                </a:tc>
                <a:extLst>
                  <a:ext uri="{0D108BD9-81ED-4DB2-BD59-A6C34878D82A}">
                    <a16:rowId xmlns:a16="http://schemas.microsoft.com/office/drawing/2014/main" val="1811050576"/>
                  </a:ext>
                </a:extLst>
              </a:tr>
              <a:tr h="370840">
                <a:tc>
                  <a:txBody>
                    <a:bodyPr/>
                    <a:lstStyle/>
                    <a:p>
                      <a:pPr algn="ctr" rtl="0" fontAlgn="ctr"/>
                      <a:r>
                        <a:rPr lang="en-GB" sz="2400" b="0" i="0" u="none" strike="noStrike">
                          <a:solidFill>
                            <a:srgbClr val="000000"/>
                          </a:solidFill>
                          <a:effectLst/>
                          <a:latin typeface="Arial" panose="020B0604020202020204" pitchFamily="34" charset="0"/>
                        </a:rPr>
                        <a:t>5.31</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0.53</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4.78</a:t>
                      </a:r>
                    </a:p>
                  </a:txBody>
                  <a:tcPr marL="6350" marR="6350" marT="6350" marB="0" anchor="ctr"/>
                </a:tc>
                <a:extLst>
                  <a:ext uri="{0D108BD9-81ED-4DB2-BD59-A6C34878D82A}">
                    <a16:rowId xmlns:a16="http://schemas.microsoft.com/office/drawing/2014/main" val="3591445750"/>
                  </a:ext>
                </a:extLst>
              </a:tr>
              <a:tr h="370840">
                <a:tc>
                  <a:txBody>
                    <a:bodyPr/>
                    <a:lstStyle/>
                    <a:p>
                      <a:pPr algn="ctr" rtl="0" fontAlgn="ctr"/>
                      <a:r>
                        <a:rPr lang="en-GB" sz="2400" b="0" i="0" u="none" strike="noStrike">
                          <a:solidFill>
                            <a:srgbClr val="000000"/>
                          </a:solidFill>
                          <a:effectLst/>
                          <a:latin typeface="Arial" panose="020B0604020202020204" pitchFamily="34" charset="0"/>
                        </a:rPr>
                        <a:t>4.78</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0.48</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4.30</a:t>
                      </a:r>
                    </a:p>
                  </a:txBody>
                  <a:tcPr marL="6350" marR="6350" marT="6350" marB="0" anchor="ctr"/>
                </a:tc>
                <a:extLst>
                  <a:ext uri="{0D108BD9-81ED-4DB2-BD59-A6C34878D82A}">
                    <a16:rowId xmlns:a16="http://schemas.microsoft.com/office/drawing/2014/main" val="4198204967"/>
                  </a:ext>
                </a:extLst>
              </a:tr>
              <a:tr h="370840">
                <a:tc>
                  <a:txBody>
                    <a:bodyPr/>
                    <a:lstStyle/>
                    <a:p>
                      <a:pPr algn="ctr" rtl="0" fontAlgn="ctr"/>
                      <a:r>
                        <a:rPr lang="en-GB" sz="2400" b="0" i="0" u="none" strike="noStrike">
                          <a:solidFill>
                            <a:srgbClr val="000000"/>
                          </a:solidFill>
                          <a:effectLst/>
                          <a:latin typeface="Arial" panose="020B0604020202020204" pitchFamily="34" charset="0"/>
                        </a:rPr>
                        <a:t>4.30</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0.43</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3.87</a:t>
                      </a:r>
                    </a:p>
                  </a:txBody>
                  <a:tcPr marL="6350" marR="6350" marT="6350" marB="0" anchor="ctr"/>
                </a:tc>
                <a:extLst>
                  <a:ext uri="{0D108BD9-81ED-4DB2-BD59-A6C34878D82A}">
                    <a16:rowId xmlns:a16="http://schemas.microsoft.com/office/drawing/2014/main" val="1083185480"/>
                  </a:ext>
                </a:extLst>
              </a:tr>
              <a:tr h="370840">
                <a:tc>
                  <a:txBody>
                    <a:bodyPr/>
                    <a:lstStyle/>
                    <a:p>
                      <a:pPr algn="ctr" rtl="0" fontAlgn="ctr"/>
                      <a:r>
                        <a:rPr lang="en-GB" sz="2400" b="0" i="0" u="none" strike="noStrike">
                          <a:solidFill>
                            <a:srgbClr val="000000"/>
                          </a:solidFill>
                          <a:effectLst/>
                          <a:latin typeface="Arial" panose="020B0604020202020204" pitchFamily="34" charset="0"/>
                        </a:rPr>
                        <a:t>3.87</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0.39</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3.49</a:t>
                      </a:r>
                    </a:p>
                  </a:txBody>
                  <a:tcPr marL="6350" marR="6350" marT="6350" marB="0" anchor="ctr"/>
                </a:tc>
                <a:extLst>
                  <a:ext uri="{0D108BD9-81ED-4DB2-BD59-A6C34878D82A}">
                    <a16:rowId xmlns:a16="http://schemas.microsoft.com/office/drawing/2014/main" val="3190770654"/>
                  </a:ext>
                </a:extLst>
              </a:tr>
              <a:tr h="370840">
                <a:tc>
                  <a:txBody>
                    <a:bodyPr/>
                    <a:lstStyle/>
                    <a:p>
                      <a:pPr algn="ctr" rtl="0" fontAlgn="ctr"/>
                      <a:r>
                        <a:rPr lang="en-GB" sz="2400" b="0" i="0" u="none" strike="noStrike">
                          <a:solidFill>
                            <a:srgbClr val="000000"/>
                          </a:solidFill>
                          <a:effectLst/>
                          <a:latin typeface="Arial" panose="020B0604020202020204" pitchFamily="34" charset="0"/>
                        </a:rPr>
                        <a:t>3.49</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0.35</a:t>
                      </a:r>
                    </a:p>
                  </a:txBody>
                  <a:tcPr marL="6350" marR="6350" marT="6350" marB="0" anchor="ctr"/>
                </a:tc>
                <a:tc>
                  <a:txBody>
                    <a:bodyPr/>
                    <a:lstStyle/>
                    <a:p>
                      <a:pPr algn="ctr" rtl="0" fontAlgn="ctr"/>
                      <a:r>
                        <a:rPr lang="en-GB" sz="2400" b="0" i="0" u="none" strike="noStrike" dirty="0">
                          <a:solidFill>
                            <a:srgbClr val="000000"/>
                          </a:solidFill>
                          <a:effectLst/>
                          <a:latin typeface="Arial" panose="020B0604020202020204" pitchFamily="34" charset="0"/>
                        </a:rPr>
                        <a:t>3.14</a:t>
                      </a:r>
                    </a:p>
                  </a:txBody>
                  <a:tcPr marL="6350" marR="6350" marT="6350" marB="0" anchor="ctr"/>
                </a:tc>
                <a:extLst>
                  <a:ext uri="{0D108BD9-81ED-4DB2-BD59-A6C34878D82A}">
                    <a16:rowId xmlns:a16="http://schemas.microsoft.com/office/drawing/2014/main" val="754731496"/>
                  </a:ext>
                </a:extLst>
              </a:tr>
              <a:tr h="370840">
                <a:tc>
                  <a:txBody>
                    <a:bodyPr/>
                    <a:lstStyle/>
                    <a:p>
                      <a:pPr algn="ctr" rtl="0" fontAlgn="ctr"/>
                      <a:r>
                        <a:rPr lang="en-GB" sz="2400" b="0" i="0" u="none" strike="noStrike" dirty="0">
                          <a:solidFill>
                            <a:srgbClr val="000000"/>
                          </a:solidFill>
                          <a:effectLst/>
                          <a:latin typeface="Arial" panose="020B0604020202020204" pitchFamily="34" charset="0"/>
                        </a:rPr>
                        <a:t>3.14</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0.31</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2.82</a:t>
                      </a:r>
                    </a:p>
                  </a:txBody>
                  <a:tcPr marL="6350" marR="6350" marT="6350" marB="0" anchor="ctr"/>
                </a:tc>
                <a:extLst>
                  <a:ext uri="{0D108BD9-81ED-4DB2-BD59-A6C34878D82A}">
                    <a16:rowId xmlns:a16="http://schemas.microsoft.com/office/drawing/2014/main" val="1474367527"/>
                  </a:ext>
                </a:extLst>
              </a:tr>
              <a:tr h="370840">
                <a:tc>
                  <a:txBody>
                    <a:bodyPr/>
                    <a:lstStyle/>
                    <a:p>
                      <a:pPr algn="ctr" rtl="0" fontAlgn="ctr"/>
                      <a:r>
                        <a:rPr lang="en-GB" sz="2400" b="0" i="0" u="none" strike="noStrike">
                          <a:solidFill>
                            <a:srgbClr val="000000"/>
                          </a:solidFill>
                          <a:effectLst/>
                          <a:latin typeface="Arial" panose="020B0604020202020204" pitchFamily="34" charset="0"/>
                        </a:rPr>
                        <a:t>2.82</a:t>
                      </a:r>
                    </a:p>
                  </a:txBody>
                  <a:tcPr marL="6350" marR="6350" marT="6350" marB="0" anchor="ctr"/>
                </a:tc>
                <a:tc>
                  <a:txBody>
                    <a:bodyPr/>
                    <a:lstStyle/>
                    <a:p>
                      <a:pPr algn="ctr" rtl="0" fontAlgn="ctr"/>
                      <a:r>
                        <a:rPr lang="en-GB" sz="2400" b="0" i="0" u="none" strike="noStrike">
                          <a:solidFill>
                            <a:srgbClr val="000000"/>
                          </a:solidFill>
                          <a:effectLst/>
                          <a:latin typeface="Arial" panose="020B0604020202020204" pitchFamily="34" charset="0"/>
                        </a:rPr>
                        <a:t>0.28</a:t>
                      </a:r>
                    </a:p>
                  </a:txBody>
                  <a:tcPr marL="6350" marR="6350" marT="6350" marB="0" anchor="ctr"/>
                </a:tc>
                <a:tc>
                  <a:txBody>
                    <a:bodyPr/>
                    <a:lstStyle/>
                    <a:p>
                      <a:pPr algn="ctr" rtl="0" fontAlgn="ctr"/>
                      <a:r>
                        <a:rPr lang="en-GB" sz="2400" b="0" i="0" u="none" strike="noStrike" dirty="0">
                          <a:solidFill>
                            <a:srgbClr val="000000"/>
                          </a:solidFill>
                          <a:effectLst/>
                          <a:latin typeface="Arial" panose="020B0604020202020204" pitchFamily="34" charset="0"/>
                        </a:rPr>
                        <a:t>2.54</a:t>
                      </a:r>
                    </a:p>
                  </a:txBody>
                  <a:tcPr marL="6350" marR="6350" marT="6350" marB="0" anchor="ctr"/>
                </a:tc>
                <a:extLst>
                  <a:ext uri="{0D108BD9-81ED-4DB2-BD59-A6C34878D82A}">
                    <a16:rowId xmlns:a16="http://schemas.microsoft.com/office/drawing/2014/main" val="3970782331"/>
                  </a:ext>
                </a:extLst>
              </a:tr>
            </a:tbl>
          </a:graphicData>
        </a:graphic>
      </p:graphicFrame>
    </p:spTree>
    <p:extLst>
      <p:ext uri="{BB962C8B-B14F-4D97-AF65-F5344CB8AC3E}">
        <p14:creationId xmlns:p14="http://schemas.microsoft.com/office/powerpoint/2010/main" val="2003493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83C65F97-4B14-4450-8AD0-34762A28354E}"/>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79" name="Rectangle 3">
            <a:extLst>
              <a:ext uri="{FF2B5EF4-FFF2-40B4-BE49-F238E27FC236}">
                <a16:creationId xmlns:a16="http://schemas.microsoft.com/office/drawing/2014/main" id="{E7BE2CA3-CEC9-4F2E-A3B8-71797E06EC2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80" name="Rectangle 4">
            <a:extLst>
              <a:ext uri="{FF2B5EF4-FFF2-40B4-BE49-F238E27FC236}">
                <a16:creationId xmlns:a16="http://schemas.microsoft.com/office/drawing/2014/main" id="{B1DF945D-915C-4345-ABE7-CE7737569850}"/>
              </a:ext>
            </a:extLst>
          </p:cNvPr>
          <p:cNvSpPr>
            <a:spLocks noGrp="1"/>
          </p:cNvSpPr>
          <p:nvPr>
            <p:ph type="title"/>
          </p:nvPr>
        </p:nvSpPr>
        <p:spPr/>
        <p:txBody>
          <a:bodyPr/>
          <a:lstStyle/>
          <a:p>
            <a:r>
              <a:rPr lang="en-GB" altLang="en-US" dirty="0"/>
              <a:t>Deposit multiplier and credit creation</a:t>
            </a:r>
          </a:p>
        </p:txBody>
      </p:sp>
      <p:sp>
        <p:nvSpPr>
          <p:cNvPr id="408581" name="Rectangle 5">
            <a:extLst>
              <a:ext uri="{FF2B5EF4-FFF2-40B4-BE49-F238E27FC236}">
                <a16:creationId xmlns:a16="http://schemas.microsoft.com/office/drawing/2014/main" id="{514027F7-A009-45A5-A351-900407066D34}"/>
              </a:ext>
            </a:extLst>
          </p:cNvPr>
          <p:cNvSpPr>
            <a:spLocks noGrp="1"/>
          </p:cNvSpPr>
          <p:nvPr>
            <p:ph sz="quarter" idx="1"/>
          </p:nvPr>
        </p:nvSpPr>
        <p:spPr>
          <a:xfrm>
            <a:off x="402336" y="1527047"/>
            <a:ext cx="11338560" cy="4923371"/>
          </a:xfrm>
        </p:spPr>
        <p:txBody>
          <a:bodyPr/>
          <a:lstStyle/>
          <a:p>
            <a:pPr>
              <a:spcBef>
                <a:spcPts val="600"/>
              </a:spcBef>
            </a:pPr>
            <a:r>
              <a:rPr lang="en-GB" altLang="en-US" sz="2600" dirty="0">
                <a:latin typeface="+mn-lt"/>
              </a:rPr>
              <a:t>Define R = LD, where L is the bank liquidity ratio – </a:t>
            </a:r>
          </a:p>
          <a:p>
            <a:pPr lvl="1">
              <a:spcBef>
                <a:spcPts val="600"/>
              </a:spcBef>
            </a:pPr>
            <a:r>
              <a:rPr lang="en-GB" altLang="en-US" sz="2400" dirty="0">
                <a:latin typeface="+mn-lt"/>
              </a:rPr>
              <a:t>share of deposits kept at central bank to meet payment requirements</a:t>
            </a:r>
          </a:p>
          <a:p>
            <a:pPr lvl="1">
              <a:spcBef>
                <a:spcPts val="600"/>
              </a:spcBef>
            </a:pPr>
            <a:r>
              <a:rPr lang="en-GB" altLang="en-US" sz="2400" dirty="0">
                <a:latin typeface="+mn-lt"/>
              </a:rPr>
              <a:t>(bank) deposit multiplier M = 1/L (for L = 0.1, M = 10)</a:t>
            </a:r>
          </a:p>
          <a:p>
            <a:pPr>
              <a:spcBef>
                <a:spcPts val="600"/>
              </a:spcBef>
            </a:pPr>
            <a:r>
              <a:rPr lang="en-GB" altLang="en-US" sz="2600" dirty="0">
                <a:latin typeface="+mn-lt"/>
              </a:rPr>
              <a:t>What might happen in practice?</a:t>
            </a:r>
          </a:p>
          <a:p>
            <a:pPr lvl="1">
              <a:spcBef>
                <a:spcPts val="600"/>
              </a:spcBef>
            </a:pPr>
            <a:r>
              <a:rPr lang="en-GB" altLang="en-US" sz="2400" dirty="0">
                <a:latin typeface="+mn-lt"/>
              </a:rPr>
              <a:t>CB will specify minimum liquidity ratio for commercial banks</a:t>
            </a:r>
          </a:p>
          <a:p>
            <a:pPr lvl="2">
              <a:spcBef>
                <a:spcPts val="600"/>
              </a:spcBef>
            </a:pPr>
            <a:r>
              <a:rPr lang="en-GB" altLang="en-US" dirty="0">
                <a:latin typeface="+mn-lt"/>
              </a:rPr>
              <a:t>Facing uncertainty, banks may hold a higher level of liquid assets</a:t>
            </a:r>
          </a:p>
          <a:p>
            <a:pPr lvl="2">
              <a:spcBef>
                <a:spcPts val="600"/>
              </a:spcBef>
            </a:pPr>
            <a:r>
              <a:rPr lang="en-GB" altLang="en-US" dirty="0">
                <a:latin typeface="+mn-lt"/>
              </a:rPr>
              <a:t>Banks may want to hold liquid assets (CDs?), create some credit as well</a:t>
            </a:r>
          </a:p>
          <a:p>
            <a:pPr lvl="1">
              <a:spcBef>
                <a:spcPts val="600"/>
              </a:spcBef>
            </a:pPr>
            <a:r>
              <a:rPr lang="en-GB" altLang="en-US" sz="2400" dirty="0">
                <a:latin typeface="+mn-lt"/>
              </a:rPr>
              <a:t>Market for credit very complex – banks may not trust people willing to borrow</a:t>
            </a:r>
          </a:p>
          <a:p>
            <a:pPr lvl="2">
              <a:spcBef>
                <a:spcPts val="600"/>
              </a:spcBef>
            </a:pPr>
            <a:r>
              <a:rPr lang="en-GB" altLang="en-US" dirty="0">
                <a:latin typeface="+mn-lt"/>
              </a:rPr>
              <a:t>Potential borrowers may be deterred by terms applied to lending</a:t>
            </a:r>
          </a:p>
          <a:p>
            <a:pPr lvl="1">
              <a:spcBef>
                <a:spcPts val="600"/>
              </a:spcBef>
            </a:pPr>
            <a:r>
              <a:rPr lang="en-GB" altLang="en-US" sz="2400" dirty="0">
                <a:latin typeface="+mn-lt"/>
              </a:rPr>
              <a:t>When CB creates money, some may be withdrawn by the public</a:t>
            </a:r>
          </a:p>
          <a:p>
            <a:pPr lvl="2">
              <a:spcBef>
                <a:spcPts val="600"/>
              </a:spcBef>
            </a:pPr>
            <a:r>
              <a:rPr lang="en-GB" altLang="en-US" dirty="0">
                <a:latin typeface="+mn-lt"/>
              </a:rPr>
              <a:t>Holdings of notes and coins may increase, to avoid uncertainty</a:t>
            </a:r>
          </a:p>
        </p:txBody>
      </p:sp>
    </p:spTree>
    <p:extLst>
      <p:ext uri="{BB962C8B-B14F-4D97-AF65-F5344CB8AC3E}">
        <p14:creationId xmlns:p14="http://schemas.microsoft.com/office/powerpoint/2010/main" val="424435303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8581">
                                            <p:txEl>
                                              <p:pRg st="0" end="0"/>
                                            </p:txEl>
                                          </p:spTgt>
                                        </p:tgtEl>
                                        <p:attrNameLst>
                                          <p:attrName>style.visibility</p:attrName>
                                        </p:attrNameLst>
                                      </p:cBhvr>
                                      <p:to>
                                        <p:strVal val="visible"/>
                                      </p:to>
                                    </p:set>
                                    <p:anim calcmode="lin" valueType="num">
                                      <p:cBhvr additive="base">
                                        <p:cTn id="7" dur="500"/>
                                        <p:tgtEl>
                                          <p:spTgt spid="40858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858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8581">
                                            <p:txEl>
                                              <p:pRg st="1" end="1"/>
                                            </p:txEl>
                                          </p:spTgt>
                                        </p:tgtEl>
                                        <p:attrNameLst>
                                          <p:attrName>style.visibility</p:attrName>
                                        </p:attrNameLst>
                                      </p:cBhvr>
                                      <p:to>
                                        <p:strVal val="visible"/>
                                      </p:to>
                                    </p:set>
                                    <p:anim calcmode="lin" valueType="num">
                                      <p:cBhvr additive="base">
                                        <p:cTn id="13" dur="500"/>
                                        <p:tgtEl>
                                          <p:spTgt spid="40858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858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8581">
                                            <p:txEl>
                                              <p:pRg st="2" end="2"/>
                                            </p:txEl>
                                          </p:spTgt>
                                        </p:tgtEl>
                                        <p:attrNameLst>
                                          <p:attrName>style.visibility</p:attrName>
                                        </p:attrNameLst>
                                      </p:cBhvr>
                                      <p:to>
                                        <p:strVal val="visible"/>
                                      </p:to>
                                    </p:set>
                                    <p:anim calcmode="lin" valueType="num">
                                      <p:cBhvr additive="base">
                                        <p:cTn id="19" dur="500"/>
                                        <p:tgtEl>
                                          <p:spTgt spid="40858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858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8581">
                                            <p:txEl>
                                              <p:pRg st="3" end="3"/>
                                            </p:txEl>
                                          </p:spTgt>
                                        </p:tgtEl>
                                        <p:attrNameLst>
                                          <p:attrName>style.visibility</p:attrName>
                                        </p:attrNameLst>
                                      </p:cBhvr>
                                      <p:to>
                                        <p:strVal val="visible"/>
                                      </p:to>
                                    </p:set>
                                    <p:anim calcmode="lin" valueType="num">
                                      <p:cBhvr additive="base">
                                        <p:cTn id="25" dur="500"/>
                                        <p:tgtEl>
                                          <p:spTgt spid="40858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858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8581">
                                            <p:txEl>
                                              <p:pRg st="4" end="4"/>
                                            </p:txEl>
                                          </p:spTgt>
                                        </p:tgtEl>
                                        <p:attrNameLst>
                                          <p:attrName>style.visibility</p:attrName>
                                        </p:attrNameLst>
                                      </p:cBhvr>
                                      <p:to>
                                        <p:strVal val="visible"/>
                                      </p:to>
                                    </p:set>
                                    <p:anim calcmode="lin" valueType="num">
                                      <p:cBhvr additive="base">
                                        <p:cTn id="31" dur="500"/>
                                        <p:tgtEl>
                                          <p:spTgt spid="40858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858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8581">
                                            <p:txEl>
                                              <p:pRg st="5" end="5"/>
                                            </p:txEl>
                                          </p:spTgt>
                                        </p:tgtEl>
                                        <p:attrNameLst>
                                          <p:attrName>style.visibility</p:attrName>
                                        </p:attrNameLst>
                                      </p:cBhvr>
                                      <p:to>
                                        <p:strVal val="visible"/>
                                      </p:to>
                                    </p:set>
                                    <p:anim calcmode="lin" valueType="num">
                                      <p:cBhvr additive="base">
                                        <p:cTn id="37" dur="500"/>
                                        <p:tgtEl>
                                          <p:spTgt spid="40858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858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8581">
                                            <p:txEl>
                                              <p:pRg st="6" end="6"/>
                                            </p:txEl>
                                          </p:spTgt>
                                        </p:tgtEl>
                                        <p:attrNameLst>
                                          <p:attrName>style.visibility</p:attrName>
                                        </p:attrNameLst>
                                      </p:cBhvr>
                                      <p:to>
                                        <p:strVal val="visible"/>
                                      </p:to>
                                    </p:set>
                                    <p:anim calcmode="lin" valueType="num">
                                      <p:cBhvr additive="base">
                                        <p:cTn id="43" dur="500"/>
                                        <p:tgtEl>
                                          <p:spTgt spid="40858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858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8581">
                                            <p:txEl>
                                              <p:pRg st="7" end="7"/>
                                            </p:txEl>
                                          </p:spTgt>
                                        </p:tgtEl>
                                        <p:attrNameLst>
                                          <p:attrName>style.visibility</p:attrName>
                                        </p:attrNameLst>
                                      </p:cBhvr>
                                      <p:to>
                                        <p:strVal val="visible"/>
                                      </p:to>
                                    </p:set>
                                    <p:anim calcmode="lin" valueType="num">
                                      <p:cBhvr additive="base">
                                        <p:cTn id="49" dur="500"/>
                                        <p:tgtEl>
                                          <p:spTgt spid="40858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8581">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08581">
                                            <p:txEl>
                                              <p:pRg st="8" end="8"/>
                                            </p:txEl>
                                          </p:spTgt>
                                        </p:tgtEl>
                                        <p:attrNameLst>
                                          <p:attrName>style.visibility</p:attrName>
                                        </p:attrNameLst>
                                      </p:cBhvr>
                                      <p:to>
                                        <p:strVal val="visible"/>
                                      </p:to>
                                    </p:set>
                                    <p:anim calcmode="lin" valueType="num">
                                      <p:cBhvr additive="base">
                                        <p:cTn id="55" dur="500"/>
                                        <p:tgtEl>
                                          <p:spTgt spid="408581">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08581">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08581">
                                            <p:txEl>
                                              <p:pRg st="9" end="9"/>
                                            </p:txEl>
                                          </p:spTgt>
                                        </p:tgtEl>
                                        <p:attrNameLst>
                                          <p:attrName>style.visibility</p:attrName>
                                        </p:attrNameLst>
                                      </p:cBhvr>
                                      <p:to>
                                        <p:strVal val="visible"/>
                                      </p:to>
                                    </p:set>
                                    <p:anim calcmode="lin" valueType="num">
                                      <p:cBhvr additive="base">
                                        <p:cTn id="61" dur="500"/>
                                        <p:tgtEl>
                                          <p:spTgt spid="408581">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408581">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408581">
                                            <p:txEl>
                                              <p:pRg st="10" end="10"/>
                                            </p:txEl>
                                          </p:spTgt>
                                        </p:tgtEl>
                                        <p:attrNameLst>
                                          <p:attrName>style.visibility</p:attrName>
                                        </p:attrNameLst>
                                      </p:cBhvr>
                                      <p:to>
                                        <p:strVal val="visible"/>
                                      </p:to>
                                    </p:set>
                                    <p:anim calcmode="lin" valueType="num">
                                      <p:cBhvr additive="base">
                                        <p:cTn id="67" dur="500"/>
                                        <p:tgtEl>
                                          <p:spTgt spid="408581">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40858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1" grpId="0" build="p" bldLvl="3"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a:extLst>
              <a:ext uri="{FF2B5EF4-FFF2-40B4-BE49-F238E27FC236}">
                <a16:creationId xmlns:a16="http://schemas.microsoft.com/office/drawing/2014/main" id="{25D8AF1E-104D-4D47-8E9E-178357EFC0F7}"/>
              </a:ext>
            </a:extLst>
          </p:cNvPr>
          <p:cNvSpPr txBox="1">
            <a:spLocks noChangeArrowheads="1"/>
          </p:cNvSpPr>
          <p:nvPr/>
        </p:nvSpPr>
        <p:spPr bwMode="auto">
          <a:xfrm>
            <a:off x="1143000" y="17463"/>
            <a:ext cx="9875520" cy="569387"/>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spcBef>
                <a:spcPct val="20000"/>
              </a:spcBef>
              <a:buFont typeface="Arial" panose="020B0604020202020204" pitchFamily="34" charset="0"/>
              <a:buChar char="•"/>
              <a:tabLst>
                <a:tab pos="1335088"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335088"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335088"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335088"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335088"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a:solidFill>
                  <a:srgbClr val="660066"/>
                </a:solidFill>
                <a:latin typeface="Arial" panose="020B0604020202020204" pitchFamily="34" charset="0"/>
              </a:rPr>
              <a:t>UK broad money multiplier</a:t>
            </a:r>
          </a:p>
        </p:txBody>
      </p:sp>
      <p:sp>
        <p:nvSpPr>
          <p:cNvPr id="6" name="TextBox 4">
            <a:extLst>
              <a:ext uri="{FF2B5EF4-FFF2-40B4-BE49-F238E27FC236}">
                <a16:creationId xmlns:a16="http://schemas.microsoft.com/office/drawing/2014/main" id="{7A201BFA-B2D4-BAA4-4786-86AD047C0149}"/>
              </a:ext>
            </a:extLst>
          </p:cNvPr>
          <p:cNvSpPr txBox="1">
            <a:spLocks noChangeArrowheads="1"/>
          </p:cNvSpPr>
          <p:nvPr/>
        </p:nvSpPr>
        <p:spPr bwMode="auto">
          <a:xfrm>
            <a:off x="381001" y="6400800"/>
            <a:ext cx="916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altLang="en-US" sz="1200" i="1" dirty="0">
                <a:solidFill>
                  <a:schemeClr val="tx1">
                    <a:lumMod val="50000"/>
                    <a:lumOff val="50000"/>
                  </a:schemeClr>
                </a:solidFill>
                <a:latin typeface="Arial" panose="020B0604020202020204" pitchFamily="34" charset="0"/>
              </a:rPr>
              <a:t>Source</a:t>
            </a:r>
            <a:r>
              <a:rPr lang="en-GB" altLang="en-US" sz="1200" dirty="0">
                <a:solidFill>
                  <a:schemeClr val="tx1">
                    <a:lumMod val="50000"/>
                    <a:lumOff val="50000"/>
                  </a:schemeClr>
                </a:solidFill>
                <a:latin typeface="Arial" panose="020B0604020202020204" pitchFamily="34" charset="0"/>
              </a:rPr>
              <a:t>: Based on series </a:t>
            </a:r>
            <a:r>
              <a:rPr lang="en-GB" altLang="en-US" sz="1200" dirty="0">
                <a:solidFill>
                  <a:schemeClr val="tx1">
                    <a:lumMod val="50000"/>
                    <a:lumOff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LPMBL22</a:t>
            </a:r>
            <a:r>
              <a:rPr lang="en-GB" altLang="en-US" sz="1200" dirty="0">
                <a:solidFill>
                  <a:schemeClr val="tx1">
                    <a:lumMod val="50000"/>
                    <a:lumOff val="50000"/>
                  </a:schemeClr>
                </a:solidFill>
                <a:latin typeface="Arial" panose="020B0604020202020204" pitchFamily="34" charset="0"/>
              </a:rPr>
              <a:t> (reserves), </a:t>
            </a:r>
            <a:r>
              <a:rPr lang="en-GB" altLang="en-US" sz="1200" dirty="0">
                <a:solidFill>
                  <a:schemeClr val="tx1">
                    <a:lumMod val="50000"/>
                    <a:lumOff val="5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LPMAVAB</a:t>
            </a:r>
            <a:r>
              <a:rPr lang="en-GB" altLang="en-US" sz="1200" dirty="0">
                <a:solidFill>
                  <a:schemeClr val="tx1">
                    <a:lumMod val="50000"/>
                    <a:lumOff val="50000"/>
                  </a:schemeClr>
                </a:solidFill>
                <a:latin typeface="Arial" panose="020B0604020202020204" pitchFamily="34" charset="0"/>
              </a:rPr>
              <a:t> (notes and coin) and </a:t>
            </a:r>
            <a:r>
              <a:rPr lang="en-GB" altLang="en-US" sz="1200" dirty="0">
                <a:solidFill>
                  <a:schemeClr val="tx1">
                    <a:lumMod val="50000"/>
                    <a:lumOff val="50000"/>
                  </a:schemeClr>
                </a:solidFill>
                <a:latin typeface="Arial" panose="020B0604020202020204" pitchFamily="34" charset="0"/>
                <a:hlinkClick r:id="rId5">
                  <a:extLst>
                    <a:ext uri="{A12FA001-AC4F-418D-AE19-62706E023703}">
                      <ahyp:hlinkClr xmlns:ahyp="http://schemas.microsoft.com/office/drawing/2018/hyperlinkcolor" val="tx"/>
                    </a:ext>
                  </a:extLst>
                </a:hlinkClick>
              </a:rPr>
              <a:t>LPMAUYN</a:t>
            </a:r>
            <a:r>
              <a:rPr lang="en-GB" altLang="en-US" sz="1200" dirty="0">
                <a:solidFill>
                  <a:schemeClr val="tx1">
                    <a:lumMod val="50000"/>
                    <a:lumOff val="50000"/>
                  </a:schemeClr>
                </a:solidFill>
                <a:latin typeface="Arial" panose="020B0604020202020204" pitchFamily="34" charset="0"/>
              </a:rPr>
              <a:t> (M4) from </a:t>
            </a:r>
            <a:r>
              <a:rPr lang="en-GB" altLang="en-US" sz="1200" i="1" dirty="0">
                <a:solidFill>
                  <a:schemeClr val="tx1">
                    <a:lumMod val="50000"/>
                    <a:lumOff val="50000"/>
                  </a:schemeClr>
                </a:solidFill>
                <a:latin typeface="Arial" panose="020B0604020202020204" pitchFamily="34" charset="0"/>
              </a:rPr>
              <a:t>Statistical Interactive Database, </a:t>
            </a:r>
            <a:r>
              <a:rPr lang="en-GB" altLang="en-US" sz="1200" dirty="0">
                <a:solidFill>
                  <a:schemeClr val="tx1">
                    <a:lumMod val="50000"/>
                    <a:lumOff val="50000"/>
                  </a:schemeClr>
                </a:solidFill>
                <a:latin typeface="Arial" panose="020B0604020202020204" pitchFamily="34" charset="0"/>
              </a:rPr>
              <a:t>Bank of England (data published 29 July 2022, seasonally adjusted except for reserves)</a:t>
            </a:r>
          </a:p>
        </p:txBody>
      </p:sp>
      <p:graphicFrame>
        <p:nvGraphicFramePr>
          <p:cNvPr id="7" name="Object 2">
            <a:extLst>
              <a:ext uri="{FF2B5EF4-FFF2-40B4-BE49-F238E27FC236}">
                <a16:creationId xmlns:a16="http://schemas.microsoft.com/office/drawing/2014/main" id="{88D12BC5-F5F9-A0D3-8469-6AB3BF01E73B}"/>
              </a:ext>
            </a:extLst>
          </p:cNvPr>
          <p:cNvGraphicFramePr>
            <a:graphicFrameLocks noChangeAspect="1"/>
          </p:cNvGraphicFramePr>
          <p:nvPr/>
        </p:nvGraphicFramePr>
        <p:xfrm>
          <a:off x="0" y="548680"/>
          <a:ext cx="12192000" cy="5852120"/>
        </p:xfrm>
        <a:graphic>
          <a:graphicData uri="http://schemas.openxmlformats.org/drawingml/2006/chart">
            <c:chart xmlns:c="http://schemas.openxmlformats.org/drawingml/2006/chart" xmlns:r="http://schemas.openxmlformats.org/officeDocument/2006/relationships" r:id="rId6"/>
          </a:graphicData>
        </a:graphic>
      </p:graphicFrame>
      <p:sp>
        <p:nvSpPr>
          <p:cNvPr id="2" name="TextBox 1">
            <a:extLst>
              <a:ext uri="{FF2B5EF4-FFF2-40B4-BE49-F238E27FC236}">
                <a16:creationId xmlns:a16="http://schemas.microsoft.com/office/drawing/2014/main" id="{DD625A37-4539-A1D3-3E61-74331D611A84}"/>
              </a:ext>
            </a:extLst>
          </p:cNvPr>
          <p:cNvSpPr txBox="1"/>
          <p:nvPr/>
        </p:nvSpPr>
        <p:spPr>
          <a:xfrm>
            <a:off x="2486346" y="2732926"/>
            <a:ext cx="2865721" cy="1200329"/>
          </a:xfrm>
          <a:prstGeom prst="rect">
            <a:avLst/>
          </a:prstGeom>
          <a:noFill/>
        </p:spPr>
        <p:txBody>
          <a:bodyPr wrap="none" rtlCol="0">
            <a:spAutoFit/>
          </a:bodyPr>
          <a:lstStyle/>
          <a:p>
            <a:r>
              <a:rPr lang="en-GB" dirty="0">
                <a:solidFill>
                  <a:schemeClr val="tx2"/>
                </a:solidFill>
                <a:latin typeface="+mn-lt"/>
              </a:rPr>
              <a:t>Large increase in </a:t>
            </a:r>
            <a:br>
              <a:rPr lang="en-GB" dirty="0">
                <a:solidFill>
                  <a:schemeClr val="tx2"/>
                </a:solidFill>
                <a:latin typeface="+mn-lt"/>
              </a:rPr>
            </a:br>
            <a:r>
              <a:rPr lang="en-GB" dirty="0">
                <a:solidFill>
                  <a:schemeClr val="tx2"/>
                </a:solidFill>
                <a:latin typeface="+mn-lt"/>
              </a:rPr>
              <a:t>financial depth </a:t>
            </a:r>
            <a:br>
              <a:rPr lang="en-GB" dirty="0">
                <a:solidFill>
                  <a:schemeClr val="tx2"/>
                </a:solidFill>
                <a:latin typeface="+mn-lt"/>
              </a:rPr>
            </a:br>
            <a:r>
              <a:rPr lang="en-GB" dirty="0">
                <a:solidFill>
                  <a:schemeClr val="tx2"/>
                </a:solidFill>
                <a:latin typeface="+mn-lt"/>
              </a:rPr>
              <a:t>under Mrs Thatcher</a:t>
            </a:r>
          </a:p>
        </p:txBody>
      </p:sp>
      <p:sp>
        <p:nvSpPr>
          <p:cNvPr id="3" name="TextBox 2">
            <a:extLst>
              <a:ext uri="{FF2B5EF4-FFF2-40B4-BE49-F238E27FC236}">
                <a16:creationId xmlns:a16="http://schemas.microsoft.com/office/drawing/2014/main" id="{168CE0B1-9B6B-C264-40CB-54A9F79BD81F}"/>
              </a:ext>
            </a:extLst>
          </p:cNvPr>
          <p:cNvSpPr txBox="1"/>
          <p:nvPr/>
        </p:nvSpPr>
        <p:spPr>
          <a:xfrm>
            <a:off x="5813460" y="967390"/>
            <a:ext cx="2016899" cy="461665"/>
          </a:xfrm>
          <a:prstGeom prst="rect">
            <a:avLst/>
          </a:prstGeom>
          <a:noFill/>
        </p:spPr>
        <p:txBody>
          <a:bodyPr wrap="none" rtlCol="0">
            <a:spAutoFit/>
          </a:bodyPr>
          <a:lstStyle/>
          <a:p>
            <a:r>
              <a:rPr lang="en-GB" dirty="0">
                <a:solidFill>
                  <a:schemeClr val="tx2"/>
                </a:solidFill>
                <a:latin typeface="+mn-lt"/>
              </a:rPr>
              <a:t>NICE decade</a:t>
            </a:r>
          </a:p>
        </p:txBody>
      </p:sp>
      <p:sp>
        <p:nvSpPr>
          <p:cNvPr id="4" name="TextBox 1">
            <a:extLst>
              <a:ext uri="{FF2B5EF4-FFF2-40B4-BE49-F238E27FC236}">
                <a16:creationId xmlns:a16="http://schemas.microsoft.com/office/drawing/2014/main" id="{657FA1AD-B6DC-9604-2AE3-245C6EC99611}"/>
              </a:ext>
            </a:extLst>
          </p:cNvPr>
          <p:cNvSpPr txBox="1"/>
          <p:nvPr/>
        </p:nvSpPr>
        <p:spPr>
          <a:xfrm>
            <a:off x="8388943" y="1198222"/>
            <a:ext cx="2307042" cy="830997"/>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GB" sz="2400" dirty="0">
                <a:solidFill>
                  <a:schemeClr val="tx2"/>
                </a:solidFill>
                <a:latin typeface="+mn-lt"/>
              </a:rPr>
              <a:t>Banks struggle </a:t>
            </a:r>
            <a:br>
              <a:rPr lang="en-GB" sz="2400" dirty="0">
                <a:solidFill>
                  <a:schemeClr val="tx2"/>
                </a:solidFill>
                <a:latin typeface="+mn-lt"/>
              </a:rPr>
            </a:br>
            <a:r>
              <a:rPr lang="en-GB" sz="2400" dirty="0">
                <a:solidFill>
                  <a:schemeClr val="tx2"/>
                </a:solidFill>
                <a:latin typeface="+mn-lt"/>
              </a:rPr>
              <a:t>to rais</a:t>
            </a:r>
            <a:r>
              <a:rPr lang="en-GB" sz="2400" dirty="0">
                <a:solidFill>
                  <a:schemeClr val="tx2"/>
                </a:solidFill>
              </a:rPr>
              <a:t>e capital</a:t>
            </a:r>
            <a:endParaRPr lang="en-GB" sz="2400" dirty="0">
              <a:solidFill>
                <a:schemeClr val="tx2"/>
              </a:solidFill>
              <a:latin typeface="+mn-lt"/>
            </a:endParaRPr>
          </a:p>
        </p:txBody>
      </p:sp>
      <p:sp>
        <p:nvSpPr>
          <p:cNvPr id="5" name="TextBox 1">
            <a:extLst>
              <a:ext uri="{FF2B5EF4-FFF2-40B4-BE49-F238E27FC236}">
                <a16:creationId xmlns:a16="http://schemas.microsoft.com/office/drawing/2014/main" id="{00903D17-954B-F239-F489-7078572D2394}"/>
              </a:ext>
            </a:extLst>
          </p:cNvPr>
          <p:cNvSpPr txBox="1"/>
          <p:nvPr/>
        </p:nvSpPr>
        <p:spPr>
          <a:xfrm>
            <a:off x="8948525" y="3070616"/>
            <a:ext cx="2206053" cy="461665"/>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GB" sz="2400" dirty="0">
                <a:solidFill>
                  <a:schemeClr val="tx2"/>
                </a:solidFill>
                <a:latin typeface="+mn-lt"/>
              </a:rPr>
              <a:t>Financial crisis</a:t>
            </a:r>
          </a:p>
        </p:txBody>
      </p:sp>
      <p:sp>
        <p:nvSpPr>
          <p:cNvPr id="8" name="TextBox 1">
            <a:extLst>
              <a:ext uri="{FF2B5EF4-FFF2-40B4-BE49-F238E27FC236}">
                <a16:creationId xmlns:a16="http://schemas.microsoft.com/office/drawing/2014/main" id="{C061F12E-C6EE-67FA-B986-C98E315A5AAF}"/>
              </a:ext>
            </a:extLst>
          </p:cNvPr>
          <p:cNvSpPr txBox="1"/>
          <p:nvPr/>
        </p:nvSpPr>
        <p:spPr>
          <a:xfrm>
            <a:off x="9542464" y="3987596"/>
            <a:ext cx="2274982" cy="830997"/>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GB" sz="2400" dirty="0">
                <a:solidFill>
                  <a:schemeClr val="tx2"/>
                </a:solidFill>
                <a:latin typeface="+mn-lt"/>
              </a:rPr>
              <a:t>Basle III </a:t>
            </a:r>
            <a:br>
              <a:rPr lang="en-GB" sz="2400" dirty="0">
                <a:solidFill>
                  <a:schemeClr val="tx2"/>
                </a:solidFill>
                <a:latin typeface="+mn-lt"/>
              </a:rPr>
            </a:br>
            <a:r>
              <a:rPr lang="en-GB" sz="2400" dirty="0">
                <a:solidFill>
                  <a:schemeClr val="tx2"/>
                </a:solidFill>
                <a:latin typeface="+mn-lt"/>
              </a:rPr>
              <a:t>implementation</a:t>
            </a:r>
          </a:p>
        </p:txBody>
      </p:sp>
    </p:spTree>
    <p:extLst>
      <p:ext uri="{BB962C8B-B14F-4D97-AF65-F5344CB8AC3E}">
        <p14:creationId xmlns:p14="http://schemas.microsoft.com/office/powerpoint/2010/main" val="369500338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left)">
                                      <p:cBhvr>
                                        <p:cTn id="7" dur="1500"/>
                                        <p:tgtEl>
                                          <p:spTgt spid="7">
                                            <p:graphicEl>
                                              <a:chart seriesIdx="0" categoryIdx="-4" bldStep="series"/>
                                            </p:graphicEl>
                                          </p:spTgt>
                                        </p:tgtEl>
                                      </p:cBhvr>
                                    </p:animEffect>
                                  </p:childTnLst>
                                </p:cTn>
                              </p:par>
                            </p:childTnLst>
                          </p:cTn>
                        </p:par>
                        <p:par>
                          <p:cTn id="8" fill="hold">
                            <p:stCondLst>
                              <p:cond delay="1500"/>
                            </p:stCondLst>
                            <p:childTnLst>
                              <p:par>
                                <p:cTn id="9" presetID="42" presetClass="entr" presetSubtype="0" fill="hold" grpId="0" nodeType="afterEffect">
                                  <p:stCondLst>
                                    <p:cond delay="20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4500"/>
                            </p:stCondLst>
                            <p:childTnLst>
                              <p:par>
                                <p:cTn id="15" presetID="42" presetClass="entr" presetSubtype="0" fill="hold" grpId="0" nodeType="afterEffect">
                                  <p:stCondLst>
                                    <p:cond delay="200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par>
                          <p:cTn id="20" fill="hold">
                            <p:stCondLst>
                              <p:cond delay="7500"/>
                            </p:stCondLst>
                            <p:childTnLst>
                              <p:par>
                                <p:cTn id="21" presetID="42" presetClass="entr" presetSubtype="0" fill="hold" grpId="0" nodeType="afterEffect">
                                  <p:stCondLst>
                                    <p:cond delay="20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par>
                          <p:cTn id="26" fill="hold">
                            <p:stCondLst>
                              <p:cond delay="10500"/>
                            </p:stCondLst>
                            <p:childTnLst>
                              <p:par>
                                <p:cTn id="27" presetID="42" presetClass="entr" presetSubtype="0" fill="hold" grpId="0" nodeType="afterEffect">
                                  <p:stCondLst>
                                    <p:cond delay="200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par>
                          <p:cTn id="32" fill="hold">
                            <p:stCondLst>
                              <p:cond delay="13500"/>
                            </p:stCondLst>
                            <p:childTnLst>
                              <p:par>
                                <p:cTn id="33" presetID="42" presetClass="entr" presetSubtype="0" fill="hold" grpId="0" nodeType="afterEffect">
                                  <p:stCondLst>
                                    <p:cond delay="200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 animBg="0"/>
        </p:bldSub>
      </p:bldGraphic>
      <p:bldP spid="2" grpId="0"/>
      <p:bldP spid="3" grpId="0"/>
      <p:bldP spid="4" grpId="0"/>
      <p:bldP spid="5"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3878" name="Rectangle 6">
            <a:extLst>
              <a:ext uri="{FF2B5EF4-FFF2-40B4-BE49-F238E27FC236}">
                <a16:creationId xmlns:a16="http://schemas.microsoft.com/office/drawing/2014/main" id="{FAAABB38-4B0C-4D32-A5D7-22E4A4A758E5}"/>
              </a:ext>
            </a:extLst>
          </p:cNvPr>
          <p:cNvSpPr>
            <a:spLocks noGrp="1"/>
          </p:cNvSpPr>
          <p:nvPr>
            <p:ph type="title"/>
          </p:nvPr>
        </p:nvSpPr>
        <p:spPr/>
        <p:txBody>
          <a:bodyPr/>
          <a:lstStyle/>
          <a:p>
            <a:r>
              <a:rPr lang="en-GB" altLang="en-US" dirty="0"/>
              <a:t>Why does the supply of money increase?</a:t>
            </a:r>
          </a:p>
        </p:txBody>
      </p:sp>
      <p:sp>
        <p:nvSpPr>
          <p:cNvPr id="463879" name="Rectangle 7">
            <a:extLst>
              <a:ext uri="{FF2B5EF4-FFF2-40B4-BE49-F238E27FC236}">
                <a16:creationId xmlns:a16="http://schemas.microsoft.com/office/drawing/2014/main" id="{3FA3BA44-0B46-4694-AA85-2560D30965B3}"/>
              </a:ext>
            </a:extLst>
          </p:cNvPr>
          <p:cNvSpPr>
            <a:spLocks noGrp="1"/>
          </p:cNvSpPr>
          <p:nvPr>
            <p:ph sz="quarter" idx="1"/>
          </p:nvPr>
        </p:nvSpPr>
        <p:spPr>
          <a:xfrm>
            <a:off x="402167" y="1517422"/>
            <a:ext cx="11338560" cy="4869688"/>
          </a:xfrm>
        </p:spPr>
        <p:txBody>
          <a:bodyPr/>
          <a:lstStyle/>
          <a:p>
            <a:pPr>
              <a:spcBef>
                <a:spcPts val="600"/>
              </a:spcBef>
            </a:pPr>
            <a:r>
              <a:rPr lang="en-GB" altLang="en-US" dirty="0">
                <a:latin typeface="+mn-lt"/>
                <a:cs typeface="Helvetica" panose="020B0604020202020204"/>
              </a:rPr>
              <a:t>The public sector needs cash: </a:t>
            </a:r>
          </a:p>
          <a:p>
            <a:pPr lvl="1">
              <a:spcBef>
                <a:spcPts val="600"/>
              </a:spcBef>
            </a:pPr>
            <a:r>
              <a:rPr lang="en-GB" altLang="en-US" dirty="0">
                <a:latin typeface="+mn-lt"/>
                <a:cs typeface="Helvetica" panose="020B0604020202020204"/>
              </a:rPr>
              <a:t>Government payments exceed tax revenues, borrowing inflow</a:t>
            </a:r>
          </a:p>
          <a:p>
            <a:pPr lvl="2">
              <a:spcBef>
                <a:spcPts val="600"/>
              </a:spcBef>
            </a:pPr>
            <a:r>
              <a:rPr lang="en-GB" altLang="en-US" dirty="0">
                <a:latin typeface="+mn-lt"/>
                <a:cs typeface="Helvetica" panose="020B0604020202020204"/>
              </a:rPr>
              <a:t>Exchequer account has a large debit balance</a:t>
            </a:r>
          </a:p>
          <a:p>
            <a:pPr lvl="2">
              <a:spcBef>
                <a:spcPts val="600"/>
              </a:spcBef>
            </a:pPr>
            <a:r>
              <a:rPr lang="en-GB" altLang="en-US" dirty="0">
                <a:latin typeface="+mn-lt"/>
                <a:cs typeface="Helvetica" panose="020B0604020202020204"/>
              </a:rPr>
              <a:t>Tax payments, borrowing mean cash receipts, so reduce money stock</a:t>
            </a:r>
          </a:p>
          <a:p>
            <a:pPr>
              <a:spcBef>
                <a:spcPts val="600"/>
              </a:spcBef>
            </a:pPr>
            <a:r>
              <a:rPr lang="en-GB" altLang="en-US" dirty="0">
                <a:latin typeface="+mn-lt"/>
                <a:cs typeface="Helvetica" panose="020B0604020202020204"/>
              </a:rPr>
              <a:t>Private sector needs change</a:t>
            </a:r>
          </a:p>
          <a:p>
            <a:pPr lvl="1">
              <a:spcBef>
                <a:spcPts val="600"/>
              </a:spcBef>
            </a:pPr>
            <a:r>
              <a:rPr lang="en-GB" altLang="en-US" dirty="0">
                <a:latin typeface="+mn-lt"/>
                <a:cs typeface="Helvetica" panose="020B0604020202020204"/>
              </a:rPr>
              <a:t>Banks can use CB money to lend – and so create money</a:t>
            </a:r>
          </a:p>
          <a:p>
            <a:pPr lvl="1">
              <a:spcBef>
                <a:spcPts val="600"/>
              </a:spcBef>
            </a:pPr>
            <a:r>
              <a:rPr lang="en-GB" altLang="en-US" dirty="0">
                <a:latin typeface="+mn-lt"/>
                <a:cs typeface="Helvetica" panose="020B0604020202020204"/>
              </a:rPr>
              <a:t>Reduce their liquidity requirement – lending, and creating money</a:t>
            </a:r>
          </a:p>
          <a:p>
            <a:pPr lvl="1">
              <a:spcBef>
                <a:spcPts val="600"/>
              </a:spcBef>
            </a:pPr>
            <a:r>
              <a:rPr lang="en-GB" altLang="en-US" dirty="0">
                <a:latin typeface="+mn-lt"/>
                <a:cs typeface="Helvetica" panose="020B0604020202020204"/>
              </a:rPr>
              <a:t>Households, firms reduce cash balances – deposits, bank lending increase</a:t>
            </a:r>
          </a:p>
          <a:p>
            <a:pPr lvl="1">
              <a:spcBef>
                <a:spcPts val="600"/>
              </a:spcBef>
            </a:pPr>
            <a:endParaRPr lang="en-GB" altLang="en-US" dirty="0">
              <a:latin typeface="+mn-lt"/>
              <a:cs typeface="Helvetica" panose="020B0604020202020204"/>
            </a:endParaRPr>
          </a:p>
          <a:p>
            <a:pPr>
              <a:spcBef>
                <a:spcPts val="600"/>
              </a:spcBef>
            </a:pPr>
            <a:r>
              <a:rPr lang="en-GB" altLang="en-US" dirty="0">
                <a:latin typeface="+mn-lt"/>
                <a:cs typeface="Helvetica" panose="020B0604020202020204"/>
              </a:rPr>
              <a:t>Country attracts funds from abroad</a:t>
            </a:r>
          </a:p>
          <a:p>
            <a:pPr>
              <a:spcBef>
                <a:spcPts val="600"/>
              </a:spcBef>
            </a:pPr>
            <a:endParaRPr lang="en-GB" altLang="en-US" dirty="0"/>
          </a:p>
        </p:txBody>
      </p:sp>
    </p:spTree>
    <p:extLst>
      <p:ext uri="{BB962C8B-B14F-4D97-AF65-F5344CB8AC3E}">
        <p14:creationId xmlns:p14="http://schemas.microsoft.com/office/powerpoint/2010/main" val="2113254067"/>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63879">
                                            <p:txEl>
                                              <p:pRg st="0" end="0"/>
                                            </p:txEl>
                                          </p:spTgt>
                                        </p:tgtEl>
                                        <p:attrNameLst>
                                          <p:attrName>style.visibility</p:attrName>
                                        </p:attrNameLst>
                                      </p:cBhvr>
                                      <p:to>
                                        <p:strVal val="visible"/>
                                      </p:to>
                                    </p:set>
                                    <p:anim calcmode="lin" valueType="num">
                                      <p:cBhvr additive="base">
                                        <p:cTn id="7" dur="500"/>
                                        <p:tgtEl>
                                          <p:spTgt spid="46387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6387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63879">
                                            <p:txEl>
                                              <p:pRg st="1" end="1"/>
                                            </p:txEl>
                                          </p:spTgt>
                                        </p:tgtEl>
                                        <p:attrNameLst>
                                          <p:attrName>style.visibility</p:attrName>
                                        </p:attrNameLst>
                                      </p:cBhvr>
                                      <p:to>
                                        <p:strVal val="visible"/>
                                      </p:to>
                                    </p:set>
                                    <p:anim calcmode="lin" valueType="num">
                                      <p:cBhvr additive="base">
                                        <p:cTn id="13" dur="500"/>
                                        <p:tgtEl>
                                          <p:spTgt spid="46387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6387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63879">
                                            <p:txEl>
                                              <p:pRg st="2" end="2"/>
                                            </p:txEl>
                                          </p:spTgt>
                                        </p:tgtEl>
                                        <p:attrNameLst>
                                          <p:attrName>style.visibility</p:attrName>
                                        </p:attrNameLst>
                                      </p:cBhvr>
                                      <p:to>
                                        <p:strVal val="visible"/>
                                      </p:to>
                                    </p:set>
                                    <p:anim calcmode="lin" valueType="num">
                                      <p:cBhvr additive="base">
                                        <p:cTn id="19" dur="500"/>
                                        <p:tgtEl>
                                          <p:spTgt spid="46387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6387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63879">
                                            <p:txEl>
                                              <p:pRg st="3" end="3"/>
                                            </p:txEl>
                                          </p:spTgt>
                                        </p:tgtEl>
                                        <p:attrNameLst>
                                          <p:attrName>style.visibility</p:attrName>
                                        </p:attrNameLst>
                                      </p:cBhvr>
                                      <p:to>
                                        <p:strVal val="visible"/>
                                      </p:to>
                                    </p:set>
                                    <p:anim calcmode="lin" valueType="num">
                                      <p:cBhvr additive="base">
                                        <p:cTn id="25" dur="500"/>
                                        <p:tgtEl>
                                          <p:spTgt spid="46387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6387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63879">
                                            <p:txEl>
                                              <p:pRg st="4" end="4"/>
                                            </p:txEl>
                                          </p:spTgt>
                                        </p:tgtEl>
                                        <p:attrNameLst>
                                          <p:attrName>style.visibility</p:attrName>
                                        </p:attrNameLst>
                                      </p:cBhvr>
                                      <p:to>
                                        <p:strVal val="visible"/>
                                      </p:to>
                                    </p:set>
                                    <p:anim calcmode="lin" valueType="num">
                                      <p:cBhvr additive="base">
                                        <p:cTn id="31" dur="500"/>
                                        <p:tgtEl>
                                          <p:spTgt spid="46387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6387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63879">
                                            <p:txEl>
                                              <p:pRg st="5" end="5"/>
                                            </p:txEl>
                                          </p:spTgt>
                                        </p:tgtEl>
                                        <p:attrNameLst>
                                          <p:attrName>style.visibility</p:attrName>
                                        </p:attrNameLst>
                                      </p:cBhvr>
                                      <p:to>
                                        <p:strVal val="visible"/>
                                      </p:to>
                                    </p:set>
                                    <p:anim calcmode="lin" valueType="num">
                                      <p:cBhvr additive="base">
                                        <p:cTn id="37" dur="500"/>
                                        <p:tgtEl>
                                          <p:spTgt spid="46387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6387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63879">
                                            <p:txEl>
                                              <p:pRg st="6" end="6"/>
                                            </p:txEl>
                                          </p:spTgt>
                                        </p:tgtEl>
                                        <p:attrNameLst>
                                          <p:attrName>style.visibility</p:attrName>
                                        </p:attrNameLst>
                                      </p:cBhvr>
                                      <p:to>
                                        <p:strVal val="visible"/>
                                      </p:to>
                                    </p:set>
                                    <p:anim calcmode="lin" valueType="num">
                                      <p:cBhvr additive="base">
                                        <p:cTn id="43" dur="500"/>
                                        <p:tgtEl>
                                          <p:spTgt spid="46387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6387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63879">
                                            <p:txEl>
                                              <p:pRg st="7" end="7"/>
                                            </p:txEl>
                                          </p:spTgt>
                                        </p:tgtEl>
                                        <p:attrNameLst>
                                          <p:attrName>style.visibility</p:attrName>
                                        </p:attrNameLst>
                                      </p:cBhvr>
                                      <p:to>
                                        <p:strVal val="visible"/>
                                      </p:to>
                                    </p:set>
                                    <p:anim calcmode="lin" valueType="num">
                                      <p:cBhvr additive="base">
                                        <p:cTn id="49" dur="500"/>
                                        <p:tgtEl>
                                          <p:spTgt spid="46387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6387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63879">
                                            <p:txEl>
                                              <p:pRg st="9" end="9"/>
                                            </p:txEl>
                                          </p:spTgt>
                                        </p:tgtEl>
                                        <p:attrNameLst>
                                          <p:attrName>style.visibility</p:attrName>
                                        </p:attrNameLst>
                                      </p:cBhvr>
                                      <p:to>
                                        <p:strVal val="visible"/>
                                      </p:to>
                                    </p:set>
                                    <p:anim calcmode="lin" valueType="num">
                                      <p:cBhvr additive="base">
                                        <p:cTn id="55" dur="500"/>
                                        <p:tgtEl>
                                          <p:spTgt spid="463879">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638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9"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2">
            <a:extLst>
              <a:ext uri="{FF2B5EF4-FFF2-40B4-BE49-F238E27FC236}">
                <a16:creationId xmlns:a16="http://schemas.microsoft.com/office/drawing/2014/main" id="{91BDDF84-F062-30B6-CF94-9844AAA719B4}"/>
              </a:ext>
            </a:extLst>
          </p:cNvPr>
          <p:cNvGraphicFramePr>
            <a:graphicFrameLocks noChangeAspect="1"/>
          </p:cNvGraphicFramePr>
          <p:nvPr/>
        </p:nvGraphicFramePr>
        <p:xfrm>
          <a:off x="0" y="658536"/>
          <a:ext cx="12192000" cy="6082832"/>
        </p:xfrm>
        <a:graphic>
          <a:graphicData uri="http://schemas.openxmlformats.org/drawingml/2006/chart">
            <c:chart xmlns:c="http://schemas.openxmlformats.org/drawingml/2006/chart" xmlns:r="http://schemas.openxmlformats.org/officeDocument/2006/relationships" r:id="rId3"/>
          </a:graphicData>
        </a:graphic>
      </p:graphicFrame>
      <p:sp>
        <p:nvSpPr>
          <p:cNvPr id="3076" name="Text Box 3">
            <a:extLst>
              <a:ext uri="{FF2B5EF4-FFF2-40B4-BE49-F238E27FC236}">
                <a16:creationId xmlns:a16="http://schemas.microsoft.com/office/drawing/2014/main" id="{3BC526B8-D4CF-4468-BA6A-F8A81DEEBC1F}"/>
              </a:ext>
            </a:extLst>
          </p:cNvPr>
          <p:cNvSpPr txBox="1">
            <a:spLocks noChangeArrowheads="1"/>
          </p:cNvSpPr>
          <p:nvPr/>
        </p:nvSpPr>
        <p:spPr bwMode="auto">
          <a:xfrm>
            <a:off x="0" y="1"/>
            <a:ext cx="12144672" cy="569387"/>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spcBef>
                <a:spcPct val="20000"/>
              </a:spcBef>
              <a:buFont typeface="Arial" panose="020B0604020202020204" pitchFamily="34" charset="0"/>
              <a:buChar char="•"/>
              <a:tabLst>
                <a:tab pos="1335088"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335088"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335088"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335088"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335088"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a:solidFill>
                  <a:srgbClr val="660066"/>
                </a:solidFill>
                <a:latin typeface="Arial" panose="020B0604020202020204" pitchFamily="34" charset="0"/>
              </a:rPr>
              <a:t>Annual rate of growth of M4</a:t>
            </a:r>
          </a:p>
        </p:txBody>
      </p:sp>
      <p:sp>
        <p:nvSpPr>
          <p:cNvPr id="6" name="TextBox 4">
            <a:extLst>
              <a:ext uri="{FF2B5EF4-FFF2-40B4-BE49-F238E27FC236}">
                <a16:creationId xmlns:a16="http://schemas.microsoft.com/office/drawing/2014/main" id="{3AA9473E-FF66-A9A3-0C8A-CEB34F258312}"/>
              </a:ext>
            </a:extLst>
          </p:cNvPr>
          <p:cNvSpPr txBox="1">
            <a:spLocks noChangeArrowheads="1"/>
          </p:cNvSpPr>
          <p:nvPr/>
        </p:nvSpPr>
        <p:spPr bwMode="auto">
          <a:xfrm>
            <a:off x="668654" y="6553532"/>
            <a:ext cx="91678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altLang="en-US" sz="1200" i="1" dirty="0">
                <a:solidFill>
                  <a:schemeClr val="tx1">
                    <a:lumMod val="50000"/>
                    <a:lumOff val="50000"/>
                  </a:schemeClr>
                </a:solidFill>
                <a:latin typeface="Arial" panose="020B0604020202020204" pitchFamily="34" charset="0"/>
              </a:rPr>
              <a:t>Source</a:t>
            </a:r>
            <a:r>
              <a:rPr lang="en-GB" altLang="en-US" sz="1200" dirty="0">
                <a:solidFill>
                  <a:schemeClr val="tx1">
                    <a:lumMod val="50000"/>
                    <a:lumOff val="50000"/>
                  </a:schemeClr>
                </a:solidFill>
                <a:latin typeface="Arial" panose="020B0604020202020204" pitchFamily="34" charset="0"/>
              </a:rPr>
              <a:t>: </a:t>
            </a:r>
            <a:r>
              <a:rPr lang="en-GB" altLang="en-US" sz="1200" i="1" dirty="0">
                <a:solidFill>
                  <a:schemeClr val="tx1">
                    <a:lumMod val="50000"/>
                    <a:lumOff val="50000"/>
                  </a:schemeClr>
                </a:solidFill>
                <a:latin typeface="Arial" panose="020B0604020202020204" pitchFamily="34" charset="0"/>
              </a:rPr>
              <a:t>Statistical Interactive Database </a:t>
            </a:r>
            <a:r>
              <a:rPr lang="en-GB" altLang="en-US" sz="1200" dirty="0">
                <a:solidFill>
                  <a:schemeClr val="tx1">
                    <a:lumMod val="50000"/>
                    <a:lumOff val="50000"/>
                  </a:schemeClr>
                </a:solidFill>
                <a:latin typeface="Arial" panose="020B0604020202020204" pitchFamily="34" charset="0"/>
              </a:rPr>
              <a:t>(Bank of England), Series </a:t>
            </a:r>
            <a:r>
              <a:rPr lang="en-GB" altLang="en-US" sz="1200" dirty="0">
                <a:solidFill>
                  <a:schemeClr val="tx1">
                    <a:lumMod val="50000"/>
                    <a:lumOff val="5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LPMVQJW</a:t>
            </a:r>
            <a:r>
              <a:rPr lang="en-GB" altLang="en-US" sz="1200" dirty="0">
                <a:solidFill>
                  <a:schemeClr val="tx1">
                    <a:lumMod val="50000"/>
                    <a:lumOff val="50000"/>
                  </a:schemeClr>
                </a:solidFill>
                <a:latin typeface="Arial" panose="020B0604020202020204" pitchFamily="34" charset="0"/>
              </a:rPr>
              <a:t> (data published 1 August 2022, seasonally adjusted)</a:t>
            </a:r>
          </a:p>
        </p:txBody>
      </p:sp>
      <p:sp>
        <p:nvSpPr>
          <p:cNvPr id="3" name="TextBox 2">
            <a:extLst>
              <a:ext uri="{FF2B5EF4-FFF2-40B4-BE49-F238E27FC236}">
                <a16:creationId xmlns:a16="http://schemas.microsoft.com/office/drawing/2014/main" id="{E56CD262-D328-FDF7-91FC-F4137EA9E2A6}"/>
              </a:ext>
            </a:extLst>
          </p:cNvPr>
          <p:cNvSpPr txBox="1"/>
          <p:nvPr/>
        </p:nvSpPr>
        <p:spPr>
          <a:xfrm>
            <a:off x="2564331" y="658536"/>
            <a:ext cx="9627669" cy="830997"/>
          </a:xfrm>
          <a:prstGeom prst="rect">
            <a:avLst/>
          </a:prstGeom>
          <a:noFill/>
        </p:spPr>
        <p:txBody>
          <a:bodyPr wrap="square">
            <a:spAutoFit/>
          </a:bodyPr>
          <a:lstStyle/>
          <a:p>
            <a:pPr marL="0" lvl="1">
              <a:spcBef>
                <a:spcPts val="1200"/>
              </a:spcBef>
            </a:pPr>
            <a:r>
              <a:rPr lang="en-GB" altLang="en-US" dirty="0">
                <a:solidFill>
                  <a:schemeClr val="tx2"/>
                </a:solidFill>
                <a:latin typeface="+mj-lt"/>
                <a:sym typeface="Symbol" panose="05050102010706020507" pitchFamily="18" charset="2"/>
              </a:rPr>
              <a:t>M4 = (a) PSNCR – (b) sale of public-sector debt to non-bank private sector + (c) banks’ lending to UK private sector + (d) external effect</a:t>
            </a:r>
            <a:endParaRPr lang="en-GB" altLang="en-US" dirty="0">
              <a:solidFill>
                <a:schemeClr val="tx2"/>
              </a:solidFill>
              <a:latin typeface="+mj-lt"/>
            </a:endParaRPr>
          </a:p>
        </p:txBody>
      </p:sp>
    </p:spTree>
    <p:extLst>
      <p:ext uri="{BB962C8B-B14F-4D97-AF65-F5344CB8AC3E}">
        <p14:creationId xmlns:p14="http://schemas.microsoft.com/office/powerpoint/2010/main" val="3585607401"/>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left)">
                                      <p:cBhvr>
                                        <p:cTn id="7" dur="1500"/>
                                        <p:tgtEl>
                                          <p:spTgt spid="7">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left)">
                                      <p:cBhvr>
                                        <p:cTn id="12" dur="1500"/>
                                        <p:tgtEl>
                                          <p:spTgt spid="7">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series" animBg="0"/>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EF3F5248-67D8-4F97-A809-2BB2FBCB2F62}"/>
              </a:ext>
            </a:extLst>
          </p:cNvPr>
          <p:cNvSpPr txBox="1">
            <a:spLocks noChangeArrowheads="1"/>
          </p:cNvSpPr>
          <p:nvPr/>
        </p:nvSpPr>
        <p:spPr bwMode="auto">
          <a:xfrm>
            <a:off x="0" y="1"/>
            <a:ext cx="12192000" cy="569387"/>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spcBef>
                <a:spcPct val="20000"/>
              </a:spcBef>
              <a:buFont typeface="Arial" panose="020B0604020202020204" pitchFamily="34" charset="0"/>
              <a:buChar char="•"/>
              <a:tabLst>
                <a:tab pos="1335088"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335088"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335088"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335088"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335088"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335088" algn="l"/>
              </a:tabLst>
              <a:defRPr sz="2000">
                <a:solidFill>
                  <a:schemeClr val="tx1"/>
                </a:solidFill>
                <a:latin typeface="Calibri" panose="020F0502020204030204" pitchFamily="34" charset="0"/>
              </a:defRPr>
            </a:lvl9pPr>
          </a:lstStyle>
          <a:p>
            <a:pPr algn="ctr" eaLnBrk="1" hangingPunct="1">
              <a:spcBef>
                <a:spcPct val="0"/>
              </a:spcBef>
              <a:buNone/>
            </a:pPr>
            <a:r>
              <a:rPr lang="en-GB" altLang="en-US" sz="2800" b="1" dirty="0">
                <a:solidFill>
                  <a:srgbClr val="660066"/>
                </a:solidFill>
                <a:latin typeface="Arial" panose="020B0604020202020204" pitchFamily="34" charset="0"/>
              </a:rPr>
              <a:t>Components of changes in M4</a:t>
            </a:r>
          </a:p>
        </p:txBody>
      </p:sp>
      <p:sp>
        <p:nvSpPr>
          <p:cNvPr id="5" name="Text Box 5">
            <a:extLst>
              <a:ext uri="{FF2B5EF4-FFF2-40B4-BE49-F238E27FC236}">
                <a16:creationId xmlns:a16="http://schemas.microsoft.com/office/drawing/2014/main" id="{6E537540-E956-44E5-92ED-8D23C599141E}"/>
              </a:ext>
            </a:extLst>
          </p:cNvPr>
          <p:cNvSpPr txBox="1">
            <a:spLocks noChangeArrowheads="1"/>
          </p:cNvSpPr>
          <p:nvPr/>
        </p:nvSpPr>
        <p:spPr bwMode="auto">
          <a:xfrm>
            <a:off x="1271464" y="6518276"/>
            <a:ext cx="91861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GB" altLang="en-US" sz="1000" i="1" dirty="0">
                <a:solidFill>
                  <a:schemeClr val="bg1">
                    <a:lumMod val="50000"/>
                  </a:schemeClr>
                </a:solidFill>
                <a:latin typeface="Arial" panose="020B0604020202020204" pitchFamily="34" charset="0"/>
                <a:cs typeface="Arial" panose="020B0604020202020204" pitchFamily="34" charset="0"/>
              </a:rPr>
              <a:t>Source: </a:t>
            </a:r>
            <a:r>
              <a:rPr lang="en-GB" altLang="en-US" sz="1000" dirty="0">
                <a:solidFill>
                  <a:schemeClr val="bg1">
                    <a:lumMod val="50000"/>
                  </a:schemeClr>
                </a:solidFill>
                <a:latin typeface="Arial" panose="020B0604020202020204" pitchFamily="34" charset="0"/>
                <a:cs typeface="Arial" panose="020B0604020202020204" pitchFamily="34" charset="0"/>
              </a:rPr>
              <a:t>Based on data in Bankstats (Bank of England), Table A3.2 (Data published 29 March 2022)</a:t>
            </a:r>
            <a:endParaRPr lang="en-GB" altLang="en-US" sz="1000" dirty="0">
              <a:solidFill>
                <a:schemeClr val="bg1">
                  <a:lumMod val="50000"/>
                </a:schemeClr>
              </a:solidFill>
              <a:latin typeface="Arial" panose="020B0604020202020204" pitchFamily="34" charset="0"/>
            </a:endParaRPr>
          </a:p>
        </p:txBody>
      </p:sp>
      <p:graphicFrame>
        <p:nvGraphicFramePr>
          <p:cNvPr id="7" name="Object 7">
            <a:extLst>
              <a:ext uri="{FF2B5EF4-FFF2-40B4-BE49-F238E27FC236}">
                <a16:creationId xmlns:a16="http://schemas.microsoft.com/office/drawing/2014/main" id="{82B397C3-0959-44CE-94C7-8C2B80DC571E}"/>
              </a:ext>
            </a:extLst>
          </p:cNvPr>
          <p:cNvGraphicFramePr>
            <a:graphicFrameLocks noChangeAspect="1"/>
          </p:cNvGraphicFramePr>
          <p:nvPr/>
        </p:nvGraphicFramePr>
        <p:xfrm>
          <a:off x="0" y="670563"/>
          <a:ext cx="12192000" cy="57651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2411995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left)">
                                      <p:cBhvr>
                                        <p:cTn id="7" dur="1250"/>
                                        <p:tgtEl>
                                          <p:spTgt spid="7">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left)">
                                      <p:cBhvr>
                                        <p:cTn id="12" dur="1250"/>
                                        <p:tgtEl>
                                          <p:spTgt spid="7">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graphicEl>
                                              <a:chart seriesIdx="2" categoryIdx="-4" bldStep="series"/>
                                            </p:graphicEl>
                                          </p:spTgt>
                                        </p:tgtEl>
                                        <p:attrNameLst>
                                          <p:attrName>style.visibility</p:attrName>
                                        </p:attrNameLst>
                                      </p:cBhvr>
                                      <p:to>
                                        <p:strVal val="visible"/>
                                      </p:to>
                                    </p:set>
                                    <p:animEffect transition="in" filter="wipe(left)">
                                      <p:cBhvr>
                                        <p:cTn id="17" dur="1250"/>
                                        <p:tgtEl>
                                          <p:spTgt spid="7">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graphicEl>
                                              <a:chart seriesIdx="3" categoryIdx="-4" bldStep="series"/>
                                            </p:graphicEl>
                                          </p:spTgt>
                                        </p:tgtEl>
                                        <p:attrNameLst>
                                          <p:attrName>style.visibility</p:attrName>
                                        </p:attrNameLst>
                                      </p:cBhvr>
                                      <p:to>
                                        <p:strVal val="visible"/>
                                      </p:to>
                                    </p:set>
                                    <p:animEffect transition="in" filter="wipe(left)">
                                      <p:cBhvr>
                                        <p:cTn id="22" dur="1250"/>
                                        <p:tgtEl>
                                          <p:spTgt spid="7">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graphicEl>
                                              <a:chart seriesIdx="4" categoryIdx="-4" bldStep="series"/>
                                            </p:graphicEl>
                                          </p:spTgt>
                                        </p:tgtEl>
                                        <p:attrNameLst>
                                          <p:attrName>style.visibility</p:attrName>
                                        </p:attrNameLst>
                                      </p:cBhvr>
                                      <p:to>
                                        <p:strVal val="visible"/>
                                      </p:to>
                                    </p:set>
                                    <p:animEffect transition="in" filter="wipe(left)">
                                      <p:cBhvr>
                                        <p:cTn id="27" dur="1250"/>
                                        <p:tgtEl>
                                          <p:spTgt spid="7">
                                            <p:graphicEl>
                                              <a:chart seriesIdx="4"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 animBg="0"/>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1106" name="Rectangle 2">
            <a:extLst>
              <a:ext uri="{FF2B5EF4-FFF2-40B4-BE49-F238E27FC236}">
                <a16:creationId xmlns:a16="http://schemas.microsoft.com/office/drawing/2014/main" id="{20F40021-5416-4E90-A2FB-3F44CD12C0D3}"/>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1107" name="Rectangle 3">
            <a:extLst>
              <a:ext uri="{FF2B5EF4-FFF2-40B4-BE49-F238E27FC236}">
                <a16:creationId xmlns:a16="http://schemas.microsoft.com/office/drawing/2014/main" id="{9A364F00-EBF2-4B80-A02F-64E97D28A55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1108" name="Rectangle 4">
            <a:extLst>
              <a:ext uri="{FF2B5EF4-FFF2-40B4-BE49-F238E27FC236}">
                <a16:creationId xmlns:a16="http://schemas.microsoft.com/office/drawing/2014/main" id="{24190D2A-89E9-4AC1-A10B-9A31DC5988A2}"/>
              </a:ext>
            </a:extLst>
          </p:cNvPr>
          <p:cNvSpPr>
            <a:spLocks noGrp="1"/>
          </p:cNvSpPr>
          <p:nvPr>
            <p:ph type="title"/>
          </p:nvPr>
        </p:nvSpPr>
        <p:spPr/>
        <p:txBody>
          <a:bodyPr/>
          <a:lstStyle/>
          <a:p>
            <a:pPr algn="ctr"/>
            <a:r>
              <a:rPr lang="en-GB" altLang="en-US" dirty="0"/>
              <a:t>Credit cycles </a:t>
            </a:r>
          </a:p>
        </p:txBody>
      </p:sp>
      <p:sp>
        <p:nvSpPr>
          <p:cNvPr id="410629" name="Rectangle 5">
            <a:extLst>
              <a:ext uri="{FF2B5EF4-FFF2-40B4-BE49-F238E27FC236}">
                <a16:creationId xmlns:a16="http://schemas.microsoft.com/office/drawing/2014/main" id="{C4F9C1A2-634C-499D-8F5E-275A3BFB8D91}"/>
              </a:ext>
            </a:extLst>
          </p:cNvPr>
          <p:cNvSpPr>
            <a:spLocks noGrp="1"/>
          </p:cNvSpPr>
          <p:nvPr>
            <p:ph sz="quarter" idx="1"/>
          </p:nvPr>
        </p:nvSpPr>
        <p:spPr>
          <a:xfrm>
            <a:off x="402336" y="1527047"/>
            <a:ext cx="11338560" cy="4883691"/>
          </a:xfrm>
        </p:spPr>
        <p:txBody>
          <a:bodyPr>
            <a:normAutofit lnSpcReduction="10000"/>
          </a:bodyPr>
          <a:lstStyle/>
          <a:p>
            <a:r>
              <a:rPr lang="en-GB" dirty="0">
                <a:latin typeface="+mn-lt"/>
                <a:cs typeface="Helvetica" panose="020B0604020202020204"/>
              </a:rPr>
              <a:t>Monetary growth is affected by bank lending. An analysis of the flows of credit extended by financial institutions shows that they can vary consid­erably from period to period. This variation is consistent with the idea of a </a:t>
            </a:r>
            <a:r>
              <a:rPr lang="en-GB" b="1" i="1" dirty="0">
                <a:latin typeface="+mn-lt"/>
                <a:cs typeface="Helvetica" panose="020B0604020202020204"/>
              </a:rPr>
              <a:t>credit cycle</a:t>
            </a:r>
            <a:r>
              <a:rPr lang="en-GB" dirty="0">
                <a:latin typeface="+mn-lt"/>
                <a:cs typeface="Helvetica" panose="020B0604020202020204"/>
              </a:rPr>
              <a:t>. </a:t>
            </a:r>
          </a:p>
          <a:p>
            <a:r>
              <a:rPr lang="en-GB" dirty="0">
                <a:latin typeface="+mn-lt"/>
                <a:cs typeface="Helvetica" panose="020B0604020202020204"/>
              </a:rPr>
              <a:t>Banks’ lending behaviour is </a:t>
            </a:r>
            <a:r>
              <a:rPr lang="en-GB" b="1" dirty="0">
                <a:latin typeface="+mn-lt"/>
                <a:cs typeface="Helvetica" panose="020B0604020202020204"/>
              </a:rPr>
              <a:t>pro­cyclical lending</a:t>
            </a:r>
            <a:r>
              <a:rPr lang="en-GB" dirty="0">
                <a:latin typeface="+mn-lt"/>
                <a:cs typeface="Helvetica" panose="020B0604020202020204"/>
              </a:rPr>
              <a:t>, meaning that they increase lending volumes when economic growth is strong but reduce lending volumes when growth is weak. </a:t>
            </a:r>
          </a:p>
          <a:p>
            <a:r>
              <a:rPr lang="en-GB" dirty="0">
                <a:latin typeface="+mn-lt"/>
                <a:cs typeface="Helvetica" panose="020B0604020202020204"/>
              </a:rPr>
              <a:t>Therefore, lending either </a:t>
            </a:r>
            <a:r>
              <a:rPr lang="en-GB" b="1" dirty="0">
                <a:latin typeface="+mn-lt"/>
                <a:cs typeface="Helvetica" panose="020B0604020202020204"/>
              </a:rPr>
              <a:t>boosts aggregate demand </a:t>
            </a:r>
            <a:r>
              <a:rPr lang="en-GB" dirty="0">
                <a:latin typeface="+mn-lt"/>
                <a:cs typeface="Helvetica" panose="020B0604020202020204"/>
              </a:rPr>
              <a:t>when it is already growing strongly or weakens it further when the growth in aggregate demand is weak. </a:t>
            </a:r>
          </a:p>
          <a:p>
            <a:r>
              <a:rPr lang="en-GB" dirty="0">
                <a:latin typeface="+mn-lt"/>
                <a:cs typeface="Helvetica" panose="020B0604020202020204"/>
              </a:rPr>
              <a:t>Pro­cyclical lend­ing behaviour by financial institutions will tend to amplify the business cycle. The banking sector creates a process by which the sources of volatility in the economy have an amplified effect on national income. This process is known as the</a:t>
            </a:r>
            <a:r>
              <a:rPr lang="en-GB" b="1" dirty="0">
                <a:latin typeface="+mn-lt"/>
                <a:cs typeface="Helvetica" panose="020B0604020202020204"/>
              </a:rPr>
              <a:t> </a:t>
            </a:r>
            <a:r>
              <a:rPr lang="en-GB" b="1" i="1" dirty="0">
                <a:latin typeface="+mn-lt"/>
                <a:cs typeface="Helvetica" panose="020B0604020202020204"/>
              </a:rPr>
              <a:t>financial accelerator</a:t>
            </a:r>
            <a:r>
              <a:rPr lang="en-GB" dirty="0">
                <a:latin typeface="+mn-lt"/>
                <a:cs typeface="Helvetica" panose="020B0604020202020204"/>
              </a:rPr>
              <a:t>.</a:t>
            </a:r>
          </a:p>
          <a:p>
            <a:br>
              <a:rPr lang="en-GB" dirty="0"/>
            </a:br>
            <a:endParaRPr lang="en-GB" dirty="0"/>
          </a:p>
        </p:txBody>
      </p:sp>
    </p:spTree>
    <p:extLst>
      <p:ext uri="{BB962C8B-B14F-4D97-AF65-F5344CB8AC3E}">
        <p14:creationId xmlns:p14="http://schemas.microsoft.com/office/powerpoint/2010/main" val="597975498"/>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29">
                                            <p:txEl>
                                              <p:pRg st="0" end="0"/>
                                            </p:txEl>
                                          </p:spTgt>
                                        </p:tgtEl>
                                        <p:attrNameLst>
                                          <p:attrName>style.visibility</p:attrName>
                                        </p:attrNameLst>
                                      </p:cBhvr>
                                      <p:to>
                                        <p:strVal val="visible"/>
                                      </p:to>
                                    </p:set>
                                    <p:anim calcmode="lin" valueType="num">
                                      <p:cBhvr additive="base">
                                        <p:cTn id="7" dur="500"/>
                                        <p:tgtEl>
                                          <p:spTgt spid="41062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2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0629">
                                            <p:txEl>
                                              <p:pRg st="1" end="1"/>
                                            </p:txEl>
                                          </p:spTgt>
                                        </p:tgtEl>
                                        <p:attrNameLst>
                                          <p:attrName>style.visibility</p:attrName>
                                        </p:attrNameLst>
                                      </p:cBhvr>
                                      <p:to>
                                        <p:strVal val="visible"/>
                                      </p:to>
                                    </p:set>
                                    <p:anim calcmode="lin" valueType="num">
                                      <p:cBhvr additive="base">
                                        <p:cTn id="13" dur="500"/>
                                        <p:tgtEl>
                                          <p:spTgt spid="41062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062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0629">
                                            <p:txEl>
                                              <p:pRg st="2" end="2"/>
                                            </p:txEl>
                                          </p:spTgt>
                                        </p:tgtEl>
                                        <p:attrNameLst>
                                          <p:attrName>style.visibility</p:attrName>
                                        </p:attrNameLst>
                                      </p:cBhvr>
                                      <p:to>
                                        <p:strVal val="visible"/>
                                      </p:to>
                                    </p:set>
                                    <p:anim calcmode="lin" valueType="num">
                                      <p:cBhvr additive="base">
                                        <p:cTn id="19" dur="500"/>
                                        <p:tgtEl>
                                          <p:spTgt spid="41062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062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0629">
                                            <p:txEl>
                                              <p:pRg st="3" end="3"/>
                                            </p:txEl>
                                          </p:spTgt>
                                        </p:tgtEl>
                                        <p:attrNameLst>
                                          <p:attrName>style.visibility</p:attrName>
                                        </p:attrNameLst>
                                      </p:cBhvr>
                                      <p:to>
                                        <p:strVal val="visible"/>
                                      </p:to>
                                    </p:set>
                                    <p:anim calcmode="lin" valueType="num">
                                      <p:cBhvr additive="base">
                                        <p:cTn id="25" dur="500"/>
                                        <p:tgtEl>
                                          <p:spTgt spid="41062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062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0629">
                                            <p:txEl>
                                              <p:pRg st="4" end="4"/>
                                            </p:txEl>
                                          </p:spTgt>
                                        </p:tgtEl>
                                        <p:attrNameLst>
                                          <p:attrName>style.visibility</p:attrName>
                                        </p:attrNameLst>
                                      </p:cBhvr>
                                      <p:to>
                                        <p:strVal val="visible"/>
                                      </p:to>
                                    </p:set>
                                    <p:anim calcmode="lin" valueType="num">
                                      <p:cBhvr additive="base">
                                        <p:cTn id="31" dur="500"/>
                                        <p:tgtEl>
                                          <p:spTgt spid="41062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9" grpId="0" build="p" bldLvl="2"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9">
            <a:extLst>
              <a:ext uri="{FF2B5EF4-FFF2-40B4-BE49-F238E27FC236}">
                <a16:creationId xmlns:a16="http://schemas.microsoft.com/office/drawing/2014/main" id="{A6D4E62D-981E-4898-8D5F-1A6CCBE4A7B5}"/>
              </a:ext>
            </a:extLst>
          </p:cNvPr>
          <p:cNvSpPr txBox="1">
            <a:spLocks noChangeArrowheads="1"/>
          </p:cNvSpPr>
          <p:nvPr/>
        </p:nvSpPr>
        <p:spPr bwMode="auto">
          <a:xfrm>
            <a:off x="0" y="-1"/>
            <a:ext cx="12192000" cy="592139"/>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91440" rIns="92075" bIns="46038" anchor="ctr"/>
          <a:lstStyle>
            <a:lvl1pPr defTabSz="7620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defTabSz="7620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7620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7620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7620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7620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7620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7620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7620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b="1" dirty="0">
                <a:solidFill>
                  <a:srgbClr val="660066"/>
                </a:solidFill>
                <a:latin typeface="Arial" panose="020B0604020202020204" pitchFamily="34" charset="0"/>
              </a:rPr>
              <a:t>Annual flows of credit from MFIs</a:t>
            </a:r>
          </a:p>
        </p:txBody>
      </p:sp>
      <p:sp>
        <p:nvSpPr>
          <p:cNvPr id="6" name="TextBox 5">
            <a:extLst>
              <a:ext uri="{FF2B5EF4-FFF2-40B4-BE49-F238E27FC236}">
                <a16:creationId xmlns:a16="http://schemas.microsoft.com/office/drawing/2014/main" id="{21D45B13-44E7-635D-4675-AC06B6F77AA2}"/>
              </a:ext>
            </a:extLst>
          </p:cNvPr>
          <p:cNvSpPr txBox="1">
            <a:spLocks noChangeArrowheads="1"/>
          </p:cNvSpPr>
          <p:nvPr/>
        </p:nvSpPr>
        <p:spPr bwMode="auto">
          <a:xfrm>
            <a:off x="395288" y="6396038"/>
            <a:ext cx="9129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GB" altLang="en-US" sz="1200" dirty="0">
                <a:solidFill>
                  <a:schemeClr val="tx1">
                    <a:lumMod val="50000"/>
                    <a:lumOff val="50000"/>
                  </a:schemeClr>
                </a:solidFill>
                <a:latin typeface="Arial" panose="020B0604020202020204" pitchFamily="34" charset="0"/>
                <a:cs typeface="Arial" panose="020B0604020202020204" pitchFamily="34" charset="0"/>
              </a:rPr>
              <a:t>Sources: </a:t>
            </a:r>
            <a:r>
              <a:rPr lang="en-GB" altLang="en-US" sz="1200" i="1" dirty="0">
                <a:solidFill>
                  <a:schemeClr val="tx1">
                    <a:lumMod val="50000"/>
                    <a:lumOff val="50000"/>
                  </a:schemeClr>
                </a:solidFill>
                <a:latin typeface="Arial" panose="020B0604020202020204" pitchFamily="34" charset="0"/>
                <a:cs typeface="Arial" panose="020B0604020202020204" pitchFamily="34" charset="0"/>
              </a:rPr>
              <a:t>Statistical Interactive Database</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 Bank of England, series </a:t>
            </a:r>
            <a:r>
              <a:rPr lang="en-GB" altLang="en-US" sz="1200" dirty="0">
                <a:solidFill>
                  <a:schemeClr val="tx1">
                    <a:lumMod val="50000"/>
                    <a:lumOff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LPQVWNV</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 and </a:t>
            </a:r>
            <a:r>
              <a:rPr lang="en-GB" altLang="en-US" sz="1200" dirty="0">
                <a:solidFill>
                  <a:schemeClr val="tx1">
                    <a:lumMod val="50000"/>
                    <a:lumOff val="5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LPQVWNQ</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 (data published 1 August 2022) and series </a:t>
            </a:r>
            <a:r>
              <a:rPr lang="en-GB" altLang="en-US" sz="1200" dirty="0">
                <a:solidFill>
                  <a:schemeClr val="tx1">
                    <a:lumMod val="50000"/>
                    <a:lumOff val="5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YBHA</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 Office for National Statistics</a:t>
            </a:r>
          </a:p>
        </p:txBody>
      </p:sp>
      <p:graphicFrame>
        <p:nvGraphicFramePr>
          <p:cNvPr id="7" name="Object 4">
            <a:extLst>
              <a:ext uri="{FF2B5EF4-FFF2-40B4-BE49-F238E27FC236}">
                <a16:creationId xmlns:a16="http://schemas.microsoft.com/office/drawing/2014/main" id="{E376E5BB-E64C-17D5-732C-17347D2A10C1}"/>
              </a:ext>
            </a:extLst>
          </p:cNvPr>
          <p:cNvGraphicFramePr>
            <a:graphicFrameLocks noChangeAspect="1"/>
          </p:cNvGraphicFramePr>
          <p:nvPr/>
        </p:nvGraphicFramePr>
        <p:xfrm>
          <a:off x="0" y="601665"/>
          <a:ext cx="12192000" cy="579437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67847456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left)">
                                      <p:cBhvr>
                                        <p:cTn id="7" dur="1250"/>
                                        <p:tgtEl>
                                          <p:spTgt spid="7">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left)">
                                      <p:cBhvr>
                                        <p:cTn id="12" dur="1250"/>
                                        <p:tgtEl>
                                          <p:spTgt spid="7">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 animBg="0"/>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1" name="Rectangle 3">
            <a:extLst>
              <a:ext uri="{FF2B5EF4-FFF2-40B4-BE49-F238E27FC236}">
                <a16:creationId xmlns:a16="http://schemas.microsoft.com/office/drawing/2014/main" id="{F5E6D80F-BE92-4120-BD9B-E12712A84322}"/>
              </a:ext>
            </a:extLst>
          </p:cNvPr>
          <p:cNvSpPr>
            <a:spLocks noChangeArrowheads="1"/>
          </p:cNvSpPr>
          <p:nvPr/>
        </p:nvSpPr>
        <p:spPr bwMode="auto">
          <a:xfrm>
            <a:off x="1825625" y="1882775"/>
            <a:ext cx="8504238"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0000"/>
              </a:lnSpc>
              <a:spcBef>
                <a:spcPct val="35000"/>
              </a:spcBef>
              <a:buClr>
                <a:srgbClr val="990033"/>
              </a:buClr>
              <a:buSzPct val="85000"/>
              <a:buFont typeface="Wingdings 2" panose="05020102010507070707" pitchFamily="18" charset="2"/>
              <a:buChar char=""/>
              <a:defRPr sz="2100">
                <a:solidFill>
                  <a:schemeClr val="tx1"/>
                </a:solidFill>
                <a:latin typeface="Arial" panose="020B0604020202020204" pitchFamily="34" charset="0"/>
              </a:defRPr>
            </a:lvl1pPr>
            <a:lvl2pPr marL="547688" indent="-273050">
              <a:lnSpc>
                <a:spcPct val="90000"/>
              </a:lnSpc>
              <a:spcBef>
                <a:spcPct val="35000"/>
              </a:spcBef>
              <a:buClr>
                <a:srgbClr val="007A00"/>
              </a:buClr>
              <a:buSzPct val="70000"/>
              <a:buFont typeface="Wingdings" panose="05000000000000000000" pitchFamily="2" charset="2"/>
              <a:buChar char="¡"/>
              <a:defRPr sz="1900">
                <a:solidFill>
                  <a:srgbClr val="004363"/>
                </a:solidFill>
                <a:latin typeface="Arial" panose="020B0604020202020204" pitchFamily="34" charset="0"/>
              </a:defRPr>
            </a:lvl2pPr>
            <a:lvl3pPr marL="1143000" indent="-228600">
              <a:lnSpc>
                <a:spcPct val="90000"/>
              </a:lnSpc>
              <a:spcBef>
                <a:spcPct val="35000"/>
              </a:spcBef>
              <a:buClr>
                <a:srgbClr val="800080"/>
              </a:buClr>
              <a:buSzPct val="75000"/>
              <a:buFont typeface="Wingdings 2" panose="05020102010507070707" pitchFamily="18" charset="2"/>
              <a:buChar char="÷"/>
              <a:defRPr>
                <a:solidFill>
                  <a:srgbClr val="3B1862"/>
                </a:solidFill>
                <a:latin typeface="Arial" panose="020B0604020202020204" pitchFamily="34" charset="0"/>
              </a:defRPr>
            </a:lvl3pPr>
            <a:lvl4pPr marL="1600200" indent="-228600">
              <a:lnSpc>
                <a:spcPct val="90000"/>
              </a:lnSpc>
              <a:spcBef>
                <a:spcPct val="35000"/>
              </a:spcBef>
              <a:buClr>
                <a:srgbClr val="B56403"/>
              </a:buClr>
              <a:buSzPct val="65000"/>
              <a:buFont typeface="Wingdings 2" panose="05020102010507070707" pitchFamily="18" charset="2"/>
              <a:buChar char="°"/>
              <a:defRPr sz="1600">
                <a:solidFill>
                  <a:srgbClr val="3C4150"/>
                </a:solidFill>
                <a:latin typeface="Arial" panose="020B0604020202020204" pitchFamily="34" charset="0"/>
              </a:defRPr>
            </a:lvl4pPr>
            <a:lvl5pPr marL="2057400" indent="-228600">
              <a:lnSpc>
                <a:spcPct val="90000"/>
              </a:lnSpc>
              <a:spcBef>
                <a:spcPct val="30000"/>
              </a:spcBef>
              <a:buChar char="»"/>
              <a:defRPr sz="1200">
                <a:solidFill>
                  <a:schemeClr val="tx1"/>
                </a:solidFill>
                <a:latin typeface="Georgia" panose="02040502050405020303" pitchFamily="18" charset="0"/>
              </a:defRPr>
            </a:lvl5pPr>
            <a:lvl6pPr marL="2514600" indent="-228600" eaLnBrk="0" fontAlgn="base" hangingPunct="0">
              <a:lnSpc>
                <a:spcPct val="90000"/>
              </a:lnSpc>
              <a:spcBef>
                <a:spcPct val="30000"/>
              </a:spcBef>
              <a:spcAft>
                <a:spcPct val="0"/>
              </a:spcAft>
              <a:buChar char="»"/>
              <a:defRPr sz="1200">
                <a:solidFill>
                  <a:schemeClr val="tx1"/>
                </a:solidFill>
                <a:latin typeface="Georgia" panose="02040502050405020303" pitchFamily="18" charset="0"/>
              </a:defRPr>
            </a:lvl6pPr>
            <a:lvl7pPr marL="2971800" indent="-228600" eaLnBrk="0" fontAlgn="base" hangingPunct="0">
              <a:lnSpc>
                <a:spcPct val="90000"/>
              </a:lnSpc>
              <a:spcBef>
                <a:spcPct val="30000"/>
              </a:spcBef>
              <a:spcAft>
                <a:spcPct val="0"/>
              </a:spcAft>
              <a:buChar char="»"/>
              <a:defRPr sz="1200">
                <a:solidFill>
                  <a:schemeClr val="tx1"/>
                </a:solidFill>
                <a:latin typeface="Georgia" panose="02040502050405020303" pitchFamily="18" charset="0"/>
              </a:defRPr>
            </a:lvl7pPr>
            <a:lvl8pPr marL="3429000" indent="-228600" eaLnBrk="0" fontAlgn="base" hangingPunct="0">
              <a:lnSpc>
                <a:spcPct val="90000"/>
              </a:lnSpc>
              <a:spcBef>
                <a:spcPct val="30000"/>
              </a:spcBef>
              <a:spcAft>
                <a:spcPct val="0"/>
              </a:spcAft>
              <a:buChar char="»"/>
              <a:defRPr sz="1200">
                <a:solidFill>
                  <a:schemeClr val="tx1"/>
                </a:solidFill>
                <a:latin typeface="Georgia" panose="02040502050405020303" pitchFamily="18" charset="0"/>
              </a:defRPr>
            </a:lvl8pPr>
            <a:lvl9pPr marL="3886200" indent="-228600" eaLnBrk="0" fontAlgn="base" hangingPunct="0">
              <a:lnSpc>
                <a:spcPct val="90000"/>
              </a:lnSpc>
              <a:spcBef>
                <a:spcPct val="30000"/>
              </a:spcBef>
              <a:spcAft>
                <a:spcPct val="0"/>
              </a:spcAft>
              <a:buChar char="»"/>
              <a:defRPr sz="1200">
                <a:solidFill>
                  <a:schemeClr val="tx1"/>
                </a:solidFill>
                <a:latin typeface="Georgia" panose="02040502050405020303" pitchFamily="18" charset="0"/>
              </a:defRPr>
            </a:lvl9pPr>
          </a:lstStyle>
          <a:p>
            <a:pPr>
              <a:lnSpc>
                <a:spcPct val="100000"/>
              </a:lnSpc>
              <a:spcBef>
                <a:spcPct val="75000"/>
              </a:spcBef>
            </a:pPr>
            <a:endParaRPr lang="en-US" altLang="en-US" sz="2800"/>
          </a:p>
        </p:txBody>
      </p:sp>
      <p:sp>
        <p:nvSpPr>
          <p:cNvPr id="493577" name="Rectangle 9">
            <a:extLst>
              <a:ext uri="{FF2B5EF4-FFF2-40B4-BE49-F238E27FC236}">
                <a16:creationId xmlns:a16="http://schemas.microsoft.com/office/drawing/2014/main" id="{7BD9AFDC-41EA-4EBA-A0CA-13A1C7F4D7A1}"/>
              </a:ext>
            </a:extLst>
          </p:cNvPr>
          <p:cNvSpPr>
            <a:spLocks noGrp="1"/>
          </p:cNvSpPr>
          <p:nvPr>
            <p:ph type="title"/>
          </p:nvPr>
        </p:nvSpPr>
        <p:spPr>
          <a:noFill/>
          <a:ln/>
        </p:spPr>
        <p:txBody>
          <a:bodyPr/>
          <a:lstStyle/>
          <a:p>
            <a:r>
              <a:rPr lang="en-GB" altLang="en-US" dirty="0"/>
              <a:t>Money supply and the rate of interest</a:t>
            </a:r>
          </a:p>
        </p:txBody>
      </p:sp>
      <p:sp>
        <p:nvSpPr>
          <p:cNvPr id="493576" name="Rectangle 8">
            <a:extLst>
              <a:ext uri="{FF2B5EF4-FFF2-40B4-BE49-F238E27FC236}">
                <a16:creationId xmlns:a16="http://schemas.microsoft.com/office/drawing/2014/main" id="{1E3E936E-30CF-4169-9469-BFB45815F80C}"/>
              </a:ext>
            </a:extLst>
          </p:cNvPr>
          <p:cNvSpPr>
            <a:spLocks noGrp="1"/>
          </p:cNvSpPr>
          <p:nvPr>
            <p:ph sz="quarter" idx="1"/>
          </p:nvPr>
        </p:nvSpPr>
        <p:spPr>
          <a:xfrm>
            <a:off x="402336" y="1527048"/>
            <a:ext cx="11338560" cy="4853432"/>
          </a:xfrm>
        </p:spPr>
        <p:txBody>
          <a:bodyPr/>
          <a:lstStyle/>
          <a:p>
            <a:pPr>
              <a:spcBef>
                <a:spcPts val="600"/>
              </a:spcBef>
            </a:pPr>
            <a:r>
              <a:rPr lang="en-GB" altLang="en-US" dirty="0">
                <a:latin typeface="+mn-lt"/>
              </a:rPr>
              <a:t>Simplest theory to assume exogenous money supply</a:t>
            </a:r>
          </a:p>
          <a:p>
            <a:pPr lvl="1">
              <a:spcBef>
                <a:spcPts val="600"/>
              </a:spcBef>
            </a:pPr>
            <a:r>
              <a:rPr lang="en-GB" altLang="en-US" dirty="0">
                <a:latin typeface="+mn-lt"/>
              </a:rPr>
              <a:t>Supply-of-money curve then vertical – independent of interest rate</a:t>
            </a:r>
          </a:p>
          <a:p>
            <a:pPr lvl="1">
              <a:spcBef>
                <a:spcPts val="600"/>
              </a:spcBef>
            </a:pPr>
            <a:r>
              <a:rPr lang="en-GB" altLang="en-US" dirty="0">
                <a:latin typeface="+mn-lt"/>
              </a:rPr>
              <a:t>Makes sense if CB simply decides on money stock, creates it</a:t>
            </a:r>
          </a:p>
          <a:p>
            <a:pPr lvl="1">
              <a:spcBef>
                <a:spcPts val="600"/>
              </a:spcBef>
            </a:pPr>
            <a:endParaRPr lang="en-GB" altLang="en-US" dirty="0">
              <a:latin typeface="+mn-lt"/>
            </a:endParaRPr>
          </a:p>
          <a:p>
            <a:pPr>
              <a:spcBef>
                <a:spcPts val="600"/>
              </a:spcBef>
            </a:pPr>
            <a:r>
              <a:rPr lang="en-GB" altLang="en-US" dirty="0">
                <a:latin typeface="+mn-lt"/>
              </a:rPr>
              <a:t>Could be an endogenous money supply</a:t>
            </a:r>
          </a:p>
          <a:p>
            <a:pPr lvl="1">
              <a:spcBef>
                <a:spcPts val="600"/>
              </a:spcBef>
            </a:pPr>
            <a:r>
              <a:rPr lang="en-GB" altLang="en-US" dirty="0">
                <a:latin typeface="+mn-lt"/>
              </a:rPr>
              <a:t>Supply-of-money curve upward sloping</a:t>
            </a:r>
          </a:p>
          <a:p>
            <a:pPr lvl="2">
              <a:spcBef>
                <a:spcPts val="600"/>
              </a:spcBef>
            </a:pPr>
            <a:r>
              <a:rPr lang="en-GB" altLang="en-US" dirty="0">
                <a:latin typeface="+mn-lt"/>
              </a:rPr>
              <a:t>Banks increase lending – more profit opportunities?</a:t>
            </a:r>
          </a:p>
          <a:p>
            <a:pPr lvl="3">
              <a:spcBef>
                <a:spcPts val="600"/>
              </a:spcBef>
            </a:pPr>
            <a:r>
              <a:rPr lang="en-GB" altLang="en-US" sz="2400" dirty="0">
                <a:latin typeface="+mn-lt"/>
              </a:rPr>
              <a:t>Wholesale markets, CB, can provide liquidity without deposit funding</a:t>
            </a:r>
          </a:p>
          <a:p>
            <a:pPr lvl="3">
              <a:spcBef>
                <a:spcPts val="600"/>
              </a:spcBef>
            </a:pPr>
            <a:r>
              <a:rPr lang="en-GB" altLang="en-US" sz="2400" dirty="0">
                <a:latin typeface="+mn-lt"/>
              </a:rPr>
              <a:t>Depositors may switch to less liquid assets – reducing maturity gap, so that lending increases</a:t>
            </a:r>
          </a:p>
          <a:p>
            <a:pPr lvl="2">
              <a:spcBef>
                <a:spcPts val="600"/>
              </a:spcBef>
            </a:pPr>
            <a:r>
              <a:rPr lang="en-GB" altLang="en-US" dirty="0">
                <a:latin typeface="+mn-lt"/>
              </a:rPr>
              <a:t>High interest rates leads to fund flow from abroad, allowing more lending</a:t>
            </a:r>
          </a:p>
          <a:p>
            <a:pPr lvl="2">
              <a:spcBef>
                <a:spcPts val="600"/>
              </a:spcBef>
            </a:pPr>
            <a:endParaRPr lang="en-GB" altLang="en-US" dirty="0">
              <a:latin typeface="+mn-lt"/>
            </a:endParaRPr>
          </a:p>
          <a:p>
            <a:pPr lvl="1">
              <a:spcBef>
                <a:spcPts val="600"/>
              </a:spcBef>
            </a:pPr>
            <a:endParaRPr lang="en-GB" altLang="en-US" dirty="0"/>
          </a:p>
        </p:txBody>
      </p:sp>
    </p:spTree>
    <p:custDataLst>
      <p:tags r:id="rId1"/>
    </p:custDataLst>
    <p:extLst>
      <p:ext uri="{BB962C8B-B14F-4D97-AF65-F5344CB8AC3E}">
        <p14:creationId xmlns:p14="http://schemas.microsoft.com/office/powerpoint/2010/main" val="74668328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81251">
                                            <p:txEl>
                                              <p:pRg st="0" end="0"/>
                                            </p:txEl>
                                          </p:spTgt>
                                        </p:tgtEl>
                                        <p:attrNameLst>
                                          <p:attrName>style.visibility</p:attrName>
                                        </p:attrNameLst>
                                      </p:cBhvr>
                                      <p:to>
                                        <p:strVal val="visible"/>
                                      </p:to>
                                    </p:set>
                                    <p:anim calcmode="lin" valueType="num">
                                      <p:cBhvr additive="base">
                                        <p:cTn id="7" dur="500"/>
                                        <p:tgtEl>
                                          <p:spTgt spid="18125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8125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93576">
                                            <p:txEl>
                                              <p:pRg st="0" end="0"/>
                                            </p:txEl>
                                          </p:spTgt>
                                        </p:tgtEl>
                                        <p:attrNameLst>
                                          <p:attrName>style.visibility</p:attrName>
                                        </p:attrNameLst>
                                      </p:cBhvr>
                                      <p:to>
                                        <p:strVal val="visible"/>
                                      </p:to>
                                    </p:set>
                                    <p:anim calcmode="lin" valueType="num">
                                      <p:cBhvr additive="base">
                                        <p:cTn id="13" dur="500"/>
                                        <p:tgtEl>
                                          <p:spTgt spid="493576">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9357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93576">
                                            <p:txEl>
                                              <p:pRg st="1" end="1"/>
                                            </p:txEl>
                                          </p:spTgt>
                                        </p:tgtEl>
                                        <p:attrNameLst>
                                          <p:attrName>style.visibility</p:attrName>
                                        </p:attrNameLst>
                                      </p:cBhvr>
                                      <p:to>
                                        <p:strVal val="visible"/>
                                      </p:to>
                                    </p:set>
                                    <p:anim calcmode="lin" valueType="num">
                                      <p:cBhvr additive="base">
                                        <p:cTn id="19" dur="500"/>
                                        <p:tgtEl>
                                          <p:spTgt spid="493576">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9357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93576">
                                            <p:txEl>
                                              <p:pRg st="2" end="2"/>
                                            </p:txEl>
                                          </p:spTgt>
                                        </p:tgtEl>
                                        <p:attrNameLst>
                                          <p:attrName>style.visibility</p:attrName>
                                        </p:attrNameLst>
                                      </p:cBhvr>
                                      <p:to>
                                        <p:strVal val="visible"/>
                                      </p:to>
                                    </p:set>
                                    <p:anim calcmode="lin" valueType="num">
                                      <p:cBhvr additive="base">
                                        <p:cTn id="25" dur="500"/>
                                        <p:tgtEl>
                                          <p:spTgt spid="493576">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9357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93576">
                                            <p:txEl>
                                              <p:pRg st="4" end="4"/>
                                            </p:txEl>
                                          </p:spTgt>
                                        </p:tgtEl>
                                        <p:attrNameLst>
                                          <p:attrName>style.visibility</p:attrName>
                                        </p:attrNameLst>
                                      </p:cBhvr>
                                      <p:to>
                                        <p:strVal val="visible"/>
                                      </p:to>
                                    </p:set>
                                    <p:anim calcmode="lin" valueType="num">
                                      <p:cBhvr additive="base">
                                        <p:cTn id="31" dur="500"/>
                                        <p:tgtEl>
                                          <p:spTgt spid="493576">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9357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93576">
                                            <p:txEl>
                                              <p:pRg st="5" end="5"/>
                                            </p:txEl>
                                          </p:spTgt>
                                        </p:tgtEl>
                                        <p:attrNameLst>
                                          <p:attrName>style.visibility</p:attrName>
                                        </p:attrNameLst>
                                      </p:cBhvr>
                                      <p:to>
                                        <p:strVal val="visible"/>
                                      </p:to>
                                    </p:set>
                                    <p:anim calcmode="lin" valueType="num">
                                      <p:cBhvr additive="base">
                                        <p:cTn id="37" dur="500"/>
                                        <p:tgtEl>
                                          <p:spTgt spid="493576">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93576">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93576">
                                            <p:txEl>
                                              <p:pRg st="6" end="6"/>
                                            </p:txEl>
                                          </p:spTgt>
                                        </p:tgtEl>
                                        <p:attrNameLst>
                                          <p:attrName>style.visibility</p:attrName>
                                        </p:attrNameLst>
                                      </p:cBhvr>
                                      <p:to>
                                        <p:strVal val="visible"/>
                                      </p:to>
                                    </p:set>
                                    <p:anim calcmode="lin" valueType="num">
                                      <p:cBhvr additive="base">
                                        <p:cTn id="43" dur="500"/>
                                        <p:tgtEl>
                                          <p:spTgt spid="493576">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93576">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93576">
                                            <p:txEl>
                                              <p:pRg st="7" end="7"/>
                                            </p:txEl>
                                          </p:spTgt>
                                        </p:tgtEl>
                                        <p:attrNameLst>
                                          <p:attrName>style.visibility</p:attrName>
                                        </p:attrNameLst>
                                      </p:cBhvr>
                                      <p:to>
                                        <p:strVal val="visible"/>
                                      </p:to>
                                    </p:set>
                                    <p:anim calcmode="lin" valueType="num">
                                      <p:cBhvr additive="base">
                                        <p:cTn id="49" dur="500"/>
                                        <p:tgtEl>
                                          <p:spTgt spid="493576">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93576">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93576">
                                            <p:txEl>
                                              <p:pRg st="8" end="8"/>
                                            </p:txEl>
                                          </p:spTgt>
                                        </p:tgtEl>
                                        <p:attrNameLst>
                                          <p:attrName>style.visibility</p:attrName>
                                        </p:attrNameLst>
                                      </p:cBhvr>
                                      <p:to>
                                        <p:strVal val="visible"/>
                                      </p:to>
                                    </p:set>
                                    <p:anim calcmode="lin" valueType="num">
                                      <p:cBhvr additive="base">
                                        <p:cTn id="55" dur="500"/>
                                        <p:tgtEl>
                                          <p:spTgt spid="493576">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93576">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93576">
                                            <p:txEl>
                                              <p:pRg st="9" end="9"/>
                                            </p:txEl>
                                          </p:spTgt>
                                        </p:tgtEl>
                                        <p:attrNameLst>
                                          <p:attrName>style.visibility</p:attrName>
                                        </p:attrNameLst>
                                      </p:cBhvr>
                                      <p:to>
                                        <p:strVal val="visible"/>
                                      </p:to>
                                    </p:set>
                                    <p:anim calcmode="lin" valueType="num">
                                      <p:cBhvr additive="base">
                                        <p:cTn id="61" dur="500"/>
                                        <p:tgtEl>
                                          <p:spTgt spid="493576">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49357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bldLvl="2" autoUpdateAnimBg="0"/>
      <p:bldP spid="493576" grpId="0" build="p" bldLvl="4"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3" name="Rectangle 3">
            <a:extLst>
              <a:ext uri="{FF2B5EF4-FFF2-40B4-BE49-F238E27FC236}">
                <a16:creationId xmlns:a16="http://schemas.microsoft.com/office/drawing/2014/main" id="{E409A0FF-22F7-4D88-B133-34B765AB49E8}"/>
              </a:ext>
            </a:extLst>
          </p:cNvPr>
          <p:cNvSpPr>
            <a:spLocks noChangeArrowheads="1"/>
          </p:cNvSpPr>
          <p:nvPr/>
        </p:nvSpPr>
        <p:spPr bwMode="auto">
          <a:xfrm>
            <a:off x="2209800" y="635617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73444" name="Rectangle 4">
            <a:extLst>
              <a:ext uri="{FF2B5EF4-FFF2-40B4-BE49-F238E27FC236}">
                <a16:creationId xmlns:a16="http://schemas.microsoft.com/office/drawing/2014/main" id="{06C26998-86E5-4A93-8BDA-D6D4379B685F}"/>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73445" name="Rectangle 5">
            <a:extLst>
              <a:ext uri="{FF2B5EF4-FFF2-40B4-BE49-F238E27FC236}">
                <a16:creationId xmlns:a16="http://schemas.microsoft.com/office/drawing/2014/main" id="{B3EC748E-FF09-43CC-875E-028B92B0272B}"/>
              </a:ext>
            </a:extLst>
          </p:cNvPr>
          <p:cNvSpPr>
            <a:spLocks noChangeArrowheads="1"/>
          </p:cNvSpPr>
          <p:nvPr/>
        </p:nvSpPr>
        <p:spPr bwMode="auto">
          <a:xfrm>
            <a:off x="2270126" y="6005339"/>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573446" name="Rectangle 6">
            <a:extLst>
              <a:ext uri="{FF2B5EF4-FFF2-40B4-BE49-F238E27FC236}">
                <a16:creationId xmlns:a16="http://schemas.microsoft.com/office/drawing/2014/main" id="{F05FB332-14D8-4F2A-8D75-417F54109852}"/>
              </a:ext>
            </a:extLst>
          </p:cNvPr>
          <p:cNvSpPr>
            <a:spLocks noChangeArrowheads="1"/>
          </p:cNvSpPr>
          <p:nvPr/>
        </p:nvSpPr>
        <p:spPr bwMode="auto">
          <a:xfrm rot="16200000">
            <a:off x="1042427" y="2800619"/>
            <a:ext cx="192200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Rate of interest</a:t>
            </a:r>
          </a:p>
        </p:txBody>
      </p:sp>
      <p:sp>
        <p:nvSpPr>
          <p:cNvPr id="573447" name="Rectangle 7">
            <a:extLst>
              <a:ext uri="{FF2B5EF4-FFF2-40B4-BE49-F238E27FC236}">
                <a16:creationId xmlns:a16="http://schemas.microsoft.com/office/drawing/2014/main" id="{F7AB65CE-1C3E-4F05-893F-5DD41FCF2AB9}"/>
              </a:ext>
            </a:extLst>
          </p:cNvPr>
          <p:cNvSpPr>
            <a:spLocks noChangeArrowheads="1"/>
          </p:cNvSpPr>
          <p:nvPr/>
        </p:nvSpPr>
        <p:spPr bwMode="auto">
          <a:xfrm>
            <a:off x="5050006" y="6278563"/>
            <a:ext cx="226344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Quantity of money</a:t>
            </a:r>
          </a:p>
        </p:txBody>
      </p:sp>
      <p:grpSp>
        <p:nvGrpSpPr>
          <p:cNvPr id="2" name="Group 8">
            <a:extLst>
              <a:ext uri="{FF2B5EF4-FFF2-40B4-BE49-F238E27FC236}">
                <a16:creationId xmlns:a16="http://schemas.microsoft.com/office/drawing/2014/main" id="{6F6CEEC6-1E75-404F-A340-4F13EC985702}"/>
              </a:ext>
            </a:extLst>
          </p:cNvPr>
          <p:cNvGrpSpPr>
            <a:grpSpLocks/>
          </p:cNvGrpSpPr>
          <p:nvPr/>
        </p:nvGrpSpPr>
        <p:grpSpPr bwMode="auto">
          <a:xfrm>
            <a:off x="5502277" y="793576"/>
            <a:ext cx="692151" cy="5257800"/>
            <a:chOff x="2506" y="432"/>
            <a:chExt cx="436" cy="3312"/>
          </a:xfrm>
        </p:grpSpPr>
        <p:sp>
          <p:nvSpPr>
            <p:cNvPr id="573449" name="Line 9">
              <a:extLst>
                <a:ext uri="{FF2B5EF4-FFF2-40B4-BE49-F238E27FC236}">
                  <a16:creationId xmlns:a16="http://schemas.microsoft.com/office/drawing/2014/main" id="{8E74E050-161E-4A2D-B6FB-E4334EE29940}"/>
                </a:ext>
              </a:extLst>
            </p:cNvPr>
            <p:cNvSpPr>
              <a:spLocks noChangeShapeType="1"/>
            </p:cNvSpPr>
            <p:nvPr/>
          </p:nvSpPr>
          <p:spPr bwMode="auto">
            <a:xfrm>
              <a:off x="2736" y="720"/>
              <a:ext cx="0" cy="3024"/>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73450" name="Rectangle 10">
              <a:extLst>
                <a:ext uri="{FF2B5EF4-FFF2-40B4-BE49-F238E27FC236}">
                  <a16:creationId xmlns:a16="http://schemas.microsoft.com/office/drawing/2014/main" id="{E6E0E2E1-2792-4F7F-B32B-69DE623067A4}"/>
                </a:ext>
              </a:extLst>
            </p:cNvPr>
            <p:cNvSpPr>
              <a:spLocks noChangeArrowheads="1"/>
            </p:cNvSpPr>
            <p:nvPr/>
          </p:nvSpPr>
          <p:spPr bwMode="auto">
            <a:xfrm>
              <a:off x="2506" y="432"/>
              <a:ext cx="4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accent2"/>
                  </a:solidFill>
                  <a:latin typeface="Arial" panose="020B0604020202020204" pitchFamily="34" charset="0"/>
                </a:rPr>
                <a:t>M</a:t>
              </a:r>
              <a:r>
                <a:rPr lang="en-GB" altLang="en-US" baseline="-25000" dirty="0">
                  <a:solidFill>
                    <a:schemeClr val="accent2"/>
                  </a:solidFill>
                  <a:latin typeface="Arial" panose="020B0604020202020204" pitchFamily="34" charset="0"/>
                </a:rPr>
                <a:t>S0</a:t>
              </a:r>
            </a:p>
          </p:txBody>
        </p:sp>
      </p:grpSp>
      <p:sp>
        <p:nvSpPr>
          <p:cNvPr id="573451" name="Line 11">
            <a:extLst>
              <a:ext uri="{FF2B5EF4-FFF2-40B4-BE49-F238E27FC236}">
                <a16:creationId xmlns:a16="http://schemas.microsoft.com/office/drawing/2014/main" id="{95B2F36D-0972-4BD7-B903-583E626FA90C}"/>
              </a:ext>
            </a:extLst>
          </p:cNvPr>
          <p:cNvSpPr>
            <a:spLocks noChangeShapeType="1"/>
          </p:cNvSpPr>
          <p:nvPr/>
        </p:nvSpPr>
        <p:spPr bwMode="auto">
          <a:xfrm>
            <a:off x="2590800" y="717376"/>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73452" name="Line 12">
            <a:extLst>
              <a:ext uri="{FF2B5EF4-FFF2-40B4-BE49-F238E27FC236}">
                <a16:creationId xmlns:a16="http://schemas.microsoft.com/office/drawing/2014/main" id="{B2342EEC-E425-40A9-823F-5DBB9C9DD12E}"/>
              </a:ext>
            </a:extLst>
          </p:cNvPr>
          <p:cNvSpPr>
            <a:spLocks noChangeShapeType="1"/>
          </p:cNvSpPr>
          <p:nvPr/>
        </p:nvSpPr>
        <p:spPr bwMode="auto">
          <a:xfrm>
            <a:off x="2590800" y="6051376"/>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1126413" name="AutoShape 13">
            <a:extLst>
              <a:ext uri="{FF2B5EF4-FFF2-40B4-BE49-F238E27FC236}">
                <a16:creationId xmlns:a16="http://schemas.microsoft.com/office/drawing/2014/main" id="{E7253F4E-BCEC-4931-9B6E-D5F1D37A664E}"/>
              </a:ext>
            </a:extLst>
          </p:cNvPr>
          <p:cNvSpPr>
            <a:spLocks noChangeArrowheads="1"/>
          </p:cNvSpPr>
          <p:nvPr/>
        </p:nvSpPr>
        <p:spPr bwMode="auto">
          <a:xfrm>
            <a:off x="7140575" y="1857629"/>
            <a:ext cx="2312988" cy="1262333"/>
          </a:xfrm>
          <a:prstGeom prst="roundRect">
            <a:avLst>
              <a:gd name="adj" fmla="val 16667"/>
            </a:avLst>
          </a:prstGeom>
          <a:solidFill>
            <a:srgbClr val="FFFFCC"/>
          </a:solidFill>
          <a:ln w="22225">
            <a:solidFill>
              <a:schemeClr val="accent1"/>
            </a:solidFill>
            <a:round/>
            <a:headEnd type="none" w="sm" len="sm"/>
            <a:tailEnd type="none" w="sm" len="sm"/>
          </a:ln>
        </p:spPr>
        <p:txBody>
          <a:bodyPr lIns="90000" tIns="46800" rIns="90000" bIns="46800" anchor="ctr">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700" dirty="0">
                <a:solidFill>
                  <a:schemeClr val="accent2"/>
                </a:solidFill>
                <a:latin typeface="Arial" panose="020B0604020202020204" pitchFamily="34" charset="0"/>
              </a:rPr>
              <a:t>Money supply determined independently of interest rates</a:t>
            </a:r>
          </a:p>
        </p:txBody>
      </p:sp>
      <p:sp>
        <p:nvSpPr>
          <p:cNvPr id="1126414" name="Text Box 14">
            <a:extLst>
              <a:ext uri="{FF2B5EF4-FFF2-40B4-BE49-F238E27FC236}">
                <a16:creationId xmlns:a16="http://schemas.microsoft.com/office/drawing/2014/main" id="{C8C564C3-7A0B-4BF5-A567-955D1345B0D1}"/>
              </a:ext>
            </a:extLst>
          </p:cNvPr>
          <p:cNvSpPr txBox="1">
            <a:spLocks noChangeArrowheads="1"/>
          </p:cNvSpPr>
          <p:nvPr/>
        </p:nvSpPr>
        <p:spPr bwMode="auto">
          <a:xfrm>
            <a:off x="0" y="1"/>
            <a:ext cx="12192000" cy="575735"/>
          </a:xfrm>
          <a:prstGeom prst="rect">
            <a:avLst/>
          </a:prstGeom>
          <a:noFill/>
          <a:ln w="12700">
            <a:noFill/>
            <a:miter lim="800000"/>
            <a:headEnd type="none" w="sm" len="sm"/>
            <a:tailEnd type="none" w="sm" len="sm"/>
          </a:ln>
          <a:effectLst>
            <a:outerShdw dist="12700" dir="2700000" algn="ctr" rotWithShape="0">
              <a:schemeClr val="bg2"/>
            </a:outerShdw>
          </a:effectLst>
        </p:spPr>
        <p:txBody>
          <a:bodyPr wrap="square" tIns="91440">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10000"/>
              </a:lnSpc>
            </a:pPr>
            <a:r>
              <a:rPr lang="en-GB" altLang="en-US" sz="2800" b="1" dirty="0">
                <a:solidFill>
                  <a:srgbClr val="660066"/>
                </a:solidFill>
                <a:latin typeface="Arial" panose="020B0604020202020204" pitchFamily="34" charset="0"/>
              </a:rPr>
              <a:t>The supply of money curve: (1) exogenous; (2) endogenous</a:t>
            </a:r>
          </a:p>
        </p:txBody>
      </p:sp>
      <p:grpSp>
        <p:nvGrpSpPr>
          <p:cNvPr id="3" name="Group 8">
            <a:extLst>
              <a:ext uri="{FF2B5EF4-FFF2-40B4-BE49-F238E27FC236}">
                <a16:creationId xmlns:a16="http://schemas.microsoft.com/office/drawing/2014/main" id="{04F56C8C-83C5-8573-F2B6-E261FAF56BEA}"/>
              </a:ext>
            </a:extLst>
          </p:cNvPr>
          <p:cNvGrpSpPr>
            <a:grpSpLocks/>
          </p:cNvGrpSpPr>
          <p:nvPr/>
        </p:nvGrpSpPr>
        <p:grpSpPr bwMode="auto">
          <a:xfrm>
            <a:off x="5029202" y="717376"/>
            <a:ext cx="1817688" cy="5334000"/>
            <a:chOff x="2208" y="384"/>
            <a:chExt cx="1145" cy="3360"/>
          </a:xfrm>
        </p:grpSpPr>
        <p:sp>
          <p:nvSpPr>
            <p:cNvPr id="4" name="Line 9">
              <a:extLst>
                <a:ext uri="{FF2B5EF4-FFF2-40B4-BE49-F238E27FC236}">
                  <a16:creationId xmlns:a16="http://schemas.microsoft.com/office/drawing/2014/main" id="{158BB5BB-AE73-A142-AB75-7D2559519A3D}"/>
                </a:ext>
              </a:extLst>
            </p:cNvPr>
            <p:cNvSpPr>
              <a:spLocks noChangeShapeType="1"/>
            </p:cNvSpPr>
            <p:nvPr/>
          </p:nvSpPr>
          <p:spPr bwMode="auto">
            <a:xfrm flipH="1">
              <a:off x="2208" y="672"/>
              <a:ext cx="912" cy="3072"/>
            </a:xfrm>
            <a:prstGeom prst="line">
              <a:avLst/>
            </a:prstGeom>
            <a:noFill/>
            <a:ln w="38100">
              <a:solidFill>
                <a:srgbClr val="005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 name="Rectangle 10">
              <a:extLst>
                <a:ext uri="{FF2B5EF4-FFF2-40B4-BE49-F238E27FC236}">
                  <a16:creationId xmlns:a16="http://schemas.microsoft.com/office/drawing/2014/main" id="{0664173D-2223-5F1C-F9B7-E23AFAFC5F50}"/>
                </a:ext>
              </a:extLst>
            </p:cNvPr>
            <p:cNvSpPr>
              <a:spLocks noChangeArrowheads="1"/>
            </p:cNvSpPr>
            <p:nvPr/>
          </p:nvSpPr>
          <p:spPr bwMode="auto">
            <a:xfrm>
              <a:off x="2917" y="384"/>
              <a:ext cx="4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rgbClr val="005000"/>
                  </a:solidFill>
                  <a:latin typeface="Arial" panose="020B0604020202020204" pitchFamily="34" charset="0"/>
                </a:rPr>
                <a:t>M</a:t>
              </a:r>
              <a:r>
                <a:rPr lang="en-GB" altLang="en-US" baseline="-25000" dirty="0">
                  <a:solidFill>
                    <a:srgbClr val="005000"/>
                  </a:solidFill>
                  <a:latin typeface="Arial" panose="020B0604020202020204" pitchFamily="34" charset="0"/>
                </a:rPr>
                <a:t>S1</a:t>
              </a:r>
            </a:p>
          </p:txBody>
        </p:sp>
      </p:grpSp>
      <p:sp>
        <p:nvSpPr>
          <p:cNvPr id="6" name="AutoShape 13">
            <a:extLst>
              <a:ext uri="{FF2B5EF4-FFF2-40B4-BE49-F238E27FC236}">
                <a16:creationId xmlns:a16="http://schemas.microsoft.com/office/drawing/2014/main" id="{6F3943F8-953E-7888-3FF6-610A35B83EFB}"/>
              </a:ext>
            </a:extLst>
          </p:cNvPr>
          <p:cNvSpPr>
            <a:spLocks noChangeArrowheads="1"/>
          </p:cNvSpPr>
          <p:nvPr/>
        </p:nvSpPr>
        <p:spPr bwMode="auto">
          <a:xfrm>
            <a:off x="7217569" y="3738038"/>
            <a:ext cx="2159000" cy="1550987"/>
          </a:xfrm>
          <a:prstGeom prst="roundRect">
            <a:avLst>
              <a:gd name="adj" fmla="val 16667"/>
            </a:avLst>
          </a:prstGeom>
          <a:solidFill>
            <a:srgbClr val="FFFFCC"/>
          </a:solidFill>
          <a:ln w="22225">
            <a:solidFill>
              <a:schemeClr val="accent1"/>
            </a:solidFill>
            <a:round/>
            <a:headEnd type="none" w="sm" len="sm"/>
            <a:tailEnd type="none" w="sm" len="sm"/>
          </a:ln>
        </p:spPr>
        <p:txBody>
          <a:bodyPr lIns="90000" tIns="46800" rIns="90000" bIns="46800" anchor="ctr">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700" dirty="0">
                <a:solidFill>
                  <a:srgbClr val="005000"/>
                </a:solidFill>
                <a:latin typeface="Arial" panose="020B0604020202020204" pitchFamily="34" charset="0"/>
              </a:rPr>
              <a:t>Money supply depends (in part) on the demand for money and interest rates</a:t>
            </a:r>
          </a:p>
        </p:txBody>
      </p:sp>
    </p:spTree>
    <p:custDataLst>
      <p:tags r:id="rId1"/>
    </p:custDataLst>
    <p:extLst>
      <p:ext uri="{BB962C8B-B14F-4D97-AF65-F5344CB8AC3E}">
        <p14:creationId xmlns:p14="http://schemas.microsoft.com/office/powerpoint/2010/main" val="174428991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126413"/>
                                        </p:tgtEl>
                                        <p:attrNameLst>
                                          <p:attrName>style.visibility</p:attrName>
                                        </p:attrNameLst>
                                      </p:cBhvr>
                                      <p:to>
                                        <p:strVal val="visible"/>
                                      </p:to>
                                    </p:set>
                                    <p:anim calcmode="lin" valueType="num">
                                      <p:cBhvr>
                                        <p:cTn id="12" dur="500" fill="hold"/>
                                        <p:tgtEl>
                                          <p:spTgt spid="1126413"/>
                                        </p:tgtEl>
                                        <p:attrNameLst>
                                          <p:attrName>ppt_w</p:attrName>
                                        </p:attrNameLst>
                                      </p:cBhvr>
                                      <p:tavLst>
                                        <p:tav tm="0">
                                          <p:val>
                                            <p:fltVal val="0"/>
                                          </p:val>
                                        </p:tav>
                                        <p:tav tm="100000">
                                          <p:val>
                                            <p:strVal val="#ppt_w"/>
                                          </p:val>
                                        </p:tav>
                                      </p:tavLst>
                                    </p:anim>
                                    <p:anim calcmode="lin" valueType="num">
                                      <p:cBhvr>
                                        <p:cTn id="13" dur="500" fill="hold"/>
                                        <p:tgtEl>
                                          <p:spTgt spid="1126413"/>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13" grpId="0" animBg="1" autoUpdateAnimBg="0"/>
      <p:bldP spid="6"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100F07F7-4085-43F9-ADA9-DF685CCF9E6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5" name="Rectangle 3">
            <a:extLst>
              <a:ext uri="{FF2B5EF4-FFF2-40B4-BE49-F238E27FC236}">
                <a16:creationId xmlns:a16="http://schemas.microsoft.com/office/drawing/2014/main" id="{78B7338D-6F98-4426-A920-EFD9C304F54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6" name="Rectangle 4">
            <a:extLst>
              <a:ext uri="{FF2B5EF4-FFF2-40B4-BE49-F238E27FC236}">
                <a16:creationId xmlns:a16="http://schemas.microsoft.com/office/drawing/2014/main" id="{9669D8CE-39A5-4124-9390-80C8FCFFD41C}"/>
              </a:ext>
            </a:extLst>
          </p:cNvPr>
          <p:cNvSpPr>
            <a:spLocks noGrp="1"/>
          </p:cNvSpPr>
          <p:nvPr>
            <p:ph type="title"/>
          </p:nvPr>
        </p:nvSpPr>
        <p:spPr/>
        <p:txBody>
          <a:bodyPr/>
          <a:lstStyle/>
          <a:p>
            <a:r>
              <a:rPr lang="en-GB" altLang="en-US" dirty="0"/>
              <a:t>Why hold money?</a:t>
            </a:r>
          </a:p>
        </p:txBody>
      </p:sp>
      <p:sp>
        <p:nvSpPr>
          <p:cNvPr id="412677" name="Rectangle 5">
            <a:extLst>
              <a:ext uri="{FF2B5EF4-FFF2-40B4-BE49-F238E27FC236}">
                <a16:creationId xmlns:a16="http://schemas.microsoft.com/office/drawing/2014/main" id="{35DE4850-C8B4-46FE-BDD2-2D774AC1D0AE}"/>
              </a:ext>
            </a:extLst>
          </p:cNvPr>
          <p:cNvSpPr>
            <a:spLocks noGrp="1"/>
          </p:cNvSpPr>
          <p:nvPr>
            <p:ph sz="quarter" idx="1"/>
          </p:nvPr>
        </p:nvSpPr>
        <p:spPr>
          <a:xfrm>
            <a:off x="402336" y="1411547"/>
            <a:ext cx="11338560" cy="5027753"/>
          </a:xfrm>
        </p:spPr>
        <p:txBody>
          <a:bodyPr/>
          <a:lstStyle/>
          <a:p>
            <a:pPr>
              <a:lnSpc>
                <a:spcPct val="90000"/>
              </a:lnSpc>
              <a:spcBef>
                <a:spcPts val="500"/>
              </a:spcBef>
            </a:pPr>
            <a:r>
              <a:rPr lang="en-GB" altLang="en-US" sz="2900" dirty="0">
                <a:latin typeface="+mn-lt"/>
              </a:rPr>
              <a:t>Notes and coins don’t come with interest – why hold them</a:t>
            </a:r>
          </a:p>
          <a:p>
            <a:pPr>
              <a:lnSpc>
                <a:spcPct val="90000"/>
              </a:lnSpc>
              <a:spcBef>
                <a:spcPts val="500"/>
              </a:spcBef>
            </a:pPr>
            <a:endParaRPr lang="en-GB" altLang="en-US" sz="2900" dirty="0">
              <a:latin typeface="+mn-lt"/>
            </a:endParaRPr>
          </a:p>
          <a:p>
            <a:pPr lvl="1">
              <a:lnSpc>
                <a:spcPct val="90000"/>
              </a:lnSpc>
              <a:spcBef>
                <a:spcPts val="500"/>
              </a:spcBef>
            </a:pPr>
            <a:r>
              <a:rPr lang="en-GB" altLang="en-US" sz="2600" dirty="0">
                <a:latin typeface="+mn-lt"/>
              </a:rPr>
              <a:t>Transactions and </a:t>
            </a:r>
            <a:r>
              <a:rPr lang="en-GB" altLang="en-US" sz="2600" b="1" dirty="0">
                <a:latin typeface="+mn-lt"/>
              </a:rPr>
              <a:t>precautionary motives </a:t>
            </a:r>
            <a:r>
              <a:rPr lang="en-GB" altLang="en-US" sz="2600" dirty="0">
                <a:latin typeface="+mn-lt"/>
              </a:rPr>
              <a:t>– useful to have pure liquidity</a:t>
            </a:r>
          </a:p>
          <a:p>
            <a:pPr lvl="2">
              <a:lnSpc>
                <a:spcPct val="90000"/>
              </a:lnSpc>
              <a:spcBef>
                <a:spcPts val="500"/>
              </a:spcBef>
            </a:pPr>
            <a:r>
              <a:rPr lang="en-GB" altLang="en-US" dirty="0">
                <a:latin typeface="+mn-lt"/>
              </a:rPr>
              <a:t>Only way to make payments for goods and services</a:t>
            </a:r>
          </a:p>
          <a:p>
            <a:pPr lvl="2">
              <a:lnSpc>
                <a:spcPct val="90000"/>
              </a:lnSpc>
              <a:spcBef>
                <a:spcPts val="500"/>
              </a:spcBef>
            </a:pPr>
            <a:endParaRPr lang="en-GB" altLang="en-US" dirty="0">
              <a:latin typeface="+mn-lt"/>
            </a:endParaRPr>
          </a:p>
          <a:p>
            <a:pPr lvl="1">
              <a:lnSpc>
                <a:spcPct val="90000"/>
              </a:lnSpc>
              <a:spcBef>
                <a:spcPts val="500"/>
              </a:spcBef>
            </a:pPr>
            <a:r>
              <a:rPr lang="en-GB" altLang="en-US" sz="2600" b="1" dirty="0">
                <a:latin typeface="+mn-lt"/>
              </a:rPr>
              <a:t>Speculative motive</a:t>
            </a:r>
            <a:r>
              <a:rPr lang="en-GB" altLang="en-US" sz="2600" dirty="0">
                <a:latin typeface="+mn-lt"/>
              </a:rPr>
              <a:t>: money as store of wealth</a:t>
            </a:r>
          </a:p>
          <a:p>
            <a:pPr lvl="2">
              <a:lnSpc>
                <a:spcPct val="90000"/>
              </a:lnSpc>
              <a:spcBef>
                <a:spcPts val="500"/>
              </a:spcBef>
            </a:pPr>
            <a:r>
              <a:rPr lang="en-GB" altLang="en-US" dirty="0">
                <a:latin typeface="+mn-lt"/>
              </a:rPr>
              <a:t>Facing capital losses (expected interest rate rises) hold money, not bonds</a:t>
            </a:r>
          </a:p>
          <a:p>
            <a:pPr lvl="2">
              <a:lnSpc>
                <a:spcPct val="90000"/>
              </a:lnSpc>
              <a:spcBef>
                <a:spcPts val="500"/>
              </a:spcBef>
            </a:pPr>
            <a:r>
              <a:rPr lang="en-GB" altLang="en-US" dirty="0">
                <a:latin typeface="+mn-lt"/>
              </a:rPr>
              <a:t>If interest rates high, expected to fall, then hold bonds, not money</a:t>
            </a:r>
          </a:p>
        </p:txBody>
      </p:sp>
    </p:spTree>
    <p:extLst>
      <p:ext uri="{BB962C8B-B14F-4D97-AF65-F5344CB8AC3E}">
        <p14:creationId xmlns:p14="http://schemas.microsoft.com/office/powerpoint/2010/main" val="132684792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2677">
                                            <p:txEl>
                                              <p:pRg st="0" end="0"/>
                                            </p:txEl>
                                          </p:spTgt>
                                        </p:tgtEl>
                                        <p:attrNameLst>
                                          <p:attrName>style.visibility</p:attrName>
                                        </p:attrNameLst>
                                      </p:cBhvr>
                                      <p:to>
                                        <p:strVal val="visible"/>
                                      </p:to>
                                    </p:set>
                                    <p:anim calcmode="lin" valueType="num">
                                      <p:cBhvr additive="base">
                                        <p:cTn id="7" dur="500"/>
                                        <p:tgtEl>
                                          <p:spTgt spid="41267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2677">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2677">
                                            <p:txEl>
                                              <p:pRg st="2" end="2"/>
                                            </p:txEl>
                                          </p:spTgt>
                                        </p:tgtEl>
                                        <p:attrNameLst>
                                          <p:attrName>style.visibility</p:attrName>
                                        </p:attrNameLst>
                                      </p:cBhvr>
                                      <p:to>
                                        <p:strVal val="visible"/>
                                      </p:to>
                                    </p:set>
                                    <p:anim calcmode="lin" valueType="num">
                                      <p:cBhvr additive="base">
                                        <p:cTn id="13" dur="500"/>
                                        <p:tgtEl>
                                          <p:spTgt spid="41267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2677">
                                            <p:txEl>
                                              <p:pRg st="2" end="2"/>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12677">
                                            <p:txEl>
                                              <p:pRg st="3" end="3"/>
                                            </p:txEl>
                                          </p:spTgt>
                                        </p:tgtEl>
                                        <p:attrNameLst>
                                          <p:attrName>style.visibility</p:attrName>
                                        </p:attrNameLst>
                                      </p:cBhvr>
                                      <p:to>
                                        <p:strVal val="visible"/>
                                      </p:to>
                                    </p:set>
                                    <p:anim calcmode="lin" valueType="num">
                                      <p:cBhvr additive="base">
                                        <p:cTn id="17" dur="500"/>
                                        <p:tgtEl>
                                          <p:spTgt spid="412677">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267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412677">
                                            <p:txEl>
                                              <p:pRg st="5" end="5"/>
                                            </p:txEl>
                                          </p:spTgt>
                                        </p:tgtEl>
                                        <p:attrNameLst>
                                          <p:attrName>style.visibility</p:attrName>
                                        </p:attrNameLst>
                                      </p:cBhvr>
                                      <p:to>
                                        <p:strVal val="visible"/>
                                      </p:to>
                                    </p:set>
                                    <p:anim calcmode="lin" valueType="num">
                                      <p:cBhvr additive="base">
                                        <p:cTn id="23" dur="500"/>
                                        <p:tgtEl>
                                          <p:spTgt spid="412677">
                                            <p:txEl>
                                              <p:pRg st="5" end="5"/>
                                            </p:txEl>
                                          </p:spTgt>
                                        </p:tgtEl>
                                        <p:attrNameLst>
                                          <p:attrName>ppt_y</p:attrName>
                                        </p:attrNameLst>
                                      </p:cBhvr>
                                      <p:tavLst>
                                        <p:tav tm="0">
                                          <p:val>
                                            <p:strVal val="#ppt_y+#ppt_h*1.125000"/>
                                          </p:val>
                                        </p:tav>
                                        <p:tav tm="100000">
                                          <p:val>
                                            <p:strVal val="#ppt_y"/>
                                          </p:val>
                                        </p:tav>
                                      </p:tavLst>
                                    </p:anim>
                                    <p:animEffect transition="in" filter="wipe(up)">
                                      <p:cBhvr>
                                        <p:cTn id="24" dur="500"/>
                                        <p:tgtEl>
                                          <p:spTgt spid="412677">
                                            <p:txEl>
                                              <p:pRg st="5" end="5"/>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412677">
                                            <p:txEl>
                                              <p:pRg st="6" end="6"/>
                                            </p:txEl>
                                          </p:spTgt>
                                        </p:tgtEl>
                                        <p:attrNameLst>
                                          <p:attrName>style.visibility</p:attrName>
                                        </p:attrNameLst>
                                      </p:cBhvr>
                                      <p:to>
                                        <p:strVal val="visible"/>
                                      </p:to>
                                    </p:set>
                                    <p:anim calcmode="lin" valueType="num">
                                      <p:cBhvr additive="base">
                                        <p:cTn id="27" dur="500"/>
                                        <p:tgtEl>
                                          <p:spTgt spid="412677">
                                            <p:txEl>
                                              <p:pRg st="6" end="6"/>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12677">
                                            <p:txEl>
                                              <p:pRg st="6" end="6"/>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12677">
                                            <p:txEl>
                                              <p:pRg st="7" end="7"/>
                                            </p:txEl>
                                          </p:spTgt>
                                        </p:tgtEl>
                                        <p:attrNameLst>
                                          <p:attrName>style.visibility</p:attrName>
                                        </p:attrNameLst>
                                      </p:cBhvr>
                                      <p:to>
                                        <p:strVal val="visible"/>
                                      </p:to>
                                    </p:set>
                                    <p:anim calcmode="lin" valueType="num">
                                      <p:cBhvr additive="base">
                                        <p:cTn id="31" dur="500"/>
                                        <p:tgtEl>
                                          <p:spTgt spid="412677">
                                            <p:txEl>
                                              <p:pRg st="7" end="7"/>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267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build="p" bldLvl="2"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03FF994-BAB1-C801-B020-70E2DA447690}"/>
            </a:ext>
          </a:extLst>
        </p:cNvPr>
        <p:cNvGrpSpPr/>
        <p:nvPr/>
      </p:nvGrpSpPr>
      <p:grpSpPr>
        <a:xfrm>
          <a:off x="0" y="0"/>
          <a:ext cx="0" cy="0"/>
          <a:chOff x="0" y="0"/>
          <a:chExt cx="0" cy="0"/>
        </a:xfrm>
      </p:grpSpPr>
      <p:sp>
        <p:nvSpPr>
          <p:cNvPr id="412674" name="Rectangle 2">
            <a:extLst>
              <a:ext uri="{FF2B5EF4-FFF2-40B4-BE49-F238E27FC236}">
                <a16:creationId xmlns:a16="http://schemas.microsoft.com/office/drawing/2014/main" id="{81400889-90D6-3E7C-F2EE-D869D8787B9C}"/>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5" name="Rectangle 3">
            <a:extLst>
              <a:ext uri="{FF2B5EF4-FFF2-40B4-BE49-F238E27FC236}">
                <a16:creationId xmlns:a16="http://schemas.microsoft.com/office/drawing/2014/main" id="{B779789C-19D5-1E89-7492-AEFD6C3C623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6" name="Rectangle 4">
            <a:extLst>
              <a:ext uri="{FF2B5EF4-FFF2-40B4-BE49-F238E27FC236}">
                <a16:creationId xmlns:a16="http://schemas.microsoft.com/office/drawing/2014/main" id="{4AE20CCD-8FD8-5F5A-16BA-A807D931375A}"/>
              </a:ext>
            </a:extLst>
          </p:cNvPr>
          <p:cNvSpPr>
            <a:spLocks noGrp="1"/>
          </p:cNvSpPr>
          <p:nvPr>
            <p:ph type="title"/>
          </p:nvPr>
        </p:nvSpPr>
        <p:spPr/>
        <p:txBody>
          <a:bodyPr/>
          <a:lstStyle/>
          <a:p>
            <a:pPr>
              <a:spcBef>
                <a:spcPts val="500"/>
              </a:spcBef>
            </a:pPr>
            <a:r>
              <a:rPr lang="en-GB" altLang="en-US" sz="4000" dirty="0"/>
              <a:t>Why might demand for money increase?</a:t>
            </a:r>
          </a:p>
        </p:txBody>
      </p:sp>
      <p:sp>
        <p:nvSpPr>
          <p:cNvPr id="412677" name="Rectangle 5">
            <a:extLst>
              <a:ext uri="{FF2B5EF4-FFF2-40B4-BE49-F238E27FC236}">
                <a16:creationId xmlns:a16="http://schemas.microsoft.com/office/drawing/2014/main" id="{E444015E-2B09-3164-3C4D-140F2A289B77}"/>
              </a:ext>
            </a:extLst>
          </p:cNvPr>
          <p:cNvSpPr>
            <a:spLocks noGrp="1"/>
          </p:cNvSpPr>
          <p:nvPr>
            <p:ph sz="quarter" idx="1"/>
          </p:nvPr>
        </p:nvSpPr>
        <p:spPr>
          <a:xfrm>
            <a:off x="402336" y="1411547"/>
            <a:ext cx="11338560" cy="5027753"/>
          </a:xfrm>
        </p:spPr>
        <p:txBody>
          <a:bodyPr/>
          <a:lstStyle/>
          <a:p>
            <a:pPr lvl="1"/>
            <a:r>
              <a:rPr lang="en-GB" altLang="en-US" sz="2600" dirty="0">
                <a:latin typeface="+mn-lt"/>
              </a:rPr>
              <a:t>Increasing (nominal) national income </a:t>
            </a:r>
          </a:p>
          <a:p>
            <a:pPr lvl="2"/>
            <a:r>
              <a:rPr lang="en-GB" altLang="en-US" dirty="0">
                <a:latin typeface="+mn-lt"/>
              </a:rPr>
              <a:t>buy more goods, services, need more money</a:t>
            </a:r>
          </a:p>
          <a:p>
            <a:pPr lvl="2"/>
            <a:endParaRPr lang="en-GB" altLang="en-US" dirty="0">
              <a:latin typeface="+mn-lt"/>
            </a:endParaRPr>
          </a:p>
          <a:p>
            <a:pPr lvl="1"/>
            <a:r>
              <a:rPr lang="en-GB" altLang="en-US" sz="2600" dirty="0">
                <a:latin typeface="+mn-lt"/>
              </a:rPr>
              <a:t>Expectations about future return on assets related to interest rate</a:t>
            </a:r>
          </a:p>
          <a:p>
            <a:pPr lvl="2"/>
            <a:r>
              <a:rPr lang="en-GB" altLang="en-US" sz="2300" dirty="0">
                <a:latin typeface="+mn-lt"/>
              </a:rPr>
              <a:t>Demand for money </a:t>
            </a:r>
            <a:r>
              <a:rPr lang="en-GB" altLang="en-US" sz="2300" b="1" i="1" dirty="0">
                <a:latin typeface="+mn-lt"/>
              </a:rPr>
              <a:t>rises </a:t>
            </a:r>
            <a:r>
              <a:rPr lang="en-GB" altLang="en-US" sz="2300" dirty="0">
                <a:latin typeface="+mn-lt"/>
              </a:rPr>
              <a:t>with national income, </a:t>
            </a:r>
            <a:r>
              <a:rPr lang="en-GB" altLang="en-US" sz="2300" b="1" i="1" dirty="0">
                <a:latin typeface="+mn-lt"/>
              </a:rPr>
              <a:t>falls </a:t>
            </a:r>
            <a:r>
              <a:rPr lang="en-GB" altLang="en-US" sz="2300" dirty="0">
                <a:latin typeface="+mn-lt"/>
              </a:rPr>
              <a:t>with interest rate</a:t>
            </a:r>
          </a:p>
          <a:p>
            <a:pPr lvl="2"/>
            <a:endParaRPr lang="en-GB" altLang="en-US" sz="2300" b="1" i="1" dirty="0">
              <a:latin typeface="+mn-lt"/>
            </a:endParaRPr>
          </a:p>
          <a:p>
            <a:pPr lvl="1"/>
            <a:r>
              <a:rPr lang="en-GB" altLang="en-US" sz="2600" dirty="0">
                <a:latin typeface="+mn-lt"/>
              </a:rPr>
              <a:t>Financial technology – compare debit, credit cards, BNPL</a:t>
            </a:r>
          </a:p>
        </p:txBody>
      </p:sp>
    </p:spTree>
    <p:extLst>
      <p:ext uri="{BB962C8B-B14F-4D97-AF65-F5344CB8AC3E}">
        <p14:creationId xmlns:p14="http://schemas.microsoft.com/office/powerpoint/2010/main" val="271219138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2677">
                                            <p:txEl>
                                              <p:pRg st="0" end="0"/>
                                            </p:txEl>
                                          </p:spTgt>
                                        </p:tgtEl>
                                        <p:attrNameLst>
                                          <p:attrName>style.visibility</p:attrName>
                                        </p:attrNameLst>
                                      </p:cBhvr>
                                      <p:to>
                                        <p:strVal val="visible"/>
                                      </p:to>
                                    </p:set>
                                    <p:anim calcmode="lin" valueType="num">
                                      <p:cBhvr additive="base">
                                        <p:cTn id="7" dur="500"/>
                                        <p:tgtEl>
                                          <p:spTgt spid="41267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2677">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12677">
                                            <p:txEl>
                                              <p:pRg st="1" end="1"/>
                                            </p:txEl>
                                          </p:spTgt>
                                        </p:tgtEl>
                                        <p:attrNameLst>
                                          <p:attrName>style.visibility</p:attrName>
                                        </p:attrNameLst>
                                      </p:cBhvr>
                                      <p:to>
                                        <p:strVal val="visible"/>
                                      </p:to>
                                    </p:set>
                                    <p:anim calcmode="lin" valueType="num">
                                      <p:cBhvr additive="base">
                                        <p:cTn id="11" dur="500"/>
                                        <p:tgtEl>
                                          <p:spTgt spid="412677">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4126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12677">
                                            <p:txEl>
                                              <p:pRg st="3" end="3"/>
                                            </p:txEl>
                                          </p:spTgt>
                                        </p:tgtEl>
                                        <p:attrNameLst>
                                          <p:attrName>style.visibility</p:attrName>
                                        </p:attrNameLst>
                                      </p:cBhvr>
                                      <p:to>
                                        <p:strVal val="visible"/>
                                      </p:to>
                                    </p:set>
                                    <p:anim calcmode="lin" valueType="num">
                                      <p:cBhvr additive="base">
                                        <p:cTn id="17" dur="500"/>
                                        <p:tgtEl>
                                          <p:spTgt spid="412677">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2677">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12677">
                                            <p:txEl>
                                              <p:pRg st="4" end="4"/>
                                            </p:txEl>
                                          </p:spTgt>
                                        </p:tgtEl>
                                        <p:attrNameLst>
                                          <p:attrName>style.visibility</p:attrName>
                                        </p:attrNameLst>
                                      </p:cBhvr>
                                      <p:to>
                                        <p:strVal val="visible"/>
                                      </p:to>
                                    </p:set>
                                    <p:anim calcmode="lin" valueType="num">
                                      <p:cBhvr additive="base">
                                        <p:cTn id="21" dur="500"/>
                                        <p:tgtEl>
                                          <p:spTgt spid="412677">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1267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12677">
                                            <p:txEl>
                                              <p:pRg st="6" end="6"/>
                                            </p:txEl>
                                          </p:spTgt>
                                        </p:tgtEl>
                                        <p:attrNameLst>
                                          <p:attrName>style.visibility</p:attrName>
                                        </p:attrNameLst>
                                      </p:cBhvr>
                                      <p:to>
                                        <p:strVal val="visible"/>
                                      </p:to>
                                    </p:set>
                                    <p:anim calcmode="lin" valueType="num">
                                      <p:cBhvr additive="base">
                                        <p:cTn id="27" dur="500"/>
                                        <p:tgtEl>
                                          <p:spTgt spid="412677">
                                            <p:txEl>
                                              <p:pRg st="6" end="6"/>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1267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7" name="Rectangle 3">
            <a:extLst>
              <a:ext uri="{FF2B5EF4-FFF2-40B4-BE49-F238E27FC236}">
                <a16:creationId xmlns:a16="http://schemas.microsoft.com/office/drawing/2014/main" id="{A8D76C85-BA5C-4020-92DF-0945FF79975A}"/>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79588" name="Rectangle 4">
            <a:extLst>
              <a:ext uri="{FF2B5EF4-FFF2-40B4-BE49-F238E27FC236}">
                <a16:creationId xmlns:a16="http://schemas.microsoft.com/office/drawing/2014/main" id="{5EDF7581-F850-45B9-9ED6-5E705E1C3385}"/>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79589" name="Rectangle 6">
            <a:extLst>
              <a:ext uri="{FF2B5EF4-FFF2-40B4-BE49-F238E27FC236}">
                <a16:creationId xmlns:a16="http://schemas.microsoft.com/office/drawing/2014/main" id="{9B785476-ED4E-498E-9E63-9D8F3CEA013F}"/>
              </a:ext>
            </a:extLst>
          </p:cNvPr>
          <p:cNvSpPr>
            <a:spLocks noChangeArrowheads="1"/>
          </p:cNvSpPr>
          <p:nvPr/>
        </p:nvSpPr>
        <p:spPr bwMode="auto">
          <a:xfrm>
            <a:off x="2270126" y="5897563"/>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579590" name="Rectangle 7">
            <a:extLst>
              <a:ext uri="{FF2B5EF4-FFF2-40B4-BE49-F238E27FC236}">
                <a16:creationId xmlns:a16="http://schemas.microsoft.com/office/drawing/2014/main" id="{1D3850A4-75B0-48CC-B1CD-07442FB7E4F0}"/>
              </a:ext>
            </a:extLst>
          </p:cNvPr>
          <p:cNvSpPr>
            <a:spLocks noChangeArrowheads="1"/>
          </p:cNvSpPr>
          <p:nvPr/>
        </p:nvSpPr>
        <p:spPr bwMode="auto">
          <a:xfrm rot="16200000">
            <a:off x="1042427" y="2692843"/>
            <a:ext cx="192200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Rate of interest</a:t>
            </a:r>
          </a:p>
        </p:txBody>
      </p:sp>
      <p:sp>
        <p:nvSpPr>
          <p:cNvPr id="579591" name="Line 8">
            <a:extLst>
              <a:ext uri="{FF2B5EF4-FFF2-40B4-BE49-F238E27FC236}">
                <a16:creationId xmlns:a16="http://schemas.microsoft.com/office/drawing/2014/main" id="{FA3E042E-58A1-418C-AC10-BF120B9A69C1}"/>
              </a:ext>
            </a:extLst>
          </p:cNvPr>
          <p:cNvSpPr>
            <a:spLocks noChangeShapeType="1"/>
          </p:cNvSpPr>
          <p:nvPr/>
        </p:nvSpPr>
        <p:spPr bwMode="auto">
          <a:xfrm>
            <a:off x="2590800" y="609600"/>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2" name="Group 17">
            <a:extLst>
              <a:ext uri="{FF2B5EF4-FFF2-40B4-BE49-F238E27FC236}">
                <a16:creationId xmlns:a16="http://schemas.microsoft.com/office/drawing/2014/main" id="{056EFE5F-79DB-4299-B9F6-E012875BB3B0}"/>
              </a:ext>
            </a:extLst>
          </p:cNvPr>
          <p:cNvGrpSpPr>
            <a:grpSpLocks/>
          </p:cNvGrpSpPr>
          <p:nvPr/>
        </p:nvGrpSpPr>
        <p:grpSpPr bwMode="auto">
          <a:xfrm>
            <a:off x="3917951" y="773114"/>
            <a:ext cx="6264275" cy="4779963"/>
            <a:chOff x="1508" y="487"/>
            <a:chExt cx="3946" cy="3011"/>
          </a:xfrm>
        </p:grpSpPr>
        <p:sp>
          <p:nvSpPr>
            <p:cNvPr id="579593" name="Arc 9">
              <a:extLst>
                <a:ext uri="{FF2B5EF4-FFF2-40B4-BE49-F238E27FC236}">
                  <a16:creationId xmlns:a16="http://schemas.microsoft.com/office/drawing/2014/main" id="{E47011CE-D1B4-4EBB-AF2B-A5A914F32F2F}"/>
                </a:ext>
              </a:extLst>
            </p:cNvPr>
            <p:cNvSpPr>
              <a:spLocks/>
            </p:cNvSpPr>
            <p:nvPr/>
          </p:nvSpPr>
          <p:spPr bwMode="auto">
            <a:xfrm>
              <a:off x="1508" y="487"/>
              <a:ext cx="3946" cy="2850"/>
            </a:xfrm>
            <a:custGeom>
              <a:avLst/>
              <a:gdLst>
                <a:gd name="T0" fmla="*/ 15 w 21556"/>
                <a:gd name="T1" fmla="*/ 8 h 20034"/>
                <a:gd name="T2" fmla="*/ 0 w 21556"/>
                <a:gd name="T3" fmla="*/ 1 h 20034"/>
                <a:gd name="T4" fmla="*/ 24 w 21556"/>
                <a:gd name="T5" fmla="*/ 0 h 20034"/>
                <a:gd name="T6" fmla="*/ 0 60000 65536"/>
                <a:gd name="T7" fmla="*/ 0 60000 65536"/>
                <a:gd name="T8" fmla="*/ 0 60000 65536"/>
                <a:gd name="T9" fmla="*/ 0 w 21556"/>
                <a:gd name="T10" fmla="*/ 0 h 20034"/>
                <a:gd name="T11" fmla="*/ 21556 w 21556"/>
                <a:gd name="T12" fmla="*/ 20034 h 20034"/>
              </a:gdLst>
              <a:ahLst/>
              <a:cxnLst>
                <a:cxn ang="T6">
                  <a:pos x="T0" y="T1"/>
                </a:cxn>
                <a:cxn ang="T7">
                  <a:pos x="T2" y="T3"/>
                </a:cxn>
                <a:cxn ang="T8">
                  <a:pos x="T4" y="T5"/>
                </a:cxn>
              </a:cxnLst>
              <a:rect l="T9" t="T10" r="T11" b="T12"/>
              <a:pathLst>
                <a:path w="21556" h="20034" fill="none" extrusionOk="0">
                  <a:moveTo>
                    <a:pt x="13481" y="20034"/>
                  </a:moveTo>
                  <a:cubicBezTo>
                    <a:pt x="5774" y="16928"/>
                    <a:pt x="532" y="9676"/>
                    <a:pt x="0" y="1383"/>
                  </a:cubicBezTo>
                </a:path>
                <a:path w="21556" h="20034" stroke="0" extrusionOk="0">
                  <a:moveTo>
                    <a:pt x="13481" y="20034"/>
                  </a:moveTo>
                  <a:cubicBezTo>
                    <a:pt x="5774" y="16928"/>
                    <a:pt x="532" y="9676"/>
                    <a:pt x="0" y="1383"/>
                  </a:cubicBezTo>
                  <a:lnTo>
                    <a:pt x="21556" y="0"/>
                  </a:lnTo>
                  <a:close/>
                </a:path>
              </a:pathLst>
            </a:custGeom>
            <a:noFill/>
            <a:ln w="38100" cap="rnd">
              <a:solidFill>
                <a:srgbClr val="005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79594" name="Rectangle 10">
              <a:extLst>
                <a:ext uri="{FF2B5EF4-FFF2-40B4-BE49-F238E27FC236}">
                  <a16:creationId xmlns:a16="http://schemas.microsoft.com/office/drawing/2014/main" id="{4D8FE7B1-8AF1-48D5-896D-308CCF4FE6B8}"/>
                </a:ext>
              </a:extLst>
            </p:cNvPr>
            <p:cNvSpPr>
              <a:spLocks noChangeArrowheads="1"/>
            </p:cNvSpPr>
            <p:nvPr/>
          </p:nvSpPr>
          <p:spPr bwMode="auto">
            <a:xfrm>
              <a:off x="3996" y="3207"/>
              <a:ext cx="3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rgbClr val="005000"/>
                  </a:solidFill>
                  <a:latin typeface="Arial" panose="020B0604020202020204" pitchFamily="34" charset="0"/>
                </a:rPr>
                <a:t>M</a:t>
              </a:r>
              <a:r>
                <a:rPr lang="en-GB" altLang="en-US" baseline="-25000" dirty="0">
                  <a:solidFill>
                    <a:srgbClr val="005000"/>
                  </a:solidFill>
                  <a:latin typeface="Arial" panose="020B0604020202020204" pitchFamily="34" charset="0"/>
                </a:rPr>
                <a:t>d</a:t>
              </a:r>
              <a:endParaRPr lang="en-GB" altLang="en-US" i="1" dirty="0">
                <a:solidFill>
                  <a:srgbClr val="005000"/>
                </a:solidFill>
                <a:latin typeface="Arial" panose="020B0604020202020204" pitchFamily="34" charset="0"/>
              </a:endParaRPr>
            </a:p>
          </p:txBody>
        </p:sp>
      </p:grpSp>
      <p:sp>
        <p:nvSpPr>
          <p:cNvPr id="579595" name="Rectangle 11">
            <a:extLst>
              <a:ext uri="{FF2B5EF4-FFF2-40B4-BE49-F238E27FC236}">
                <a16:creationId xmlns:a16="http://schemas.microsoft.com/office/drawing/2014/main" id="{F2998F0E-5CCA-41B5-8659-6291A90EDF9C}"/>
              </a:ext>
            </a:extLst>
          </p:cNvPr>
          <p:cNvSpPr>
            <a:spLocks noChangeArrowheads="1"/>
          </p:cNvSpPr>
          <p:nvPr/>
        </p:nvSpPr>
        <p:spPr bwMode="auto">
          <a:xfrm>
            <a:off x="5696093" y="6202363"/>
            <a:ext cx="95539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Money</a:t>
            </a:r>
          </a:p>
        </p:txBody>
      </p:sp>
      <p:sp>
        <p:nvSpPr>
          <p:cNvPr id="579596" name="Line 12">
            <a:extLst>
              <a:ext uri="{FF2B5EF4-FFF2-40B4-BE49-F238E27FC236}">
                <a16:creationId xmlns:a16="http://schemas.microsoft.com/office/drawing/2014/main" id="{F10201C7-116A-4D12-A071-38AFE7E03AD3}"/>
              </a:ext>
            </a:extLst>
          </p:cNvPr>
          <p:cNvSpPr>
            <a:spLocks noChangeShapeType="1"/>
          </p:cNvSpPr>
          <p:nvPr/>
        </p:nvSpPr>
        <p:spPr bwMode="auto">
          <a:xfrm>
            <a:off x="2590800" y="5943600"/>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20495" name="Rectangle 15">
            <a:extLst>
              <a:ext uri="{FF2B5EF4-FFF2-40B4-BE49-F238E27FC236}">
                <a16:creationId xmlns:a16="http://schemas.microsoft.com/office/drawing/2014/main" id="{FBC7D8C2-E026-4E80-8E37-A47D8ABB6647}"/>
              </a:ext>
            </a:extLst>
          </p:cNvPr>
          <p:cNvSpPr>
            <a:spLocks noGrp="1" noChangeArrowheads="1"/>
          </p:cNvSpPr>
          <p:nvPr>
            <p:ph type="title" idx="4294967295"/>
          </p:nvPr>
        </p:nvSpPr>
        <p:spPr>
          <a:xfrm>
            <a:off x="0" y="0"/>
            <a:ext cx="12191999" cy="522288"/>
          </a:xfrm>
          <a:effectLst>
            <a:outerShdw dist="12700" dir="2700000" algn="ctr" rotWithShape="0">
              <a:schemeClr val="bg2"/>
            </a:outerShdw>
          </a:effectLst>
        </p:spPr>
        <p:txBody>
          <a:bodyPr tIns="91440">
            <a:normAutofit/>
          </a:bodyPr>
          <a:lstStyle/>
          <a:p>
            <a:r>
              <a:rPr lang="en-GB" altLang="en-US" sz="2800" b="1">
                <a:solidFill>
                  <a:srgbClr val="660066"/>
                </a:solidFill>
                <a:effectLst/>
              </a:rPr>
              <a:t>The demand for money curve</a:t>
            </a:r>
          </a:p>
        </p:txBody>
      </p:sp>
    </p:spTree>
    <p:custDataLst>
      <p:tags r:id="rId1"/>
    </p:custDataLst>
    <p:extLst>
      <p:ext uri="{BB962C8B-B14F-4D97-AF65-F5344CB8AC3E}">
        <p14:creationId xmlns:p14="http://schemas.microsoft.com/office/powerpoint/2010/main" val="128873152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7972" name="Rectangle 4">
            <a:extLst>
              <a:ext uri="{FF2B5EF4-FFF2-40B4-BE49-F238E27FC236}">
                <a16:creationId xmlns:a16="http://schemas.microsoft.com/office/drawing/2014/main" id="{272A8AD0-1D64-4068-9890-2B59100AE2AF}"/>
              </a:ext>
            </a:extLst>
          </p:cNvPr>
          <p:cNvSpPr>
            <a:spLocks noGrp="1"/>
          </p:cNvSpPr>
          <p:nvPr>
            <p:ph type="title"/>
          </p:nvPr>
        </p:nvSpPr>
        <p:spPr/>
        <p:txBody>
          <a:bodyPr/>
          <a:lstStyle/>
          <a:p>
            <a:r>
              <a:rPr lang="en-GB" altLang="en-US" dirty="0"/>
              <a:t>Equilibrium: equating supply and demand</a:t>
            </a:r>
          </a:p>
        </p:txBody>
      </p:sp>
      <p:sp>
        <p:nvSpPr>
          <p:cNvPr id="467973" name="Rectangle 5">
            <a:extLst>
              <a:ext uri="{FF2B5EF4-FFF2-40B4-BE49-F238E27FC236}">
                <a16:creationId xmlns:a16="http://schemas.microsoft.com/office/drawing/2014/main" id="{A8FB7AF1-1755-4382-9112-E59BBBA37516}"/>
              </a:ext>
            </a:extLst>
          </p:cNvPr>
          <p:cNvSpPr>
            <a:spLocks noGrp="1"/>
          </p:cNvSpPr>
          <p:nvPr>
            <p:ph sz="quarter" idx="1"/>
          </p:nvPr>
        </p:nvSpPr>
        <p:spPr/>
        <p:txBody>
          <a:bodyPr/>
          <a:lstStyle/>
          <a:p>
            <a:pPr>
              <a:lnSpc>
                <a:spcPct val="100000"/>
              </a:lnSpc>
              <a:spcBef>
                <a:spcPts val="600"/>
              </a:spcBef>
            </a:pPr>
            <a:r>
              <a:rPr lang="en-GB" altLang="en-US" dirty="0">
                <a:latin typeface="+mn-lt"/>
              </a:rPr>
              <a:t>Interest rate is the price of money – return from holding it</a:t>
            </a:r>
          </a:p>
          <a:p>
            <a:pPr lvl="1">
              <a:spcBef>
                <a:spcPts val="600"/>
              </a:spcBef>
            </a:pPr>
            <a:r>
              <a:rPr lang="en-GB" altLang="en-US" dirty="0">
                <a:latin typeface="+mn-lt"/>
              </a:rPr>
              <a:t>Equilibrium interest rate: supply of, demand for money are equal</a:t>
            </a:r>
          </a:p>
          <a:p>
            <a:pPr lvl="1">
              <a:spcBef>
                <a:spcPts val="600"/>
              </a:spcBef>
            </a:pPr>
            <a:endParaRPr lang="en-GB" altLang="en-US" dirty="0">
              <a:latin typeface="+mn-lt"/>
            </a:endParaRPr>
          </a:p>
          <a:p>
            <a:pPr>
              <a:spcBef>
                <a:spcPts val="600"/>
              </a:spcBef>
            </a:pPr>
            <a:r>
              <a:rPr lang="en-GB" altLang="en-US" dirty="0">
                <a:latin typeface="+mn-lt"/>
              </a:rPr>
              <a:t>Assuming upward sloping supply, downward sloping demand</a:t>
            </a:r>
          </a:p>
          <a:p>
            <a:pPr lvl="1">
              <a:spcBef>
                <a:spcPts val="600"/>
              </a:spcBef>
            </a:pPr>
            <a:r>
              <a:rPr lang="en-GB" altLang="en-US" dirty="0">
                <a:latin typeface="+mn-lt"/>
              </a:rPr>
              <a:t>Effects of shifts in curves already familiar</a:t>
            </a:r>
          </a:p>
          <a:p>
            <a:pPr lvl="2">
              <a:spcBef>
                <a:spcPts val="600"/>
              </a:spcBef>
            </a:pPr>
            <a:r>
              <a:rPr lang="en-GB" altLang="en-US" dirty="0">
                <a:latin typeface="+mn-lt"/>
              </a:rPr>
              <a:t>Increased supply – curve shifts right – money stock rises, interest rate falls</a:t>
            </a:r>
          </a:p>
          <a:p>
            <a:pPr lvl="2">
              <a:spcBef>
                <a:spcPts val="600"/>
              </a:spcBef>
            </a:pPr>
            <a:r>
              <a:rPr lang="en-GB" altLang="en-US" dirty="0">
                <a:latin typeface="+mn-lt"/>
              </a:rPr>
              <a:t>Increased demand – curve shifts right – money stock rises, interest rate rises</a:t>
            </a:r>
          </a:p>
          <a:p>
            <a:pPr lvl="2">
              <a:spcBef>
                <a:spcPts val="600"/>
              </a:spcBef>
            </a:pPr>
            <a:endParaRPr lang="en-GB" altLang="en-US" dirty="0">
              <a:latin typeface="+mn-lt"/>
            </a:endParaRPr>
          </a:p>
          <a:p>
            <a:pPr lvl="1">
              <a:spcBef>
                <a:spcPts val="600"/>
              </a:spcBef>
            </a:pPr>
            <a:r>
              <a:rPr lang="en-GB" altLang="en-US" dirty="0">
                <a:latin typeface="+mn-lt"/>
              </a:rPr>
              <a:t>But there are many different interest rates – tend to move together</a:t>
            </a:r>
          </a:p>
          <a:p>
            <a:pPr lvl="1">
              <a:spcBef>
                <a:spcPts val="600"/>
              </a:spcBef>
            </a:pPr>
            <a:endParaRPr lang="en-GB" altLang="en-US" dirty="0"/>
          </a:p>
        </p:txBody>
      </p:sp>
    </p:spTree>
    <p:extLst>
      <p:ext uri="{BB962C8B-B14F-4D97-AF65-F5344CB8AC3E}">
        <p14:creationId xmlns:p14="http://schemas.microsoft.com/office/powerpoint/2010/main" val="172000014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67973">
                                            <p:txEl>
                                              <p:pRg st="0" end="0"/>
                                            </p:txEl>
                                          </p:spTgt>
                                        </p:tgtEl>
                                        <p:attrNameLst>
                                          <p:attrName>style.visibility</p:attrName>
                                        </p:attrNameLst>
                                      </p:cBhvr>
                                      <p:to>
                                        <p:strVal val="visible"/>
                                      </p:to>
                                    </p:set>
                                    <p:anim calcmode="lin" valueType="num">
                                      <p:cBhvr additive="base">
                                        <p:cTn id="7" dur="500"/>
                                        <p:tgtEl>
                                          <p:spTgt spid="46797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6797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67973">
                                            <p:txEl>
                                              <p:pRg st="1" end="1"/>
                                            </p:txEl>
                                          </p:spTgt>
                                        </p:tgtEl>
                                        <p:attrNameLst>
                                          <p:attrName>style.visibility</p:attrName>
                                        </p:attrNameLst>
                                      </p:cBhvr>
                                      <p:to>
                                        <p:strVal val="visible"/>
                                      </p:to>
                                    </p:set>
                                    <p:anim calcmode="lin" valueType="num">
                                      <p:cBhvr additive="base">
                                        <p:cTn id="13" dur="500"/>
                                        <p:tgtEl>
                                          <p:spTgt spid="46797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6797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67973">
                                            <p:txEl>
                                              <p:pRg st="3" end="3"/>
                                            </p:txEl>
                                          </p:spTgt>
                                        </p:tgtEl>
                                        <p:attrNameLst>
                                          <p:attrName>style.visibility</p:attrName>
                                        </p:attrNameLst>
                                      </p:cBhvr>
                                      <p:to>
                                        <p:strVal val="visible"/>
                                      </p:to>
                                    </p:set>
                                    <p:anim calcmode="lin" valueType="num">
                                      <p:cBhvr additive="base">
                                        <p:cTn id="19" dur="500"/>
                                        <p:tgtEl>
                                          <p:spTgt spid="467973">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6797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67973">
                                            <p:txEl>
                                              <p:pRg st="4" end="4"/>
                                            </p:txEl>
                                          </p:spTgt>
                                        </p:tgtEl>
                                        <p:attrNameLst>
                                          <p:attrName>style.visibility</p:attrName>
                                        </p:attrNameLst>
                                      </p:cBhvr>
                                      <p:to>
                                        <p:strVal val="visible"/>
                                      </p:to>
                                    </p:set>
                                    <p:anim calcmode="lin" valueType="num">
                                      <p:cBhvr additive="base">
                                        <p:cTn id="25" dur="500"/>
                                        <p:tgtEl>
                                          <p:spTgt spid="467973">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6797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67973">
                                            <p:txEl>
                                              <p:pRg st="5" end="5"/>
                                            </p:txEl>
                                          </p:spTgt>
                                        </p:tgtEl>
                                        <p:attrNameLst>
                                          <p:attrName>style.visibility</p:attrName>
                                        </p:attrNameLst>
                                      </p:cBhvr>
                                      <p:to>
                                        <p:strVal val="visible"/>
                                      </p:to>
                                    </p:set>
                                    <p:anim calcmode="lin" valueType="num">
                                      <p:cBhvr additive="base">
                                        <p:cTn id="31" dur="500"/>
                                        <p:tgtEl>
                                          <p:spTgt spid="467973">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6797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67973">
                                            <p:txEl>
                                              <p:pRg st="6" end="6"/>
                                            </p:txEl>
                                          </p:spTgt>
                                        </p:tgtEl>
                                        <p:attrNameLst>
                                          <p:attrName>style.visibility</p:attrName>
                                        </p:attrNameLst>
                                      </p:cBhvr>
                                      <p:to>
                                        <p:strVal val="visible"/>
                                      </p:to>
                                    </p:set>
                                    <p:anim calcmode="lin" valueType="num">
                                      <p:cBhvr additive="base">
                                        <p:cTn id="37" dur="500"/>
                                        <p:tgtEl>
                                          <p:spTgt spid="467973">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6797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67973">
                                            <p:txEl>
                                              <p:pRg st="8" end="8"/>
                                            </p:txEl>
                                          </p:spTgt>
                                        </p:tgtEl>
                                        <p:attrNameLst>
                                          <p:attrName>style.visibility</p:attrName>
                                        </p:attrNameLst>
                                      </p:cBhvr>
                                      <p:to>
                                        <p:strVal val="visible"/>
                                      </p:to>
                                    </p:set>
                                    <p:anim calcmode="lin" valueType="num">
                                      <p:cBhvr additive="base">
                                        <p:cTn id="43" dur="500"/>
                                        <p:tgtEl>
                                          <p:spTgt spid="467973">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6797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3" grpId="0" build="p" bldLvl="3"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3" name="Rectangle 1027">
            <a:extLst>
              <a:ext uri="{FF2B5EF4-FFF2-40B4-BE49-F238E27FC236}">
                <a16:creationId xmlns:a16="http://schemas.microsoft.com/office/drawing/2014/main" id="{89333448-B74F-4673-99C4-AFE23970A237}"/>
              </a:ext>
            </a:extLst>
          </p:cNvPr>
          <p:cNvSpPr>
            <a:spLocks noChangeArrowheads="1"/>
          </p:cNvSpPr>
          <p:nvPr/>
        </p:nvSpPr>
        <p:spPr bwMode="auto">
          <a:xfrm>
            <a:off x="2209800" y="635617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83684" name="Rectangle 1028">
            <a:extLst>
              <a:ext uri="{FF2B5EF4-FFF2-40B4-BE49-F238E27FC236}">
                <a16:creationId xmlns:a16="http://schemas.microsoft.com/office/drawing/2014/main" id="{48D51245-55D2-47A5-8057-5CA6F21BB813}"/>
              </a:ext>
            </a:extLst>
          </p:cNvPr>
          <p:cNvSpPr>
            <a:spLocks noChangeArrowheads="1"/>
          </p:cNvSpPr>
          <p:nvPr/>
        </p:nvSpPr>
        <p:spPr bwMode="auto">
          <a:xfrm>
            <a:off x="4648200" y="6356176"/>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83685" name="Rectangle 1029">
            <a:extLst>
              <a:ext uri="{FF2B5EF4-FFF2-40B4-BE49-F238E27FC236}">
                <a16:creationId xmlns:a16="http://schemas.microsoft.com/office/drawing/2014/main" id="{38FF0076-AFA8-497A-8FF4-22D524342C8B}"/>
              </a:ext>
            </a:extLst>
          </p:cNvPr>
          <p:cNvSpPr>
            <a:spLocks noChangeArrowheads="1"/>
          </p:cNvSpPr>
          <p:nvPr/>
        </p:nvSpPr>
        <p:spPr bwMode="auto">
          <a:xfrm>
            <a:off x="2270126" y="6005339"/>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583686" name="Rectangle 1030">
            <a:extLst>
              <a:ext uri="{FF2B5EF4-FFF2-40B4-BE49-F238E27FC236}">
                <a16:creationId xmlns:a16="http://schemas.microsoft.com/office/drawing/2014/main" id="{4CBDCF8C-8C88-4E82-9F2B-613010F3A5A3}"/>
              </a:ext>
            </a:extLst>
          </p:cNvPr>
          <p:cNvSpPr>
            <a:spLocks noChangeArrowheads="1"/>
          </p:cNvSpPr>
          <p:nvPr/>
        </p:nvSpPr>
        <p:spPr bwMode="auto">
          <a:xfrm rot="16200000">
            <a:off x="1042427" y="2800619"/>
            <a:ext cx="192200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Rate of interest</a:t>
            </a:r>
          </a:p>
        </p:txBody>
      </p:sp>
      <p:sp>
        <p:nvSpPr>
          <p:cNvPr id="583687" name="Line 1031">
            <a:extLst>
              <a:ext uri="{FF2B5EF4-FFF2-40B4-BE49-F238E27FC236}">
                <a16:creationId xmlns:a16="http://schemas.microsoft.com/office/drawing/2014/main" id="{54C0AEE0-2A72-4461-9394-09D931542859}"/>
              </a:ext>
            </a:extLst>
          </p:cNvPr>
          <p:cNvSpPr>
            <a:spLocks noChangeShapeType="1"/>
          </p:cNvSpPr>
          <p:nvPr/>
        </p:nvSpPr>
        <p:spPr bwMode="auto">
          <a:xfrm>
            <a:off x="2590800" y="717376"/>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nvGrpSpPr>
          <p:cNvPr id="2" name="Group 1032">
            <a:extLst>
              <a:ext uri="{FF2B5EF4-FFF2-40B4-BE49-F238E27FC236}">
                <a16:creationId xmlns:a16="http://schemas.microsoft.com/office/drawing/2014/main" id="{C38539A5-E14F-4569-B200-2894C861C979}"/>
              </a:ext>
            </a:extLst>
          </p:cNvPr>
          <p:cNvGrpSpPr>
            <a:grpSpLocks/>
          </p:cNvGrpSpPr>
          <p:nvPr/>
        </p:nvGrpSpPr>
        <p:grpSpPr bwMode="auto">
          <a:xfrm>
            <a:off x="3917951" y="880890"/>
            <a:ext cx="6264275" cy="4779963"/>
            <a:chOff x="1508" y="487"/>
            <a:chExt cx="3946" cy="3011"/>
          </a:xfrm>
        </p:grpSpPr>
        <p:sp>
          <p:nvSpPr>
            <p:cNvPr id="583689" name="Arc 1033">
              <a:extLst>
                <a:ext uri="{FF2B5EF4-FFF2-40B4-BE49-F238E27FC236}">
                  <a16:creationId xmlns:a16="http://schemas.microsoft.com/office/drawing/2014/main" id="{F3FC4841-4050-4670-9ADD-F49FD192066F}"/>
                </a:ext>
              </a:extLst>
            </p:cNvPr>
            <p:cNvSpPr>
              <a:spLocks/>
            </p:cNvSpPr>
            <p:nvPr/>
          </p:nvSpPr>
          <p:spPr bwMode="auto">
            <a:xfrm>
              <a:off x="1508" y="487"/>
              <a:ext cx="3946" cy="2850"/>
            </a:xfrm>
            <a:custGeom>
              <a:avLst/>
              <a:gdLst>
                <a:gd name="T0" fmla="*/ 83 w 21556"/>
                <a:gd name="T1" fmla="*/ 58 h 20034"/>
                <a:gd name="T2" fmla="*/ 0 w 21556"/>
                <a:gd name="T3" fmla="*/ 4 h 20034"/>
                <a:gd name="T4" fmla="*/ 132 w 21556"/>
                <a:gd name="T5" fmla="*/ 0 h 20034"/>
                <a:gd name="T6" fmla="*/ 0 60000 65536"/>
                <a:gd name="T7" fmla="*/ 0 60000 65536"/>
                <a:gd name="T8" fmla="*/ 0 60000 65536"/>
                <a:gd name="T9" fmla="*/ 0 w 21556"/>
                <a:gd name="T10" fmla="*/ 0 h 20034"/>
                <a:gd name="T11" fmla="*/ 21556 w 21556"/>
                <a:gd name="T12" fmla="*/ 20034 h 20034"/>
              </a:gdLst>
              <a:ahLst/>
              <a:cxnLst>
                <a:cxn ang="T6">
                  <a:pos x="T0" y="T1"/>
                </a:cxn>
                <a:cxn ang="T7">
                  <a:pos x="T2" y="T3"/>
                </a:cxn>
                <a:cxn ang="T8">
                  <a:pos x="T4" y="T5"/>
                </a:cxn>
              </a:cxnLst>
              <a:rect l="T9" t="T10" r="T11" b="T12"/>
              <a:pathLst>
                <a:path w="21556" h="20034" fill="none" extrusionOk="0">
                  <a:moveTo>
                    <a:pt x="13481" y="20034"/>
                  </a:moveTo>
                  <a:cubicBezTo>
                    <a:pt x="5774" y="16928"/>
                    <a:pt x="532" y="9676"/>
                    <a:pt x="0" y="1383"/>
                  </a:cubicBezTo>
                </a:path>
                <a:path w="21556" h="20034" stroke="0" extrusionOk="0">
                  <a:moveTo>
                    <a:pt x="13481" y="20034"/>
                  </a:moveTo>
                  <a:cubicBezTo>
                    <a:pt x="5774" y="16928"/>
                    <a:pt x="532" y="9676"/>
                    <a:pt x="0" y="1383"/>
                  </a:cubicBezTo>
                  <a:lnTo>
                    <a:pt x="21556"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83690" name="Rectangle 1034">
              <a:extLst>
                <a:ext uri="{FF2B5EF4-FFF2-40B4-BE49-F238E27FC236}">
                  <a16:creationId xmlns:a16="http://schemas.microsoft.com/office/drawing/2014/main" id="{99C3035E-9891-4AFC-9B08-19C01FB260FF}"/>
                </a:ext>
              </a:extLst>
            </p:cNvPr>
            <p:cNvSpPr>
              <a:spLocks noChangeArrowheads="1"/>
            </p:cNvSpPr>
            <p:nvPr/>
          </p:nvSpPr>
          <p:spPr bwMode="auto">
            <a:xfrm>
              <a:off x="3986" y="3207"/>
              <a:ext cx="3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a:solidFill>
                    <a:schemeClr val="tx2"/>
                  </a:solidFill>
                  <a:latin typeface="Arial" panose="020B0604020202020204" pitchFamily="34" charset="0"/>
                </a:rPr>
                <a:t>M</a:t>
              </a:r>
              <a:r>
                <a:rPr lang="en-GB" altLang="en-US" baseline="-25000">
                  <a:solidFill>
                    <a:schemeClr val="tx2"/>
                  </a:solidFill>
                  <a:latin typeface="Arial" panose="020B0604020202020204" pitchFamily="34" charset="0"/>
                </a:rPr>
                <a:t>D</a:t>
              </a:r>
              <a:endParaRPr lang="en-GB" altLang="en-US" i="1">
                <a:solidFill>
                  <a:schemeClr val="tx2"/>
                </a:solidFill>
                <a:latin typeface="Arial" panose="020B0604020202020204" pitchFamily="34" charset="0"/>
              </a:endParaRPr>
            </a:p>
          </p:txBody>
        </p:sp>
      </p:grpSp>
      <p:sp>
        <p:nvSpPr>
          <p:cNvPr id="583691" name="Rectangle 1035">
            <a:extLst>
              <a:ext uri="{FF2B5EF4-FFF2-40B4-BE49-F238E27FC236}">
                <a16:creationId xmlns:a16="http://schemas.microsoft.com/office/drawing/2014/main" id="{D7412203-1E58-456B-B001-68C99215D788}"/>
              </a:ext>
            </a:extLst>
          </p:cNvPr>
          <p:cNvSpPr>
            <a:spLocks noChangeArrowheads="1"/>
          </p:cNvSpPr>
          <p:nvPr/>
        </p:nvSpPr>
        <p:spPr bwMode="auto">
          <a:xfrm>
            <a:off x="5696093" y="6310139"/>
            <a:ext cx="95539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Money</a:t>
            </a:r>
          </a:p>
        </p:txBody>
      </p:sp>
      <p:sp>
        <p:nvSpPr>
          <p:cNvPr id="583692" name="Line 1036">
            <a:extLst>
              <a:ext uri="{FF2B5EF4-FFF2-40B4-BE49-F238E27FC236}">
                <a16:creationId xmlns:a16="http://schemas.microsoft.com/office/drawing/2014/main" id="{4CF7C708-9434-4467-B850-1EAA57EA6C0A}"/>
              </a:ext>
            </a:extLst>
          </p:cNvPr>
          <p:cNvSpPr>
            <a:spLocks noChangeShapeType="1"/>
          </p:cNvSpPr>
          <p:nvPr/>
        </p:nvSpPr>
        <p:spPr bwMode="auto">
          <a:xfrm>
            <a:off x="2590800" y="6051376"/>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grpSp>
        <p:nvGrpSpPr>
          <p:cNvPr id="3" name="Group 1037">
            <a:extLst>
              <a:ext uri="{FF2B5EF4-FFF2-40B4-BE49-F238E27FC236}">
                <a16:creationId xmlns:a16="http://schemas.microsoft.com/office/drawing/2014/main" id="{BC926104-6A2B-47B6-A641-B22001EDE0CF}"/>
              </a:ext>
            </a:extLst>
          </p:cNvPr>
          <p:cNvGrpSpPr>
            <a:grpSpLocks/>
          </p:cNvGrpSpPr>
          <p:nvPr/>
        </p:nvGrpSpPr>
        <p:grpSpPr bwMode="auto">
          <a:xfrm>
            <a:off x="4905376" y="952326"/>
            <a:ext cx="1262063" cy="5094288"/>
            <a:chOff x="2130" y="532"/>
            <a:chExt cx="795" cy="3209"/>
          </a:xfrm>
        </p:grpSpPr>
        <p:sp>
          <p:nvSpPr>
            <p:cNvPr id="583694" name="Line 1038">
              <a:extLst>
                <a:ext uri="{FF2B5EF4-FFF2-40B4-BE49-F238E27FC236}">
                  <a16:creationId xmlns:a16="http://schemas.microsoft.com/office/drawing/2014/main" id="{E69A2820-4D4A-4FD9-8A44-84D26CD07E5D}"/>
                </a:ext>
              </a:extLst>
            </p:cNvPr>
            <p:cNvSpPr>
              <a:spLocks noChangeShapeType="1"/>
            </p:cNvSpPr>
            <p:nvPr/>
          </p:nvSpPr>
          <p:spPr bwMode="auto">
            <a:xfrm flipV="1">
              <a:off x="2130" y="683"/>
              <a:ext cx="404" cy="3058"/>
            </a:xfrm>
            <a:prstGeom prst="line">
              <a:avLst/>
            </a:prstGeom>
            <a:noFill/>
            <a:ln w="38100">
              <a:solidFill>
                <a:schemeClr val="accent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83695" name="Rectangle 1039">
              <a:extLst>
                <a:ext uri="{FF2B5EF4-FFF2-40B4-BE49-F238E27FC236}">
                  <a16:creationId xmlns:a16="http://schemas.microsoft.com/office/drawing/2014/main" id="{A3DF2FC1-58EB-4795-B6CA-6F8101AFCF8E}"/>
                </a:ext>
              </a:extLst>
            </p:cNvPr>
            <p:cNvSpPr>
              <a:spLocks noChangeArrowheads="1"/>
            </p:cNvSpPr>
            <p:nvPr/>
          </p:nvSpPr>
          <p:spPr bwMode="auto">
            <a:xfrm>
              <a:off x="2560" y="532"/>
              <a:ext cx="3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accent6"/>
                  </a:solidFill>
                  <a:latin typeface="Arial" panose="020B0604020202020204" pitchFamily="34" charset="0"/>
                </a:rPr>
                <a:t>M</a:t>
              </a:r>
              <a:r>
                <a:rPr lang="en-GB" altLang="en-US" baseline="-25000" dirty="0">
                  <a:solidFill>
                    <a:schemeClr val="accent6"/>
                  </a:solidFill>
                  <a:latin typeface="Arial" panose="020B0604020202020204" pitchFamily="34" charset="0"/>
                </a:rPr>
                <a:t>S</a:t>
              </a:r>
            </a:p>
          </p:txBody>
        </p:sp>
      </p:grpSp>
      <p:sp>
        <p:nvSpPr>
          <p:cNvPr id="1140752" name="Line 1040">
            <a:extLst>
              <a:ext uri="{FF2B5EF4-FFF2-40B4-BE49-F238E27FC236}">
                <a16:creationId xmlns:a16="http://schemas.microsoft.com/office/drawing/2014/main" id="{930D9911-DC06-461B-A0A8-2941B3A2736C}"/>
              </a:ext>
            </a:extLst>
          </p:cNvPr>
          <p:cNvSpPr>
            <a:spLocks noChangeShapeType="1"/>
          </p:cNvSpPr>
          <p:nvPr/>
        </p:nvSpPr>
        <p:spPr bwMode="auto">
          <a:xfrm flipH="1">
            <a:off x="2598739" y="3849514"/>
            <a:ext cx="2581275" cy="0"/>
          </a:xfrm>
          <a:prstGeom prst="line">
            <a:avLst/>
          </a:prstGeom>
          <a:noFill/>
          <a:ln w="15875">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140753" name="Line 1041">
            <a:extLst>
              <a:ext uri="{FF2B5EF4-FFF2-40B4-BE49-F238E27FC236}">
                <a16:creationId xmlns:a16="http://schemas.microsoft.com/office/drawing/2014/main" id="{2558A13B-A65A-46A4-BDBF-B8AABA845418}"/>
              </a:ext>
            </a:extLst>
          </p:cNvPr>
          <p:cNvSpPr>
            <a:spLocks noChangeShapeType="1"/>
          </p:cNvSpPr>
          <p:nvPr/>
        </p:nvSpPr>
        <p:spPr bwMode="auto">
          <a:xfrm>
            <a:off x="5197475" y="3866977"/>
            <a:ext cx="0" cy="2195513"/>
          </a:xfrm>
          <a:prstGeom prst="line">
            <a:avLst/>
          </a:prstGeom>
          <a:noFill/>
          <a:ln w="15875">
            <a:solidFill>
              <a:srgbClr val="4D4D4D"/>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140754" name="Oval 1042">
            <a:extLst>
              <a:ext uri="{FF2B5EF4-FFF2-40B4-BE49-F238E27FC236}">
                <a16:creationId xmlns:a16="http://schemas.microsoft.com/office/drawing/2014/main" id="{0AEF73FA-13FB-4239-BDFA-DDF3651C37B5}"/>
              </a:ext>
            </a:extLst>
          </p:cNvPr>
          <p:cNvSpPr>
            <a:spLocks noChangeArrowheads="1"/>
          </p:cNvSpPr>
          <p:nvPr/>
        </p:nvSpPr>
        <p:spPr bwMode="auto">
          <a:xfrm>
            <a:off x="5138739" y="3787601"/>
            <a:ext cx="103187" cy="103188"/>
          </a:xfrm>
          <a:prstGeom prst="ellipse">
            <a:avLst/>
          </a:prstGeom>
          <a:solidFill>
            <a:srgbClr val="CC99FF"/>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40755" name="Rectangle 1043">
            <a:extLst>
              <a:ext uri="{FF2B5EF4-FFF2-40B4-BE49-F238E27FC236}">
                <a16:creationId xmlns:a16="http://schemas.microsoft.com/office/drawing/2014/main" id="{E8AE4231-B23B-4EA8-8433-CAEB96380E41}"/>
              </a:ext>
            </a:extLst>
          </p:cNvPr>
          <p:cNvSpPr>
            <a:spLocks noChangeArrowheads="1"/>
          </p:cNvSpPr>
          <p:nvPr/>
        </p:nvSpPr>
        <p:spPr bwMode="auto">
          <a:xfrm>
            <a:off x="2219980" y="3665364"/>
            <a:ext cx="357469"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dirty="0" err="1">
                <a:latin typeface="Arial" panose="020B0604020202020204" pitchFamily="34" charset="0"/>
              </a:rPr>
              <a:t>i</a:t>
            </a:r>
            <a:r>
              <a:rPr lang="en-GB" altLang="en-US" baseline="-25000" dirty="0" err="1">
                <a:latin typeface="Arial" panose="020B0604020202020204" pitchFamily="34" charset="0"/>
              </a:rPr>
              <a:t>e</a:t>
            </a:r>
            <a:endParaRPr lang="en-GB" altLang="en-US" baseline="-25000" dirty="0">
              <a:latin typeface="Arial" panose="020B0604020202020204" pitchFamily="34" charset="0"/>
            </a:endParaRPr>
          </a:p>
        </p:txBody>
      </p:sp>
      <p:sp>
        <p:nvSpPr>
          <p:cNvPr id="1140756" name="Rectangle 1044">
            <a:extLst>
              <a:ext uri="{FF2B5EF4-FFF2-40B4-BE49-F238E27FC236}">
                <a16:creationId xmlns:a16="http://schemas.microsoft.com/office/drawing/2014/main" id="{C1B0D471-B39B-45ED-9700-A0DEBF96D961}"/>
              </a:ext>
            </a:extLst>
          </p:cNvPr>
          <p:cNvSpPr>
            <a:spLocks noChangeArrowheads="1"/>
          </p:cNvSpPr>
          <p:nvPr/>
        </p:nvSpPr>
        <p:spPr bwMode="auto">
          <a:xfrm>
            <a:off x="4944171" y="6046614"/>
            <a:ext cx="51296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latin typeface="Arial" panose="020B0604020202020204" pitchFamily="34" charset="0"/>
              </a:rPr>
              <a:t>M</a:t>
            </a:r>
            <a:r>
              <a:rPr lang="en-GB" altLang="en-US" baseline="-25000">
                <a:latin typeface="Arial" panose="020B0604020202020204" pitchFamily="34" charset="0"/>
              </a:rPr>
              <a:t>e</a:t>
            </a:r>
          </a:p>
        </p:txBody>
      </p:sp>
      <p:sp>
        <p:nvSpPr>
          <p:cNvPr id="1140757" name="Text Box 1045">
            <a:extLst>
              <a:ext uri="{FF2B5EF4-FFF2-40B4-BE49-F238E27FC236}">
                <a16:creationId xmlns:a16="http://schemas.microsoft.com/office/drawing/2014/main" id="{3A286B16-E9D2-4F5B-8172-1221327F251E}"/>
              </a:ext>
            </a:extLst>
          </p:cNvPr>
          <p:cNvSpPr txBox="1">
            <a:spLocks noChangeArrowheads="1"/>
          </p:cNvSpPr>
          <p:nvPr/>
        </p:nvSpPr>
        <p:spPr bwMode="auto">
          <a:xfrm>
            <a:off x="0" y="1"/>
            <a:ext cx="12192000" cy="569387"/>
          </a:xfrm>
          <a:prstGeom prst="rect">
            <a:avLst/>
          </a:prstGeom>
          <a:noFill/>
          <a:ln w="12700">
            <a:noFill/>
            <a:miter lim="800000"/>
            <a:headEnd type="none" w="sm" len="sm"/>
            <a:tailEnd type="none" w="sm" len="sm"/>
          </a:ln>
          <a:effectLst>
            <a:outerShdw dist="12700" dir="2700000" algn="ctr" rotWithShape="0">
              <a:schemeClr val="bg2"/>
            </a:outerShdw>
          </a:effectLst>
        </p:spPr>
        <p:txBody>
          <a:bodyPr wrap="square" tIns="91440">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a:solidFill>
                  <a:srgbClr val="660066"/>
                </a:solidFill>
                <a:latin typeface="Arial" panose="020B0604020202020204" pitchFamily="34" charset="0"/>
              </a:rPr>
              <a:t>Equilibrium in the money market</a:t>
            </a:r>
          </a:p>
        </p:txBody>
      </p:sp>
    </p:spTree>
    <p:custDataLst>
      <p:tags r:id="rId1"/>
    </p:custDataLst>
    <p:extLst>
      <p:ext uri="{BB962C8B-B14F-4D97-AF65-F5344CB8AC3E}">
        <p14:creationId xmlns:p14="http://schemas.microsoft.com/office/powerpoint/2010/main" val="4209177941"/>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1140754"/>
                                        </p:tgtEl>
                                        <p:attrNameLst>
                                          <p:attrName>style.visibility</p:attrName>
                                        </p:attrNameLst>
                                      </p:cBhvr>
                                      <p:to>
                                        <p:strVal val="visible"/>
                                      </p:to>
                                    </p:set>
                                    <p:anim calcmode="lin" valueType="num">
                                      <p:cBhvr>
                                        <p:cTn id="17" dur="1000" fill="hold"/>
                                        <p:tgtEl>
                                          <p:spTgt spid="1140754"/>
                                        </p:tgtEl>
                                        <p:attrNameLst>
                                          <p:attrName>ppt_w</p:attrName>
                                        </p:attrNameLst>
                                      </p:cBhvr>
                                      <p:tavLst>
                                        <p:tav tm="0">
                                          <p:val>
                                            <p:fltVal val="0"/>
                                          </p:val>
                                        </p:tav>
                                        <p:tav tm="100000">
                                          <p:val>
                                            <p:strVal val="#ppt_w"/>
                                          </p:val>
                                        </p:tav>
                                      </p:tavLst>
                                    </p:anim>
                                    <p:anim calcmode="lin" valueType="num">
                                      <p:cBhvr>
                                        <p:cTn id="18" dur="1000" fill="hold"/>
                                        <p:tgtEl>
                                          <p:spTgt spid="1140754"/>
                                        </p:tgtEl>
                                        <p:attrNameLst>
                                          <p:attrName>ppt_h</p:attrName>
                                        </p:attrNameLst>
                                      </p:cBhvr>
                                      <p:tavLst>
                                        <p:tav tm="0">
                                          <p:val>
                                            <p:fltVal val="0"/>
                                          </p:val>
                                        </p:tav>
                                        <p:tav tm="100000">
                                          <p:val>
                                            <p:strVal val="#ppt_h"/>
                                          </p:val>
                                        </p:tav>
                                      </p:tavLst>
                                    </p:anim>
                                    <p:anim calcmode="lin" valueType="num">
                                      <p:cBhvr>
                                        <p:cTn id="19" dur="1000" fill="hold"/>
                                        <p:tgtEl>
                                          <p:spTgt spid="1140754"/>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11407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2" fill="hold" nodeType="clickEffect">
                                  <p:stCondLst>
                                    <p:cond delay="0"/>
                                  </p:stCondLst>
                                  <p:childTnLst>
                                    <p:set>
                                      <p:cBhvr>
                                        <p:cTn id="24" dur="1" fill="hold">
                                          <p:stCondLst>
                                            <p:cond delay="0"/>
                                          </p:stCondLst>
                                        </p:cTn>
                                        <p:tgtEl>
                                          <p:spTgt spid="1140752"/>
                                        </p:tgtEl>
                                        <p:attrNameLst>
                                          <p:attrName>style.visibility</p:attrName>
                                        </p:attrNameLst>
                                      </p:cBhvr>
                                      <p:to>
                                        <p:strVal val="visible"/>
                                      </p:to>
                                    </p:set>
                                    <p:animEffect transition="in" filter="wipe(right)">
                                      <p:cBhvr>
                                        <p:cTn id="25" dur="500"/>
                                        <p:tgtEl>
                                          <p:spTgt spid="1140752"/>
                                        </p:tgtEl>
                                      </p:cBhvr>
                                    </p:animEffect>
                                  </p:childTnLst>
                                </p:cTn>
                              </p:par>
                            </p:childTnLst>
                          </p:cTn>
                        </p:par>
                        <p:par>
                          <p:cTn id="26" fill="hold" nodeType="withGroup">
                            <p:stCondLst>
                              <p:cond delay="500"/>
                            </p:stCondLst>
                            <p:childTnLst>
                              <p:par>
                                <p:cTn id="27" presetID="2" presetClass="entr" presetSubtype="8" fill="hold" grpId="0" nodeType="afterEffect">
                                  <p:stCondLst>
                                    <p:cond delay="0"/>
                                  </p:stCondLst>
                                  <p:childTnLst>
                                    <p:set>
                                      <p:cBhvr>
                                        <p:cTn id="28" dur="1" fill="hold">
                                          <p:stCondLst>
                                            <p:cond delay="0"/>
                                          </p:stCondLst>
                                        </p:cTn>
                                        <p:tgtEl>
                                          <p:spTgt spid="1140755"/>
                                        </p:tgtEl>
                                        <p:attrNameLst>
                                          <p:attrName>style.visibility</p:attrName>
                                        </p:attrNameLst>
                                      </p:cBhvr>
                                      <p:to>
                                        <p:strVal val="visible"/>
                                      </p:to>
                                    </p:set>
                                    <p:anim calcmode="lin" valueType="num">
                                      <p:cBhvr additive="base">
                                        <p:cTn id="29" dur="500" fill="hold"/>
                                        <p:tgtEl>
                                          <p:spTgt spid="1140755"/>
                                        </p:tgtEl>
                                        <p:attrNameLst>
                                          <p:attrName>ppt_x</p:attrName>
                                        </p:attrNameLst>
                                      </p:cBhvr>
                                      <p:tavLst>
                                        <p:tav tm="0">
                                          <p:val>
                                            <p:strVal val="0-#ppt_w/2"/>
                                          </p:val>
                                        </p:tav>
                                        <p:tav tm="100000">
                                          <p:val>
                                            <p:strVal val="#ppt_x"/>
                                          </p:val>
                                        </p:tav>
                                      </p:tavLst>
                                    </p:anim>
                                    <p:anim calcmode="lin" valueType="num">
                                      <p:cBhvr additive="base">
                                        <p:cTn id="30" dur="500" fill="hold"/>
                                        <p:tgtEl>
                                          <p:spTgt spid="1140755"/>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140753"/>
                                        </p:tgtEl>
                                        <p:attrNameLst>
                                          <p:attrName>style.visibility</p:attrName>
                                        </p:attrNameLst>
                                      </p:cBhvr>
                                      <p:to>
                                        <p:strVal val="visible"/>
                                      </p:to>
                                    </p:set>
                                    <p:animEffect transition="in" filter="wipe(up)">
                                      <p:cBhvr>
                                        <p:cTn id="35" dur="500"/>
                                        <p:tgtEl>
                                          <p:spTgt spid="11407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140756"/>
                                        </p:tgtEl>
                                        <p:attrNameLst>
                                          <p:attrName>style.visibility</p:attrName>
                                        </p:attrNameLst>
                                      </p:cBhvr>
                                      <p:to>
                                        <p:strVal val="visible"/>
                                      </p:to>
                                    </p:set>
                                    <p:anim calcmode="lin" valueType="num">
                                      <p:cBhvr additive="base">
                                        <p:cTn id="40" dur="500" fill="hold"/>
                                        <p:tgtEl>
                                          <p:spTgt spid="1140756"/>
                                        </p:tgtEl>
                                        <p:attrNameLst>
                                          <p:attrName>ppt_x</p:attrName>
                                        </p:attrNameLst>
                                      </p:cBhvr>
                                      <p:tavLst>
                                        <p:tav tm="0">
                                          <p:val>
                                            <p:strVal val="#ppt_x"/>
                                          </p:val>
                                        </p:tav>
                                        <p:tav tm="100000">
                                          <p:val>
                                            <p:strVal val="#ppt_x"/>
                                          </p:val>
                                        </p:tav>
                                      </p:tavLst>
                                    </p:anim>
                                    <p:anim calcmode="lin" valueType="num">
                                      <p:cBhvr additive="base">
                                        <p:cTn id="41" dur="500" fill="hold"/>
                                        <p:tgtEl>
                                          <p:spTgt spid="11407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54" grpId="0" animBg="1" autoUpdateAnimBg="0"/>
      <p:bldP spid="1140755" grpId="0" autoUpdateAnimBg="0"/>
      <p:bldP spid="114075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7972" name="Rectangle 4">
            <a:extLst>
              <a:ext uri="{FF2B5EF4-FFF2-40B4-BE49-F238E27FC236}">
                <a16:creationId xmlns:a16="http://schemas.microsoft.com/office/drawing/2014/main" id="{272A8AD0-1D64-4068-9890-2B59100AE2AF}"/>
              </a:ext>
            </a:extLst>
          </p:cNvPr>
          <p:cNvSpPr>
            <a:spLocks noGrp="1"/>
          </p:cNvSpPr>
          <p:nvPr>
            <p:ph type="title"/>
          </p:nvPr>
        </p:nvSpPr>
        <p:spPr/>
        <p:txBody>
          <a:bodyPr/>
          <a:lstStyle/>
          <a:p>
            <a:r>
              <a:rPr lang="en-GB" altLang="en-US" dirty="0"/>
              <a:t>Monetary Equilibrium</a:t>
            </a:r>
          </a:p>
        </p:txBody>
      </p:sp>
      <p:sp>
        <p:nvSpPr>
          <p:cNvPr id="467973" name="Rectangle 5">
            <a:extLst>
              <a:ext uri="{FF2B5EF4-FFF2-40B4-BE49-F238E27FC236}">
                <a16:creationId xmlns:a16="http://schemas.microsoft.com/office/drawing/2014/main" id="{A8FB7AF1-1755-4382-9112-E59BBBA37516}"/>
              </a:ext>
            </a:extLst>
          </p:cNvPr>
          <p:cNvSpPr>
            <a:spLocks noGrp="1"/>
          </p:cNvSpPr>
          <p:nvPr>
            <p:ph sz="quarter" idx="1"/>
          </p:nvPr>
        </p:nvSpPr>
        <p:spPr/>
        <p:txBody>
          <a:bodyPr/>
          <a:lstStyle/>
          <a:p>
            <a:pPr>
              <a:lnSpc>
                <a:spcPct val="100000"/>
              </a:lnSpc>
              <a:spcBef>
                <a:spcPct val="100000"/>
              </a:spcBef>
            </a:pPr>
            <a:r>
              <a:rPr lang="en-GB" altLang="en-US" dirty="0">
                <a:latin typeface="+mn-lt"/>
              </a:rPr>
              <a:t>Equilibrium in the money market</a:t>
            </a:r>
          </a:p>
          <a:p>
            <a:pPr lvl="1">
              <a:lnSpc>
                <a:spcPct val="100000"/>
              </a:lnSpc>
              <a:spcBef>
                <a:spcPct val="100000"/>
              </a:spcBef>
            </a:pPr>
            <a:r>
              <a:rPr lang="en-GB" altLang="en-US" dirty="0">
                <a:latin typeface="+mn-lt"/>
              </a:rPr>
              <a:t>equilibrium rate of interest</a:t>
            </a:r>
          </a:p>
          <a:p>
            <a:pPr lvl="1">
              <a:lnSpc>
                <a:spcPct val="100000"/>
              </a:lnSpc>
              <a:spcBef>
                <a:spcPct val="100000"/>
              </a:spcBef>
            </a:pPr>
            <a:r>
              <a:rPr lang="en-GB" altLang="en-US" dirty="0">
                <a:latin typeface="+mn-lt"/>
              </a:rPr>
              <a:t>effects of changes in the money supply or demand on the rate of interest</a:t>
            </a:r>
          </a:p>
          <a:p>
            <a:pPr lvl="1">
              <a:lnSpc>
                <a:spcPct val="100000"/>
              </a:lnSpc>
              <a:spcBef>
                <a:spcPct val="100000"/>
              </a:spcBef>
            </a:pPr>
            <a:r>
              <a:rPr lang="en-GB" altLang="en-US" dirty="0">
                <a:latin typeface="+mn-lt"/>
              </a:rPr>
              <a:t>in practice, we observe a series of interest rates that tend to move together</a:t>
            </a:r>
          </a:p>
        </p:txBody>
      </p:sp>
    </p:spTree>
    <p:extLst>
      <p:ext uri="{BB962C8B-B14F-4D97-AF65-F5344CB8AC3E}">
        <p14:creationId xmlns:p14="http://schemas.microsoft.com/office/powerpoint/2010/main" val="313748118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67973">
                                            <p:txEl>
                                              <p:pRg st="3" end="3"/>
                                            </p:txEl>
                                          </p:spTgt>
                                        </p:tgtEl>
                                        <p:attrNameLst>
                                          <p:attrName>style.visibility</p:attrName>
                                        </p:attrNameLst>
                                      </p:cBhvr>
                                      <p:to>
                                        <p:strVal val="visible"/>
                                      </p:to>
                                    </p:set>
                                    <p:anim calcmode="lin" valueType="num">
                                      <p:cBhvr additive="base">
                                        <p:cTn id="7" dur="500"/>
                                        <p:tgtEl>
                                          <p:spTgt spid="467973">
                                            <p:txEl>
                                              <p:pRg st="3" end="3"/>
                                            </p:txEl>
                                          </p:spTgt>
                                        </p:tgtEl>
                                        <p:attrNameLst>
                                          <p:attrName>ppt_y</p:attrName>
                                        </p:attrNameLst>
                                      </p:cBhvr>
                                      <p:tavLst>
                                        <p:tav tm="0">
                                          <p:val>
                                            <p:strVal val="#ppt_y+#ppt_h*1.125000"/>
                                          </p:val>
                                        </p:tav>
                                        <p:tav tm="100000">
                                          <p:val>
                                            <p:strVal val="#ppt_y"/>
                                          </p:val>
                                        </p:tav>
                                      </p:tavLst>
                                    </p:anim>
                                    <p:animEffect transition="in" filter="wipe(up)">
                                      <p:cBhvr>
                                        <p:cTn id="8" dur="500"/>
                                        <p:tgtEl>
                                          <p:spTgt spid="4679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3" grpId="0" build="p" bldLvl="3"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798802E1-3818-4CAB-A172-E164A3B7AA05}"/>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5203" name="Rectangle 3">
            <a:extLst>
              <a:ext uri="{FF2B5EF4-FFF2-40B4-BE49-F238E27FC236}">
                <a16:creationId xmlns:a16="http://schemas.microsoft.com/office/drawing/2014/main" id="{AE1C77AA-DCC8-4869-A506-3233103C828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800" noProof="1"/>
          </a:p>
        </p:txBody>
      </p:sp>
      <p:sp>
        <p:nvSpPr>
          <p:cNvPr id="435204" name="Rectangle 4">
            <a:extLst>
              <a:ext uri="{FF2B5EF4-FFF2-40B4-BE49-F238E27FC236}">
                <a16:creationId xmlns:a16="http://schemas.microsoft.com/office/drawing/2014/main" id="{4CA9D119-EEE3-495A-AFC7-86B511AC7A91}"/>
              </a:ext>
            </a:extLst>
          </p:cNvPr>
          <p:cNvSpPr>
            <a:spLocks noGrp="1"/>
          </p:cNvSpPr>
          <p:nvPr>
            <p:ph type="title"/>
          </p:nvPr>
        </p:nvSpPr>
        <p:spPr/>
        <p:txBody>
          <a:bodyPr/>
          <a:lstStyle/>
          <a:p>
            <a:r>
              <a:rPr lang="en-GB" altLang="en-US" dirty="0"/>
              <a:t>Money supply and the real economy</a:t>
            </a:r>
          </a:p>
        </p:txBody>
      </p:sp>
      <p:sp>
        <p:nvSpPr>
          <p:cNvPr id="414725" name="Rectangle 5">
            <a:extLst>
              <a:ext uri="{FF2B5EF4-FFF2-40B4-BE49-F238E27FC236}">
                <a16:creationId xmlns:a16="http://schemas.microsoft.com/office/drawing/2014/main" id="{166A1C7F-0202-4C17-BF94-035698FA5544}"/>
              </a:ext>
            </a:extLst>
          </p:cNvPr>
          <p:cNvSpPr>
            <a:spLocks noGrp="1"/>
          </p:cNvSpPr>
          <p:nvPr>
            <p:ph sz="quarter" idx="1"/>
          </p:nvPr>
        </p:nvSpPr>
        <p:spPr/>
        <p:txBody>
          <a:bodyPr/>
          <a:lstStyle/>
          <a:p>
            <a:pPr>
              <a:spcBef>
                <a:spcPts val="1200"/>
              </a:spcBef>
            </a:pPr>
            <a:r>
              <a:rPr lang="en-GB" altLang="en-US" sz="2800" dirty="0">
                <a:latin typeface="+mn-lt"/>
              </a:rPr>
              <a:t>The interest rate transmission mechanism</a:t>
            </a:r>
          </a:p>
          <a:p>
            <a:pPr lvl="1">
              <a:spcBef>
                <a:spcPts val="1200"/>
              </a:spcBef>
            </a:pPr>
            <a:r>
              <a:rPr lang="en-GB" altLang="en-US" sz="2500" dirty="0">
                <a:latin typeface="+mn-lt"/>
              </a:rPr>
              <a:t>effect on interest rates of a rise in money supply		</a:t>
            </a:r>
            <a:r>
              <a:rPr lang="en-GB" altLang="en-US" i="1" dirty="0">
                <a:solidFill>
                  <a:schemeClr val="accent6"/>
                </a:solidFill>
                <a:latin typeface="+mn-lt"/>
              </a:rPr>
              <a:t>M</a:t>
            </a:r>
            <a:r>
              <a:rPr lang="en-GB" altLang="en-US" dirty="0">
                <a:solidFill>
                  <a:schemeClr val="accent6"/>
                </a:solidFill>
                <a:latin typeface="+mn-lt"/>
              </a:rPr>
              <a:t>s</a:t>
            </a:r>
            <a:r>
              <a:rPr lang="en-GB" altLang="en-US" dirty="0">
                <a:solidFill>
                  <a:schemeClr val="accent6"/>
                </a:solidFill>
                <a:latin typeface="+mn-lt"/>
                <a:sym typeface="Symbol" panose="05050102010706020507" pitchFamily="18" charset="2"/>
              </a:rPr>
              <a:t>  </a:t>
            </a:r>
            <a:r>
              <a:rPr lang="en-GB" altLang="en-US" i="1" dirty="0">
                <a:solidFill>
                  <a:schemeClr val="accent6"/>
                </a:solidFill>
                <a:latin typeface="+mn-lt"/>
                <a:sym typeface="Symbol" panose="05050102010706020507" pitchFamily="18" charset="2"/>
              </a:rPr>
              <a:t>r</a:t>
            </a:r>
            <a:r>
              <a:rPr lang="en-GB" altLang="en-US" dirty="0">
                <a:solidFill>
                  <a:schemeClr val="accent6"/>
                </a:solidFill>
                <a:latin typeface="+mn-lt"/>
                <a:sym typeface="Symbol" panose="05050102010706020507" pitchFamily="18" charset="2"/>
              </a:rPr>
              <a:t></a:t>
            </a:r>
            <a:endParaRPr lang="en-GB" altLang="en-US" dirty="0">
              <a:solidFill>
                <a:schemeClr val="accent6"/>
              </a:solidFill>
              <a:latin typeface="+mn-lt"/>
            </a:endParaRPr>
          </a:p>
          <a:p>
            <a:pPr lvl="1">
              <a:spcBef>
                <a:spcPts val="1200"/>
              </a:spcBef>
            </a:pPr>
            <a:r>
              <a:rPr lang="en-GB" altLang="en-US" sz="2500" dirty="0">
                <a:latin typeface="+mn-lt"/>
              </a:rPr>
              <a:t>which leads to effects on investment and saving	   	</a:t>
            </a:r>
            <a:r>
              <a:rPr lang="en-GB" altLang="en-US" i="1" dirty="0">
                <a:solidFill>
                  <a:schemeClr val="accent6"/>
                </a:solidFill>
                <a:latin typeface="+mn-lt"/>
                <a:sym typeface="Symbol" panose="05050102010706020507" pitchFamily="18" charset="2"/>
              </a:rPr>
              <a:t>r</a:t>
            </a:r>
            <a:r>
              <a:rPr lang="en-GB" altLang="en-US" dirty="0">
                <a:solidFill>
                  <a:schemeClr val="accent6"/>
                </a:solidFill>
                <a:latin typeface="+mn-lt"/>
                <a:sym typeface="Symbol" panose="05050102010706020507" pitchFamily="18" charset="2"/>
              </a:rPr>
              <a:t>  </a:t>
            </a:r>
            <a:r>
              <a:rPr lang="en-GB" altLang="en-US" i="1" dirty="0">
                <a:solidFill>
                  <a:schemeClr val="accent6"/>
                </a:solidFill>
                <a:latin typeface="+mn-lt"/>
                <a:sym typeface="Symbol" panose="05050102010706020507" pitchFamily="18" charset="2"/>
              </a:rPr>
              <a:t>I</a:t>
            </a:r>
            <a:r>
              <a:rPr lang="en-GB" altLang="en-US" dirty="0">
                <a:solidFill>
                  <a:schemeClr val="accent6"/>
                </a:solidFill>
                <a:latin typeface="+mn-lt"/>
                <a:sym typeface="Symbol" panose="05050102010706020507" pitchFamily="18" charset="2"/>
              </a:rPr>
              <a:t>,</a:t>
            </a:r>
            <a:r>
              <a:rPr lang="en-GB" altLang="en-US" i="1" dirty="0">
                <a:solidFill>
                  <a:schemeClr val="accent6"/>
                </a:solidFill>
                <a:latin typeface="+mn-lt"/>
                <a:sym typeface="Symbol" panose="05050102010706020507" pitchFamily="18" charset="2"/>
              </a:rPr>
              <a:t>S</a:t>
            </a:r>
            <a:r>
              <a:rPr lang="en-GB" altLang="en-US" dirty="0">
                <a:solidFill>
                  <a:schemeClr val="accent6"/>
                </a:solidFill>
                <a:latin typeface="+mn-lt"/>
                <a:sym typeface="Symbol" panose="05050102010706020507" pitchFamily="18" charset="2"/>
              </a:rPr>
              <a:t></a:t>
            </a:r>
          </a:p>
          <a:p>
            <a:pPr lvl="1">
              <a:spcBef>
                <a:spcPts val="1200"/>
              </a:spcBef>
            </a:pPr>
            <a:r>
              <a:rPr lang="en-GB" altLang="en-US" sz="2500" dirty="0">
                <a:latin typeface="+mn-lt"/>
              </a:rPr>
              <a:t>and finally to effects on national income 			</a:t>
            </a:r>
            <a:r>
              <a:rPr lang="en-GB" altLang="en-US" i="1" dirty="0">
                <a:solidFill>
                  <a:schemeClr val="accent6"/>
                </a:solidFill>
                <a:latin typeface="+mn-lt"/>
                <a:sym typeface="Symbol" panose="05050102010706020507" pitchFamily="18" charset="2"/>
              </a:rPr>
              <a:t>I</a:t>
            </a:r>
            <a:r>
              <a:rPr lang="en-GB" altLang="en-US" dirty="0">
                <a:solidFill>
                  <a:schemeClr val="accent6"/>
                </a:solidFill>
                <a:latin typeface="+mn-lt"/>
                <a:sym typeface="Symbol" panose="05050102010706020507" pitchFamily="18" charset="2"/>
              </a:rPr>
              <a:t>,</a:t>
            </a:r>
            <a:r>
              <a:rPr lang="en-GB" altLang="en-US" i="1" dirty="0">
                <a:solidFill>
                  <a:schemeClr val="accent6"/>
                </a:solidFill>
                <a:latin typeface="+mn-lt"/>
                <a:sym typeface="Symbol" panose="05050102010706020507" pitchFamily="18" charset="2"/>
              </a:rPr>
              <a:t>S</a:t>
            </a:r>
            <a:r>
              <a:rPr lang="en-GB" altLang="en-US" dirty="0">
                <a:solidFill>
                  <a:schemeClr val="accent6"/>
                </a:solidFill>
                <a:latin typeface="+mn-lt"/>
                <a:sym typeface="Symbol" panose="05050102010706020507" pitchFamily="18" charset="2"/>
              </a:rPr>
              <a:t>  </a:t>
            </a:r>
            <a:r>
              <a:rPr lang="en-GB" altLang="en-US" i="1" dirty="0">
                <a:solidFill>
                  <a:schemeClr val="accent6"/>
                </a:solidFill>
                <a:latin typeface="+mn-lt"/>
                <a:sym typeface="Symbol" panose="05050102010706020507" pitchFamily="18" charset="2"/>
              </a:rPr>
              <a:t>Y</a:t>
            </a:r>
            <a:r>
              <a:rPr lang="en-GB" altLang="en-US" dirty="0">
                <a:solidFill>
                  <a:schemeClr val="accent6"/>
                </a:solidFill>
                <a:latin typeface="+mn-lt"/>
                <a:sym typeface="Symbol" panose="05050102010706020507" pitchFamily="18" charset="2"/>
              </a:rPr>
              <a:t></a:t>
            </a:r>
          </a:p>
          <a:p>
            <a:pPr lvl="2">
              <a:spcBef>
                <a:spcPts val="1200"/>
              </a:spcBef>
            </a:pPr>
            <a:r>
              <a:rPr lang="en-GB" altLang="en-US" dirty="0">
                <a:latin typeface="+mn-lt"/>
                <a:sym typeface="Symbol" panose="05050102010706020507" pitchFamily="18" charset="2"/>
              </a:rPr>
              <a:t>the size – and speed – of these effects is keenly debated by economists</a:t>
            </a:r>
          </a:p>
          <a:p>
            <a:pPr>
              <a:spcBef>
                <a:spcPts val="1200"/>
              </a:spcBef>
            </a:pPr>
            <a:r>
              <a:rPr lang="en-GB" altLang="en-US" sz="2800" dirty="0">
                <a:latin typeface="+mn-lt"/>
                <a:sym typeface="Symbol" panose="05050102010706020507" pitchFamily="18" charset="2"/>
              </a:rPr>
              <a:t>Dealing with a closed economy just now – </a:t>
            </a:r>
          </a:p>
          <a:p>
            <a:pPr lvl="1">
              <a:spcBef>
                <a:spcPts val="1200"/>
              </a:spcBef>
            </a:pPr>
            <a:r>
              <a:rPr lang="en-GB" altLang="en-US" sz="2500" dirty="0">
                <a:latin typeface="+mn-lt"/>
                <a:sym typeface="Symbol" panose="05050102010706020507" pitchFamily="18" charset="2"/>
              </a:rPr>
              <a:t>another transmission route through effects on exchange rates</a:t>
            </a:r>
          </a:p>
        </p:txBody>
      </p:sp>
    </p:spTree>
    <p:extLst>
      <p:ext uri="{BB962C8B-B14F-4D97-AF65-F5344CB8AC3E}">
        <p14:creationId xmlns:p14="http://schemas.microsoft.com/office/powerpoint/2010/main" val="2079126051"/>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4725">
                                            <p:txEl>
                                              <p:pRg st="0" end="0"/>
                                            </p:txEl>
                                          </p:spTgt>
                                        </p:tgtEl>
                                        <p:attrNameLst>
                                          <p:attrName>style.visibility</p:attrName>
                                        </p:attrNameLst>
                                      </p:cBhvr>
                                      <p:to>
                                        <p:strVal val="visible"/>
                                      </p:to>
                                    </p:set>
                                    <p:anim calcmode="lin" valueType="num">
                                      <p:cBhvr additive="base">
                                        <p:cTn id="7" dur="500"/>
                                        <p:tgtEl>
                                          <p:spTgt spid="41472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472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4725">
                                            <p:txEl>
                                              <p:pRg st="1" end="1"/>
                                            </p:txEl>
                                          </p:spTgt>
                                        </p:tgtEl>
                                        <p:attrNameLst>
                                          <p:attrName>style.visibility</p:attrName>
                                        </p:attrNameLst>
                                      </p:cBhvr>
                                      <p:to>
                                        <p:strVal val="visible"/>
                                      </p:to>
                                    </p:set>
                                    <p:anim calcmode="lin" valueType="num">
                                      <p:cBhvr additive="base">
                                        <p:cTn id="13" dur="500"/>
                                        <p:tgtEl>
                                          <p:spTgt spid="41472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472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4725">
                                            <p:txEl>
                                              <p:pRg st="2" end="2"/>
                                            </p:txEl>
                                          </p:spTgt>
                                        </p:tgtEl>
                                        <p:attrNameLst>
                                          <p:attrName>style.visibility</p:attrName>
                                        </p:attrNameLst>
                                      </p:cBhvr>
                                      <p:to>
                                        <p:strVal val="visible"/>
                                      </p:to>
                                    </p:set>
                                    <p:anim calcmode="lin" valueType="num">
                                      <p:cBhvr additive="base">
                                        <p:cTn id="19" dur="500"/>
                                        <p:tgtEl>
                                          <p:spTgt spid="41472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472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4725">
                                            <p:txEl>
                                              <p:pRg st="3" end="3"/>
                                            </p:txEl>
                                          </p:spTgt>
                                        </p:tgtEl>
                                        <p:attrNameLst>
                                          <p:attrName>style.visibility</p:attrName>
                                        </p:attrNameLst>
                                      </p:cBhvr>
                                      <p:to>
                                        <p:strVal val="visible"/>
                                      </p:to>
                                    </p:set>
                                    <p:anim calcmode="lin" valueType="num">
                                      <p:cBhvr additive="base">
                                        <p:cTn id="25" dur="500"/>
                                        <p:tgtEl>
                                          <p:spTgt spid="41472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4725">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414725">
                                            <p:txEl>
                                              <p:pRg st="4" end="4"/>
                                            </p:txEl>
                                          </p:spTgt>
                                        </p:tgtEl>
                                        <p:attrNameLst>
                                          <p:attrName>style.visibility</p:attrName>
                                        </p:attrNameLst>
                                      </p:cBhvr>
                                      <p:to>
                                        <p:strVal val="visible"/>
                                      </p:to>
                                    </p:set>
                                    <p:anim calcmode="lin" valueType="num">
                                      <p:cBhvr additive="base">
                                        <p:cTn id="29" dur="500"/>
                                        <p:tgtEl>
                                          <p:spTgt spid="414725">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41472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414725">
                                            <p:txEl>
                                              <p:pRg st="5" end="5"/>
                                            </p:txEl>
                                          </p:spTgt>
                                        </p:tgtEl>
                                        <p:attrNameLst>
                                          <p:attrName>style.visibility</p:attrName>
                                        </p:attrNameLst>
                                      </p:cBhvr>
                                      <p:to>
                                        <p:strVal val="visible"/>
                                      </p:to>
                                    </p:set>
                                    <p:anim calcmode="lin" valueType="num">
                                      <p:cBhvr additive="base">
                                        <p:cTn id="35" dur="500"/>
                                        <p:tgtEl>
                                          <p:spTgt spid="414725">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1472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414725">
                                            <p:txEl>
                                              <p:pRg st="6" end="6"/>
                                            </p:txEl>
                                          </p:spTgt>
                                        </p:tgtEl>
                                        <p:attrNameLst>
                                          <p:attrName>style.visibility</p:attrName>
                                        </p:attrNameLst>
                                      </p:cBhvr>
                                      <p:to>
                                        <p:strVal val="visible"/>
                                      </p:to>
                                    </p:set>
                                    <p:anim calcmode="lin" valueType="num">
                                      <p:cBhvr additive="base">
                                        <p:cTn id="41" dur="500"/>
                                        <p:tgtEl>
                                          <p:spTgt spid="414725">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1472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5"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9">
            <a:extLst>
              <a:ext uri="{FF2B5EF4-FFF2-40B4-BE49-F238E27FC236}">
                <a16:creationId xmlns:a16="http://schemas.microsoft.com/office/drawing/2014/main" id="{33EA7C46-F5A3-453E-926F-91AF92ADEA3D}"/>
              </a:ext>
            </a:extLst>
          </p:cNvPr>
          <p:cNvSpPr>
            <a:spLocks noChangeArrowheads="1"/>
          </p:cNvSpPr>
          <p:nvPr/>
        </p:nvSpPr>
        <p:spPr bwMode="auto">
          <a:xfrm>
            <a:off x="1630363" y="1438275"/>
            <a:ext cx="8921750" cy="4171950"/>
          </a:xfrm>
          <a:prstGeom prst="rect">
            <a:avLst/>
          </a:prstGeom>
          <a:solidFill>
            <a:schemeClr val="bg1"/>
          </a:solidFill>
          <a:ln w="9525">
            <a:solidFill>
              <a:schemeClr val="bg2"/>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solidFill>
                <a:srgbClr val="005000"/>
              </a:solidFill>
            </a:endParaRPr>
          </a:p>
        </p:txBody>
      </p:sp>
      <p:grpSp>
        <p:nvGrpSpPr>
          <p:cNvPr id="2" name="Group 2">
            <a:extLst>
              <a:ext uri="{FF2B5EF4-FFF2-40B4-BE49-F238E27FC236}">
                <a16:creationId xmlns:a16="http://schemas.microsoft.com/office/drawing/2014/main" id="{37A081E7-9777-4164-ABC7-81C8E15B5EF7}"/>
              </a:ext>
            </a:extLst>
          </p:cNvPr>
          <p:cNvGrpSpPr>
            <a:grpSpLocks/>
          </p:cNvGrpSpPr>
          <p:nvPr/>
        </p:nvGrpSpPr>
        <p:grpSpPr bwMode="auto">
          <a:xfrm>
            <a:off x="2173289" y="3200401"/>
            <a:ext cx="1493837" cy="1400175"/>
            <a:chOff x="409" y="2016"/>
            <a:chExt cx="941" cy="882"/>
          </a:xfrm>
        </p:grpSpPr>
        <p:sp>
          <p:nvSpPr>
            <p:cNvPr id="593924" name="Line 3">
              <a:extLst>
                <a:ext uri="{FF2B5EF4-FFF2-40B4-BE49-F238E27FC236}">
                  <a16:creationId xmlns:a16="http://schemas.microsoft.com/office/drawing/2014/main" id="{F4FD6760-7DAE-4951-BE39-60A21842AB3C}"/>
                </a:ext>
              </a:extLst>
            </p:cNvPr>
            <p:cNvSpPr>
              <a:spLocks noChangeShapeType="1"/>
            </p:cNvSpPr>
            <p:nvPr/>
          </p:nvSpPr>
          <p:spPr bwMode="auto">
            <a:xfrm>
              <a:off x="528" y="2016"/>
              <a:ext cx="144" cy="432"/>
            </a:xfrm>
            <a:prstGeom prst="line">
              <a:avLst/>
            </a:prstGeom>
            <a:noFill/>
            <a:ln w="28575">
              <a:solidFill>
                <a:schemeClr val="accent2"/>
              </a:solidFill>
              <a:round/>
              <a:headEnd/>
              <a:tailEnd type="stealth"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GB"/>
            </a:p>
          </p:txBody>
        </p:sp>
        <p:sp>
          <p:nvSpPr>
            <p:cNvPr id="593925" name="Rectangle 4">
              <a:extLst>
                <a:ext uri="{FF2B5EF4-FFF2-40B4-BE49-F238E27FC236}">
                  <a16:creationId xmlns:a16="http://schemas.microsoft.com/office/drawing/2014/main" id="{F14A30B4-6EC7-4246-A22E-66BA13189D86}"/>
                </a:ext>
              </a:extLst>
            </p:cNvPr>
            <p:cNvSpPr>
              <a:spLocks noChangeArrowheads="1"/>
            </p:cNvSpPr>
            <p:nvPr/>
          </p:nvSpPr>
          <p:spPr bwMode="auto">
            <a:xfrm>
              <a:off x="409" y="2484"/>
              <a:ext cx="941" cy="414"/>
            </a:xfrm>
            <a:prstGeom prst="rect">
              <a:avLst/>
            </a:prstGeom>
            <a:solidFill>
              <a:srgbClr val="FFCCCC"/>
            </a:solidFill>
            <a:ln w="15875">
              <a:solidFill>
                <a:schemeClr val="accent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990000"/>
                  </a:solidFill>
                  <a:latin typeface="Arial" panose="020B0604020202020204" pitchFamily="34" charset="0"/>
                </a:rPr>
                <a:t>D for foreign assets </a:t>
              </a:r>
              <a:r>
                <a:rPr lang="en-GB" altLang="en-US" sz="1800">
                  <a:solidFill>
                    <a:srgbClr val="990000"/>
                  </a:solidFill>
                  <a:latin typeface="Arial" panose="020B0604020202020204" pitchFamily="34" charset="0"/>
                  <a:sym typeface="Symbol" panose="05050102010706020507" pitchFamily="18" charset="2"/>
                </a:rPr>
                <a:t></a:t>
              </a:r>
              <a:r>
                <a:rPr lang="en-GB" altLang="en-US" sz="1800">
                  <a:solidFill>
                    <a:srgbClr val="990000"/>
                  </a:solidFill>
                  <a:latin typeface="Arial" panose="020B0604020202020204" pitchFamily="34" charset="0"/>
                </a:rPr>
                <a:t> </a:t>
              </a:r>
            </a:p>
          </p:txBody>
        </p:sp>
      </p:grpSp>
      <p:grpSp>
        <p:nvGrpSpPr>
          <p:cNvPr id="3" name="Group 5">
            <a:extLst>
              <a:ext uri="{FF2B5EF4-FFF2-40B4-BE49-F238E27FC236}">
                <a16:creationId xmlns:a16="http://schemas.microsoft.com/office/drawing/2014/main" id="{D94887B5-0075-488B-8BA9-80E7E06FA9E1}"/>
              </a:ext>
            </a:extLst>
          </p:cNvPr>
          <p:cNvGrpSpPr>
            <a:grpSpLocks/>
          </p:cNvGrpSpPr>
          <p:nvPr/>
        </p:nvGrpSpPr>
        <p:grpSpPr bwMode="auto">
          <a:xfrm>
            <a:off x="3670301" y="2628901"/>
            <a:ext cx="1997075" cy="1971675"/>
            <a:chOff x="1352" y="1656"/>
            <a:chExt cx="1258" cy="1242"/>
          </a:xfrm>
        </p:grpSpPr>
        <p:sp>
          <p:nvSpPr>
            <p:cNvPr id="593927" name="Line 6">
              <a:extLst>
                <a:ext uri="{FF2B5EF4-FFF2-40B4-BE49-F238E27FC236}">
                  <a16:creationId xmlns:a16="http://schemas.microsoft.com/office/drawing/2014/main" id="{5E2BB490-E3C5-47E6-8F06-5402F7455050}"/>
                </a:ext>
              </a:extLst>
            </p:cNvPr>
            <p:cNvSpPr>
              <a:spLocks noChangeShapeType="1"/>
            </p:cNvSpPr>
            <p:nvPr/>
          </p:nvSpPr>
          <p:spPr bwMode="auto">
            <a:xfrm>
              <a:off x="1680" y="1656"/>
              <a:ext cx="353" cy="760"/>
            </a:xfrm>
            <a:prstGeom prst="line">
              <a:avLst/>
            </a:prstGeom>
            <a:noFill/>
            <a:ln w="28575">
              <a:solidFill>
                <a:schemeClr val="accent2"/>
              </a:solidFill>
              <a:round/>
              <a:headEnd/>
              <a:tailEnd type="stealth"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93928" name="Rectangle 7">
              <a:extLst>
                <a:ext uri="{FF2B5EF4-FFF2-40B4-BE49-F238E27FC236}">
                  <a16:creationId xmlns:a16="http://schemas.microsoft.com/office/drawing/2014/main" id="{2C926AB9-1361-4863-ADC5-CF5716BD0CF9}"/>
                </a:ext>
              </a:extLst>
            </p:cNvPr>
            <p:cNvSpPr>
              <a:spLocks noChangeArrowheads="1"/>
            </p:cNvSpPr>
            <p:nvPr/>
          </p:nvSpPr>
          <p:spPr bwMode="auto">
            <a:xfrm>
              <a:off x="1759" y="2484"/>
              <a:ext cx="851" cy="414"/>
            </a:xfrm>
            <a:prstGeom prst="rect">
              <a:avLst/>
            </a:prstGeom>
            <a:solidFill>
              <a:srgbClr val="FFCCCC"/>
            </a:solidFill>
            <a:ln w="15875">
              <a:solidFill>
                <a:schemeClr val="accent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990000"/>
                  </a:solidFill>
                  <a:latin typeface="Arial" panose="020B0604020202020204" pitchFamily="34" charset="0"/>
                </a:rPr>
                <a:t>Exchange rate </a:t>
              </a:r>
              <a:r>
                <a:rPr lang="en-GB" altLang="en-US" sz="1800">
                  <a:solidFill>
                    <a:srgbClr val="990000"/>
                  </a:solidFill>
                  <a:latin typeface="Arial" panose="020B0604020202020204" pitchFamily="34" charset="0"/>
                  <a:sym typeface="Symbol" panose="05050102010706020507" pitchFamily="18" charset="2"/>
                </a:rPr>
                <a:t></a:t>
              </a:r>
            </a:p>
          </p:txBody>
        </p:sp>
        <p:sp>
          <p:nvSpPr>
            <p:cNvPr id="593929" name="Line 8">
              <a:extLst>
                <a:ext uri="{FF2B5EF4-FFF2-40B4-BE49-F238E27FC236}">
                  <a16:creationId xmlns:a16="http://schemas.microsoft.com/office/drawing/2014/main" id="{855A8D6C-0A99-4D6B-AB29-3F1923DE429C}"/>
                </a:ext>
              </a:extLst>
            </p:cNvPr>
            <p:cNvSpPr>
              <a:spLocks noChangeShapeType="1"/>
            </p:cNvSpPr>
            <p:nvPr/>
          </p:nvSpPr>
          <p:spPr bwMode="auto">
            <a:xfrm>
              <a:off x="1352" y="2706"/>
              <a:ext cx="347" cy="0"/>
            </a:xfrm>
            <a:prstGeom prst="line">
              <a:avLst/>
            </a:prstGeom>
            <a:noFill/>
            <a:ln w="28575">
              <a:solidFill>
                <a:schemeClr val="accent2"/>
              </a:solidFill>
              <a:round/>
              <a:headEnd/>
              <a:tailEnd type="stealth"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grpSp>
      <p:sp>
        <p:nvSpPr>
          <p:cNvPr id="593930" name="Line 9">
            <a:extLst>
              <a:ext uri="{FF2B5EF4-FFF2-40B4-BE49-F238E27FC236}">
                <a16:creationId xmlns:a16="http://schemas.microsoft.com/office/drawing/2014/main" id="{4005840C-C7E2-4185-8EA7-8AA542D5100A}"/>
              </a:ext>
            </a:extLst>
          </p:cNvPr>
          <p:cNvSpPr>
            <a:spLocks noChangeShapeType="1"/>
          </p:cNvSpPr>
          <p:nvPr/>
        </p:nvSpPr>
        <p:spPr bwMode="auto">
          <a:xfrm flipV="1">
            <a:off x="2820988" y="2743200"/>
            <a:ext cx="608012" cy="304800"/>
          </a:xfrm>
          <a:prstGeom prst="line">
            <a:avLst/>
          </a:prstGeom>
          <a:noFill/>
          <a:ln w="28575">
            <a:solidFill>
              <a:srgbClr val="005000"/>
            </a:solidFill>
            <a:round/>
            <a:headEnd/>
            <a:tailEnd type="stealth"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GB"/>
          </a:p>
        </p:txBody>
      </p:sp>
      <p:sp>
        <p:nvSpPr>
          <p:cNvPr id="593931" name="Rectangle 10">
            <a:extLst>
              <a:ext uri="{FF2B5EF4-FFF2-40B4-BE49-F238E27FC236}">
                <a16:creationId xmlns:a16="http://schemas.microsoft.com/office/drawing/2014/main" id="{6FA69643-D2D6-4E95-B8DC-4D14D906ECD1}"/>
              </a:ext>
            </a:extLst>
          </p:cNvPr>
          <p:cNvSpPr>
            <a:spLocks noChangeArrowheads="1"/>
          </p:cNvSpPr>
          <p:nvPr/>
        </p:nvSpPr>
        <p:spPr bwMode="auto">
          <a:xfrm>
            <a:off x="3505200" y="2286001"/>
            <a:ext cx="1066800" cy="657225"/>
          </a:xfrm>
          <a:prstGeom prst="rect">
            <a:avLst/>
          </a:prstGeom>
          <a:solidFill>
            <a:srgbClr val="CCFFCC"/>
          </a:solidFill>
          <a:ln w="15875">
            <a:solidFill>
              <a:srgbClr val="005000"/>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006600"/>
                </a:solidFill>
                <a:latin typeface="Arial" panose="020B0604020202020204" pitchFamily="34" charset="0"/>
              </a:rPr>
              <a:t>Interest rate </a:t>
            </a:r>
            <a:r>
              <a:rPr lang="en-GB" altLang="en-US" sz="1800">
                <a:solidFill>
                  <a:srgbClr val="006600"/>
                </a:solidFill>
                <a:latin typeface="Arial" panose="020B0604020202020204" pitchFamily="34" charset="0"/>
                <a:sym typeface="Symbol" panose="05050102010706020507" pitchFamily="18" charset="2"/>
              </a:rPr>
              <a:t></a:t>
            </a:r>
            <a:r>
              <a:rPr lang="en-GB" altLang="en-US" sz="1800">
                <a:solidFill>
                  <a:srgbClr val="006600"/>
                </a:solidFill>
                <a:latin typeface="Arial" panose="020B0604020202020204" pitchFamily="34" charset="0"/>
              </a:rPr>
              <a:t> </a:t>
            </a:r>
          </a:p>
        </p:txBody>
      </p:sp>
      <p:sp>
        <p:nvSpPr>
          <p:cNvPr id="593932" name="Rectangle 11">
            <a:extLst>
              <a:ext uri="{FF2B5EF4-FFF2-40B4-BE49-F238E27FC236}">
                <a16:creationId xmlns:a16="http://schemas.microsoft.com/office/drawing/2014/main" id="{04B12FCE-67D9-4E19-BB70-2F6559CEE101}"/>
              </a:ext>
            </a:extLst>
          </p:cNvPr>
          <p:cNvSpPr>
            <a:spLocks noChangeArrowheads="1"/>
          </p:cNvSpPr>
          <p:nvPr/>
        </p:nvSpPr>
        <p:spPr bwMode="auto">
          <a:xfrm>
            <a:off x="1762126" y="2774950"/>
            <a:ext cx="1065213" cy="654050"/>
          </a:xfrm>
          <a:prstGeom prst="rect">
            <a:avLst/>
          </a:prstGeom>
          <a:solidFill>
            <a:srgbClr val="CCECFF"/>
          </a:solidFill>
          <a:ln w="12700">
            <a:solidFill>
              <a:schemeClr val="tx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000066"/>
                </a:solidFill>
                <a:latin typeface="Arial" panose="020B0604020202020204" pitchFamily="34" charset="0"/>
              </a:rPr>
              <a:t>Money supply</a:t>
            </a:r>
            <a:r>
              <a:rPr lang="en-GB" altLang="en-US" sz="1800">
                <a:solidFill>
                  <a:srgbClr val="000066"/>
                </a:solidFill>
                <a:latin typeface="Arial" panose="020B0604020202020204" pitchFamily="34" charset="0"/>
                <a:sym typeface="Symbol" panose="05050102010706020507" pitchFamily="18" charset="2"/>
              </a:rPr>
              <a:t></a:t>
            </a:r>
            <a:endParaRPr lang="en-GB" altLang="en-US" sz="1800">
              <a:solidFill>
                <a:srgbClr val="000066"/>
              </a:solidFill>
              <a:latin typeface="Arial" panose="020B0604020202020204" pitchFamily="34" charset="0"/>
            </a:endParaRPr>
          </a:p>
        </p:txBody>
      </p:sp>
      <p:sp>
        <p:nvSpPr>
          <p:cNvPr id="593933" name="Rectangle 12">
            <a:extLst>
              <a:ext uri="{FF2B5EF4-FFF2-40B4-BE49-F238E27FC236}">
                <a16:creationId xmlns:a16="http://schemas.microsoft.com/office/drawing/2014/main" id="{0C841028-7B4C-4A83-A043-AD094DCDD8FB}"/>
              </a:ext>
            </a:extLst>
          </p:cNvPr>
          <p:cNvSpPr>
            <a:spLocks noChangeArrowheads="1"/>
          </p:cNvSpPr>
          <p:nvPr/>
        </p:nvSpPr>
        <p:spPr bwMode="auto">
          <a:xfrm>
            <a:off x="5965826" y="2286001"/>
            <a:ext cx="1635125" cy="657225"/>
          </a:xfrm>
          <a:prstGeom prst="rect">
            <a:avLst/>
          </a:prstGeom>
          <a:solidFill>
            <a:srgbClr val="CCFFCC"/>
          </a:solidFill>
          <a:ln w="15875">
            <a:solidFill>
              <a:srgbClr val="005000"/>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dirty="0">
                <a:solidFill>
                  <a:srgbClr val="006600"/>
                </a:solidFill>
                <a:latin typeface="Arial" panose="020B0604020202020204" pitchFamily="34" charset="0"/>
              </a:rPr>
              <a:t>Investment </a:t>
            </a:r>
            <a:r>
              <a:rPr lang="en-GB" altLang="en-US" sz="1800" dirty="0">
                <a:solidFill>
                  <a:srgbClr val="006600"/>
                </a:solidFill>
                <a:latin typeface="Arial" panose="020B0604020202020204" pitchFamily="34" charset="0"/>
                <a:sym typeface="Symbol" panose="05050102010706020507" pitchFamily="18" charset="2"/>
              </a:rPr>
              <a:t></a:t>
            </a:r>
          </a:p>
          <a:p>
            <a:pPr algn="ctr"/>
            <a:r>
              <a:rPr lang="en-GB" altLang="en-US" sz="1800" dirty="0">
                <a:solidFill>
                  <a:srgbClr val="006600"/>
                </a:solidFill>
                <a:latin typeface="Arial" panose="020B0604020202020204" pitchFamily="34" charset="0"/>
                <a:sym typeface="Symbol" panose="05050102010706020507" pitchFamily="18" charset="2"/>
              </a:rPr>
              <a:t>Saving </a:t>
            </a:r>
          </a:p>
        </p:txBody>
      </p:sp>
      <p:sp>
        <p:nvSpPr>
          <p:cNvPr id="593934" name="Line 13">
            <a:extLst>
              <a:ext uri="{FF2B5EF4-FFF2-40B4-BE49-F238E27FC236}">
                <a16:creationId xmlns:a16="http://schemas.microsoft.com/office/drawing/2014/main" id="{115C78B4-B8EF-46EB-B924-7927E1CB94A8}"/>
              </a:ext>
            </a:extLst>
          </p:cNvPr>
          <p:cNvSpPr>
            <a:spLocks noChangeShapeType="1"/>
          </p:cNvSpPr>
          <p:nvPr/>
        </p:nvSpPr>
        <p:spPr bwMode="auto">
          <a:xfrm>
            <a:off x="7599363" y="2667000"/>
            <a:ext cx="588962" cy="344488"/>
          </a:xfrm>
          <a:prstGeom prst="line">
            <a:avLst/>
          </a:prstGeom>
          <a:noFill/>
          <a:ln w="28575">
            <a:solidFill>
              <a:srgbClr val="005000"/>
            </a:solidFill>
            <a:round/>
            <a:headEnd/>
            <a:tailEnd type="stealth"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GB"/>
          </a:p>
        </p:txBody>
      </p:sp>
      <p:grpSp>
        <p:nvGrpSpPr>
          <p:cNvPr id="4" name="Group 15">
            <a:extLst>
              <a:ext uri="{FF2B5EF4-FFF2-40B4-BE49-F238E27FC236}">
                <a16:creationId xmlns:a16="http://schemas.microsoft.com/office/drawing/2014/main" id="{9AC8F6C7-9303-4745-8659-3751A7EE5070}"/>
              </a:ext>
            </a:extLst>
          </p:cNvPr>
          <p:cNvGrpSpPr>
            <a:grpSpLocks/>
          </p:cNvGrpSpPr>
          <p:nvPr/>
        </p:nvGrpSpPr>
        <p:grpSpPr bwMode="auto">
          <a:xfrm>
            <a:off x="5667375" y="3943351"/>
            <a:ext cx="2019300" cy="657225"/>
            <a:chOff x="2610" y="2484"/>
            <a:chExt cx="1272" cy="414"/>
          </a:xfrm>
        </p:grpSpPr>
        <p:sp>
          <p:nvSpPr>
            <p:cNvPr id="593936" name="Rectangle 16">
              <a:extLst>
                <a:ext uri="{FF2B5EF4-FFF2-40B4-BE49-F238E27FC236}">
                  <a16:creationId xmlns:a16="http://schemas.microsoft.com/office/drawing/2014/main" id="{ADFA3839-DBDB-44B5-9C33-1CCB13A7E728}"/>
                </a:ext>
              </a:extLst>
            </p:cNvPr>
            <p:cNvSpPr>
              <a:spLocks noChangeArrowheads="1"/>
            </p:cNvSpPr>
            <p:nvPr/>
          </p:nvSpPr>
          <p:spPr bwMode="auto">
            <a:xfrm>
              <a:off x="3031" y="2484"/>
              <a:ext cx="851" cy="414"/>
            </a:xfrm>
            <a:prstGeom prst="rect">
              <a:avLst/>
            </a:prstGeom>
            <a:solidFill>
              <a:srgbClr val="FFCCCC"/>
            </a:solidFill>
            <a:ln w="15875">
              <a:solidFill>
                <a:schemeClr val="accent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990000"/>
                  </a:solidFill>
                  <a:latin typeface="Arial" panose="020B0604020202020204" pitchFamily="34" charset="0"/>
                </a:rPr>
                <a:t>Exports </a:t>
              </a:r>
              <a:r>
                <a:rPr lang="en-GB" altLang="en-US" sz="1800">
                  <a:solidFill>
                    <a:srgbClr val="990000"/>
                  </a:solidFill>
                  <a:latin typeface="Arial" panose="020B0604020202020204" pitchFamily="34" charset="0"/>
                  <a:sym typeface="Symbol" panose="05050102010706020507" pitchFamily="18" charset="2"/>
                </a:rPr>
                <a:t></a:t>
              </a:r>
            </a:p>
            <a:p>
              <a:pPr algn="ctr"/>
              <a:r>
                <a:rPr lang="en-GB" altLang="en-US" sz="1800">
                  <a:solidFill>
                    <a:srgbClr val="990000"/>
                  </a:solidFill>
                  <a:latin typeface="Arial" panose="020B0604020202020204" pitchFamily="34" charset="0"/>
                  <a:sym typeface="Symbol" panose="05050102010706020507" pitchFamily="18" charset="2"/>
                </a:rPr>
                <a:t>Imports </a:t>
              </a:r>
            </a:p>
          </p:txBody>
        </p:sp>
        <p:sp>
          <p:nvSpPr>
            <p:cNvPr id="593937" name="Line 17">
              <a:extLst>
                <a:ext uri="{FF2B5EF4-FFF2-40B4-BE49-F238E27FC236}">
                  <a16:creationId xmlns:a16="http://schemas.microsoft.com/office/drawing/2014/main" id="{5D3294A6-C591-4A42-861D-D30FFA6BA6DF}"/>
                </a:ext>
              </a:extLst>
            </p:cNvPr>
            <p:cNvSpPr>
              <a:spLocks noChangeShapeType="1"/>
            </p:cNvSpPr>
            <p:nvPr/>
          </p:nvSpPr>
          <p:spPr bwMode="auto">
            <a:xfrm>
              <a:off x="2610" y="2706"/>
              <a:ext cx="364" cy="0"/>
            </a:xfrm>
            <a:prstGeom prst="line">
              <a:avLst/>
            </a:prstGeom>
            <a:noFill/>
            <a:ln w="28575">
              <a:solidFill>
                <a:schemeClr val="accent2"/>
              </a:solidFill>
              <a:round/>
              <a:headEnd/>
              <a:tailEnd type="stealth"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grpSp>
      <p:sp>
        <p:nvSpPr>
          <p:cNvPr id="30738" name="Line 18">
            <a:extLst>
              <a:ext uri="{FF2B5EF4-FFF2-40B4-BE49-F238E27FC236}">
                <a16:creationId xmlns:a16="http://schemas.microsoft.com/office/drawing/2014/main" id="{F899741A-E49D-43CB-B32F-85E5B59592CC}"/>
              </a:ext>
            </a:extLst>
          </p:cNvPr>
          <p:cNvSpPr>
            <a:spLocks noChangeShapeType="1"/>
          </p:cNvSpPr>
          <p:nvPr/>
        </p:nvSpPr>
        <p:spPr bwMode="auto">
          <a:xfrm flipV="1">
            <a:off x="7680325" y="3741738"/>
            <a:ext cx="509588" cy="290512"/>
          </a:xfrm>
          <a:prstGeom prst="line">
            <a:avLst/>
          </a:prstGeom>
          <a:noFill/>
          <a:ln w="28575">
            <a:solidFill>
              <a:schemeClr val="accent2"/>
            </a:solidFill>
            <a:round/>
            <a:headEnd/>
            <a:tailEnd type="stealth"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93939" name="Text Box 19">
            <a:extLst>
              <a:ext uri="{FF2B5EF4-FFF2-40B4-BE49-F238E27FC236}">
                <a16:creationId xmlns:a16="http://schemas.microsoft.com/office/drawing/2014/main" id="{D78ACFB1-2BCF-427F-8067-08EF70311029}"/>
              </a:ext>
            </a:extLst>
          </p:cNvPr>
          <p:cNvSpPr txBox="1">
            <a:spLocks noChangeArrowheads="1"/>
          </p:cNvSpPr>
          <p:nvPr/>
        </p:nvSpPr>
        <p:spPr bwMode="auto">
          <a:xfrm>
            <a:off x="2286000" y="1520677"/>
            <a:ext cx="579120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GB" altLang="en-US" b="1">
                <a:solidFill>
                  <a:srgbClr val="005000"/>
                </a:solidFill>
                <a:latin typeface="Arial" panose="020B0604020202020204" pitchFamily="34" charset="0"/>
              </a:rPr>
              <a:t>Interest-rate transmission mechanism</a:t>
            </a:r>
          </a:p>
        </p:txBody>
      </p:sp>
      <p:sp>
        <p:nvSpPr>
          <p:cNvPr id="593940" name="Text Box 20">
            <a:extLst>
              <a:ext uri="{FF2B5EF4-FFF2-40B4-BE49-F238E27FC236}">
                <a16:creationId xmlns:a16="http://schemas.microsoft.com/office/drawing/2014/main" id="{28208830-051D-470D-85C0-2C83DAD6891B}"/>
              </a:ext>
            </a:extLst>
          </p:cNvPr>
          <p:cNvSpPr txBox="1">
            <a:spLocks noChangeArrowheads="1"/>
          </p:cNvSpPr>
          <p:nvPr/>
        </p:nvSpPr>
        <p:spPr bwMode="auto">
          <a:xfrm>
            <a:off x="2173289" y="4771361"/>
            <a:ext cx="6235700"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GB" altLang="en-US" b="1" dirty="0">
                <a:solidFill>
                  <a:srgbClr val="C00000"/>
                </a:solidFill>
                <a:latin typeface="Arial" panose="020B0604020202020204" pitchFamily="34" charset="0"/>
              </a:rPr>
              <a:t>Exchange-rate transmission mechanism (more in Week 11 lecture)</a:t>
            </a:r>
          </a:p>
        </p:txBody>
      </p:sp>
      <p:grpSp>
        <p:nvGrpSpPr>
          <p:cNvPr id="5" name="Group 22">
            <a:extLst>
              <a:ext uri="{FF2B5EF4-FFF2-40B4-BE49-F238E27FC236}">
                <a16:creationId xmlns:a16="http://schemas.microsoft.com/office/drawing/2014/main" id="{771D5274-11BD-4687-82DC-174A072FC471}"/>
              </a:ext>
            </a:extLst>
          </p:cNvPr>
          <p:cNvGrpSpPr>
            <a:grpSpLocks/>
          </p:cNvGrpSpPr>
          <p:nvPr/>
        </p:nvGrpSpPr>
        <p:grpSpPr bwMode="auto">
          <a:xfrm>
            <a:off x="8982075" y="2895600"/>
            <a:ext cx="1511300" cy="381000"/>
            <a:chOff x="4752" y="1824"/>
            <a:chExt cx="952" cy="240"/>
          </a:xfrm>
        </p:grpSpPr>
        <p:sp>
          <p:nvSpPr>
            <p:cNvPr id="593943" name="Rectangle 23">
              <a:extLst>
                <a:ext uri="{FF2B5EF4-FFF2-40B4-BE49-F238E27FC236}">
                  <a16:creationId xmlns:a16="http://schemas.microsoft.com/office/drawing/2014/main" id="{6B87C090-DCB0-44A9-8478-A0F35841CE6C}"/>
                </a:ext>
              </a:extLst>
            </p:cNvPr>
            <p:cNvSpPr>
              <a:spLocks noChangeArrowheads="1"/>
            </p:cNvSpPr>
            <p:nvPr/>
          </p:nvSpPr>
          <p:spPr bwMode="auto">
            <a:xfrm>
              <a:off x="5040" y="1824"/>
              <a:ext cx="664" cy="239"/>
            </a:xfrm>
            <a:prstGeom prst="rect">
              <a:avLst/>
            </a:prstGeom>
            <a:solidFill>
              <a:srgbClr val="CCECFF"/>
            </a:solidFill>
            <a:ln w="12700">
              <a:solidFill>
                <a:schemeClr val="tx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000066"/>
                  </a:solidFill>
                  <a:latin typeface="Arial" panose="020B0604020202020204" pitchFamily="34" charset="0"/>
                </a:rPr>
                <a:t>GDP </a:t>
              </a:r>
              <a:r>
                <a:rPr lang="en-GB" altLang="en-US" sz="1800">
                  <a:solidFill>
                    <a:srgbClr val="000066"/>
                  </a:solidFill>
                  <a:latin typeface="Arial" panose="020B0604020202020204" pitchFamily="34" charset="0"/>
                  <a:sym typeface="Symbol" panose="05050102010706020507" pitchFamily="18" charset="2"/>
                </a:rPr>
                <a:t></a:t>
              </a:r>
              <a:r>
                <a:rPr lang="en-GB" altLang="en-US" sz="1800">
                  <a:solidFill>
                    <a:srgbClr val="000066"/>
                  </a:solidFill>
                  <a:latin typeface="Arial" panose="020B0604020202020204" pitchFamily="34" charset="0"/>
                </a:rPr>
                <a:t> </a:t>
              </a:r>
            </a:p>
          </p:txBody>
        </p:sp>
        <p:sp>
          <p:nvSpPr>
            <p:cNvPr id="593944" name="Line 24">
              <a:extLst>
                <a:ext uri="{FF2B5EF4-FFF2-40B4-BE49-F238E27FC236}">
                  <a16:creationId xmlns:a16="http://schemas.microsoft.com/office/drawing/2014/main" id="{8B2846E1-5864-426E-83AB-95E3E0FC86AB}"/>
                </a:ext>
              </a:extLst>
            </p:cNvPr>
            <p:cNvSpPr>
              <a:spLocks noChangeShapeType="1"/>
            </p:cNvSpPr>
            <p:nvPr/>
          </p:nvSpPr>
          <p:spPr bwMode="auto">
            <a:xfrm flipV="1">
              <a:off x="4752" y="1968"/>
              <a:ext cx="240" cy="96"/>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 name="Group 25">
            <a:extLst>
              <a:ext uri="{FF2B5EF4-FFF2-40B4-BE49-F238E27FC236}">
                <a16:creationId xmlns:a16="http://schemas.microsoft.com/office/drawing/2014/main" id="{8101F7FC-85CC-484B-BB3C-AAD83EC85D82}"/>
              </a:ext>
            </a:extLst>
          </p:cNvPr>
          <p:cNvGrpSpPr>
            <a:grpSpLocks/>
          </p:cNvGrpSpPr>
          <p:nvPr/>
        </p:nvGrpSpPr>
        <p:grpSpPr bwMode="auto">
          <a:xfrm>
            <a:off x="8982075" y="3429001"/>
            <a:ext cx="1498600" cy="379413"/>
            <a:chOff x="4752" y="2160"/>
            <a:chExt cx="944" cy="239"/>
          </a:xfrm>
        </p:grpSpPr>
        <p:sp>
          <p:nvSpPr>
            <p:cNvPr id="593946" name="Rectangle 26">
              <a:extLst>
                <a:ext uri="{FF2B5EF4-FFF2-40B4-BE49-F238E27FC236}">
                  <a16:creationId xmlns:a16="http://schemas.microsoft.com/office/drawing/2014/main" id="{799AEE00-CB15-4212-97E3-60C9274FAA7C}"/>
                </a:ext>
              </a:extLst>
            </p:cNvPr>
            <p:cNvSpPr>
              <a:spLocks noChangeArrowheads="1"/>
            </p:cNvSpPr>
            <p:nvPr/>
          </p:nvSpPr>
          <p:spPr bwMode="auto">
            <a:xfrm>
              <a:off x="5040" y="2160"/>
              <a:ext cx="656" cy="239"/>
            </a:xfrm>
            <a:prstGeom prst="rect">
              <a:avLst/>
            </a:prstGeom>
            <a:solidFill>
              <a:srgbClr val="CCECFF"/>
            </a:solidFill>
            <a:ln w="12700">
              <a:solidFill>
                <a:schemeClr val="tx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000066"/>
                  </a:solidFill>
                  <a:latin typeface="Arial" panose="020B0604020202020204" pitchFamily="34" charset="0"/>
                </a:rPr>
                <a:t>Prices </a:t>
              </a:r>
              <a:r>
                <a:rPr lang="en-GB" altLang="en-US" sz="1800">
                  <a:solidFill>
                    <a:srgbClr val="000066"/>
                  </a:solidFill>
                  <a:latin typeface="Arial" panose="020B0604020202020204" pitchFamily="34" charset="0"/>
                  <a:sym typeface="Symbol" panose="05050102010706020507" pitchFamily="18" charset="2"/>
                </a:rPr>
                <a:t></a:t>
              </a:r>
              <a:r>
                <a:rPr lang="en-GB" altLang="en-US" sz="1800">
                  <a:solidFill>
                    <a:srgbClr val="000066"/>
                  </a:solidFill>
                  <a:latin typeface="Arial" panose="020B0604020202020204" pitchFamily="34" charset="0"/>
                </a:rPr>
                <a:t> </a:t>
              </a:r>
            </a:p>
          </p:txBody>
        </p:sp>
        <p:sp>
          <p:nvSpPr>
            <p:cNvPr id="593947" name="Line 27">
              <a:extLst>
                <a:ext uri="{FF2B5EF4-FFF2-40B4-BE49-F238E27FC236}">
                  <a16:creationId xmlns:a16="http://schemas.microsoft.com/office/drawing/2014/main" id="{8FA34D02-9B8C-48A6-A3FE-61A3BE6F4AE9}"/>
                </a:ext>
              </a:extLst>
            </p:cNvPr>
            <p:cNvSpPr>
              <a:spLocks noChangeShapeType="1"/>
            </p:cNvSpPr>
            <p:nvPr/>
          </p:nvSpPr>
          <p:spPr bwMode="auto">
            <a:xfrm>
              <a:off x="4752" y="2208"/>
              <a:ext cx="240" cy="48"/>
            </a:xfrm>
            <a:prstGeom prst="line">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sp>
        <p:nvSpPr>
          <p:cNvPr id="593948" name="Line 28">
            <a:extLst>
              <a:ext uri="{FF2B5EF4-FFF2-40B4-BE49-F238E27FC236}">
                <a16:creationId xmlns:a16="http://schemas.microsoft.com/office/drawing/2014/main" id="{5A7F9CB6-95B0-46E7-A0EF-3DFC457E2AB6}"/>
              </a:ext>
            </a:extLst>
          </p:cNvPr>
          <p:cNvSpPr>
            <a:spLocks noChangeShapeType="1"/>
          </p:cNvSpPr>
          <p:nvPr/>
        </p:nvSpPr>
        <p:spPr bwMode="auto">
          <a:xfrm>
            <a:off x="4572000" y="2564904"/>
            <a:ext cx="1276350" cy="0"/>
          </a:xfrm>
          <a:prstGeom prst="line">
            <a:avLst/>
          </a:prstGeom>
          <a:noFill/>
          <a:ln w="28575">
            <a:solidFill>
              <a:srgbClr val="005000"/>
            </a:solidFill>
            <a:round/>
            <a:headEnd/>
            <a:tailEnd type="stealth"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GB"/>
          </a:p>
        </p:txBody>
      </p:sp>
      <p:sp>
        <p:nvSpPr>
          <p:cNvPr id="593949" name="Rectangle 14">
            <a:extLst>
              <a:ext uri="{FF2B5EF4-FFF2-40B4-BE49-F238E27FC236}">
                <a16:creationId xmlns:a16="http://schemas.microsoft.com/office/drawing/2014/main" id="{14A1FFC7-D263-4824-8A4E-94CEF8DD44D5}"/>
              </a:ext>
            </a:extLst>
          </p:cNvPr>
          <p:cNvSpPr>
            <a:spLocks noChangeArrowheads="1"/>
          </p:cNvSpPr>
          <p:nvPr/>
        </p:nvSpPr>
        <p:spPr bwMode="auto">
          <a:xfrm>
            <a:off x="7772401" y="3048000"/>
            <a:ext cx="1285875" cy="654050"/>
          </a:xfrm>
          <a:prstGeom prst="rect">
            <a:avLst/>
          </a:prstGeom>
          <a:solidFill>
            <a:srgbClr val="CCECFF"/>
          </a:solidFill>
          <a:ln w="12700">
            <a:solidFill>
              <a:schemeClr val="tx2"/>
            </a:solidFill>
            <a:miter lim="800000"/>
            <a:headEnd/>
            <a:tailEnd/>
          </a:ln>
        </p:spPr>
        <p:txBody>
          <a:bodyPr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000066"/>
                </a:solidFill>
                <a:latin typeface="Arial" panose="020B0604020202020204" pitchFamily="34" charset="0"/>
              </a:rPr>
              <a:t>Aggregate demand </a:t>
            </a:r>
            <a:r>
              <a:rPr lang="en-GB" altLang="en-US" sz="1800">
                <a:solidFill>
                  <a:srgbClr val="000066"/>
                </a:solidFill>
                <a:latin typeface="Arial" panose="020B0604020202020204" pitchFamily="34" charset="0"/>
                <a:sym typeface="Symbol" panose="05050102010706020507" pitchFamily="18" charset="2"/>
              </a:rPr>
              <a:t></a:t>
            </a:r>
            <a:r>
              <a:rPr lang="en-GB" altLang="en-US" sz="1800">
                <a:solidFill>
                  <a:srgbClr val="000066"/>
                </a:solidFill>
                <a:latin typeface="Arial" panose="020B0604020202020204" pitchFamily="34" charset="0"/>
              </a:rPr>
              <a:t> </a:t>
            </a:r>
          </a:p>
        </p:txBody>
      </p:sp>
      <p:sp>
        <p:nvSpPr>
          <p:cNvPr id="30" name="Text Box 10">
            <a:extLst>
              <a:ext uri="{FF2B5EF4-FFF2-40B4-BE49-F238E27FC236}">
                <a16:creationId xmlns:a16="http://schemas.microsoft.com/office/drawing/2014/main" id="{D24A84BE-AA60-4B77-AAF1-F1EC3D532EF6}"/>
              </a:ext>
            </a:extLst>
          </p:cNvPr>
          <p:cNvSpPr txBox="1">
            <a:spLocks noChangeArrowheads="1"/>
          </p:cNvSpPr>
          <p:nvPr/>
        </p:nvSpPr>
        <p:spPr bwMode="auto">
          <a:xfrm>
            <a:off x="0" y="286268"/>
            <a:ext cx="12192000" cy="556179"/>
          </a:xfrm>
          <a:prstGeom prst="rect">
            <a:avLst/>
          </a:prstGeom>
          <a:noFill/>
          <a:ln w="28575">
            <a:noFill/>
            <a:miter lim="800000"/>
            <a:headEnd/>
            <a:tailEnd/>
          </a:ln>
          <a:effectLst>
            <a:outerShdw dist="12700" dir="2700000" algn="ctr" rotWithShape="0">
              <a:schemeClr val="tx1"/>
            </a:outerShdw>
          </a:effectLst>
        </p:spPr>
        <p:txBody>
          <a:bodyPr wrap="square" lIns="90000" tIns="46800" rIns="90000" bIns="46800"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3000" b="1">
                <a:solidFill>
                  <a:srgbClr val="660066"/>
                </a:solidFill>
                <a:latin typeface="Arial" panose="020B0604020202020204" pitchFamily="34" charset="0"/>
              </a:rPr>
              <a:t>Monetary transmission mechanisms</a:t>
            </a:r>
          </a:p>
        </p:txBody>
      </p:sp>
    </p:spTree>
    <p:custDataLst>
      <p:tags r:id="rId1"/>
    </p:custDataLst>
    <p:extLst>
      <p:ext uri="{BB962C8B-B14F-4D97-AF65-F5344CB8AC3E}">
        <p14:creationId xmlns:p14="http://schemas.microsoft.com/office/powerpoint/2010/main" val="83712214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0738"/>
                                        </p:tgtEl>
                                        <p:attrNameLst>
                                          <p:attrName>style.visibility</p:attrName>
                                        </p:attrNameLst>
                                      </p:cBhvr>
                                      <p:to>
                                        <p:strVal val="visible"/>
                                      </p:to>
                                    </p:set>
                                    <p:animEffect transition="in" filter="wipe(left)">
                                      <p:cBhvr>
                                        <p:cTn id="22" dur="500"/>
                                        <p:tgtEl>
                                          <p:spTgt spid="307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5" name="Rectangle 5">
            <a:extLst>
              <a:ext uri="{FF2B5EF4-FFF2-40B4-BE49-F238E27FC236}">
                <a16:creationId xmlns:a16="http://schemas.microsoft.com/office/drawing/2014/main" id="{ABE1F9F3-218F-4897-A916-119105A96C16}"/>
              </a:ext>
            </a:extLst>
          </p:cNvPr>
          <p:cNvSpPr>
            <a:spLocks noGrp="1"/>
          </p:cNvSpPr>
          <p:nvPr>
            <p:ph type="title"/>
          </p:nvPr>
        </p:nvSpPr>
        <p:spPr/>
        <p:txBody>
          <a:bodyPr/>
          <a:lstStyle/>
          <a:p>
            <a:r>
              <a:rPr lang="en-GB" altLang="en-US" sz="3800" dirty="0">
                <a:cs typeface="Arial" panose="020B0604020202020204" pitchFamily="34" charset="0"/>
              </a:rPr>
              <a:t>The quantity theory of money</a:t>
            </a:r>
          </a:p>
        </p:txBody>
      </p:sp>
      <p:sp>
        <p:nvSpPr>
          <p:cNvPr id="102406" name="Rectangle 6">
            <a:extLst>
              <a:ext uri="{FF2B5EF4-FFF2-40B4-BE49-F238E27FC236}">
                <a16:creationId xmlns:a16="http://schemas.microsoft.com/office/drawing/2014/main" id="{2A2DB53F-FA03-48F2-9C96-DDAC5FD3DFC1}"/>
              </a:ext>
            </a:extLst>
          </p:cNvPr>
          <p:cNvSpPr>
            <a:spLocks noGrp="1"/>
          </p:cNvSpPr>
          <p:nvPr>
            <p:ph idx="1"/>
          </p:nvPr>
        </p:nvSpPr>
        <p:spPr>
          <a:xfrm>
            <a:off x="402336" y="1376737"/>
            <a:ext cx="11338560" cy="5085708"/>
          </a:xfrm>
        </p:spPr>
        <p:txBody>
          <a:bodyPr/>
          <a:lstStyle/>
          <a:p>
            <a:pPr>
              <a:lnSpc>
                <a:spcPct val="114000"/>
              </a:lnSpc>
              <a:spcBef>
                <a:spcPts val="0"/>
              </a:spcBef>
            </a:pPr>
            <a:r>
              <a:rPr lang="en-GB" altLang="en-US" dirty="0">
                <a:latin typeface="+mn-lt"/>
              </a:rPr>
              <a:t>Starts from the equation of exchange: </a:t>
            </a:r>
            <a:r>
              <a:rPr lang="en-GB" altLang="en-US" i="1" dirty="0">
                <a:latin typeface="+mn-lt"/>
              </a:rPr>
              <a:t>MV = PY</a:t>
            </a:r>
          </a:p>
          <a:p>
            <a:pPr lvl="1">
              <a:lnSpc>
                <a:spcPct val="114000"/>
              </a:lnSpc>
              <a:spcBef>
                <a:spcPts val="0"/>
              </a:spcBef>
              <a:tabLst>
                <a:tab pos="1027113" algn="l"/>
              </a:tabLst>
            </a:pPr>
            <a:r>
              <a:rPr lang="en-GB" altLang="en-US" sz="2400" i="1" dirty="0">
                <a:latin typeface="+mn-lt"/>
              </a:rPr>
              <a:t>M</a:t>
            </a:r>
            <a:r>
              <a:rPr lang="en-GB" altLang="en-US" sz="2400" dirty="0">
                <a:latin typeface="+mn-lt"/>
              </a:rPr>
              <a:t>, money supply; </a:t>
            </a:r>
            <a:r>
              <a:rPr lang="en-GB" altLang="en-US" sz="2400" i="1" dirty="0">
                <a:latin typeface="+mn-lt"/>
              </a:rPr>
              <a:t>V, </a:t>
            </a:r>
            <a:r>
              <a:rPr lang="en-GB" altLang="en-US" sz="2400" dirty="0">
                <a:latin typeface="+mn-lt"/>
              </a:rPr>
              <a:t>velocity of circulation; </a:t>
            </a:r>
            <a:br>
              <a:rPr lang="en-GB" altLang="en-US" sz="2400" dirty="0">
                <a:latin typeface="+mn-lt"/>
              </a:rPr>
            </a:br>
            <a:r>
              <a:rPr lang="en-GB" altLang="en-US" sz="2400" i="1" dirty="0">
                <a:latin typeface="+mn-lt"/>
              </a:rPr>
              <a:t>P,</a:t>
            </a:r>
            <a:r>
              <a:rPr lang="en-GB" altLang="en-US" sz="2400" dirty="0">
                <a:latin typeface="+mn-lt"/>
              </a:rPr>
              <a:t> price level (number of times greater than in base year)</a:t>
            </a:r>
            <a:br>
              <a:rPr lang="en-GB" altLang="en-US" sz="2400" dirty="0">
                <a:latin typeface="+mn-lt"/>
              </a:rPr>
            </a:br>
            <a:r>
              <a:rPr lang="en-GB" altLang="en-US" sz="2400" i="1" dirty="0">
                <a:latin typeface="+mn-lt"/>
              </a:rPr>
              <a:t>Y, </a:t>
            </a:r>
            <a:r>
              <a:rPr lang="en-GB" altLang="en-US" sz="2400" dirty="0">
                <a:latin typeface="+mn-lt"/>
              </a:rPr>
              <a:t>real value of output at base-year prices</a:t>
            </a:r>
          </a:p>
          <a:p>
            <a:pPr>
              <a:lnSpc>
                <a:spcPct val="114000"/>
              </a:lnSpc>
              <a:spcBef>
                <a:spcPts val="0"/>
              </a:spcBef>
            </a:pPr>
            <a:r>
              <a:rPr lang="en-GB" altLang="en-US" dirty="0">
                <a:latin typeface="+mn-lt"/>
              </a:rPr>
              <a:t>Argues that increases in money stock pass through to prices</a:t>
            </a:r>
          </a:p>
          <a:p>
            <a:pPr lvl="1">
              <a:lnSpc>
                <a:spcPct val="114000"/>
              </a:lnSpc>
              <a:spcBef>
                <a:spcPts val="0"/>
              </a:spcBef>
            </a:pPr>
            <a:r>
              <a:rPr lang="en-GB" altLang="en-US" sz="2400" dirty="0">
                <a:latin typeface="+mn-lt"/>
              </a:rPr>
              <a:t>Only effect is inflation – no increase in (real) national income</a:t>
            </a:r>
          </a:p>
          <a:p>
            <a:pPr lvl="1">
              <a:lnSpc>
                <a:spcPct val="114000"/>
              </a:lnSpc>
              <a:spcBef>
                <a:spcPts val="0"/>
              </a:spcBef>
            </a:pPr>
            <a:r>
              <a:rPr lang="en-GB" altLang="en-US" sz="2400" dirty="0">
                <a:latin typeface="+mn-lt"/>
              </a:rPr>
              <a:t>This requires </a:t>
            </a:r>
            <a:r>
              <a:rPr lang="en-GB" altLang="en-US" sz="2400" i="1" dirty="0">
                <a:latin typeface="+mn-lt"/>
              </a:rPr>
              <a:t>V </a:t>
            </a:r>
            <a:r>
              <a:rPr lang="en-GB" altLang="en-US" sz="2400" dirty="0">
                <a:latin typeface="+mn-lt"/>
              </a:rPr>
              <a:t>and </a:t>
            </a:r>
            <a:r>
              <a:rPr lang="en-GB" altLang="en-US" sz="2400" i="1" dirty="0">
                <a:latin typeface="+mn-lt"/>
              </a:rPr>
              <a:t>Y</a:t>
            </a:r>
            <a:r>
              <a:rPr lang="en-GB" altLang="en-US" sz="2400" dirty="0">
                <a:latin typeface="+mn-lt"/>
              </a:rPr>
              <a:t> to determined independently of </a:t>
            </a:r>
            <a:r>
              <a:rPr lang="en-GB" altLang="en-US" sz="2400" i="1" dirty="0">
                <a:latin typeface="+mn-lt"/>
              </a:rPr>
              <a:t>M</a:t>
            </a:r>
          </a:p>
          <a:p>
            <a:pPr lvl="2">
              <a:lnSpc>
                <a:spcPct val="114000"/>
              </a:lnSpc>
              <a:spcBef>
                <a:spcPts val="0"/>
              </a:spcBef>
            </a:pPr>
            <a:r>
              <a:rPr lang="en-GB" altLang="en-US" dirty="0">
                <a:latin typeface="+mn-lt"/>
              </a:rPr>
              <a:t>Credible – growth of national income 2 – 3% per year; </a:t>
            </a:r>
            <a:br>
              <a:rPr lang="en-GB" altLang="en-US" dirty="0">
                <a:latin typeface="+mn-lt"/>
              </a:rPr>
            </a:br>
            <a:r>
              <a:rPr lang="en-GB" altLang="en-US" i="1" dirty="0">
                <a:latin typeface="+mn-lt"/>
              </a:rPr>
              <a:t>V </a:t>
            </a:r>
            <a:r>
              <a:rPr lang="en-GB" altLang="en-US" dirty="0">
                <a:latin typeface="+mn-lt"/>
              </a:rPr>
              <a:t>determined by payment technology</a:t>
            </a:r>
          </a:p>
          <a:p>
            <a:pPr lvl="1">
              <a:lnSpc>
                <a:spcPct val="114000"/>
              </a:lnSpc>
              <a:spcBef>
                <a:spcPts val="0"/>
              </a:spcBef>
            </a:pPr>
            <a:r>
              <a:rPr lang="en-GB" altLang="en-US" sz="2400" dirty="0">
                <a:latin typeface="+mn-lt"/>
              </a:rPr>
              <a:t>Requires fully flexible prices (New Classical economics)</a:t>
            </a:r>
          </a:p>
          <a:p>
            <a:pPr lvl="2">
              <a:lnSpc>
                <a:spcPct val="114000"/>
              </a:lnSpc>
              <a:spcBef>
                <a:spcPts val="0"/>
              </a:spcBef>
            </a:pPr>
            <a:r>
              <a:rPr lang="en-GB" altLang="en-US" dirty="0">
                <a:latin typeface="+mn-lt"/>
              </a:rPr>
              <a:t>Keynesian economists tend to believe in sticky prices – so </a:t>
            </a:r>
            <a:r>
              <a:rPr lang="en-GB" altLang="en-US" i="1" dirty="0">
                <a:solidFill>
                  <a:schemeClr val="accent6"/>
                </a:solidFill>
                <a:latin typeface="+mn-lt"/>
              </a:rPr>
              <a:t>M</a:t>
            </a:r>
            <a:r>
              <a:rPr lang="en-GB" altLang="en-US" i="1" baseline="30000" dirty="0">
                <a:solidFill>
                  <a:schemeClr val="accent6"/>
                </a:solidFill>
                <a:latin typeface="+mn-lt"/>
              </a:rPr>
              <a:t>S</a:t>
            </a:r>
            <a:r>
              <a:rPr lang="en-GB" altLang="en-US" dirty="0">
                <a:solidFill>
                  <a:schemeClr val="accent6"/>
                </a:solidFill>
                <a:latin typeface="+mn-lt"/>
                <a:sym typeface="Symbol" panose="05050102010706020507" pitchFamily="18" charset="2"/>
              </a:rPr>
              <a:t>  </a:t>
            </a:r>
            <a:r>
              <a:rPr lang="en-GB" altLang="en-US" i="1" dirty="0">
                <a:solidFill>
                  <a:schemeClr val="accent6"/>
                </a:solidFill>
                <a:latin typeface="+mn-lt"/>
                <a:sym typeface="Symbol" panose="05050102010706020507" pitchFamily="18" charset="2"/>
              </a:rPr>
              <a:t>Y</a:t>
            </a:r>
            <a:r>
              <a:rPr lang="en-GB" altLang="en-US" dirty="0">
                <a:solidFill>
                  <a:schemeClr val="accent6"/>
                </a:solidFill>
                <a:latin typeface="+mn-lt"/>
                <a:sym typeface="Symbol" panose="05050102010706020507" pitchFamily="18" charset="2"/>
              </a:rPr>
              <a:t></a:t>
            </a:r>
            <a:endParaRPr lang="en-GB" altLang="en-US" dirty="0">
              <a:solidFill>
                <a:schemeClr val="accent6"/>
              </a:solidFill>
              <a:latin typeface="+mn-lt"/>
            </a:endParaRPr>
          </a:p>
        </p:txBody>
      </p:sp>
    </p:spTree>
    <p:extLst>
      <p:ext uri="{BB962C8B-B14F-4D97-AF65-F5344CB8AC3E}">
        <p14:creationId xmlns:p14="http://schemas.microsoft.com/office/powerpoint/2010/main" val="75802058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2406">
                                            <p:txEl>
                                              <p:pRg st="0" end="0"/>
                                            </p:txEl>
                                          </p:spTgt>
                                        </p:tgtEl>
                                        <p:attrNameLst>
                                          <p:attrName>style.visibility</p:attrName>
                                        </p:attrNameLst>
                                      </p:cBhvr>
                                      <p:to>
                                        <p:strVal val="visible"/>
                                      </p:to>
                                    </p:set>
                                    <p:anim calcmode="lin" valueType="num">
                                      <p:cBhvr additive="base">
                                        <p:cTn id="7" dur="500"/>
                                        <p:tgtEl>
                                          <p:spTgt spid="102406">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02406">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02406">
                                            <p:txEl>
                                              <p:pRg st="1" end="1"/>
                                            </p:txEl>
                                          </p:spTgt>
                                        </p:tgtEl>
                                        <p:attrNameLst>
                                          <p:attrName>style.visibility</p:attrName>
                                        </p:attrNameLst>
                                      </p:cBhvr>
                                      <p:to>
                                        <p:strVal val="visible"/>
                                      </p:to>
                                    </p:set>
                                    <p:anim calcmode="lin" valueType="num">
                                      <p:cBhvr additive="base">
                                        <p:cTn id="13" dur="500"/>
                                        <p:tgtEl>
                                          <p:spTgt spid="102406">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02406">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02406">
                                            <p:txEl>
                                              <p:pRg st="2" end="2"/>
                                            </p:txEl>
                                          </p:spTgt>
                                        </p:tgtEl>
                                        <p:attrNameLst>
                                          <p:attrName>style.visibility</p:attrName>
                                        </p:attrNameLst>
                                      </p:cBhvr>
                                      <p:to>
                                        <p:strVal val="visible"/>
                                      </p:to>
                                    </p:set>
                                    <p:anim calcmode="lin" valueType="num">
                                      <p:cBhvr additive="base">
                                        <p:cTn id="19" dur="500"/>
                                        <p:tgtEl>
                                          <p:spTgt spid="102406">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0240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02406">
                                            <p:txEl>
                                              <p:pRg st="3" end="3"/>
                                            </p:txEl>
                                          </p:spTgt>
                                        </p:tgtEl>
                                        <p:attrNameLst>
                                          <p:attrName>style.visibility</p:attrName>
                                        </p:attrNameLst>
                                      </p:cBhvr>
                                      <p:to>
                                        <p:strVal val="visible"/>
                                      </p:to>
                                    </p:set>
                                    <p:anim calcmode="lin" valueType="num">
                                      <p:cBhvr additive="base">
                                        <p:cTn id="25" dur="500"/>
                                        <p:tgtEl>
                                          <p:spTgt spid="102406">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102406">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02406">
                                            <p:txEl>
                                              <p:pRg st="4" end="4"/>
                                            </p:txEl>
                                          </p:spTgt>
                                        </p:tgtEl>
                                        <p:attrNameLst>
                                          <p:attrName>style.visibility</p:attrName>
                                        </p:attrNameLst>
                                      </p:cBhvr>
                                      <p:to>
                                        <p:strVal val="visible"/>
                                      </p:to>
                                    </p:set>
                                    <p:anim calcmode="lin" valueType="num">
                                      <p:cBhvr additive="base">
                                        <p:cTn id="31" dur="500"/>
                                        <p:tgtEl>
                                          <p:spTgt spid="102406">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02406">
                                            <p:txEl>
                                              <p:pRg st="4" end="4"/>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02406">
                                            <p:txEl>
                                              <p:pRg st="5" end="5"/>
                                            </p:txEl>
                                          </p:spTgt>
                                        </p:tgtEl>
                                        <p:attrNameLst>
                                          <p:attrName>style.visibility</p:attrName>
                                        </p:attrNameLst>
                                      </p:cBhvr>
                                      <p:to>
                                        <p:strVal val="visible"/>
                                      </p:to>
                                    </p:set>
                                    <p:anim calcmode="lin" valueType="num">
                                      <p:cBhvr additive="base">
                                        <p:cTn id="35" dur="500"/>
                                        <p:tgtEl>
                                          <p:spTgt spid="102406">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102406">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02406">
                                            <p:txEl>
                                              <p:pRg st="6" end="6"/>
                                            </p:txEl>
                                          </p:spTgt>
                                        </p:tgtEl>
                                        <p:attrNameLst>
                                          <p:attrName>style.visibility</p:attrName>
                                        </p:attrNameLst>
                                      </p:cBhvr>
                                      <p:to>
                                        <p:strVal val="visible"/>
                                      </p:to>
                                    </p:set>
                                    <p:anim calcmode="lin" valueType="num">
                                      <p:cBhvr additive="base">
                                        <p:cTn id="41" dur="500"/>
                                        <p:tgtEl>
                                          <p:spTgt spid="102406">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102406">
                                            <p:txEl>
                                              <p:pRg st="6" end="6"/>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102406">
                                            <p:txEl>
                                              <p:pRg st="7" end="7"/>
                                            </p:txEl>
                                          </p:spTgt>
                                        </p:tgtEl>
                                        <p:attrNameLst>
                                          <p:attrName>style.visibility</p:attrName>
                                        </p:attrNameLst>
                                      </p:cBhvr>
                                      <p:to>
                                        <p:strVal val="visible"/>
                                      </p:to>
                                    </p:set>
                                    <p:anim calcmode="lin" valueType="num">
                                      <p:cBhvr additive="base">
                                        <p:cTn id="45" dur="500"/>
                                        <p:tgtEl>
                                          <p:spTgt spid="102406">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10240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6"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6" name="Rectangle 8">
            <a:extLst>
              <a:ext uri="{FF2B5EF4-FFF2-40B4-BE49-F238E27FC236}">
                <a16:creationId xmlns:a16="http://schemas.microsoft.com/office/drawing/2014/main" id="{A7DCEC93-2E27-4601-B0A0-FC66C79D525E}"/>
              </a:ext>
            </a:extLst>
          </p:cNvPr>
          <p:cNvSpPr>
            <a:spLocks noGrp="1"/>
          </p:cNvSpPr>
          <p:nvPr>
            <p:ph type="title"/>
          </p:nvPr>
        </p:nvSpPr>
        <p:spPr>
          <a:noFill/>
        </p:spPr>
        <p:txBody>
          <a:bodyPr>
            <a:normAutofit fontScale="90000"/>
          </a:bodyPr>
          <a:lstStyle/>
          <a:p>
            <a:r>
              <a:rPr lang="en-GB" altLang="en-US" sz="3800" dirty="0">
                <a:cs typeface="Arial" panose="020B0604020202020204" pitchFamily="34" charset="0"/>
              </a:rPr>
              <a:t>Questions which divide economists: short run</a:t>
            </a:r>
          </a:p>
        </p:txBody>
      </p:sp>
      <p:sp>
        <p:nvSpPr>
          <p:cNvPr id="104454" name="Rectangle 6">
            <a:extLst>
              <a:ext uri="{FF2B5EF4-FFF2-40B4-BE49-F238E27FC236}">
                <a16:creationId xmlns:a16="http://schemas.microsoft.com/office/drawing/2014/main" id="{B9AAECC2-D944-428B-B0E2-2AC92A568D92}"/>
              </a:ext>
            </a:extLst>
          </p:cNvPr>
          <p:cNvSpPr>
            <a:spLocks noGrp="1"/>
          </p:cNvSpPr>
          <p:nvPr>
            <p:ph idx="1"/>
          </p:nvPr>
        </p:nvSpPr>
        <p:spPr>
          <a:xfrm>
            <a:off x="402167" y="1424307"/>
            <a:ext cx="11338560" cy="4572000"/>
          </a:xfrm>
        </p:spPr>
        <p:txBody>
          <a:bodyPr/>
          <a:lstStyle/>
          <a:p>
            <a:pPr>
              <a:lnSpc>
                <a:spcPct val="95000"/>
              </a:lnSpc>
              <a:spcBef>
                <a:spcPts val="500"/>
              </a:spcBef>
            </a:pPr>
            <a:r>
              <a:rPr lang="en-GB" altLang="en-US" sz="2700" dirty="0">
                <a:latin typeface="+mn-lt"/>
              </a:rPr>
              <a:t>How interest-rate sensitive is money demand?</a:t>
            </a:r>
          </a:p>
          <a:p>
            <a:pPr lvl="1">
              <a:lnSpc>
                <a:spcPct val="95000"/>
              </a:lnSpc>
              <a:spcBef>
                <a:spcPts val="500"/>
              </a:spcBef>
            </a:pPr>
            <a:r>
              <a:rPr lang="en-GB" altLang="en-US" dirty="0">
                <a:latin typeface="+mn-lt"/>
              </a:rPr>
              <a:t>Allowing for speculative motive, small fall interest rates may lead to large increase in money demand, reducing </a:t>
            </a:r>
            <a:r>
              <a:rPr lang="en-GB" altLang="en-US" i="1" dirty="0">
                <a:latin typeface="+mn-lt"/>
              </a:rPr>
              <a:t>V</a:t>
            </a:r>
          </a:p>
          <a:p>
            <a:pPr lvl="1">
              <a:lnSpc>
                <a:spcPct val="95000"/>
              </a:lnSpc>
              <a:spcBef>
                <a:spcPts val="500"/>
              </a:spcBef>
            </a:pPr>
            <a:endParaRPr lang="en-GB" altLang="en-US" sz="2400" i="1" dirty="0">
              <a:latin typeface="+mn-lt"/>
            </a:endParaRPr>
          </a:p>
          <a:p>
            <a:pPr>
              <a:lnSpc>
                <a:spcPct val="95000"/>
              </a:lnSpc>
              <a:spcBef>
                <a:spcPts val="500"/>
              </a:spcBef>
            </a:pPr>
            <a:r>
              <a:rPr lang="en-GB" altLang="en-US" sz="2700" dirty="0">
                <a:latin typeface="+mn-lt"/>
              </a:rPr>
              <a:t>How stable is the money demand function?</a:t>
            </a:r>
          </a:p>
          <a:p>
            <a:pPr lvl="1">
              <a:lnSpc>
                <a:spcPct val="95000"/>
              </a:lnSpc>
              <a:spcBef>
                <a:spcPts val="500"/>
              </a:spcBef>
            </a:pPr>
            <a:r>
              <a:rPr lang="en-GB" altLang="en-US" dirty="0">
                <a:latin typeface="+mn-lt"/>
              </a:rPr>
              <a:t>Following huge expansion of liquidity after 2008, banks changed behaviour</a:t>
            </a:r>
          </a:p>
          <a:p>
            <a:pPr lvl="1">
              <a:lnSpc>
                <a:spcPct val="95000"/>
              </a:lnSpc>
              <a:spcBef>
                <a:spcPts val="500"/>
              </a:spcBef>
            </a:pPr>
            <a:r>
              <a:rPr lang="en-GB" altLang="en-US" dirty="0">
                <a:latin typeface="+mn-lt"/>
              </a:rPr>
              <a:t>Demand for liquid reserves increased – again reducing </a:t>
            </a:r>
            <a:r>
              <a:rPr lang="en-GB" altLang="en-US" i="1" dirty="0">
                <a:latin typeface="+mn-lt"/>
              </a:rPr>
              <a:t>V</a:t>
            </a:r>
          </a:p>
          <a:p>
            <a:pPr lvl="1">
              <a:lnSpc>
                <a:spcPct val="95000"/>
              </a:lnSpc>
              <a:spcBef>
                <a:spcPts val="500"/>
              </a:spcBef>
            </a:pPr>
            <a:r>
              <a:rPr lang="en-GB" altLang="en-US" dirty="0">
                <a:latin typeface="+mn-lt"/>
              </a:rPr>
              <a:t>Hence CBs tend to try to control interest rates, not money supply directly</a:t>
            </a:r>
          </a:p>
          <a:p>
            <a:pPr lvl="1">
              <a:lnSpc>
                <a:spcPct val="95000"/>
              </a:lnSpc>
              <a:spcBef>
                <a:spcPts val="500"/>
              </a:spcBef>
            </a:pPr>
            <a:endParaRPr lang="en-GB" altLang="en-US" dirty="0">
              <a:latin typeface="+mn-lt"/>
            </a:endParaRPr>
          </a:p>
          <a:p>
            <a:pPr>
              <a:lnSpc>
                <a:spcPct val="95000"/>
              </a:lnSpc>
              <a:spcBef>
                <a:spcPts val="500"/>
              </a:spcBef>
            </a:pPr>
            <a:r>
              <a:rPr lang="en-GB" altLang="en-US" sz="2700" dirty="0">
                <a:latin typeface="+mn-lt"/>
              </a:rPr>
              <a:t>How interest-rate sensitive is spending?</a:t>
            </a:r>
          </a:p>
          <a:p>
            <a:pPr lvl="1">
              <a:lnSpc>
                <a:spcPct val="95000"/>
              </a:lnSpc>
              <a:spcBef>
                <a:spcPts val="500"/>
              </a:spcBef>
            </a:pPr>
            <a:r>
              <a:rPr lang="en-GB" altLang="en-US" dirty="0">
                <a:latin typeface="+mn-lt"/>
              </a:rPr>
              <a:t>On investments, perhaps not much; on housing, much more</a:t>
            </a:r>
          </a:p>
        </p:txBody>
      </p:sp>
    </p:spTree>
    <p:extLst>
      <p:ext uri="{BB962C8B-B14F-4D97-AF65-F5344CB8AC3E}">
        <p14:creationId xmlns:p14="http://schemas.microsoft.com/office/powerpoint/2010/main" val="125097601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4454">
                                            <p:txEl>
                                              <p:pRg st="0" end="0"/>
                                            </p:txEl>
                                          </p:spTgt>
                                        </p:tgtEl>
                                        <p:attrNameLst>
                                          <p:attrName>style.visibility</p:attrName>
                                        </p:attrNameLst>
                                      </p:cBhvr>
                                      <p:to>
                                        <p:strVal val="visible"/>
                                      </p:to>
                                    </p:set>
                                    <p:anim calcmode="lin" valueType="num">
                                      <p:cBhvr additive="base">
                                        <p:cTn id="7" dur="500"/>
                                        <p:tgtEl>
                                          <p:spTgt spid="10445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04454">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04454">
                                            <p:txEl>
                                              <p:pRg st="1" end="1"/>
                                            </p:txEl>
                                          </p:spTgt>
                                        </p:tgtEl>
                                        <p:attrNameLst>
                                          <p:attrName>style.visibility</p:attrName>
                                        </p:attrNameLst>
                                      </p:cBhvr>
                                      <p:to>
                                        <p:strVal val="visible"/>
                                      </p:to>
                                    </p:set>
                                    <p:anim calcmode="lin" valueType="num">
                                      <p:cBhvr additive="base">
                                        <p:cTn id="13" dur="500"/>
                                        <p:tgtEl>
                                          <p:spTgt spid="104454">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04454">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04454">
                                            <p:txEl>
                                              <p:pRg st="3" end="3"/>
                                            </p:txEl>
                                          </p:spTgt>
                                        </p:tgtEl>
                                        <p:attrNameLst>
                                          <p:attrName>style.visibility</p:attrName>
                                        </p:attrNameLst>
                                      </p:cBhvr>
                                      <p:to>
                                        <p:strVal val="visible"/>
                                      </p:to>
                                    </p:set>
                                    <p:anim calcmode="lin" valueType="num">
                                      <p:cBhvr additive="base">
                                        <p:cTn id="19" dur="500"/>
                                        <p:tgtEl>
                                          <p:spTgt spid="104454">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0445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04454">
                                            <p:txEl>
                                              <p:pRg st="4" end="4"/>
                                            </p:txEl>
                                          </p:spTgt>
                                        </p:tgtEl>
                                        <p:attrNameLst>
                                          <p:attrName>style.visibility</p:attrName>
                                        </p:attrNameLst>
                                      </p:cBhvr>
                                      <p:to>
                                        <p:strVal val="visible"/>
                                      </p:to>
                                    </p:set>
                                    <p:anim calcmode="lin" valueType="num">
                                      <p:cBhvr additive="base">
                                        <p:cTn id="25" dur="500"/>
                                        <p:tgtEl>
                                          <p:spTgt spid="104454">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10445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04454">
                                            <p:txEl>
                                              <p:pRg st="5" end="5"/>
                                            </p:txEl>
                                          </p:spTgt>
                                        </p:tgtEl>
                                        <p:attrNameLst>
                                          <p:attrName>style.visibility</p:attrName>
                                        </p:attrNameLst>
                                      </p:cBhvr>
                                      <p:to>
                                        <p:strVal val="visible"/>
                                      </p:to>
                                    </p:set>
                                    <p:anim calcmode="lin" valueType="num">
                                      <p:cBhvr additive="base">
                                        <p:cTn id="31" dur="500"/>
                                        <p:tgtEl>
                                          <p:spTgt spid="104454">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0445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04454">
                                            <p:txEl>
                                              <p:pRg st="6" end="6"/>
                                            </p:txEl>
                                          </p:spTgt>
                                        </p:tgtEl>
                                        <p:attrNameLst>
                                          <p:attrName>style.visibility</p:attrName>
                                        </p:attrNameLst>
                                      </p:cBhvr>
                                      <p:to>
                                        <p:strVal val="visible"/>
                                      </p:to>
                                    </p:set>
                                    <p:anim calcmode="lin" valueType="num">
                                      <p:cBhvr additive="base">
                                        <p:cTn id="37" dur="500"/>
                                        <p:tgtEl>
                                          <p:spTgt spid="104454">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04454">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104454">
                                            <p:txEl>
                                              <p:pRg st="8" end="8"/>
                                            </p:txEl>
                                          </p:spTgt>
                                        </p:tgtEl>
                                        <p:attrNameLst>
                                          <p:attrName>style.visibility</p:attrName>
                                        </p:attrNameLst>
                                      </p:cBhvr>
                                      <p:to>
                                        <p:strVal val="visible"/>
                                      </p:to>
                                    </p:set>
                                    <p:anim calcmode="lin" valueType="num">
                                      <p:cBhvr additive="base">
                                        <p:cTn id="43" dur="500"/>
                                        <p:tgtEl>
                                          <p:spTgt spid="104454">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104454">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04454">
                                            <p:txEl>
                                              <p:pRg st="9" end="9"/>
                                            </p:txEl>
                                          </p:spTgt>
                                        </p:tgtEl>
                                        <p:attrNameLst>
                                          <p:attrName>style.visibility</p:attrName>
                                        </p:attrNameLst>
                                      </p:cBhvr>
                                      <p:to>
                                        <p:strVal val="visible"/>
                                      </p:to>
                                    </p:set>
                                    <p:anim calcmode="lin" valueType="num">
                                      <p:cBhvr additive="base">
                                        <p:cTn id="49" dur="500"/>
                                        <p:tgtEl>
                                          <p:spTgt spid="104454">
                                            <p:txEl>
                                              <p:pRg st="9" end="9"/>
                                            </p:txEl>
                                          </p:spTgt>
                                        </p:tgtEl>
                                        <p:attrNameLst>
                                          <p:attrName>ppt_y</p:attrName>
                                        </p:attrNameLst>
                                      </p:cBhvr>
                                      <p:tavLst>
                                        <p:tav tm="0">
                                          <p:val>
                                            <p:strVal val="#ppt_y+#ppt_h*1.125000"/>
                                          </p:val>
                                        </p:tav>
                                        <p:tav tm="100000">
                                          <p:val>
                                            <p:strVal val="#ppt_y"/>
                                          </p:val>
                                        </p:tav>
                                      </p:tavLst>
                                    </p:anim>
                                    <p:animEffect transition="in" filter="wipe(up)">
                                      <p:cBhvr>
                                        <p:cTn id="50" dur="500"/>
                                        <p:tgtEl>
                                          <p:spTgt spid="10445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build="p" bldLvl="3"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F5B1-9F1E-5104-9F90-DF30FD068F3A}"/>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969F40FC-CFA1-C766-8922-E31B328762D5}"/>
              </a:ext>
            </a:extLst>
          </p:cNvPr>
          <p:cNvSpPr>
            <a:spLocks noGrp="1"/>
          </p:cNvSpPr>
          <p:nvPr>
            <p:ph sz="quarter" idx="1"/>
          </p:nvPr>
        </p:nvSpPr>
        <p:spPr>
          <a:xfrm>
            <a:off x="838200" y="1362295"/>
            <a:ext cx="10515600" cy="4621628"/>
          </a:xfrm>
        </p:spPr>
        <p:txBody>
          <a:bodyPr>
            <a:normAutofit lnSpcReduction="10000"/>
          </a:bodyPr>
          <a:lstStyle/>
          <a:p>
            <a:r>
              <a:rPr lang="en-GB" sz="2800" dirty="0">
                <a:latin typeface="+mn-lt"/>
              </a:rPr>
              <a:t>‘Money’ fulfils 4 functions</a:t>
            </a:r>
          </a:p>
          <a:p>
            <a:r>
              <a:rPr lang="en-GB" sz="2800" dirty="0">
                <a:latin typeface="+mn-lt"/>
              </a:rPr>
              <a:t>Banks are very important institutions in the financial system and takes part in the process of financial intermediation</a:t>
            </a:r>
          </a:p>
          <a:p>
            <a:r>
              <a:rPr lang="en-GB" sz="2800" dirty="0">
                <a:latin typeface="+mn-lt"/>
              </a:rPr>
              <a:t>Balance sheet of banks consists of assets, liabilities, capital and cash reserves</a:t>
            </a:r>
          </a:p>
          <a:p>
            <a:r>
              <a:rPr lang="en-GB" sz="2800" dirty="0">
                <a:latin typeface="+mn-lt"/>
              </a:rPr>
              <a:t>The central bank oversees banks and implements monetary policy to manage the economy</a:t>
            </a:r>
          </a:p>
          <a:p>
            <a:r>
              <a:rPr lang="en-GB" sz="2800" dirty="0">
                <a:latin typeface="+mn-lt"/>
              </a:rPr>
              <a:t>Monetary policy works by changing money supply, credit availability and interest rates</a:t>
            </a:r>
          </a:p>
          <a:p>
            <a:r>
              <a:rPr lang="en-GB" sz="2800" dirty="0">
                <a:latin typeface="+mn-lt"/>
              </a:rPr>
              <a:t>The quantity theory of money specifies a relationship between money supply, prices and output</a:t>
            </a:r>
          </a:p>
          <a:p>
            <a:endParaRPr lang="en-GB" sz="2800" dirty="0"/>
          </a:p>
          <a:p>
            <a:endParaRPr lang="en-GB" sz="2800" dirty="0"/>
          </a:p>
          <a:p>
            <a:endParaRPr lang="en-GB" sz="2800" dirty="0"/>
          </a:p>
          <a:p>
            <a:pPr lvl="1"/>
            <a:endParaRPr lang="en-GB" sz="2400" dirty="0"/>
          </a:p>
          <a:p>
            <a:endParaRPr lang="en-GB" sz="2800" dirty="0"/>
          </a:p>
          <a:p>
            <a:pPr lvl="2"/>
            <a:endParaRPr lang="en-GB" dirty="0"/>
          </a:p>
        </p:txBody>
      </p:sp>
    </p:spTree>
    <p:extLst>
      <p:ext uri="{BB962C8B-B14F-4D97-AF65-F5344CB8AC3E}">
        <p14:creationId xmlns:p14="http://schemas.microsoft.com/office/powerpoint/2010/main" val="933874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BF2F7-01BB-843C-658B-53815B97768B}"/>
              </a:ext>
            </a:extLst>
          </p:cNvPr>
          <p:cNvSpPr>
            <a:spLocks noGrp="1"/>
          </p:cNvSpPr>
          <p:nvPr>
            <p:ph type="title"/>
          </p:nvPr>
        </p:nvSpPr>
        <p:spPr/>
        <p:txBody>
          <a:bodyPr>
            <a:normAutofit fontScale="90000"/>
          </a:bodyPr>
          <a:lstStyle/>
          <a:p>
            <a:r>
              <a:rPr lang="en-MY" dirty="0"/>
              <a:t>Additional materials for reading (will not be covered in class)</a:t>
            </a:r>
          </a:p>
        </p:txBody>
      </p:sp>
      <p:sp>
        <p:nvSpPr>
          <p:cNvPr id="3" name="Content Placeholder 2">
            <a:extLst>
              <a:ext uri="{FF2B5EF4-FFF2-40B4-BE49-F238E27FC236}">
                <a16:creationId xmlns:a16="http://schemas.microsoft.com/office/drawing/2014/main" id="{8F7851CF-2D83-2B8D-5291-8FC892F55254}"/>
              </a:ext>
            </a:extLst>
          </p:cNvPr>
          <p:cNvSpPr>
            <a:spLocks noGrp="1"/>
          </p:cNvSpPr>
          <p:nvPr>
            <p:ph idx="1"/>
          </p:nvPr>
        </p:nvSpPr>
        <p:spPr/>
        <p:txBody>
          <a:bodyPr/>
          <a:lstStyle/>
          <a:p>
            <a:r>
              <a:rPr lang="en-MY" dirty="0">
                <a:latin typeface="+mn-lt"/>
              </a:rPr>
              <a:t>Examples of deposits and types of loans</a:t>
            </a:r>
          </a:p>
          <a:p>
            <a:r>
              <a:rPr lang="en-MY" dirty="0">
                <a:latin typeface="+mn-lt"/>
              </a:rPr>
              <a:t>Primary and secondary markets</a:t>
            </a:r>
          </a:p>
          <a:p>
            <a:r>
              <a:rPr lang="en-MY" dirty="0">
                <a:latin typeface="+mn-lt"/>
              </a:rPr>
              <a:t>Securitisation</a:t>
            </a:r>
          </a:p>
          <a:p>
            <a:r>
              <a:rPr lang="en-MY" dirty="0">
                <a:latin typeface="+mn-lt"/>
              </a:rPr>
              <a:t>Interest rate trends</a:t>
            </a:r>
          </a:p>
        </p:txBody>
      </p:sp>
    </p:spTree>
    <p:extLst>
      <p:ext uri="{BB962C8B-B14F-4D97-AF65-F5344CB8AC3E}">
        <p14:creationId xmlns:p14="http://schemas.microsoft.com/office/powerpoint/2010/main" val="15214305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53F34BF-9859-4054-3B9C-4E127DCAECC7}"/>
            </a:ext>
          </a:extLst>
        </p:cNvPr>
        <p:cNvGrpSpPr/>
        <p:nvPr/>
      </p:nvGrpSpPr>
      <p:grpSpPr>
        <a:xfrm>
          <a:off x="0" y="0"/>
          <a:ext cx="0" cy="0"/>
          <a:chOff x="0" y="0"/>
          <a:chExt cx="0" cy="0"/>
        </a:xfrm>
      </p:grpSpPr>
      <p:sp>
        <p:nvSpPr>
          <p:cNvPr id="396290" name="Rectangle 2">
            <a:extLst>
              <a:ext uri="{FF2B5EF4-FFF2-40B4-BE49-F238E27FC236}">
                <a16:creationId xmlns:a16="http://schemas.microsoft.com/office/drawing/2014/main" id="{0777FA8A-7CA3-2B86-D1A1-FB6D3684A05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16DD09D7-EDD8-54D2-1D89-2102BFE8C3E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4" name="Rectangle 6">
            <a:extLst>
              <a:ext uri="{FF2B5EF4-FFF2-40B4-BE49-F238E27FC236}">
                <a16:creationId xmlns:a16="http://schemas.microsoft.com/office/drawing/2014/main" id="{9E262A92-9580-8F03-9189-97DCDBFDBFD1}"/>
              </a:ext>
            </a:extLst>
          </p:cNvPr>
          <p:cNvSpPr>
            <a:spLocks noGrp="1"/>
          </p:cNvSpPr>
          <p:nvPr>
            <p:ph type="title"/>
          </p:nvPr>
        </p:nvSpPr>
        <p:spPr/>
        <p:txBody>
          <a:bodyPr/>
          <a:lstStyle/>
          <a:p>
            <a:r>
              <a:rPr lang="en-GB" b="1" dirty="0"/>
              <a:t>Sight deposits</a:t>
            </a:r>
            <a:endParaRPr lang="en-GB" altLang="en-US" dirty="0"/>
          </a:p>
        </p:txBody>
      </p:sp>
      <p:sp>
        <p:nvSpPr>
          <p:cNvPr id="396295" name="Rectangle 7">
            <a:extLst>
              <a:ext uri="{FF2B5EF4-FFF2-40B4-BE49-F238E27FC236}">
                <a16:creationId xmlns:a16="http://schemas.microsoft.com/office/drawing/2014/main" id="{0552B43D-D0D3-4595-DCAE-E32914F13020}"/>
              </a:ext>
            </a:extLst>
          </p:cNvPr>
          <p:cNvSpPr>
            <a:spLocks noGrp="1"/>
          </p:cNvSpPr>
          <p:nvPr>
            <p:ph type="body" idx="1"/>
          </p:nvPr>
        </p:nvSpPr>
        <p:spPr>
          <a:xfrm>
            <a:off x="402336" y="1527048"/>
            <a:ext cx="11338560" cy="4873752"/>
          </a:xfrm>
        </p:spPr>
        <p:txBody>
          <a:bodyPr/>
          <a:lstStyle/>
          <a:p>
            <a:r>
              <a:rPr lang="en-GB" dirty="0">
                <a:latin typeface="+mn-lt"/>
              </a:rPr>
              <a:t>They can be withdrawn on demand by the depositor without penalty. In the past, sight accounts did not pay interest. Today, some do. </a:t>
            </a:r>
          </a:p>
          <a:p>
            <a:endParaRPr lang="en-GB" dirty="0">
              <a:latin typeface="+mn-lt"/>
            </a:endParaRPr>
          </a:p>
          <a:p>
            <a:r>
              <a:rPr lang="en-GB" dirty="0">
                <a:latin typeface="+mn-lt"/>
              </a:rPr>
              <a:t>The most familiar form of sight deposits are </a:t>
            </a:r>
            <a:r>
              <a:rPr lang="en-GB" b="1" dirty="0">
                <a:latin typeface="+mn-lt"/>
              </a:rPr>
              <a:t>current accounts </a:t>
            </a:r>
            <a:r>
              <a:rPr lang="en-GB" dirty="0">
                <a:latin typeface="+mn-lt"/>
              </a:rPr>
              <a:t>at banks. Depositors are normally issued with cheque books and/or debit cards </a:t>
            </a:r>
          </a:p>
          <a:p>
            <a:endParaRPr lang="en-GB" dirty="0">
              <a:latin typeface="+mn-lt"/>
            </a:endParaRPr>
          </a:p>
          <a:p>
            <a:r>
              <a:rPr lang="en-GB" dirty="0">
                <a:latin typeface="+mn-lt"/>
              </a:rPr>
              <a:t>In the case of debit cards, the person’s account is electronically debited when the purchase is made. </a:t>
            </a:r>
          </a:p>
          <a:p>
            <a:endParaRPr lang="en-GB" dirty="0">
              <a:latin typeface="+mn-lt"/>
            </a:endParaRPr>
          </a:p>
          <a:p>
            <a:r>
              <a:rPr lang="en-GB" dirty="0">
                <a:latin typeface="+mn-lt"/>
              </a:rPr>
              <a:t>Customers can draw on their account and make payments to other people in excess of the amount of money they have deposited. </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91794330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6295">
                                            <p:txEl>
                                              <p:pRg st="0" end="0"/>
                                            </p:txEl>
                                          </p:spTgt>
                                        </p:tgtEl>
                                        <p:attrNameLst>
                                          <p:attrName>style.visibility</p:attrName>
                                        </p:attrNameLst>
                                      </p:cBhvr>
                                      <p:to>
                                        <p:strVal val="visible"/>
                                      </p:to>
                                    </p:set>
                                    <p:anim calcmode="lin" valueType="num">
                                      <p:cBhvr additive="base">
                                        <p:cTn id="7" dur="500"/>
                                        <p:tgtEl>
                                          <p:spTgt spid="39629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629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6295">
                                            <p:txEl>
                                              <p:pRg st="2" end="2"/>
                                            </p:txEl>
                                          </p:spTgt>
                                        </p:tgtEl>
                                        <p:attrNameLst>
                                          <p:attrName>style.visibility</p:attrName>
                                        </p:attrNameLst>
                                      </p:cBhvr>
                                      <p:to>
                                        <p:strVal val="visible"/>
                                      </p:to>
                                    </p:set>
                                    <p:anim calcmode="lin" valueType="num">
                                      <p:cBhvr additive="base">
                                        <p:cTn id="13" dur="500"/>
                                        <p:tgtEl>
                                          <p:spTgt spid="39629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629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6295">
                                            <p:txEl>
                                              <p:pRg st="4" end="4"/>
                                            </p:txEl>
                                          </p:spTgt>
                                        </p:tgtEl>
                                        <p:attrNameLst>
                                          <p:attrName>style.visibility</p:attrName>
                                        </p:attrNameLst>
                                      </p:cBhvr>
                                      <p:to>
                                        <p:strVal val="visible"/>
                                      </p:to>
                                    </p:set>
                                    <p:anim calcmode="lin" valueType="num">
                                      <p:cBhvr additive="base">
                                        <p:cTn id="19" dur="500"/>
                                        <p:tgtEl>
                                          <p:spTgt spid="396295">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629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6295">
                                            <p:txEl>
                                              <p:pRg st="6" end="6"/>
                                            </p:txEl>
                                          </p:spTgt>
                                        </p:tgtEl>
                                        <p:attrNameLst>
                                          <p:attrName>style.visibility</p:attrName>
                                        </p:attrNameLst>
                                      </p:cBhvr>
                                      <p:to>
                                        <p:strVal val="visible"/>
                                      </p:to>
                                    </p:set>
                                    <p:anim calcmode="lin" valueType="num">
                                      <p:cBhvr additive="base">
                                        <p:cTn id="25" dur="500"/>
                                        <p:tgtEl>
                                          <p:spTgt spid="396295">
                                            <p:txEl>
                                              <p:pRg st="6" end="6"/>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62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5" grpId="0" build="p" bldLvl="2"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90B9F2E-7B2C-4751-0605-F91EBD9D3502}"/>
            </a:ext>
          </a:extLst>
        </p:cNvPr>
        <p:cNvGrpSpPr/>
        <p:nvPr/>
      </p:nvGrpSpPr>
      <p:grpSpPr>
        <a:xfrm>
          <a:off x="0" y="0"/>
          <a:ext cx="0" cy="0"/>
          <a:chOff x="0" y="0"/>
          <a:chExt cx="0" cy="0"/>
        </a:xfrm>
      </p:grpSpPr>
      <p:sp>
        <p:nvSpPr>
          <p:cNvPr id="396290" name="Rectangle 2">
            <a:extLst>
              <a:ext uri="{FF2B5EF4-FFF2-40B4-BE49-F238E27FC236}">
                <a16:creationId xmlns:a16="http://schemas.microsoft.com/office/drawing/2014/main" id="{2CC2F6AC-0C46-2475-9C0D-73225DFFD2E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800CD794-DFEE-CD2C-B7D0-6F698467A93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4" name="Rectangle 6">
            <a:extLst>
              <a:ext uri="{FF2B5EF4-FFF2-40B4-BE49-F238E27FC236}">
                <a16:creationId xmlns:a16="http://schemas.microsoft.com/office/drawing/2014/main" id="{B6E86494-384F-19C5-2C71-F314F2959079}"/>
              </a:ext>
            </a:extLst>
          </p:cNvPr>
          <p:cNvSpPr>
            <a:spLocks noGrp="1"/>
          </p:cNvSpPr>
          <p:nvPr>
            <p:ph type="title"/>
          </p:nvPr>
        </p:nvSpPr>
        <p:spPr/>
        <p:txBody>
          <a:bodyPr/>
          <a:lstStyle/>
          <a:p>
            <a:r>
              <a:rPr lang="en-GB" b="1" dirty="0"/>
              <a:t>Time deposits</a:t>
            </a:r>
            <a:endParaRPr lang="en-GB" altLang="en-US" dirty="0"/>
          </a:p>
        </p:txBody>
      </p:sp>
      <p:sp>
        <p:nvSpPr>
          <p:cNvPr id="396295" name="Rectangle 7">
            <a:extLst>
              <a:ext uri="{FF2B5EF4-FFF2-40B4-BE49-F238E27FC236}">
                <a16:creationId xmlns:a16="http://schemas.microsoft.com/office/drawing/2014/main" id="{FCB18E26-F87A-66EB-962E-D61DDD773BF0}"/>
              </a:ext>
            </a:extLst>
          </p:cNvPr>
          <p:cNvSpPr>
            <a:spLocks noGrp="1"/>
          </p:cNvSpPr>
          <p:nvPr>
            <p:ph type="body" idx="1"/>
          </p:nvPr>
        </p:nvSpPr>
        <p:spPr>
          <a:xfrm>
            <a:off x="402336" y="1527048"/>
            <a:ext cx="11338560" cy="4873752"/>
          </a:xfrm>
        </p:spPr>
        <p:txBody>
          <a:bodyPr>
            <a:normAutofit/>
          </a:bodyPr>
          <a:lstStyle/>
          <a:p>
            <a:r>
              <a:rPr lang="en-GB" dirty="0">
                <a:latin typeface="+mn-lt"/>
              </a:rPr>
              <a:t>They require </a:t>
            </a:r>
            <a:r>
              <a:rPr lang="en-GB" b="1" dirty="0">
                <a:latin typeface="+mn-lt"/>
              </a:rPr>
              <a:t>notice of withdrawal</a:t>
            </a:r>
            <a:r>
              <a:rPr lang="en-GB" dirty="0">
                <a:latin typeface="+mn-lt"/>
              </a:rPr>
              <a:t>, but they normally pay a higher rate of interest than sight accounts. </a:t>
            </a:r>
          </a:p>
          <a:p>
            <a:r>
              <a:rPr lang="en-GB" dirty="0">
                <a:latin typeface="+mn-lt"/>
              </a:rPr>
              <a:t>With some types of account, a depositor can withdraw a cer­tain amount of money on demand, but will have to pay a penalty of so many days’ interest. </a:t>
            </a:r>
          </a:p>
          <a:p>
            <a:r>
              <a:rPr lang="en-GB" dirty="0">
                <a:latin typeface="+mn-lt"/>
              </a:rPr>
              <a:t>Time accounts do not have debit cards, direct debits, bank transfer or cheque books. The most famil­iar forms of time deposits are the </a:t>
            </a:r>
            <a:r>
              <a:rPr lang="en-GB" b="1" dirty="0">
                <a:latin typeface="+mn-lt"/>
              </a:rPr>
              <a:t>deposit and savings accounts </a:t>
            </a:r>
            <a:r>
              <a:rPr lang="en-GB" dirty="0">
                <a:latin typeface="+mn-lt"/>
              </a:rPr>
              <a:t>in banks and the various savings accounts in build­ing societies. No overdraft facilities exist with time deposits. </a:t>
            </a:r>
          </a:p>
          <a:p>
            <a:r>
              <a:rPr lang="en-GB" dirty="0">
                <a:latin typeface="+mn-lt"/>
              </a:rPr>
              <a:t>A substantial proportion of time deposits are from the </a:t>
            </a:r>
            <a:r>
              <a:rPr lang="en-GB" i="1" dirty="0">
                <a:latin typeface="+mn-lt"/>
              </a:rPr>
              <a:t>banking sector</a:t>
            </a:r>
            <a:r>
              <a:rPr lang="en-GB" dirty="0">
                <a:latin typeface="+mn-lt"/>
              </a:rPr>
              <a:t>: i.e. other banks and other financial institu­tions. </a:t>
            </a:r>
            <a:r>
              <a:rPr lang="en-GB" b="1" dirty="0">
                <a:latin typeface="+mn-lt"/>
              </a:rPr>
              <a:t>Inter­bank lending </a:t>
            </a:r>
            <a:r>
              <a:rPr lang="en-GB" dirty="0">
                <a:latin typeface="+mn-lt"/>
              </a:rPr>
              <a:t>grew over the years. A large proportion of overseas deposits are from foreign banks. </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494015180"/>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849E6FB-DBCF-E9D0-E79B-DC06EC3F220C}"/>
            </a:ext>
          </a:extLst>
        </p:cNvPr>
        <p:cNvGrpSpPr/>
        <p:nvPr/>
      </p:nvGrpSpPr>
      <p:grpSpPr>
        <a:xfrm>
          <a:off x="0" y="0"/>
          <a:ext cx="0" cy="0"/>
          <a:chOff x="0" y="0"/>
          <a:chExt cx="0" cy="0"/>
        </a:xfrm>
      </p:grpSpPr>
      <p:sp>
        <p:nvSpPr>
          <p:cNvPr id="396290" name="Rectangle 2">
            <a:extLst>
              <a:ext uri="{FF2B5EF4-FFF2-40B4-BE49-F238E27FC236}">
                <a16:creationId xmlns:a16="http://schemas.microsoft.com/office/drawing/2014/main" id="{DD8BA8B4-47C4-C1BA-A468-999F4FD549AC}"/>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5906574A-C86B-9C1F-59E6-51155AA0FF9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4" name="Rectangle 6">
            <a:extLst>
              <a:ext uri="{FF2B5EF4-FFF2-40B4-BE49-F238E27FC236}">
                <a16:creationId xmlns:a16="http://schemas.microsoft.com/office/drawing/2014/main" id="{0E5B911F-17A8-A2D8-C4B6-76F22829DA04}"/>
              </a:ext>
            </a:extLst>
          </p:cNvPr>
          <p:cNvSpPr>
            <a:spLocks noGrp="1"/>
          </p:cNvSpPr>
          <p:nvPr>
            <p:ph type="title"/>
          </p:nvPr>
        </p:nvSpPr>
        <p:spPr/>
        <p:txBody>
          <a:bodyPr/>
          <a:lstStyle/>
          <a:p>
            <a:r>
              <a:rPr lang="en-GB" sz="4000" dirty="0">
                <a:effectLst/>
                <a:latin typeface="StoneSerifITCPro"/>
              </a:rPr>
              <a:t>Certificates of deposit</a:t>
            </a:r>
            <a:endParaRPr lang="en-GB" altLang="en-US" dirty="0"/>
          </a:p>
        </p:txBody>
      </p:sp>
      <p:sp>
        <p:nvSpPr>
          <p:cNvPr id="396295" name="Rectangle 7">
            <a:extLst>
              <a:ext uri="{FF2B5EF4-FFF2-40B4-BE49-F238E27FC236}">
                <a16:creationId xmlns:a16="http://schemas.microsoft.com/office/drawing/2014/main" id="{F6CD5686-54A8-8355-F64F-B2F9FDFDD9DB}"/>
              </a:ext>
            </a:extLst>
          </p:cNvPr>
          <p:cNvSpPr>
            <a:spLocks noGrp="1"/>
          </p:cNvSpPr>
          <p:nvPr>
            <p:ph type="body" idx="1"/>
          </p:nvPr>
        </p:nvSpPr>
        <p:spPr>
          <a:xfrm>
            <a:off x="402336" y="1527048"/>
            <a:ext cx="11338560" cy="4873752"/>
          </a:xfrm>
        </p:spPr>
        <p:txBody>
          <a:bodyPr>
            <a:normAutofit/>
          </a:bodyPr>
          <a:lstStyle/>
          <a:p>
            <a:r>
              <a:rPr lang="en-GB" sz="2200" dirty="0">
                <a:latin typeface="+mn-lt"/>
              </a:rPr>
              <a:t>They</a:t>
            </a:r>
            <a:r>
              <a:rPr lang="en-GB" sz="2200" i="1" dirty="0">
                <a:latin typeface="+mn-lt"/>
              </a:rPr>
              <a:t> </a:t>
            </a:r>
            <a:r>
              <a:rPr lang="en-GB" sz="2200" b="0" dirty="0">
                <a:effectLst/>
                <a:latin typeface="+mn-lt"/>
              </a:rPr>
              <a:t>are </a:t>
            </a:r>
            <a:r>
              <a:rPr lang="en-GB" sz="2200" b="1" dirty="0">
                <a:effectLst/>
                <a:latin typeface="+mn-lt"/>
              </a:rPr>
              <a:t>certifi­cates </a:t>
            </a:r>
            <a:r>
              <a:rPr lang="en-GB" sz="2200" b="0" dirty="0">
                <a:effectLst/>
                <a:latin typeface="+mn-lt"/>
              </a:rPr>
              <a:t>issued by banks to customers (usually firms) for large deposits of a fixed term (e.g. £100 000 for 18 months).</a:t>
            </a:r>
          </a:p>
          <a:p>
            <a:r>
              <a:rPr lang="en-GB" sz="2200" b="0" dirty="0">
                <a:effectLst/>
                <a:latin typeface="+mn-lt"/>
              </a:rPr>
              <a:t>They can be </a:t>
            </a:r>
            <a:r>
              <a:rPr lang="en-GB" sz="2200" b="1" dirty="0">
                <a:effectLst/>
                <a:latin typeface="+mn-lt"/>
              </a:rPr>
              <a:t>sold by one customer to another</a:t>
            </a:r>
            <a:r>
              <a:rPr lang="en-GB" sz="2200" b="0" dirty="0">
                <a:effectLst/>
                <a:latin typeface="+mn-lt"/>
              </a:rPr>
              <a:t>, and thus provide a means whereby the holders can get money quickly if they need it without the </a:t>
            </a:r>
            <a:r>
              <a:rPr lang="en-GB" sz="2200" b="0" i="1" dirty="0">
                <a:effectLst/>
                <a:latin typeface="+mn-lt"/>
              </a:rPr>
              <a:t>banks </a:t>
            </a:r>
            <a:r>
              <a:rPr lang="en-GB" sz="2200" b="0" dirty="0">
                <a:effectLst/>
                <a:latin typeface="+mn-lt"/>
              </a:rPr>
              <a:t>that have issued the CD having to supply the money. (This makes them relatively ‘liquid’ to the depositor but ‘illiquid’ to the bank: we examine this below.) </a:t>
            </a:r>
          </a:p>
          <a:p>
            <a:r>
              <a:rPr lang="en-GB" sz="2200" b="0" dirty="0">
                <a:effectLst/>
                <a:latin typeface="+mn-lt"/>
              </a:rPr>
              <a:t>The use of CDs has grown rapidly in recent years. Their use by firms has meant that, at a wholesale level, sight accounts have become </a:t>
            </a:r>
            <a:r>
              <a:rPr lang="en-GB" sz="2200" b="0" i="1" dirty="0">
                <a:effectLst/>
                <a:latin typeface="+mn-lt"/>
              </a:rPr>
              <a:t>less </a:t>
            </a:r>
            <a:r>
              <a:rPr lang="en-GB" sz="2200" b="0" dirty="0">
                <a:effectLst/>
                <a:latin typeface="+mn-lt"/>
              </a:rPr>
              <a:t>popular. </a:t>
            </a:r>
            <a:endParaRPr lang="en-GB" sz="2200" dirty="0">
              <a:latin typeface="+mn-lt"/>
            </a:endParaRP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082793257"/>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3633D77-9AE3-30D5-E790-E2AA4BF0E809}"/>
            </a:ext>
          </a:extLst>
        </p:cNvPr>
        <p:cNvGrpSpPr/>
        <p:nvPr/>
      </p:nvGrpSpPr>
      <p:grpSpPr>
        <a:xfrm>
          <a:off x="0" y="0"/>
          <a:ext cx="0" cy="0"/>
          <a:chOff x="0" y="0"/>
          <a:chExt cx="0" cy="0"/>
        </a:xfrm>
      </p:grpSpPr>
      <p:sp>
        <p:nvSpPr>
          <p:cNvPr id="396290" name="Rectangle 2">
            <a:extLst>
              <a:ext uri="{FF2B5EF4-FFF2-40B4-BE49-F238E27FC236}">
                <a16:creationId xmlns:a16="http://schemas.microsoft.com/office/drawing/2014/main" id="{934ADDBE-6330-E03D-881A-1F5EE3AA323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6645D33B-94B4-CB65-502A-12A70BBC9EB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4" name="Rectangle 6">
            <a:extLst>
              <a:ext uri="{FF2B5EF4-FFF2-40B4-BE49-F238E27FC236}">
                <a16:creationId xmlns:a16="http://schemas.microsoft.com/office/drawing/2014/main" id="{21D0F839-80C7-01C7-7B83-44D733DB743D}"/>
              </a:ext>
            </a:extLst>
          </p:cNvPr>
          <p:cNvSpPr>
            <a:spLocks noGrp="1"/>
          </p:cNvSpPr>
          <p:nvPr>
            <p:ph type="title"/>
          </p:nvPr>
        </p:nvSpPr>
        <p:spPr/>
        <p:txBody>
          <a:bodyPr/>
          <a:lstStyle/>
          <a:p>
            <a:r>
              <a:rPr lang="en-GB" sz="4000" dirty="0">
                <a:latin typeface="StoneSerifITCPro"/>
              </a:rPr>
              <a:t>Sale and repurchase agreements (‘repos’)</a:t>
            </a:r>
            <a:endParaRPr lang="en-GB" altLang="en-US" dirty="0"/>
          </a:p>
        </p:txBody>
      </p:sp>
      <p:sp>
        <p:nvSpPr>
          <p:cNvPr id="396295" name="Rectangle 7">
            <a:extLst>
              <a:ext uri="{FF2B5EF4-FFF2-40B4-BE49-F238E27FC236}">
                <a16:creationId xmlns:a16="http://schemas.microsoft.com/office/drawing/2014/main" id="{3F9C108B-0E8C-1EC6-3498-81DDAE41F70A}"/>
              </a:ext>
            </a:extLst>
          </p:cNvPr>
          <p:cNvSpPr>
            <a:spLocks noGrp="1"/>
          </p:cNvSpPr>
          <p:nvPr>
            <p:ph type="body" idx="1"/>
          </p:nvPr>
        </p:nvSpPr>
        <p:spPr>
          <a:xfrm>
            <a:off x="402336" y="1527048"/>
            <a:ext cx="11338560" cy="4873752"/>
          </a:xfrm>
        </p:spPr>
        <p:txBody>
          <a:bodyPr>
            <a:normAutofit/>
          </a:bodyPr>
          <a:lstStyle/>
          <a:p>
            <a:r>
              <a:rPr lang="en-GB" sz="2200" dirty="0">
                <a:latin typeface="+mn-lt"/>
              </a:rPr>
              <a:t>If banks have a temporary shortage of funds, they can sell some of their financial assets to other banks or to the central bank – the Bank of England in the UK and the European Central Bank in the eurozone, and later repurchase them on some agreed date, typically a fortnight later. </a:t>
            </a:r>
          </a:p>
          <a:p>
            <a:r>
              <a:rPr lang="en-GB" sz="2200" dirty="0">
                <a:latin typeface="+mn-lt"/>
              </a:rPr>
              <a:t>These sale and repurchase agreements (repos) are, in effect, a form of loan, the bank borrowing for a period of time using some of its financial assets as the security for the loan. </a:t>
            </a:r>
          </a:p>
          <a:p>
            <a:r>
              <a:rPr lang="en-GB" sz="2200" dirty="0">
                <a:latin typeface="+mn-lt"/>
              </a:rPr>
              <a:t>One of the major assets to use in this way are </a:t>
            </a:r>
            <a:r>
              <a:rPr lang="en-GB" sz="2200" b="1" dirty="0">
                <a:latin typeface="+mn-lt"/>
              </a:rPr>
              <a:t>government bonds</a:t>
            </a:r>
            <a:r>
              <a:rPr lang="en-GB" sz="2200" dirty="0">
                <a:latin typeface="+mn-lt"/>
              </a:rPr>
              <a:t>, nor­mally called ‘</a:t>
            </a:r>
            <a:r>
              <a:rPr lang="en-GB" sz="2200" dirty="0" err="1">
                <a:latin typeface="+mn-lt"/>
              </a:rPr>
              <a:t>gilt­edged</a:t>
            </a:r>
            <a:r>
              <a:rPr lang="en-GB" sz="2200" dirty="0">
                <a:latin typeface="+mn-lt"/>
              </a:rPr>
              <a:t> securities’ or simply ‘gilts’.</a:t>
            </a:r>
          </a:p>
          <a:p>
            <a:r>
              <a:rPr lang="en-GB" sz="2200" dirty="0">
                <a:latin typeface="+mn-lt"/>
              </a:rPr>
              <a:t>Sale and repurchase agreements involving gilts are known as </a:t>
            </a:r>
            <a:r>
              <a:rPr lang="en-GB" sz="2200" b="1" dirty="0">
                <a:latin typeface="+mn-lt"/>
              </a:rPr>
              <a:t>gilt repos</a:t>
            </a:r>
            <a:r>
              <a:rPr lang="en-GB" sz="2200" dirty="0">
                <a:latin typeface="+mn-lt"/>
              </a:rPr>
              <a:t>. Gilt repos play a vital role in the opera­tion of monetary policy.</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012957314"/>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69BFCE9-941A-9DC0-E01C-E2926801003D}"/>
            </a:ext>
          </a:extLst>
        </p:cNvPr>
        <p:cNvGrpSpPr/>
        <p:nvPr/>
      </p:nvGrpSpPr>
      <p:grpSpPr>
        <a:xfrm>
          <a:off x="0" y="0"/>
          <a:ext cx="0" cy="0"/>
          <a:chOff x="0" y="0"/>
          <a:chExt cx="0" cy="0"/>
        </a:xfrm>
      </p:grpSpPr>
      <p:sp>
        <p:nvSpPr>
          <p:cNvPr id="396290" name="Rectangle 2">
            <a:extLst>
              <a:ext uri="{FF2B5EF4-FFF2-40B4-BE49-F238E27FC236}">
                <a16:creationId xmlns:a16="http://schemas.microsoft.com/office/drawing/2014/main" id="{BC964D86-88B3-F1B6-F9F4-E3E9045A979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5C46D507-8D3C-7DFE-08F3-68A83F26FFC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4" name="Rectangle 6">
            <a:extLst>
              <a:ext uri="{FF2B5EF4-FFF2-40B4-BE49-F238E27FC236}">
                <a16:creationId xmlns:a16="http://schemas.microsoft.com/office/drawing/2014/main" id="{89D9D625-20E7-0833-0BED-90954743520A}"/>
              </a:ext>
            </a:extLst>
          </p:cNvPr>
          <p:cNvSpPr>
            <a:spLocks noGrp="1"/>
          </p:cNvSpPr>
          <p:nvPr>
            <p:ph type="title"/>
          </p:nvPr>
        </p:nvSpPr>
        <p:spPr/>
        <p:txBody>
          <a:bodyPr/>
          <a:lstStyle/>
          <a:p>
            <a:r>
              <a:rPr lang="en-GB" sz="4000" dirty="0">
                <a:effectLst/>
                <a:latin typeface="StoneSerifITCPro"/>
              </a:rPr>
              <a:t>Capital and other funds</a:t>
            </a:r>
            <a:endParaRPr lang="en-GB" altLang="en-US" dirty="0"/>
          </a:p>
        </p:txBody>
      </p:sp>
      <p:sp>
        <p:nvSpPr>
          <p:cNvPr id="396295" name="Rectangle 7">
            <a:extLst>
              <a:ext uri="{FF2B5EF4-FFF2-40B4-BE49-F238E27FC236}">
                <a16:creationId xmlns:a16="http://schemas.microsoft.com/office/drawing/2014/main" id="{7E0C0780-C9C3-5900-9745-B1B25DCBE0CB}"/>
              </a:ext>
            </a:extLst>
          </p:cNvPr>
          <p:cNvSpPr>
            <a:spLocks noGrp="1"/>
          </p:cNvSpPr>
          <p:nvPr>
            <p:ph type="body" idx="1"/>
          </p:nvPr>
        </p:nvSpPr>
        <p:spPr>
          <a:xfrm>
            <a:off x="402336" y="1527048"/>
            <a:ext cx="11338560" cy="4873752"/>
          </a:xfrm>
        </p:spPr>
        <p:txBody>
          <a:bodyPr>
            <a:normAutofit/>
          </a:bodyPr>
          <a:lstStyle/>
          <a:p>
            <a:r>
              <a:rPr lang="en-GB" sz="2200" b="0" dirty="0">
                <a:effectLst/>
                <a:latin typeface="+mn-lt"/>
              </a:rPr>
              <a:t>This consists largely of the </a:t>
            </a:r>
            <a:r>
              <a:rPr lang="en-GB" sz="2200" b="1" dirty="0">
                <a:effectLst/>
                <a:latin typeface="+mn-lt"/>
              </a:rPr>
              <a:t>share cap­ital in banks</a:t>
            </a:r>
            <a:r>
              <a:rPr lang="en-GB" sz="2200" b="0" dirty="0">
                <a:effectLst/>
                <a:latin typeface="+mn-lt"/>
              </a:rPr>
              <a:t>. Since shareholders cannot take their money out of banks, it provides a source of funding to meet </a:t>
            </a:r>
            <a:r>
              <a:rPr lang="en-GB" sz="2200" b="1" dirty="0">
                <a:effectLst/>
                <a:latin typeface="+mn-lt"/>
              </a:rPr>
              <a:t>sudden increases in withdrawals </a:t>
            </a:r>
            <a:r>
              <a:rPr lang="en-GB" sz="2200" b="0" dirty="0">
                <a:effectLst/>
                <a:latin typeface="+mn-lt"/>
              </a:rPr>
              <a:t>from depositors and to cover bad debts. </a:t>
            </a:r>
            <a:endParaRPr lang="en-GB" sz="2200" dirty="0">
              <a:latin typeface="+mn-lt"/>
            </a:endParaRPr>
          </a:p>
          <a:p>
            <a:r>
              <a:rPr lang="en-GB" sz="2200" b="0" dirty="0">
                <a:effectLst/>
                <a:latin typeface="+mn-lt"/>
              </a:rPr>
              <a:t>It is vital that banks have sufficient capital. As we shall see, an important part of the response to the financial crisis has been to require banks to hold relatively larger amounts of capital. In 2022, the aggregate amount of sterling capital held by banks based in the UK was equivalent to around 10 per cent of their sterling liabilities.</a:t>
            </a:r>
            <a:endParaRPr lang="en-GB" sz="2200" dirty="0">
              <a:latin typeface="+mn-lt"/>
            </a:endParaRPr>
          </a:p>
          <a:p>
            <a:endParaRPr lang="en-GB" sz="1600"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52818437"/>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739CBEE-D0E1-BA6D-4AE7-BA974B543C0F}"/>
            </a:ext>
          </a:extLst>
        </p:cNvPr>
        <p:cNvGrpSpPr/>
        <p:nvPr/>
      </p:nvGrpSpPr>
      <p:grpSpPr>
        <a:xfrm>
          <a:off x="0" y="0"/>
          <a:ext cx="0" cy="0"/>
          <a:chOff x="0" y="0"/>
          <a:chExt cx="0" cy="0"/>
        </a:xfrm>
      </p:grpSpPr>
      <p:sp>
        <p:nvSpPr>
          <p:cNvPr id="485378" name="Rectangle 2">
            <a:extLst>
              <a:ext uri="{FF2B5EF4-FFF2-40B4-BE49-F238E27FC236}">
                <a16:creationId xmlns:a16="http://schemas.microsoft.com/office/drawing/2014/main" id="{C043CAB3-D1FE-2990-BD75-C776C2379933}"/>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79" name="Rectangle 3">
            <a:extLst>
              <a:ext uri="{FF2B5EF4-FFF2-40B4-BE49-F238E27FC236}">
                <a16:creationId xmlns:a16="http://schemas.microsoft.com/office/drawing/2014/main" id="{6D85A990-A4B8-8634-D8EA-D3DC2248AD06}"/>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80" name="Rectangle 4">
            <a:extLst>
              <a:ext uri="{FF2B5EF4-FFF2-40B4-BE49-F238E27FC236}">
                <a16:creationId xmlns:a16="http://schemas.microsoft.com/office/drawing/2014/main" id="{046F4205-00A5-CF29-682A-175F332F874F}"/>
              </a:ext>
            </a:extLst>
          </p:cNvPr>
          <p:cNvSpPr>
            <a:spLocks noGrp="1"/>
          </p:cNvSpPr>
          <p:nvPr>
            <p:ph type="title"/>
          </p:nvPr>
        </p:nvSpPr>
        <p:spPr/>
        <p:txBody>
          <a:bodyPr>
            <a:normAutofit/>
          </a:bodyPr>
          <a:lstStyle/>
          <a:p>
            <a:r>
              <a:rPr lang="en-GB" sz="3600" dirty="0"/>
              <a:t>Short-term loans</a:t>
            </a:r>
          </a:p>
        </p:txBody>
      </p:sp>
      <p:sp>
        <p:nvSpPr>
          <p:cNvPr id="485381" name="Rectangle 5">
            <a:extLst>
              <a:ext uri="{FF2B5EF4-FFF2-40B4-BE49-F238E27FC236}">
                <a16:creationId xmlns:a16="http://schemas.microsoft.com/office/drawing/2014/main" id="{D2C2D033-10ED-678A-30ED-184B99CB0165}"/>
              </a:ext>
            </a:extLst>
          </p:cNvPr>
          <p:cNvSpPr>
            <a:spLocks noGrp="1"/>
          </p:cNvSpPr>
          <p:nvPr>
            <p:ph sz="quarter" idx="1"/>
          </p:nvPr>
        </p:nvSpPr>
        <p:spPr>
          <a:xfrm>
            <a:off x="402167" y="1386368"/>
            <a:ext cx="11338729" cy="5098838"/>
          </a:xfrm>
        </p:spPr>
        <p:txBody>
          <a:bodyPr>
            <a:normAutofit/>
          </a:bodyPr>
          <a:lstStyle/>
          <a:p>
            <a:r>
              <a:rPr lang="en-GB" b="1" i="1" dirty="0">
                <a:latin typeface="+mn-lt"/>
              </a:rPr>
              <a:t>Market loans </a:t>
            </a:r>
            <a:r>
              <a:rPr lang="en-GB" dirty="0">
                <a:latin typeface="+mn-lt"/>
              </a:rPr>
              <a:t>are made primarily to other banks or finan­cial institutions. They consist of (a) money lent ‘at call’ (i.e. reclaimable on demand or at 24 hours’ notice), (b) money lent ‘at short notice’ (i.e. money lent for a few days) and (c) CDs (i.e. certificates of deposit made in other banks or building societies). </a:t>
            </a:r>
          </a:p>
          <a:p>
            <a:r>
              <a:rPr lang="en-GB" b="1" i="1" dirty="0">
                <a:latin typeface="+mn-lt"/>
              </a:rPr>
              <a:t>Bills of exchange </a:t>
            </a:r>
            <a:r>
              <a:rPr lang="en-GB" dirty="0">
                <a:latin typeface="+mn-lt"/>
              </a:rPr>
              <a:t>are loans either to companies (commer­cial bills) or to the government (Treasury bills). Since bills do not pay inter­est, they are sold below their face value (at a ‘discount’) but redeemed on maturity at face value. This enables the purchaser, in this case the bank, to earn a return. The mar­ket for new or existing bills is therefore known as the </a:t>
            </a:r>
            <a:r>
              <a:rPr lang="en-GB" b="1" i="1" dirty="0">
                <a:latin typeface="+mn-lt"/>
              </a:rPr>
              <a:t>discount market</a:t>
            </a:r>
            <a:r>
              <a:rPr lang="en-GB" dirty="0">
                <a:latin typeface="+mn-lt"/>
              </a:rPr>
              <a:t>. </a:t>
            </a:r>
          </a:p>
          <a:p>
            <a:r>
              <a:rPr lang="en-GB" b="1" i="1" dirty="0">
                <a:latin typeface="+mn-lt"/>
              </a:rPr>
              <a:t>Reverse repos</a:t>
            </a:r>
            <a:r>
              <a:rPr lang="en-GB" dirty="0">
                <a:latin typeface="+mn-lt"/>
              </a:rPr>
              <a:t>. When a sale and repurchase agreement is made, the financial institution </a:t>
            </a:r>
            <a:r>
              <a:rPr lang="en-GB" i="1" dirty="0">
                <a:latin typeface="+mn-lt"/>
              </a:rPr>
              <a:t>purchasing </a:t>
            </a:r>
            <a:r>
              <a:rPr lang="en-GB" dirty="0">
                <a:latin typeface="+mn-lt"/>
              </a:rPr>
              <a:t>the assets is giving a  loan. The other party agrees to buy back the assets on a set date. The assets temporarily held by the bank making the loan are known as ‘reverse repos’. </a:t>
            </a:r>
          </a:p>
        </p:txBody>
      </p:sp>
    </p:spTree>
    <p:extLst>
      <p:ext uri="{BB962C8B-B14F-4D97-AF65-F5344CB8AC3E}">
        <p14:creationId xmlns:p14="http://schemas.microsoft.com/office/powerpoint/2010/main" val="19014258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5381">
                                            <p:txEl>
                                              <p:pRg st="0" end="0"/>
                                            </p:txEl>
                                          </p:spTgt>
                                        </p:tgtEl>
                                        <p:attrNameLst>
                                          <p:attrName>style.visibility</p:attrName>
                                        </p:attrNameLst>
                                      </p:cBhvr>
                                      <p:to>
                                        <p:strVal val="visible"/>
                                      </p:to>
                                    </p:set>
                                    <p:anim calcmode="lin" valueType="num">
                                      <p:cBhvr additive="base">
                                        <p:cTn id="7" dur="500"/>
                                        <p:tgtEl>
                                          <p:spTgt spid="48538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8538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85381">
                                            <p:txEl>
                                              <p:pRg st="1" end="1"/>
                                            </p:txEl>
                                          </p:spTgt>
                                        </p:tgtEl>
                                        <p:attrNameLst>
                                          <p:attrName>style.visibility</p:attrName>
                                        </p:attrNameLst>
                                      </p:cBhvr>
                                      <p:to>
                                        <p:strVal val="visible"/>
                                      </p:to>
                                    </p:set>
                                    <p:anim calcmode="lin" valueType="num">
                                      <p:cBhvr additive="base">
                                        <p:cTn id="13" dur="500"/>
                                        <p:tgtEl>
                                          <p:spTgt spid="48538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8538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1" grpId="0" build="p" bldLvl="3"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4053D17-6C21-A8CB-4AEE-DF58391F967A}"/>
            </a:ext>
          </a:extLst>
        </p:cNvPr>
        <p:cNvGrpSpPr/>
        <p:nvPr/>
      </p:nvGrpSpPr>
      <p:grpSpPr>
        <a:xfrm>
          <a:off x="0" y="0"/>
          <a:ext cx="0" cy="0"/>
          <a:chOff x="0" y="0"/>
          <a:chExt cx="0" cy="0"/>
        </a:xfrm>
      </p:grpSpPr>
      <p:sp>
        <p:nvSpPr>
          <p:cNvPr id="485378" name="Rectangle 2">
            <a:extLst>
              <a:ext uri="{FF2B5EF4-FFF2-40B4-BE49-F238E27FC236}">
                <a16:creationId xmlns:a16="http://schemas.microsoft.com/office/drawing/2014/main" id="{FE1F2E6F-0750-0A3C-C112-9635516E9467}"/>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79" name="Rectangle 3">
            <a:extLst>
              <a:ext uri="{FF2B5EF4-FFF2-40B4-BE49-F238E27FC236}">
                <a16:creationId xmlns:a16="http://schemas.microsoft.com/office/drawing/2014/main" id="{DB924E7F-6387-1C8D-F026-E23824D5B0C3}"/>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latin typeface="Arial" panose="020B0604020202020204" pitchFamily="34" charset="0"/>
            </a:endParaRPr>
          </a:p>
        </p:txBody>
      </p:sp>
      <p:sp>
        <p:nvSpPr>
          <p:cNvPr id="485380" name="Rectangle 4">
            <a:extLst>
              <a:ext uri="{FF2B5EF4-FFF2-40B4-BE49-F238E27FC236}">
                <a16:creationId xmlns:a16="http://schemas.microsoft.com/office/drawing/2014/main" id="{51CDB5A3-B0DA-A0AE-7C23-68BCCE469E28}"/>
              </a:ext>
            </a:extLst>
          </p:cNvPr>
          <p:cNvSpPr>
            <a:spLocks noGrp="1"/>
          </p:cNvSpPr>
          <p:nvPr>
            <p:ph type="title"/>
          </p:nvPr>
        </p:nvSpPr>
        <p:spPr/>
        <p:txBody>
          <a:bodyPr>
            <a:normAutofit/>
          </a:bodyPr>
          <a:lstStyle/>
          <a:p>
            <a:r>
              <a:rPr lang="en-GB" sz="3600" dirty="0"/>
              <a:t>Long-term loans</a:t>
            </a:r>
          </a:p>
        </p:txBody>
      </p:sp>
      <p:sp>
        <p:nvSpPr>
          <p:cNvPr id="485381" name="Rectangle 5">
            <a:extLst>
              <a:ext uri="{FF2B5EF4-FFF2-40B4-BE49-F238E27FC236}">
                <a16:creationId xmlns:a16="http://schemas.microsoft.com/office/drawing/2014/main" id="{2BC866FA-BE7A-0BA5-14C6-16534796B186}"/>
              </a:ext>
            </a:extLst>
          </p:cNvPr>
          <p:cNvSpPr>
            <a:spLocks noGrp="1"/>
          </p:cNvSpPr>
          <p:nvPr>
            <p:ph sz="quarter" idx="1"/>
          </p:nvPr>
        </p:nvSpPr>
        <p:spPr>
          <a:xfrm>
            <a:off x="402167" y="1386368"/>
            <a:ext cx="11338729" cy="5098838"/>
          </a:xfrm>
        </p:spPr>
        <p:txBody>
          <a:bodyPr>
            <a:normAutofit/>
          </a:bodyPr>
          <a:lstStyle/>
          <a:p>
            <a:r>
              <a:rPr lang="en-GB" dirty="0">
                <a:latin typeface="+mn-lt"/>
              </a:rPr>
              <a:t>These consist primarily of loans to custom­ers, both personal customers and businesses. </a:t>
            </a:r>
          </a:p>
          <a:p>
            <a:r>
              <a:rPr lang="en-GB" dirty="0">
                <a:latin typeface="+mn-lt"/>
              </a:rPr>
              <a:t>These loans, also known as </a:t>
            </a:r>
            <a:r>
              <a:rPr lang="en-GB" i="1" dirty="0">
                <a:latin typeface="+mn-lt"/>
              </a:rPr>
              <a:t>advances, </a:t>
            </a:r>
            <a:r>
              <a:rPr lang="en-GB" dirty="0">
                <a:latin typeface="+mn-lt"/>
              </a:rPr>
              <a:t>are of four main types: </a:t>
            </a:r>
          </a:p>
          <a:p>
            <a:pPr lvl="1"/>
            <a:r>
              <a:rPr lang="en-GB" dirty="0">
                <a:latin typeface="+mn-lt"/>
              </a:rPr>
              <a:t>fixed­ term (repayable in instalments over a set number of years, typi­cally six months to five years), </a:t>
            </a:r>
          </a:p>
          <a:p>
            <a:pPr lvl="1"/>
            <a:r>
              <a:rPr lang="en-GB" dirty="0">
                <a:latin typeface="+mn-lt"/>
              </a:rPr>
              <a:t>overdrafts (often for an unspecified term), </a:t>
            </a:r>
          </a:p>
          <a:p>
            <a:pPr lvl="1"/>
            <a:r>
              <a:rPr lang="en-GB" dirty="0">
                <a:latin typeface="+mn-lt"/>
              </a:rPr>
              <a:t>outstanding balances on credit ­card accounts </a:t>
            </a:r>
          </a:p>
          <a:p>
            <a:pPr lvl="1"/>
            <a:r>
              <a:rPr lang="en-GB" dirty="0">
                <a:latin typeface="+mn-lt"/>
              </a:rPr>
              <a:t>mortgages (typically for 25 years). </a:t>
            </a:r>
          </a:p>
        </p:txBody>
      </p:sp>
    </p:spTree>
    <p:extLst>
      <p:ext uri="{BB962C8B-B14F-4D97-AF65-F5344CB8AC3E}">
        <p14:creationId xmlns:p14="http://schemas.microsoft.com/office/powerpoint/2010/main" val="122506009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5381">
                                            <p:txEl>
                                              <p:pRg st="0" end="0"/>
                                            </p:txEl>
                                          </p:spTgt>
                                        </p:tgtEl>
                                        <p:attrNameLst>
                                          <p:attrName>style.visibility</p:attrName>
                                        </p:attrNameLst>
                                      </p:cBhvr>
                                      <p:to>
                                        <p:strVal val="visible"/>
                                      </p:to>
                                    </p:set>
                                    <p:anim calcmode="lin" valueType="num">
                                      <p:cBhvr additive="base">
                                        <p:cTn id="7" dur="500"/>
                                        <p:tgtEl>
                                          <p:spTgt spid="48538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8538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85381">
                                            <p:txEl>
                                              <p:pRg st="1" end="1"/>
                                            </p:txEl>
                                          </p:spTgt>
                                        </p:tgtEl>
                                        <p:attrNameLst>
                                          <p:attrName>style.visibility</p:attrName>
                                        </p:attrNameLst>
                                      </p:cBhvr>
                                      <p:to>
                                        <p:strVal val="visible"/>
                                      </p:to>
                                    </p:set>
                                    <p:anim calcmode="lin" valueType="num">
                                      <p:cBhvr additive="base">
                                        <p:cTn id="13" dur="500"/>
                                        <p:tgtEl>
                                          <p:spTgt spid="48538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8538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85381">
                                            <p:txEl>
                                              <p:pRg st="2" end="2"/>
                                            </p:txEl>
                                          </p:spTgt>
                                        </p:tgtEl>
                                        <p:attrNameLst>
                                          <p:attrName>style.visibility</p:attrName>
                                        </p:attrNameLst>
                                      </p:cBhvr>
                                      <p:to>
                                        <p:strVal val="visible"/>
                                      </p:to>
                                    </p:set>
                                    <p:anim calcmode="lin" valueType="num">
                                      <p:cBhvr additive="base">
                                        <p:cTn id="19" dur="500"/>
                                        <p:tgtEl>
                                          <p:spTgt spid="48538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8538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85381">
                                            <p:txEl>
                                              <p:pRg st="3" end="3"/>
                                            </p:txEl>
                                          </p:spTgt>
                                        </p:tgtEl>
                                        <p:attrNameLst>
                                          <p:attrName>style.visibility</p:attrName>
                                        </p:attrNameLst>
                                      </p:cBhvr>
                                      <p:to>
                                        <p:strVal val="visible"/>
                                      </p:to>
                                    </p:set>
                                    <p:anim calcmode="lin" valueType="num">
                                      <p:cBhvr additive="base">
                                        <p:cTn id="25" dur="500"/>
                                        <p:tgtEl>
                                          <p:spTgt spid="48538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8538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85381">
                                            <p:txEl>
                                              <p:pRg st="4" end="4"/>
                                            </p:txEl>
                                          </p:spTgt>
                                        </p:tgtEl>
                                        <p:attrNameLst>
                                          <p:attrName>style.visibility</p:attrName>
                                        </p:attrNameLst>
                                      </p:cBhvr>
                                      <p:to>
                                        <p:strVal val="visible"/>
                                      </p:to>
                                    </p:set>
                                    <p:anim calcmode="lin" valueType="num">
                                      <p:cBhvr additive="base">
                                        <p:cTn id="31" dur="500"/>
                                        <p:tgtEl>
                                          <p:spTgt spid="48538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8538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85381">
                                            <p:txEl>
                                              <p:pRg st="5" end="5"/>
                                            </p:txEl>
                                          </p:spTgt>
                                        </p:tgtEl>
                                        <p:attrNameLst>
                                          <p:attrName>style.visibility</p:attrName>
                                        </p:attrNameLst>
                                      </p:cBhvr>
                                      <p:to>
                                        <p:strVal val="visible"/>
                                      </p:to>
                                    </p:set>
                                    <p:anim calcmode="lin" valueType="num">
                                      <p:cBhvr additive="base">
                                        <p:cTn id="37" dur="500"/>
                                        <p:tgtEl>
                                          <p:spTgt spid="48538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8538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1" grpId="0" build="p" bldLvl="3"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9B55A86D-1331-4AD3-B525-DE903E5AA00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4E256EB9-CA90-4630-81BE-185B2875EC0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6" name="Rectangle 6">
            <a:extLst>
              <a:ext uri="{FF2B5EF4-FFF2-40B4-BE49-F238E27FC236}">
                <a16:creationId xmlns:a16="http://schemas.microsoft.com/office/drawing/2014/main" id="{1CAFBCA5-8B2A-4BD2-BF94-B63A45906684}"/>
              </a:ext>
            </a:extLst>
          </p:cNvPr>
          <p:cNvSpPr>
            <a:spLocks noGrp="1"/>
          </p:cNvSpPr>
          <p:nvPr>
            <p:ph type="title"/>
          </p:nvPr>
        </p:nvSpPr>
        <p:spPr/>
        <p:txBody>
          <a:bodyPr/>
          <a:lstStyle/>
          <a:p>
            <a:r>
              <a:rPr lang="en-GB" altLang="en-US" dirty="0"/>
              <a:t>Primary vs secondary market</a:t>
            </a:r>
          </a:p>
        </p:txBody>
      </p:sp>
      <p:sp>
        <p:nvSpPr>
          <p:cNvPr id="404487" name="Rectangle 7">
            <a:extLst>
              <a:ext uri="{FF2B5EF4-FFF2-40B4-BE49-F238E27FC236}">
                <a16:creationId xmlns:a16="http://schemas.microsoft.com/office/drawing/2014/main" id="{072BA1DA-EE2F-4C9D-8266-6FFB6EB8E984}"/>
              </a:ext>
            </a:extLst>
          </p:cNvPr>
          <p:cNvSpPr>
            <a:spLocks noGrp="1"/>
          </p:cNvSpPr>
          <p:nvPr>
            <p:ph type="body" idx="1"/>
          </p:nvPr>
        </p:nvSpPr>
        <p:spPr>
          <a:xfrm>
            <a:off x="402336" y="1316027"/>
            <a:ext cx="11338560" cy="5360997"/>
          </a:xfrm>
        </p:spPr>
        <p:txBody>
          <a:bodyPr>
            <a:normAutofit/>
          </a:bodyPr>
          <a:lstStyle/>
          <a:p>
            <a:pPr>
              <a:spcBef>
                <a:spcPts val="1000"/>
              </a:spcBef>
            </a:pPr>
            <a:r>
              <a:rPr lang="en-GB" altLang="en-US" sz="2800" dirty="0">
                <a:latin typeface="+mn-lt"/>
              </a:rPr>
              <a:t>Primary market: initial issue of a security</a:t>
            </a:r>
          </a:p>
          <a:p>
            <a:r>
              <a:rPr lang="en-GB" altLang="en-US" dirty="0">
                <a:latin typeface="+mn-lt"/>
              </a:rPr>
              <a:t>Secondary market: trade in issued security </a:t>
            </a:r>
          </a:p>
          <a:p>
            <a:pPr lvl="1">
              <a:spcBef>
                <a:spcPts val="1000"/>
              </a:spcBef>
            </a:pPr>
            <a:r>
              <a:rPr lang="en-GB" dirty="0">
                <a:latin typeface="+mn-lt"/>
              </a:rPr>
              <a:t>This is where holders of assets sell them to someone else before the maturity date. This allows banks to close the maturity gap for </a:t>
            </a:r>
            <a:r>
              <a:rPr lang="en-GB" i="1" dirty="0">
                <a:latin typeface="+mn-lt"/>
              </a:rPr>
              <a:t>liquidity </a:t>
            </a:r>
            <a:r>
              <a:rPr lang="en-GB" dirty="0">
                <a:latin typeface="+mn-lt"/>
              </a:rPr>
              <a:t>purposes, but maintain the gap for </a:t>
            </a:r>
            <a:r>
              <a:rPr lang="en-GB" i="1" dirty="0">
                <a:latin typeface="+mn-lt"/>
              </a:rPr>
              <a:t>profitability </a:t>
            </a:r>
            <a:r>
              <a:rPr lang="en-GB" dirty="0">
                <a:latin typeface="+mn-lt"/>
              </a:rPr>
              <a:t>purposes. </a:t>
            </a:r>
            <a:endParaRPr lang="en-GB" altLang="en-US" dirty="0">
              <a:latin typeface="+mn-lt"/>
            </a:endParaRPr>
          </a:p>
          <a:p>
            <a:pPr lvl="1">
              <a:spcBef>
                <a:spcPts val="1000"/>
              </a:spcBef>
            </a:pPr>
            <a:r>
              <a:rPr lang="en-GB" altLang="en-US" dirty="0">
                <a:latin typeface="+mn-lt"/>
              </a:rPr>
              <a:t>Secondary markets exist for bonds, CDs </a:t>
            </a:r>
          </a:p>
          <a:p>
            <a:pPr lvl="1">
              <a:spcBef>
                <a:spcPts val="1000"/>
              </a:spcBef>
            </a:pPr>
            <a:r>
              <a:rPr lang="en-GB" altLang="en-US" dirty="0">
                <a:latin typeface="+mn-lt"/>
              </a:rPr>
              <a:t>Banks can generate liquidity without waiting for redemption of asset</a:t>
            </a:r>
          </a:p>
          <a:p>
            <a:pPr lvl="1">
              <a:spcBef>
                <a:spcPts val="1000"/>
              </a:spcBef>
            </a:pPr>
            <a:r>
              <a:rPr lang="en-GB" altLang="en-US" dirty="0">
                <a:latin typeface="+mn-lt"/>
              </a:rPr>
              <a:t>Issuing banks offer lower interest rate – and have less liquid liabilities</a:t>
            </a:r>
          </a:p>
        </p:txBody>
      </p:sp>
    </p:spTree>
    <p:extLst>
      <p:ext uri="{BB962C8B-B14F-4D97-AF65-F5344CB8AC3E}">
        <p14:creationId xmlns:p14="http://schemas.microsoft.com/office/powerpoint/2010/main" val="141665760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7">
                                            <p:txEl>
                                              <p:pRg st="0" end="0"/>
                                            </p:txEl>
                                          </p:spTgt>
                                        </p:tgtEl>
                                        <p:attrNameLst>
                                          <p:attrName>style.visibility</p:attrName>
                                        </p:attrNameLst>
                                      </p:cBhvr>
                                      <p:to>
                                        <p:strVal val="visible"/>
                                      </p:to>
                                    </p:set>
                                    <p:anim calcmode="lin" valueType="num">
                                      <p:cBhvr additive="base">
                                        <p:cTn id="7" dur="500"/>
                                        <p:tgtEl>
                                          <p:spTgt spid="4044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7">
                                            <p:txEl>
                                              <p:pRg st="1" end="1"/>
                                            </p:txEl>
                                          </p:spTgt>
                                        </p:tgtEl>
                                        <p:attrNameLst>
                                          <p:attrName>style.visibility</p:attrName>
                                        </p:attrNameLst>
                                      </p:cBhvr>
                                      <p:to>
                                        <p:strVal val="visible"/>
                                      </p:to>
                                    </p:set>
                                    <p:anim calcmode="lin" valueType="num">
                                      <p:cBhvr additive="base">
                                        <p:cTn id="13" dur="500"/>
                                        <p:tgtEl>
                                          <p:spTgt spid="4044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4487">
                                            <p:txEl>
                                              <p:pRg st="2" end="2"/>
                                            </p:txEl>
                                          </p:spTgt>
                                        </p:tgtEl>
                                        <p:attrNameLst>
                                          <p:attrName>style.visibility</p:attrName>
                                        </p:attrNameLst>
                                      </p:cBhvr>
                                      <p:to>
                                        <p:strVal val="visible"/>
                                      </p:to>
                                    </p:set>
                                    <p:anim calcmode="lin" valueType="num">
                                      <p:cBhvr additive="base">
                                        <p:cTn id="19" dur="500"/>
                                        <p:tgtEl>
                                          <p:spTgt spid="4044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44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4487">
                                            <p:txEl>
                                              <p:pRg st="3" end="3"/>
                                            </p:txEl>
                                          </p:spTgt>
                                        </p:tgtEl>
                                        <p:attrNameLst>
                                          <p:attrName>style.visibility</p:attrName>
                                        </p:attrNameLst>
                                      </p:cBhvr>
                                      <p:to>
                                        <p:strVal val="visible"/>
                                      </p:to>
                                    </p:set>
                                    <p:anim calcmode="lin" valueType="num">
                                      <p:cBhvr additive="base">
                                        <p:cTn id="25" dur="500"/>
                                        <p:tgtEl>
                                          <p:spTgt spid="40448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448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4487">
                                            <p:txEl>
                                              <p:pRg st="4" end="4"/>
                                            </p:txEl>
                                          </p:spTgt>
                                        </p:tgtEl>
                                        <p:attrNameLst>
                                          <p:attrName>style.visibility</p:attrName>
                                        </p:attrNameLst>
                                      </p:cBhvr>
                                      <p:to>
                                        <p:strVal val="visible"/>
                                      </p:to>
                                    </p:set>
                                    <p:anim calcmode="lin" valueType="num">
                                      <p:cBhvr additive="base">
                                        <p:cTn id="31" dur="500"/>
                                        <p:tgtEl>
                                          <p:spTgt spid="40448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448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4487">
                                            <p:txEl>
                                              <p:pRg st="5" end="5"/>
                                            </p:txEl>
                                          </p:spTgt>
                                        </p:tgtEl>
                                        <p:attrNameLst>
                                          <p:attrName>style.visibility</p:attrName>
                                        </p:attrNameLst>
                                      </p:cBhvr>
                                      <p:to>
                                        <p:strVal val="visible"/>
                                      </p:to>
                                    </p:set>
                                    <p:anim calcmode="lin" valueType="num">
                                      <p:cBhvr additive="base">
                                        <p:cTn id="37" dur="500"/>
                                        <p:tgtEl>
                                          <p:spTgt spid="40448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44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build="p" bldLvl="3"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1E91792-391A-B68E-0399-FCDC75302628}"/>
            </a:ext>
          </a:extLst>
        </p:cNvPr>
        <p:cNvGrpSpPr/>
        <p:nvPr/>
      </p:nvGrpSpPr>
      <p:grpSpPr>
        <a:xfrm>
          <a:off x="0" y="0"/>
          <a:ext cx="0" cy="0"/>
          <a:chOff x="0" y="0"/>
          <a:chExt cx="0" cy="0"/>
        </a:xfrm>
      </p:grpSpPr>
      <p:sp>
        <p:nvSpPr>
          <p:cNvPr id="404482" name="Rectangle 2">
            <a:extLst>
              <a:ext uri="{FF2B5EF4-FFF2-40B4-BE49-F238E27FC236}">
                <a16:creationId xmlns:a16="http://schemas.microsoft.com/office/drawing/2014/main" id="{D0DC0258-AE73-BD1F-679A-909402E4E0A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918CAD05-57DB-C991-44CC-3A83A68FDF9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6" name="Rectangle 6">
            <a:extLst>
              <a:ext uri="{FF2B5EF4-FFF2-40B4-BE49-F238E27FC236}">
                <a16:creationId xmlns:a16="http://schemas.microsoft.com/office/drawing/2014/main" id="{1CAB1770-1078-894A-E5BB-75E148E2AE6D}"/>
              </a:ext>
            </a:extLst>
          </p:cNvPr>
          <p:cNvSpPr>
            <a:spLocks noGrp="1"/>
          </p:cNvSpPr>
          <p:nvPr>
            <p:ph type="title"/>
          </p:nvPr>
        </p:nvSpPr>
        <p:spPr/>
        <p:txBody>
          <a:bodyPr/>
          <a:lstStyle/>
          <a:p>
            <a:r>
              <a:rPr lang="en-GB" altLang="en-US" dirty="0"/>
              <a:t>Securitisation</a:t>
            </a:r>
          </a:p>
        </p:txBody>
      </p:sp>
      <p:sp>
        <p:nvSpPr>
          <p:cNvPr id="404487" name="Rectangle 7">
            <a:extLst>
              <a:ext uri="{FF2B5EF4-FFF2-40B4-BE49-F238E27FC236}">
                <a16:creationId xmlns:a16="http://schemas.microsoft.com/office/drawing/2014/main" id="{4A39C6BA-AF65-557F-EC8D-2D2A121F9CCF}"/>
              </a:ext>
            </a:extLst>
          </p:cNvPr>
          <p:cNvSpPr>
            <a:spLocks noGrp="1"/>
          </p:cNvSpPr>
          <p:nvPr>
            <p:ph type="body" idx="1"/>
          </p:nvPr>
        </p:nvSpPr>
        <p:spPr>
          <a:xfrm>
            <a:off x="402336" y="1316027"/>
            <a:ext cx="11338560" cy="5360997"/>
          </a:xfrm>
        </p:spPr>
        <p:txBody>
          <a:bodyPr>
            <a:normAutofit/>
          </a:bodyPr>
          <a:lstStyle/>
          <a:p>
            <a:r>
              <a:rPr lang="en-GB" dirty="0">
                <a:latin typeface="+mn-lt"/>
              </a:rPr>
              <a:t>Securitisation occurs when a financial institution pools some of its assets, such as residential mortgages, and sells them to an intermediary known as a </a:t>
            </a:r>
            <a:r>
              <a:rPr lang="en-GB" b="1" i="1" dirty="0">
                <a:latin typeface="+mn-lt"/>
              </a:rPr>
              <a:t>special purpose vehicle (SPV)</a:t>
            </a:r>
            <a:r>
              <a:rPr lang="en-GB" dirty="0">
                <a:latin typeface="+mn-lt"/>
              </a:rPr>
              <a:t>. </a:t>
            </a:r>
          </a:p>
          <a:p>
            <a:r>
              <a:rPr lang="en-GB" dirty="0">
                <a:latin typeface="+mn-lt"/>
              </a:rPr>
              <a:t>SPVs are legal entities created by the financial institu­tion. In turn, the SPV funds its purchase of the assets by issu­ing bonds to investors (noteholders). </a:t>
            </a:r>
          </a:p>
          <a:p>
            <a:r>
              <a:rPr lang="en-GB" dirty="0">
                <a:latin typeface="+mn-lt"/>
              </a:rPr>
              <a:t>These bonds are known as </a:t>
            </a:r>
            <a:r>
              <a:rPr lang="en-GB" b="1" i="1" dirty="0">
                <a:latin typeface="+mn-lt"/>
              </a:rPr>
              <a:t>collateralised debt obligations (CDOs)</a:t>
            </a:r>
            <a:r>
              <a:rPr lang="en-GB" dirty="0">
                <a:latin typeface="+mn-lt"/>
              </a:rPr>
              <a:t>. </a:t>
            </a:r>
          </a:p>
          <a:p>
            <a:r>
              <a:rPr lang="en-GB" dirty="0">
                <a:latin typeface="+mn-lt"/>
              </a:rPr>
              <a:t>The sellers (e.g. banks) get cash now rather than having to wait and can use it to fund loans to customers. The buyers make a profit if the income yielded by the CDOs is as expected. Such bonds can be very risky, however, as the future cash flows may be </a:t>
            </a:r>
            <a:r>
              <a:rPr lang="en-GB" i="1" dirty="0">
                <a:latin typeface="+mn-lt"/>
              </a:rPr>
              <a:t>less </a:t>
            </a:r>
            <a:r>
              <a:rPr lang="en-GB" dirty="0">
                <a:latin typeface="+mn-lt"/>
              </a:rPr>
              <a:t>than anticipated. </a:t>
            </a:r>
            <a:endParaRPr lang="en-GB" sz="2800" dirty="0">
              <a:latin typeface="+mn-lt"/>
            </a:endParaRPr>
          </a:p>
        </p:txBody>
      </p:sp>
    </p:spTree>
    <p:extLst>
      <p:ext uri="{BB962C8B-B14F-4D97-AF65-F5344CB8AC3E}">
        <p14:creationId xmlns:p14="http://schemas.microsoft.com/office/powerpoint/2010/main" val="49221409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7">
                                            <p:txEl>
                                              <p:pRg st="0" end="0"/>
                                            </p:txEl>
                                          </p:spTgt>
                                        </p:tgtEl>
                                        <p:attrNameLst>
                                          <p:attrName>style.visibility</p:attrName>
                                        </p:attrNameLst>
                                      </p:cBhvr>
                                      <p:to>
                                        <p:strVal val="visible"/>
                                      </p:to>
                                    </p:set>
                                    <p:anim calcmode="lin" valueType="num">
                                      <p:cBhvr additive="base">
                                        <p:cTn id="7" dur="500"/>
                                        <p:tgtEl>
                                          <p:spTgt spid="4044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7">
                                            <p:txEl>
                                              <p:pRg st="1" end="1"/>
                                            </p:txEl>
                                          </p:spTgt>
                                        </p:tgtEl>
                                        <p:attrNameLst>
                                          <p:attrName>style.visibility</p:attrName>
                                        </p:attrNameLst>
                                      </p:cBhvr>
                                      <p:to>
                                        <p:strVal val="visible"/>
                                      </p:to>
                                    </p:set>
                                    <p:anim calcmode="lin" valueType="num">
                                      <p:cBhvr additive="base">
                                        <p:cTn id="13" dur="500"/>
                                        <p:tgtEl>
                                          <p:spTgt spid="4044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4487">
                                            <p:txEl>
                                              <p:pRg st="2" end="2"/>
                                            </p:txEl>
                                          </p:spTgt>
                                        </p:tgtEl>
                                        <p:attrNameLst>
                                          <p:attrName>style.visibility</p:attrName>
                                        </p:attrNameLst>
                                      </p:cBhvr>
                                      <p:to>
                                        <p:strVal val="visible"/>
                                      </p:to>
                                    </p:set>
                                    <p:anim calcmode="lin" valueType="num">
                                      <p:cBhvr additive="base">
                                        <p:cTn id="19" dur="500"/>
                                        <p:tgtEl>
                                          <p:spTgt spid="4044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44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4487">
                                            <p:txEl>
                                              <p:pRg st="3" end="3"/>
                                            </p:txEl>
                                          </p:spTgt>
                                        </p:tgtEl>
                                        <p:attrNameLst>
                                          <p:attrName>style.visibility</p:attrName>
                                        </p:attrNameLst>
                                      </p:cBhvr>
                                      <p:to>
                                        <p:strVal val="visible"/>
                                      </p:to>
                                    </p:set>
                                    <p:anim calcmode="lin" valueType="num">
                                      <p:cBhvr additive="base">
                                        <p:cTn id="25" dur="500"/>
                                        <p:tgtEl>
                                          <p:spTgt spid="40448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44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build="p" bldLvl="3"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4596" name="Text Box 4">
            <a:extLst>
              <a:ext uri="{FF2B5EF4-FFF2-40B4-BE49-F238E27FC236}">
                <a16:creationId xmlns:a16="http://schemas.microsoft.com/office/drawing/2014/main" id="{B92B4FCC-6288-4B49-AC47-421F0DC35A23}"/>
              </a:ext>
            </a:extLst>
          </p:cNvPr>
          <p:cNvSpPr txBox="1">
            <a:spLocks noChangeArrowheads="1"/>
          </p:cNvSpPr>
          <p:nvPr/>
        </p:nvSpPr>
        <p:spPr bwMode="auto">
          <a:xfrm>
            <a:off x="0" y="0"/>
            <a:ext cx="12191998" cy="769441"/>
          </a:xfrm>
          <a:prstGeom prst="rect">
            <a:avLst/>
          </a:prstGeom>
          <a:noFill/>
          <a:ln w="9525">
            <a:noFill/>
            <a:miter lim="800000"/>
            <a:headEnd/>
            <a:tailEnd/>
          </a:ln>
          <a:effectLst>
            <a:outerShdw dist="12700" dir="2700000" algn="ctr" rotWithShape="0">
              <a:schemeClr val="tx1"/>
            </a:outerShdw>
          </a:effec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4400" b="1" dirty="0">
                <a:solidFill>
                  <a:srgbClr val="660066"/>
                </a:solidFill>
                <a:latin typeface="Arial" panose="020B0604020202020204" pitchFamily="34" charset="0"/>
              </a:rPr>
              <a:t>Securitisation chain</a:t>
            </a:r>
            <a:endParaRPr lang="en-GB" altLang="en-US" sz="4400" b="1" i="1" dirty="0">
              <a:solidFill>
                <a:srgbClr val="660066"/>
              </a:solidFill>
              <a:latin typeface="Arial" panose="020B0604020202020204" pitchFamily="34" charset="0"/>
            </a:endParaRPr>
          </a:p>
        </p:txBody>
      </p:sp>
      <p:sp>
        <p:nvSpPr>
          <p:cNvPr id="3" name="AutoShape 3">
            <a:extLst>
              <a:ext uri="{FF2B5EF4-FFF2-40B4-BE49-F238E27FC236}">
                <a16:creationId xmlns:a16="http://schemas.microsoft.com/office/drawing/2014/main" id="{8FA4E12A-7A1E-820F-AE35-3D89D8AFDF12}"/>
              </a:ext>
            </a:extLst>
          </p:cNvPr>
          <p:cNvSpPr>
            <a:spLocks noChangeArrowheads="1"/>
          </p:cNvSpPr>
          <p:nvPr/>
        </p:nvSpPr>
        <p:spPr bwMode="auto">
          <a:xfrm>
            <a:off x="3643854" y="1121367"/>
            <a:ext cx="4630928" cy="1066800"/>
          </a:xfrm>
          <a:prstGeom prst="rightArrow">
            <a:avLst>
              <a:gd name="adj1" fmla="val 50000"/>
              <a:gd name="adj2" fmla="val 89286"/>
            </a:avLst>
          </a:prstGeom>
          <a:gradFill rotWithShape="0">
            <a:gsLst>
              <a:gs pos="0">
                <a:srgbClr val="FFE1E1"/>
              </a:gs>
              <a:gs pos="100000">
                <a:srgbClr val="FFB1B1"/>
              </a:gs>
            </a:gsLst>
            <a:lin ang="0" scaled="1"/>
          </a:gradFill>
          <a:ln w="19050">
            <a:solidFill>
              <a:srgbClr val="A5002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a:latin typeface="Arial" panose="020B0604020202020204" pitchFamily="34" charset="0"/>
              </a:rPr>
              <a:t>Sale of assets</a:t>
            </a:r>
          </a:p>
        </p:txBody>
      </p:sp>
      <p:sp>
        <p:nvSpPr>
          <p:cNvPr id="4" name="AutoShape 6">
            <a:extLst>
              <a:ext uri="{FF2B5EF4-FFF2-40B4-BE49-F238E27FC236}">
                <a16:creationId xmlns:a16="http://schemas.microsoft.com/office/drawing/2014/main" id="{2A72900B-50E7-8559-9F56-7CE3BC638709}"/>
              </a:ext>
            </a:extLst>
          </p:cNvPr>
          <p:cNvSpPr>
            <a:spLocks noChangeArrowheads="1"/>
          </p:cNvSpPr>
          <p:nvPr/>
        </p:nvSpPr>
        <p:spPr bwMode="auto">
          <a:xfrm>
            <a:off x="3971006" y="2188167"/>
            <a:ext cx="4456176" cy="1066800"/>
          </a:xfrm>
          <a:prstGeom prst="leftArrow">
            <a:avLst>
              <a:gd name="adj1" fmla="val 50000"/>
              <a:gd name="adj2" fmla="val 89286"/>
            </a:avLst>
          </a:prstGeom>
          <a:gradFill rotWithShape="0">
            <a:gsLst>
              <a:gs pos="0">
                <a:srgbClr val="97EDB4"/>
              </a:gs>
              <a:gs pos="100000">
                <a:srgbClr val="D2FAD2"/>
              </a:gs>
            </a:gsLst>
            <a:lin ang="0" scaled="1"/>
          </a:gradFill>
          <a:ln w="19050">
            <a:solidFill>
              <a:srgbClr val="0066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dirty="0">
                <a:latin typeface="Arial" panose="020B0604020202020204" pitchFamily="34" charset="0"/>
              </a:rPr>
              <a:t>Proceeds from CDOs (£)</a:t>
            </a:r>
          </a:p>
        </p:txBody>
      </p:sp>
      <p:sp>
        <p:nvSpPr>
          <p:cNvPr id="5" name="Rectangle 8">
            <a:extLst>
              <a:ext uri="{FF2B5EF4-FFF2-40B4-BE49-F238E27FC236}">
                <a16:creationId xmlns:a16="http://schemas.microsoft.com/office/drawing/2014/main" id="{587F3BE4-13C0-1963-9BC9-3E146F107CC2}"/>
              </a:ext>
            </a:extLst>
          </p:cNvPr>
          <p:cNvSpPr>
            <a:spLocks noChangeArrowheads="1"/>
          </p:cNvSpPr>
          <p:nvPr/>
        </p:nvSpPr>
        <p:spPr bwMode="auto">
          <a:xfrm>
            <a:off x="8427182" y="1121367"/>
            <a:ext cx="3200400" cy="2133600"/>
          </a:xfrm>
          <a:prstGeom prst="rect">
            <a:avLst/>
          </a:prstGeom>
          <a:gradFill rotWithShape="0">
            <a:gsLst>
              <a:gs pos="0">
                <a:srgbClr val="CCCCFF"/>
              </a:gs>
              <a:gs pos="50000">
                <a:srgbClr val="F5F5FF"/>
              </a:gs>
              <a:gs pos="100000">
                <a:srgbClr val="CCCCFF"/>
              </a:gs>
            </a:gsLst>
            <a:lin ang="5400000" scaled="1"/>
          </a:gradFill>
          <a:ln w="19050">
            <a:solidFill>
              <a:srgbClr val="000099"/>
            </a:solidFill>
            <a:miter lim="800000"/>
            <a:headEnd/>
            <a:tailEnd/>
          </a:ln>
        </p:spPr>
        <p:txBody>
          <a:bodyPr lIns="54000" rIns="5400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Aft>
                <a:spcPct val="25000"/>
              </a:spcAft>
            </a:pPr>
            <a:r>
              <a:rPr lang="en-GB" altLang="en-US" sz="2800" b="1" dirty="0">
                <a:latin typeface="Arial" panose="020B0604020202020204" pitchFamily="34" charset="0"/>
              </a:rPr>
              <a:t>Special purpose vehicle (SPV)</a:t>
            </a:r>
          </a:p>
        </p:txBody>
      </p:sp>
      <p:sp>
        <p:nvSpPr>
          <p:cNvPr id="6" name="Rectangle 9">
            <a:extLst>
              <a:ext uri="{FF2B5EF4-FFF2-40B4-BE49-F238E27FC236}">
                <a16:creationId xmlns:a16="http://schemas.microsoft.com/office/drawing/2014/main" id="{3DAEF356-0543-4D3B-55FA-D9FF9208E134}"/>
              </a:ext>
            </a:extLst>
          </p:cNvPr>
          <p:cNvSpPr>
            <a:spLocks noChangeArrowheads="1"/>
          </p:cNvSpPr>
          <p:nvPr/>
        </p:nvSpPr>
        <p:spPr bwMode="auto">
          <a:xfrm>
            <a:off x="595854" y="1121367"/>
            <a:ext cx="3048000" cy="2124076"/>
          </a:xfrm>
          <a:prstGeom prst="rect">
            <a:avLst/>
          </a:prstGeom>
          <a:gradFill rotWithShape="0">
            <a:gsLst>
              <a:gs pos="0">
                <a:srgbClr val="CCCCFF"/>
              </a:gs>
              <a:gs pos="50000">
                <a:srgbClr val="F5F5FF"/>
              </a:gs>
              <a:gs pos="100000">
                <a:srgbClr val="CCCCFF"/>
              </a:gs>
            </a:gsLst>
            <a:lin ang="5400000" scaled="1"/>
          </a:gradFill>
          <a:ln w="19050">
            <a:solidFill>
              <a:srgbClr val="000099"/>
            </a:solidFill>
            <a:miter lim="800000"/>
            <a:headEnd/>
            <a:tailEnd/>
          </a:ln>
        </p:spPr>
        <p:txBody>
          <a:bodyPr lIns="54000" rIns="5400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Aft>
                <a:spcPct val="25000"/>
              </a:spcAft>
            </a:pPr>
            <a:r>
              <a:rPr lang="en-GB" altLang="en-US" sz="2800" b="1" dirty="0">
                <a:latin typeface="Arial" panose="020B0604020202020204" pitchFamily="34" charset="0"/>
              </a:rPr>
              <a:t>Originator / Lender</a:t>
            </a:r>
            <a:endParaRPr lang="en-GB" altLang="en-US" sz="2800" dirty="0">
              <a:latin typeface="Arial" panose="020B0604020202020204" pitchFamily="34" charset="0"/>
            </a:endParaRPr>
          </a:p>
        </p:txBody>
      </p:sp>
      <p:sp>
        <p:nvSpPr>
          <p:cNvPr id="7" name="AutoShape 5">
            <a:extLst>
              <a:ext uri="{FF2B5EF4-FFF2-40B4-BE49-F238E27FC236}">
                <a16:creationId xmlns:a16="http://schemas.microsoft.com/office/drawing/2014/main" id="{A2AAA3B2-C039-7739-5847-8F66D329BAB7}"/>
              </a:ext>
            </a:extLst>
          </p:cNvPr>
          <p:cNvSpPr>
            <a:spLocks noChangeArrowheads="1"/>
          </p:cNvSpPr>
          <p:nvPr/>
        </p:nvSpPr>
        <p:spPr bwMode="auto">
          <a:xfrm>
            <a:off x="3747714" y="4321767"/>
            <a:ext cx="4728008" cy="1066800"/>
          </a:xfrm>
          <a:prstGeom prst="rightArrow">
            <a:avLst>
              <a:gd name="adj1" fmla="val 50000"/>
              <a:gd name="adj2" fmla="val 75000"/>
            </a:avLst>
          </a:prstGeom>
          <a:gradFill rotWithShape="0">
            <a:gsLst>
              <a:gs pos="0">
                <a:srgbClr val="FFE1E1"/>
              </a:gs>
              <a:gs pos="100000">
                <a:srgbClr val="FFB1B1"/>
              </a:gs>
            </a:gsLst>
            <a:lin ang="0" scaled="1"/>
          </a:gradFill>
          <a:ln w="19050">
            <a:solidFill>
              <a:srgbClr val="A5002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dirty="0">
                <a:latin typeface="Arial" panose="020B0604020202020204" pitchFamily="34" charset="0"/>
              </a:rPr>
              <a:t>Sells CDOs secured on assets</a:t>
            </a:r>
          </a:p>
        </p:txBody>
      </p:sp>
      <p:sp>
        <p:nvSpPr>
          <p:cNvPr id="8" name="AutoShape 7">
            <a:extLst>
              <a:ext uri="{FF2B5EF4-FFF2-40B4-BE49-F238E27FC236}">
                <a16:creationId xmlns:a16="http://schemas.microsoft.com/office/drawing/2014/main" id="{9FB9BBED-0ECB-529F-9F55-F59F418AC803}"/>
              </a:ext>
            </a:extLst>
          </p:cNvPr>
          <p:cNvSpPr>
            <a:spLocks noChangeArrowheads="1"/>
          </p:cNvSpPr>
          <p:nvPr/>
        </p:nvSpPr>
        <p:spPr bwMode="auto">
          <a:xfrm>
            <a:off x="3900112" y="5540967"/>
            <a:ext cx="4728006" cy="914400"/>
          </a:xfrm>
          <a:prstGeom prst="leftArrow">
            <a:avLst>
              <a:gd name="adj1" fmla="val 50000"/>
              <a:gd name="adj2" fmla="val 87500"/>
            </a:avLst>
          </a:prstGeom>
          <a:gradFill rotWithShape="0">
            <a:gsLst>
              <a:gs pos="0">
                <a:srgbClr val="97EDB4"/>
              </a:gs>
              <a:gs pos="100000">
                <a:srgbClr val="D2FAD2"/>
              </a:gs>
            </a:gsLst>
            <a:lin ang="0" scaled="1"/>
          </a:gradFill>
          <a:ln w="19050">
            <a:solidFill>
              <a:srgbClr val="0066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a:latin typeface="Arial" panose="020B0604020202020204" pitchFamily="34" charset="0"/>
              </a:rPr>
              <a:t>Cash (£)</a:t>
            </a:r>
          </a:p>
        </p:txBody>
      </p:sp>
      <p:sp>
        <p:nvSpPr>
          <p:cNvPr id="9" name="Rectangle 8">
            <a:extLst>
              <a:ext uri="{FF2B5EF4-FFF2-40B4-BE49-F238E27FC236}">
                <a16:creationId xmlns:a16="http://schemas.microsoft.com/office/drawing/2014/main" id="{877F9557-972B-D43F-01EF-F0F8E56AD8E2}"/>
              </a:ext>
            </a:extLst>
          </p:cNvPr>
          <p:cNvSpPr>
            <a:spLocks noChangeArrowheads="1"/>
          </p:cNvSpPr>
          <p:nvPr/>
        </p:nvSpPr>
        <p:spPr bwMode="auto">
          <a:xfrm>
            <a:off x="547314" y="4321767"/>
            <a:ext cx="3200400" cy="2133600"/>
          </a:xfrm>
          <a:prstGeom prst="rect">
            <a:avLst/>
          </a:prstGeom>
          <a:gradFill rotWithShape="0">
            <a:gsLst>
              <a:gs pos="0">
                <a:srgbClr val="CCCCFF"/>
              </a:gs>
              <a:gs pos="50000">
                <a:srgbClr val="F5F5FF"/>
              </a:gs>
              <a:gs pos="100000">
                <a:srgbClr val="CCCCFF"/>
              </a:gs>
            </a:gsLst>
            <a:lin ang="5400000" scaled="1"/>
          </a:gradFill>
          <a:ln w="19050">
            <a:solidFill>
              <a:srgbClr val="000099"/>
            </a:solidFill>
            <a:miter lim="800000"/>
            <a:headEnd/>
            <a:tailEnd/>
          </a:ln>
        </p:spPr>
        <p:txBody>
          <a:bodyPr lIns="54000" rIns="5400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Aft>
                <a:spcPct val="25000"/>
              </a:spcAft>
            </a:pPr>
            <a:r>
              <a:rPr lang="en-GB" altLang="en-US" sz="2800" b="1">
                <a:latin typeface="Arial" panose="020B0604020202020204" pitchFamily="34" charset="0"/>
              </a:rPr>
              <a:t>Special purpose vehicle (SPV)</a:t>
            </a:r>
          </a:p>
        </p:txBody>
      </p:sp>
      <p:sp>
        <p:nvSpPr>
          <p:cNvPr id="10" name="Rectangle 10">
            <a:extLst>
              <a:ext uri="{FF2B5EF4-FFF2-40B4-BE49-F238E27FC236}">
                <a16:creationId xmlns:a16="http://schemas.microsoft.com/office/drawing/2014/main" id="{04F97440-D372-2A61-189F-7E957D80DDFF}"/>
              </a:ext>
            </a:extLst>
          </p:cNvPr>
          <p:cNvSpPr>
            <a:spLocks noChangeArrowheads="1"/>
          </p:cNvSpPr>
          <p:nvPr/>
        </p:nvSpPr>
        <p:spPr bwMode="auto">
          <a:xfrm>
            <a:off x="8509784" y="4321767"/>
            <a:ext cx="3200400" cy="2133600"/>
          </a:xfrm>
          <a:prstGeom prst="rect">
            <a:avLst/>
          </a:prstGeom>
          <a:gradFill rotWithShape="0">
            <a:gsLst>
              <a:gs pos="0">
                <a:srgbClr val="CCCCFF"/>
              </a:gs>
              <a:gs pos="50000">
                <a:srgbClr val="F5F5FF"/>
              </a:gs>
              <a:gs pos="100000">
                <a:srgbClr val="CCCCFF"/>
              </a:gs>
            </a:gsLst>
            <a:lin ang="5400000" scaled="1"/>
          </a:gradFill>
          <a:ln w="19050">
            <a:solidFill>
              <a:srgbClr val="000099"/>
            </a:solidFill>
            <a:miter lim="800000"/>
            <a:headEnd/>
            <a:tailEnd/>
          </a:ln>
        </p:spPr>
        <p:txBody>
          <a:bodyPr lIns="54000" rIns="5400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Aft>
                <a:spcPct val="25000"/>
              </a:spcAft>
            </a:pPr>
            <a:r>
              <a:rPr lang="en-GB" altLang="en-US" sz="2800" b="1">
                <a:latin typeface="Arial" panose="020B0604020202020204" pitchFamily="34" charset="0"/>
              </a:rPr>
              <a:t>Bond holders</a:t>
            </a:r>
          </a:p>
          <a:p>
            <a:pPr algn="ctr">
              <a:spcAft>
                <a:spcPct val="25000"/>
              </a:spcAft>
            </a:pPr>
            <a:r>
              <a:rPr lang="en-GB" altLang="en-US" sz="2800" b="1">
                <a:latin typeface="Arial" panose="020B0604020202020204" pitchFamily="34" charset="0"/>
              </a:rPr>
              <a:t>(noteholders)</a:t>
            </a:r>
            <a:endParaRPr lang="en-GB" altLang="en-US" sz="2800">
              <a:latin typeface="Arial" panose="020B0604020202020204" pitchFamily="34" charset="0"/>
            </a:endParaRPr>
          </a:p>
        </p:txBody>
      </p:sp>
    </p:spTree>
    <p:custDataLst>
      <p:tags r:id="rId1"/>
    </p:custDataLst>
    <p:extLst>
      <p:ext uri="{BB962C8B-B14F-4D97-AF65-F5344CB8AC3E}">
        <p14:creationId xmlns:p14="http://schemas.microsoft.com/office/powerpoint/2010/main" val="3558922367"/>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3000"/>
                            </p:stCondLst>
                            <p:childTnLst>
                              <p:par>
                                <p:cTn id="9" presetID="10" presetClass="entr" presetSubtype="0" fill="hold" grpId="0" nodeType="afterEffect">
                                  <p:stCondLst>
                                    <p:cond delay="20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par>
                          <p:cTn id="12" fill="hold">
                            <p:stCondLst>
                              <p:cond delay="6000"/>
                            </p:stCondLst>
                            <p:childTnLst>
                              <p:par>
                                <p:cTn id="13" presetID="10" presetClass="entr" presetSubtype="0" fill="hold" grpId="0" nodeType="afterEffect">
                                  <p:stCondLst>
                                    <p:cond delay="20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childTnLst>
                                </p:cTn>
                              </p:par>
                            </p:childTnLst>
                          </p:cTn>
                        </p:par>
                        <p:par>
                          <p:cTn id="16" fill="hold">
                            <p:stCondLst>
                              <p:cond delay="9000"/>
                            </p:stCondLst>
                            <p:childTnLst>
                              <p:par>
                                <p:cTn id="17" presetID="10" presetClass="entr" presetSubtype="0" fill="hold" grpId="0" nodeType="afterEffect">
                                  <p:stCondLst>
                                    <p:cond delay="20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childTnLst>
                          </p:cTn>
                        </p:par>
                        <p:par>
                          <p:cTn id="20" fill="hold">
                            <p:stCondLst>
                              <p:cond delay="12000"/>
                            </p:stCondLst>
                            <p:childTnLst>
                              <p:par>
                                <p:cTn id="21" presetID="10" presetClass="entr" presetSubtype="0" fill="hold" grpId="0" nodeType="afterEffect">
                                  <p:stCondLst>
                                    <p:cond delay="20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childTnLst>
                                </p:cTn>
                              </p:par>
                            </p:childTnLst>
                          </p:cTn>
                        </p:par>
                        <p:par>
                          <p:cTn id="24" fill="hold">
                            <p:stCondLst>
                              <p:cond delay="15000"/>
                            </p:stCondLst>
                            <p:childTnLst>
                              <p:par>
                                <p:cTn id="25" presetID="10" presetClass="entr" presetSubtype="0" fill="hold" grpId="0" nodeType="afterEffect">
                                  <p:stCondLst>
                                    <p:cond delay="20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childTnLst>
                          </p:cTn>
                        </p:par>
                        <p:par>
                          <p:cTn id="28" fill="hold">
                            <p:stCondLst>
                              <p:cond delay="18000"/>
                            </p:stCondLst>
                            <p:childTnLst>
                              <p:par>
                                <p:cTn id="29" presetID="10" presetClass="entr" presetSubtype="0" fill="hold" grpId="0" nodeType="afterEffect">
                                  <p:stCondLst>
                                    <p:cond delay="200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9B55A86D-1331-4AD3-B525-DE903E5AA00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4E256EB9-CA90-4630-81BE-185B2875EC0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6" name="Rectangle 6">
            <a:extLst>
              <a:ext uri="{FF2B5EF4-FFF2-40B4-BE49-F238E27FC236}">
                <a16:creationId xmlns:a16="http://schemas.microsoft.com/office/drawing/2014/main" id="{1CAFBCA5-8B2A-4BD2-BF94-B63A45906684}"/>
              </a:ext>
            </a:extLst>
          </p:cNvPr>
          <p:cNvSpPr>
            <a:spLocks noGrp="1"/>
          </p:cNvSpPr>
          <p:nvPr>
            <p:ph type="title"/>
          </p:nvPr>
        </p:nvSpPr>
        <p:spPr/>
        <p:txBody>
          <a:bodyPr/>
          <a:lstStyle/>
          <a:p>
            <a:r>
              <a:rPr lang="en-GB" altLang="en-US" dirty="0"/>
              <a:t>What could go wrong?</a:t>
            </a:r>
          </a:p>
        </p:txBody>
      </p:sp>
      <p:sp>
        <p:nvSpPr>
          <p:cNvPr id="404487" name="Rectangle 7">
            <a:extLst>
              <a:ext uri="{FF2B5EF4-FFF2-40B4-BE49-F238E27FC236}">
                <a16:creationId xmlns:a16="http://schemas.microsoft.com/office/drawing/2014/main" id="{072BA1DA-EE2F-4C9D-8266-6FFB6EB8E984}"/>
              </a:ext>
            </a:extLst>
          </p:cNvPr>
          <p:cNvSpPr>
            <a:spLocks noGrp="1"/>
          </p:cNvSpPr>
          <p:nvPr>
            <p:ph type="body" idx="1"/>
          </p:nvPr>
        </p:nvSpPr>
        <p:spPr>
          <a:xfrm>
            <a:off x="402336" y="1527047"/>
            <a:ext cx="11338560" cy="4937547"/>
          </a:xfrm>
        </p:spPr>
        <p:txBody>
          <a:bodyPr/>
          <a:lstStyle/>
          <a:p>
            <a:pPr>
              <a:spcBef>
                <a:spcPts val="1000"/>
              </a:spcBef>
            </a:pPr>
            <a:r>
              <a:rPr lang="en-GB" altLang="en-US" dirty="0">
                <a:latin typeface="+mn-lt"/>
              </a:rPr>
              <a:t>Banks believed that securitisation substantially lowered exposure to lending risk</a:t>
            </a:r>
          </a:p>
          <a:p>
            <a:pPr lvl="1">
              <a:spcBef>
                <a:spcPts val="1000"/>
              </a:spcBef>
            </a:pPr>
            <a:r>
              <a:rPr lang="en-GB" altLang="en-US" dirty="0">
                <a:latin typeface="+mn-lt"/>
              </a:rPr>
              <a:t>Allowed them to lower liquidity ratio, increase maturity gap</a:t>
            </a:r>
          </a:p>
          <a:p>
            <a:pPr lvl="1">
              <a:spcBef>
                <a:spcPts val="1000"/>
              </a:spcBef>
            </a:pPr>
            <a:r>
              <a:rPr lang="en-GB" altLang="en-US" dirty="0">
                <a:latin typeface="+mn-lt"/>
              </a:rPr>
              <a:t>Banking became more profitable</a:t>
            </a:r>
          </a:p>
          <a:p>
            <a:pPr>
              <a:spcBef>
                <a:spcPts val="1000"/>
              </a:spcBef>
            </a:pPr>
            <a:r>
              <a:rPr lang="en-GB" altLang="en-US" dirty="0">
                <a:latin typeface="+mn-lt"/>
              </a:rPr>
              <a:t>BUT … </a:t>
            </a:r>
          </a:p>
          <a:p>
            <a:pPr lvl="1">
              <a:spcBef>
                <a:spcPts val="1000"/>
              </a:spcBef>
            </a:pPr>
            <a:r>
              <a:rPr lang="en-GB" altLang="en-US" dirty="0">
                <a:latin typeface="+mn-lt"/>
              </a:rPr>
              <a:t>That fed into a global expansion of credit during the NICE decade</a:t>
            </a:r>
          </a:p>
          <a:p>
            <a:pPr lvl="1">
              <a:spcBef>
                <a:spcPts val="1000"/>
              </a:spcBef>
            </a:pPr>
            <a:r>
              <a:rPr lang="en-GB" altLang="en-US" dirty="0">
                <a:latin typeface="+mn-lt"/>
              </a:rPr>
              <a:t>Banks did not fully understand risks which they were bearing</a:t>
            </a:r>
          </a:p>
          <a:p>
            <a:pPr lvl="2">
              <a:spcBef>
                <a:spcPts val="1000"/>
              </a:spcBef>
            </a:pPr>
            <a:r>
              <a:rPr lang="en-GB" altLang="en-US" dirty="0">
                <a:latin typeface="+mn-lt"/>
              </a:rPr>
              <a:t>Sub-prime housing price collapse caused risks to crystallise</a:t>
            </a:r>
          </a:p>
          <a:p>
            <a:pPr lvl="2">
              <a:spcBef>
                <a:spcPts val="1000"/>
              </a:spcBef>
            </a:pPr>
            <a:r>
              <a:rPr lang="en-GB" altLang="en-US" dirty="0">
                <a:latin typeface="+mn-lt"/>
              </a:rPr>
              <a:t>Almost all wholesale markets froze – entirely illiquid – in September 2008</a:t>
            </a:r>
          </a:p>
        </p:txBody>
      </p:sp>
    </p:spTree>
    <p:extLst>
      <p:ext uri="{BB962C8B-B14F-4D97-AF65-F5344CB8AC3E}">
        <p14:creationId xmlns:p14="http://schemas.microsoft.com/office/powerpoint/2010/main" val="139399960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7">
                                            <p:txEl>
                                              <p:pRg st="0" end="0"/>
                                            </p:txEl>
                                          </p:spTgt>
                                        </p:tgtEl>
                                        <p:attrNameLst>
                                          <p:attrName>style.visibility</p:attrName>
                                        </p:attrNameLst>
                                      </p:cBhvr>
                                      <p:to>
                                        <p:strVal val="visible"/>
                                      </p:to>
                                    </p:set>
                                    <p:anim calcmode="lin" valueType="num">
                                      <p:cBhvr additive="base">
                                        <p:cTn id="7" dur="500"/>
                                        <p:tgtEl>
                                          <p:spTgt spid="4044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7">
                                            <p:txEl>
                                              <p:pRg st="1" end="1"/>
                                            </p:txEl>
                                          </p:spTgt>
                                        </p:tgtEl>
                                        <p:attrNameLst>
                                          <p:attrName>style.visibility</p:attrName>
                                        </p:attrNameLst>
                                      </p:cBhvr>
                                      <p:to>
                                        <p:strVal val="visible"/>
                                      </p:to>
                                    </p:set>
                                    <p:anim calcmode="lin" valueType="num">
                                      <p:cBhvr additive="base">
                                        <p:cTn id="13" dur="500"/>
                                        <p:tgtEl>
                                          <p:spTgt spid="4044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4487">
                                            <p:txEl>
                                              <p:pRg st="2" end="2"/>
                                            </p:txEl>
                                          </p:spTgt>
                                        </p:tgtEl>
                                        <p:attrNameLst>
                                          <p:attrName>style.visibility</p:attrName>
                                        </p:attrNameLst>
                                      </p:cBhvr>
                                      <p:to>
                                        <p:strVal val="visible"/>
                                      </p:to>
                                    </p:set>
                                    <p:anim calcmode="lin" valueType="num">
                                      <p:cBhvr additive="base">
                                        <p:cTn id="19" dur="500"/>
                                        <p:tgtEl>
                                          <p:spTgt spid="4044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44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4487">
                                            <p:txEl>
                                              <p:pRg st="3" end="3"/>
                                            </p:txEl>
                                          </p:spTgt>
                                        </p:tgtEl>
                                        <p:attrNameLst>
                                          <p:attrName>style.visibility</p:attrName>
                                        </p:attrNameLst>
                                      </p:cBhvr>
                                      <p:to>
                                        <p:strVal val="visible"/>
                                      </p:to>
                                    </p:set>
                                    <p:anim calcmode="lin" valueType="num">
                                      <p:cBhvr additive="base">
                                        <p:cTn id="25" dur="500"/>
                                        <p:tgtEl>
                                          <p:spTgt spid="40448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448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4487">
                                            <p:txEl>
                                              <p:pRg st="4" end="4"/>
                                            </p:txEl>
                                          </p:spTgt>
                                        </p:tgtEl>
                                        <p:attrNameLst>
                                          <p:attrName>style.visibility</p:attrName>
                                        </p:attrNameLst>
                                      </p:cBhvr>
                                      <p:to>
                                        <p:strVal val="visible"/>
                                      </p:to>
                                    </p:set>
                                    <p:anim calcmode="lin" valueType="num">
                                      <p:cBhvr additive="base">
                                        <p:cTn id="31" dur="500"/>
                                        <p:tgtEl>
                                          <p:spTgt spid="40448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448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4487">
                                            <p:txEl>
                                              <p:pRg st="5" end="5"/>
                                            </p:txEl>
                                          </p:spTgt>
                                        </p:tgtEl>
                                        <p:attrNameLst>
                                          <p:attrName>style.visibility</p:attrName>
                                        </p:attrNameLst>
                                      </p:cBhvr>
                                      <p:to>
                                        <p:strVal val="visible"/>
                                      </p:to>
                                    </p:set>
                                    <p:anim calcmode="lin" valueType="num">
                                      <p:cBhvr additive="base">
                                        <p:cTn id="37" dur="500"/>
                                        <p:tgtEl>
                                          <p:spTgt spid="40448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4487">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4487">
                                            <p:txEl>
                                              <p:pRg st="6" end="6"/>
                                            </p:txEl>
                                          </p:spTgt>
                                        </p:tgtEl>
                                        <p:attrNameLst>
                                          <p:attrName>style.visibility</p:attrName>
                                        </p:attrNameLst>
                                      </p:cBhvr>
                                      <p:to>
                                        <p:strVal val="visible"/>
                                      </p:to>
                                    </p:set>
                                    <p:anim calcmode="lin" valueType="num">
                                      <p:cBhvr additive="base">
                                        <p:cTn id="43" dur="500"/>
                                        <p:tgtEl>
                                          <p:spTgt spid="40448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448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4487">
                                            <p:txEl>
                                              <p:pRg st="7" end="7"/>
                                            </p:txEl>
                                          </p:spTgt>
                                        </p:tgtEl>
                                        <p:attrNameLst>
                                          <p:attrName>style.visibility</p:attrName>
                                        </p:attrNameLst>
                                      </p:cBhvr>
                                      <p:to>
                                        <p:strVal val="visible"/>
                                      </p:to>
                                    </p:set>
                                    <p:anim calcmode="lin" valueType="num">
                                      <p:cBhvr additive="base">
                                        <p:cTn id="49" dur="500"/>
                                        <p:tgtEl>
                                          <p:spTgt spid="40448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44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build="p" bldLvl="3"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4">
            <a:extLst>
              <a:ext uri="{FF2B5EF4-FFF2-40B4-BE49-F238E27FC236}">
                <a16:creationId xmlns:a16="http://schemas.microsoft.com/office/drawing/2014/main" id="{0F52273E-F94C-4E22-A776-51F98A9FA827}"/>
              </a:ext>
            </a:extLst>
          </p:cNvPr>
          <p:cNvSpPr txBox="1">
            <a:spLocks noChangeArrowheads="1"/>
          </p:cNvSpPr>
          <p:nvPr/>
        </p:nvSpPr>
        <p:spPr bwMode="auto">
          <a:xfrm>
            <a:off x="32512" y="1"/>
            <a:ext cx="12159488" cy="584775"/>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3716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600" b="1" dirty="0">
                <a:solidFill>
                  <a:srgbClr val="660066"/>
                </a:solidFill>
              </a:rPr>
              <a:t>Aggregate balance sheet of UK banks and building societies</a:t>
            </a:r>
          </a:p>
        </p:txBody>
      </p:sp>
      <p:sp>
        <p:nvSpPr>
          <p:cNvPr id="5" name="TextBox 4">
            <a:extLst>
              <a:ext uri="{FF2B5EF4-FFF2-40B4-BE49-F238E27FC236}">
                <a16:creationId xmlns:a16="http://schemas.microsoft.com/office/drawing/2014/main" id="{5AD19543-23CF-4F9A-AC7B-1F9B10EDA639}"/>
              </a:ext>
            </a:extLst>
          </p:cNvPr>
          <p:cNvSpPr txBox="1">
            <a:spLocks noChangeArrowheads="1"/>
          </p:cNvSpPr>
          <p:nvPr/>
        </p:nvSpPr>
        <p:spPr bwMode="auto">
          <a:xfrm>
            <a:off x="521296" y="6092827"/>
            <a:ext cx="1140735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100" i="1" dirty="0">
                <a:solidFill>
                  <a:schemeClr val="tx1">
                    <a:lumMod val="50000"/>
                    <a:lumOff val="50000"/>
                  </a:schemeClr>
                </a:solidFill>
                <a:latin typeface="Arial" panose="020B0604020202020204" pitchFamily="34" charset="0"/>
                <a:cs typeface="Arial" panose="020B0604020202020204" pitchFamily="34" charset="0"/>
              </a:rPr>
              <a:t>Note</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Since 2010 all loans securitised by MFIs are recorded on MFI balance sheets.</a:t>
            </a:r>
          </a:p>
          <a:p>
            <a:pPr eaLnBrk="1" hangingPunct="1"/>
            <a:r>
              <a:rPr lang="en-GB" altLang="en-US" sz="1100" i="1" dirty="0">
                <a:solidFill>
                  <a:schemeClr val="tx1">
                    <a:lumMod val="50000"/>
                    <a:lumOff val="50000"/>
                  </a:schemeClr>
                </a:solidFill>
                <a:latin typeface="Arial" panose="020B0604020202020204" pitchFamily="34" charset="0"/>
                <a:cs typeface="Arial" panose="020B0604020202020204" pitchFamily="34" charset="0"/>
              </a:rPr>
              <a:t>Sources</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(i) Data showing liabilities of banks and building societies based on series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LPMALOA</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and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RPMTBJF</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(up to the end of 2009) and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RPMB3UQ </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(from 2010) from </a:t>
            </a:r>
            <a:r>
              <a:rPr lang="en-GB" altLang="en-US" sz="1100" i="1" dirty="0">
                <a:solidFill>
                  <a:schemeClr val="tx1">
                    <a:lumMod val="50000"/>
                    <a:lumOff val="50000"/>
                  </a:schemeClr>
                </a:solidFill>
                <a:latin typeface="Arial" panose="020B0604020202020204" pitchFamily="34" charset="0"/>
                <a:cs typeface="Arial" panose="020B0604020202020204" pitchFamily="34" charset="0"/>
              </a:rPr>
              <a:t>Statistical Interactive Database</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Bank of England (data published 1 July 2022, not seasonally adjusted).</a:t>
            </a:r>
            <a:br>
              <a:rPr lang="en-GB" altLang="en-US" sz="1100" dirty="0">
                <a:solidFill>
                  <a:schemeClr val="tx1">
                    <a:lumMod val="50000"/>
                    <a:lumOff val="50000"/>
                  </a:schemeClr>
                </a:solidFill>
                <a:latin typeface="Arial" panose="020B0604020202020204" pitchFamily="34" charset="0"/>
                <a:cs typeface="Arial" panose="020B0604020202020204" pitchFamily="34" charset="0"/>
              </a:rPr>
            </a:br>
            <a:r>
              <a:rPr lang="en-GB" altLang="en-US" sz="1100" dirty="0">
                <a:solidFill>
                  <a:schemeClr val="tx1">
                    <a:lumMod val="50000"/>
                    <a:lumOff val="50000"/>
                  </a:schemeClr>
                </a:solidFill>
                <a:latin typeface="Arial" panose="020B0604020202020204" pitchFamily="34" charset="0"/>
                <a:cs typeface="Arial" panose="020B0604020202020204" pitchFamily="34" charset="0"/>
              </a:rPr>
              <a:t>(ii) GDP data from </a:t>
            </a:r>
            <a:r>
              <a:rPr lang="en-GB" altLang="en-US" sz="1100" i="1" dirty="0">
                <a:solidFill>
                  <a:schemeClr val="tx1">
                    <a:lumMod val="50000"/>
                    <a:lumOff val="50000"/>
                  </a:schemeClr>
                </a:solidFill>
                <a:latin typeface="Arial" panose="020B0604020202020204" pitchFamily="34" charset="0"/>
                <a:cs typeface="Arial" panose="020B0604020202020204" pitchFamily="34" charset="0"/>
              </a:rPr>
              <a:t>Quarterly National Accounts </a:t>
            </a:r>
            <a:r>
              <a:rPr lang="en-US" altLang="en-US" sz="1100" dirty="0">
                <a:solidFill>
                  <a:schemeClr val="tx1">
                    <a:lumMod val="50000"/>
                    <a:lumOff val="50000"/>
                  </a:schemeClr>
                </a:solidFill>
                <a:latin typeface="Arial" panose="020B0604020202020204" pitchFamily="34" charset="0"/>
                <a:cs typeface="Arial" panose="020B0604020202020204" pitchFamily="34" charset="0"/>
              </a:rPr>
              <a:t>series </a:t>
            </a:r>
            <a:r>
              <a:rPr lang="en-US" altLang="en-US" sz="1100" dirty="0">
                <a:solidFill>
                  <a:schemeClr val="tx1">
                    <a:lumMod val="50000"/>
                    <a:lumOff val="5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YBHA</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Office for National Statistics (GDP figures are the sum of the latest four quarters).</a:t>
            </a:r>
          </a:p>
        </p:txBody>
      </p:sp>
      <p:graphicFrame>
        <p:nvGraphicFramePr>
          <p:cNvPr id="6" name="Object 2">
            <a:extLst>
              <a:ext uri="{FF2B5EF4-FFF2-40B4-BE49-F238E27FC236}">
                <a16:creationId xmlns:a16="http://schemas.microsoft.com/office/drawing/2014/main" id="{B2719AB8-B2E1-461F-989C-30F786EF8F73}"/>
              </a:ext>
            </a:extLst>
          </p:cNvPr>
          <p:cNvGraphicFramePr>
            <a:graphicFrameLocks noChangeAspect="1"/>
          </p:cNvGraphicFramePr>
          <p:nvPr/>
        </p:nvGraphicFramePr>
        <p:xfrm>
          <a:off x="-258663" y="660400"/>
          <a:ext cx="12192000" cy="5537200"/>
        </p:xfrm>
        <a:graphic>
          <a:graphicData uri="http://schemas.openxmlformats.org/drawingml/2006/chart">
            <c:chart xmlns:c="http://schemas.openxmlformats.org/drawingml/2006/chart" xmlns:r="http://schemas.openxmlformats.org/officeDocument/2006/relationships" r:id="rId6"/>
          </a:graphicData>
        </a:graphic>
      </p:graphicFrame>
      <p:grpSp>
        <p:nvGrpSpPr>
          <p:cNvPr id="7" name="Group 6">
            <a:extLst>
              <a:ext uri="{FF2B5EF4-FFF2-40B4-BE49-F238E27FC236}">
                <a16:creationId xmlns:a16="http://schemas.microsoft.com/office/drawing/2014/main" id="{A8798A8A-206F-B47D-D65B-A5C764B9B825}"/>
              </a:ext>
            </a:extLst>
          </p:cNvPr>
          <p:cNvGrpSpPr/>
          <p:nvPr/>
        </p:nvGrpSpPr>
        <p:grpSpPr>
          <a:xfrm>
            <a:off x="4971596" y="612839"/>
            <a:ext cx="1792478" cy="4957967"/>
            <a:chOff x="4971596" y="612839"/>
            <a:chExt cx="1792478" cy="4957967"/>
          </a:xfrm>
        </p:grpSpPr>
        <p:cxnSp>
          <p:nvCxnSpPr>
            <p:cNvPr id="3" name="Straight Connector 2">
              <a:extLst>
                <a:ext uri="{FF2B5EF4-FFF2-40B4-BE49-F238E27FC236}">
                  <a16:creationId xmlns:a16="http://schemas.microsoft.com/office/drawing/2014/main" id="{6C0AA2CC-93BA-29DC-2AB6-F382AC24060C}"/>
                </a:ext>
              </a:extLst>
            </p:cNvPr>
            <p:cNvCxnSpPr/>
            <p:nvPr/>
          </p:nvCxnSpPr>
          <p:spPr>
            <a:xfrm flipV="1">
              <a:off x="5556738" y="1026942"/>
              <a:ext cx="0" cy="4543864"/>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4984723A-C542-7F25-4EF3-F25A6DE3168D}"/>
                </a:ext>
              </a:extLst>
            </p:cNvPr>
            <p:cNvSpPr txBox="1"/>
            <p:nvPr/>
          </p:nvSpPr>
          <p:spPr>
            <a:xfrm>
              <a:off x="4971596" y="612839"/>
              <a:ext cx="1792478" cy="461665"/>
            </a:xfrm>
            <a:prstGeom prst="rect">
              <a:avLst/>
            </a:prstGeom>
            <a:noFill/>
          </p:spPr>
          <p:txBody>
            <a:bodyPr wrap="none" rtlCol="0">
              <a:spAutoFit/>
            </a:bodyPr>
            <a:lstStyle/>
            <a:p>
              <a:r>
                <a:rPr lang="en-GB" dirty="0">
                  <a:solidFill>
                    <a:schemeClr val="accent2"/>
                  </a:solidFill>
                  <a:latin typeface="+mn-lt"/>
                </a:rPr>
                <a:t>Crisis starts</a:t>
              </a:r>
            </a:p>
          </p:txBody>
        </p:sp>
      </p:grpSp>
    </p:spTree>
    <p:extLst>
      <p:ext uri="{BB962C8B-B14F-4D97-AF65-F5344CB8AC3E}">
        <p14:creationId xmlns:p14="http://schemas.microsoft.com/office/powerpoint/2010/main" val="65121979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graphicEl>
                                              <a:chart seriesIdx="0" categoryIdx="-4" bldStep="series"/>
                                            </p:graphicEl>
                                          </p:spTgt>
                                        </p:tgtEl>
                                        <p:attrNameLst>
                                          <p:attrName>style.visibility</p:attrName>
                                        </p:attrNameLst>
                                      </p:cBhvr>
                                      <p:to>
                                        <p:strVal val="visible"/>
                                      </p:to>
                                    </p:set>
                                    <p:animEffect transition="in" filter="wipe(left)">
                                      <p:cBhvr>
                                        <p:cTn id="7" dur="1500"/>
                                        <p:tgtEl>
                                          <p:spTgt spid="6">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graphicEl>
                                              <a:chart seriesIdx="1" categoryIdx="-4" bldStep="series"/>
                                            </p:graphicEl>
                                          </p:spTgt>
                                        </p:tgtEl>
                                        <p:attrNameLst>
                                          <p:attrName>style.visibility</p:attrName>
                                        </p:attrNameLst>
                                      </p:cBhvr>
                                      <p:to>
                                        <p:strVal val="visible"/>
                                      </p:to>
                                    </p:set>
                                    <p:animEffect transition="in" filter="wipe(left)">
                                      <p:cBhvr>
                                        <p:cTn id="12" dur="1500"/>
                                        <p:tgtEl>
                                          <p:spTgt spid="6">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 animBg="0"/>
        </p:bldSub>
      </p:bldGraphic>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C25DE889-1876-4889-9D58-386DEEBA8EB3}"/>
              </a:ext>
            </a:extLst>
          </p:cNvPr>
          <p:cNvSpPr>
            <a:spLocks noChangeArrowheads="1"/>
          </p:cNvSpPr>
          <p:nvPr/>
        </p:nvSpPr>
        <p:spPr bwMode="auto">
          <a:xfrm rot="-5400000">
            <a:off x="-1488544" y="3090868"/>
            <a:ext cx="3562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800" dirty="0">
                <a:latin typeface="Arial" panose="020B0604020202020204" pitchFamily="34" charset="0"/>
              </a:rPr>
              <a:t>Annual economic growth rate (%)</a:t>
            </a:r>
          </a:p>
        </p:txBody>
      </p:sp>
      <p:sp>
        <p:nvSpPr>
          <p:cNvPr id="7" name="Text Box 4">
            <a:extLst>
              <a:ext uri="{FF2B5EF4-FFF2-40B4-BE49-F238E27FC236}">
                <a16:creationId xmlns:a16="http://schemas.microsoft.com/office/drawing/2014/main" id="{1A91F36C-B74E-48D2-9325-9B1742771AB4}"/>
              </a:ext>
            </a:extLst>
          </p:cNvPr>
          <p:cNvSpPr txBox="1">
            <a:spLocks noChangeArrowheads="1"/>
          </p:cNvSpPr>
          <p:nvPr/>
        </p:nvSpPr>
        <p:spPr bwMode="auto">
          <a:xfrm>
            <a:off x="0" y="1"/>
            <a:ext cx="12135678" cy="569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wrap="square" tIns="9144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GB" altLang="en-US" sz="2800" b="1" dirty="0">
                <a:solidFill>
                  <a:srgbClr val="660066"/>
                </a:solidFill>
                <a:effectLst>
                  <a:outerShdw dist="12700" dir="2700000" algn="tl" rotWithShape="0">
                    <a:prstClr val="black"/>
                  </a:outerShdw>
                </a:effectLst>
                <a:latin typeface="Arial" panose="020B0604020202020204" pitchFamily="34" charset="0"/>
              </a:rPr>
              <a:t>Annual economic growth rates: from last lecture</a:t>
            </a:r>
          </a:p>
        </p:txBody>
      </p:sp>
      <p:sp>
        <p:nvSpPr>
          <p:cNvPr id="6" name="Text Box 14">
            <a:extLst>
              <a:ext uri="{FF2B5EF4-FFF2-40B4-BE49-F238E27FC236}">
                <a16:creationId xmlns:a16="http://schemas.microsoft.com/office/drawing/2014/main" id="{4C77F4BD-84B4-8BDB-FD03-F3135694EF5E}"/>
              </a:ext>
            </a:extLst>
          </p:cNvPr>
          <p:cNvSpPr txBox="1">
            <a:spLocks noChangeArrowheads="1"/>
          </p:cNvSpPr>
          <p:nvPr/>
        </p:nvSpPr>
        <p:spPr bwMode="auto">
          <a:xfrm>
            <a:off x="884254" y="6227558"/>
            <a:ext cx="11307745" cy="461665"/>
          </a:xfrm>
          <a:prstGeom prst="rect">
            <a:avLst/>
          </a:prstGeom>
          <a:noFill/>
          <a:ln>
            <a:noFill/>
          </a:ln>
          <a:effec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i="1" dirty="0">
                <a:solidFill>
                  <a:schemeClr val="tx1">
                    <a:lumMod val="50000"/>
                    <a:lumOff val="50000"/>
                  </a:schemeClr>
                </a:solidFill>
                <a:latin typeface="Arial" panose="020B0604020202020204" pitchFamily="34" charset="0"/>
              </a:rPr>
              <a:t>Notes</a:t>
            </a:r>
            <a:r>
              <a:rPr lang="en-GB" altLang="en-US" sz="1200" dirty="0">
                <a:solidFill>
                  <a:schemeClr val="tx1">
                    <a:lumMod val="50000"/>
                    <a:lumOff val="50000"/>
                  </a:schemeClr>
                </a:solidFill>
                <a:latin typeface="Arial" panose="020B0604020202020204" pitchFamily="34" charset="0"/>
              </a:rPr>
              <a:t>: Data from 2022 based on forecasts; Eurozone = 19 countries using the euro (as of 2022); figures for Germany based on West Germany only up to 1991.</a:t>
            </a:r>
          </a:p>
          <a:p>
            <a:r>
              <a:rPr lang="en-GB" altLang="en-US" sz="1200" i="1" dirty="0">
                <a:solidFill>
                  <a:schemeClr val="tx1">
                    <a:lumMod val="50000"/>
                    <a:lumOff val="50000"/>
                  </a:schemeClr>
                </a:solidFill>
                <a:latin typeface="Arial" panose="020B0604020202020204" pitchFamily="34" charset="0"/>
              </a:rPr>
              <a:t>Sources</a:t>
            </a:r>
            <a:r>
              <a:rPr lang="en-GB" altLang="en-US" sz="1200" dirty="0">
                <a:solidFill>
                  <a:schemeClr val="tx1">
                    <a:lumMod val="50000"/>
                    <a:lumOff val="50000"/>
                  </a:schemeClr>
                </a:solidFill>
                <a:latin typeface="Arial" panose="020B0604020202020204" pitchFamily="34" charset="0"/>
              </a:rPr>
              <a:t>: Based on data in </a:t>
            </a:r>
            <a:r>
              <a:rPr lang="en-GB" altLang="en-US" sz="1200" i="1" dirty="0">
                <a:solidFill>
                  <a:schemeClr val="tx1">
                    <a:lumMod val="50000"/>
                    <a:lumOff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AMECO Database</a:t>
            </a:r>
            <a:r>
              <a:rPr lang="en-GB" altLang="en-US" sz="1200" dirty="0">
                <a:solidFill>
                  <a:schemeClr val="tx1">
                    <a:lumMod val="50000"/>
                    <a:lumOff val="50000"/>
                  </a:schemeClr>
                </a:solidFill>
                <a:latin typeface="Arial" panose="020B0604020202020204" pitchFamily="34" charset="0"/>
              </a:rPr>
              <a:t> (EC) up to 1980; and </a:t>
            </a:r>
            <a:r>
              <a:rPr lang="en-GB" altLang="en-US" sz="1200" i="1" dirty="0">
                <a:solidFill>
                  <a:schemeClr val="tx1">
                    <a:lumMod val="50000"/>
                    <a:lumOff val="5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World Economic Outlook</a:t>
            </a:r>
            <a:r>
              <a:rPr lang="en-GB" altLang="en-US" sz="1200" dirty="0">
                <a:solidFill>
                  <a:schemeClr val="tx1">
                    <a:lumMod val="50000"/>
                    <a:lumOff val="50000"/>
                  </a:schemeClr>
                </a:solidFill>
                <a:latin typeface="Arial" panose="020B0604020202020204" pitchFamily="34" charset="0"/>
              </a:rPr>
              <a:t> (IMF, October 2022); various forecasts</a:t>
            </a:r>
          </a:p>
        </p:txBody>
      </p:sp>
      <p:graphicFrame>
        <p:nvGraphicFramePr>
          <p:cNvPr id="10" name="Object 2">
            <a:extLst>
              <a:ext uri="{FF2B5EF4-FFF2-40B4-BE49-F238E27FC236}">
                <a16:creationId xmlns:a16="http://schemas.microsoft.com/office/drawing/2014/main" id="{928CF95D-E774-0E01-DB75-E05B49F88B97}"/>
              </a:ext>
            </a:extLst>
          </p:cNvPr>
          <p:cNvGraphicFramePr>
            <a:graphicFrameLocks/>
          </p:cNvGraphicFramePr>
          <p:nvPr/>
        </p:nvGraphicFramePr>
        <p:xfrm>
          <a:off x="523188" y="438150"/>
          <a:ext cx="11668812" cy="5852118"/>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BDA12B02-C253-ACC4-D7D9-4D04A5E8A657}"/>
              </a:ext>
            </a:extLst>
          </p:cNvPr>
          <p:cNvSpPr txBox="1"/>
          <p:nvPr/>
        </p:nvSpPr>
        <p:spPr>
          <a:xfrm>
            <a:off x="4648861" y="2281479"/>
            <a:ext cx="1418978" cy="830997"/>
          </a:xfrm>
          <a:prstGeom prst="rect">
            <a:avLst/>
          </a:prstGeom>
          <a:noFill/>
        </p:spPr>
        <p:txBody>
          <a:bodyPr wrap="none" rtlCol="0">
            <a:spAutoFit/>
          </a:bodyPr>
          <a:lstStyle/>
          <a:p>
            <a:pPr algn="ctr"/>
            <a:r>
              <a:rPr lang="en-GB" dirty="0">
                <a:solidFill>
                  <a:schemeClr val="tx2"/>
                </a:solidFill>
                <a:latin typeface="+mj-lt"/>
              </a:rPr>
              <a:t>Financial</a:t>
            </a:r>
            <a:br>
              <a:rPr lang="en-GB" dirty="0">
                <a:solidFill>
                  <a:schemeClr val="tx2"/>
                </a:solidFill>
                <a:latin typeface="+mj-lt"/>
              </a:rPr>
            </a:br>
            <a:r>
              <a:rPr lang="en-GB" dirty="0">
                <a:solidFill>
                  <a:schemeClr val="tx2"/>
                </a:solidFill>
                <a:latin typeface="+mj-lt"/>
              </a:rPr>
              <a:t>crisis</a:t>
            </a:r>
          </a:p>
        </p:txBody>
      </p:sp>
      <p:sp>
        <p:nvSpPr>
          <p:cNvPr id="3" name="TextBox 2">
            <a:extLst>
              <a:ext uri="{FF2B5EF4-FFF2-40B4-BE49-F238E27FC236}">
                <a16:creationId xmlns:a16="http://schemas.microsoft.com/office/drawing/2014/main" id="{BBD7435E-6A3E-38CF-AF5E-008A6D271C64}"/>
              </a:ext>
            </a:extLst>
          </p:cNvPr>
          <p:cNvSpPr txBox="1"/>
          <p:nvPr/>
        </p:nvSpPr>
        <p:spPr>
          <a:xfrm rot="16200000">
            <a:off x="9256622" y="3620048"/>
            <a:ext cx="973344" cy="461665"/>
          </a:xfrm>
          <a:prstGeom prst="rect">
            <a:avLst/>
          </a:prstGeom>
          <a:noFill/>
        </p:spPr>
        <p:txBody>
          <a:bodyPr wrap="none" rtlCol="0">
            <a:spAutoFit/>
          </a:bodyPr>
          <a:lstStyle/>
          <a:p>
            <a:pPr algn="ctr"/>
            <a:r>
              <a:rPr lang="en-GB" dirty="0">
                <a:solidFill>
                  <a:schemeClr val="tx2"/>
                </a:solidFill>
                <a:latin typeface="+mj-lt"/>
              </a:rPr>
              <a:t>Covid</a:t>
            </a:r>
          </a:p>
        </p:txBody>
      </p:sp>
      <p:sp>
        <p:nvSpPr>
          <p:cNvPr id="4" name="TextBox 3">
            <a:extLst>
              <a:ext uri="{FF2B5EF4-FFF2-40B4-BE49-F238E27FC236}">
                <a16:creationId xmlns:a16="http://schemas.microsoft.com/office/drawing/2014/main" id="{FC7715C4-ABF3-2D99-7D08-9F13AF5B93A7}"/>
              </a:ext>
            </a:extLst>
          </p:cNvPr>
          <p:cNvSpPr txBox="1"/>
          <p:nvPr/>
        </p:nvSpPr>
        <p:spPr>
          <a:xfrm>
            <a:off x="2657532" y="782437"/>
            <a:ext cx="7761188" cy="830997"/>
          </a:xfrm>
          <a:prstGeom prst="rect">
            <a:avLst/>
          </a:prstGeom>
          <a:noFill/>
        </p:spPr>
        <p:txBody>
          <a:bodyPr wrap="square" rtlCol="0">
            <a:spAutoFit/>
          </a:bodyPr>
          <a:lstStyle/>
          <a:p>
            <a:r>
              <a:rPr lang="en-GB" dirty="0">
                <a:solidFill>
                  <a:schemeClr val="tx2"/>
                </a:solidFill>
                <a:latin typeface="+mj-lt"/>
              </a:rPr>
              <a:t>Financial crisis cause a large recession</a:t>
            </a:r>
          </a:p>
          <a:p>
            <a:r>
              <a:rPr lang="en-GB" dirty="0">
                <a:solidFill>
                  <a:schemeClr val="tx2"/>
                </a:solidFill>
                <a:latin typeface="+mj-lt"/>
              </a:rPr>
              <a:t>Not as deep as Covid – but lasted longer</a:t>
            </a:r>
          </a:p>
        </p:txBody>
      </p:sp>
    </p:spTree>
    <p:extLst>
      <p:ext uri="{BB962C8B-B14F-4D97-AF65-F5344CB8AC3E}">
        <p14:creationId xmlns:p14="http://schemas.microsoft.com/office/powerpoint/2010/main" val="157700696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0">
                                            <p:graphicEl>
                                              <a:chart seriesIdx="2" categoryIdx="-4" bldStep="series"/>
                                            </p:graphicEl>
                                          </p:spTgt>
                                        </p:tgtEl>
                                        <p:attrNameLst>
                                          <p:attrName>style.visibility</p:attrName>
                                        </p:attrNameLst>
                                      </p:cBhvr>
                                      <p:to>
                                        <p:strVal val="visible"/>
                                      </p:to>
                                    </p:set>
                                    <p:animEffect transition="in" filter="wipe(left)">
                                      <p:cBhvr>
                                        <p:cTn id="7" dur="1250"/>
                                        <p:tgtEl>
                                          <p:spTgt spid="10">
                                            <p:graphicEl>
                                              <a:chart seriesIdx="2" categoryIdx="-4" bldStep="series"/>
                                            </p:graphicEl>
                                          </p:spTgt>
                                        </p:tgtEl>
                                      </p:cBhvr>
                                    </p:animEffect>
                                  </p:childTnLst>
                                </p:cTn>
                              </p:par>
                            </p:childTnLst>
                          </p:cTn>
                        </p:par>
                        <p:par>
                          <p:cTn id="8" fill="hold">
                            <p:stCondLst>
                              <p:cond delay="2250"/>
                            </p:stCondLst>
                            <p:childTnLst>
                              <p:par>
                                <p:cTn id="9" presetID="42"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3250"/>
                            </p:stCondLst>
                            <p:childTnLst>
                              <p:par>
                                <p:cTn id="15" presetID="42"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par>
                          <p:cTn id="20" fill="hold">
                            <p:stCondLst>
                              <p:cond delay="4250"/>
                            </p:stCondLst>
                            <p:childTnLst>
                              <p:par>
                                <p:cTn id="21" presetID="22" presetClass="entr" presetSubtype="8" fill="hold" grpId="0" nodeType="afterEffect">
                                  <p:stCondLst>
                                    <p:cond delay="1000"/>
                                  </p:stCondLst>
                                  <p:childTnLst>
                                    <p:set>
                                      <p:cBhvr>
                                        <p:cTn id="22" dur="1" fill="hold">
                                          <p:stCondLst>
                                            <p:cond delay="0"/>
                                          </p:stCondLst>
                                        </p:cTn>
                                        <p:tgtEl>
                                          <p:spTgt spid="10">
                                            <p:graphicEl>
                                              <a:chart seriesIdx="6" categoryIdx="-4" bldStep="series"/>
                                            </p:graphicEl>
                                          </p:spTgt>
                                        </p:tgtEl>
                                        <p:attrNameLst>
                                          <p:attrName>style.visibility</p:attrName>
                                        </p:attrNameLst>
                                      </p:cBhvr>
                                      <p:to>
                                        <p:strVal val="visible"/>
                                      </p:to>
                                    </p:set>
                                    <p:animEffect transition="in" filter="wipe(left)">
                                      <p:cBhvr>
                                        <p:cTn id="23" dur="1250"/>
                                        <p:tgtEl>
                                          <p:spTgt spid="10">
                                            <p:graphicEl>
                                              <a:chart seriesIdx="6" categoryIdx="-4" bldStep="series"/>
                                            </p:graphicEl>
                                          </p:spTgt>
                                        </p:tgtEl>
                                      </p:cBhvr>
                                    </p:animEffect>
                                  </p:childTnLst>
                                </p:cTn>
                              </p:par>
                            </p:childTnLst>
                          </p:cTn>
                        </p:par>
                        <p:par>
                          <p:cTn id="24" fill="hold">
                            <p:stCondLst>
                              <p:cond delay="6500"/>
                            </p:stCondLst>
                            <p:childTnLst>
                              <p:par>
                                <p:cTn id="25" presetID="42" presetClass="entr" presetSubtype="0"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uiExpand="1">
        <p:bldSub>
          <a:bldChart bld="series" animBg="0"/>
        </p:bldSub>
      </p:bldGraphic>
      <p:bldP spid="2" grpId="0"/>
      <p:bldP spid="3" grpId="0"/>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a:extLst>
              <a:ext uri="{FF2B5EF4-FFF2-40B4-BE49-F238E27FC236}">
                <a16:creationId xmlns:a16="http://schemas.microsoft.com/office/drawing/2014/main" id="{6B120B2C-CE68-4A47-B013-35C10249558D}"/>
              </a:ext>
            </a:extLst>
          </p:cNvPr>
          <p:cNvSpPr txBox="1">
            <a:spLocks noChangeArrowheads="1"/>
          </p:cNvSpPr>
          <p:nvPr/>
        </p:nvSpPr>
        <p:spPr bwMode="auto">
          <a:xfrm>
            <a:off x="37407" y="25461"/>
            <a:ext cx="12154593" cy="553998"/>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tIns="9144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GB" altLang="en-US" sz="2700" b="1" dirty="0">
                <a:solidFill>
                  <a:srgbClr val="660066"/>
                </a:solidFill>
                <a:latin typeface="Arial" panose="020B0604020202020204" pitchFamily="34" charset="0"/>
                <a:cs typeface="Times New Roman" panose="02020603050405020304" pitchFamily="18" charset="0"/>
              </a:rPr>
              <a:t>Net securitisations of secured lending by UK-based MFIs to individuals </a:t>
            </a:r>
          </a:p>
        </p:txBody>
      </p:sp>
      <p:sp>
        <p:nvSpPr>
          <p:cNvPr id="6" name="TextBox 1">
            <a:extLst>
              <a:ext uri="{FF2B5EF4-FFF2-40B4-BE49-F238E27FC236}">
                <a16:creationId xmlns:a16="http://schemas.microsoft.com/office/drawing/2014/main" id="{EF49AF46-F1AF-456D-93D3-6F0936E4AD3F}"/>
              </a:ext>
            </a:extLst>
          </p:cNvPr>
          <p:cNvSpPr txBox="1">
            <a:spLocks noChangeArrowheads="1"/>
          </p:cNvSpPr>
          <p:nvPr/>
        </p:nvSpPr>
        <p:spPr bwMode="auto">
          <a:xfrm>
            <a:off x="623392" y="6251364"/>
            <a:ext cx="11244572" cy="63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20000"/>
              </a:spcAft>
              <a:buFontTx/>
              <a:buNone/>
            </a:pPr>
            <a:r>
              <a:rPr lang="en-GB" altLang="en-US" sz="1100" i="1" dirty="0">
                <a:solidFill>
                  <a:schemeClr val="bg1">
                    <a:lumMod val="50000"/>
                  </a:schemeClr>
                </a:solidFill>
                <a:latin typeface="Arial" panose="020B0604020202020204" pitchFamily="34" charset="0"/>
              </a:rPr>
              <a:t>Note</a:t>
            </a:r>
            <a:r>
              <a:rPr lang="en-GB" altLang="en-US" sz="1100" dirty="0">
                <a:solidFill>
                  <a:schemeClr val="bg1">
                    <a:lumMod val="50000"/>
                  </a:schemeClr>
                </a:solidFill>
                <a:latin typeface="Arial" panose="020B0604020202020204" pitchFamily="34" charset="0"/>
              </a:rPr>
              <a:t>: Data up to 2010 relate to changes in other specialist lenders’ sterling net securitisations of secured lending to individuals and housing associations. From 2010 data </a:t>
            </a:r>
            <a:r>
              <a:rPr lang="en-US" altLang="en-US" sz="1100" dirty="0">
                <a:solidFill>
                  <a:schemeClr val="bg1">
                    <a:lumMod val="50000"/>
                  </a:schemeClr>
                </a:solidFill>
                <a:latin typeface="Arial" panose="020B0604020202020204" pitchFamily="34" charset="0"/>
              </a:rPr>
              <a:t>relate to</a:t>
            </a:r>
            <a:r>
              <a:rPr lang="en-GB" altLang="en-US" sz="1100" dirty="0">
                <a:solidFill>
                  <a:schemeClr val="bg1">
                    <a:lumMod val="50000"/>
                  </a:schemeClr>
                </a:solidFill>
                <a:latin typeface="Arial" panose="020B0604020202020204" pitchFamily="34" charset="0"/>
              </a:rPr>
              <a:t> changes in resident MFI sterling securitised loans secured on dwellings </a:t>
            </a:r>
            <a:r>
              <a:rPr lang="en-US" altLang="en-US" sz="1100" dirty="0">
                <a:solidFill>
                  <a:schemeClr val="bg1">
                    <a:lumMod val="50000"/>
                  </a:schemeClr>
                </a:solidFill>
                <a:latin typeface="Arial" panose="020B0604020202020204" pitchFamily="34" charset="0"/>
              </a:rPr>
              <a:t>to</a:t>
            </a:r>
            <a:r>
              <a:rPr lang="en-GB" altLang="en-US" sz="1100" dirty="0">
                <a:solidFill>
                  <a:schemeClr val="bg1">
                    <a:lumMod val="50000"/>
                  </a:schemeClr>
                </a:solidFill>
                <a:latin typeface="Arial" panose="020B0604020202020204" pitchFamily="34" charset="0"/>
              </a:rPr>
              <a:t> individuals.</a:t>
            </a:r>
            <a:endParaRPr lang="en-GB" altLang="en-US" sz="1100" dirty="0">
              <a:solidFill>
                <a:schemeClr val="bg1">
                  <a:lumMod val="50000"/>
                </a:schemeClr>
              </a:solidFill>
            </a:endParaRPr>
          </a:p>
          <a:p>
            <a:pPr>
              <a:spcBef>
                <a:spcPct val="0"/>
              </a:spcBef>
              <a:buFontTx/>
              <a:buNone/>
            </a:pPr>
            <a:r>
              <a:rPr lang="en-GB" altLang="en-US" sz="1100" i="1" dirty="0">
                <a:solidFill>
                  <a:schemeClr val="bg1">
                    <a:lumMod val="50000"/>
                  </a:schemeClr>
                </a:solidFill>
                <a:latin typeface="Arial" panose="020B0604020202020204" pitchFamily="34" charset="0"/>
              </a:rPr>
              <a:t>Source</a:t>
            </a:r>
            <a:r>
              <a:rPr lang="en-GB" altLang="en-US" sz="1100" dirty="0">
                <a:solidFill>
                  <a:schemeClr val="bg1">
                    <a:lumMod val="50000"/>
                  </a:schemeClr>
                </a:solidFill>
                <a:latin typeface="Arial" panose="020B0604020202020204" pitchFamily="34" charset="0"/>
              </a:rPr>
              <a:t>: Based on data from </a:t>
            </a:r>
            <a:r>
              <a:rPr lang="en-GB" altLang="en-US" sz="1100" i="1" dirty="0">
                <a:solidFill>
                  <a:schemeClr val="bg1">
                    <a:lumMod val="50000"/>
                  </a:schemeClr>
                </a:solidFill>
                <a:latin typeface="Arial" panose="020B0604020202020204" pitchFamily="34" charset="0"/>
              </a:rPr>
              <a:t>Statistical Interactive Database</a:t>
            </a:r>
            <a:r>
              <a:rPr lang="en-GB" altLang="en-US" sz="1100" dirty="0">
                <a:solidFill>
                  <a:schemeClr val="bg1">
                    <a:lumMod val="50000"/>
                  </a:schemeClr>
                </a:solidFill>
                <a:latin typeface="Arial" panose="020B0604020202020204" pitchFamily="34" charset="0"/>
              </a:rPr>
              <a:t>, Bank of England, series </a:t>
            </a:r>
            <a:r>
              <a:rPr lang="en-GB" altLang="en-US" sz="1100" dirty="0">
                <a:solidFill>
                  <a:schemeClr val="bg1">
                    <a:lumMod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LPMVUJD</a:t>
            </a:r>
            <a:r>
              <a:rPr lang="en-GB" altLang="en-US" sz="1100" dirty="0">
                <a:solidFill>
                  <a:schemeClr val="bg1">
                    <a:lumMod val="50000"/>
                  </a:schemeClr>
                </a:solidFill>
                <a:latin typeface="Arial" panose="020B0604020202020204" pitchFamily="34" charset="0"/>
              </a:rPr>
              <a:t> (up to 2010) and </a:t>
            </a:r>
            <a:r>
              <a:rPr lang="en-GB" altLang="en-US" sz="1100" dirty="0">
                <a:solidFill>
                  <a:schemeClr val="bg1">
                    <a:lumMod val="5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LPMB8GO</a:t>
            </a:r>
            <a:r>
              <a:rPr lang="en-GB" altLang="en-US" sz="1100" dirty="0">
                <a:solidFill>
                  <a:schemeClr val="bg1">
                    <a:lumMod val="50000"/>
                  </a:schemeClr>
                </a:solidFill>
                <a:latin typeface="Arial" panose="020B0604020202020204" pitchFamily="34" charset="0"/>
              </a:rPr>
              <a:t> (data published 29 March 2022).</a:t>
            </a:r>
          </a:p>
        </p:txBody>
      </p:sp>
      <p:graphicFrame>
        <p:nvGraphicFramePr>
          <p:cNvPr id="7" name="Object 6">
            <a:extLst>
              <a:ext uri="{FF2B5EF4-FFF2-40B4-BE49-F238E27FC236}">
                <a16:creationId xmlns:a16="http://schemas.microsoft.com/office/drawing/2014/main" id="{EE1D52C1-C86B-428A-B62D-89E75461913E}"/>
              </a:ext>
            </a:extLst>
          </p:cNvPr>
          <p:cNvGraphicFramePr>
            <a:graphicFrameLocks noChangeAspect="1"/>
          </p:cNvGraphicFramePr>
          <p:nvPr/>
        </p:nvGraphicFramePr>
        <p:xfrm>
          <a:off x="-1" y="661988"/>
          <a:ext cx="12154593" cy="5527316"/>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20E74666-25E9-F594-0576-663678FD77E6}"/>
              </a:ext>
            </a:extLst>
          </p:cNvPr>
          <p:cNvSpPr txBox="1"/>
          <p:nvPr/>
        </p:nvSpPr>
        <p:spPr>
          <a:xfrm>
            <a:off x="2131369" y="3855777"/>
            <a:ext cx="4496744" cy="1200329"/>
          </a:xfrm>
          <a:prstGeom prst="rect">
            <a:avLst/>
          </a:prstGeom>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GB" sz="2400" dirty="0">
                <a:solidFill>
                  <a:schemeClr val="accent2"/>
                </a:solidFill>
              </a:rPr>
              <a:t>This is the housing market:</a:t>
            </a:r>
          </a:p>
          <a:p>
            <a:r>
              <a:rPr lang="en-GB" sz="2400" dirty="0">
                <a:solidFill>
                  <a:schemeClr val="accent2"/>
                </a:solidFill>
              </a:rPr>
              <a:t>Rise of securitisation reversed </a:t>
            </a:r>
            <a:br>
              <a:rPr lang="en-GB" sz="2400" dirty="0">
                <a:solidFill>
                  <a:schemeClr val="accent2"/>
                </a:solidFill>
              </a:rPr>
            </a:br>
            <a:r>
              <a:rPr lang="en-GB" sz="2400" dirty="0">
                <a:solidFill>
                  <a:schemeClr val="accent2"/>
                </a:solidFill>
              </a:rPr>
              <a:t>through the 10 years after crisis</a:t>
            </a:r>
          </a:p>
        </p:txBody>
      </p:sp>
    </p:spTree>
    <p:extLst>
      <p:ext uri="{BB962C8B-B14F-4D97-AF65-F5344CB8AC3E}">
        <p14:creationId xmlns:p14="http://schemas.microsoft.com/office/powerpoint/2010/main" val="352194778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left)">
                                      <p:cBhvr>
                                        <p:cTn id="7" dur="1000"/>
                                        <p:tgtEl>
                                          <p:spTgt spid="7">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left)">
                                      <p:cBhvr>
                                        <p:cTn id="12" dur="1000"/>
                                        <p:tgtEl>
                                          <p:spTgt spid="7">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 animBg="0"/>
        </p:bldSub>
      </p:bldGraphic>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4"/>
          <p:cNvSpPr txBox="1">
            <a:spLocks noChangeArrowheads="1"/>
          </p:cNvSpPr>
          <p:nvPr/>
        </p:nvSpPr>
        <p:spPr bwMode="auto">
          <a:xfrm>
            <a:off x="0" y="1"/>
            <a:ext cx="12072664" cy="569387"/>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GB" altLang="en-US" sz="2800" b="1" dirty="0">
                <a:solidFill>
                  <a:srgbClr val="660066"/>
                </a:solidFill>
                <a:latin typeface="Arial" panose="020B0604020202020204" pitchFamily="34" charset="0"/>
                <a:cs typeface="Times New Roman" panose="02020603050405020304" pitchFamily="18" charset="0"/>
              </a:rPr>
              <a:t>Selected interest rates</a:t>
            </a:r>
          </a:p>
        </p:txBody>
      </p:sp>
      <p:sp>
        <p:nvSpPr>
          <p:cNvPr id="10" name="TextBox 1">
            <a:extLst>
              <a:ext uri="{FF2B5EF4-FFF2-40B4-BE49-F238E27FC236}">
                <a16:creationId xmlns:a16="http://schemas.microsoft.com/office/drawing/2014/main" id="{17326A05-5F37-5738-4B99-386A695553EC}"/>
              </a:ext>
            </a:extLst>
          </p:cNvPr>
          <p:cNvSpPr txBox="1">
            <a:spLocks noChangeArrowheads="1"/>
          </p:cNvSpPr>
          <p:nvPr/>
        </p:nvSpPr>
        <p:spPr bwMode="auto">
          <a:xfrm>
            <a:off x="481013" y="6290326"/>
            <a:ext cx="1124243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GB" altLang="en-US" sz="1100" i="1" dirty="0">
                <a:solidFill>
                  <a:schemeClr val="tx1">
                    <a:lumMod val="50000"/>
                    <a:lumOff val="50000"/>
                  </a:schemeClr>
                </a:solidFill>
                <a:latin typeface="Arial" panose="020B0604020202020204" pitchFamily="34" charset="0"/>
                <a:cs typeface="Arial" panose="020B0604020202020204" pitchFamily="34" charset="0"/>
              </a:rPr>
              <a:t>Note: </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Government securities: </a:t>
            </a:r>
            <a:r>
              <a:rPr lang="en-GB" altLang="en-US" sz="1100" i="1" dirty="0">
                <a:solidFill>
                  <a:schemeClr val="tx1">
                    <a:lumMod val="50000"/>
                    <a:lumOff val="50000"/>
                  </a:schemeClr>
                </a:solidFill>
                <a:latin typeface="Arial" panose="020B0604020202020204" pitchFamily="34" charset="0"/>
                <a:cs typeface="Arial" panose="020B0604020202020204" pitchFamily="34" charset="0"/>
              </a:rPr>
              <a:t>z</a:t>
            </a:r>
            <a:r>
              <a:rPr lang="en-GB" sz="1100" dirty="0">
                <a:solidFill>
                  <a:schemeClr val="tx1">
                    <a:lumMod val="50000"/>
                    <a:lumOff val="50000"/>
                  </a:schemeClr>
                </a:solidFill>
                <a:latin typeface="Arial" panose="020B0604020202020204" pitchFamily="34" charset="0"/>
                <a:cs typeface="Arial" panose="020B0604020202020204" pitchFamily="34" charset="0"/>
              </a:rPr>
              <a:t>ero coupon, 20-year nominal yields</a:t>
            </a:r>
            <a:endParaRPr lang="en-GB" altLang="en-US" sz="1100" i="1" dirty="0">
              <a:solidFill>
                <a:schemeClr val="tx1">
                  <a:lumMod val="50000"/>
                  <a:lumOff val="50000"/>
                </a:schemeClr>
              </a:solidFill>
              <a:latin typeface="Arial" panose="020B0604020202020204" pitchFamily="34" charset="0"/>
              <a:cs typeface="Arial" panose="020B0604020202020204" pitchFamily="34" charset="0"/>
            </a:endParaRPr>
          </a:p>
          <a:p>
            <a:pPr>
              <a:spcBef>
                <a:spcPct val="0"/>
              </a:spcBef>
              <a:buFontTx/>
              <a:buNone/>
            </a:pPr>
            <a:r>
              <a:rPr lang="en-GB" altLang="en-US" sz="1100" i="1" dirty="0">
                <a:solidFill>
                  <a:schemeClr val="tx1">
                    <a:lumMod val="50000"/>
                    <a:lumOff val="50000"/>
                  </a:schemeClr>
                </a:solidFill>
                <a:latin typeface="Arial" panose="020B0604020202020204" pitchFamily="34" charset="0"/>
                <a:cs typeface="Arial" panose="020B0604020202020204" pitchFamily="34" charset="0"/>
              </a:rPr>
              <a:t>Source</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Based on data from </a:t>
            </a:r>
            <a:r>
              <a:rPr lang="en-GB" altLang="en-US" sz="1100" i="1" dirty="0">
                <a:solidFill>
                  <a:schemeClr val="tx1">
                    <a:lumMod val="50000"/>
                    <a:lumOff val="50000"/>
                  </a:schemeClr>
                </a:solidFill>
                <a:latin typeface="Arial" panose="020B0604020202020204" pitchFamily="34" charset="0"/>
                <a:cs typeface="Arial" panose="020B0604020202020204" pitchFamily="34" charset="0"/>
              </a:rPr>
              <a:t>Statistical Interactive Database</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series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IUMABEDR</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IUMASOIA</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IUMZID2</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IUMALNZC</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a:t>
            </a:r>
            <a:r>
              <a:rPr lang="en-GB" altLang="en-US" sz="1100" dirty="0">
                <a:solidFill>
                  <a:schemeClr val="tx1">
                    <a:lumMod val="50000"/>
                    <a:lumOff val="50000"/>
                  </a:schemeClr>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IUMTLMV</a:t>
            </a:r>
            <a:r>
              <a:rPr lang="en-GB" altLang="en-US" sz="1100" dirty="0">
                <a:solidFill>
                  <a:schemeClr val="tx1">
                    <a:lumMod val="50000"/>
                    <a:lumOff val="50000"/>
                  </a:schemeClr>
                </a:solidFill>
                <a:latin typeface="Arial" panose="020B0604020202020204" pitchFamily="34" charset="0"/>
                <a:cs typeface="Arial" panose="020B0604020202020204" pitchFamily="34" charset="0"/>
              </a:rPr>
              <a:t>, Bank of England (30 September 2022)</a:t>
            </a:r>
          </a:p>
        </p:txBody>
      </p:sp>
      <p:graphicFrame>
        <p:nvGraphicFramePr>
          <p:cNvPr id="11" name="Object 3">
            <a:extLst>
              <a:ext uri="{FF2B5EF4-FFF2-40B4-BE49-F238E27FC236}">
                <a16:creationId xmlns:a16="http://schemas.microsoft.com/office/drawing/2014/main" id="{4DBAF4D9-FB5F-8845-A46C-AA82C51E02B0}"/>
              </a:ext>
            </a:extLst>
          </p:cNvPr>
          <p:cNvGraphicFramePr>
            <a:graphicFrameLocks noGrp="1" noChangeAspect="1"/>
          </p:cNvGraphicFramePr>
          <p:nvPr>
            <p:ph type="chart" idx="1"/>
          </p:nvPr>
        </p:nvGraphicFramePr>
        <p:xfrm>
          <a:off x="0" y="507831"/>
          <a:ext cx="12192000" cy="5729481"/>
        </p:xfrm>
        <a:graphic>
          <a:graphicData uri="http://schemas.openxmlformats.org/drawingml/2006/chart">
            <c:chart xmlns:c="http://schemas.openxmlformats.org/drawingml/2006/chart" xmlns:r="http://schemas.openxmlformats.org/officeDocument/2006/relationships" r:id="rId8"/>
          </a:graphicData>
        </a:graphic>
      </p:graphicFrame>
      <p:sp>
        <p:nvSpPr>
          <p:cNvPr id="2" name="TextBox 1">
            <a:extLst>
              <a:ext uri="{FF2B5EF4-FFF2-40B4-BE49-F238E27FC236}">
                <a16:creationId xmlns:a16="http://schemas.microsoft.com/office/drawing/2014/main" id="{42953875-AE24-12B0-BBC6-BCAC1A004366}"/>
              </a:ext>
            </a:extLst>
          </p:cNvPr>
          <p:cNvSpPr txBox="1"/>
          <p:nvPr/>
        </p:nvSpPr>
        <p:spPr>
          <a:xfrm>
            <a:off x="1155032" y="3724977"/>
            <a:ext cx="4378956" cy="1938992"/>
          </a:xfrm>
          <a:prstGeom prst="rect">
            <a:avLst/>
          </a:prstGeom>
          <a:noFill/>
        </p:spPr>
        <p:txBody>
          <a:bodyPr wrap="none" rtlCol="0">
            <a:spAutoFit/>
          </a:bodyPr>
          <a:lstStyle/>
          <a:p>
            <a:r>
              <a:rPr lang="en-GB" dirty="0">
                <a:solidFill>
                  <a:schemeClr val="accent6"/>
                </a:solidFill>
                <a:latin typeface="+mj-lt"/>
              </a:rPr>
              <a:t>Usual question</a:t>
            </a:r>
          </a:p>
          <a:p>
            <a:pPr marL="342900" indent="-342900">
              <a:buFont typeface="Arial" panose="020B0604020202020204" pitchFamily="34" charset="0"/>
              <a:buChar char="•"/>
            </a:pPr>
            <a:r>
              <a:rPr lang="en-GB" dirty="0">
                <a:solidFill>
                  <a:schemeClr val="accent6"/>
                </a:solidFill>
                <a:latin typeface="+mj-lt"/>
              </a:rPr>
              <a:t>NICE decade</a:t>
            </a:r>
          </a:p>
          <a:p>
            <a:pPr marL="342900" indent="-342900">
              <a:buFont typeface="Arial" panose="020B0604020202020204" pitchFamily="34" charset="0"/>
              <a:buChar char="•"/>
            </a:pPr>
            <a:r>
              <a:rPr lang="en-GB" dirty="0">
                <a:solidFill>
                  <a:schemeClr val="accent6"/>
                </a:solidFill>
                <a:latin typeface="+mj-lt"/>
              </a:rPr>
              <a:t>Financial crisis</a:t>
            </a:r>
          </a:p>
          <a:p>
            <a:pPr marL="342900" indent="-342900">
              <a:buFont typeface="Arial" panose="020B0604020202020204" pitchFamily="34" charset="0"/>
              <a:buChar char="•"/>
            </a:pPr>
            <a:r>
              <a:rPr lang="en-GB" dirty="0">
                <a:solidFill>
                  <a:schemeClr val="accent6"/>
                </a:solidFill>
                <a:latin typeface="+mj-lt"/>
              </a:rPr>
              <a:t>Covid</a:t>
            </a:r>
          </a:p>
          <a:p>
            <a:pPr marL="342900" indent="-342900">
              <a:buFont typeface="Arial" panose="020B0604020202020204" pitchFamily="34" charset="0"/>
              <a:buChar char="•"/>
            </a:pPr>
            <a:r>
              <a:rPr lang="en-GB" dirty="0">
                <a:solidFill>
                  <a:schemeClr val="accent6"/>
                </a:solidFill>
                <a:latin typeface="+mj-lt"/>
              </a:rPr>
              <a:t>But what’s happened since?</a:t>
            </a:r>
          </a:p>
        </p:txBody>
      </p:sp>
    </p:spTree>
    <p:extLst>
      <p:ext uri="{BB962C8B-B14F-4D97-AF65-F5344CB8AC3E}">
        <p14:creationId xmlns:p14="http://schemas.microsoft.com/office/powerpoint/2010/main" val="16936980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graphicEl>
                                              <a:chart seriesIdx="0" categoryIdx="-4" bldStep="series"/>
                                            </p:graphicEl>
                                          </p:spTgt>
                                        </p:tgtEl>
                                        <p:attrNameLst>
                                          <p:attrName>style.visibility</p:attrName>
                                        </p:attrNameLst>
                                      </p:cBhvr>
                                      <p:to>
                                        <p:strVal val="visible"/>
                                      </p:to>
                                    </p:set>
                                    <p:animEffect transition="in" filter="wipe(left)">
                                      <p:cBhvr>
                                        <p:cTn id="7" dur="1000"/>
                                        <p:tgtEl>
                                          <p:spTgt spid="11">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graphicEl>
                                              <a:chart seriesIdx="1" categoryIdx="-4" bldStep="series"/>
                                            </p:graphicEl>
                                          </p:spTgt>
                                        </p:tgtEl>
                                        <p:attrNameLst>
                                          <p:attrName>style.visibility</p:attrName>
                                        </p:attrNameLst>
                                      </p:cBhvr>
                                      <p:to>
                                        <p:strVal val="visible"/>
                                      </p:to>
                                    </p:set>
                                    <p:animEffect transition="in" filter="wipe(left)">
                                      <p:cBhvr>
                                        <p:cTn id="12" dur="1000"/>
                                        <p:tgtEl>
                                          <p:spTgt spid="11">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graphicEl>
                                              <a:chart seriesIdx="2" categoryIdx="-4" bldStep="series"/>
                                            </p:graphicEl>
                                          </p:spTgt>
                                        </p:tgtEl>
                                        <p:attrNameLst>
                                          <p:attrName>style.visibility</p:attrName>
                                        </p:attrNameLst>
                                      </p:cBhvr>
                                      <p:to>
                                        <p:strVal val="visible"/>
                                      </p:to>
                                    </p:set>
                                    <p:animEffect transition="in" filter="wipe(left)">
                                      <p:cBhvr>
                                        <p:cTn id="17" dur="1000"/>
                                        <p:tgtEl>
                                          <p:spTgt spid="11">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graphicEl>
                                              <a:chart seriesIdx="3" categoryIdx="-4" bldStep="series"/>
                                            </p:graphicEl>
                                          </p:spTgt>
                                        </p:tgtEl>
                                        <p:attrNameLst>
                                          <p:attrName>style.visibility</p:attrName>
                                        </p:attrNameLst>
                                      </p:cBhvr>
                                      <p:to>
                                        <p:strVal val="visible"/>
                                      </p:to>
                                    </p:set>
                                    <p:animEffect transition="in" filter="wipe(left)">
                                      <p:cBhvr>
                                        <p:cTn id="22" dur="1000"/>
                                        <p:tgtEl>
                                          <p:spTgt spid="11">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graphicEl>
                                              <a:chart seriesIdx="4" categoryIdx="-4" bldStep="series"/>
                                            </p:graphicEl>
                                          </p:spTgt>
                                        </p:tgtEl>
                                        <p:attrNameLst>
                                          <p:attrName>style.visibility</p:attrName>
                                        </p:attrNameLst>
                                      </p:cBhvr>
                                      <p:to>
                                        <p:strVal val="visible"/>
                                      </p:to>
                                    </p:set>
                                    <p:animEffect transition="in" filter="wipe(left)">
                                      <p:cBhvr>
                                        <p:cTn id="27" dur="1000"/>
                                        <p:tgtEl>
                                          <p:spTgt spid="11">
                                            <p:graphicEl>
                                              <a:chart seriesIdx="4"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Chart bld="series" animBg="0"/>
        </p:bldSub>
      </p:bldGraphic>
    </p:bld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CF88A7-10E3-4B78-AAB4-E035B0995F42}">
  <ds:schemaRefs>
    <ds:schemaRef ds:uri="http://schemas.microsoft.com/sharepoint/v3/contenttype/forms"/>
  </ds:schemaRefs>
</ds:datastoreItem>
</file>

<file path=customXml/itemProps3.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211</TotalTime>
  <Words>5240</Words>
  <Application>Microsoft Office PowerPoint</Application>
  <PresentationFormat>Widescreen</PresentationFormat>
  <Paragraphs>578</Paragraphs>
  <Slides>55</Slides>
  <Notes>46</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55</vt:i4>
      </vt:variant>
    </vt:vector>
  </HeadingPairs>
  <TitlesOfParts>
    <vt:vector size="67" baseType="lpstr">
      <vt:lpstr>Aptos</vt:lpstr>
      <vt:lpstr>Arial</vt:lpstr>
      <vt:lpstr>Calibri</vt:lpstr>
      <vt:lpstr>Helvetica</vt:lpstr>
      <vt:lpstr>StoneSerifITCPro</vt:lpstr>
      <vt:lpstr>Times New Roman</vt:lpstr>
      <vt:lpstr>Custom Design</vt:lpstr>
      <vt:lpstr>1_Custom Design</vt:lpstr>
      <vt:lpstr>1_Office Theme</vt:lpstr>
      <vt:lpstr>4_Custom Design</vt:lpstr>
      <vt:lpstr>5_Custom Design</vt:lpstr>
      <vt:lpstr>6_Custom Design</vt:lpstr>
      <vt:lpstr>C29PE Economics for Professionals</vt:lpstr>
      <vt:lpstr>References</vt:lpstr>
      <vt:lpstr>Session Aims</vt:lpstr>
      <vt:lpstr>What is money?</vt:lpstr>
      <vt:lpstr>What does money do?</vt:lpstr>
      <vt:lpstr>The Financial System </vt:lpstr>
      <vt:lpstr>Structure of a bank’s balance sheet</vt:lpstr>
      <vt:lpstr>Assets</vt:lpstr>
      <vt:lpstr>Cash and reserve balances in the central bank</vt:lpstr>
      <vt:lpstr>Financial intermediation</vt:lpstr>
      <vt:lpstr>Profitability, liquidity, crisis</vt:lpstr>
      <vt:lpstr>Profitability vs liquidity</vt:lpstr>
      <vt:lpstr>Central Banks</vt:lpstr>
      <vt:lpstr>Central Banks’s functions</vt:lpstr>
      <vt:lpstr>PowerPoint Presentation</vt:lpstr>
      <vt:lpstr>PowerPoint Presentation</vt:lpstr>
      <vt:lpstr>The Supply of Money</vt:lpstr>
      <vt:lpstr>Bank money and credit creation</vt:lpstr>
      <vt:lpstr>Bank money and credit creation</vt:lpstr>
      <vt:lpstr>Deposit multiplier and credit creation</vt:lpstr>
      <vt:lpstr>PowerPoint Presentation</vt:lpstr>
      <vt:lpstr>Why does the supply of money increase?</vt:lpstr>
      <vt:lpstr>PowerPoint Presentation</vt:lpstr>
      <vt:lpstr>PowerPoint Presentation</vt:lpstr>
      <vt:lpstr>Credit cycles </vt:lpstr>
      <vt:lpstr>PowerPoint Presentation</vt:lpstr>
      <vt:lpstr>Money supply and the rate of interest</vt:lpstr>
      <vt:lpstr>PowerPoint Presentation</vt:lpstr>
      <vt:lpstr>Why hold money?</vt:lpstr>
      <vt:lpstr>Why might demand for money increase?</vt:lpstr>
      <vt:lpstr>The demand for money curve</vt:lpstr>
      <vt:lpstr>Equilibrium: equating supply and demand</vt:lpstr>
      <vt:lpstr>PowerPoint Presentation</vt:lpstr>
      <vt:lpstr>Monetary Equilibrium</vt:lpstr>
      <vt:lpstr>Money supply and the real economy</vt:lpstr>
      <vt:lpstr>PowerPoint Presentation</vt:lpstr>
      <vt:lpstr>The quantity theory of money</vt:lpstr>
      <vt:lpstr>Questions which divide economists: short run</vt:lpstr>
      <vt:lpstr>Summary</vt:lpstr>
      <vt:lpstr>Additional materials for reading (will not be covered in class)</vt:lpstr>
      <vt:lpstr>Sight deposits</vt:lpstr>
      <vt:lpstr>Time deposits</vt:lpstr>
      <vt:lpstr>Certificates of deposit</vt:lpstr>
      <vt:lpstr>Sale and repurchase agreements (‘repos’)</vt:lpstr>
      <vt:lpstr>Capital and other funds</vt:lpstr>
      <vt:lpstr>Short-term loans</vt:lpstr>
      <vt:lpstr>Long-term loans</vt:lpstr>
      <vt:lpstr>Primary vs secondary market</vt:lpstr>
      <vt:lpstr>Securitisation</vt:lpstr>
      <vt:lpstr>PowerPoint Presentation</vt:lpstr>
      <vt:lpstr>What could go wrong?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17</cp:revision>
  <cp:lastPrinted>2024-03-27T09:31:09Z</cp:lastPrinted>
  <dcterms:created xsi:type="dcterms:W3CDTF">2024-03-26T13:44:16Z</dcterms:created>
  <dcterms:modified xsi:type="dcterms:W3CDTF">2025-08-29T01:56:22Z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