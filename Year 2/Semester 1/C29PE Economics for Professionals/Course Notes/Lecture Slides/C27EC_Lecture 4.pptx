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30"/>
  </p:notesMasterIdLst>
  <p:sldIdLst>
    <p:sldId id="258" r:id="rId10"/>
    <p:sldId id="855" r:id="rId11"/>
    <p:sldId id="853" r:id="rId12"/>
    <p:sldId id="690" r:id="rId13"/>
    <p:sldId id="726" r:id="rId14"/>
    <p:sldId id="691" r:id="rId15"/>
    <p:sldId id="692" r:id="rId16"/>
    <p:sldId id="693" r:id="rId17"/>
    <p:sldId id="697" r:id="rId18"/>
    <p:sldId id="725" r:id="rId19"/>
    <p:sldId id="699" r:id="rId20"/>
    <p:sldId id="700" r:id="rId21"/>
    <p:sldId id="701" r:id="rId22"/>
    <p:sldId id="702" r:id="rId23"/>
    <p:sldId id="703" r:id="rId24"/>
    <p:sldId id="704" r:id="rId25"/>
    <p:sldId id="705" r:id="rId26"/>
    <p:sldId id="706" r:id="rId27"/>
    <p:sldId id="718" r:id="rId28"/>
    <p:sldId id="85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4A686F-AE1D-89BC-1EDE-DD27E66D69C9}" v="1" dt="2024-10-02T03:49:38.123"/>
    <p1510:client id="{D5E2FB6A-6F3D-C87E-E80A-38BE227F3E0C}" v="2" dt="2024-10-02T03:52:21.132"/>
    <p1510:client id="{DEE4AB5F-5A6B-288D-92D8-BB114A21D2F7}" v="2" dt="2024-10-02T03:49:13.3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customXml" Target="../customXml/item3.xml"/><Relationship Id="rId21" Type="http://schemas.openxmlformats.org/officeDocument/2006/relationships/slide" Target="slides/slide12.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microsoft.com/office/2015/10/relationships/revisionInfo" Target="revisionInfo.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h, Natalie" userId="S::kt2049@hw.ac.uk::75a03a58-b8f7-4568-958b-19e4170da378" providerId="AD" clId="Web-{3B4A686F-AE1D-89BC-1EDE-DD27E66D69C9}"/>
    <pc:docChg chg="modSld">
      <pc:chgData name="Toh, Natalie" userId="S::kt2049@hw.ac.uk::75a03a58-b8f7-4568-958b-19e4170da378" providerId="AD" clId="Web-{3B4A686F-AE1D-89BC-1EDE-DD27E66D69C9}" dt="2024-10-02T03:49:38.123" v="0" actId="1076"/>
      <pc:docMkLst>
        <pc:docMk/>
      </pc:docMkLst>
      <pc:sldChg chg="modSp">
        <pc:chgData name="Toh, Natalie" userId="S::kt2049@hw.ac.uk::75a03a58-b8f7-4568-958b-19e4170da378" providerId="AD" clId="Web-{3B4A686F-AE1D-89BC-1EDE-DD27E66D69C9}" dt="2024-10-02T03:49:38.123" v="0" actId="1076"/>
        <pc:sldMkLst>
          <pc:docMk/>
          <pc:sldMk cId="2386672256" sldId="411"/>
        </pc:sldMkLst>
        <pc:picChg chg="mod">
          <ac:chgData name="Toh, Natalie" userId="S::kt2049@hw.ac.uk::75a03a58-b8f7-4568-958b-19e4170da378" providerId="AD" clId="Web-{3B4A686F-AE1D-89BC-1EDE-DD27E66D69C9}" dt="2024-10-02T03:49:38.123" v="0" actId="1076"/>
          <ac:picMkLst>
            <pc:docMk/>
            <pc:sldMk cId="2386672256" sldId="411"/>
            <ac:picMk id="3" creationId="{81A71E0A-C1F7-4115-B1EA-C7DA476DB2BD}"/>
          </ac:picMkLst>
        </pc:picChg>
      </pc:sldChg>
    </pc:docChg>
  </pc:docChgLst>
  <pc:docChgLst>
    <pc:chgData name="Toh, Natalie" userId="S::kt2049@hw.ac.uk::75a03a58-b8f7-4568-958b-19e4170da378" providerId="AD" clId="Web-{DEE4AB5F-5A6B-288D-92D8-BB114A21D2F7}"/>
    <pc:docChg chg="modSld">
      <pc:chgData name="Toh, Natalie" userId="S::kt2049@hw.ac.uk::75a03a58-b8f7-4568-958b-19e4170da378" providerId="AD" clId="Web-{DEE4AB5F-5A6B-288D-92D8-BB114A21D2F7}" dt="2024-10-02T03:49:13.399" v="1" actId="1076"/>
      <pc:docMkLst>
        <pc:docMk/>
      </pc:docMkLst>
      <pc:sldChg chg="modSp">
        <pc:chgData name="Toh, Natalie" userId="S::kt2049@hw.ac.uk::75a03a58-b8f7-4568-958b-19e4170da378" providerId="AD" clId="Web-{DEE4AB5F-5A6B-288D-92D8-BB114A21D2F7}" dt="2024-10-02T03:49:13.399" v="1" actId="1076"/>
        <pc:sldMkLst>
          <pc:docMk/>
          <pc:sldMk cId="2386672256" sldId="411"/>
        </pc:sldMkLst>
        <pc:picChg chg="mod">
          <ac:chgData name="Toh, Natalie" userId="S::kt2049@hw.ac.uk::75a03a58-b8f7-4568-958b-19e4170da378" providerId="AD" clId="Web-{DEE4AB5F-5A6B-288D-92D8-BB114A21D2F7}" dt="2024-10-02T03:49:13.399" v="1" actId="1076"/>
          <ac:picMkLst>
            <pc:docMk/>
            <pc:sldMk cId="2386672256" sldId="411"/>
            <ac:picMk id="3" creationId="{81A71E0A-C1F7-4115-B1EA-C7DA476DB2BD}"/>
          </ac:picMkLst>
        </pc:picChg>
      </pc:sldChg>
    </pc:docChg>
  </pc:docChgLst>
  <pc:docChgLst>
    <pc:chgData name="Lee, Lee Jiea" userId="S::jl2047@hw.ac.uk::f04d9cf5-e7f7-4afa-b2c4-b323f87402e0" providerId="AD" clId="Web-{B426C751-32DD-3730-8A06-5BF13A2B19E8}"/>
    <pc:docChg chg="modSld">
      <pc:chgData name="Lee, Lee Jiea" userId="S::jl2047@hw.ac.uk::f04d9cf5-e7f7-4afa-b2c4-b323f87402e0" providerId="AD" clId="Web-{B426C751-32DD-3730-8A06-5BF13A2B19E8}" dt="2024-09-30T14:44:17.517" v="0" actId="1076"/>
      <pc:docMkLst>
        <pc:docMk/>
      </pc:docMkLst>
      <pc:sldChg chg="modSp">
        <pc:chgData name="Lee, Lee Jiea" userId="S::jl2047@hw.ac.uk::f04d9cf5-e7f7-4afa-b2c4-b323f87402e0" providerId="AD" clId="Web-{B426C751-32DD-3730-8A06-5BF13A2B19E8}" dt="2024-09-30T14:44:17.517" v="0" actId="1076"/>
        <pc:sldMkLst>
          <pc:docMk/>
          <pc:sldMk cId="2386672256" sldId="411"/>
        </pc:sldMkLst>
        <pc:picChg chg="mod">
          <ac:chgData name="Lee, Lee Jiea" userId="S::jl2047@hw.ac.uk::f04d9cf5-e7f7-4afa-b2c4-b323f87402e0" providerId="AD" clId="Web-{B426C751-32DD-3730-8A06-5BF13A2B19E8}" dt="2024-09-30T14:44:17.517" v="0" actId="1076"/>
          <ac:picMkLst>
            <pc:docMk/>
            <pc:sldMk cId="2386672256" sldId="411"/>
            <ac:picMk id="3" creationId="{81A71E0A-C1F7-4115-B1EA-C7DA476DB2BD}"/>
          </ac:picMkLst>
        </pc:picChg>
      </pc:sldChg>
    </pc:docChg>
  </pc:docChgLst>
  <pc:docChgLst>
    <pc:chgData name="Ting, MANDY" userId="S::mt2061@hw.ac.uk::8be57013-357d-4142-aa54-059c6866f383" providerId="AD" clId="Web-{D5E2FB6A-6F3D-C87E-E80A-38BE227F3E0C}"/>
    <pc:docChg chg="modSld">
      <pc:chgData name="Ting, MANDY" userId="S::mt2061@hw.ac.uk::8be57013-357d-4142-aa54-059c6866f383" providerId="AD" clId="Web-{D5E2FB6A-6F3D-C87E-E80A-38BE227F3E0C}" dt="2024-10-02T03:52:21.132" v="1" actId="20577"/>
      <pc:docMkLst>
        <pc:docMk/>
      </pc:docMkLst>
      <pc:sldChg chg="modSp">
        <pc:chgData name="Ting, MANDY" userId="S::mt2061@hw.ac.uk::8be57013-357d-4142-aa54-059c6866f383" providerId="AD" clId="Web-{D5E2FB6A-6F3D-C87E-E80A-38BE227F3E0C}" dt="2024-10-02T03:52:21.132" v="1" actId="20577"/>
        <pc:sldMkLst>
          <pc:docMk/>
          <pc:sldMk cId="1556209700" sldId="258"/>
        </pc:sldMkLst>
        <pc:spChg chg="mod">
          <ac:chgData name="Ting, MANDY" userId="S::mt2061@hw.ac.uk::8be57013-357d-4142-aa54-059c6866f383" providerId="AD" clId="Web-{D5E2FB6A-6F3D-C87E-E80A-38BE227F3E0C}" dt="2024-10-02T03:52:21.132" v="1" actId="20577"/>
          <ac:spMkLst>
            <pc:docMk/>
            <pc:sldMk cId="1556209700" sldId="258"/>
            <ac:spMk id="3" creationId="{492700F6-CF37-8E0A-DA52-38A84466492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06D40-0E8C-424B-991F-69AF8DB1782A}" type="datetimeFigureOut">
              <a:rPr lang="en-GB" smtClean="0"/>
              <a:t>29/08/2025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14004-77EB-460B-9551-8DB9690EF2DA}" type="slidenum">
              <a:rPr lang="en-GB" smtClean="0"/>
              <a:t>‹#›</a:t>
            </a:fld>
            <a:endParaRPr lang="en-GB"/>
          </a:p>
        </p:txBody>
      </p:sp>
    </p:spTree>
    <p:extLst>
      <p:ext uri="{BB962C8B-B14F-4D97-AF65-F5344CB8AC3E}">
        <p14:creationId xmlns:p14="http://schemas.microsoft.com/office/powerpoint/2010/main" val="397106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234703E-24AD-482F-BD08-A70D2BFD1CD5}" type="slidenum">
              <a:rPr lang="en-GB" altLang="en-US"/>
              <a:pPr/>
              <a:t>4</a:t>
            </a:fld>
            <a:endParaRPr lang="en-GB" altLang="en-US"/>
          </a:p>
        </p:txBody>
      </p:sp>
      <p:sp>
        <p:nvSpPr>
          <p:cNvPr id="372738"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39"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13</a:t>
            </a:r>
          </a:p>
        </p:txBody>
      </p:sp>
      <p:sp>
        <p:nvSpPr>
          <p:cNvPr id="372740"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41"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42" name="Rectangle 6"/>
          <p:cNvSpPr>
            <a:spLocks noGrp="1" noChangeArrowheads="1"/>
          </p:cNvSpPr>
          <p:nvPr>
            <p:ph type="body" idx="1"/>
          </p:nvPr>
        </p:nvSpPr>
        <p:spPr>
          <a:ln/>
        </p:spPr>
        <p:txBody>
          <a:bodyPr lIns="92075" tIns="46038" rIns="92075" bIns="46038"/>
          <a:lstStyle/>
          <a:p>
            <a:endParaRPr lang="en-GB" altLang="en-US" noProof="1"/>
          </a:p>
        </p:txBody>
      </p:sp>
      <p:sp>
        <p:nvSpPr>
          <p:cNvPr id="37274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003160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234703E-24AD-482F-BD08-A70D2BFD1CD5}" type="slidenum">
              <a:rPr lang="en-GB" altLang="en-US"/>
              <a:pPr/>
              <a:t>5</a:t>
            </a:fld>
            <a:endParaRPr lang="en-GB" altLang="en-US"/>
          </a:p>
        </p:txBody>
      </p:sp>
      <p:sp>
        <p:nvSpPr>
          <p:cNvPr id="372738"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39"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13</a:t>
            </a:r>
          </a:p>
        </p:txBody>
      </p:sp>
      <p:sp>
        <p:nvSpPr>
          <p:cNvPr id="372740"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41"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42" name="Rectangle 6"/>
          <p:cNvSpPr>
            <a:spLocks noGrp="1" noChangeArrowheads="1"/>
          </p:cNvSpPr>
          <p:nvPr>
            <p:ph type="body" idx="1"/>
          </p:nvPr>
        </p:nvSpPr>
        <p:spPr>
          <a:ln/>
        </p:spPr>
        <p:txBody>
          <a:bodyPr lIns="92075" tIns="46038" rIns="92075" bIns="46038"/>
          <a:lstStyle/>
          <a:p>
            <a:endParaRPr lang="en-GB" altLang="en-US" noProof="1"/>
          </a:p>
        </p:txBody>
      </p:sp>
      <p:sp>
        <p:nvSpPr>
          <p:cNvPr id="37274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025134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234703E-24AD-482F-BD08-A70D2BFD1CD5}" type="slidenum">
              <a:rPr lang="en-GB" altLang="en-US"/>
              <a:pPr/>
              <a:t>6</a:t>
            </a:fld>
            <a:endParaRPr lang="en-GB" altLang="en-US"/>
          </a:p>
        </p:txBody>
      </p:sp>
      <p:sp>
        <p:nvSpPr>
          <p:cNvPr id="372738"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39"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13</a:t>
            </a:r>
          </a:p>
        </p:txBody>
      </p:sp>
      <p:sp>
        <p:nvSpPr>
          <p:cNvPr id="372740"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41"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42" name="Rectangle 6"/>
          <p:cNvSpPr>
            <a:spLocks noGrp="1" noChangeArrowheads="1"/>
          </p:cNvSpPr>
          <p:nvPr>
            <p:ph type="body" idx="1"/>
          </p:nvPr>
        </p:nvSpPr>
        <p:spPr>
          <a:ln/>
        </p:spPr>
        <p:txBody>
          <a:bodyPr lIns="92075" tIns="46038" rIns="92075" bIns="46038"/>
          <a:lstStyle/>
          <a:p>
            <a:endParaRPr lang="en-GB" altLang="en-US" noProof="1"/>
          </a:p>
        </p:txBody>
      </p:sp>
      <p:sp>
        <p:nvSpPr>
          <p:cNvPr id="37274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945864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234703E-24AD-482F-BD08-A70D2BFD1CD5}" type="slidenum">
              <a:rPr lang="en-GB" altLang="en-US"/>
              <a:pPr/>
              <a:t>7</a:t>
            </a:fld>
            <a:endParaRPr lang="en-GB" altLang="en-US"/>
          </a:p>
        </p:txBody>
      </p:sp>
      <p:sp>
        <p:nvSpPr>
          <p:cNvPr id="372738"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39"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13</a:t>
            </a:r>
          </a:p>
        </p:txBody>
      </p:sp>
      <p:sp>
        <p:nvSpPr>
          <p:cNvPr id="372740"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41"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2742" name="Rectangle 6"/>
          <p:cNvSpPr>
            <a:spLocks noGrp="1" noChangeArrowheads="1"/>
          </p:cNvSpPr>
          <p:nvPr>
            <p:ph type="body" idx="1"/>
          </p:nvPr>
        </p:nvSpPr>
        <p:spPr>
          <a:ln/>
        </p:spPr>
        <p:txBody>
          <a:bodyPr lIns="92075" tIns="46038" rIns="92075" bIns="46038"/>
          <a:lstStyle/>
          <a:p>
            <a:endParaRPr lang="en-GB" altLang="en-US" noProof="1"/>
          </a:p>
        </p:txBody>
      </p:sp>
      <p:sp>
        <p:nvSpPr>
          <p:cNvPr id="37274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337236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BA2CB785-D553-477A-98A7-842FB75F61F7}" type="slidenum">
              <a:rPr lang="en-GB" altLang="en-US"/>
              <a:pPr/>
              <a:t>8</a:t>
            </a:fld>
            <a:endParaRPr lang="en-GB" altLang="en-US"/>
          </a:p>
        </p:txBody>
      </p:sp>
      <p:sp>
        <p:nvSpPr>
          <p:cNvPr id="374786"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7"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14</a:t>
            </a:r>
          </a:p>
        </p:txBody>
      </p:sp>
      <p:sp>
        <p:nvSpPr>
          <p:cNvPr id="374788"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89"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4790" name="Rectangle 6"/>
          <p:cNvSpPr>
            <a:spLocks noGrp="1" noChangeArrowheads="1"/>
          </p:cNvSpPr>
          <p:nvPr>
            <p:ph type="body" idx="1"/>
          </p:nvPr>
        </p:nvSpPr>
        <p:spPr>
          <a:ln/>
        </p:spPr>
        <p:txBody>
          <a:bodyPr lIns="92075" tIns="46038" rIns="92075" bIns="46038"/>
          <a:lstStyle/>
          <a:p>
            <a:endParaRPr lang="en-GB" altLang="en-US" noProof="1"/>
          </a:p>
        </p:txBody>
      </p:sp>
      <p:sp>
        <p:nvSpPr>
          <p:cNvPr id="374791"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529354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0B821CCD-5DBE-4B42-8EA5-03658DCB85BD}" type="slidenum">
              <a:rPr lang="en-GB" altLang="en-US"/>
              <a:pPr/>
              <a:t>12</a:t>
            </a:fld>
            <a:endParaRPr lang="en-GB" altLang="en-US"/>
          </a:p>
        </p:txBody>
      </p:sp>
      <p:sp>
        <p:nvSpPr>
          <p:cNvPr id="376834"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5"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15</a:t>
            </a:r>
          </a:p>
        </p:txBody>
      </p:sp>
      <p:sp>
        <p:nvSpPr>
          <p:cNvPr id="376836"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7"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8" name="Rectangle 6"/>
          <p:cNvSpPr>
            <a:spLocks noGrp="1" noChangeArrowheads="1"/>
          </p:cNvSpPr>
          <p:nvPr>
            <p:ph type="body" idx="1"/>
          </p:nvPr>
        </p:nvSpPr>
        <p:spPr>
          <a:ln/>
        </p:spPr>
        <p:txBody>
          <a:bodyPr lIns="92075" tIns="46038" rIns="92075" bIns="46038"/>
          <a:lstStyle/>
          <a:p>
            <a:endParaRPr lang="en-GB" altLang="en-US" noProof="1"/>
          </a:p>
        </p:txBody>
      </p:sp>
      <p:sp>
        <p:nvSpPr>
          <p:cNvPr id="376839"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256071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0B821CCD-5DBE-4B42-8EA5-03658DCB85BD}" type="slidenum">
              <a:rPr lang="en-GB" altLang="en-US"/>
              <a:pPr/>
              <a:t>14</a:t>
            </a:fld>
            <a:endParaRPr lang="en-GB" altLang="en-US"/>
          </a:p>
        </p:txBody>
      </p:sp>
      <p:sp>
        <p:nvSpPr>
          <p:cNvPr id="376834"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5"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15</a:t>
            </a:r>
          </a:p>
        </p:txBody>
      </p:sp>
      <p:sp>
        <p:nvSpPr>
          <p:cNvPr id="376836"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7"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6838" name="Rectangle 6"/>
          <p:cNvSpPr>
            <a:spLocks noGrp="1" noChangeArrowheads="1"/>
          </p:cNvSpPr>
          <p:nvPr>
            <p:ph type="body" idx="1"/>
          </p:nvPr>
        </p:nvSpPr>
        <p:spPr>
          <a:ln/>
        </p:spPr>
        <p:txBody>
          <a:bodyPr lIns="92075" tIns="46038" rIns="92075" bIns="46038"/>
          <a:lstStyle/>
          <a:p>
            <a:endParaRPr lang="en-GB" altLang="en-US" noProof="1"/>
          </a:p>
        </p:txBody>
      </p:sp>
      <p:sp>
        <p:nvSpPr>
          <p:cNvPr id="376839"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247651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0882E606-6847-48E0-B1D2-5DE5272C1AEA}" type="slidenum">
              <a:rPr lang="en-GB" altLang="en-US"/>
              <a:pPr/>
              <a:t>16</a:t>
            </a:fld>
            <a:endParaRPr lang="en-GB" altLang="en-US"/>
          </a:p>
        </p:txBody>
      </p:sp>
      <p:sp>
        <p:nvSpPr>
          <p:cNvPr id="382978"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79"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15</a:t>
            </a:r>
          </a:p>
        </p:txBody>
      </p:sp>
      <p:sp>
        <p:nvSpPr>
          <p:cNvPr id="382980"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1"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2982" name="Rectangle 6"/>
          <p:cNvSpPr>
            <a:spLocks noGrp="1" noChangeArrowheads="1"/>
          </p:cNvSpPr>
          <p:nvPr>
            <p:ph type="body" idx="1"/>
          </p:nvPr>
        </p:nvSpPr>
        <p:spPr>
          <a:ln/>
        </p:spPr>
        <p:txBody>
          <a:bodyPr lIns="92075" tIns="46038" rIns="92075" bIns="46038"/>
          <a:lstStyle/>
          <a:p>
            <a:endParaRPr lang="en-GB" altLang="en-US" noProof="1"/>
          </a:p>
        </p:txBody>
      </p:sp>
      <p:sp>
        <p:nvSpPr>
          <p:cNvPr id="382983"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508502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A2A1A76-EF74-4351-9EE1-0DCAC47142DB}" type="slidenum">
              <a:rPr lang="en-GB" altLang="en-US"/>
              <a:pPr/>
              <a:t>17</a:t>
            </a:fld>
            <a:endParaRPr lang="en-GB" altLang="en-US"/>
          </a:p>
        </p:txBody>
      </p:sp>
      <p:sp>
        <p:nvSpPr>
          <p:cNvPr id="378882"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3"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16</a:t>
            </a:r>
          </a:p>
        </p:txBody>
      </p:sp>
      <p:sp>
        <p:nvSpPr>
          <p:cNvPr id="378884"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5"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6" name="Rectangle 6"/>
          <p:cNvSpPr>
            <a:spLocks noGrp="1" noChangeArrowheads="1"/>
          </p:cNvSpPr>
          <p:nvPr>
            <p:ph type="body" idx="1"/>
          </p:nvPr>
        </p:nvSpPr>
        <p:spPr>
          <a:ln/>
        </p:spPr>
        <p:txBody>
          <a:bodyPr lIns="92075" tIns="46038" rIns="92075" bIns="46038"/>
          <a:lstStyle/>
          <a:p>
            <a:endParaRPr lang="en-GB" altLang="en-US" noProof="1"/>
          </a:p>
        </p:txBody>
      </p:sp>
      <p:sp>
        <p:nvSpPr>
          <p:cNvPr id="37888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801612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A2A1A76-EF74-4351-9EE1-0DCAC47142DB}" type="slidenum">
              <a:rPr lang="en-GB" altLang="en-US"/>
              <a:pPr/>
              <a:t>18</a:t>
            </a:fld>
            <a:endParaRPr lang="en-GB" altLang="en-US"/>
          </a:p>
        </p:txBody>
      </p:sp>
      <p:sp>
        <p:nvSpPr>
          <p:cNvPr id="378882"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3"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16</a:t>
            </a:r>
          </a:p>
        </p:txBody>
      </p:sp>
      <p:sp>
        <p:nvSpPr>
          <p:cNvPr id="378884"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5"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6" name="Rectangle 6"/>
          <p:cNvSpPr>
            <a:spLocks noGrp="1" noChangeArrowheads="1"/>
          </p:cNvSpPr>
          <p:nvPr>
            <p:ph type="body" idx="1"/>
          </p:nvPr>
        </p:nvSpPr>
        <p:spPr>
          <a:ln/>
        </p:spPr>
        <p:txBody>
          <a:bodyPr lIns="92075" tIns="46038" rIns="92075" bIns="46038"/>
          <a:lstStyle/>
          <a:p>
            <a:endParaRPr lang="en-GB" altLang="en-US" noProof="1"/>
          </a:p>
        </p:txBody>
      </p:sp>
      <p:sp>
        <p:nvSpPr>
          <p:cNvPr id="37888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525788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4A2A1A76-EF74-4351-9EE1-0DCAC47142DB}" type="slidenum">
              <a:rPr lang="en-GB" altLang="en-US"/>
              <a:pPr/>
              <a:t>19</a:t>
            </a:fld>
            <a:endParaRPr lang="en-GB" altLang="en-US"/>
          </a:p>
        </p:txBody>
      </p:sp>
      <p:sp>
        <p:nvSpPr>
          <p:cNvPr id="378882" name="Rectangle 2"/>
          <p:cNvSpPr>
            <a:spLocks noChangeArrowheads="1"/>
          </p:cNvSpPr>
          <p:nvPr/>
        </p:nvSpPr>
        <p:spPr bwMode="auto">
          <a:xfrm>
            <a:off x="5625095"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3" name="Rectangle 3"/>
          <p:cNvSpPr>
            <a:spLocks noChangeArrowheads="1"/>
          </p:cNvSpPr>
          <p:nvPr/>
        </p:nvSpPr>
        <p:spPr bwMode="auto">
          <a:xfrm>
            <a:off x="5625095"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16</a:t>
            </a:r>
          </a:p>
        </p:txBody>
      </p:sp>
      <p:sp>
        <p:nvSpPr>
          <p:cNvPr id="378884" name="Rectangle 4"/>
          <p:cNvSpPr>
            <a:spLocks noChangeArrowheads="1"/>
          </p:cNvSpPr>
          <p:nvPr/>
        </p:nvSpPr>
        <p:spPr bwMode="auto">
          <a:xfrm>
            <a:off x="0" y="6457791"/>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5" name="Rectangle 5"/>
          <p:cNvSpPr>
            <a:spLocks noChangeArrowheads="1"/>
          </p:cNvSpPr>
          <p:nvPr/>
        </p:nvSpPr>
        <p:spPr bwMode="auto">
          <a:xfrm>
            <a:off x="0" y="0"/>
            <a:ext cx="4301543"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886" name="Rectangle 6"/>
          <p:cNvSpPr>
            <a:spLocks noGrp="1" noChangeArrowheads="1"/>
          </p:cNvSpPr>
          <p:nvPr>
            <p:ph type="body" idx="1"/>
          </p:nvPr>
        </p:nvSpPr>
        <p:spPr>
          <a:ln/>
        </p:spPr>
        <p:txBody>
          <a:bodyPr lIns="92075" tIns="46038" rIns="92075" bIns="46038"/>
          <a:lstStyle/>
          <a:p>
            <a:endParaRPr lang="en-GB" altLang="en-US" noProof="1"/>
          </a:p>
        </p:txBody>
      </p:sp>
      <p:sp>
        <p:nvSpPr>
          <p:cNvPr id="378887" name="Rectangle 7"/>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816342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hyperlink" Target="https://youtu.be/PVGT594oKkY" TargetMode="External"/><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p:txBody>
          <a:bodyPr>
            <a:normAutofit/>
          </a:bodyPr>
          <a:lstStyle/>
          <a:p>
            <a:r>
              <a:rPr lang="en-GB" sz="500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p:txBody>
          <a:bodyPr vert="horz" lIns="91440" tIns="45720" rIns="91440" bIns="45720" rtlCol="0" anchor="t">
            <a:normAutofit/>
          </a:bodyPr>
          <a:lstStyle/>
          <a:p>
            <a:r>
              <a:rPr lang="en-GB" altLang="en-US" sz="2400" dirty="0">
                <a:latin typeface="Helvetica"/>
                <a:cs typeface="Helvetica"/>
              </a:rPr>
              <a:t>Week 4 – </a:t>
            </a:r>
            <a:r>
              <a:rPr lang="en-GB" altLang="en-US" dirty="0">
                <a:latin typeface="Helvetica"/>
                <a:cs typeface="Helvetica"/>
              </a:rPr>
              <a:t>Revenue and Profit Maximisation</a:t>
            </a:r>
            <a:endParaRPr lang="en-GB" altLang="en-US" sz="2400" dirty="0">
              <a:latin typeface="Helvetica"/>
              <a:cs typeface="Helvetica"/>
            </a:endParaRPr>
          </a:p>
          <a:p>
            <a:r>
              <a:rPr lang="en-GB" altLang="en-US" sz="2000" dirty="0">
                <a:latin typeface="Helvetica"/>
                <a:cs typeface="Helvetica"/>
              </a:rPr>
              <a:t>Sloman </a:t>
            </a:r>
            <a:r>
              <a:rPr lang="en-GB" altLang="en-US" sz="2000" i="1" dirty="0">
                <a:latin typeface="Helvetica"/>
                <a:cs typeface="Helvetica"/>
              </a:rPr>
              <a:t>et al</a:t>
            </a:r>
            <a:r>
              <a:rPr lang="en-GB" altLang="en-US" sz="2000" dirty="0">
                <a:latin typeface="Helvetica"/>
                <a:cs typeface="Helvetica"/>
              </a:rPr>
              <a:t>., 2023, Chapter 10</a:t>
            </a:r>
          </a:p>
          <a:p>
            <a:endParaRPr lang="en-GB" dirty="0"/>
          </a:p>
          <a:p>
            <a:endParaRPr lang="en-GB" dirty="0">
              <a:cs typeface="Helvetica"/>
            </a:endParaRPr>
          </a:p>
        </p:txBody>
      </p:sp>
    </p:spTree>
    <p:extLst>
      <p:ext uri="{BB962C8B-B14F-4D97-AF65-F5344CB8AC3E}">
        <p14:creationId xmlns:p14="http://schemas.microsoft.com/office/powerpoint/2010/main" val="155620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B1348-6AA7-C820-266B-ED62389B962D}"/>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2FB0A62C-C20A-C20F-E7B3-59FE2982D4A3}"/>
              </a:ext>
            </a:extLst>
          </p:cNvPr>
          <p:cNvSpPr>
            <a:spLocks noGrp="1"/>
          </p:cNvSpPr>
          <p:nvPr>
            <p:ph idx="1"/>
          </p:nvPr>
        </p:nvSpPr>
        <p:spPr/>
        <p:txBody>
          <a:bodyPr/>
          <a:lstStyle/>
          <a:p>
            <a:pPr marL="0" indent="0">
              <a:lnSpc>
                <a:spcPct val="100000"/>
              </a:lnSpc>
              <a:spcBef>
                <a:spcPts val="1200"/>
              </a:spcBef>
              <a:buNone/>
            </a:pPr>
            <a:r>
              <a:rPr lang="en-GB" b="1" dirty="0">
                <a:latin typeface="Calibri" panose="020F0502020204030204" pitchFamily="34" charset="0"/>
                <a:cs typeface="Calibri" panose="020F0502020204030204" pitchFamily="34" charset="0"/>
              </a:rPr>
              <a:t>Session Aims:</a:t>
            </a:r>
          </a:p>
          <a:p>
            <a:pPr marL="342900" indent="-342900">
              <a:lnSpc>
                <a:spcPct val="100000"/>
              </a:lnSpc>
              <a:spcBef>
                <a:spcPts val="1200"/>
              </a:spcBef>
            </a:pPr>
            <a:r>
              <a:rPr lang="en-GB" dirty="0">
                <a:latin typeface="Calibri" panose="020F0502020204030204" pitchFamily="34" charset="0"/>
                <a:cs typeface="Calibri" panose="020F0502020204030204" pitchFamily="34" charset="0"/>
              </a:rPr>
              <a:t>To identify one of the most important points in business economics: the output and price at which a firm will maximise its profits.</a:t>
            </a:r>
          </a:p>
          <a:p>
            <a:pPr marL="342900" indent="-342900">
              <a:lnSpc>
                <a:spcPct val="100000"/>
              </a:lnSpc>
              <a:spcBef>
                <a:spcPts val="1200"/>
              </a:spcBef>
            </a:pPr>
            <a:r>
              <a:rPr lang="en-GB" dirty="0">
                <a:latin typeface="Calibri" panose="020F0502020204030204" pitchFamily="34" charset="0"/>
                <a:ea typeface="Segoe UI Symbol" panose="020B0502040204020203" pitchFamily="34" charset="0"/>
                <a:cs typeface="Calibri" panose="020F0502020204030204" pitchFamily="34" charset="0"/>
              </a:rPr>
              <a:t>To examine how the sales revenue of businesses vary with output</a:t>
            </a:r>
            <a:endParaRPr lang="en-GB" dirty="0">
              <a:latin typeface="Calibri" panose="020F0502020204030204" pitchFamily="34" charset="0"/>
              <a:cs typeface="Calibri" panose="020F0502020204030204" pitchFamily="34" charset="0"/>
            </a:endParaRPr>
          </a:p>
          <a:p>
            <a:endParaRPr lang="en-MY" dirty="0"/>
          </a:p>
        </p:txBody>
      </p:sp>
    </p:spTree>
    <p:extLst>
      <p:ext uri="{BB962C8B-B14F-4D97-AF65-F5344CB8AC3E}">
        <p14:creationId xmlns:p14="http://schemas.microsoft.com/office/powerpoint/2010/main" val="2187680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1146-1EFE-54C8-58FF-3D3AA1DC4ABD}"/>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6D87652B-B5E4-0DD6-55D5-6F1404AA2586}"/>
              </a:ext>
            </a:extLst>
          </p:cNvPr>
          <p:cNvSpPr>
            <a:spLocks noGrp="1"/>
          </p:cNvSpPr>
          <p:nvPr>
            <p:ph idx="1"/>
          </p:nvPr>
        </p:nvSpPr>
        <p:spPr/>
        <p:txBody>
          <a:bodyPr>
            <a:normAutofit/>
          </a:bodyPr>
          <a:lstStyle/>
          <a:p>
            <a:r>
              <a:rPr lang="en-MY" dirty="0">
                <a:latin typeface="+mn-lt"/>
              </a:rPr>
              <a:t>Sloman et al (2023)</a:t>
            </a:r>
          </a:p>
          <a:p>
            <a:pPr lvl="1"/>
            <a:r>
              <a:rPr lang="en-MY" dirty="0">
                <a:latin typeface="+mn-lt"/>
              </a:rPr>
              <a:t>Chapter 10.1 – 10.2 </a:t>
            </a:r>
          </a:p>
          <a:p>
            <a:pPr lvl="1"/>
            <a:r>
              <a:rPr lang="en-MY" dirty="0">
                <a:latin typeface="+mn-lt"/>
              </a:rPr>
              <a:t>Boxes 10.1 - 10.3 	</a:t>
            </a:r>
          </a:p>
          <a:p>
            <a:pPr marL="457200" lvl="1" indent="0">
              <a:buNone/>
            </a:pPr>
            <a:r>
              <a:rPr lang="en-MY" dirty="0">
                <a:latin typeface="+mn-lt"/>
              </a:rPr>
              <a:t>	</a:t>
            </a:r>
          </a:p>
          <a:p>
            <a:r>
              <a:rPr lang="en-MY" dirty="0">
                <a:highlight>
                  <a:srgbClr val="FFFF00"/>
                </a:highlight>
                <a:latin typeface="+mn-lt"/>
              </a:rPr>
              <a:t>Important!</a:t>
            </a:r>
          </a:p>
          <a:p>
            <a:pPr lvl="1"/>
            <a:r>
              <a:rPr lang="en-MY" dirty="0">
                <a:highlight>
                  <a:srgbClr val="FFFF00"/>
                </a:highlight>
                <a:latin typeface="+mn-lt"/>
              </a:rPr>
              <a:t>The PowerPoint slide deck for Week 4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endParaRPr lang="en-MY" dirty="0"/>
          </a:p>
        </p:txBody>
      </p:sp>
    </p:spTree>
    <p:extLst>
      <p:ext uri="{BB962C8B-B14F-4D97-AF65-F5344CB8AC3E}">
        <p14:creationId xmlns:p14="http://schemas.microsoft.com/office/powerpoint/2010/main" val="258502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171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1716" name="Rectangle 4"/>
          <p:cNvSpPr>
            <a:spLocks noGrp="1"/>
          </p:cNvSpPr>
          <p:nvPr>
            <p:ph type="title"/>
          </p:nvPr>
        </p:nvSpPr>
        <p:spPr>
          <a:xfrm>
            <a:off x="622374" y="365126"/>
            <a:ext cx="10515600" cy="908198"/>
          </a:xfrm>
        </p:spPr>
        <p:txBody>
          <a:bodyPr/>
          <a:lstStyle/>
          <a:p>
            <a:r>
              <a:rPr lang="en-GB" altLang="en-US"/>
              <a:t>Revenue</a:t>
            </a:r>
          </a:p>
        </p:txBody>
      </p:sp>
      <p:sp>
        <p:nvSpPr>
          <p:cNvPr id="371717" name="Rectangle 5"/>
          <p:cNvSpPr>
            <a:spLocks noGrp="1"/>
          </p:cNvSpPr>
          <p:nvPr>
            <p:ph idx="1"/>
          </p:nvPr>
        </p:nvSpPr>
        <p:spPr>
          <a:xfrm>
            <a:off x="402167" y="1454892"/>
            <a:ext cx="11379200" cy="4889500"/>
          </a:xfrm>
        </p:spPr>
        <p:txBody>
          <a:bodyPr/>
          <a:lstStyle/>
          <a:p>
            <a:pPr>
              <a:lnSpc>
                <a:spcPct val="100000"/>
              </a:lnSpc>
              <a:spcBef>
                <a:spcPts val="600"/>
              </a:spcBef>
            </a:pPr>
            <a:r>
              <a:rPr lang="en-GB" altLang="en-US" sz="2000">
                <a:latin typeface="Calibri" panose="020F0502020204030204" pitchFamily="34" charset="0"/>
                <a:cs typeface="Calibri" panose="020F0502020204030204" pitchFamily="34" charset="0"/>
              </a:rPr>
              <a:t>Revenue is generated through the sales of goods or services.</a:t>
            </a:r>
          </a:p>
          <a:p>
            <a:pPr marL="0" indent="0">
              <a:lnSpc>
                <a:spcPct val="100000"/>
              </a:lnSpc>
              <a:spcBef>
                <a:spcPts val="600"/>
              </a:spcBef>
              <a:buNone/>
            </a:pPr>
            <a:endParaRPr lang="en-GB" altLang="en-US" sz="2000">
              <a:latin typeface="Calibri" panose="020F0502020204030204" pitchFamily="34" charset="0"/>
              <a:cs typeface="Calibri" panose="020F0502020204030204" pitchFamily="34" charset="0"/>
            </a:endParaRPr>
          </a:p>
          <a:p>
            <a:pPr>
              <a:lnSpc>
                <a:spcPct val="100000"/>
              </a:lnSpc>
              <a:spcBef>
                <a:spcPts val="600"/>
              </a:spcBef>
            </a:pPr>
            <a:r>
              <a:rPr lang="en-GB" altLang="en-US" sz="2000">
                <a:latin typeface="Calibri" panose="020F0502020204030204" pitchFamily="34" charset="0"/>
                <a:cs typeface="Calibri" panose="020F0502020204030204" pitchFamily="34" charset="0"/>
              </a:rPr>
              <a:t>Defining total, average and marginal revenue</a:t>
            </a:r>
          </a:p>
          <a:p>
            <a:pPr marL="0" indent="0">
              <a:lnSpc>
                <a:spcPct val="100000"/>
              </a:lnSpc>
              <a:spcBef>
                <a:spcPts val="600"/>
              </a:spcBef>
              <a:buNone/>
            </a:pPr>
            <a:endParaRPr lang="en-GB" altLang="en-US" sz="2000">
              <a:latin typeface="Calibri" panose="020F0502020204030204" pitchFamily="34" charset="0"/>
              <a:cs typeface="Calibri" panose="020F0502020204030204" pitchFamily="34" charset="0"/>
            </a:endParaRPr>
          </a:p>
          <a:p>
            <a:pPr lvl="1">
              <a:lnSpc>
                <a:spcPct val="100000"/>
              </a:lnSpc>
              <a:spcBef>
                <a:spcPts val="600"/>
              </a:spcBef>
            </a:pPr>
            <a:r>
              <a:rPr lang="en-GB" altLang="en-US" b="1" i="1">
                <a:latin typeface="Calibri" panose="020F0502020204030204" pitchFamily="34" charset="0"/>
                <a:cs typeface="Calibri" panose="020F0502020204030204" pitchFamily="34" charset="0"/>
              </a:rPr>
              <a:t>TR</a:t>
            </a:r>
            <a:r>
              <a:rPr lang="en-GB" altLang="en-US" i="1">
                <a:latin typeface="Calibri" panose="020F0502020204030204" pitchFamily="34" charset="0"/>
                <a:cs typeface="Calibri" panose="020F0502020204030204" pitchFamily="34" charset="0"/>
              </a:rPr>
              <a:t> = P × Q  - </a:t>
            </a:r>
            <a:r>
              <a:rPr lang="en-GB" altLang="en-US">
                <a:latin typeface="Calibri" panose="020F0502020204030204" pitchFamily="34" charset="0"/>
                <a:cs typeface="Calibri" panose="020F0502020204030204" pitchFamily="34" charset="0"/>
              </a:rPr>
              <a:t>the firm’s </a:t>
            </a:r>
            <a:r>
              <a:rPr lang="en-GB" altLang="en-US" b="1">
                <a:latin typeface="Calibri" panose="020F0502020204030204" pitchFamily="34" charset="0"/>
                <a:cs typeface="Calibri" panose="020F0502020204030204" pitchFamily="34" charset="0"/>
              </a:rPr>
              <a:t>total earnings per period </a:t>
            </a:r>
            <a:r>
              <a:rPr lang="en-GB" altLang="en-US">
                <a:latin typeface="Calibri" panose="020F0502020204030204" pitchFamily="34" charset="0"/>
                <a:cs typeface="Calibri" panose="020F0502020204030204" pitchFamily="34" charset="0"/>
              </a:rPr>
              <a:t>from the sale of a particular output</a:t>
            </a:r>
          </a:p>
          <a:p>
            <a:pPr lvl="1">
              <a:lnSpc>
                <a:spcPct val="100000"/>
              </a:lnSpc>
              <a:spcBef>
                <a:spcPts val="600"/>
              </a:spcBef>
            </a:pPr>
            <a:r>
              <a:rPr lang="en-GB">
                <a:latin typeface="Calibri" panose="020F0502020204030204" pitchFamily="34" charset="0"/>
                <a:cs typeface="Calibri" panose="020F0502020204030204" pitchFamily="34" charset="0"/>
                <a:hlinkClick r:id="rId3"/>
              </a:rPr>
              <a:t>https://youtu.be/PVGT594oKkY</a:t>
            </a:r>
            <a:endParaRPr lang="en-GB" altLang="en-US">
              <a:latin typeface="Calibri" panose="020F0502020204030204" pitchFamily="34" charset="0"/>
              <a:cs typeface="Calibri" panose="020F0502020204030204" pitchFamily="34" charset="0"/>
            </a:endParaRPr>
          </a:p>
          <a:p>
            <a:pPr marL="457200" lvl="1" indent="0">
              <a:lnSpc>
                <a:spcPct val="100000"/>
              </a:lnSpc>
              <a:spcBef>
                <a:spcPts val="600"/>
              </a:spcBef>
              <a:buNone/>
            </a:pPr>
            <a:endParaRPr lang="en-GB" altLang="en-US">
              <a:latin typeface="Calibri" panose="020F0502020204030204" pitchFamily="34" charset="0"/>
              <a:cs typeface="Calibri" panose="020F0502020204030204" pitchFamily="34" charset="0"/>
            </a:endParaRPr>
          </a:p>
          <a:p>
            <a:pPr lvl="1">
              <a:lnSpc>
                <a:spcPct val="100000"/>
              </a:lnSpc>
              <a:spcBef>
                <a:spcPts val="600"/>
              </a:spcBef>
            </a:pPr>
            <a:r>
              <a:rPr lang="en-GB" altLang="en-US" i="1">
                <a:latin typeface="Calibri" panose="020F0502020204030204" pitchFamily="34" charset="0"/>
                <a:cs typeface="Calibri" panose="020F0502020204030204" pitchFamily="34" charset="0"/>
              </a:rPr>
              <a:t>AR = TR / Q - </a:t>
            </a:r>
            <a:r>
              <a:rPr lang="en-GB" altLang="en-US">
                <a:latin typeface="Calibri" panose="020F0502020204030204" pitchFamily="34" charset="0"/>
                <a:cs typeface="Calibri" panose="020F0502020204030204" pitchFamily="34" charset="0"/>
              </a:rPr>
              <a:t>the average amount the firm earns per unit sold</a:t>
            </a:r>
          </a:p>
          <a:p>
            <a:pPr marL="457200" lvl="1" indent="0">
              <a:lnSpc>
                <a:spcPct val="100000"/>
              </a:lnSpc>
              <a:spcBef>
                <a:spcPts val="600"/>
              </a:spcBef>
              <a:buNone/>
            </a:pPr>
            <a:endParaRPr lang="en-GB" altLang="en-US">
              <a:latin typeface="Calibri" panose="020F0502020204030204" pitchFamily="34" charset="0"/>
              <a:cs typeface="Calibri" panose="020F0502020204030204" pitchFamily="34" charset="0"/>
            </a:endParaRPr>
          </a:p>
          <a:p>
            <a:pPr lvl="1">
              <a:lnSpc>
                <a:spcPct val="100000"/>
              </a:lnSpc>
              <a:spcBef>
                <a:spcPts val="600"/>
              </a:spcBef>
            </a:pPr>
            <a:r>
              <a:rPr lang="en-GB" altLang="en-US" b="1" i="1">
                <a:latin typeface="Calibri" panose="020F0502020204030204" pitchFamily="34" charset="0"/>
                <a:cs typeface="Calibri" panose="020F0502020204030204" pitchFamily="34" charset="0"/>
              </a:rPr>
              <a:t>MR</a:t>
            </a:r>
            <a:r>
              <a:rPr lang="en-GB" altLang="en-US" i="1">
                <a:latin typeface="Calibri" panose="020F0502020204030204" pitchFamily="34" charset="0"/>
                <a:cs typeface="Calibri" panose="020F0502020204030204" pitchFamily="34" charset="0"/>
              </a:rPr>
              <a:t> = </a:t>
            </a:r>
            <a:r>
              <a:rPr lang="en-GB" altLang="en-US">
                <a:latin typeface="Calibri" panose="020F0502020204030204" pitchFamily="34" charset="0"/>
                <a:cs typeface="Calibri" panose="020F0502020204030204" pitchFamily="34" charset="0"/>
                <a:sym typeface="Symbol" panose="05050102010706020507" pitchFamily="18" charset="2"/>
              </a:rPr>
              <a:t></a:t>
            </a:r>
            <a:r>
              <a:rPr lang="en-GB" altLang="en-US" i="1">
                <a:latin typeface="Calibri" panose="020F0502020204030204" pitchFamily="34" charset="0"/>
                <a:cs typeface="Calibri" panose="020F0502020204030204" pitchFamily="34" charset="0"/>
                <a:sym typeface="Symbol" panose="05050102010706020507" pitchFamily="18" charset="2"/>
              </a:rPr>
              <a:t>TR / </a:t>
            </a:r>
            <a:r>
              <a:rPr lang="en-GB" altLang="en-US">
                <a:latin typeface="Calibri" panose="020F0502020204030204" pitchFamily="34" charset="0"/>
                <a:cs typeface="Calibri" panose="020F0502020204030204" pitchFamily="34" charset="0"/>
                <a:sym typeface="Symbol" panose="05050102010706020507" pitchFamily="18" charset="2"/>
              </a:rPr>
              <a:t></a:t>
            </a:r>
            <a:r>
              <a:rPr lang="en-GB" altLang="en-US" i="1">
                <a:latin typeface="Calibri" panose="020F0502020204030204" pitchFamily="34" charset="0"/>
                <a:cs typeface="Calibri" panose="020F0502020204030204" pitchFamily="34" charset="0"/>
                <a:sym typeface="Symbol" panose="05050102010706020507" pitchFamily="18" charset="2"/>
              </a:rPr>
              <a:t>Q </a:t>
            </a:r>
            <a:r>
              <a:rPr lang="en-GB" altLang="en-US">
                <a:latin typeface="Calibri" panose="020F0502020204030204" pitchFamily="34" charset="0"/>
                <a:cs typeface="Calibri" panose="020F0502020204030204" pitchFamily="34" charset="0"/>
                <a:sym typeface="Symbol" panose="05050102010706020507" pitchFamily="18" charset="2"/>
              </a:rPr>
              <a:t>- </a:t>
            </a:r>
            <a:r>
              <a:rPr lang="en-GB" altLang="en-US" b="1">
                <a:latin typeface="Calibri" panose="020F0502020204030204" pitchFamily="34" charset="0"/>
                <a:cs typeface="Calibri" panose="020F0502020204030204" pitchFamily="34" charset="0"/>
                <a:sym typeface="Symbol" panose="05050102010706020507" pitchFamily="18" charset="2"/>
              </a:rPr>
              <a:t>the extra total revenue gained by selling one more unit per period</a:t>
            </a:r>
          </a:p>
          <a:p>
            <a:pPr marL="457200" lvl="1" indent="0">
              <a:lnSpc>
                <a:spcPct val="100000"/>
              </a:lnSpc>
              <a:spcBef>
                <a:spcPts val="600"/>
              </a:spcBef>
              <a:buNone/>
            </a:pPr>
            <a:endParaRPr lang="en-GB" altLang="en-US" sz="2200" b="1">
              <a:latin typeface="Calibri" panose="020F0502020204030204" pitchFamily="34" charset="0"/>
              <a:cs typeface="Calibri" panose="020F0502020204030204" pitchFamily="34" charset="0"/>
              <a:sym typeface="Symbol" panose="05050102010706020507" pitchFamily="18" charset="2"/>
            </a:endParaRPr>
          </a:p>
        </p:txBody>
      </p:sp>
    </p:spTree>
    <p:extLst>
      <p:ext uri="{BB962C8B-B14F-4D97-AF65-F5344CB8AC3E}">
        <p14:creationId xmlns:p14="http://schemas.microsoft.com/office/powerpoint/2010/main" val="426373783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2" end="2"/>
                                            </p:txEl>
                                          </p:spTgt>
                                        </p:tgtEl>
                                        <p:attrNameLst>
                                          <p:attrName>style.visibility</p:attrName>
                                        </p:attrNameLst>
                                      </p:cBhvr>
                                      <p:to>
                                        <p:strVal val="visible"/>
                                      </p:to>
                                    </p:set>
                                    <p:anim calcmode="lin" valueType="num">
                                      <p:cBhvr additive="base">
                                        <p:cTn id="13"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4" end="4"/>
                                            </p:txEl>
                                          </p:spTgt>
                                        </p:tgtEl>
                                        <p:attrNameLst>
                                          <p:attrName>style.visibility</p:attrName>
                                        </p:attrNameLst>
                                      </p:cBhvr>
                                      <p:to>
                                        <p:strVal val="visible"/>
                                      </p:to>
                                    </p:set>
                                    <p:anim calcmode="lin" valueType="num">
                                      <p:cBhvr additive="base">
                                        <p:cTn id="19" dur="500"/>
                                        <p:tgtEl>
                                          <p:spTgt spid="371717">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7">
                                            <p:txEl>
                                              <p:pRg st="5" end="5"/>
                                            </p:txEl>
                                          </p:spTgt>
                                        </p:tgtEl>
                                        <p:attrNameLst>
                                          <p:attrName>style.visibility</p:attrName>
                                        </p:attrNameLst>
                                      </p:cBhvr>
                                      <p:to>
                                        <p:strVal val="visible"/>
                                      </p:to>
                                    </p:set>
                                    <p:anim calcmode="lin" valueType="num">
                                      <p:cBhvr additive="base">
                                        <p:cTn id="25" dur="500"/>
                                        <p:tgtEl>
                                          <p:spTgt spid="371717">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7">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7">
                                            <p:txEl>
                                              <p:pRg st="7" end="7"/>
                                            </p:txEl>
                                          </p:spTgt>
                                        </p:tgtEl>
                                        <p:attrNameLst>
                                          <p:attrName>style.visibility</p:attrName>
                                        </p:attrNameLst>
                                      </p:cBhvr>
                                      <p:to>
                                        <p:strVal val="visible"/>
                                      </p:to>
                                    </p:set>
                                    <p:anim calcmode="lin" valueType="num">
                                      <p:cBhvr additive="base">
                                        <p:cTn id="31" dur="500"/>
                                        <p:tgtEl>
                                          <p:spTgt spid="371717">
                                            <p:txEl>
                                              <p:pRg st="7" end="7"/>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7">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1717">
                                            <p:txEl>
                                              <p:pRg st="9" end="9"/>
                                            </p:txEl>
                                          </p:spTgt>
                                        </p:tgtEl>
                                        <p:attrNameLst>
                                          <p:attrName>style.visibility</p:attrName>
                                        </p:attrNameLst>
                                      </p:cBhvr>
                                      <p:to>
                                        <p:strVal val="visible"/>
                                      </p:to>
                                    </p:set>
                                    <p:anim calcmode="lin" valueType="num">
                                      <p:cBhvr additive="base">
                                        <p:cTn id="37" dur="500"/>
                                        <p:tgtEl>
                                          <p:spTgt spid="371717">
                                            <p:txEl>
                                              <p:pRg st="9" end="9"/>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171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171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1716" name="Rectangle 4"/>
          <p:cNvSpPr>
            <a:spLocks noGrp="1"/>
          </p:cNvSpPr>
          <p:nvPr>
            <p:ph type="title"/>
          </p:nvPr>
        </p:nvSpPr>
        <p:spPr/>
        <p:txBody>
          <a:bodyPr/>
          <a:lstStyle/>
          <a:p>
            <a:r>
              <a:rPr lang="en-GB" altLang="en-US"/>
              <a:t>Revenue</a:t>
            </a:r>
          </a:p>
        </p:txBody>
      </p:sp>
      <p:sp>
        <p:nvSpPr>
          <p:cNvPr id="371717" name="Rectangle 5"/>
          <p:cNvSpPr>
            <a:spLocks noGrp="1"/>
          </p:cNvSpPr>
          <p:nvPr>
            <p:ph idx="1"/>
          </p:nvPr>
        </p:nvSpPr>
        <p:spPr>
          <a:xfrm>
            <a:off x="402167" y="1539953"/>
            <a:ext cx="11379200" cy="4889500"/>
          </a:xfrm>
        </p:spPr>
        <p:txBody>
          <a:bodyPr/>
          <a:lstStyle/>
          <a:p>
            <a:pPr marL="457200" lvl="1" indent="0">
              <a:lnSpc>
                <a:spcPct val="100000"/>
              </a:lnSpc>
              <a:spcBef>
                <a:spcPts val="600"/>
              </a:spcBef>
              <a:buNone/>
            </a:pPr>
            <a:r>
              <a:rPr lang="en-GB" altLang="en-US" b="1">
                <a:latin typeface="Calibri" panose="020F0502020204030204" pitchFamily="34" charset="0"/>
                <a:cs typeface="Calibri" panose="020F0502020204030204" pitchFamily="34" charset="0"/>
                <a:sym typeface="Symbol" panose="05050102010706020507" pitchFamily="18" charset="2"/>
              </a:rPr>
              <a:t>It is important to make the distinction between price takers and price makers</a:t>
            </a:r>
          </a:p>
          <a:p>
            <a:pPr marL="457200" lvl="1" indent="0">
              <a:lnSpc>
                <a:spcPct val="100000"/>
              </a:lnSpc>
              <a:spcBef>
                <a:spcPts val="600"/>
              </a:spcBef>
              <a:buNone/>
            </a:pPr>
            <a:endParaRPr lang="en-GB" altLang="en-US">
              <a:latin typeface="Calibri" panose="020F0502020204030204" pitchFamily="34" charset="0"/>
              <a:cs typeface="Calibri" panose="020F0502020204030204" pitchFamily="34" charset="0"/>
            </a:endParaRPr>
          </a:p>
          <a:p>
            <a:pPr marL="457200" lvl="1" indent="0">
              <a:lnSpc>
                <a:spcPct val="100000"/>
              </a:lnSpc>
              <a:spcBef>
                <a:spcPts val="600"/>
              </a:spcBef>
              <a:buNone/>
            </a:pPr>
            <a:r>
              <a:rPr lang="en-GB" altLang="en-US" b="1">
                <a:latin typeface="Calibri" panose="020F0502020204030204" pitchFamily="34" charset="0"/>
                <a:cs typeface="Calibri" panose="020F0502020204030204" pitchFamily="34" charset="0"/>
              </a:rPr>
              <a:t>Price Taker</a:t>
            </a:r>
          </a:p>
          <a:p>
            <a:pPr lvl="1">
              <a:lnSpc>
                <a:spcPct val="100000"/>
              </a:lnSpc>
              <a:spcBef>
                <a:spcPts val="600"/>
              </a:spcBef>
            </a:pPr>
            <a:r>
              <a:rPr lang="en-GB" altLang="en-US">
                <a:latin typeface="Calibri" panose="020F0502020204030204" pitchFamily="34" charset="0"/>
                <a:cs typeface="Calibri" panose="020F0502020204030204" pitchFamily="34" charset="0"/>
              </a:rPr>
              <a:t>A firm that is too small to be able to affect market price. </a:t>
            </a:r>
          </a:p>
          <a:p>
            <a:pPr lvl="1">
              <a:lnSpc>
                <a:spcPct val="100000"/>
              </a:lnSpc>
              <a:spcBef>
                <a:spcPts val="600"/>
              </a:spcBef>
            </a:pPr>
            <a:r>
              <a:rPr lang="en-GB" altLang="en-US">
                <a:latin typeface="Calibri" panose="020F0502020204030204" pitchFamily="34" charset="0"/>
                <a:cs typeface="Calibri" panose="020F0502020204030204" pitchFamily="34" charset="0"/>
              </a:rPr>
              <a:t>It will have differently shaped revenue curves from a firm that has some choice in setting its price.</a:t>
            </a:r>
          </a:p>
          <a:p>
            <a:pPr lvl="1">
              <a:lnSpc>
                <a:spcPct val="100000"/>
              </a:lnSpc>
              <a:spcBef>
                <a:spcPts val="600"/>
              </a:spcBef>
            </a:pPr>
            <a:endParaRPr lang="en-GB" altLang="en-US">
              <a:latin typeface="Calibri" panose="020F0502020204030204" pitchFamily="34" charset="0"/>
              <a:cs typeface="Calibri" panose="020F0502020204030204" pitchFamily="34" charset="0"/>
            </a:endParaRPr>
          </a:p>
          <a:p>
            <a:pPr marL="457200" lvl="1" indent="0">
              <a:lnSpc>
                <a:spcPct val="100000"/>
              </a:lnSpc>
              <a:spcBef>
                <a:spcPts val="600"/>
              </a:spcBef>
              <a:buNone/>
            </a:pPr>
            <a:r>
              <a:rPr lang="en-GB" altLang="en-US" b="1">
                <a:latin typeface="Calibri" panose="020F0502020204030204" pitchFamily="34" charset="0"/>
                <a:cs typeface="Calibri" panose="020F0502020204030204" pitchFamily="34" charset="0"/>
              </a:rPr>
              <a:t>Price Maker</a:t>
            </a:r>
          </a:p>
          <a:p>
            <a:pPr lvl="1">
              <a:lnSpc>
                <a:spcPct val="100000"/>
              </a:lnSpc>
              <a:spcBef>
                <a:spcPts val="600"/>
              </a:spcBef>
            </a:pPr>
            <a:r>
              <a:rPr lang="en-GB" altLang="en-US">
                <a:latin typeface="Calibri" panose="020F0502020204030204" pitchFamily="34" charset="0"/>
                <a:cs typeface="Calibri" panose="020F0502020204030204" pitchFamily="34" charset="0"/>
              </a:rPr>
              <a:t>A firm that can influence the price charged for its good or service.</a:t>
            </a:r>
          </a:p>
          <a:p>
            <a:pPr marL="457200" lvl="1" indent="0">
              <a:lnSpc>
                <a:spcPct val="100000"/>
              </a:lnSpc>
              <a:spcBef>
                <a:spcPts val="600"/>
              </a:spcBef>
              <a:buNone/>
            </a:pPr>
            <a:endParaRPr lang="en-GB" altLang="en-US">
              <a:latin typeface="Calibri" panose="020F0502020204030204" pitchFamily="34" charset="0"/>
              <a:cs typeface="Calibri" panose="020F0502020204030204" pitchFamily="34" charset="0"/>
            </a:endParaRPr>
          </a:p>
          <a:p>
            <a:pPr marL="457200" lvl="1" indent="0">
              <a:lnSpc>
                <a:spcPct val="100000"/>
              </a:lnSpc>
              <a:spcBef>
                <a:spcPts val="600"/>
              </a:spcBef>
              <a:buNone/>
            </a:pPr>
            <a:endParaRPr lang="en-GB" altLang="en-US" sz="2200" b="1">
              <a:latin typeface="Calibri" panose="020F0502020204030204" pitchFamily="34" charset="0"/>
              <a:cs typeface="Calibri" panose="020F0502020204030204" pitchFamily="34" charset="0"/>
              <a:sym typeface="Symbol" panose="05050102010706020507" pitchFamily="18" charset="2"/>
            </a:endParaRPr>
          </a:p>
        </p:txBody>
      </p:sp>
    </p:spTree>
    <p:extLst>
      <p:ext uri="{BB962C8B-B14F-4D97-AF65-F5344CB8AC3E}">
        <p14:creationId xmlns:p14="http://schemas.microsoft.com/office/powerpoint/2010/main" val="120227121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2" end="2"/>
                                            </p:txEl>
                                          </p:spTgt>
                                        </p:tgtEl>
                                        <p:attrNameLst>
                                          <p:attrName>style.visibility</p:attrName>
                                        </p:attrNameLst>
                                      </p:cBhvr>
                                      <p:to>
                                        <p:strVal val="visible"/>
                                      </p:to>
                                    </p:set>
                                    <p:anim calcmode="lin" valueType="num">
                                      <p:cBhvr additive="base">
                                        <p:cTn id="13"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3" end="3"/>
                                            </p:txEl>
                                          </p:spTgt>
                                        </p:tgtEl>
                                        <p:attrNameLst>
                                          <p:attrName>style.visibility</p:attrName>
                                        </p:attrNameLst>
                                      </p:cBhvr>
                                      <p:to>
                                        <p:strVal val="visible"/>
                                      </p:to>
                                    </p:set>
                                    <p:anim calcmode="lin" valueType="num">
                                      <p:cBhvr additive="base">
                                        <p:cTn id="19" dur="500"/>
                                        <p:tgtEl>
                                          <p:spTgt spid="371717">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7">
                                            <p:txEl>
                                              <p:pRg st="4" end="4"/>
                                            </p:txEl>
                                          </p:spTgt>
                                        </p:tgtEl>
                                        <p:attrNameLst>
                                          <p:attrName>style.visibility</p:attrName>
                                        </p:attrNameLst>
                                      </p:cBhvr>
                                      <p:to>
                                        <p:strVal val="visible"/>
                                      </p:to>
                                    </p:set>
                                    <p:anim calcmode="lin" valueType="num">
                                      <p:cBhvr additive="base">
                                        <p:cTn id="25" dur="500"/>
                                        <p:tgtEl>
                                          <p:spTgt spid="371717">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7">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7">
                                            <p:txEl>
                                              <p:pRg st="6" end="6"/>
                                            </p:txEl>
                                          </p:spTgt>
                                        </p:tgtEl>
                                        <p:attrNameLst>
                                          <p:attrName>style.visibility</p:attrName>
                                        </p:attrNameLst>
                                      </p:cBhvr>
                                      <p:to>
                                        <p:strVal val="visible"/>
                                      </p:to>
                                    </p:set>
                                    <p:anim calcmode="lin" valueType="num">
                                      <p:cBhvr additive="base">
                                        <p:cTn id="31" dur="500"/>
                                        <p:tgtEl>
                                          <p:spTgt spid="371717">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1717">
                                            <p:txEl>
                                              <p:pRg st="7" end="7"/>
                                            </p:txEl>
                                          </p:spTgt>
                                        </p:tgtEl>
                                        <p:attrNameLst>
                                          <p:attrName>style.visibility</p:attrName>
                                        </p:attrNameLst>
                                      </p:cBhvr>
                                      <p:to>
                                        <p:strVal val="visible"/>
                                      </p:to>
                                    </p:set>
                                    <p:anim calcmode="lin" valueType="num">
                                      <p:cBhvr additive="base">
                                        <p:cTn id="37" dur="500"/>
                                        <p:tgtEl>
                                          <p:spTgt spid="371717">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171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2"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171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1716" name="Rectangle 4"/>
          <p:cNvSpPr>
            <a:spLocks noGrp="1"/>
          </p:cNvSpPr>
          <p:nvPr>
            <p:ph type="title"/>
          </p:nvPr>
        </p:nvSpPr>
        <p:spPr>
          <a:xfrm>
            <a:off x="366791" y="160660"/>
            <a:ext cx="10515600" cy="908198"/>
          </a:xfrm>
        </p:spPr>
        <p:txBody>
          <a:bodyPr>
            <a:normAutofit/>
          </a:bodyPr>
          <a:lstStyle/>
          <a:p>
            <a:r>
              <a:rPr lang="en-GB" altLang="en-US" sz="3200">
                <a:latin typeface="Calibri" panose="020F0502020204030204" pitchFamily="34" charset="0"/>
                <a:cs typeface="Calibri" panose="020F0502020204030204" pitchFamily="34" charset="0"/>
              </a:rPr>
              <a:t>1. Revenue curves when firms are price takers</a:t>
            </a:r>
          </a:p>
        </p:txBody>
      </p:sp>
      <p:sp>
        <p:nvSpPr>
          <p:cNvPr id="371717" name="Rectangle 5"/>
          <p:cNvSpPr>
            <a:spLocks noGrp="1"/>
          </p:cNvSpPr>
          <p:nvPr>
            <p:ph idx="1"/>
          </p:nvPr>
        </p:nvSpPr>
        <p:spPr>
          <a:xfrm>
            <a:off x="366792" y="1191842"/>
            <a:ext cx="11503369" cy="4845470"/>
          </a:xfrm>
        </p:spPr>
        <p:txBody>
          <a:bodyPr>
            <a:normAutofit fontScale="92500" lnSpcReduction="10000"/>
          </a:bodyPr>
          <a:lstStyle/>
          <a:p>
            <a:pPr marL="0" indent="0">
              <a:lnSpc>
                <a:spcPct val="100000"/>
              </a:lnSpc>
              <a:spcBef>
                <a:spcPts val="1200"/>
              </a:spcBef>
              <a:buNone/>
            </a:pPr>
            <a:r>
              <a:rPr lang="en-GB" altLang="en-US" sz="1900" b="1">
                <a:latin typeface="Calibri" panose="020F0502020204030204" pitchFamily="34" charset="0"/>
                <a:cs typeface="Calibri" panose="020F0502020204030204" pitchFamily="34" charset="0"/>
              </a:rPr>
              <a:t>Average revenue (</a:t>
            </a:r>
            <a:r>
              <a:rPr lang="en-GB" altLang="en-US" sz="1900" b="1" i="1">
                <a:latin typeface="Calibri" panose="020F0502020204030204" pitchFamily="34" charset="0"/>
                <a:cs typeface="Calibri" panose="020F0502020204030204" pitchFamily="34" charset="0"/>
              </a:rPr>
              <a:t>AR</a:t>
            </a:r>
            <a:r>
              <a:rPr lang="en-GB" altLang="en-US" sz="1900" b="1">
                <a:latin typeface="Calibri" panose="020F0502020204030204" pitchFamily="34" charset="0"/>
                <a:cs typeface="Calibri" panose="020F0502020204030204" pitchFamily="34" charset="0"/>
              </a:rPr>
              <a:t>)</a:t>
            </a:r>
          </a:p>
          <a:p>
            <a:pPr>
              <a:lnSpc>
                <a:spcPct val="100000"/>
              </a:lnSpc>
              <a:spcBef>
                <a:spcPts val="1200"/>
              </a:spcBef>
            </a:pPr>
            <a:r>
              <a:rPr lang="en-GB" altLang="en-US" sz="1900">
                <a:latin typeface="Calibri" panose="020F0502020204030204" pitchFamily="34" charset="0"/>
                <a:cs typeface="Calibri" panose="020F0502020204030204" pitchFamily="34" charset="0"/>
              </a:rPr>
              <a:t>It must accept the price given by the intersection of demand and supply in the whole market. </a:t>
            </a:r>
          </a:p>
          <a:p>
            <a:pPr>
              <a:lnSpc>
                <a:spcPct val="100000"/>
              </a:lnSpc>
              <a:spcBef>
                <a:spcPts val="1200"/>
              </a:spcBef>
            </a:pPr>
            <a:r>
              <a:rPr lang="en-GB" altLang="en-US" sz="1900">
                <a:latin typeface="Calibri" panose="020F0502020204030204" pitchFamily="34" charset="0"/>
                <a:cs typeface="Calibri" panose="020F0502020204030204" pitchFamily="34" charset="0"/>
              </a:rPr>
              <a:t>At this price, the firm can sell as much as it can produce, but, if it increases price, it will lose all sales to competitors.</a:t>
            </a:r>
          </a:p>
          <a:p>
            <a:pPr>
              <a:lnSpc>
                <a:spcPct val="100000"/>
              </a:lnSpc>
              <a:spcBef>
                <a:spcPts val="1200"/>
              </a:spcBef>
            </a:pPr>
            <a:r>
              <a:rPr lang="en-GB" altLang="en-US" sz="1900">
                <a:latin typeface="Calibri" panose="020F0502020204030204" pitchFamily="34" charset="0"/>
                <a:cs typeface="Calibri" panose="020F0502020204030204" pitchFamily="34" charset="0"/>
              </a:rPr>
              <a:t>Charging a lower price would not be rational.</a:t>
            </a:r>
          </a:p>
          <a:p>
            <a:pPr>
              <a:lnSpc>
                <a:spcPct val="100000"/>
              </a:lnSpc>
              <a:spcBef>
                <a:spcPts val="1200"/>
              </a:spcBef>
            </a:pPr>
            <a:r>
              <a:rPr lang="en-GB" altLang="en-US" sz="1900">
                <a:latin typeface="Calibri" panose="020F0502020204030204" pitchFamily="34" charset="0"/>
                <a:cs typeface="Calibri" panose="020F0502020204030204" pitchFamily="34" charset="0"/>
              </a:rPr>
              <a:t>Being so small, any changes in the firm’s output will be too insignificant to affect the market price.</a:t>
            </a:r>
          </a:p>
          <a:p>
            <a:pPr>
              <a:lnSpc>
                <a:spcPct val="100000"/>
              </a:lnSpc>
              <a:spcBef>
                <a:spcPts val="1200"/>
              </a:spcBef>
            </a:pPr>
            <a:r>
              <a:rPr lang="en-GB" altLang="en-US" sz="1900">
                <a:latin typeface="Calibri" panose="020F0502020204030204" pitchFamily="34" charset="0"/>
                <a:cs typeface="Calibri" panose="020F0502020204030204" pitchFamily="34" charset="0"/>
              </a:rPr>
              <a:t>The firm faces a horizontal demand ‘curve’ at this price. It can sell any output up to its maximum capacity. </a:t>
            </a:r>
          </a:p>
          <a:p>
            <a:pPr marL="0" indent="0">
              <a:lnSpc>
                <a:spcPct val="100000"/>
              </a:lnSpc>
              <a:spcBef>
                <a:spcPts val="1200"/>
              </a:spcBef>
              <a:buNone/>
            </a:pPr>
            <a:r>
              <a:rPr lang="en-GB" altLang="en-US" sz="1900" b="1">
                <a:latin typeface="Calibri" panose="020F0502020204030204" pitchFamily="34" charset="0"/>
                <a:cs typeface="Calibri" panose="020F0502020204030204" pitchFamily="34" charset="0"/>
              </a:rPr>
              <a:t>Marginal Revenue (MR)</a:t>
            </a:r>
          </a:p>
          <a:p>
            <a:pPr lvl="1">
              <a:lnSpc>
                <a:spcPct val="100000"/>
              </a:lnSpc>
              <a:spcBef>
                <a:spcPts val="1200"/>
              </a:spcBef>
            </a:pPr>
            <a:r>
              <a:rPr lang="en-GB" altLang="en-US" sz="1900">
                <a:latin typeface="Calibri" panose="020F0502020204030204" pitchFamily="34" charset="0"/>
                <a:cs typeface="Calibri" panose="020F0502020204030204" pitchFamily="34" charset="0"/>
              </a:rPr>
              <a:t>In the case of a horizontal demand curve, the MR curve will be the same as the AR curve</a:t>
            </a:r>
          </a:p>
          <a:p>
            <a:pPr lvl="1">
              <a:lnSpc>
                <a:spcPct val="100000"/>
              </a:lnSpc>
              <a:spcBef>
                <a:spcPts val="1200"/>
              </a:spcBef>
            </a:pPr>
            <a:r>
              <a:rPr lang="en-GB" altLang="en-US" sz="1900">
                <a:latin typeface="Calibri" panose="020F0502020204030204" pitchFamily="34" charset="0"/>
                <a:cs typeface="Calibri" panose="020F0502020204030204" pitchFamily="34" charset="0"/>
              </a:rPr>
              <a:t>Since selling one more unit at a constant price (AR) merely adds that amount to total revenue.</a:t>
            </a:r>
          </a:p>
          <a:p>
            <a:pPr marL="0" indent="0">
              <a:lnSpc>
                <a:spcPct val="100000"/>
              </a:lnSpc>
              <a:spcBef>
                <a:spcPts val="1200"/>
              </a:spcBef>
              <a:buNone/>
            </a:pPr>
            <a:r>
              <a:rPr lang="en-GB" altLang="en-US" sz="2000" b="1">
                <a:latin typeface="Calibri" panose="020F0502020204030204" pitchFamily="34" charset="0"/>
                <a:cs typeface="Calibri" panose="020F0502020204030204" pitchFamily="34" charset="0"/>
              </a:rPr>
              <a:t>Total revenue (</a:t>
            </a:r>
            <a:r>
              <a:rPr lang="en-GB" altLang="en-US" sz="2000" b="1" i="1">
                <a:latin typeface="Calibri" panose="020F0502020204030204" pitchFamily="34" charset="0"/>
                <a:cs typeface="Calibri" panose="020F0502020204030204" pitchFamily="34" charset="0"/>
              </a:rPr>
              <a:t>TR</a:t>
            </a:r>
            <a:r>
              <a:rPr lang="en-GB" altLang="en-US" sz="2000" b="1">
                <a:latin typeface="Calibri" panose="020F0502020204030204" pitchFamily="34" charset="0"/>
                <a:cs typeface="Calibri" panose="020F0502020204030204" pitchFamily="34" charset="0"/>
              </a:rPr>
              <a:t>)</a:t>
            </a:r>
          </a:p>
          <a:p>
            <a:pPr lvl="1">
              <a:lnSpc>
                <a:spcPct val="100000"/>
              </a:lnSpc>
              <a:spcBef>
                <a:spcPts val="1200"/>
              </a:spcBef>
            </a:pPr>
            <a:r>
              <a:rPr lang="en-GB" altLang="en-US">
                <a:latin typeface="Calibri" panose="020F0502020204030204" pitchFamily="34" charset="0"/>
                <a:cs typeface="Calibri" panose="020F0502020204030204" pitchFamily="34" charset="0"/>
              </a:rPr>
              <a:t>As price is constant, total revenue will rise at a constant rate as more is sold. The TR ‘curve’ will therefore, be a straight line through the origin. </a:t>
            </a:r>
          </a:p>
          <a:p>
            <a:pPr marL="0" indent="0">
              <a:lnSpc>
                <a:spcPct val="100000"/>
              </a:lnSpc>
              <a:spcBef>
                <a:spcPts val="1200"/>
              </a:spcBef>
              <a:buNone/>
            </a:pPr>
            <a:endParaRPr lang="en-GB" altLang="en-US" sz="2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408185"/>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7">
                                            <p:txEl>
                                              <p:pRg st="0" end="0"/>
                                            </p:txEl>
                                          </p:spTgt>
                                        </p:tgtEl>
                                        <p:attrNameLst>
                                          <p:attrName>style.visibility</p:attrName>
                                        </p:attrNameLst>
                                      </p:cBhvr>
                                      <p:to>
                                        <p:strVal val="visible"/>
                                      </p:to>
                                    </p:set>
                                    <p:anim calcmode="lin" valueType="num">
                                      <p:cBhvr additive="base">
                                        <p:cTn id="7" dur="500"/>
                                        <p:tgtEl>
                                          <p:spTgt spid="37171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7">
                                            <p:txEl>
                                              <p:pRg st="1" end="1"/>
                                            </p:txEl>
                                          </p:spTgt>
                                        </p:tgtEl>
                                        <p:attrNameLst>
                                          <p:attrName>style.visibility</p:attrName>
                                        </p:attrNameLst>
                                      </p:cBhvr>
                                      <p:to>
                                        <p:strVal val="visible"/>
                                      </p:to>
                                    </p:set>
                                    <p:anim calcmode="lin" valueType="num">
                                      <p:cBhvr additive="base">
                                        <p:cTn id="13" dur="500"/>
                                        <p:tgtEl>
                                          <p:spTgt spid="37171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1717">
                                            <p:txEl>
                                              <p:pRg st="2" end="2"/>
                                            </p:txEl>
                                          </p:spTgt>
                                        </p:tgtEl>
                                        <p:attrNameLst>
                                          <p:attrName>style.visibility</p:attrName>
                                        </p:attrNameLst>
                                      </p:cBhvr>
                                      <p:to>
                                        <p:strVal val="visible"/>
                                      </p:to>
                                    </p:set>
                                    <p:anim calcmode="lin" valueType="num">
                                      <p:cBhvr additive="base">
                                        <p:cTn id="19" dur="500"/>
                                        <p:tgtEl>
                                          <p:spTgt spid="37171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171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1717">
                                            <p:txEl>
                                              <p:pRg st="3" end="3"/>
                                            </p:txEl>
                                          </p:spTgt>
                                        </p:tgtEl>
                                        <p:attrNameLst>
                                          <p:attrName>style.visibility</p:attrName>
                                        </p:attrNameLst>
                                      </p:cBhvr>
                                      <p:to>
                                        <p:strVal val="visible"/>
                                      </p:to>
                                    </p:set>
                                    <p:anim calcmode="lin" valueType="num">
                                      <p:cBhvr additive="base">
                                        <p:cTn id="25" dur="500"/>
                                        <p:tgtEl>
                                          <p:spTgt spid="37171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1717">
                                            <p:txEl>
                                              <p:pRg st="4" end="4"/>
                                            </p:txEl>
                                          </p:spTgt>
                                        </p:tgtEl>
                                        <p:attrNameLst>
                                          <p:attrName>style.visibility</p:attrName>
                                        </p:attrNameLst>
                                      </p:cBhvr>
                                      <p:to>
                                        <p:strVal val="visible"/>
                                      </p:to>
                                    </p:set>
                                    <p:anim calcmode="lin" valueType="num">
                                      <p:cBhvr additive="base">
                                        <p:cTn id="31" dur="500"/>
                                        <p:tgtEl>
                                          <p:spTgt spid="37171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171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1717">
                                            <p:txEl>
                                              <p:pRg st="5" end="5"/>
                                            </p:txEl>
                                          </p:spTgt>
                                        </p:tgtEl>
                                        <p:attrNameLst>
                                          <p:attrName>style.visibility</p:attrName>
                                        </p:attrNameLst>
                                      </p:cBhvr>
                                      <p:to>
                                        <p:strVal val="visible"/>
                                      </p:to>
                                    </p:set>
                                    <p:anim calcmode="lin" valueType="num">
                                      <p:cBhvr additive="base">
                                        <p:cTn id="37" dur="500"/>
                                        <p:tgtEl>
                                          <p:spTgt spid="37171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1717">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1717">
                                            <p:txEl>
                                              <p:pRg st="6" end="6"/>
                                            </p:txEl>
                                          </p:spTgt>
                                        </p:tgtEl>
                                        <p:attrNameLst>
                                          <p:attrName>style.visibility</p:attrName>
                                        </p:attrNameLst>
                                      </p:cBhvr>
                                      <p:to>
                                        <p:strVal val="visible"/>
                                      </p:to>
                                    </p:set>
                                    <p:anim calcmode="lin" valueType="num">
                                      <p:cBhvr additive="base">
                                        <p:cTn id="43" dur="500"/>
                                        <p:tgtEl>
                                          <p:spTgt spid="371717">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1717">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71717">
                                            <p:txEl>
                                              <p:pRg st="7" end="7"/>
                                            </p:txEl>
                                          </p:spTgt>
                                        </p:tgtEl>
                                        <p:attrNameLst>
                                          <p:attrName>style.visibility</p:attrName>
                                        </p:attrNameLst>
                                      </p:cBhvr>
                                      <p:to>
                                        <p:strVal val="visible"/>
                                      </p:to>
                                    </p:set>
                                    <p:anim calcmode="lin" valueType="num">
                                      <p:cBhvr additive="base">
                                        <p:cTn id="49" dur="500"/>
                                        <p:tgtEl>
                                          <p:spTgt spid="371717">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1717">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71717">
                                            <p:txEl>
                                              <p:pRg st="8" end="8"/>
                                            </p:txEl>
                                          </p:spTgt>
                                        </p:tgtEl>
                                        <p:attrNameLst>
                                          <p:attrName>style.visibility</p:attrName>
                                        </p:attrNameLst>
                                      </p:cBhvr>
                                      <p:to>
                                        <p:strVal val="visible"/>
                                      </p:to>
                                    </p:set>
                                    <p:anim calcmode="lin" valueType="num">
                                      <p:cBhvr additive="base">
                                        <p:cTn id="55" dur="500"/>
                                        <p:tgtEl>
                                          <p:spTgt spid="371717">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71717">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71717">
                                            <p:txEl>
                                              <p:pRg st="9" end="9"/>
                                            </p:txEl>
                                          </p:spTgt>
                                        </p:tgtEl>
                                        <p:attrNameLst>
                                          <p:attrName>style.visibility</p:attrName>
                                        </p:attrNameLst>
                                      </p:cBhvr>
                                      <p:to>
                                        <p:strVal val="visible"/>
                                      </p:to>
                                    </p:set>
                                    <p:anim calcmode="lin" valueType="num">
                                      <p:cBhvr additive="base">
                                        <p:cTn id="61" dur="500"/>
                                        <p:tgtEl>
                                          <p:spTgt spid="371717">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71717">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371717">
                                            <p:txEl>
                                              <p:pRg st="10" end="10"/>
                                            </p:txEl>
                                          </p:spTgt>
                                        </p:tgtEl>
                                        <p:attrNameLst>
                                          <p:attrName>style.visibility</p:attrName>
                                        </p:attrNameLst>
                                      </p:cBhvr>
                                      <p:to>
                                        <p:strVal val="visible"/>
                                      </p:to>
                                    </p:set>
                                    <p:anim calcmode="lin" valueType="num">
                                      <p:cBhvr additive="base">
                                        <p:cTn id="67" dur="500"/>
                                        <p:tgtEl>
                                          <p:spTgt spid="371717">
                                            <p:txEl>
                                              <p:pRg st="10" end="10"/>
                                            </p:txEl>
                                          </p:spTgt>
                                        </p:tgtEl>
                                        <p:attrNameLst>
                                          <p:attrName>ppt_y</p:attrName>
                                        </p:attrNameLst>
                                      </p:cBhvr>
                                      <p:tavLst>
                                        <p:tav tm="0">
                                          <p:val>
                                            <p:strVal val="#ppt_y+#ppt_h*1.125000"/>
                                          </p:val>
                                        </p:tav>
                                        <p:tav tm="100000">
                                          <p:val>
                                            <p:strVal val="#ppt_y"/>
                                          </p:val>
                                        </p:tav>
                                      </p:tavLst>
                                    </p:anim>
                                    <p:animEffect transition="in" filter="wipe(up)">
                                      <p:cBhvr>
                                        <p:cTn id="68" dur="500"/>
                                        <p:tgtEl>
                                          <p:spTgt spid="37171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171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1716" name="Rectangle 4"/>
          <p:cNvSpPr>
            <a:spLocks noGrp="1"/>
          </p:cNvSpPr>
          <p:nvPr>
            <p:ph type="title"/>
          </p:nvPr>
        </p:nvSpPr>
        <p:spPr/>
        <p:txBody>
          <a:bodyPr>
            <a:normAutofit/>
          </a:bodyPr>
          <a:lstStyle/>
          <a:p>
            <a:r>
              <a:rPr lang="en-GB" altLang="en-US" sz="3200">
                <a:latin typeface="Calibri" panose="020F0502020204030204" pitchFamily="34" charset="0"/>
                <a:cs typeface="Calibri" panose="020F0502020204030204" pitchFamily="34" charset="0"/>
              </a:rPr>
              <a:t>Revenue – Price Takers</a:t>
            </a:r>
          </a:p>
        </p:txBody>
      </p:sp>
      <p:pic>
        <p:nvPicPr>
          <p:cNvPr id="2" name="Picture 1">
            <a:extLst>
              <a:ext uri="{FF2B5EF4-FFF2-40B4-BE49-F238E27FC236}">
                <a16:creationId xmlns:a16="http://schemas.microsoft.com/office/drawing/2014/main" id="{5905124C-270B-882D-AFF9-66B3887FE46D}"/>
              </a:ext>
            </a:extLst>
          </p:cNvPr>
          <p:cNvPicPr>
            <a:picLocks noChangeAspect="1"/>
          </p:cNvPicPr>
          <p:nvPr/>
        </p:nvPicPr>
        <p:blipFill>
          <a:blip r:embed="rId3"/>
          <a:stretch>
            <a:fillRect/>
          </a:stretch>
        </p:blipFill>
        <p:spPr>
          <a:xfrm>
            <a:off x="6263674" y="1924491"/>
            <a:ext cx="5578561" cy="3862081"/>
          </a:xfrm>
          <a:prstGeom prst="rect">
            <a:avLst/>
          </a:prstGeom>
        </p:spPr>
      </p:pic>
      <p:pic>
        <p:nvPicPr>
          <p:cNvPr id="4" name="Picture 3">
            <a:extLst>
              <a:ext uri="{FF2B5EF4-FFF2-40B4-BE49-F238E27FC236}">
                <a16:creationId xmlns:a16="http://schemas.microsoft.com/office/drawing/2014/main" id="{CE043F76-BDC0-7755-19F9-A9D818309709}"/>
              </a:ext>
            </a:extLst>
          </p:cNvPr>
          <p:cNvPicPr>
            <a:picLocks noChangeAspect="1"/>
          </p:cNvPicPr>
          <p:nvPr/>
        </p:nvPicPr>
        <p:blipFill>
          <a:blip r:embed="rId4"/>
          <a:stretch>
            <a:fillRect/>
          </a:stretch>
        </p:blipFill>
        <p:spPr>
          <a:xfrm>
            <a:off x="239232" y="1864325"/>
            <a:ext cx="5856767" cy="3978263"/>
          </a:xfrm>
          <a:prstGeom prst="rect">
            <a:avLst/>
          </a:prstGeom>
        </p:spPr>
      </p:pic>
    </p:spTree>
    <p:extLst>
      <p:ext uri="{BB962C8B-B14F-4D97-AF65-F5344CB8AC3E}">
        <p14:creationId xmlns:p14="http://schemas.microsoft.com/office/powerpoint/2010/main" val="817810503"/>
      </p:ext>
    </p:extLst>
  </p:cSld>
  <p:clrMapOvr>
    <a:masterClrMapping/>
  </p:clrMapOvr>
  <p:transition spd="slow">
    <p:pull dir="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376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3764" name="Rectangle 4"/>
          <p:cNvSpPr>
            <a:spLocks noGrp="1"/>
          </p:cNvSpPr>
          <p:nvPr>
            <p:ph type="title"/>
          </p:nvPr>
        </p:nvSpPr>
        <p:spPr>
          <a:xfrm>
            <a:off x="778091" y="365126"/>
            <a:ext cx="10104301" cy="908198"/>
          </a:xfrm>
        </p:spPr>
        <p:txBody>
          <a:bodyPr>
            <a:normAutofit/>
          </a:bodyPr>
          <a:lstStyle/>
          <a:p>
            <a:r>
              <a:rPr lang="en-GB" altLang="en-US" sz="3200">
                <a:latin typeface="Calibri" panose="020F0502020204030204" pitchFamily="34" charset="0"/>
                <a:cs typeface="Calibri" panose="020F0502020204030204" pitchFamily="34" charset="0"/>
              </a:rPr>
              <a:t>2. Revenue curves when firms are price makers</a:t>
            </a:r>
          </a:p>
        </p:txBody>
      </p:sp>
      <p:sp>
        <p:nvSpPr>
          <p:cNvPr id="4" name="TextBox 3">
            <a:extLst>
              <a:ext uri="{FF2B5EF4-FFF2-40B4-BE49-F238E27FC236}">
                <a16:creationId xmlns:a16="http://schemas.microsoft.com/office/drawing/2014/main" id="{4F314809-DDB0-A7B7-60C7-EB747B488C94}"/>
              </a:ext>
            </a:extLst>
          </p:cNvPr>
          <p:cNvSpPr txBox="1"/>
          <p:nvPr/>
        </p:nvSpPr>
        <p:spPr>
          <a:xfrm>
            <a:off x="366793" y="1397155"/>
            <a:ext cx="10770713" cy="3293209"/>
          </a:xfrm>
          <a:prstGeom prst="rect">
            <a:avLst/>
          </a:prstGeom>
          <a:noFill/>
        </p:spPr>
        <p:txBody>
          <a:bodyPr wrap="square" rtlCol="0">
            <a:spAutoFit/>
          </a:bodyPr>
          <a:lstStyle/>
          <a:p>
            <a:pPr lvl="1">
              <a:lnSpc>
                <a:spcPct val="100000"/>
              </a:lnSpc>
              <a:spcBef>
                <a:spcPts val="1200"/>
              </a:spcBef>
            </a:pPr>
            <a:r>
              <a:rPr lang="en-GB" altLang="en-US" sz="2000">
                <a:latin typeface="Calibri" panose="020F0502020204030204" pitchFamily="34" charset="0"/>
                <a:cs typeface="Calibri" panose="020F0502020204030204" pitchFamily="34" charset="0"/>
              </a:rPr>
              <a:t>Rather than accepting (or taking) the market price, firms would generally prefer to be a price maker. </a:t>
            </a:r>
          </a:p>
          <a:p>
            <a:pPr lvl="1">
              <a:lnSpc>
                <a:spcPct val="100000"/>
              </a:lnSpc>
              <a:spcBef>
                <a:spcPts val="1200"/>
              </a:spcBef>
            </a:pPr>
            <a:r>
              <a:rPr lang="en-GB" altLang="en-US" sz="2000">
                <a:latin typeface="Calibri" panose="020F0502020204030204" pitchFamily="34" charset="0"/>
                <a:cs typeface="Calibri" panose="020F0502020204030204" pitchFamily="34" charset="0"/>
              </a:rPr>
              <a:t>This means that </a:t>
            </a:r>
            <a:r>
              <a:rPr lang="en-GB" altLang="en-US" sz="2000" b="1">
                <a:latin typeface="Calibri" panose="020F0502020204030204" pitchFamily="34" charset="0"/>
                <a:cs typeface="Calibri" panose="020F0502020204030204" pitchFamily="34" charset="0"/>
              </a:rPr>
              <a:t>if a firm wants to sell more, it must lower its price </a:t>
            </a:r>
            <a:r>
              <a:rPr lang="en-GB" altLang="en-US" sz="2000">
                <a:latin typeface="Calibri" panose="020F0502020204030204" pitchFamily="34" charset="0"/>
                <a:cs typeface="Calibri" panose="020F0502020204030204" pitchFamily="34" charset="0"/>
              </a:rPr>
              <a:t>(due to the law of demand).</a:t>
            </a:r>
          </a:p>
          <a:p>
            <a:pPr lvl="1">
              <a:lnSpc>
                <a:spcPct val="100000"/>
              </a:lnSpc>
              <a:spcBef>
                <a:spcPts val="1200"/>
              </a:spcBef>
            </a:pPr>
            <a:r>
              <a:rPr lang="en-GB" altLang="en-US" sz="2000">
                <a:latin typeface="Calibri" panose="020F0502020204030204" pitchFamily="34" charset="0"/>
                <a:cs typeface="Calibri" panose="020F0502020204030204" pitchFamily="34" charset="0"/>
              </a:rPr>
              <a:t>Alternatively, it could raise its price, if it was willing to accept a fall in demand.</a:t>
            </a:r>
          </a:p>
          <a:p>
            <a:pPr lvl="1">
              <a:lnSpc>
                <a:spcPct val="100000"/>
              </a:lnSpc>
              <a:spcBef>
                <a:spcPts val="1200"/>
              </a:spcBef>
            </a:pPr>
            <a:r>
              <a:rPr lang="en-GB" altLang="en-US" sz="2000">
                <a:latin typeface="Calibri" panose="020F0502020204030204" pitchFamily="34" charset="0"/>
                <a:cs typeface="Calibri" panose="020F0502020204030204" pitchFamily="34" charset="0"/>
              </a:rPr>
              <a:t>As such, a firm that is </a:t>
            </a:r>
            <a:r>
              <a:rPr lang="en-GB" altLang="en-US" sz="2000" b="1">
                <a:latin typeface="Calibri" panose="020F0502020204030204" pitchFamily="34" charset="0"/>
                <a:cs typeface="Calibri" panose="020F0502020204030204" pitchFamily="34" charset="0"/>
              </a:rPr>
              <a:t>a price maker will face a downward sloping demand curve</a:t>
            </a:r>
            <a:r>
              <a:rPr lang="en-GB" altLang="en-US" sz="2000">
                <a:latin typeface="Calibri" panose="020F0502020204030204" pitchFamily="34" charset="0"/>
                <a:cs typeface="Calibri" panose="020F0502020204030204" pitchFamily="34" charset="0"/>
              </a:rPr>
              <a:t>.</a:t>
            </a:r>
          </a:p>
          <a:p>
            <a:pPr lvl="1">
              <a:lnSpc>
                <a:spcPct val="100000"/>
              </a:lnSpc>
              <a:spcBef>
                <a:spcPts val="1200"/>
              </a:spcBef>
            </a:pPr>
            <a:r>
              <a:rPr lang="en-GB" altLang="en-US" sz="2000">
                <a:latin typeface="Calibri" panose="020F0502020204030204" pitchFamily="34" charset="0"/>
                <a:cs typeface="Calibri" panose="020F0502020204030204" pitchFamily="34" charset="0"/>
              </a:rPr>
              <a:t>Firms will tend to benefit from being price makers.</a:t>
            </a:r>
          </a:p>
          <a:p>
            <a:pPr lvl="1">
              <a:lnSpc>
                <a:spcPct val="100000"/>
              </a:lnSpc>
              <a:spcBef>
                <a:spcPts val="1200"/>
              </a:spcBef>
            </a:pPr>
            <a:r>
              <a:rPr lang="en-GB" altLang="en-US" sz="2000">
                <a:latin typeface="Calibri" panose="020F0502020204030204" pitchFamily="34" charset="0"/>
                <a:cs typeface="Calibri" panose="020F0502020204030204" pitchFamily="34" charset="0"/>
              </a:rPr>
              <a:t>The TR, AR and MR curves will look quite different when price does vary with the firm’s output.</a:t>
            </a:r>
          </a:p>
          <a:p>
            <a:endParaRPr lang="en-GB"/>
          </a:p>
        </p:txBody>
      </p:sp>
    </p:spTree>
    <p:extLst>
      <p:ext uri="{BB962C8B-B14F-4D97-AF65-F5344CB8AC3E}">
        <p14:creationId xmlns:p14="http://schemas.microsoft.com/office/powerpoint/2010/main" val="1678672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1733-25DA-24FF-C350-629EA3C7F057}"/>
              </a:ext>
            </a:extLst>
          </p:cNvPr>
          <p:cNvSpPr>
            <a:spLocks noGrp="1"/>
          </p:cNvSpPr>
          <p:nvPr>
            <p:ph type="title"/>
          </p:nvPr>
        </p:nvSpPr>
        <p:spPr>
          <a:xfrm>
            <a:off x="474704" y="365126"/>
            <a:ext cx="5449010" cy="908198"/>
          </a:xfrm>
        </p:spPr>
        <p:txBody>
          <a:bodyPr>
            <a:normAutofit fontScale="90000"/>
          </a:bodyPr>
          <a:lstStyle/>
          <a:p>
            <a:r>
              <a:rPr lang="en-GB" altLang="en-US">
                <a:latin typeface="Calibri" panose="020F0502020204030204" pitchFamily="34" charset="0"/>
                <a:cs typeface="Calibri" panose="020F0502020204030204" pitchFamily="34" charset="0"/>
              </a:rPr>
              <a:t>Revenue</a:t>
            </a:r>
            <a:br>
              <a:rPr lang="en-GB" altLang="en-US">
                <a:latin typeface="Calibri" panose="020F0502020204030204" pitchFamily="34" charset="0"/>
                <a:cs typeface="Calibri" panose="020F0502020204030204" pitchFamily="34" charset="0"/>
              </a:rPr>
            </a:br>
            <a:r>
              <a:rPr lang="en-GB" altLang="en-US">
                <a:latin typeface="Calibri" panose="020F0502020204030204" pitchFamily="34" charset="0"/>
                <a:cs typeface="Calibri" panose="020F0502020204030204" pitchFamily="34" charset="0"/>
              </a:rPr>
              <a:t>(Price Makers)</a:t>
            </a:r>
            <a:endParaRPr lang="en-GB">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8290CE4F-A5CC-3419-6B4E-0B7096D96D2A}"/>
              </a:ext>
            </a:extLst>
          </p:cNvPr>
          <p:cNvPicPr>
            <a:picLocks noChangeAspect="1"/>
          </p:cNvPicPr>
          <p:nvPr/>
        </p:nvPicPr>
        <p:blipFill>
          <a:blip r:embed="rId2"/>
          <a:stretch>
            <a:fillRect/>
          </a:stretch>
        </p:blipFill>
        <p:spPr>
          <a:xfrm>
            <a:off x="311792" y="1641437"/>
            <a:ext cx="5784208" cy="4004452"/>
          </a:xfrm>
          <a:prstGeom prst="rect">
            <a:avLst/>
          </a:prstGeom>
        </p:spPr>
      </p:pic>
      <p:sp>
        <p:nvSpPr>
          <p:cNvPr id="9" name="TextBox 8">
            <a:extLst>
              <a:ext uri="{FF2B5EF4-FFF2-40B4-BE49-F238E27FC236}">
                <a16:creationId xmlns:a16="http://schemas.microsoft.com/office/drawing/2014/main" id="{1A143CA2-7F46-2655-8381-FEFE6FA2C7B6}"/>
              </a:ext>
            </a:extLst>
          </p:cNvPr>
          <p:cNvSpPr txBox="1"/>
          <p:nvPr/>
        </p:nvSpPr>
        <p:spPr>
          <a:xfrm>
            <a:off x="5798772" y="364850"/>
            <a:ext cx="6088427" cy="5601533"/>
          </a:xfrm>
          <a:prstGeom prst="rect">
            <a:avLst/>
          </a:prstGeom>
          <a:noFill/>
        </p:spPr>
        <p:txBody>
          <a:bodyPr wrap="square">
            <a:spAutoFit/>
          </a:bodyPr>
          <a:lstStyle/>
          <a:p>
            <a:pPr lvl="1">
              <a:spcBef>
                <a:spcPts val="0"/>
              </a:spcBef>
              <a:spcAft>
                <a:spcPts val="600"/>
              </a:spcAft>
            </a:pPr>
            <a:r>
              <a:rPr lang="en-GB" altLang="en-US" sz="1900" b="1">
                <a:latin typeface="Calibri" panose="020F0502020204030204" pitchFamily="34" charset="0"/>
                <a:cs typeface="Calibri" panose="020F0502020204030204" pitchFamily="34" charset="0"/>
              </a:rPr>
              <a:t>Average revenue (</a:t>
            </a:r>
            <a:r>
              <a:rPr lang="en-GB" altLang="en-US" sz="1900" b="1" i="1">
                <a:latin typeface="Calibri" panose="020F0502020204030204" pitchFamily="34" charset="0"/>
                <a:cs typeface="Calibri" panose="020F0502020204030204" pitchFamily="34" charset="0"/>
              </a:rPr>
              <a:t>AR</a:t>
            </a:r>
            <a:r>
              <a:rPr lang="en-GB" altLang="en-US" sz="1900" b="1">
                <a:latin typeface="Calibri" panose="020F0502020204030204" pitchFamily="34" charset="0"/>
                <a:cs typeface="Calibri" panose="020F0502020204030204" pitchFamily="34" charset="0"/>
              </a:rPr>
              <a:t>)</a:t>
            </a:r>
          </a:p>
          <a:p>
            <a:pPr marL="742950" lvl="1" indent="-285750">
              <a:spcBef>
                <a:spcPts val="0"/>
              </a:spcBef>
              <a:spcAft>
                <a:spcPts val="6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If the price must be reduced to sell more output, AR will fall as output increases.</a:t>
            </a:r>
          </a:p>
          <a:p>
            <a:pPr marL="742950" lvl="1" indent="-285750">
              <a:spcBef>
                <a:spcPts val="0"/>
              </a:spcBef>
              <a:spcAft>
                <a:spcPts val="6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The demand curve and the AR curve lie along the same line</a:t>
            </a:r>
          </a:p>
          <a:p>
            <a:pPr lvl="1">
              <a:spcBef>
                <a:spcPts val="0"/>
              </a:spcBef>
              <a:spcAft>
                <a:spcPts val="600"/>
              </a:spcAft>
            </a:pPr>
            <a:r>
              <a:rPr lang="en-GB" altLang="en-US" sz="1900" b="1">
                <a:latin typeface="Calibri" panose="020F0502020204030204" pitchFamily="34" charset="0"/>
                <a:cs typeface="Calibri" panose="020F0502020204030204" pitchFamily="34" charset="0"/>
              </a:rPr>
              <a:t>Marginal revenue (MR)</a:t>
            </a:r>
          </a:p>
          <a:p>
            <a:pPr marL="742950" lvl="1" indent="-285750">
              <a:spcBef>
                <a:spcPts val="0"/>
              </a:spcBef>
              <a:spcAft>
                <a:spcPts val="6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When a firm faces a downward-sloping demand curve, MR will be less than AR</a:t>
            </a:r>
          </a:p>
          <a:p>
            <a:pPr marL="742950" lvl="1" indent="-285750">
              <a:spcBef>
                <a:spcPts val="0"/>
              </a:spcBef>
              <a:spcAft>
                <a:spcPts val="6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If a firm is to sell more per period, it must lower its price (assuming it does not advertise)</a:t>
            </a:r>
          </a:p>
          <a:p>
            <a:pPr marL="742950" lvl="1" indent="-285750">
              <a:spcBef>
                <a:spcPts val="0"/>
              </a:spcBef>
              <a:spcAft>
                <a:spcPts val="6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This will mean that lowering the price not just for the extra units it hopes to sell, but also for those units it would have sold had it not lowered the price.</a:t>
            </a:r>
          </a:p>
          <a:p>
            <a:pPr marL="742950" lvl="1" indent="-285750">
              <a:spcBef>
                <a:spcPts val="0"/>
              </a:spcBef>
              <a:spcAft>
                <a:spcPts val="6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Thus, the MR is the price at which it sells that last unit, </a:t>
            </a:r>
            <a:r>
              <a:rPr lang="en-GB" altLang="en-US" sz="1900" i="1">
                <a:latin typeface="Calibri" panose="020F0502020204030204" pitchFamily="34" charset="0"/>
                <a:cs typeface="Calibri" panose="020F0502020204030204" pitchFamily="34" charset="0"/>
              </a:rPr>
              <a:t>minus</a:t>
            </a:r>
            <a:r>
              <a:rPr lang="en-GB" altLang="en-US" sz="1900">
                <a:latin typeface="Calibri" panose="020F0502020204030204" pitchFamily="34" charset="0"/>
                <a:cs typeface="Calibri" panose="020F0502020204030204" pitchFamily="34" charset="0"/>
              </a:rPr>
              <a:t> the loss in revenue it has incurred by reducing the price on those units it could have otherwise sold at the higher price. </a:t>
            </a:r>
          </a:p>
        </p:txBody>
      </p:sp>
    </p:spTree>
    <p:extLst>
      <p:ext uri="{BB962C8B-B14F-4D97-AF65-F5344CB8AC3E}">
        <p14:creationId xmlns:p14="http://schemas.microsoft.com/office/powerpoint/2010/main" val="2775802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9D999-B61B-5482-7C7E-324C197B8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3F23D-48EA-A44C-0195-7894650EABCA}"/>
              </a:ext>
            </a:extLst>
          </p:cNvPr>
          <p:cNvSpPr>
            <a:spLocks noGrp="1"/>
          </p:cNvSpPr>
          <p:nvPr>
            <p:ph type="title"/>
          </p:nvPr>
        </p:nvSpPr>
        <p:spPr>
          <a:xfrm>
            <a:off x="497424" y="365126"/>
            <a:ext cx="5301349" cy="908198"/>
          </a:xfrm>
        </p:spPr>
        <p:txBody>
          <a:bodyPr/>
          <a:lstStyle/>
          <a:p>
            <a:r>
              <a:rPr lang="en-GB" altLang="en-US">
                <a:latin typeface="Calibri" panose="020F0502020204030204" pitchFamily="34" charset="0"/>
                <a:cs typeface="Calibri" panose="020F0502020204030204" pitchFamily="34" charset="0"/>
              </a:rPr>
              <a:t>Revenue – Price Makers</a:t>
            </a:r>
            <a:endParaRPr lang="en-GB">
              <a:latin typeface="Calibri" panose="020F0502020204030204" pitchFamily="34" charset="0"/>
              <a:cs typeface="Calibri" panose="020F0502020204030204" pitchFamily="34" charset="0"/>
            </a:endParaRPr>
          </a:p>
        </p:txBody>
      </p:sp>
      <p:pic>
        <p:nvPicPr>
          <p:cNvPr id="4" name="Content Placeholder 3">
            <a:extLst>
              <a:ext uri="{FF2B5EF4-FFF2-40B4-BE49-F238E27FC236}">
                <a16:creationId xmlns:a16="http://schemas.microsoft.com/office/drawing/2014/main" id="{86EA8EEE-5293-C281-1645-DAFF9911DB1C}"/>
              </a:ext>
            </a:extLst>
          </p:cNvPr>
          <p:cNvPicPr>
            <a:picLocks noGrp="1" noChangeAspect="1"/>
          </p:cNvPicPr>
          <p:nvPr>
            <p:ph idx="1"/>
          </p:nvPr>
        </p:nvPicPr>
        <p:blipFill>
          <a:blip r:embed="rId2"/>
          <a:stretch>
            <a:fillRect/>
          </a:stretch>
        </p:blipFill>
        <p:spPr>
          <a:xfrm>
            <a:off x="6361047" y="1741037"/>
            <a:ext cx="5671058" cy="3926116"/>
          </a:xfrm>
          <a:prstGeom prst="rect">
            <a:avLst/>
          </a:prstGeom>
        </p:spPr>
      </p:pic>
      <p:sp>
        <p:nvSpPr>
          <p:cNvPr id="9" name="TextBox 8">
            <a:extLst>
              <a:ext uri="{FF2B5EF4-FFF2-40B4-BE49-F238E27FC236}">
                <a16:creationId xmlns:a16="http://schemas.microsoft.com/office/drawing/2014/main" id="{041A1348-5080-5627-F3A9-292E22DDC657}"/>
              </a:ext>
            </a:extLst>
          </p:cNvPr>
          <p:cNvSpPr txBox="1"/>
          <p:nvPr/>
        </p:nvSpPr>
        <p:spPr>
          <a:xfrm>
            <a:off x="-175437" y="1604040"/>
            <a:ext cx="6496493" cy="4632037"/>
          </a:xfrm>
          <a:prstGeom prst="rect">
            <a:avLst/>
          </a:prstGeom>
          <a:noFill/>
        </p:spPr>
        <p:txBody>
          <a:bodyPr wrap="square">
            <a:spAutoFit/>
          </a:bodyPr>
          <a:lstStyle/>
          <a:p>
            <a:pPr marL="742950" lvl="1" indent="-285750">
              <a:spcBef>
                <a:spcPts val="0"/>
              </a:spcBef>
              <a:spcAft>
                <a:spcPts val="12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If demand is price </a:t>
            </a:r>
            <a:r>
              <a:rPr lang="en-GB" altLang="en-US" sz="1900" b="1">
                <a:latin typeface="Calibri" panose="020F0502020204030204" pitchFamily="34" charset="0"/>
                <a:cs typeface="Calibri" panose="020F0502020204030204" pitchFamily="34" charset="0"/>
              </a:rPr>
              <a:t>elastic</a:t>
            </a:r>
            <a:r>
              <a:rPr lang="en-GB" altLang="en-US" sz="1900">
                <a:latin typeface="Calibri" panose="020F0502020204030204" pitchFamily="34" charset="0"/>
                <a:cs typeface="Calibri" panose="020F0502020204030204" pitchFamily="34" charset="0"/>
              </a:rPr>
              <a:t>, a </a:t>
            </a:r>
            <a:r>
              <a:rPr lang="en-GB" altLang="en-US" sz="1900" b="1">
                <a:latin typeface="Calibri" panose="020F0502020204030204" pitchFamily="34" charset="0"/>
                <a:cs typeface="Calibri" panose="020F0502020204030204" pitchFamily="34" charset="0"/>
              </a:rPr>
              <a:t>decrease in price </a:t>
            </a:r>
            <a:r>
              <a:rPr lang="en-GB" altLang="en-US" sz="1900">
                <a:latin typeface="Calibri" panose="020F0502020204030204" pitchFamily="34" charset="0"/>
                <a:cs typeface="Calibri" panose="020F0502020204030204" pitchFamily="34" charset="0"/>
              </a:rPr>
              <a:t>will lead to a proportionately larger increase in the quantity demanded and hence an </a:t>
            </a:r>
            <a:r>
              <a:rPr lang="en-GB" altLang="en-US" sz="1900" b="1">
                <a:latin typeface="Calibri" panose="020F0502020204030204" pitchFamily="34" charset="0"/>
                <a:cs typeface="Calibri" panose="020F0502020204030204" pitchFamily="34" charset="0"/>
              </a:rPr>
              <a:t>increase in total revenue</a:t>
            </a:r>
            <a:r>
              <a:rPr lang="en-GB" altLang="en-US" sz="1900">
                <a:latin typeface="Calibri" panose="020F0502020204030204" pitchFamily="34" charset="0"/>
                <a:cs typeface="Calibri" panose="020F0502020204030204" pitchFamily="34" charset="0"/>
              </a:rPr>
              <a:t>.</a:t>
            </a:r>
          </a:p>
          <a:p>
            <a:pPr marL="742950" lvl="1" indent="-285750">
              <a:spcBef>
                <a:spcPts val="0"/>
              </a:spcBef>
              <a:spcAft>
                <a:spcPts val="1200"/>
              </a:spcAft>
              <a:buFont typeface="Arial" panose="020B0604020202020204" pitchFamily="34" charset="0"/>
              <a:buChar char="•"/>
            </a:pPr>
            <a:r>
              <a:rPr lang="en-GB" altLang="en-US" sz="1900" b="1">
                <a:latin typeface="Calibri" panose="020F0502020204030204" pitchFamily="34" charset="0"/>
                <a:cs typeface="Calibri" panose="020F0502020204030204" pitchFamily="34" charset="0"/>
              </a:rPr>
              <a:t>Marginal revenue </a:t>
            </a:r>
            <a:r>
              <a:rPr lang="en-GB" altLang="en-US" sz="1900">
                <a:latin typeface="Calibri" panose="020F0502020204030204" pitchFamily="34" charset="0"/>
                <a:cs typeface="Calibri" panose="020F0502020204030204" pitchFamily="34" charset="0"/>
              </a:rPr>
              <a:t>will therefore be </a:t>
            </a:r>
            <a:r>
              <a:rPr lang="en-GB" altLang="en-US" sz="1900" b="1">
                <a:latin typeface="Calibri" panose="020F0502020204030204" pitchFamily="34" charset="0"/>
                <a:cs typeface="Calibri" panose="020F0502020204030204" pitchFamily="34" charset="0"/>
              </a:rPr>
              <a:t>positive </a:t>
            </a:r>
            <a:r>
              <a:rPr lang="en-GB" altLang="en-US" sz="1900">
                <a:latin typeface="Calibri" panose="020F0502020204030204" pitchFamily="34" charset="0"/>
                <a:cs typeface="Calibri" panose="020F0502020204030204" pitchFamily="34" charset="0"/>
              </a:rPr>
              <a:t>if the good has</a:t>
            </a:r>
            <a:r>
              <a:rPr lang="en-GB" altLang="en-US" sz="1900" b="1">
                <a:latin typeface="Calibri" panose="020F0502020204030204" pitchFamily="34" charset="0"/>
                <a:cs typeface="Calibri" panose="020F0502020204030204" pitchFamily="34" charset="0"/>
              </a:rPr>
              <a:t> elastic </a:t>
            </a:r>
            <a:r>
              <a:rPr lang="en-GB" altLang="en-US" sz="1900">
                <a:latin typeface="Calibri" panose="020F0502020204030204" pitchFamily="34" charset="0"/>
                <a:cs typeface="Calibri" panose="020F0502020204030204" pitchFamily="34" charset="0"/>
              </a:rPr>
              <a:t>demand and the </a:t>
            </a:r>
            <a:r>
              <a:rPr lang="en-GB" altLang="en-US" sz="1900" b="1">
                <a:latin typeface="Calibri" panose="020F0502020204030204" pitchFamily="34" charset="0"/>
                <a:cs typeface="Calibri" panose="020F0502020204030204" pitchFamily="34" charset="0"/>
              </a:rPr>
              <a:t>price is reduced.</a:t>
            </a:r>
          </a:p>
          <a:p>
            <a:pPr marL="742950" lvl="1" indent="-285750">
              <a:spcBef>
                <a:spcPts val="0"/>
              </a:spcBef>
              <a:spcAft>
                <a:spcPts val="12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If demand is </a:t>
            </a:r>
            <a:r>
              <a:rPr lang="en-GB" altLang="en-US" sz="1900" b="1">
                <a:solidFill>
                  <a:srgbClr val="FF0000"/>
                </a:solidFill>
                <a:latin typeface="Calibri" panose="020F0502020204030204" pitchFamily="34" charset="0"/>
                <a:cs typeface="Calibri" panose="020F0502020204030204" pitchFamily="34" charset="0"/>
              </a:rPr>
              <a:t>inelastic</a:t>
            </a:r>
            <a:r>
              <a:rPr lang="en-GB" altLang="en-US" sz="1900">
                <a:latin typeface="Calibri" panose="020F0502020204030204" pitchFamily="34" charset="0"/>
                <a:cs typeface="Calibri" panose="020F0502020204030204" pitchFamily="34" charset="0"/>
              </a:rPr>
              <a:t>, a </a:t>
            </a:r>
            <a:r>
              <a:rPr lang="en-GB" altLang="en-US" sz="1900" b="1">
                <a:solidFill>
                  <a:srgbClr val="FF0000"/>
                </a:solidFill>
                <a:latin typeface="Calibri" panose="020F0502020204030204" pitchFamily="34" charset="0"/>
                <a:cs typeface="Calibri" panose="020F0502020204030204" pitchFamily="34" charset="0"/>
              </a:rPr>
              <a:t>decrease in price </a:t>
            </a:r>
            <a:r>
              <a:rPr lang="en-GB" altLang="en-US" sz="1900">
                <a:latin typeface="Calibri" panose="020F0502020204030204" pitchFamily="34" charset="0"/>
                <a:cs typeface="Calibri" panose="020F0502020204030204" pitchFamily="34" charset="0"/>
              </a:rPr>
              <a:t>will lead to a proportionately smaller increase in demand and </a:t>
            </a:r>
            <a:r>
              <a:rPr lang="en-GB" altLang="en-US" sz="1900" b="1">
                <a:solidFill>
                  <a:srgbClr val="FF0000"/>
                </a:solidFill>
                <a:latin typeface="Calibri" panose="020F0502020204030204" pitchFamily="34" charset="0"/>
                <a:cs typeface="Calibri" panose="020F0502020204030204" pitchFamily="34" charset="0"/>
              </a:rPr>
              <a:t>total revenue will fall.</a:t>
            </a:r>
          </a:p>
          <a:p>
            <a:pPr marL="742950" lvl="1" indent="-285750">
              <a:spcBef>
                <a:spcPts val="0"/>
              </a:spcBef>
              <a:spcAft>
                <a:spcPts val="1200"/>
              </a:spcAft>
              <a:buFont typeface="Arial" panose="020B0604020202020204" pitchFamily="34" charset="0"/>
              <a:buChar char="•"/>
            </a:pPr>
            <a:r>
              <a:rPr lang="en-GB" altLang="en-US" sz="1900" b="1">
                <a:solidFill>
                  <a:srgbClr val="FF0000"/>
                </a:solidFill>
                <a:latin typeface="Calibri" panose="020F0502020204030204" pitchFamily="34" charset="0"/>
                <a:cs typeface="Calibri" panose="020F0502020204030204" pitchFamily="34" charset="0"/>
              </a:rPr>
              <a:t>Marginal revenue </a:t>
            </a:r>
            <a:r>
              <a:rPr lang="en-GB" altLang="en-US" sz="1900">
                <a:solidFill>
                  <a:srgbClr val="FF0000"/>
                </a:solidFill>
                <a:latin typeface="Calibri" panose="020F0502020204030204" pitchFamily="34" charset="0"/>
                <a:cs typeface="Calibri" panose="020F0502020204030204" pitchFamily="34" charset="0"/>
              </a:rPr>
              <a:t>will therefore be </a:t>
            </a:r>
            <a:r>
              <a:rPr lang="en-GB" altLang="en-US" sz="1900" b="1">
                <a:solidFill>
                  <a:srgbClr val="FF0000"/>
                </a:solidFill>
                <a:latin typeface="Calibri" panose="020F0502020204030204" pitchFamily="34" charset="0"/>
                <a:cs typeface="Calibri" panose="020F0502020204030204" pitchFamily="34" charset="0"/>
              </a:rPr>
              <a:t>negative </a:t>
            </a:r>
            <a:r>
              <a:rPr lang="en-GB" altLang="en-US" sz="1900">
                <a:solidFill>
                  <a:srgbClr val="FF0000"/>
                </a:solidFill>
                <a:latin typeface="Calibri" panose="020F0502020204030204" pitchFamily="34" charset="0"/>
                <a:cs typeface="Calibri" panose="020F0502020204030204" pitchFamily="34" charset="0"/>
              </a:rPr>
              <a:t>if the good has</a:t>
            </a:r>
            <a:r>
              <a:rPr lang="en-GB" altLang="en-US" sz="1900" b="1">
                <a:solidFill>
                  <a:srgbClr val="FF0000"/>
                </a:solidFill>
                <a:latin typeface="Calibri" panose="020F0502020204030204" pitchFamily="34" charset="0"/>
                <a:cs typeface="Calibri" panose="020F0502020204030204" pitchFamily="34" charset="0"/>
              </a:rPr>
              <a:t> inelastic </a:t>
            </a:r>
            <a:r>
              <a:rPr lang="en-GB" altLang="en-US" sz="1900">
                <a:solidFill>
                  <a:srgbClr val="FF0000"/>
                </a:solidFill>
                <a:latin typeface="Calibri" panose="020F0502020204030204" pitchFamily="34" charset="0"/>
                <a:cs typeface="Calibri" panose="020F0502020204030204" pitchFamily="34" charset="0"/>
              </a:rPr>
              <a:t>demand and the </a:t>
            </a:r>
            <a:r>
              <a:rPr lang="en-GB" altLang="en-US" sz="1900" b="1">
                <a:solidFill>
                  <a:srgbClr val="FF0000"/>
                </a:solidFill>
                <a:latin typeface="Calibri" panose="020F0502020204030204" pitchFamily="34" charset="0"/>
                <a:cs typeface="Calibri" panose="020F0502020204030204" pitchFamily="34" charset="0"/>
              </a:rPr>
              <a:t>price is reduced.</a:t>
            </a:r>
          </a:p>
          <a:p>
            <a:pPr marL="742950" lvl="1" indent="-285750">
              <a:spcBef>
                <a:spcPts val="0"/>
              </a:spcBef>
              <a:spcAft>
                <a:spcPts val="1200"/>
              </a:spcAft>
              <a:buFont typeface="Arial" panose="020B0604020202020204" pitchFamily="34" charset="0"/>
              <a:buChar char="•"/>
            </a:pPr>
            <a:r>
              <a:rPr lang="en-GB" altLang="en-US" sz="1900">
                <a:latin typeface="Calibri" panose="020F0502020204030204" pitchFamily="34" charset="0"/>
                <a:cs typeface="Calibri" panose="020F0502020204030204" pitchFamily="34" charset="0"/>
              </a:rPr>
              <a:t>Although we have straight-line demand curve (AR), the price elasticity of demand is not constant along it.</a:t>
            </a:r>
          </a:p>
          <a:p>
            <a:pPr marL="742950" lvl="1" indent="-285750">
              <a:spcBef>
                <a:spcPts val="0"/>
              </a:spcBef>
              <a:spcAft>
                <a:spcPts val="1200"/>
              </a:spcAft>
              <a:buFont typeface="Arial" panose="020B0604020202020204" pitchFamily="34" charset="0"/>
              <a:buChar char="•"/>
            </a:pPr>
            <a:endParaRPr lang="en-GB" altLang="en-US" sz="1700" b="1">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9367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647F0-7874-4520-9F01-00378943593D}"/>
              </a:ext>
            </a:extLst>
          </p:cNvPr>
          <p:cNvSpPr>
            <a:spLocks noGrp="1"/>
          </p:cNvSpPr>
          <p:nvPr>
            <p:ph type="title"/>
          </p:nvPr>
        </p:nvSpPr>
        <p:spPr>
          <a:xfrm>
            <a:off x="406544" y="211776"/>
            <a:ext cx="10515600" cy="908198"/>
          </a:xfrm>
        </p:spPr>
        <p:txBody>
          <a:bodyPr/>
          <a:lstStyle/>
          <a:p>
            <a:r>
              <a:rPr lang="en-GB">
                <a:latin typeface="Calibri" panose="020F0502020204030204" pitchFamily="34" charset="0"/>
                <a:cs typeface="Calibri" panose="020F0502020204030204" pitchFamily="34" charset="0"/>
              </a:rPr>
              <a:t>Revenue – Price Makers</a:t>
            </a:r>
          </a:p>
        </p:txBody>
      </p:sp>
      <p:pic>
        <p:nvPicPr>
          <p:cNvPr id="5" name="Picture 4">
            <a:extLst>
              <a:ext uri="{FF2B5EF4-FFF2-40B4-BE49-F238E27FC236}">
                <a16:creationId xmlns:a16="http://schemas.microsoft.com/office/drawing/2014/main" id="{38565093-075C-D4B2-614F-2047F036D289}"/>
              </a:ext>
            </a:extLst>
          </p:cNvPr>
          <p:cNvPicPr>
            <a:picLocks noChangeAspect="1"/>
          </p:cNvPicPr>
          <p:nvPr/>
        </p:nvPicPr>
        <p:blipFill>
          <a:blip r:embed="rId2"/>
          <a:stretch>
            <a:fillRect/>
          </a:stretch>
        </p:blipFill>
        <p:spPr>
          <a:xfrm>
            <a:off x="6247312" y="1148847"/>
            <a:ext cx="5414169" cy="3748271"/>
          </a:xfrm>
          <a:prstGeom prst="rect">
            <a:avLst/>
          </a:prstGeom>
        </p:spPr>
      </p:pic>
      <p:sp>
        <p:nvSpPr>
          <p:cNvPr id="3" name="Content Placeholder 2">
            <a:extLst>
              <a:ext uri="{FF2B5EF4-FFF2-40B4-BE49-F238E27FC236}">
                <a16:creationId xmlns:a16="http://schemas.microsoft.com/office/drawing/2014/main" id="{E5FE707F-44C4-3DF6-88D5-69A4A5E8D695}"/>
              </a:ext>
            </a:extLst>
          </p:cNvPr>
          <p:cNvSpPr>
            <a:spLocks noGrp="1"/>
          </p:cNvSpPr>
          <p:nvPr>
            <p:ph idx="1"/>
          </p:nvPr>
        </p:nvSpPr>
        <p:spPr>
          <a:xfrm>
            <a:off x="-92248" y="1114835"/>
            <a:ext cx="6188248" cy="3661627"/>
          </a:xfrm>
        </p:spPr>
        <p:txBody>
          <a:bodyPr/>
          <a:lstStyle/>
          <a:p>
            <a:pPr lvl="1">
              <a:lnSpc>
                <a:spcPct val="100000"/>
              </a:lnSpc>
              <a:spcBef>
                <a:spcPts val="1200"/>
              </a:spcBef>
            </a:pPr>
            <a:r>
              <a:rPr lang="en-GB" altLang="en-US" sz="2000">
                <a:latin typeface="Calibri" panose="020F0502020204030204" pitchFamily="34" charset="0"/>
                <a:cs typeface="Calibri" panose="020F0502020204030204" pitchFamily="34" charset="0"/>
              </a:rPr>
              <a:t>Total revenue (</a:t>
            </a:r>
            <a:r>
              <a:rPr lang="en-GB" altLang="en-US" sz="2000" i="1">
                <a:latin typeface="Calibri" panose="020F0502020204030204" pitchFamily="34" charset="0"/>
                <a:cs typeface="Calibri" panose="020F0502020204030204" pitchFamily="34" charset="0"/>
              </a:rPr>
              <a:t>TR</a:t>
            </a:r>
            <a:r>
              <a:rPr lang="en-GB" altLang="en-US" sz="2000">
                <a:latin typeface="Calibri" panose="020F0502020204030204" pitchFamily="34" charset="0"/>
                <a:cs typeface="Calibri" panose="020F0502020204030204" pitchFamily="34" charset="0"/>
              </a:rPr>
              <a:t>)</a:t>
            </a:r>
          </a:p>
          <a:p>
            <a:pPr lvl="2">
              <a:lnSpc>
                <a:spcPct val="100000"/>
              </a:lnSpc>
              <a:spcBef>
                <a:spcPts val="1200"/>
              </a:spcBef>
            </a:pPr>
            <a:r>
              <a:rPr lang="en-GB" altLang="en-US" sz="2000">
                <a:latin typeface="Calibri" panose="020F0502020204030204" pitchFamily="34" charset="0"/>
                <a:cs typeface="Calibri" panose="020F0502020204030204" pitchFamily="34" charset="0"/>
              </a:rPr>
              <a:t>It is a curve that rises at first and then falls</a:t>
            </a:r>
          </a:p>
          <a:p>
            <a:pPr lvl="2">
              <a:lnSpc>
                <a:spcPct val="100000"/>
              </a:lnSpc>
              <a:spcBef>
                <a:spcPts val="1200"/>
              </a:spcBef>
            </a:pPr>
            <a:r>
              <a:rPr lang="en-GB" altLang="en-US" sz="2000">
                <a:latin typeface="Calibri" panose="020F0502020204030204" pitchFamily="34" charset="0"/>
                <a:cs typeface="Calibri" panose="020F0502020204030204" pitchFamily="34" charset="0"/>
              </a:rPr>
              <a:t>If MR is positive (and hence demand is price elastic), a rise in output will raise TR</a:t>
            </a:r>
          </a:p>
          <a:p>
            <a:pPr lvl="2">
              <a:lnSpc>
                <a:spcPct val="100000"/>
              </a:lnSpc>
              <a:spcBef>
                <a:spcPts val="1200"/>
              </a:spcBef>
            </a:pPr>
            <a:r>
              <a:rPr lang="en-GB" altLang="en-US" sz="2000">
                <a:latin typeface="Calibri" panose="020F0502020204030204" pitchFamily="34" charset="0"/>
                <a:cs typeface="Calibri" panose="020F0502020204030204" pitchFamily="34" charset="0"/>
              </a:rPr>
              <a:t>However, once MR becomes negative (and hence demand is inelastic), TR will fall</a:t>
            </a:r>
          </a:p>
          <a:p>
            <a:pPr lvl="2">
              <a:lnSpc>
                <a:spcPct val="100000"/>
              </a:lnSpc>
              <a:spcBef>
                <a:spcPts val="1200"/>
              </a:spcBef>
            </a:pPr>
            <a:r>
              <a:rPr lang="en-GB" altLang="en-US" sz="2000">
                <a:latin typeface="Calibri" panose="020F0502020204030204" pitchFamily="34" charset="0"/>
                <a:cs typeface="Calibri" panose="020F0502020204030204" pitchFamily="34" charset="0"/>
              </a:rPr>
              <a:t>The peak of the TR curve will be where MR = 0</a:t>
            </a:r>
          </a:p>
          <a:p>
            <a:pPr lvl="2">
              <a:lnSpc>
                <a:spcPct val="100000"/>
              </a:lnSpc>
              <a:spcBef>
                <a:spcPts val="1200"/>
              </a:spcBef>
            </a:pPr>
            <a:r>
              <a:rPr lang="en-GB" altLang="en-US" sz="2000">
                <a:latin typeface="Calibri" panose="020F0502020204030204" pitchFamily="34" charset="0"/>
                <a:cs typeface="Calibri" panose="020F0502020204030204" pitchFamily="34" charset="0"/>
              </a:rPr>
              <a:t>At this point, the price elasticity of demand will be equal to -1.</a:t>
            </a:r>
          </a:p>
          <a:p>
            <a:endParaRPr lang="en-GB" sz="200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6D03702-CF08-7A34-15C2-E17E57A9B96B}"/>
              </a:ext>
            </a:extLst>
          </p:cNvPr>
          <p:cNvSpPr txBox="1"/>
          <p:nvPr/>
        </p:nvSpPr>
        <p:spPr>
          <a:xfrm>
            <a:off x="-574158" y="5144999"/>
            <a:ext cx="12663377" cy="954107"/>
          </a:xfrm>
          <a:prstGeom prst="rect">
            <a:avLst/>
          </a:prstGeom>
          <a:noFill/>
        </p:spPr>
        <p:txBody>
          <a:bodyPr wrap="square" rtlCol="0">
            <a:spAutoFit/>
          </a:bodyPr>
          <a:lstStyle/>
          <a:p>
            <a:pPr lvl="2">
              <a:lnSpc>
                <a:spcPct val="100000"/>
              </a:lnSpc>
              <a:spcBef>
                <a:spcPts val="1200"/>
              </a:spcBef>
            </a:pPr>
            <a:r>
              <a:rPr lang="en-GB" altLang="en-US" sz="1900">
                <a:latin typeface="Calibri" panose="020F0502020204030204" pitchFamily="34" charset="0"/>
                <a:cs typeface="Calibri" panose="020F0502020204030204" pitchFamily="34" charset="0"/>
              </a:rPr>
              <a:t>*A change in any determinant of demand other than price, such as tastes or income, will shift the demand curve. By affecting the price at which each level of output can be sold, it will cause a shift in all three revenue curves.</a:t>
            </a:r>
          </a:p>
          <a:p>
            <a:endParaRPr lang="en-GB"/>
          </a:p>
        </p:txBody>
      </p:sp>
    </p:spTree>
    <p:extLst>
      <p:ext uri="{BB962C8B-B14F-4D97-AF65-F5344CB8AC3E}">
        <p14:creationId xmlns:p14="http://schemas.microsoft.com/office/powerpoint/2010/main" val="2211804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1"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4" name="Rectangle 6"/>
          <p:cNvSpPr>
            <a:spLocks noGrp="1"/>
          </p:cNvSpPr>
          <p:nvPr>
            <p:ph type="title"/>
          </p:nvPr>
        </p:nvSpPr>
        <p:spPr>
          <a:xfrm>
            <a:off x="838200" y="325367"/>
            <a:ext cx="10515600" cy="908198"/>
          </a:xfrm>
        </p:spPr>
        <p:txBody>
          <a:bodyPr/>
          <a:lstStyle/>
          <a:p>
            <a:r>
              <a:rPr lang="en-GB" altLang="en-US">
                <a:latin typeface="Calibri" panose="020F0502020204030204" pitchFamily="34" charset="0"/>
                <a:cs typeface="Calibri" panose="020F0502020204030204" pitchFamily="34" charset="0"/>
              </a:rPr>
              <a:t>Profit Maximisation</a:t>
            </a:r>
          </a:p>
        </p:txBody>
      </p:sp>
      <p:sp>
        <p:nvSpPr>
          <p:cNvPr id="375815" name="Rectangle 7"/>
          <p:cNvSpPr>
            <a:spLocks noGrp="1"/>
          </p:cNvSpPr>
          <p:nvPr>
            <p:ph idx="1"/>
          </p:nvPr>
        </p:nvSpPr>
        <p:spPr>
          <a:xfrm>
            <a:off x="838200" y="1356547"/>
            <a:ext cx="10515600" cy="4621628"/>
          </a:xfrm>
        </p:spPr>
        <p:txBody>
          <a:bodyPr>
            <a:normAutofit/>
          </a:bodyPr>
          <a:lstStyle/>
          <a:p>
            <a:pPr>
              <a:lnSpc>
                <a:spcPct val="100000"/>
              </a:lnSpc>
              <a:spcBef>
                <a:spcPts val="1200"/>
              </a:spcBef>
            </a:pPr>
            <a:r>
              <a:rPr lang="en-GB" altLang="en-US" sz="2000">
                <a:latin typeface="Calibri" panose="020F0502020204030204" pitchFamily="34" charset="0"/>
                <a:cs typeface="Calibri" panose="020F0502020204030204" pitchFamily="34" charset="0"/>
              </a:rPr>
              <a:t>We can now put costs and revenues together to find the output at which profit is maximised, and how much that profit will be.</a:t>
            </a:r>
          </a:p>
          <a:p>
            <a:pPr>
              <a:lnSpc>
                <a:spcPct val="100000"/>
              </a:lnSpc>
              <a:spcBef>
                <a:spcPts val="1200"/>
              </a:spcBef>
            </a:pPr>
            <a:endParaRPr lang="en-GB" altLang="en-US" sz="2000">
              <a:latin typeface="Calibri" panose="020F0502020204030204" pitchFamily="34" charset="0"/>
              <a:cs typeface="Calibri" panose="020F0502020204030204" pitchFamily="34" charset="0"/>
            </a:endParaRPr>
          </a:p>
          <a:p>
            <a:pPr>
              <a:lnSpc>
                <a:spcPct val="100000"/>
              </a:lnSpc>
              <a:spcBef>
                <a:spcPts val="1200"/>
              </a:spcBef>
            </a:pPr>
            <a:r>
              <a:rPr lang="en-GB" altLang="en-US" sz="2000">
                <a:latin typeface="Calibri" panose="020F0502020204030204" pitchFamily="34" charset="0"/>
                <a:cs typeface="Calibri" panose="020F0502020204030204" pitchFamily="34" charset="0"/>
              </a:rPr>
              <a:t>There are two ways of determining the level of output at which a firm will maximise profits.</a:t>
            </a:r>
          </a:p>
          <a:p>
            <a:pPr marL="800100" lvl="1" indent="-342900">
              <a:lnSpc>
                <a:spcPct val="100000"/>
              </a:lnSpc>
              <a:spcBef>
                <a:spcPts val="1200"/>
              </a:spcBef>
              <a:buFont typeface="+mj-lt"/>
              <a:buAutoNum type="arabicPeriod"/>
            </a:pPr>
            <a:r>
              <a:rPr lang="en-GB" altLang="en-US">
                <a:latin typeface="Calibri" panose="020F0502020204030204" pitchFamily="34" charset="0"/>
                <a:cs typeface="Calibri" panose="020F0502020204030204" pitchFamily="34" charset="0"/>
              </a:rPr>
              <a:t>Using total cost and total revenue curves</a:t>
            </a:r>
          </a:p>
          <a:p>
            <a:pPr marL="800100" lvl="1" indent="-342900">
              <a:lnSpc>
                <a:spcPct val="100000"/>
              </a:lnSpc>
              <a:spcBef>
                <a:spcPts val="1200"/>
              </a:spcBef>
              <a:buFont typeface="+mj-lt"/>
              <a:buAutoNum type="arabicPeriod"/>
            </a:pPr>
            <a:r>
              <a:rPr lang="en-GB" altLang="en-US">
                <a:latin typeface="Calibri" panose="020F0502020204030204" pitchFamily="34" charset="0"/>
                <a:cs typeface="Calibri" panose="020F0502020204030204" pitchFamily="34" charset="0"/>
              </a:rPr>
              <a:t>Using marginal and average cost curves and marginal and average revenue curves.</a:t>
            </a:r>
          </a:p>
          <a:p>
            <a:pPr>
              <a:lnSpc>
                <a:spcPct val="100000"/>
              </a:lnSpc>
              <a:spcBef>
                <a:spcPts val="1200"/>
              </a:spcBef>
            </a:pPr>
            <a:endParaRPr lang="en-GB" altLang="en-US" sz="2000">
              <a:latin typeface="Calibri" panose="020F0502020204030204" pitchFamily="34" charset="0"/>
              <a:cs typeface="Calibri" panose="020F0502020204030204" pitchFamily="34" charset="0"/>
            </a:endParaRPr>
          </a:p>
          <a:p>
            <a:pPr>
              <a:lnSpc>
                <a:spcPct val="100000"/>
              </a:lnSpc>
              <a:spcBef>
                <a:spcPts val="1200"/>
              </a:spcBef>
            </a:pPr>
            <a:r>
              <a:rPr lang="en-GB" altLang="en-US" sz="2000">
                <a:latin typeface="Calibri" panose="020F0502020204030204" pitchFamily="34" charset="0"/>
                <a:cs typeface="Calibri" panose="020F0502020204030204" pitchFamily="34" charset="0"/>
              </a:rPr>
              <a:t>In both cases, we concentrate on the short run.</a:t>
            </a:r>
          </a:p>
          <a:p>
            <a:pPr>
              <a:lnSpc>
                <a:spcPct val="100000"/>
              </a:lnSpc>
              <a:spcBef>
                <a:spcPts val="1200"/>
              </a:spcBef>
            </a:pPr>
            <a:r>
              <a:rPr lang="en-GB" altLang="en-US" sz="2000">
                <a:latin typeface="Calibri" panose="020F0502020204030204" pitchFamily="34" charset="0"/>
                <a:cs typeface="Calibri" panose="020F0502020204030204" pitchFamily="34" charset="0"/>
              </a:rPr>
              <a:t>In both cases, we take the case of a firm facing a downward-sloping demand curve, i.e., a price maker.</a:t>
            </a:r>
          </a:p>
          <a:p>
            <a:pPr marL="0" indent="0">
              <a:lnSpc>
                <a:spcPct val="100000"/>
              </a:lnSpc>
              <a:spcBef>
                <a:spcPts val="1200"/>
              </a:spcBef>
              <a:buNone/>
            </a:pPr>
            <a:endParaRPr lang="en-GB" altLang="en-US" sz="1800" b="1"/>
          </a:p>
        </p:txBody>
      </p:sp>
    </p:spTree>
    <p:extLst>
      <p:ext uri="{BB962C8B-B14F-4D97-AF65-F5344CB8AC3E}">
        <p14:creationId xmlns:p14="http://schemas.microsoft.com/office/powerpoint/2010/main" val="1042654207"/>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5">
                                            <p:txEl>
                                              <p:pRg st="0" end="0"/>
                                            </p:txEl>
                                          </p:spTgt>
                                        </p:tgtEl>
                                        <p:attrNameLst>
                                          <p:attrName>style.visibility</p:attrName>
                                        </p:attrNameLst>
                                      </p:cBhvr>
                                      <p:to>
                                        <p:strVal val="visible"/>
                                      </p:to>
                                    </p:set>
                                    <p:anim calcmode="lin" valueType="num">
                                      <p:cBhvr additive="base">
                                        <p:cTn id="7" dur="500"/>
                                        <p:tgtEl>
                                          <p:spTgt spid="3758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5815">
                                            <p:txEl>
                                              <p:pRg st="2" end="2"/>
                                            </p:txEl>
                                          </p:spTgt>
                                        </p:tgtEl>
                                        <p:attrNameLst>
                                          <p:attrName>style.visibility</p:attrName>
                                        </p:attrNameLst>
                                      </p:cBhvr>
                                      <p:to>
                                        <p:strVal val="visible"/>
                                      </p:to>
                                    </p:set>
                                    <p:anim calcmode="lin" valueType="num">
                                      <p:cBhvr additive="base">
                                        <p:cTn id="13" dur="500"/>
                                        <p:tgtEl>
                                          <p:spTgt spid="37581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581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5815">
                                            <p:txEl>
                                              <p:pRg st="3" end="3"/>
                                            </p:txEl>
                                          </p:spTgt>
                                        </p:tgtEl>
                                        <p:attrNameLst>
                                          <p:attrName>style.visibility</p:attrName>
                                        </p:attrNameLst>
                                      </p:cBhvr>
                                      <p:to>
                                        <p:strVal val="visible"/>
                                      </p:to>
                                    </p:set>
                                    <p:anim calcmode="lin" valueType="num">
                                      <p:cBhvr additive="base">
                                        <p:cTn id="19" dur="500"/>
                                        <p:tgtEl>
                                          <p:spTgt spid="375815">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581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5815">
                                            <p:txEl>
                                              <p:pRg st="4" end="4"/>
                                            </p:txEl>
                                          </p:spTgt>
                                        </p:tgtEl>
                                        <p:attrNameLst>
                                          <p:attrName>style.visibility</p:attrName>
                                        </p:attrNameLst>
                                      </p:cBhvr>
                                      <p:to>
                                        <p:strVal val="visible"/>
                                      </p:to>
                                    </p:set>
                                    <p:anim calcmode="lin" valueType="num">
                                      <p:cBhvr additive="base">
                                        <p:cTn id="25" dur="500"/>
                                        <p:tgtEl>
                                          <p:spTgt spid="37581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581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5815">
                                            <p:txEl>
                                              <p:pRg st="6" end="6"/>
                                            </p:txEl>
                                          </p:spTgt>
                                        </p:tgtEl>
                                        <p:attrNameLst>
                                          <p:attrName>style.visibility</p:attrName>
                                        </p:attrNameLst>
                                      </p:cBhvr>
                                      <p:to>
                                        <p:strVal val="visible"/>
                                      </p:to>
                                    </p:set>
                                    <p:anim calcmode="lin" valueType="num">
                                      <p:cBhvr additive="base">
                                        <p:cTn id="31" dur="500"/>
                                        <p:tgtEl>
                                          <p:spTgt spid="375815">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581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5815">
                                            <p:txEl>
                                              <p:pRg st="7" end="7"/>
                                            </p:txEl>
                                          </p:spTgt>
                                        </p:tgtEl>
                                        <p:attrNameLst>
                                          <p:attrName>style.visibility</p:attrName>
                                        </p:attrNameLst>
                                      </p:cBhvr>
                                      <p:to>
                                        <p:strVal val="visible"/>
                                      </p:to>
                                    </p:set>
                                    <p:anim calcmode="lin" valueType="num">
                                      <p:cBhvr additive="base">
                                        <p:cTn id="37" dur="500"/>
                                        <p:tgtEl>
                                          <p:spTgt spid="375815">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58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5" grpId="0" build="p" bldLvl="2"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17F8E-20BB-C1A4-FEF9-2DE38E144983}"/>
              </a:ext>
            </a:extLst>
          </p:cNvPr>
          <p:cNvSpPr>
            <a:spLocks noGrp="1"/>
          </p:cNvSpPr>
          <p:nvPr>
            <p:ph type="title"/>
          </p:nvPr>
        </p:nvSpPr>
        <p:spPr>
          <a:xfrm>
            <a:off x="480383" y="64102"/>
            <a:ext cx="3608861" cy="908198"/>
          </a:xfrm>
        </p:spPr>
        <p:txBody>
          <a:bodyPr>
            <a:normAutofit/>
          </a:bodyPr>
          <a:lstStyle/>
          <a:p>
            <a:r>
              <a:rPr lang="en-GB" altLang="en-US" sz="3200">
                <a:latin typeface="Calibri" panose="020F0502020204030204" pitchFamily="34" charset="0"/>
                <a:cs typeface="Calibri" panose="020F0502020204030204" pitchFamily="34" charset="0"/>
              </a:rPr>
              <a:t>Profit Maximisation</a:t>
            </a:r>
            <a:endParaRPr lang="en-GB" sz="3200">
              <a:latin typeface="Calibri" panose="020F0502020204030204" pitchFamily="34" charset="0"/>
              <a:cs typeface="Calibri" panose="020F0502020204030204" pitchFamily="34" charset="0"/>
            </a:endParaRPr>
          </a:p>
        </p:txBody>
      </p:sp>
      <p:pic>
        <p:nvPicPr>
          <p:cNvPr id="4" name="Content Placeholder 3">
            <a:extLst>
              <a:ext uri="{FF2B5EF4-FFF2-40B4-BE49-F238E27FC236}">
                <a16:creationId xmlns:a16="http://schemas.microsoft.com/office/drawing/2014/main" id="{C92DE5CB-68CA-7547-9E44-AF75B6E6E41C}"/>
              </a:ext>
            </a:extLst>
          </p:cNvPr>
          <p:cNvPicPr>
            <a:picLocks noGrp="1" noChangeAspect="1"/>
          </p:cNvPicPr>
          <p:nvPr>
            <p:ph idx="1"/>
          </p:nvPr>
        </p:nvPicPr>
        <p:blipFill>
          <a:blip r:embed="rId2"/>
          <a:stretch>
            <a:fillRect/>
          </a:stretch>
        </p:blipFill>
        <p:spPr>
          <a:xfrm>
            <a:off x="5980517" y="2274693"/>
            <a:ext cx="5722311" cy="3961601"/>
          </a:xfrm>
          <a:prstGeom prst="rect">
            <a:avLst/>
          </a:prstGeom>
        </p:spPr>
      </p:pic>
      <p:pic>
        <p:nvPicPr>
          <p:cNvPr id="5" name="Picture 4">
            <a:extLst>
              <a:ext uri="{FF2B5EF4-FFF2-40B4-BE49-F238E27FC236}">
                <a16:creationId xmlns:a16="http://schemas.microsoft.com/office/drawing/2014/main" id="{92144AAE-319B-97F4-D78F-43F4AAB5077E}"/>
              </a:ext>
            </a:extLst>
          </p:cNvPr>
          <p:cNvPicPr>
            <a:picLocks noChangeAspect="1"/>
          </p:cNvPicPr>
          <p:nvPr/>
        </p:nvPicPr>
        <p:blipFill>
          <a:blip r:embed="rId3"/>
          <a:stretch>
            <a:fillRect/>
          </a:stretch>
        </p:blipFill>
        <p:spPr>
          <a:xfrm>
            <a:off x="482672" y="2232763"/>
            <a:ext cx="5798858" cy="4014594"/>
          </a:xfrm>
          <a:prstGeom prst="rect">
            <a:avLst/>
          </a:prstGeom>
        </p:spPr>
      </p:pic>
      <p:sp>
        <p:nvSpPr>
          <p:cNvPr id="3" name="TextBox 2">
            <a:extLst>
              <a:ext uri="{FF2B5EF4-FFF2-40B4-BE49-F238E27FC236}">
                <a16:creationId xmlns:a16="http://schemas.microsoft.com/office/drawing/2014/main" id="{5E64EEDB-8543-2919-B969-50AB9481196B}"/>
              </a:ext>
            </a:extLst>
          </p:cNvPr>
          <p:cNvSpPr txBox="1"/>
          <p:nvPr/>
        </p:nvSpPr>
        <p:spPr>
          <a:xfrm>
            <a:off x="499800" y="902466"/>
            <a:ext cx="5759016" cy="1200329"/>
          </a:xfrm>
          <a:prstGeom prst="rect">
            <a:avLst/>
          </a:prstGeom>
          <a:noFill/>
        </p:spPr>
        <p:txBody>
          <a:bodyPr wrap="square" rtlCol="0">
            <a:spAutoFit/>
          </a:bodyPr>
          <a:lstStyle/>
          <a:p>
            <a:pPr marL="0" indent="0">
              <a:lnSpc>
                <a:spcPct val="100000"/>
              </a:lnSpc>
              <a:spcBef>
                <a:spcPts val="1200"/>
              </a:spcBef>
              <a:buNone/>
            </a:pPr>
            <a:r>
              <a:rPr lang="en-GB" altLang="en-US" b="1">
                <a:latin typeface="Calibri" panose="020F0502020204030204" pitchFamily="34" charset="0"/>
                <a:cs typeface="Calibri" panose="020F0502020204030204" pitchFamily="34" charset="0"/>
              </a:rPr>
              <a:t>Method 1: Using total cost and total revenue curves - </a:t>
            </a:r>
            <a:r>
              <a:rPr lang="en-GB" altLang="en-US">
                <a:latin typeface="Calibri" panose="020F0502020204030204" pitchFamily="34" charset="0"/>
                <a:cs typeface="Calibri" panose="020F0502020204030204" pitchFamily="34" charset="0"/>
              </a:rPr>
              <a:t>total profit is found by subtracting TC from TR. Where total profit is negative, the firm is making a loss. Firms aim to maximise the difference between </a:t>
            </a:r>
            <a:r>
              <a:rPr lang="en-GB" altLang="en-US" i="1">
                <a:latin typeface="Calibri" panose="020F0502020204030204" pitchFamily="34" charset="0"/>
                <a:cs typeface="Calibri" panose="020F0502020204030204" pitchFamily="34" charset="0"/>
              </a:rPr>
              <a:t>TR</a:t>
            </a:r>
            <a:r>
              <a:rPr lang="en-GB" altLang="en-US">
                <a:latin typeface="Calibri" panose="020F0502020204030204" pitchFamily="34" charset="0"/>
                <a:cs typeface="Calibri" panose="020F0502020204030204" pitchFamily="34" charset="0"/>
              </a:rPr>
              <a:t> and </a:t>
            </a:r>
            <a:r>
              <a:rPr lang="en-GB" altLang="en-US" i="1">
                <a:latin typeface="Calibri" panose="020F0502020204030204" pitchFamily="34" charset="0"/>
                <a:cs typeface="Calibri" panose="020F0502020204030204" pitchFamily="34" charset="0"/>
              </a:rPr>
              <a:t>TC.</a:t>
            </a:r>
            <a:endParaRPr lang="en-GB">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8415E25-D84A-A3AE-690A-ECF1886C64B3}"/>
              </a:ext>
            </a:extLst>
          </p:cNvPr>
          <p:cNvSpPr txBox="1"/>
          <p:nvPr/>
        </p:nvSpPr>
        <p:spPr>
          <a:xfrm>
            <a:off x="6616621" y="630432"/>
            <a:ext cx="4782142" cy="1200329"/>
          </a:xfrm>
          <a:prstGeom prst="rect">
            <a:avLst/>
          </a:prstGeom>
          <a:noFill/>
          <a:ln>
            <a:solidFill>
              <a:schemeClr val="accent1"/>
            </a:solidFill>
          </a:ln>
        </p:spPr>
        <p:txBody>
          <a:bodyPr wrap="square" rtlCol="0">
            <a:spAutoFit/>
          </a:bodyPr>
          <a:lstStyle/>
          <a:p>
            <a:r>
              <a:rPr lang="en-GB">
                <a:highlight>
                  <a:srgbClr val="FFFF00"/>
                </a:highlight>
              </a:rPr>
              <a:t>Activity: </a:t>
            </a:r>
          </a:p>
          <a:p>
            <a:r>
              <a:rPr lang="en-GB">
                <a:highlight>
                  <a:srgbClr val="FFFF00"/>
                </a:highlight>
              </a:rPr>
              <a:t>What is the profit-maximising level of output in this example?</a:t>
            </a:r>
          </a:p>
          <a:p>
            <a:r>
              <a:rPr lang="en-GB">
                <a:highlight>
                  <a:srgbClr val="FFFF00"/>
                </a:highlight>
              </a:rPr>
              <a:t>What is the level of profit at this level of output?</a:t>
            </a:r>
          </a:p>
        </p:txBody>
      </p:sp>
    </p:spTree>
    <p:extLst>
      <p:ext uri="{BB962C8B-B14F-4D97-AF65-F5344CB8AC3E}">
        <p14:creationId xmlns:p14="http://schemas.microsoft.com/office/powerpoint/2010/main" val="325394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1"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5814" name="Rectangle 6"/>
          <p:cNvSpPr>
            <a:spLocks noGrp="1"/>
          </p:cNvSpPr>
          <p:nvPr>
            <p:ph type="title"/>
          </p:nvPr>
        </p:nvSpPr>
        <p:spPr>
          <a:xfrm>
            <a:off x="332719" y="234494"/>
            <a:ext cx="10515600" cy="908198"/>
          </a:xfrm>
        </p:spPr>
        <p:txBody>
          <a:bodyPr/>
          <a:lstStyle/>
          <a:p>
            <a:r>
              <a:rPr lang="en-GB" altLang="en-US">
                <a:latin typeface="Calibri" panose="020F0502020204030204" pitchFamily="34" charset="0"/>
                <a:cs typeface="Calibri" panose="020F0502020204030204" pitchFamily="34" charset="0"/>
              </a:rPr>
              <a:t>Profit Maximisation</a:t>
            </a:r>
          </a:p>
        </p:txBody>
      </p:sp>
      <p:sp>
        <p:nvSpPr>
          <p:cNvPr id="375815" name="Rectangle 7"/>
          <p:cNvSpPr>
            <a:spLocks noGrp="1"/>
          </p:cNvSpPr>
          <p:nvPr>
            <p:ph idx="1"/>
          </p:nvPr>
        </p:nvSpPr>
        <p:spPr>
          <a:xfrm>
            <a:off x="318977" y="1168860"/>
            <a:ext cx="11685181" cy="4999073"/>
          </a:xfrm>
        </p:spPr>
        <p:txBody>
          <a:bodyPr/>
          <a:lstStyle/>
          <a:p>
            <a:pPr marL="0" indent="0">
              <a:lnSpc>
                <a:spcPct val="100000"/>
              </a:lnSpc>
              <a:spcBef>
                <a:spcPts val="1200"/>
              </a:spcBef>
              <a:buNone/>
            </a:pPr>
            <a:r>
              <a:rPr lang="en-GB" altLang="en-US" sz="2000" b="1">
                <a:latin typeface="Calibri" panose="020F0502020204030204" pitchFamily="34" charset="0"/>
                <a:cs typeface="Calibri" panose="020F0502020204030204" pitchFamily="34" charset="0"/>
              </a:rPr>
              <a:t>Method 2: Using marginal and average curves</a:t>
            </a:r>
          </a:p>
          <a:p>
            <a:pPr marL="0" indent="0">
              <a:lnSpc>
                <a:spcPct val="100000"/>
              </a:lnSpc>
              <a:spcBef>
                <a:spcPts val="1200"/>
              </a:spcBef>
              <a:buNone/>
            </a:pPr>
            <a:r>
              <a:rPr lang="en-GB" altLang="en-US" sz="1900">
                <a:latin typeface="Calibri" panose="020F0502020204030204" pitchFamily="34" charset="0"/>
                <a:cs typeface="Calibri" panose="020F0502020204030204" pitchFamily="34" charset="0"/>
              </a:rPr>
              <a:t>The first stage is to find the profit-maximising output, the second stage is to find out how much profit is made at this output.</a:t>
            </a:r>
          </a:p>
          <a:p>
            <a:pPr lvl="1">
              <a:lnSpc>
                <a:spcPct val="100000"/>
              </a:lnSpc>
              <a:spcBef>
                <a:spcPts val="1200"/>
              </a:spcBef>
            </a:pPr>
            <a:r>
              <a:rPr lang="en-GB" altLang="en-US" sz="1900" b="1">
                <a:latin typeface="Calibri" panose="020F0502020204030204" pitchFamily="34" charset="0"/>
                <a:cs typeface="Calibri" panose="020F0502020204030204" pitchFamily="34" charset="0"/>
              </a:rPr>
              <a:t>Stage 1:</a:t>
            </a:r>
          </a:p>
          <a:p>
            <a:pPr lvl="2">
              <a:lnSpc>
                <a:spcPct val="100000"/>
              </a:lnSpc>
              <a:spcBef>
                <a:spcPts val="1200"/>
              </a:spcBef>
            </a:pPr>
            <a:r>
              <a:rPr lang="en-GB" altLang="en-US" sz="1900">
                <a:latin typeface="Calibri" panose="020F0502020204030204" pitchFamily="34" charset="0"/>
                <a:cs typeface="Calibri" panose="020F0502020204030204" pitchFamily="34" charset="0"/>
              </a:rPr>
              <a:t>There is a very simple </a:t>
            </a:r>
            <a:r>
              <a:rPr lang="en-GB" altLang="en-US" sz="1900" b="1">
                <a:latin typeface="Calibri" panose="020F0502020204030204" pitchFamily="34" charset="0"/>
                <a:cs typeface="Calibri" panose="020F0502020204030204" pitchFamily="34" charset="0"/>
              </a:rPr>
              <a:t>profit-maximising rule</a:t>
            </a:r>
            <a:r>
              <a:rPr lang="en-GB" altLang="en-US" sz="1900">
                <a:latin typeface="Calibri" panose="020F0502020204030204" pitchFamily="34" charset="0"/>
                <a:cs typeface="Calibri" panose="020F0502020204030204" pitchFamily="34" charset="0"/>
              </a:rPr>
              <a:t>: profit is maximised where </a:t>
            </a:r>
            <a:r>
              <a:rPr lang="en-GB" altLang="en-US" sz="1900" b="1">
                <a:latin typeface="Calibri" panose="020F0502020204030204" pitchFamily="34" charset="0"/>
                <a:cs typeface="Calibri" panose="020F0502020204030204" pitchFamily="34" charset="0"/>
              </a:rPr>
              <a:t>MR = MC</a:t>
            </a:r>
          </a:p>
          <a:p>
            <a:pPr lvl="2">
              <a:lnSpc>
                <a:spcPct val="100000"/>
              </a:lnSpc>
              <a:spcBef>
                <a:spcPts val="1200"/>
              </a:spcBef>
            </a:pPr>
            <a:r>
              <a:rPr lang="en-GB" altLang="en-US" sz="1900">
                <a:latin typeface="Calibri" panose="020F0502020204030204" pitchFamily="34" charset="0"/>
                <a:cs typeface="Calibri" panose="020F0502020204030204" pitchFamily="34" charset="0"/>
              </a:rPr>
              <a:t>If MR &gt; MC, producing more units will lead to a bigger addition to revenue (MR) than to cost (MC) and total profit will increase. </a:t>
            </a:r>
            <a:endParaRPr lang="en-GB" altLang="en-US" sz="1900" i="1">
              <a:latin typeface="Calibri" panose="020F0502020204030204" pitchFamily="34" charset="0"/>
              <a:cs typeface="Calibri" panose="020F0502020204030204" pitchFamily="34" charset="0"/>
            </a:endParaRPr>
          </a:p>
          <a:p>
            <a:pPr lvl="2">
              <a:lnSpc>
                <a:spcPct val="100000"/>
              </a:lnSpc>
              <a:spcBef>
                <a:spcPts val="1200"/>
              </a:spcBef>
            </a:pPr>
            <a:r>
              <a:rPr lang="en-GB" altLang="en-US" sz="1900" i="1">
                <a:latin typeface="Calibri" panose="020F0502020204030204" pitchFamily="34" charset="0"/>
                <a:cs typeface="Calibri" panose="020F0502020204030204" pitchFamily="34" charset="0"/>
              </a:rPr>
              <a:t>If MC &gt; MR, profit can be increased by cutting back on production.</a:t>
            </a:r>
            <a:endParaRPr lang="en-GB" altLang="en-US" sz="1900">
              <a:latin typeface="Calibri" panose="020F0502020204030204" pitchFamily="34" charset="0"/>
              <a:cs typeface="Calibri" panose="020F0502020204030204" pitchFamily="34" charset="0"/>
            </a:endParaRPr>
          </a:p>
          <a:p>
            <a:pPr lvl="1">
              <a:lnSpc>
                <a:spcPct val="100000"/>
              </a:lnSpc>
              <a:spcBef>
                <a:spcPts val="1200"/>
              </a:spcBef>
            </a:pPr>
            <a:r>
              <a:rPr lang="en-GB" altLang="en-US" sz="1900" b="1">
                <a:latin typeface="Calibri" panose="020F0502020204030204" pitchFamily="34" charset="0"/>
                <a:cs typeface="Calibri" panose="020F0502020204030204" pitchFamily="34" charset="0"/>
              </a:rPr>
              <a:t>Stage 2:</a:t>
            </a:r>
          </a:p>
          <a:p>
            <a:pPr lvl="2">
              <a:lnSpc>
                <a:spcPct val="100000"/>
              </a:lnSpc>
              <a:spcBef>
                <a:spcPts val="1200"/>
              </a:spcBef>
            </a:pPr>
            <a:r>
              <a:rPr lang="en-GB" altLang="en-US" sz="1900">
                <a:latin typeface="Calibri" panose="020F0502020204030204" pitchFamily="34" charset="0"/>
                <a:cs typeface="Calibri" panose="020F0502020204030204" pitchFamily="34" charset="0"/>
              </a:rPr>
              <a:t>We use </a:t>
            </a:r>
            <a:r>
              <a:rPr lang="en-GB" altLang="en-US" sz="1900" i="1">
                <a:latin typeface="Calibri" panose="020F0502020204030204" pitchFamily="34" charset="0"/>
                <a:cs typeface="Calibri" panose="020F0502020204030204" pitchFamily="34" charset="0"/>
              </a:rPr>
              <a:t>AR</a:t>
            </a:r>
            <a:r>
              <a:rPr lang="en-GB" altLang="en-US" sz="1900">
                <a:latin typeface="Calibri" panose="020F0502020204030204" pitchFamily="34" charset="0"/>
                <a:cs typeface="Calibri" panose="020F0502020204030204" pitchFamily="34" charset="0"/>
              </a:rPr>
              <a:t> and </a:t>
            </a:r>
            <a:r>
              <a:rPr lang="en-GB" altLang="en-US" sz="1900" i="1">
                <a:latin typeface="Calibri" panose="020F0502020204030204" pitchFamily="34" charset="0"/>
                <a:cs typeface="Calibri" panose="020F0502020204030204" pitchFamily="34" charset="0"/>
              </a:rPr>
              <a:t>AC</a:t>
            </a:r>
            <a:r>
              <a:rPr lang="en-GB" altLang="en-US" sz="1900">
                <a:latin typeface="Calibri" panose="020F0502020204030204" pitchFamily="34" charset="0"/>
                <a:cs typeface="Calibri" panose="020F0502020204030204" pitchFamily="34" charset="0"/>
              </a:rPr>
              <a:t> curves to measure the size of the profit (and the product’s price)</a:t>
            </a:r>
          </a:p>
          <a:p>
            <a:pPr lvl="2">
              <a:lnSpc>
                <a:spcPct val="100000"/>
              </a:lnSpc>
              <a:spcBef>
                <a:spcPts val="1200"/>
              </a:spcBef>
            </a:pPr>
            <a:r>
              <a:rPr lang="en-GB" altLang="en-US" sz="1900">
                <a:latin typeface="Calibri" panose="020F0502020204030204" pitchFamily="34" charset="0"/>
                <a:cs typeface="Calibri" panose="020F0502020204030204" pitchFamily="34" charset="0"/>
              </a:rPr>
              <a:t>First, average profit is found (this is simply AR – AC).</a:t>
            </a:r>
          </a:p>
          <a:p>
            <a:pPr lvl="2">
              <a:lnSpc>
                <a:spcPct val="100000"/>
              </a:lnSpc>
              <a:spcBef>
                <a:spcPts val="1200"/>
              </a:spcBef>
            </a:pPr>
            <a:r>
              <a:rPr lang="en-GB" altLang="en-US" sz="1900">
                <a:latin typeface="Calibri" panose="020F0502020204030204" pitchFamily="34" charset="0"/>
                <a:cs typeface="Calibri" panose="020F0502020204030204" pitchFamily="34" charset="0"/>
              </a:rPr>
              <a:t>Then total profit is obtained by multiplying average profit by output (T</a:t>
            </a:r>
            <a:r>
              <a:rPr lang="en-GB" altLang="en-US" sz="1900">
                <a:latin typeface="Calibri" panose="020F0502020204030204" pitchFamily="34" charset="0"/>
                <a:ea typeface="Segoe UI Symbol" panose="020B0502040204020203" pitchFamily="34" charset="0"/>
                <a:cs typeface="Calibri" panose="020F0502020204030204" pitchFamily="34" charset="0"/>
              </a:rPr>
              <a:t>𝜫 = A𝜫 x Q)</a:t>
            </a:r>
            <a:endParaRPr lang="en-GB" altLang="en-US" sz="19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91271766"/>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5815">
                                            <p:txEl>
                                              <p:pRg st="0" end="0"/>
                                            </p:txEl>
                                          </p:spTgt>
                                        </p:tgtEl>
                                        <p:attrNameLst>
                                          <p:attrName>style.visibility</p:attrName>
                                        </p:attrNameLst>
                                      </p:cBhvr>
                                      <p:to>
                                        <p:strVal val="visible"/>
                                      </p:to>
                                    </p:set>
                                    <p:anim calcmode="lin" valueType="num">
                                      <p:cBhvr additive="base">
                                        <p:cTn id="7" dur="500"/>
                                        <p:tgtEl>
                                          <p:spTgt spid="3758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581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5815">
                                            <p:txEl>
                                              <p:pRg st="1" end="1"/>
                                            </p:txEl>
                                          </p:spTgt>
                                        </p:tgtEl>
                                        <p:attrNameLst>
                                          <p:attrName>style.visibility</p:attrName>
                                        </p:attrNameLst>
                                      </p:cBhvr>
                                      <p:to>
                                        <p:strVal val="visible"/>
                                      </p:to>
                                    </p:set>
                                    <p:anim calcmode="lin" valueType="num">
                                      <p:cBhvr additive="base">
                                        <p:cTn id="13" dur="500"/>
                                        <p:tgtEl>
                                          <p:spTgt spid="37581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581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5815">
                                            <p:txEl>
                                              <p:pRg st="2" end="2"/>
                                            </p:txEl>
                                          </p:spTgt>
                                        </p:tgtEl>
                                        <p:attrNameLst>
                                          <p:attrName>style.visibility</p:attrName>
                                        </p:attrNameLst>
                                      </p:cBhvr>
                                      <p:to>
                                        <p:strVal val="visible"/>
                                      </p:to>
                                    </p:set>
                                    <p:anim calcmode="lin" valueType="num">
                                      <p:cBhvr additive="base">
                                        <p:cTn id="19" dur="500"/>
                                        <p:tgtEl>
                                          <p:spTgt spid="37581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5815">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75815">
                                            <p:txEl>
                                              <p:pRg st="3" end="3"/>
                                            </p:txEl>
                                          </p:spTgt>
                                        </p:tgtEl>
                                        <p:attrNameLst>
                                          <p:attrName>style.visibility</p:attrName>
                                        </p:attrNameLst>
                                      </p:cBhvr>
                                      <p:to>
                                        <p:strVal val="visible"/>
                                      </p:to>
                                    </p:set>
                                    <p:anim calcmode="lin" valueType="num">
                                      <p:cBhvr additive="base">
                                        <p:cTn id="23" dur="500"/>
                                        <p:tgtEl>
                                          <p:spTgt spid="375815">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75815">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75815">
                                            <p:txEl>
                                              <p:pRg st="4" end="4"/>
                                            </p:txEl>
                                          </p:spTgt>
                                        </p:tgtEl>
                                        <p:attrNameLst>
                                          <p:attrName>style.visibility</p:attrName>
                                        </p:attrNameLst>
                                      </p:cBhvr>
                                      <p:to>
                                        <p:strVal val="visible"/>
                                      </p:to>
                                    </p:set>
                                    <p:anim calcmode="lin" valueType="num">
                                      <p:cBhvr additive="base">
                                        <p:cTn id="27" dur="500"/>
                                        <p:tgtEl>
                                          <p:spTgt spid="375815">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75815">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75815">
                                            <p:txEl>
                                              <p:pRg st="5" end="5"/>
                                            </p:txEl>
                                          </p:spTgt>
                                        </p:tgtEl>
                                        <p:attrNameLst>
                                          <p:attrName>style.visibility</p:attrName>
                                        </p:attrNameLst>
                                      </p:cBhvr>
                                      <p:to>
                                        <p:strVal val="visible"/>
                                      </p:to>
                                    </p:set>
                                    <p:anim calcmode="lin" valueType="num">
                                      <p:cBhvr additive="base">
                                        <p:cTn id="31" dur="500"/>
                                        <p:tgtEl>
                                          <p:spTgt spid="37581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58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5815">
                                            <p:txEl>
                                              <p:pRg st="6" end="6"/>
                                            </p:txEl>
                                          </p:spTgt>
                                        </p:tgtEl>
                                        <p:attrNameLst>
                                          <p:attrName>style.visibility</p:attrName>
                                        </p:attrNameLst>
                                      </p:cBhvr>
                                      <p:to>
                                        <p:strVal val="visible"/>
                                      </p:to>
                                    </p:set>
                                    <p:anim calcmode="lin" valueType="num">
                                      <p:cBhvr additive="base">
                                        <p:cTn id="37" dur="500"/>
                                        <p:tgtEl>
                                          <p:spTgt spid="375815">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5815">
                                            <p:txEl>
                                              <p:pRg st="6" end="6"/>
                                            </p:txEl>
                                          </p:spTgt>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375815">
                                            <p:txEl>
                                              <p:pRg st="7" end="7"/>
                                            </p:txEl>
                                          </p:spTgt>
                                        </p:tgtEl>
                                        <p:attrNameLst>
                                          <p:attrName>style.visibility</p:attrName>
                                        </p:attrNameLst>
                                      </p:cBhvr>
                                      <p:to>
                                        <p:strVal val="visible"/>
                                      </p:to>
                                    </p:set>
                                    <p:anim calcmode="lin" valueType="num">
                                      <p:cBhvr additive="base">
                                        <p:cTn id="41" dur="500"/>
                                        <p:tgtEl>
                                          <p:spTgt spid="375815">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375815">
                                            <p:txEl>
                                              <p:pRg st="7" end="7"/>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375815">
                                            <p:txEl>
                                              <p:pRg st="8" end="8"/>
                                            </p:txEl>
                                          </p:spTgt>
                                        </p:tgtEl>
                                        <p:attrNameLst>
                                          <p:attrName>style.visibility</p:attrName>
                                        </p:attrNameLst>
                                      </p:cBhvr>
                                      <p:to>
                                        <p:strVal val="visible"/>
                                      </p:to>
                                    </p:set>
                                    <p:anim calcmode="lin" valueType="num">
                                      <p:cBhvr additive="base">
                                        <p:cTn id="45" dur="500"/>
                                        <p:tgtEl>
                                          <p:spTgt spid="375815">
                                            <p:txEl>
                                              <p:pRg st="8" end="8"/>
                                            </p:txEl>
                                          </p:spTgt>
                                        </p:tgtEl>
                                        <p:attrNameLst>
                                          <p:attrName>ppt_y</p:attrName>
                                        </p:attrNameLst>
                                      </p:cBhvr>
                                      <p:tavLst>
                                        <p:tav tm="0">
                                          <p:val>
                                            <p:strVal val="#ppt_y+#ppt_h*1.125000"/>
                                          </p:val>
                                        </p:tav>
                                        <p:tav tm="100000">
                                          <p:val>
                                            <p:strVal val="#ppt_y"/>
                                          </p:val>
                                        </p:tav>
                                      </p:tavLst>
                                    </p:anim>
                                    <p:animEffect transition="in" filter="wipe(up)">
                                      <p:cBhvr>
                                        <p:cTn id="46" dur="500"/>
                                        <p:tgtEl>
                                          <p:spTgt spid="375815">
                                            <p:txEl>
                                              <p:pRg st="8" end="8"/>
                                            </p:txEl>
                                          </p:spTgt>
                                        </p:tgtEl>
                                      </p:cBhvr>
                                    </p:animEffect>
                                  </p:childTnLst>
                                </p:cTn>
                              </p:par>
                              <p:par>
                                <p:cTn id="47" presetID="12" presetClass="entr" presetSubtype="4" fill="hold" grpId="0" nodeType="withEffect">
                                  <p:stCondLst>
                                    <p:cond delay="0"/>
                                  </p:stCondLst>
                                  <p:childTnLst>
                                    <p:set>
                                      <p:cBhvr>
                                        <p:cTn id="48" dur="1" fill="hold">
                                          <p:stCondLst>
                                            <p:cond delay="0"/>
                                          </p:stCondLst>
                                        </p:cTn>
                                        <p:tgtEl>
                                          <p:spTgt spid="375815">
                                            <p:txEl>
                                              <p:pRg st="9" end="9"/>
                                            </p:txEl>
                                          </p:spTgt>
                                        </p:tgtEl>
                                        <p:attrNameLst>
                                          <p:attrName>style.visibility</p:attrName>
                                        </p:attrNameLst>
                                      </p:cBhvr>
                                      <p:to>
                                        <p:strVal val="visible"/>
                                      </p:to>
                                    </p:set>
                                    <p:anim calcmode="lin" valueType="num">
                                      <p:cBhvr additive="base">
                                        <p:cTn id="49" dur="500"/>
                                        <p:tgtEl>
                                          <p:spTgt spid="375815">
                                            <p:txEl>
                                              <p:pRg st="9" end="9"/>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758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5"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D5384-A5B4-C534-3913-8A560787E0CF}"/>
              </a:ext>
            </a:extLst>
          </p:cNvPr>
          <p:cNvSpPr>
            <a:spLocks noGrp="1"/>
          </p:cNvSpPr>
          <p:nvPr>
            <p:ph type="title"/>
          </p:nvPr>
        </p:nvSpPr>
        <p:spPr/>
        <p:txBody>
          <a:bodyPr/>
          <a:lstStyle/>
          <a:p>
            <a:r>
              <a:rPr lang="en-GB" altLang="en-US">
                <a:latin typeface="Calibri" panose="020F0502020204030204" pitchFamily="34" charset="0"/>
                <a:cs typeface="Calibri" panose="020F0502020204030204" pitchFamily="34" charset="0"/>
              </a:rPr>
              <a:t>Profit Maximisation</a:t>
            </a:r>
            <a:endParaRPr lang="en-GB">
              <a:latin typeface="Calibri" panose="020F0502020204030204" pitchFamily="34" charset="0"/>
              <a:cs typeface="Calibri" panose="020F0502020204030204" pitchFamily="34" charset="0"/>
            </a:endParaRPr>
          </a:p>
        </p:txBody>
      </p:sp>
      <p:pic>
        <p:nvPicPr>
          <p:cNvPr id="6" name="Content Placeholder 5">
            <a:extLst>
              <a:ext uri="{FF2B5EF4-FFF2-40B4-BE49-F238E27FC236}">
                <a16:creationId xmlns:a16="http://schemas.microsoft.com/office/drawing/2014/main" id="{648C6C17-BBB4-C3C1-F18E-598D3B368D1B}"/>
              </a:ext>
            </a:extLst>
          </p:cNvPr>
          <p:cNvPicPr>
            <a:picLocks noGrp="1" noChangeAspect="1"/>
          </p:cNvPicPr>
          <p:nvPr>
            <p:ph idx="1"/>
          </p:nvPr>
        </p:nvPicPr>
        <p:blipFill>
          <a:blip r:embed="rId2"/>
          <a:stretch>
            <a:fillRect/>
          </a:stretch>
        </p:blipFill>
        <p:spPr>
          <a:xfrm>
            <a:off x="495046" y="1802219"/>
            <a:ext cx="5398812" cy="3737639"/>
          </a:xfrm>
          <a:prstGeom prst="rect">
            <a:avLst/>
          </a:prstGeom>
        </p:spPr>
      </p:pic>
      <p:pic>
        <p:nvPicPr>
          <p:cNvPr id="7" name="Picture 6">
            <a:extLst>
              <a:ext uri="{FF2B5EF4-FFF2-40B4-BE49-F238E27FC236}">
                <a16:creationId xmlns:a16="http://schemas.microsoft.com/office/drawing/2014/main" id="{68CC59EE-469C-294E-DEDE-364A789337A0}"/>
              </a:ext>
            </a:extLst>
          </p:cNvPr>
          <p:cNvPicPr>
            <a:picLocks noChangeAspect="1"/>
          </p:cNvPicPr>
          <p:nvPr/>
        </p:nvPicPr>
        <p:blipFill>
          <a:blip r:embed="rId3"/>
          <a:stretch>
            <a:fillRect/>
          </a:stretch>
        </p:blipFill>
        <p:spPr>
          <a:xfrm>
            <a:off x="6253892" y="1836629"/>
            <a:ext cx="5349109" cy="3703229"/>
          </a:xfrm>
          <a:prstGeom prst="rect">
            <a:avLst/>
          </a:prstGeom>
        </p:spPr>
      </p:pic>
    </p:spTree>
    <p:extLst>
      <p:ext uri="{BB962C8B-B14F-4D97-AF65-F5344CB8AC3E}">
        <p14:creationId xmlns:p14="http://schemas.microsoft.com/office/powerpoint/2010/main" val="1918563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81958" name="Rectangle 6"/>
          <p:cNvSpPr>
            <a:spLocks noGrp="1"/>
          </p:cNvSpPr>
          <p:nvPr>
            <p:ph type="title"/>
          </p:nvPr>
        </p:nvSpPr>
        <p:spPr/>
        <p:txBody>
          <a:bodyPr/>
          <a:lstStyle/>
          <a:p>
            <a:r>
              <a:rPr lang="en-GB" altLang="en-US">
                <a:latin typeface="Calibri" panose="020F0502020204030204" pitchFamily="34" charset="0"/>
                <a:cs typeface="Calibri" panose="020F0502020204030204" pitchFamily="34" charset="0"/>
              </a:rPr>
              <a:t>Profit Maximisation</a:t>
            </a:r>
          </a:p>
        </p:txBody>
      </p:sp>
      <p:sp>
        <p:nvSpPr>
          <p:cNvPr id="381959" name="Rectangle 7"/>
          <p:cNvSpPr>
            <a:spLocks noGrp="1"/>
          </p:cNvSpPr>
          <p:nvPr>
            <p:ph idx="1"/>
          </p:nvPr>
        </p:nvSpPr>
        <p:spPr/>
        <p:txBody>
          <a:bodyPr/>
          <a:lstStyle/>
          <a:p>
            <a:pPr>
              <a:spcBef>
                <a:spcPct val="35000"/>
              </a:spcBef>
            </a:pPr>
            <a:r>
              <a:rPr lang="en-GB" altLang="en-US" sz="2200">
                <a:latin typeface="Calibri" panose="020F0502020204030204" pitchFamily="34" charset="0"/>
                <a:cs typeface="Calibri" panose="020F0502020204030204" pitchFamily="34" charset="0"/>
              </a:rPr>
              <a:t>How can a firm increase profit?</a:t>
            </a:r>
          </a:p>
          <a:p>
            <a:pPr>
              <a:spcBef>
                <a:spcPct val="35000"/>
              </a:spcBef>
            </a:pPr>
            <a:endParaRPr lang="en-GB" altLang="en-US" sz="2200">
              <a:latin typeface="Calibri" panose="020F0502020204030204" pitchFamily="34" charset="0"/>
              <a:cs typeface="Calibri" panose="020F0502020204030204" pitchFamily="34" charset="0"/>
            </a:endParaRPr>
          </a:p>
          <a:p>
            <a:pPr>
              <a:spcBef>
                <a:spcPct val="35000"/>
              </a:spcBef>
            </a:pPr>
            <a:r>
              <a:rPr lang="en-GB" altLang="en-US" sz="2200">
                <a:highlight>
                  <a:srgbClr val="FFFF00"/>
                </a:highlight>
                <a:latin typeface="Calibri" panose="020F0502020204030204" pitchFamily="34" charset="0"/>
                <a:cs typeface="Calibri" panose="020F0502020204030204" pitchFamily="34" charset="0"/>
              </a:rPr>
              <a:t>Activity – based on what you have learned, discuss with a partner(s) what you might do to try and increase the profit of a firm?</a:t>
            </a:r>
          </a:p>
          <a:p>
            <a:pPr>
              <a:spcBef>
                <a:spcPct val="35000"/>
              </a:spcBef>
            </a:pPr>
            <a:endParaRPr lang="en-GB" altLang="en-US" sz="2200">
              <a:latin typeface="Calibri" panose="020F0502020204030204" pitchFamily="34" charset="0"/>
              <a:cs typeface="Calibri" panose="020F0502020204030204" pitchFamily="34" charset="0"/>
            </a:endParaRPr>
          </a:p>
          <a:p>
            <a:pPr marL="0" indent="0">
              <a:spcBef>
                <a:spcPct val="35000"/>
              </a:spcBef>
              <a:buNone/>
            </a:pPr>
            <a:endParaRPr lang="en-GB" altLang="en-US" sz="2000"/>
          </a:p>
        </p:txBody>
      </p:sp>
    </p:spTree>
    <p:extLst>
      <p:ext uri="{BB962C8B-B14F-4D97-AF65-F5344CB8AC3E}">
        <p14:creationId xmlns:p14="http://schemas.microsoft.com/office/powerpoint/2010/main" val="4151909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1959">
                                            <p:txEl>
                                              <p:pRg st="0" end="0"/>
                                            </p:txEl>
                                          </p:spTgt>
                                        </p:tgtEl>
                                        <p:attrNameLst>
                                          <p:attrName>style.visibility</p:attrName>
                                        </p:attrNameLst>
                                      </p:cBhvr>
                                      <p:to>
                                        <p:strVal val="visible"/>
                                      </p:to>
                                    </p:set>
                                    <p:anim calcmode="lin" valueType="num">
                                      <p:cBhvr additive="base">
                                        <p:cTn id="7" dur="500"/>
                                        <p:tgtEl>
                                          <p:spTgt spid="38195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195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1959">
                                            <p:txEl>
                                              <p:pRg st="2" end="2"/>
                                            </p:txEl>
                                          </p:spTgt>
                                        </p:tgtEl>
                                        <p:attrNameLst>
                                          <p:attrName>style.visibility</p:attrName>
                                        </p:attrNameLst>
                                      </p:cBhvr>
                                      <p:to>
                                        <p:strVal val="visible"/>
                                      </p:to>
                                    </p:set>
                                    <p:anim calcmode="lin" valueType="num">
                                      <p:cBhvr additive="base">
                                        <p:cTn id="13" dur="500"/>
                                        <p:tgtEl>
                                          <p:spTgt spid="381959">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19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9"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5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60" name="Rectangle 4"/>
          <p:cNvSpPr>
            <a:spLocks noGrp="1"/>
          </p:cNvSpPr>
          <p:nvPr>
            <p:ph type="title"/>
          </p:nvPr>
        </p:nvSpPr>
        <p:spPr>
          <a:xfrm>
            <a:off x="258880" y="365126"/>
            <a:ext cx="10515600" cy="908198"/>
          </a:xfrm>
        </p:spPr>
        <p:txBody>
          <a:bodyPr/>
          <a:lstStyle/>
          <a:p>
            <a:r>
              <a:rPr lang="en-GB" altLang="en-US">
                <a:latin typeface="Calibri" panose="020F0502020204030204" pitchFamily="34" charset="0"/>
                <a:cs typeface="Calibri" panose="020F0502020204030204" pitchFamily="34" charset="0"/>
              </a:rPr>
              <a:t>Profit Maximisation</a:t>
            </a:r>
          </a:p>
        </p:txBody>
      </p:sp>
      <p:sp>
        <p:nvSpPr>
          <p:cNvPr id="377861" name="Rectangle 5"/>
          <p:cNvSpPr>
            <a:spLocks noGrp="1"/>
          </p:cNvSpPr>
          <p:nvPr>
            <p:ph idx="1"/>
          </p:nvPr>
        </p:nvSpPr>
        <p:spPr>
          <a:xfrm>
            <a:off x="263944" y="1353880"/>
            <a:ext cx="11697684" cy="4889500"/>
          </a:xfrm>
        </p:spPr>
        <p:txBody>
          <a:bodyPr/>
          <a:lstStyle/>
          <a:p>
            <a:pPr marL="0" indent="0">
              <a:lnSpc>
                <a:spcPct val="100000"/>
              </a:lnSpc>
              <a:spcBef>
                <a:spcPts val="1200"/>
              </a:spcBef>
              <a:buNone/>
            </a:pPr>
            <a:r>
              <a:rPr lang="en-GB" altLang="en-US" sz="2000">
                <a:latin typeface="Calibri" panose="020F0502020204030204" pitchFamily="34" charset="0"/>
                <a:cs typeface="Calibri" panose="020F0502020204030204" pitchFamily="34" charset="0"/>
              </a:rPr>
              <a:t>The meaning of ‘profit’ in economics</a:t>
            </a:r>
          </a:p>
          <a:p>
            <a:pPr>
              <a:lnSpc>
                <a:spcPct val="100000"/>
              </a:lnSpc>
              <a:spcBef>
                <a:spcPts val="1200"/>
              </a:spcBef>
            </a:pPr>
            <a:r>
              <a:rPr lang="en-GB" altLang="en-US" sz="2000">
                <a:latin typeface="Calibri" panose="020F0502020204030204" pitchFamily="34" charset="0"/>
                <a:cs typeface="Calibri" panose="020F0502020204030204" pitchFamily="34" charset="0"/>
              </a:rPr>
              <a:t>One element of cost is the opportunity cost to the owners of the firm incurred by being in business –  the minimum return that the owners must make on their capital to prevent them from deciding to close down</a:t>
            </a:r>
          </a:p>
          <a:p>
            <a:pPr>
              <a:lnSpc>
                <a:spcPct val="100000"/>
              </a:lnSpc>
              <a:spcBef>
                <a:spcPts val="1200"/>
              </a:spcBef>
            </a:pPr>
            <a:r>
              <a:rPr lang="en-GB" altLang="en-US" sz="2000">
                <a:latin typeface="Calibri" panose="020F0502020204030204" pitchFamily="34" charset="0"/>
                <a:cs typeface="Calibri" panose="020F0502020204030204" pitchFamily="34" charset="0"/>
              </a:rPr>
              <a:t>This opportunity cost to owners is sometimes known as </a:t>
            </a:r>
            <a:r>
              <a:rPr lang="en-GB" altLang="en-US" sz="2000" b="1">
                <a:latin typeface="Calibri" panose="020F0502020204030204" pitchFamily="34" charset="0"/>
                <a:cs typeface="Calibri" panose="020F0502020204030204" pitchFamily="34" charset="0"/>
              </a:rPr>
              <a:t>normal profit</a:t>
            </a:r>
            <a:r>
              <a:rPr lang="en-GB" altLang="en-US" sz="2000">
                <a:latin typeface="Calibri" panose="020F0502020204030204" pitchFamily="34" charset="0"/>
                <a:cs typeface="Calibri" panose="020F0502020204030204" pitchFamily="34" charset="0"/>
              </a:rPr>
              <a:t>, and is </a:t>
            </a:r>
            <a:r>
              <a:rPr lang="en-GB" altLang="en-US" sz="2000" i="1">
                <a:latin typeface="Calibri" panose="020F0502020204030204" pitchFamily="34" charset="0"/>
                <a:cs typeface="Calibri" panose="020F0502020204030204" pitchFamily="34" charset="0"/>
              </a:rPr>
              <a:t>included in the cost curve</a:t>
            </a:r>
          </a:p>
          <a:p>
            <a:pPr>
              <a:lnSpc>
                <a:spcPct val="100000"/>
              </a:lnSpc>
              <a:spcBef>
                <a:spcPts val="1200"/>
              </a:spcBef>
            </a:pPr>
            <a:r>
              <a:rPr lang="en-GB" altLang="en-US" sz="2000">
                <a:latin typeface="Calibri" panose="020F0502020204030204" pitchFamily="34" charset="0"/>
                <a:cs typeface="Calibri" panose="020F0502020204030204" pitchFamily="34" charset="0"/>
              </a:rPr>
              <a:t>The normal rate of profit is determined by:</a:t>
            </a:r>
          </a:p>
          <a:p>
            <a:pPr marL="1257300" lvl="2" indent="-342900">
              <a:lnSpc>
                <a:spcPct val="100000"/>
              </a:lnSpc>
              <a:spcBef>
                <a:spcPts val="1200"/>
              </a:spcBef>
              <a:buFont typeface="+mj-lt"/>
              <a:buAutoNum type="arabicPeriod"/>
            </a:pPr>
            <a:r>
              <a:rPr lang="en-GB" altLang="en-US" sz="1900" b="1">
                <a:latin typeface="Calibri" panose="020F0502020204030204" pitchFamily="34" charset="0"/>
                <a:cs typeface="Calibri" panose="020F0502020204030204" pitchFamily="34" charset="0"/>
              </a:rPr>
              <a:t>The opportunity cost of capital </a:t>
            </a:r>
            <a:r>
              <a:rPr lang="en-GB" altLang="en-US" sz="1900">
                <a:latin typeface="Calibri" panose="020F0502020204030204" pitchFamily="34" charset="0"/>
                <a:cs typeface="Calibri" panose="020F0502020204030204" pitchFamily="34" charset="0"/>
              </a:rPr>
              <a:t>(i.e., the interest that could have been earned by lending it in some riskless form, for e.g., putting it in a savings account in a bank)</a:t>
            </a:r>
          </a:p>
          <a:p>
            <a:pPr marL="1257300" lvl="2" indent="-342900">
              <a:lnSpc>
                <a:spcPct val="100000"/>
              </a:lnSpc>
              <a:spcBef>
                <a:spcPts val="1200"/>
              </a:spcBef>
              <a:buFont typeface="+mj-lt"/>
              <a:buAutoNum type="arabicPeriod"/>
            </a:pPr>
            <a:r>
              <a:rPr lang="en-GB" altLang="en-US" sz="1900" b="1">
                <a:latin typeface="Calibri" panose="020F0502020204030204" pitchFamily="34" charset="0"/>
                <a:cs typeface="Calibri" panose="020F0502020204030204" pitchFamily="34" charset="0"/>
              </a:rPr>
              <a:t>A return to compensate for risk </a:t>
            </a:r>
            <a:r>
              <a:rPr lang="en-GB" altLang="en-US" sz="1900">
                <a:latin typeface="Calibri" panose="020F0502020204030204" pitchFamily="34" charset="0"/>
                <a:cs typeface="Calibri" panose="020F0502020204030204" pitchFamily="34" charset="0"/>
              </a:rPr>
              <a:t>– if they earn more than normal profit, they will prefer to stay in this business. If they earn less than normal profit, they will consider using the capital for another purpose.</a:t>
            </a:r>
          </a:p>
          <a:p>
            <a:pPr>
              <a:lnSpc>
                <a:spcPct val="100000"/>
              </a:lnSpc>
              <a:spcBef>
                <a:spcPts val="1200"/>
              </a:spcBef>
            </a:pPr>
            <a:r>
              <a:rPr lang="en-GB" altLang="en-US" sz="2000">
                <a:latin typeface="Calibri" panose="020F0502020204030204" pitchFamily="34" charset="0"/>
                <a:cs typeface="Calibri" panose="020F0502020204030204" pitchFamily="34" charset="0"/>
              </a:rPr>
              <a:t>Given that normal profits are included in costs, the profit shown in the earlier diagram was profit over and above normal profit – this is often known </a:t>
            </a:r>
            <a:r>
              <a:rPr lang="en-GB" altLang="en-US" sz="2000" b="1">
                <a:latin typeface="Calibri" panose="020F0502020204030204" pitchFamily="34" charset="0"/>
                <a:cs typeface="Calibri" panose="020F0502020204030204" pitchFamily="34" charset="0"/>
              </a:rPr>
              <a:t>supernormal profit</a:t>
            </a:r>
            <a:r>
              <a:rPr lang="en-GB" altLang="en-US" sz="2000">
                <a:latin typeface="Calibri" panose="020F0502020204030204" pitchFamily="34" charset="0"/>
                <a:cs typeface="Calibri" panose="020F0502020204030204" pitchFamily="34" charset="0"/>
              </a:rPr>
              <a:t>, </a:t>
            </a:r>
            <a:r>
              <a:rPr lang="en-GB" altLang="en-US" sz="2000" b="1">
                <a:latin typeface="Calibri" panose="020F0502020204030204" pitchFamily="34" charset="0"/>
                <a:cs typeface="Calibri" panose="020F0502020204030204" pitchFamily="34" charset="0"/>
              </a:rPr>
              <a:t>pure profit</a:t>
            </a:r>
            <a:r>
              <a:rPr lang="en-GB" altLang="en-US" sz="2000">
                <a:latin typeface="Calibri" panose="020F0502020204030204" pitchFamily="34" charset="0"/>
                <a:cs typeface="Calibri" panose="020F0502020204030204" pitchFamily="34" charset="0"/>
              </a:rPr>
              <a:t>, </a:t>
            </a:r>
            <a:r>
              <a:rPr lang="en-GB" altLang="en-US" sz="2000" b="1">
                <a:latin typeface="Calibri" panose="020F0502020204030204" pitchFamily="34" charset="0"/>
                <a:cs typeface="Calibri" panose="020F0502020204030204" pitchFamily="34" charset="0"/>
              </a:rPr>
              <a:t>economic profit </a:t>
            </a:r>
            <a:r>
              <a:rPr lang="en-GB" altLang="en-US" sz="2000">
                <a:latin typeface="Calibri" panose="020F0502020204030204" pitchFamily="34" charset="0"/>
                <a:cs typeface="Calibri" panose="020F0502020204030204" pitchFamily="34" charset="0"/>
              </a:rPr>
              <a:t>or sometimes just </a:t>
            </a:r>
            <a:r>
              <a:rPr lang="en-GB" altLang="en-US" sz="2000" b="1">
                <a:latin typeface="Calibri" panose="020F0502020204030204" pitchFamily="34" charset="0"/>
                <a:cs typeface="Calibri" panose="020F0502020204030204" pitchFamily="34" charset="0"/>
              </a:rPr>
              <a:t>profit</a:t>
            </a:r>
            <a:r>
              <a:rPr lang="en-GB" altLang="en-US" sz="200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603959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7861">
                                            <p:txEl>
                                              <p:pRg st="0" end="0"/>
                                            </p:txEl>
                                          </p:spTgt>
                                        </p:tgtEl>
                                        <p:attrNameLst>
                                          <p:attrName>style.visibility</p:attrName>
                                        </p:attrNameLst>
                                      </p:cBhvr>
                                      <p:to>
                                        <p:strVal val="visible"/>
                                      </p:to>
                                    </p:set>
                                    <p:anim calcmode="lin" valueType="num">
                                      <p:cBhvr additive="base">
                                        <p:cTn id="7" dur="500"/>
                                        <p:tgtEl>
                                          <p:spTgt spid="37786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786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7861">
                                            <p:txEl>
                                              <p:pRg st="1" end="1"/>
                                            </p:txEl>
                                          </p:spTgt>
                                        </p:tgtEl>
                                        <p:attrNameLst>
                                          <p:attrName>style.visibility</p:attrName>
                                        </p:attrNameLst>
                                      </p:cBhvr>
                                      <p:to>
                                        <p:strVal val="visible"/>
                                      </p:to>
                                    </p:set>
                                    <p:anim calcmode="lin" valueType="num">
                                      <p:cBhvr additive="base">
                                        <p:cTn id="13" dur="500"/>
                                        <p:tgtEl>
                                          <p:spTgt spid="37786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786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7861">
                                            <p:txEl>
                                              <p:pRg st="2" end="2"/>
                                            </p:txEl>
                                          </p:spTgt>
                                        </p:tgtEl>
                                        <p:attrNameLst>
                                          <p:attrName>style.visibility</p:attrName>
                                        </p:attrNameLst>
                                      </p:cBhvr>
                                      <p:to>
                                        <p:strVal val="visible"/>
                                      </p:to>
                                    </p:set>
                                    <p:anim calcmode="lin" valueType="num">
                                      <p:cBhvr additive="base">
                                        <p:cTn id="19" dur="500"/>
                                        <p:tgtEl>
                                          <p:spTgt spid="37786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786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7861">
                                            <p:txEl>
                                              <p:pRg st="3" end="3"/>
                                            </p:txEl>
                                          </p:spTgt>
                                        </p:tgtEl>
                                        <p:attrNameLst>
                                          <p:attrName>style.visibility</p:attrName>
                                        </p:attrNameLst>
                                      </p:cBhvr>
                                      <p:to>
                                        <p:strVal val="visible"/>
                                      </p:to>
                                    </p:set>
                                    <p:anim calcmode="lin" valueType="num">
                                      <p:cBhvr additive="base">
                                        <p:cTn id="25" dur="500"/>
                                        <p:tgtEl>
                                          <p:spTgt spid="37786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786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7861">
                                            <p:txEl>
                                              <p:pRg st="4" end="4"/>
                                            </p:txEl>
                                          </p:spTgt>
                                        </p:tgtEl>
                                        <p:attrNameLst>
                                          <p:attrName>style.visibility</p:attrName>
                                        </p:attrNameLst>
                                      </p:cBhvr>
                                      <p:to>
                                        <p:strVal val="visible"/>
                                      </p:to>
                                    </p:set>
                                    <p:anim calcmode="lin" valueType="num">
                                      <p:cBhvr additive="base">
                                        <p:cTn id="31" dur="500"/>
                                        <p:tgtEl>
                                          <p:spTgt spid="37786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786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7861">
                                            <p:txEl>
                                              <p:pRg st="5" end="5"/>
                                            </p:txEl>
                                          </p:spTgt>
                                        </p:tgtEl>
                                        <p:attrNameLst>
                                          <p:attrName>style.visibility</p:attrName>
                                        </p:attrNameLst>
                                      </p:cBhvr>
                                      <p:to>
                                        <p:strVal val="visible"/>
                                      </p:to>
                                    </p:set>
                                    <p:anim calcmode="lin" valueType="num">
                                      <p:cBhvr additive="base">
                                        <p:cTn id="37" dur="500"/>
                                        <p:tgtEl>
                                          <p:spTgt spid="37786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786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7861">
                                            <p:txEl>
                                              <p:pRg st="6" end="6"/>
                                            </p:txEl>
                                          </p:spTgt>
                                        </p:tgtEl>
                                        <p:attrNameLst>
                                          <p:attrName>style.visibility</p:attrName>
                                        </p:attrNameLst>
                                      </p:cBhvr>
                                      <p:to>
                                        <p:strVal val="visible"/>
                                      </p:to>
                                    </p:set>
                                    <p:anim calcmode="lin" valueType="num">
                                      <p:cBhvr additive="base">
                                        <p:cTn id="43" dur="500"/>
                                        <p:tgtEl>
                                          <p:spTgt spid="37786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786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build="p" bldLvl="3"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5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60" name="Rectangle 4"/>
          <p:cNvSpPr>
            <a:spLocks noGrp="1"/>
          </p:cNvSpPr>
          <p:nvPr>
            <p:ph type="title"/>
          </p:nvPr>
        </p:nvSpPr>
        <p:spPr>
          <a:xfrm>
            <a:off x="611014" y="365126"/>
            <a:ext cx="10515600" cy="908198"/>
          </a:xfrm>
        </p:spPr>
        <p:txBody>
          <a:bodyPr/>
          <a:lstStyle/>
          <a:p>
            <a:r>
              <a:rPr lang="en-GB" altLang="en-US">
                <a:latin typeface="Calibri" panose="020F0502020204030204" pitchFamily="34" charset="0"/>
                <a:cs typeface="Calibri" panose="020F0502020204030204" pitchFamily="34" charset="0"/>
              </a:rPr>
              <a:t>Profit Maximisation</a:t>
            </a:r>
          </a:p>
        </p:txBody>
      </p:sp>
      <p:sp>
        <p:nvSpPr>
          <p:cNvPr id="377861" name="Rectangle 5"/>
          <p:cNvSpPr>
            <a:spLocks noGrp="1"/>
          </p:cNvSpPr>
          <p:nvPr>
            <p:ph idx="1"/>
          </p:nvPr>
        </p:nvSpPr>
        <p:spPr>
          <a:xfrm>
            <a:off x="577604" y="1731334"/>
            <a:ext cx="4235401" cy="4260113"/>
          </a:xfrm>
        </p:spPr>
        <p:txBody>
          <a:bodyPr/>
          <a:lstStyle/>
          <a:p>
            <a:pPr marL="0" indent="0">
              <a:lnSpc>
                <a:spcPct val="100000"/>
              </a:lnSpc>
              <a:spcBef>
                <a:spcPts val="1200"/>
              </a:spcBef>
              <a:buNone/>
            </a:pPr>
            <a:r>
              <a:rPr lang="en-GB" altLang="en-US" sz="2000">
                <a:latin typeface="Calibri" panose="020F0502020204030204" pitchFamily="34" charset="0"/>
                <a:cs typeface="Calibri" panose="020F0502020204030204" pitchFamily="34" charset="0"/>
              </a:rPr>
              <a:t>What if a loss is made?</a:t>
            </a:r>
          </a:p>
          <a:p>
            <a:pPr>
              <a:lnSpc>
                <a:spcPct val="100000"/>
              </a:lnSpc>
              <a:spcBef>
                <a:spcPts val="1200"/>
              </a:spcBef>
            </a:pPr>
            <a:r>
              <a:rPr lang="en-GB" altLang="en-US" sz="2000">
                <a:latin typeface="Calibri" panose="020F0502020204030204" pitchFamily="34" charset="0"/>
                <a:cs typeface="Calibri" panose="020F0502020204030204" pitchFamily="34" charset="0"/>
              </a:rPr>
              <a:t>It may be that there is no output at which the firm can make a profit</a:t>
            </a:r>
          </a:p>
          <a:p>
            <a:pPr>
              <a:lnSpc>
                <a:spcPct val="100000"/>
              </a:lnSpc>
              <a:spcBef>
                <a:spcPts val="1200"/>
              </a:spcBef>
            </a:pPr>
            <a:r>
              <a:rPr lang="en-GB" altLang="en-US" sz="2000">
                <a:latin typeface="Calibri" panose="020F0502020204030204" pitchFamily="34" charset="0"/>
                <a:cs typeface="Calibri" panose="020F0502020204030204" pitchFamily="34" charset="0"/>
              </a:rPr>
              <a:t>The AC curve is above the AR curve at all levels of output</a:t>
            </a:r>
          </a:p>
          <a:p>
            <a:pPr>
              <a:lnSpc>
                <a:spcPct val="100000"/>
              </a:lnSpc>
              <a:spcBef>
                <a:spcPts val="1200"/>
              </a:spcBef>
            </a:pPr>
            <a:r>
              <a:rPr lang="en-GB" altLang="en-US" sz="2000">
                <a:latin typeface="Calibri" panose="020F0502020204030204" pitchFamily="34" charset="0"/>
                <a:cs typeface="Calibri" panose="020F0502020204030204" pitchFamily="34" charset="0"/>
              </a:rPr>
              <a:t>In this case, the output where MR = MC will be the loss minimising output </a:t>
            </a:r>
          </a:p>
          <a:p>
            <a:pPr>
              <a:lnSpc>
                <a:spcPct val="100000"/>
              </a:lnSpc>
              <a:spcBef>
                <a:spcPts val="1200"/>
              </a:spcBef>
            </a:pPr>
            <a:r>
              <a:rPr lang="en-GB" altLang="en-US" sz="2000">
                <a:latin typeface="Calibri" panose="020F0502020204030204" pitchFamily="34" charset="0"/>
                <a:cs typeface="Calibri" panose="020F0502020204030204" pitchFamily="34" charset="0"/>
              </a:rPr>
              <a:t>The shaded area in the diagram shows the amount of loss</a:t>
            </a:r>
            <a:endParaRPr lang="en-GB" altLang="en-US" sz="2000" i="1">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0AF31D68-D996-979C-873F-EEC6777FB33D}"/>
              </a:ext>
            </a:extLst>
          </p:cNvPr>
          <p:cNvPicPr>
            <a:picLocks noChangeAspect="1"/>
          </p:cNvPicPr>
          <p:nvPr/>
        </p:nvPicPr>
        <p:blipFill>
          <a:blip r:embed="rId3"/>
          <a:stretch>
            <a:fillRect/>
          </a:stretch>
        </p:blipFill>
        <p:spPr>
          <a:xfrm>
            <a:off x="5194432" y="1665939"/>
            <a:ext cx="6251521" cy="4326792"/>
          </a:xfrm>
          <a:prstGeom prst="rect">
            <a:avLst/>
          </a:prstGeom>
        </p:spPr>
      </p:pic>
    </p:spTree>
    <p:extLst>
      <p:ext uri="{BB962C8B-B14F-4D97-AF65-F5344CB8AC3E}">
        <p14:creationId xmlns:p14="http://schemas.microsoft.com/office/powerpoint/2010/main" val="180514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7861">
                                            <p:txEl>
                                              <p:pRg st="0" end="0"/>
                                            </p:txEl>
                                          </p:spTgt>
                                        </p:tgtEl>
                                        <p:attrNameLst>
                                          <p:attrName>style.visibility</p:attrName>
                                        </p:attrNameLst>
                                      </p:cBhvr>
                                      <p:to>
                                        <p:strVal val="visible"/>
                                      </p:to>
                                    </p:set>
                                    <p:anim calcmode="lin" valueType="num">
                                      <p:cBhvr additive="base">
                                        <p:cTn id="7" dur="500"/>
                                        <p:tgtEl>
                                          <p:spTgt spid="37786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786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7861">
                                            <p:txEl>
                                              <p:pRg st="1" end="1"/>
                                            </p:txEl>
                                          </p:spTgt>
                                        </p:tgtEl>
                                        <p:attrNameLst>
                                          <p:attrName>style.visibility</p:attrName>
                                        </p:attrNameLst>
                                      </p:cBhvr>
                                      <p:to>
                                        <p:strVal val="visible"/>
                                      </p:to>
                                    </p:set>
                                    <p:anim calcmode="lin" valueType="num">
                                      <p:cBhvr additive="base">
                                        <p:cTn id="13" dur="500"/>
                                        <p:tgtEl>
                                          <p:spTgt spid="37786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786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7861">
                                            <p:txEl>
                                              <p:pRg st="2" end="2"/>
                                            </p:txEl>
                                          </p:spTgt>
                                        </p:tgtEl>
                                        <p:attrNameLst>
                                          <p:attrName>style.visibility</p:attrName>
                                        </p:attrNameLst>
                                      </p:cBhvr>
                                      <p:to>
                                        <p:strVal val="visible"/>
                                      </p:to>
                                    </p:set>
                                    <p:anim calcmode="lin" valueType="num">
                                      <p:cBhvr additive="base">
                                        <p:cTn id="19" dur="500"/>
                                        <p:tgtEl>
                                          <p:spTgt spid="37786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786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7861">
                                            <p:txEl>
                                              <p:pRg st="3" end="3"/>
                                            </p:txEl>
                                          </p:spTgt>
                                        </p:tgtEl>
                                        <p:attrNameLst>
                                          <p:attrName>style.visibility</p:attrName>
                                        </p:attrNameLst>
                                      </p:cBhvr>
                                      <p:to>
                                        <p:strVal val="visible"/>
                                      </p:to>
                                    </p:set>
                                    <p:anim calcmode="lin" valueType="num">
                                      <p:cBhvr additive="base">
                                        <p:cTn id="25" dur="500"/>
                                        <p:tgtEl>
                                          <p:spTgt spid="37786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786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7861">
                                            <p:txEl>
                                              <p:pRg st="4" end="4"/>
                                            </p:txEl>
                                          </p:spTgt>
                                        </p:tgtEl>
                                        <p:attrNameLst>
                                          <p:attrName>style.visibility</p:attrName>
                                        </p:attrNameLst>
                                      </p:cBhvr>
                                      <p:to>
                                        <p:strVal val="visible"/>
                                      </p:to>
                                    </p:set>
                                    <p:anim calcmode="lin" valueType="num">
                                      <p:cBhvr additive="base">
                                        <p:cTn id="31" dur="500"/>
                                        <p:tgtEl>
                                          <p:spTgt spid="37786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786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build="p" bldLvl="3"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59"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7860" name="Rectangle 4"/>
          <p:cNvSpPr>
            <a:spLocks noGrp="1"/>
          </p:cNvSpPr>
          <p:nvPr>
            <p:ph type="title"/>
          </p:nvPr>
        </p:nvSpPr>
        <p:spPr>
          <a:xfrm>
            <a:off x="474707" y="365126"/>
            <a:ext cx="10515600" cy="908198"/>
          </a:xfrm>
        </p:spPr>
        <p:txBody>
          <a:bodyPr/>
          <a:lstStyle/>
          <a:p>
            <a:r>
              <a:rPr lang="en-GB" altLang="en-US" sz="3200">
                <a:latin typeface="Calibri" panose="020F0502020204030204" pitchFamily="34" charset="0"/>
                <a:cs typeface="Calibri" panose="020F0502020204030204" pitchFamily="34" charset="0"/>
              </a:rPr>
              <a:t>Profit Maximisation – Whether to Produce at All</a:t>
            </a:r>
          </a:p>
        </p:txBody>
      </p:sp>
      <p:sp>
        <p:nvSpPr>
          <p:cNvPr id="377861" name="Rectangle 5"/>
          <p:cNvSpPr>
            <a:spLocks noGrp="1"/>
          </p:cNvSpPr>
          <p:nvPr>
            <p:ph idx="1"/>
          </p:nvPr>
        </p:nvSpPr>
        <p:spPr>
          <a:xfrm>
            <a:off x="0" y="1324576"/>
            <a:ext cx="6129670" cy="4935572"/>
          </a:xfrm>
        </p:spPr>
        <p:txBody>
          <a:bodyPr/>
          <a:lstStyle/>
          <a:p>
            <a:pPr marL="457200" lvl="1" indent="0">
              <a:lnSpc>
                <a:spcPct val="100000"/>
              </a:lnSpc>
              <a:spcBef>
                <a:spcPts val="1200"/>
              </a:spcBef>
              <a:buNone/>
            </a:pPr>
            <a:r>
              <a:rPr lang="en-GB" altLang="en-US" sz="1900" b="1">
                <a:latin typeface="Calibri" panose="020F0502020204030204" pitchFamily="34" charset="0"/>
                <a:cs typeface="Calibri" panose="020F0502020204030204" pitchFamily="34" charset="0"/>
              </a:rPr>
              <a:t>Short-run shut-down point: </a:t>
            </a:r>
            <a:r>
              <a:rPr lang="en-GB" altLang="en-US" sz="1900" b="1" i="1">
                <a:latin typeface="Calibri" panose="020F0502020204030204" pitchFamily="34" charset="0"/>
                <a:cs typeface="Calibri" panose="020F0502020204030204" pitchFamily="34" charset="0"/>
              </a:rPr>
              <a:t>P (AR) = AVC</a:t>
            </a:r>
          </a:p>
          <a:p>
            <a:pPr lvl="1">
              <a:lnSpc>
                <a:spcPct val="100000"/>
              </a:lnSpc>
              <a:spcBef>
                <a:spcPts val="1200"/>
              </a:spcBef>
            </a:pPr>
            <a:r>
              <a:rPr lang="en-GB" altLang="en-US" sz="1900">
                <a:latin typeface="Calibri" panose="020F0502020204030204" pitchFamily="34" charset="0"/>
                <a:cs typeface="Calibri" panose="020F0502020204030204" pitchFamily="34" charset="0"/>
              </a:rPr>
              <a:t>Fixed costs must be paid, even if the firm is producing nothing. </a:t>
            </a:r>
          </a:p>
          <a:p>
            <a:pPr lvl="1">
              <a:lnSpc>
                <a:spcPct val="100000"/>
              </a:lnSpc>
              <a:spcBef>
                <a:spcPts val="1200"/>
              </a:spcBef>
            </a:pPr>
            <a:r>
              <a:rPr lang="en-GB" altLang="en-US" sz="1900">
                <a:latin typeface="Calibri" panose="020F0502020204030204" pitchFamily="34" charset="0"/>
                <a:cs typeface="Calibri" panose="020F0502020204030204" pitchFamily="34" charset="0"/>
              </a:rPr>
              <a:t>Providing the firm is more than covering its variable costs, it can go some way to paying off these fixed costs and will therefore continue to produce. </a:t>
            </a:r>
          </a:p>
          <a:p>
            <a:pPr lvl="1">
              <a:lnSpc>
                <a:spcPct val="100000"/>
              </a:lnSpc>
              <a:spcBef>
                <a:spcPts val="1200"/>
              </a:spcBef>
            </a:pPr>
            <a:r>
              <a:rPr lang="en-GB" altLang="en-US" sz="1900">
                <a:latin typeface="Calibri" panose="020F0502020204030204" pitchFamily="34" charset="0"/>
                <a:cs typeface="Calibri" panose="020F0502020204030204" pitchFamily="34" charset="0"/>
              </a:rPr>
              <a:t>A firm will shut down if it cannot cover its variable costs.</a:t>
            </a:r>
            <a:endParaRPr lang="en-GB" altLang="en-US" sz="1900" b="1" i="1">
              <a:latin typeface="Calibri" panose="020F0502020204030204" pitchFamily="34" charset="0"/>
              <a:cs typeface="Calibri" panose="020F0502020204030204" pitchFamily="34" charset="0"/>
            </a:endParaRPr>
          </a:p>
          <a:p>
            <a:pPr marL="457200" lvl="1" indent="0">
              <a:lnSpc>
                <a:spcPct val="100000"/>
              </a:lnSpc>
              <a:spcBef>
                <a:spcPts val="1200"/>
              </a:spcBef>
              <a:buNone/>
            </a:pPr>
            <a:r>
              <a:rPr lang="en-GB" altLang="en-US" sz="1900" b="1">
                <a:latin typeface="Calibri" panose="020F0502020204030204" pitchFamily="34" charset="0"/>
                <a:cs typeface="Calibri" panose="020F0502020204030204" pitchFamily="34" charset="0"/>
              </a:rPr>
              <a:t>Long-run shut-down point: </a:t>
            </a:r>
            <a:r>
              <a:rPr lang="en-GB" altLang="en-US" sz="1900" b="1" i="1">
                <a:latin typeface="Calibri" panose="020F0502020204030204" pitchFamily="34" charset="0"/>
                <a:cs typeface="Calibri" panose="020F0502020204030204" pitchFamily="34" charset="0"/>
              </a:rPr>
              <a:t>P (AR) = LRAC</a:t>
            </a:r>
          </a:p>
          <a:p>
            <a:pPr lvl="1">
              <a:lnSpc>
                <a:spcPct val="100000"/>
              </a:lnSpc>
              <a:spcBef>
                <a:spcPts val="1200"/>
              </a:spcBef>
            </a:pPr>
            <a:r>
              <a:rPr lang="en-GB" altLang="en-US" sz="1900">
                <a:latin typeface="Calibri" panose="020F0502020204030204" pitchFamily="34" charset="0"/>
                <a:cs typeface="Calibri" panose="020F0502020204030204" pitchFamily="34" charset="0"/>
              </a:rPr>
              <a:t>All costs are variable in the long run. </a:t>
            </a:r>
          </a:p>
          <a:p>
            <a:pPr lvl="1">
              <a:lnSpc>
                <a:spcPct val="100000"/>
              </a:lnSpc>
              <a:spcBef>
                <a:spcPts val="1200"/>
              </a:spcBef>
            </a:pPr>
            <a:r>
              <a:rPr lang="en-GB" altLang="en-US" sz="1900">
                <a:latin typeface="Calibri" panose="020F0502020204030204" pitchFamily="34" charset="0"/>
                <a:cs typeface="Calibri" panose="020F0502020204030204" pitchFamily="34" charset="0"/>
              </a:rPr>
              <a:t>If a firm cannot cover its long-run average costs (which include normal profit), it will close. </a:t>
            </a:r>
          </a:p>
        </p:txBody>
      </p:sp>
      <p:pic>
        <p:nvPicPr>
          <p:cNvPr id="2" name="Picture 1">
            <a:extLst>
              <a:ext uri="{FF2B5EF4-FFF2-40B4-BE49-F238E27FC236}">
                <a16:creationId xmlns:a16="http://schemas.microsoft.com/office/drawing/2014/main" id="{E122A9DD-9F5C-8CF4-9352-DC11FABE8D08}"/>
              </a:ext>
            </a:extLst>
          </p:cNvPr>
          <p:cNvPicPr>
            <a:picLocks noChangeAspect="1"/>
          </p:cNvPicPr>
          <p:nvPr/>
        </p:nvPicPr>
        <p:blipFill>
          <a:blip r:embed="rId3"/>
          <a:stretch>
            <a:fillRect/>
          </a:stretch>
        </p:blipFill>
        <p:spPr>
          <a:xfrm>
            <a:off x="6096877" y="1796902"/>
            <a:ext cx="5646781" cy="3903433"/>
          </a:xfrm>
          <a:prstGeom prst="rect">
            <a:avLst/>
          </a:prstGeom>
        </p:spPr>
      </p:pic>
    </p:spTree>
    <p:extLst>
      <p:ext uri="{BB962C8B-B14F-4D97-AF65-F5344CB8AC3E}">
        <p14:creationId xmlns:p14="http://schemas.microsoft.com/office/powerpoint/2010/main" val="194924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7861">
                                            <p:txEl>
                                              <p:pRg st="0" end="0"/>
                                            </p:txEl>
                                          </p:spTgt>
                                        </p:tgtEl>
                                        <p:attrNameLst>
                                          <p:attrName>style.visibility</p:attrName>
                                        </p:attrNameLst>
                                      </p:cBhvr>
                                      <p:to>
                                        <p:strVal val="visible"/>
                                      </p:to>
                                    </p:set>
                                    <p:anim calcmode="lin" valueType="num">
                                      <p:cBhvr additive="base">
                                        <p:cTn id="7" dur="500"/>
                                        <p:tgtEl>
                                          <p:spTgt spid="37786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786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7861">
                                            <p:txEl>
                                              <p:pRg st="1" end="1"/>
                                            </p:txEl>
                                          </p:spTgt>
                                        </p:tgtEl>
                                        <p:attrNameLst>
                                          <p:attrName>style.visibility</p:attrName>
                                        </p:attrNameLst>
                                      </p:cBhvr>
                                      <p:to>
                                        <p:strVal val="visible"/>
                                      </p:to>
                                    </p:set>
                                    <p:anim calcmode="lin" valueType="num">
                                      <p:cBhvr additive="base">
                                        <p:cTn id="13" dur="500"/>
                                        <p:tgtEl>
                                          <p:spTgt spid="37786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786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77861">
                                            <p:txEl>
                                              <p:pRg st="2" end="2"/>
                                            </p:txEl>
                                          </p:spTgt>
                                        </p:tgtEl>
                                        <p:attrNameLst>
                                          <p:attrName>style.visibility</p:attrName>
                                        </p:attrNameLst>
                                      </p:cBhvr>
                                      <p:to>
                                        <p:strVal val="visible"/>
                                      </p:to>
                                    </p:set>
                                    <p:anim calcmode="lin" valueType="num">
                                      <p:cBhvr additive="base">
                                        <p:cTn id="19" dur="500"/>
                                        <p:tgtEl>
                                          <p:spTgt spid="37786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7786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77861">
                                            <p:txEl>
                                              <p:pRg st="3" end="3"/>
                                            </p:txEl>
                                          </p:spTgt>
                                        </p:tgtEl>
                                        <p:attrNameLst>
                                          <p:attrName>style.visibility</p:attrName>
                                        </p:attrNameLst>
                                      </p:cBhvr>
                                      <p:to>
                                        <p:strVal val="visible"/>
                                      </p:to>
                                    </p:set>
                                    <p:anim calcmode="lin" valueType="num">
                                      <p:cBhvr additive="base">
                                        <p:cTn id="25" dur="500"/>
                                        <p:tgtEl>
                                          <p:spTgt spid="377861">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786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77861">
                                            <p:txEl>
                                              <p:pRg st="4" end="4"/>
                                            </p:txEl>
                                          </p:spTgt>
                                        </p:tgtEl>
                                        <p:attrNameLst>
                                          <p:attrName>style.visibility</p:attrName>
                                        </p:attrNameLst>
                                      </p:cBhvr>
                                      <p:to>
                                        <p:strVal val="visible"/>
                                      </p:to>
                                    </p:set>
                                    <p:anim calcmode="lin" valueType="num">
                                      <p:cBhvr additive="base">
                                        <p:cTn id="31" dur="500"/>
                                        <p:tgtEl>
                                          <p:spTgt spid="377861">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7786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77861">
                                            <p:txEl>
                                              <p:pRg st="5" end="5"/>
                                            </p:txEl>
                                          </p:spTgt>
                                        </p:tgtEl>
                                        <p:attrNameLst>
                                          <p:attrName>style.visibility</p:attrName>
                                        </p:attrNameLst>
                                      </p:cBhvr>
                                      <p:to>
                                        <p:strVal val="visible"/>
                                      </p:to>
                                    </p:set>
                                    <p:anim calcmode="lin" valueType="num">
                                      <p:cBhvr additive="base">
                                        <p:cTn id="37" dur="500"/>
                                        <p:tgtEl>
                                          <p:spTgt spid="377861">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77861">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77861">
                                            <p:txEl>
                                              <p:pRg st="6" end="6"/>
                                            </p:txEl>
                                          </p:spTgt>
                                        </p:tgtEl>
                                        <p:attrNameLst>
                                          <p:attrName>style.visibility</p:attrName>
                                        </p:attrNameLst>
                                      </p:cBhvr>
                                      <p:to>
                                        <p:strVal val="visible"/>
                                      </p:to>
                                    </p:set>
                                    <p:anim calcmode="lin" valueType="num">
                                      <p:cBhvr additive="base">
                                        <p:cTn id="43" dur="500"/>
                                        <p:tgtEl>
                                          <p:spTgt spid="377861">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7786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1" grpId="0" build="p" bldLvl="3"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190F-D350-76B2-197B-90BA8A119103}"/>
              </a:ext>
            </a:extLst>
          </p:cNvPr>
          <p:cNvSpPr>
            <a:spLocks noGrp="1"/>
          </p:cNvSpPr>
          <p:nvPr>
            <p:ph type="title"/>
          </p:nvPr>
        </p:nvSpPr>
        <p:spPr/>
        <p:txBody>
          <a:bodyPr/>
          <a:lstStyle/>
          <a:p>
            <a:r>
              <a:rPr lang="en-MY" dirty="0"/>
              <a:t>Summary</a:t>
            </a:r>
          </a:p>
        </p:txBody>
      </p:sp>
      <p:sp>
        <p:nvSpPr>
          <p:cNvPr id="3" name="Content Placeholder 2">
            <a:extLst>
              <a:ext uri="{FF2B5EF4-FFF2-40B4-BE49-F238E27FC236}">
                <a16:creationId xmlns:a16="http://schemas.microsoft.com/office/drawing/2014/main" id="{B7F0BD14-B665-034C-922D-DB31A9AD0FCA}"/>
              </a:ext>
            </a:extLst>
          </p:cNvPr>
          <p:cNvSpPr>
            <a:spLocks noGrp="1"/>
          </p:cNvSpPr>
          <p:nvPr>
            <p:ph idx="1"/>
          </p:nvPr>
        </p:nvSpPr>
        <p:spPr/>
        <p:txBody>
          <a:bodyPr/>
          <a:lstStyle/>
          <a:p>
            <a:pPr marL="342900" indent="-342900">
              <a:spcAft>
                <a:spcPts val="1200"/>
              </a:spcAft>
            </a:pPr>
            <a:r>
              <a:rPr lang="en-GB" dirty="0">
                <a:latin typeface="Calibri" panose="020F0502020204030204" pitchFamily="34" charset="0"/>
                <a:cs typeface="Calibri" panose="020F0502020204030204" pitchFamily="34" charset="0"/>
              </a:rPr>
              <a:t>The revenue curves of price takers look quite different to the revenue curves of price makers.</a:t>
            </a:r>
          </a:p>
          <a:p>
            <a:pPr marL="342900" indent="-342900">
              <a:spcAft>
                <a:spcPts val="1200"/>
              </a:spcAft>
            </a:pPr>
            <a:r>
              <a:rPr lang="en-GB" dirty="0">
                <a:latin typeface="Calibri" panose="020F0502020204030204" pitchFamily="34" charset="0"/>
                <a:cs typeface="Calibri" panose="020F0502020204030204" pitchFamily="34" charset="0"/>
              </a:rPr>
              <a:t>Profits are maximised where the difference between TR and TC is maximised or where MR = MC.</a:t>
            </a:r>
          </a:p>
          <a:p>
            <a:pPr marL="342900" indent="-342900">
              <a:spcAft>
                <a:spcPts val="1200"/>
              </a:spcAft>
            </a:pPr>
            <a:r>
              <a:rPr lang="en-GB" altLang="en-US" dirty="0">
                <a:latin typeface="Calibri" panose="020F0502020204030204" pitchFamily="34" charset="0"/>
                <a:cs typeface="Calibri" panose="020F0502020204030204" pitchFamily="34" charset="0"/>
              </a:rPr>
              <a:t>It may be that there is no output at which the firm can make a profit, in this case, the output where MR = MC will be the loss minimising output </a:t>
            </a:r>
          </a:p>
          <a:p>
            <a:pPr marL="342900" indent="-342900">
              <a:spcAft>
                <a:spcPts val="1200"/>
              </a:spcAft>
            </a:pPr>
            <a:r>
              <a:rPr lang="en-GB" altLang="en-US" dirty="0">
                <a:latin typeface="Calibri" panose="020F0502020204030204" pitchFamily="34" charset="0"/>
                <a:cs typeface="Calibri" panose="020F0502020204030204" pitchFamily="34" charset="0"/>
              </a:rPr>
              <a:t>In the short run, a firm will shut down if it cannot cover its variable costs. In the long run, a firm will close if it cannot cover its long-run average costs.</a:t>
            </a:r>
            <a:endParaRPr lang="en-GB" altLang="en-US" b="1" i="1" dirty="0">
              <a:latin typeface="Calibri" panose="020F0502020204030204" pitchFamily="34" charset="0"/>
              <a:cs typeface="Calibri" panose="020F0502020204030204" pitchFamily="34" charset="0"/>
            </a:endParaRPr>
          </a:p>
          <a:p>
            <a:endParaRPr lang="en-MY" dirty="0"/>
          </a:p>
        </p:txBody>
      </p:sp>
    </p:spTree>
    <p:extLst>
      <p:ext uri="{BB962C8B-B14F-4D97-AF65-F5344CB8AC3E}">
        <p14:creationId xmlns:p14="http://schemas.microsoft.com/office/powerpoint/2010/main" val="190162266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7B2099-E7CC-434D-9C82-BE12EDC62CEE}">
  <ds:schemaRefs>
    <ds:schemaRef ds:uri="4e318df0-612d-4dff-ad55-c2016fd214d1"/>
    <ds:schemaRef ds:uri="750e769a-c6ab-48a0-ac99-347a633d87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982C876A-3CFF-456F-9860-B4CE26D1D368}">
  <ds:schemaRefs>
    <ds:schemaRef ds:uri="4e318df0-612d-4dff-ad55-c2016fd214d1"/>
    <ds:schemaRef ds:uri="750e769a-c6ab-48a0-ac99-347a633d873e"/>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3.xml><?xml version="1.0" encoding="utf-8"?>
<ds:datastoreItem xmlns:ds="http://schemas.openxmlformats.org/officeDocument/2006/customXml" ds:itemID="{1ECF88A7-10E3-4B78-AAB4-E035B0995F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41</TotalTime>
  <Words>1900</Words>
  <Application>Microsoft Office PowerPoint</Application>
  <PresentationFormat>Widescreen</PresentationFormat>
  <Paragraphs>157</Paragraphs>
  <Slides>20</Slides>
  <Notes>11</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20</vt:i4>
      </vt:variant>
    </vt:vector>
  </HeadingPairs>
  <TitlesOfParts>
    <vt:vector size="30" baseType="lpstr">
      <vt:lpstr>Aptos</vt:lpstr>
      <vt:lpstr>Arial</vt:lpstr>
      <vt:lpstr>Calibri</vt:lpstr>
      <vt:lpstr>Helvetica</vt:lpstr>
      <vt:lpstr>Custom Design</vt:lpstr>
      <vt:lpstr>1_Custom Design</vt:lpstr>
      <vt:lpstr>1_Office Theme</vt:lpstr>
      <vt:lpstr>4_Custom Design</vt:lpstr>
      <vt:lpstr>5_Custom Design</vt:lpstr>
      <vt:lpstr>6_Custom Design</vt:lpstr>
      <vt:lpstr>C29PE Economics for Professionals</vt:lpstr>
      <vt:lpstr>PowerPoint Presentation</vt:lpstr>
      <vt:lpstr>References</vt:lpstr>
      <vt:lpstr>Revenue</vt:lpstr>
      <vt:lpstr>Revenue</vt:lpstr>
      <vt:lpstr>1. Revenue curves when firms are price takers</vt:lpstr>
      <vt:lpstr>Revenue – Price Takers</vt:lpstr>
      <vt:lpstr>2. Revenue curves when firms are price makers</vt:lpstr>
      <vt:lpstr>Revenue (Price Makers)</vt:lpstr>
      <vt:lpstr>Revenue – Price Makers</vt:lpstr>
      <vt:lpstr>Revenue – Price Makers</vt:lpstr>
      <vt:lpstr>Profit Maximisation</vt:lpstr>
      <vt:lpstr>Profit Maximisation</vt:lpstr>
      <vt:lpstr>Profit Maximisation</vt:lpstr>
      <vt:lpstr>Profit Maximisation</vt:lpstr>
      <vt:lpstr>Profit Maximisation</vt:lpstr>
      <vt:lpstr>Profit Maximisation</vt:lpstr>
      <vt:lpstr>Profit Maximisation</vt:lpstr>
      <vt:lpstr>Profit Maximisation – Whether to Produce at All</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Hui, Hon Chung</cp:lastModifiedBy>
  <cp:revision>5</cp:revision>
  <cp:lastPrinted>2024-03-27T09:31:09Z</cp:lastPrinted>
  <dcterms:created xsi:type="dcterms:W3CDTF">2024-03-26T13:44:16Z</dcterms:created>
  <dcterms:modified xsi:type="dcterms:W3CDTF">2025-08-29T01:44:13Z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