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4.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charts/chart8.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9.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0.xml" ContentType="application/vnd.openxmlformats-officedocument.drawingml.chart+xml"/>
  <Override PartName="/ppt/notesSlides/notesSlide28.xml" ContentType="application/vnd.openxmlformats-officedocument.presentationml.notesSlide+xml"/>
  <Override PartName="/ppt/charts/chart11.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2.xml" ContentType="application/vnd.openxmlformats-officedocument.drawingml.chart+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712" r:id="rId5"/>
    <p:sldMasterId id="2147483700" r:id="rId6"/>
    <p:sldMasterId id="2147483692" r:id="rId7"/>
    <p:sldMasterId id="2147483706" r:id="rId8"/>
    <p:sldMasterId id="2147483718" r:id="rId9"/>
  </p:sldMasterIdLst>
  <p:notesMasterIdLst>
    <p:notesMasterId r:id="rId56"/>
  </p:notesMasterIdLst>
  <p:sldIdLst>
    <p:sldId id="1019" r:id="rId10"/>
    <p:sldId id="1020" r:id="rId11"/>
    <p:sldId id="971" r:id="rId12"/>
    <p:sldId id="1022" r:id="rId13"/>
    <p:sldId id="399" r:id="rId14"/>
    <p:sldId id="630" r:id="rId15"/>
    <p:sldId id="1010" r:id="rId16"/>
    <p:sldId id="599" r:id="rId17"/>
    <p:sldId id="635" r:id="rId18"/>
    <p:sldId id="400" r:id="rId19"/>
    <p:sldId id="401" r:id="rId20"/>
    <p:sldId id="634" r:id="rId21"/>
    <p:sldId id="646" r:id="rId22"/>
    <p:sldId id="403" r:id="rId23"/>
    <p:sldId id="641" r:id="rId24"/>
    <p:sldId id="640" r:id="rId25"/>
    <p:sldId id="1023" r:id="rId26"/>
    <p:sldId id="1024" r:id="rId27"/>
    <p:sldId id="1025" r:id="rId28"/>
    <p:sldId id="444" r:id="rId29"/>
    <p:sldId id="1012" r:id="rId30"/>
    <p:sldId id="608" r:id="rId31"/>
    <p:sldId id="1027" r:id="rId32"/>
    <p:sldId id="1026" r:id="rId33"/>
    <p:sldId id="1029" r:id="rId34"/>
    <p:sldId id="1028" r:id="rId35"/>
    <p:sldId id="1030" r:id="rId36"/>
    <p:sldId id="429" r:id="rId37"/>
    <p:sldId id="969" r:id="rId38"/>
    <p:sldId id="970" r:id="rId39"/>
    <p:sldId id="457" r:id="rId40"/>
    <p:sldId id="964" r:id="rId41"/>
    <p:sldId id="534" r:id="rId42"/>
    <p:sldId id="466" r:id="rId43"/>
    <p:sldId id="467" r:id="rId44"/>
    <p:sldId id="447" r:id="rId45"/>
    <p:sldId id="434" r:id="rId46"/>
    <p:sldId id="1013" r:id="rId47"/>
    <p:sldId id="1014" r:id="rId48"/>
    <p:sldId id="972" r:id="rId49"/>
    <p:sldId id="1021" r:id="rId50"/>
    <p:sldId id="685" r:id="rId51"/>
    <p:sldId id="684" r:id="rId52"/>
    <p:sldId id="687" r:id="rId53"/>
    <p:sldId id="273" r:id="rId54"/>
    <p:sldId id="68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33"/>
    <a:srgbClr val="A8BF33"/>
    <a:srgbClr val="0096CE"/>
    <a:srgbClr val="003C22"/>
    <a:srgbClr val="51160F"/>
    <a:srgbClr val="38042E"/>
    <a:srgbClr val="E9822C"/>
    <a:srgbClr val="D497B8"/>
    <a:srgbClr val="E48539"/>
    <a:srgbClr val="ACD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heme" Target="theme/theme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presProps" Target="pres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hPercent val="62"/>
      <c:rotY val="20"/>
      <c:depthPercent val="100"/>
      <c:rAngAx val="1"/>
    </c:view3D>
    <c:floor>
      <c:thickness val="0"/>
      <c:spPr>
        <a:solidFill>
          <a:srgbClr val="C0C0C0"/>
        </a:solidFill>
        <a:ln w="3175">
          <a:solidFill>
            <a:schemeClr val="tx1"/>
          </a:solidFill>
          <a:prstDash val="solid"/>
        </a:ln>
      </c:spPr>
    </c:floor>
    <c:sideWall>
      <c:thickness val="0"/>
      <c:spPr>
        <a:noFill/>
        <a:ln w="25400">
          <a:noFill/>
        </a:ln>
      </c:spPr>
    </c:sideWall>
    <c:backWall>
      <c:thickness val="0"/>
      <c:spPr>
        <a:noFill/>
        <a:ln w="25400">
          <a:noFill/>
        </a:ln>
      </c:spPr>
    </c:backWall>
    <c:plotArea>
      <c:layout>
        <c:manualLayout>
          <c:layoutTarget val="inner"/>
          <c:xMode val="edge"/>
          <c:yMode val="edge"/>
          <c:x val="4.7846456692913389E-2"/>
          <c:y val="2.2353485310613392E-2"/>
          <c:w val="0.73444520997375329"/>
          <c:h val="0.80324543610547672"/>
        </c:manualLayout>
      </c:layout>
      <c:bar3DChart>
        <c:barDir val="col"/>
        <c:grouping val="clustered"/>
        <c:varyColors val="0"/>
        <c:ser>
          <c:idx val="0"/>
          <c:order val="0"/>
          <c:tx>
            <c:strRef>
              <c:f>Sheet1!$A$2</c:f>
              <c:strCache>
                <c:ptCount val="1"/>
                <c:pt idx="0">
                  <c:v>GDP per person employed</c:v>
                </c:pt>
              </c:strCache>
            </c:strRef>
          </c:tx>
          <c:spPr>
            <a:gradFill rotWithShape="0">
              <a:gsLst>
                <a:gs pos="0">
                  <a:srgbClr xmlns:mc="http://schemas.openxmlformats.org/markup-compatibility/2006" xmlns:a14="http://schemas.microsoft.com/office/drawing/2010/main" val="99CCFF" mc:Ignorable="a14" a14:legacySpreadsheetColorIndex="44"/>
                </a:gs>
                <a:gs pos="100000">
                  <a:srgbClr val="3E5366"/>
                </a:gs>
              </a:gsLst>
              <a:lin ang="0" scaled="1"/>
            </a:gradFill>
            <a:ln w="15098">
              <a:solidFill>
                <a:schemeClr val="tx1"/>
              </a:solidFill>
              <a:prstDash val="solid"/>
            </a:ln>
          </c:spPr>
          <c:invertIfNegative val="0"/>
          <c:cat>
            <c:strRef>
              <c:f>Sheet1!$B$1:$G$1</c:f>
              <c:strCache>
                <c:ptCount val="6"/>
                <c:pt idx="0">
                  <c:v>UK</c:v>
                </c:pt>
                <c:pt idx="1">
                  <c:v>Germany</c:v>
                </c:pt>
                <c:pt idx="2">
                  <c:v>France</c:v>
                </c:pt>
                <c:pt idx="3">
                  <c:v>USA</c:v>
                </c:pt>
                <c:pt idx="4">
                  <c:v>Japan</c:v>
                </c:pt>
                <c:pt idx="5">
                  <c:v>Eurozone</c:v>
                </c:pt>
              </c:strCache>
            </c:strRef>
          </c:cat>
          <c:val>
            <c:numRef>
              <c:f>Sheet1!$B$2:$G$2</c:f>
              <c:numCache>
                <c:formatCode>General</c:formatCode>
                <c:ptCount val="6"/>
                <c:pt idx="0">
                  <c:v>100</c:v>
                </c:pt>
                <c:pt idx="1">
                  <c:v>105.74473942861819</c:v>
                </c:pt>
                <c:pt idx="2">
                  <c:v>116.76995445056548</c:v>
                </c:pt>
                <c:pt idx="3">
                  <c:v>145.01227945404867</c:v>
                </c:pt>
                <c:pt idx="4">
                  <c:v>81.056768284643681</c:v>
                </c:pt>
                <c:pt idx="5">
                  <c:v>106.19462366772787</c:v>
                </c:pt>
              </c:numCache>
            </c:numRef>
          </c:val>
          <c:extLst>
            <c:ext xmlns:c16="http://schemas.microsoft.com/office/drawing/2014/chart" uri="{C3380CC4-5D6E-409C-BE32-E72D297353CC}">
              <c16:uniqueId val="{00000000-98C3-4D67-B64B-AD2D017DFC66}"/>
            </c:ext>
          </c:extLst>
        </c:ser>
        <c:ser>
          <c:idx val="1"/>
          <c:order val="1"/>
          <c:tx>
            <c:strRef>
              <c:f>Sheet1!$A$3</c:f>
              <c:strCache>
                <c:ptCount val="1"/>
                <c:pt idx="0">
                  <c:v>GDP per hour worked</c:v>
                </c:pt>
              </c:strCache>
            </c:strRef>
          </c:tx>
          <c:spPr>
            <a:gradFill rotWithShape="0">
              <a:gsLst>
                <a:gs pos="0">
                  <a:srgbClr xmlns:mc="http://schemas.openxmlformats.org/markup-compatibility/2006" xmlns:a14="http://schemas.microsoft.com/office/drawing/2010/main" val="FF99CC" mc:Ignorable="a14" a14:legacySpreadsheetColorIndex="45"/>
                </a:gs>
                <a:gs pos="100000">
                  <a:srgbClr val="684055"/>
                </a:gs>
              </a:gsLst>
              <a:lin ang="0" scaled="1"/>
            </a:gradFill>
            <a:ln w="15098">
              <a:solidFill>
                <a:schemeClr val="tx1"/>
              </a:solidFill>
              <a:prstDash val="solid"/>
            </a:ln>
          </c:spPr>
          <c:invertIfNegative val="0"/>
          <c:cat>
            <c:strRef>
              <c:f>Sheet1!$B$1:$G$1</c:f>
              <c:strCache>
                <c:ptCount val="6"/>
                <c:pt idx="0">
                  <c:v>UK</c:v>
                </c:pt>
                <c:pt idx="1">
                  <c:v>Germany</c:v>
                </c:pt>
                <c:pt idx="2">
                  <c:v>France</c:v>
                </c:pt>
                <c:pt idx="3">
                  <c:v>USA</c:v>
                </c:pt>
                <c:pt idx="4">
                  <c:v>Japan</c:v>
                </c:pt>
                <c:pt idx="5">
                  <c:v>Eurozone</c:v>
                </c:pt>
              </c:strCache>
            </c:strRef>
          </c:cat>
          <c:val>
            <c:numRef>
              <c:f>Sheet1!$B$3:$G$3</c:f>
              <c:numCache>
                <c:formatCode>General</c:formatCode>
                <c:ptCount val="6"/>
                <c:pt idx="0">
                  <c:v>100</c:v>
                </c:pt>
                <c:pt idx="1">
                  <c:v>109.16329142873798</c:v>
                </c:pt>
                <c:pt idx="2">
                  <c:v>113.42949863273408</c:v>
                </c:pt>
                <c:pt idx="3">
                  <c:v>113.34051051652381</c:v>
                </c:pt>
                <c:pt idx="4">
                  <c:v>71.087831339003046</c:v>
                </c:pt>
                <c:pt idx="5">
                  <c:v>98.553375338486688</c:v>
                </c:pt>
              </c:numCache>
            </c:numRef>
          </c:val>
          <c:extLst>
            <c:ext xmlns:c16="http://schemas.microsoft.com/office/drawing/2014/chart" uri="{C3380CC4-5D6E-409C-BE32-E72D297353CC}">
              <c16:uniqueId val="{00000001-98C3-4D67-B64B-AD2D017DFC66}"/>
            </c:ext>
          </c:extLst>
        </c:ser>
        <c:dLbls>
          <c:showLegendKey val="0"/>
          <c:showVal val="0"/>
          <c:showCatName val="0"/>
          <c:showSerName val="0"/>
          <c:showPercent val="0"/>
          <c:showBubbleSize val="0"/>
        </c:dLbls>
        <c:gapWidth val="150"/>
        <c:gapDepth val="0"/>
        <c:shape val="box"/>
        <c:axId val="237111808"/>
        <c:axId val="1"/>
        <c:axId val="0"/>
      </c:bar3DChart>
      <c:catAx>
        <c:axId val="237111808"/>
        <c:scaling>
          <c:orientation val="minMax"/>
        </c:scaling>
        <c:delete val="0"/>
        <c:axPos val="b"/>
        <c:numFmt formatCode="General" sourceLinked="1"/>
        <c:majorTickMark val="out"/>
        <c:minorTickMark val="none"/>
        <c:tickLblPos val="low"/>
        <c:spPr>
          <a:ln w="3774">
            <a:solidFill>
              <a:schemeClr val="tx1"/>
            </a:solidFill>
            <a:prstDash val="solid"/>
          </a:ln>
        </c:spPr>
        <c:txPr>
          <a:bodyPr rot="0" vert="horz"/>
          <a:lstStyle/>
          <a:p>
            <a:pPr>
              <a:defRPr sz="1753" b="0" i="0" u="none" strike="noStrike" baseline="0">
                <a:solidFill>
                  <a:schemeClr val="tx1"/>
                </a:solidFill>
                <a:latin typeface="Arial"/>
                <a:ea typeface="Arial"/>
                <a:cs typeface="Arial"/>
              </a:defRPr>
            </a:pPr>
            <a:endParaRPr lang="en-US"/>
          </a:p>
        </c:txPr>
        <c:crossAx val="1"/>
        <c:crosses val="autoZero"/>
        <c:auto val="1"/>
        <c:lblAlgn val="ctr"/>
        <c:lblOffset val="100"/>
        <c:tickLblSkip val="1"/>
        <c:tickMarkSkip val="1"/>
        <c:noMultiLvlLbl val="0"/>
      </c:catAx>
      <c:valAx>
        <c:axId val="1"/>
        <c:scaling>
          <c:orientation val="minMax"/>
          <c:max val="150"/>
          <c:min val="60"/>
        </c:scaling>
        <c:delete val="0"/>
        <c:axPos val="l"/>
        <c:majorGridlines>
          <c:spPr>
            <a:ln w="3774">
              <a:solidFill>
                <a:srgbClr val="C0C0C0"/>
              </a:solidFill>
              <a:prstDash val="solid"/>
            </a:ln>
          </c:spPr>
        </c:majorGridlines>
        <c:numFmt formatCode="General" sourceLinked="1"/>
        <c:majorTickMark val="out"/>
        <c:minorTickMark val="none"/>
        <c:tickLblPos val="nextTo"/>
        <c:spPr>
          <a:ln w="3774">
            <a:solidFill>
              <a:schemeClr val="tx1"/>
            </a:solidFill>
            <a:prstDash val="solid"/>
          </a:ln>
        </c:spPr>
        <c:txPr>
          <a:bodyPr rot="0" vert="horz"/>
          <a:lstStyle/>
          <a:p>
            <a:pPr>
              <a:defRPr sz="1753" b="0" i="0" u="none" strike="noStrike" baseline="0">
                <a:solidFill>
                  <a:schemeClr val="tx1"/>
                </a:solidFill>
                <a:latin typeface="Arial"/>
                <a:ea typeface="Arial"/>
                <a:cs typeface="Arial"/>
              </a:defRPr>
            </a:pPr>
            <a:endParaRPr lang="en-US"/>
          </a:p>
        </c:txPr>
        <c:crossAx val="237111808"/>
        <c:crosses val="autoZero"/>
        <c:crossBetween val="between"/>
      </c:valAx>
      <c:spPr>
        <a:noFill/>
        <a:ln w="30195">
          <a:noFill/>
        </a:ln>
      </c:spPr>
    </c:plotArea>
    <c:legend>
      <c:legendPos val="r"/>
      <c:legendEntry>
        <c:idx val="0"/>
        <c:txPr>
          <a:bodyPr/>
          <a:lstStyle/>
          <a:p>
            <a:pPr>
              <a:defRPr sz="1750" b="0" i="0" u="none" strike="noStrike" baseline="0">
                <a:solidFill>
                  <a:srgbClr val="2A57D6"/>
                </a:solidFill>
                <a:latin typeface="Arial"/>
                <a:ea typeface="Arial"/>
                <a:cs typeface="Arial"/>
              </a:defRPr>
            </a:pPr>
            <a:endParaRPr lang="en-US"/>
          </a:p>
        </c:txPr>
      </c:legendEntry>
      <c:legendEntry>
        <c:idx val="1"/>
        <c:txPr>
          <a:bodyPr/>
          <a:lstStyle/>
          <a:p>
            <a:pPr>
              <a:defRPr sz="1750" b="0" i="0" u="none" strike="noStrike" baseline="0">
                <a:solidFill>
                  <a:srgbClr val="993366"/>
                </a:solidFill>
                <a:latin typeface="Arial"/>
                <a:ea typeface="Arial"/>
                <a:cs typeface="Arial"/>
              </a:defRPr>
            </a:pPr>
            <a:endParaRPr lang="en-US"/>
          </a:p>
        </c:txPr>
      </c:legendEntry>
      <c:layout>
        <c:manualLayout>
          <c:xMode val="edge"/>
          <c:yMode val="edge"/>
          <c:x val="0.76898408792650919"/>
          <c:y val="0.63572862103956063"/>
          <c:w val="0.17009924540682414"/>
          <c:h val="0.23401170897626208"/>
        </c:manualLayout>
      </c:layout>
      <c:overlay val="0"/>
      <c:spPr>
        <a:solidFill>
          <a:srgbClr val="EFF0F7"/>
        </a:solidFill>
        <a:ln w="15098">
          <a:solidFill>
            <a:srgbClr val="800080"/>
          </a:solidFill>
          <a:prstDash val="solid"/>
        </a:ln>
      </c:spPr>
      <c:txPr>
        <a:bodyPr/>
        <a:lstStyle/>
        <a:p>
          <a:pPr>
            <a:defRPr sz="1750" b="0"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2140" b="1" i="0" u="none" strike="noStrike" baseline="0">
          <a:solidFill>
            <a:schemeClr val="tx1"/>
          </a:solidFill>
          <a:latin typeface="Arial"/>
          <a:ea typeface="Arial"/>
          <a:cs typeface="Arial"/>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6626194626435E-2"/>
          <c:y val="3.3464566929133861E-2"/>
          <c:w val="0.86311855102081703"/>
          <c:h val="0.87591769829861188"/>
        </c:manualLayout>
      </c:layout>
      <c:lineChart>
        <c:grouping val="standard"/>
        <c:varyColors val="0"/>
        <c:ser>
          <c:idx val="4"/>
          <c:order val="0"/>
          <c:tx>
            <c:strRef>
              <c:f>Sheet1!$A$2</c:f>
              <c:strCache>
                <c:ptCount val="1"/>
                <c:pt idx="0">
                  <c:v>UK</c:v>
                </c:pt>
              </c:strCache>
            </c:strRef>
          </c:tx>
          <c:spPr>
            <a:ln w="41275">
              <a:solidFill>
                <a:srgbClr val="FF0000"/>
              </a:solidFill>
              <a:prstDash val="solid"/>
            </a:ln>
          </c:spPr>
          <c:marker>
            <c:symbol val="none"/>
          </c:marker>
          <c:cat>
            <c:numRef>
              <c:f>Sheet1!$B$1:$AU$1</c:f>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f>Sheet1!$B$2:$AU$2</c:f>
              <c:numCache>
                <c:formatCode>General</c:formatCode>
                <c:ptCount val="40"/>
                <c:pt idx="0">
                  <c:v>39.11</c:v>
                </c:pt>
                <c:pt idx="1">
                  <c:v>41.468000000000004</c:v>
                </c:pt>
                <c:pt idx="2">
                  <c:v>40.942999999999998</c:v>
                </c:pt>
                <c:pt idx="3">
                  <c:v>40.180999999999997</c:v>
                </c:pt>
                <c:pt idx="4">
                  <c:v>40.344999999999999</c:v>
                </c:pt>
                <c:pt idx="5">
                  <c:v>39.473999999999997</c:v>
                </c:pt>
                <c:pt idx="6">
                  <c:v>38.274000000000001</c:v>
                </c:pt>
                <c:pt idx="7">
                  <c:v>36.478000000000002</c:v>
                </c:pt>
                <c:pt idx="8">
                  <c:v>34.222000000000001</c:v>
                </c:pt>
                <c:pt idx="9">
                  <c:v>33.639000000000003</c:v>
                </c:pt>
                <c:pt idx="10">
                  <c:v>34.956000000000003</c:v>
                </c:pt>
                <c:pt idx="11">
                  <c:v>35.74</c:v>
                </c:pt>
                <c:pt idx="12">
                  <c:v>37.814999999999998</c:v>
                </c:pt>
                <c:pt idx="13">
                  <c:v>37.78</c:v>
                </c:pt>
                <c:pt idx="14">
                  <c:v>37.448</c:v>
                </c:pt>
                <c:pt idx="15">
                  <c:v>37.557000000000002</c:v>
                </c:pt>
                <c:pt idx="16">
                  <c:v>35.566000000000003</c:v>
                </c:pt>
                <c:pt idx="17">
                  <c:v>34.777999999999999</c:v>
                </c:pt>
                <c:pt idx="18">
                  <c:v>34.362000000000002</c:v>
                </c:pt>
                <c:pt idx="19">
                  <c:v>33.933</c:v>
                </c:pt>
                <c:pt idx="20">
                  <c:v>33.988</c:v>
                </c:pt>
                <c:pt idx="21">
                  <c:v>34.720999999999997</c:v>
                </c:pt>
                <c:pt idx="22">
                  <c:v>35.853000000000002</c:v>
                </c:pt>
                <c:pt idx="23">
                  <c:v>37.06</c:v>
                </c:pt>
                <c:pt idx="24">
                  <c:v>37.901000000000003</c:v>
                </c:pt>
                <c:pt idx="25">
                  <c:v>38.369999999999997</c:v>
                </c:pt>
                <c:pt idx="26">
                  <c:v>38.223999999999997</c:v>
                </c:pt>
                <c:pt idx="27">
                  <c:v>38.368000000000002</c:v>
                </c:pt>
                <c:pt idx="28">
                  <c:v>40.749000000000002</c:v>
                </c:pt>
                <c:pt idx="29">
                  <c:v>44.353000000000002</c:v>
                </c:pt>
                <c:pt idx="30">
                  <c:v>44.600999999999999</c:v>
                </c:pt>
                <c:pt idx="31">
                  <c:v>43.392000000000003</c:v>
                </c:pt>
                <c:pt idx="32">
                  <c:v>43.478000000000002</c:v>
                </c:pt>
                <c:pt idx="33">
                  <c:v>41.701000000000001</c:v>
                </c:pt>
                <c:pt idx="34">
                  <c:v>40.908999999999999</c:v>
                </c:pt>
                <c:pt idx="35">
                  <c:v>39.993000000000002</c:v>
                </c:pt>
                <c:pt idx="36">
                  <c:v>39.174999999999997</c:v>
                </c:pt>
                <c:pt idx="37">
                  <c:v>38.783000000000001</c:v>
                </c:pt>
                <c:pt idx="38">
                  <c:v>38.439</c:v>
                </c:pt>
                <c:pt idx="39">
                  <c:v>38.247999999999998</c:v>
                </c:pt>
              </c:numCache>
            </c:numRef>
          </c:val>
          <c:smooth val="0"/>
          <c:extLst>
            <c:ext xmlns:c16="http://schemas.microsoft.com/office/drawing/2014/chart" uri="{C3380CC4-5D6E-409C-BE32-E72D297353CC}">
              <c16:uniqueId val="{00000000-EB01-4FD9-8985-A77D18B9EA25}"/>
            </c:ext>
          </c:extLst>
        </c:ser>
        <c:ser>
          <c:idx val="5"/>
          <c:order val="1"/>
          <c:tx>
            <c:strRef>
              <c:f>Sheet1!$A$3</c:f>
              <c:strCache>
                <c:ptCount val="1"/>
                <c:pt idx="0">
                  <c:v>Netherlands</c:v>
                </c:pt>
              </c:strCache>
            </c:strRef>
          </c:tx>
          <c:spPr>
            <a:ln w="41275">
              <a:solidFill>
                <a:srgbClr val="008000"/>
              </a:solidFill>
              <a:prstDash val="solid"/>
            </a:ln>
          </c:spPr>
          <c:marker>
            <c:symbol val="none"/>
          </c:marker>
          <c:cat>
            <c:numRef>
              <c:f>Sheet1!$B$1:$AU$1</c:f>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f>Sheet1!$B$3:$AU$3</c:f>
              <c:numCache>
                <c:formatCode>General</c:formatCode>
                <c:ptCount val="40"/>
                <c:pt idx="0">
                  <c:v>50.716999999999999</c:v>
                </c:pt>
                <c:pt idx="1">
                  <c:v>52.371000000000002</c:v>
                </c:pt>
                <c:pt idx="2">
                  <c:v>53.926000000000002</c:v>
                </c:pt>
                <c:pt idx="3">
                  <c:v>54.597000000000001</c:v>
                </c:pt>
                <c:pt idx="4">
                  <c:v>54.601999999999997</c:v>
                </c:pt>
                <c:pt idx="5">
                  <c:v>53.011000000000003</c:v>
                </c:pt>
                <c:pt idx="6">
                  <c:v>52.68</c:v>
                </c:pt>
                <c:pt idx="7">
                  <c:v>53.703000000000003</c:v>
                </c:pt>
                <c:pt idx="8">
                  <c:v>51.814999999999998</c:v>
                </c:pt>
                <c:pt idx="9">
                  <c:v>49.99</c:v>
                </c:pt>
                <c:pt idx="10">
                  <c:v>48.893999999999998</c:v>
                </c:pt>
                <c:pt idx="11">
                  <c:v>49.655999999999999</c:v>
                </c:pt>
                <c:pt idx="12">
                  <c:v>50.31</c:v>
                </c:pt>
                <c:pt idx="13">
                  <c:v>50.936999999999998</c:v>
                </c:pt>
                <c:pt idx="14">
                  <c:v>49.511000000000003</c:v>
                </c:pt>
                <c:pt idx="15">
                  <c:v>52.871000000000002</c:v>
                </c:pt>
                <c:pt idx="16">
                  <c:v>46.194000000000003</c:v>
                </c:pt>
                <c:pt idx="17">
                  <c:v>44.734999999999999</c:v>
                </c:pt>
                <c:pt idx="18">
                  <c:v>43.570999999999998</c:v>
                </c:pt>
                <c:pt idx="19">
                  <c:v>42.637999999999998</c:v>
                </c:pt>
                <c:pt idx="20">
                  <c:v>41.337000000000003</c:v>
                </c:pt>
                <c:pt idx="21">
                  <c:v>42.054000000000002</c:v>
                </c:pt>
                <c:pt idx="22">
                  <c:v>42.658000000000001</c:v>
                </c:pt>
                <c:pt idx="23">
                  <c:v>43.633000000000003</c:v>
                </c:pt>
                <c:pt idx="24">
                  <c:v>42.561</c:v>
                </c:pt>
                <c:pt idx="25">
                  <c:v>41.472999999999999</c:v>
                </c:pt>
                <c:pt idx="26">
                  <c:v>42.250999999999998</c:v>
                </c:pt>
                <c:pt idx="27">
                  <c:v>41.67</c:v>
                </c:pt>
                <c:pt idx="28">
                  <c:v>42.442</c:v>
                </c:pt>
                <c:pt idx="29">
                  <c:v>46.835999999999999</c:v>
                </c:pt>
                <c:pt idx="30">
                  <c:v>47.116</c:v>
                </c:pt>
                <c:pt idx="31">
                  <c:v>45.997999999999998</c:v>
                </c:pt>
                <c:pt idx="32">
                  <c:v>46.042999999999999</c:v>
                </c:pt>
                <c:pt idx="33">
                  <c:v>45.771999999999998</c:v>
                </c:pt>
                <c:pt idx="34">
                  <c:v>45.036000000000001</c:v>
                </c:pt>
                <c:pt idx="35">
                  <c:v>43.872999999999998</c:v>
                </c:pt>
                <c:pt idx="36">
                  <c:v>42.802</c:v>
                </c:pt>
                <c:pt idx="37">
                  <c:v>41.606000000000002</c:v>
                </c:pt>
                <c:pt idx="38">
                  <c:v>41.442</c:v>
                </c:pt>
                <c:pt idx="39">
                  <c:v>41.237000000000002</c:v>
                </c:pt>
              </c:numCache>
            </c:numRef>
          </c:val>
          <c:smooth val="0"/>
          <c:extLst>
            <c:ext xmlns:c16="http://schemas.microsoft.com/office/drawing/2014/chart" uri="{C3380CC4-5D6E-409C-BE32-E72D297353CC}">
              <c16:uniqueId val="{00000001-EB01-4FD9-8985-A77D18B9EA25}"/>
            </c:ext>
          </c:extLst>
        </c:ser>
        <c:ser>
          <c:idx val="0"/>
          <c:order val="4"/>
          <c:tx>
            <c:strRef>
              <c:f>Sheet1!$A$6</c:f>
              <c:strCache>
                <c:ptCount val="1"/>
                <c:pt idx="0">
                  <c:v>USA</c:v>
                </c:pt>
              </c:strCache>
            </c:strRef>
          </c:tx>
          <c:spPr>
            <a:ln w="41275">
              <a:solidFill>
                <a:srgbClr val="CC00CC"/>
              </a:solidFill>
              <a:prstDash val="solid"/>
            </a:ln>
          </c:spPr>
          <c:marker>
            <c:symbol val="none"/>
          </c:marker>
          <c:cat>
            <c:numRef>
              <c:f>Sheet1!$B$1:$AU$1</c:f>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f>Sheet1!$B$6:$AU$6</c:f>
              <c:numCache>
                <c:formatCode>General</c:formatCode>
                <c:ptCount val="40"/>
                <c:pt idx="0">
                  <c:v>35.403506499999999</c:v>
                </c:pt>
                <c:pt idx="1">
                  <c:v>35.598343499999999</c:v>
                </c:pt>
                <c:pt idx="2">
                  <c:v>37.848308899999999</c:v>
                </c:pt>
                <c:pt idx="3">
                  <c:v>37.922602099999999</c:v>
                </c:pt>
                <c:pt idx="4">
                  <c:v>36.728662</c:v>
                </c:pt>
                <c:pt idx="5">
                  <c:v>37.3243808</c:v>
                </c:pt>
                <c:pt idx="6">
                  <c:v>37.767559200000001</c:v>
                </c:pt>
                <c:pt idx="7">
                  <c:v>37.551882900000003</c:v>
                </c:pt>
                <c:pt idx="8">
                  <c:v>36.6917671</c:v>
                </c:pt>
                <c:pt idx="9">
                  <c:v>36.702203900000001</c:v>
                </c:pt>
                <c:pt idx="10">
                  <c:v>37.663927299999997</c:v>
                </c:pt>
                <c:pt idx="11">
                  <c:v>38.580308000000002</c:v>
                </c:pt>
                <c:pt idx="12">
                  <c:v>39.367919700000002</c:v>
                </c:pt>
                <c:pt idx="13">
                  <c:v>38.808290499999998</c:v>
                </c:pt>
                <c:pt idx="14">
                  <c:v>37.844805399999998</c:v>
                </c:pt>
                <c:pt idx="15">
                  <c:v>37.808829099999997</c:v>
                </c:pt>
                <c:pt idx="16">
                  <c:v>37.123628400000001</c:v>
                </c:pt>
                <c:pt idx="17">
                  <c:v>35.968252100000001</c:v>
                </c:pt>
                <c:pt idx="18">
                  <c:v>35.119496099999999</c:v>
                </c:pt>
                <c:pt idx="19">
                  <c:v>34.656777200000001</c:v>
                </c:pt>
                <c:pt idx="20">
                  <c:v>34.299116300000001</c:v>
                </c:pt>
                <c:pt idx="21">
                  <c:v>32.799999999999997</c:v>
                </c:pt>
                <c:pt idx="22">
                  <c:v>33.701999999999998</c:v>
                </c:pt>
                <c:pt idx="23">
                  <c:v>34.037999999999997</c:v>
                </c:pt>
                <c:pt idx="24">
                  <c:v>33.716000000000001</c:v>
                </c:pt>
                <c:pt idx="25">
                  <c:v>33.923999999999999</c:v>
                </c:pt>
                <c:pt idx="26">
                  <c:v>33.688000000000002</c:v>
                </c:pt>
                <c:pt idx="27">
                  <c:v>34.558</c:v>
                </c:pt>
                <c:pt idx="28">
                  <c:v>37.142000000000003</c:v>
                </c:pt>
                <c:pt idx="29">
                  <c:v>41.398000000000003</c:v>
                </c:pt>
                <c:pt idx="30">
                  <c:v>39.759</c:v>
                </c:pt>
                <c:pt idx="31">
                  <c:v>38.787999999999997</c:v>
                </c:pt>
                <c:pt idx="32">
                  <c:v>37.213999999999999</c:v>
                </c:pt>
                <c:pt idx="33">
                  <c:v>35.843000000000004</c:v>
                </c:pt>
                <c:pt idx="34">
                  <c:v>35.433</c:v>
                </c:pt>
                <c:pt idx="35">
                  <c:v>35.204999999999998</c:v>
                </c:pt>
                <c:pt idx="36">
                  <c:v>35.585000000000001</c:v>
                </c:pt>
                <c:pt idx="37">
                  <c:v>35.460999999999999</c:v>
                </c:pt>
                <c:pt idx="38">
                  <c:v>35.575000000000003</c:v>
                </c:pt>
                <c:pt idx="39">
                  <c:v>35.808</c:v>
                </c:pt>
              </c:numCache>
            </c:numRef>
          </c:val>
          <c:smooth val="0"/>
          <c:extLst>
            <c:ext xmlns:c16="http://schemas.microsoft.com/office/drawing/2014/chart" uri="{C3380CC4-5D6E-409C-BE32-E72D297353CC}">
              <c16:uniqueId val="{00000004-EB01-4FD9-8985-A77D18B9EA25}"/>
            </c:ext>
          </c:extLst>
        </c:ser>
        <c:dLbls>
          <c:showLegendKey val="0"/>
          <c:showVal val="0"/>
          <c:showCatName val="0"/>
          <c:showSerName val="0"/>
          <c:showPercent val="0"/>
          <c:showBubbleSize val="0"/>
        </c:dLbls>
        <c:smooth val="0"/>
        <c:axId val="207739584"/>
        <c:axId val="1"/>
        <c:extLst>
          <c:ext xmlns:c15="http://schemas.microsoft.com/office/drawing/2012/chart" uri="{02D57815-91ED-43cb-92C2-25804820EDAC}">
            <c15:filteredLineSeries>
              <c15:ser>
                <c:idx val="6"/>
                <c:order val="2"/>
                <c:tx>
                  <c:strRef>
                    <c:extLst>
                      <c:ext uri="{02D57815-91ED-43cb-92C2-25804820EDAC}">
                        <c15:formulaRef>
                          <c15:sqref>Sheet1!$A$4</c15:sqref>
                        </c15:formulaRef>
                      </c:ext>
                    </c:extLst>
                    <c:strCache>
                      <c:ptCount val="1"/>
                      <c:pt idx="0">
                        <c:v>France</c:v>
                      </c:pt>
                    </c:strCache>
                  </c:strRef>
                </c:tx>
                <c:spPr>
                  <a:ln w="41275">
                    <a:solidFill>
                      <a:srgbClr val="0000FF"/>
                    </a:solidFill>
                    <a:prstDash val="solid"/>
                  </a:ln>
                </c:spPr>
                <c:marker>
                  <c:symbol val="none"/>
                </c:marker>
                <c:cat>
                  <c:numRef>
                    <c:extLst>
                      <c:ext uri="{02D57815-91ED-43cb-92C2-25804820EDAC}">
                        <c15:formulaRef>
                          <c15:sqref>Sheet1!$B$1:$AU$1</c15:sqref>
                        </c15:formulaRef>
                      </c:ext>
                    </c:extLst>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extLst>
                      <c:ext uri="{02D57815-91ED-43cb-92C2-25804820EDAC}">
                        <c15:formulaRef>
                          <c15:sqref>Sheet1!$B$4:$AU$4</c15:sqref>
                        </c15:formulaRef>
                      </c:ext>
                    </c:extLst>
                    <c:numCache>
                      <c:formatCode>General</c:formatCode>
                      <c:ptCount val="40"/>
                      <c:pt idx="0">
                        <c:v>46.405000000000001</c:v>
                      </c:pt>
                      <c:pt idx="1">
                        <c:v>48.957000000000001</c:v>
                      </c:pt>
                      <c:pt idx="2">
                        <c:v>50.237000000000002</c:v>
                      </c:pt>
                      <c:pt idx="3">
                        <c:v>50.744</c:v>
                      </c:pt>
                      <c:pt idx="4">
                        <c:v>51.673999999999999</c:v>
                      </c:pt>
                      <c:pt idx="5">
                        <c:v>52.311999999999998</c:v>
                      </c:pt>
                      <c:pt idx="6">
                        <c:v>51.901000000000003</c:v>
                      </c:pt>
                      <c:pt idx="7">
                        <c:v>51.319000000000003</c:v>
                      </c:pt>
                      <c:pt idx="8">
                        <c:v>50.643999999999998</c:v>
                      </c:pt>
                      <c:pt idx="9">
                        <c:v>49.472999999999999</c:v>
                      </c:pt>
                      <c:pt idx="10">
                        <c:v>50.131999999999998</c:v>
                      </c:pt>
                      <c:pt idx="11">
                        <c:v>51.271999999999998</c:v>
                      </c:pt>
                      <c:pt idx="12">
                        <c:v>52.591000000000001</c:v>
                      </c:pt>
                      <c:pt idx="13">
                        <c:v>55.204000000000001</c:v>
                      </c:pt>
                      <c:pt idx="14">
                        <c:v>54.625</c:v>
                      </c:pt>
                      <c:pt idx="15">
                        <c:v>54.808999999999997</c:v>
                      </c:pt>
                      <c:pt idx="16">
                        <c:v>54.881</c:v>
                      </c:pt>
                      <c:pt idx="17">
                        <c:v>54.530999999999999</c:v>
                      </c:pt>
                      <c:pt idx="18">
                        <c:v>52.923999999999999</c:v>
                      </c:pt>
                      <c:pt idx="19">
                        <c:v>52.63</c:v>
                      </c:pt>
                      <c:pt idx="20">
                        <c:v>51.652000000000001</c:v>
                      </c:pt>
                      <c:pt idx="21">
                        <c:v>51.718000000000004</c:v>
                      </c:pt>
                      <c:pt idx="22">
                        <c:v>52.795000000000002</c:v>
                      </c:pt>
                      <c:pt idx="23">
                        <c:v>53.271000000000001</c:v>
                      </c:pt>
                      <c:pt idx="24">
                        <c:v>52.984999999999999</c:v>
                      </c:pt>
                      <c:pt idx="25">
                        <c:v>53.293999999999997</c:v>
                      </c:pt>
                      <c:pt idx="26">
                        <c:v>52.875999999999998</c:v>
                      </c:pt>
                      <c:pt idx="27">
                        <c:v>52.566000000000003</c:v>
                      </c:pt>
                      <c:pt idx="28">
                        <c:v>53.295999999999999</c:v>
                      </c:pt>
                      <c:pt idx="29">
                        <c:v>57.152000000000001</c:v>
                      </c:pt>
                      <c:pt idx="30">
                        <c:v>56.881999999999998</c:v>
                      </c:pt>
                      <c:pt idx="31">
                        <c:v>56.290999999999997</c:v>
                      </c:pt>
                      <c:pt idx="32">
                        <c:v>57.106999999999999</c:v>
                      </c:pt>
                      <c:pt idx="33">
                        <c:v>57.228000000000002</c:v>
                      </c:pt>
                      <c:pt idx="34">
                        <c:v>57.213999999999999</c:v>
                      </c:pt>
                      <c:pt idx="35">
                        <c:v>56.798000000000002</c:v>
                      </c:pt>
                      <c:pt idx="36">
                        <c:v>56.686</c:v>
                      </c:pt>
                      <c:pt idx="37">
                        <c:v>56.503</c:v>
                      </c:pt>
                      <c:pt idx="38">
                        <c:v>55.645000000000003</c:v>
                      </c:pt>
                      <c:pt idx="39">
                        <c:v>55.332000000000001</c:v>
                      </c:pt>
                    </c:numCache>
                  </c:numRef>
                </c:val>
                <c:smooth val="0"/>
                <c:extLst>
                  <c:ext xmlns:c16="http://schemas.microsoft.com/office/drawing/2014/chart" uri="{C3380CC4-5D6E-409C-BE32-E72D297353CC}">
                    <c16:uniqueId val="{00000002-EB01-4FD9-8985-A77D18B9EA25}"/>
                  </c:ext>
                </c:extLst>
              </c15:ser>
            </c15:filteredLineSeries>
            <c15:filteredLineSeries>
              <c15:ser>
                <c:idx val="7"/>
                <c:order val="3"/>
                <c:tx>
                  <c:strRef>
                    <c:extLst xmlns:c15="http://schemas.microsoft.com/office/drawing/2012/chart">
                      <c:ext xmlns:c15="http://schemas.microsoft.com/office/drawing/2012/chart" uri="{02D57815-91ED-43cb-92C2-25804820EDAC}">
                        <c15:formulaRef>
                          <c15:sqref>Sheet1!$A$5</c15:sqref>
                        </c15:formulaRef>
                      </c:ext>
                    </c:extLst>
                    <c:strCache>
                      <c:ptCount val="1"/>
                      <c:pt idx="0">
                        <c:v>Japan</c:v>
                      </c:pt>
                    </c:strCache>
                  </c:strRef>
                </c:tx>
                <c:spPr>
                  <a:ln w="41275">
                    <a:solidFill>
                      <a:srgbClr val="FF9900"/>
                    </a:solidFill>
                    <a:prstDash val="solid"/>
                  </a:ln>
                </c:spPr>
                <c:marker>
                  <c:symbol val="none"/>
                </c:marker>
                <c:cat>
                  <c:numRef>
                    <c:extLst xmlns:c15="http://schemas.microsoft.com/office/drawing/2012/chart">
                      <c:ext xmlns:c15="http://schemas.microsoft.com/office/drawing/2012/chart" uri="{02D57815-91ED-43cb-92C2-25804820EDAC}">
                        <c15:formulaRef>
                          <c15:sqref>Sheet1!$B$1:$AU$1</c15:sqref>
                        </c15:formulaRef>
                      </c:ext>
                    </c:extLst>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extLst xmlns:c15="http://schemas.microsoft.com/office/drawing/2012/chart">
                      <c:ext xmlns:c15="http://schemas.microsoft.com/office/drawing/2012/chart" uri="{02D57815-91ED-43cb-92C2-25804820EDAC}">
                        <c15:formulaRef>
                          <c15:sqref>Sheet1!$B$5:$AU$5</c15:sqref>
                        </c15:formulaRef>
                      </c:ext>
                    </c:extLst>
                    <c:numCache>
                      <c:formatCode>General</c:formatCode>
                      <c:ptCount val="40"/>
                      <c:pt idx="0">
                        <c:v>30.78</c:v>
                      </c:pt>
                      <c:pt idx="1">
                        <c:v>31.545999999999999</c:v>
                      </c:pt>
                      <c:pt idx="2">
                        <c:v>31.762</c:v>
                      </c:pt>
                      <c:pt idx="3">
                        <c:v>31.896000000000001</c:v>
                      </c:pt>
                      <c:pt idx="4">
                        <c:v>31.215</c:v>
                      </c:pt>
                      <c:pt idx="5">
                        <c:v>30.398</c:v>
                      </c:pt>
                      <c:pt idx="6">
                        <c:v>30.38</c:v>
                      </c:pt>
                      <c:pt idx="7">
                        <c:v>30.597000000000001</c:v>
                      </c:pt>
                      <c:pt idx="8">
                        <c:v>29.814</c:v>
                      </c:pt>
                      <c:pt idx="9">
                        <c:v>29.117999999999999</c:v>
                      </c:pt>
                      <c:pt idx="10">
                        <c:v>29.361000000000001</c:v>
                      </c:pt>
                      <c:pt idx="11">
                        <c:v>29.224</c:v>
                      </c:pt>
                      <c:pt idx="12">
                        <c:v>30.234999999999999</c:v>
                      </c:pt>
                      <c:pt idx="13">
                        <c:v>32.082000000000001</c:v>
                      </c:pt>
                      <c:pt idx="14">
                        <c:v>32.783999999999999</c:v>
                      </c:pt>
                      <c:pt idx="15">
                        <c:v>33.404000000000003</c:v>
                      </c:pt>
                      <c:pt idx="16">
                        <c:v>33.808999999999997</c:v>
                      </c:pt>
                      <c:pt idx="17">
                        <c:v>33.081000000000003</c:v>
                      </c:pt>
                      <c:pt idx="18">
                        <c:v>38.633000000000003</c:v>
                      </c:pt>
                      <c:pt idx="19">
                        <c:v>35.567</c:v>
                      </c:pt>
                      <c:pt idx="20">
                        <c:v>35.951000000000001</c:v>
                      </c:pt>
                      <c:pt idx="21">
                        <c:v>35.194000000000003</c:v>
                      </c:pt>
                      <c:pt idx="22">
                        <c:v>35.392000000000003</c:v>
                      </c:pt>
                      <c:pt idx="23">
                        <c:v>35.037999999999997</c:v>
                      </c:pt>
                      <c:pt idx="24">
                        <c:v>33.677999999999997</c:v>
                      </c:pt>
                      <c:pt idx="25">
                        <c:v>33.520000000000003</c:v>
                      </c:pt>
                      <c:pt idx="26">
                        <c:v>33.057000000000002</c:v>
                      </c:pt>
                      <c:pt idx="27">
                        <c:v>33.122999999999998</c:v>
                      </c:pt>
                      <c:pt idx="28">
                        <c:v>34.106999999999999</c:v>
                      </c:pt>
                      <c:pt idx="29">
                        <c:v>38.686</c:v>
                      </c:pt>
                      <c:pt idx="30">
                        <c:v>37.744999999999997</c:v>
                      </c:pt>
                      <c:pt idx="31">
                        <c:v>38.627000000000002</c:v>
                      </c:pt>
                      <c:pt idx="32">
                        <c:v>38.637999999999998</c:v>
                      </c:pt>
                      <c:pt idx="33">
                        <c:v>38.777999999999999</c:v>
                      </c:pt>
                      <c:pt idx="34">
                        <c:v>38.389000000000003</c:v>
                      </c:pt>
                      <c:pt idx="35">
                        <c:v>37.295000000000002</c:v>
                      </c:pt>
                      <c:pt idx="36">
                        <c:v>37.228999999999999</c:v>
                      </c:pt>
                      <c:pt idx="37">
                        <c:v>36.686</c:v>
                      </c:pt>
                      <c:pt idx="38">
                        <c:v>36.76</c:v>
                      </c:pt>
                      <c:pt idx="39">
                        <c:v>37.244</c:v>
                      </c:pt>
                    </c:numCache>
                  </c:numRef>
                </c:val>
                <c:smooth val="0"/>
                <c:extLst xmlns:c15="http://schemas.microsoft.com/office/drawing/2012/chart">
                  <c:ext xmlns:c16="http://schemas.microsoft.com/office/drawing/2014/chart" uri="{C3380CC4-5D6E-409C-BE32-E72D297353CC}">
                    <c16:uniqueId val="{00000003-EB01-4FD9-8985-A77D18B9EA25}"/>
                  </c:ext>
                </c:extLst>
              </c15:ser>
            </c15:filteredLineSeries>
            <c15:filteredLineSeries>
              <c15:ser>
                <c:idx val="1"/>
                <c:order val="5"/>
                <c:tx>
                  <c:strRef>
                    <c:extLst xmlns:c15="http://schemas.microsoft.com/office/drawing/2012/chart">
                      <c:ext xmlns:c15="http://schemas.microsoft.com/office/drawing/2012/chart" uri="{02D57815-91ED-43cb-92C2-25804820EDAC}">
                        <c15:formulaRef>
                          <c15:sqref>Sheet1!$A$7</c15:sqref>
                        </c15:formulaRef>
                      </c:ext>
                    </c:extLst>
                    <c:strCache>
                      <c:ptCount val="1"/>
                      <c:pt idx="0">
                        <c:v>Spain</c:v>
                      </c:pt>
                    </c:strCache>
                  </c:strRef>
                </c:tx>
                <c:spPr>
                  <a:ln w="41275">
                    <a:solidFill>
                      <a:srgbClr val="993300"/>
                    </a:solidFill>
                    <a:prstDash val="solid"/>
                  </a:ln>
                </c:spPr>
                <c:marker>
                  <c:symbol val="none"/>
                </c:marker>
                <c:cat>
                  <c:numRef>
                    <c:extLst xmlns:c15="http://schemas.microsoft.com/office/drawing/2012/chart">
                      <c:ext xmlns:c15="http://schemas.microsoft.com/office/drawing/2012/chart" uri="{02D57815-91ED-43cb-92C2-25804820EDAC}">
                        <c15:formulaRef>
                          <c15:sqref>Sheet1!$B$1:$AU$1</c15:sqref>
                        </c15:formulaRef>
                      </c:ext>
                    </c:extLst>
                    <c:numCache>
                      <c:formatCode>General</c:formatCode>
                      <c:ptCount val="40"/>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numCache>
                  </c:numRef>
                </c:cat>
                <c:val>
                  <c:numRef>
                    <c:extLst xmlns:c15="http://schemas.microsoft.com/office/drawing/2012/chart">
                      <c:ext xmlns:c15="http://schemas.microsoft.com/office/drawing/2012/chart" uri="{02D57815-91ED-43cb-92C2-25804820EDAC}">
                        <c15:formulaRef>
                          <c15:sqref>Sheet1!$B$7:$AU$7</c15:sqref>
                        </c15:formulaRef>
                      </c:ext>
                    </c:extLst>
                    <c:numCache>
                      <c:formatCode>General</c:formatCode>
                      <c:ptCount val="40"/>
                      <c:pt idx="0">
                        <c:v>31.077000000000002</c:v>
                      </c:pt>
                      <c:pt idx="1">
                        <c:v>32.246000000000002</c:v>
                      </c:pt>
                      <c:pt idx="2">
                        <c:v>35.875999999999998</c:v>
                      </c:pt>
                      <c:pt idx="3">
                        <c:v>36.956000000000003</c:v>
                      </c:pt>
                      <c:pt idx="4">
                        <c:v>37.771999999999998</c:v>
                      </c:pt>
                      <c:pt idx="5">
                        <c:v>40.953000000000003</c:v>
                      </c:pt>
                      <c:pt idx="6">
                        <c:v>40.729999999999997</c:v>
                      </c:pt>
                      <c:pt idx="7">
                        <c:v>39.655000000000001</c:v>
                      </c:pt>
                      <c:pt idx="8">
                        <c:v>39.838999999999999</c:v>
                      </c:pt>
                      <c:pt idx="9">
                        <c:v>41.277999999999999</c:v>
                      </c:pt>
                      <c:pt idx="10">
                        <c:v>42.277000000000001</c:v>
                      </c:pt>
                      <c:pt idx="11">
                        <c:v>43.853000000000002</c:v>
                      </c:pt>
                      <c:pt idx="12">
                        <c:v>45.142000000000003</c:v>
                      </c:pt>
                      <c:pt idx="13">
                        <c:v>47.624000000000002</c:v>
                      </c:pt>
                      <c:pt idx="14">
                        <c:v>46.137999999999998</c:v>
                      </c:pt>
                      <c:pt idx="15">
                        <c:v>45.42</c:v>
                      </c:pt>
                      <c:pt idx="16">
                        <c:v>44.237000000000002</c:v>
                      </c:pt>
                      <c:pt idx="17">
                        <c:v>42.734000000000002</c:v>
                      </c:pt>
                      <c:pt idx="18">
                        <c:v>42.198999999999998</c:v>
                      </c:pt>
                      <c:pt idx="19">
                        <c:v>41.012999999999998</c:v>
                      </c:pt>
                      <c:pt idx="20">
                        <c:v>39.106999999999999</c:v>
                      </c:pt>
                      <c:pt idx="21">
                        <c:v>38.412999999999997</c:v>
                      </c:pt>
                      <c:pt idx="22">
                        <c:v>38.637</c:v>
                      </c:pt>
                      <c:pt idx="23">
                        <c:v>38.375</c:v>
                      </c:pt>
                      <c:pt idx="24">
                        <c:v>38.817999999999998</c:v>
                      </c:pt>
                      <c:pt idx="25">
                        <c:v>38.481000000000002</c:v>
                      </c:pt>
                      <c:pt idx="26">
                        <c:v>38.436</c:v>
                      </c:pt>
                      <c:pt idx="27">
                        <c:v>39.255000000000003</c:v>
                      </c:pt>
                      <c:pt idx="28">
                        <c:v>41.442999999999998</c:v>
                      </c:pt>
                      <c:pt idx="29">
                        <c:v>46.231000000000002</c:v>
                      </c:pt>
                      <c:pt idx="30">
                        <c:v>46.033999999999999</c:v>
                      </c:pt>
                      <c:pt idx="31">
                        <c:v>46.155000000000001</c:v>
                      </c:pt>
                      <c:pt idx="32">
                        <c:v>48.655999999999999</c:v>
                      </c:pt>
                      <c:pt idx="33">
                        <c:v>45.832000000000001</c:v>
                      </c:pt>
                      <c:pt idx="34">
                        <c:v>45.113999999999997</c:v>
                      </c:pt>
                      <c:pt idx="35">
                        <c:v>43.890999999999998</c:v>
                      </c:pt>
                      <c:pt idx="36">
                        <c:v>42.442</c:v>
                      </c:pt>
                      <c:pt idx="37">
                        <c:v>41.21</c:v>
                      </c:pt>
                      <c:pt idx="38">
                        <c:v>41.701000000000001</c:v>
                      </c:pt>
                      <c:pt idx="39">
                        <c:v>42.112000000000002</c:v>
                      </c:pt>
                    </c:numCache>
                  </c:numRef>
                </c:val>
                <c:smooth val="0"/>
                <c:extLst xmlns:c15="http://schemas.microsoft.com/office/drawing/2012/chart">
                  <c:ext xmlns:c16="http://schemas.microsoft.com/office/drawing/2014/chart" uri="{C3380CC4-5D6E-409C-BE32-E72D297353CC}">
                    <c16:uniqueId val="{00000005-EB01-4FD9-8985-A77D18B9EA25}"/>
                  </c:ext>
                </c:extLst>
              </c15:ser>
            </c15:filteredLineSeries>
          </c:ext>
        </c:extLst>
      </c:lineChart>
      <c:catAx>
        <c:axId val="207739584"/>
        <c:scaling>
          <c:orientation val="minMax"/>
        </c:scaling>
        <c:delete val="0"/>
        <c:axPos val="b"/>
        <c:numFmt formatCode="General" sourceLinked="1"/>
        <c:majorTickMark val="out"/>
        <c:minorTickMark val="none"/>
        <c:tickLblPos val="nextTo"/>
        <c:spPr>
          <a:ln w="15875">
            <a:solidFill>
              <a:schemeClr val="tx1"/>
            </a:solidFill>
            <a:prstDash val="solid"/>
          </a:ln>
        </c:spPr>
        <c:txPr>
          <a:bodyPr rot="0" vert="horz"/>
          <a:lstStyle/>
          <a:p>
            <a:pPr>
              <a:defRPr sz="1802" b="0" i="0" u="none" strike="noStrike" baseline="0">
                <a:solidFill>
                  <a:schemeClr val="tx1"/>
                </a:solidFill>
                <a:latin typeface="Arial"/>
                <a:ea typeface="Arial"/>
                <a:cs typeface="Arial"/>
              </a:defRPr>
            </a:pPr>
            <a:endParaRPr lang="en-US"/>
          </a:p>
        </c:txPr>
        <c:crossAx val="1"/>
        <c:crossesAt val="0"/>
        <c:auto val="0"/>
        <c:lblAlgn val="ctr"/>
        <c:lblOffset val="100"/>
        <c:tickLblSkip val="5"/>
        <c:tickMarkSkip val="1"/>
        <c:noMultiLvlLbl val="0"/>
      </c:catAx>
      <c:valAx>
        <c:axId val="1"/>
        <c:scaling>
          <c:orientation val="minMax"/>
          <c:max val="65"/>
          <c:min val="25"/>
        </c:scaling>
        <c:delete val="0"/>
        <c:axPos val="l"/>
        <c:majorGridlines/>
        <c:title>
          <c:tx>
            <c:rich>
              <a:bodyPr/>
              <a:lstStyle/>
              <a:p>
                <a:pPr>
                  <a:defRPr sz="1802" b="0" i="0" u="none" strike="noStrike" baseline="0">
                    <a:solidFill>
                      <a:schemeClr val="tx1"/>
                    </a:solidFill>
                    <a:latin typeface="Arial"/>
                    <a:ea typeface="Arial"/>
                    <a:cs typeface="Arial"/>
                  </a:defRPr>
                </a:pPr>
                <a:r>
                  <a:rPr lang="en-GB"/>
                  <a:t>% of GDP</a:t>
                </a:r>
              </a:p>
            </c:rich>
          </c:tx>
          <c:layout>
            <c:manualLayout>
              <c:xMode val="edge"/>
              <c:yMode val="edge"/>
              <c:x val="1.9322506561679789E-2"/>
              <c:y val="0.37922083717736915"/>
            </c:manualLayout>
          </c:layout>
          <c:overlay val="0"/>
          <c:spPr>
            <a:noFill/>
            <a:ln w="30513">
              <a:noFill/>
            </a:ln>
          </c:spPr>
        </c:title>
        <c:numFmt formatCode="0" sourceLinked="0"/>
        <c:majorTickMark val="out"/>
        <c:minorTickMark val="none"/>
        <c:tickLblPos val="nextTo"/>
        <c:spPr>
          <a:ln w="15875">
            <a:solidFill>
              <a:schemeClr val="tx1"/>
            </a:solidFill>
            <a:prstDash val="solid"/>
          </a:ln>
        </c:spPr>
        <c:txPr>
          <a:bodyPr rot="0" vert="horz"/>
          <a:lstStyle/>
          <a:p>
            <a:pPr>
              <a:defRPr sz="1802" b="0" i="0" u="none" strike="noStrike" baseline="0">
                <a:solidFill>
                  <a:schemeClr val="tx1"/>
                </a:solidFill>
                <a:latin typeface="Arial"/>
                <a:ea typeface="Arial"/>
                <a:cs typeface="Arial"/>
              </a:defRPr>
            </a:pPr>
            <a:endParaRPr lang="en-US"/>
          </a:p>
        </c:txPr>
        <c:crossAx val="207739584"/>
        <c:crosses val="autoZero"/>
        <c:crossBetween val="midCat"/>
        <c:majorUnit val="5"/>
      </c:valAx>
      <c:spPr>
        <a:solidFill>
          <a:schemeClr val="bg1"/>
        </a:solidFill>
        <a:ln w="12700">
          <a:solidFill>
            <a:schemeClr val="bg1">
              <a:lumMod val="65000"/>
            </a:schemeClr>
          </a:solidFill>
        </a:ln>
      </c:spPr>
    </c:plotArea>
    <c:legend>
      <c:legendPos val="r"/>
      <c:legendEntry>
        <c:idx val="0"/>
        <c:txPr>
          <a:bodyPr/>
          <a:lstStyle/>
          <a:p>
            <a:pPr>
              <a:defRPr sz="1800" b="0" i="0" u="none" strike="noStrike" baseline="0">
                <a:solidFill>
                  <a:srgbClr val="FF0000"/>
                </a:solidFill>
                <a:latin typeface="Arial"/>
                <a:ea typeface="Arial"/>
                <a:cs typeface="Arial"/>
              </a:defRPr>
            </a:pPr>
            <a:endParaRPr lang="en-US"/>
          </a:p>
        </c:txPr>
      </c:legendEntry>
      <c:legendEntry>
        <c:idx val="1"/>
        <c:txPr>
          <a:bodyPr/>
          <a:lstStyle/>
          <a:p>
            <a:pPr>
              <a:defRPr sz="1800" b="0" i="0" u="none" strike="noStrike" baseline="0">
                <a:solidFill>
                  <a:srgbClr val="008000"/>
                </a:solidFill>
                <a:latin typeface="Arial"/>
                <a:ea typeface="Arial"/>
                <a:cs typeface="Arial"/>
              </a:defRPr>
            </a:pPr>
            <a:endParaRPr lang="en-US"/>
          </a:p>
        </c:txPr>
      </c:legendEntry>
      <c:legendEntry>
        <c:idx val="2"/>
        <c:txPr>
          <a:bodyPr/>
          <a:lstStyle/>
          <a:p>
            <a:pPr>
              <a:defRPr sz="1800" b="0" i="0" u="none" strike="noStrike" baseline="0">
                <a:solidFill>
                  <a:srgbClr val="0000FF"/>
                </a:solidFill>
                <a:latin typeface="Arial"/>
                <a:ea typeface="Arial"/>
                <a:cs typeface="Arial"/>
              </a:defRPr>
            </a:pPr>
            <a:endParaRPr lang="en-US"/>
          </a:p>
        </c:txPr>
      </c:legendEntry>
      <c:layout>
        <c:manualLayout>
          <c:xMode val="edge"/>
          <c:yMode val="edge"/>
          <c:x val="0.10643741166969513"/>
          <c:y val="4.6202407260400355E-2"/>
          <c:w val="0.31992921587926515"/>
          <c:h val="0.17034804436911327"/>
        </c:manualLayout>
      </c:layout>
      <c:overlay val="0"/>
      <c:spPr>
        <a:solidFill>
          <a:srgbClr val="FFFFDC"/>
        </a:solidFill>
        <a:ln w="19050">
          <a:solidFill>
            <a:srgbClr val="800080"/>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2162" b="1" i="0" u="none" strike="noStrike" baseline="0">
          <a:solidFill>
            <a:schemeClr val="tx1"/>
          </a:solidFill>
          <a:latin typeface="Arial"/>
          <a:ea typeface="Arial"/>
          <a:cs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415273571572784"/>
          <c:y val="6.74157791363246E-2"/>
          <c:w val="0.83836392085604694"/>
          <c:h val="0.83195834200567886"/>
        </c:manualLayout>
      </c:layout>
      <c:lineChart>
        <c:grouping val="standard"/>
        <c:varyColors val="0"/>
        <c:ser>
          <c:idx val="0"/>
          <c:order val="1"/>
          <c:tx>
            <c:strRef>
              <c:f>Sheet1!$C$1</c:f>
              <c:strCache>
                <c:ptCount val="1"/>
                <c:pt idx="0">
                  <c:v>Germany</c:v>
                </c:pt>
              </c:strCache>
            </c:strRef>
          </c:tx>
          <c:spPr>
            <a:ln w="38100">
              <a:solidFill>
                <a:srgbClr val="333333"/>
              </a:solidFill>
              <a:prstDash val="solid"/>
            </a:ln>
          </c:spPr>
          <c:marker>
            <c:symbol val="none"/>
          </c:marker>
          <c:cat>
            <c:numRef>
              <c:f>Sheet1!$A$2:$A$31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Sheet1!$C$2:$C$31</c:f>
              <c:numCache>
                <c:formatCode>General</c:formatCode>
                <c:ptCount val="30"/>
                <c:pt idx="0">
                  <c:v>2.3866565771219599</c:v>
                </c:pt>
                <c:pt idx="1">
                  <c:v>2.2730390258275301</c:v>
                </c:pt>
                <c:pt idx="2">
                  <c:v>2.20596853931429</c:v>
                </c:pt>
                <c:pt idx="3">
                  <c:v>2.1263000291875098</c:v>
                </c:pt>
                <c:pt idx="4">
                  <c:v>2.1351981146515602</c:v>
                </c:pt>
                <c:pt idx="5">
                  <c:v>2.1446114771674498</c:v>
                </c:pt>
                <c:pt idx="6">
                  <c:v>2.1883212910792098</c:v>
                </c:pt>
                <c:pt idx="7">
                  <c:v>2.2161293076915398</c:v>
                </c:pt>
                <c:pt idx="8">
                  <c:v>2.3477923553518401</c:v>
                </c:pt>
                <c:pt idx="9">
                  <c:v>2.4098173619902399</c:v>
                </c:pt>
                <c:pt idx="10">
                  <c:v>2.4043724396328701</c:v>
                </c:pt>
                <c:pt idx="11">
                  <c:v>2.4362209979437002</c:v>
                </c:pt>
                <c:pt idx="12">
                  <c:v>2.4746138715934798</c:v>
                </c:pt>
                <c:pt idx="13">
                  <c:v>2.4351883298269201</c:v>
                </c:pt>
                <c:pt idx="14">
                  <c:v>2.44192827894822</c:v>
                </c:pt>
                <c:pt idx="15">
                  <c:v>2.47231547788753</c:v>
                </c:pt>
                <c:pt idx="16">
                  <c:v>2.4604805665019698</c:v>
                </c:pt>
                <c:pt idx="17">
                  <c:v>2.6151330262439698</c:v>
                </c:pt>
                <c:pt idx="18">
                  <c:v>2.7426625588270199</c:v>
                </c:pt>
                <c:pt idx="19">
                  <c:v>2.7302373881609698</c:v>
                </c:pt>
                <c:pt idx="20">
                  <c:v>2.8055462834687201</c:v>
                </c:pt>
                <c:pt idx="21">
                  <c:v>2.8816555507392598</c:v>
                </c:pt>
                <c:pt idx="22">
                  <c:v>2.8359865473882699</c:v>
                </c:pt>
                <c:pt idx="23">
                  <c:v>2.8778404949050902</c:v>
                </c:pt>
                <c:pt idx="24">
                  <c:v>2.9337917440469501</c:v>
                </c:pt>
                <c:pt idx="25">
                  <c:v>2.94038918698201</c:v>
                </c:pt>
                <c:pt idx="26">
                  <c:v>3.0470994992592999</c:v>
                </c:pt>
                <c:pt idx="27">
                  <c:v>3.10787992968829</c:v>
                </c:pt>
                <c:pt idx="28">
                  <c:v>3.1677029380857098</c:v>
                </c:pt>
                <c:pt idx="29">
                  <c:v>3.1442646901614202</c:v>
                </c:pt>
              </c:numCache>
            </c:numRef>
          </c:val>
          <c:smooth val="0"/>
          <c:extLst>
            <c:ext xmlns:c16="http://schemas.microsoft.com/office/drawing/2014/chart" uri="{C3380CC4-5D6E-409C-BE32-E72D297353CC}">
              <c16:uniqueId val="{00000001-CE0E-4CD9-A161-2EFD788E5B62}"/>
            </c:ext>
          </c:extLst>
        </c:ser>
        <c:ser>
          <c:idx val="1"/>
          <c:order val="2"/>
          <c:tx>
            <c:strRef>
              <c:f>Sheet1!$D$1</c:f>
              <c:strCache>
                <c:ptCount val="1"/>
                <c:pt idx="0">
                  <c:v>Japan</c:v>
                </c:pt>
              </c:strCache>
            </c:strRef>
          </c:tx>
          <c:spPr>
            <a:ln w="38100">
              <a:solidFill>
                <a:srgbClr val="FF9900"/>
              </a:solidFill>
              <a:prstDash val="solid"/>
            </a:ln>
          </c:spPr>
          <c:marker>
            <c:symbol val="none"/>
          </c:marker>
          <c:cat>
            <c:numRef>
              <c:f>Sheet1!$A$2:$A$31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Sheet1!$D$2:$D$31</c:f>
              <c:numCache>
                <c:formatCode>General</c:formatCode>
                <c:ptCount val="30"/>
                <c:pt idx="0">
                  <c:v>2.6299135014953601</c:v>
                </c:pt>
                <c:pt idx="1">
                  <c:v>2.5787609201184098</c:v>
                </c:pt>
                <c:pt idx="2">
                  <c:v>2.5246554890824102</c:v>
                </c:pt>
                <c:pt idx="3">
                  <c:v>2.4714222941888102</c:v>
                </c:pt>
                <c:pt idx="4">
                  <c:v>2.5630191319818199</c:v>
                </c:pt>
                <c:pt idx="5">
                  <c:v>2.6430283248198498</c:v>
                </c:pt>
                <c:pt idx="6">
                  <c:v>2.72176528400388</c:v>
                </c:pt>
                <c:pt idx="7">
                  <c:v>2.8274513539115</c:v>
                </c:pt>
                <c:pt idx="8">
                  <c:v>2.8467178303478402</c:v>
                </c:pt>
                <c:pt idx="9">
                  <c:v>2.8584081176248</c:v>
                </c:pt>
                <c:pt idx="10">
                  <c:v>2.9234849965362799</c:v>
                </c:pt>
                <c:pt idx="11">
                  <c:v>2.9651371924160101</c:v>
                </c:pt>
                <c:pt idx="12">
                  <c:v>2.9931952029186499</c:v>
                </c:pt>
                <c:pt idx="13">
                  <c:v>2.9812459706811998</c:v>
                </c:pt>
                <c:pt idx="14">
                  <c:v>3.13091898152843</c:v>
                </c:pt>
                <c:pt idx="15">
                  <c:v>3.22765561311149</c:v>
                </c:pt>
                <c:pt idx="16">
                  <c:v>3.2925719526548001</c:v>
                </c:pt>
                <c:pt idx="17">
                  <c:v>3.2922388115124801</c:v>
                </c:pt>
                <c:pt idx="18">
                  <c:v>3.1958983178512699</c:v>
                </c:pt>
                <c:pt idx="19">
                  <c:v>3.1049513125417101</c:v>
                </c:pt>
                <c:pt idx="20">
                  <c:v>3.20536601849959</c:v>
                </c:pt>
                <c:pt idx="21">
                  <c:v>3.1737052842031801</c:v>
                </c:pt>
                <c:pt idx="22">
                  <c:v>3.27895603032511</c:v>
                </c:pt>
                <c:pt idx="23">
                  <c:v>3.36787519925368</c:v>
                </c:pt>
                <c:pt idx="24">
                  <c:v>3.2407072958259202</c:v>
                </c:pt>
                <c:pt idx="25">
                  <c:v>3.1066564578225702</c:v>
                </c:pt>
                <c:pt idx="26">
                  <c:v>3.1663561591326999</c:v>
                </c:pt>
                <c:pt idx="27">
                  <c:v>3.2211421374820302</c:v>
                </c:pt>
                <c:pt idx="28">
                  <c:v>3.2148929114729099</c:v>
                </c:pt>
                <c:pt idx="29">
                  <c:v>3.2746020944879501</c:v>
                </c:pt>
              </c:numCache>
            </c:numRef>
          </c:val>
          <c:smooth val="0"/>
          <c:extLst>
            <c:ext xmlns:c16="http://schemas.microsoft.com/office/drawing/2014/chart" uri="{C3380CC4-5D6E-409C-BE32-E72D297353CC}">
              <c16:uniqueId val="{00000002-CE0E-4CD9-A161-2EFD788E5B62}"/>
            </c:ext>
          </c:extLst>
        </c:ser>
        <c:ser>
          <c:idx val="2"/>
          <c:order val="3"/>
          <c:tx>
            <c:strRef>
              <c:f>Sheet1!$E$1</c:f>
              <c:strCache>
                <c:ptCount val="1"/>
                <c:pt idx="0">
                  <c:v>UK</c:v>
                </c:pt>
              </c:strCache>
            </c:strRef>
          </c:tx>
          <c:spPr>
            <a:ln w="38100">
              <a:solidFill>
                <a:srgbClr val="FF0000"/>
              </a:solidFill>
              <a:prstDash val="solid"/>
            </a:ln>
          </c:spPr>
          <c:marker>
            <c:symbol val="none"/>
          </c:marker>
          <c:cat>
            <c:numRef>
              <c:f>Sheet1!$A$2:$A$31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Sheet1!$E$2:$E$31</c:f>
              <c:numCache>
                <c:formatCode>General</c:formatCode>
                <c:ptCount val="30"/>
                <c:pt idx="0">
                  <c:v>1.8723204612587701</c:v>
                </c:pt>
                <c:pt idx="1">
                  <c:v>1.83971316779981</c:v>
                </c:pt>
                <c:pt idx="2">
                  <c:v>1.8635815150890001</c:v>
                </c:pt>
                <c:pt idx="3">
                  <c:v>1.8363222561581101</c:v>
                </c:pt>
                <c:pt idx="4">
                  <c:v>1.6447538055478701</c:v>
                </c:pt>
                <c:pt idx="5">
                  <c:v>1.5733254608528799</c:v>
                </c:pt>
                <c:pt idx="6">
                  <c:v>1.5386133520893199</c:v>
                </c:pt>
                <c:pt idx="7">
                  <c:v>1.5480532271280301</c:v>
                </c:pt>
                <c:pt idx="8">
                  <c:v>1.62467612935113</c:v>
                </c:pt>
                <c:pt idx="9">
                  <c:v>1.6129267182521601</c:v>
                </c:pt>
                <c:pt idx="10">
                  <c:v>1.6011936712307899</c:v>
                </c:pt>
                <c:pt idx="11">
                  <c:v>1.61532542072154</c:v>
                </c:pt>
                <c:pt idx="12">
                  <c:v>1.5792518869496901</c:v>
                </c:pt>
                <c:pt idx="13">
                  <c:v>1.53070581609395</c:v>
                </c:pt>
                <c:pt idx="14">
                  <c:v>1.5490377635647601</c:v>
                </c:pt>
                <c:pt idx="15">
                  <c:v>1.57125714928064</c:v>
                </c:pt>
                <c:pt idx="16">
                  <c:v>1.61013333590987</c:v>
                </c:pt>
                <c:pt idx="17">
                  <c:v>1.6038266723043999</c:v>
                </c:pt>
                <c:pt idx="18">
                  <c:v>1.6609895191122099</c:v>
                </c:pt>
                <c:pt idx="19">
                  <c:v>1.6351619996340401</c:v>
                </c:pt>
                <c:pt idx="20">
                  <c:v>1.63998516929229</c:v>
                </c:pt>
                <c:pt idx="21">
                  <c:v>1.5688803297402301</c:v>
                </c:pt>
                <c:pt idx="22">
                  <c:v>1.61029581937981</c:v>
                </c:pt>
                <c:pt idx="23">
                  <c:v>1.63096790149252</c:v>
                </c:pt>
                <c:pt idx="24">
                  <c:v>1.6342395561829901</c:v>
                </c:pt>
                <c:pt idx="25">
                  <c:v>1.6428134350339501</c:v>
                </c:pt>
                <c:pt idx="26">
                  <c:v>1.6598105136368899</c:v>
                </c:pt>
                <c:pt idx="27">
                  <c:v>1.7049411786348301</c:v>
                </c:pt>
                <c:pt idx="28">
                  <c:v>1.7079923007445199</c:v>
                </c:pt>
              </c:numCache>
            </c:numRef>
          </c:val>
          <c:smooth val="0"/>
          <c:extLst>
            <c:ext xmlns:c16="http://schemas.microsoft.com/office/drawing/2014/chart" uri="{C3380CC4-5D6E-409C-BE32-E72D297353CC}">
              <c16:uniqueId val="{00000003-CE0E-4CD9-A161-2EFD788E5B62}"/>
            </c:ext>
          </c:extLst>
        </c:ser>
        <c:ser>
          <c:idx val="3"/>
          <c:order val="4"/>
          <c:tx>
            <c:strRef>
              <c:f>Sheet1!$F$1</c:f>
              <c:strCache>
                <c:ptCount val="1"/>
                <c:pt idx="0">
                  <c:v>USA</c:v>
                </c:pt>
              </c:strCache>
            </c:strRef>
          </c:tx>
          <c:spPr>
            <a:ln w="38100">
              <a:solidFill>
                <a:srgbClr val="002060"/>
              </a:solidFill>
              <a:prstDash val="solid"/>
            </a:ln>
          </c:spPr>
          <c:marker>
            <c:symbol val="none"/>
          </c:marker>
          <c:cat>
            <c:numRef>
              <c:f>Sheet1!$A$2:$A$31</c:f>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f>Sheet1!$F$2:$F$31</c:f>
              <c:numCache>
                <c:formatCode>General</c:formatCode>
                <c:ptCount val="30"/>
                <c:pt idx="0">
                  <c:v>2.62072776877522</c:v>
                </c:pt>
                <c:pt idx="1">
                  <c:v>2.54334998643473</c:v>
                </c:pt>
                <c:pt idx="2">
                  <c:v>2.4224695229712201</c:v>
                </c:pt>
                <c:pt idx="3">
                  <c:v>2.3275290536768698</c:v>
                </c:pt>
                <c:pt idx="4">
                  <c:v>2.4094638734859002</c:v>
                </c:pt>
                <c:pt idx="5">
                  <c:v>2.45000818171706</c:v>
                </c:pt>
                <c:pt idx="6">
                  <c:v>2.47983094687156</c:v>
                </c:pt>
                <c:pt idx="7">
                  <c:v>2.5040117217417102</c:v>
                </c:pt>
                <c:pt idx="8">
                  <c:v>2.5495131848958801</c:v>
                </c:pt>
                <c:pt idx="9">
                  <c:v>2.6291509315427501</c:v>
                </c:pt>
                <c:pt idx="10">
                  <c:v>2.6482695168338402</c:v>
                </c:pt>
                <c:pt idx="11">
                  <c:v>2.5609683791211499</c:v>
                </c:pt>
                <c:pt idx="12">
                  <c:v>2.5649481296562202</c:v>
                </c:pt>
                <c:pt idx="13">
                  <c:v>2.5017197072061399</c:v>
                </c:pt>
                <c:pt idx="14">
                  <c:v>2.5164739822551998</c:v>
                </c:pt>
                <c:pt idx="15">
                  <c:v>2.5574599349155198</c:v>
                </c:pt>
                <c:pt idx="16">
                  <c:v>2.6275390991491898</c:v>
                </c:pt>
                <c:pt idx="17">
                  <c:v>2.75722278244712</c:v>
                </c:pt>
                <c:pt idx="18">
                  <c:v>2.8070390888507402</c:v>
                </c:pt>
                <c:pt idx="19">
                  <c:v>2.7250569308065602</c:v>
                </c:pt>
                <c:pt idx="20">
                  <c:v>2.7551244313123102</c:v>
                </c:pt>
                <c:pt idx="21">
                  <c:v>2.6722640684091301</c:v>
                </c:pt>
                <c:pt idx="22">
                  <c:v>2.70214750217239</c:v>
                </c:pt>
                <c:pt idx="23">
                  <c:v>2.7178594205457598</c:v>
                </c:pt>
                <c:pt idx="24">
                  <c:v>2.7869952707409</c:v>
                </c:pt>
                <c:pt idx="25">
                  <c:v>2.8534526629589601</c:v>
                </c:pt>
                <c:pt idx="26">
                  <c:v>2.9051383591972</c:v>
                </c:pt>
                <c:pt idx="27">
                  <c:v>3.01320314223707</c:v>
                </c:pt>
                <c:pt idx="28">
                  <c:v>3.1750773023119101</c:v>
                </c:pt>
                <c:pt idx="29">
                  <c:v>3.4501807382936498</c:v>
                </c:pt>
              </c:numCache>
            </c:numRef>
          </c:val>
          <c:smooth val="0"/>
          <c:extLst>
            <c:ext xmlns:c16="http://schemas.microsoft.com/office/drawing/2014/chart" uri="{C3380CC4-5D6E-409C-BE32-E72D297353CC}">
              <c16:uniqueId val="{00000004-CE0E-4CD9-A161-2EFD788E5B62}"/>
            </c:ext>
          </c:extLst>
        </c:ser>
        <c:dLbls>
          <c:showLegendKey val="0"/>
          <c:showVal val="0"/>
          <c:showCatName val="0"/>
          <c:showSerName val="0"/>
          <c:showPercent val="0"/>
          <c:showBubbleSize val="0"/>
        </c:dLbls>
        <c:smooth val="0"/>
        <c:axId val="194304208"/>
        <c:axId val="1"/>
        <c:extLst>
          <c:ext xmlns:c15="http://schemas.microsoft.com/office/drawing/2012/chart" uri="{02D57815-91ED-43cb-92C2-25804820EDAC}">
            <c15:filteredLineSeries>
              <c15:ser>
                <c:idx val="5"/>
                <c:order val="0"/>
                <c:tx>
                  <c:strRef>
                    <c:extLst>
                      <c:ext uri="{02D57815-91ED-43cb-92C2-25804820EDAC}">
                        <c15:formulaRef>
                          <c15:sqref>Sheet1!$B$1</c15:sqref>
                        </c15:formulaRef>
                      </c:ext>
                    </c:extLst>
                    <c:strCache>
                      <c:ptCount val="1"/>
                      <c:pt idx="0">
                        <c:v>France</c:v>
                      </c:pt>
                    </c:strCache>
                  </c:strRef>
                </c:tx>
                <c:spPr>
                  <a:ln w="38100">
                    <a:solidFill>
                      <a:srgbClr val="0000FF"/>
                    </a:solidFill>
                    <a:prstDash val="solid"/>
                  </a:ln>
                </c:spPr>
                <c:marker>
                  <c:symbol val="none"/>
                </c:marker>
                <c:cat>
                  <c:numRef>
                    <c:extLst>
                      <c:ext uri="{02D57815-91ED-43cb-92C2-25804820EDAC}">
                        <c15:formulaRef>
                          <c15:sqref>Sheet1!$A$2:$A$31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c:ext uri="{02D57815-91ED-43cb-92C2-25804820EDAC}">
                        <c15:formulaRef>
                          <c15:sqref>Sheet1!$B$2:$B$31</c15:sqref>
                        </c15:formulaRef>
                      </c:ext>
                    </c:extLst>
                    <c:numCache>
                      <c:formatCode>General</c:formatCode>
                      <c:ptCount val="30"/>
                      <c:pt idx="0">
                        <c:v>2.27747064032866</c:v>
                      </c:pt>
                      <c:pt idx="1">
                        <c:v>2.2830885181298002</c:v>
                      </c:pt>
                      <c:pt idx="2">
                        <c:v>2.3188122887369902</c:v>
                      </c:pt>
                      <c:pt idx="3">
                        <c:v>2.2684257473935601</c:v>
                      </c:pt>
                      <c:pt idx="4">
                        <c:v>2.2410791508963901</c:v>
                      </c:pt>
                      <c:pt idx="5">
                        <c:v>2.22279940196412</c:v>
                      </c:pt>
                      <c:pt idx="6">
                        <c:v>2.1469892156187802</c:v>
                      </c:pt>
                      <c:pt idx="7">
                        <c:v>2.0947576357205002</c:v>
                      </c:pt>
                      <c:pt idx="8">
                        <c:v>2.10766738341712</c:v>
                      </c:pt>
                      <c:pt idx="9">
                        <c:v>2.0934609778944102</c:v>
                      </c:pt>
                      <c:pt idx="10">
                        <c:v>2.1380425172279298</c:v>
                      </c:pt>
                      <c:pt idx="11">
                        <c:v>2.1744945142077601</c:v>
                      </c:pt>
                      <c:pt idx="12">
                        <c:v>2.1199372084780101</c:v>
                      </c:pt>
                      <c:pt idx="13">
                        <c:v>2.09461284410561</c:v>
                      </c:pt>
                      <c:pt idx="14">
                        <c:v>2.0515058233596899</c:v>
                      </c:pt>
                      <c:pt idx="15">
                        <c:v>2.0509379915385701</c:v>
                      </c:pt>
                      <c:pt idx="16">
                        <c:v>2.02451299604401</c:v>
                      </c:pt>
                      <c:pt idx="17">
                        <c:v>2.06116919463155</c:v>
                      </c:pt>
                      <c:pt idx="18">
                        <c:v>2.2120651800072499</c:v>
                      </c:pt>
                      <c:pt idx="19">
                        <c:v>2.1785732192178702</c:v>
                      </c:pt>
                      <c:pt idx="20">
                        <c:v>2.1916145258697499</c:v>
                      </c:pt>
                      <c:pt idx="21">
                        <c:v>2.2270658233132501</c:v>
                      </c:pt>
                      <c:pt idx="22">
                        <c:v>2.2370251309637501</c:v>
                      </c:pt>
                      <c:pt idx="23">
                        <c:v>2.2759166699616</c:v>
                      </c:pt>
                      <c:pt idx="24">
                        <c:v>2.2270168465524498</c:v>
                      </c:pt>
                      <c:pt idx="25">
                        <c:v>2.2223838909928699</c:v>
                      </c:pt>
                      <c:pt idx="26">
                        <c:v>2.1988801353971401</c:v>
                      </c:pt>
                      <c:pt idx="27">
                        <c:v>2.1966601024158501</c:v>
                      </c:pt>
                      <c:pt idx="28">
                        <c:v>2.1917887624685402</c:v>
                      </c:pt>
                      <c:pt idx="29">
                        <c:v>2.3549290925197401</c:v>
                      </c:pt>
                    </c:numCache>
                  </c:numRef>
                </c:val>
                <c:smooth val="0"/>
                <c:extLst>
                  <c:ext xmlns:c16="http://schemas.microsoft.com/office/drawing/2014/chart" uri="{C3380CC4-5D6E-409C-BE32-E72D297353CC}">
                    <c16:uniqueId val="{00000000-CE0E-4CD9-A161-2EFD788E5B62}"/>
                  </c:ext>
                </c:extLst>
              </c15:ser>
            </c15:filteredLineSeries>
            <c15:filteredLineSeries>
              <c15:ser>
                <c:idx val="4"/>
                <c:order val="5"/>
                <c:tx>
                  <c:strRef>
                    <c:extLst xmlns:c15="http://schemas.microsoft.com/office/drawing/2012/chart">
                      <c:ext xmlns:c15="http://schemas.microsoft.com/office/drawing/2012/chart" uri="{02D57815-91ED-43cb-92C2-25804820EDAC}">
                        <c15:formulaRef>
                          <c15:sqref>Sheet1!$G$1</c15:sqref>
                        </c15:formulaRef>
                      </c:ext>
                    </c:extLst>
                    <c:strCache>
                      <c:ptCount val="1"/>
                      <c:pt idx="0">
                        <c:v>OECD</c:v>
                      </c:pt>
                    </c:strCache>
                  </c:strRef>
                </c:tx>
                <c:spPr>
                  <a:ln w="38100">
                    <a:solidFill>
                      <a:srgbClr val="008000"/>
                    </a:solidFill>
                    <a:prstDash val="solid"/>
                  </a:ln>
                </c:spPr>
                <c:marker>
                  <c:symbol val="none"/>
                </c:marker>
                <c:cat>
                  <c:numRef>
                    <c:extLst xmlns:c15="http://schemas.microsoft.com/office/drawing/2012/chart">
                      <c:ext xmlns:c15="http://schemas.microsoft.com/office/drawing/2012/chart" uri="{02D57815-91ED-43cb-92C2-25804820EDAC}">
                        <c15:formulaRef>
                          <c15:sqref>Sheet1!$A$2:$A$31</c15:sqref>
                        </c15:formulaRef>
                      </c:ext>
                    </c:extLst>
                    <c:numCache>
                      <c:formatCode>General</c:formatCode>
                      <c:ptCount val="30"/>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pt idx="29">
                        <c:v>2020</c:v>
                      </c:pt>
                    </c:numCache>
                  </c:numRef>
                </c:cat>
                <c:val>
                  <c:numRef>
                    <c:extLst xmlns:c15="http://schemas.microsoft.com/office/drawing/2012/chart">
                      <c:ext xmlns:c15="http://schemas.microsoft.com/office/drawing/2012/chart" uri="{02D57815-91ED-43cb-92C2-25804820EDAC}">
                        <c15:formulaRef>
                          <c15:sqref>Sheet1!$G$2:$G$31</c15:sqref>
                        </c15:formulaRef>
                      </c:ext>
                    </c:extLst>
                    <c:numCache>
                      <c:formatCode>General</c:formatCode>
                      <c:ptCount val="30"/>
                      <c:pt idx="0">
                        <c:v>2.0187700246551001</c:v>
                      </c:pt>
                      <c:pt idx="1">
                        <c:v>1.98236239829813</c:v>
                      </c:pt>
                      <c:pt idx="2">
                        <c:v>1.9352527096424801</c:v>
                      </c:pt>
                      <c:pt idx="3">
                        <c:v>1.88916597094156</c:v>
                      </c:pt>
                      <c:pt idx="4">
                        <c:v>1.9197154449746301</c:v>
                      </c:pt>
                      <c:pt idx="5">
                        <c:v>1.9443033114693999</c:v>
                      </c:pt>
                      <c:pt idx="6">
                        <c:v>1.96563960375263</c:v>
                      </c:pt>
                      <c:pt idx="7">
                        <c:v>1.9971736954407899</c:v>
                      </c:pt>
                      <c:pt idx="8">
                        <c:v>2.0412184077250499</c:v>
                      </c:pt>
                      <c:pt idx="9">
                        <c:v>2.08484930252463</c:v>
                      </c:pt>
                      <c:pt idx="10">
                        <c:v>2.1211979547784598</c:v>
                      </c:pt>
                      <c:pt idx="11">
                        <c:v>2.0984511019887702</c:v>
                      </c:pt>
                      <c:pt idx="12">
                        <c:v>2.1025508651601901</c:v>
                      </c:pt>
                      <c:pt idx="13">
                        <c:v>2.0747239047064898</c:v>
                      </c:pt>
                      <c:pt idx="14">
                        <c:v>2.1044137973233301</c:v>
                      </c:pt>
                      <c:pt idx="15">
                        <c:v>2.13137243793672</c:v>
                      </c:pt>
                      <c:pt idx="16">
                        <c:v>2.1739630591422001</c:v>
                      </c:pt>
                      <c:pt idx="17">
                        <c:v>2.2399259289748499</c:v>
                      </c:pt>
                      <c:pt idx="18">
                        <c:v>2.2854915107537299</c:v>
                      </c:pt>
                      <c:pt idx="19">
                        <c:v>2.2454940917214201</c:v>
                      </c:pt>
                      <c:pt idx="20">
                        <c:v>2.2743945559159302</c:v>
                      </c:pt>
                      <c:pt idx="21">
                        <c:v>2.2671083661495102</c:v>
                      </c:pt>
                      <c:pt idx="22">
                        <c:v>2.2927701197759802</c:v>
                      </c:pt>
                      <c:pt idx="23">
                        <c:v>2.3154371205605702</c:v>
                      </c:pt>
                      <c:pt idx="24">
                        <c:v>2.3278280636272002</c:v>
                      </c:pt>
                      <c:pt idx="25">
                        <c:v>2.3265704977044201</c:v>
                      </c:pt>
                      <c:pt idx="26">
                        <c:v>2.3674689022707298</c:v>
                      </c:pt>
                      <c:pt idx="27">
                        <c:v>2.4380513275379099</c:v>
                      </c:pt>
                      <c:pt idx="28">
                        <c:v>2.5149888056926502</c:v>
                      </c:pt>
                      <c:pt idx="29">
                        <c:v>2.68094948226878</c:v>
                      </c:pt>
                    </c:numCache>
                  </c:numRef>
                </c:val>
                <c:smooth val="0"/>
                <c:extLst xmlns:c15="http://schemas.microsoft.com/office/drawing/2012/chart">
                  <c:ext xmlns:c16="http://schemas.microsoft.com/office/drawing/2014/chart" uri="{C3380CC4-5D6E-409C-BE32-E72D297353CC}">
                    <c16:uniqueId val="{00000005-CE0E-4CD9-A161-2EFD788E5B62}"/>
                  </c:ext>
                </c:extLst>
              </c15:ser>
            </c15:filteredLineSeries>
          </c:ext>
        </c:extLst>
      </c:lineChart>
      <c:catAx>
        <c:axId val="194304208"/>
        <c:scaling>
          <c:orientation val="minMax"/>
        </c:scaling>
        <c:delete val="0"/>
        <c:axPos val="b"/>
        <c:numFmt formatCode="General" sourceLinked="1"/>
        <c:majorTickMark val="out"/>
        <c:minorTickMark val="none"/>
        <c:tickLblPos val="nextTo"/>
        <c:spPr>
          <a:ln w="12700">
            <a:solidFill>
              <a:schemeClr val="tx1"/>
            </a:solidFill>
            <a:prstDash val="solid"/>
          </a:ln>
        </c:spPr>
        <c:txPr>
          <a:bodyPr rot="0" vert="horz"/>
          <a:lstStyle/>
          <a:p>
            <a:pPr>
              <a:defRPr sz="2000" b="0" i="0" u="none" strike="noStrike" baseline="0">
                <a:solidFill>
                  <a:schemeClr val="tx1"/>
                </a:solidFill>
                <a:latin typeface="Arial"/>
                <a:ea typeface="Arial"/>
                <a:cs typeface="Arial"/>
              </a:defRPr>
            </a:pPr>
            <a:endParaRPr lang="en-US"/>
          </a:p>
        </c:txPr>
        <c:crossAx val="1"/>
        <c:crosses val="autoZero"/>
        <c:auto val="1"/>
        <c:lblAlgn val="ctr"/>
        <c:lblOffset val="100"/>
        <c:tickLblSkip val="3"/>
        <c:tickMarkSkip val="1"/>
        <c:noMultiLvlLbl val="0"/>
      </c:catAx>
      <c:valAx>
        <c:axId val="1"/>
        <c:scaling>
          <c:orientation val="minMax"/>
          <c:max val="3.5"/>
          <c:min val="0"/>
        </c:scaling>
        <c:delete val="0"/>
        <c:axPos val="l"/>
        <c:title>
          <c:tx>
            <c:rich>
              <a:bodyPr/>
              <a:lstStyle/>
              <a:p>
                <a:pPr>
                  <a:defRPr sz="2000" b="0" i="0" u="none" strike="noStrike" baseline="0">
                    <a:solidFill>
                      <a:srgbClr val="000000"/>
                    </a:solidFill>
                    <a:latin typeface="Arial"/>
                    <a:ea typeface="Arial"/>
                    <a:cs typeface="Arial"/>
                  </a:defRPr>
                </a:pPr>
                <a:r>
                  <a:rPr lang="en-GB" sz="2000" b="0" i="0" u="none" strike="noStrike" baseline="0" dirty="0">
                    <a:solidFill>
                      <a:srgbClr val="000000"/>
                    </a:solidFill>
                    <a:latin typeface="Arial"/>
                    <a:cs typeface="Arial"/>
                  </a:rPr>
                  <a:t>% of GDP</a:t>
                </a:r>
              </a:p>
            </c:rich>
          </c:tx>
          <c:layout>
            <c:manualLayout>
              <c:xMode val="edge"/>
              <c:yMode val="edge"/>
              <c:x val="1.0928477690288716E-2"/>
              <c:y val="0.40837075387766597"/>
            </c:manualLayout>
          </c:layout>
          <c:overlay val="0"/>
          <c:spPr>
            <a:noFill/>
            <a:ln w="29842">
              <a:noFill/>
            </a:ln>
          </c:spPr>
        </c:title>
        <c:numFmt formatCode="0.00" sourceLinked="0"/>
        <c:majorTickMark val="out"/>
        <c:minorTickMark val="none"/>
        <c:tickLblPos val="nextTo"/>
        <c:spPr>
          <a:ln w="15875">
            <a:solidFill>
              <a:schemeClr val="tx1"/>
            </a:solidFill>
            <a:prstDash val="solid"/>
          </a:ln>
        </c:spPr>
        <c:txPr>
          <a:bodyPr rot="0" vert="horz"/>
          <a:lstStyle/>
          <a:p>
            <a:pPr>
              <a:defRPr sz="2000" b="0" i="0" u="none" strike="noStrike" baseline="0">
                <a:solidFill>
                  <a:schemeClr val="tx1"/>
                </a:solidFill>
                <a:latin typeface="Arial"/>
                <a:ea typeface="Arial"/>
                <a:cs typeface="Arial"/>
              </a:defRPr>
            </a:pPr>
            <a:endParaRPr lang="en-US"/>
          </a:p>
        </c:txPr>
        <c:crossAx val="194304208"/>
        <c:crosses val="autoZero"/>
        <c:crossBetween val="midCat"/>
        <c:majorUnit val="0.25"/>
      </c:valAx>
      <c:spPr>
        <a:noFill/>
        <a:ln w="25400">
          <a:noFill/>
        </a:ln>
      </c:spPr>
    </c:plotArea>
    <c:legend>
      <c:legendPos val="r"/>
      <c:legendEntry>
        <c:idx val="0"/>
        <c:txPr>
          <a:bodyPr/>
          <a:lstStyle/>
          <a:p>
            <a:pPr>
              <a:defRPr sz="1850" b="0" i="0" u="none" strike="noStrike" baseline="0">
                <a:solidFill>
                  <a:srgbClr val="0000FF"/>
                </a:solidFill>
                <a:latin typeface="Arial"/>
                <a:ea typeface="Arial"/>
                <a:cs typeface="Arial"/>
              </a:defRPr>
            </a:pPr>
            <a:endParaRPr lang="en-US"/>
          </a:p>
        </c:txPr>
      </c:legendEntry>
      <c:legendEntry>
        <c:idx val="1"/>
        <c:txPr>
          <a:bodyPr/>
          <a:lstStyle/>
          <a:p>
            <a:pPr>
              <a:defRPr sz="1850" b="0" i="0" u="none" strike="noStrike" baseline="0">
                <a:solidFill>
                  <a:srgbClr val="FF9900"/>
                </a:solidFill>
                <a:latin typeface="Arial"/>
                <a:ea typeface="Arial"/>
                <a:cs typeface="Arial"/>
              </a:defRPr>
            </a:pPr>
            <a:endParaRPr lang="en-US"/>
          </a:p>
        </c:txPr>
      </c:legendEntry>
      <c:legendEntry>
        <c:idx val="2"/>
        <c:txPr>
          <a:bodyPr/>
          <a:lstStyle/>
          <a:p>
            <a:pPr>
              <a:defRPr sz="1850" b="0" i="0" u="none" strike="noStrike" baseline="0">
                <a:solidFill>
                  <a:srgbClr val="FF0000"/>
                </a:solidFill>
                <a:latin typeface="Arial"/>
                <a:ea typeface="Arial"/>
                <a:cs typeface="Arial"/>
              </a:defRPr>
            </a:pPr>
            <a:endParaRPr lang="en-US"/>
          </a:p>
        </c:txPr>
      </c:legendEntry>
      <c:legendEntry>
        <c:idx val="3"/>
        <c:txPr>
          <a:bodyPr/>
          <a:lstStyle/>
          <a:p>
            <a:pPr>
              <a:defRPr sz="1850" b="0" i="0" u="none" strike="noStrike" baseline="0">
                <a:solidFill>
                  <a:srgbClr val="FF00FF"/>
                </a:solidFill>
                <a:latin typeface="Arial"/>
                <a:ea typeface="Arial"/>
                <a:cs typeface="Arial"/>
              </a:defRPr>
            </a:pPr>
            <a:endParaRPr lang="en-US"/>
          </a:p>
        </c:txPr>
      </c:legendEntry>
      <c:layout>
        <c:manualLayout>
          <c:xMode val="edge"/>
          <c:yMode val="edge"/>
          <c:x val="0.38231446850393702"/>
          <c:y val="0.63747134785120163"/>
          <c:w val="0.33982808398950126"/>
          <c:h val="0.15367574370304199"/>
        </c:manualLayout>
      </c:layout>
      <c:overlay val="0"/>
      <c:spPr>
        <a:solidFill>
          <a:srgbClr val="FFFFD7"/>
        </a:solidFill>
        <a:ln w="14921">
          <a:solidFill>
            <a:srgbClr val="800080"/>
          </a:solidFill>
          <a:prstDash val="solid"/>
        </a:ln>
      </c:spPr>
      <c:txPr>
        <a:bodyPr/>
        <a:lstStyle/>
        <a:p>
          <a:pPr>
            <a:defRPr sz="1850" b="0"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a:effectLst/>
  </c:spPr>
  <c:txPr>
    <a:bodyPr/>
    <a:lstStyle/>
    <a:p>
      <a:pPr>
        <a:defRPr sz="2115" b="1" i="0" u="none" strike="noStrike" baseline="0">
          <a:solidFill>
            <a:schemeClr val="tx1"/>
          </a:solidFill>
          <a:latin typeface="Arial"/>
          <a:ea typeface="Arial"/>
          <a:cs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0537037094989189"/>
          <c:y val="2.5632701333450122E-2"/>
          <c:w val="0.86034638612644476"/>
          <c:h val="0.87993657478781062"/>
        </c:manualLayout>
      </c:layout>
      <c:barChart>
        <c:barDir val="col"/>
        <c:grouping val="stacked"/>
        <c:varyColors val="0"/>
        <c:ser>
          <c:idx val="1"/>
          <c:order val="0"/>
          <c:tx>
            <c:strRef>
              <c:f>Sheet1!$B$1</c:f>
              <c:strCache>
                <c:ptCount val="1"/>
                <c:pt idx="0">
                  <c:v>Current account balance</c:v>
                </c:pt>
              </c:strCache>
            </c:strRef>
          </c:tx>
          <c:spPr>
            <a:solidFill>
              <a:srgbClr val="FF0000"/>
            </a:solidFill>
            <a:ln w="12700">
              <a:solidFill>
                <a:schemeClr val="tx1"/>
              </a:solidFill>
              <a:prstDash val="solid"/>
            </a:ln>
          </c:spPr>
          <c:invertIfNegative val="0"/>
          <c:cat>
            <c:strRef>
              <c:f>Sheet1!$A$2:$A$43</c:f>
              <c:strCache>
                <c:ptCount val="42"/>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strCache>
            </c:strRef>
          </c:cat>
          <c:val>
            <c:numRef>
              <c:f>Sheet1!$B$2:$B$43</c:f>
              <c:numCache>
                <c:formatCode>0.00</c:formatCode>
                <c:ptCount val="42"/>
                <c:pt idx="0">
                  <c:v>0.53757432591262388</c:v>
                </c:pt>
                <c:pt idx="1">
                  <c:v>1.5266543070501599</c:v>
                </c:pt>
                <c:pt idx="2">
                  <c:v>0.55454719293790888</c:v>
                </c:pt>
                <c:pt idx="3">
                  <c:v>0.21464426916904447</c:v>
                </c:pt>
                <c:pt idx="4">
                  <c:v>-0.49604383840418037</c:v>
                </c:pt>
                <c:pt idx="5">
                  <c:v>-0.28829368289143592</c:v>
                </c:pt>
                <c:pt idx="6">
                  <c:v>-0.96289774420256247</c:v>
                </c:pt>
                <c:pt idx="7">
                  <c:v>-1.5748872489551133</c:v>
                </c:pt>
                <c:pt idx="8">
                  <c:v>-3.5217094140076983</c:v>
                </c:pt>
                <c:pt idx="9">
                  <c:v>-4.0477951635846372</c:v>
                </c:pt>
                <c:pt idx="10">
                  <c:v>-3.061177267929891</c:v>
                </c:pt>
                <c:pt idx="11">
                  <c:v>-1.3042906195486552</c:v>
                </c:pt>
                <c:pt idx="12">
                  <c:v>-1.5006247482230521</c:v>
                </c:pt>
                <c:pt idx="13">
                  <c:v>-1.28724653687903</c:v>
                </c:pt>
                <c:pt idx="14">
                  <c:v>-0.44639284786572264</c:v>
                </c:pt>
                <c:pt idx="15">
                  <c:v>-0.63078098702808627</c:v>
                </c:pt>
                <c:pt idx="16">
                  <c:v>-0.52261271237314688</c:v>
                </c:pt>
                <c:pt idx="17">
                  <c:v>-0.25226095309080027</c:v>
                </c:pt>
                <c:pt idx="18">
                  <c:v>-0.66271468610202366</c:v>
                </c:pt>
                <c:pt idx="19">
                  <c:v>-2.5132201502922351</c:v>
                </c:pt>
                <c:pt idx="20">
                  <c:v>-2.1865270823850707</c:v>
                </c:pt>
                <c:pt idx="21">
                  <c:v>-1.969750171406355</c:v>
                </c:pt>
                <c:pt idx="22">
                  <c:v>-2.106212027528362</c:v>
                </c:pt>
                <c:pt idx="23">
                  <c:v>-1.7936935006389039</c:v>
                </c:pt>
                <c:pt idx="24">
                  <c:v>-2.3216749382935378</c:v>
                </c:pt>
                <c:pt idx="25">
                  <c:v>-1.914470412729985</c:v>
                </c:pt>
                <c:pt idx="26">
                  <c:v>-2.8094658304000348</c:v>
                </c:pt>
                <c:pt idx="27">
                  <c:v>-3.391885189407847</c:v>
                </c:pt>
                <c:pt idx="28">
                  <c:v>-3.8678294069374113</c:v>
                </c:pt>
                <c:pt idx="29">
                  <c:v>-3.2277538018906697</c:v>
                </c:pt>
                <c:pt idx="30">
                  <c:v>-3.0702861626540212</c:v>
                </c:pt>
                <c:pt idx="31">
                  <c:v>-1.9048115344092187</c:v>
                </c:pt>
                <c:pt idx="32">
                  <c:v>-3.4771444588710634</c:v>
                </c:pt>
                <c:pt idx="33">
                  <c:v>-4.7697494081660539</c:v>
                </c:pt>
                <c:pt idx="34">
                  <c:v>-5.1112323989079833</c:v>
                </c:pt>
                <c:pt idx="35">
                  <c:v>-5.1650671864374544</c:v>
                </c:pt>
                <c:pt idx="36">
                  <c:v>-5.32634017607523</c:v>
                </c:pt>
                <c:pt idx="37">
                  <c:v>-3.6313212785203488</c:v>
                </c:pt>
                <c:pt idx="38">
                  <c:v>-3.8776110891380533</c:v>
                </c:pt>
                <c:pt idx="39">
                  <c:v>-2.6677361555068702</c:v>
                </c:pt>
                <c:pt idx="40">
                  <c:v>-2.5015101974952345</c:v>
                </c:pt>
                <c:pt idx="41">
                  <c:v>-2.5873371962845924</c:v>
                </c:pt>
              </c:numCache>
            </c:numRef>
          </c:val>
          <c:extLst>
            <c:ext xmlns:c16="http://schemas.microsoft.com/office/drawing/2014/chart" uri="{C3380CC4-5D6E-409C-BE32-E72D297353CC}">
              <c16:uniqueId val="{00000000-930B-4CD1-A4C7-9B77D4BAC5DB}"/>
            </c:ext>
          </c:extLst>
        </c:ser>
        <c:ser>
          <c:idx val="2"/>
          <c:order val="1"/>
          <c:tx>
            <c:strRef>
              <c:f>Sheet1!$C$1</c:f>
              <c:strCache>
                <c:ptCount val="1"/>
                <c:pt idx="0">
                  <c:v>Capital account balance</c:v>
                </c:pt>
              </c:strCache>
            </c:strRef>
          </c:tx>
          <c:spPr>
            <a:solidFill>
              <a:srgbClr val="FF00FF"/>
            </a:solidFill>
            <a:ln w="12700">
              <a:solidFill>
                <a:schemeClr val="tx1"/>
              </a:solidFill>
              <a:prstDash val="solid"/>
            </a:ln>
          </c:spPr>
          <c:invertIfNegative val="0"/>
          <c:cat>
            <c:strRef>
              <c:f>Sheet1!$A$2:$A$43</c:f>
              <c:strCache>
                <c:ptCount val="42"/>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strCache>
            </c:strRef>
          </c:cat>
          <c:val>
            <c:numRef>
              <c:f>Sheet1!$C$2:$C$43</c:f>
              <c:numCache>
                <c:formatCode>0.00</c:formatCode>
                <c:ptCount val="42"/>
                <c:pt idx="0">
                  <c:v>-1.5414317588892442E-3</c:v>
                </c:pt>
                <c:pt idx="1">
                  <c:v>-2.7274014078915117E-2</c:v>
                </c:pt>
                <c:pt idx="2">
                  <c:v>1.8808836391336649E-3</c:v>
                </c:pt>
                <c:pt idx="3">
                  <c:v>2.137891127181718E-2</c:v>
                </c:pt>
                <c:pt idx="4">
                  <c:v>2.8352933071179108E-2</c:v>
                </c:pt>
                <c:pt idx="5">
                  <c:v>4.4668619208472073E-2</c:v>
                </c:pt>
                <c:pt idx="6">
                  <c:v>-5.8472850450644209E-2</c:v>
                </c:pt>
                <c:pt idx="7">
                  <c:v>3.2041851898127062E-2</c:v>
                </c:pt>
                <c:pt idx="8">
                  <c:v>-7.0146408144177858E-3</c:v>
                </c:pt>
                <c:pt idx="9">
                  <c:v>-9.1038406827880503E-3</c:v>
                </c:pt>
                <c:pt idx="10">
                  <c:v>3.3140610235074412E-2</c:v>
                </c:pt>
                <c:pt idx="11">
                  <c:v>-7.7813194571185627E-3</c:v>
                </c:pt>
                <c:pt idx="12">
                  <c:v>4.779494602585024E-3</c:v>
                </c:pt>
                <c:pt idx="13">
                  <c:v>4.1482265035376591E-3</c:v>
                </c:pt>
                <c:pt idx="14">
                  <c:v>-3.1023441164413159E-2</c:v>
                </c:pt>
                <c:pt idx="15">
                  <c:v>1.1368590810428162E-2</c:v>
                </c:pt>
                <c:pt idx="16">
                  <c:v>8.8455658583107166E-2</c:v>
                </c:pt>
                <c:pt idx="17">
                  <c:v>5.3433551861513669E-2</c:v>
                </c:pt>
                <c:pt idx="18">
                  <c:v>-2.6143974164544767E-2</c:v>
                </c:pt>
                <c:pt idx="19">
                  <c:v>-2.4760789658051577E-2</c:v>
                </c:pt>
                <c:pt idx="20">
                  <c:v>3.5776058261265363E-2</c:v>
                </c:pt>
                <c:pt idx="21">
                  <c:v>6.3921654817810153E-3</c:v>
                </c:pt>
                <c:pt idx="22">
                  <c:v>-5.6706677778375188E-2</c:v>
                </c:pt>
                <c:pt idx="23">
                  <c:v>-5.1588529885632202E-3</c:v>
                </c:pt>
                <c:pt idx="24">
                  <c:v>6.8037753393382959E-3</c:v>
                </c:pt>
                <c:pt idx="25">
                  <c:v>-6.0229084860851531E-2</c:v>
                </c:pt>
                <c:pt idx="26">
                  <c:v>-0.10340470311947679</c:v>
                </c:pt>
                <c:pt idx="27">
                  <c:v>-1.6103370757566973E-2</c:v>
                </c:pt>
                <c:pt idx="28">
                  <c:v>4.4409639518824687E-3</c:v>
                </c:pt>
                <c:pt idx="29">
                  <c:v>3.7890464447184547E-3</c:v>
                </c:pt>
                <c:pt idx="30">
                  <c:v>-5.6382757668892405E-2</c:v>
                </c:pt>
                <c:pt idx="31">
                  <c:v>-5.9358769554401919E-2</c:v>
                </c:pt>
                <c:pt idx="32">
                  <c:v>-4.8973047395801557E-2</c:v>
                </c:pt>
                <c:pt idx="33">
                  <c:v>-7.9803474880866407E-2</c:v>
                </c:pt>
                <c:pt idx="34">
                  <c:v>-0.11209053375987788</c:v>
                </c:pt>
                <c:pt idx="35">
                  <c:v>-9.5803457192286945E-2</c:v>
                </c:pt>
                <c:pt idx="36">
                  <c:v>-7.9290383301316353E-2</c:v>
                </c:pt>
                <c:pt idx="37">
                  <c:v>-8.5258849778007517E-2</c:v>
                </c:pt>
                <c:pt idx="38">
                  <c:v>-0.12490916951038916</c:v>
                </c:pt>
                <c:pt idx="39">
                  <c:v>-5.8617920677804067E-2</c:v>
                </c:pt>
                <c:pt idx="40">
                  <c:v>-0.11765356929771981</c:v>
                </c:pt>
                <c:pt idx="41">
                  <c:v>-0.11639780514394572</c:v>
                </c:pt>
              </c:numCache>
            </c:numRef>
          </c:val>
          <c:extLst>
            <c:ext xmlns:c16="http://schemas.microsoft.com/office/drawing/2014/chart" uri="{C3380CC4-5D6E-409C-BE32-E72D297353CC}">
              <c16:uniqueId val="{00000001-930B-4CD1-A4C7-9B77D4BAC5DB}"/>
            </c:ext>
          </c:extLst>
        </c:ser>
        <c:ser>
          <c:idx val="5"/>
          <c:order val="2"/>
          <c:tx>
            <c:strRef>
              <c:f>Sheet1!$D$1</c:f>
              <c:strCache>
                <c:ptCount val="1"/>
                <c:pt idx="0">
                  <c:v>Financial account net flows</c:v>
                </c:pt>
              </c:strCache>
            </c:strRef>
          </c:tx>
          <c:spPr>
            <a:solidFill>
              <a:schemeClr val="tx2"/>
            </a:solidFill>
            <a:ln w="12700">
              <a:solidFill>
                <a:schemeClr val="tx1"/>
              </a:solidFill>
              <a:prstDash val="solid"/>
            </a:ln>
          </c:spPr>
          <c:invertIfNegative val="0"/>
          <c:cat>
            <c:strRef>
              <c:f>Sheet1!$A$2:$A$43</c:f>
              <c:strCache>
                <c:ptCount val="42"/>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strCache>
            </c:strRef>
          </c:cat>
          <c:val>
            <c:numRef>
              <c:f>Sheet1!$D$2:$D$43</c:f>
              <c:numCache>
                <c:formatCode>0.00</c:formatCode>
                <c:ptCount val="42"/>
                <c:pt idx="0">
                  <c:v>-0.83121707598102501</c:v>
                </c:pt>
                <c:pt idx="1">
                  <c:v>-1.8339185162936342</c:v>
                </c:pt>
                <c:pt idx="2">
                  <c:v>-0.38652158784196816</c:v>
                </c:pt>
                <c:pt idx="3">
                  <c:v>-0.93696641800617431</c:v>
                </c:pt>
                <c:pt idx="4">
                  <c:v>-1.8893122691355801</c:v>
                </c:pt>
                <c:pt idx="5">
                  <c:v>-0.40008595691047683</c:v>
                </c:pt>
                <c:pt idx="6">
                  <c:v>-2.733213699225515E-2</c:v>
                </c:pt>
                <c:pt idx="7">
                  <c:v>2.3380475831576741</c:v>
                </c:pt>
                <c:pt idx="8">
                  <c:v>3.103528903917407</c:v>
                </c:pt>
                <c:pt idx="9">
                  <c:v>2.4013005486689698</c:v>
                </c:pt>
                <c:pt idx="10">
                  <c:v>4.3282831223231861</c:v>
                </c:pt>
                <c:pt idx="11">
                  <c:v>0.30007597397360858</c:v>
                </c:pt>
                <c:pt idx="12">
                  <c:v>2.5672713865313845E-2</c:v>
                </c:pt>
                <c:pt idx="13">
                  <c:v>2.0913543181741581</c:v>
                </c:pt>
                <c:pt idx="14">
                  <c:v>1.6356247591682269</c:v>
                </c:pt>
                <c:pt idx="15">
                  <c:v>-0.24659293881588509</c:v>
                </c:pt>
                <c:pt idx="16">
                  <c:v>0.53720899350410622</c:v>
                </c:pt>
                <c:pt idx="17">
                  <c:v>0.22507177837148393</c:v>
                </c:pt>
                <c:pt idx="18">
                  <c:v>-0.80695730218227046</c:v>
                </c:pt>
                <c:pt idx="19">
                  <c:v>2.0780828622705068</c:v>
                </c:pt>
                <c:pt idx="20">
                  <c:v>2.1994538006372326</c:v>
                </c:pt>
                <c:pt idx="21">
                  <c:v>1.3712508417080917</c:v>
                </c:pt>
                <c:pt idx="22">
                  <c:v>1.9407125383085113</c:v>
                </c:pt>
                <c:pt idx="23">
                  <c:v>2.9592768081779726</c:v>
                </c:pt>
                <c:pt idx="24">
                  <c:v>2.326513178534845</c:v>
                </c:pt>
                <c:pt idx="25">
                  <c:v>2.9169310173356879</c:v>
                </c:pt>
                <c:pt idx="26">
                  <c:v>3.1773752947406484</c:v>
                </c:pt>
                <c:pt idx="27">
                  <c:v>4.1398545543553178</c:v>
                </c:pt>
                <c:pt idx="28">
                  <c:v>4.180698444786934</c:v>
                </c:pt>
                <c:pt idx="29">
                  <c:v>4.1410424373201815</c:v>
                </c:pt>
                <c:pt idx="30">
                  <c:v>4.0234587007154845</c:v>
                </c:pt>
                <c:pt idx="31">
                  <c:v>2.029698552089267</c:v>
                </c:pt>
                <c:pt idx="32">
                  <c:v>2.9328639356785788</c:v>
                </c:pt>
                <c:pt idx="33">
                  <c:v>4.5283313489352564</c:v>
                </c:pt>
                <c:pt idx="34">
                  <c:v>4.5829198118286163</c:v>
                </c:pt>
                <c:pt idx="35">
                  <c:v>5.6112198560157749</c:v>
                </c:pt>
                <c:pt idx="36">
                  <c:v>5.8512236702868838</c:v>
                </c:pt>
                <c:pt idx="37">
                  <c:v>3.1235828934889036</c:v>
                </c:pt>
                <c:pt idx="38">
                  <c:v>3.5412393417893839</c:v>
                </c:pt>
                <c:pt idx="39">
                  <c:v>3.114952757591841</c:v>
                </c:pt>
                <c:pt idx="40">
                  <c:v>2.0336396201417331</c:v>
                </c:pt>
                <c:pt idx="41">
                  <c:v>1.9113926563645043</c:v>
                </c:pt>
              </c:numCache>
            </c:numRef>
          </c:val>
          <c:extLst>
            <c:ext xmlns:c16="http://schemas.microsoft.com/office/drawing/2014/chart" uri="{C3380CC4-5D6E-409C-BE32-E72D297353CC}">
              <c16:uniqueId val="{00000002-930B-4CD1-A4C7-9B77D4BAC5DB}"/>
            </c:ext>
          </c:extLst>
        </c:ser>
        <c:ser>
          <c:idx val="0"/>
          <c:order val="3"/>
          <c:tx>
            <c:strRef>
              <c:f>Sheet1!$E$1</c:f>
              <c:strCache>
                <c:ptCount val="1"/>
                <c:pt idx="0">
                  <c:v>Net errors and omissions</c:v>
                </c:pt>
              </c:strCache>
            </c:strRef>
          </c:tx>
          <c:spPr>
            <a:solidFill>
              <a:srgbClr val="339933"/>
            </a:solidFill>
            <a:ln w="12700">
              <a:solidFill>
                <a:schemeClr val="tx1"/>
              </a:solidFill>
            </a:ln>
          </c:spPr>
          <c:invertIfNegative val="0"/>
          <c:cat>
            <c:strRef>
              <c:f>Sheet1!$A$2:$A$43</c:f>
              <c:strCache>
                <c:ptCount val="42"/>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strCache>
            </c:strRef>
          </c:cat>
          <c:val>
            <c:numRef>
              <c:f>Sheet1!$E$2:$E$43</c:f>
              <c:numCache>
                <c:formatCode>0.00</c:formatCode>
                <c:ptCount val="42"/>
                <c:pt idx="0">
                  <c:v>0.29518418182729028</c:v>
                </c:pt>
                <c:pt idx="1">
                  <c:v>0.33453822332238919</c:v>
                </c:pt>
                <c:pt idx="2">
                  <c:v>-0.16990648873507441</c:v>
                </c:pt>
                <c:pt idx="3">
                  <c:v>0.70094323756531263</c:v>
                </c:pt>
                <c:pt idx="4">
                  <c:v>2.3570031744685811</c:v>
                </c:pt>
                <c:pt idx="5">
                  <c:v>0.64371102059344065</c:v>
                </c:pt>
                <c:pt idx="6">
                  <c:v>1.0487027316454618</c:v>
                </c:pt>
                <c:pt idx="7">
                  <c:v>-0.79520218610068805</c:v>
                </c:pt>
                <c:pt idx="8">
                  <c:v>0.42519515090470877</c:v>
                </c:pt>
                <c:pt idx="9">
                  <c:v>1.6555984555984555</c:v>
                </c:pt>
                <c:pt idx="10">
                  <c:v>-1.3002464646283698</c:v>
                </c:pt>
                <c:pt idx="11">
                  <c:v>1.0119959650321653</c:v>
                </c:pt>
                <c:pt idx="12">
                  <c:v>1.4701725397551535</c:v>
                </c:pt>
                <c:pt idx="13">
                  <c:v>-0.8082560077986658</c:v>
                </c:pt>
                <c:pt idx="14">
                  <c:v>-1.1582084701380913</c:v>
                </c:pt>
                <c:pt idx="15">
                  <c:v>0.86600533503354316</c:v>
                </c:pt>
                <c:pt idx="16">
                  <c:v>-0.10305193971406654</c:v>
                </c:pt>
                <c:pt idx="17">
                  <c:v>-2.6244377142197284E-2</c:v>
                </c:pt>
                <c:pt idx="18">
                  <c:v>1.495815962448839</c:v>
                </c:pt>
                <c:pt idx="19">
                  <c:v>0.45989807767977964</c:v>
                </c:pt>
                <c:pt idx="20">
                  <c:v>-4.8702776513427401E-2</c:v>
                </c:pt>
                <c:pt idx="21">
                  <c:v>0.59210716421648246</c:v>
                </c:pt>
                <c:pt idx="22">
                  <c:v>0.22220616699822571</c:v>
                </c:pt>
                <c:pt idx="23">
                  <c:v>-1.1604244545505051</c:v>
                </c:pt>
                <c:pt idx="24">
                  <c:v>-1.1642015580645527E-2</c:v>
                </c:pt>
                <c:pt idx="25">
                  <c:v>-0.94223151974485164</c:v>
                </c:pt>
                <c:pt idx="26">
                  <c:v>-0.26450476122113709</c:v>
                </c:pt>
                <c:pt idx="27">
                  <c:v>-0.73186599418990383</c:v>
                </c:pt>
                <c:pt idx="28">
                  <c:v>-0.31731000180140512</c:v>
                </c:pt>
                <c:pt idx="29">
                  <c:v>-0.91707768187422933</c:v>
                </c:pt>
                <c:pt idx="30">
                  <c:v>-0.8967897803925704</c:v>
                </c:pt>
                <c:pt idx="31">
                  <c:v>-6.5528248125646518E-2</c:v>
                </c:pt>
                <c:pt idx="32">
                  <c:v>0.59325357058828654</c:v>
                </c:pt>
                <c:pt idx="33">
                  <c:v>0.32122153411166354</c:v>
                </c:pt>
                <c:pt idx="34">
                  <c:v>0.64040312083924522</c:v>
                </c:pt>
                <c:pt idx="35">
                  <c:v>-0.35034921238603317</c:v>
                </c:pt>
                <c:pt idx="36">
                  <c:v>-0.44559311091033693</c:v>
                </c:pt>
                <c:pt idx="37">
                  <c:v>0.59299723480945266</c:v>
                </c:pt>
                <c:pt idx="38">
                  <c:v>0.46128091685905864</c:v>
                </c:pt>
                <c:pt idx="39">
                  <c:v>-0.38859868140716708</c:v>
                </c:pt>
                <c:pt idx="40">
                  <c:v>0.58552414665122132</c:v>
                </c:pt>
                <c:pt idx="41">
                  <c:v>0.79234234506403378</c:v>
                </c:pt>
              </c:numCache>
            </c:numRef>
          </c:val>
          <c:extLst>
            <c:ext xmlns:c16="http://schemas.microsoft.com/office/drawing/2014/chart" uri="{C3380CC4-5D6E-409C-BE32-E72D297353CC}">
              <c16:uniqueId val="{00000003-930B-4CD1-A4C7-9B77D4BAC5DB}"/>
            </c:ext>
          </c:extLst>
        </c:ser>
        <c:dLbls>
          <c:showLegendKey val="0"/>
          <c:showVal val="0"/>
          <c:showCatName val="0"/>
          <c:showSerName val="0"/>
          <c:showPercent val="0"/>
          <c:showBubbleSize val="0"/>
        </c:dLbls>
        <c:gapWidth val="40"/>
        <c:overlap val="100"/>
        <c:axId val="210144976"/>
        <c:axId val="1"/>
      </c:barChart>
      <c:catAx>
        <c:axId val="210144976"/>
        <c:scaling>
          <c:orientation val="minMax"/>
        </c:scaling>
        <c:delete val="0"/>
        <c:axPos val="b"/>
        <c:numFmt formatCode="General" sourceLinked="1"/>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8"/>
        <c:auto val="0"/>
        <c:lblAlgn val="ctr"/>
        <c:lblOffset val="100"/>
        <c:tickLblSkip val="5"/>
        <c:tickMarkSkip val="1"/>
        <c:noMultiLvlLbl val="0"/>
      </c:catAx>
      <c:valAx>
        <c:axId val="1"/>
        <c:scaling>
          <c:orientation val="minMax"/>
          <c:max val="7"/>
          <c:min val="-7"/>
        </c:scaling>
        <c:delete val="0"/>
        <c:axPos val="l"/>
        <c:title>
          <c:tx>
            <c:rich>
              <a:bodyPr/>
              <a:lstStyle/>
              <a:p>
                <a:pPr>
                  <a:defRPr sz="1800" b="0" i="0" u="none" strike="noStrike" baseline="0">
                    <a:solidFill>
                      <a:srgbClr val="000000"/>
                    </a:solidFill>
                    <a:latin typeface="Arial"/>
                    <a:ea typeface="Arial"/>
                    <a:cs typeface="Arial"/>
                  </a:defRPr>
                </a:pPr>
                <a:r>
                  <a:rPr lang="en-GB" sz="1800"/>
                  <a:t>Percentage of GDP</a:t>
                </a:r>
              </a:p>
            </c:rich>
          </c:tx>
          <c:layout>
            <c:manualLayout>
              <c:xMode val="edge"/>
              <c:yMode val="edge"/>
              <c:x val="2.9250817810792501E-2"/>
              <c:y val="0.2644313155659192"/>
            </c:manualLayout>
          </c:layout>
          <c:overlay val="0"/>
          <c:spPr>
            <a:noFill/>
            <a:ln w="27989">
              <a:noFill/>
            </a:ln>
          </c:spPr>
        </c:title>
        <c:numFmt formatCode="0_ ;\−0\ " sourceLinked="0"/>
        <c:majorTickMark val="out"/>
        <c:minorTickMark val="none"/>
        <c:tickLblPos val="nextTo"/>
        <c:spPr>
          <a:ln w="15875">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10144976"/>
        <c:crosses val="autoZero"/>
        <c:crossBetween val="between"/>
        <c:majorUnit val="1"/>
      </c:valAx>
      <c:spPr>
        <a:solidFill>
          <a:schemeClr val="bg1"/>
        </a:solidFill>
        <a:ln w="12700">
          <a:solidFill>
            <a:schemeClr val="bg1">
              <a:lumMod val="50000"/>
            </a:schemeClr>
          </a:solidFill>
        </a:ln>
      </c:spPr>
    </c:plotArea>
    <c:legend>
      <c:legendPos val="b"/>
      <c:legendEntry>
        <c:idx val="0"/>
        <c:txPr>
          <a:bodyPr/>
          <a:lstStyle/>
          <a:p>
            <a:pPr>
              <a:defRPr sz="1800" b="0" i="0" u="none" strike="noStrike" baseline="0">
                <a:solidFill>
                  <a:srgbClr val="FF0000"/>
                </a:solidFill>
                <a:latin typeface="Arial"/>
                <a:ea typeface="Arial"/>
                <a:cs typeface="Arial"/>
              </a:defRPr>
            </a:pPr>
            <a:endParaRPr lang="en-US"/>
          </a:p>
        </c:txPr>
      </c:legendEntry>
      <c:legendEntry>
        <c:idx val="1"/>
        <c:txPr>
          <a:bodyPr/>
          <a:lstStyle/>
          <a:p>
            <a:pPr>
              <a:defRPr sz="1800" b="0" i="0" u="none" strike="noStrike" baseline="0">
                <a:solidFill>
                  <a:srgbClr val="CC00CC"/>
                </a:solidFill>
                <a:latin typeface="Arial"/>
                <a:ea typeface="Arial"/>
                <a:cs typeface="Arial"/>
              </a:defRPr>
            </a:pPr>
            <a:endParaRPr lang="en-US"/>
          </a:p>
        </c:txPr>
      </c:legendEntry>
      <c:legendEntry>
        <c:idx val="2"/>
        <c:txPr>
          <a:bodyPr/>
          <a:lstStyle/>
          <a:p>
            <a:pPr>
              <a:defRPr sz="1800" b="0" i="0" u="none" strike="noStrike" baseline="0">
                <a:solidFill>
                  <a:schemeClr val="tx2"/>
                </a:solidFill>
                <a:latin typeface="Arial"/>
                <a:ea typeface="Arial"/>
                <a:cs typeface="Arial"/>
              </a:defRPr>
            </a:pPr>
            <a:endParaRPr lang="en-US"/>
          </a:p>
        </c:txPr>
      </c:legendEntry>
      <c:legendEntry>
        <c:idx val="3"/>
        <c:txPr>
          <a:bodyPr/>
          <a:lstStyle/>
          <a:p>
            <a:pPr>
              <a:defRPr sz="1800" b="0" i="0" u="none" strike="noStrike" baseline="0">
                <a:solidFill>
                  <a:srgbClr val="006600"/>
                </a:solidFill>
                <a:latin typeface="Arial"/>
                <a:ea typeface="Arial"/>
                <a:cs typeface="Arial"/>
              </a:defRPr>
            </a:pPr>
            <a:endParaRPr lang="en-US"/>
          </a:p>
        </c:txPr>
      </c:legendEntry>
      <c:layout>
        <c:manualLayout>
          <c:xMode val="edge"/>
          <c:yMode val="edge"/>
          <c:x val="0.11873432425079361"/>
          <c:y val="3.3090556912314661E-2"/>
          <c:w val="0.58473797697359109"/>
          <c:h val="0.11674672062387578"/>
        </c:manualLayout>
      </c:layout>
      <c:overlay val="0"/>
      <c:spPr>
        <a:solidFill>
          <a:srgbClr val="FFFFD7"/>
        </a:solidFill>
        <a:ln w="15875">
          <a:solidFill>
            <a:srgbClr val="800080"/>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1984" b="1" i="0" u="none" strike="noStrike" baseline="0">
          <a:solidFill>
            <a:schemeClr val="tx1"/>
          </a:solidFill>
          <a:latin typeface="Arial"/>
          <a:ea typeface="Arial"/>
          <a:cs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69079345850999"/>
          <c:y val="3.8575171899515814E-2"/>
          <c:w val="0.77677475203204982"/>
          <c:h val="0.87792953393250039"/>
        </c:manualLayout>
      </c:layout>
      <c:lineChart>
        <c:grouping val="standard"/>
        <c:varyColors val="0"/>
        <c:ser>
          <c:idx val="11"/>
          <c:order val="2"/>
          <c:tx>
            <c:strRef>
              <c:f>Sheet1!$D$1</c:f>
              <c:strCache>
                <c:ptCount val="1"/>
                <c:pt idx="0">
                  <c:v>US dollar</c:v>
                </c:pt>
              </c:strCache>
            </c:strRef>
          </c:tx>
          <c:spPr>
            <a:ln w="28575">
              <a:solidFill>
                <a:srgbClr val="FF00FF"/>
              </a:solidFill>
              <a:prstDash val="solid"/>
            </a:ln>
          </c:spPr>
          <c:marker>
            <c:symbol val="none"/>
          </c:marker>
          <c:cat>
            <c:numRef>
              <c:f>Sheet1!$A$2:$A$516</c:f>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f>Sheet1!$D$2:$D$516</c:f>
              <c:numCache>
                <c:formatCode>0.000</c:formatCode>
                <c:ptCount val="515"/>
                <c:pt idx="0">
                  <c:v>2.2658</c:v>
                </c:pt>
                <c:pt idx="1">
                  <c:v>2.2898000000000001</c:v>
                </c:pt>
                <c:pt idx="2">
                  <c:v>2.2063000000000001</c:v>
                </c:pt>
                <c:pt idx="3">
                  <c:v>2.2162000000000002</c:v>
                </c:pt>
                <c:pt idx="4">
                  <c:v>2.3039999999999998</c:v>
                </c:pt>
                <c:pt idx="5">
                  <c:v>2.3359000000000001</c:v>
                </c:pt>
                <c:pt idx="6">
                  <c:v>2.3727</c:v>
                </c:pt>
                <c:pt idx="7">
                  <c:v>2.3704999999999998</c:v>
                </c:pt>
                <c:pt idx="8">
                  <c:v>2.4020000000000001</c:v>
                </c:pt>
                <c:pt idx="9">
                  <c:v>2.4167999999999998</c:v>
                </c:pt>
                <c:pt idx="10">
                  <c:v>2.3963999999999999</c:v>
                </c:pt>
                <c:pt idx="11">
                  <c:v>2.3458999999999999</c:v>
                </c:pt>
                <c:pt idx="12">
                  <c:v>2.4047000000000001</c:v>
                </c:pt>
                <c:pt idx="13">
                  <c:v>2.2940999999999998</c:v>
                </c:pt>
                <c:pt idx="14">
                  <c:v>2.2326000000000001</c:v>
                </c:pt>
                <c:pt idx="15">
                  <c:v>2.1789999999999998</c:v>
                </c:pt>
                <c:pt idx="16">
                  <c:v>2.0895000000000001</c:v>
                </c:pt>
                <c:pt idx="17">
                  <c:v>1.9738</c:v>
                </c:pt>
                <c:pt idx="18">
                  <c:v>1.8764000000000001</c:v>
                </c:pt>
                <c:pt idx="19">
                  <c:v>1.821</c:v>
                </c:pt>
                <c:pt idx="20">
                  <c:v>1.8169999999999999</c:v>
                </c:pt>
                <c:pt idx="21">
                  <c:v>1.8427</c:v>
                </c:pt>
                <c:pt idx="22">
                  <c:v>1.9037999999999999</c:v>
                </c:pt>
                <c:pt idx="23">
                  <c:v>1.9052</c:v>
                </c:pt>
                <c:pt idx="24">
                  <c:v>1.8875</c:v>
                </c:pt>
                <c:pt idx="25">
                  <c:v>1.8468</c:v>
                </c:pt>
                <c:pt idx="26">
                  <c:v>1.8071999999999999</c:v>
                </c:pt>
                <c:pt idx="27">
                  <c:v>1.7721</c:v>
                </c:pt>
                <c:pt idx="28">
                  <c:v>1.8115000000000001</c:v>
                </c:pt>
                <c:pt idx="29">
                  <c:v>1.7578</c:v>
                </c:pt>
                <c:pt idx="30">
                  <c:v>1.7347999999999999</c:v>
                </c:pt>
                <c:pt idx="31">
                  <c:v>1.7266999999999999</c:v>
                </c:pt>
                <c:pt idx="32">
                  <c:v>1.7141</c:v>
                </c:pt>
                <c:pt idx="33">
                  <c:v>1.6978</c:v>
                </c:pt>
                <c:pt idx="34">
                  <c:v>1.633</c:v>
                </c:pt>
                <c:pt idx="35">
                  <c:v>1.6185</c:v>
                </c:pt>
                <c:pt idx="36">
                  <c:v>1.5732999999999999</c:v>
                </c:pt>
                <c:pt idx="37">
                  <c:v>1.5327999999999999</c:v>
                </c:pt>
                <c:pt idx="38">
                  <c:v>1.4905999999999999</c:v>
                </c:pt>
                <c:pt idx="39">
                  <c:v>1.5411999999999999</c:v>
                </c:pt>
                <c:pt idx="40">
                  <c:v>1.5731999999999999</c:v>
                </c:pt>
                <c:pt idx="41">
                  <c:v>1.5490999999999999</c:v>
                </c:pt>
                <c:pt idx="42">
                  <c:v>1.5283</c:v>
                </c:pt>
                <c:pt idx="43">
                  <c:v>1.5017</c:v>
                </c:pt>
                <c:pt idx="44">
                  <c:v>1.4984</c:v>
                </c:pt>
                <c:pt idx="45">
                  <c:v>1.4974000000000001</c:v>
                </c:pt>
                <c:pt idx="46">
                  <c:v>1.4776</c:v>
                </c:pt>
                <c:pt idx="47">
                  <c:v>1.4355</c:v>
                </c:pt>
                <c:pt idx="48">
                  <c:v>1.4081999999999999</c:v>
                </c:pt>
                <c:pt idx="49">
                  <c:v>1.4401999999999999</c:v>
                </c:pt>
                <c:pt idx="50">
                  <c:v>1.4565999999999999</c:v>
                </c:pt>
                <c:pt idx="51">
                  <c:v>1.4238</c:v>
                </c:pt>
                <c:pt idx="52">
                  <c:v>1.3893</c:v>
                </c:pt>
                <c:pt idx="53">
                  <c:v>1.3774</c:v>
                </c:pt>
                <c:pt idx="54">
                  <c:v>1.3210999999999999</c:v>
                </c:pt>
                <c:pt idx="55">
                  <c:v>1.3140000000000001</c:v>
                </c:pt>
                <c:pt idx="56">
                  <c:v>1.2589999999999999</c:v>
                </c:pt>
                <c:pt idx="57">
                  <c:v>1.2202</c:v>
                </c:pt>
                <c:pt idx="58">
                  <c:v>1.2416</c:v>
                </c:pt>
                <c:pt idx="59">
                  <c:v>1.1873</c:v>
                </c:pt>
                <c:pt idx="60">
                  <c:v>1.1286</c:v>
                </c:pt>
                <c:pt idx="61">
                  <c:v>1.0931999999999999</c:v>
                </c:pt>
                <c:pt idx="62">
                  <c:v>1.123</c:v>
                </c:pt>
                <c:pt idx="63">
                  <c:v>1.2423999999999999</c:v>
                </c:pt>
                <c:pt idx="64">
                  <c:v>1.2503</c:v>
                </c:pt>
                <c:pt idx="65">
                  <c:v>1.2808999999999999</c:v>
                </c:pt>
                <c:pt idx="66">
                  <c:v>1.3783000000000001</c:v>
                </c:pt>
                <c:pt idx="67">
                  <c:v>1.3834</c:v>
                </c:pt>
                <c:pt idx="68">
                  <c:v>1.3653999999999999</c:v>
                </c:pt>
                <c:pt idx="69">
                  <c:v>1.4222999999999999</c:v>
                </c:pt>
                <c:pt idx="70">
                  <c:v>1.4402999999999999</c:v>
                </c:pt>
                <c:pt idx="71">
                  <c:v>1.4460999999999999</c:v>
                </c:pt>
                <c:pt idx="72">
                  <c:v>1.423</c:v>
                </c:pt>
                <c:pt idx="73">
                  <c:v>1.4301999999999999</c:v>
                </c:pt>
                <c:pt idx="74">
                  <c:v>1.4670000000000001</c:v>
                </c:pt>
                <c:pt idx="75">
                  <c:v>1.4985999999999999</c:v>
                </c:pt>
                <c:pt idx="76">
                  <c:v>1.5206</c:v>
                </c:pt>
                <c:pt idx="77">
                  <c:v>1.5088999999999999</c:v>
                </c:pt>
                <c:pt idx="78">
                  <c:v>1.508</c:v>
                </c:pt>
                <c:pt idx="79">
                  <c:v>1.4866999999999999</c:v>
                </c:pt>
                <c:pt idx="80">
                  <c:v>1.4716</c:v>
                </c:pt>
                <c:pt idx="81">
                  <c:v>1.4276</c:v>
                </c:pt>
                <c:pt idx="82">
                  <c:v>1.4253</c:v>
                </c:pt>
                <c:pt idx="83">
                  <c:v>1.4382999999999999</c:v>
                </c:pt>
                <c:pt idx="84">
                  <c:v>1.5071000000000001</c:v>
                </c:pt>
                <c:pt idx="85">
                  <c:v>1.5270999999999999</c:v>
                </c:pt>
                <c:pt idx="86">
                  <c:v>1.5919000000000001</c:v>
                </c:pt>
                <c:pt idx="87">
                  <c:v>1.6298999999999999</c:v>
                </c:pt>
                <c:pt idx="88">
                  <c:v>1.6660999999999999</c:v>
                </c:pt>
                <c:pt idx="89">
                  <c:v>1.6293</c:v>
                </c:pt>
                <c:pt idx="90">
                  <c:v>1.6099000000000001</c:v>
                </c:pt>
                <c:pt idx="91">
                  <c:v>1.5974999999999999</c:v>
                </c:pt>
                <c:pt idx="92">
                  <c:v>1.6462000000000001</c:v>
                </c:pt>
                <c:pt idx="93">
                  <c:v>1.6620999999999999</c:v>
                </c:pt>
                <c:pt idx="94">
                  <c:v>1.7754000000000001</c:v>
                </c:pt>
                <c:pt idx="95">
                  <c:v>1.8272999999999999</c:v>
                </c:pt>
                <c:pt idx="96">
                  <c:v>1.7981</c:v>
                </c:pt>
                <c:pt idx="97">
                  <c:v>1.7578</c:v>
                </c:pt>
                <c:pt idx="98">
                  <c:v>1.8324</c:v>
                </c:pt>
                <c:pt idx="99">
                  <c:v>1.8765000000000001</c:v>
                </c:pt>
                <c:pt idx="100">
                  <c:v>1.8694</c:v>
                </c:pt>
                <c:pt idx="101">
                  <c:v>1.7789999999999999</c:v>
                </c:pt>
                <c:pt idx="102">
                  <c:v>1.7041999999999999</c:v>
                </c:pt>
                <c:pt idx="103">
                  <c:v>1.6982999999999999</c:v>
                </c:pt>
                <c:pt idx="104">
                  <c:v>1.6833</c:v>
                </c:pt>
                <c:pt idx="105">
                  <c:v>1.7382</c:v>
                </c:pt>
                <c:pt idx="106">
                  <c:v>1.8089999999999999</c:v>
                </c:pt>
                <c:pt idx="107">
                  <c:v>1.8282</c:v>
                </c:pt>
                <c:pt idx="108">
                  <c:v>1.7747999999999999</c:v>
                </c:pt>
                <c:pt idx="109">
                  <c:v>1.7541</c:v>
                </c:pt>
                <c:pt idx="110">
                  <c:v>1.7145999999999999</c:v>
                </c:pt>
                <c:pt idx="111">
                  <c:v>1.7021999999999999</c:v>
                </c:pt>
                <c:pt idx="112">
                  <c:v>1.6294999999999999</c:v>
                </c:pt>
                <c:pt idx="113">
                  <c:v>1.5531999999999999</c:v>
                </c:pt>
                <c:pt idx="114">
                  <c:v>1.6244000000000001</c:v>
                </c:pt>
                <c:pt idx="115">
                  <c:v>1.5954999999999999</c:v>
                </c:pt>
                <c:pt idx="116">
                  <c:v>1.5714999999999999</c:v>
                </c:pt>
                <c:pt idx="117">
                  <c:v>1.5882000000000001</c:v>
                </c:pt>
                <c:pt idx="118">
                  <c:v>1.5724</c:v>
                </c:pt>
                <c:pt idx="119">
                  <c:v>1.5956999999999999</c:v>
                </c:pt>
                <c:pt idx="120">
                  <c:v>1.6523000000000001</c:v>
                </c:pt>
                <c:pt idx="121">
                  <c:v>1.6961999999999999</c:v>
                </c:pt>
                <c:pt idx="122">
                  <c:v>1.6246</c:v>
                </c:pt>
                <c:pt idx="123">
                  <c:v>1.6374</c:v>
                </c:pt>
                <c:pt idx="124">
                  <c:v>1.6778</c:v>
                </c:pt>
                <c:pt idx="125">
                  <c:v>1.7094</c:v>
                </c:pt>
                <c:pt idx="126">
                  <c:v>1.8081</c:v>
                </c:pt>
                <c:pt idx="127">
                  <c:v>1.8997999999999999</c:v>
                </c:pt>
                <c:pt idx="128">
                  <c:v>1.8786</c:v>
                </c:pt>
                <c:pt idx="129">
                  <c:v>1.9454</c:v>
                </c:pt>
                <c:pt idx="130">
                  <c:v>1.9646999999999999</c:v>
                </c:pt>
                <c:pt idx="131">
                  <c:v>1.9257</c:v>
                </c:pt>
                <c:pt idx="132">
                  <c:v>1.9348000000000001</c:v>
                </c:pt>
                <c:pt idx="133">
                  <c:v>1.9655</c:v>
                </c:pt>
                <c:pt idx="134">
                  <c:v>1.8265</c:v>
                </c:pt>
                <c:pt idx="135">
                  <c:v>1.7502</c:v>
                </c:pt>
                <c:pt idx="136">
                  <c:v>1.7252000000000001</c:v>
                </c:pt>
                <c:pt idx="137">
                  <c:v>1.6498999999999999</c:v>
                </c:pt>
                <c:pt idx="138">
                  <c:v>1.6503000000000001</c:v>
                </c:pt>
                <c:pt idx="139">
                  <c:v>1.6840999999999999</c:v>
                </c:pt>
                <c:pt idx="140">
                  <c:v>1.7249000000000001</c:v>
                </c:pt>
                <c:pt idx="141">
                  <c:v>1.7225999999999999</c:v>
                </c:pt>
                <c:pt idx="142">
                  <c:v>1.7786999999999999</c:v>
                </c:pt>
                <c:pt idx="143">
                  <c:v>1.8258000000000001</c:v>
                </c:pt>
                <c:pt idx="144">
                  <c:v>1.8127</c:v>
                </c:pt>
                <c:pt idx="145">
                  <c:v>1.7781</c:v>
                </c:pt>
                <c:pt idx="146">
                  <c:v>1.7238</c:v>
                </c:pt>
                <c:pt idx="147">
                  <c:v>1.7576000000000001</c:v>
                </c:pt>
                <c:pt idx="148">
                  <c:v>1.8109</c:v>
                </c:pt>
                <c:pt idx="149">
                  <c:v>1.8555999999999999</c:v>
                </c:pt>
                <c:pt idx="150">
                  <c:v>1.9186000000000001</c:v>
                </c:pt>
                <c:pt idx="151">
                  <c:v>1.9412</c:v>
                </c:pt>
                <c:pt idx="152">
                  <c:v>1.8559000000000001</c:v>
                </c:pt>
                <c:pt idx="153">
                  <c:v>1.6577</c:v>
                </c:pt>
                <c:pt idx="154">
                  <c:v>1.5275000000000001</c:v>
                </c:pt>
                <c:pt idx="155">
                  <c:v>1.5536000000000001</c:v>
                </c:pt>
                <c:pt idx="156">
                  <c:v>1.5325</c:v>
                </c:pt>
                <c:pt idx="157">
                  <c:v>1.4386000000000001</c:v>
                </c:pt>
                <c:pt idx="158">
                  <c:v>1.4624999999999999</c:v>
                </c:pt>
                <c:pt idx="159">
                  <c:v>1.5471999999999999</c:v>
                </c:pt>
                <c:pt idx="160">
                  <c:v>1.5481</c:v>
                </c:pt>
                <c:pt idx="161">
                  <c:v>1.5099</c:v>
                </c:pt>
                <c:pt idx="162">
                  <c:v>1.4963</c:v>
                </c:pt>
                <c:pt idx="163">
                  <c:v>1.4911000000000001</c:v>
                </c:pt>
                <c:pt idx="164">
                  <c:v>1.5261</c:v>
                </c:pt>
                <c:pt idx="165">
                  <c:v>1.5037</c:v>
                </c:pt>
                <c:pt idx="166">
                  <c:v>1.4805999999999999</c:v>
                </c:pt>
                <c:pt idx="167">
                  <c:v>1.4903999999999999</c:v>
                </c:pt>
                <c:pt idx="168">
                  <c:v>1.4939</c:v>
                </c:pt>
                <c:pt idx="169">
                  <c:v>1.4799</c:v>
                </c:pt>
                <c:pt idx="170">
                  <c:v>1.4917</c:v>
                </c:pt>
                <c:pt idx="171">
                  <c:v>1.4837</c:v>
                </c:pt>
                <c:pt idx="172">
                  <c:v>1.5028999999999999</c:v>
                </c:pt>
                <c:pt idx="173">
                  <c:v>1.5251999999999999</c:v>
                </c:pt>
                <c:pt idx="174">
                  <c:v>1.5463</c:v>
                </c:pt>
                <c:pt idx="175">
                  <c:v>1.5427</c:v>
                </c:pt>
                <c:pt idx="176">
                  <c:v>1.5650999999999999</c:v>
                </c:pt>
                <c:pt idx="177">
                  <c:v>1.6056999999999999</c:v>
                </c:pt>
                <c:pt idx="178">
                  <c:v>1.5886</c:v>
                </c:pt>
                <c:pt idx="179">
                  <c:v>1.5595000000000001</c:v>
                </c:pt>
                <c:pt idx="180">
                  <c:v>1.5747</c:v>
                </c:pt>
                <c:pt idx="181">
                  <c:v>1.5720000000000001</c:v>
                </c:pt>
                <c:pt idx="182">
                  <c:v>1.6005</c:v>
                </c:pt>
                <c:pt idx="183">
                  <c:v>1.6073999999999999</c:v>
                </c:pt>
                <c:pt idx="184">
                  <c:v>1.5868</c:v>
                </c:pt>
                <c:pt idx="185">
                  <c:v>1.5949</c:v>
                </c:pt>
                <c:pt idx="186">
                  <c:v>1.5952999999999999</c:v>
                </c:pt>
                <c:pt idx="187">
                  <c:v>1.5681</c:v>
                </c:pt>
                <c:pt idx="188">
                  <c:v>1.5584</c:v>
                </c:pt>
                <c:pt idx="189">
                  <c:v>1.5779000000000001</c:v>
                </c:pt>
                <c:pt idx="190">
                  <c:v>1.5623</c:v>
                </c:pt>
                <c:pt idx="191">
                  <c:v>1.5398000000000001</c:v>
                </c:pt>
                <c:pt idx="192">
                  <c:v>1.5306</c:v>
                </c:pt>
                <c:pt idx="193">
                  <c:v>1.5364</c:v>
                </c:pt>
                <c:pt idx="194">
                  <c:v>1.5270999999999999</c:v>
                </c:pt>
                <c:pt idx="195">
                  <c:v>1.5145</c:v>
                </c:pt>
                <c:pt idx="196">
                  <c:v>1.5152000000000001</c:v>
                </c:pt>
                <c:pt idx="197">
                  <c:v>1.5418000000000001</c:v>
                </c:pt>
                <c:pt idx="198">
                  <c:v>1.5539000000000001</c:v>
                </c:pt>
                <c:pt idx="199">
                  <c:v>1.5502</c:v>
                </c:pt>
                <c:pt idx="200">
                  <c:v>1.5597000000000001</c:v>
                </c:pt>
                <c:pt idx="201">
                  <c:v>1.5862000000000001</c:v>
                </c:pt>
                <c:pt idx="202">
                  <c:v>1.6626000000000001</c:v>
                </c:pt>
                <c:pt idx="203">
                  <c:v>1.6647000000000001</c:v>
                </c:pt>
                <c:pt idx="204">
                  <c:v>1.6587000000000001</c:v>
                </c:pt>
                <c:pt idx="205">
                  <c:v>1.6246</c:v>
                </c:pt>
                <c:pt idx="206">
                  <c:v>1.6063000000000001</c:v>
                </c:pt>
                <c:pt idx="207">
                  <c:v>1.6294999999999999</c:v>
                </c:pt>
                <c:pt idx="208">
                  <c:v>1.6334</c:v>
                </c:pt>
                <c:pt idx="209">
                  <c:v>1.6446000000000001</c:v>
                </c:pt>
                <c:pt idx="210">
                  <c:v>1.6701999999999999</c:v>
                </c:pt>
                <c:pt idx="211">
                  <c:v>1.6033999999999999</c:v>
                </c:pt>
                <c:pt idx="212">
                  <c:v>1.6014999999999999</c:v>
                </c:pt>
                <c:pt idx="213">
                  <c:v>1.6329</c:v>
                </c:pt>
                <c:pt idx="214">
                  <c:v>1.6890000000000001</c:v>
                </c:pt>
                <c:pt idx="215">
                  <c:v>1.6597</c:v>
                </c:pt>
                <c:pt idx="216">
                  <c:v>1.6353</c:v>
                </c:pt>
                <c:pt idx="217">
                  <c:v>1.6407</c:v>
                </c:pt>
                <c:pt idx="218">
                  <c:v>1.6619999999999999</c:v>
                </c:pt>
                <c:pt idx="219">
                  <c:v>1.6733</c:v>
                </c:pt>
                <c:pt idx="220">
                  <c:v>1.6366000000000001</c:v>
                </c:pt>
                <c:pt idx="221">
                  <c:v>1.6507000000000001</c:v>
                </c:pt>
                <c:pt idx="222">
                  <c:v>1.6436999999999999</c:v>
                </c:pt>
                <c:pt idx="223">
                  <c:v>1.6319999999999999</c:v>
                </c:pt>
                <c:pt idx="224">
                  <c:v>1.6821999999999999</c:v>
                </c:pt>
                <c:pt idx="225">
                  <c:v>1.6952</c:v>
                </c:pt>
                <c:pt idx="226">
                  <c:v>1.6619999999999999</c:v>
                </c:pt>
                <c:pt idx="227">
                  <c:v>1.6705000000000001</c:v>
                </c:pt>
                <c:pt idx="228">
                  <c:v>1.6509</c:v>
                </c:pt>
                <c:pt idx="229">
                  <c:v>1.6275999999999999</c:v>
                </c:pt>
                <c:pt idx="230">
                  <c:v>1.6220000000000001</c:v>
                </c:pt>
                <c:pt idx="231">
                  <c:v>1.6105</c:v>
                </c:pt>
                <c:pt idx="232">
                  <c:v>1.6153999999999999</c:v>
                </c:pt>
                <c:pt idx="233">
                  <c:v>1.595</c:v>
                </c:pt>
                <c:pt idx="234">
                  <c:v>1.5747</c:v>
                </c:pt>
                <c:pt idx="235">
                  <c:v>1.6073</c:v>
                </c:pt>
                <c:pt idx="236">
                  <c:v>1.6243000000000001</c:v>
                </c:pt>
                <c:pt idx="237">
                  <c:v>1.6572</c:v>
                </c:pt>
                <c:pt idx="238">
                  <c:v>1.6214</c:v>
                </c:pt>
                <c:pt idx="239">
                  <c:v>1.6132</c:v>
                </c:pt>
                <c:pt idx="240">
                  <c:v>1.6402000000000001</c:v>
                </c:pt>
                <c:pt idx="241">
                  <c:v>1.5998000000000001</c:v>
                </c:pt>
                <c:pt idx="242">
                  <c:v>1.5802</c:v>
                </c:pt>
                <c:pt idx="243">
                  <c:v>1.5837000000000001</c:v>
                </c:pt>
                <c:pt idx="244">
                  <c:v>1.5075000000000001</c:v>
                </c:pt>
                <c:pt idx="245">
                  <c:v>1.5088999999999999</c:v>
                </c:pt>
                <c:pt idx="246">
                  <c:v>1.5087999999999999</c:v>
                </c:pt>
                <c:pt idx="247">
                  <c:v>1.4910000000000001</c:v>
                </c:pt>
                <c:pt idx="248">
                  <c:v>1.4355</c:v>
                </c:pt>
                <c:pt idx="249">
                  <c:v>1.4511000000000001</c:v>
                </c:pt>
                <c:pt idx="250">
                  <c:v>1.4256</c:v>
                </c:pt>
                <c:pt idx="251">
                  <c:v>1.4624999999999999</c:v>
                </c:pt>
                <c:pt idx="252">
                  <c:v>1.4769000000000001</c:v>
                </c:pt>
                <c:pt idx="253">
                  <c:v>1.4529000000000001</c:v>
                </c:pt>
                <c:pt idx="254">
                  <c:v>1.4454</c:v>
                </c:pt>
                <c:pt idx="255">
                  <c:v>1.4350000000000001</c:v>
                </c:pt>
                <c:pt idx="256">
                  <c:v>1.4258999999999999</c:v>
                </c:pt>
                <c:pt idx="257">
                  <c:v>1.4014</c:v>
                </c:pt>
                <c:pt idx="258">
                  <c:v>1.4138999999999999</c:v>
                </c:pt>
                <c:pt idx="259">
                  <c:v>1.4365000000000001</c:v>
                </c:pt>
                <c:pt idx="260">
                  <c:v>1.4635</c:v>
                </c:pt>
                <c:pt idx="261">
                  <c:v>1.4517</c:v>
                </c:pt>
                <c:pt idx="262">
                  <c:v>1.4358</c:v>
                </c:pt>
                <c:pt idx="263">
                  <c:v>1.4409000000000001</c:v>
                </c:pt>
                <c:pt idx="264">
                  <c:v>1.4322999999999999</c:v>
                </c:pt>
                <c:pt idx="265">
                  <c:v>1.4231</c:v>
                </c:pt>
                <c:pt idx="266">
                  <c:v>1.4225000000000001</c:v>
                </c:pt>
                <c:pt idx="267">
                  <c:v>1.4434</c:v>
                </c:pt>
                <c:pt idx="268">
                  <c:v>1.4593</c:v>
                </c:pt>
                <c:pt idx="269">
                  <c:v>1.4863</c:v>
                </c:pt>
                <c:pt idx="270">
                  <c:v>1.5546</c:v>
                </c:pt>
                <c:pt idx="271">
                  <c:v>1.5377000000000001</c:v>
                </c:pt>
                <c:pt idx="272">
                  <c:v>1.5561</c:v>
                </c:pt>
                <c:pt idx="273">
                  <c:v>1.5573999999999999</c:v>
                </c:pt>
                <c:pt idx="274">
                  <c:v>1.5723</c:v>
                </c:pt>
                <c:pt idx="275">
                  <c:v>1.5863</c:v>
                </c:pt>
                <c:pt idx="276">
                  <c:v>1.6169</c:v>
                </c:pt>
                <c:pt idx="277">
                  <c:v>1.6085</c:v>
                </c:pt>
                <c:pt idx="278">
                  <c:v>1.5835999999999999</c:v>
                </c:pt>
                <c:pt idx="279">
                  <c:v>1.5747</c:v>
                </c:pt>
                <c:pt idx="280">
                  <c:v>1.623</c:v>
                </c:pt>
                <c:pt idx="281">
                  <c:v>1.6606000000000001</c:v>
                </c:pt>
                <c:pt idx="282">
                  <c:v>1.6242000000000001</c:v>
                </c:pt>
                <c:pt idx="283">
                  <c:v>1.595</c:v>
                </c:pt>
                <c:pt idx="284">
                  <c:v>1.6131</c:v>
                </c:pt>
                <c:pt idx="285">
                  <c:v>1.6787000000000001</c:v>
                </c:pt>
                <c:pt idx="286">
                  <c:v>1.6900999999999999</c:v>
                </c:pt>
                <c:pt idx="287">
                  <c:v>1.7506999999999999</c:v>
                </c:pt>
                <c:pt idx="288">
                  <c:v>1.8233999999999999</c:v>
                </c:pt>
                <c:pt idx="289">
                  <c:v>1.8673</c:v>
                </c:pt>
                <c:pt idx="290">
                  <c:v>1.8267</c:v>
                </c:pt>
                <c:pt idx="291">
                  <c:v>1.8005</c:v>
                </c:pt>
                <c:pt idx="292">
                  <c:v>1.7876000000000001</c:v>
                </c:pt>
                <c:pt idx="293">
                  <c:v>1.8274999999999999</c:v>
                </c:pt>
                <c:pt idx="294">
                  <c:v>1.8429</c:v>
                </c:pt>
                <c:pt idx="295">
                  <c:v>1.8216000000000001</c:v>
                </c:pt>
                <c:pt idx="296">
                  <c:v>1.7922</c:v>
                </c:pt>
                <c:pt idx="297">
                  <c:v>1.8065</c:v>
                </c:pt>
                <c:pt idx="298">
                  <c:v>1.8603000000000001</c:v>
                </c:pt>
                <c:pt idx="299">
                  <c:v>1.9275</c:v>
                </c:pt>
                <c:pt idx="300">
                  <c:v>1.8764000000000001</c:v>
                </c:pt>
                <c:pt idx="301">
                  <c:v>1.8871</c:v>
                </c:pt>
                <c:pt idx="302">
                  <c:v>1.9077999999999999</c:v>
                </c:pt>
                <c:pt idx="303">
                  <c:v>1.8959999999999999</c:v>
                </c:pt>
                <c:pt idx="304">
                  <c:v>1.8537999999999999</c:v>
                </c:pt>
                <c:pt idx="305">
                  <c:v>1.8179000000000001</c:v>
                </c:pt>
                <c:pt idx="306">
                  <c:v>1.7508999999999999</c:v>
                </c:pt>
                <c:pt idx="307">
                  <c:v>1.7943</c:v>
                </c:pt>
                <c:pt idx="308">
                  <c:v>1.8081</c:v>
                </c:pt>
                <c:pt idx="309">
                  <c:v>1.764</c:v>
                </c:pt>
                <c:pt idx="310">
                  <c:v>1.7341</c:v>
                </c:pt>
                <c:pt idx="311">
                  <c:v>1.7462</c:v>
                </c:pt>
                <c:pt idx="312">
                  <c:v>1.7678</c:v>
                </c:pt>
                <c:pt idx="313">
                  <c:v>1.7470000000000001</c:v>
                </c:pt>
                <c:pt idx="314">
                  <c:v>1.7435</c:v>
                </c:pt>
                <c:pt idx="315">
                  <c:v>1.7685</c:v>
                </c:pt>
                <c:pt idx="316">
                  <c:v>1.8702000000000001</c:v>
                </c:pt>
                <c:pt idx="317">
                  <c:v>1.8428</c:v>
                </c:pt>
                <c:pt idx="318">
                  <c:v>1.8447</c:v>
                </c:pt>
                <c:pt idx="319">
                  <c:v>1.8944000000000001</c:v>
                </c:pt>
                <c:pt idx="320">
                  <c:v>1.8847</c:v>
                </c:pt>
                <c:pt idx="321">
                  <c:v>1.8754999999999999</c:v>
                </c:pt>
                <c:pt idx="322">
                  <c:v>1.9118999999999999</c:v>
                </c:pt>
                <c:pt idx="323">
                  <c:v>1.9633</c:v>
                </c:pt>
                <c:pt idx="324">
                  <c:v>1.9587000000000001</c:v>
                </c:pt>
                <c:pt idx="325">
                  <c:v>1.9581</c:v>
                </c:pt>
                <c:pt idx="326">
                  <c:v>1.9471000000000001</c:v>
                </c:pt>
                <c:pt idx="327">
                  <c:v>1.9908999999999999</c:v>
                </c:pt>
                <c:pt idx="328">
                  <c:v>1.9836</c:v>
                </c:pt>
                <c:pt idx="329">
                  <c:v>1.9863999999999999</c:v>
                </c:pt>
                <c:pt idx="330">
                  <c:v>2.0337999999999998</c:v>
                </c:pt>
                <c:pt idx="331">
                  <c:v>2.0110999999999999</c:v>
                </c:pt>
                <c:pt idx="332">
                  <c:v>2.0185</c:v>
                </c:pt>
                <c:pt idx="333">
                  <c:v>2.0446</c:v>
                </c:pt>
                <c:pt idx="334">
                  <c:v>2.0701000000000001</c:v>
                </c:pt>
                <c:pt idx="335">
                  <c:v>2.0185</c:v>
                </c:pt>
                <c:pt idx="336">
                  <c:v>1.9698</c:v>
                </c:pt>
                <c:pt idx="337">
                  <c:v>1.9638</c:v>
                </c:pt>
                <c:pt idx="338">
                  <c:v>2.0032000000000001</c:v>
                </c:pt>
                <c:pt idx="339">
                  <c:v>1.9817</c:v>
                </c:pt>
                <c:pt idx="340">
                  <c:v>1.9641</c:v>
                </c:pt>
                <c:pt idx="341">
                  <c:v>1.9658</c:v>
                </c:pt>
                <c:pt idx="342">
                  <c:v>1.988</c:v>
                </c:pt>
                <c:pt idx="343">
                  <c:v>1.8889</c:v>
                </c:pt>
                <c:pt idx="344">
                  <c:v>1.7986</c:v>
                </c:pt>
                <c:pt idx="345">
                  <c:v>1.69</c:v>
                </c:pt>
                <c:pt idx="346">
                  <c:v>1.5338000000000001</c:v>
                </c:pt>
                <c:pt idx="347">
                  <c:v>1.4859</c:v>
                </c:pt>
                <c:pt idx="348">
                  <c:v>1.4452</c:v>
                </c:pt>
                <c:pt idx="349">
                  <c:v>1.4411</c:v>
                </c:pt>
                <c:pt idx="350">
                  <c:v>1.4174</c:v>
                </c:pt>
                <c:pt idx="351">
                  <c:v>1.4715</c:v>
                </c:pt>
                <c:pt idx="352">
                  <c:v>1.5428999999999999</c:v>
                </c:pt>
                <c:pt idx="353">
                  <c:v>1.6366000000000001</c:v>
                </c:pt>
                <c:pt idx="354">
                  <c:v>1.6366000000000001</c:v>
                </c:pt>
                <c:pt idx="355">
                  <c:v>1.6538999999999999</c:v>
                </c:pt>
                <c:pt idx="356">
                  <c:v>1.6328</c:v>
                </c:pt>
                <c:pt idx="357">
                  <c:v>1.6198999999999999</c:v>
                </c:pt>
                <c:pt idx="358">
                  <c:v>1.6597</c:v>
                </c:pt>
                <c:pt idx="359">
                  <c:v>1.6238999999999999</c:v>
                </c:pt>
                <c:pt idx="360">
                  <c:v>1.6162000000000001</c:v>
                </c:pt>
                <c:pt idx="361">
                  <c:v>1.5615000000000001</c:v>
                </c:pt>
                <c:pt idx="362">
                  <c:v>1.5053000000000001</c:v>
                </c:pt>
                <c:pt idx="363">
                  <c:v>1.534</c:v>
                </c:pt>
                <c:pt idx="364">
                  <c:v>1.4626999999999999</c:v>
                </c:pt>
                <c:pt idx="365">
                  <c:v>1.4761</c:v>
                </c:pt>
                <c:pt idx="366">
                  <c:v>1.5299</c:v>
                </c:pt>
                <c:pt idx="367">
                  <c:v>1.5660000000000001</c:v>
                </c:pt>
                <c:pt idx="368">
                  <c:v>1.5578000000000001</c:v>
                </c:pt>
                <c:pt idx="369">
                  <c:v>1.5862000000000001</c:v>
                </c:pt>
                <c:pt idx="370">
                  <c:v>1.5961000000000001</c:v>
                </c:pt>
                <c:pt idx="371">
                  <c:v>1.5603</c:v>
                </c:pt>
                <c:pt idx="372">
                  <c:v>1.5794999999999999</c:v>
                </c:pt>
                <c:pt idx="373">
                  <c:v>1.613</c:v>
                </c:pt>
                <c:pt idx="374">
                  <c:v>1.6158999999999999</c:v>
                </c:pt>
                <c:pt idx="375">
                  <c:v>1.6345000000000001</c:v>
                </c:pt>
                <c:pt idx="376">
                  <c:v>1.6312</c:v>
                </c:pt>
                <c:pt idx="377">
                  <c:v>1.6214</c:v>
                </c:pt>
                <c:pt idx="378">
                  <c:v>1.6145</c:v>
                </c:pt>
                <c:pt idx="379">
                  <c:v>1.6348</c:v>
                </c:pt>
                <c:pt idx="380">
                  <c:v>1.5783</c:v>
                </c:pt>
                <c:pt idx="381">
                  <c:v>1.5760000000000001</c:v>
                </c:pt>
                <c:pt idx="382">
                  <c:v>1.5804</c:v>
                </c:pt>
                <c:pt idx="383">
                  <c:v>1.5585</c:v>
                </c:pt>
                <c:pt idx="384">
                  <c:v>1.5509999999999999</c:v>
                </c:pt>
                <c:pt idx="385">
                  <c:v>1.5802</c:v>
                </c:pt>
                <c:pt idx="386">
                  <c:v>1.5823</c:v>
                </c:pt>
                <c:pt idx="387">
                  <c:v>1.6013999999999999</c:v>
                </c:pt>
                <c:pt idx="388">
                  <c:v>1.5905</c:v>
                </c:pt>
                <c:pt idx="389">
                  <c:v>1.5570999999999999</c:v>
                </c:pt>
                <c:pt idx="390">
                  <c:v>1.5589</c:v>
                </c:pt>
                <c:pt idx="391">
                  <c:v>1.5719000000000001</c:v>
                </c:pt>
                <c:pt idx="392">
                  <c:v>1.6115999999999999</c:v>
                </c:pt>
                <c:pt idx="393">
                  <c:v>1.6079000000000001</c:v>
                </c:pt>
                <c:pt idx="394">
                  <c:v>1.5961000000000001</c:v>
                </c:pt>
                <c:pt idx="395">
                  <c:v>1.6144000000000001</c:v>
                </c:pt>
                <c:pt idx="396">
                  <c:v>1.5956999999999999</c:v>
                </c:pt>
                <c:pt idx="397">
                  <c:v>1.5478000000000001</c:v>
                </c:pt>
                <c:pt idx="398">
                  <c:v>1.5076000000000001</c:v>
                </c:pt>
                <c:pt idx="399">
                  <c:v>1.5316000000000001</c:v>
                </c:pt>
                <c:pt idx="400">
                  <c:v>1.5285</c:v>
                </c:pt>
                <c:pt idx="401">
                  <c:v>1.5478000000000001</c:v>
                </c:pt>
                <c:pt idx="402">
                  <c:v>1.5172000000000001</c:v>
                </c:pt>
                <c:pt idx="403">
                  <c:v>1.5507</c:v>
                </c:pt>
                <c:pt idx="404">
                  <c:v>1.5865</c:v>
                </c:pt>
                <c:pt idx="405">
                  <c:v>1.6093999999999999</c:v>
                </c:pt>
                <c:pt idx="406">
                  <c:v>1.6104000000000001</c:v>
                </c:pt>
                <c:pt idx="407">
                  <c:v>1.6375</c:v>
                </c:pt>
                <c:pt idx="408">
                  <c:v>1.647</c:v>
                </c:pt>
                <c:pt idx="409">
                  <c:v>1.6567000000000001</c:v>
                </c:pt>
                <c:pt idx="410">
                  <c:v>1.6621999999999999</c:v>
                </c:pt>
                <c:pt idx="411">
                  <c:v>1.6742999999999999</c:v>
                </c:pt>
                <c:pt idx="412">
                  <c:v>1.6843999999999999</c:v>
                </c:pt>
                <c:pt idx="413">
                  <c:v>1.6906000000000001</c:v>
                </c:pt>
                <c:pt idx="414">
                  <c:v>1.7069000000000001</c:v>
                </c:pt>
                <c:pt idx="415">
                  <c:v>1.6709000000000001</c:v>
                </c:pt>
                <c:pt idx="416">
                  <c:v>1.6305000000000001</c:v>
                </c:pt>
                <c:pt idx="417">
                  <c:v>1.6068</c:v>
                </c:pt>
                <c:pt idx="418">
                  <c:v>1.5780000000000001</c:v>
                </c:pt>
                <c:pt idx="419">
                  <c:v>1.5640000000000001</c:v>
                </c:pt>
                <c:pt idx="420">
                  <c:v>1.5143</c:v>
                </c:pt>
                <c:pt idx="421">
                  <c:v>1.5334000000000001</c:v>
                </c:pt>
                <c:pt idx="422">
                  <c:v>1.4957</c:v>
                </c:pt>
                <c:pt idx="423">
                  <c:v>1.4966999999999999</c:v>
                </c:pt>
                <c:pt idx="424">
                  <c:v>1.5469999999999999</c:v>
                </c:pt>
                <c:pt idx="425">
                  <c:v>1.5568</c:v>
                </c:pt>
                <c:pt idx="426">
                  <c:v>1.556</c:v>
                </c:pt>
                <c:pt idx="427">
                  <c:v>1.5583</c:v>
                </c:pt>
                <c:pt idx="428">
                  <c:v>1.5326</c:v>
                </c:pt>
                <c:pt idx="429">
                  <c:v>1.5339</c:v>
                </c:pt>
                <c:pt idx="430">
                  <c:v>1.5189999999999999</c:v>
                </c:pt>
                <c:pt idx="431">
                  <c:v>1.4983</c:v>
                </c:pt>
                <c:pt idx="432">
                  <c:v>1.4379</c:v>
                </c:pt>
                <c:pt idx="433">
                  <c:v>1.4296</c:v>
                </c:pt>
                <c:pt idx="434">
                  <c:v>1.425</c:v>
                </c:pt>
                <c:pt idx="435">
                  <c:v>1.4312</c:v>
                </c:pt>
                <c:pt idx="436">
                  <c:v>1.4518</c:v>
                </c:pt>
                <c:pt idx="437">
                  <c:v>1.4209000000000001</c:v>
                </c:pt>
                <c:pt idx="438">
                  <c:v>1.3141</c:v>
                </c:pt>
                <c:pt idx="439">
                  <c:v>1.31</c:v>
                </c:pt>
                <c:pt idx="440">
                  <c:v>1.3142</c:v>
                </c:pt>
                <c:pt idx="441">
                  <c:v>1.2329000000000001</c:v>
                </c:pt>
                <c:pt idx="442">
                  <c:v>1.2431000000000001</c:v>
                </c:pt>
                <c:pt idx="443">
                  <c:v>1.2487999999999999</c:v>
                </c:pt>
                <c:pt idx="444">
                  <c:v>1.2351000000000001</c:v>
                </c:pt>
                <c:pt idx="445">
                  <c:v>1.2490000000000001</c:v>
                </c:pt>
                <c:pt idx="446">
                  <c:v>1.2347999999999999</c:v>
                </c:pt>
                <c:pt idx="447">
                  <c:v>1.2652000000000001</c:v>
                </c:pt>
                <c:pt idx="448">
                  <c:v>1.2932999999999999</c:v>
                </c:pt>
                <c:pt idx="449">
                  <c:v>1.2813000000000001</c:v>
                </c:pt>
                <c:pt idx="450">
                  <c:v>1.2994000000000001</c:v>
                </c:pt>
                <c:pt idx="451">
                  <c:v>1.2955000000000001</c:v>
                </c:pt>
                <c:pt idx="452">
                  <c:v>1.3324</c:v>
                </c:pt>
                <c:pt idx="453">
                  <c:v>1.3197000000000001</c:v>
                </c:pt>
                <c:pt idx="454">
                  <c:v>1.3219000000000001</c:v>
                </c:pt>
                <c:pt idx="455">
                  <c:v>1.3402000000000001</c:v>
                </c:pt>
                <c:pt idx="456">
                  <c:v>1.3832</c:v>
                </c:pt>
                <c:pt idx="457">
                  <c:v>1.3960999999999999</c:v>
                </c:pt>
                <c:pt idx="458">
                  <c:v>1.397</c:v>
                </c:pt>
                <c:pt idx="459">
                  <c:v>1.4083000000000001</c:v>
                </c:pt>
                <c:pt idx="460">
                  <c:v>1.3459000000000001</c:v>
                </c:pt>
                <c:pt idx="461">
                  <c:v>1.3288</c:v>
                </c:pt>
                <c:pt idx="462">
                  <c:v>1.3169</c:v>
                </c:pt>
                <c:pt idx="463">
                  <c:v>1.288</c:v>
                </c:pt>
                <c:pt idx="464">
                  <c:v>1.3062</c:v>
                </c:pt>
                <c:pt idx="465">
                  <c:v>1.3011999999999999</c:v>
                </c:pt>
                <c:pt idx="466">
                  <c:v>1.2901</c:v>
                </c:pt>
                <c:pt idx="467">
                  <c:v>1.2661</c:v>
                </c:pt>
                <c:pt idx="468">
                  <c:v>1.2901</c:v>
                </c:pt>
                <c:pt idx="469">
                  <c:v>1.3017000000000001</c:v>
                </c:pt>
                <c:pt idx="470">
                  <c:v>1.3165</c:v>
                </c:pt>
                <c:pt idx="471">
                  <c:v>1.3036000000000001</c:v>
                </c:pt>
                <c:pt idx="472">
                  <c:v>1.2841</c:v>
                </c:pt>
                <c:pt idx="473">
                  <c:v>1.2679</c:v>
                </c:pt>
                <c:pt idx="474">
                  <c:v>1.2468999999999999</c:v>
                </c:pt>
                <c:pt idx="475">
                  <c:v>1.2155</c:v>
                </c:pt>
                <c:pt idx="476">
                  <c:v>1.2354000000000001</c:v>
                </c:pt>
                <c:pt idx="477">
                  <c:v>1.2646999999999999</c:v>
                </c:pt>
                <c:pt idx="478">
                  <c:v>1.2883</c:v>
                </c:pt>
                <c:pt idx="479">
                  <c:v>1.3101</c:v>
                </c:pt>
                <c:pt idx="480">
                  <c:v>1.3070999999999999</c:v>
                </c:pt>
                <c:pt idx="481">
                  <c:v>1.2957000000000001</c:v>
                </c:pt>
                <c:pt idx="482">
                  <c:v>1.2363999999999999</c:v>
                </c:pt>
                <c:pt idx="483">
                  <c:v>1.2410000000000001</c:v>
                </c:pt>
                <c:pt idx="484">
                  <c:v>1.23</c:v>
                </c:pt>
                <c:pt idx="485">
                  <c:v>1.2525999999999999</c:v>
                </c:pt>
                <c:pt idx="486">
                  <c:v>1.2690999999999999</c:v>
                </c:pt>
                <c:pt idx="487">
                  <c:v>1.3126</c:v>
                </c:pt>
                <c:pt idx="488">
                  <c:v>1.2956000000000001</c:v>
                </c:pt>
                <c:pt idx="489">
                  <c:v>1.2985</c:v>
                </c:pt>
                <c:pt idx="490">
                  <c:v>1.3207</c:v>
                </c:pt>
                <c:pt idx="491">
                  <c:v>1.3431999999999999</c:v>
                </c:pt>
                <c:pt idx="492">
                  <c:v>1.3633</c:v>
                </c:pt>
                <c:pt idx="493">
                  <c:v>1.387</c:v>
                </c:pt>
                <c:pt idx="494">
                  <c:v>1.3858999999999999</c:v>
                </c:pt>
                <c:pt idx="495">
                  <c:v>1.3842000000000001</c:v>
                </c:pt>
                <c:pt idx="496">
                  <c:v>1.4091</c:v>
                </c:pt>
                <c:pt idx="497">
                  <c:v>1.4027000000000001</c:v>
                </c:pt>
                <c:pt idx="498">
                  <c:v>1.3807</c:v>
                </c:pt>
                <c:pt idx="499">
                  <c:v>1.3798999999999999</c:v>
                </c:pt>
                <c:pt idx="500">
                  <c:v>1.3733</c:v>
                </c:pt>
                <c:pt idx="501">
                  <c:v>1.3695999999999999</c:v>
                </c:pt>
                <c:pt idx="502">
                  <c:v>1.3448</c:v>
                </c:pt>
                <c:pt idx="503">
                  <c:v>1.3301000000000001</c:v>
                </c:pt>
                <c:pt idx="504">
                  <c:v>1.3561000000000001</c:v>
                </c:pt>
                <c:pt idx="505">
                  <c:v>1.3537999999999999</c:v>
                </c:pt>
                <c:pt idx="506">
                  <c:v>1.3172999999999999</c:v>
                </c:pt>
                <c:pt idx="507">
                  <c:v>1.2917000000000001</c:v>
                </c:pt>
                <c:pt idx="508">
                  <c:v>1.2443</c:v>
                </c:pt>
                <c:pt idx="509">
                  <c:v>1.2290000000000001</c:v>
                </c:pt>
                <c:pt idx="510">
                  <c:v>1.1990000000000001</c:v>
                </c:pt>
                <c:pt idx="511">
                  <c:v>1.2</c:v>
                </c:pt>
                <c:pt idx="512">
                  <c:v>1.133</c:v>
                </c:pt>
                <c:pt idx="513">
                  <c:v>1.123</c:v>
                </c:pt>
              </c:numCache>
            </c:numRef>
          </c:val>
          <c:smooth val="0"/>
          <c:extLst>
            <c:ext xmlns:c16="http://schemas.microsoft.com/office/drawing/2014/chart" uri="{C3380CC4-5D6E-409C-BE32-E72D297353CC}">
              <c16:uniqueId val="{00000002-9D86-49D3-8633-9CC02313F87B}"/>
            </c:ext>
          </c:extLst>
        </c:ser>
        <c:ser>
          <c:idx val="12"/>
          <c:order val="3"/>
          <c:tx>
            <c:strRef>
              <c:f>Sheet1!$E$1</c:f>
              <c:strCache>
                <c:ptCount val="1"/>
                <c:pt idx="0">
                  <c:v>Euro</c:v>
                </c:pt>
              </c:strCache>
            </c:strRef>
          </c:tx>
          <c:spPr>
            <a:ln w="34925">
              <a:solidFill>
                <a:srgbClr val="0000FF"/>
              </a:solidFill>
              <a:prstDash val="solid"/>
            </a:ln>
          </c:spPr>
          <c:marker>
            <c:symbol val="none"/>
          </c:marker>
          <c:cat>
            <c:numRef>
              <c:f>Sheet1!$A$2:$A$516</c:f>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f>Sheet1!$E$2:$E$516</c:f>
              <c:numCache>
                <c:formatCode>General</c:formatCode>
                <c:ptCount val="515"/>
                <c:pt idx="228" formatCode="0.000">
                  <c:v>1.4234875444839858</c:v>
                </c:pt>
                <c:pt idx="229" formatCode="0.000">
                  <c:v>1.4532771399505884</c:v>
                </c:pt>
                <c:pt idx="230" formatCode="0.000">
                  <c:v>1.4900908955446281</c:v>
                </c:pt>
                <c:pt idx="231" formatCode="0.000">
                  <c:v>1.5048908954100828</c:v>
                </c:pt>
                <c:pt idx="232" formatCode="0.000">
                  <c:v>1.5186028853454823</c:v>
                </c:pt>
                <c:pt idx="233" formatCode="0.000">
                  <c:v>1.5372790161414298</c:v>
                </c:pt>
                <c:pt idx="234" formatCode="0.000">
                  <c:v>1.5202189115232592</c:v>
                </c:pt>
                <c:pt idx="235" formatCode="0.000">
                  <c:v>1.5144631228229593</c:v>
                </c:pt>
                <c:pt idx="236" formatCode="0.000">
                  <c:v>1.5455950540958268</c:v>
                </c:pt>
                <c:pt idx="237" formatCode="0.000">
                  <c:v>1.5489467162329618</c:v>
                </c:pt>
                <c:pt idx="238" formatCode="0.000">
                  <c:v>1.5705983979896339</c:v>
                </c:pt>
                <c:pt idx="239" formatCode="0.000">
                  <c:v>1.595150741745095</c:v>
                </c:pt>
                <c:pt idx="240" formatCode="0.000">
                  <c:v>1.6196954972465178</c:v>
                </c:pt>
                <c:pt idx="241" formatCode="0.000">
                  <c:v>1.6265452179570592</c:v>
                </c:pt>
                <c:pt idx="242" formatCode="0.000">
                  <c:v>1.6374652038644177</c:v>
                </c:pt>
                <c:pt idx="243" formatCode="0.000">
                  <c:v>1.6728002676480429</c:v>
                </c:pt>
                <c:pt idx="244" formatCode="0.000">
                  <c:v>1.6644474034620507</c:v>
                </c:pt>
                <c:pt idx="245" formatCode="0.000">
                  <c:v>1.588057805304113</c:v>
                </c:pt>
                <c:pt idx="246" formatCode="0.000">
                  <c:v>1.6051364365971108</c:v>
                </c:pt>
                <c:pt idx="247" formatCode="0.000">
                  <c:v>1.6477179106936892</c:v>
                </c:pt>
                <c:pt idx="248" formatCode="0.000">
                  <c:v>1.6469038208168645</c:v>
                </c:pt>
                <c:pt idx="249" formatCode="0.000">
                  <c:v>1.6989466530750934</c:v>
                </c:pt>
                <c:pt idx="250" formatCode="0.000">
                  <c:v>1.6663889351774706</c:v>
                </c:pt>
                <c:pt idx="251" formatCode="0.000">
                  <c:v>1.6299918500407498</c:v>
                </c:pt>
                <c:pt idx="252" formatCode="0.000">
                  <c:v>1.575299306868305</c:v>
                </c:pt>
                <c:pt idx="253" formatCode="0.000">
                  <c:v>1.5770383220312254</c:v>
                </c:pt>
                <c:pt idx="254" formatCode="0.000">
                  <c:v>1.589825119236884</c:v>
                </c:pt>
                <c:pt idx="255" formatCode="0.000">
                  <c:v>1.6082341588935349</c:v>
                </c:pt>
                <c:pt idx="256" formatCode="0.000">
                  <c:v>1.6302575806977504</c:v>
                </c:pt>
                <c:pt idx="257" formatCode="0.000">
                  <c:v>1.6431153466973381</c:v>
                </c:pt>
                <c:pt idx="258" formatCode="0.000">
                  <c:v>1.6431153466973381</c:v>
                </c:pt>
                <c:pt idx="259" formatCode="0.000">
                  <c:v>1.595150741745095</c:v>
                </c:pt>
                <c:pt idx="260" formatCode="0.000">
                  <c:v>1.6059097478721696</c:v>
                </c:pt>
                <c:pt idx="261" formatCode="0.000">
                  <c:v>1.602307322544464</c:v>
                </c:pt>
                <c:pt idx="262" formatCode="0.000">
                  <c:v>1.6165535079211122</c:v>
                </c:pt>
                <c:pt idx="263" formatCode="0.000">
                  <c:v>1.6149870801033592</c:v>
                </c:pt>
                <c:pt idx="264" formatCode="0.000">
                  <c:v>1.6220600162206</c:v>
                </c:pt>
                <c:pt idx="265" formatCode="0.000">
                  <c:v>1.6347882949158083</c:v>
                </c:pt>
                <c:pt idx="266" formatCode="0.000">
                  <c:v>1.6223231667748217</c:v>
                </c:pt>
                <c:pt idx="267" formatCode="0.000">
                  <c:v>1.6281341582546403</c:v>
                </c:pt>
                <c:pt idx="268" formatCode="0.000">
                  <c:v>1.591343093570974</c:v>
                </c:pt>
                <c:pt idx="269" formatCode="0.000">
                  <c:v>1.5513496742165684</c:v>
                </c:pt>
                <c:pt idx="270" formatCode="0.000">
                  <c:v>1.5664160401002507</c:v>
                </c:pt>
                <c:pt idx="271" formatCode="0.000">
                  <c:v>1.5723270440251571</c:v>
                </c:pt>
                <c:pt idx="272" formatCode="0.000">
                  <c:v>1.5860428231562254</c:v>
                </c:pt>
                <c:pt idx="273" formatCode="0.000">
                  <c:v>1.5867978419549349</c:v>
                </c:pt>
                <c:pt idx="274" formatCode="0.000">
                  <c:v>1.5693659761456371</c:v>
                </c:pt>
                <c:pt idx="275" formatCode="0.000">
                  <c:v>1.556420233463035</c:v>
                </c:pt>
                <c:pt idx="276" formatCode="0.000">
                  <c:v>1.5220700152207001</c:v>
                </c:pt>
                <c:pt idx="277" formatCode="0.000">
                  <c:v>1.4920919128618322</c:v>
                </c:pt>
                <c:pt idx="278" formatCode="0.000">
                  <c:v>1.4647722279185587</c:v>
                </c:pt>
                <c:pt idx="279" formatCode="0.000">
                  <c:v>1.450536698578474</c:v>
                </c:pt>
                <c:pt idx="280" formatCode="0.000">
                  <c:v>1.4029180695847363</c:v>
                </c:pt>
                <c:pt idx="281" formatCode="0.000">
                  <c:v>1.4230823964707557</c:v>
                </c:pt>
                <c:pt idx="282" formatCode="0.000">
                  <c:v>1.4275517487508922</c:v>
                </c:pt>
                <c:pt idx="283" formatCode="0.000">
                  <c:v>1.4283673760891302</c:v>
                </c:pt>
                <c:pt idx="284" formatCode="0.000">
                  <c:v>1.4336917562724014</c:v>
                </c:pt>
                <c:pt idx="285" formatCode="0.000">
                  <c:v>1.4332807797047442</c:v>
                </c:pt>
                <c:pt idx="286" formatCode="0.000">
                  <c:v>1.4425851125216387</c:v>
                </c:pt>
                <c:pt idx="287" formatCode="0.000">
                  <c:v>1.4245014245014247</c:v>
                </c:pt>
                <c:pt idx="288" formatCode="0.000">
                  <c:v>1.444669170759896</c:v>
                </c:pt>
                <c:pt idx="289" formatCode="0.000">
                  <c:v>1.4773230905599055</c:v>
                </c:pt>
                <c:pt idx="290" formatCode="0.000">
                  <c:v>1.4889815366289458</c:v>
                </c:pt>
                <c:pt idx="291" formatCode="0.000">
                  <c:v>1.5021781583295779</c:v>
                </c:pt>
                <c:pt idx="292" formatCode="0.000">
                  <c:v>1.4892032762472078</c:v>
                </c:pt>
                <c:pt idx="293" formatCode="0.000">
                  <c:v>1.5048908954100828</c:v>
                </c:pt>
                <c:pt idx="294" formatCode="0.000">
                  <c:v>1.5021781583295779</c:v>
                </c:pt>
                <c:pt idx="295" formatCode="0.000">
                  <c:v>1.4932059130954158</c:v>
                </c:pt>
                <c:pt idx="296" formatCode="0.000">
                  <c:v>1.4675667742882301</c:v>
                </c:pt>
                <c:pt idx="297" formatCode="0.000">
                  <c:v>1.4455044810638913</c:v>
                </c:pt>
                <c:pt idx="298" formatCode="0.000">
                  <c:v>1.4310246136233544</c:v>
                </c:pt>
                <c:pt idx="299" formatCode="0.000">
                  <c:v>1.4398848092152627</c:v>
                </c:pt>
                <c:pt idx="300" formatCode="0.000">
                  <c:v>1.4330753797649758</c:v>
                </c:pt>
                <c:pt idx="301" formatCode="0.000">
                  <c:v>1.4499057561258519</c:v>
                </c:pt>
                <c:pt idx="302" formatCode="0.000">
                  <c:v>1.4440433212996391</c:v>
                </c:pt>
                <c:pt idx="303" formatCode="0.000">
                  <c:v>1.4652014652014651</c:v>
                </c:pt>
                <c:pt idx="304" formatCode="0.000">
                  <c:v>1.4611338398597311</c:v>
                </c:pt>
                <c:pt idx="305" formatCode="0.000">
                  <c:v>1.4952153110047848</c:v>
                </c:pt>
                <c:pt idx="306" formatCode="0.000">
                  <c:v>1.4545454545454546</c:v>
                </c:pt>
                <c:pt idx="307" formatCode="0.000">
                  <c:v>1.4592149423610097</c:v>
                </c:pt>
                <c:pt idx="308" formatCode="0.000">
                  <c:v>1.4760147601476015</c:v>
                </c:pt>
                <c:pt idx="309" formatCode="0.000">
                  <c:v>1.467351430667645</c:v>
                </c:pt>
                <c:pt idx="310" formatCode="0.000">
                  <c:v>1.4718869590815424</c:v>
                </c:pt>
                <c:pt idx="311" formatCode="0.000">
                  <c:v>1.4723203769140165</c:v>
                </c:pt>
                <c:pt idx="312" formatCode="0.000">
                  <c:v>1.4581510644502771</c:v>
                </c:pt>
                <c:pt idx="313" formatCode="0.000">
                  <c:v>1.4637002341920373</c:v>
                </c:pt>
                <c:pt idx="314" formatCode="0.000">
                  <c:v>1.4499057561258519</c:v>
                </c:pt>
                <c:pt idx="315" formatCode="0.000">
                  <c:v>1.4400921658986174</c:v>
                </c:pt>
                <c:pt idx="316" formatCode="0.000">
                  <c:v>1.4637002341920373</c:v>
                </c:pt>
                <c:pt idx="317" formatCode="0.000">
                  <c:v>1.4560279557367501</c:v>
                </c:pt>
                <c:pt idx="318" formatCode="0.000">
                  <c:v>1.4539110206455366</c:v>
                </c:pt>
                <c:pt idx="319" formatCode="0.000">
                  <c:v>1.4784151389710232</c:v>
                </c:pt>
                <c:pt idx="320" formatCode="0.000">
                  <c:v>1.481042654028436</c:v>
                </c:pt>
                <c:pt idx="321" formatCode="0.000">
                  <c:v>1.4869888475836432</c:v>
                </c:pt>
                <c:pt idx="322" formatCode="0.000">
                  <c:v>1.4834594273846609</c:v>
                </c:pt>
                <c:pt idx="323" formatCode="0.000">
                  <c:v>1.4858841010401187</c:v>
                </c:pt>
                <c:pt idx="324" formatCode="0.000">
                  <c:v>1.5078407720144753</c:v>
                </c:pt>
                <c:pt idx="325" formatCode="0.000">
                  <c:v>1.49678191887442</c:v>
                </c:pt>
                <c:pt idx="326" formatCode="0.000">
                  <c:v>1.4703720041170416</c:v>
                </c:pt>
                <c:pt idx="327" formatCode="0.000">
                  <c:v>1.4712373105781964</c:v>
                </c:pt>
                <c:pt idx="328" formatCode="0.000">
                  <c:v>1.4675667742882301</c:v>
                </c:pt>
                <c:pt idx="329" formatCode="0.000">
                  <c:v>1.4806040864672787</c:v>
                </c:pt>
                <c:pt idx="330" formatCode="0.000">
                  <c:v>1.4821402104639099</c:v>
                </c:pt>
                <c:pt idx="331" formatCode="0.000">
                  <c:v>1.4762326542663124</c:v>
                </c:pt>
                <c:pt idx="332" formatCode="0.000">
                  <c:v>1.4511681903932665</c:v>
                </c:pt>
                <c:pt idx="333" formatCode="0.000">
                  <c:v>1.4369880729989941</c:v>
                </c:pt>
                <c:pt idx="334" formatCode="0.000">
                  <c:v>1.4104372355430184</c:v>
                </c:pt>
                <c:pt idx="335" formatCode="0.000">
                  <c:v>1.386193512614361</c:v>
                </c:pt>
                <c:pt idx="336" formatCode="0.000">
                  <c:v>1.3383297644539616</c:v>
                </c:pt>
                <c:pt idx="337" formatCode="0.000">
                  <c:v>1.3315579227696406</c:v>
                </c:pt>
                <c:pt idx="338" formatCode="0.000">
                  <c:v>1.2894906511927788</c:v>
                </c:pt>
                <c:pt idx="339" formatCode="0.000">
                  <c:v>1.2578616352201257</c:v>
                </c:pt>
                <c:pt idx="340" formatCode="0.000">
                  <c:v>1.2632642748863063</c:v>
                </c:pt>
                <c:pt idx="341" formatCode="0.000">
                  <c:v>1.2635835228708618</c:v>
                </c:pt>
                <c:pt idx="342" formatCode="0.000">
                  <c:v>1.2615112905260504</c:v>
                </c:pt>
                <c:pt idx="343" formatCode="0.000">
                  <c:v>1.2613521695257317</c:v>
                </c:pt>
                <c:pt idx="344" formatCode="0.000">
                  <c:v>1.2529758175667209</c:v>
                </c:pt>
                <c:pt idx="345" formatCode="0.000">
                  <c:v>1.2716174974567651</c:v>
                </c:pt>
                <c:pt idx="346" formatCode="0.000">
                  <c:v>1.203659123736158</c:v>
                </c:pt>
                <c:pt idx="347" formatCode="0.000">
                  <c:v>1.1018069634200089</c:v>
                </c:pt>
                <c:pt idx="348" formatCode="0.000">
                  <c:v>1.0913456291607553</c:v>
                </c:pt>
                <c:pt idx="349" formatCode="0.000">
                  <c:v>1.1262529564140105</c:v>
                </c:pt>
                <c:pt idx="350" formatCode="0.000">
                  <c:v>1.0863661053775122</c:v>
                </c:pt>
                <c:pt idx="351" formatCode="0.000">
                  <c:v>1.1155734047300312</c:v>
                </c:pt>
                <c:pt idx="352" formatCode="0.000">
                  <c:v>1.12943302462164</c:v>
                </c:pt>
                <c:pt idx="353" formatCode="0.000">
                  <c:v>1.1680878402055834</c:v>
                </c:pt>
                <c:pt idx="354" formatCode="0.000">
                  <c:v>1.1621150493898895</c:v>
                </c:pt>
                <c:pt idx="355" formatCode="0.000">
                  <c:v>1.1595547309833023</c:v>
                </c:pt>
                <c:pt idx="356" formatCode="0.000">
                  <c:v>1.1206993163734171</c:v>
                </c:pt>
                <c:pt idx="357" formatCode="0.000">
                  <c:v>1.0926573426573427</c:v>
                </c:pt>
                <c:pt idx="358" formatCode="0.000">
                  <c:v>1.1124707976415618</c:v>
                </c:pt>
                <c:pt idx="359" formatCode="0.000">
                  <c:v>1.1125945705384956</c:v>
                </c:pt>
                <c:pt idx="360" formatCode="0.000">
                  <c:v>1.1325028312570782</c:v>
                </c:pt>
                <c:pt idx="361" formatCode="0.000">
                  <c:v>1.1414222120762469</c:v>
                </c:pt>
                <c:pt idx="362" formatCode="0.000">
                  <c:v>1.1091393078970719</c:v>
                </c:pt>
                <c:pt idx="363" formatCode="0.000">
                  <c:v>1.1435105774728416</c:v>
                </c:pt>
                <c:pt idx="364" formatCode="0.000">
                  <c:v>1.1684973124561813</c:v>
                </c:pt>
                <c:pt idx="365" formatCode="0.000">
                  <c:v>1.2081672103419114</c:v>
                </c:pt>
                <c:pt idx="366" formatCode="0.000">
                  <c:v>1.1958861516383639</c:v>
                </c:pt>
                <c:pt idx="367" formatCode="0.000">
                  <c:v>1.2131505519835011</c:v>
                </c:pt>
                <c:pt idx="368" formatCode="0.000">
                  <c:v>1.1899095668729176</c:v>
                </c:pt>
                <c:pt idx="369" formatCode="0.000">
                  <c:v>1.1411617026132603</c:v>
                </c:pt>
                <c:pt idx="370" formatCode="0.000">
                  <c:v>1.1700011700011699</c:v>
                </c:pt>
                <c:pt idx="371" formatCode="0.000">
                  <c:v>1.180080245456691</c:v>
                </c:pt>
                <c:pt idx="372" formatCode="0.000">
                  <c:v>1.1814744801512287</c:v>
                </c:pt>
                <c:pt idx="373" formatCode="0.000">
                  <c:v>1.1814744801512287</c:v>
                </c:pt>
                <c:pt idx="374" formatCode="0.000">
                  <c:v>1.152604887044721</c:v>
                </c:pt>
                <c:pt idx="375" formatCode="0.000">
                  <c:v>1.1330160888284613</c:v>
                </c:pt>
                <c:pt idx="376" formatCode="0.000">
                  <c:v>1.1401208528103979</c:v>
                </c:pt>
                <c:pt idx="377" formatCode="0.000">
                  <c:v>1.1261261261261262</c:v>
                </c:pt>
                <c:pt idx="378" formatCode="0.000">
                  <c:v>1.1307100859339665</c:v>
                </c:pt>
                <c:pt idx="379" formatCode="0.000">
                  <c:v>1.1422044545973731</c:v>
                </c:pt>
                <c:pt idx="380" formatCode="0.000">
                  <c:v>1.1470520761642578</c:v>
                </c:pt>
                <c:pt idx="381" formatCode="0.000">
                  <c:v>1.1486331265793706</c:v>
                </c:pt>
                <c:pt idx="382" formatCode="0.000">
                  <c:v>1.1659088259298123</c:v>
                </c:pt>
                <c:pt idx="383" formatCode="0.000">
                  <c:v>1.1841326228537596</c:v>
                </c:pt>
                <c:pt idx="384" formatCode="0.000">
                  <c:v>1.2033694344163659</c:v>
                </c:pt>
                <c:pt idx="385" formatCode="0.000">
                  <c:v>1.1940298507462686</c:v>
                </c:pt>
                <c:pt idx="386" formatCode="0.000">
                  <c:v>1.1980352222355337</c:v>
                </c:pt>
                <c:pt idx="387" formatCode="0.000">
                  <c:v>1.2161011796181442</c:v>
                </c:pt>
                <c:pt idx="388" formatCode="0.000">
                  <c:v>1.2439358129120539</c:v>
                </c:pt>
                <c:pt idx="389" formatCode="0.000">
                  <c:v>1.2416190712689348</c:v>
                </c:pt>
                <c:pt idx="390" formatCode="0.000">
                  <c:v>1.2687135244861709</c:v>
                </c:pt>
                <c:pt idx="391" formatCode="0.000">
                  <c:v>1.2675877804537963</c:v>
                </c:pt>
                <c:pt idx="392" formatCode="0.000">
                  <c:v>1.2523481527864746</c:v>
                </c:pt>
                <c:pt idx="393" formatCode="0.000">
                  <c:v>1.2393109431156277</c:v>
                </c:pt>
                <c:pt idx="394" formatCode="0.000">
                  <c:v>1.2439358129120539</c:v>
                </c:pt>
                <c:pt idx="395" formatCode="0.000">
                  <c:v>1.2309207287050714</c:v>
                </c:pt>
                <c:pt idx="396" formatCode="0.000">
                  <c:v>1.1994722322178242</c:v>
                </c:pt>
                <c:pt idx="397" formatCode="0.000">
                  <c:v>1.1594202898550725</c:v>
                </c:pt>
                <c:pt idx="398" formatCode="0.000">
                  <c:v>1.1631964638827497</c:v>
                </c:pt>
                <c:pt idx="399" formatCode="0.000">
                  <c:v>1.1749500646222537</c:v>
                </c:pt>
                <c:pt idx="400" formatCode="0.000">
                  <c:v>1.1777175833235192</c:v>
                </c:pt>
                <c:pt idx="401" formatCode="0.000">
                  <c:v>1.1739845034045551</c:v>
                </c:pt>
                <c:pt idx="402" formatCode="0.000">
                  <c:v>1.1599582415033058</c:v>
                </c:pt>
                <c:pt idx="403" formatCode="0.000">
                  <c:v>1.1648223645894</c:v>
                </c:pt>
                <c:pt idx="404" formatCode="0.000">
                  <c:v>1.1883541295306002</c:v>
                </c:pt>
                <c:pt idx="405" formatCode="0.000">
                  <c:v>1.1796626164916835</c:v>
                </c:pt>
                <c:pt idx="406" formatCode="0.000">
                  <c:v>1.193744777366599</c:v>
                </c:pt>
                <c:pt idx="407" formatCode="0.000">
                  <c:v>1.1946004061641382</c:v>
                </c:pt>
                <c:pt idx="408" formatCode="0.000">
                  <c:v>1.20962864400629</c:v>
                </c:pt>
                <c:pt idx="409" formatCode="0.000">
                  <c:v>1.2122681537156019</c:v>
                </c:pt>
                <c:pt idx="410" formatCode="0.000">
                  <c:v>1.2020675561966583</c:v>
                </c:pt>
                <c:pt idx="411" formatCode="0.000">
                  <c:v>1.2124151309408342</c:v>
                </c:pt>
                <c:pt idx="412" formatCode="0.000">
                  <c:v>1.2266928361138369</c:v>
                </c:pt>
                <c:pt idx="413" formatCode="0.000">
                  <c:v>1.2434717731907485</c:v>
                </c:pt>
                <c:pt idx="414" formatCode="0.000">
                  <c:v>1.2610340479192939</c:v>
                </c:pt>
                <c:pt idx="415" formatCode="0.000">
                  <c:v>1.2540757461750689</c:v>
                </c:pt>
                <c:pt idx="416" formatCode="0.000">
                  <c:v>1.2637432073802604</c:v>
                </c:pt>
                <c:pt idx="417" formatCode="0.000">
                  <c:v>1.2677484787018256</c:v>
                </c:pt>
                <c:pt idx="418" formatCode="0.000">
                  <c:v>1.2645422357106728</c:v>
                </c:pt>
                <c:pt idx="419" formatCode="0.000">
                  <c:v>1.2685525815045033</c:v>
                </c:pt>
                <c:pt idx="420" formatCode="0.000">
                  <c:v>1.3041210224308815</c:v>
                </c:pt>
                <c:pt idx="421" formatCode="0.000">
                  <c:v>1.3500742540839745</c:v>
                </c:pt>
                <c:pt idx="422" formatCode="0.000">
                  <c:v>1.3823610727121924</c:v>
                </c:pt>
                <c:pt idx="423" formatCode="0.000">
                  <c:v>1.3856172925038104</c:v>
                </c:pt>
                <c:pt idx="424" formatCode="0.000">
                  <c:v>1.3848497438027976</c:v>
                </c:pt>
                <c:pt idx="425" formatCode="0.000">
                  <c:v>1.3877324451845683</c:v>
                </c:pt>
                <c:pt idx="426" formatCode="0.000">
                  <c:v>1.4138272303124557</c:v>
                </c:pt>
                <c:pt idx="427" formatCode="0.000">
                  <c:v>1.3999720005599887</c:v>
                </c:pt>
                <c:pt idx="428" formatCode="0.000">
                  <c:v>1.3664935774801859</c:v>
                </c:pt>
                <c:pt idx="429" formatCode="0.000">
                  <c:v>1.3655605626109519</c:v>
                </c:pt>
                <c:pt idx="430" formatCode="0.000">
                  <c:v>1.4168319637291018</c:v>
                </c:pt>
                <c:pt idx="431" formatCode="0.000">
                  <c:v>1.3766519823788546</c:v>
                </c:pt>
                <c:pt idx="432" formatCode="0.000">
                  <c:v>1.3253810470510272</c:v>
                </c:pt>
                <c:pt idx="433" formatCode="0.000">
                  <c:v>1.2888258796236627</c:v>
                </c:pt>
                <c:pt idx="434" formatCode="0.000">
                  <c:v>1.2807377049180326</c:v>
                </c:pt>
                <c:pt idx="435" formatCode="0.000">
                  <c:v>1.2619888944977284</c:v>
                </c:pt>
                <c:pt idx="436" formatCode="0.000">
                  <c:v>1.2843565373747754</c:v>
                </c:pt>
                <c:pt idx="437" formatCode="0.000">
                  <c:v>1.2637432073802604</c:v>
                </c:pt>
                <c:pt idx="438" formatCode="0.000">
                  <c:v>1.1883541295306002</c:v>
                </c:pt>
                <c:pt idx="439" formatCode="0.000">
                  <c:v>1.1686338670094658</c:v>
                </c:pt>
                <c:pt idx="440" formatCode="0.000">
                  <c:v>1.1720581340834506</c:v>
                </c:pt>
                <c:pt idx="441" formatCode="0.000">
                  <c:v>1.1188185276348175</c:v>
                </c:pt>
                <c:pt idx="442" formatCode="0.000">
                  <c:v>1.1527377521613833</c:v>
                </c:pt>
                <c:pt idx="443" formatCode="0.000">
                  <c:v>1.1837121212121213</c:v>
                </c:pt>
                <c:pt idx="444" formatCode="0.000">
                  <c:v>1.1611704598235022</c:v>
                </c:pt>
                <c:pt idx="445" formatCode="0.000">
                  <c:v>1.1731581417175034</c:v>
                </c:pt>
                <c:pt idx="446" formatCode="0.000">
                  <c:v>1.1548677676406052</c:v>
                </c:pt>
                <c:pt idx="447" formatCode="0.000">
                  <c:v>1.1798017932987257</c:v>
                </c:pt>
                <c:pt idx="448" formatCode="0.000">
                  <c:v>1.1694538650450239</c:v>
                </c:pt>
                <c:pt idx="449" formatCode="0.000">
                  <c:v>1.1402508551881414</c:v>
                </c:pt>
                <c:pt idx="450" formatCode="0.000">
                  <c:v>1.1280315848843767</c:v>
                </c:pt>
                <c:pt idx="451" formatCode="0.000">
                  <c:v>1.097333479644464</c:v>
                </c:pt>
                <c:pt idx="452" formatCode="0.000">
                  <c:v>1.1183180496533214</c:v>
                </c:pt>
                <c:pt idx="453" formatCode="0.000">
                  <c:v>1.1225864391558149</c:v>
                </c:pt>
                <c:pt idx="454" formatCode="0.000">
                  <c:v>1.1258725512272012</c:v>
                </c:pt>
                <c:pt idx="455" formatCode="0.000">
                  <c:v>1.1330160888284613</c:v>
                </c:pt>
                <c:pt idx="456" formatCode="0.000">
                  <c:v>1.1330160888284613</c:v>
                </c:pt>
                <c:pt idx="457" formatCode="0.000">
                  <c:v>1.1310937676733401</c:v>
                </c:pt>
                <c:pt idx="458" formatCode="0.000">
                  <c:v>1.1327594019030358</c:v>
                </c:pt>
                <c:pt idx="459" formatCode="0.000">
                  <c:v>1.1477103179157582</c:v>
                </c:pt>
                <c:pt idx="460" formatCode="0.000">
                  <c:v>1.1397310234784592</c:v>
                </c:pt>
                <c:pt idx="461" formatCode="0.000">
                  <c:v>1.1377858686995108</c:v>
                </c:pt>
                <c:pt idx="462" formatCode="0.000">
                  <c:v>1.1268875366238449</c:v>
                </c:pt>
                <c:pt idx="463" formatCode="0.000">
                  <c:v>1.1156978690170702</c:v>
                </c:pt>
                <c:pt idx="464" formatCode="0.000">
                  <c:v>1.1194447554013209</c:v>
                </c:pt>
                <c:pt idx="465" formatCode="0.000">
                  <c:v>1.1328877308258751</c:v>
                </c:pt>
                <c:pt idx="466" formatCode="0.000">
                  <c:v>1.1350737797956867</c:v>
                </c:pt>
                <c:pt idx="467" formatCode="0.000">
                  <c:v>1.1127183709803048</c:v>
                </c:pt>
                <c:pt idx="468" formatCode="0.000">
                  <c:v>1.1295606009262398</c:v>
                </c:pt>
                <c:pt idx="469" formatCode="0.000">
                  <c:v>1.1471836641046231</c:v>
                </c:pt>
                <c:pt idx="470" formatCode="0.000">
                  <c:v>1.1653653420347279</c:v>
                </c:pt>
                <c:pt idx="471" formatCode="0.000">
                  <c:v>1.1602274045712959</c:v>
                </c:pt>
                <c:pt idx="472" formatCode="0.000">
                  <c:v>1.1477103179157582</c:v>
                </c:pt>
                <c:pt idx="473" formatCode="0.000">
                  <c:v>1.1224604332697272</c:v>
                </c:pt>
                <c:pt idx="474" formatCode="0.000">
                  <c:v>1.1117287381878822</c:v>
                </c:pt>
                <c:pt idx="475" formatCode="0.000">
                  <c:v>1.0924186148131965</c:v>
                </c:pt>
                <c:pt idx="476" formatCode="0.000">
                  <c:v>1.1222085063404781</c:v>
                </c:pt>
                <c:pt idx="477" formatCode="0.000">
                  <c:v>1.1436413540713632</c:v>
                </c:pt>
                <c:pt idx="478" formatCode="0.000">
                  <c:v>1.1659088259298123</c:v>
                </c:pt>
                <c:pt idx="479" formatCode="0.000">
                  <c:v>1.1789672247111531</c:v>
                </c:pt>
                <c:pt idx="480" formatCode="0.000">
                  <c:v>1.1778563015312131</c:v>
                </c:pt>
                <c:pt idx="481" formatCode="0.000">
                  <c:v>1.1880717595342758</c:v>
                </c:pt>
                <c:pt idx="482" formatCode="0.000">
                  <c:v>1.1186933661483387</c:v>
                </c:pt>
                <c:pt idx="483" formatCode="0.000">
                  <c:v>1.1418131993605847</c:v>
                </c:pt>
                <c:pt idx="484" formatCode="0.000">
                  <c:v>1.1273957158962795</c:v>
                </c:pt>
                <c:pt idx="485" formatCode="0.000">
                  <c:v>1.1122233344455568</c:v>
                </c:pt>
                <c:pt idx="486" formatCode="0.000">
                  <c:v>1.1058277120424638</c:v>
                </c:pt>
                <c:pt idx="487" formatCode="0.000">
                  <c:v>1.11000111000111</c:v>
                </c:pt>
                <c:pt idx="488" formatCode="0.000">
                  <c:v>1.0991426687183996</c:v>
                </c:pt>
                <c:pt idx="489" formatCode="0.000">
                  <c:v>1.1031439602868174</c:v>
                </c:pt>
                <c:pt idx="490" formatCode="0.000">
                  <c:v>1.1163206072784102</c:v>
                </c:pt>
                <c:pt idx="491" formatCode="0.000">
                  <c:v>1.1038745998454575</c:v>
                </c:pt>
                <c:pt idx="492" formatCode="0.000">
                  <c:v>1.1204481792717087</c:v>
                </c:pt>
                <c:pt idx="493" formatCode="0.000">
                  <c:v>1.1465260261407935</c:v>
                </c:pt>
                <c:pt idx="494" formatCode="0.000">
                  <c:v>1.1646866992778941</c:v>
                </c:pt>
                <c:pt idx="495" formatCode="0.000">
                  <c:v>1.1554015020219526</c:v>
                </c:pt>
                <c:pt idx="496" formatCode="0.000">
                  <c:v>1.1595547309833023</c:v>
                </c:pt>
                <c:pt idx="497" formatCode="0.000">
                  <c:v>1.1638733705772812</c:v>
                </c:pt>
                <c:pt idx="498" formatCode="0.000">
                  <c:v>1.1676786548341895</c:v>
                </c:pt>
                <c:pt idx="499" formatCode="0.000">
                  <c:v>1.1730205278592374</c:v>
                </c:pt>
                <c:pt idx="500" formatCode="0.000">
                  <c:v>1.1667250029168126</c:v>
                </c:pt>
                <c:pt idx="501" formatCode="0.000">
                  <c:v>1.1804981702278361</c:v>
                </c:pt>
                <c:pt idx="502" formatCode="0.000">
                  <c:v>1.1788282447247436</c:v>
                </c:pt>
                <c:pt idx="503" formatCode="0.000">
                  <c:v>1.1771630370806356</c:v>
                </c:pt>
                <c:pt idx="504" formatCode="0.000">
                  <c:v>1.1976047904191618</c:v>
                </c:pt>
                <c:pt idx="505" formatCode="0.000">
                  <c:v>1.1933174224343677</c:v>
                </c:pt>
                <c:pt idx="506" formatCode="0.000">
                  <c:v>1.1953143676786995</c:v>
                </c:pt>
                <c:pt idx="507" formatCode="0.000">
                  <c:v>1.195457262402869</c:v>
                </c:pt>
                <c:pt idx="508" formatCode="0.000">
                  <c:v>1.1759172154280337</c:v>
                </c:pt>
                <c:pt idx="509" formatCode="0.000">
                  <c:v>1.165</c:v>
                </c:pt>
                <c:pt idx="510" formatCode="0.000">
                  <c:v>1.1779999999999999</c:v>
                </c:pt>
                <c:pt idx="511" formatCode="0.000">
                  <c:v>1.1830000000000001</c:v>
                </c:pt>
                <c:pt idx="512" formatCode="0.000">
                  <c:v>1.145</c:v>
                </c:pt>
                <c:pt idx="513" formatCode="0.000">
                  <c:v>1.147</c:v>
                </c:pt>
              </c:numCache>
            </c:numRef>
          </c:val>
          <c:smooth val="0"/>
          <c:extLst>
            <c:ext xmlns:c16="http://schemas.microsoft.com/office/drawing/2014/chart" uri="{C3380CC4-5D6E-409C-BE32-E72D297353CC}">
              <c16:uniqueId val="{00000003-9D86-49D3-8633-9CC02313F87B}"/>
            </c:ext>
          </c:extLst>
        </c:ser>
        <c:ser>
          <c:idx val="0"/>
          <c:order val="5"/>
          <c:tx>
            <c:strRef>
              <c:f>Sheet1!$G$1</c:f>
              <c:strCache>
                <c:ptCount val="1"/>
                <c:pt idx="0">
                  <c:v>Euro dummy</c:v>
                </c:pt>
              </c:strCache>
            </c:strRef>
          </c:tx>
          <c:spPr>
            <a:ln w="28575">
              <a:solidFill>
                <a:schemeClr val="bg1">
                  <a:lumMod val="65000"/>
                </a:schemeClr>
              </a:solidFill>
            </a:ln>
          </c:spPr>
          <c:marker>
            <c:symbol val="none"/>
          </c:marker>
          <c:cat>
            <c:numRef>
              <c:f>Sheet1!$A$2:$A$516</c:f>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f>Sheet1!$G$2:$G$516</c:f>
              <c:numCache>
                <c:formatCode>0.000</c:formatCode>
                <c:ptCount val="515"/>
                <c:pt idx="0">
                  <c:v>1.5035333032626672</c:v>
                </c:pt>
                <c:pt idx="1">
                  <c:v>1.5363343063450605</c:v>
                </c:pt>
                <c:pt idx="2">
                  <c:v>1.5615240474703311</c:v>
                </c:pt>
                <c:pt idx="3">
                  <c:v>1.5857913098636218</c:v>
                </c:pt>
                <c:pt idx="4">
                  <c:v>1.5873015873015872</c:v>
                </c:pt>
                <c:pt idx="5">
                  <c:v>1.5875535799333227</c:v>
                </c:pt>
                <c:pt idx="6">
                  <c:v>1.5971889474524836</c:v>
                </c:pt>
                <c:pt idx="7">
                  <c:v>1.6307893020221789</c:v>
                </c:pt>
                <c:pt idx="8">
                  <c:v>1.6561775422325273</c:v>
                </c:pt>
                <c:pt idx="9">
                  <c:v>1.7085255424568595</c:v>
                </c:pt>
                <c:pt idx="10">
                  <c:v>1.7627357659086902</c:v>
                </c:pt>
                <c:pt idx="11">
                  <c:v>1.774937877174299</c:v>
                </c:pt>
                <c:pt idx="12">
                  <c:v>1.8532246108228319</c:v>
                </c:pt>
                <c:pt idx="13">
                  <c:v>1.8903591682419658</c:v>
                </c:pt>
                <c:pt idx="14">
                  <c:v>1.8288222384784201</c:v>
                </c:pt>
                <c:pt idx="15">
                  <c:v>1.8355359765051396</c:v>
                </c:pt>
                <c:pt idx="16">
                  <c:v>1.869857890800299</c:v>
                </c:pt>
                <c:pt idx="17">
                  <c:v>1.8288222384784201</c:v>
                </c:pt>
                <c:pt idx="18">
                  <c:v>1.784121320249777</c:v>
                </c:pt>
                <c:pt idx="19">
                  <c:v>1.7771459036786921</c:v>
                </c:pt>
                <c:pt idx="20">
                  <c:v>1.6758840288252053</c:v>
                </c:pt>
                <c:pt idx="21">
                  <c:v>1.6589250165892502</c:v>
                </c:pt>
                <c:pt idx="22">
                  <c:v>1.7015484090522375</c:v>
                </c:pt>
                <c:pt idx="23">
                  <c:v>1.7301038062283738</c:v>
                </c:pt>
                <c:pt idx="24">
                  <c:v>1.7424638438752398</c:v>
                </c:pt>
                <c:pt idx="25">
                  <c:v>1.7630465444287728</c:v>
                </c:pt>
                <c:pt idx="26">
                  <c:v>1.7596339961288052</c:v>
                </c:pt>
                <c:pt idx="27">
                  <c:v>1.7482517482517483</c:v>
                </c:pt>
                <c:pt idx="28">
                  <c:v>1.7271157167530227</c:v>
                </c:pt>
                <c:pt idx="29">
                  <c:v>1.7784101013693756</c:v>
                </c:pt>
                <c:pt idx="30">
                  <c:v>1.7962996227770793</c:v>
                </c:pt>
                <c:pt idx="31">
                  <c:v>1.7975912277548085</c:v>
                </c:pt>
                <c:pt idx="32">
                  <c:v>1.8089725036179451</c:v>
                </c:pt>
                <c:pt idx="33">
                  <c:v>1.8178512997636793</c:v>
                </c:pt>
                <c:pt idx="34">
                  <c:v>1.7724211272598369</c:v>
                </c:pt>
                <c:pt idx="35">
                  <c:v>1.6857720836142955</c:v>
                </c:pt>
                <c:pt idx="36">
                  <c:v>1.6183848519177861</c:v>
                </c:pt>
                <c:pt idx="37">
                  <c:v>1.6017940092904053</c:v>
                </c:pt>
                <c:pt idx="38">
                  <c:v>1.5676438313215237</c:v>
                </c:pt>
                <c:pt idx="39">
                  <c:v>1.6575501408917621</c:v>
                </c:pt>
                <c:pt idx="40">
                  <c:v>1.7105713308244954</c:v>
                </c:pt>
                <c:pt idx="41">
                  <c:v>1.7406440382941688</c:v>
                </c:pt>
                <c:pt idx="42">
                  <c:v>1.7476406850751485</c:v>
                </c:pt>
                <c:pt idx="43">
                  <c:v>1.7743080198722498</c:v>
                </c:pt>
                <c:pt idx="44">
                  <c:v>1.7733640716439085</c:v>
                </c:pt>
                <c:pt idx="45">
                  <c:v>1.7406440382941688</c:v>
                </c:pt>
                <c:pt idx="46">
                  <c:v>1.7670966601873124</c:v>
                </c:pt>
                <c:pt idx="47">
                  <c:v>1.7593244194229416</c:v>
                </c:pt>
                <c:pt idx="48">
                  <c:v>1.7658484901995408</c:v>
                </c:pt>
                <c:pt idx="49">
                  <c:v>1.7448961786773685</c:v>
                </c:pt>
                <c:pt idx="50">
                  <c:v>1.6998130205677373</c:v>
                </c:pt>
                <c:pt idx="51">
                  <c:v>1.6860563142808971</c:v>
                </c:pt>
                <c:pt idx="52">
                  <c:v>1.7085255424568595</c:v>
                </c:pt>
                <c:pt idx="53">
                  <c:v>1.6903313049357673</c:v>
                </c:pt>
                <c:pt idx="54">
                  <c:v>1.6832183134152501</c:v>
                </c:pt>
                <c:pt idx="55">
                  <c:v>1.697216564833673</c:v>
                </c:pt>
                <c:pt idx="56">
                  <c:v>1.7027073046143366</c:v>
                </c:pt>
                <c:pt idx="57">
                  <c:v>1.6744809109176158</c:v>
                </c:pt>
                <c:pt idx="58">
                  <c:v>1.6633399866932803</c:v>
                </c:pt>
                <c:pt idx="59">
                  <c:v>1.6447368421052633</c:v>
                </c:pt>
                <c:pt idx="60">
                  <c:v>1.5956598053295037</c:v>
                </c:pt>
                <c:pt idx="61">
                  <c:v>1.6105653084232565</c:v>
                </c:pt>
                <c:pt idx="62">
                  <c:v>1.6572754391779914</c:v>
                </c:pt>
                <c:pt idx="63">
                  <c:v>1.720282126268708</c:v>
                </c:pt>
                <c:pt idx="64">
                  <c:v>1.7436791630340016</c:v>
                </c:pt>
                <c:pt idx="65">
                  <c:v>1.7636684303350971</c:v>
                </c:pt>
                <c:pt idx="66">
                  <c:v>1.8119224497191522</c:v>
                </c:pt>
                <c:pt idx="67">
                  <c:v>1.7568517217146871</c:v>
                </c:pt>
                <c:pt idx="68">
                  <c:v>1.7611835153222968</c:v>
                </c:pt>
                <c:pt idx="69">
                  <c:v>1.7161489617298782</c:v>
                </c:pt>
                <c:pt idx="70">
                  <c:v>1.7053206002728512</c:v>
                </c:pt>
                <c:pt idx="71">
                  <c:v>1.665001665001665</c:v>
                </c:pt>
                <c:pt idx="72">
                  <c:v>1.5946420028703556</c:v>
                </c:pt>
                <c:pt idx="73">
                  <c:v>1.5328019619865114</c:v>
                </c:pt>
                <c:pt idx="74">
                  <c:v>1.5290519877675841</c:v>
                </c:pt>
                <c:pt idx="75">
                  <c:v>1.5760441292356187</c:v>
                </c:pt>
                <c:pt idx="76">
                  <c:v>1.5713387806411063</c:v>
                </c:pt>
                <c:pt idx="77">
                  <c:v>1.5649452269170578</c:v>
                </c:pt>
                <c:pt idx="78">
                  <c:v>1.5126304643775526</c:v>
                </c:pt>
                <c:pt idx="79">
                  <c:v>1.4371945961483186</c:v>
                </c:pt>
                <c:pt idx="80">
                  <c:v>1.4110342881332016</c:v>
                </c:pt>
                <c:pt idx="81">
                  <c:v>1.3473457289140394</c:v>
                </c:pt>
                <c:pt idx="82">
                  <c:v>1.3592496941688188</c:v>
                </c:pt>
                <c:pt idx="83">
                  <c:v>1.3504388926401079</c:v>
                </c:pt>
                <c:pt idx="84">
                  <c:v>1.3324450366422387</c:v>
                </c:pt>
                <c:pt idx="85">
                  <c:v>1.3278449077147789</c:v>
                </c:pt>
                <c:pt idx="86">
                  <c:v>1.3917884481558802</c:v>
                </c:pt>
                <c:pt idx="87">
                  <c:v>1.4070634585619812</c:v>
                </c:pt>
                <c:pt idx="88">
                  <c:v>1.4236902050113895</c:v>
                </c:pt>
                <c:pt idx="89">
                  <c:v>1.4144271570014144</c:v>
                </c:pt>
                <c:pt idx="90">
                  <c:v>1.4184397163120568</c:v>
                </c:pt>
                <c:pt idx="91">
                  <c:v>1.4150275930380642</c:v>
                </c:pt>
                <c:pt idx="92">
                  <c:v>1.4204545454545456</c:v>
                </c:pt>
                <c:pt idx="93">
                  <c:v>1.4249073810202337</c:v>
                </c:pt>
                <c:pt idx="94">
                  <c:v>1.4336917562724014</c:v>
                </c:pt>
                <c:pt idx="95">
                  <c:v>1.4347202295552368</c:v>
                </c:pt>
                <c:pt idx="96">
                  <c:v>1.4279594459517349</c:v>
                </c:pt>
                <c:pt idx="97">
                  <c:v>1.4300014300014299</c:v>
                </c:pt>
                <c:pt idx="98">
                  <c:v>1.474708745022858</c:v>
                </c:pt>
                <c:pt idx="99">
                  <c:v>1.505797319680771</c:v>
                </c:pt>
                <c:pt idx="100">
                  <c:v>1.5181417944436011</c:v>
                </c:pt>
                <c:pt idx="101">
                  <c:v>1.497454327643007</c:v>
                </c:pt>
                <c:pt idx="102">
                  <c:v>1.5062509414068384</c:v>
                </c:pt>
                <c:pt idx="103">
                  <c:v>1.5370427297878881</c:v>
                </c:pt>
                <c:pt idx="104">
                  <c:v>1.5112588786459122</c:v>
                </c:pt>
                <c:pt idx="105">
                  <c:v>1.5192950470981463</c:v>
                </c:pt>
                <c:pt idx="106">
                  <c:v>1.5199878400972791</c:v>
                </c:pt>
                <c:pt idx="107">
                  <c:v>1.5377518068583731</c:v>
                </c:pt>
                <c:pt idx="108">
                  <c:v>1.5547263681592041</c:v>
                </c:pt>
                <c:pt idx="109">
                  <c:v>1.5491866769945779</c:v>
                </c:pt>
                <c:pt idx="110">
                  <c:v>1.5262515262515262</c:v>
                </c:pt>
                <c:pt idx="111">
                  <c:v>1.5156107911488328</c:v>
                </c:pt>
                <c:pt idx="112">
                  <c:v>1.5094339622641511</c:v>
                </c:pt>
                <c:pt idx="113">
                  <c:v>1.464986815118664</c:v>
                </c:pt>
                <c:pt idx="114">
                  <c:v>1.4639145073927682</c:v>
                </c:pt>
                <c:pt idx="115">
                  <c:v>1.4604936468526362</c:v>
                </c:pt>
                <c:pt idx="116">
                  <c:v>1.4570887367040652</c:v>
                </c:pt>
                <c:pt idx="117">
                  <c:v>1.41643059490085</c:v>
                </c:pt>
                <c:pt idx="118">
                  <c:v>1.3764624913971093</c:v>
                </c:pt>
                <c:pt idx="119">
                  <c:v>1.3344008540165466</c:v>
                </c:pt>
                <c:pt idx="120">
                  <c:v>1.3422818791946309</c:v>
                </c:pt>
                <c:pt idx="121">
                  <c:v>1.3633265167007498</c:v>
                </c:pt>
                <c:pt idx="122">
                  <c:v>1.3234515616728426</c:v>
                </c:pt>
                <c:pt idx="123">
                  <c:v>1.3164823591363874</c:v>
                </c:pt>
                <c:pt idx="124">
                  <c:v>1.3287270794578794</c:v>
                </c:pt>
                <c:pt idx="125">
                  <c:v>1.3691128148959473</c:v>
                </c:pt>
                <c:pt idx="126">
                  <c:v>1.4066676044450697</c:v>
                </c:pt>
                <c:pt idx="127">
                  <c:v>1.4190435646374344</c:v>
                </c:pt>
                <c:pt idx="128">
                  <c:v>1.4072614691809737</c:v>
                </c:pt>
                <c:pt idx="129">
                  <c:v>1.4154281670205238</c:v>
                </c:pt>
                <c:pt idx="130">
                  <c:v>1.3960631020522127</c:v>
                </c:pt>
                <c:pt idx="131">
                  <c:v>1.38217000691085</c:v>
                </c:pt>
                <c:pt idx="132">
                  <c:v>1.3993842709207949</c:v>
                </c:pt>
                <c:pt idx="133">
                  <c:v>1.3933398355858995</c:v>
                </c:pt>
                <c:pt idx="134">
                  <c:v>1.4021312394840157</c:v>
                </c:pt>
                <c:pt idx="135">
                  <c:v>1.4198494959534289</c:v>
                </c:pt>
                <c:pt idx="136">
                  <c:v>1.4140271493212668</c:v>
                </c:pt>
                <c:pt idx="137">
                  <c:v>1.4046916701783958</c:v>
                </c:pt>
                <c:pt idx="138">
                  <c:v>1.409046075806679</c:v>
                </c:pt>
                <c:pt idx="139">
                  <c:v>1.4048890137679124</c:v>
                </c:pt>
                <c:pt idx="140">
                  <c:v>1.400560224089636</c:v>
                </c:pt>
                <c:pt idx="141">
                  <c:v>1.394700139470014</c:v>
                </c:pt>
                <c:pt idx="142">
                  <c:v>1.3858093126385809</c:v>
                </c:pt>
                <c:pt idx="143">
                  <c:v>1.3751375137513753</c:v>
                </c:pt>
                <c:pt idx="144">
                  <c:v>1.373060551970342</c:v>
                </c:pt>
                <c:pt idx="145">
                  <c:v>1.3808340237503454</c:v>
                </c:pt>
                <c:pt idx="146">
                  <c:v>1.3741926618111859</c:v>
                </c:pt>
                <c:pt idx="147">
                  <c:v>1.3879250520471893</c:v>
                </c:pt>
                <c:pt idx="148">
                  <c:v>1.4046916701783958</c:v>
                </c:pt>
                <c:pt idx="149">
                  <c:v>1.3980148189570809</c:v>
                </c:pt>
                <c:pt idx="150">
                  <c:v>1.373060551970342</c:v>
                </c:pt>
                <c:pt idx="151">
                  <c:v>1.3550135501355014</c:v>
                </c:pt>
                <c:pt idx="152">
                  <c:v>1.3075313807531379</c:v>
                </c:pt>
                <c:pt idx="153">
                  <c:v>1.2189176011701608</c:v>
                </c:pt>
                <c:pt idx="154">
                  <c:v>1.199184554502938</c:v>
                </c:pt>
                <c:pt idx="155">
                  <c:v>1.2233912405187179</c:v>
                </c:pt>
                <c:pt idx="156">
                  <c:v>1.2379301807378065</c:v>
                </c:pt>
                <c:pt idx="157">
                  <c:v>1.1883541295306002</c:v>
                </c:pt>
                <c:pt idx="158">
                  <c:v>1.216249087813184</c:v>
                </c:pt>
                <c:pt idx="159">
                  <c:v>1.2453300124533</c:v>
                </c:pt>
                <c:pt idx="160">
                  <c:v>1.2492192379762648</c:v>
                </c:pt>
                <c:pt idx="161">
                  <c:v>1.2520345561537498</c:v>
                </c:pt>
                <c:pt idx="162">
                  <c:v>1.2968486577616392</c:v>
                </c:pt>
                <c:pt idx="163">
                  <c:v>1.2975217334890359</c:v>
                </c:pt>
                <c:pt idx="164">
                  <c:v>1.2735608762098829</c:v>
                </c:pt>
                <c:pt idx="165">
                  <c:v>1.2727504136438845</c:v>
                </c:pt>
                <c:pt idx="166">
                  <c:v>1.2956724540036277</c:v>
                </c:pt>
                <c:pt idx="167">
                  <c:v>1.3075313807531379</c:v>
                </c:pt>
                <c:pt idx="168">
                  <c:v>1.329433661260303</c:v>
                </c:pt>
                <c:pt idx="169">
                  <c:v>1.3082155939298796</c:v>
                </c:pt>
                <c:pt idx="170">
                  <c:v>1.2914890869172155</c:v>
                </c:pt>
                <c:pt idx="171">
                  <c:v>1.2840267077555212</c:v>
                </c:pt>
                <c:pt idx="172">
                  <c:v>1.271940981938438</c:v>
                </c:pt>
                <c:pt idx="173">
                  <c:v>1.2708095056551023</c:v>
                </c:pt>
                <c:pt idx="174">
                  <c:v>1.2454851164528584</c:v>
                </c:pt>
                <c:pt idx="175">
                  <c:v>1.2419274714356681</c:v>
                </c:pt>
                <c:pt idx="176">
                  <c:v>1.2468827930174562</c:v>
                </c:pt>
                <c:pt idx="177">
                  <c:v>1.2562814070351758</c:v>
                </c:pt>
                <c:pt idx="178">
                  <c:v>1.2611930886618741</c:v>
                </c:pt>
                <c:pt idx="179">
                  <c:v>1.2671059300557526</c:v>
                </c:pt>
                <c:pt idx="180">
                  <c:v>1.2525050100200401</c:v>
                </c:pt>
                <c:pt idx="181">
                  <c:v>1.2330456226880393</c:v>
                </c:pt>
                <c:pt idx="182">
                  <c:v>1.203659123736158</c:v>
                </c:pt>
                <c:pt idx="183">
                  <c:v>1.1889192723814053</c:v>
                </c:pt>
                <c:pt idx="184">
                  <c:v>1.1892020454275181</c:v>
                </c:pt>
                <c:pt idx="185">
                  <c:v>1.1827321111768183</c:v>
                </c:pt>
                <c:pt idx="186">
                  <c:v>1.1693171188026192</c:v>
                </c:pt>
                <c:pt idx="187">
                  <c:v>1.1835720203574387</c:v>
                </c:pt>
                <c:pt idx="188">
                  <c:v>1.1903344839900012</c:v>
                </c:pt>
                <c:pt idx="189">
                  <c:v>1.1757789535567313</c:v>
                </c:pt>
                <c:pt idx="190">
                  <c:v>1.1610356437942646</c:v>
                </c:pt>
                <c:pt idx="191">
                  <c:v>1.1588828369451849</c:v>
                </c:pt>
                <c:pt idx="192">
                  <c:v>1.1630611770179111</c:v>
                </c:pt>
                <c:pt idx="193">
                  <c:v>1.1706860220088973</c:v>
                </c:pt>
                <c:pt idx="194">
                  <c:v>1.16918040453642</c:v>
                </c:pt>
                <c:pt idx="195">
                  <c:v>1.1763321962122104</c:v>
                </c:pt>
                <c:pt idx="196">
                  <c:v>1.1923214498628831</c:v>
                </c:pt>
                <c:pt idx="197">
                  <c:v>1.2093360744951023</c:v>
                </c:pt>
                <c:pt idx="198">
                  <c:v>1.2004801920768309</c:v>
                </c:pt>
                <c:pt idx="199">
                  <c:v>1.184413123297406</c:v>
                </c:pt>
                <c:pt idx="200">
                  <c:v>1.2065637065637065</c:v>
                </c:pt>
                <c:pt idx="201">
                  <c:v>1.2405408758218583</c:v>
                </c:pt>
                <c:pt idx="202">
                  <c:v>1.2871669455528381</c:v>
                </c:pt>
                <c:pt idx="203">
                  <c:v>1.3190871916633689</c:v>
                </c:pt>
                <c:pt idx="204">
                  <c:v>1.3557483731019522</c:v>
                </c:pt>
                <c:pt idx="205">
                  <c:v>1.3904338153503895</c:v>
                </c:pt>
                <c:pt idx="206">
                  <c:v>1.3943112102621307</c:v>
                </c:pt>
                <c:pt idx="207">
                  <c:v>1.4240956992309883</c:v>
                </c:pt>
                <c:pt idx="208">
                  <c:v>1.4216661927779357</c:v>
                </c:pt>
                <c:pt idx="209">
                  <c:v>1.4496955639315745</c:v>
                </c:pt>
                <c:pt idx="210">
                  <c:v>1.524390243902439</c:v>
                </c:pt>
                <c:pt idx="211">
                  <c:v>1.5039855617386073</c:v>
                </c:pt>
                <c:pt idx="212">
                  <c:v>1.4590020426028596</c:v>
                </c:pt>
                <c:pt idx="213">
                  <c:v>1.4622020763269485</c:v>
                </c:pt>
                <c:pt idx="214">
                  <c:v>1.4914243102162565</c:v>
                </c:pt>
                <c:pt idx="215">
                  <c:v>1.5051173991571343</c:v>
                </c:pt>
                <c:pt idx="216">
                  <c:v>1.5165301789505612</c:v>
                </c:pt>
                <c:pt idx="217">
                  <c:v>1.51952590791673</c:v>
                </c:pt>
                <c:pt idx="218">
                  <c:v>1.5503875968992247</c:v>
                </c:pt>
                <c:pt idx="219">
                  <c:v>1.5487068297971194</c:v>
                </c:pt>
                <c:pt idx="220">
                  <c:v>1.4832393948383269</c:v>
                </c:pt>
                <c:pt idx="221">
                  <c:v>1.5108022359873092</c:v>
                </c:pt>
                <c:pt idx="222">
                  <c:v>1.5089784216085711</c:v>
                </c:pt>
                <c:pt idx="223">
                  <c:v>1.4909795735798421</c:v>
                </c:pt>
                <c:pt idx="224">
                  <c:v>1.4615609470914936</c:v>
                </c:pt>
                <c:pt idx="225">
                  <c:v>1.4200511218403862</c:v>
                </c:pt>
                <c:pt idx="226">
                  <c:v>1.4289797084881395</c:v>
                </c:pt>
                <c:pt idx="227">
                  <c:v>1.4253135689851768</c:v>
                </c:pt>
              </c:numCache>
            </c:numRef>
          </c:val>
          <c:smooth val="0"/>
          <c:extLst>
            <c:ext xmlns:c16="http://schemas.microsoft.com/office/drawing/2014/chart" uri="{C3380CC4-5D6E-409C-BE32-E72D297353CC}">
              <c16:uniqueId val="{00000004-9D86-49D3-8633-9CC02313F87B}"/>
            </c:ext>
          </c:extLst>
        </c:ser>
        <c:dLbls>
          <c:showLegendKey val="0"/>
          <c:showVal val="0"/>
          <c:showCatName val="0"/>
          <c:showSerName val="0"/>
          <c:showPercent val="0"/>
          <c:showBubbleSize val="0"/>
        </c:dLbls>
        <c:marker val="1"/>
        <c:smooth val="0"/>
        <c:axId val="221023872"/>
        <c:axId val="1"/>
        <c:extLst>
          <c:ext xmlns:c15="http://schemas.microsoft.com/office/drawing/2012/chart" uri="{02D57815-91ED-43cb-92C2-25804820EDAC}">
            <c15:filteredLineSeries>
              <c15:ser>
                <c:idx val="6"/>
                <c:order val="0"/>
                <c:tx>
                  <c:strRef>
                    <c:extLst>
                      <c:ext uri="{02D57815-91ED-43cb-92C2-25804820EDAC}">
                        <c15:formulaRef>
                          <c15:sqref>Sheet1!$B$1</c15:sqref>
                        </c15:formulaRef>
                      </c:ext>
                    </c:extLst>
                    <c:strCache>
                      <c:ptCount val="1"/>
                      <c:pt idx="0">
                        <c:v>Japanese yen (100s)</c:v>
                      </c:pt>
                    </c:strCache>
                  </c:strRef>
                </c:tx>
                <c:spPr>
                  <a:ln w="28575">
                    <a:solidFill>
                      <a:srgbClr val="E48800"/>
                    </a:solidFill>
                    <a:prstDash val="solid"/>
                  </a:ln>
                </c:spPr>
                <c:marker>
                  <c:symbol val="none"/>
                </c:marker>
                <c:cat>
                  <c:numRef>
                    <c:extLst>
                      <c:ext uri="{02D57815-91ED-43cb-92C2-25804820EDAC}">
                        <c15:formulaRef>
                          <c15:sqref>Sheet1!$A$2:$A$516</c15:sqref>
                        </c15:formulaRef>
                      </c:ext>
                    </c:extLst>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extLst>
                      <c:ext uri="{02D57815-91ED-43cb-92C2-25804820EDAC}">
                        <c15:formulaRef>
                          <c15:sqref>Sheet1!$B$2:$B$516</c15:sqref>
                        </c15:formulaRef>
                      </c:ext>
                    </c:extLst>
                    <c:numCache>
                      <c:formatCode>0.000</c:formatCode>
                      <c:ptCount val="515"/>
                      <c:pt idx="0">
                        <c:v>5.3874159999999991</c:v>
                      </c:pt>
                      <c:pt idx="1">
                        <c:v>5.5900639999999999</c:v>
                      </c:pt>
                      <c:pt idx="2">
                        <c:v>5.4799990000000003</c:v>
                      </c:pt>
                      <c:pt idx="3">
                        <c:v>5.5232259999999993</c:v>
                      </c:pt>
                      <c:pt idx="4">
                        <c:v>5.2538030000000004</c:v>
                      </c:pt>
                      <c:pt idx="5">
                        <c:v>5.0911799999999996</c:v>
                      </c:pt>
                      <c:pt idx="6">
                        <c:v>5.2428340000000002</c:v>
                      </c:pt>
                      <c:pt idx="7">
                        <c:v>5.3078750000000001</c:v>
                      </c:pt>
                      <c:pt idx="8">
                        <c:v>5.1514930000000003</c:v>
                      </c:pt>
                      <c:pt idx="9">
                        <c:v>5.0555470000000007</c:v>
                      </c:pt>
                      <c:pt idx="10">
                        <c:v>5.1004860000000001</c:v>
                      </c:pt>
                      <c:pt idx="11">
                        <c:v>4.9100630000000001</c:v>
                      </c:pt>
                      <c:pt idx="12">
                        <c:v>4.8588180000000003</c:v>
                      </c:pt>
                      <c:pt idx="13">
                        <c:v>4.7180689999999998</c:v>
                      </c:pt>
                      <c:pt idx="14">
                        <c:v>4.6609160000000003</c:v>
                      </c:pt>
                      <c:pt idx="15">
                        <c:v>4.6784410000000003</c:v>
                      </c:pt>
                      <c:pt idx="16">
                        <c:v>4.6099540000000001</c:v>
                      </c:pt>
                      <c:pt idx="17">
                        <c:v>4.4232639999999996</c:v>
                      </c:pt>
                      <c:pt idx="18">
                        <c:v>4.3515470000000001</c:v>
                      </c:pt>
                      <c:pt idx="19">
                        <c:v>4.2500920000000004</c:v>
                      </c:pt>
                      <c:pt idx="20">
                        <c:v>4.1680099999999998</c:v>
                      </c:pt>
                      <c:pt idx="21">
                        <c:v>4.2636149999999997</c:v>
                      </c:pt>
                      <c:pt idx="22">
                        <c:v>4.2478100000000003</c:v>
                      </c:pt>
                      <c:pt idx="23">
                        <c:v>4.1648570000000005</c:v>
                      </c:pt>
                      <c:pt idx="24">
                        <c:v>4.2378030000000004</c:v>
                      </c:pt>
                      <c:pt idx="25">
                        <c:v>4.3505739999999999</c:v>
                      </c:pt>
                      <c:pt idx="26">
                        <c:v>4.3559939999999999</c:v>
                      </c:pt>
                      <c:pt idx="27">
                        <c:v>4.3181609999999999</c:v>
                      </c:pt>
                      <c:pt idx="28">
                        <c:v>4.2879620000000003</c:v>
                      </c:pt>
                      <c:pt idx="29">
                        <c:v>4.4124360000000005</c:v>
                      </c:pt>
                      <c:pt idx="30">
                        <c:v>4.4220879999999996</c:v>
                      </c:pt>
                      <c:pt idx="31">
                        <c:v>4.4662240000000004</c:v>
                      </c:pt>
                      <c:pt idx="32">
                        <c:v>4.5046150000000003</c:v>
                      </c:pt>
                      <c:pt idx="33">
                        <c:v>4.6009039999999999</c:v>
                      </c:pt>
                      <c:pt idx="34">
                        <c:v>4.3194490000000005</c:v>
                      </c:pt>
                      <c:pt idx="35">
                        <c:v>3.9238589999999998</c:v>
                      </c:pt>
                      <c:pt idx="36">
                        <c:v>3.6602239999999999</c:v>
                      </c:pt>
                      <c:pt idx="37">
                        <c:v>3.6123899999999995</c:v>
                      </c:pt>
                      <c:pt idx="38">
                        <c:v>3.5468310000000001</c:v>
                      </c:pt>
                      <c:pt idx="39">
                        <c:v>3.661915</c:v>
                      </c:pt>
                      <c:pt idx="40">
                        <c:v>3.6915519999999997</c:v>
                      </c:pt>
                      <c:pt idx="41">
                        <c:v>3.7183089999999996</c:v>
                      </c:pt>
                      <c:pt idx="42">
                        <c:v>3.6729849999999997</c:v>
                      </c:pt>
                      <c:pt idx="43">
                        <c:v>3.6696050000000002</c:v>
                      </c:pt>
                      <c:pt idx="44">
                        <c:v>3.6328840000000002</c:v>
                      </c:pt>
                      <c:pt idx="45">
                        <c:v>3.4866489999999999</c:v>
                      </c:pt>
                      <c:pt idx="46">
                        <c:v>3.4725950000000001</c:v>
                      </c:pt>
                      <c:pt idx="47">
                        <c:v>3.3637419999999998</c:v>
                      </c:pt>
                      <c:pt idx="48">
                        <c:v>3.2915320000000001</c:v>
                      </c:pt>
                      <c:pt idx="49">
                        <c:v>3.3638749999999997</c:v>
                      </c:pt>
                      <c:pt idx="50">
                        <c:v>3.2785509999999998</c:v>
                      </c:pt>
                      <c:pt idx="51">
                        <c:v>3.2032760000000002</c:v>
                      </c:pt>
                      <c:pt idx="52">
                        <c:v>3.2028080000000001</c:v>
                      </c:pt>
                      <c:pt idx="53">
                        <c:v>3.214712</c:v>
                      </c:pt>
                      <c:pt idx="54">
                        <c:v>3.2079119999999999</c:v>
                      </c:pt>
                      <c:pt idx="55">
                        <c:v>3.1829520000000002</c:v>
                      </c:pt>
                      <c:pt idx="56">
                        <c:v>3.0872980000000001</c:v>
                      </c:pt>
                      <c:pt idx="57">
                        <c:v>3.0106950000000001</c:v>
                      </c:pt>
                      <c:pt idx="58">
                        <c:v>3.0211320000000002</c:v>
                      </c:pt>
                      <c:pt idx="59">
                        <c:v>2.9430749999999999</c:v>
                      </c:pt>
                      <c:pt idx="60">
                        <c:v>2.8682859999999999</c:v>
                      </c:pt>
                      <c:pt idx="61">
                        <c:v>2.8473200000000003</c:v>
                      </c:pt>
                      <c:pt idx="62">
                        <c:v>2.8975139999999997</c:v>
                      </c:pt>
                      <c:pt idx="63">
                        <c:v>3.1229590000000003</c:v>
                      </c:pt>
                      <c:pt idx="64">
                        <c:v>3.1456099999999996</c:v>
                      </c:pt>
                      <c:pt idx="65">
                        <c:v>3.186798</c:v>
                      </c:pt>
                      <c:pt idx="66">
                        <c:v>3.3260619999999999</c:v>
                      </c:pt>
                      <c:pt idx="67">
                        <c:v>3.2842889999999998</c:v>
                      </c:pt>
                      <c:pt idx="68">
                        <c:v>3.2282859999999998</c:v>
                      </c:pt>
                      <c:pt idx="69">
                        <c:v>3.051685</c:v>
                      </c:pt>
                      <c:pt idx="70">
                        <c:v>2.9363839999999999</c:v>
                      </c:pt>
                      <c:pt idx="71">
                        <c:v>2.9317340000000001</c:v>
                      </c:pt>
                      <c:pt idx="72">
                        <c:v>2.8466010000000002</c:v>
                      </c:pt>
                      <c:pt idx="73">
                        <c:v>2.6383980000000005</c:v>
                      </c:pt>
                      <c:pt idx="74">
                        <c:v>2.6206019999999999</c:v>
                      </c:pt>
                      <c:pt idx="75">
                        <c:v>2.6217160000000002</c:v>
                      </c:pt>
                      <c:pt idx="76">
                        <c:v>2.5383690000000003</c:v>
                      </c:pt>
                      <c:pt idx="77">
                        <c:v>2.5278229999999997</c:v>
                      </c:pt>
                      <c:pt idx="78">
                        <c:v>2.3939150000000002</c:v>
                      </c:pt>
                      <c:pt idx="79">
                        <c:v>2.291804</c:v>
                      </c:pt>
                      <c:pt idx="80">
                        <c:v>2.2764670000000002</c:v>
                      </c:pt>
                      <c:pt idx="81">
                        <c:v>2.2314910000000001</c:v>
                      </c:pt>
                      <c:pt idx="82">
                        <c:v>2.3200500000000002</c:v>
                      </c:pt>
                      <c:pt idx="83">
                        <c:v>2.3322020000000001</c:v>
                      </c:pt>
                      <c:pt idx="84">
                        <c:v>2.3294229999999998</c:v>
                      </c:pt>
                      <c:pt idx="85">
                        <c:v>2.3425470000000002</c:v>
                      </c:pt>
                      <c:pt idx="86">
                        <c:v>2.4107210000000001</c:v>
                      </c:pt>
                      <c:pt idx="87">
                        <c:v>2.328694</c:v>
                      </c:pt>
                      <c:pt idx="88">
                        <c:v>2.3412809999999999</c:v>
                      </c:pt>
                      <c:pt idx="89">
                        <c:v>2.3531120000000003</c:v>
                      </c:pt>
                      <c:pt idx="90">
                        <c:v>2.4182709999999998</c:v>
                      </c:pt>
                      <c:pt idx="91">
                        <c:v>2.35703</c:v>
                      </c:pt>
                      <c:pt idx="92">
                        <c:v>2.3555709999999999</c:v>
                      </c:pt>
                      <c:pt idx="93">
                        <c:v>2.3804509999999999</c:v>
                      </c:pt>
                      <c:pt idx="94">
                        <c:v>2.4034049999999998</c:v>
                      </c:pt>
                      <c:pt idx="95">
                        <c:v>2.3467320000000003</c:v>
                      </c:pt>
                      <c:pt idx="96">
                        <c:v>2.298975</c:v>
                      </c:pt>
                      <c:pt idx="97">
                        <c:v>2.2697059999999998</c:v>
                      </c:pt>
                      <c:pt idx="98">
                        <c:v>2.3293850000000003</c:v>
                      </c:pt>
                      <c:pt idx="99">
                        <c:v>2.3442789999999998</c:v>
                      </c:pt>
                      <c:pt idx="100">
                        <c:v>2.3320920000000003</c:v>
                      </c:pt>
                      <c:pt idx="101">
                        <c:v>2.265228</c:v>
                      </c:pt>
                      <c:pt idx="102">
                        <c:v>2.2687209999999998</c:v>
                      </c:pt>
                      <c:pt idx="103">
                        <c:v>2.270937</c:v>
                      </c:pt>
                      <c:pt idx="104">
                        <c:v>2.2630950000000003</c:v>
                      </c:pt>
                      <c:pt idx="105">
                        <c:v>2.238734</c:v>
                      </c:pt>
                      <c:pt idx="106">
                        <c:v>2.2270760000000003</c:v>
                      </c:pt>
                      <c:pt idx="107">
                        <c:v>2.2570640000000002</c:v>
                      </c:pt>
                      <c:pt idx="108">
                        <c:v>2.2577879999999997</c:v>
                      </c:pt>
                      <c:pt idx="109">
                        <c:v>2.238874</c:v>
                      </c:pt>
                      <c:pt idx="110">
                        <c:v>2.2342919999999999</c:v>
                      </c:pt>
                      <c:pt idx="111">
                        <c:v>2.2467199999999998</c:v>
                      </c:pt>
                      <c:pt idx="112">
                        <c:v>2.246896</c:v>
                      </c:pt>
                      <c:pt idx="113">
                        <c:v>2.235684</c:v>
                      </c:pt>
                      <c:pt idx="114">
                        <c:v>2.2825550000000003</c:v>
                      </c:pt>
                      <c:pt idx="115">
                        <c:v>2.2539899999999999</c:v>
                      </c:pt>
                      <c:pt idx="116">
                        <c:v>2.2794470000000002</c:v>
                      </c:pt>
                      <c:pt idx="117">
                        <c:v>2.2569170000000001</c:v>
                      </c:pt>
                      <c:pt idx="118">
                        <c:v>2.2564609999999998</c:v>
                      </c:pt>
                      <c:pt idx="119">
                        <c:v>2.2930420000000002</c:v>
                      </c:pt>
                      <c:pt idx="120">
                        <c:v>2.3948390000000002</c:v>
                      </c:pt>
                      <c:pt idx="121">
                        <c:v>2.4699200000000001</c:v>
                      </c:pt>
                      <c:pt idx="122">
                        <c:v>2.4885959999999998</c:v>
                      </c:pt>
                      <c:pt idx="123">
                        <c:v>2.5920679999999998</c:v>
                      </c:pt>
                      <c:pt idx="124">
                        <c:v>2.580028</c:v>
                      </c:pt>
                      <c:pt idx="125">
                        <c:v>2.6282530000000004</c:v>
                      </c:pt>
                      <c:pt idx="126">
                        <c:v>2.6947859999999997</c:v>
                      </c:pt>
                      <c:pt idx="127">
                        <c:v>2.801288</c:v>
                      </c:pt>
                      <c:pt idx="128">
                        <c:v>2.6049489999999995</c:v>
                      </c:pt>
                      <c:pt idx="129">
                        <c:v>2.523158</c:v>
                      </c:pt>
                      <c:pt idx="130">
                        <c:v>2.5349200000000001</c:v>
                      </c:pt>
                      <c:pt idx="131">
                        <c:v>2.5740839999999996</c:v>
                      </c:pt>
                      <c:pt idx="132">
                        <c:v>2.5859750000000004</c:v>
                      </c:pt>
                      <c:pt idx="133">
                        <c:v>2.563113</c:v>
                      </c:pt>
                      <c:pt idx="134">
                        <c:v>2.505468</c:v>
                      </c:pt>
                      <c:pt idx="135">
                        <c:v>2.396239</c:v>
                      </c:pt>
                      <c:pt idx="136">
                        <c:v>2.3825340000000002</c:v>
                      </c:pt>
                      <c:pt idx="137">
                        <c:v>2.3052520000000003</c:v>
                      </c:pt>
                      <c:pt idx="138">
                        <c:v>2.2745679999999999</c:v>
                      </c:pt>
                      <c:pt idx="139">
                        <c:v>2.3035000000000001</c:v>
                      </c:pt>
                      <c:pt idx="140">
                        <c:v>2.3180099999999997</c:v>
                      </c:pt>
                      <c:pt idx="141">
                        <c:v>2.251563</c:v>
                      </c:pt>
                      <c:pt idx="142">
                        <c:v>2.304951</c:v>
                      </c:pt>
                      <c:pt idx="143">
                        <c:v>2.3378649999999999</c:v>
                      </c:pt>
                      <c:pt idx="144">
                        <c:v>2.2696860000000001</c:v>
                      </c:pt>
                      <c:pt idx="145">
                        <c:v>2.2684989999999998</c:v>
                      </c:pt>
                      <c:pt idx="146">
                        <c:v>2.291026</c:v>
                      </c:pt>
                      <c:pt idx="147">
                        <c:v>2.345024</c:v>
                      </c:pt>
                      <c:pt idx="148">
                        <c:v>2.3653460000000002</c:v>
                      </c:pt>
                      <c:pt idx="149">
                        <c:v>2.352671</c:v>
                      </c:pt>
                      <c:pt idx="150">
                        <c:v>2.413062</c:v>
                      </c:pt>
                      <c:pt idx="151">
                        <c:v>2.4533490000000002</c:v>
                      </c:pt>
                      <c:pt idx="152">
                        <c:v>2.2757559999999999</c:v>
                      </c:pt>
                      <c:pt idx="153">
                        <c:v>2.0069759999999999</c:v>
                      </c:pt>
                      <c:pt idx="154">
                        <c:v>1.89161</c:v>
                      </c:pt>
                      <c:pt idx="155">
                        <c:v>1.9255430000000002</c:v>
                      </c:pt>
                      <c:pt idx="156">
                        <c:v>1.9158410000000001</c:v>
                      </c:pt>
                      <c:pt idx="157">
                        <c:v>1.7360730000000002</c:v>
                      </c:pt>
                      <c:pt idx="158">
                        <c:v>1.7105410000000001</c:v>
                      </c:pt>
                      <c:pt idx="159">
                        <c:v>1.7374940000000001</c:v>
                      </c:pt>
                      <c:pt idx="160">
                        <c:v>1.707676</c:v>
                      </c:pt>
                      <c:pt idx="161">
                        <c:v>1.6202420000000002</c:v>
                      </c:pt>
                      <c:pt idx="162">
                        <c:v>1.6116460000000001</c:v>
                      </c:pt>
                      <c:pt idx="163">
                        <c:v>1.5477510000000001</c:v>
                      </c:pt>
                      <c:pt idx="164">
                        <c:v>1.608792</c:v>
                      </c:pt>
                      <c:pt idx="165">
                        <c:v>1.6082190000000001</c:v>
                      </c:pt>
                      <c:pt idx="166">
                        <c:v>1.5966220000000002</c:v>
                      </c:pt>
                      <c:pt idx="167">
                        <c:v>1.6362680000000001</c:v>
                      </c:pt>
                      <c:pt idx="168">
                        <c:v>1.6634599999999999</c:v>
                      </c:pt>
                      <c:pt idx="169">
                        <c:v>1.5716159999999999</c:v>
                      </c:pt>
                      <c:pt idx="170">
                        <c:v>1.569374</c:v>
                      </c:pt>
                      <c:pt idx="171">
                        <c:v>1.535128</c:v>
                      </c:pt>
                      <c:pt idx="172">
                        <c:v>1.5605090000000001</c:v>
                      </c:pt>
                      <c:pt idx="173">
                        <c:v>1.563828</c:v>
                      </c:pt>
                      <c:pt idx="174">
                        <c:v>1.5225420000000001</c:v>
                      </c:pt>
                      <c:pt idx="175">
                        <c:v>1.5412530000000002</c:v>
                      </c:pt>
                      <c:pt idx="176">
                        <c:v>1.5454890000000001</c:v>
                      </c:pt>
                      <c:pt idx="177">
                        <c:v>1.580236</c:v>
                      </c:pt>
                      <c:pt idx="178">
                        <c:v>1.556732</c:v>
                      </c:pt>
                      <c:pt idx="179">
                        <c:v>1.5618920000000001</c:v>
                      </c:pt>
                      <c:pt idx="180">
                        <c:v>1.569415</c:v>
                      </c:pt>
                      <c:pt idx="181">
                        <c:v>1.543156</c:v>
                      </c:pt>
                      <c:pt idx="182">
                        <c:v>1.448194</c:v>
                      </c:pt>
                      <c:pt idx="183">
                        <c:v>1.3464590000000001</c:v>
                      </c:pt>
                      <c:pt idx="184">
                        <c:v>1.351318</c:v>
                      </c:pt>
                      <c:pt idx="185">
                        <c:v>1.3481720000000001</c:v>
                      </c:pt>
                      <c:pt idx="186">
                        <c:v>1.3922099999999999</c:v>
                      </c:pt>
                      <c:pt idx="187">
                        <c:v>1.4830750000000001</c:v>
                      </c:pt>
                      <c:pt idx="188">
                        <c:v>1.5642199999999999</c:v>
                      </c:pt>
                      <c:pt idx="189">
                        <c:v>1.5902180000000001</c:v>
                      </c:pt>
                      <c:pt idx="190">
                        <c:v>1.5917349999999999</c:v>
                      </c:pt>
                      <c:pt idx="191">
                        <c:v>1.567129</c:v>
                      </c:pt>
                      <c:pt idx="192">
                        <c:v>1.61652</c:v>
                      </c:pt>
                      <c:pt idx="193">
                        <c:v>1.623764</c:v>
                      </c:pt>
                      <c:pt idx="194">
                        <c:v>1.6175600000000001</c:v>
                      </c:pt>
                      <c:pt idx="195">
                        <c:v>1.6230950000000002</c:v>
                      </c:pt>
                      <c:pt idx="196">
                        <c:v>1.6121479999999999</c:v>
                      </c:pt>
                      <c:pt idx="197">
                        <c:v>1.679762</c:v>
                      </c:pt>
                      <c:pt idx="198">
                        <c:v>1.697201</c:v>
                      </c:pt>
                      <c:pt idx="199">
                        <c:v>1.6719200000000001</c:v>
                      </c:pt>
                      <c:pt idx="200">
                        <c:v>1.7129230000000002</c:v>
                      </c:pt>
                      <c:pt idx="201">
                        <c:v>1.7828170000000001</c:v>
                      </c:pt>
                      <c:pt idx="202">
                        <c:v>1.8663609999999999</c:v>
                      </c:pt>
                      <c:pt idx="203">
                        <c:v>1.896631</c:v>
                      </c:pt>
                      <c:pt idx="204">
                        <c:v>1.954369</c:v>
                      </c:pt>
                      <c:pt idx="205">
                        <c:v>1.998237</c:v>
                      </c:pt>
                      <c:pt idx="206">
                        <c:v>1.9688870000000001</c:v>
                      </c:pt>
                      <c:pt idx="207">
                        <c:v>2.0470489999999999</c:v>
                      </c:pt>
                      <c:pt idx="208">
                        <c:v>1.939997</c:v>
                      </c:pt>
                      <c:pt idx="209">
                        <c:v>1.879972</c:v>
                      </c:pt>
                      <c:pt idx="210">
                        <c:v>1.924075</c:v>
                      </c:pt>
                      <c:pt idx="211">
                        <c:v>1.8887749999999999</c:v>
                      </c:pt>
                      <c:pt idx="212">
                        <c:v>1.9348560000000001</c:v>
                      </c:pt>
                      <c:pt idx="213">
                        <c:v>1.9750489999999998</c:v>
                      </c:pt>
                      <c:pt idx="214">
                        <c:v>2.117829</c:v>
                      </c:pt>
                      <c:pt idx="215">
                        <c:v>2.1513640000000001</c:v>
                      </c:pt>
                      <c:pt idx="216">
                        <c:v>2.117715</c:v>
                      </c:pt>
                      <c:pt idx="217">
                        <c:v>2.063761</c:v>
                      </c:pt>
                      <c:pt idx="218">
                        <c:v>2.1456710000000001</c:v>
                      </c:pt>
                      <c:pt idx="219">
                        <c:v>2.2074150000000001</c:v>
                      </c:pt>
                      <c:pt idx="220">
                        <c:v>2.2084220000000001</c:v>
                      </c:pt>
                      <c:pt idx="221">
                        <c:v>2.3152500000000003</c:v>
                      </c:pt>
                      <c:pt idx="222">
                        <c:v>2.3125879999999999</c:v>
                      </c:pt>
                      <c:pt idx="223">
                        <c:v>2.3634280000000003</c:v>
                      </c:pt>
                      <c:pt idx="224">
                        <c:v>2.2619409999999998</c:v>
                      </c:pt>
                      <c:pt idx="225">
                        <c:v>2.0501869999999998</c:v>
                      </c:pt>
                      <c:pt idx="226">
                        <c:v>1.9998390000000001</c:v>
                      </c:pt>
                      <c:pt idx="227">
                        <c:v>1.9551560000000001</c:v>
                      </c:pt>
                      <c:pt idx="228">
                        <c:v>1.870709</c:v>
                      </c:pt>
                      <c:pt idx="229">
                        <c:v>1.896855</c:v>
                      </c:pt>
                      <c:pt idx="230">
                        <c:v>1.938142</c:v>
                      </c:pt>
                      <c:pt idx="231">
                        <c:v>1.9261170000000001</c:v>
                      </c:pt>
                      <c:pt idx="232">
                        <c:v>1.972197</c:v>
                      </c:pt>
                      <c:pt idx="233">
                        <c:v>1.9257220000000002</c:v>
                      </c:pt>
                      <c:pt idx="234">
                        <c:v>1.881116</c:v>
                      </c:pt>
                      <c:pt idx="235">
                        <c:v>1.821955</c:v>
                      </c:pt>
                      <c:pt idx="236">
                        <c:v>1.7373689999999999</c:v>
                      </c:pt>
                      <c:pt idx="237">
                        <c:v>1.7566619999999999</c:v>
                      </c:pt>
                      <c:pt idx="238">
                        <c:v>1.69686</c:v>
                      </c:pt>
                      <c:pt idx="239">
                        <c:v>1.65703</c:v>
                      </c:pt>
                      <c:pt idx="240">
                        <c:v>1.7288749999999999</c:v>
                      </c:pt>
                      <c:pt idx="241">
                        <c:v>1.7509170000000001</c:v>
                      </c:pt>
                      <c:pt idx="242">
                        <c:v>1.6799310000000001</c:v>
                      </c:pt>
                      <c:pt idx="243">
                        <c:v>1.6728860000000001</c:v>
                      </c:pt>
                      <c:pt idx="244">
                        <c:v>1.6323830000000001</c:v>
                      </c:pt>
                      <c:pt idx="245">
                        <c:v>1.6003399999999999</c:v>
                      </c:pt>
                      <c:pt idx="246">
                        <c:v>1.6312340000000001</c:v>
                      </c:pt>
                      <c:pt idx="247">
                        <c:v>1.612071</c:v>
                      </c:pt>
                      <c:pt idx="248">
                        <c:v>1.5323140000000002</c:v>
                      </c:pt>
                      <c:pt idx="249">
                        <c:v>1.5736539999999999</c:v>
                      </c:pt>
                      <c:pt idx="250">
                        <c:v>1.5535210000000002</c:v>
                      </c:pt>
                      <c:pt idx="251">
                        <c:v>1.639424</c:v>
                      </c:pt>
                      <c:pt idx="252">
                        <c:v>1.7249410000000001</c:v>
                      </c:pt>
                      <c:pt idx="253">
                        <c:v>1.6885230000000002</c:v>
                      </c:pt>
                      <c:pt idx="254">
                        <c:v>1.7544420000000001</c:v>
                      </c:pt>
                      <c:pt idx="255">
                        <c:v>1.7748710000000001</c:v>
                      </c:pt>
                      <c:pt idx="256">
                        <c:v>1.736793</c:v>
                      </c:pt>
                      <c:pt idx="257">
                        <c:v>1.7140790000000001</c:v>
                      </c:pt>
                      <c:pt idx="258">
                        <c:v>1.7607010000000001</c:v>
                      </c:pt>
                      <c:pt idx="259">
                        <c:v>1.7441599999999999</c:v>
                      </c:pt>
                      <c:pt idx="260">
                        <c:v>1.7353080000000001</c:v>
                      </c:pt>
                      <c:pt idx="261">
                        <c:v>1.7613730000000001</c:v>
                      </c:pt>
                      <c:pt idx="262">
                        <c:v>1.7567490000000001</c:v>
                      </c:pt>
                      <c:pt idx="263">
                        <c:v>1.8354910000000002</c:v>
                      </c:pt>
                      <c:pt idx="264">
                        <c:v>1.9001410000000001</c:v>
                      </c:pt>
                      <c:pt idx="265">
                        <c:v>1.901122</c:v>
                      </c:pt>
                      <c:pt idx="266">
                        <c:v>1.8625829999999999</c:v>
                      </c:pt>
                      <c:pt idx="267">
                        <c:v>1.8850360000000002</c:v>
                      </c:pt>
                      <c:pt idx="268">
                        <c:v>1.8426410000000002</c:v>
                      </c:pt>
                      <c:pt idx="269">
                        <c:v>1.8310319999999998</c:v>
                      </c:pt>
                      <c:pt idx="270">
                        <c:v>1.834951</c:v>
                      </c:pt>
                      <c:pt idx="271">
                        <c:v>1.8297270000000001</c:v>
                      </c:pt>
                      <c:pt idx="272">
                        <c:v>1.880733</c:v>
                      </c:pt>
                      <c:pt idx="273">
                        <c:v>1.9290309999999999</c:v>
                      </c:pt>
                      <c:pt idx="274">
                        <c:v>1.9099350000000002</c:v>
                      </c:pt>
                      <c:pt idx="275">
                        <c:v>1.9336000000000002</c:v>
                      </c:pt>
                      <c:pt idx="276">
                        <c:v>1.920677</c:v>
                      </c:pt>
                      <c:pt idx="277">
                        <c:v>1.9212229999999999</c:v>
                      </c:pt>
                      <c:pt idx="278">
                        <c:v>1.8782349999999999</c:v>
                      </c:pt>
                      <c:pt idx="279">
                        <c:v>1.8879490000000001</c:v>
                      </c:pt>
                      <c:pt idx="280">
                        <c:v>1.904161</c:v>
                      </c:pt>
                      <c:pt idx="281">
                        <c:v>1.964898</c:v>
                      </c:pt>
                      <c:pt idx="282">
                        <c:v>1.9271659999999999</c:v>
                      </c:pt>
                      <c:pt idx="283">
                        <c:v>1.8942109999999999</c:v>
                      </c:pt>
                      <c:pt idx="284">
                        <c:v>1.852887</c:v>
                      </c:pt>
                      <c:pt idx="285">
                        <c:v>1.8376419999999998</c:v>
                      </c:pt>
                      <c:pt idx="286">
                        <c:v>1.844676</c:v>
                      </c:pt>
                      <c:pt idx="287">
                        <c:v>1.8869550000000002</c:v>
                      </c:pt>
                      <c:pt idx="288">
                        <c:v>1.938218</c:v>
                      </c:pt>
                      <c:pt idx="289">
                        <c:v>1.9915809999999998</c:v>
                      </c:pt>
                      <c:pt idx="290">
                        <c:v>1.98224</c:v>
                      </c:pt>
                      <c:pt idx="291">
                        <c:v>1.9403759999999999</c:v>
                      </c:pt>
                      <c:pt idx="292">
                        <c:v>2.006923</c:v>
                      </c:pt>
                      <c:pt idx="293">
                        <c:v>1.9991480000000001</c:v>
                      </c:pt>
                      <c:pt idx="294">
                        <c:v>2.0165799999999998</c:v>
                      </c:pt>
                      <c:pt idx="295">
                        <c:v>2.008721</c:v>
                      </c:pt>
                      <c:pt idx="296">
                        <c:v>1.9732159999999999</c:v>
                      </c:pt>
                      <c:pt idx="297">
                        <c:v>1.9654400000000001</c:v>
                      </c:pt>
                      <c:pt idx="298">
                        <c:v>1.9476439999999999</c:v>
                      </c:pt>
                      <c:pt idx="299">
                        <c:v>2.0023230000000001</c:v>
                      </c:pt>
                      <c:pt idx="300">
                        <c:v>1.939683</c:v>
                      </c:pt>
                      <c:pt idx="301">
                        <c:v>1.9809939999999999</c:v>
                      </c:pt>
                      <c:pt idx="302">
                        <c:v>2.0051000000000001</c:v>
                      </c:pt>
                      <c:pt idx="303">
                        <c:v>2.0333959999999998</c:v>
                      </c:pt>
                      <c:pt idx="304">
                        <c:v>1.9770460000000001</c:v>
                      </c:pt>
                      <c:pt idx="305">
                        <c:v>1.9763659999999998</c:v>
                      </c:pt>
                      <c:pt idx="306">
                        <c:v>1.9598990000000001</c:v>
                      </c:pt>
                      <c:pt idx="307">
                        <c:v>1.9848410000000001</c:v>
                      </c:pt>
                      <c:pt idx="308">
                        <c:v>2.0085549999999999</c:v>
                      </c:pt>
                      <c:pt idx="309">
                        <c:v>2.0262000000000002</c:v>
                      </c:pt>
                      <c:pt idx="310">
                        <c:v>2.0540929999999999</c:v>
                      </c:pt>
                      <c:pt idx="311">
                        <c:v>2.0701679999999998</c:v>
                      </c:pt>
                      <c:pt idx="312">
                        <c:v>2.0408710000000001</c:v>
                      </c:pt>
                      <c:pt idx="313">
                        <c:v>2.0595339999999998</c:v>
                      </c:pt>
                      <c:pt idx="314">
                        <c:v>2.0452840000000001</c:v>
                      </c:pt>
                      <c:pt idx="315">
                        <c:v>2.0682619999999998</c:v>
                      </c:pt>
                      <c:pt idx="316">
                        <c:v>2.0878969999999999</c:v>
                      </c:pt>
                      <c:pt idx="317">
                        <c:v>2.112228</c:v>
                      </c:pt>
                      <c:pt idx="318">
                        <c:v>2.1339039999999998</c:v>
                      </c:pt>
                      <c:pt idx="319">
                        <c:v>2.194985</c:v>
                      </c:pt>
                      <c:pt idx="320">
                        <c:v>2.207576</c:v>
                      </c:pt>
                      <c:pt idx="321">
                        <c:v>2.2256970000000003</c:v>
                      </c:pt>
                      <c:pt idx="322">
                        <c:v>2.2421039999999999</c:v>
                      </c:pt>
                      <c:pt idx="323">
                        <c:v>2.300726</c:v>
                      </c:pt>
                      <c:pt idx="324">
                        <c:v>2.3592240000000002</c:v>
                      </c:pt>
                      <c:pt idx="325">
                        <c:v>2.3591130000000002</c:v>
                      </c:pt>
                      <c:pt idx="326">
                        <c:v>2.283884</c:v>
                      </c:pt>
                      <c:pt idx="327">
                        <c:v>2.3670079999999998</c:v>
                      </c:pt>
                      <c:pt idx="328">
                        <c:v>2.3963489999999998</c:v>
                      </c:pt>
                      <c:pt idx="329">
                        <c:v>2.4366409999999998</c:v>
                      </c:pt>
                      <c:pt idx="330">
                        <c:v>2.4705019999999998</c:v>
                      </c:pt>
                      <c:pt idx="331">
                        <c:v>2.3476150000000002</c:v>
                      </c:pt>
                      <c:pt idx="332">
                        <c:v>2.3221509999999999</c:v>
                      </c:pt>
                      <c:pt idx="333">
                        <c:v>2.3693499999999998</c:v>
                      </c:pt>
                      <c:pt idx="334">
                        <c:v>2.296421</c:v>
                      </c:pt>
                      <c:pt idx="335">
                        <c:v>2.2678180000000001</c:v>
                      </c:pt>
                      <c:pt idx="336">
                        <c:v>2.121604</c:v>
                      </c:pt>
                      <c:pt idx="337">
                        <c:v>2.1034319999999997</c:v>
                      </c:pt>
                      <c:pt idx="338">
                        <c:v>2.0197819999999997</c:v>
                      </c:pt>
                      <c:pt idx="339">
                        <c:v>2.0344409999999997</c:v>
                      </c:pt>
                      <c:pt idx="340">
                        <c:v>2.0495990000000002</c:v>
                      </c:pt>
                      <c:pt idx="341">
                        <c:v>2.1016689999999998</c:v>
                      </c:pt>
                      <c:pt idx="342">
                        <c:v>2.1239819999999998</c:v>
                      </c:pt>
                      <c:pt idx="343">
                        <c:v>2.0647739999999999</c:v>
                      </c:pt>
                      <c:pt idx="344">
                        <c:v>1.918088</c:v>
                      </c:pt>
                      <c:pt idx="345">
                        <c:v>1.6934039999999999</c:v>
                      </c:pt>
                      <c:pt idx="346">
                        <c:v>1.4862739999999999</c:v>
                      </c:pt>
                      <c:pt idx="347">
                        <c:v>1.356071</c:v>
                      </c:pt>
                      <c:pt idx="348">
                        <c:v>1.3043090000000002</c:v>
                      </c:pt>
                      <c:pt idx="349">
                        <c:v>1.337858</c:v>
                      </c:pt>
                      <c:pt idx="350">
                        <c:v>1.3868180000000001</c:v>
                      </c:pt>
                      <c:pt idx="351">
                        <c:v>1.453195</c:v>
                      </c:pt>
                      <c:pt idx="352">
                        <c:v>1.4893989999999999</c:v>
                      </c:pt>
                      <c:pt idx="353">
                        <c:v>1.5822559999999999</c:v>
                      </c:pt>
                      <c:pt idx="354">
                        <c:v>1.5455459999999999</c:v>
                      </c:pt>
                      <c:pt idx="355">
                        <c:v>1.5715410000000001</c:v>
                      </c:pt>
                      <c:pt idx="356">
                        <c:v>1.4927080000000001</c:v>
                      </c:pt>
                      <c:pt idx="357">
                        <c:v>1.463149</c:v>
                      </c:pt>
                      <c:pt idx="358">
                        <c:v>1.479555</c:v>
                      </c:pt>
                      <c:pt idx="359">
                        <c:v>1.4598570000000002</c:v>
                      </c:pt>
                      <c:pt idx="360">
                        <c:v>1.4729679999999998</c:v>
                      </c:pt>
                      <c:pt idx="361">
                        <c:v>1.408029</c:v>
                      </c:pt>
                      <c:pt idx="362">
                        <c:v>1.3661500000000002</c:v>
                      </c:pt>
                      <c:pt idx="363">
                        <c:v>1.4338280000000001</c:v>
                      </c:pt>
                      <c:pt idx="364">
                        <c:v>1.3439080000000001</c:v>
                      </c:pt>
                      <c:pt idx="365">
                        <c:v>1.340225</c:v>
                      </c:pt>
                      <c:pt idx="366">
                        <c:v>1.338578</c:v>
                      </c:pt>
                      <c:pt idx="367">
                        <c:v>1.3374109999999999</c:v>
                      </c:pt>
                      <c:pt idx="368">
                        <c:v>1.3146659999999999</c:v>
                      </c:pt>
                      <c:pt idx="369">
                        <c:v>1.29674</c:v>
                      </c:pt>
                      <c:pt idx="370">
                        <c:v>1.317717</c:v>
                      </c:pt>
                      <c:pt idx="371">
                        <c:v>1.300405</c:v>
                      </c:pt>
                      <c:pt idx="372">
                        <c:v>1.306171</c:v>
                      </c:pt>
                      <c:pt idx="373">
                        <c:v>1.332354</c:v>
                      </c:pt>
                      <c:pt idx="374">
                        <c:v>1.31965</c:v>
                      </c:pt>
                      <c:pt idx="375">
                        <c:v>1.363496</c:v>
                      </c:pt>
                      <c:pt idx="376">
                        <c:v>1.3234899999999998</c:v>
                      </c:pt>
                      <c:pt idx="377">
                        <c:v>1.304211</c:v>
                      </c:pt>
                      <c:pt idx="378">
                        <c:v>1.2805899999999999</c:v>
                      </c:pt>
                      <c:pt idx="379">
                        <c:v>1.2583949999999999</c:v>
                      </c:pt>
                      <c:pt idx="380">
                        <c:v>1.2121949999999999</c:v>
                      </c:pt>
                      <c:pt idx="381">
                        <c:v>1.2078629999999999</c:v>
                      </c:pt>
                      <c:pt idx="382">
                        <c:v>1.224901</c:v>
                      </c:pt>
                      <c:pt idx="383">
                        <c:v>1.21279</c:v>
                      </c:pt>
                      <c:pt idx="384">
                        <c:v>1.1936150000000001</c:v>
                      </c:pt>
                      <c:pt idx="385">
                        <c:v>1.2408299999999999</c:v>
                      </c:pt>
                      <c:pt idx="386">
                        <c:v>1.304219</c:v>
                      </c:pt>
                      <c:pt idx="387">
                        <c:v>1.3006039999999999</c:v>
                      </c:pt>
                      <c:pt idx="388">
                        <c:v>1.26718</c:v>
                      </c:pt>
                      <c:pt idx="389">
                        <c:v>1.2364870000000001</c:v>
                      </c:pt>
                      <c:pt idx="390">
                        <c:v>1.231122</c:v>
                      </c:pt>
                      <c:pt idx="391">
                        <c:v>1.2368250000000001</c:v>
                      </c:pt>
                      <c:pt idx="392">
                        <c:v>1.259385</c:v>
                      </c:pt>
                      <c:pt idx="393">
                        <c:v>1.2701199999999999</c:v>
                      </c:pt>
                      <c:pt idx="394">
                        <c:v>1.293399</c:v>
                      </c:pt>
                      <c:pt idx="395">
                        <c:v>1.350212</c:v>
                      </c:pt>
                      <c:pt idx="396">
                        <c:v>1.4209670000000001</c:v>
                      </c:pt>
                      <c:pt idx="397">
                        <c:v>1.4408289999999999</c:v>
                      </c:pt>
                      <c:pt idx="398">
                        <c:v>1.4288859999999999</c:v>
                      </c:pt>
                      <c:pt idx="399">
                        <c:v>1.500386</c:v>
                      </c:pt>
                      <c:pt idx="400">
                        <c:v>1.5433570000000001</c:v>
                      </c:pt>
                      <c:pt idx="401">
                        <c:v>1.506311</c:v>
                      </c:pt>
                      <c:pt idx="402">
                        <c:v>1.5122559999999998</c:v>
                      </c:pt>
                      <c:pt idx="403">
                        <c:v>1.515566</c:v>
                      </c:pt>
                      <c:pt idx="404">
                        <c:v>1.5740539999999998</c:v>
                      </c:pt>
                      <c:pt idx="405">
                        <c:v>1.5735140000000001</c:v>
                      </c:pt>
                      <c:pt idx="406">
                        <c:v>1.6130609999999999</c:v>
                      </c:pt>
                      <c:pt idx="407">
                        <c:v>1.6931829999999999</c:v>
                      </c:pt>
                      <c:pt idx="408">
                        <c:v>1.709228</c:v>
                      </c:pt>
                      <c:pt idx="409">
                        <c:v>1.691019</c:v>
                      </c:pt>
                      <c:pt idx="410">
                        <c:v>1.7011859999999999</c:v>
                      </c:pt>
                      <c:pt idx="411">
                        <c:v>1.7157720000000001</c:v>
                      </c:pt>
                      <c:pt idx="412">
                        <c:v>1.713765</c:v>
                      </c:pt>
                      <c:pt idx="413">
                        <c:v>1.725376</c:v>
                      </c:pt>
                      <c:pt idx="414">
                        <c:v>1.7369720000000002</c:v>
                      </c:pt>
                      <c:pt idx="415">
                        <c:v>1.7191720000000001</c:v>
                      </c:pt>
                      <c:pt idx="416">
                        <c:v>1.7489840000000001</c:v>
                      </c:pt>
                      <c:pt idx="417">
                        <c:v>1.7359260000000001</c:v>
                      </c:pt>
                      <c:pt idx="418">
                        <c:v>1.8354349999999999</c:v>
                      </c:pt>
                      <c:pt idx="419">
                        <c:v>1.866684</c:v>
                      </c:pt>
                      <c:pt idx="420">
                        <c:v>1.790996</c:v>
                      </c:pt>
                      <c:pt idx="421">
                        <c:v>1.82084</c:v>
                      </c:pt>
                      <c:pt idx="422">
                        <c:v>1.8008629999999999</c:v>
                      </c:pt>
                      <c:pt idx="423">
                        <c:v>1.7894680000000001</c:v>
                      </c:pt>
                      <c:pt idx="424">
                        <c:v>1.8689760000000002</c:v>
                      </c:pt>
                      <c:pt idx="425">
                        <c:v>1.926963</c:v>
                      </c:pt>
                      <c:pt idx="426">
                        <c:v>1.9187350000000001</c:v>
                      </c:pt>
                      <c:pt idx="427">
                        <c:v>1.91875</c:v>
                      </c:pt>
                      <c:pt idx="428">
                        <c:v>1.841534</c:v>
                      </c:pt>
                      <c:pt idx="429">
                        <c:v>1.8411999999999999</c:v>
                      </c:pt>
                      <c:pt idx="430">
                        <c:v>1.863246</c:v>
                      </c:pt>
                      <c:pt idx="431">
                        <c:v>1.8241259999999999</c:v>
                      </c:pt>
                      <c:pt idx="432">
                        <c:v>1.6998060000000002</c:v>
                      </c:pt>
                      <c:pt idx="433">
                        <c:v>1.6391</c:v>
                      </c:pt>
                      <c:pt idx="434">
                        <c:v>1.6084860000000001</c:v>
                      </c:pt>
                      <c:pt idx="435">
                        <c:v>1.5683369999999999</c:v>
                      </c:pt>
                      <c:pt idx="436">
                        <c:v>1.5816759999999999</c:v>
                      </c:pt>
                      <c:pt idx="437">
                        <c:v>1.496937</c:v>
                      </c:pt>
                      <c:pt idx="438">
                        <c:v>1.3685390000000002</c:v>
                      </c:pt>
                      <c:pt idx="439">
                        <c:v>1.325464</c:v>
                      </c:pt>
                      <c:pt idx="440">
                        <c:v>1.3386269999999998</c:v>
                      </c:pt>
                      <c:pt idx="441">
                        <c:v>1.2809330000000001</c:v>
                      </c:pt>
                      <c:pt idx="442">
                        <c:v>1.349777</c:v>
                      </c:pt>
                      <c:pt idx="443">
                        <c:v>1.4489529999999999</c:v>
                      </c:pt>
                      <c:pt idx="444">
                        <c:v>1.418228</c:v>
                      </c:pt>
                      <c:pt idx="445">
                        <c:v>1.4109800000000001</c:v>
                      </c:pt>
                      <c:pt idx="446">
                        <c:v>1.3940080000000001</c:v>
                      </c:pt>
                      <c:pt idx="447">
                        <c:v>1.3951370000000001</c:v>
                      </c:pt>
                      <c:pt idx="448">
                        <c:v>1.451603</c:v>
                      </c:pt>
                      <c:pt idx="449">
                        <c:v>1.4209129999999999</c:v>
                      </c:pt>
                      <c:pt idx="450">
                        <c:v>1.4611949999999998</c:v>
                      </c:pt>
                      <c:pt idx="451">
                        <c:v>1.4226660000000002</c:v>
                      </c:pt>
                      <c:pt idx="452">
                        <c:v>1.475932</c:v>
                      </c:pt>
                      <c:pt idx="453">
                        <c:v>1.4899639999999998</c:v>
                      </c:pt>
                      <c:pt idx="454">
                        <c:v>1.491007</c:v>
                      </c:pt>
                      <c:pt idx="455">
                        <c:v>1.5139179999999999</c:v>
                      </c:pt>
                      <c:pt idx="456">
                        <c:v>1.532613</c:v>
                      </c:pt>
                      <c:pt idx="457">
                        <c:v>1.5060830000000001</c:v>
                      </c:pt>
                      <c:pt idx="458">
                        <c:v>1.4814699999999998</c:v>
                      </c:pt>
                      <c:pt idx="459">
                        <c:v>1.5173480000000001</c:v>
                      </c:pt>
                      <c:pt idx="460">
                        <c:v>1.4769329999999998</c:v>
                      </c:pt>
                      <c:pt idx="461">
                        <c:v>1.4624649999999999</c:v>
                      </c:pt>
                      <c:pt idx="462">
                        <c:v>1.4678</c:v>
                      </c:pt>
                      <c:pt idx="463">
                        <c:v>1.4297929999999999</c:v>
                      </c:pt>
                      <c:pt idx="464">
                        <c:v>1.4634100000000001</c:v>
                      </c:pt>
                      <c:pt idx="465">
                        <c:v>1.4670560000000001</c:v>
                      </c:pt>
                      <c:pt idx="466">
                        <c:v>1.4620249999999999</c:v>
                      </c:pt>
                      <c:pt idx="467">
                        <c:v>1.4215520000000001</c:v>
                      </c:pt>
                      <c:pt idx="468">
                        <c:v>1.4053280000000001</c:v>
                      </c:pt>
                      <c:pt idx="469">
                        <c:v>1.437627</c:v>
                      </c:pt>
                      <c:pt idx="470">
                        <c:v>1.4633949999999998</c:v>
                      </c:pt>
                      <c:pt idx="471">
                        <c:v>1.454755</c:v>
                      </c:pt>
                      <c:pt idx="472">
                        <c:v>1.412053</c:v>
                      </c:pt>
                      <c:pt idx="473">
                        <c:v>1.370406</c:v>
                      </c:pt>
                      <c:pt idx="474">
                        <c:v>1.3498759999999999</c:v>
                      </c:pt>
                      <c:pt idx="475">
                        <c:v>1.2915140000000001</c:v>
                      </c:pt>
                      <c:pt idx="476">
                        <c:v>1.327955</c:v>
                      </c:pt>
                      <c:pt idx="477">
                        <c:v>1.3679990000000002</c:v>
                      </c:pt>
                      <c:pt idx="478">
                        <c:v>1.4030320000000001</c:v>
                      </c:pt>
                      <c:pt idx="479">
                        <c:v>1.4294229999999999</c:v>
                      </c:pt>
                      <c:pt idx="480">
                        <c:v>1.4284350000000001</c:v>
                      </c:pt>
                      <c:pt idx="481">
                        <c:v>1.4256979999999999</c:v>
                      </c:pt>
                      <c:pt idx="482">
                        <c:v>1.330657</c:v>
                      </c:pt>
                      <c:pt idx="483">
                        <c:v>1.336908</c:v>
                      </c:pt>
                      <c:pt idx="484">
                        <c:v>1.31934</c:v>
                      </c:pt>
                      <c:pt idx="485">
                        <c:v>1.347869</c:v>
                      </c:pt>
                      <c:pt idx="486">
                        <c:v>1.354444</c:v>
                      </c:pt>
                      <c:pt idx="487">
                        <c:v>1.391899</c:v>
                      </c:pt>
                      <c:pt idx="488">
                        <c:v>1.36836</c:v>
                      </c:pt>
                      <c:pt idx="489">
                        <c:v>1.3661009999999998</c:v>
                      </c:pt>
                      <c:pt idx="490">
                        <c:v>1.379229</c:v>
                      </c:pt>
                      <c:pt idx="491">
                        <c:v>1.394226</c:v>
                      </c:pt>
                      <c:pt idx="492">
                        <c:v>1.4152019999999998</c:v>
                      </c:pt>
                      <c:pt idx="493">
                        <c:v>1.4615940000000001</c:v>
                      </c:pt>
                      <c:pt idx="494">
                        <c:v>1.506675</c:v>
                      </c:pt>
                      <c:pt idx="495">
                        <c:v>1.507509</c:v>
                      </c:pt>
                      <c:pt idx="496">
                        <c:v>1.5371610000000002</c:v>
                      </c:pt>
                      <c:pt idx="497">
                        <c:v>1.5444200000000001</c:v>
                      </c:pt>
                      <c:pt idx="498">
                        <c:v>1.5222340000000001</c:v>
                      </c:pt>
                      <c:pt idx="499">
                        <c:v>1.5159260000000001</c:v>
                      </c:pt>
                      <c:pt idx="500">
                        <c:v>1.5126849999999998</c:v>
                      </c:pt>
                      <c:pt idx="501">
                        <c:v>1.5494290000000002</c:v>
                      </c:pt>
                      <c:pt idx="502">
                        <c:v>1.5338419999999999</c:v>
                      </c:pt>
                      <c:pt idx="503">
                        <c:v>1.5146019999999998</c:v>
                      </c:pt>
                      <c:pt idx="504">
                        <c:v>1.5567490000000002</c:v>
                      </c:pt>
                      <c:pt idx="505">
                        <c:v>1.5605070000000001</c:v>
                      </c:pt>
                      <c:pt idx="506">
                        <c:v>1.5619829999999999</c:v>
                      </c:pt>
                      <c:pt idx="507">
                        <c:v>1.631778</c:v>
                      </c:pt>
                      <c:pt idx="508">
                        <c:v>1.6019370000000002</c:v>
                      </c:pt>
                      <c:pt idx="509">
                        <c:v>1.651462</c:v>
                      </c:pt>
                      <c:pt idx="510">
                        <c:v>1.639</c:v>
                      </c:pt>
                      <c:pt idx="511">
                        <c:v>1.62</c:v>
                      </c:pt>
                      <c:pt idx="512">
                        <c:v>1.621</c:v>
                      </c:pt>
                      <c:pt idx="513">
                        <c:v>1.649</c:v>
                      </c:pt>
                    </c:numCache>
                  </c:numRef>
                </c:val>
                <c:smooth val="0"/>
                <c:extLst>
                  <c:ext xmlns:c16="http://schemas.microsoft.com/office/drawing/2014/chart" uri="{C3380CC4-5D6E-409C-BE32-E72D297353CC}">
                    <c16:uniqueId val="{00000000-9D86-49D3-8633-9CC02313F87B}"/>
                  </c:ext>
                </c:extLst>
              </c15:ser>
            </c15:filteredLineSeries>
            <c15:filteredLineSeries>
              <c15:ser>
                <c:idx val="7"/>
                <c:order val="1"/>
                <c:tx>
                  <c:strRef>
                    <c:extLst xmlns:c15="http://schemas.microsoft.com/office/drawing/2012/chart">
                      <c:ext xmlns:c15="http://schemas.microsoft.com/office/drawing/2012/chart" uri="{02D57815-91ED-43cb-92C2-25804820EDAC}">
                        <c15:formulaRef>
                          <c15:sqref>Sheet1!$C$1</c15:sqref>
                        </c15:formulaRef>
                      </c:ext>
                    </c:extLst>
                    <c:strCache>
                      <c:ptCount val="1"/>
                      <c:pt idx="0">
                        <c:v>Australian dollar</c:v>
                      </c:pt>
                    </c:strCache>
                  </c:strRef>
                </c:tx>
                <c:spPr>
                  <a:ln w="28575">
                    <a:solidFill>
                      <a:srgbClr val="008000"/>
                    </a:solidFill>
                    <a:prstDash val="solid"/>
                  </a:ln>
                </c:spPr>
                <c:marker>
                  <c:symbol val="none"/>
                </c:marker>
                <c:cat>
                  <c:numRef>
                    <c:extLst xmlns:c15="http://schemas.microsoft.com/office/drawing/2012/chart">
                      <c:ext xmlns:c15="http://schemas.microsoft.com/office/drawing/2012/chart" uri="{02D57815-91ED-43cb-92C2-25804820EDAC}">
                        <c15:formulaRef>
                          <c15:sqref>Sheet1!$A$2:$A$516</c15:sqref>
                        </c15:formulaRef>
                      </c:ext>
                    </c:extLst>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extLst xmlns:c15="http://schemas.microsoft.com/office/drawing/2012/chart">
                      <c:ext xmlns:c15="http://schemas.microsoft.com/office/drawing/2012/chart" uri="{02D57815-91ED-43cb-92C2-25804820EDAC}">
                        <c15:formulaRef>
                          <c15:sqref>Sheet1!$C$2:$C$516</c15:sqref>
                        </c15:formulaRef>
                      </c:ext>
                    </c:extLst>
                    <c:numCache>
                      <c:formatCode>0.000</c:formatCode>
                      <c:ptCount val="515"/>
                      <c:pt idx="0">
                        <c:v>2.0406</c:v>
                      </c:pt>
                      <c:pt idx="1">
                        <c:v>2.0727000000000002</c:v>
                      </c:pt>
                      <c:pt idx="2">
                        <c:v>2.0222000000000002</c:v>
                      </c:pt>
                      <c:pt idx="3">
                        <c:v>2.0257999999999998</c:v>
                      </c:pt>
                      <c:pt idx="4">
                        <c:v>2.036</c:v>
                      </c:pt>
                      <c:pt idx="5">
                        <c:v>2.0246</c:v>
                      </c:pt>
                      <c:pt idx="6">
                        <c:v>2.0468000000000002</c:v>
                      </c:pt>
                      <c:pt idx="7">
                        <c:v>2.0467</c:v>
                      </c:pt>
                      <c:pt idx="8">
                        <c:v>2.0516999999999999</c:v>
                      </c:pt>
                      <c:pt idx="9">
                        <c:v>2.0573000000000001</c:v>
                      </c:pt>
                      <c:pt idx="10">
                        <c:v>2.0514000000000001</c:v>
                      </c:pt>
                      <c:pt idx="11">
                        <c:v>2.0068000000000001</c:v>
                      </c:pt>
                      <c:pt idx="12">
                        <c:v>2.0356000000000001</c:v>
                      </c:pt>
                      <c:pt idx="13">
                        <c:v>1.974</c:v>
                      </c:pt>
                      <c:pt idx="14">
                        <c:v>1.9191</c:v>
                      </c:pt>
                      <c:pt idx="15">
                        <c:v>1.8877999999999999</c:v>
                      </c:pt>
                      <c:pt idx="16">
                        <c:v>1.8318000000000001</c:v>
                      </c:pt>
                      <c:pt idx="17">
                        <c:v>1.7302</c:v>
                      </c:pt>
                      <c:pt idx="18">
                        <c:v>1.6415999999999999</c:v>
                      </c:pt>
                      <c:pt idx="19">
                        <c:v>1.5986</c:v>
                      </c:pt>
                      <c:pt idx="20">
                        <c:v>1.5815999999999999</c:v>
                      </c:pt>
                      <c:pt idx="21">
                        <c:v>1.6103000000000001</c:v>
                      </c:pt>
                      <c:pt idx="22">
                        <c:v>1.6617</c:v>
                      </c:pt>
                      <c:pt idx="23">
                        <c:v>1.679</c:v>
                      </c:pt>
                      <c:pt idx="24">
                        <c:v>1.6934</c:v>
                      </c:pt>
                      <c:pt idx="25">
                        <c:v>1.7027000000000001</c:v>
                      </c:pt>
                      <c:pt idx="26">
                        <c:v>1.7037</c:v>
                      </c:pt>
                      <c:pt idx="27">
                        <c:v>1.6837</c:v>
                      </c:pt>
                      <c:pt idx="28">
                        <c:v>1.7093</c:v>
                      </c:pt>
                      <c:pt idx="29">
                        <c:v>1.7020999999999999</c:v>
                      </c:pt>
                      <c:pt idx="30">
                        <c:v>1.7161999999999999</c:v>
                      </c:pt>
                      <c:pt idx="31">
                        <c:v>1.7630999999999999</c:v>
                      </c:pt>
                      <c:pt idx="32">
                        <c:v>1.7874000000000001</c:v>
                      </c:pt>
                      <c:pt idx="33">
                        <c:v>1.7982</c:v>
                      </c:pt>
                      <c:pt idx="34">
                        <c:v>1.7324999999999999</c:v>
                      </c:pt>
                      <c:pt idx="35">
                        <c:v>1.6726000000000001</c:v>
                      </c:pt>
                      <c:pt idx="36">
                        <c:v>1.6008</c:v>
                      </c:pt>
                      <c:pt idx="37">
                        <c:v>1.5857000000000001</c:v>
                      </c:pt>
                      <c:pt idx="38">
                        <c:v>1.6876</c:v>
                      </c:pt>
                      <c:pt idx="39">
                        <c:v>1.7754000000000001</c:v>
                      </c:pt>
                      <c:pt idx="40">
                        <c:v>1.7894000000000001</c:v>
                      </c:pt>
                      <c:pt idx="41">
                        <c:v>1.7657</c:v>
                      </c:pt>
                      <c:pt idx="42">
                        <c:v>1.7452000000000001</c:v>
                      </c:pt>
                      <c:pt idx="43">
                        <c:v>1.7077</c:v>
                      </c:pt>
                      <c:pt idx="44">
                        <c:v>1.6889000000000001</c:v>
                      </c:pt>
                      <c:pt idx="45">
                        <c:v>1.6380999999999999</c:v>
                      </c:pt>
                      <c:pt idx="46">
                        <c:v>1.6131</c:v>
                      </c:pt>
                      <c:pt idx="47">
                        <c:v>1.5931</c:v>
                      </c:pt>
                      <c:pt idx="48">
                        <c:v>1.5536000000000001</c:v>
                      </c:pt>
                      <c:pt idx="49">
                        <c:v>1.5401</c:v>
                      </c:pt>
                      <c:pt idx="50">
                        <c:v>1.5308999999999999</c:v>
                      </c:pt>
                      <c:pt idx="51">
                        <c:v>1.5405</c:v>
                      </c:pt>
                      <c:pt idx="52">
                        <c:v>1.5335000000000001</c:v>
                      </c:pt>
                      <c:pt idx="53">
                        <c:v>1.5599000000000001</c:v>
                      </c:pt>
                      <c:pt idx="54">
                        <c:v>1.5815999999999999</c:v>
                      </c:pt>
                      <c:pt idx="55">
                        <c:v>1.5519000000000001</c:v>
                      </c:pt>
                      <c:pt idx="56">
                        <c:v>1.5130999999999999</c:v>
                      </c:pt>
                      <c:pt idx="57">
                        <c:v>1.4593</c:v>
                      </c:pt>
                      <c:pt idx="58">
                        <c:v>1.4452</c:v>
                      </c:pt>
                      <c:pt idx="59">
                        <c:v>1.4125000000000001</c:v>
                      </c:pt>
                      <c:pt idx="60">
                        <c:v>1.3842000000000001</c:v>
                      </c:pt>
                      <c:pt idx="61">
                        <c:v>1.4825999999999999</c:v>
                      </c:pt>
                      <c:pt idx="62">
                        <c:v>1.6094999999999999</c:v>
                      </c:pt>
                      <c:pt idx="63">
                        <c:v>1.883</c:v>
                      </c:pt>
                      <c:pt idx="64">
                        <c:v>1.8461000000000001</c:v>
                      </c:pt>
                      <c:pt idx="65">
                        <c:v>1.9248000000000001</c:v>
                      </c:pt>
                      <c:pt idx="66">
                        <c:v>1.9722</c:v>
                      </c:pt>
                      <c:pt idx="67">
                        <c:v>1.9551000000000001</c:v>
                      </c:pt>
                      <c:pt idx="68">
                        <c:v>1.9790000000000001</c:v>
                      </c:pt>
                      <c:pt idx="69">
                        <c:v>2.0234000000000001</c:v>
                      </c:pt>
                      <c:pt idx="70">
                        <c:v>2.1257000000000001</c:v>
                      </c:pt>
                      <c:pt idx="71">
                        <c:v>2.1223000000000001</c:v>
                      </c:pt>
                      <c:pt idx="72">
                        <c:v>2.0339</c:v>
                      </c:pt>
                      <c:pt idx="73">
                        <c:v>2.0438999999999998</c:v>
                      </c:pt>
                      <c:pt idx="74">
                        <c:v>2.0733000000000001</c:v>
                      </c:pt>
                      <c:pt idx="75">
                        <c:v>2.0724999999999998</c:v>
                      </c:pt>
                      <c:pt idx="76">
                        <c:v>2.0916000000000001</c:v>
                      </c:pt>
                      <c:pt idx="77">
                        <c:v>2.1899000000000002</c:v>
                      </c:pt>
                      <c:pt idx="78">
                        <c:v>2.3942999999999999</c:v>
                      </c:pt>
                      <c:pt idx="79">
                        <c:v>2.4256000000000002</c:v>
                      </c:pt>
                      <c:pt idx="80">
                        <c:v>2.3675000000000002</c:v>
                      </c:pt>
                      <c:pt idx="81">
                        <c:v>2.2351999999999999</c:v>
                      </c:pt>
                      <c:pt idx="82">
                        <c:v>2.2096</c:v>
                      </c:pt>
                      <c:pt idx="83">
                        <c:v>2.1804999999999999</c:v>
                      </c:pt>
                      <c:pt idx="84">
                        <c:v>2.2812000000000001</c:v>
                      </c:pt>
                      <c:pt idx="85">
                        <c:v>2.2892999999999999</c:v>
                      </c:pt>
                      <c:pt idx="86">
                        <c:v>2.3161999999999998</c:v>
                      </c:pt>
                      <c:pt idx="87">
                        <c:v>2.2915000000000001</c:v>
                      </c:pt>
                      <c:pt idx="88">
                        <c:v>2.3313999999999999</c:v>
                      </c:pt>
                      <c:pt idx="89">
                        <c:v>2.2694000000000001</c:v>
                      </c:pt>
                      <c:pt idx="90">
                        <c:v>2.2738</c:v>
                      </c:pt>
                      <c:pt idx="91">
                        <c:v>2.2593999999999999</c:v>
                      </c:pt>
                      <c:pt idx="92">
                        <c:v>2.2644000000000002</c:v>
                      </c:pt>
                      <c:pt idx="93">
                        <c:v>2.3355000000000001</c:v>
                      </c:pt>
                      <c:pt idx="94">
                        <c:v>2.5867</c:v>
                      </c:pt>
                      <c:pt idx="95">
                        <c:v>2.5718000000000001</c:v>
                      </c:pt>
                      <c:pt idx="96">
                        <c:v>2.5291999999999999</c:v>
                      </c:pt>
                      <c:pt idx="97">
                        <c:v>2.4611000000000001</c:v>
                      </c:pt>
                      <c:pt idx="98">
                        <c:v>2.4992999999999999</c:v>
                      </c:pt>
                      <c:pt idx="99">
                        <c:v>2.5059</c:v>
                      </c:pt>
                      <c:pt idx="100">
                        <c:v>2.4022000000000001</c:v>
                      </c:pt>
                      <c:pt idx="101">
                        <c:v>2.2035</c:v>
                      </c:pt>
                      <c:pt idx="102">
                        <c:v>2.1324999999999998</c:v>
                      </c:pt>
                      <c:pt idx="103">
                        <c:v>2.1082000000000001</c:v>
                      </c:pt>
                      <c:pt idx="104">
                        <c:v>2.1252</c:v>
                      </c:pt>
                      <c:pt idx="105">
                        <c:v>2.1480999999999999</c:v>
                      </c:pt>
                      <c:pt idx="106">
                        <c:v>2.1253000000000002</c:v>
                      </c:pt>
                      <c:pt idx="107">
                        <c:v>2.1257999999999999</c:v>
                      </c:pt>
                      <c:pt idx="108">
                        <c:v>2.0386000000000002</c:v>
                      </c:pt>
                      <c:pt idx="109">
                        <c:v>2.0543</c:v>
                      </c:pt>
                      <c:pt idx="110">
                        <c:v>2.1012</c:v>
                      </c:pt>
                      <c:pt idx="111">
                        <c:v>2.1175000000000002</c:v>
                      </c:pt>
                      <c:pt idx="112">
                        <c:v>2.1078999999999999</c:v>
                      </c:pt>
                      <c:pt idx="113">
                        <c:v>2.0550999999999999</c:v>
                      </c:pt>
                      <c:pt idx="114">
                        <c:v>2.1459999999999999</c:v>
                      </c:pt>
                      <c:pt idx="115">
                        <c:v>2.0911</c:v>
                      </c:pt>
                      <c:pt idx="116">
                        <c:v>2.0339999999999998</c:v>
                      </c:pt>
                      <c:pt idx="117">
                        <c:v>2.0493999999999999</c:v>
                      </c:pt>
                      <c:pt idx="118">
                        <c:v>2.0082</c:v>
                      </c:pt>
                      <c:pt idx="119">
                        <c:v>2.0306000000000002</c:v>
                      </c:pt>
                      <c:pt idx="120">
                        <c:v>2.1139999999999999</c:v>
                      </c:pt>
                      <c:pt idx="121">
                        <c:v>2.2332999999999998</c:v>
                      </c:pt>
                      <c:pt idx="122">
                        <c:v>2.1497000000000002</c:v>
                      </c:pt>
                      <c:pt idx="123">
                        <c:v>2.1440999999999999</c:v>
                      </c:pt>
                      <c:pt idx="124">
                        <c:v>2.2029000000000001</c:v>
                      </c:pt>
                      <c:pt idx="125">
                        <c:v>2.1947000000000001</c:v>
                      </c:pt>
                      <c:pt idx="126">
                        <c:v>2.2833999999999999</c:v>
                      </c:pt>
                      <c:pt idx="127">
                        <c:v>2.3508</c:v>
                      </c:pt>
                      <c:pt idx="128">
                        <c:v>2.2784</c:v>
                      </c:pt>
                      <c:pt idx="129">
                        <c:v>2.4276</c:v>
                      </c:pt>
                      <c:pt idx="130">
                        <c:v>2.5402</c:v>
                      </c:pt>
                      <c:pt idx="131">
                        <c:v>2.5009999999999999</c:v>
                      </c:pt>
                      <c:pt idx="132">
                        <c:v>2.4834000000000001</c:v>
                      </c:pt>
                      <c:pt idx="133">
                        <c:v>2.5074000000000001</c:v>
                      </c:pt>
                      <c:pt idx="134">
                        <c:v>2.3679999999999999</c:v>
                      </c:pt>
                      <c:pt idx="135">
                        <c:v>2.2444000000000002</c:v>
                      </c:pt>
                      <c:pt idx="136">
                        <c:v>2.2296</c:v>
                      </c:pt>
                      <c:pt idx="137">
                        <c:v>2.1711</c:v>
                      </c:pt>
                      <c:pt idx="138">
                        <c:v>2.1385000000000001</c:v>
                      </c:pt>
                      <c:pt idx="139">
                        <c:v>2.1516000000000002</c:v>
                      </c:pt>
                      <c:pt idx="140">
                        <c:v>2.1738</c:v>
                      </c:pt>
                      <c:pt idx="141">
                        <c:v>2.1732999999999998</c:v>
                      </c:pt>
                      <c:pt idx="142">
                        <c:v>2.2610999999999999</c:v>
                      </c:pt>
                      <c:pt idx="143">
                        <c:v>2.3654000000000002</c:v>
                      </c:pt>
                      <c:pt idx="144">
                        <c:v>2.4207000000000001</c:v>
                      </c:pt>
                      <c:pt idx="145">
                        <c:v>2.3641999999999999</c:v>
                      </c:pt>
                      <c:pt idx="146">
                        <c:v>2.2721</c:v>
                      </c:pt>
                      <c:pt idx="147">
                        <c:v>2.3064</c:v>
                      </c:pt>
                      <c:pt idx="148">
                        <c:v>2.3969999999999998</c:v>
                      </c:pt>
                      <c:pt idx="149">
                        <c:v>2.4550000000000001</c:v>
                      </c:pt>
                      <c:pt idx="150">
                        <c:v>2.5743999999999998</c:v>
                      </c:pt>
                      <c:pt idx="151">
                        <c:v>2.6775000000000002</c:v>
                      </c:pt>
                      <c:pt idx="152">
                        <c:v>2.5651000000000002</c:v>
                      </c:pt>
                      <c:pt idx="153">
                        <c:v>2.3167</c:v>
                      </c:pt>
                      <c:pt idx="154">
                        <c:v>2.2141000000000002</c:v>
                      </c:pt>
                      <c:pt idx="155">
                        <c:v>2.2519</c:v>
                      </c:pt>
                      <c:pt idx="156">
                        <c:v>2.2755000000000001</c:v>
                      </c:pt>
                      <c:pt idx="157">
                        <c:v>2.1078999999999999</c:v>
                      </c:pt>
                      <c:pt idx="158">
                        <c:v>2.0659000000000001</c:v>
                      </c:pt>
                      <c:pt idx="159">
                        <c:v>2.1724999999999999</c:v>
                      </c:pt>
                      <c:pt idx="160">
                        <c:v>2.2174</c:v>
                      </c:pt>
                      <c:pt idx="161">
                        <c:v>2.2366999999999999</c:v>
                      </c:pt>
                      <c:pt idx="162">
                        <c:v>2.2080000000000002</c:v>
                      </c:pt>
                      <c:pt idx="163">
                        <c:v>2.1987000000000001</c:v>
                      </c:pt>
                      <c:pt idx="164">
                        <c:v>2.3426</c:v>
                      </c:pt>
                      <c:pt idx="165">
                        <c:v>2.2747000000000002</c:v>
                      </c:pt>
                      <c:pt idx="166">
                        <c:v>2.2259000000000002</c:v>
                      </c:pt>
                      <c:pt idx="167">
                        <c:v>2.2132999999999998</c:v>
                      </c:pt>
                      <c:pt idx="168">
                        <c:v>2.1440000000000001</c:v>
                      </c:pt>
                      <c:pt idx="169">
                        <c:v>2.0666000000000002</c:v>
                      </c:pt>
                      <c:pt idx="170">
                        <c:v>2.0973000000000002</c:v>
                      </c:pt>
                      <c:pt idx="171">
                        <c:v>2.0695000000000001</c:v>
                      </c:pt>
                      <c:pt idx="172">
                        <c:v>2.0720000000000001</c:v>
                      </c:pt>
                      <c:pt idx="173">
                        <c:v>2.08</c:v>
                      </c:pt>
                      <c:pt idx="174">
                        <c:v>2.1053999999999999</c:v>
                      </c:pt>
                      <c:pt idx="175">
                        <c:v>2.0842999999999998</c:v>
                      </c:pt>
                      <c:pt idx="176">
                        <c:v>2.1105</c:v>
                      </c:pt>
                      <c:pt idx="177">
                        <c:v>2.1751</c:v>
                      </c:pt>
                      <c:pt idx="178">
                        <c:v>2.1046</c:v>
                      </c:pt>
                      <c:pt idx="179">
                        <c:v>2.0150000000000001</c:v>
                      </c:pt>
                      <c:pt idx="180">
                        <c:v>2.0596999999999999</c:v>
                      </c:pt>
                      <c:pt idx="181">
                        <c:v>2.1126999999999998</c:v>
                      </c:pt>
                      <c:pt idx="182">
                        <c:v>2.1785000000000001</c:v>
                      </c:pt>
                      <c:pt idx="183">
                        <c:v>2.1857000000000002</c:v>
                      </c:pt>
                      <c:pt idx="184">
                        <c:v>2.1831</c:v>
                      </c:pt>
                      <c:pt idx="185">
                        <c:v>2.2158000000000002</c:v>
                      </c:pt>
                      <c:pt idx="186">
                        <c:v>2.1934</c:v>
                      </c:pt>
                      <c:pt idx="187">
                        <c:v>2.1149</c:v>
                      </c:pt>
                      <c:pt idx="188">
                        <c:v>2.0672999999999999</c:v>
                      </c:pt>
                      <c:pt idx="189">
                        <c:v>2.0832999999999999</c:v>
                      </c:pt>
                      <c:pt idx="190">
                        <c:v>2.0964999999999998</c:v>
                      </c:pt>
                      <c:pt idx="191">
                        <c:v>2.0781000000000001</c:v>
                      </c:pt>
                      <c:pt idx="192">
                        <c:v>2.0629</c:v>
                      </c:pt>
                      <c:pt idx="193">
                        <c:v>2.0329999999999999</c:v>
                      </c:pt>
                      <c:pt idx="194">
                        <c:v>1.9794</c:v>
                      </c:pt>
                      <c:pt idx="195">
                        <c:v>1.9258</c:v>
                      </c:pt>
                      <c:pt idx="196">
                        <c:v>1.9004000000000001</c:v>
                      </c:pt>
                      <c:pt idx="197">
                        <c:v>1.948</c:v>
                      </c:pt>
                      <c:pt idx="198">
                        <c:v>1.9685999999999999</c:v>
                      </c:pt>
                      <c:pt idx="199">
                        <c:v>1.9803999999999999</c:v>
                      </c:pt>
                      <c:pt idx="200">
                        <c:v>1.9665999999999999</c:v>
                      </c:pt>
                      <c:pt idx="201">
                        <c:v>2.0028999999999999</c:v>
                      </c:pt>
                      <c:pt idx="202">
                        <c:v>2.0859000000000001</c:v>
                      </c:pt>
                      <c:pt idx="203">
                        <c:v>2.0884999999999998</c:v>
                      </c:pt>
                      <c:pt idx="204">
                        <c:v>2.1326000000000001</c:v>
                      </c:pt>
                      <c:pt idx="205">
                        <c:v>2.1154000000000002</c:v>
                      </c:pt>
                      <c:pt idx="206">
                        <c:v>2.0381</c:v>
                      </c:pt>
                      <c:pt idx="207">
                        <c:v>2.0920999999999998</c:v>
                      </c:pt>
                      <c:pt idx="208">
                        <c:v>2.1082999999999998</c:v>
                      </c:pt>
                      <c:pt idx="209">
                        <c:v>2.1814</c:v>
                      </c:pt>
                      <c:pt idx="210">
                        <c:v>2.2501000000000002</c:v>
                      </c:pt>
                      <c:pt idx="211">
                        <c:v>2.1663999999999999</c:v>
                      </c:pt>
                      <c:pt idx="212">
                        <c:v>2.2120000000000002</c:v>
                      </c:pt>
                      <c:pt idx="213">
                        <c:v>2.2658999999999998</c:v>
                      </c:pt>
                      <c:pt idx="214">
                        <c:v>2.4314</c:v>
                      </c:pt>
                      <c:pt idx="215">
                        <c:v>2.5051000000000001</c:v>
                      </c:pt>
                      <c:pt idx="216">
                        <c:v>2.4912000000000001</c:v>
                      </c:pt>
                      <c:pt idx="217">
                        <c:v>2.4338000000000002</c:v>
                      </c:pt>
                      <c:pt idx="218">
                        <c:v>2.4813000000000001</c:v>
                      </c:pt>
                      <c:pt idx="219">
                        <c:v>2.5642999999999998</c:v>
                      </c:pt>
                      <c:pt idx="220">
                        <c:v>2.5954999999999999</c:v>
                      </c:pt>
                      <c:pt idx="221">
                        <c:v>2.7292000000000001</c:v>
                      </c:pt>
                      <c:pt idx="222">
                        <c:v>2.6585999999999999</c:v>
                      </c:pt>
                      <c:pt idx="223">
                        <c:v>2.7664</c:v>
                      </c:pt>
                      <c:pt idx="224">
                        <c:v>2.8565999999999998</c:v>
                      </c:pt>
                      <c:pt idx="225">
                        <c:v>2.7425000000000002</c:v>
                      </c:pt>
                      <c:pt idx="226">
                        <c:v>2.6168</c:v>
                      </c:pt>
                      <c:pt idx="227">
                        <c:v>2.6987999999999999</c:v>
                      </c:pt>
                      <c:pt idx="228">
                        <c:v>2.6099000000000001</c:v>
                      </c:pt>
                      <c:pt idx="229">
                        <c:v>2.5419999999999998</c:v>
                      </c:pt>
                      <c:pt idx="230">
                        <c:v>2.5710999999999999</c:v>
                      </c:pt>
                      <c:pt idx="231">
                        <c:v>2.504</c:v>
                      </c:pt>
                      <c:pt idx="232">
                        <c:v>2.4361999999999999</c:v>
                      </c:pt>
                      <c:pt idx="233">
                        <c:v>2.4293999999999998</c:v>
                      </c:pt>
                      <c:pt idx="234">
                        <c:v>2.403</c:v>
                      </c:pt>
                      <c:pt idx="235">
                        <c:v>2.4910999999999999</c:v>
                      </c:pt>
                      <c:pt idx="236">
                        <c:v>2.5001000000000002</c:v>
                      </c:pt>
                      <c:pt idx="237">
                        <c:v>2.5438999999999998</c:v>
                      </c:pt>
                      <c:pt idx="238">
                        <c:v>2.5375999999999999</c:v>
                      </c:pt>
                      <c:pt idx="239">
                        <c:v>2.5206</c:v>
                      </c:pt>
                      <c:pt idx="240">
                        <c:v>2.4952999999999999</c:v>
                      </c:pt>
                      <c:pt idx="241">
                        <c:v>2.5472999999999999</c:v>
                      </c:pt>
                      <c:pt idx="242">
                        <c:v>2.5935000000000001</c:v>
                      </c:pt>
                      <c:pt idx="243">
                        <c:v>2.6554000000000002</c:v>
                      </c:pt>
                      <c:pt idx="244">
                        <c:v>2.6074999999999999</c:v>
                      </c:pt>
                      <c:pt idx="245">
                        <c:v>2.5362</c:v>
                      </c:pt>
                      <c:pt idx="246">
                        <c:v>2.5680000000000001</c:v>
                      </c:pt>
                      <c:pt idx="247">
                        <c:v>2.5632000000000001</c:v>
                      </c:pt>
                      <c:pt idx="248">
                        <c:v>2.5914000000000001</c:v>
                      </c:pt>
                      <c:pt idx="249">
                        <c:v>2.7435999999999998</c:v>
                      </c:pt>
                      <c:pt idx="250">
                        <c:v>2.7281</c:v>
                      </c:pt>
                      <c:pt idx="251">
                        <c:v>2.6770999999999998</c:v>
                      </c:pt>
                      <c:pt idx="252">
                        <c:v>2.6610999999999998</c:v>
                      </c:pt>
                      <c:pt idx="253">
                        <c:v>2.7227000000000001</c:v>
                      </c:pt>
                      <c:pt idx="254">
                        <c:v>2.8725000000000001</c:v>
                      </c:pt>
                      <c:pt idx="255">
                        <c:v>2.8660999999999999</c:v>
                      </c:pt>
                      <c:pt idx="256">
                        <c:v>2.7406999999999999</c:v>
                      </c:pt>
                      <c:pt idx="257">
                        <c:v>2.7054999999999998</c:v>
                      </c:pt>
                      <c:pt idx="258">
                        <c:v>2.7764000000000002</c:v>
                      </c:pt>
                      <c:pt idx="259">
                        <c:v>2.7464</c:v>
                      </c:pt>
                      <c:pt idx="260">
                        <c:v>2.8950999999999998</c:v>
                      </c:pt>
                      <c:pt idx="261">
                        <c:v>2.8774000000000002</c:v>
                      </c:pt>
                      <c:pt idx="262">
                        <c:v>2.7791000000000001</c:v>
                      </c:pt>
                      <c:pt idx="263">
                        <c:v>2.8027000000000002</c:v>
                      </c:pt>
                      <c:pt idx="264">
                        <c:v>2.7722000000000002</c:v>
                      </c:pt>
                      <c:pt idx="265">
                        <c:v>2.7751000000000001</c:v>
                      </c:pt>
                      <c:pt idx="266">
                        <c:v>2.7090000000000001</c:v>
                      </c:pt>
                      <c:pt idx="267">
                        <c:v>2.6956000000000002</c:v>
                      </c:pt>
                      <c:pt idx="268">
                        <c:v>2.6503999999999999</c:v>
                      </c:pt>
                      <c:pt idx="269">
                        <c:v>2.6189</c:v>
                      </c:pt>
                      <c:pt idx="270">
                        <c:v>2.8102</c:v>
                      </c:pt>
                      <c:pt idx="271">
                        <c:v>2.8409</c:v>
                      </c:pt>
                      <c:pt idx="272">
                        <c:v>2.8464</c:v>
                      </c:pt>
                      <c:pt idx="273">
                        <c:v>2.83</c:v>
                      </c:pt>
                      <c:pt idx="274">
                        <c:v>2.8033000000000001</c:v>
                      </c:pt>
                      <c:pt idx="275">
                        <c:v>2.8188</c:v>
                      </c:pt>
                      <c:pt idx="276">
                        <c:v>2.7726999999999999</c:v>
                      </c:pt>
                      <c:pt idx="277">
                        <c:v>2.7029000000000001</c:v>
                      </c:pt>
                      <c:pt idx="278">
                        <c:v>2.6307999999999998</c:v>
                      </c:pt>
                      <c:pt idx="279">
                        <c:v>2.5840999999999998</c:v>
                      </c:pt>
                      <c:pt idx="280">
                        <c:v>2.5074000000000001</c:v>
                      </c:pt>
                      <c:pt idx="281">
                        <c:v>2.4967999999999999</c:v>
                      </c:pt>
                      <c:pt idx="282">
                        <c:v>2.4531999999999998</c:v>
                      </c:pt>
                      <c:pt idx="283">
                        <c:v>2.4470000000000001</c:v>
                      </c:pt>
                      <c:pt idx="284">
                        <c:v>2.4358</c:v>
                      </c:pt>
                      <c:pt idx="285">
                        <c:v>2.4161000000000001</c:v>
                      </c:pt>
                      <c:pt idx="286">
                        <c:v>2.3584000000000001</c:v>
                      </c:pt>
                      <c:pt idx="287">
                        <c:v>2.3685999999999998</c:v>
                      </c:pt>
                      <c:pt idx="288">
                        <c:v>2.3660000000000001</c:v>
                      </c:pt>
                      <c:pt idx="289">
                        <c:v>2.4020999999999999</c:v>
                      </c:pt>
                      <c:pt idx="290">
                        <c:v>2.4363999999999999</c:v>
                      </c:pt>
                      <c:pt idx="291">
                        <c:v>2.4258000000000002</c:v>
                      </c:pt>
                      <c:pt idx="292">
                        <c:v>2.5409999999999999</c:v>
                      </c:pt>
                      <c:pt idx="293">
                        <c:v>2.6320999999999999</c:v>
                      </c:pt>
                      <c:pt idx="294">
                        <c:v>2.5743</c:v>
                      </c:pt>
                      <c:pt idx="295">
                        <c:v>2.5583999999999998</c:v>
                      </c:pt>
                      <c:pt idx="296">
                        <c:v>2.5524</c:v>
                      </c:pt>
                      <c:pt idx="297">
                        <c:v>2.4622000000000002</c:v>
                      </c:pt>
                      <c:pt idx="298">
                        <c:v>2.4136000000000002</c:v>
                      </c:pt>
                      <c:pt idx="299">
                        <c:v>2.5145</c:v>
                      </c:pt>
                      <c:pt idx="300">
                        <c:v>2.4519000000000002</c:v>
                      </c:pt>
                      <c:pt idx="301">
                        <c:v>2.4159000000000002</c:v>
                      </c:pt>
                      <c:pt idx="302">
                        <c:v>2.4260999999999999</c:v>
                      </c:pt>
                      <c:pt idx="303">
                        <c:v>2.4521999999999999</c:v>
                      </c:pt>
                      <c:pt idx="304">
                        <c:v>2.4211</c:v>
                      </c:pt>
                      <c:pt idx="305">
                        <c:v>2.3704999999999998</c:v>
                      </c:pt>
                      <c:pt idx="306">
                        <c:v>2.327</c:v>
                      </c:pt>
                      <c:pt idx="307">
                        <c:v>2.3553000000000002</c:v>
                      </c:pt>
                      <c:pt idx="308">
                        <c:v>2.3618000000000001</c:v>
                      </c:pt>
                      <c:pt idx="309">
                        <c:v>2.3407</c:v>
                      </c:pt>
                      <c:pt idx="310">
                        <c:v>2.3586999999999998</c:v>
                      </c:pt>
                      <c:pt idx="311">
                        <c:v>2.3494000000000002</c:v>
                      </c:pt>
                      <c:pt idx="312">
                        <c:v>2.3565999999999998</c:v>
                      </c:pt>
                      <c:pt idx="313">
                        <c:v>2.3561999999999999</c:v>
                      </c:pt>
                      <c:pt idx="314">
                        <c:v>2.4009</c:v>
                      </c:pt>
                      <c:pt idx="315">
                        <c:v>2.3995000000000002</c:v>
                      </c:pt>
                      <c:pt idx="316">
                        <c:v>2.4479000000000002</c:v>
                      </c:pt>
                      <c:pt idx="317">
                        <c:v>2.4916</c:v>
                      </c:pt>
                      <c:pt idx="318">
                        <c:v>2.4512999999999998</c:v>
                      </c:pt>
                      <c:pt idx="319">
                        <c:v>2.4817999999999998</c:v>
                      </c:pt>
                      <c:pt idx="320">
                        <c:v>2.4950999999999999</c:v>
                      </c:pt>
                      <c:pt idx="321">
                        <c:v>2.4885999999999999</c:v>
                      </c:pt>
                      <c:pt idx="322">
                        <c:v>2.4750000000000001</c:v>
                      </c:pt>
                      <c:pt idx="323">
                        <c:v>2.4981</c:v>
                      </c:pt>
                      <c:pt idx="324">
                        <c:v>2.5022000000000002</c:v>
                      </c:pt>
                      <c:pt idx="325">
                        <c:v>2.5017</c:v>
                      </c:pt>
                      <c:pt idx="326">
                        <c:v>2.4554999999999998</c:v>
                      </c:pt>
                      <c:pt idx="327">
                        <c:v>2.4034</c:v>
                      </c:pt>
                      <c:pt idx="328">
                        <c:v>2.4034</c:v>
                      </c:pt>
                      <c:pt idx="329">
                        <c:v>2.3580000000000001</c:v>
                      </c:pt>
                      <c:pt idx="330">
                        <c:v>2.3451</c:v>
                      </c:pt>
                      <c:pt idx="331">
                        <c:v>2.4285999999999999</c:v>
                      </c:pt>
                      <c:pt idx="332">
                        <c:v>2.3858999999999999</c:v>
                      </c:pt>
                      <c:pt idx="333">
                        <c:v>2.2746</c:v>
                      </c:pt>
                      <c:pt idx="334">
                        <c:v>2.3127</c:v>
                      </c:pt>
                      <c:pt idx="335">
                        <c:v>2.3134000000000001</c:v>
                      </c:pt>
                      <c:pt idx="336">
                        <c:v>2.2347000000000001</c:v>
                      </c:pt>
                      <c:pt idx="337">
                        <c:v>2.1511999999999998</c:v>
                      </c:pt>
                      <c:pt idx="338">
                        <c:v>2.1671999999999998</c:v>
                      </c:pt>
                      <c:pt idx="339">
                        <c:v>2.13</c:v>
                      </c:pt>
                      <c:pt idx="340">
                        <c:v>2.0697000000000001</c:v>
                      </c:pt>
                      <c:pt idx="341">
                        <c:v>2.0669</c:v>
                      </c:pt>
                      <c:pt idx="342">
                        <c:v>2.0661999999999998</c:v>
                      </c:pt>
                      <c:pt idx="343">
                        <c:v>2.14</c:v>
                      </c:pt>
                      <c:pt idx="344">
                        <c:v>2.1987000000000001</c:v>
                      </c:pt>
                      <c:pt idx="345">
                        <c:v>2.4674999999999998</c:v>
                      </c:pt>
                      <c:pt idx="346">
                        <c:v>2.3319000000000001</c:v>
                      </c:pt>
                      <c:pt idx="347">
                        <c:v>2.2151000000000001</c:v>
                      </c:pt>
                      <c:pt idx="348">
                        <c:v>2.1431</c:v>
                      </c:pt>
                      <c:pt idx="349">
                        <c:v>2.2174999999999998</c:v>
                      </c:pt>
                      <c:pt idx="350">
                        <c:v>2.1282999999999999</c:v>
                      </c:pt>
                      <c:pt idx="351">
                        <c:v>2.0596999999999999</c:v>
                      </c:pt>
                      <c:pt idx="352">
                        <c:v>2.0148999999999999</c:v>
                      </c:pt>
                      <c:pt idx="353">
                        <c:v>2.0400999999999998</c:v>
                      </c:pt>
                      <c:pt idx="354">
                        <c:v>2.0339</c:v>
                      </c:pt>
                      <c:pt idx="355">
                        <c:v>1.9807999999999999</c:v>
                      </c:pt>
                      <c:pt idx="356">
                        <c:v>1.8949</c:v>
                      </c:pt>
                      <c:pt idx="357">
                        <c:v>1.7869999999999999</c:v>
                      </c:pt>
                      <c:pt idx="358">
                        <c:v>1.8044</c:v>
                      </c:pt>
                      <c:pt idx="359">
                        <c:v>1.7988</c:v>
                      </c:pt>
                      <c:pt idx="360">
                        <c:v>1.7690999999999999</c:v>
                      </c:pt>
                      <c:pt idx="361">
                        <c:v>1.7626999999999999</c:v>
                      </c:pt>
                      <c:pt idx="362">
                        <c:v>1.6496999999999999</c:v>
                      </c:pt>
                      <c:pt idx="363">
                        <c:v>1.6548</c:v>
                      </c:pt>
                      <c:pt idx="364">
                        <c:v>1.6866000000000001</c:v>
                      </c:pt>
                      <c:pt idx="365">
                        <c:v>1.7310000000000001</c:v>
                      </c:pt>
                      <c:pt idx="366">
                        <c:v>1.7463</c:v>
                      </c:pt>
                      <c:pt idx="367">
                        <c:v>1.7402</c:v>
                      </c:pt>
                      <c:pt idx="368">
                        <c:v>1.6597</c:v>
                      </c:pt>
                      <c:pt idx="369">
                        <c:v>1.6157999999999999</c:v>
                      </c:pt>
                      <c:pt idx="370">
                        <c:v>1.6145</c:v>
                      </c:pt>
                      <c:pt idx="371">
                        <c:v>1.5716000000000001</c:v>
                      </c:pt>
                      <c:pt idx="372">
                        <c:v>1.5878000000000001</c:v>
                      </c:pt>
                      <c:pt idx="373">
                        <c:v>1.5993999999999999</c:v>
                      </c:pt>
                      <c:pt idx="374">
                        <c:v>1.5987</c:v>
                      </c:pt>
                      <c:pt idx="375">
                        <c:v>1.5486</c:v>
                      </c:pt>
                      <c:pt idx="376">
                        <c:v>1.5304</c:v>
                      </c:pt>
                      <c:pt idx="377">
                        <c:v>1.5278</c:v>
                      </c:pt>
                      <c:pt idx="378">
                        <c:v>1.4984999999999999</c:v>
                      </c:pt>
                      <c:pt idx="379">
                        <c:v>1.5576000000000001</c:v>
                      </c:pt>
                      <c:pt idx="380">
                        <c:v>1.5432999999999999</c:v>
                      </c:pt>
                      <c:pt idx="381">
                        <c:v>1.5531999999999999</c:v>
                      </c:pt>
                      <c:pt idx="382">
                        <c:v>1.5649</c:v>
                      </c:pt>
                      <c:pt idx="383">
                        <c:v>1.5401</c:v>
                      </c:pt>
                      <c:pt idx="384">
                        <c:v>1.4903</c:v>
                      </c:pt>
                      <c:pt idx="385">
                        <c:v>1.472</c:v>
                      </c:pt>
                      <c:pt idx="386">
                        <c:v>1.5035000000000001</c:v>
                      </c:pt>
                      <c:pt idx="387">
                        <c:v>1.5466</c:v>
                      </c:pt>
                      <c:pt idx="388">
                        <c:v>1.5956999999999999</c:v>
                      </c:pt>
                      <c:pt idx="389">
                        <c:v>1.5553999999999999</c:v>
                      </c:pt>
                      <c:pt idx="390">
                        <c:v>1.514</c:v>
                      </c:pt>
                      <c:pt idx="391">
                        <c:v>1.5004</c:v>
                      </c:pt>
                      <c:pt idx="392">
                        <c:v>1.5504</c:v>
                      </c:pt>
                      <c:pt idx="393">
                        <c:v>1.5616000000000001</c:v>
                      </c:pt>
                      <c:pt idx="394">
                        <c:v>1.5344</c:v>
                      </c:pt>
                      <c:pt idx="395">
                        <c:v>1.5414000000000001</c:v>
                      </c:pt>
                      <c:pt idx="396">
                        <c:v>1.5197000000000001</c:v>
                      </c:pt>
                      <c:pt idx="397">
                        <c:v>1.5013000000000001</c:v>
                      </c:pt>
                      <c:pt idx="398">
                        <c:v>1.4577</c:v>
                      </c:pt>
                      <c:pt idx="399">
                        <c:v>1.4756</c:v>
                      </c:pt>
                      <c:pt idx="400">
                        <c:v>1.5442</c:v>
                      </c:pt>
                      <c:pt idx="401">
                        <c:v>1.6409</c:v>
                      </c:pt>
                      <c:pt idx="402">
                        <c:v>1.6568000000000001</c:v>
                      </c:pt>
                      <c:pt idx="403">
                        <c:v>1.7161</c:v>
                      </c:pt>
                      <c:pt idx="404">
                        <c:v>1.7082999999999999</c:v>
                      </c:pt>
                      <c:pt idx="405">
                        <c:v>1.6913</c:v>
                      </c:pt>
                      <c:pt idx="406">
                        <c:v>1.7287999999999999</c:v>
                      </c:pt>
                      <c:pt idx="407">
                        <c:v>1.8228</c:v>
                      </c:pt>
                      <c:pt idx="408">
                        <c:v>1.8595999999999999</c:v>
                      </c:pt>
                      <c:pt idx="409">
                        <c:v>1.8460000000000001</c:v>
                      </c:pt>
                      <c:pt idx="410">
                        <c:v>1.8291999999999999</c:v>
                      </c:pt>
                      <c:pt idx="411">
                        <c:v>1.7977000000000001</c:v>
                      </c:pt>
                      <c:pt idx="412">
                        <c:v>1.81</c:v>
                      </c:pt>
                      <c:pt idx="413">
                        <c:v>1.8053999999999999</c:v>
                      </c:pt>
                      <c:pt idx="414">
                        <c:v>1.8182</c:v>
                      </c:pt>
                      <c:pt idx="415">
                        <c:v>1.7946</c:v>
                      </c:pt>
                      <c:pt idx="416">
                        <c:v>1.8012999999999999</c:v>
                      </c:pt>
                      <c:pt idx="417">
                        <c:v>1.8305</c:v>
                      </c:pt>
                      <c:pt idx="418">
                        <c:v>1.8255999999999999</c:v>
                      </c:pt>
                      <c:pt idx="419">
                        <c:v>1.8945000000000001</c:v>
                      </c:pt>
                      <c:pt idx="420">
                        <c:v>1.8754999999999999</c:v>
                      </c:pt>
                      <c:pt idx="421">
                        <c:v>1.9679</c:v>
                      </c:pt>
                      <c:pt idx="422">
                        <c:v>1.9362999999999999</c:v>
                      </c:pt>
                      <c:pt idx="423">
                        <c:v>1.9321999999999999</c:v>
                      </c:pt>
                      <c:pt idx="424">
                        <c:v>1.9599</c:v>
                      </c:pt>
                      <c:pt idx="425">
                        <c:v>2.0188999999999999</c:v>
                      </c:pt>
                      <c:pt idx="426">
                        <c:v>2.0996999999999999</c:v>
                      </c:pt>
                      <c:pt idx="427">
                        <c:v>2.1343000000000001</c:v>
                      </c:pt>
                      <c:pt idx="428">
                        <c:v>2.1739000000000002</c:v>
                      </c:pt>
                      <c:pt idx="429">
                        <c:v>2.1278000000000001</c:v>
                      </c:pt>
                      <c:pt idx="430">
                        <c:v>2.1261000000000001</c:v>
                      </c:pt>
                      <c:pt idx="431">
                        <c:v>2.0672000000000001</c:v>
                      </c:pt>
                      <c:pt idx="432">
                        <c:v>2.0550000000000002</c:v>
                      </c:pt>
                      <c:pt idx="433">
                        <c:v>2.0053000000000001</c:v>
                      </c:pt>
                      <c:pt idx="434">
                        <c:v>1.9003000000000001</c:v>
                      </c:pt>
                      <c:pt idx="435">
                        <c:v>1.8681000000000001</c:v>
                      </c:pt>
                      <c:pt idx="436">
                        <c:v>1.9885999999999999</c:v>
                      </c:pt>
                      <c:pt idx="437">
                        <c:v>1.9192</c:v>
                      </c:pt>
                      <c:pt idx="438">
                        <c:v>1.7455000000000001</c:v>
                      </c:pt>
                      <c:pt idx="439">
                        <c:v>1.7162999999999999</c:v>
                      </c:pt>
                      <c:pt idx="440">
                        <c:v>1.7316</c:v>
                      </c:pt>
                      <c:pt idx="441">
                        <c:v>1.6194999999999999</c:v>
                      </c:pt>
                      <c:pt idx="442">
                        <c:v>1.6527000000000001</c:v>
                      </c:pt>
                      <c:pt idx="443">
                        <c:v>1.6980999999999999</c:v>
                      </c:pt>
                      <c:pt idx="444">
                        <c:v>1.6533</c:v>
                      </c:pt>
                      <c:pt idx="445">
                        <c:v>1.6297999999999999</c:v>
                      </c:pt>
                      <c:pt idx="446">
                        <c:v>1.6203000000000001</c:v>
                      </c:pt>
                      <c:pt idx="447">
                        <c:v>1.6811</c:v>
                      </c:pt>
                      <c:pt idx="448">
                        <c:v>1.74</c:v>
                      </c:pt>
                      <c:pt idx="449">
                        <c:v>1.6947000000000001</c:v>
                      </c:pt>
                      <c:pt idx="450">
                        <c:v>1.6669</c:v>
                      </c:pt>
                      <c:pt idx="451">
                        <c:v>1.6372</c:v>
                      </c:pt>
                      <c:pt idx="452">
                        <c:v>1.6716</c:v>
                      </c:pt>
                      <c:pt idx="453">
                        <c:v>1.6949000000000001</c:v>
                      </c:pt>
                      <c:pt idx="454">
                        <c:v>1.7343</c:v>
                      </c:pt>
                      <c:pt idx="455">
                        <c:v>1.7536</c:v>
                      </c:pt>
                      <c:pt idx="456">
                        <c:v>1.7376</c:v>
                      </c:pt>
                      <c:pt idx="457">
                        <c:v>1.7741</c:v>
                      </c:pt>
                      <c:pt idx="458">
                        <c:v>1.8008</c:v>
                      </c:pt>
                      <c:pt idx="459">
                        <c:v>1.8323</c:v>
                      </c:pt>
                      <c:pt idx="460">
                        <c:v>1.7891999999999999</c:v>
                      </c:pt>
                      <c:pt idx="461">
                        <c:v>1.7732000000000001</c:v>
                      </c:pt>
                      <c:pt idx="462">
                        <c:v>1.7790999999999999</c:v>
                      </c:pt>
                      <c:pt idx="463">
                        <c:v>1.7579</c:v>
                      </c:pt>
                      <c:pt idx="464">
                        <c:v>1.8128</c:v>
                      </c:pt>
                      <c:pt idx="465">
                        <c:v>1.8303</c:v>
                      </c:pt>
                      <c:pt idx="466">
                        <c:v>1.7802</c:v>
                      </c:pt>
                      <c:pt idx="467">
                        <c:v>1.7663</c:v>
                      </c:pt>
                      <c:pt idx="468">
                        <c:v>1.8038000000000001</c:v>
                      </c:pt>
                      <c:pt idx="469">
                        <c:v>1.8231999999999999</c:v>
                      </c:pt>
                      <c:pt idx="470">
                        <c:v>1.8591</c:v>
                      </c:pt>
                      <c:pt idx="471">
                        <c:v>1.8334999999999999</c:v>
                      </c:pt>
                      <c:pt idx="472">
                        <c:v>1.8493999999999999</c:v>
                      </c:pt>
                      <c:pt idx="473">
                        <c:v>1.8250999999999999</c:v>
                      </c:pt>
                      <c:pt idx="474">
                        <c:v>1.7862</c:v>
                      </c:pt>
                      <c:pt idx="475">
                        <c:v>1.7944</c:v>
                      </c:pt>
                      <c:pt idx="476">
                        <c:v>1.8140000000000001</c:v>
                      </c:pt>
                      <c:pt idx="477">
                        <c:v>1.861</c:v>
                      </c:pt>
                      <c:pt idx="478">
                        <c:v>1.8874</c:v>
                      </c:pt>
                      <c:pt idx="479">
                        <c:v>1.9032</c:v>
                      </c:pt>
                      <c:pt idx="480">
                        <c:v>1.9077</c:v>
                      </c:pt>
                      <c:pt idx="481">
                        <c:v>1.9436</c:v>
                      </c:pt>
                      <c:pt idx="482">
                        <c:v>1.9897</c:v>
                      </c:pt>
                      <c:pt idx="483">
                        <c:v>1.9682999999999999</c:v>
                      </c:pt>
                      <c:pt idx="484">
                        <c:v>1.8883000000000001</c:v>
                      </c:pt>
                      <c:pt idx="485">
                        <c:v>1.8152999999999999</c:v>
                      </c:pt>
                      <c:pt idx="486">
                        <c:v>1.8035000000000001</c:v>
                      </c:pt>
                      <c:pt idx="487">
                        <c:v>1.8249</c:v>
                      </c:pt>
                      <c:pt idx="488">
                        <c:v>1.7929999999999999</c:v>
                      </c:pt>
                      <c:pt idx="489">
                        <c:v>1.8221000000000001</c:v>
                      </c:pt>
                      <c:pt idx="490">
                        <c:v>1.8140000000000001</c:v>
                      </c:pt>
                      <c:pt idx="491">
                        <c:v>1.7837000000000001</c:v>
                      </c:pt>
                      <c:pt idx="492">
                        <c:v>1.7655000000000001</c:v>
                      </c:pt>
                      <c:pt idx="493">
                        <c:v>1.7887</c:v>
                      </c:pt>
                      <c:pt idx="494">
                        <c:v>1.7982</c:v>
                      </c:pt>
                      <c:pt idx="495">
                        <c:v>1.7955000000000001</c:v>
                      </c:pt>
                      <c:pt idx="496">
                        <c:v>1.8149999999999999</c:v>
                      </c:pt>
                      <c:pt idx="497">
                        <c:v>1.8352999999999999</c:v>
                      </c:pt>
                      <c:pt idx="498">
                        <c:v>1.8607</c:v>
                      </c:pt>
                      <c:pt idx="499">
                        <c:v>1.8895999999999999</c:v>
                      </c:pt>
                      <c:pt idx="500">
                        <c:v>1.8771</c:v>
                      </c:pt>
                      <c:pt idx="501">
                        <c:v>1.8484</c:v>
                      </c:pt>
                      <c:pt idx="502">
                        <c:v>1.8419000000000001</c:v>
                      </c:pt>
                      <c:pt idx="503">
                        <c:v>1.8586</c:v>
                      </c:pt>
                      <c:pt idx="504">
                        <c:v>1.8889</c:v>
                      </c:pt>
                      <c:pt idx="505">
                        <c:v>1.8887</c:v>
                      </c:pt>
                      <c:pt idx="506">
                        <c:v>1.7866</c:v>
                      </c:pt>
                      <c:pt idx="507">
                        <c:v>1.754</c:v>
                      </c:pt>
                      <c:pt idx="508">
                        <c:v>1.766</c:v>
                      </c:pt>
                      <c:pt idx="509">
                        <c:v>1.756</c:v>
                      </c:pt>
                      <c:pt idx="510">
                        <c:v>1.7490000000000001</c:v>
                      </c:pt>
                      <c:pt idx="511">
                        <c:v>1.7230000000000001</c:v>
                      </c:pt>
                      <c:pt idx="512">
                        <c:v>1.6970000000000001</c:v>
                      </c:pt>
                      <c:pt idx="513">
                        <c:v>1.772</c:v>
                      </c:pt>
                    </c:numCache>
                  </c:numRef>
                </c:val>
                <c:smooth val="0"/>
                <c:extLst xmlns:c15="http://schemas.microsoft.com/office/drawing/2012/chart">
                  <c:ext xmlns:c16="http://schemas.microsoft.com/office/drawing/2014/chart" uri="{C3380CC4-5D6E-409C-BE32-E72D297353CC}">
                    <c16:uniqueId val="{00000001-9D86-49D3-8633-9CC02313F87B}"/>
                  </c:ext>
                </c:extLst>
              </c15:ser>
            </c15:filteredLineSeries>
          </c:ext>
        </c:extLst>
      </c:lineChart>
      <c:lineChart>
        <c:grouping val="standard"/>
        <c:varyColors val="0"/>
        <c:ser>
          <c:idx val="13"/>
          <c:order val="4"/>
          <c:tx>
            <c:strRef>
              <c:f>Sheet1!$F$1</c:f>
              <c:strCache>
                <c:ptCount val="1"/>
                <c:pt idx="0">
                  <c:v>Index (Jan 2005 = 100)</c:v>
                </c:pt>
              </c:strCache>
            </c:strRef>
          </c:tx>
          <c:spPr>
            <a:ln w="28575">
              <a:solidFill>
                <a:srgbClr val="CC0000"/>
              </a:solidFill>
              <a:prstDash val="solid"/>
            </a:ln>
          </c:spPr>
          <c:marker>
            <c:symbol val="none"/>
          </c:marker>
          <c:cat>
            <c:numRef>
              <c:f>Sheet1!$A$2:$A$516</c:f>
              <c:numCache>
                <c:formatCode>mmm\-yy</c:formatCode>
                <c:ptCount val="515"/>
                <c:pt idx="0">
                  <c:v>29221</c:v>
                </c:pt>
                <c:pt idx="1">
                  <c:v>29252</c:v>
                </c:pt>
                <c:pt idx="2">
                  <c:v>29281</c:v>
                </c:pt>
                <c:pt idx="3">
                  <c:v>29312</c:v>
                </c:pt>
                <c:pt idx="4">
                  <c:v>29342</c:v>
                </c:pt>
                <c:pt idx="5">
                  <c:v>29373</c:v>
                </c:pt>
                <c:pt idx="6">
                  <c:v>29403</c:v>
                </c:pt>
                <c:pt idx="7">
                  <c:v>29434</c:v>
                </c:pt>
                <c:pt idx="8">
                  <c:v>29465</c:v>
                </c:pt>
                <c:pt idx="9">
                  <c:v>29495</c:v>
                </c:pt>
                <c:pt idx="10">
                  <c:v>29526</c:v>
                </c:pt>
                <c:pt idx="11">
                  <c:v>29556</c:v>
                </c:pt>
                <c:pt idx="12">
                  <c:v>29587</c:v>
                </c:pt>
                <c:pt idx="13">
                  <c:v>29618</c:v>
                </c:pt>
                <c:pt idx="14">
                  <c:v>29646</c:v>
                </c:pt>
                <c:pt idx="15">
                  <c:v>29677</c:v>
                </c:pt>
                <c:pt idx="16">
                  <c:v>29707</c:v>
                </c:pt>
                <c:pt idx="17">
                  <c:v>29738</c:v>
                </c:pt>
                <c:pt idx="18">
                  <c:v>29768</c:v>
                </c:pt>
                <c:pt idx="19">
                  <c:v>29799</c:v>
                </c:pt>
                <c:pt idx="20">
                  <c:v>29830</c:v>
                </c:pt>
                <c:pt idx="21">
                  <c:v>29860</c:v>
                </c:pt>
                <c:pt idx="22">
                  <c:v>29891</c:v>
                </c:pt>
                <c:pt idx="23">
                  <c:v>29921</c:v>
                </c:pt>
                <c:pt idx="24">
                  <c:v>29952</c:v>
                </c:pt>
                <c:pt idx="25">
                  <c:v>29983</c:v>
                </c:pt>
                <c:pt idx="26">
                  <c:v>30011</c:v>
                </c:pt>
                <c:pt idx="27">
                  <c:v>30042</c:v>
                </c:pt>
                <c:pt idx="28">
                  <c:v>30072</c:v>
                </c:pt>
                <c:pt idx="29">
                  <c:v>30103</c:v>
                </c:pt>
                <c:pt idx="30">
                  <c:v>30133</c:v>
                </c:pt>
                <c:pt idx="31">
                  <c:v>30164</c:v>
                </c:pt>
                <c:pt idx="32">
                  <c:v>30195</c:v>
                </c:pt>
                <c:pt idx="33">
                  <c:v>30225</c:v>
                </c:pt>
                <c:pt idx="34">
                  <c:v>30256</c:v>
                </c:pt>
                <c:pt idx="35">
                  <c:v>30286</c:v>
                </c:pt>
                <c:pt idx="36">
                  <c:v>30317</c:v>
                </c:pt>
                <c:pt idx="37">
                  <c:v>30348</c:v>
                </c:pt>
                <c:pt idx="38">
                  <c:v>30376</c:v>
                </c:pt>
                <c:pt idx="39">
                  <c:v>30407</c:v>
                </c:pt>
                <c:pt idx="40">
                  <c:v>30437</c:v>
                </c:pt>
                <c:pt idx="41">
                  <c:v>30468</c:v>
                </c:pt>
                <c:pt idx="42">
                  <c:v>30498</c:v>
                </c:pt>
                <c:pt idx="43">
                  <c:v>30529</c:v>
                </c:pt>
                <c:pt idx="44">
                  <c:v>30560</c:v>
                </c:pt>
                <c:pt idx="45">
                  <c:v>30590</c:v>
                </c:pt>
                <c:pt idx="46">
                  <c:v>30621</c:v>
                </c:pt>
                <c:pt idx="47">
                  <c:v>30651</c:v>
                </c:pt>
                <c:pt idx="48">
                  <c:v>30682</c:v>
                </c:pt>
                <c:pt idx="49">
                  <c:v>30713</c:v>
                </c:pt>
                <c:pt idx="50">
                  <c:v>30742</c:v>
                </c:pt>
                <c:pt idx="51">
                  <c:v>30773</c:v>
                </c:pt>
                <c:pt idx="52">
                  <c:v>30803</c:v>
                </c:pt>
                <c:pt idx="53">
                  <c:v>30834</c:v>
                </c:pt>
                <c:pt idx="54">
                  <c:v>30864</c:v>
                </c:pt>
                <c:pt idx="55">
                  <c:v>30895</c:v>
                </c:pt>
                <c:pt idx="56">
                  <c:v>30926</c:v>
                </c:pt>
                <c:pt idx="57">
                  <c:v>30956</c:v>
                </c:pt>
                <c:pt idx="58">
                  <c:v>30987</c:v>
                </c:pt>
                <c:pt idx="59">
                  <c:v>31017</c:v>
                </c:pt>
                <c:pt idx="60">
                  <c:v>31048</c:v>
                </c:pt>
                <c:pt idx="61">
                  <c:v>31079</c:v>
                </c:pt>
                <c:pt idx="62">
                  <c:v>31107</c:v>
                </c:pt>
                <c:pt idx="63">
                  <c:v>31138</c:v>
                </c:pt>
                <c:pt idx="64">
                  <c:v>31168</c:v>
                </c:pt>
                <c:pt idx="65">
                  <c:v>31199</c:v>
                </c:pt>
                <c:pt idx="66">
                  <c:v>31229</c:v>
                </c:pt>
                <c:pt idx="67">
                  <c:v>31260</c:v>
                </c:pt>
                <c:pt idx="68">
                  <c:v>31291</c:v>
                </c:pt>
                <c:pt idx="69">
                  <c:v>31321</c:v>
                </c:pt>
                <c:pt idx="70">
                  <c:v>31352</c:v>
                </c:pt>
                <c:pt idx="71">
                  <c:v>31382</c:v>
                </c:pt>
                <c:pt idx="72">
                  <c:v>31413</c:v>
                </c:pt>
                <c:pt idx="73">
                  <c:v>31444</c:v>
                </c:pt>
                <c:pt idx="74">
                  <c:v>31472</c:v>
                </c:pt>
                <c:pt idx="75">
                  <c:v>31503</c:v>
                </c:pt>
                <c:pt idx="76">
                  <c:v>31533</c:v>
                </c:pt>
                <c:pt idx="77">
                  <c:v>31564</c:v>
                </c:pt>
                <c:pt idx="78">
                  <c:v>31594</c:v>
                </c:pt>
                <c:pt idx="79">
                  <c:v>31625</c:v>
                </c:pt>
                <c:pt idx="80">
                  <c:v>31656</c:v>
                </c:pt>
                <c:pt idx="81">
                  <c:v>31686</c:v>
                </c:pt>
                <c:pt idx="82">
                  <c:v>31717</c:v>
                </c:pt>
                <c:pt idx="83">
                  <c:v>31747</c:v>
                </c:pt>
                <c:pt idx="84">
                  <c:v>31778</c:v>
                </c:pt>
                <c:pt idx="85">
                  <c:v>31809</c:v>
                </c:pt>
                <c:pt idx="86">
                  <c:v>31837</c:v>
                </c:pt>
                <c:pt idx="87">
                  <c:v>31868</c:v>
                </c:pt>
                <c:pt idx="88">
                  <c:v>31898</c:v>
                </c:pt>
                <c:pt idx="89">
                  <c:v>31929</c:v>
                </c:pt>
                <c:pt idx="90">
                  <c:v>31959</c:v>
                </c:pt>
                <c:pt idx="91">
                  <c:v>31990</c:v>
                </c:pt>
                <c:pt idx="92">
                  <c:v>32021</c:v>
                </c:pt>
                <c:pt idx="93">
                  <c:v>32051</c:v>
                </c:pt>
                <c:pt idx="94">
                  <c:v>32082</c:v>
                </c:pt>
                <c:pt idx="95">
                  <c:v>32112</c:v>
                </c:pt>
                <c:pt idx="96">
                  <c:v>32143</c:v>
                </c:pt>
                <c:pt idx="97">
                  <c:v>32174</c:v>
                </c:pt>
                <c:pt idx="98">
                  <c:v>32203</c:v>
                </c:pt>
                <c:pt idx="99">
                  <c:v>32234</c:v>
                </c:pt>
                <c:pt idx="100">
                  <c:v>32264</c:v>
                </c:pt>
                <c:pt idx="101">
                  <c:v>32295</c:v>
                </c:pt>
                <c:pt idx="102">
                  <c:v>32325</c:v>
                </c:pt>
                <c:pt idx="103">
                  <c:v>32356</c:v>
                </c:pt>
                <c:pt idx="104">
                  <c:v>32387</c:v>
                </c:pt>
                <c:pt idx="105">
                  <c:v>32417</c:v>
                </c:pt>
                <c:pt idx="106">
                  <c:v>32448</c:v>
                </c:pt>
                <c:pt idx="107">
                  <c:v>32478</c:v>
                </c:pt>
                <c:pt idx="108">
                  <c:v>32509</c:v>
                </c:pt>
                <c:pt idx="109">
                  <c:v>32540</c:v>
                </c:pt>
                <c:pt idx="110">
                  <c:v>32568</c:v>
                </c:pt>
                <c:pt idx="111">
                  <c:v>32599</c:v>
                </c:pt>
                <c:pt idx="112">
                  <c:v>32629</c:v>
                </c:pt>
                <c:pt idx="113">
                  <c:v>32660</c:v>
                </c:pt>
                <c:pt idx="114">
                  <c:v>32690</c:v>
                </c:pt>
                <c:pt idx="115">
                  <c:v>32721</c:v>
                </c:pt>
                <c:pt idx="116">
                  <c:v>32752</c:v>
                </c:pt>
                <c:pt idx="117">
                  <c:v>32782</c:v>
                </c:pt>
                <c:pt idx="118">
                  <c:v>32813</c:v>
                </c:pt>
                <c:pt idx="119">
                  <c:v>32843</c:v>
                </c:pt>
                <c:pt idx="120">
                  <c:v>32874</c:v>
                </c:pt>
                <c:pt idx="121">
                  <c:v>32905</c:v>
                </c:pt>
                <c:pt idx="122">
                  <c:v>32933</c:v>
                </c:pt>
                <c:pt idx="123">
                  <c:v>32964</c:v>
                </c:pt>
                <c:pt idx="124">
                  <c:v>32994</c:v>
                </c:pt>
                <c:pt idx="125">
                  <c:v>33025</c:v>
                </c:pt>
                <c:pt idx="126">
                  <c:v>33055</c:v>
                </c:pt>
                <c:pt idx="127">
                  <c:v>33086</c:v>
                </c:pt>
                <c:pt idx="128">
                  <c:v>33117</c:v>
                </c:pt>
                <c:pt idx="129">
                  <c:v>33147</c:v>
                </c:pt>
                <c:pt idx="130">
                  <c:v>33178</c:v>
                </c:pt>
                <c:pt idx="131">
                  <c:v>33208</c:v>
                </c:pt>
                <c:pt idx="132">
                  <c:v>33239</c:v>
                </c:pt>
                <c:pt idx="133">
                  <c:v>33270</c:v>
                </c:pt>
                <c:pt idx="134">
                  <c:v>33298</c:v>
                </c:pt>
                <c:pt idx="135">
                  <c:v>33329</c:v>
                </c:pt>
                <c:pt idx="136">
                  <c:v>33359</c:v>
                </c:pt>
                <c:pt idx="137">
                  <c:v>33390</c:v>
                </c:pt>
                <c:pt idx="138">
                  <c:v>33420</c:v>
                </c:pt>
                <c:pt idx="139">
                  <c:v>33451</c:v>
                </c:pt>
                <c:pt idx="140">
                  <c:v>33482</c:v>
                </c:pt>
                <c:pt idx="141">
                  <c:v>33512</c:v>
                </c:pt>
                <c:pt idx="142">
                  <c:v>33543</c:v>
                </c:pt>
                <c:pt idx="143">
                  <c:v>33573</c:v>
                </c:pt>
                <c:pt idx="144">
                  <c:v>33604</c:v>
                </c:pt>
                <c:pt idx="145">
                  <c:v>33635</c:v>
                </c:pt>
                <c:pt idx="146">
                  <c:v>33664</c:v>
                </c:pt>
                <c:pt idx="147">
                  <c:v>33695</c:v>
                </c:pt>
                <c:pt idx="148">
                  <c:v>33725</c:v>
                </c:pt>
                <c:pt idx="149">
                  <c:v>33756</c:v>
                </c:pt>
                <c:pt idx="150">
                  <c:v>33786</c:v>
                </c:pt>
                <c:pt idx="151">
                  <c:v>33817</c:v>
                </c:pt>
                <c:pt idx="152">
                  <c:v>33848</c:v>
                </c:pt>
                <c:pt idx="153">
                  <c:v>33878</c:v>
                </c:pt>
                <c:pt idx="154">
                  <c:v>33909</c:v>
                </c:pt>
                <c:pt idx="155">
                  <c:v>33939</c:v>
                </c:pt>
                <c:pt idx="156">
                  <c:v>33970</c:v>
                </c:pt>
                <c:pt idx="157">
                  <c:v>34001</c:v>
                </c:pt>
                <c:pt idx="158">
                  <c:v>34029</c:v>
                </c:pt>
                <c:pt idx="159">
                  <c:v>34060</c:v>
                </c:pt>
                <c:pt idx="160">
                  <c:v>34090</c:v>
                </c:pt>
                <c:pt idx="161">
                  <c:v>34121</c:v>
                </c:pt>
                <c:pt idx="162">
                  <c:v>34151</c:v>
                </c:pt>
                <c:pt idx="163">
                  <c:v>34182</c:v>
                </c:pt>
                <c:pt idx="164">
                  <c:v>34213</c:v>
                </c:pt>
                <c:pt idx="165">
                  <c:v>34243</c:v>
                </c:pt>
                <c:pt idx="166">
                  <c:v>34274</c:v>
                </c:pt>
                <c:pt idx="167">
                  <c:v>34304</c:v>
                </c:pt>
                <c:pt idx="168">
                  <c:v>34335</c:v>
                </c:pt>
                <c:pt idx="169">
                  <c:v>34366</c:v>
                </c:pt>
                <c:pt idx="170">
                  <c:v>34394</c:v>
                </c:pt>
                <c:pt idx="171">
                  <c:v>34425</c:v>
                </c:pt>
                <c:pt idx="172">
                  <c:v>34455</c:v>
                </c:pt>
                <c:pt idx="173">
                  <c:v>34486</c:v>
                </c:pt>
                <c:pt idx="174">
                  <c:v>34516</c:v>
                </c:pt>
                <c:pt idx="175">
                  <c:v>34547</c:v>
                </c:pt>
                <c:pt idx="176">
                  <c:v>34578</c:v>
                </c:pt>
                <c:pt idx="177">
                  <c:v>34608</c:v>
                </c:pt>
                <c:pt idx="178">
                  <c:v>34639</c:v>
                </c:pt>
                <c:pt idx="179">
                  <c:v>34669</c:v>
                </c:pt>
                <c:pt idx="180">
                  <c:v>34700</c:v>
                </c:pt>
                <c:pt idx="181">
                  <c:v>34731</c:v>
                </c:pt>
                <c:pt idx="182">
                  <c:v>34759</c:v>
                </c:pt>
                <c:pt idx="183">
                  <c:v>34790</c:v>
                </c:pt>
                <c:pt idx="184">
                  <c:v>34820</c:v>
                </c:pt>
                <c:pt idx="185">
                  <c:v>34851</c:v>
                </c:pt>
                <c:pt idx="186">
                  <c:v>34881</c:v>
                </c:pt>
                <c:pt idx="187">
                  <c:v>34912</c:v>
                </c:pt>
                <c:pt idx="188">
                  <c:v>34943</c:v>
                </c:pt>
                <c:pt idx="189">
                  <c:v>34973</c:v>
                </c:pt>
                <c:pt idx="190">
                  <c:v>35004</c:v>
                </c:pt>
                <c:pt idx="191">
                  <c:v>35034</c:v>
                </c:pt>
                <c:pt idx="192">
                  <c:v>35065</c:v>
                </c:pt>
                <c:pt idx="193">
                  <c:v>35096</c:v>
                </c:pt>
                <c:pt idx="194">
                  <c:v>35125</c:v>
                </c:pt>
                <c:pt idx="195">
                  <c:v>35156</c:v>
                </c:pt>
                <c:pt idx="196">
                  <c:v>35186</c:v>
                </c:pt>
                <c:pt idx="197">
                  <c:v>35217</c:v>
                </c:pt>
                <c:pt idx="198">
                  <c:v>35247</c:v>
                </c:pt>
                <c:pt idx="199">
                  <c:v>35278</c:v>
                </c:pt>
                <c:pt idx="200">
                  <c:v>35309</c:v>
                </c:pt>
                <c:pt idx="201">
                  <c:v>35339</c:v>
                </c:pt>
                <c:pt idx="202">
                  <c:v>35370</c:v>
                </c:pt>
                <c:pt idx="203">
                  <c:v>35400</c:v>
                </c:pt>
                <c:pt idx="204">
                  <c:v>35431</c:v>
                </c:pt>
                <c:pt idx="205">
                  <c:v>35462</c:v>
                </c:pt>
                <c:pt idx="206">
                  <c:v>35490</c:v>
                </c:pt>
                <c:pt idx="207">
                  <c:v>35521</c:v>
                </c:pt>
                <c:pt idx="208">
                  <c:v>35551</c:v>
                </c:pt>
                <c:pt idx="209">
                  <c:v>35582</c:v>
                </c:pt>
                <c:pt idx="210">
                  <c:v>35612</c:v>
                </c:pt>
                <c:pt idx="211">
                  <c:v>35643</c:v>
                </c:pt>
                <c:pt idx="212">
                  <c:v>35674</c:v>
                </c:pt>
                <c:pt idx="213">
                  <c:v>35704</c:v>
                </c:pt>
                <c:pt idx="214">
                  <c:v>35735</c:v>
                </c:pt>
                <c:pt idx="215">
                  <c:v>35765</c:v>
                </c:pt>
                <c:pt idx="216">
                  <c:v>35796</c:v>
                </c:pt>
                <c:pt idx="217">
                  <c:v>35827</c:v>
                </c:pt>
                <c:pt idx="218">
                  <c:v>35855</c:v>
                </c:pt>
                <c:pt idx="219">
                  <c:v>35886</c:v>
                </c:pt>
                <c:pt idx="220">
                  <c:v>35916</c:v>
                </c:pt>
                <c:pt idx="221">
                  <c:v>35947</c:v>
                </c:pt>
                <c:pt idx="222">
                  <c:v>35977</c:v>
                </c:pt>
                <c:pt idx="223">
                  <c:v>36008</c:v>
                </c:pt>
                <c:pt idx="224">
                  <c:v>36039</c:v>
                </c:pt>
                <c:pt idx="225">
                  <c:v>36069</c:v>
                </c:pt>
                <c:pt idx="226">
                  <c:v>36100</c:v>
                </c:pt>
                <c:pt idx="227">
                  <c:v>36130</c:v>
                </c:pt>
                <c:pt idx="228">
                  <c:v>36161</c:v>
                </c:pt>
                <c:pt idx="229">
                  <c:v>36192</c:v>
                </c:pt>
                <c:pt idx="230">
                  <c:v>36220</c:v>
                </c:pt>
                <c:pt idx="231">
                  <c:v>36251</c:v>
                </c:pt>
                <c:pt idx="232">
                  <c:v>36281</c:v>
                </c:pt>
                <c:pt idx="233">
                  <c:v>36312</c:v>
                </c:pt>
                <c:pt idx="234">
                  <c:v>36342</c:v>
                </c:pt>
                <c:pt idx="235">
                  <c:v>36373</c:v>
                </c:pt>
                <c:pt idx="236">
                  <c:v>36404</c:v>
                </c:pt>
                <c:pt idx="237">
                  <c:v>36434</c:v>
                </c:pt>
                <c:pt idx="238">
                  <c:v>36465</c:v>
                </c:pt>
                <c:pt idx="239">
                  <c:v>36495</c:v>
                </c:pt>
                <c:pt idx="240">
                  <c:v>36526</c:v>
                </c:pt>
                <c:pt idx="241">
                  <c:v>36557</c:v>
                </c:pt>
                <c:pt idx="242">
                  <c:v>36586</c:v>
                </c:pt>
                <c:pt idx="243">
                  <c:v>36617</c:v>
                </c:pt>
                <c:pt idx="244">
                  <c:v>36647</c:v>
                </c:pt>
                <c:pt idx="245">
                  <c:v>36678</c:v>
                </c:pt>
                <c:pt idx="246">
                  <c:v>36708</c:v>
                </c:pt>
                <c:pt idx="247">
                  <c:v>36739</c:v>
                </c:pt>
                <c:pt idx="248">
                  <c:v>36770</c:v>
                </c:pt>
                <c:pt idx="249">
                  <c:v>36800</c:v>
                </c:pt>
                <c:pt idx="250">
                  <c:v>36831</c:v>
                </c:pt>
                <c:pt idx="251">
                  <c:v>36861</c:v>
                </c:pt>
                <c:pt idx="252">
                  <c:v>36892</c:v>
                </c:pt>
                <c:pt idx="253">
                  <c:v>36923</c:v>
                </c:pt>
                <c:pt idx="254">
                  <c:v>36951</c:v>
                </c:pt>
                <c:pt idx="255">
                  <c:v>36982</c:v>
                </c:pt>
                <c:pt idx="256">
                  <c:v>37012</c:v>
                </c:pt>
                <c:pt idx="257">
                  <c:v>37043</c:v>
                </c:pt>
                <c:pt idx="258">
                  <c:v>37073</c:v>
                </c:pt>
                <c:pt idx="259">
                  <c:v>37104</c:v>
                </c:pt>
                <c:pt idx="260">
                  <c:v>37135</c:v>
                </c:pt>
                <c:pt idx="261">
                  <c:v>37165</c:v>
                </c:pt>
                <c:pt idx="262">
                  <c:v>37196</c:v>
                </c:pt>
                <c:pt idx="263">
                  <c:v>37226</c:v>
                </c:pt>
                <c:pt idx="264">
                  <c:v>37257</c:v>
                </c:pt>
                <c:pt idx="265">
                  <c:v>37288</c:v>
                </c:pt>
                <c:pt idx="266">
                  <c:v>37316</c:v>
                </c:pt>
                <c:pt idx="267">
                  <c:v>37347</c:v>
                </c:pt>
                <c:pt idx="268">
                  <c:v>37377</c:v>
                </c:pt>
                <c:pt idx="269">
                  <c:v>37408</c:v>
                </c:pt>
                <c:pt idx="270">
                  <c:v>37438</c:v>
                </c:pt>
                <c:pt idx="271">
                  <c:v>37469</c:v>
                </c:pt>
                <c:pt idx="272">
                  <c:v>37500</c:v>
                </c:pt>
                <c:pt idx="273">
                  <c:v>37530</c:v>
                </c:pt>
                <c:pt idx="274">
                  <c:v>37561</c:v>
                </c:pt>
                <c:pt idx="275">
                  <c:v>37591</c:v>
                </c:pt>
                <c:pt idx="276">
                  <c:v>37622</c:v>
                </c:pt>
                <c:pt idx="277">
                  <c:v>37653</c:v>
                </c:pt>
                <c:pt idx="278">
                  <c:v>37681</c:v>
                </c:pt>
                <c:pt idx="279">
                  <c:v>37712</c:v>
                </c:pt>
                <c:pt idx="280">
                  <c:v>37742</c:v>
                </c:pt>
                <c:pt idx="281">
                  <c:v>37773</c:v>
                </c:pt>
                <c:pt idx="282">
                  <c:v>37803</c:v>
                </c:pt>
                <c:pt idx="283">
                  <c:v>37834</c:v>
                </c:pt>
                <c:pt idx="284">
                  <c:v>37865</c:v>
                </c:pt>
                <c:pt idx="285">
                  <c:v>37895</c:v>
                </c:pt>
                <c:pt idx="286">
                  <c:v>37926</c:v>
                </c:pt>
                <c:pt idx="287">
                  <c:v>37956</c:v>
                </c:pt>
                <c:pt idx="288">
                  <c:v>37987</c:v>
                </c:pt>
                <c:pt idx="289">
                  <c:v>38018</c:v>
                </c:pt>
                <c:pt idx="290">
                  <c:v>38047</c:v>
                </c:pt>
                <c:pt idx="291">
                  <c:v>38078</c:v>
                </c:pt>
                <c:pt idx="292">
                  <c:v>38108</c:v>
                </c:pt>
                <c:pt idx="293">
                  <c:v>38139</c:v>
                </c:pt>
                <c:pt idx="294">
                  <c:v>38169</c:v>
                </c:pt>
                <c:pt idx="295">
                  <c:v>38200</c:v>
                </c:pt>
                <c:pt idx="296">
                  <c:v>38231</c:v>
                </c:pt>
                <c:pt idx="297">
                  <c:v>38261</c:v>
                </c:pt>
                <c:pt idx="298">
                  <c:v>38292</c:v>
                </c:pt>
                <c:pt idx="299">
                  <c:v>38322</c:v>
                </c:pt>
                <c:pt idx="300">
                  <c:v>38353</c:v>
                </c:pt>
                <c:pt idx="301">
                  <c:v>38384</c:v>
                </c:pt>
                <c:pt idx="302">
                  <c:v>38412</c:v>
                </c:pt>
                <c:pt idx="303">
                  <c:v>38443</c:v>
                </c:pt>
                <c:pt idx="304">
                  <c:v>38473</c:v>
                </c:pt>
                <c:pt idx="305">
                  <c:v>38504</c:v>
                </c:pt>
                <c:pt idx="306">
                  <c:v>38534</c:v>
                </c:pt>
                <c:pt idx="307">
                  <c:v>38565</c:v>
                </c:pt>
                <c:pt idx="308">
                  <c:v>38596</c:v>
                </c:pt>
                <c:pt idx="309">
                  <c:v>38626</c:v>
                </c:pt>
                <c:pt idx="310">
                  <c:v>38657</c:v>
                </c:pt>
                <c:pt idx="311">
                  <c:v>38687</c:v>
                </c:pt>
                <c:pt idx="312">
                  <c:v>38718</c:v>
                </c:pt>
                <c:pt idx="313">
                  <c:v>38749</c:v>
                </c:pt>
                <c:pt idx="314">
                  <c:v>38777</c:v>
                </c:pt>
                <c:pt idx="315">
                  <c:v>38808</c:v>
                </c:pt>
                <c:pt idx="316">
                  <c:v>38838</c:v>
                </c:pt>
                <c:pt idx="317">
                  <c:v>38869</c:v>
                </c:pt>
                <c:pt idx="318">
                  <c:v>38899</c:v>
                </c:pt>
                <c:pt idx="319">
                  <c:v>38930</c:v>
                </c:pt>
                <c:pt idx="320">
                  <c:v>38961</c:v>
                </c:pt>
                <c:pt idx="321">
                  <c:v>38991</c:v>
                </c:pt>
                <c:pt idx="322">
                  <c:v>39022</c:v>
                </c:pt>
                <c:pt idx="323">
                  <c:v>39052</c:v>
                </c:pt>
                <c:pt idx="324">
                  <c:v>39083</c:v>
                </c:pt>
                <c:pt idx="325">
                  <c:v>39114</c:v>
                </c:pt>
                <c:pt idx="326">
                  <c:v>39142</c:v>
                </c:pt>
                <c:pt idx="327">
                  <c:v>39173</c:v>
                </c:pt>
                <c:pt idx="328">
                  <c:v>39203</c:v>
                </c:pt>
                <c:pt idx="329">
                  <c:v>39234</c:v>
                </c:pt>
                <c:pt idx="330">
                  <c:v>39264</c:v>
                </c:pt>
                <c:pt idx="331">
                  <c:v>39295</c:v>
                </c:pt>
                <c:pt idx="332">
                  <c:v>39326</c:v>
                </c:pt>
                <c:pt idx="333">
                  <c:v>39356</c:v>
                </c:pt>
                <c:pt idx="334">
                  <c:v>39387</c:v>
                </c:pt>
                <c:pt idx="335">
                  <c:v>39417</c:v>
                </c:pt>
                <c:pt idx="336">
                  <c:v>39448</c:v>
                </c:pt>
                <c:pt idx="337">
                  <c:v>39479</c:v>
                </c:pt>
                <c:pt idx="338">
                  <c:v>39508</c:v>
                </c:pt>
                <c:pt idx="339">
                  <c:v>39539</c:v>
                </c:pt>
                <c:pt idx="340">
                  <c:v>39569</c:v>
                </c:pt>
                <c:pt idx="341">
                  <c:v>39600</c:v>
                </c:pt>
                <c:pt idx="342">
                  <c:v>39630</c:v>
                </c:pt>
                <c:pt idx="343">
                  <c:v>39661</c:v>
                </c:pt>
                <c:pt idx="344">
                  <c:v>39692</c:v>
                </c:pt>
                <c:pt idx="345">
                  <c:v>39722</c:v>
                </c:pt>
                <c:pt idx="346">
                  <c:v>39753</c:v>
                </c:pt>
                <c:pt idx="347">
                  <c:v>39783</c:v>
                </c:pt>
                <c:pt idx="348">
                  <c:v>39814</c:v>
                </c:pt>
                <c:pt idx="349">
                  <c:v>39845</c:v>
                </c:pt>
                <c:pt idx="350">
                  <c:v>39873</c:v>
                </c:pt>
                <c:pt idx="351">
                  <c:v>39904</c:v>
                </c:pt>
                <c:pt idx="352">
                  <c:v>39934</c:v>
                </c:pt>
                <c:pt idx="353">
                  <c:v>39965</c:v>
                </c:pt>
                <c:pt idx="354">
                  <c:v>39995</c:v>
                </c:pt>
                <c:pt idx="355">
                  <c:v>40026</c:v>
                </c:pt>
                <c:pt idx="356">
                  <c:v>40057</c:v>
                </c:pt>
                <c:pt idx="357">
                  <c:v>40087</c:v>
                </c:pt>
                <c:pt idx="358">
                  <c:v>40118</c:v>
                </c:pt>
                <c:pt idx="359">
                  <c:v>40148</c:v>
                </c:pt>
                <c:pt idx="360">
                  <c:v>40179</c:v>
                </c:pt>
                <c:pt idx="361">
                  <c:v>40210</c:v>
                </c:pt>
                <c:pt idx="362">
                  <c:v>40238</c:v>
                </c:pt>
                <c:pt idx="363">
                  <c:v>40269</c:v>
                </c:pt>
                <c:pt idx="364">
                  <c:v>40299</c:v>
                </c:pt>
                <c:pt idx="365">
                  <c:v>40330</c:v>
                </c:pt>
                <c:pt idx="366">
                  <c:v>40360</c:v>
                </c:pt>
                <c:pt idx="367">
                  <c:v>40391</c:v>
                </c:pt>
                <c:pt idx="368">
                  <c:v>40422</c:v>
                </c:pt>
                <c:pt idx="369">
                  <c:v>40452</c:v>
                </c:pt>
                <c:pt idx="370">
                  <c:v>40483</c:v>
                </c:pt>
                <c:pt idx="371">
                  <c:v>40513</c:v>
                </c:pt>
                <c:pt idx="372">
                  <c:v>40544</c:v>
                </c:pt>
                <c:pt idx="373">
                  <c:v>40575</c:v>
                </c:pt>
                <c:pt idx="374">
                  <c:v>40603</c:v>
                </c:pt>
                <c:pt idx="375">
                  <c:v>40634</c:v>
                </c:pt>
                <c:pt idx="376">
                  <c:v>40664</c:v>
                </c:pt>
                <c:pt idx="377">
                  <c:v>40695</c:v>
                </c:pt>
                <c:pt idx="378">
                  <c:v>40725</c:v>
                </c:pt>
                <c:pt idx="379">
                  <c:v>40756</c:v>
                </c:pt>
                <c:pt idx="380">
                  <c:v>40787</c:v>
                </c:pt>
                <c:pt idx="381">
                  <c:v>40817</c:v>
                </c:pt>
                <c:pt idx="382">
                  <c:v>40848</c:v>
                </c:pt>
                <c:pt idx="383">
                  <c:v>40878</c:v>
                </c:pt>
                <c:pt idx="384">
                  <c:v>40909</c:v>
                </c:pt>
                <c:pt idx="385">
                  <c:v>40940</c:v>
                </c:pt>
                <c:pt idx="386">
                  <c:v>40969</c:v>
                </c:pt>
                <c:pt idx="387">
                  <c:v>41000</c:v>
                </c:pt>
                <c:pt idx="388">
                  <c:v>41030</c:v>
                </c:pt>
                <c:pt idx="389">
                  <c:v>41061</c:v>
                </c:pt>
                <c:pt idx="390">
                  <c:v>41091</c:v>
                </c:pt>
                <c:pt idx="391">
                  <c:v>41122</c:v>
                </c:pt>
                <c:pt idx="392">
                  <c:v>41153</c:v>
                </c:pt>
                <c:pt idx="393">
                  <c:v>41183</c:v>
                </c:pt>
                <c:pt idx="394">
                  <c:v>41214</c:v>
                </c:pt>
                <c:pt idx="395">
                  <c:v>41244</c:v>
                </c:pt>
                <c:pt idx="396">
                  <c:v>41275</c:v>
                </c:pt>
                <c:pt idx="397">
                  <c:v>41306</c:v>
                </c:pt>
                <c:pt idx="398">
                  <c:v>41334</c:v>
                </c:pt>
                <c:pt idx="399">
                  <c:v>41365</c:v>
                </c:pt>
                <c:pt idx="400">
                  <c:v>41395</c:v>
                </c:pt>
                <c:pt idx="401">
                  <c:v>41426</c:v>
                </c:pt>
                <c:pt idx="402">
                  <c:v>41456</c:v>
                </c:pt>
                <c:pt idx="403">
                  <c:v>41487</c:v>
                </c:pt>
                <c:pt idx="404">
                  <c:v>41518</c:v>
                </c:pt>
                <c:pt idx="405">
                  <c:v>41548</c:v>
                </c:pt>
                <c:pt idx="406">
                  <c:v>41579</c:v>
                </c:pt>
                <c:pt idx="407">
                  <c:v>41609</c:v>
                </c:pt>
                <c:pt idx="408">
                  <c:v>41640</c:v>
                </c:pt>
                <c:pt idx="409">
                  <c:v>41671</c:v>
                </c:pt>
                <c:pt idx="410">
                  <c:v>41699</c:v>
                </c:pt>
                <c:pt idx="411">
                  <c:v>41730</c:v>
                </c:pt>
                <c:pt idx="412">
                  <c:v>41760</c:v>
                </c:pt>
                <c:pt idx="413">
                  <c:v>41791</c:v>
                </c:pt>
                <c:pt idx="414">
                  <c:v>41821</c:v>
                </c:pt>
                <c:pt idx="415">
                  <c:v>41852</c:v>
                </c:pt>
                <c:pt idx="416">
                  <c:v>41883</c:v>
                </c:pt>
                <c:pt idx="417">
                  <c:v>41913</c:v>
                </c:pt>
                <c:pt idx="418">
                  <c:v>41944</c:v>
                </c:pt>
                <c:pt idx="419">
                  <c:v>41974</c:v>
                </c:pt>
                <c:pt idx="420">
                  <c:v>42005</c:v>
                </c:pt>
                <c:pt idx="421">
                  <c:v>42036</c:v>
                </c:pt>
                <c:pt idx="422">
                  <c:v>42064</c:v>
                </c:pt>
                <c:pt idx="423">
                  <c:v>42095</c:v>
                </c:pt>
                <c:pt idx="424">
                  <c:v>42125</c:v>
                </c:pt>
                <c:pt idx="425">
                  <c:v>42156</c:v>
                </c:pt>
                <c:pt idx="426">
                  <c:v>42186</c:v>
                </c:pt>
                <c:pt idx="427">
                  <c:v>42217</c:v>
                </c:pt>
                <c:pt idx="428">
                  <c:v>42248</c:v>
                </c:pt>
                <c:pt idx="429">
                  <c:v>42278</c:v>
                </c:pt>
                <c:pt idx="430">
                  <c:v>42309</c:v>
                </c:pt>
                <c:pt idx="431">
                  <c:v>42339</c:v>
                </c:pt>
                <c:pt idx="432">
                  <c:v>42370</c:v>
                </c:pt>
                <c:pt idx="433">
                  <c:v>42401</c:v>
                </c:pt>
                <c:pt idx="434">
                  <c:v>42430</c:v>
                </c:pt>
                <c:pt idx="435">
                  <c:v>42461</c:v>
                </c:pt>
                <c:pt idx="436">
                  <c:v>42491</c:v>
                </c:pt>
                <c:pt idx="437">
                  <c:v>42522</c:v>
                </c:pt>
                <c:pt idx="438">
                  <c:v>42552</c:v>
                </c:pt>
                <c:pt idx="439">
                  <c:v>42583</c:v>
                </c:pt>
                <c:pt idx="440">
                  <c:v>42614</c:v>
                </c:pt>
                <c:pt idx="441">
                  <c:v>42644</c:v>
                </c:pt>
                <c:pt idx="442">
                  <c:v>42675</c:v>
                </c:pt>
                <c:pt idx="443">
                  <c:v>42705</c:v>
                </c:pt>
                <c:pt idx="444">
                  <c:v>42736</c:v>
                </c:pt>
                <c:pt idx="445">
                  <c:v>42767</c:v>
                </c:pt>
                <c:pt idx="446">
                  <c:v>42795</c:v>
                </c:pt>
                <c:pt idx="447">
                  <c:v>42826</c:v>
                </c:pt>
                <c:pt idx="448">
                  <c:v>42856</c:v>
                </c:pt>
                <c:pt idx="449">
                  <c:v>42887</c:v>
                </c:pt>
                <c:pt idx="450">
                  <c:v>42917</c:v>
                </c:pt>
                <c:pt idx="451">
                  <c:v>42948</c:v>
                </c:pt>
                <c:pt idx="452">
                  <c:v>42979</c:v>
                </c:pt>
                <c:pt idx="453">
                  <c:v>43009</c:v>
                </c:pt>
                <c:pt idx="454">
                  <c:v>43040</c:v>
                </c:pt>
                <c:pt idx="455">
                  <c:v>43070</c:v>
                </c:pt>
                <c:pt idx="456">
                  <c:v>43101</c:v>
                </c:pt>
                <c:pt idx="457">
                  <c:v>43132</c:v>
                </c:pt>
                <c:pt idx="458">
                  <c:v>43160</c:v>
                </c:pt>
                <c:pt idx="459">
                  <c:v>43191</c:v>
                </c:pt>
                <c:pt idx="460">
                  <c:v>43221</c:v>
                </c:pt>
                <c:pt idx="461">
                  <c:v>43252</c:v>
                </c:pt>
                <c:pt idx="462">
                  <c:v>43282</c:v>
                </c:pt>
                <c:pt idx="463">
                  <c:v>43313</c:v>
                </c:pt>
                <c:pt idx="464">
                  <c:v>43344</c:v>
                </c:pt>
                <c:pt idx="465">
                  <c:v>43374</c:v>
                </c:pt>
                <c:pt idx="466">
                  <c:v>43405</c:v>
                </c:pt>
                <c:pt idx="467">
                  <c:v>43435</c:v>
                </c:pt>
                <c:pt idx="468">
                  <c:v>43466</c:v>
                </c:pt>
                <c:pt idx="469">
                  <c:v>43497</c:v>
                </c:pt>
                <c:pt idx="470">
                  <c:v>43525</c:v>
                </c:pt>
                <c:pt idx="471">
                  <c:v>43556</c:v>
                </c:pt>
                <c:pt idx="472">
                  <c:v>43586</c:v>
                </c:pt>
                <c:pt idx="473">
                  <c:v>43617</c:v>
                </c:pt>
                <c:pt idx="474">
                  <c:v>43647</c:v>
                </c:pt>
                <c:pt idx="475">
                  <c:v>43678</c:v>
                </c:pt>
                <c:pt idx="476">
                  <c:v>43709</c:v>
                </c:pt>
                <c:pt idx="477">
                  <c:v>43739</c:v>
                </c:pt>
                <c:pt idx="478">
                  <c:v>43770</c:v>
                </c:pt>
                <c:pt idx="479">
                  <c:v>43800</c:v>
                </c:pt>
                <c:pt idx="480">
                  <c:v>43831</c:v>
                </c:pt>
                <c:pt idx="481">
                  <c:v>43862</c:v>
                </c:pt>
                <c:pt idx="482">
                  <c:v>43891</c:v>
                </c:pt>
                <c:pt idx="483">
                  <c:v>43922</c:v>
                </c:pt>
                <c:pt idx="484">
                  <c:v>43952</c:v>
                </c:pt>
                <c:pt idx="485">
                  <c:v>43983</c:v>
                </c:pt>
                <c:pt idx="486">
                  <c:v>44013</c:v>
                </c:pt>
                <c:pt idx="487">
                  <c:v>44044</c:v>
                </c:pt>
                <c:pt idx="488">
                  <c:v>44075</c:v>
                </c:pt>
                <c:pt idx="489">
                  <c:v>44105</c:v>
                </c:pt>
                <c:pt idx="490">
                  <c:v>44136</c:v>
                </c:pt>
                <c:pt idx="491">
                  <c:v>44166</c:v>
                </c:pt>
                <c:pt idx="492">
                  <c:v>44197</c:v>
                </c:pt>
                <c:pt idx="493">
                  <c:v>44228</c:v>
                </c:pt>
                <c:pt idx="494">
                  <c:v>44256</c:v>
                </c:pt>
                <c:pt idx="495">
                  <c:v>44287</c:v>
                </c:pt>
                <c:pt idx="496">
                  <c:v>44317</c:v>
                </c:pt>
                <c:pt idx="497">
                  <c:v>44348</c:v>
                </c:pt>
                <c:pt idx="498">
                  <c:v>44378</c:v>
                </c:pt>
                <c:pt idx="499">
                  <c:v>44409</c:v>
                </c:pt>
                <c:pt idx="500">
                  <c:v>44440</c:v>
                </c:pt>
                <c:pt idx="501">
                  <c:v>44470</c:v>
                </c:pt>
                <c:pt idx="502">
                  <c:v>44501</c:v>
                </c:pt>
                <c:pt idx="503">
                  <c:v>44531</c:v>
                </c:pt>
                <c:pt idx="504">
                  <c:v>44562</c:v>
                </c:pt>
                <c:pt idx="505">
                  <c:v>44593</c:v>
                </c:pt>
                <c:pt idx="506">
                  <c:v>44621</c:v>
                </c:pt>
                <c:pt idx="507">
                  <c:v>44652</c:v>
                </c:pt>
                <c:pt idx="508">
                  <c:v>44682</c:v>
                </c:pt>
                <c:pt idx="509">
                  <c:v>44713</c:v>
                </c:pt>
                <c:pt idx="510">
                  <c:v>44743</c:v>
                </c:pt>
                <c:pt idx="511">
                  <c:v>44774</c:v>
                </c:pt>
                <c:pt idx="512">
                  <c:v>44805</c:v>
                </c:pt>
                <c:pt idx="513">
                  <c:v>44835</c:v>
                </c:pt>
              </c:numCache>
            </c:numRef>
          </c:cat>
          <c:val>
            <c:numRef>
              <c:f>Sheet1!$F$2:$F$516</c:f>
              <c:numCache>
                <c:formatCode>0.000</c:formatCode>
                <c:ptCount val="515"/>
                <c:pt idx="0">
                  <c:v>92.963200000000001</c:v>
                </c:pt>
                <c:pt idx="1">
                  <c:v>94.811899999999994</c:v>
                </c:pt>
                <c:pt idx="2">
                  <c:v>95.013099999999994</c:v>
                </c:pt>
                <c:pt idx="3">
                  <c:v>95.996200000000002</c:v>
                </c:pt>
                <c:pt idx="4">
                  <c:v>96.721400000000003</c:v>
                </c:pt>
                <c:pt idx="5">
                  <c:v>97.031700000000001</c:v>
                </c:pt>
                <c:pt idx="6">
                  <c:v>97.971199999999996</c:v>
                </c:pt>
                <c:pt idx="7">
                  <c:v>99.450400000000002</c:v>
                </c:pt>
                <c:pt idx="8">
                  <c:v>100.4863</c:v>
                </c:pt>
                <c:pt idx="9">
                  <c:v>102.3965</c:v>
                </c:pt>
                <c:pt idx="10">
                  <c:v>104.3974</c:v>
                </c:pt>
                <c:pt idx="11">
                  <c:v>104.1883</c:v>
                </c:pt>
                <c:pt idx="12">
                  <c:v>107.82040000000001</c:v>
                </c:pt>
                <c:pt idx="13">
                  <c:v>107.5177</c:v>
                </c:pt>
                <c:pt idx="14">
                  <c:v>104.35599999999999</c:v>
                </c:pt>
                <c:pt idx="15">
                  <c:v>103.8548</c:v>
                </c:pt>
                <c:pt idx="16">
                  <c:v>103.583</c:v>
                </c:pt>
                <c:pt idx="17">
                  <c:v>100.29430000000001</c:v>
                </c:pt>
                <c:pt idx="18">
                  <c:v>97.131600000000006</c:v>
                </c:pt>
                <c:pt idx="19">
                  <c:v>96.045100000000005</c:v>
                </c:pt>
                <c:pt idx="20">
                  <c:v>92.677099999999996</c:v>
                </c:pt>
                <c:pt idx="21">
                  <c:v>92.631200000000007</c:v>
                </c:pt>
                <c:pt idx="22">
                  <c:v>94.703500000000005</c:v>
                </c:pt>
                <c:pt idx="23">
                  <c:v>95.536000000000001</c:v>
                </c:pt>
                <c:pt idx="24">
                  <c:v>96.006900000000002</c:v>
                </c:pt>
                <c:pt idx="25">
                  <c:v>96.338399999999993</c:v>
                </c:pt>
                <c:pt idx="26">
                  <c:v>95.585599999999999</c:v>
                </c:pt>
                <c:pt idx="27">
                  <c:v>94.627499999999998</c:v>
                </c:pt>
                <c:pt idx="28">
                  <c:v>94.691299999999998</c:v>
                </c:pt>
                <c:pt idx="29">
                  <c:v>95.809700000000007</c:v>
                </c:pt>
                <c:pt idx="30">
                  <c:v>96.097899999999996</c:v>
                </c:pt>
                <c:pt idx="31">
                  <c:v>96.291600000000003</c:v>
                </c:pt>
                <c:pt idx="32">
                  <c:v>96.516300000000001</c:v>
                </c:pt>
                <c:pt idx="33">
                  <c:v>97.35</c:v>
                </c:pt>
                <c:pt idx="34">
                  <c:v>94.485799999999998</c:v>
                </c:pt>
                <c:pt idx="35">
                  <c:v>90.712199999999996</c:v>
                </c:pt>
                <c:pt idx="36">
                  <c:v>87.400899999999993</c:v>
                </c:pt>
                <c:pt idx="37">
                  <c:v>85.927000000000007</c:v>
                </c:pt>
                <c:pt idx="38">
                  <c:v>84.156599999999997</c:v>
                </c:pt>
                <c:pt idx="39">
                  <c:v>88.215699999999998</c:v>
                </c:pt>
                <c:pt idx="40">
                  <c:v>90.537400000000005</c:v>
                </c:pt>
                <c:pt idx="41">
                  <c:v>91.038200000000003</c:v>
                </c:pt>
                <c:pt idx="42">
                  <c:v>90.829899999999995</c:v>
                </c:pt>
                <c:pt idx="43">
                  <c:v>91.287099999999995</c:v>
                </c:pt>
                <c:pt idx="44">
                  <c:v>91.290099999999995</c:v>
                </c:pt>
                <c:pt idx="45">
                  <c:v>90.141900000000007</c:v>
                </c:pt>
                <c:pt idx="46">
                  <c:v>90.577799999999996</c:v>
                </c:pt>
                <c:pt idx="47">
                  <c:v>89.379000000000005</c:v>
                </c:pt>
                <c:pt idx="48">
                  <c:v>89.072400000000002</c:v>
                </c:pt>
                <c:pt idx="49">
                  <c:v>89.333600000000004</c:v>
                </c:pt>
                <c:pt idx="50">
                  <c:v>88.225300000000004</c:v>
                </c:pt>
                <c:pt idx="51">
                  <c:v>87.188299999999998</c:v>
                </c:pt>
                <c:pt idx="52">
                  <c:v>87.370599999999996</c:v>
                </c:pt>
                <c:pt idx="53">
                  <c:v>86.811000000000007</c:v>
                </c:pt>
                <c:pt idx="54">
                  <c:v>85.941000000000003</c:v>
                </c:pt>
                <c:pt idx="55">
                  <c:v>86.201400000000007</c:v>
                </c:pt>
                <c:pt idx="56">
                  <c:v>85.151300000000006</c:v>
                </c:pt>
                <c:pt idx="57">
                  <c:v>83.559899999999999</c:v>
                </c:pt>
                <c:pt idx="58">
                  <c:v>83.800700000000006</c:v>
                </c:pt>
                <c:pt idx="59">
                  <c:v>82.053700000000006</c:v>
                </c:pt>
                <c:pt idx="60">
                  <c:v>79.452200000000005</c:v>
                </c:pt>
                <c:pt idx="61">
                  <c:v>79.194999999999993</c:v>
                </c:pt>
                <c:pt idx="62">
                  <c:v>81.659599999999998</c:v>
                </c:pt>
                <c:pt idx="63">
                  <c:v>86.725499999999997</c:v>
                </c:pt>
                <c:pt idx="64">
                  <c:v>87.817300000000003</c:v>
                </c:pt>
                <c:pt idx="65">
                  <c:v>89.359499999999997</c:v>
                </c:pt>
                <c:pt idx="66">
                  <c:v>93.191000000000003</c:v>
                </c:pt>
                <c:pt idx="67">
                  <c:v>91.811300000000003</c:v>
                </c:pt>
                <c:pt idx="68">
                  <c:v>91.709199999999996</c:v>
                </c:pt>
                <c:pt idx="69">
                  <c:v>91.475200000000001</c:v>
                </c:pt>
                <c:pt idx="70">
                  <c:v>91.541700000000006</c:v>
                </c:pt>
                <c:pt idx="71">
                  <c:v>90.526899999999998</c:v>
                </c:pt>
                <c:pt idx="72">
                  <c:v>87.741900000000001</c:v>
                </c:pt>
                <c:pt idx="73">
                  <c:v>85.204599999999999</c:v>
                </c:pt>
                <c:pt idx="74">
                  <c:v>85.993799999999993</c:v>
                </c:pt>
                <c:pt idx="75">
                  <c:v>88.012100000000004</c:v>
                </c:pt>
                <c:pt idx="76">
                  <c:v>88.276700000000005</c:v>
                </c:pt>
                <c:pt idx="77">
                  <c:v>88.176599999999993</c:v>
                </c:pt>
                <c:pt idx="78">
                  <c:v>86.378500000000003</c:v>
                </c:pt>
                <c:pt idx="79">
                  <c:v>83.455600000000004</c:v>
                </c:pt>
                <c:pt idx="80">
                  <c:v>82.129000000000005</c:v>
                </c:pt>
                <c:pt idx="81">
                  <c:v>79.086600000000004</c:v>
                </c:pt>
                <c:pt idx="82">
                  <c:v>79.739599999999996</c:v>
                </c:pt>
                <c:pt idx="83">
                  <c:v>79.678399999999996</c:v>
                </c:pt>
                <c:pt idx="84">
                  <c:v>80.140199999999993</c:v>
                </c:pt>
                <c:pt idx="85">
                  <c:v>80.311999999999998</c:v>
                </c:pt>
                <c:pt idx="86">
                  <c:v>83.563599999999994</c:v>
                </c:pt>
                <c:pt idx="87">
                  <c:v>84.335599999999999</c:v>
                </c:pt>
                <c:pt idx="88">
                  <c:v>85.475800000000007</c:v>
                </c:pt>
                <c:pt idx="89">
                  <c:v>84.629000000000005</c:v>
                </c:pt>
                <c:pt idx="90">
                  <c:v>84.640299999999996</c:v>
                </c:pt>
                <c:pt idx="91">
                  <c:v>84.238699999999994</c:v>
                </c:pt>
                <c:pt idx="92">
                  <c:v>85.137299999999996</c:v>
                </c:pt>
                <c:pt idx="93">
                  <c:v>85.677999999999997</c:v>
                </c:pt>
                <c:pt idx="94">
                  <c:v>87.825999999999993</c:v>
                </c:pt>
                <c:pt idx="95">
                  <c:v>88.353099999999998</c:v>
                </c:pt>
                <c:pt idx="96">
                  <c:v>87.580699999999993</c:v>
                </c:pt>
                <c:pt idx="97">
                  <c:v>86.843000000000004</c:v>
                </c:pt>
                <c:pt idx="98">
                  <c:v>89.721000000000004</c:v>
                </c:pt>
                <c:pt idx="99">
                  <c:v>91.636899999999997</c:v>
                </c:pt>
                <c:pt idx="100">
                  <c:v>91.790700000000001</c:v>
                </c:pt>
                <c:pt idx="101">
                  <c:v>89.393000000000001</c:v>
                </c:pt>
                <c:pt idx="102">
                  <c:v>88.805700000000002</c:v>
                </c:pt>
                <c:pt idx="103">
                  <c:v>89.909499999999994</c:v>
                </c:pt>
                <c:pt idx="104">
                  <c:v>88.932299999999998</c:v>
                </c:pt>
                <c:pt idx="105">
                  <c:v>90.029399999999995</c:v>
                </c:pt>
                <c:pt idx="106">
                  <c:v>91.071100000000001</c:v>
                </c:pt>
                <c:pt idx="107">
                  <c:v>92.0184</c:v>
                </c:pt>
                <c:pt idx="108">
                  <c:v>91.929699999999997</c:v>
                </c:pt>
                <c:pt idx="109">
                  <c:v>91.412700000000001</c:v>
                </c:pt>
                <c:pt idx="110">
                  <c:v>90.103499999999997</c:v>
                </c:pt>
                <c:pt idx="111">
                  <c:v>89.578800000000001</c:v>
                </c:pt>
                <c:pt idx="112">
                  <c:v>88.250900000000001</c:v>
                </c:pt>
                <c:pt idx="113">
                  <c:v>85.393000000000001</c:v>
                </c:pt>
                <c:pt idx="114">
                  <c:v>86.688800000000001</c:v>
                </c:pt>
                <c:pt idx="115">
                  <c:v>86.023099999999999</c:v>
                </c:pt>
                <c:pt idx="116">
                  <c:v>85.536699999999996</c:v>
                </c:pt>
                <c:pt idx="117">
                  <c:v>84.337599999999995</c:v>
                </c:pt>
                <c:pt idx="118">
                  <c:v>82.706699999999998</c:v>
                </c:pt>
                <c:pt idx="119">
                  <c:v>81.680499999999995</c:v>
                </c:pt>
                <c:pt idx="120">
                  <c:v>83.104699999999994</c:v>
                </c:pt>
                <c:pt idx="121">
                  <c:v>84.844899999999996</c:v>
                </c:pt>
                <c:pt idx="122">
                  <c:v>82.418300000000002</c:v>
                </c:pt>
                <c:pt idx="123">
                  <c:v>82.626999999999995</c:v>
                </c:pt>
                <c:pt idx="124">
                  <c:v>83.653899999999993</c:v>
                </c:pt>
                <c:pt idx="125">
                  <c:v>85.809899999999999</c:v>
                </c:pt>
                <c:pt idx="126">
                  <c:v>88.919799999999995</c:v>
                </c:pt>
                <c:pt idx="127">
                  <c:v>90.881</c:v>
                </c:pt>
                <c:pt idx="128">
                  <c:v>89.638599999999997</c:v>
                </c:pt>
                <c:pt idx="129">
                  <c:v>90.7744</c:v>
                </c:pt>
                <c:pt idx="130">
                  <c:v>90.293599999999998</c:v>
                </c:pt>
                <c:pt idx="131">
                  <c:v>89.343100000000007</c:v>
                </c:pt>
                <c:pt idx="132">
                  <c:v>90.172300000000007</c:v>
                </c:pt>
                <c:pt idx="133">
                  <c:v>90.311199999999999</c:v>
                </c:pt>
                <c:pt idx="134">
                  <c:v>88.799199999999999</c:v>
                </c:pt>
                <c:pt idx="135">
                  <c:v>88.170400000000001</c:v>
                </c:pt>
                <c:pt idx="136">
                  <c:v>87.587599999999995</c:v>
                </c:pt>
                <c:pt idx="137">
                  <c:v>86.051299999999998</c:v>
                </c:pt>
                <c:pt idx="138">
                  <c:v>86.287199999999999</c:v>
                </c:pt>
                <c:pt idx="139">
                  <c:v>86.74</c:v>
                </c:pt>
                <c:pt idx="140">
                  <c:v>87.1494</c:v>
                </c:pt>
                <c:pt idx="141">
                  <c:v>86.758600000000001</c:v>
                </c:pt>
                <c:pt idx="142">
                  <c:v>87.374600000000001</c:v>
                </c:pt>
                <c:pt idx="143">
                  <c:v>87.754800000000003</c:v>
                </c:pt>
                <c:pt idx="144">
                  <c:v>87.320700000000002</c:v>
                </c:pt>
                <c:pt idx="145">
                  <c:v>87.311099999999996</c:v>
                </c:pt>
                <c:pt idx="146">
                  <c:v>86.536600000000007</c:v>
                </c:pt>
                <c:pt idx="147">
                  <c:v>87.747</c:v>
                </c:pt>
                <c:pt idx="148">
                  <c:v>89.244100000000003</c:v>
                </c:pt>
                <c:pt idx="149">
                  <c:v>89.582700000000003</c:v>
                </c:pt>
                <c:pt idx="150">
                  <c:v>89.685900000000004</c:v>
                </c:pt>
                <c:pt idx="151">
                  <c:v>89.366200000000006</c:v>
                </c:pt>
                <c:pt idx="152">
                  <c:v>85.775800000000004</c:v>
                </c:pt>
                <c:pt idx="153">
                  <c:v>78.619</c:v>
                </c:pt>
                <c:pt idx="154">
                  <c:v>75.961600000000004</c:v>
                </c:pt>
                <c:pt idx="155">
                  <c:v>77.628699999999995</c:v>
                </c:pt>
                <c:pt idx="156">
                  <c:v>78.015299999999996</c:v>
                </c:pt>
                <c:pt idx="157">
                  <c:v>74.301400000000001</c:v>
                </c:pt>
                <c:pt idx="158">
                  <c:v>75.640299999999996</c:v>
                </c:pt>
                <c:pt idx="159">
                  <c:v>78.133399999999995</c:v>
                </c:pt>
                <c:pt idx="160">
                  <c:v>78.322299999999998</c:v>
                </c:pt>
                <c:pt idx="161">
                  <c:v>77.602900000000005</c:v>
                </c:pt>
                <c:pt idx="162">
                  <c:v>79.189300000000003</c:v>
                </c:pt>
                <c:pt idx="163">
                  <c:v>79.061999999999998</c:v>
                </c:pt>
                <c:pt idx="164">
                  <c:v>79.005099999999999</c:v>
                </c:pt>
                <c:pt idx="165">
                  <c:v>78.486099999999993</c:v>
                </c:pt>
                <c:pt idx="166">
                  <c:v>78.941199999999995</c:v>
                </c:pt>
                <c:pt idx="167">
                  <c:v>79.620199999999997</c:v>
                </c:pt>
                <c:pt idx="168">
                  <c:v>80.844700000000003</c:v>
                </c:pt>
                <c:pt idx="169">
                  <c:v>79.679400000000001</c:v>
                </c:pt>
                <c:pt idx="170">
                  <c:v>79.503100000000003</c:v>
                </c:pt>
                <c:pt idx="171">
                  <c:v>79.195999999999998</c:v>
                </c:pt>
                <c:pt idx="172">
                  <c:v>79.256500000000003</c:v>
                </c:pt>
                <c:pt idx="173">
                  <c:v>79.551000000000002</c:v>
                </c:pt>
                <c:pt idx="174">
                  <c:v>78.811300000000003</c:v>
                </c:pt>
                <c:pt idx="175">
                  <c:v>78.630899999999997</c:v>
                </c:pt>
                <c:pt idx="176">
                  <c:v>79.099900000000005</c:v>
                </c:pt>
                <c:pt idx="177">
                  <c:v>80.136300000000006</c:v>
                </c:pt>
                <c:pt idx="178">
                  <c:v>79.940899999999999</c:v>
                </c:pt>
                <c:pt idx="179">
                  <c:v>79.656999999999996</c:v>
                </c:pt>
                <c:pt idx="180">
                  <c:v>79.463899999999995</c:v>
                </c:pt>
                <c:pt idx="181">
                  <c:v>78.583100000000002</c:v>
                </c:pt>
                <c:pt idx="182">
                  <c:v>77.362499999999997</c:v>
                </c:pt>
                <c:pt idx="183">
                  <c:v>76.355900000000005</c:v>
                </c:pt>
                <c:pt idx="184">
                  <c:v>76.096999999999994</c:v>
                </c:pt>
                <c:pt idx="185">
                  <c:v>76.033799999999999</c:v>
                </c:pt>
                <c:pt idx="186">
                  <c:v>75.723799999999997</c:v>
                </c:pt>
                <c:pt idx="187">
                  <c:v>76.256299999999996</c:v>
                </c:pt>
                <c:pt idx="188">
                  <c:v>76.630600000000001</c:v>
                </c:pt>
                <c:pt idx="189">
                  <c:v>76.422300000000007</c:v>
                </c:pt>
                <c:pt idx="190">
                  <c:v>75.647300000000001</c:v>
                </c:pt>
                <c:pt idx="191">
                  <c:v>75.242999999999995</c:v>
                </c:pt>
                <c:pt idx="192">
                  <c:v>75.502200000000002</c:v>
                </c:pt>
                <c:pt idx="193">
                  <c:v>76.041899999999998</c:v>
                </c:pt>
                <c:pt idx="194">
                  <c:v>75.759900000000002</c:v>
                </c:pt>
                <c:pt idx="195">
                  <c:v>75.864999999999995</c:v>
                </c:pt>
                <c:pt idx="196">
                  <c:v>76.537400000000005</c:v>
                </c:pt>
                <c:pt idx="197">
                  <c:v>77.902199999999993</c:v>
                </c:pt>
                <c:pt idx="198">
                  <c:v>77.877600000000001</c:v>
                </c:pt>
                <c:pt idx="199">
                  <c:v>77.159300000000002</c:v>
                </c:pt>
                <c:pt idx="200">
                  <c:v>78.293099999999995</c:v>
                </c:pt>
                <c:pt idx="201">
                  <c:v>80.282399999999996</c:v>
                </c:pt>
                <c:pt idx="202">
                  <c:v>83.652500000000003</c:v>
                </c:pt>
                <c:pt idx="203">
                  <c:v>85.157399999999996</c:v>
                </c:pt>
                <c:pt idx="204">
                  <c:v>86.636200000000002</c:v>
                </c:pt>
                <c:pt idx="205">
                  <c:v>87.455299999999994</c:v>
                </c:pt>
                <c:pt idx="206">
                  <c:v>87.363299999999995</c:v>
                </c:pt>
                <c:pt idx="207">
                  <c:v>89.134299999999996</c:v>
                </c:pt>
                <c:pt idx="208">
                  <c:v>88.966200000000001</c:v>
                </c:pt>
                <c:pt idx="209">
                  <c:v>90.076400000000007</c:v>
                </c:pt>
                <c:pt idx="210">
                  <c:v>93.531000000000006</c:v>
                </c:pt>
                <c:pt idx="211">
                  <c:v>91.673599999999993</c:v>
                </c:pt>
                <c:pt idx="212">
                  <c:v>90.456400000000002</c:v>
                </c:pt>
                <c:pt idx="213">
                  <c:v>91.705299999999994</c:v>
                </c:pt>
                <c:pt idx="214">
                  <c:v>94.646500000000003</c:v>
                </c:pt>
                <c:pt idx="215">
                  <c:v>95.905900000000003</c:v>
                </c:pt>
                <c:pt idx="216">
                  <c:v>96.911299999999997</c:v>
                </c:pt>
                <c:pt idx="217">
                  <c:v>96.569299999999998</c:v>
                </c:pt>
                <c:pt idx="218">
                  <c:v>98.228300000000004</c:v>
                </c:pt>
                <c:pt idx="219">
                  <c:v>98.458399999999997</c:v>
                </c:pt>
                <c:pt idx="220">
                  <c:v>95.653300000000002</c:v>
                </c:pt>
                <c:pt idx="221">
                  <c:v>97.780699999999996</c:v>
                </c:pt>
                <c:pt idx="222">
                  <c:v>97.701499999999996</c:v>
                </c:pt>
                <c:pt idx="223">
                  <c:v>97.337999999999994</c:v>
                </c:pt>
                <c:pt idx="224">
                  <c:v>97.289100000000005</c:v>
                </c:pt>
                <c:pt idx="225">
                  <c:v>95.150800000000004</c:v>
                </c:pt>
                <c:pt idx="226">
                  <c:v>94.831199999999995</c:v>
                </c:pt>
                <c:pt idx="227">
                  <c:v>94.953599999999994</c:v>
                </c:pt>
                <c:pt idx="228">
                  <c:v>94.266400000000004</c:v>
                </c:pt>
                <c:pt idx="229">
                  <c:v>95.195499999999996</c:v>
                </c:pt>
                <c:pt idx="230">
                  <c:v>96.8155</c:v>
                </c:pt>
                <c:pt idx="231">
                  <c:v>96.848799999999997</c:v>
                </c:pt>
                <c:pt idx="232">
                  <c:v>97.6023</c:v>
                </c:pt>
                <c:pt idx="233">
                  <c:v>97.586100000000002</c:v>
                </c:pt>
                <c:pt idx="234">
                  <c:v>96.457099999999997</c:v>
                </c:pt>
                <c:pt idx="235">
                  <c:v>96.869100000000003</c:v>
                </c:pt>
                <c:pt idx="236">
                  <c:v>98.147499999999994</c:v>
                </c:pt>
                <c:pt idx="237">
                  <c:v>99.094700000000003</c:v>
                </c:pt>
                <c:pt idx="238">
                  <c:v>98.977999999999994</c:v>
                </c:pt>
                <c:pt idx="239">
                  <c:v>99.561199999999999</c:v>
                </c:pt>
                <c:pt idx="240">
                  <c:v>101.13890000000001</c:v>
                </c:pt>
                <c:pt idx="241">
                  <c:v>100.724</c:v>
                </c:pt>
                <c:pt idx="242">
                  <c:v>100.48439999999999</c:v>
                </c:pt>
                <c:pt idx="243">
                  <c:v>101.8437</c:v>
                </c:pt>
                <c:pt idx="244">
                  <c:v>99.904799999999994</c:v>
                </c:pt>
                <c:pt idx="245">
                  <c:v>97.033100000000005</c:v>
                </c:pt>
                <c:pt idx="246">
                  <c:v>97.772199999999998</c:v>
                </c:pt>
                <c:pt idx="247">
                  <c:v>98.8309</c:v>
                </c:pt>
                <c:pt idx="248">
                  <c:v>97.39</c:v>
                </c:pt>
                <c:pt idx="249">
                  <c:v>99.971999999999994</c:v>
                </c:pt>
                <c:pt idx="250">
                  <c:v>98.343000000000004</c:v>
                </c:pt>
                <c:pt idx="251">
                  <c:v>98.156999999999996</c:v>
                </c:pt>
                <c:pt idx="252">
                  <c:v>97.039400000000001</c:v>
                </c:pt>
                <c:pt idx="253">
                  <c:v>96.594499999999996</c:v>
                </c:pt>
                <c:pt idx="254">
                  <c:v>97.504400000000004</c:v>
                </c:pt>
                <c:pt idx="255">
                  <c:v>98.295500000000004</c:v>
                </c:pt>
                <c:pt idx="256">
                  <c:v>98.503699999999995</c:v>
                </c:pt>
                <c:pt idx="257">
                  <c:v>98.333600000000004</c:v>
                </c:pt>
                <c:pt idx="258">
                  <c:v>99.007300000000001</c:v>
                </c:pt>
                <c:pt idx="259">
                  <c:v>97.855800000000002</c:v>
                </c:pt>
                <c:pt idx="260">
                  <c:v>99.1096</c:v>
                </c:pt>
                <c:pt idx="261">
                  <c:v>98.9178</c:v>
                </c:pt>
                <c:pt idx="262">
                  <c:v>98.8917</c:v>
                </c:pt>
                <c:pt idx="263">
                  <c:v>99.458600000000004</c:v>
                </c:pt>
                <c:pt idx="264">
                  <c:v>99.588099999999997</c:v>
                </c:pt>
                <c:pt idx="265">
                  <c:v>99.799800000000005</c:v>
                </c:pt>
                <c:pt idx="266">
                  <c:v>99.111900000000006</c:v>
                </c:pt>
                <c:pt idx="267">
                  <c:v>99.824299999999994</c:v>
                </c:pt>
                <c:pt idx="268">
                  <c:v>98.605900000000005</c:v>
                </c:pt>
                <c:pt idx="269">
                  <c:v>97.643900000000002</c:v>
                </c:pt>
                <c:pt idx="270">
                  <c:v>99.961600000000004</c:v>
                </c:pt>
                <c:pt idx="271">
                  <c:v>99.8553</c:v>
                </c:pt>
                <c:pt idx="272">
                  <c:v>101.02630000000001</c:v>
                </c:pt>
                <c:pt idx="273">
                  <c:v>101.2556</c:v>
                </c:pt>
                <c:pt idx="274">
                  <c:v>100.6848</c:v>
                </c:pt>
                <c:pt idx="275">
                  <c:v>100.4933</c:v>
                </c:pt>
                <c:pt idx="276">
                  <c:v>99.808800000000005</c:v>
                </c:pt>
                <c:pt idx="277">
                  <c:v>98.430499999999995</c:v>
                </c:pt>
                <c:pt idx="278">
                  <c:v>96.782899999999998</c:v>
                </c:pt>
                <c:pt idx="279">
                  <c:v>95.894000000000005</c:v>
                </c:pt>
                <c:pt idx="280">
                  <c:v>94.861000000000004</c:v>
                </c:pt>
                <c:pt idx="281">
                  <c:v>96.580699999999993</c:v>
                </c:pt>
                <c:pt idx="282">
                  <c:v>95.8613</c:v>
                </c:pt>
                <c:pt idx="283">
                  <c:v>95.185900000000004</c:v>
                </c:pt>
                <c:pt idx="284">
                  <c:v>95.526399999999995</c:v>
                </c:pt>
                <c:pt idx="285">
                  <c:v>96.737399999999994</c:v>
                </c:pt>
                <c:pt idx="286">
                  <c:v>97.348500000000001</c:v>
                </c:pt>
                <c:pt idx="287">
                  <c:v>97.944299999999998</c:v>
                </c:pt>
                <c:pt idx="288">
                  <c:v>100.26600000000001</c:v>
                </c:pt>
                <c:pt idx="289">
                  <c:v>102.62520000000001</c:v>
                </c:pt>
                <c:pt idx="290">
                  <c:v>102.26519999999999</c:v>
                </c:pt>
                <c:pt idx="291">
                  <c:v>102.18</c:v>
                </c:pt>
                <c:pt idx="292">
                  <c:v>101.8365</c:v>
                </c:pt>
                <c:pt idx="293">
                  <c:v>103.13120000000001</c:v>
                </c:pt>
                <c:pt idx="294">
                  <c:v>103.22669999999999</c:v>
                </c:pt>
                <c:pt idx="295">
                  <c:v>102.49930000000001</c:v>
                </c:pt>
                <c:pt idx="296">
                  <c:v>100.7629</c:v>
                </c:pt>
                <c:pt idx="297">
                  <c:v>99.899500000000003</c:v>
                </c:pt>
                <c:pt idx="298">
                  <c:v>99.846199999999996</c:v>
                </c:pt>
                <c:pt idx="299">
                  <c:v>101.35769999999999</c:v>
                </c:pt>
                <c:pt idx="300">
                  <c:v>100</c:v>
                </c:pt>
                <c:pt idx="301">
                  <c:v>100.9195</c:v>
                </c:pt>
                <c:pt idx="302">
                  <c:v>101.0085</c:v>
                </c:pt>
                <c:pt idx="303">
                  <c:v>101.99079999999999</c:v>
                </c:pt>
                <c:pt idx="304">
                  <c:v>100.9498</c:v>
                </c:pt>
                <c:pt idx="305">
                  <c:v>101.6614</c:v>
                </c:pt>
                <c:pt idx="306">
                  <c:v>98.753200000000007</c:v>
                </c:pt>
                <c:pt idx="307">
                  <c:v>99.636499999999998</c:v>
                </c:pt>
                <c:pt idx="308">
                  <c:v>100.5664</c:v>
                </c:pt>
                <c:pt idx="309">
                  <c:v>99.561700000000002</c:v>
                </c:pt>
                <c:pt idx="310">
                  <c:v>99.312399999999997</c:v>
                </c:pt>
                <c:pt idx="311">
                  <c:v>99.3673</c:v>
                </c:pt>
                <c:pt idx="312">
                  <c:v>98.867999999999995</c:v>
                </c:pt>
                <c:pt idx="313">
                  <c:v>98.701899999999995</c:v>
                </c:pt>
                <c:pt idx="314">
                  <c:v>98.181100000000001</c:v>
                </c:pt>
                <c:pt idx="315">
                  <c:v>98.192099999999996</c:v>
                </c:pt>
                <c:pt idx="316">
                  <c:v>101.0532</c:v>
                </c:pt>
                <c:pt idx="317">
                  <c:v>100.8021</c:v>
                </c:pt>
                <c:pt idx="318">
                  <c:v>100.78149999999999</c:v>
                </c:pt>
                <c:pt idx="319">
                  <c:v>102.7585</c:v>
                </c:pt>
                <c:pt idx="320">
                  <c:v>102.81659999999999</c:v>
                </c:pt>
                <c:pt idx="321">
                  <c:v>102.89100000000001</c:v>
                </c:pt>
                <c:pt idx="322">
                  <c:v>103.16849999999999</c:v>
                </c:pt>
                <c:pt idx="323">
                  <c:v>104.17359999999999</c:v>
                </c:pt>
                <c:pt idx="324">
                  <c:v>105.21299999999999</c:v>
                </c:pt>
                <c:pt idx="325">
                  <c:v>104.6674</c:v>
                </c:pt>
                <c:pt idx="326">
                  <c:v>103.1681</c:v>
                </c:pt>
                <c:pt idx="327">
                  <c:v>103.82729999999999</c:v>
                </c:pt>
                <c:pt idx="328">
                  <c:v>103.4706</c:v>
                </c:pt>
                <c:pt idx="329">
                  <c:v>104.09780000000001</c:v>
                </c:pt>
                <c:pt idx="330">
                  <c:v>104.7786</c:v>
                </c:pt>
                <c:pt idx="331">
                  <c:v>104.1477</c:v>
                </c:pt>
                <c:pt idx="332">
                  <c:v>102.9115</c:v>
                </c:pt>
                <c:pt idx="333">
                  <c:v>102.34869999999999</c:v>
                </c:pt>
                <c:pt idx="334">
                  <c:v>101.4111</c:v>
                </c:pt>
                <c:pt idx="335">
                  <c:v>99.384</c:v>
                </c:pt>
                <c:pt idx="336">
                  <c:v>96.107399999999998</c:v>
                </c:pt>
                <c:pt idx="337">
                  <c:v>95.598399999999998</c:v>
                </c:pt>
                <c:pt idx="338">
                  <c:v>94.221699999999998</c:v>
                </c:pt>
                <c:pt idx="339">
                  <c:v>92.431799999999996</c:v>
                </c:pt>
                <c:pt idx="340">
                  <c:v>92.412599999999998</c:v>
                </c:pt>
                <c:pt idx="341">
                  <c:v>92.502799999999993</c:v>
                </c:pt>
                <c:pt idx="342">
                  <c:v>92.590199999999996</c:v>
                </c:pt>
                <c:pt idx="343">
                  <c:v>91.077399999999997</c:v>
                </c:pt>
                <c:pt idx="344">
                  <c:v>89.454099999999997</c:v>
                </c:pt>
                <c:pt idx="345">
                  <c:v>89.081699999999998</c:v>
                </c:pt>
                <c:pt idx="346">
                  <c:v>83.3352</c:v>
                </c:pt>
                <c:pt idx="347">
                  <c:v>78.056700000000006</c:v>
                </c:pt>
                <c:pt idx="348">
                  <c:v>76.926599999999993</c:v>
                </c:pt>
                <c:pt idx="349">
                  <c:v>78.861500000000007</c:v>
                </c:pt>
                <c:pt idx="350">
                  <c:v>76.936899999999994</c:v>
                </c:pt>
                <c:pt idx="351">
                  <c:v>78.764099999999999</c:v>
                </c:pt>
                <c:pt idx="352">
                  <c:v>80.239099999999993</c:v>
                </c:pt>
                <c:pt idx="353">
                  <c:v>83.725300000000004</c:v>
                </c:pt>
                <c:pt idx="354">
                  <c:v>83.275700000000001</c:v>
                </c:pt>
                <c:pt idx="355">
                  <c:v>83.140699999999995</c:v>
                </c:pt>
                <c:pt idx="356">
                  <c:v>80.837299999999999</c:v>
                </c:pt>
                <c:pt idx="357">
                  <c:v>79.054699999999997</c:v>
                </c:pt>
                <c:pt idx="358">
                  <c:v>80.616900000000001</c:v>
                </c:pt>
                <c:pt idx="359">
                  <c:v>79.982900000000001</c:v>
                </c:pt>
                <c:pt idx="360">
                  <c:v>80.465500000000006</c:v>
                </c:pt>
                <c:pt idx="361">
                  <c:v>79.738200000000006</c:v>
                </c:pt>
                <c:pt idx="362">
                  <c:v>76.905900000000003</c:v>
                </c:pt>
                <c:pt idx="363">
                  <c:v>78.695700000000002</c:v>
                </c:pt>
                <c:pt idx="364">
                  <c:v>78.561499999999995</c:v>
                </c:pt>
                <c:pt idx="365">
                  <c:v>80.359200000000001</c:v>
                </c:pt>
                <c:pt idx="366">
                  <c:v>80.784099999999995</c:v>
                </c:pt>
                <c:pt idx="367">
                  <c:v>81.947500000000005</c:v>
                </c:pt>
                <c:pt idx="368">
                  <c:v>80.514200000000002</c:v>
                </c:pt>
                <c:pt idx="369">
                  <c:v>78.814099999999996</c:v>
                </c:pt>
                <c:pt idx="370">
                  <c:v>80.241500000000002</c:v>
                </c:pt>
                <c:pt idx="371">
                  <c:v>79.6858</c:v>
                </c:pt>
                <c:pt idx="372">
                  <c:v>79.957899999999995</c:v>
                </c:pt>
                <c:pt idx="373">
                  <c:v>80.763400000000004</c:v>
                </c:pt>
                <c:pt idx="374">
                  <c:v>79.570300000000003</c:v>
                </c:pt>
                <c:pt idx="375">
                  <c:v>78.940200000000004</c:v>
                </c:pt>
                <c:pt idx="376">
                  <c:v>79.062100000000001</c:v>
                </c:pt>
                <c:pt idx="377">
                  <c:v>78.174099999999996</c:v>
                </c:pt>
                <c:pt idx="378">
                  <c:v>78.017200000000003</c:v>
                </c:pt>
                <c:pt idx="379">
                  <c:v>78.940700000000007</c:v>
                </c:pt>
                <c:pt idx="380">
                  <c:v>78.650099999999995</c:v>
                </c:pt>
                <c:pt idx="381">
                  <c:v>78.987700000000004</c:v>
                </c:pt>
                <c:pt idx="382">
                  <c:v>79.922600000000003</c:v>
                </c:pt>
                <c:pt idx="383">
                  <c:v>80.322800000000001</c:v>
                </c:pt>
                <c:pt idx="384">
                  <c:v>80.491399999999999</c:v>
                </c:pt>
                <c:pt idx="385">
                  <c:v>80.319299999999998</c:v>
                </c:pt>
                <c:pt idx="386">
                  <c:v>80.762500000000003</c:v>
                </c:pt>
                <c:pt idx="387">
                  <c:v>81.933899999999994</c:v>
                </c:pt>
                <c:pt idx="388">
                  <c:v>83.1755</c:v>
                </c:pt>
                <c:pt idx="389">
                  <c:v>82.477099999999993</c:v>
                </c:pt>
                <c:pt idx="390">
                  <c:v>83.329899999999995</c:v>
                </c:pt>
                <c:pt idx="391">
                  <c:v>83.342200000000005</c:v>
                </c:pt>
                <c:pt idx="392">
                  <c:v>83.596299999999999</c:v>
                </c:pt>
                <c:pt idx="393">
                  <c:v>82.964699999999993</c:v>
                </c:pt>
                <c:pt idx="394">
                  <c:v>82.994799999999998</c:v>
                </c:pt>
                <c:pt idx="395">
                  <c:v>82.915300000000002</c:v>
                </c:pt>
                <c:pt idx="396">
                  <c:v>81.502300000000005</c:v>
                </c:pt>
                <c:pt idx="397">
                  <c:v>79.0535</c:v>
                </c:pt>
                <c:pt idx="398">
                  <c:v>78.425799999999995</c:v>
                </c:pt>
                <c:pt idx="399">
                  <c:v>79.448599999999999</c:v>
                </c:pt>
                <c:pt idx="400">
                  <c:v>79.727400000000003</c:v>
                </c:pt>
                <c:pt idx="401">
                  <c:v>80.413899999999998</c:v>
                </c:pt>
                <c:pt idx="402">
                  <c:v>79.389499999999998</c:v>
                </c:pt>
                <c:pt idx="403">
                  <c:v>80.474800000000002</c:v>
                </c:pt>
                <c:pt idx="404">
                  <c:v>82.155000000000001</c:v>
                </c:pt>
                <c:pt idx="405">
                  <c:v>82.0578</c:v>
                </c:pt>
                <c:pt idx="406">
                  <c:v>82.956599999999995</c:v>
                </c:pt>
                <c:pt idx="407">
                  <c:v>83.858800000000002</c:v>
                </c:pt>
                <c:pt idx="408">
                  <c:v>84.880700000000004</c:v>
                </c:pt>
                <c:pt idx="409">
                  <c:v>85.221000000000004</c:v>
                </c:pt>
                <c:pt idx="410">
                  <c:v>85.004800000000003</c:v>
                </c:pt>
                <c:pt idx="411">
                  <c:v>85.573899999999995</c:v>
                </c:pt>
                <c:pt idx="412">
                  <c:v>86.202399999999997</c:v>
                </c:pt>
                <c:pt idx="413">
                  <c:v>87.008799999999994</c:v>
                </c:pt>
                <c:pt idx="414">
                  <c:v>88.040300000000002</c:v>
                </c:pt>
                <c:pt idx="415">
                  <c:v>87.068799999999996</c:v>
                </c:pt>
                <c:pt idx="416">
                  <c:v>86.792699999999996</c:v>
                </c:pt>
                <c:pt idx="417">
                  <c:v>86.677099999999996</c:v>
                </c:pt>
                <c:pt idx="418">
                  <c:v>86.348200000000006</c:v>
                </c:pt>
                <c:pt idx="419">
                  <c:v>86.894900000000007</c:v>
                </c:pt>
                <c:pt idx="420">
                  <c:v>87.013999999999996</c:v>
                </c:pt>
                <c:pt idx="421">
                  <c:v>89.307000000000002</c:v>
                </c:pt>
                <c:pt idx="422">
                  <c:v>89.637500000000003</c:v>
                </c:pt>
                <c:pt idx="423">
                  <c:v>89.335800000000006</c:v>
                </c:pt>
                <c:pt idx="424">
                  <c:v>90.575500000000005</c:v>
                </c:pt>
                <c:pt idx="425">
                  <c:v>91.4298</c:v>
                </c:pt>
                <c:pt idx="426">
                  <c:v>92.656599999999997</c:v>
                </c:pt>
                <c:pt idx="427">
                  <c:v>92.961299999999994</c:v>
                </c:pt>
                <c:pt idx="428">
                  <c:v>91.457899999999995</c:v>
                </c:pt>
                <c:pt idx="429">
                  <c:v>91.165400000000005</c:v>
                </c:pt>
                <c:pt idx="430">
                  <c:v>92.851500000000001</c:v>
                </c:pt>
                <c:pt idx="431">
                  <c:v>91.0779</c:v>
                </c:pt>
                <c:pt idx="432">
                  <c:v>88.142200000000003</c:v>
                </c:pt>
                <c:pt idx="433">
                  <c:v>86.351200000000006</c:v>
                </c:pt>
                <c:pt idx="434">
                  <c:v>85.361999999999995</c:v>
                </c:pt>
                <c:pt idx="435">
                  <c:v>84.478099999999998</c:v>
                </c:pt>
                <c:pt idx="436">
                  <c:v>86.2624</c:v>
                </c:pt>
                <c:pt idx="437">
                  <c:v>84.4953</c:v>
                </c:pt>
                <c:pt idx="438">
                  <c:v>78.857699999999994</c:v>
                </c:pt>
                <c:pt idx="439">
                  <c:v>77.794600000000003</c:v>
                </c:pt>
                <c:pt idx="440">
                  <c:v>78.126599999999996</c:v>
                </c:pt>
                <c:pt idx="441">
                  <c:v>74.143100000000004</c:v>
                </c:pt>
                <c:pt idx="442">
                  <c:v>76.143500000000003</c:v>
                </c:pt>
                <c:pt idx="443">
                  <c:v>77.707300000000004</c:v>
                </c:pt>
                <c:pt idx="444">
                  <c:v>76.406499999999994</c:v>
                </c:pt>
                <c:pt idx="445">
                  <c:v>76.951800000000006</c:v>
                </c:pt>
                <c:pt idx="446">
                  <c:v>75.908199999999994</c:v>
                </c:pt>
                <c:pt idx="447">
                  <c:v>77.555700000000002</c:v>
                </c:pt>
                <c:pt idx="448">
                  <c:v>77.986800000000002</c:v>
                </c:pt>
                <c:pt idx="449">
                  <c:v>76.441400000000002</c:v>
                </c:pt>
                <c:pt idx="450">
                  <c:v>76.4101</c:v>
                </c:pt>
                <c:pt idx="451">
                  <c:v>74.966399999999993</c:v>
                </c:pt>
                <c:pt idx="452">
                  <c:v>76.615499999999997</c:v>
                </c:pt>
                <c:pt idx="453">
                  <c:v>76.730800000000002</c:v>
                </c:pt>
                <c:pt idx="454">
                  <c:v>77.030199999999994</c:v>
                </c:pt>
                <c:pt idx="455">
                  <c:v>77.657799999999995</c:v>
                </c:pt>
                <c:pt idx="456">
                  <c:v>78.256500000000003</c:v>
                </c:pt>
                <c:pt idx="457">
                  <c:v>78.3596</c:v>
                </c:pt>
                <c:pt idx="458">
                  <c:v>78.563599999999994</c:v>
                </c:pt>
                <c:pt idx="459">
                  <c:v>79.596900000000005</c:v>
                </c:pt>
                <c:pt idx="460">
                  <c:v>78.170400000000001</c:v>
                </c:pt>
                <c:pt idx="461">
                  <c:v>77.894000000000005</c:v>
                </c:pt>
                <c:pt idx="462">
                  <c:v>77.610799999999998</c:v>
                </c:pt>
                <c:pt idx="463">
                  <c:v>76.840699999999998</c:v>
                </c:pt>
                <c:pt idx="464">
                  <c:v>77.673900000000003</c:v>
                </c:pt>
                <c:pt idx="465">
                  <c:v>78.069000000000003</c:v>
                </c:pt>
                <c:pt idx="466">
                  <c:v>77.730599999999995</c:v>
                </c:pt>
                <c:pt idx="467">
                  <c:v>76.1755</c:v>
                </c:pt>
                <c:pt idx="468">
                  <c:v>77.221599999999995</c:v>
                </c:pt>
                <c:pt idx="469">
                  <c:v>78.209100000000007</c:v>
                </c:pt>
                <c:pt idx="470">
                  <c:v>79.325000000000003</c:v>
                </c:pt>
                <c:pt idx="471">
                  <c:v>78.846500000000006</c:v>
                </c:pt>
                <c:pt idx="472">
                  <c:v>78.214200000000005</c:v>
                </c:pt>
                <c:pt idx="473">
                  <c:v>76.614500000000007</c:v>
                </c:pt>
                <c:pt idx="474">
                  <c:v>75.488200000000006</c:v>
                </c:pt>
                <c:pt idx="475">
                  <c:v>74.343500000000006</c:v>
                </c:pt>
                <c:pt idx="476">
                  <c:v>76.058899999999994</c:v>
                </c:pt>
                <c:pt idx="477">
                  <c:v>77.654899999999998</c:v>
                </c:pt>
                <c:pt idx="478">
                  <c:v>79.020700000000005</c:v>
                </c:pt>
                <c:pt idx="479">
                  <c:v>80.038799999999995</c:v>
                </c:pt>
                <c:pt idx="480">
                  <c:v>79.763000000000005</c:v>
                </c:pt>
                <c:pt idx="481">
                  <c:v>80.123099999999994</c:v>
                </c:pt>
                <c:pt idx="482">
                  <c:v>76.559700000000007</c:v>
                </c:pt>
                <c:pt idx="483">
                  <c:v>77.9255</c:v>
                </c:pt>
                <c:pt idx="484">
                  <c:v>76.9602</c:v>
                </c:pt>
                <c:pt idx="485">
                  <c:v>76.681200000000004</c:v>
                </c:pt>
                <c:pt idx="486">
                  <c:v>76.752899999999997</c:v>
                </c:pt>
                <c:pt idx="487">
                  <c:v>78.031300000000002</c:v>
                </c:pt>
                <c:pt idx="488">
                  <c:v>77.099599999999995</c:v>
                </c:pt>
                <c:pt idx="489">
                  <c:v>77.3232</c:v>
                </c:pt>
                <c:pt idx="490">
                  <c:v>78.100899999999996</c:v>
                </c:pt>
                <c:pt idx="491">
                  <c:v>77.877700000000004</c:v>
                </c:pt>
                <c:pt idx="492">
                  <c:v>78.888300000000001</c:v>
                </c:pt>
                <c:pt idx="493">
                  <c:v>80.439899999999994</c:v>
                </c:pt>
                <c:pt idx="494">
                  <c:v>81.509</c:v>
                </c:pt>
                <c:pt idx="495">
                  <c:v>81.214200000000005</c:v>
                </c:pt>
                <c:pt idx="496">
                  <c:v>81.737300000000005</c:v>
                </c:pt>
                <c:pt idx="497">
                  <c:v>81.742800000000003</c:v>
                </c:pt>
                <c:pt idx="498">
                  <c:v>81.586600000000004</c:v>
                </c:pt>
                <c:pt idx="499">
                  <c:v>81.729699999999994</c:v>
                </c:pt>
                <c:pt idx="500">
                  <c:v>81.307000000000002</c:v>
                </c:pt>
                <c:pt idx="501">
                  <c:v>81.815600000000003</c:v>
                </c:pt>
                <c:pt idx="502">
                  <c:v>81.250900000000001</c:v>
                </c:pt>
                <c:pt idx="503">
                  <c:v>81.188699999999997</c:v>
                </c:pt>
                <c:pt idx="504">
                  <c:v>82.477199999999996</c:v>
                </c:pt>
                <c:pt idx="505">
                  <c:v>82.314499999999995</c:v>
                </c:pt>
                <c:pt idx="506">
                  <c:v>81.715199999999996</c:v>
                </c:pt>
                <c:pt idx="507">
                  <c:v>81.038600000000002</c:v>
                </c:pt>
                <c:pt idx="508">
                  <c:v>79.581599999999995</c:v>
                </c:pt>
                <c:pt idx="509">
                  <c:v>78.938199999999995</c:v>
                </c:pt>
                <c:pt idx="510">
                  <c:v>79.006</c:v>
                </c:pt>
                <c:pt idx="511">
                  <c:v>79.209999999999994</c:v>
                </c:pt>
                <c:pt idx="512">
                  <c:v>76.418999999999997</c:v>
                </c:pt>
                <c:pt idx="513">
                  <c:v>76.712999999999994</c:v>
                </c:pt>
              </c:numCache>
            </c:numRef>
          </c:val>
          <c:smooth val="0"/>
          <c:extLst>
            <c:ext xmlns:c16="http://schemas.microsoft.com/office/drawing/2014/chart" uri="{C3380CC4-5D6E-409C-BE32-E72D297353CC}">
              <c16:uniqueId val="{00000005-9D86-49D3-8633-9CC02313F87B}"/>
            </c:ext>
          </c:extLst>
        </c:ser>
        <c:dLbls>
          <c:showLegendKey val="0"/>
          <c:showVal val="0"/>
          <c:showCatName val="0"/>
          <c:showSerName val="0"/>
          <c:showPercent val="0"/>
          <c:showBubbleSize val="0"/>
        </c:dLbls>
        <c:marker val="1"/>
        <c:smooth val="0"/>
        <c:axId val="3"/>
        <c:axId val="4"/>
      </c:lineChart>
      <c:dateAx>
        <c:axId val="221023872"/>
        <c:scaling>
          <c:orientation val="minMax"/>
          <c:max val="44805"/>
        </c:scaling>
        <c:delete val="0"/>
        <c:axPos val="b"/>
        <c:numFmt formatCode="yyyy" sourceLinked="0"/>
        <c:majorTickMark val="out"/>
        <c:minorTickMark val="out"/>
        <c:tickLblPos val="nextTo"/>
        <c:spPr>
          <a:ln w="12700">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1"/>
        <c:crosses val="autoZero"/>
        <c:auto val="1"/>
        <c:lblOffset val="100"/>
        <c:baseTimeUnit val="months"/>
        <c:majorUnit val="60"/>
        <c:majorTimeUnit val="months"/>
        <c:minorUnit val="12"/>
        <c:minorTimeUnit val="months"/>
      </c:dateAx>
      <c:valAx>
        <c:axId val="1"/>
        <c:scaling>
          <c:orientation val="minMax"/>
          <c:max val="3"/>
          <c:min val="0"/>
        </c:scaling>
        <c:delete val="0"/>
        <c:axPos val="l"/>
        <c:title>
          <c:tx>
            <c:rich>
              <a:bodyPr/>
              <a:lstStyle/>
              <a:p>
                <a:pPr>
                  <a:defRPr sz="1800" b="0" i="0" u="none" strike="noStrike" baseline="0">
                    <a:solidFill>
                      <a:schemeClr val="tx1"/>
                    </a:solidFill>
                    <a:latin typeface="Arial"/>
                    <a:ea typeface="Arial"/>
                    <a:cs typeface="Arial"/>
                  </a:defRPr>
                </a:pPr>
                <a:r>
                  <a:rPr lang="en-GB" sz="1800" b="0" i="0" u="none" strike="noStrike" baseline="0" dirty="0">
                    <a:solidFill>
                      <a:srgbClr val="000000"/>
                    </a:solidFill>
                    <a:latin typeface="Arial"/>
                    <a:cs typeface="Arial"/>
                  </a:rPr>
                  <a:t>Foreign currency units per £1</a:t>
                </a:r>
              </a:p>
            </c:rich>
          </c:tx>
          <c:layout>
            <c:manualLayout>
              <c:xMode val="edge"/>
              <c:yMode val="edge"/>
              <c:x val="1.3604823950526899E-2"/>
              <c:y val="0.2240878553047268"/>
            </c:manualLayout>
          </c:layout>
          <c:overlay val="0"/>
          <c:spPr>
            <a:noFill/>
            <a:ln w="27471">
              <a:noFill/>
            </a:ln>
          </c:spPr>
        </c:title>
        <c:numFmt formatCode="0.00" sourceLinked="0"/>
        <c:majorTickMark val="out"/>
        <c:minorTickMark val="none"/>
        <c:tickLblPos val="nextTo"/>
        <c:spPr>
          <a:ln w="15875">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221023872"/>
        <c:crosses val="autoZero"/>
        <c:crossBetween val="midCat"/>
        <c:majorUnit val="0.5"/>
        <c:minorUnit val="0.5"/>
      </c:valAx>
      <c:dateAx>
        <c:axId val="3"/>
        <c:scaling>
          <c:orientation val="minMax"/>
        </c:scaling>
        <c:delete val="1"/>
        <c:axPos val="b"/>
        <c:numFmt formatCode="mmm\-yy" sourceLinked="1"/>
        <c:majorTickMark val="out"/>
        <c:minorTickMark val="none"/>
        <c:tickLblPos val="nextTo"/>
        <c:crossAx val="4"/>
        <c:crosses val="autoZero"/>
        <c:auto val="1"/>
        <c:lblOffset val="100"/>
        <c:baseTimeUnit val="months"/>
      </c:dateAx>
      <c:valAx>
        <c:axId val="4"/>
        <c:scaling>
          <c:orientation val="minMax"/>
          <c:max val="120"/>
          <c:min val="0"/>
        </c:scaling>
        <c:delete val="0"/>
        <c:axPos val="r"/>
        <c:title>
          <c:tx>
            <c:rich>
              <a:bodyPr rot="5400000" vert="horz" anchor="ctr" anchorCtr="1"/>
              <a:lstStyle/>
              <a:p>
                <a:pPr algn="ctr">
                  <a:defRPr sz="1800" b="0" i="0" u="none" strike="noStrike" baseline="0">
                    <a:solidFill>
                      <a:srgbClr val="C00000"/>
                    </a:solidFill>
                    <a:latin typeface="Arial"/>
                    <a:ea typeface="Arial"/>
                    <a:cs typeface="Arial"/>
                  </a:defRPr>
                </a:pPr>
                <a:r>
                  <a:rPr lang="en-GB" sz="1800" b="0" i="0" u="none" strike="noStrike" baseline="0" dirty="0">
                    <a:solidFill>
                      <a:srgbClr val="C00000"/>
                    </a:solidFill>
                    <a:latin typeface="Arial"/>
                    <a:cs typeface="Arial"/>
                  </a:rPr>
                  <a:t>Sterling exchange rate index (1/05 = 100)</a:t>
                </a:r>
              </a:p>
            </c:rich>
          </c:tx>
          <c:layout>
            <c:manualLayout>
              <c:xMode val="edge"/>
              <c:yMode val="edge"/>
              <c:x val="0.95589743589743592"/>
              <c:y val="8.8664704529709593E-2"/>
            </c:manualLayout>
          </c:layout>
          <c:overlay val="0"/>
          <c:spPr>
            <a:noFill/>
            <a:ln w="27471">
              <a:noFill/>
            </a:ln>
          </c:spPr>
        </c:title>
        <c:numFmt formatCode="0" sourceLinked="0"/>
        <c:majorTickMark val="out"/>
        <c:minorTickMark val="none"/>
        <c:tickLblPos val="nextTo"/>
        <c:spPr>
          <a:ln w="15875">
            <a:solidFill>
              <a:srgbClr val="CC0000"/>
            </a:solidFill>
            <a:prstDash val="solid"/>
          </a:ln>
        </c:spPr>
        <c:txPr>
          <a:bodyPr rot="0" vert="horz"/>
          <a:lstStyle/>
          <a:p>
            <a:pPr>
              <a:defRPr sz="1800" b="0" i="0" u="none" strike="noStrike" baseline="0">
                <a:solidFill>
                  <a:srgbClr val="CC0000"/>
                </a:solidFill>
                <a:latin typeface="Arial"/>
                <a:ea typeface="Arial"/>
                <a:cs typeface="Arial"/>
              </a:defRPr>
            </a:pPr>
            <a:endParaRPr lang="en-US"/>
          </a:p>
        </c:txPr>
        <c:crossAx val="3"/>
        <c:crosses val="max"/>
        <c:crossBetween val="midCat"/>
        <c:majorUnit val="10"/>
      </c:valAx>
      <c:spPr>
        <a:noFill/>
        <a:ln w="25400">
          <a:noFill/>
        </a:ln>
      </c:spPr>
    </c:plotArea>
    <c:legend>
      <c:legendPos val="r"/>
      <c:legendEntry>
        <c:idx val="0"/>
        <c:txPr>
          <a:bodyPr/>
          <a:lstStyle/>
          <a:p>
            <a:pPr>
              <a:defRPr sz="1800" b="0" i="0" u="none" strike="noStrike" baseline="0">
                <a:solidFill>
                  <a:srgbClr val="C07200"/>
                </a:solidFill>
                <a:latin typeface="Arial"/>
                <a:ea typeface="Arial"/>
                <a:cs typeface="Arial"/>
              </a:defRPr>
            </a:pPr>
            <a:endParaRPr lang="en-US"/>
          </a:p>
        </c:txPr>
      </c:legendEntry>
      <c:legendEntry>
        <c:idx val="1"/>
        <c:txPr>
          <a:bodyPr/>
          <a:lstStyle/>
          <a:p>
            <a:pPr>
              <a:defRPr sz="1800" b="0" i="0" u="none" strike="noStrike" baseline="0">
                <a:solidFill>
                  <a:srgbClr val="008000"/>
                </a:solidFill>
                <a:latin typeface="Arial"/>
                <a:ea typeface="Arial"/>
                <a:cs typeface="Arial"/>
              </a:defRPr>
            </a:pPr>
            <a:endParaRPr lang="en-US"/>
          </a:p>
        </c:txPr>
      </c:legendEntry>
      <c:legendEntry>
        <c:idx val="2"/>
        <c:txPr>
          <a:bodyPr/>
          <a:lstStyle/>
          <a:p>
            <a:pPr>
              <a:defRPr sz="1800" b="0" i="0" u="none" strike="noStrike" baseline="0">
                <a:solidFill>
                  <a:srgbClr val="FF00FF"/>
                </a:solidFill>
                <a:latin typeface="Arial"/>
                <a:ea typeface="Arial"/>
                <a:cs typeface="Arial"/>
              </a:defRPr>
            </a:pPr>
            <a:endParaRPr lang="en-US"/>
          </a:p>
        </c:txPr>
      </c:legendEntry>
      <c:legendEntry>
        <c:idx val="3"/>
        <c:txPr>
          <a:bodyPr/>
          <a:lstStyle/>
          <a:p>
            <a:pPr>
              <a:defRPr sz="1800" b="0" i="0" u="none" strike="noStrike" baseline="0">
                <a:solidFill>
                  <a:srgbClr val="0000FF"/>
                </a:solidFill>
                <a:latin typeface="Arial"/>
                <a:ea typeface="Arial"/>
                <a:cs typeface="Arial"/>
              </a:defRPr>
            </a:pPr>
            <a:endParaRPr lang="en-US"/>
          </a:p>
        </c:txPr>
      </c:legendEntry>
      <c:layout>
        <c:manualLayout>
          <c:xMode val="edge"/>
          <c:yMode val="edge"/>
          <c:x val="0.15024254841228252"/>
          <c:y val="4.4450974571414795E-2"/>
          <c:w val="0.47389332955161823"/>
          <c:h val="0.15857782427250983"/>
        </c:manualLayout>
      </c:layout>
      <c:overlay val="0"/>
      <c:spPr>
        <a:solidFill>
          <a:srgbClr val="FFFFDB"/>
        </a:solidFill>
        <a:ln w="13736">
          <a:solidFill>
            <a:srgbClr val="800080"/>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1866" b="1" i="0" u="none" strike="noStrike" baseline="0">
          <a:solidFill>
            <a:schemeClr val="tx1"/>
          </a:solidFill>
          <a:latin typeface="Arial"/>
          <a:ea typeface="Arial"/>
          <a:cs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063254593175853"/>
          <c:y val="3.9768297678648624E-2"/>
          <c:w val="0.8504375820209974"/>
          <c:h val="0.87203533876913575"/>
        </c:manualLayout>
      </c:layout>
      <c:lineChart>
        <c:grouping val="standard"/>
        <c:varyColors val="0"/>
        <c:ser>
          <c:idx val="0"/>
          <c:order val="0"/>
          <c:tx>
            <c:strRef>
              <c:f>Sheet1!$B$1</c:f>
              <c:strCache>
                <c:ptCount val="1"/>
                <c:pt idx="0">
                  <c:v>Nominal exchange rate</c:v>
                </c:pt>
              </c:strCache>
            </c:strRef>
          </c:tx>
          <c:spPr>
            <a:ln w="34925">
              <a:solidFill>
                <a:srgbClr val="FF0000"/>
              </a:solidFill>
              <a:prstDash val="solid"/>
            </a:ln>
          </c:spPr>
          <c:marker>
            <c:symbol val="none"/>
          </c:marker>
          <c:cat>
            <c:numRef>
              <c:f>Sheet1!$A$2:$A$634</c:f>
              <c:numCache>
                <c:formatCode>mmm\-yy</c:formatCode>
                <c:ptCount val="633"/>
                <c:pt idx="0">
                  <c:v>25569</c:v>
                </c:pt>
                <c:pt idx="1">
                  <c:v>25600</c:v>
                </c:pt>
                <c:pt idx="2">
                  <c:v>25628</c:v>
                </c:pt>
                <c:pt idx="3">
                  <c:v>25659</c:v>
                </c:pt>
                <c:pt idx="4">
                  <c:v>25689</c:v>
                </c:pt>
                <c:pt idx="5">
                  <c:v>25720</c:v>
                </c:pt>
                <c:pt idx="6">
                  <c:v>25750</c:v>
                </c:pt>
                <c:pt idx="7">
                  <c:v>25781</c:v>
                </c:pt>
                <c:pt idx="8">
                  <c:v>25812</c:v>
                </c:pt>
                <c:pt idx="9">
                  <c:v>25842</c:v>
                </c:pt>
                <c:pt idx="10">
                  <c:v>25873</c:v>
                </c:pt>
                <c:pt idx="11">
                  <c:v>25903</c:v>
                </c:pt>
                <c:pt idx="12">
                  <c:v>25934</c:v>
                </c:pt>
                <c:pt idx="13">
                  <c:v>25965</c:v>
                </c:pt>
                <c:pt idx="14">
                  <c:v>25993</c:v>
                </c:pt>
                <c:pt idx="15">
                  <c:v>26024</c:v>
                </c:pt>
                <c:pt idx="16">
                  <c:v>26054</c:v>
                </c:pt>
                <c:pt idx="17">
                  <c:v>26085</c:v>
                </c:pt>
                <c:pt idx="18">
                  <c:v>26115</c:v>
                </c:pt>
                <c:pt idx="19">
                  <c:v>26146</c:v>
                </c:pt>
                <c:pt idx="20">
                  <c:v>26177</c:v>
                </c:pt>
                <c:pt idx="21">
                  <c:v>26207</c:v>
                </c:pt>
                <c:pt idx="22">
                  <c:v>26238</c:v>
                </c:pt>
                <c:pt idx="23">
                  <c:v>26268</c:v>
                </c:pt>
                <c:pt idx="24">
                  <c:v>26299</c:v>
                </c:pt>
                <c:pt idx="25">
                  <c:v>26330</c:v>
                </c:pt>
                <c:pt idx="26">
                  <c:v>26359</c:v>
                </c:pt>
                <c:pt idx="27">
                  <c:v>26390</c:v>
                </c:pt>
                <c:pt idx="28">
                  <c:v>26420</c:v>
                </c:pt>
                <c:pt idx="29">
                  <c:v>26451</c:v>
                </c:pt>
                <c:pt idx="30">
                  <c:v>26481</c:v>
                </c:pt>
                <c:pt idx="31">
                  <c:v>26512</c:v>
                </c:pt>
                <c:pt idx="32">
                  <c:v>26543</c:v>
                </c:pt>
                <c:pt idx="33">
                  <c:v>26573</c:v>
                </c:pt>
                <c:pt idx="34">
                  <c:v>26604</c:v>
                </c:pt>
                <c:pt idx="35">
                  <c:v>26634</c:v>
                </c:pt>
                <c:pt idx="36">
                  <c:v>26665</c:v>
                </c:pt>
                <c:pt idx="37">
                  <c:v>26696</c:v>
                </c:pt>
                <c:pt idx="38">
                  <c:v>26724</c:v>
                </c:pt>
                <c:pt idx="39">
                  <c:v>26755</c:v>
                </c:pt>
                <c:pt idx="40">
                  <c:v>26785</c:v>
                </c:pt>
                <c:pt idx="41">
                  <c:v>26816</c:v>
                </c:pt>
                <c:pt idx="42">
                  <c:v>26846</c:v>
                </c:pt>
                <c:pt idx="43">
                  <c:v>26877</c:v>
                </c:pt>
                <c:pt idx="44">
                  <c:v>26908</c:v>
                </c:pt>
                <c:pt idx="45">
                  <c:v>26938</c:v>
                </c:pt>
                <c:pt idx="46">
                  <c:v>26969</c:v>
                </c:pt>
                <c:pt idx="47">
                  <c:v>26999</c:v>
                </c:pt>
                <c:pt idx="48">
                  <c:v>27030</c:v>
                </c:pt>
                <c:pt idx="49">
                  <c:v>27061</c:v>
                </c:pt>
                <c:pt idx="50">
                  <c:v>27089</c:v>
                </c:pt>
                <c:pt idx="51">
                  <c:v>27120</c:v>
                </c:pt>
                <c:pt idx="52">
                  <c:v>27150</c:v>
                </c:pt>
                <c:pt idx="53">
                  <c:v>27181</c:v>
                </c:pt>
                <c:pt idx="54">
                  <c:v>27211</c:v>
                </c:pt>
                <c:pt idx="55">
                  <c:v>27242</c:v>
                </c:pt>
                <c:pt idx="56">
                  <c:v>27273</c:v>
                </c:pt>
                <c:pt idx="57">
                  <c:v>27303</c:v>
                </c:pt>
                <c:pt idx="58">
                  <c:v>27334</c:v>
                </c:pt>
                <c:pt idx="59">
                  <c:v>27364</c:v>
                </c:pt>
                <c:pt idx="60">
                  <c:v>27395</c:v>
                </c:pt>
                <c:pt idx="61">
                  <c:v>27426</c:v>
                </c:pt>
                <c:pt idx="62">
                  <c:v>27454</c:v>
                </c:pt>
                <c:pt idx="63">
                  <c:v>27485</c:v>
                </c:pt>
                <c:pt idx="64">
                  <c:v>27515</c:v>
                </c:pt>
                <c:pt idx="65">
                  <c:v>27546</c:v>
                </c:pt>
                <c:pt idx="66">
                  <c:v>27576</c:v>
                </c:pt>
                <c:pt idx="67">
                  <c:v>27607</c:v>
                </c:pt>
                <c:pt idx="68">
                  <c:v>27638</c:v>
                </c:pt>
                <c:pt idx="69">
                  <c:v>27668</c:v>
                </c:pt>
                <c:pt idx="70">
                  <c:v>27699</c:v>
                </c:pt>
                <c:pt idx="71">
                  <c:v>27729</c:v>
                </c:pt>
                <c:pt idx="72">
                  <c:v>27760</c:v>
                </c:pt>
                <c:pt idx="73">
                  <c:v>27791</c:v>
                </c:pt>
                <c:pt idx="74">
                  <c:v>27820</c:v>
                </c:pt>
                <c:pt idx="75">
                  <c:v>27851</c:v>
                </c:pt>
                <c:pt idx="76">
                  <c:v>27881</c:v>
                </c:pt>
                <c:pt idx="77">
                  <c:v>27912</c:v>
                </c:pt>
                <c:pt idx="78">
                  <c:v>27942</c:v>
                </c:pt>
                <c:pt idx="79">
                  <c:v>27973</c:v>
                </c:pt>
                <c:pt idx="80">
                  <c:v>28004</c:v>
                </c:pt>
                <c:pt idx="81">
                  <c:v>28034</c:v>
                </c:pt>
                <c:pt idx="82">
                  <c:v>28065</c:v>
                </c:pt>
                <c:pt idx="83">
                  <c:v>28095</c:v>
                </c:pt>
                <c:pt idx="84">
                  <c:v>28126</c:v>
                </c:pt>
                <c:pt idx="85">
                  <c:v>28157</c:v>
                </c:pt>
                <c:pt idx="86">
                  <c:v>28185</c:v>
                </c:pt>
                <c:pt idx="87">
                  <c:v>28216</c:v>
                </c:pt>
                <c:pt idx="88">
                  <c:v>28246</c:v>
                </c:pt>
                <c:pt idx="89">
                  <c:v>28277</c:v>
                </c:pt>
                <c:pt idx="90">
                  <c:v>28307</c:v>
                </c:pt>
                <c:pt idx="91">
                  <c:v>28338</c:v>
                </c:pt>
                <c:pt idx="92">
                  <c:v>28369</c:v>
                </c:pt>
                <c:pt idx="93">
                  <c:v>28399</c:v>
                </c:pt>
                <c:pt idx="94">
                  <c:v>28430</c:v>
                </c:pt>
                <c:pt idx="95">
                  <c:v>28460</c:v>
                </c:pt>
                <c:pt idx="96">
                  <c:v>28491</c:v>
                </c:pt>
                <c:pt idx="97">
                  <c:v>28522</c:v>
                </c:pt>
                <c:pt idx="98">
                  <c:v>28550</c:v>
                </c:pt>
                <c:pt idx="99">
                  <c:v>28581</c:v>
                </c:pt>
                <c:pt idx="100">
                  <c:v>28611</c:v>
                </c:pt>
                <c:pt idx="101">
                  <c:v>28642</c:v>
                </c:pt>
                <c:pt idx="102">
                  <c:v>28672</c:v>
                </c:pt>
                <c:pt idx="103">
                  <c:v>28703</c:v>
                </c:pt>
                <c:pt idx="104">
                  <c:v>28734</c:v>
                </c:pt>
                <c:pt idx="105">
                  <c:v>28764</c:v>
                </c:pt>
                <c:pt idx="106">
                  <c:v>28795</c:v>
                </c:pt>
                <c:pt idx="107">
                  <c:v>28825</c:v>
                </c:pt>
                <c:pt idx="108">
                  <c:v>28856</c:v>
                </c:pt>
                <c:pt idx="109">
                  <c:v>28887</c:v>
                </c:pt>
                <c:pt idx="110">
                  <c:v>28915</c:v>
                </c:pt>
                <c:pt idx="111">
                  <c:v>28946</c:v>
                </c:pt>
                <c:pt idx="112">
                  <c:v>28976</c:v>
                </c:pt>
                <c:pt idx="113">
                  <c:v>29007</c:v>
                </c:pt>
                <c:pt idx="114">
                  <c:v>29037</c:v>
                </c:pt>
                <c:pt idx="115">
                  <c:v>29068</c:v>
                </c:pt>
                <c:pt idx="116">
                  <c:v>29099</c:v>
                </c:pt>
                <c:pt idx="117">
                  <c:v>29129</c:v>
                </c:pt>
                <c:pt idx="118">
                  <c:v>29160</c:v>
                </c:pt>
                <c:pt idx="119">
                  <c:v>29190</c:v>
                </c:pt>
                <c:pt idx="120">
                  <c:v>29221</c:v>
                </c:pt>
                <c:pt idx="121">
                  <c:v>29252</c:v>
                </c:pt>
                <c:pt idx="122">
                  <c:v>29281</c:v>
                </c:pt>
                <c:pt idx="123">
                  <c:v>29312</c:v>
                </c:pt>
                <c:pt idx="124">
                  <c:v>29342</c:v>
                </c:pt>
                <c:pt idx="125">
                  <c:v>29373</c:v>
                </c:pt>
                <c:pt idx="126">
                  <c:v>29403</c:v>
                </c:pt>
                <c:pt idx="127">
                  <c:v>29434</c:v>
                </c:pt>
                <c:pt idx="128">
                  <c:v>29465</c:v>
                </c:pt>
                <c:pt idx="129">
                  <c:v>29495</c:v>
                </c:pt>
                <c:pt idx="130">
                  <c:v>29526</c:v>
                </c:pt>
                <c:pt idx="131">
                  <c:v>29556</c:v>
                </c:pt>
                <c:pt idx="132">
                  <c:v>29587</c:v>
                </c:pt>
                <c:pt idx="133">
                  <c:v>29618</c:v>
                </c:pt>
                <c:pt idx="134">
                  <c:v>29646</c:v>
                </c:pt>
                <c:pt idx="135">
                  <c:v>29677</c:v>
                </c:pt>
                <c:pt idx="136">
                  <c:v>29707</c:v>
                </c:pt>
                <c:pt idx="137">
                  <c:v>29738</c:v>
                </c:pt>
                <c:pt idx="138">
                  <c:v>29768</c:v>
                </c:pt>
                <c:pt idx="139">
                  <c:v>29799</c:v>
                </c:pt>
                <c:pt idx="140">
                  <c:v>29830</c:v>
                </c:pt>
                <c:pt idx="141">
                  <c:v>29860</c:v>
                </c:pt>
                <c:pt idx="142">
                  <c:v>29891</c:v>
                </c:pt>
                <c:pt idx="143">
                  <c:v>29921</c:v>
                </c:pt>
                <c:pt idx="144">
                  <c:v>29952</c:v>
                </c:pt>
                <c:pt idx="145">
                  <c:v>29983</c:v>
                </c:pt>
                <c:pt idx="146">
                  <c:v>30011</c:v>
                </c:pt>
                <c:pt idx="147">
                  <c:v>30042</c:v>
                </c:pt>
                <c:pt idx="148">
                  <c:v>30072</c:v>
                </c:pt>
                <c:pt idx="149">
                  <c:v>30103</c:v>
                </c:pt>
                <c:pt idx="150">
                  <c:v>30133</c:v>
                </c:pt>
                <c:pt idx="151">
                  <c:v>30164</c:v>
                </c:pt>
                <c:pt idx="152">
                  <c:v>30195</c:v>
                </c:pt>
                <c:pt idx="153">
                  <c:v>30225</c:v>
                </c:pt>
                <c:pt idx="154">
                  <c:v>30256</c:v>
                </c:pt>
                <c:pt idx="155">
                  <c:v>30286</c:v>
                </c:pt>
                <c:pt idx="156">
                  <c:v>30317</c:v>
                </c:pt>
                <c:pt idx="157">
                  <c:v>30348</c:v>
                </c:pt>
                <c:pt idx="158">
                  <c:v>30376</c:v>
                </c:pt>
                <c:pt idx="159">
                  <c:v>30407</c:v>
                </c:pt>
                <c:pt idx="160">
                  <c:v>30437</c:v>
                </c:pt>
                <c:pt idx="161">
                  <c:v>30468</c:v>
                </c:pt>
                <c:pt idx="162">
                  <c:v>30498</c:v>
                </c:pt>
                <c:pt idx="163">
                  <c:v>30529</c:v>
                </c:pt>
                <c:pt idx="164">
                  <c:v>30560</c:v>
                </c:pt>
                <c:pt idx="165">
                  <c:v>30590</c:v>
                </c:pt>
                <c:pt idx="166">
                  <c:v>30621</c:v>
                </c:pt>
                <c:pt idx="167">
                  <c:v>30651</c:v>
                </c:pt>
                <c:pt idx="168">
                  <c:v>30682</c:v>
                </c:pt>
                <c:pt idx="169">
                  <c:v>30713</c:v>
                </c:pt>
                <c:pt idx="170">
                  <c:v>30742</c:v>
                </c:pt>
                <c:pt idx="171">
                  <c:v>30773</c:v>
                </c:pt>
                <c:pt idx="172">
                  <c:v>30803</c:v>
                </c:pt>
                <c:pt idx="173">
                  <c:v>30834</c:v>
                </c:pt>
                <c:pt idx="174">
                  <c:v>30864</c:v>
                </c:pt>
                <c:pt idx="175">
                  <c:v>30895</c:v>
                </c:pt>
                <c:pt idx="176">
                  <c:v>30926</c:v>
                </c:pt>
                <c:pt idx="177">
                  <c:v>30956</c:v>
                </c:pt>
                <c:pt idx="178">
                  <c:v>30987</c:v>
                </c:pt>
                <c:pt idx="179">
                  <c:v>31017</c:v>
                </c:pt>
                <c:pt idx="180">
                  <c:v>31048</c:v>
                </c:pt>
                <c:pt idx="181">
                  <c:v>31079</c:v>
                </c:pt>
                <c:pt idx="182">
                  <c:v>31107</c:v>
                </c:pt>
                <c:pt idx="183">
                  <c:v>31138</c:v>
                </c:pt>
                <c:pt idx="184">
                  <c:v>31168</c:v>
                </c:pt>
                <c:pt idx="185">
                  <c:v>31199</c:v>
                </c:pt>
                <c:pt idx="186">
                  <c:v>31229</c:v>
                </c:pt>
                <c:pt idx="187">
                  <c:v>31260</c:v>
                </c:pt>
                <c:pt idx="188">
                  <c:v>31291</c:v>
                </c:pt>
                <c:pt idx="189">
                  <c:v>31321</c:v>
                </c:pt>
                <c:pt idx="190">
                  <c:v>31352</c:v>
                </c:pt>
                <c:pt idx="191">
                  <c:v>31382</c:v>
                </c:pt>
                <c:pt idx="192">
                  <c:v>31413</c:v>
                </c:pt>
                <c:pt idx="193">
                  <c:v>31444</c:v>
                </c:pt>
                <c:pt idx="194">
                  <c:v>31472</c:v>
                </c:pt>
                <c:pt idx="195">
                  <c:v>31503</c:v>
                </c:pt>
                <c:pt idx="196">
                  <c:v>31533</c:v>
                </c:pt>
                <c:pt idx="197">
                  <c:v>31564</c:v>
                </c:pt>
                <c:pt idx="198">
                  <c:v>31594</c:v>
                </c:pt>
                <c:pt idx="199">
                  <c:v>31625</c:v>
                </c:pt>
                <c:pt idx="200">
                  <c:v>31656</c:v>
                </c:pt>
                <c:pt idx="201">
                  <c:v>31686</c:v>
                </c:pt>
                <c:pt idx="202">
                  <c:v>31717</c:v>
                </c:pt>
                <c:pt idx="203">
                  <c:v>31747</c:v>
                </c:pt>
                <c:pt idx="204">
                  <c:v>31778</c:v>
                </c:pt>
                <c:pt idx="205">
                  <c:v>31809</c:v>
                </c:pt>
                <c:pt idx="206">
                  <c:v>31837</c:v>
                </c:pt>
                <c:pt idx="207">
                  <c:v>31868</c:v>
                </c:pt>
                <c:pt idx="208">
                  <c:v>31898</c:v>
                </c:pt>
                <c:pt idx="209">
                  <c:v>31929</c:v>
                </c:pt>
                <c:pt idx="210">
                  <c:v>31959</c:v>
                </c:pt>
                <c:pt idx="211">
                  <c:v>31990</c:v>
                </c:pt>
                <c:pt idx="212">
                  <c:v>32021</c:v>
                </c:pt>
                <c:pt idx="213">
                  <c:v>32051</c:v>
                </c:pt>
                <c:pt idx="214">
                  <c:v>32082</c:v>
                </c:pt>
                <c:pt idx="215">
                  <c:v>32112</c:v>
                </c:pt>
                <c:pt idx="216">
                  <c:v>32143</c:v>
                </c:pt>
                <c:pt idx="217">
                  <c:v>32174</c:v>
                </c:pt>
                <c:pt idx="218">
                  <c:v>32203</c:v>
                </c:pt>
                <c:pt idx="219">
                  <c:v>32234</c:v>
                </c:pt>
                <c:pt idx="220">
                  <c:v>32264</c:v>
                </c:pt>
                <c:pt idx="221">
                  <c:v>32295</c:v>
                </c:pt>
                <c:pt idx="222">
                  <c:v>32325</c:v>
                </c:pt>
                <c:pt idx="223">
                  <c:v>32356</c:v>
                </c:pt>
                <c:pt idx="224">
                  <c:v>32387</c:v>
                </c:pt>
                <c:pt idx="225">
                  <c:v>32417</c:v>
                </c:pt>
                <c:pt idx="226">
                  <c:v>32448</c:v>
                </c:pt>
                <c:pt idx="227">
                  <c:v>32478</c:v>
                </c:pt>
                <c:pt idx="228">
                  <c:v>32509</c:v>
                </c:pt>
                <c:pt idx="229">
                  <c:v>32540</c:v>
                </c:pt>
                <c:pt idx="230">
                  <c:v>32568</c:v>
                </c:pt>
                <c:pt idx="231">
                  <c:v>32599</c:v>
                </c:pt>
                <c:pt idx="232">
                  <c:v>32629</c:v>
                </c:pt>
                <c:pt idx="233">
                  <c:v>32660</c:v>
                </c:pt>
                <c:pt idx="234">
                  <c:v>32690</c:v>
                </c:pt>
                <c:pt idx="235">
                  <c:v>32721</c:v>
                </c:pt>
                <c:pt idx="236">
                  <c:v>32752</c:v>
                </c:pt>
                <c:pt idx="237">
                  <c:v>32782</c:v>
                </c:pt>
                <c:pt idx="238">
                  <c:v>32813</c:v>
                </c:pt>
                <c:pt idx="239">
                  <c:v>32843</c:v>
                </c:pt>
                <c:pt idx="240">
                  <c:v>32874</c:v>
                </c:pt>
                <c:pt idx="241">
                  <c:v>32905</c:v>
                </c:pt>
                <c:pt idx="242">
                  <c:v>32933</c:v>
                </c:pt>
                <c:pt idx="243">
                  <c:v>32964</c:v>
                </c:pt>
                <c:pt idx="244">
                  <c:v>32994</c:v>
                </c:pt>
                <c:pt idx="245">
                  <c:v>33025</c:v>
                </c:pt>
                <c:pt idx="246">
                  <c:v>33055</c:v>
                </c:pt>
                <c:pt idx="247">
                  <c:v>33086</c:v>
                </c:pt>
                <c:pt idx="248">
                  <c:v>33117</c:v>
                </c:pt>
                <c:pt idx="249">
                  <c:v>33147</c:v>
                </c:pt>
                <c:pt idx="250">
                  <c:v>33178</c:v>
                </c:pt>
                <c:pt idx="251">
                  <c:v>33208</c:v>
                </c:pt>
                <c:pt idx="252">
                  <c:v>33239</c:v>
                </c:pt>
                <c:pt idx="253">
                  <c:v>33270</c:v>
                </c:pt>
                <c:pt idx="254">
                  <c:v>33298</c:v>
                </c:pt>
                <c:pt idx="255">
                  <c:v>33329</c:v>
                </c:pt>
                <c:pt idx="256">
                  <c:v>33359</c:v>
                </c:pt>
                <c:pt idx="257">
                  <c:v>33390</c:v>
                </c:pt>
                <c:pt idx="258">
                  <c:v>33420</c:v>
                </c:pt>
                <c:pt idx="259">
                  <c:v>33451</c:v>
                </c:pt>
                <c:pt idx="260">
                  <c:v>33482</c:v>
                </c:pt>
                <c:pt idx="261">
                  <c:v>33512</c:v>
                </c:pt>
                <c:pt idx="262">
                  <c:v>33543</c:v>
                </c:pt>
                <c:pt idx="263">
                  <c:v>33573</c:v>
                </c:pt>
                <c:pt idx="264">
                  <c:v>33604</c:v>
                </c:pt>
                <c:pt idx="265">
                  <c:v>33635</c:v>
                </c:pt>
                <c:pt idx="266">
                  <c:v>33664</c:v>
                </c:pt>
                <c:pt idx="267">
                  <c:v>33695</c:v>
                </c:pt>
                <c:pt idx="268">
                  <c:v>33725</c:v>
                </c:pt>
                <c:pt idx="269">
                  <c:v>33756</c:v>
                </c:pt>
                <c:pt idx="270">
                  <c:v>33786</c:v>
                </c:pt>
                <c:pt idx="271">
                  <c:v>33817</c:v>
                </c:pt>
                <c:pt idx="272">
                  <c:v>33848</c:v>
                </c:pt>
                <c:pt idx="273">
                  <c:v>33878</c:v>
                </c:pt>
                <c:pt idx="274">
                  <c:v>33909</c:v>
                </c:pt>
                <c:pt idx="275">
                  <c:v>33939</c:v>
                </c:pt>
                <c:pt idx="276">
                  <c:v>33970</c:v>
                </c:pt>
                <c:pt idx="277">
                  <c:v>34001</c:v>
                </c:pt>
                <c:pt idx="278">
                  <c:v>34029</c:v>
                </c:pt>
                <c:pt idx="279">
                  <c:v>34060</c:v>
                </c:pt>
                <c:pt idx="280">
                  <c:v>34090</c:v>
                </c:pt>
                <c:pt idx="281">
                  <c:v>34121</c:v>
                </c:pt>
                <c:pt idx="282">
                  <c:v>34151</c:v>
                </c:pt>
                <c:pt idx="283">
                  <c:v>34182</c:v>
                </c:pt>
                <c:pt idx="284">
                  <c:v>34213</c:v>
                </c:pt>
                <c:pt idx="285">
                  <c:v>34243</c:v>
                </c:pt>
                <c:pt idx="286">
                  <c:v>34274</c:v>
                </c:pt>
                <c:pt idx="287">
                  <c:v>34304</c:v>
                </c:pt>
                <c:pt idx="288">
                  <c:v>34335</c:v>
                </c:pt>
                <c:pt idx="289">
                  <c:v>34366</c:v>
                </c:pt>
                <c:pt idx="290">
                  <c:v>34394</c:v>
                </c:pt>
                <c:pt idx="291">
                  <c:v>34425</c:v>
                </c:pt>
                <c:pt idx="292">
                  <c:v>34455</c:v>
                </c:pt>
                <c:pt idx="293">
                  <c:v>34486</c:v>
                </c:pt>
                <c:pt idx="294">
                  <c:v>34516</c:v>
                </c:pt>
                <c:pt idx="295">
                  <c:v>34547</c:v>
                </c:pt>
                <c:pt idx="296">
                  <c:v>34578</c:v>
                </c:pt>
                <c:pt idx="297">
                  <c:v>34608</c:v>
                </c:pt>
                <c:pt idx="298">
                  <c:v>34639</c:v>
                </c:pt>
                <c:pt idx="299">
                  <c:v>34669</c:v>
                </c:pt>
                <c:pt idx="300">
                  <c:v>34700</c:v>
                </c:pt>
                <c:pt idx="301">
                  <c:v>34731</c:v>
                </c:pt>
                <c:pt idx="302">
                  <c:v>34759</c:v>
                </c:pt>
                <c:pt idx="303">
                  <c:v>34790</c:v>
                </c:pt>
                <c:pt idx="304">
                  <c:v>34820</c:v>
                </c:pt>
                <c:pt idx="305">
                  <c:v>34851</c:v>
                </c:pt>
                <c:pt idx="306">
                  <c:v>34881</c:v>
                </c:pt>
                <c:pt idx="307">
                  <c:v>34912</c:v>
                </c:pt>
                <c:pt idx="308">
                  <c:v>34943</c:v>
                </c:pt>
                <c:pt idx="309">
                  <c:v>34973</c:v>
                </c:pt>
                <c:pt idx="310">
                  <c:v>35004</c:v>
                </c:pt>
                <c:pt idx="311">
                  <c:v>35034</c:v>
                </c:pt>
                <c:pt idx="312">
                  <c:v>35065</c:v>
                </c:pt>
                <c:pt idx="313">
                  <c:v>35096</c:v>
                </c:pt>
                <c:pt idx="314">
                  <c:v>35125</c:v>
                </c:pt>
                <c:pt idx="315">
                  <c:v>35156</c:v>
                </c:pt>
                <c:pt idx="316">
                  <c:v>35186</c:v>
                </c:pt>
                <c:pt idx="317">
                  <c:v>35217</c:v>
                </c:pt>
                <c:pt idx="318">
                  <c:v>35247</c:v>
                </c:pt>
                <c:pt idx="319">
                  <c:v>35278</c:v>
                </c:pt>
                <c:pt idx="320">
                  <c:v>35309</c:v>
                </c:pt>
                <c:pt idx="321">
                  <c:v>35339</c:v>
                </c:pt>
                <c:pt idx="322">
                  <c:v>35370</c:v>
                </c:pt>
                <c:pt idx="323">
                  <c:v>35400</c:v>
                </c:pt>
                <c:pt idx="324">
                  <c:v>35431</c:v>
                </c:pt>
                <c:pt idx="325">
                  <c:v>35462</c:v>
                </c:pt>
                <c:pt idx="326">
                  <c:v>35490</c:v>
                </c:pt>
                <c:pt idx="327">
                  <c:v>35521</c:v>
                </c:pt>
                <c:pt idx="328">
                  <c:v>35551</c:v>
                </c:pt>
                <c:pt idx="329">
                  <c:v>35582</c:v>
                </c:pt>
                <c:pt idx="330">
                  <c:v>35612</c:v>
                </c:pt>
                <c:pt idx="331">
                  <c:v>35643</c:v>
                </c:pt>
                <c:pt idx="332">
                  <c:v>35674</c:v>
                </c:pt>
                <c:pt idx="333">
                  <c:v>35704</c:v>
                </c:pt>
                <c:pt idx="334">
                  <c:v>35735</c:v>
                </c:pt>
                <c:pt idx="335">
                  <c:v>35765</c:v>
                </c:pt>
                <c:pt idx="336">
                  <c:v>35796</c:v>
                </c:pt>
                <c:pt idx="337">
                  <c:v>35827</c:v>
                </c:pt>
                <c:pt idx="338">
                  <c:v>35855</c:v>
                </c:pt>
                <c:pt idx="339">
                  <c:v>35886</c:v>
                </c:pt>
                <c:pt idx="340">
                  <c:v>35916</c:v>
                </c:pt>
                <c:pt idx="341">
                  <c:v>35947</c:v>
                </c:pt>
                <c:pt idx="342">
                  <c:v>35977</c:v>
                </c:pt>
                <c:pt idx="343">
                  <c:v>36008</c:v>
                </c:pt>
                <c:pt idx="344">
                  <c:v>36039</c:v>
                </c:pt>
                <c:pt idx="345">
                  <c:v>36069</c:v>
                </c:pt>
                <c:pt idx="346">
                  <c:v>36100</c:v>
                </c:pt>
                <c:pt idx="347">
                  <c:v>36130</c:v>
                </c:pt>
                <c:pt idx="348">
                  <c:v>36161</c:v>
                </c:pt>
                <c:pt idx="349">
                  <c:v>36192</c:v>
                </c:pt>
                <c:pt idx="350">
                  <c:v>36220</c:v>
                </c:pt>
                <c:pt idx="351">
                  <c:v>36251</c:v>
                </c:pt>
                <c:pt idx="352">
                  <c:v>36281</c:v>
                </c:pt>
                <c:pt idx="353">
                  <c:v>36312</c:v>
                </c:pt>
                <c:pt idx="354">
                  <c:v>36342</c:v>
                </c:pt>
                <c:pt idx="355">
                  <c:v>36373</c:v>
                </c:pt>
                <c:pt idx="356">
                  <c:v>36404</c:v>
                </c:pt>
                <c:pt idx="357">
                  <c:v>36434</c:v>
                </c:pt>
                <c:pt idx="358">
                  <c:v>36465</c:v>
                </c:pt>
                <c:pt idx="359">
                  <c:v>36495</c:v>
                </c:pt>
                <c:pt idx="360">
                  <c:v>36526</c:v>
                </c:pt>
                <c:pt idx="361">
                  <c:v>36557</c:v>
                </c:pt>
                <c:pt idx="362">
                  <c:v>36586</c:v>
                </c:pt>
                <c:pt idx="363">
                  <c:v>36617</c:v>
                </c:pt>
                <c:pt idx="364">
                  <c:v>36647</c:v>
                </c:pt>
                <c:pt idx="365">
                  <c:v>36678</c:v>
                </c:pt>
                <c:pt idx="366">
                  <c:v>36708</c:v>
                </c:pt>
                <c:pt idx="367">
                  <c:v>36739</c:v>
                </c:pt>
                <c:pt idx="368">
                  <c:v>36770</c:v>
                </c:pt>
                <c:pt idx="369">
                  <c:v>36800</c:v>
                </c:pt>
                <c:pt idx="370">
                  <c:v>36831</c:v>
                </c:pt>
                <c:pt idx="371">
                  <c:v>36861</c:v>
                </c:pt>
                <c:pt idx="372">
                  <c:v>36892</c:v>
                </c:pt>
                <c:pt idx="373">
                  <c:v>36923</c:v>
                </c:pt>
                <c:pt idx="374">
                  <c:v>36951</c:v>
                </c:pt>
                <c:pt idx="375">
                  <c:v>36982</c:v>
                </c:pt>
                <c:pt idx="376">
                  <c:v>37012</c:v>
                </c:pt>
                <c:pt idx="377">
                  <c:v>37043</c:v>
                </c:pt>
                <c:pt idx="378">
                  <c:v>37073</c:v>
                </c:pt>
                <c:pt idx="379">
                  <c:v>37104</c:v>
                </c:pt>
                <c:pt idx="380">
                  <c:v>37135</c:v>
                </c:pt>
                <c:pt idx="381">
                  <c:v>37165</c:v>
                </c:pt>
                <c:pt idx="382">
                  <c:v>37196</c:v>
                </c:pt>
                <c:pt idx="383">
                  <c:v>37226</c:v>
                </c:pt>
                <c:pt idx="384">
                  <c:v>37257</c:v>
                </c:pt>
                <c:pt idx="385">
                  <c:v>37288</c:v>
                </c:pt>
                <c:pt idx="386">
                  <c:v>37316</c:v>
                </c:pt>
                <c:pt idx="387">
                  <c:v>37347</c:v>
                </c:pt>
                <c:pt idx="388">
                  <c:v>37377</c:v>
                </c:pt>
                <c:pt idx="389">
                  <c:v>37408</c:v>
                </c:pt>
                <c:pt idx="390">
                  <c:v>37438</c:v>
                </c:pt>
                <c:pt idx="391">
                  <c:v>37469</c:v>
                </c:pt>
                <c:pt idx="392">
                  <c:v>37500</c:v>
                </c:pt>
                <c:pt idx="393">
                  <c:v>37530</c:v>
                </c:pt>
                <c:pt idx="394">
                  <c:v>37561</c:v>
                </c:pt>
                <c:pt idx="395">
                  <c:v>37591</c:v>
                </c:pt>
                <c:pt idx="396">
                  <c:v>37622</c:v>
                </c:pt>
                <c:pt idx="397">
                  <c:v>37653</c:v>
                </c:pt>
                <c:pt idx="398">
                  <c:v>37681</c:v>
                </c:pt>
                <c:pt idx="399">
                  <c:v>37712</c:v>
                </c:pt>
                <c:pt idx="400">
                  <c:v>37742</c:v>
                </c:pt>
                <c:pt idx="401">
                  <c:v>37773</c:v>
                </c:pt>
                <c:pt idx="402">
                  <c:v>37803</c:v>
                </c:pt>
                <c:pt idx="403">
                  <c:v>37834</c:v>
                </c:pt>
                <c:pt idx="404">
                  <c:v>37865</c:v>
                </c:pt>
                <c:pt idx="405">
                  <c:v>37895</c:v>
                </c:pt>
                <c:pt idx="406">
                  <c:v>37926</c:v>
                </c:pt>
                <c:pt idx="407">
                  <c:v>37956</c:v>
                </c:pt>
                <c:pt idx="408">
                  <c:v>37987</c:v>
                </c:pt>
                <c:pt idx="409">
                  <c:v>38018</c:v>
                </c:pt>
                <c:pt idx="410">
                  <c:v>38047</c:v>
                </c:pt>
                <c:pt idx="411">
                  <c:v>38078</c:v>
                </c:pt>
                <c:pt idx="412">
                  <c:v>38108</c:v>
                </c:pt>
                <c:pt idx="413">
                  <c:v>38139</c:v>
                </c:pt>
                <c:pt idx="414">
                  <c:v>38169</c:v>
                </c:pt>
                <c:pt idx="415">
                  <c:v>38200</c:v>
                </c:pt>
                <c:pt idx="416">
                  <c:v>38231</c:v>
                </c:pt>
                <c:pt idx="417">
                  <c:v>38261</c:v>
                </c:pt>
                <c:pt idx="418">
                  <c:v>38292</c:v>
                </c:pt>
                <c:pt idx="419">
                  <c:v>38322</c:v>
                </c:pt>
                <c:pt idx="420">
                  <c:v>38353</c:v>
                </c:pt>
                <c:pt idx="421">
                  <c:v>38384</c:v>
                </c:pt>
                <c:pt idx="422">
                  <c:v>38412</c:v>
                </c:pt>
                <c:pt idx="423">
                  <c:v>38443</c:v>
                </c:pt>
                <c:pt idx="424">
                  <c:v>38473</c:v>
                </c:pt>
                <c:pt idx="425">
                  <c:v>38504</c:v>
                </c:pt>
                <c:pt idx="426">
                  <c:v>38534</c:v>
                </c:pt>
                <c:pt idx="427">
                  <c:v>38565</c:v>
                </c:pt>
                <c:pt idx="428">
                  <c:v>38596</c:v>
                </c:pt>
                <c:pt idx="429">
                  <c:v>38626</c:v>
                </c:pt>
                <c:pt idx="430">
                  <c:v>38657</c:v>
                </c:pt>
                <c:pt idx="431">
                  <c:v>38687</c:v>
                </c:pt>
                <c:pt idx="432">
                  <c:v>38718</c:v>
                </c:pt>
                <c:pt idx="433">
                  <c:v>38749</c:v>
                </c:pt>
                <c:pt idx="434">
                  <c:v>38777</c:v>
                </c:pt>
                <c:pt idx="435">
                  <c:v>38808</c:v>
                </c:pt>
                <c:pt idx="436">
                  <c:v>38838</c:v>
                </c:pt>
                <c:pt idx="437">
                  <c:v>38869</c:v>
                </c:pt>
                <c:pt idx="438">
                  <c:v>38899</c:v>
                </c:pt>
                <c:pt idx="439">
                  <c:v>38930</c:v>
                </c:pt>
                <c:pt idx="440">
                  <c:v>38961</c:v>
                </c:pt>
                <c:pt idx="441">
                  <c:v>38991</c:v>
                </c:pt>
                <c:pt idx="442">
                  <c:v>39022</c:v>
                </c:pt>
                <c:pt idx="443">
                  <c:v>39052</c:v>
                </c:pt>
                <c:pt idx="444">
                  <c:v>39083</c:v>
                </c:pt>
                <c:pt idx="445">
                  <c:v>39114</c:v>
                </c:pt>
                <c:pt idx="446">
                  <c:v>39142</c:v>
                </c:pt>
                <c:pt idx="447">
                  <c:v>39173</c:v>
                </c:pt>
                <c:pt idx="448">
                  <c:v>39203</c:v>
                </c:pt>
                <c:pt idx="449">
                  <c:v>39234</c:v>
                </c:pt>
                <c:pt idx="450">
                  <c:v>39264</c:v>
                </c:pt>
                <c:pt idx="451">
                  <c:v>39295</c:v>
                </c:pt>
                <c:pt idx="452">
                  <c:v>39326</c:v>
                </c:pt>
                <c:pt idx="453">
                  <c:v>39356</c:v>
                </c:pt>
                <c:pt idx="454">
                  <c:v>39387</c:v>
                </c:pt>
                <c:pt idx="455">
                  <c:v>39417</c:v>
                </c:pt>
                <c:pt idx="456">
                  <c:v>39448</c:v>
                </c:pt>
                <c:pt idx="457">
                  <c:v>39479</c:v>
                </c:pt>
                <c:pt idx="458">
                  <c:v>39508</c:v>
                </c:pt>
                <c:pt idx="459">
                  <c:v>39539</c:v>
                </c:pt>
                <c:pt idx="460">
                  <c:v>39569</c:v>
                </c:pt>
                <c:pt idx="461">
                  <c:v>39600</c:v>
                </c:pt>
                <c:pt idx="462">
                  <c:v>39630</c:v>
                </c:pt>
                <c:pt idx="463">
                  <c:v>39661</c:v>
                </c:pt>
                <c:pt idx="464">
                  <c:v>39692</c:v>
                </c:pt>
                <c:pt idx="465">
                  <c:v>39722</c:v>
                </c:pt>
                <c:pt idx="466">
                  <c:v>39753</c:v>
                </c:pt>
                <c:pt idx="467">
                  <c:v>39783</c:v>
                </c:pt>
                <c:pt idx="468">
                  <c:v>39814</c:v>
                </c:pt>
                <c:pt idx="469">
                  <c:v>39845</c:v>
                </c:pt>
                <c:pt idx="470">
                  <c:v>39873</c:v>
                </c:pt>
                <c:pt idx="471">
                  <c:v>39904</c:v>
                </c:pt>
                <c:pt idx="472">
                  <c:v>39934</c:v>
                </c:pt>
                <c:pt idx="473">
                  <c:v>39965</c:v>
                </c:pt>
                <c:pt idx="474">
                  <c:v>39995</c:v>
                </c:pt>
                <c:pt idx="475">
                  <c:v>40026</c:v>
                </c:pt>
                <c:pt idx="476">
                  <c:v>40057</c:v>
                </c:pt>
                <c:pt idx="477">
                  <c:v>40087</c:v>
                </c:pt>
                <c:pt idx="478">
                  <c:v>40118</c:v>
                </c:pt>
                <c:pt idx="479">
                  <c:v>40148</c:v>
                </c:pt>
                <c:pt idx="480">
                  <c:v>40179</c:v>
                </c:pt>
                <c:pt idx="481">
                  <c:v>40210</c:v>
                </c:pt>
                <c:pt idx="482">
                  <c:v>40238</c:v>
                </c:pt>
                <c:pt idx="483">
                  <c:v>40269</c:v>
                </c:pt>
                <c:pt idx="484">
                  <c:v>40299</c:v>
                </c:pt>
                <c:pt idx="485">
                  <c:v>40330</c:v>
                </c:pt>
                <c:pt idx="486">
                  <c:v>40360</c:v>
                </c:pt>
                <c:pt idx="487">
                  <c:v>40391</c:v>
                </c:pt>
                <c:pt idx="488">
                  <c:v>40422</c:v>
                </c:pt>
                <c:pt idx="489">
                  <c:v>40452</c:v>
                </c:pt>
                <c:pt idx="490">
                  <c:v>40483</c:v>
                </c:pt>
                <c:pt idx="491">
                  <c:v>40513</c:v>
                </c:pt>
                <c:pt idx="492">
                  <c:v>40544</c:v>
                </c:pt>
                <c:pt idx="493">
                  <c:v>40575</c:v>
                </c:pt>
                <c:pt idx="494">
                  <c:v>40603</c:v>
                </c:pt>
                <c:pt idx="495">
                  <c:v>40634</c:v>
                </c:pt>
                <c:pt idx="496">
                  <c:v>40664</c:v>
                </c:pt>
                <c:pt idx="497">
                  <c:v>40695</c:v>
                </c:pt>
                <c:pt idx="498">
                  <c:v>40725</c:v>
                </c:pt>
                <c:pt idx="499">
                  <c:v>40756</c:v>
                </c:pt>
                <c:pt idx="500">
                  <c:v>40787</c:v>
                </c:pt>
                <c:pt idx="501">
                  <c:v>40817</c:v>
                </c:pt>
                <c:pt idx="502">
                  <c:v>40848</c:v>
                </c:pt>
                <c:pt idx="503">
                  <c:v>40878</c:v>
                </c:pt>
                <c:pt idx="504">
                  <c:v>40909</c:v>
                </c:pt>
                <c:pt idx="505">
                  <c:v>40940</c:v>
                </c:pt>
                <c:pt idx="506">
                  <c:v>40969</c:v>
                </c:pt>
                <c:pt idx="507">
                  <c:v>41000</c:v>
                </c:pt>
                <c:pt idx="508">
                  <c:v>41030</c:v>
                </c:pt>
                <c:pt idx="509">
                  <c:v>41061</c:v>
                </c:pt>
                <c:pt idx="510">
                  <c:v>41091</c:v>
                </c:pt>
                <c:pt idx="511">
                  <c:v>41122</c:v>
                </c:pt>
                <c:pt idx="512">
                  <c:v>41153</c:v>
                </c:pt>
                <c:pt idx="513">
                  <c:v>41183</c:v>
                </c:pt>
                <c:pt idx="514">
                  <c:v>41214</c:v>
                </c:pt>
                <c:pt idx="515">
                  <c:v>41244</c:v>
                </c:pt>
                <c:pt idx="516">
                  <c:v>41275</c:v>
                </c:pt>
                <c:pt idx="517">
                  <c:v>41306</c:v>
                </c:pt>
                <c:pt idx="518">
                  <c:v>41334</c:v>
                </c:pt>
                <c:pt idx="519">
                  <c:v>41365</c:v>
                </c:pt>
                <c:pt idx="520">
                  <c:v>41395</c:v>
                </c:pt>
                <c:pt idx="521">
                  <c:v>41426</c:v>
                </c:pt>
                <c:pt idx="522">
                  <c:v>41456</c:v>
                </c:pt>
                <c:pt idx="523">
                  <c:v>41487</c:v>
                </c:pt>
                <c:pt idx="524">
                  <c:v>41518</c:v>
                </c:pt>
                <c:pt idx="525">
                  <c:v>41548</c:v>
                </c:pt>
                <c:pt idx="526">
                  <c:v>41579</c:v>
                </c:pt>
                <c:pt idx="527">
                  <c:v>41609</c:v>
                </c:pt>
                <c:pt idx="528">
                  <c:v>41640</c:v>
                </c:pt>
                <c:pt idx="529">
                  <c:v>41671</c:v>
                </c:pt>
                <c:pt idx="530">
                  <c:v>41699</c:v>
                </c:pt>
                <c:pt idx="531">
                  <c:v>41730</c:v>
                </c:pt>
                <c:pt idx="532">
                  <c:v>41760</c:v>
                </c:pt>
                <c:pt idx="533">
                  <c:v>41791</c:v>
                </c:pt>
                <c:pt idx="534">
                  <c:v>41821</c:v>
                </c:pt>
                <c:pt idx="535">
                  <c:v>41852</c:v>
                </c:pt>
                <c:pt idx="536">
                  <c:v>41883</c:v>
                </c:pt>
                <c:pt idx="537">
                  <c:v>41913</c:v>
                </c:pt>
                <c:pt idx="538">
                  <c:v>41944</c:v>
                </c:pt>
                <c:pt idx="539">
                  <c:v>41974</c:v>
                </c:pt>
                <c:pt idx="540">
                  <c:v>42005</c:v>
                </c:pt>
                <c:pt idx="541">
                  <c:v>42036</c:v>
                </c:pt>
                <c:pt idx="542">
                  <c:v>42064</c:v>
                </c:pt>
                <c:pt idx="543">
                  <c:v>42095</c:v>
                </c:pt>
                <c:pt idx="544">
                  <c:v>42125</c:v>
                </c:pt>
                <c:pt idx="545">
                  <c:v>42156</c:v>
                </c:pt>
                <c:pt idx="546">
                  <c:v>42186</c:v>
                </c:pt>
                <c:pt idx="547">
                  <c:v>42217</c:v>
                </c:pt>
                <c:pt idx="548">
                  <c:v>42248</c:v>
                </c:pt>
                <c:pt idx="549">
                  <c:v>42278</c:v>
                </c:pt>
                <c:pt idx="550">
                  <c:v>42309</c:v>
                </c:pt>
                <c:pt idx="551">
                  <c:v>42339</c:v>
                </c:pt>
                <c:pt idx="552">
                  <c:v>42370</c:v>
                </c:pt>
                <c:pt idx="553">
                  <c:v>42401</c:v>
                </c:pt>
                <c:pt idx="554">
                  <c:v>42430</c:v>
                </c:pt>
                <c:pt idx="555">
                  <c:v>42461</c:v>
                </c:pt>
                <c:pt idx="556">
                  <c:v>42491</c:v>
                </c:pt>
                <c:pt idx="557">
                  <c:v>42522</c:v>
                </c:pt>
                <c:pt idx="558">
                  <c:v>42552</c:v>
                </c:pt>
                <c:pt idx="559">
                  <c:v>42583</c:v>
                </c:pt>
                <c:pt idx="560">
                  <c:v>42614</c:v>
                </c:pt>
                <c:pt idx="561">
                  <c:v>42644</c:v>
                </c:pt>
                <c:pt idx="562">
                  <c:v>42675</c:v>
                </c:pt>
                <c:pt idx="563">
                  <c:v>42705</c:v>
                </c:pt>
                <c:pt idx="564">
                  <c:v>42736</c:v>
                </c:pt>
                <c:pt idx="565">
                  <c:v>42767</c:v>
                </c:pt>
                <c:pt idx="566">
                  <c:v>42795</c:v>
                </c:pt>
                <c:pt idx="567">
                  <c:v>42826</c:v>
                </c:pt>
                <c:pt idx="568">
                  <c:v>42856</c:v>
                </c:pt>
                <c:pt idx="569">
                  <c:v>42887</c:v>
                </c:pt>
                <c:pt idx="570">
                  <c:v>42917</c:v>
                </c:pt>
                <c:pt idx="571">
                  <c:v>42948</c:v>
                </c:pt>
                <c:pt idx="572">
                  <c:v>42979</c:v>
                </c:pt>
                <c:pt idx="573">
                  <c:v>43009</c:v>
                </c:pt>
                <c:pt idx="574">
                  <c:v>43040</c:v>
                </c:pt>
                <c:pt idx="575">
                  <c:v>43070</c:v>
                </c:pt>
                <c:pt idx="576">
                  <c:v>43101</c:v>
                </c:pt>
                <c:pt idx="577">
                  <c:v>43132</c:v>
                </c:pt>
                <c:pt idx="578">
                  <c:v>43160</c:v>
                </c:pt>
                <c:pt idx="579">
                  <c:v>43191</c:v>
                </c:pt>
                <c:pt idx="580">
                  <c:v>43221</c:v>
                </c:pt>
                <c:pt idx="581">
                  <c:v>43252</c:v>
                </c:pt>
                <c:pt idx="582">
                  <c:v>43282</c:v>
                </c:pt>
                <c:pt idx="583">
                  <c:v>43313</c:v>
                </c:pt>
                <c:pt idx="584">
                  <c:v>43344</c:v>
                </c:pt>
                <c:pt idx="585">
                  <c:v>43374</c:v>
                </c:pt>
                <c:pt idx="586">
                  <c:v>43405</c:v>
                </c:pt>
                <c:pt idx="587">
                  <c:v>43435</c:v>
                </c:pt>
                <c:pt idx="588">
                  <c:v>43466</c:v>
                </c:pt>
                <c:pt idx="589">
                  <c:v>43497</c:v>
                </c:pt>
                <c:pt idx="590">
                  <c:v>43525</c:v>
                </c:pt>
                <c:pt idx="591">
                  <c:v>43556</c:v>
                </c:pt>
                <c:pt idx="592">
                  <c:v>43586</c:v>
                </c:pt>
                <c:pt idx="593">
                  <c:v>43617</c:v>
                </c:pt>
                <c:pt idx="594">
                  <c:v>43647</c:v>
                </c:pt>
                <c:pt idx="595">
                  <c:v>43678</c:v>
                </c:pt>
                <c:pt idx="596">
                  <c:v>43709</c:v>
                </c:pt>
                <c:pt idx="597">
                  <c:v>43739</c:v>
                </c:pt>
                <c:pt idx="598">
                  <c:v>43770</c:v>
                </c:pt>
                <c:pt idx="599">
                  <c:v>43800</c:v>
                </c:pt>
                <c:pt idx="600">
                  <c:v>43831</c:v>
                </c:pt>
                <c:pt idx="601">
                  <c:v>43862</c:v>
                </c:pt>
                <c:pt idx="602">
                  <c:v>43891</c:v>
                </c:pt>
                <c:pt idx="603">
                  <c:v>43922</c:v>
                </c:pt>
                <c:pt idx="604">
                  <c:v>43952</c:v>
                </c:pt>
                <c:pt idx="605">
                  <c:v>43983</c:v>
                </c:pt>
                <c:pt idx="606">
                  <c:v>44013</c:v>
                </c:pt>
                <c:pt idx="607">
                  <c:v>44044</c:v>
                </c:pt>
                <c:pt idx="608">
                  <c:v>44075</c:v>
                </c:pt>
                <c:pt idx="609">
                  <c:v>44105</c:v>
                </c:pt>
                <c:pt idx="610">
                  <c:v>44136</c:v>
                </c:pt>
                <c:pt idx="611">
                  <c:v>44166</c:v>
                </c:pt>
                <c:pt idx="612">
                  <c:v>44197</c:v>
                </c:pt>
                <c:pt idx="613">
                  <c:v>44228</c:v>
                </c:pt>
                <c:pt idx="614">
                  <c:v>44256</c:v>
                </c:pt>
                <c:pt idx="615">
                  <c:v>44287</c:v>
                </c:pt>
                <c:pt idx="616">
                  <c:v>44317</c:v>
                </c:pt>
                <c:pt idx="617">
                  <c:v>44348</c:v>
                </c:pt>
                <c:pt idx="618">
                  <c:v>44378</c:v>
                </c:pt>
                <c:pt idx="619">
                  <c:v>44409</c:v>
                </c:pt>
                <c:pt idx="620">
                  <c:v>44440</c:v>
                </c:pt>
                <c:pt idx="621">
                  <c:v>44470</c:v>
                </c:pt>
                <c:pt idx="622">
                  <c:v>44501</c:v>
                </c:pt>
                <c:pt idx="623">
                  <c:v>44531</c:v>
                </c:pt>
                <c:pt idx="624">
                  <c:v>44562</c:v>
                </c:pt>
                <c:pt idx="625">
                  <c:v>44593</c:v>
                </c:pt>
                <c:pt idx="626">
                  <c:v>44621</c:v>
                </c:pt>
                <c:pt idx="627">
                  <c:v>44652</c:v>
                </c:pt>
                <c:pt idx="628">
                  <c:v>44682</c:v>
                </c:pt>
                <c:pt idx="629">
                  <c:v>44713</c:v>
                </c:pt>
                <c:pt idx="630">
                  <c:v>44743</c:v>
                </c:pt>
                <c:pt idx="631">
                  <c:v>44774</c:v>
                </c:pt>
                <c:pt idx="632">
                  <c:v>44805</c:v>
                </c:pt>
              </c:numCache>
            </c:numRef>
          </c:cat>
          <c:val>
            <c:numRef>
              <c:f>Sheet1!$B$2:$B$634</c:f>
              <c:numCache>
                <c:formatCode>0.00</c:formatCode>
                <c:ptCount val="633"/>
                <c:pt idx="0">
                  <c:v>100</c:v>
                </c:pt>
                <c:pt idx="1">
                  <c:v>100.19340534930893</c:v>
                </c:pt>
                <c:pt idx="2">
                  <c:v>100.15566772017547</c:v>
                </c:pt>
                <c:pt idx="3">
                  <c:v>99.952827963583175</c:v>
                </c:pt>
                <c:pt idx="4">
                  <c:v>99.806594650691082</c:v>
                </c:pt>
                <c:pt idx="5">
                  <c:v>99.514128024906839</c:v>
                </c:pt>
                <c:pt idx="6">
                  <c:v>99.179206566347474</c:v>
                </c:pt>
                <c:pt idx="7">
                  <c:v>98.990518420680218</c:v>
                </c:pt>
                <c:pt idx="8">
                  <c:v>98.844285107788096</c:v>
                </c:pt>
                <c:pt idx="9">
                  <c:v>98.957497995188447</c:v>
                </c:pt>
                <c:pt idx="10">
                  <c:v>99.028256049813677</c:v>
                </c:pt>
                <c:pt idx="11">
                  <c:v>99.127317326288974</c:v>
                </c:pt>
                <c:pt idx="12">
                  <c:v>99.66036133779896</c:v>
                </c:pt>
                <c:pt idx="13">
                  <c:v>100.06604085098353</c:v>
                </c:pt>
                <c:pt idx="14">
                  <c:v>100.08019246190858</c:v>
                </c:pt>
                <c:pt idx="15">
                  <c:v>100.06132364734185</c:v>
                </c:pt>
                <c:pt idx="16">
                  <c:v>99.617906505023825</c:v>
                </c:pt>
                <c:pt idx="17">
                  <c:v>99.556582857681974</c:v>
                </c:pt>
                <c:pt idx="18">
                  <c:v>99.495259210340109</c:v>
                </c:pt>
                <c:pt idx="19">
                  <c:v>99.367894712014717</c:v>
                </c:pt>
                <c:pt idx="20">
                  <c:v>99.514128024906839</c:v>
                </c:pt>
                <c:pt idx="21">
                  <c:v>99.627340912307176</c:v>
                </c:pt>
                <c:pt idx="22">
                  <c:v>99.613189301382135</c:v>
                </c:pt>
                <c:pt idx="23">
                  <c:v>99.349025897448001</c:v>
                </c:pt>
                <c:pt idx="24">
                  <c:v>99.476390395773379</c:v>
                </c:pt>
                <c:pt idx="25">
                  <c:v>99.698098966932392</c:v>
                </c:pt>
                <c:pt idx="26">
                  <c:v>99.816029057974433</c:v>
                </c:pt>
                <c:pt idx="27">
                  <c:v>99.726402188782487</c:v>
                </c:pt>
                <c:pt idx="28">
                  <c:v>99.712250577857446</c:v>
                </c:pt>
                <c:pt idx="29">
                  <c:v>98.00934006321053</c:v>
                </c:pt>
                <c:pt idx="30">
                  <c:v>93.773291192980793</c:v>
                </c:pt>
                <c:pt idx="31">
                  <c:v>94.117647058823536</c:v>
                </c:pt>
                <c:pt idx="32">
                  <c:v>93.872352469456104</c:v>
                </c:pt>
                <c:pt idx="33">
                  <c:v>92.471342987876781</c:v>
                </c:pt>
                <c:pt idx="34">
                  <c:v>91.065616302655783</c:v>
                </c:pt>
                <c:pt idx="35">
                  <c:v>90.867493749705176</c:v>
                </c:pt>
                <c:pt idx="36">
                  <c:v>91.244870041039675</c:v>
                </c:pt>
                <c:pt idx="37">
                  <c:v>89.98065946506911</c:v>
                </c:pt>
                <c:pt idx="38">
                  <c:v>88.475871503372801</c:v>
                </c:pt>
                <c:pt idx="39">
                  <c:v>89.546676730034434</c:v>
                </c:pt>
                <c:pt idx="40">
                  <c:v>90.277843294495014</c:v>
                </c:pt>
                <c:pt idx="41">
                  <c:v>89.032501533091192</c:v>
                </c:pt>
                <c:pt idx="42">
                  <c:v>84.697391386386158</c:v>
                </c:pt>
                <c:pt idx="43">
                  <c:v>84.480400018868821</c:v>
                </c:pt>
                <c:pt idx="44">
                  <c:v>82.635973394971458</c:v>
                </c:pt>
                <c:pt idx="45">
                  <c:v>82.522760507571107</c:v>
                </c:pt>
                <c:pt idx="46">
                  <c:v>84.159630171234483</c:v>
                </c:pt>
                <c:pt idx="47">
                  <c:v>83.716213028916457</c:v>
                </c:pt>
                <c:pt idx="48">
                  <c:v>84.225671022218037</c:v>
                </c:pt>
                <c:pt idx="49">
                  <c:v>84.541723666210672</c:v>
                </c:pt>
                <c:pt idx="50">
                  <c:v>85.004009623095428</c:v>
                </c:pt>
                <c:pt idx="51">
                  <c:v>85.395537525354968</c:v>
                </c:pt>
                <c:pt idx="52">
                  <c:v>85.254021416104521</c:v>
                </c:pt>
                <c:pt idx="53">
                  <c:v>85.546488041888765</c:v>
                </c:pt>
                <c:pt idx="54">
                  <c:v>85.456861172696819</c:v>
                </c:pt>
                <c:pt idx="55">
                  <c:v>85.202132176046035</c:v>
                </c:pt>
                <c:pt idx="56">
                  <c:v>84.82003868106986</c:v>
                </c:pt>
                <c:pt idx="57">
                  <c:v>84.555875277135712</c:v>
                </c:pt>
                <c:pt idx="58">
                  <c:v>83.296381904806836</c:v>
                </c:pt>
                <c:pt idx="59">
                  <c:v>82.282183121845378</c:v>
                </c:pt>
                <c:pt idx="60">
                  <c:v>81.701967073918581</c:v>
                </c:pt>
                <c:pt idx="61">
                  <c:v>81.612340204726635</c:v>
                </c:pt>
                <c:pt idx="62">
                  <c:v>81.739704703052027</c:v>
                </c:pt>
                <c:pt idx="63">
                  <c:v>81.131185433275164</c:v>
                </c:pt>
                <c:pt idx="64">
                  <c:v>78.791452427001275</c:v>
                </c:pt>
                <c:pt idx="65">
                  <c:v>77.498938629180614</c:v>
                </c:pt>
                <c:pt idx="66">
                  <c:v>76.909288173970467</c:v>
                </c:pt>
                <c:pt idx="67">
                  <c:v>76.583801122694467</c:v>
                </c:pt>
                <c:pt idx="68">
                  <c:v>76.480022642577481</c:v>
                </c:pt>
                <c:pt idx="69">
                  <c:v>75.126185197414969</c:v>
                </c:pt>
                <c:pt idx="70">
                  <c:v>74.899759422614267</c:v>
                </c:pt>
                <c:pt idx="71">
                  <c:v>74.527100334921457</c:v>
                </c:pt>
                <c:pt idx="72">
                  <c:v>74.748808906080484</c:v>
                </c:pt>
                <c:pt idx="73">
                  <c:v>74.838435775272416</c:v>
                </c:pt>
                <c:pt idx="74">
                  <c:v>72.913816689466486</c:v>
                </c:pt>
                <c:pt idx="75">
                  <c:v>69.776876267748477</c:v>
                </c:pt>
                <c:pt idx="76">
                  <c:v>68.573989339119777</c:v>
                </c:pt>
                <c:pt idx="77">
                  <c:v>67.21543469031559</c:v>
                </c:pt>
                <c:pt idx="78">
                  <c:v>68.017359309401385</c:v>
                </c:pt>
                <c:pt idx="79">
                  <c:v>67.60224538893344</c:v>
                </c:pt>
                <c:pt idx="80">
                  <c:v>65.271946789942916</c:v>
                </c:pt>
                <c:pt idx="81">
                  <c:v>61.771781687815455</c:v>
                </c:pt>
                <c:pt idx="82">
                  <c:v>61.653851596773428</c:v>
                </c:pt>
                <c:pt idx="83">
                  <c:v>62.870890136327183</c:v>
                </c:pt>
                <c:pt idx="84">
                  <c:v>64.191707155997932</c:v>
                </c:pt>
                <c:pt idx="85">
                  <c:v>64.172838341431202</c:v>
                </c:pt>
                <c:pt idx="86">
                  <c:v>64.243596396056418</c:v>
                </c:pt>
                <c:pt idx="87">
                  <c:v>64.116231897731012</c:v>
                </c:pt>
                <c:pt idx="88">
                  <c:v>64.003019010330675</c:v>
                </c:pt>
                <c:pt idx="89">
                  <c:v>63.955846973913872</c:v>
                </c:pt>
                <c:pt idx="90">
                  <c:v>63.144487947544704</c:v>
                </c:pt>
                <c:pt idx="91">
                  <c:v>64.102080286805972</c:v>
                </c:pt>
                <c:pt idx="92">
                  <c:v>64.587952261899133</c:v>
                </c:pt>
                <c:pt idx="93">
                  <c:v>64.668144723807728</c:v>
                </c:pt>
                <c:pt idx="94">
                  <c:v>65.682343506769186</c:v>
                </c:pt>
                <c:pt idx="95">
                  <c:v>65.616302655785645</c:v>
                </c:pt>
                <c:pt idx="96">
                  <c:v>67.309778763149197</c:v>
                </c:pt>
                <c:pt idx="97">
                  <c:v>67.111656210198603</c:v>
                </c:pt>
                <c:pt idx="98">
                  <c:v>65.22005754988443</c:v>
                </c:pt>
                <c:pt idx="99">
                  <c:v>63.102033114769569</c:v>
                </c:pt>
                <c:pt idx="100">
                  <c:v>63.087881503844521</c:v>
                </c:pt>
                <c:pt idx="101">
                  <c:v>62.946365394594082</c:v>
                </c:pt>
                <c:pt idx="102">
                  <c:v>63.606773904429453</c:v>
                </c:pt>
                <c:pt idx="103">
                  <c:v>63.710552384546439</c:v>
                </c:pt>
                <c:pt idx="104">
                  <c:v>63.852068493796885</c:v>
                </c:pt>
                <c:pt idx="105">
                  <c:v>63.097315911127879</c:v>
                </c:pt>
                <c:pt idx="106">
                  <c:v>63.295438464078494</c:v>
                </c:pt>
                <c:pt idx="107">
                  <c:v>63.80961366102175</c:v>
                </c:pt>
                <c:pt idx="108">
                  <c:v>63.847351290155196</c:v>
                </c:pt>
                <c:pt idx="109">
                  <c:v>64.111514694089337</c:v>
                </c:pt>
                <c:pt idx="110">
                  <c:v>65.366290862776538</c:v>
                </c:pt>
                <c:pt idx="111">
                  <c:v>67.323930374074251</c:v>
                </c:pt>
                <c:pt idx="112">
                  <c:v>67.371102410491062</c:v>
                </c:pt>
                <c:pt idx="113">
                  <c:v>68.597575357328168</c:v>
                </c:pt>
                <c:pt idx="114">
                  <c:v>71.512807207887164</c:v>
                </c:pt>
                <c:pt idx="115">
                  <c:v>71.045804047360733</c:v>
                </c:pt>
                <c:pt idx="116">
                  <c:v>69.281569885371951</c:v>
                </c:pt>
                <c:pt idx="117">
                  <c:v>68.083400160384926</c:v>
                </c:pt>
                <c:pt idx="118">
                  <c:v>67.809802349167413</c:v>
                </c:pt>
                <c:pt idx="119">
                  <c:v>68.8428699466956</c:v>
                </c:pt>
                <c:pt idx="120">
                  <c:v>70.479739610358976</c:v>
                </c:pt>
                <c:pt idx="121">
                  <c:v>71.95622435020519</c:v>
                </c:pt>
                <c:pt idx="122">
                  <c:v>72.097740459455636</c:v>
                </c:pt>
                <c:pt idx="123">
                  <c:v>72.828907023916216</c:v>
                </c:pt>
                <c:pt idx="124">
                  <c:v>72.965705929524987</c:v>
                </c:pt>
                <c:pt idx="125">
                  <c:v>72.970423133166662</c:v>
                </c:pt>
                <c:pt idx="126">
                  <c:v>73.508184348318323</c:v>
                </c:pt>
                <c:pt idx="127">
                  <c:v>74.574272371338267</c:v>
                </c:pt>
                <c:pt idx="128">
                  <c:v>75.267701306665415</c:v>
                </c:pt>
                <c:pt idx="129">
                  <c:v>76.668710788244724</c:v>
                </c:pt>
                <c:pt idx="130">
                  <c:v>78.154629935374317</c:v>
                </c:pt>
                <c:pt idx="131">
                  <c:v>77.763102033114762</c:v>
                </c:pt>
                <c:pt idx="132">
                  <c:v>80.230199537714043</c:v>
                </c:pt>
                <c:pt idx="133">
                  <c:v>80.121703853955367</c:v>
                </c:pt>
                <c:pt idx="134">
                  <c:v>77.947072975140344</c:v>
                </c:pt>
                <c:pt idx="135">
                  <c:v>77.758384829473087</c:v>
                </c:pt>
                <c:pt idx="136">
                  <c:v>77.862163309590073</c:v>
                </c:pt>
                <c:pt idx="137">
                  <c:v>75.645077597999915</c:v>
                </c:pt>
                <c:pt idx="138">
                  <c:v>73.503467144676634</c:v>
                </c:pt>
                <c:pt idx="139">
                  <c:v>72.843058634841256</c:v>
                </c:pt>
                <c:pt idx="140">
                  <c:v>70.191990188216437</c:v>
                </c:pt>
                <c:pt idx="141">
                  <c:v>69.99858483890749</c:v>
                </c:pt>
                <c:pt idx="142">
                  <c:v>71.281664229444786</c:v>
                </c:pt>
                <c:pt idx="143">
                  <c:v>71.99396197933865</c:v>
                </c:pt>
                <c:pt idx="144">
                  <c:v>72.276994197839514</c:v>
                </c:pt>
                <c:pt idx="145">
                  <c:v>72.677956507382419</c:v>
                </c:pt>
                <c:pt idx="146">
                  <c:v>72.206236143214298</c:v>
                </c:pt>
                <c:pt idx="147">
                  <c:v>71.602434077079096</c:v>
                </c:pt>
                <c:pt idx="148">
                  <c:v>71.493938393320434</c:v>
                </c:pt>
                <c:pt idx="149">
                  <c:v>72.470399547148446</c:v>
                </c:pt>
                <c:pt idx="150">
                  <c:v>72.649653285532338</c:v>
                </c:pt>
                <c:pt idx="151">
                  <c:v>72.77701778385773</c:v>
                </c:pt>
                <c:pt idx="152">
                  <c:v>72.984574744091702</c:v>
                </c:pt>
                <c:pt idx="153">
                  <c:v>73.475163922826539</c:v>
                </c:pt>
                <c:pt idx="154">
                  <c:v>71.361856691353367</c:v>
                </c:pt>
                <c:pt idx="155">
                  <c:v>68.201330251426953</c:v>
                </c:pt>
                <c:pt idx="156">
                  <c:v>65.724798339544321</c:v>
                </c:pt>
                <c:pt idx="157">
                  <c:v>64.823812443983201</c:v>
                </c:pt>
                <c:pt idx="158">
                  <c:v>63.474692202462379</c:v>
                </c:pt>
                <c:pt idx="159">
                  <c:v>66.262559554695969</c:v>
                </c:pt>
                <c:pt idx="160">
                  <c:v>68.003207698476345</c:v>
                </c:pt>
                <c:pt idx="161">
                  <c:v>68.394735600735885</c:v>
                </c:pt>
                <c:pt idx="162">
                  <c:v>68.144723807726777</c:v>
                </c:pt>
                <c:pt idx="163">
                  <c:v>68.493796877211182</c:v>
                </c:pt>
                <c:pt idx="164">
                  <c:v>68.39945280437756</c:v>
                </c:pt>
                <c:pt idx="165">
                  <c:v>67.290909948582481</c:v>
                </c:pt>
                <c:pt idx="166">
                  <c:v>67.630548610783535</c:v>
                </c:pt>
                <c:pt idx="167">
                  <c:v>66.842775602622766</c:v>
                </c:pt>
                <c:pt idx="168">
                  <c:v>66.654087456955523</c:v>
                </c:pt>
                <c:pt idx="169">
                  <c:v>66.597481013255347</c:v>
                </c:pt>
                <c:pt idx="170">
                  <c:v>65.554979008443794</c:v>
                </c:pt>
                <c:pt idx="171">
                  <c:v>64.866267276758336</c:v>
                </c:pt>
                <c:pt idx="172">
                  <c:v>65.106844662484079</c:v>
                </c:pt>
                <c:pt idx="173">
                  <c:v>64.597386669182512</c:v>
                </c:pt>
                <c:pt idx="174">
                  <c:v>63.894523326571999</c:v>
                </c:pt>
                <c:pt idx="175">
                  <c:v>64.036039435822445</c:v>
                </c:pt>
                <c:pt idx="176">
                  <c:v>63.39449974055379</c:v>
                </c:pt>
                <c:pt idx="177">
                  <c:v>62.238784848341901</c:v>
                </c:pt>
                <c:pt idx="178">
                  <c:v>62.22463323741686</c:v>
                </c:pt>
                <c:pt idx="179">
                  <c:v>61.139676399830186</c:v>
                </c:pt>
                <c:pt idx="180">
                  <c:v>59.281098165007784</c:v>
                </c:pt>
                <c:pt idx="181">
                  <c:v>59.337704608707959</c:v>
                </c:pt>
                <c:pt idx="182">
                  <c:v>60.691542053870464</c:v>
                </c:pt>
                <c:pt idx="183">
                  <c:v>63.932260955705459</c:v>
                </c:pt>
                <c:pt idx="184">
                  <c:v>64.507759799990566</c:v>
                </c:pt>
                <c:pt idx="185">
                  <c:v>65.441766121043443</c:v>
                </c:pt>
                <c:pt idx="186">
                  <c:v>67.687155054483711</c:v>
                </c:pt>
                <c:pt idx="187">
                  <c:v>66.422944478513131</c:v>
                </c:pt>
                <c:pt idx="188">
                  <c:v>66.125760649087226</c:v>
                </c:pt>
                <c:pt idx="189">
                  <c:v>65.380442473701592</c:v>
                </c:pt>
                <c:pt idx="190">
                  <c:v>65.102127458842389</c:v>
                </c:pt>
                <c:pt idx="191">
                  <c:v>64.276616821548174</c:v>
                </c:pt>
                <c:pt idx="192">
                  <c:v>62.38030095759234</c:v>
                </c:pt>
                <c:pt idx="193">
                  <c:v>60.455681871786403</c:v>
                </c:pt>
                <c:pt idx="194">
                  <c:v>60.644370017453653</c:v>
                </c:pt>
                <c:pt idx="195">
                  <c:v>62.031227888107928</c:v>
                </c:pt>
                <c:pt idx="196">
                  <c:v>62.026510684466253</c:v>
                </c:pt>
                <c:pt idx="197">
                  <c:v>61.729326855040341</c:v>
                </c:pt>
                <c:pt idx="198">
                  <c:v>60.276428133402518</c:v>
                </c:pt>
                <c:pt idx="199">
                  <c:v>57.969715552620407</c:v>
                </c:pt>
                <c:pt idx="200">
                  <c:v>57.148922118967874</c:v>
                </c:pt>
                <c:pt idx="201">
                  <c:v>54.988442851077878</c:v>
                </c:pt>
                <c:pt idx="202">
                  <c:v>55.464880418887681</c:v>
                </c:pt>
                <c:pt idx="203">
                  <c:v>55.379970753337425</c:v>
                </c:pt>
                <c:pt idx="204">
                  <c:v>55.375253549695742</c:v>
                </c:pt>
                <c:pt idx="205">
                  <c:v>55.398839567904147</c:v>
                </c:pt>
                <c:pt idx="206">
                  <c:v>57.582904854002543</c:v>
                </c:pt>
                <c:pt idx="207">
                  <c:v>58.04047360724563</c:v>
                </c:pt>
                <c:pt idx="208">
                  <c:v>58.776357375347892</c:v>
                </c:pt>
                <c:pt idx="209">
                  <c:v>58.21029293834615</c:v>
                </c:pt>
                <c:pt idx="210">
                  <c:v>58.271616585688001</c:v>
                </c:pt>
                <c:pt idx="211">
                  <c:v>58.012170385395535</c:v>
                </c:pt>
                <c:pt idx="212">
                  <c:v>58.526345582338784</c:v>
                </c:pt>
                <c:pt idx="213">
                  <c:v>58.861267040898156</c:v>
                </c:pt>
                <c:pt idx="214">
                  <c:v>59.936789471201472</c:v>
                </c:pt>
                <c:pt idx="215">
                  <c:v>60.153780838718802</c:v>
                </c:pt>
                <c:pt idx="216">
                  <c:v>59.63960564177556</c:v>
                </c:pt>
                <c:pt idx="217">
                  <c:v>59.276380961366101</c:v>
                </c:pt>
                <c:pt idx="218">
                  <c:v>61.026463512429835</c:v>
                </c:pt>
                <c:pt idx="219">
                  <c:v>62.196330015566765</c:v>
                </c:pt>
                <c:pt idx="220">
                  <c:v>62.36143214302561</c:v>
                </c:pt>
                <c:pt idx="221">
                  <c:v>60.979291476013024</c:v>
                </c:pt>
                <c:pt idx="222">
                  <c:v>60.634935610170288</c:v>
                </c:pt>
                <c:pt idx="223">
                  <c:v>61.375536581914247</c:v>
                </c:pt>
                <c:pt idx="224">
                  <c:v>60.639652813811978</c:v>
                </c:pt>
                <c:pt idx="225">
                  <c:v>61.186848436246997</c:v>
                </c:pt>
                <c:pt idx="226">
                  <c:v>61.668003207698469</c:v>
                </c:pt>
                <c:pt idx="227">
                  <c:v>62.314260106608799</c:v>
                </c:pt>
                <c:pt idx="228">
                  <c:v>62.436907401292522</c:v>
                </c:pt>
                <c:pt idx="229">
                  <c:v>62.135006368224914</c:v>
                </c:pt>
                <c:pt idx="230">
                  <c:v>61.309495730930706</c:v>
                </c:pt>
                <c:pt idx="231">
                  <c:v>60.969857068729659</c:v>
                </c:pt>
                <c:pt idx="232">
                  <c:v>60.20095287513562</c:v>
                </c:pt>
                <c:pt idx="233">
                  <c:v>58.455587527713568</c:v>
                </c:pt>
                <c:pt idx="234">
                  <c:v>59.106561630265574</c:v>
                </c:pt>
                <c:pt idx="235">
                  <c:v>58.738619746214439</c:v>
                </c:pt>
                <c:pt idx="236">
                  <c:v>58.521628378697109</c:v>
                </c:pt>
                <c:pt idx="237">
                  <c:v>57.578187650360867</c:v>
                </c:pt>
                <c:pt idx="238">
                  <c:v>56.502665220057551</c:v>
                </c:pt>
                <c:pt idx="239">
                  <c:v>55.724326619180147</c:v>
                </c:pt>
                <c:pt idx="240">
                  <c:v>56.535685645549314</c:v>
                </c:pt>
                <c:pt idx="241">
                  <c:v>57.587622057644225</c:v>
                </c:pt>
                <c:pt idx="242">
                  <c:v>56.049813670456153</c:v>
                </c:pt>
                <c:pt idx="243">
                  <c:v>56.148874946931457</c:v>
                </c:pt>
                <c:pt idx="244">
                  <c:v>56.790414642200105</c:v>
                </c:pt>
                <c:pt idx="245">
                  <c:v>58.125383272795887</c:v>
                </c:pt>
                <c:pt idx="246">
                  <c:v>59.941506674843147</c:v>
                </c:pt>
                <c:pt idx="247">
                  <c:v>61.073635548846646</c:v>
                </c:pt>
                <c:pt idx="248">
                  <c:v>60.210387282418985</c:v>
                </c:pt>
                <c:pt idx="249">
                  <c:v>60.748148497570639</c:v>
                </c:pt>
                <c:pt idx="250">
                  <c:v>60.450964668144728</c:v>
                </c:pt>
                <c:pt idx="251">
                  <c:v>59.917920656634742</c:v>
                </c:pt>
                <c:pt idx="252">
                  <c:v>60.403792631727917</c:v>
                </c:pt>
                <c:pt idx="253">
                  <c:v>60.446247464503038</c:v>
                </c:pt>
                <c:pt idx="254">
                  <c:v>59.653757252700593</c:v>
                </c:pt>
                <c:pt idx="255">
                  <c:v>59.295249775932831</c:v>
                </c:pt>
                <c:pt idx="256">
                  <c:v>58.927307891881689</c:v>
                </c:pt>
                <c:pt idx="257">
                  <c:v>57.95556394169536</c:v>
                </c:pt>
                <c:pt idx="258">
                  <c:v>58.016887589037218</c:v>
                </c:pt>
                <c:pt idx="259">
                  <c:v>58.224444549271198</c:v>
                </c:pt>
                <c:pt idx="260">
                  <c:v>58.460304731355258</c:v>
                </c:pt>
                <c:pt idx="261">
                  <c:v>58.130100476437569</c:v>
                </c:pt>
                <c:pt idx="262">
                  <c:v>58.41313269493844</c:v>
                </c:pt>
                <c:pt idx="263">
                  <c:v>58.493325156847021</c:v>
                </c:pt>
                <c:pt idx="264">
                  <c:v>58.219727345629508</c:v>
                </c:pt>
                <c:pt idx="265">
                  <c:v>58.215010141987825</c:v>
                </c:pt>
                <c:pt idx="266">
                  <c:v>57.752724185103077</c:v>
                </c:pt>
                <c:pt idx="267">
                  <c:v>58.474456342280291</c:v>
                </c:pt>
                <c:pt idx="268">
                  <c:v>59.347139015991324</c:v>
                </c:pt>
                <c:pt idx="269">
                  <c:v>59.39902825604981</c:v>
                </c:pt>
                <c:pt idx="270">
                  <c:v>59.271663757724426</c:v>
                </c:pt>
                <c:pt idx="271">
                  <c:v>59.026369168356993</c:v>
                </c:pt>
                <c:pt idx="272">
                  <c:v>56.554554460116044</c:v>
                </c:pt>
                <c:pt idx="273">
                  <c:v>52.134534647860747</c:v>
                </c:pt>
                <c:pt idx="274">
                  <c:v>50.662767111656215</c:v>
                </c:pt>
                <c:pt idx="275">
                  <c:v>51.681683098259349</c:v>
                </c:pt>
                <c:pt idx="276">
                  <c:v>51.945846502193504</c:v>
                </c:pt>
                <c:pt idx="277">
                  <c:v>49.41270814661069</c:v>
                </c:pt>
                <c:pt idx="278">
                  <c:v>50.172177932921365</c:v>
                </c:pt>
                <c:pt idx="279">
                  <c:v>51.676965894617666</c:v>
                </c:pt>
                <c:pt idx="280">
                  <c:v>51.752441152884565</c:v>
                </c:pt>
                <c:pt idx="281">
                  <c:v>51.309024010566532</c:v>
                </c:pt>
                <c:pt idx="282">
                  <c:v>52.290202368036226</c:v>
                </c:pt>
                <c:pt idx="283">
                  <c:v>52.134534647860747</c:v>
                </c:pt>
                <c:pt idx="284">
                  <c:v>51.988301334968625</c:v>
                </c:pt>
                <c:pt idx="285">
                  <c:v>51.743006745601207</c:v>
                </c:pt>
                <c:pt idx="286">
                  <c:v>52.068493796877206</c:v>
                </c:pt>
                <c:pt idx="287">
                  <c:v>52.478890513703476</c:v>
                </c:pt>
                <c:pt idx="288">
                  <c:v>52.964762488796644</c:v>
                </c:pt>
                <c:pt idx="289">
                  <c:v>52.110948629652341</c:v>
                </c:pt>
                <c:pt idx="290">
                  <c:v>51.790178782018025</c:v>
                </c:pt>
                <c:pt idx="291">
                  <c:v>51.492994952592099</c:v>
                </c:pt>
                <c:pt idx="292">
                  <c:v>51.450540119816971</c:v>
                </c:pt>
                <c:pt idx="293">
                  <c:v>51.582621821784045</c:v>
                </c:pt>
                <c:pt idx="294">
                  <c:v>50.99297136657389</c:v>
                </c:pt>
                <c:pt idx="295">
                  <c:v>50.870324071890181</c:v>
                </c:pt>
                <c:pt idx="296">
                  <c:v>51.101467050332559</c:v>
                </c:pt>
                <c:pt idx="297">
                  <c:v>51.705269116467754</c:v>
                </c:pt>
                <c:pt idx="298">
                  <c:v>51.634511061842538</c:v>
                </c:pt>
                <c:pt idx="299">
                  <c:v>51.526015378083876</c:v>
                </c:pt>
                <c:pt idx="300">
                  <c:v>51.304306806924856</c:v>
                </c:pt>
                <c:pt idx="301">
                  <c:v>50.686353129864614</c:v>
                </c:pt>
                <c:pt idx="302">
                  <c:v>49.662719939619791</c:v>
                </c:pt>
                <c:pt idx="303">
                  <c:v>48.936270578800887</c:v>
                </c:pt>
                <c:pt idx="304">
                  <c:v>48.827774895042218</c:v>
                </c:pt>
                <c:pt idx="305">
                  <c:v>48.79947167319213</c:v>
                </c:pt>
                <c:pt idx="306">
                  <c:v>48.606066323883205</c:v>
                </c:pt>
                <c:pt idx="307">
                  <c:v>49.134393131751494</c:v>
                </c:pt>
                <c:pt idx="308">
                  <c:v>49.389122128402285</c:v>
                </c:pt>
                <c:pt idx="309">
                  <c:v>49.115524317184772</c:v>
                </c:pt>
                <c:pt idx="310">
                  <c:v>48.615500731166563</c:v>
                </c:pt>
                <c:pt idx="311">
                  <c:v>48.370206141799144</c:v>
                </c:pt>
                <c:pt idx="312">
                  <c:v>48.568328694749752</c:v>
                </c:pt>
                <c:pt idx="313">
                  <c:v>48.860795320533988</c:v>
                </c:pt>
                <c:pt idx="314">
                  <c:v>48.705127600358509</c:v>
                </c:pt>
                <c:pt idx="315">
                  <c:v>48.794754469550448</c:v>
                </c:pt>
                <c:pt idx="316">
                  <c:v>49.242888815510163</c:v>
                </c:pt>
                <c:pt idx="317">
                  <c:v>50.044813434595973</c:v>
                </c:pt>
                <c:pt idx="318">
                  <c:v>49.99292419453748</c:v>
                </c:pt>
                <c:pt idx="319">
                  <c:v>49.474031793952541</c:v>
                </c:pt>
                <c:pt idx="320">
                  <c:v>50.219349969338175</c:v>
                </c:pt>
                <c:pt idx="321">
                  <c:v>51.426954101608565</c:v>
                </c:pt>
                <c:pt idx="322">
                  <c:v>53.460068871173164</c:v>
                </c:pt>
                <c:pt idx="323">
                  <c:v>54.38464078494269</c:v>
                </c:pt>
                <c:pt idx="324">
                  <c:v>55.502618048021134</c:v>
                </c:pt>
                <c:pt idx="325">
                  <c:v>56.148874946931457</c:v>
                </c:pt>
                <c:pt idx="326">
                  <c:v>56.016793244964383</c:v>
                </c:pt>
                <c:pt idx="327">
                  <c:v>57.139487711684509</c:v>
                </c:pt>
                <c:pt idx="328">
                  <c:v>56.884758715033726</c:v>
                </c:pt>
                <c:pt idx="329">
                  <c:v>57.549884428510779</c:v>
                </c:pt>
                <c:pt idx="330">
                  <c:v>59.677343270909006</c:v>
                </c:pt>
                <c:pt idx="331">
                  <c:v>58.526345582338784</c:v>
                </c:pt>
                <c:pt idx="332">
                  <c:v>57.535732817585732</c:v>
                </c:pt>
                <c:pt idx="333">
                  <c:v>58.016887589037218</c:v>
                </c:pt>
                <c:pt idx="334">
                  <c:v>59.733949714609174</c:v>
                </c:pt>
                <c:pt idx="335">
                  <c:v>60.413227039011268</c:v>
                </c:pt>
                <c:pt idx="336">
                  <c:v>60.644370017453653</c:v>
                </c:pt>
                <c:pt idx="337">
                  <c:v>60.502853908203214</c:v>
                </c:pt>
                <c:pt idx="338">
                  <c:v>61.436860229256098</c:v>
                </c:pt>
                <c:pt idx="339">
                  <c:v>61.634982782206706</c:v>
                </c:pt>
                <c:pt idx="340">
                  <c:v>59.856597009292891</c:v>
                </c:pt>
                <c:pt idx="341">
                  <c:v>60.9840086796547</c:v>
                </c:pt>
                <c:pt idx="342">
                  <c:v>60.814189348554173</c:v>
                </c:pt>
                <c:pt idx="343">
                  <c:v>60.545308740978342</c:v>
                </c:pt>
                <c:pt idx="344">
                  <c:v>60.092457191376951</c:v>
                </c:pt>
                <c:pt idx="345">
                  <c:v>58.625406858814095</c:v>
                </c:pt>
                <c:pt idx="346">
                  <c:v>58.394263880371717</c:v>
                </c:pt>
                <c:pt idx="347">
                  <c:v>58.290485400254724</c:v>
                </c:pt>
                <c:pt idx="348">
                  <c:v>57.748006981461387</c:v>
                </c:pt>
                <c:pt idx="349">
                  <c:v>58.351809047596582</c:v>
                </c:pt>
                <c:pt idx="350">
                  <c:v>59.455634699749993</c:v>
                </c:pt>
                <c:pt idx="351">
                  <c:v>59.606585216283783</c:v>
                </c:pt>
                <c:pt idx="352">
                  <c:v>60.101891598660309</c:v>
                </c:pt>
                <c:pt idx="353">
                  <c:v>60.248124911552431</c:v>
                </c:pt>
                <c:pt idx="354">
                  <c:v>59.483937921600074</c:v>
                </c:pt>
                <c:pt idx="355">
                  <c:v>59.535827161658567</c:v>
                </c:pt>
                <c:pt idx="356">
                  <c:v>60.295296947969241</c:v>
                </c:pt>
                <c:pt idx="357">
                  <c:v>60.748148497570639</c:v>
                </c:pt>
                <c:pt idx="358">
                  <c:v>60.776451719420727</c:v>
                </c:pt>
                <c:pt idx="359">
                  <c:v>61.186848436246997</c:v>
                </c:pt>
                <c:pt idx="360">
                  <c:v>62.106703146374826</c:v>
                </c:pt>
                <c:pt idx="361">
                  <c:v>62.031227888107928</c:v>
                </c:pt>
                <c:pt idx="362">
                  <c:v>61.884994575215813</c:v>
                </c:pt>
                <c:pt idx="363">
                  <c:v>62.719939619793386</c:v>
                </c:pt>
                <c:pt idx="364">
                  <c:v>61.59724515307326</c:v>
                </c:pt>
                <c:pt idx="365">
                  <c:v>59.715080900042459</c:v>
                </c:pt>
                <c:pt idx="366">
                  <c:v>60.191518467852255</c:v>
                </c:pt>
                <c:pt idx="367">
                  <c:v>60.979291476013024</c:v>
                </c:pt>
                <c:pt idx="368">
                  <c:v>60.149063635077127</c:v>
                </c:pt>
                <c:pt idx="369">
                  <c:v>61.785933298740503</c:v>
                </c:pt>
                <c:pt idx="370">
                  <c:v>60.79532053398745</c:v>
                </c:pt>
                <c:pt idx="371">
                  <c:v>60.6066323883202</c:v>
                </c:pt>
                <c:pt idx="372">
                  <c:v>59.710363696400769</c:v>
                </c:pt>
                <c:pt idx="373">
                  <c:v>59.43204868154158</c:v>
                </c:pt>
                <c:pt idx="374">
                  <c:v>59.941506674843147</c:v>
                </c:pt>
                <c:pt idx="375">
                  <c:v>60.399075428086228</c:v>
                </c:pt>
                <c:pt idx="376">
                  <c:v>60.686824850228788</c:v>
                </c:pt>
                <c:pt idx="377">
                  <c:v>60.672673239303741</c:v>
                </c:pt>
                <c:pt idx="378">
                  <c:v>60.998160290579747</c:v>
                </c:pt>
                <c:pt idx="379">
                  <c:v>59.988678711259965</c:v>
                </c:pt>
                <c:pt idx="380">
                  <c:v>60.592480777395153</c:v>
                </c:pt>
                <c:pt idx="381">
                  <c:v>60.455681871786403</c:v>
                </c:pt>
                <c:pt idx="382">
                  <c:v>60.583046370111802</c:v>
                </c:pt>
                <c:pt idx="383">
                  <c:v>60.691542053870464</c:v>
                </c:pt>
                <c:pt idx="384">
                  <c:v>61.007594697863112</c:v>
                </c:pt>
                <c:pt idx="385">
                  <c:v>61.248172083588848</c:v>
                </c:pt>
                <c:pt idx="386">
                  <c:v>60.828340959479213</c:v>
                </c:pt>
                <c:pt idx="387">
                  <c:v>61.17269682532195</c:v>
                </c:pt>
                <c:pt idx="388">
                  <c:v>60.163215246002174</c:v>
                </c:pt>
                <c:pt idx="389">
                  <c:v>59.200905703099203</c:v>
                </c:pt>
                <c:pt idx="390">
                  <c:v>60.18680126421058</c:v>
                </c:pt>
                <c:pt idx="391">
                  <c:v>60.238690504269073</c:v>
                </c:pt>
                <c:pt idx="392">
                  <c:v>60.903816217746126</c:v>
                </c:pt>
                <c:pt idx="393">
                  <c:v>61.101938770696734</c:v>
                </c:pt>
                <c:pt idx="394">
                  <c:v>60.639652813811978</c:v>
                </c:pt>
                <c:pt idx="395">
                  <c:v>60.460399075428079</c:v>
                </c:pt>
                <c:pt idx="396">
                  <c:v>59.667908863625641</c:v>
                </c:pt>
                <c:pt idx="397">
                  <c:v>58.809377800839663</c:v>
                </c:pt>
                <c:pt idx="398">
                  <c:v>57.790461814236522</c:v>
                </c:pt>
                <c:pt idx="399">
                  <c:v>57.36119628284353</c:v>
                </c:pt>
                <c:pt idx="400">
                  <c:v>56.299825463465254</c:v>
                </c:pt>
                <c:pt idx="401">
                  <c:v>57.323458653710077</c:v>
                </c:pt>
                <c:pt idx="402">
                  <c:v>57.082881267984341</c:v>
                </c:pt>
                <c:pt idx="403">
                  <c:v>56.865889900467003</c:v>
                </c:pt>
                <c:pt idx="404">
                  <c:v>56.96966838058399</c:v>
                </c:pt>
                <c:pt idx="405">
                  <c:v>57.37534789376857</c:v>
                </c:pt>
                <c:pt idx="406">
                  <c:v>57.78574461059484</c:v>
                </c:pt>
                <c:pt idx="407">
                  <c:v>57.781027406953157</c:v>
                </c:pt>
                <c:pt idx="408">
                  <c:v>59.002783150148588</c:v>
                </c:pt>
                <c:pt idx="409">
                  <c:v>60.399075428086228</c:v>
                </c:pt>
                <c:pt idx="410">
                  <c:v>60.441530260861356</c:v>
                </c:pt>
                <c:pt idx="411">
                  <c:v>60.493419500919856</c:v>
                </c:pt>
                <c:pt idx="412">
                  <c:v>60.177366856927208</c:v>
                </c:pt>
                <c:pt idx="413">
                  <c:v>60.917967828671159</c:v>
                </c:pt>
                <c:pt idx="414">
                  <c:v>60.960422661446287</c:v>
                </c:pt>
                <c:pt idx="415">
                  <c:v>60.540591537336667</c:v>
                </c:pt>
                <c:pt idx="416">
                  <c:v>59.479220717958398</c:v>
                </c:pt>
                <c:pt idx="417">
                  <c:v>58.856549837256473</c:v>
                </c:pt>
                <c:pt idx="418">
                  <c:v>58.592386433322325</c:v>
                </c:pt>
                <c:pt idx="419">
                  <c:v>59.38487664512477</c:v>
                </c:pt>
                <c:pt idx="420">
                  <c:v>58.700882117080994</c:v>
                </c:pt>
                <c:pt idx="421">
                  <c:v>59.36600783055804</c:v>
                </c:pt>
                <c:pt idx="422">
                  <c:v>59.318835794141229</c:v>
                </c:pt>
                <c:pt idx="423">
                  <c:v>59.913203452993066</c:v>
                </c:pt>
                <c:pt idx="424">
                  <c:v>59.479220717958398</c:v>
                </c:pt>
                <c:pt idx="425">
                  <c:v>60.149063635077127</c:v>
                </c:pt>
                <c:pt idx="426">
                  <c:v>58.535779989622149</c:v>
                </c:pt>
                <c:pt idx="427">
                  <c:v>58.9744799282985</c:v>
                </c:pt>
                <c:pt idx="428">
                  <c:v>59.6018680126421</c:v>
                </c:pt>
                <c:pt idx="429">
                  <c:v>59.120713241190622</c:v>
                </c:pt>
                <c:pt idx="430">
                  <c:v>59.101844426623899</c:v>
                </c:pt>
                <c:pt idx="431">
                  <c:v>59.139582055757351</c:v>
                </c:pt>
                <c:pt idx="432">
                  <c:v>58.691447709797629</c:v>
                </c:pt>
                <c:pt idx="433">
                  <c:v>58.785791782631257</c:v>
                </c:pt>
                <c:pt idx="434">
                  <c:v>58.384829473088352</c:v>
                </c:pt>
                <c:pt idx="435">
                  <c:v>58.200858531062785</c:v>
                </c:pt>
                <c:pt idx="436">
                  <c:v>59.57356479079202</c:v>
                </c:pt>
                <c:pt idx="437">
                  <c:v>59.262229350441054</c:v>
                </c:pt>
                <c:pt idx="438">
                  <c:v>59.252794943157696</c:v>
                </c:pt>
                <c:pt idx="439">
                  <c:v>60.413227039011268</c:v>
                </c:pt>
                <c:pt idx="440">
                  <c:v>60.507571111844904</c:v>
                </c:pt>
                <c:pt idx="441">
                  <c:v>60.653804424737018</c:v>
                </c:pt>
                <c:pt idx="442">
                  <c:v>60.757582904854004</c:v>
                </c:pt>
                <c:pt idx="443">
                  <c:v>61.257606490872213</c:v>
                </c:pt>
                <c:pt idx="444">
                  <c:v>62.021793480824563</c:v>
                </c:pt>
                <c:pt idx="445">
                  <c:v>61.715175244115294</c:v>
                </c:pt>
                <c:pt idx="446">
                  <c:v>60.738714090287274</c:v>
                </c:pt>
                <c:pt idx="447">
                  <c:v>61.163262418038585</c:v>
                </c:pt>
                <c:pt idx="448">
                  <c:v>60.998160290579747</c:v>
                </c:pt>
                <c:pt idx="449">
                  <c:v>61.427425821972733</c:v>
                </c:pt>
                <c:pt idx="450">
                  <c:v>61.795367706023868</c:v>
                </c:pt>
                <c:pt idx="451">
                  <c:v>61.318930138214071</c:v>
                </c:pt>
                <c:pt idx="452">
                  <c:v>60.564177555545065</c:v>
                </c:pt>
                <c:pt idx="453">
                  <c:v>60.191518467852255</c:v>
                </c:pt>
                <c:pt idx="454">
                  <c:v>59.502806736166796</c:v>
                </c:pt>
                <c:pt idx="455">
                  <c:v>58.559366007830555</c:v>
                </c:pt>
                <c:pt idx="456">
                  <c:v>56.479079201849146</c:v>
                </c:pt>
                <c:pt idx="457">
                  <c:v>56.125288928723052</c:v>
                </c:pt>
                <c:pt idx="458">
                  <c:v>54.99316005471956</c:v>
                </c:pt>
                <c:pt idx="459">
                  <c:v>53.894051606207839</c:v>
                </c:pt>
                <c:pt idx="460">
                  <c:v>53.983678475399785</c:v>
                </c:pt>
                <c:pt idx="461">
                  <c:v>54.101608566441811</c:v>
                </c:pt>
                <c:pt idx="462">
                  <c:v>54.214821453842163</c:v>
                </c:pt>
                <c:pt idx="463">
                  <c:v>53.634605405915373</c:v>
                </c:pt>
                <c:pt idx="464">
                  <c:v>52.695881881220807</c:v>
                </c:pt>
                <c:pt idx="465">
                  <c:v>52.587386197462145</c:v>
                </c:pt>
                <c:pt idx="466">
                  <c:v>49.290060851926974</c:v>
                </c:pt>
                <c:pt idx="467">
                  <c:v>46.021038728241898</c:v>
                </c:pt>
                <c:pt idx="468">
                  <c:v>44.969102316146987</c:v>
                </c:pt>
                <c:pt idx="469">
                  <c:v>46.261616113967634</c:v>
                </c:pt>
                <c:pt idx="470">
                  <c:v>45.072880796263973</c:v>
                </c:pt>
                <c:pt idx="471">
                  <c:v>46.148403226567289</c:v>
                </c:pt>
                <c:pt idx="472">
                  <c:v>47.002217085711592</c:v>
                </c:pt>
                <c:pt idx="473">
                  <c:v>48.907967356950799</c:v>
                </c:pt>
                <c:pt idx="474">
                  <c:v>48.681541582150103</c:v>
                </c:pt>
                <c:pt idx="475">
                  <c:v>48.61078352752488</c:v>
                </c:pt>
                <c:pt idx="476">
                  <c:v>47.162602009528754</c:v>
                </c:pt>
                <c:pt idx="477">
                  <c:v>46.01160432095854</c:v>
                </c:pt>
                <c:pt idx="478">
                  <c:v>46.912590216519646</c:v>
                </c:pt>
                <c:pt idx="479">
                  <c:v>46.624840794377093</c:v>
                </c:pt>
                <c:pt idx="480">
                  <c:v>47.120147176753619</c:v>
                </c:pt>
                <c:pt idx="481">
                  <c:v>46.898438605594606</c:v>
                </c:pt>
                <c:pt idx="482">
                  <c:v>45.360630218406527</c:v>
                </c:pt>
                <c:pt idx="483">
                  <c:v>46.577668757960275</c:v>
                </c:pt>
                <c:pt idx="484">
                  <c:v>46.714467663569039</c:v>
                </c:pt>
                <c:pt idx="485">
                  <c:v>47.955092221331192</c:v>
                </c:pt>
                <c:pt idx="486">
                  <c:v>47.955092221331192</c:v>
                </c:pt>
                <c:pt idx="487">
                  <c:v>48.653238360300016</c:v>
                </c:pt>
                <c:pt idx="488">
                  <c:v>47.752252464738902</c:v>
                </c:pt>
                <c:pt idx="489">
                  <c:v>46.459738666918248</c:v>
                </c:pt>
                <c:pt idx="490">
                  <c:v>47.393744987971132</c:v>
                </c:pt>
                <c:pt idx="491">
                  <c:v>47.228642860512288</c:v>
                </c:pt>
                <c:pt idx="492">
                  <c:v>47.313552526062551</c:v>
                </c:pt>
                <c:pt idx="493">
                  <c:v>47.648473984621916</c:v>
                </c:pt>
                <c:pt idx="494">
                  <c:v>46.851266569177788</c:v>
                </c:pt>
                <c:pt idx="495">
                  <c:v>46.370111797726302</c:v>
                </c:pt>
                <c:pt idx="496">
                  <c:v>46.412566630501438</c:v>
                </c:pt>
                <c:pt idx="497">
                  <c:v>45.893674229916506</c:v>
                </c:pt>
                <c:pt idx="498">
                  <c:v>45.775744138874479</c:v>
                </c:pt>
                <c:pt idx="499">
                  <c:v>46.171989244775695</c:v>
                </c:pt>
                <c:pt idx="500">
                  <c:v>46.115382801075526</c:v>
                </c:pt>
                <c:pt idx="501">
                  <c:v>46.238030095759228</c:v>
                </c:pt>
                <c:pt idx="502">
                  <c:v>46.813528940044336</c:v>
                </c:pt>
                <c:pt idx="503">
                  <c:v>47.16731921317043</c:v>
                </c:pt>
                <c:pt idx="504">
                  <c:v>47.426765413462903</c:v>
                </c:pt>
                <c:pt idx="505">
                  <c:v>47.445634228029625</c:v>
                </c:pt>
                <c:pt idx="506">
                  <c:v>47.690928817397044</c:v>
                </c:pt>
                <c:pt idx="507">
                  <c:v>48.351337327232415</c:v>
                </c:pt>
                <c:pt idx="508">
                  <c:v>49.073069484409643</c:v>
                </c:pt>
                <c:pt idx="509">
                  <c:v>48.662672767583373</c:v>
                </c:pt>
                <c:pt idx="510">
                  <c:v>49.346667295627149</c:v>
                </c:pt>
                <c:pt idx="511">
                  <c:v>49.332515684702109</c:v>
                </c:pt>
                <c:pt idx="512">
                  <c:v>49.261757630076893</c:v>
                </c:pt>
                <c:pt idx="513">
                  <c:v>48.907967356950799</c:v>
                </c:pt>
                <c:pt idx="514">
                  <c:v>48.940987782442569</c:v>
                </c:pt>
                <c:pt idx="515">
                  <c:v>48.813623284117178</c:v>
                </c:pt>
                <c:pt idx="516">
                  <c:v>47.978678239539597</c:v>
                </c:pt>
                <c:pt idx="517">
                  <c:v>46.539931128826829</c:v>
                </c:pt>
                <c:pt idx="518">
                  <c:v>46.322939761309499</c:v>
                </c:pt>
                <c:pt idx="519">
                  <c:v>46.978631067503187</c:v>
                </c:pt>
                <c:pt idx="520">
                  <c:v>47.172036416812112</c:v>
                </c:pt>
                <c:pt idx="521">
                  <c:v>47.228642860512288</c:v>
                </c:pt>
                <c:pt idx="522">
                  <c:v>46.657861219868856</c:v>
                </c:pt>
                <c:pt idx="523">
                  <c:v>47.01165149299495</c:v>
                </c:pt>
                <c:pt idx="524">
                  <c:v>47.98339544318128</c:v>
                </c:pt>
                <c:pt idx="525">
                  <c:v>47.898485777631024</c:v>
                </c:pt>
                <c:pt idx="526">
                  <c:v>48.398509363649225</c:v>
                </c:pt>
                <c:pt idx="527">
                  <c:v>48.8324920986839</c:v>
                </c:pt>
                <c:pt idx="528">
                  <c:v>49.360818906552197</c:v>
                </c:pt>
                <c:pt idx="529">
                  <c:v>49.469314590310866</c:v>
                </c:pt>
                <c:pt idx="530">
                  <c:v>49.242888815510163</c:v>
                </c:pt>
                <c:pt idx="531">
                  <c:v>49.591961884994575</c:v>
                </c:pt>
                <c:pt idx="532">
                  <c:v>50.035379027312608</c:v>
                </c:pt>
                <c:pt idx="533">
                  <c:v>50.592009057030992</c:v>
                </c:pt>
                <c:pt idx="534">
                  <c:v>51.238265955941323</c:v>
                </c:pt>
                <c:pt idx="535">
                  <c:v>50.75711118448983</c:v>
                </c:pt>
                <c:pt idx="536">
                  <c:v>50.818434831831688</c:v>
                </c:pt>
                <c:pt idx="537">
                  <c:v>50.809000424548323</c:v>
                </c:pt>
                <c:pt idx="538">
                  <c:v>50.695787537147979</c:v>
                </c:pt>
                <c:pt idx="539">
                  <c:v>50.846738053681783</c:v>
                </c:pt>
                <c:pt idx="540">
                  <c:v>51.247700363224681</c:v>
                </c:pt>
                <c:pt idx="541">
                  <c:v>52.714750695787536</c:v>
                </c:pt>
                <c:pt idx="542">
                  <c:v>53.261946318222556</c:v>
                </c:pt>
                <c:pt idx="543">
                  <c:v>53.167602245388927</c:v>
                </c:pt>
                <c:pt idx="544">
                  <c:v>53.681777442332184</c:v>
                </c:pt>
                <c:pt idx="545">
                  <c:v>54.002547289966508</c:v>
                </c:pt>
                <c:pt idx="546">
                  <c:v>54.898815981885932</c:v>
                </c:pt>
                <c:pt idx="547">
                  <c:v>54.719562243502054</c:v>
                </c:pt>
                <c:pt idx="548">
                  <c:v>53.56384735129015</c:v>
                </c:pt>
                <c:pt idx="549">
                  <c:v>53.375159205622907</c:v>
                </c:pt>
                <c:pt idx="550">
                  <c:v>54.710127836218689</c:v>
                </c:pt>
                <c:pt idx="551">
                  <c:v>53.460068871173164</c:v>
                </c:pt>
                <c:pt idx="552">
                  <c:v>51.554318599933964</c:v>
                </c:pt>
                <c:pt idx="553">
                  <c:v>50.346714467663567</c:v>
                </c:pt>
                <c:pt idx="554">
                  <c:v>49.832539270720318</c:v>
                </c:pt>
                <c:pt idx="555">
                  <c:v>49.247606019151846</c:v>
                </c:pt>
                <c:pt idx="556">
                  <c:v>50.224067172979858</c:v>
                </c:pt>
                <c:pt idx="557">
                  <c:v>49.17684796452663</c:v>
                </c:pt>
                <c:pt idx="558">
                  <c:v>46.002169913675168</c:v>
                </c:pt>
                <c:pt idx="559">
                  <c:v>45.304023774706359</c:v>
                </c:pt>
                <c:pt idx="560">
                  <c:v>45.492711920373601</c:v>
                </c:pt>
                <c:pt idx="561">
                  <c:v>43.228454172366618</c:v>
                </c:pt>
                <c:pt idx="562">
                  <c:v>44.355865842728427</c:v>
                </c:pt>
                <c:pt idx="563">
                  <c:v>45.450257087598466</c:v>
                </c:pt>
                <c:pt idx="564">
                  <c:v>44.61059483937921</c:v>
                </c:pt>
                <c:pt idx="565">
                  <c:v>44.945516297938582</c:v>
                </c:pt>
                <c:pt idx="566">
                  <c:v>44.355865842728427</c:v>
                </c:pt>
                <c:pt idx="567">
                  <c:v>45.271003349214581</c:v>
                </c:pt>
                <c:pt idx="568">
                  <c:v>45.388933440256615</c:v>
                </c:pt>
                <c:pt idx="569">
                  <c:v>44.41247228642861</c:v>
                </c:pt>
                <c:pt idx="570">
                  <c:v>44.261521769894806</c:v>
                </c:pt>
                <c:pt idx="571">
                  <c:v>43.332232652483604</c:v>
                </c:pt>
                <c:pt idx="572">
                  <c:v>44.247370158969758</c:v>
                </c:pt>
                <c:pt idx="573">
                  <c:v>44.365300250011792</c:v>
                </c:pt>
                <c:pt idx="574">
                  <c:v>44.511533562903907</c:v>
                </c:pt>
                <c:pt idx="575">
                  <c:v>44.870041039671683</c:v>
                </c:pt>
                <c:pt idx="576">
                  <c:v>45.096466814472379</c:v>
                </c:pt>
                <c:pt idx="577">
                  <c:v>45.200245294589365</c:v>
                </c:pt>
                <c:pt idx="578">
                  <c:v>45.280437756497946</c:v>
                </c:pt>
                <c:pt idx="579">
                  <c:v>45.82291617529129</c:v>
                </c:pt>
                <c:pt idx="580">
                  <c:v>45.129487239964149</c:v>
                </c:pt>
                <c:pt idx="581">
                  <c:v>44.903061465163447</c:v>
                </c:pt>
                <c:pt idx="582">
                  <c:v>44.572857210245765</c:v>
                </c:pt>
                <c:pt idx="583">
                  <c:v>43.940751922260489</c:v>
                </c:pt>
                <c:pt idx="584">
                  <c:v>44.261521769894806</c:v>
                </c:pt>
                <c:pt idx="585">
                  <c:v>44.615312043020893</c:v>
                </c:pt>
                <c:pt idx="586">
                  <c:v>44.553988395679042</c:v>
                </c:pt>
                <c:pt idx="587">
                  <c:v>43.733194962026509</c:v>
                </c:pt>
                <c:pt idx="588">
                  <c:v>44.266238973536488</c:v>
                </c:pt>
                <c:pt idx="589">
                  <c:v>44.940799094296899</c:v>
                </c:pt>
                <c:pt idx="590">
                  <c:v>45.671965658757486</c:v>
                </c:pt>
                <c:pt idx="591">
                  <c:v>45.398367847539973</c:v>
                </c:pt>
                <c:pt idx="592">
                  <c:v>44.936081890655224</c:v>
                </c:pt>
                <c:pt idx="593">
                  <c:v>43.978489551393935</c:v>
                </c:pt>
                <c:pt idx="594">
                  <c:v>43.445445539883956</c:v>
                </c:pt>
                <c:pt idx="595">
                  <c:v>42.61993490258974</c:v>
                </c:pt>
                <c:pt idx="596">
                  <c:v>43.648285296476246</c:v>
                </c:pt>
                <c:pt idx="597">
                  <c:v>44.497381951978866</c:v>
                </c:pt>
                <c:pt idx="598">
                  <c:v>45.393650643898297</c:v>
                </c:pt>
                <c:pt idx="599">
                  <c:v>45.940846266333317</c:v>
                </c:pt>
                <c:pt idx="600">
                  <c:v>45.841784989858013</c:v>
                </c:pt>
                <c:pt idx="601">
                  <c:v>46.120100004717202</c:v>
                </c:pt>
                <c:pt idx="602">
                  <c:v>43.629416481909523</c:v>
                </c:pt>
                <c:pt idx="603">
                  <c:v>44.379451860936832</c:v>
                </c:pt>
                <c:pt idx="604">
                  <c:v>43.81338742393509</c:v>
                </c:pt>
                <c:pt idx="605">
                  <c:v>43.530355205434219</c:v>
                </c:pt>
                <c:pt idx="606">
                  <c:v>43.412425114392185</c:v>
                </c:pt>
                <c:pt idx="607">
                  <c:v>43.945469125902164</c:v>
                </c:pt>
                <c:pt idx="608">
                  <c:v>43.478465965375726</c:v>
                </c:pt>
                <c:pt idx="609">
                  <c:v>43.516203594509172</c:v>
                </c:pt>
                <c:pt idx="610">
                  <c:v>44.049247606019151</c:v>
                </c:pt>
                <c:pt idx="611">
                  <c:v>43.836973442143503</c:v>
                </c:pt>
                <c:pt idx="612">
                  <c:v>44.454927119203731</c:v>
                </c:pt>
                <c:pt idx="613">
                  <c:v>45.43138827303175</c:v>
                </c:pt>
                <c:pt idx="614">
                  <c:v>46.072927968300391</c:v>
                </c:pt>
                <c:pt idx="615">
                  <c:v>45.841784989858013</c:v>
                </c:pt>
                <c:pt idx="616">
                  <c:v>46.077645171942073</c:v>
                </c:pt>
                <c:pt idx="617">
                  <c:v>46.195575262984107</c:v>
                </c:pt>
                <c:pt idx="618">
                  <c:v>46.162554837492337</c:v>
                </c:pt>
                <c:pt idx="619">
                  <c:v>46.285202132176046</c:v>
                </c:pt>
                <c:pt idx="620">
                  <c:v>46.082362375583749</c:v>
                </c:pt>
                <c:pt idx="621">
                  <c:v>46.426718241426485</c:v>
                </c:pt>
                <c:pt idx="622">
                  <c:v>46.162554837492337</c:v>
                </c:pt>
                <c:pt idx="623">
                  <c:v>46.021038728241898</c:v>
                </c:pt>
                <c:pt idx="624">
                  <c:v>46.804099999999998</c:v>
                </c:pt>
                <c:pt idx="625">
                  <c:v>46.7239</c:v>
                </c:pt>
                <c:pt idx="626">
                  <c:v>46.450299999999999</c:v>
                </c:pt>
                <c:pt idx="627">
                  <c:v>46.356000000000002</c:v>
                </c:pt>
                <c:pt idx="628">
                  <c:v>45.4833</c:v>
                </c:pt>
                <c:pt idx="629">
                  <c:v>45.1342</c:v>
                </c:pt>
                <c:pt idx="630">
                  <c:v>45.101199999999999</c:v>
                </c:pt>
                <c:pt idx="631">
                  <c:v>45.209699999999998</c:v>
                </c:pt>
                <c:pt idx="632">
                  <c:v>43.366</c:v>
                </c:pt>
              </c:numCache>
            </c:numRef>
          </c:val>
          <c:smooth val="0"/>
          <c:extLst>
            <c:ext xmlns:c16="http://schemas.microsoft.com/office/drawing/2014/chart" uri="{C3380CC4-5D6E-409C-BE32-E72D297353CC}">
              <c16:uniqueId val="{00000000-7FBA-4366-94BD-2E0E790F2BA5}"/>
            </c:ext>
          </c:extLst>
        </c:ser>
        <c:ser>
          <c:idx val="1"/>
          <c:order val="1"/>
          <c:tx>
            <c:strRef>
              <c:f>Sheet1!$C$1</c:f>
              <c:strCache>
                <c:ptCount val="1"/>
                <c:pt idx="0">
                  <c:v>Real exchange rate</c:v>
                </c:pt>
              </c:strCache>
            </c:strRef>
          </c:tx>
          <c:spPr>
            <a:ln w="34925">
              <a:solidFill>
                <a:srgbClr val="0000FF"/>
              </a:solidFill>
              <a:prstDash val="solid"/>
            </a:ln>
          </c:spPr>
          <c:marker>
            <c:symbol val="none"/>
          </c:marker>
          <c:cat>
            <c:numRef>
              <c:f>Sheet1!$A$2:$A$634</c:f>
              <c:numCache>
                <c:formatCode>mmm\-yy</c:formatCode>
                <c:ptCount val="633"/>
                <c:pt idx="0">
                  <c:v>25569</c:v>
                </c:pt>
                <c:pt idx="1">
                  <c:v>25600</c:v>
                </c:pt>
                <c:pt idx="2">
                  <c:v>25628</c:v>
                </c:pt>
                <c:pt idx="3">
                  <c:v>25659</c:v>
                </c:pt>
                <c:pt idx="4">
                  <c:v>25689</c:v>
                </c:pt>
                <c:pt idx="5">
                  <c:v>25720</c:v>
                </c:pt>
                <c:pt idx="6">
                  <c:v>25750</c:v>
                </c:pt>
                <c:pt idx="7">
                  <c:v>25781</c:v>
                </c:pt>
                <c:pt idx="8">
                  <c:v>25812</c:v>
                </c:pt>
                <c:pt idx="9">
                  <c:v>25842</c:v>
                </c:pt>
                <c:pt idx="10">
                  <c:v>25873</c:v>
                </c:pt>
                <c:pt idx="11">
                  <c:v>25903</c:v>
                </c:pt>
                <c:pt idx="12">
                  <c:v>25934</c:v>
                </c:pt>
                <c:pt idx="13">
                  <c:v>25965</c:v>
                </c:pt>
                <c:pt idx="14">
                  <c:v>25993</c:v>
                </c:pt>
                <c:pt idx="15">
                  <c:v>26024</c:v>
                </c:pt>
                <c:pt idx="16">
                  <c:v>26054</c:v>
                </c:pt>
                <c:pt idx="17">
                  <c:v>26085</c:v>
                </c:pt>
                <c:pt idx="18">
                  <c:v>26115</c:v>
                </c:pt>
                <c:pt idx="19">
                  <c:v>26146</c:v>
                </c:pt>
                <c:pt idx="20">
                  <c:v>26177</c:v>
                </c:pt>
                <c:pt idx="21">
                  <c:v>26207</c:v>
                </c:pt>
                <c:pt idx="22">
                  <c:v>26238</c:v>
                </c:pt>
                <c:pt idx="23">
                  <c:v>26268</c:v>
                </c:pt>
                <c:pt idx="24">
                  <c:v>26299</c:v>
                </c:pt>
                <c:pt idx="25">
                  <c:v>26330</c:v>
                </c:pt>
                <c:pt idx="26">
                  <c:v>26359</c:v>
                </c:pt>
                <c:pt idx="27">
                  <c:v>26390</c:v>
                </c:pt>
                <c:pt idx="28">
                  <c:v>26420</c:v>
                </c:pt>
                <c:pt idx="29">
                  <c:v>26451</c:v>
                </c:pt>
                <c:pt idx="30">
                  <c:v>26481</c:v>
                </c:pt>
                <c:pt idx="31">
                  <c:v>26512</c:v>
                </c:pt>
                <c:pt idx="32">
                  <c:v>26543</c:v>
                </c:pt>
                <c:pt idx="33">
                  <c:v>26573</c:v>
                </c:pt>
                <c:pt idx="34">
                  <c:v>26604</c:v>
                </c:pt>
                <c:pt idx="35">
                  <c:v>26634</c:v>
                </c:pt>
                <c:pt idx="36">
                  <c:v>26665</c:v>
                </c:pt>
                <c:pt idx="37">
                  <c:v>26696</c:v>
                </c:pt>
                <c:pt idx="38">
                  <c:v>26724</c:v>
                </c:pt>
                <c:pt idx="39">
                  <c:v>26755</c:v>
                </c:pt>
                <c:pt idx="40">
                  <c:v>26785</c:v>
                </c:pt>
                <c:pt idx="41">
                  <c:v>26816</c:v>
                </c:pt>
                <c:pt idx="42">
                  <c:v>26846</c:v>
                </c:pt>
                <c:pt idx="43">
                  <c:v>26877</c:v>
                </c:pt>
                <c:pt idx="44">
                  <c:v>26908</c:v>
                </c:pt>
                <c:pt idx="45">
                  <c:v>26938</c:v>
                </c:pt>
                <c:pt idx="46">
                  <c:v>26969</c:v>
                </c:pt>
                <c:pt idx="47">
                  <c:v>26999</c:v>
                </c:pt>
                <c:pt idx="48">
                  <c:v>27030</c:v>
                </c:pt>
                <c:pt idx="49">
                  <c:v>27061</c:v>
                </c:pt>
                <c:pt idx="50">
                  <c:v>27089</c:v>
                </c:pt>
                <c:pt idx="51">
                  <c:v>27120</c:v>
                </c:pt>
                <c:pt idx="52">
                  <c:v>27150</c:v>
                </c:pt>
                <c:pt idx="53">
                  <c:v>27181</c:v>
                </c:pt>
                <c:pt idx="54">
                  <c:v>27211</c:v>
                </c:pt>
                <c:pt idx="55">
                  <c:v>27242</c:v>
                </c:pt>
                <c:pt idx="56">
                  <c:v>27273</c:v>
                </c:pt>
                <c:pt idx="57">
                  <c:v>27303</c:v>
                </c:pt>
                <c:pt idx="58">
                  <c:v>27334</c:v>
                </c:pt>
                <c:pt idx="59">
                  <c:v>27364</c:v>
                </c:pt>
                <c:pt idx="60">
                  <c:v>27395</c:v>
                </c:pt>
                <c:pt idx="61">
                  <c:v>27426</c:v>
                </c:pt>
                <c:pt idx="62">
                  <c:v>27454</c:v>
                </c:pt>
                <c:pt idx="63">
                  <c:v>27485</c:v>
                </c:pt>
                <c:pt idx="64">
                  <c:v>27515</c:v>
                </c:pt>
                <c:pt idx="65">
                  <c:v>27546</c:v>
                </c:pt>
                <c:pt idx="66">
                  <c:v>27576</c:v>
                </c:pt>
                <c:pt idx="67">
                  <c:v>27607</c:v>
                </c:pt>
                <c:pt idx="68">
                  <c:v>27638</c:v>
                </c:pt>
                <c:pt idx="69">
                  <c:v>27668</c:v>
                </c:pt>
                <c:pt idx="70">
                  <c:v>27699</c:v>
                </c:pt>
                <c:pt idx="71">
                  <c:v>27729</c:v>
                </c:pt>
                <c:pt idx="72">
                  <c:v>27760</c:v>
                </c:pt>
                <c:pt idx="73">
                  <c:v>27791</c:v>
                </c:pt>
                <c:pt idx="74">
                  <c:v>27820</c:v>
                </c:pt>
                <c:pt idx="75">
                  <c:v>27851</c:v>
                </c:pt>
                <c:pt idx="76">
                  <c:v>27881</c:v>
                </c:pt>
                <c:pt idx="77">
                  <c:v>27912</c:v>
                </c:pt>
                <c:pt idx="78">
                  <c:v>27942</c:v>
                </c:pt>
                <c:pt idx="79">
                  <c:v>27973</c:v>
                </c:pt>
                <c:pt idx="80">
                  <c:v>28004</c:v>
                </c:pt>
                <c:pt idx="81">
                  <c:v>28034</c:v>
                </c:pt>
                <c:pt idx="82">
                  <c:v>28065</c:v>
                </c:pt>
                <c:pt idx="83">
                  <c:v>28095</c:v>
                </c:pt>
                <c:pt idx="84">
                  <c:v>28126</c:v>
                </c:pt>
                <c:pt idx="85">
                  <c:v>28157</c:v>
                </c:pt>
                <c:pt idx="86">
                  <c:v>28185</c:v>
                </c:pt>
                <c:pt idx="87">
                  <c:v>28216</c:v>
                </c:pt>
                <c:pt idx="88">
                  <c:v>28246</c:v>
                </c:pt>
                <c:pt idx="89">
                  <c:v>28277</c:v>
                </c:pt>
                <c:pt idx="90">
                  <c:v>28307</c:v>
                </c:pt>
                <c:pt idx="91">
                  <c:v>28338</c:v>
                </c:pt>
                <c:pt idx="92">
                  <c:v>28369</c:v>
                </c:pt>
                <c:pt idx="93">
                  <c:v>28399</c:v>
                </c:pt>
                <c:pt idx="94">
                  <c:v>28430</c:v>
                </c:pt>
                <c:pt idx="95">
                  <c:v>28460</c:v>
                </c:pt>
                <c:pt idx="96">
                  <c:v>28491</c:v>
                </c:pt>
                <c:pt idx="97">
                  <c:v>28522</c:v>
                </c:pt>
                <c:pt idx="98">
                  <c:v>28550</c:v>
                </c:pt>
                <c:pt idx="99">
                  <c:v>28581</c:v>
                </c:pt>
                <c:pt idx="100">
                  <c:v>28611</c:v>
                </c:pt>
                <c:pt idx="101">
                  <c:v>28642</c:v>
                </c:pt>
                <c:pt idx="102">
                  <c:v>28672</c:v>
                </c:pt>
                <c:pt idx="103">
                  <c:v>28703</c:v>
                </c:pt>
                <c:pt idx="104">
                  <c:v>28734</c:v>
                </c:pt>
                <c:pt idx="105">
                  <c:v>28764</c:v>
                </c:pt>
                <c:pt idx="106">
                  <c:v>28795</c:v>
                </c:pt>
                <c:pt idx="107">
                  <c:v>28825</c:v>
                </c:pt>
                <c:pt idx="108">
                  <c:v>28856</c:v>
                </c:pt>
                <c:pt idx="109">
                  <c:v>28887</c:v>
                </c:pt>
                <c:pt idx="110">
                  <c:v>28915</c:v>
                </c:pt>
                <c:pt idx="111">
                  <c:v>28946</c:v>
                </c:pt>
                <c:pt idx="112">
                  <c:v>28976</c:v>
                </c:pt>
                <c:pt idx="113">
                  <c:v>29007</c:v>
                </c:pt>
                <c:pt idx="114">
                  <c:v>29037</c:v>
                </c:pt>
                <c:pt idx="115">
                  <c:v>29068</c:v>
                </c:pt>
                <c:pt idx="116">
                  <c:v>29099</c:v>
                </c:pt>
                <c:pt idx="117">
                  <c:v>29129</c:v>
                </c:pt>
                <c:pt idx="118">
                  <c:v>29160</c:v>
                </c:pt>
                <c:pt idx="119">
                  <c:v>29190</c:v>
                </c:pt>
                <c:pt idx="120">
                  <c:v>29221</c:v>
                </c:pt>
                <c:pt idx="121">
                  <c:v>29252</c:v>
                </c:pt>
                <c:pt idx="122">
                  <c:v>29281</c:v>
                </c:pt>
                <c:pt idx="123">
                  <c:v>29312</c:v>
                </c:pt>
                <c:pt idx="124">
                  <c:v>29342</c:v>
                </c:pt>
                <c:pt idx="125">
                  <c:v>29373</c:v>
                </c:pt>
                <c:pt idx="126">
                  <c:v>29403</c:v>
                </c:pt>
                <c:pt idx="127">
                  <c:v>29434</c:v>
                </c:pt>
                <c:pt idx="128">
                  <c:v>29465</c:v>
                </c:pt>
                <c:pt idx="129">
                  <c:v>29495</c:v>
                </c:pt>
                <c:pt idx="130">
                  <c:v>29526</c:v>
                </c:pt>
                <c:pt idx="131">
                  <c:v>29556</c:v>
                </c:pt>
                <c:pt idx="132">
                  <c:v>29587</c:v>
                </c:pt>
                <c:pt idx="133">
                  <c:v>29618</c:v>
                </c:pt>
                <c:pt idx="134">
                  <c:v>29646</c:v>
                </c:pt>
                <c:pt idx="135">
                  <c:v>29677</c:v>
                </c:pt>
                <c:pt idx="136">
                  <c:v>29707</c:v>
                </c:pt>
                <c:pt idx="137">
                  <c:v>29738</c:v>
                </c:pt>
                <c:pt idx="138">
                  <c:v>29768</c:v>
                </c:pt>
                <c:pt idx="139">
                  <c:v>29799</c:v>
                </c:pt>
                <c:pt idx="140">
                  <c:v>29830</c:v>
                </c:pt>
                <c:pt idx="141">
                  <c:v>29860</c:v>
                </c:pt>
                <c:pt idx="142">
                  <c:v>29891</c:v>
                </c:pt>
                <c:pt idx="143">
                  <c:v>29921</c:v>
                </c:pt>
                <c:pt idx="144">
                  <c:v>29952</c:v>
                </c:pt>
                <c:pt idx="145">
                  <c:v>29983</c:v>
                </c:pt>
                <c:pt idx="146">
                  <c:v>30011</c:v>
                </c:pt>
                <c:pt idx="147">
                  <c:v>30042</c:v>
                </c:pt>
                <c:pt idx="148">
                  <c:v>30072</c:v>
                </c:pt>
                <c:pt idx="149">
                  <c:v>30103</c:v>
                </c:pt>
                <c:pt idx="150">
                  <c:v>30133</c:v>
                </c:pt>
                <c:pt idx="151">
                  <c:v>30164</c:v>
                </c:pt>
                <c:pt idx="152">
                  <c:v>30195</c:v>
                </c:pt>
                <c:pt idx="153">
                  <c:v>30225</c:v>
                </c:pt>
                <c:pt idx="154">
                  <c:v>30256</c:v>
                </c:pt>
                <c:pt idx="155">
                  <c:v>30286</c:v>
                </c:pt>
                <c:pt idx="156">
                  <c:v>30317</c:v>
                </c:pt>
                <c:pt idx="157">
                  <c:v>30348</c:v>
                </c:pt>
                <c:pt idx="158">
                  <c:v>30376</c:v>
                </c:pt>
                <c:pt idx="159">
                  <c:v>30407</c:v>
                </c:pt>
                <c:pt idx="160">
                  <c:v>30437</c:v>
                </c:pt>
                <c:pt idx="161">
                  <c:v>30468</c:v>
                </c:pt>
                <c:pt idx="162">
                  <c:v>30498</c:v>
                </c:pt>
                <c:pt idx="163">
                  <c:v>30529</c:v>
                </c:pt>
                <c:pt idx="164">
                  <c:v>30560</c:v>
                </c:pt>
                <c:pt idx="165">
                  <c:v>30590</c:v>
                </c:pt>
                <c:pt idx="166">
                  <c:v>30621</c:v>
                </c:pt>
                <c:pt idx="167">
                  <c:v>30651</c:v>
                </c:pt>
                <c:pt idx="168">
                  <c:v>30682</c:v>
                </c:pt>
                <c:pt idx="169">
                  <c:v>30713</c:v>
                </c:pt>
                <c:pt idx="170">
                  <c:v>30742</c:v>
                </c:pt>
                <c:pt idx="171">
                  <c:v>30773</c:v>
                </c:pt>
                <c:pt idx="172">
                  <c:v>30803</c:v>
                </c:pt>
                <c:pt idx="173">
                  <c:v>30834</c:v>
                </c:pt>
                <c:pt idx="174">
                  <c:v>30864</c:v>
                </c:pt>
                <c:pt idx="175">
                  <c:v>30895</c:v>
                </c:pt>
                <c:pt idx="176">
                  <c:v>30926</c:v>
                </c:pt>
                <c:pt idx="177">
                  <c:v>30956</c:v>
                </c:pt>
                <c:pt idx="178">
                  <c:v>30987</c:v>
                </c:pt>
                <c:pt idx="179">
                  <c:v>31017</c:v>
                </c:pt>
                <c:pt idx="180">
                  <c:v>31048</c:v>
                </c:pt>
                <c:pt idx="181">
                  <c:v>31079</c:v>
                </c:pt>
                <c:pt idx="182">
                  <c:v>31107</c:v>
                </c:pt>
                <c:pt idx="183">
                  <c:v>31138</c:v>
                </c:pt>
                <c:pt idx="184">
                  <c:v>31168</c:v>
                </c:pt>
                <c:pt idx="185">
                  <c:v>31199</c:v>
                </c:pt>
                <c:pt idx="186">
                  <c:v>31229</c:v>
                </c:pt>
                <c:pt idx="187">
                  <c:v>31260</c:v>
                </c:pt>
                <c:pt idx="188">
                  <c:v>31291</c:v>
                </c:pt>
                <c:pt idx="189">
                  <c:v>31321</c:v>
                </c:pt>
                <c:pt idx="190">
                  <c:v>31352</c:v>
                </c:pt>
                <c:pt idx="191">
                  <c:v>31382</c:v>
                </c:pt>
                <c:pt idx="192">
                  <c:v>31413</c:v>
                </c:pt>
                <c:pt idx="193">
                  <c:v>31444</c:v>
                </c:pt>
                <c:pt idx="194">
                  <c:v>31472</c:v>
                </c:pt>
                <c:pt idx="195">
                  <c:v>31503</c:v>
                </c:pt>
                <c:pt idx="196">
                  <c:v>31533</c:v>
                </c:pt>
                <c:pt idx="197">
                  <c:v>31564</c:v>
                </c:pt>
                <c:pt idx="198">
                  <c:v>31594</c:v>
                </c:pt>
                <c:pt idx="199">
                  <c:v>31625</c:v>
                </c:pt>
                <c:pt idx="200">
                  <c:v>31656</c:v>
                </c:pt>
                <c:pt idx="201">
                  <c:v>31686</c:v>
                </c:pt>
                <c:pt idx="202">
                  <c:v>31717</c:v>
                </c:pt>
                <c:pt idx="203">
                  <c:v>31747</c:v>
                </c:pt>
                <c:pt idx="204">
                  <c:v>31778</c:v>
                </c:pt>
                <c:pt idx="205">
                  <c:v>31809</c:v>
                </c:pt>
                <c:pt idx="206">
                  <c:v>31837</c:v>
                </c:pt>
                <c:pt idx="207">
                  <c:v>31868</c:v>
                </c:pt>
                <c:pt idx="208">
                  <c:v>31898</c:v>
                </c:pt>
                <c:pt idx="209">
                  <c:v>31929</c:v>
                </c:pt>
                <c:pt idx="210">
                  <c:v>31959</c:v>
                </c:pt>
                <c:pt idx="211">
                  <c:v>31990</c:v>
                </c:pt>
                <c:pt idx="212">
                  <c:v>32021</c:v>
                </c:pt>
                <c:pt idx="213">
                  <c:v>32051</c:v>
                </c:pt>
                <c:pt idx="214">
                  <c:v>32082</c:v>
                </c:pt>
                <c:pt idx="215">
                  <c:v>32112</c:v>
                </c:pt>
                <c:pt idx="216">
                  <c:v>32143</c:v>
                </c:pt>
                <c:pt idx="217">
                  <c:v>32174</c:v>
                </c:pt>
                <c:pt idx="218">
                  <c:v>32203</c:v>
                </c:pt>
                <c:pt idx="219">
                  <c:v>32234</c:v>
                </c:pt>
                <c:pt idx="220">
                  <c:v>32264</c:v>
                </c:pt>
                <c:pt idx="221">
                  <c:v>32295</c:v>
                </c:pt>
                <c:pt idx="222">
                  <c:v>32325</c:v>
                </c:pt>
                <c:pt idx="223">
                  <c:v>32356</c:v>
                </c:pt>
                <c:pt idx="224">
                  <c:v>32387</c:v>
                </c:pt>
                <c:pt idx="225">
                  <c:v>32417</c:v>
                </c:pt>
                <c:pt idx="226">
                  <c:v>32448</c:v>
                </c:pt>
                <c:pt idx="227">
                  <c:v>32478</c:v>
                </c:pt>
                <c:pt idx="228">
                  <c:v>32509</c:v>
                </c:pt>
                <c:pt idx="229">
                  <c:v>32540</c:v>
                </c:pt>
                <c:pt idx="230">
                  <c:v>32568</c:v>
                </c:pt>
                <c:pt idx="231">
                  <c:v>32599</c:v>
                </c:pt>
                <c:pt idx="232">
                  <c:v>32629</c:v>
                </c:pt>
                <c:pt idx="233">
                  <c:v>32660</c:v>
                </c:pt>
                <c:pt idx="234">
                  <c:v>32690</c:v>
                </c:pt>
                <c:pt idx="235">
                  <c:v>32721</c:v>
                </c:pt>
                <c:pt idx="236">
                  <c:v>32752</c:v>
                </c:pt>
                <c:pt idx="237">
                  <c:v>32782</c:v>
                </c:pt>
                <c:pt idx="238">
                  <c:v>32813</c:v>
                </c:pt>
                <c:pt idx="239">
                  <c:v>32843</c:v>
                </c:pt>
                <c:pt idx="240">
                  <c:v>32874</c:v>
                </c:pt>
                <c:pt idx="241">
                  <c:v>32905</c:v>
                </c:pt>
                <c:pt idx="242">
                  <c:v>32933</c:v>
                </c:pt>
                <c:pt idx="243">
                  <c:v>32964</c:v>
                </c:pt>
                <c:pt idx="244">
                  <c:v>32994</c:v>
                </c:pt>
                <c:pt idx="245">
                  <c:v>33025</c:v>
                </c:pt>
                <c:pt idx="246">
                  <c:v>33055</c:v>
                </c:pt>
                <c:pt idx="247">
                  <c:v>33086</c:v>
                </c:pt>
                <c:pt idx="248">
                  <c:v>33117</c:v>
                </c:pt>
                <c:pt idx="249">
                  <c:v>33147</c:v>
                </c:pt>
                <c:pt idx="250">
                  <c:v>33178</c:v>
                </c:pt>
                <c:pt idx="251">
                  <c:v>33208</c:v>
                </c:pt>
                <c:pt idx="252">
                  <c:v>33239</c:v>
                </c:pt>
                <c:pt idx="253">
                  <c:v>33270</c:v>
                </c:pt>
                <c:pt idx="254">
                  <c:v>33298</c:v>
                </c:pt>
                <c:pt idx="255">
                  <c:v>33329</c:v>
                </c:pt>
                <c:pt idx="256">
                  <c:v>33359</c:v>
                </c:pt>
                <c:pt idx="257">
                  <c:v>33390</c:v>
                </c:pt>
                <c:pt idx="258">
                  <c:v>33420</c:v>
                </c:pt>
                <c:pt idx="259">
                  <c:v>33451</c:v>
                </c:pt>
                <c:pt idx="260">
                  <c:v>33482</c:v>
                </c:pt>
                <c:pt idx="261">
                  <c:v>33512</c:v>
                </c:pt>
                <c:pt idx="262">
                  <c:v>33543</c:v>
                </c:pt>
                <c:pt idx="263">
                  <c:v>33573</c:v>
                </c:pt>
                <c:pt idx="264">
                  <c:v>33604</c:v>
                </c:pt>
                <c:pt idx="265">
                  <c:v>33635</c:v>
                </c:pt>
                <c:pt idx="266">
                  <c:v>33664</c:v>
                </c:pt>
                <c:pt idx="267">
                  <c:v>33695</c:v>
                </c:pt>
                <c:pt idx="268">
                  <c:v>33725</c:v>
                </c:pt>
                <c:pt idx="269">
                  <c:v>33756</c:v>
                </c:pt>
                <c:pt idx="270">
                  <c:v>33786</c:v>
                </c:pt>
                <c:pt idx="271">
                  <c:v>33817</c:v>
                </c:pt>
                <c:pt idx="272">
                  <c:v>33848</c:v>
                </c:pt>
                <c:pt idx="273">
                  <c:v>33878</c:v>
                </c:pt>
                <c:pt idx="274">
                  <c:v>33909</c:v>
                </c:pt>
                <c:pt idx="275">
                  <c:v>33939</c:v>
                </c:pt>
                <c:pt idx="276">
                  <c:v>33970</c:v>
                </c:pt>
                <c:pt idx="277">
                  <c:v>34001</c:v>
                </c:pt>
                <c:pt idx="278">
                  <c:v>34029</c:v>
                </c:pt>
                <c:pt idx="279">
                  <c:v>34060</c:v>
                </c:pt>
                <c:pt idx="280">
                  <c:v>34090</c:v>
                </c:pt>
                <c:pt idx="281">
                  <c:v>34121</c:v>
                </c:pt>
                <c:pt idx="282">
                  <c:v>34151</c:v>
                </c:pt>
                <c:pt idx="283">
                  <c:v>34182</c:v>
                </c:pt>
                <c:pt idx="284">
                  <c:v>34213</c:v>
                </c:pt>
                <c:pt idx="285">
                  <c:v>34243</c:v>
                </c:pt>
                <c:pt idx="286">
                  <c:v>34274</c:v>
                </c:pt>
                <c:pt idx="287">
                  <c:v>34304</c:v>
                </c:pt>
                <c:pt idx="288">
                  <c:v>34335</c:v>
                </c:pt>
                <c:pt idx="289">
                  <c:v>34366</c:v>
                </c:pt>
                <c:pt idx="290">
                  <c:v>34394</c:v>
                </c:pt>
                <c:pt idx="291">
                  <c:v>34425</c:v>
                </c:pt>
                <c:pt idx="292">
                  <c:v>34455</c:v>
                </c:pt>
                <c:pt idx="293">
                  <c:v>34486</c:v>
                </c:pt>
                <c:pt idx="294">
                  <c:v>34516</c:v>
                </c:pt>
                <c:pt idx="295">
                  <c:v>34547</c:v>
                </c:pt>
                <c:pt idx="296">
                  <c:v>34578</c:v>
                </c:pt>
                <c:pt idx="297">
                  <c:v>34608</c:v>
                </c:pt>
                <c:pt idx="298">
                  <c:v>34639</c:v>
                </c:pt>
                <c:pt idx="299">
                  <c:v>34669</c:v>
                </c:pt>
                <c:pt idx="300">
                  <c:v>34700</c:v>
                </c:pt>
                <c:pt idx="301">
                  <c:v>34731</c:v>
                </c:pt>
                <c:pt idx="302">
                  <c:v>34759</c:v>
                </c:pt>
                <c:pt idx="303">
                  <c:v>34790</c:v>
                </c:pt>
                <c:pt idx="304">
                  <c:v>34820</c:v>
                </c:pt>
                <c:pt idx="305">
                  <c:v>34851</c:v>
                </c:pt>
                <c:pt idx="306">
                  <c:v>34881</c:v>
                </c:pt>
                <c:pt idx="307">
                  <c:v>34912</c:v>
                </c:pt>
                <c:pt idx="308">
                  <c:v>34943</c:v>
                </c:pt>
                <c:pt idx="309">
                  <c:v>34973</c:v>
                </c:pt>
                <c:pt idx="310">
                  <c:v>35004</c:v>
                </c:pt>
                <c:pt idx="311">
                  <c:v>35034</c:v>
                </c:pt>
                <c:pt idx="312">
                  <c:v>35065</c:v>
                </c:pt>
                <c:pt idx="313">
                  <c:v>35096</c:v>
                </c:pt>
                <c:pt idx="314">
                  <c:v>35125</c:v>
                </c:pt>
                <c:pt idx="315">
                  <c:v>35156</c:v>
                </c:pt>
                <c:pt idx="316">
                  <c:v>35186</c:v>
                </c:pt>
                <c:pt idx="317">
                  <c:v>35217</c:v>
                </c:pt>
                <c:pt idx="318">
                  <c:v>35247</c:v>
                </c:pt>
                <c:pt idx="319">
                  <c:v>35278</c:v>
                </c:pt>
                <c:pt idx="320">
                  <c:v>35309</c:v>
                </c:pt>
                <c:pt idx="321">
                  <c:v>35339</c:v>
                </c:pt>
                <c:pt idx="322">
                  <c:v>35370</c:v>
                </c:pt>
                <c:pt idx="323">
                  <c:v>35400</c:v>
                </c:pt>
                <c:pt idx="324">
                  <c:v>35431</c:v>
                </c:pt>
                <c:pt idx="325">
                  <c:v>35462</c:v>
                </c:pt>
                <c:pt idx="326">
                  <c:v>35490</c:v>
                </c:pt>
                <c:pt idx="327">
                  <c:v>35521</c:v>
                </c:pt>
                <c:pt idx="328">
                  <c:v>35551</c:v>
                </c:pt>
                <c:pt idx="329">
                  <c:v>35582</c:v>
                </c:pt>
                <c:pt idx="330">
                  <c:v>35612</c:v>
                </c:pt>
                <c:pt idx="331">
                  <c:v>35643</c:v>
                </c:pt>
                <c:pt idx="332">
                  <c:v>35674</c:v>
                </c:pt>
                <c:pt idx="333">
                  <c:v>35704</c:v>
                </c:pt>
                <c:pt idx="334">
                  <c:v>35735</c:v>
                </c:pt>
                <c:pt idx="335">
                  <c:v>35765</c:v>
                </c:pt>
                <c:pt idx="336">
                  <c:v>35796</c:v>
                </c:pt>
                <c:pt idx="337">
                  <c:v>35827</c:v>
                </c:pt>
                <c:pt idx="338">
                  <c:v>35855</c:v>
                </c:pt>
                <c:pt idx="339">
                  <c:v>35886</c:v>
                </c:pt>
                <c:pt idx="340">
                  <c:v>35916</c:v>
                </c:pt>
                <c:pt idx="341">
                  <c:v>35947</c:v>
                </c:pt>
                <c:pt idx="342">
                  <c:v>35977</c:v>
                </c:pt>
                <c:pt idx="343">
                  <c:v>36008</c:v>
                </c:pt>
                <c:pt idx="344">
                  <c:v>36039</c:v>
                </c:pt>
                <c:pt idx="345">
                  <c:v>36069</c:v>
                </c:pt>
                <c:pt idx="346">
                  <c:v>36100</c:v>
                </c:pt>
                <c:pt idx="347">
                  <c:v>36130</c:v>
                </c:pt>
                <c:pt idx="348">
                  <c:v>36161</c:v>
                </c:pt>
                <c:pt idx="349">
                  <c:v>36192</c:v>
                </c:pt>
                <c:pt idx="350">
                  <c:v>36220</c:v>
                </c:pt>
                <c:pt idx="351">
                  <c:v>36251</c:v>
                </c:pt>
                <c:pt idx="352">
                  <c:v>36281</c:v>
                </c:pt>
                <c:pt idx="353">
                  <c:v>36312</c:v>
                </c:pt>
                <c:pt idx="354">
                  <c:v>36342</c:v>
                </c:pt>
                <c:pt idx="355">
                  <c:v>36373</c:v>
                </c:pt>
                <c:pt idx="356">
                  <c:v>36404</c:v>
                </c:pt>
                <c:pt idx="357">
                  <c:v>36434</c:v>
                </c:pt>
                <c:pt idx="358">
                  <c:v>36465</c:v>
                </c:pt>
                <c:pt idx="359">
                  <c:v>36495</c:v>
                </c:pt>
                <c:pt idx="360">
                  <c:v>36526</c:v>
                </c:pt>
                <c:pt idx="361">
                  <c:v>36557</c:v>
                </c:pt>
                <c:pt idx="362">
                  <c:v>36586</c:v>
                </c:pt>
                <c:pt idx="363">
                  <c:v>36617</c:v>
                </c:pt>
                <c:pt idx="364">
                  <c:v>36647</c:v>
                </c:pt>
                <c:pt idx="365">
                  <c:v>36678</c:v>
                </c:pt>
                <c:pt idx="366">
                  <c:v>36708</c:v>
                </c:pt>
                <c:pt idx="367">
                  <c:v>36739</c:v>
                </c:pt>
                <c:pt idx="368">
                  <c:v>36770</c:v>
                </c:pt>
                <c:pt idx="369">
                  <c:v>36800</c:v>
                </c:pt>
                <c:pt idx="370">
                  <c:v>36831</c:v>
                </c:pt>
                <c:pt idx="371">
                  <c:v>36861</c:v>
                </c:pt>
                <c:pt idx="372">
                  <c:v>36892</c:v>
                </c:pt>
                <c:pt idx="373">
                  <c:v>36923</c:v>
                </c:pt>
                <c:pt idx="374">
                  <c:v>36951</c:v>
                </c:pt>
                <c:pt idx="375">
                  <c:v>36982</c:v>
                </c:pt>
                <c:pt idx="376">
                  <c:v>37012</c:v>
                </c:pt>
                <c:pt idx="377">
                  <c:v>37043</c:v>
                </c:pt>
                <c:pt idx="378">
                  <c:v>37073</c:v>
                </c:pt>
                <c:pt idx="379">
                  <c:v>37104</c:v>
                </c:pt>
                <c:pt idx="380">
                  <c:v>37135</c:v>
                </c:pt>
                <c:pt idx="381">
                  <c:v>37165</c:v>
                </c:pt>
                <c:pt idx="382">
                  <c:v>37196</c:v>
                </c:pt>
                <c:pt idx="383">
                  <c:v>37226</c:v>
                </c:pt>
                <c:pt idx="384">
                  <c:v>37257</c:v>
                </c:pt>
                <c:pt idx="385">
                  <c:v>37288</c:v>
                </c:pt>
                <c:pt idx="386">
                  <c:v>37316</c:v>
                </c:pt>
                <c:pt idx="387">
                  <c:v>37347</c:v>
                </c:pt>
                <c:pt idx="388">
                  <c:v>37377</c:v>
                </c:pt>
                <c:pt idx="389">
                  <c:v>37408</c:v>
                </c:pt>
                <c:pt idx="390">
                  <c:v>37438</c:v>
                </c:pt>
                <c:pt idx="391">
                  <c:v>37469</c:v>
                </c:pt>
                <c:pt idx="392">
                  <c:v>37500</c:v>
                </c:pt>
                <c:pt idx="393">
                  <c:v>37530</c:v>
                </c:pt>
                <c:pt idx="394">
                  <c:v>37561</c:v>
                </c:pt>
                <c:pt idx="395">
                  <c:v>37591</c:v>
                </c:pt>
                <c:pt idx="396">
                  <c:v>37622</c:v>
                </c:pt>
                <c:pt idx="397">
                  <c:v>37653</c:v>
                </c:pt>
                <c:pt idx="398">
                  <c:v>37681</c:v>
                </c:pt>
                <c:pt idx="399">
                  <c:v>37712</c:v>
                </c:pt>
                <c:pt idx="400">
                  <c:v>37742</c:v>
                </c:pt>
                <c:pt idx="401">
                  <c:v>37773</c:v>
                </c:pt>
                <c:pt idx="402">
                  <c:v>37803</c:v>
                </c:pt>
                <c:pt idx="403">
                  <c:v>37834</c:v>
                </c:pt>
                <c:pt idx="404">
                  <c:v>37865</c:v>
                </c:pt>
                <c:pt idx="405">
                  <c:v>37895</c:v>
                </c:pt>
                <c:pt idx="406">
                  <c:v>37926</c:v>
                </c:pt>
                <c:pt idx="407">
                  <c:v>37956</c:v>
                </c:pt>
                <c:pt idx="408">
                  <c:v>37987</c:v>
                </c:pt>
                <c:pt idx="409">
                  <c:v>38018</c:v>
                </c:pt>
                <c:pt idx="410">
                  <c:v>38047</c:v>
                </c:pt>
                <c:pt idx="411">
                  <c:v>38078</c:v>
                </c:pt>
                <c:pt idx="412">
                  <c:v>38108</c:v>
                </c:pt>
                <c:pt idx="413">
                  <c:v>38139</c:v>
                </c:pt>
                <c:pt idx="414">
                  <c:v>38169</c:v>
                </c:pt>
                <c:pt idx="415">
                  <c:v>38200</c:v>
                </c:pt>
                <c:pt idx="416">
                  <c:v>38231</c:v>
                </c:pt>
                <c:pt idx="417">
                  <c:v>38261</c:v>
                </c:pt>
                <c:pt idx="418">
                  <c:v>38292</c:v>
                </c:pt>
                <c:pt idx="419">
                  <c:v>38322</c:v>
                </c:pt>
                <c:pt idx="420">
                  <c:v>38353</c:v>
                </c:pt>
                <c:pt idx="421">
                  <c:v>38384</c:v>
                </c:pt>
                <c:pt idx="422">
                  <c:v>38412</c:v>
                </c:pt>
                <c:pt idx="423">
                  <c:v>38443</c:v>
                </c:pt>
                <c:pt idx="424">
                  <c:v>38473</c:v>
                </c:pt>
                <c:pt idx="425">
                  <c:v>38504</c:v>
                </c:pt>
                <c:pt idx="426">
                  <c:v>38534</c:v>
                </c:pt>
                <c:pt idx="427">
                  <c:v>38565</c:v>
                </c:pt>
                <c:pt idx="428">
                  <c:v>38596</c:v>
                </c:pt>
                <c:pt idx="429">
                  <c:v>38626</c:v>
                </c:pt>
                <c:pt idx="430">
                  <c:v>38657</c:v>
                </c:pt>
                <c:pt idx="431">
                  <c:v>38687</c:v>
                </c:pt>
                <c:pt idx="432">
                  <c:v>38718</c:v>
                </c:pt>
                <c:pt idx="433">
                  <c:v>38749</c:v>
                </c:pt>
                <c:pt idx="434">
                  <c:v>38777</c:v>
                </c:pt>
                <c:pt idx="435">
                  <c:v>38808</c:v>
                </c:pt>
                <c:pt idx="436">
                  <c:v>38838</c:v>
                </c:pt>
                <c:pt idx="437">
                  <c:v>38869</c:v>
                </c:pt>
                <c:pt idx="438">
                  <c:v>38899</c:v>
                </c:pt>
                <c:pt idx="439">
                  <c:v>38930</c:v>
                </c:pt>
                <c:pt idx="440">
                  <c:v>38961</c:v>
                </c:pt>
                <c:pt idx="441">
                  <c:v>38991</c:v>
                </c:pt>
                <c:pt idx="442">
                  <c:v>39022</c:v>
                </c:pt>
                <c:pt idx="443">
                  <c:v>39052</c:v>
                </c:pt>
                <c:pt idx="444">
                  <c:v>39083</c:v>
                </c:pt>
                <c:pt idx="445">
                  <c:v>39114</c:v>
                </c:pt>
                <c:pt idx="446">
                  <c:v>39142</c:v>
                </c:pt>
                <c:pt idx="447">
                  <c:v>39173</c:v>
                </c:pt>
                <c:pt idx="448">
                  <c:v>39203</c:v>
                </c:pt>
                <c:pt idx="449">
                  <c:v>39234</c:v>
                </c:pt>
                <c:pt idx="450">
                  <c:v>39264</c:v>
                </c:pt>
                <c:pt idx="451">
                  <c:v>39295</c:v>
                </c:pt>
                <c:pt idx="452">
                  <c:v>39326</c:v>
                </c:pt>
                <c:pt idx="453">
                  <c:v>39356</c:v>
                </c:pt>
                <c:pt idx="454">
                  <c:v>39387</c:v>
                </c:pt>
                <c:pt idx="455">
                  <c:v>39417</c:v>
                </c:pt>
                <c:pt idx="456">
                  <c:v>39448</c:v>
                </c:pt>
                <c:pt idx="457">
                  <c:v>39479</c:v>
                </c:pt>
                <c:pt idx="458">
                  <c:v>39508</c:v>
                </c:pt>
                <c:pt idx="459">
                  <c:v>39539</c:v>
                </c:pt>
                <c:pt idx="460">
                  <c:v>39569</c:v>
                </c:pt>
                <c:pt idx="461">
                  <c:v>39600</c:v>
                </c:pt>
                <c:pt idx="462">
                  <c:v>39630</c:v>
                </c:pt>
                <c:pt idx="463">
                  <c:v>39661</c:v>
                </c:pt>
                <c:pt idx="464">
                  <c:v>39692</c:v>
                </c:pt>
                <c:pt idx="465">
                  <c:v>39722</c:v>
                </c:pt>
                <c:pt idx="466">
                  <c:v>39753</c:v>
                </c:pt>
                <c:pt idx="467">
                  <c:v>39783</c:v>
                </c:pt>
                <c:pt idx="468">
                  <c:v>39814</c:v>
                </c:pt>
                <c:pt idx="469">
                  <c:v>39845</c:v>
                </c:pt>
                <c:pt idx="470">
                  <c:v>39873</c:v>
                </c:pt>
                <c:pt idx="471">
                  <c:v>39904</c:v>
                </c:pt>
                <c:pt idx="472">
                  <c:v>39934</c:v>
                </c:pt>
                <c:pt idx="473">
                  <c:v>39965</c:v>
                </c:pt>
                <c:pt idx="474">
                  <c:v>39995</c:v>
                </c:pt>
                <c:pt idx="475">
                  <c:v>40026</c:v>
                </c:pt>
                <c:pt idx="476">
                  <c:v>40057</c:v>
                </c:pt>
                <c:pt idx="477">
                  <c:v>40087</c:v>
                </c:pt>
                <c:pt idx="478">
                  <c:v>40118</c:v>
                </c:pt>
                <c:pt idx="479">
                  <c:v>40148</c:v>
                </c:pt>
                <c:pt idx="480">
                  <c:v>40179</c:v>
                </c:pt>
                <c:pt idx="481">
                  <c:v>40210</c:v>
                </c:pt>
                <c:pt idx="482">
                  <c:v>40238</c:v>
                </c:pt>
                <c:pt idx="483">
                  <c:v>40269</c:v>
                </c:pt>
                <c:pt idx="484">
                  <c:v>40299</c:v>
                </c:pt>
                <c:pt idx="485">
                  <c:v>40330</c:v>
                </c:pt>
                <c:pt idx="486">
                  <c:v>40360</c:v>
                </c:pt>
                <c:pt idx="487">
                  <c:v>40391</c:v>
                </c:pt>
                <c:pt idx="488">
                  <c:v>40422</c:v>
                </c:pt>
                <c:pt idx="489">
                  <c:v>40452</c:v>
                </c:pt>
                <c:pt idx="490">
                  <c:v>40483</c:v>
                </c:pt>
                <c:pt idx="491">
                  <c:v>40513</c:v>
                </c:pt>
                <c:pt idx="492">
                  <c:v>40544</c:v>
                </c:pt>
                <c:pt idx="493">
                  <c:v>40575</c:v>
                </c:pt>
                <c:pt idx="494">
                  <c:v>40603</c:v>
                </c:pt>
                <c:pt idx="495">
                  <c:v>40634</c:v>
                </c:pt>
                <c:pt idx="496">
                  <c:v>40664</c:v>
                </c:pt>
                <c:pt idx="497">
                  <c:v>40695</c:v>
                </c:pt>
                <c:pt idx="498">
                  <c:v>40725</c:v>
                </c:pt>
                <c:pt idx="499">
                  <c:v>40756</c:v>
                </c:pt>
                <c:pt idx="500">
                  <c:v>40787</c:v>
                </c:pt>
                <c:pt idx="501">
                  <c:v>40817</c:v>
                </c:pt>
                <c:pt idx="502">
                  <c:v>40848</c:v>
                </c:pt>
                <c:pt idx="503">
                  <c:v>40878</c:v>
                </c:pt>
                <c:pt idx="504">
                  <c:v>40909</c:v>
                </c:pt>
                <c:pt idx="505">
                  <c:v>40940</c:v>
                </c:pt>
                <c:pt idx="506">
                  <c:v>40969</c:v>
                </c:pt>
                <c:pt idx="507">
                  <c:v>41000</c:v>
                </c:pt>
                <c:pt idx="508">
                  <c:v>41030</c:v>
                </c:pt>
                <c:pt idx="509">
                  <c:v>41061</c:v>
                </c:pt>
                <c:pt idx="510">
                  <c:v>41091</c:v>
                </c:pt>
                <c:pt idx="511">
                  <c:v>41122</c:v>
                </c:pt>
                <c:pt idx="512">
                  <c:v>41153</c:v>
                </c:pt>
                <c:pt idx="513">
                  <c:v>41183</c:v>
                </c:pt>
                <c:pt idx="514">
                  <c:v>41214</c:v>
                </c:pt>
                <c:pt idx="515">
                  <c:v>41244</c:v>
                </c:pt>
                <c:pt idx="516">
                  <c:v>41275</c:v>
                </c:pt>
                <c:pt idx="517">
                  <c:v>41306</c:v>
                </c:pt>
                <c:pt idx="518">
                  <c:v>41334</c:v>
                </c:pt>
                <c:pt idx="519">
                  <c:v>41365</c:v>
                </c:pt>
                <c:pt idx="520">
                  <c:v>41395</c:v>
                </c:pt>
                <c:pt idx="521">
                  <c:v>41426</c:v>
                </c:pt>
                <c:pt idx="522">
                  <c:v>41456</c:v>
                </c:pt>
                <c:pt idx="523">
                  <c:v>41487</c:v>
                </c:pt>
                <c:pt idx="524">
                  <c:v>41518</c:v>
                </c:pt>
                <c:pt idx="525">
                  <c:v>41548</c:v>
                </c:pt>
                <c:pt idx="526">
                  <c:v>41579</c:v>
                </c:pt>
                <c:pt idx="527">
                  <c:v>41609</c:v>
                </c:pt>
                <c:pt idx="528">
                  <c:v>41640</c:v>
                </c:pt>
                <c:pt idx="529">
                  <c:v>41671</c:v>
                </c:pt>
                <c:pt idx="530">
                  <c:v>41699</c:v>
                </c:pt>
                <c:pt idx="531">
                  <c:v>41730</c:v>
                </c:pt>
                <c:pt idx="532">
                  <c:v>41760</c:v>
                </c:pt>
                <c:pt idx="533">
                  <c:v>41791</c:v>
                </c:pt>
                <c:pt idx="534">
                  <c:v>41821</c:v>
                </c:pt>
                <c:pt idx="535">
                  <c:v>41852</c:v>
                </c:pt>
                <c:pt idx="536">
                  <c:v>41883</c:v>
                </c:pt>
                <c:pt idx="537">
                  <c:v>41913</c:v>
                </c:pt>
                <c:pt idx="538">
                  <c:v>41944</c:v>
                </c:pt>
                <c:pt idx="539">
                  <c:v>41974</c:v>
                </c:pt>
                <c:pt idx="540">
                  <c:v>42005</c:v>
                </c:pt>
                <c:pt idx="541">
                  <c:v>42036</c:v>
                </c:pt>
                <c:pt idx="542">
                  <c:v>42064</c:v>
                </c:pt>
                <c:pt idx="543">
                  <c:v>42095</c:v>
                </c:pt>
                <c:pt idx="544">
                  <c:v>42125</c:v>
                </c:pt>
                <c:pt idx="545">
                  <c:v>42156</c:v>
                </c:pt>
                <c:pt idx="546">
                  <c:v>42186</c:v>
                </c:pt>
                <c:pt idx="547">
                  <c:v>42217</c:v>
                </c:pt>
                <c:pt idx="548">
                  <c:v>42248</c:v>
                </c:pt>
                <c:pt idx="549">
                  <c:v>42278</c:v>
                </c:pt>
                <c:pt idx="550">
                  <c:v>42309</c:v>
                </c:pt>
                <c:pt idx="551">
                  <c:v>42339</c:v>
                </c:pt>
                <c:pt idx="552">
                  <c:v>42370</c:v>
                </c:pt>
                <c:pt idx="553">
                  <c:v>42401</c:v>
                </c:pt>
                <c:pt idx="554">
                  <c:v>42430</c:v>
                </c:pt>
                <c:pt idx="555">
                  <c:v>42461</c:v>
                </c:pt>
                <c:pt idx="556">
                  <c:v>42491</c:v>
                </c:pt>
                <c:pt idx="557">
                  <c:v>42522</c:v>
                </c:pt>
                <c:pt idx="558">
                  <c:v>42552</c:v>
                </c:pt>
                <c:pt idx="559">
                  <c:v>42583</c:v>
                </c:pt>
                <c:pt idx="560">
                  <c:v>42614</c:v>
                </c:pt>
                <c:pt idx="561">
                  <c:v>42644</c:v>
                </c:pt>
                <c:pt idx="562">
                  <c:v>42675</c:v>
                </c:pt>
                <c:pt idx="563">
                  <c:v>42705</c:v>
                </c:pt>
                <c:pt idx="564">
                  <c:v>42736</c:v>
                </c:pt>
                <c:pt idx="565">
                  <c:v>42767</c:v>
                </c:pt>
                <c:pt idx="566">
                  <c:v>42795</c:v>
                </c:pt>
                <c:pt idx="567">
                  <c:v>42826</c:v>
                </c:pt>
                <c:pt idx="568">
                  <c:v>42856</c:v>
                </c:pt>
                <c:pt idx="569">
                  <c:v>42887</c:v>
                </c:pt>
                <c:pt idx="570">
                  <c:v>42917</c:v>
                </c:pt>
                <c:pt idx="571">
                  <c:v>42948</c:v>
                </c:pt>
                <c:pt idx="572">
                  <c:v>42979</c:v>
                </c:pt>
                <c:pt idx="573">
                  <c:v>43009</c:v>
                </c:pt>
                <c:pt idx="574">
                  <c:v>43040</c:v>
                </c:pt>
                <c:pt idx="575">
                  <c:v>43070</c:v>
                </c:pt>
                <c:pt idx="576">
                  <c:v>43101</c:v>
                </c:pt>
                <c:pt idx="577">
                  <c:v>43132</c:v>
                </c:pt>
                <c:pt idx="578">
                  <c:v>43160</c:v>
                </c:pt>
                <c:pt idx="579">
                  <c:v>43191</c:v>
                </c:pt>
                <c:pt idx="580">
                  <c:v>43221</c:v>
                </c:pt>
                <c:pt idx="581">
                  <c:v>43252</c:v>
                </c:pt>
                <c:pt idx="582">
                  <c:v>43282</c:v>
                </c:pt>
                <c:pt idx="583">
                  <c:v>43313</c:v>
                </c:pt>
                <c:pt idx="584">
                  <c:v>43344</c:v>
                </c:pt>
                <c:pt idx="585">
                  <c:v>43374</c:v>
                </c:pt>
                <c:pt idx="586">
                  <c:v>43405</c:v>
                </c:pt>
                <c:pt idx="587">
                  <c:v>43435</c:v>
                </c:pt>
                <c:pt idx="588">
                  <c:v>43466</c:v>
                </c:pt>
                <c:pt idx="589">
                  <c:v>43497</c:v>
                </c:pt>
                <c:pt idx="590">
                  <c:v>43525</c:v>
                </c:pt>
                <c:pt idx="591">
                  <c:v>43556</c:v>
                </c:pt>
                <c:pt idx="592">
                  <c:v>43586</c:v>
                </c:pt>
                <c:pt idx="593">
                  <c:v>43617</c:v>
                </c:pt>
                <c:pt idx="594">
                  <c:v>43647</c:v>
                </c:pt>
                <c:pt idx="595">
                  <c:v>43678</c:v>
                </c:pt>
                <c:pt idx="596">
                  <c:v>43709</c:v>
                </c:pt>
                <c:pt idx="597">
                  <c:v>43739</c:v>
                </c:pt>
                <c:pt idx="598">
                  <c:v>43770</c:v>
                </c:pt>
                <c:pt idx="599">
                  <c:v>43800</c:v>
                </c:pt>
                <c:pt idx="600">
                  <c:v>43831</c:v>
                </c:pt>
                <c:pt idx="601">
                  <c:v>43862</c:v>
                </c:pt>
                <c:pt idx="602">
                  <c:v>43891</c:v>
                </c:pt>
                <c:pt idx="603">
                  <c:v>43922</c:v>
                </c:pt>
                <c:pt idx="604">
                  <c:v>43952</c:v>
                </c:pt>
                <c:pt idx="605">
                  <c:v>43983</c:v>
                </c:pt>
                <c:pt idx="606">
                  <c:v>44013</c:v>
                </c:pt>
                <c:pt idx="607">
                  <c:v>44044</c:v>
                </c:pt>
                <c:pt idx="608">
                  <c:v>44075</c:v>
                </c:pt>
                <c:pt idx="609">
                  <c:v>44105</c:v>
                </c:pt>
                <c:pt idx="610">
                  <c:v>44136</c:v>
                </c:pt>
                <c:pt idx="611">
                  <c:v>44166</c:v>
                </c:pt>
                <c:pt idx="612">
                  <c:v>44197</c:v>
                </c:pt>
                <c:pt idx="613">
                  <c:v>44228</c:v>
                </c:pt>
                <c:pt idx="614">
                  <c:v>44256</c:v>
                </c:pt>
                <c:pt idx="615">
                  <c:v>44287</c:v>
                </c:pt>
                <c:pt idx="616">
                  <c:v>44317</c:v>
                </c:pt>
                <c:pt idx="617">
                  <c:v>44348</c:v>
                </c:pt>
                <c:pt idx="618">
                  <c:v>44378</c:v>
                </c:pt>
                <c:pt idx="619">
                  <c:v>44409</c:v>
                </c:pt>
                <c:pt idx="620">
                  <c:v>44440</c:v>
                </c:pt>
                <c:pt idx="621">
                  <c:v>44470</c:v>
                </c:pt>
                <c:pt idx="622">
                  <c:v>44501</c:v>
                </c:pt>
                <c:pt idx="623">
                  <c:v>44531</c:v>
                </c:pt>
                <c:pt idx="624">
                  <c:v>44562</c:v>
                </c:pt>
                <c:pt idx="625">
                  <c:v>44593</c:v>
                </c:pt>
                <c:pt idx="626">
                  <c:v>44621</c:v>
                </c:pt>
                <c:pt idx="627">
                  <c:v>44652</c:v>
                </c:pt>
                <c:pt idx="628">
                  <c:v>44682</c:v>
                </c:pt>
                <c:pt idx="629">
                  <c:v>44713</c:v>
                </c:pt>
                <c:pt idx="630">
                  <c:v>44743</c:v>
                </c:pt>
                <c:pt idx="631">
                  <c:v>44774</c:v>
                </c:pt>
                <c:pt idx="632">
                  <c:v>44805</c:v>
                </c:pt>
              </c:numCache>
            </c:numRef>
          </c:cat>
          <c:val>
            <c:numRef>
              <c:f>Sheet1!$C$2:$C$634</c:f>
              <c:numCache>
                <c:formatCode>0.00</c:formatCode>
                <c:ptCount val="633"/>
                <c:pt idx="0">
                  <c:v>100</c:v>
                </c:pt>
                <c:pt idx="1">
                  <c:v>99.78920741989883</c:v>
                </c:pt>
                <c:pt idx="2">
                  <c:v>100.03513209668353</c:v>
                </c:pt>
                <c:pt idx="3">
                  <c:v>100.99072512647554</c:v>
                </c:pt>
                <c:pt idx="4">
                  <c:v>100.66048341765035</c:v>
                </c:pt>
                <c:pt idx="5">
                  <c:v>100.92748735244518</c:v>
                </c:pt>
                <c:pt idx="6">
                  <c:v>100.11944912872401</c:v>
                </c:pt>
                <c:pt idx="7">
                  <c:v>100.4707700955593</c:v>
                </c:pt>
                <c:pt idx="8">
                  <c:v>99.761101742551986</c:v>
                </c:pt>
                <c:pt idx="9">
                  <c:v>100.90640809443508</c:v>
                </c:pt>
                <c:pt idx="10">
                  <c:v>100.60427206295672</c:v>
                </c:pt>
                <c:pt idx="11">
                  <c:v>101.05396290050589</c:v>
                </c:pt>
                <c:pt idx="12">
                  <c:v>102.33979763912311</c:v>
                </c:pt>
                <c:pt idx="13">
                  <c:v>102.31169196177629</c:v>
                </c:pt>
                <c:pt idx="14">
                  <c:v>103.49915682967961</c:v>
                </c:pt>
                <c:pt idx="15">
                  <c:v>104.46880269814503</c:v>
                </c:pt>
                <c:pt idx="16">
                  <c:v>104.3142214727375</c:v>
                </c:pt>
                <c:pt idx="17">
                  <c:v>104.63041034288926</c:v>
                </c:pt>
                <c:pt idx="18">
                  <c:v>104.93254637436762</c:v>
                </c:pt>
                <c:pt idx="19">
                  <c:v>105.23468240584599</c:v>
                </c:pt>
                <c:pt idx="20">
                  <c:v>104.75688589094997</c:v>
                </c:pt>
                <c:pt idx="21">
                  <c:v>104.38448566610455</c:v>
                </c:pt>
                <c:pt idx="22">
                  <c:v>104.86228218100057</c:v>
                </c:pt>
                <c:pt idx="23">
                  <c:v>104.84120292299045</c:v>
                </c:pt>
                <c:pt idx="24">
                  <c:v>104.4547498594716</c:v>
                </c:pt>
                <c:pt idx="25">
                  <c:v>104.89038785834738</c:v>
                </c:pt>
                <c:pt idx="26">
                  <c:v>105.27684092186622</c:v>
                </c:pt>
                <c:pt idx="27">
                  <c:v>105.48763350196739</c:v>
                </c:pt>
                <c:pt idx="28">
                  <c:v>105.7195053400787</c:v>
                </c:pt>
                <c:pt idx="29">
                  <c:v>104.20882518268691</c:v>
                </c:pt>
                <c:pt idx="30">
                  <c:v>99.135750421585158</c:v>
                </c:pt>
                <c:pt idx="31">
                  <c:v>100.34429454749859</c:v>
                </c:pt>
                <c:pt idx="32">
                  <c:v>99.381675098369868</c:v>
                </c:pt>
                <c:pt idx="33">
                  <c:v>98.686059584035974</c:v>
                </c:pt>
                <c:pt idx="34">
                  <c:v>97.470489038785828</c:v>
                </c:pt>
                <c:pt idx="35">
                  <c:v>97.351039910061843</c:v>
                </c:pt>
                <c:pt idx="36">
                  <c:v>97.062956717256881</c:v>
                </c:pt>
                <c:pt idx="37">
                  <c:v>95.643620011242277</c:v>
                </c:pt>
                <c:pt idx="38">
                  <c:v>93.90106801573917</c:v>
                </c:pt>
                <c:pt idx="39">
                  <c:v>96.030073074761091</c:v>
                </c:pt>
                <c:pt idx="40">
                  <c:v>97.041877459246777</c:v>
                </c:pt>
                <c:pt idx="41">
                  <c:v>95.004215851602027</c:v>
                </c:pt>
                <c:pt idx="42">
                  <c:v>90.317594154019105</c:v>
                </c:pt>
                <c:pt idx="43">
                  <c:v>89.945193929173684</c:v>
                </c:pt>
                <c:pt idx="44">
                  <c:v>87.781056773468251</c:v>
                </c:pt>
                <c:pt idx="45">
                  <c:v>88.8982574480045</c:v>
                </c:pt>
                <c:pt idx="46">
                  <c:v>90.38083192804946</c:v>
                </c:pt>
                <c:pt idx="47">
                  <c:v>89.966273187183802</c:v>
                </c:pt>
                <c:pt idx="48">
                  <c:v>90.092748735244513</c:v>
                </c:pt>
                <c:pt idx="49">
                  <c:v>90.507307476110171</c:v>
                </c:pt>
                <c:pt idx="50">
                  <c:v>90.422990444069697</c:v>
                </c:pt>
                <c:pt idx="51">
                  <c:v>92.994659921304105</c:v>
                </c:pt>
                <c:pt idx="52">
                  <c:v>93.029792017987631</c:v>
                </c:pt>
                <c:pt idx="53">
                  <c:v>93.676222596964578</c:v>
                </c:pt>
                <c:pt idx="54">
                  <c:v>93.022765598650921</c:v>
                </c:pt>
                <c:pt idx="55">
                  <c:v>92.263912310286685</c:v>
                </c:pt>
                <c:pt idx="56">
                  <c:v>91.617481731309709</c:v>
                </c:pt>
                <c:pt idx="57">
                  <c:v>92.1725688589095</c:v>
                </c:pt>
                <c:pt idx="58">
                  <c:v>91.238055087127591</c:v>
                </c:pt>
                <c:pt idx="59">
                  <c:v>90.971051152332777</c:v>
                </c:pt>
                <c:pt idx="60">
                  <c:v>91.20292299044408</c:v>
                </c:pt>
                <c:pt idx="61">
                  <c:v>91.758010118043842</c:v>
                </c:pt>
                <c:pt idx="62">
                  <c:v>93.163293985385053</c:v>
                </c:pt>
                <c:pt idx="63">
                  <c:v>94.673974142776842</c:v>
                </c:pt>
                <c:pt idx="64">
                  <c:v>95.067453625632382</c:v>
                </c:pt>
                <c:pt idx="65">
                  <c:v>94.519392917369316</c:v>
                </c:pt>
                <c:pt idx="66">
                  <c:v>94.027543563799881</c:v>
                </c:pt>
                <c:pt idx="67">
                  <c:v>94.08375491849354</c:v>
                </c:pt>
                <c:pt idx="68">
                  <c:v>93.872962338392355</c:v>
                </c:pt>
                <c:pt idx="69">
                  <c:v>92.81197301854975</c:v>
                </c:pt>
                <c:pt idx="70">
                  <c:v>93.226531759415408</c:v>
                </c:pt>
                <c:pt idx="71">
                  <c:v>93.381112984822934</c:v>
                </c:pt>
                <c:pt idx="72">
                  <c:v>93.493535694210237</c:v>
                </c:pt>
                <c:pt idx="73">
                  <c:v>93.992411467116369</c:v>
                </c:pt>
                <c:pt idx="74">
                  <c:v>91.167790893760539</c:v>
                </c:pt>
                <c:pt idx="75">
                  <c:v>88.083192804946592</c:v>
                </c:pt>
                <c:pt idx="76">
                  <c:v>86.811410905002802</c:v>
                </c:pt>
                <c:pt idx="77">
                  <c:v>85.132096683530065</c:v>
                </c:pt>
                <c:pt idx="78">
                  <c:v>85.701236649803263</c:v>
                </c:pt>
                <c:pt idx="79">
                  <c:v>86.368746486790329</c:v>
                </c:pt>
                <c:pt idx="80">
                  <c:v>83.642495784148409</c:v>
                </c:pt>
                <c:pt idx="81">
                  <c:v>79.911467116357514</c:v>
                </c:pt>
                <c:pt idx="82">
                  <c:v>80.108206857785277</c:v>
                </c:pt>
                <c:pt idx="83">
                  <c:v>81.984260820685776</c:v>
                </c:pt>
                <c:pt idx="84">
                  <c:v>84.977515458122539</c:v>
                </c:pt>
                <c:pt idx="85">
                  <c:v>84.745643620011236</c:v>
                </c:pt>
                <c:pt idx="86">
                  <c:v>85.040753232152895</c:v>
                </c:pt>
                <c:pt idx="87">
                  <c:v>85.771500843170315</c:v>
                </c:pt>
                <c:pt idx="88">
                  <c:v>85.855817875210789</c:v>
                </c:pt>
                <c:pt idx="89">
                  <c:v>86.277403035413158</c:v>
                </c:pt>
                <c:pt idx="90">
                  <c:v>84.71051152332771</c:v>
                </c:pt>
                <c:pt idx="91">
                  <c:v>85.989319842608197</c:v>
                </c:pt>
                <c:pt idx="92">
                  <c:v>86.354693648116921</c:v>
                </c:pt>
                <c:pt idx="93">
                  <c:v>86.2211916807195</c:v>
                </c:pt>
                <c:pt idx="94">
                  <c:v>87.872400224845421</c:v>
                </c:pt>
                <c:pt idx="95">
                  <c:v>87.752951096121421</c:v>
                </c:pt>
                <c:pt idx="96">
                  <c:v>89.354974704890395</c:v>
                </c:pt>
                <c:pt idx="97">
                  <c:v>89.326869027543566</c:v>
                </c:pt>
                <c:pt idx="98">
                  <c:v>86.769252388982565</c:v>
                </c:pt>
                <c:pt idx="99">
                  <c:v>84.288926363125341</c:v>
                </c:pt>
                <c:pt idx="100">
                  <c:v>83.97976391231029</c:v>
                </c:pt>
                <c:pt idx="101">
                  <c:v>84.134345137717816</c:v>
                </c:pt>
                <c:pt idx="102">
                  <c:v>84.717537942664407</c:v>
                </c:pt>
                <c:pt idx="103">
                  <c:v>84.991568296795947</c:v>
                </c:pt>
                <c:pt idx="104">
                  <c:v>84.893198426082066</c:v>
                </c:pt>
                <c:pt idx="105">
                  <c:v>83.62141652613829</c:v>
                </c:pt>
                <c:pt idx="106">
                  <c:v>84.359190556492408</c:v>
                </c:pt>
                <c:pt idx="107">
                  <c:v>85.202360876897131</c:v>
                </c:pt>
                <c:pt idx="108">
                  <c:v>85.25857223159079</c:v>
                </c:pt>
                <c:pt idx="109">
                  <c:v>85.455311973018553</c:v>
                </c:pt>
                <c:pt idx="110">
                  <c:v>86.881675098369868</c:v>
                </c:pt>
                <c:pt idx="111">
                  <c:v>89.959246767847105</c:v>
                </c:pt>
                <c:pt idx="112">
                  <c:v>90.008431703204039</c:v>
                </c:pt>
                <c:pt idx="113">
                  <c:v>92.306070826306922</c:v>
                </c:pt>
                <c:pt idx="114">
                  <c:v>98.819561551433381</c:v>
                </c:pt>
                <c:pt idx="115">
                  <c:v>98.594716132658789</c:v>
                </c:pt>
                <c:pt idx="116">
                  <c:v>95.875491849353565</c:v>
                </c:pt>
                <c:pt idx="117">
                  <c:v>94.392917369308606</c:v>
                </c:pt>
                <c:pt idx="118">
                  <c:v>94.146992692523895</c:v>
                </c:pt>
                <c:pt idx="119">
                  <c:v>95.517144463181566</c:v>
                </c:pt>
                <c:pt idx="120">
                  <c:v>97.245643620011251</c:v>
                </c:pt>
                <c:pt idx="121">
                  <c:v>99.009274873524447</c:v>
                </c:pt>
                <c:pt idx="122">
                  <c:v>99.571388420460934</c:v>
                </c:pt>
                <c:pt idx="123">
                  <c:v>102.83867341202924</c:v>
                </c:pt>
                <c:pt idx="124">
                  <c:v>102.97217537942666</c:v>
                </c:pt>
                <c:pt idx="125">
                  <c:v>103.21810005621136</c:v>
                </c:pt>
                <c:pt idx="126">
                  <c:v>103.92776840921866</c:v>
                </c:pt>
                <c:pt idx="127">
                  <c:v>105.22062956717257</c:v>
                </c:pt>
                <c:pt idx="128">
                  <c:v>105.93029792017987</c:v>
                </c:pt>
                <c:pt idx="129">
                  <c:v>107.56042720629569</c:v>
                </c:pt>
                <c:pt idx="130">
                  <c:v>109.47161326587971</c:v>
                </c:pt>
                <c:pt idx="131">
                  <c:v>108.80410342889263</c:v>
                </c:pt>
                <c:pt idx="132">
                  <c:v>111.24929735806634</c:v>
                </c:pt>
                <c:pt idx="133">
                  <c:v>111.03850477796514</c:v>
                </c:pt>
                <c:pt idx="134">
                  <c:v>109.23271500843171</c:v>
                </c:pt>
                <c:pt idx="135">
                  <c:v>110.65907813378303</c:v>
                </c:pt>
                <c:pt idx="136">
                  <c:v>110.8628442945475</c:v>
                </c:pt>
                <c:pt idx="137">
                  <c:v>107.42692523889825</c:v>
                </c:pt>
                <c:pt idx="138">
                  <c:v>103.82939853850479</c:v>
                </c:pt>
                <c:pt idx="139">
                  <c:v>103.06351883080383</c:v>
                </c:pt>
                <c:pt idx="140">
                  <c:v>99.023327712197869</c:v>
                </c:pt>
                <c:pt idx="141">
                  <c:v>98.601742551995514</c:v>
                </c:pt>
                <c:pt idx="142">
                  <c:v>100.42861157953907</c:v>
                </c:pt>
                <c:pt idx="143">
                  <c:v>101.32096683530072</c:v>
                </c:pt>
                <c:pt idx="144">
                  <c:v>101.13125351320967</c:v>
                </c:pt>
                <c:pt idx="145">
                  <c:v>101.12422709387295</c:v>
                </c:pt>
                <c:pt idx="146">
                  <c:v>100.89938167509837</c:v>
                </c:pt>
                <c:pt idx="147">
                  <c:v>101.55986509274872</c:v>
                </c:pt>
                <c:pt idx="148">
                  <c:v>101.34907251264757</c:v>
                </c:pt>
                <c:pt idx="149">
                  <c:v>102.07279370432828</c:v>
                </c:pt>
                <c:pt idx="150">
                  <c:v>101.8549747048904</c:v>
                </c:pt>
                <c:pt idx="151">
                  <c:v>101.79876335019674</c:v>
                </c:pt>
                <c:pt idx="152">
                  <c:v>101.60202360876897</c:v>
                </c:pt>
                <c:pt idx="153">
                  <c:v>102.17116357504216</c:v>
                </c:pt>
                <c:pt idx="154">
                  <c:v>99.311410905002816</c:v>
                </c:pt>
                <c:pt idx="155">
                  <c:v>94.997189432265316</c:v>
                </c:pt>
                <c:pt idx="156">
                  <c:v>90.879707700955592</c:v>
                </c:pt>
                <c:pt idx="157">
                  <c:v>89.593872962338395</c:v>
                </c:pt>
                <c:pt idx="158">
                  <c:v>87.492973580663289</c:v>
                </c:pt>
                <c:pt idx="159">
                  <c:v>91.750983698707145</c:v>
                </c:pt>
                <c:pt idx="160">
                  <c:v>94.020517144463184</c:v>
                </c:pt>
                <c:pt idx="161">
                  <c:v>94.196177627880829</c:v>
                </c:pt>
                <c:pt idx="162">
                  <c:v>93.767566048341763</c:v>
                </c:pt>
                <c:pt idx="163">
                  <c:v>94.364811691961791</c:v>
                </c:pt>
                <c:pt idx="164">
                  <c:v>94.076728499156815</c:v>
                </c:pt>
                <c:pt idx="165">
                  <c:v>92.144463181562671</c:v>
                </c:pt>
                <c:pt idx="166">
                  <c:v>92.587127599775158</c:v>
                </c:pt>
                <c:pt idx="167">
                  <c:v>91.519111860595842</c:v>
                </c:pt>
                <c:pt idx="168">
                  <c:v>90.057616638560987</c:v>
                </c:pt>
                <c:pt idx="169">
                  <c:v>89.952220348510409</c:v>
                </c:pt>
                <c:pt idx="170">
                  <c:v>88.308038223721198</c:v>
                </c:pt>
                <c:pt idx="171">
                  <c:v>88.301011804384487</c:v>
                </c:pt>
                <c:pt idx="172">
                  <c:v>88.77178189994379</c:v>
                </c:pt>
                <c:pt idx="173">
                  <c:v>87.767003934794829</c:v>
                </c:pt>
                <c:pt idx="174">
                  <c:v>86.53035413153458</c:v>
                </c:pt>
                <c:pt idx="175">
                  <c:v>86.83249016301292</c:v>
                </c:pt>
                <c:pt idx="176">
                  <c:v>85.708263069139974</c:v>
                </c:pt>
                <c:pt idx="177">
                  <c:v>84.113265879707697</c:v>
                </c:pt>
                <c:pt idx="178">
                  <c:v>84.071107363687474</c:v>
                </c:pt>
                <c:pt idx="179">
                  <c:v>82.658797077009552</c:v>
                </c:pt>
                <c:pt idx="180">
                  <c:v>79.686621697582908</c:v>
                </c:pt>
                <c:pt idx="181">
                  <c:v>79.539066891512093</c:v>
                </c:pt>
                <c:pt idx="182">
                  <c:v>81.654019111860592</c:v>
                </c:pt>
                <c:pt idx="183">
                  <c:v>86.980044969083764</c:v>
                </c:pt>
                <c:pt idx="184">
                  <c:v>87.767003934794829</c:v>
                </c:pt>
                <c:pt idx="185">
                  <c:v>88.905283867341197</c:v>
                </c:pt>
                <c:pt idx="186">
                  <c:v>91.750983698707145</c:v>
                </c:pt>
                <c:pt idx="187">
                  <c:v>90.331646992692527</c:v>
                </c:pt>
                <c:pt idx="188">
                  <c:v>89.959246767847105</c:v>
                </c:pt>
                <c:pt idx="189">
                  <c:v>88.722596964586842</c:v>
                </c:pt>
                <c:pt idx="190">
                  <c:v>88.476672287802131</c:v>
                </c:pt>
                <c:pt idx="191">
                  <c:v>87.268128161888697</c:v>
                </c:pt>
                <c:pt idx="192">
                  <c:v>84.085160202360882</c:v>
                </c:pt>
                <c:pt idx="193">
                  <c:v>81.766441821247895</c:v>
                </c:pt>
                <c:pt idx="194">
                  <c:v>82.159921304103435</c:v>
                </c:pt>
                <c:pt idx="195">
                  <c:v>84.731590781337829</c:v>
                </c:pt>
                <c:pt idx="196">
                  <c:v>84.85806632939854</c:v>
                </c:pt>
                <c:pt idx="197">
                  <c:v>84.422428330522763</c:v>
                </c:pt>
                <c:pt idx="198">
                  <c:v>82.335581787521079</c:v>
                </c:pt>
                <c:pt idx="199">
                  <c:v>79.286115795390671</c:v>
                </c:pt>
                <c:pt idx="200">
                  <c:v>78.351602023608777</c:v>
                </c:pt>
                <c:pt idx="201">
                  <c:v>75.407532321528947</c:v>
                </c:pt>
                <c:pt idx="202">
                  <c:v>76.15233277121979</c:v>
                </c:pt>
                <c:pt idx="203">
                  <c:v>76.039910061832487</c:v>
                </c:pt>
                <c:pt idx="204">
                  <c:v>75.822091062394605</c:v>
                </c:pt>
                <c:pt idx="205">
                  <c:v>76.032883642495776</c:v>
                </c:pt>
                <c:pt idx="206">
                  <c:v>78.815345699831369</c:v>
                </c:pt>
                <c:pt idx="207">
                  <c:v>79.749859471613263</c:v>
                </c:pt>
                <c:pt idx="208">
                  <c:v>80.979482855536816</c:v>
                </c:pt>
                <c:pt idx="209">
                  <c:v>79.925519955030921</c:v>
                </c:pt>
                <c:pt idx="210">
                  <c:v>79.735806632939855</c:v>
                </c:pt>
                <c:pt idx="211">
                  <c:v>79.300168634064079</c:v>
                </c:pt>
                <c:pt idx="212">
                  <c:v>79.981731309724566</c:v>
                </c:pt>
                <c:pt idx="213">
                  <c:v>80.593029792017987</c:v>
                </c:pt>
                <c:pt idx="214">
                  <c:v>82.455030916245079</c:v>
                </c:pt>
                <c:pt idx="215">
                  <c:v>82.785272625070263</c:v>
                </c:pt>
                <c:pt idx="216">
                  <c:v>81.618887015177066</c:v>
                </c:pt>
                <c:pt idx="217">
                  <c:v>81.197301854974711</c:v>
                </c:pt>
                <c:pt idx="218">
                  <c:v>83.494940978077565</c:v>
                </c:pt>
                <c:pt idx="219">
                  <c:v>85.848791455874093</c:v>
                </c:pt>
                <c:pt idx="220">
                  <c:v>86.214165261382803</c:v>
                </c:pt>
                <c:pt idx="221">
                  <c:v>84.415401911186066</c:v>
                </c:pt>
                <c:pt idx="222">
                  <c:v>83.747892074198987</c:v>
                </c:pt>
                <c:pt idx="223">
                  <c:v>84.808881394041592</c:v>
                </c:pt>
                <c:pt idx="224">
                  <c:v>83.775997751545816</c:v>
                </c:pt>
                <c:pt idx="225">
                  <c:v>84.61916807195054</c:v>
                </c:pt>
                <c:pt idx="226">
                  <c:v>85.46936481169196</c:v>
                </c:pt>
                <c:pt idx="227">
                  <c:v>86.291455874086566</c:v>
                </c:pt>
                <c:pt idx="228">
                  <c:v>86.333614390106803</c:v>
                </c:pt>
                <c:pt idx="229">
                  <c:v>85.933108487914552</c:v>
                </c:pt>
                <c:pt idx="230">
                  <c:v>84.773749297358066</c:v>
                </c:pt>
                <c:pt idx="231">
                  <c:v>84.86509274873525</c:v>
                </c:pt>
                <c:pt idx="232">
                  <c:v>83.923552557616631</c:v>
                </c:pt>
                <c:pt idx="233">
                  <c:v>81.464305789769526</c:v>
                </c:pt>
                <c:pt idx="234">
                  <c:v>82.216132658797079</c:v>
                </c:pt>
                <c:pt idx="235">
                  <c:v>81.731309724564355</c:v>
                </c:pt>
                <c:pt idx="236">
                  <c:v>81.471332209106237</c:v>
                </c:pt>
                <c:pt idx="237">
                  <c:v>80.382237211916816</c:v>
                </c:pt>
                <c:pt idx="238">
                  <c:v>79.096402473299605</c:v>
                </c:pt>
                <c:pt idx="239">
                  <c:v>77.937043282743119</c:v>
                </c:pt>
                <c:pt idx="240">
                  <c:v>78.79426644182125</c:v>
                </c:pt>
                <c:pt idx="241">
                  <c:v>80.571950534007868</c:v>
                </c:pt>
                <c:pt idx="242">
                  <c:v>78.372681281618895</c:v>
                </c:pt>
                <c:pt idx="243">
                  <c:v>79.658516020236092</c:v>
                </c:pt>
                <c:pt idx="244">
                  <c:v>81.049747048903868</c:v>
                </c:pt>
                <c:pt idx="245">
                  <c:v>83.115514333895447</c:v>
                </c:pt>
                <c:pt idx="246">
                  <c:v>85.490444069702079</c:v>
                </c:pt>
                <c:pt idx="247">
                  <c:v>87.485947161326592</c:v>
                </c:pt>
                <c:pt idx="248">
                  <c:v>86.488195615514343</c:v>
                </c:pt>
                <c:pt idx="249">
                  <c:v>87.338392355255763</c:v>
                </c:pt>
                <c:pt idx="250">
                  <c:v>87.01517706576729</c:v>
                </c:pt>
                <c:pt idx="251">
                  <c:v>86.242270938729618</c:v>
                </c:pt>
                <c:pt idx="252">
                  <c:v>86.186059584035974</c:v>
                </c:pt>
                <c:pt idx="253">
                  <c:v>86.25632377740304</c:v>
                </c:pt>
                <c:pt idx="254">
                  <c:v>85.307757166947724</c:v>
                </c:pt>
                <c:pt idx="255">
                  <c:v>87.40865654862283</c:v>
                </c:pt>
                <c:pt idx="256">
                  <c:v>87.064362001124223</c:v>
                </c:pt>
                <c:pt idx="257">
                  <c:v>85.820685778527263</c:v>
                </c:pt>
                <c:pt idx="258">
                  <c:v>85.37802136031479</c:v>
                </c:pt>
                <c:pt idx="259">
                  <c:v>86.108768971332211</c:v>
                </c:pt>
                <c:pt idx="260">
                  <c:v>86.551433389544698</c:v>
                </c:pt>
                <c:pt idx="261">
                  <c:v>86.038504777965144</c:v>
                </c:pt>
                <c:pt idx="262">
                  <c:v>86.37577290612704</c:v>
                </c:pt>
                <c:pt idx="263">
                  <c:v>86.684935356942105</c:v>
                </c:pt>
                <c:pt idx="264">
                  <c:v>85.764474423833619</c:v>
                </c:pt>
                <c:pt idx="265">
                  <c:v>85.771500843170315</c:v>
                </c:pt>
                <c:pt idx="266">
                  <c:v>85.125070264193369</c:v>
                </c:pt>
                <c:pt idx="267">
                  <c:v>86.888701517706579</c:v>
                </c:pt>
                <c:pt idx="268">
                  <c:v>88.230747611017421</c:v>
                </c:pt>
                <c:pt idx="269">
                  <c:v>88.125351320966843</c:v>
                </c:pt>
                <c:pt idx="270">
                  <c:v>87.514052838673408</c:v>
                </c:pt>
                <c:pt idx="271">
                  <c:v>87.162731871838105</c:v>
                </c:pt>
                <c:pt idx="272">
                  <c:v>83.544125913434513</c:v>
                </c:pt>
                <c:pt idx="273">
                  <c:v>77.093872962338395</c:v>
                </c:pt>
                <c:pt idx="274">
                  <c:v>74.747048903878579</c:v>
                </c:pt>
                <c:pt idx="275">
                  <c:v>76.320966835300737</c:v>
                </c:pt>
                <c:pt idx="276">
                  <c:v>75.793985385047776</c:v>
                </c:pt>
                <c:pt idx="277">
                  <c:v>72.231590781337829</c:v>
                </c:pt>
                <c:pt idx="278">
                  <c:v>73.559584035975263</c:v>
                </c:pt>
                <c:pt idx="279">
                  <c:v>76.370151770657671</c:v>
                </c:pt>
                <c:pt idx="280">
                  <c:v>76.594997189432263</c:v>
                </c:pt>
                <c:pt idx="281">
                  <c:v>75.786958965711079</c:v>
                </c:pt>
                <c:pt idx="282">
                  <c:v>76.728499156829685</c:v>
                </c:pt>
                <c:pt idx="283">
                  <c:v>76.735525576166381</c:v>
                </c:pt>
                <c:pt idx="284">
                  <c:v>76.749578414839803</c:v>
                </c:pt>
                <c:pt idx="285">
                  <c:v>76.103147835862842</c:v>
                </c:pt>
                <c:pt idx="286">
                  <c:v>76.370151770657671</c:v>
                </c:pt>
                <c:pt idx="287">
                  <c:v>77.023608768971329</c:v>
                </c:pt>
                <c:pt idx="288">
                  <c:v>77.283586284429447</c:v>
                </c:pt>
                <c:pt idx="289">
                  <c:v>76.053962900505894</c:v>
                </c:pt>
                <c:pt idx="290">
                  <c:v>75.653456998313658</c:v>
                </c:pt>
                <c:pt idx="291">
                  <c:v>75.681562675660473</c:v>
                </c:pt>
                <c:pt idx="292">
                  <c:v>75.793985385047776</c:v>
                </c:pt>
                <c:pt idx="293">
                  <c:v>75.899381675098368</c:v>
                </c:pt>
                <c:pt idx="294">
                  <c:v>74.473018549747039</c:v>
                </c:pt>
                <c:pt idx="295">
                  <c:v>74.402754356379987</c:v>
                </c:pt>
                <c:pt idx="296">
                  <c:v>74.718943226531763</c:v>
                </c:pt>
                <c:pt idx="297">
                  <c:v>75.414558740865658</c:v>
                </c:pt>
                <c:pt idx="298">
                  <c:v>75.259977515458118</c:v>
                </c:pt>
                <c:pt idx="299">
                  <c:v>75.400505902192251</c:v>
                </c:pt>
                <c:pt idx="300">
                  <c:v>74.943788645306356</c:v>
                </c:pt>
                <c:pt idx="301">
                  <c:v>74.065486228218091</c:v>
                </c:pt>
                <c:pt idx="302">
                  <c:v>72.863968521641368</c:v>
                </c:pt>
                <c:pt idx="303">
                  <c:v>71.873243395165829</c:v>
                </c:pt>
                <c:pt idx="304">
                  <c:v>72.013771781899933</c:v>
                </c:pt>
                <c:pt idx="305">
                  <c:v>71.817032040472171</c:v>
                </c:pt>
                <c:pt idx="306">
                  <c:v>71.240865654862276</c:v>
                </c:pt>
                <c:pt idx="307">
                  <c:v>72.224564362001132</c:v>
                </c:pt>
                <c:pt idx="308">
                  <c:v>72.72344013490725</c:v>
                </c:pt>
                <c:pt idx="309">
                  <c:v>72.161326587970777</c:v>
                </c:pt>
                <c:pt idx="310">
                  <c:v>71.437605396290053</c:v>
                </c:pt>
                <c:pt idx="311">
                  <c:v>71.416526138279934</c:v>
                </c:pt>
                <c:pt idx="312">
                  <c:v>71.367341202922987</c:v>
                </c:pt>
                <c:pt idx="313">
                  <c:v>71.845137717819</c:v>
                </c:pt>
                <c:pt idx="314">
                  <c:v>71.676503653738052</c:v>
                </c:pt>
                <c:pt idx="315">
                  <c:v>71.901349072512645</c:v>
                </c:pt>
                <c:pt idx="316">
                  <c:v>72.625070264193369</c:v>
                </c:pt>
                <c:pt idx="317">
                  <c:v>73.896852164137158</c:v>
                </c:pt>
                <c:pt idx="318">
                  <c:v>73.397976391231026</c:v>
                </c:pt>
                <c:pt idx="319">
                  <c:v>72.906127037661605</c:v>
                </c:pt>
                <c:pt idx="320">
                  <c:v>74.255199550309172</c:v>
                </c:pt>
                <c:pt idx="321">
                  <c:v>75.934513771781894</c:v>
                </c:pt>
                <c:pt idx="322">
                  <c:v>78.934794828555368</c:v>
                </c:pt>
                <c:pt idx="323">
                  <c:v>80.382237211916816</c:v>
                </c:pt>
                <c:pt idx="324">
                  <c:v>81.443226531759407</c:v>
                </c:pt>
                <c:pt idx="325">
                  <c:v>82.419898819561553</c:v>
                </c:pt>
                <c:pt idx="326">
                  <c:v>82.27937043282742</c:v>
                </c:pt>
                <c:pt idx="327">
                  <c:v>84.127318718381119</c:v>
                </c:pt>
                <c:pt idx="328">
                  <c:v>83.846261944912868</c:v>
                </c:pt>
                <c:pt idx="329">
                  <c:v>84.98454187745925</c:v>
                </c:pt>
                <c:pt idx="330">
                  <c:v>87.689713322091066</c:v>
                </c:pt>
                <c:pt idx="331">
                  <c:v>86.326587970770092</c:v>
                </c:pt>
                <c:pt idx="332">
                  <c:v>85.054806070826302</c:v>
                </c:pt>
                <c:pt idx="333">
                  <c:v>85.715289488476671</c:v>
                </c:pt>
                <c:pt idx="334">
                  <c:v>88.272906127037658</c:v>
                </c:pt>
                <c:pt idx="335">
                  <c:v>89.312816188870144</c:v>
                </c:pt>
                <c:pt idx="336">
                  <c:v>89.123102866779092</c:v>
                </c:pt>
                <c:pt idx="337">
                  <c:v>88.982574480044974</c:v>
                </c:pt>
                <c:pt idx="338">
                  <c:v>90.493254637436763</c:v>
                </c:pt>
                <c:pt idx="339">
                  <c:v>91.111579539066881</c:v>
                </c:pt>
                <c:pt idx="340">
                  <c:v>88.715570545250145</c:v>
                </c:pt>
                <c:pt idx="341">
                  <c:v>90.233277121978631</c:v>
                </c:pt>
                <c:pt idx="342">
                  <c:v>89.62197863968521</c:v>
                </c:pt>
                <c:pt idx="343">
                  <c:v>89.481450252951092</c:v>
                </c:pt>
                <c:pt idx="344">
                  <c:v>89.165261382799329</c:v>
                </c:pt>
                <c:pt idx="345">
                  <c:v>86.916807195053408</c:v>
                </c:pt>
                <c:pt idx="346">
                  <c:v>86.677908937605395</c:v>
                </c:pt>
                <c:pt idx="347">
                  <c:v>86.804384485666105</c:v>
                </c:pt>
                <c:pt idx="348">
                  <c:v>85.539629005059012</c:v>
                </c:pt>
                <c:pt idx="349">
                  <c:v>86.361720067453618</c:v>
                </c:pt>
                <c:pt idx="350">
                  <c:v>88.251826869027539</c:v>
                </c:pt>
                <c:pt idx="351">
                  <c:v>88.448566610455302</c:v>
                </c:pt>
                <c:pt idx="352">
                  <c:v>89.376053962900514</c:v>
                </c:pt>
                <c:pt idx="353">
                  <c:v>89.474423833614395</c:v>
                </c:pt>
                <c:pt idx="354">
                  <c:v>87.759977515458132</c:v>
                </c:pt>
                <c:pt idx="355">
                  <c:v>87.914558740865658</c:v>
                </c:pt>
                <c:pt idx="356">
                  <c:v>89.221472737492974</c:v>
                </c:pt>
                <c:pt idx="357">
                  <c:v>89.692242833052276</c:v>
                </c:pt>
                <c:pt idx="358">
                  <c:v>89.797639123102869</c:v>
                </c:pt>
                <c:pt idx="359">
                  <c:v>90.479201798763356</c:v>
                </c:pt>
                <c:pt idx="360">
                  <c:v>90.886734120292289</c:v>
                </c:pt>
                <c:pt idx="361">
                  <c:v>90.802417088251815</c:v>
                </c:pt>
                <c:pt idx="362">
                  <c:v>90.38083192804946</c:v>
                </c:pt>
                <c:pt idx="363">
                  <c:v>91.89853850477796</c:v>
                </c:pt>
                <c:pt idx="364">
                  <c:v>90.373805508712763</c:v>
                </c:pt>
                <c:pt idx="365">
                  <c:v>87.471894322653171</c:v>
                </c:pt>
                <c:pt idx="366">
                  <c:v>87.563237774030355</c:v>
                </c:pt>
                <c:pt idx="367">
                  <c:v>88.596121416526145</c:v>
                </c:pt>
                <c:pt idx="368">
                  <c:v>87.717818999437895</c:v>
                </c:pt>
                <c:pt idx="369">
                  <c:v>90.057616638560987</c:v>
                </c:pt>
                <c:pt idx="370">
                  <c:v>88.596121416526145</c:v>
                </c:pt>
                <c:pt idx="371">
                  <c:v>88.16750983698708</c:v>
                </c:pt>
                <c:pt idx="372">
                  <c:v>86.277403035413158</c:v>
                </c:pt>
                <c:pt idx="373">
                  <c:v>85.785553681843737</c:v>
                </c:pt>
                <c:pt idx="374">
                  <c:v>86.509274873524461</c:v>
                </c:pt>
                <c:pt idx="375">
                  <c:v>87.169758291174816</c:v>
                </c:pt>
                <c:pt idx="376">
                  <c:v>87.914558740865658</c:v>
                </c:pt>
                <c:pt idx="377">
                  <c:v>87.907532321528947</c:v>
                </c:pt>
                <c:pt idx="378">
                  <c:v>88.005902192242829</c:v>
                </c:pt>
                <c:pt idx="379">
                  <c:v>86.930860033726816</c:v>
                </c:pt>
                <c:pt idx="380">
                  <c:v>87.816188870151777</c:v>
                </c:pt>
                <c:pt idx="381">
                  <c:v>87.373524451939289</c:v>
                </c:pt>
                <c:pt idx="382">
                  <c:v>87.556211354693644</c:v>
                </c:pt>
                <c:pt idx="383">
                  <c:v>87.816188870151777</c:v>
                </c:pt>
                <c:pt idx="384">
                  <c:v>87.802136031478355</c:v>
                </c:pt>
                <c:pt idx="385">
                  <c:v>88.083192804946592</c:v>
                </c:pt>
                <c:pt idx="386">
                  <c:v>87.40865654862283</c:v>
                </c:pt>
                <c:pt idx="387">
                  <c:v>87.86537380550871</c:v>
                </c:pt>
                <c:pt idx="388">
                  <c:v>86.551433389544698</c:v>
                </c:pt>
                <c:pt idx="389">
                  <c:v>85.22344013490725</c:v>
                </c:pt>
                <c:pt idx="390">
                  <c:v>86.50224845418775</c:v>
                </c:pt>
                <c:pt idx="391">
                  <c:v>86.698988195615513</c:v>
                </c:pt>
                <c:pt idx="392">
                  <c:v>87.696739741427763</c:v>
                </c:pt>
                <c:pt idx="393">
                  <c:v>87.921585160202355</c:v>
                </c:pt>
                <c:pt idx="394">
                  <c:v>87.310286677908934</c:v>
                </c:pt>
                <c:pt idx="395">
                  <c:v>87.155705452501408</c:v>
                </c:pt>
                <c:pt idx="396">
                  <c:v>85.413153456998316</c:v>
                </c:pt>
                <c:pt idx="397">
                  <c:v>84.218662169758289</c:v>
                </c:pt>
                <c:pt idx="398">
                  <c:v>82.651770657672841</c:v>
                </c:pt>
                <c:pt idx="399">
                  <c:v>82.173974142776842</c:v>
                </c:pt>
                <c:pt idx="400">
                  <c:v>80.733558178752105</c:v>
                </c:pt>
                <c:pt idx="401">
                  <c:v>82.075604272062961</c:v>
                </c:pt>
                <c:pt idx="402">
                  <c:v>81.717256885890947</c:v>
                </c:pt>
                <c:pt idx="403">
                  <c:v>81.576728499156829</c:v>
                </c:pt>
                <c:pt idx="404">
                  <c:v>81.780494659921303</c:v>
                </c:pt>
                <c:pt idx="405">
                  <c:v>82.419898819561553</c:v>
                </c:pt>
                <c:pt idx="406">
                  <c:v>82.925801011804381</c:v>
                </c:pt>
                <c:pt idx="407">
                  <c:v>83.108487914558737</c:v>
                </c:pt>
                <c:pt idx="408">
                  <c:v>84.478639685216422</c:v>
                </c:pt>
                <c:pt idx="409">
                  <c:v>86.488195615514343</c:v>
                </c:pt>
                <c:pt idx="410">
                  <c:v>86.164980326025855</c:v>
                </c:pt>
                <c:pt idx="411">
                  <c:v>86.214165261382803</c:v>
                </c:pt>
                <c:pt idx="412">
                  <c:v>85.722315907813382</c:v>
                </c:pt>
                <c:pt idx="413">
                  <c:v>86.713041034288921</c:v>
                </c:pt>
                <c:pt idx="414">
                  <c:v>86.706014614952224</c:v>
                </c:pt>
                <c:pt idx="415">
                  <c:v>86.193086003372684</c:v>
                </c:pt>
                <c:pt idx="416">
                  <c:v>84.654300168634066</c:v>
                </c:pt>
                <c:pt idx="417">
                  <c:v>83.642495784148409</c:v>
                </c:pt>
                <c:pt idx="418">
                  <c:v>83.46683530073075</c:v>
                </c:pt>
                <c:pt idx="419">
                  <c:v>84.914277684092184</c:v>
                </c:pt>
                <c:pt idx="420">
                  <c:v>83.832209106239461</c:v>
                </c:pt>
                <c:pt idx="421">
                  <c:v>84.675379426644184</c:v>
                </c:pt>
                <c:pt idx="422">
                  <c:v>84.394322653175948</c:v>
                </c:pt>
                <c:pt idx="423">
                  <c:v>85.188308038223724</c:v>
                </c:pt>
                <c:pt idx="424">
                  <c:v>84.766722878021355</c:v>
                </c:pt>
                <c:pt idx="425">
                  <c:v>85.659078133783026</c:v>
                </c:pt>
                <c:pt idx="426">
                  <c:v>83.43170320404721</c:v>
                </c:pt>
                <c:pt idx="427">
                  <c:v>84.050028105677356</c:v>
                </c:pt>
                <c:pt idx="428">
                  <c:v>84.654300168634066</c:v>
                </c:pt>
                <c:pt idx="429">
                  <c:v>83.888420460933105</c:v>
                </c:pt>
                <c:pt idx="430">
                  <c:v>84.120292299044408</c:v>
                </c:pt>
                <c:pt idx="431">
                  <c:v>84.239741427768408</c:v>
                </c:pt>
                <c:pt idx="432">
                  <c:v>83.340359752670039</c:v>
                </c:pt>
                <c:pt idx="433">
                  <c:v>83.58628442945475</c:v>
                </c:pt>
                <c:pt idx="434">
                  <c:v>82.722034851039908</c:v>
                </c:pt>
                <c:pt idx="435">
                  <c:v>82.476110174255197</c:v>
                </c:pt>
                <c:pt idx="436">
                  <c:v>84.731590781337829</c:v>
                </c:pt>
                <c:pt idx="437">
                  <c:v>84.443507588532881</c:v>
                </c:pt>
                <c:pt idx="438">
                  <c:v>84.345137717819</c:v>
                </c:pt>
                <c:pt idx="439">
                  <c:v>86.305508712759973</c:v>
                </c:pt>
                <c:pt idx="440">
                  <c:v>86.579539066891513</c:v>
                </c:pt>
                <c:pt idx="441">
                  <c:v>86.923833614390105</c:v>
                </c:pt>
                <c:pt idx="442">
                  <c:v>87.331365935919067</c:v>
                </c:pt>
                <c:pt idx="443">
                  <c:v>88.350196739741421</c:v>
                </c:pt>
                <c:pt idx="444">
                  <c:v>88.996627318718382</c:v>
                </c:pt>
                <c:pt idx="445">
                  <c:v>88.722596964586842</c:v>
                </c:pt>
                <c:pt idx="446">
                  <c:v>87.22596964586846</c:v>
                </c:pt>
                <c:pt idx="447">
                  <c:v>87.521079258010118</c:v>
                </c:pt>
                <c:pt idx="448">
                  <c:v>87.232996065205171</c:v>
                </c:pt>
                <c:pt idx="449">
                  <c:v>87.977796514895999</c:v>
                </c:pt>
                <c:pt idx="450">
                  <c:v>88.104272062956724</c:v>
                </c:pt>
                <c:pt idx="451">
                  <c:v>87.703766160764474</c:v>
                </c:pt>
                <c:pt idx="452">
                  <c:v>86.439010680157395</c:v>
                </c:pt>
                <c:pt idx="453">
                  <c:v>85.933108487914552</c:v>
                </c:pt>
                <c:pt idx="454">
                  <c:v>84.752670039347947</c:v>
                </c:pt>
                <c:pt idx="455">
                  <c:v>83.691680719505342</c:v>
                </c:pt>
                <c:pt idx="456">
                  <c:v>80.297920179876343</c:v>
                </c:pt>
                <c:pt idx="457">
                  <c:v>80.087127599775158</c:v>
                </c:pt>
                <c:pt idx="458">
                  <c:v>78.232152894884763</c:v>
                </c:pt>
                <c:pt idx="459">
                  <c:v>76.904159640247329</c:v>
                </c:pt>
                <c:pt idx="460">
                  <c:v>77.072793704328276</c:v>
                </c:pt>
                <c:pt idx="461">
                  <c:v>77.381956155143342</c:v>
                </c:pt>
                <c:pt idx="462">
                  <c:v>77.424114671163579</c:v>
                </c:pt>
                <c:pt idx="463">
                  <c:v>77.206295671725684</c:v>
                </c:pt>
                <c:pt idx="464">
                  <c:v>76.110174255199539</c:v>
                </c:pt>
                <c:pt idx="465">
                  <c:v>75.934513771781894</c:v>
                </c:pt>
                <c:pt idx="466">
                  <c:v>71.59921304103429</c:v>
                </c:pt>
                <c:pt idx="467">
                  <c:v>66.89853850477796</c:v>
                </c:pt>
                <c:pt idx="468">
                  <c:v>65.275435637998882</c:v>
                </c:pt>
                <c:pt idx="469">
                  <c:v>67.481731309724566</c:v>
                </c:pt>
                <c:pt idx="470">
                  <c:v>65.711073636874644</c:v>
                </c:pt>
                <c:pt idx="471">
                  <c:v>67.1725688589095</c:v>
                </c:pt>
                <c:pt idx="472">
                  <c:v>68.676222596964578</c:v>
                </c:pt>
                <c:pt idx="473">
                  <c:v>71.535975267003934</c:v>
                </c:pt>
                <c:pt idx="474">
                  <c:v>71.550028105677342</c:v>
                </c:pt>
                <c:pt idx="475">
                  <c:v>71.458684654300171</c:v>
                </c:pt>
                <c:pt idx="476">
                  <c:v>69.413996627318724</c:v>
                </c:pt>
                <c:pt idx="477">
                  <c:v>67.678471051152329</c:v>
                </c:pt>
                <c:pt idx="478">
                  <c:v>69.17509836987071</c:v>
                </c:pt>
                <c:pt idx="479">
                  <c:v>69.013490725126474</c:v>
                </c:pt>
                <c:pt idx="480">
                  <c:v>69.870713884204605</c:v>
                </c:pt>
                <c:pt idx="481">
                  <c:v>69.659921304103435</c:v>
                </c:pt>
                <c:pt idx="482">
                  <c:v>67.200674536256329</c:v>
                </c:pt>
                <c:pt idx="483">
                  <c:v>69.125913434513762</c:v>
                </c:pt>
                <c:pt idx="484">
                  <c:v>69.421023046655421</c:v>
                </c:pt>
                <c:pt idx="485">
                  <c:v>71.374367622259697</c:v>
                </c:pt>
                <c:pt idx="486">
                  <c:v>71.444631815626764</c:v>
                </c:pt>
                <c:pt idx="487">
                  <c:v>72.772625070264183</c:v>
                </c:pt>
                <c:pt idx="488">
                  <c:v>71.233839235525579</c:v>
                </c:pt>
                <c:pt idx="489">
                  <c:v>69.266441821247895</c:v>
                </c:pt>
                <c:pt idx="490">
                  <c:v>70.833333333333329</c:v>
                </c:pt>
                <c:pt idx="491">
                  <c:v>70.96683530073075</c:v>
                </c:pt>
                <c:pt idx="492">
                  <c:v>71.416526138279934</c:v>
                </c:pt>
                <c:pt idx="493">
                  <c:v>72.161326587970777</c:v>
                </c:pt>
                <c:pt idx="494">
                  <c:v>70.376616076447434</c:v>
                </c:pt>
                <c:pt idx="495">
                  <c:v>70.053400786958974</c:v>
                </c:pt>
                <c:pt idx="496">
                  <c:v>70.186902754356382</c:v>
                </c:pt>
                <c:pt idx="497">
                  <c:v>69.371838111298487</c:v>
                </c:pt>
                <c:pt idx="498">
                  <c:v>69.421023046655421</c:v>
                </c:pt>
                <c:pt idx="499">
                  <c:v>70.313378302417078</c:v>
                </c:pt>
                <c:pt idx="500">
                  <c:v>70.334457560427197</c:v>
                </c:pt>
                <c:pt idx="501">
                  <c:v>70.453906689151211</c:v>
                </c:pt>
                <c:pt idx="502">
                  <c:v>71.395446880269816</c:v>
                </c:pt>
                <c:pt idx="503">
                  <c:v>72.168353007307473</c:v>
                </c:pt>
                <c:pt idx="504">
                  <c:v>72.456436200112421</c:v>
                </c:pt>
                <c:pt idx="505">
                  <c:v>72.533726812816198</c:v>
                </c:pt>
                <c:pt idx="506">
                  <c:v>72.421304103428881</c:v>
                </c:pt>
                <c:pt idx="507">
                  <c:v>73.615795390668907</c:v>
                </c:pt>
                <c:pt idx="508">
                  <c:v>74.740022484541882</c:v>
                </c:pt>
                <c:pt idx="509">
                  <c:v>73.882799325463751</c:v>
                </c:pt>
                <c:pt idx="510">
                  <c:v>75.259977515458118</c:v>
                </c:pt>
                <c:pt idx="511">
                  <c:v>75.344294547498592</c:v>
                </c:pt>
                <c:pt idx="512">
                  <c:v>75.112422709387303</c:v>
                </c:pt>
                <c:pt idx="513">
                  <c:v>74.84541877459246</c:v>
                </c:pt>
                <c:pt idx="514">
                  <c:v>75.238898257448</c:v>
                </c:pt>
                <c:pt idx="515">
                  <c:v>75.210792580101185</c:v>
                </c:pt>
                <c:pt idx="516">
                  <c:v>73.988195615514329</c:v>
                </c:pt>
                <c:pt idx="517">
                  <c:v>71.964586846543</c:v>
                </c:pt>
                <c:pt idx="518">
                  <c:v>71.268971332209105</c:v>
                </c:pt>
                <c:pt idx="519">
                  <c:v>72.456436200112421</c:v>
                </c:pt>
                <c:pt idx="520">
                  <c:v>72.821810005621131</c:v>
                </c:pt>
                <c:pt idx="521">
                  <c:v>72.72344013490725</c:v>
                </c:pt>
                <c:pt idx="522">
                  <c:v>72.048903878583474</c:v>
                </c:pt>
                <c:pt idx="523">
                  <c:v>72.821810005621131</c:v>
                </c:pt>
                <c:pt idx="524">
                  <c:v>74.332490163012935</c:v>
                </c:pt>
                <c:pt idx="525">
                  <c:v>74.290331646992698</c:v>
                </c:pt>
                <c:pt idx="526">
                  <c:v>75.196739741427763</c:v>
                </c:pt>
                <c:pt idx="527">
                  <c:v>76.011804384485671</c:v>
                </c:pt>
                <c:pt idx="528">
                  <c:v>76.8760539629005</c:v>
                </c:pt>
                <c:pt idx="529">
                  <c:v>77.213322091062395</c:v>
                </c:pt>
                <c:pt idx="530">
                  <c:v>76.447442383361434</c:v>
                </c:pt>
                <c:pt idx="531">
                  <c:v>77.093872962338395</c:v>
                </c:pt>
                <c:pt idx="532">
                  <c:v>77.663012928611579</c:v>
                </c:pt>
                <c:pt idx="533">
                  <c:v>78.597526700393473</c:v>
                </c:pt>
                <c:pt idx="534">
                  <c:v>79.700674536256329</c:v>
                </c:pt>
                <c:pt idx="535">
                  <c:v>79.152613827993264</c:v>
                </c:pt>
                <c:pt idx="536">
                  <c:v>79.047217537942657</c:v>
                </c:pt>
                <c:pt idx="537">
                  <c:v>79.180719505340079</c:v>
                </c:pt>
                <c:pt idx="538">
                  <c:v>78.948847667228776</c:v>
                </c:pt>
                <c:pt idx="539">
                  <c:v>79.370432827431131</c:v>
                </c:pt>
                <c:pt idx="540">
                  <c:v>80.227655986509276</c:v>
                </c:pt>
                <c:pt idx="541">
                  <c:v>82.272344013490724</c:v>
                </c:pt>
                <c:pt idx="542">
                  <c:v>82.560427206295671</c:v>
                </c:pt>
                <c:pt idx="543">
                  <c:v>82.31450252951096</c:v>
                </c:pt>
                <c:pt idx="544">
                  <c:v>83.045250140528381</c:v>
                </c:pt>
                <c:pt idx="545">
                  <c:v>83.58628442945475</c:v>
                </c:pt>
                <c:pt idx="546">
                  <c:v>85.153175941540184</c:v>
                </c:pt>
                <c:pt idx="547">
                  <c:v>85.188308038223724</c:v>
                </c:pt>
                <c:pt idx="548">
                  <c:v>83.206857785272632</c:v>
                </c:pt>
                <c:pt idx="549">
                  <c:v>82.904721753794263</c:v>
                </c:pt>
                <c:pt idx="550">
                  <c:v>85.244519392917368</c:v>
                </c:pt>
                <c:pt idx="551">
                  <c:v>83.382518268690276</c:v>
                </c:pt>
                <c:pt idx="552">
                  <c:v>80.571950534007868</c:v>
                </c:pt>
                <c:pt idx="553">
                  <c:v>78.787240022484539</c:v>
                </c:pt>
                <c:pt idx="554">
                  <c:v>77.578695896571105</c:v>
                </c:pt>
                <c:pt idx="555">
                  <c:v>76.496627318718382</c:v>
                </c:pt>
                <c:pt idx="556">
                  <c:v>77.930016863406408</c:v>
                </c:pt>
                <c:pt idx="557">
                  <c:v>76.335019673974145</c:v>
                </c:pt>
                <c:pt idx="558">
                  <c:v>71.641371557054526</c:v>
                </c:pt>
                <c:pt idx="559">
                  <c:v>70.734963462619447</c:v>
                </c:pt>
                <c:pt idx="560">
                  <c:v>70.96683530073075</c:v>
                </c:pt>
                <c:pt idx="561">
                  <c:v>67.313097245643618</c:v>
                </c:pt>
                <c:pt idx="562">
                  <c:v>69.421023046655421</c:v>
                </c:pt>
                <c:pt idx="563">
                  <c:v>71.247892074198987</c:v>
                </c:pt>
                <c:pt idx="564">
                  <c:v>69.919898819561553</c:v>
                </c:pt>
                <c:pt idx="565">
                  <c:v>70.643620011242277</c:v>
                </c:pt>
                <c:pt idx="566">
                  <c:v>69.56857785272625</c:v>
                </c:pt>
                <c:pt idx="567">
                  <c:v>70.938729623383921</c:v>
                </c:pt>
                <c:pt idx="568">
                  <c:v>71.437605396290053</c:v>
                </c:pt>
                <c:pt idx="569">
                  <c:v>69.821528948847671</c:v>
                </c:pt>
                <c:pt idx="570">
                  <c:v>69.716132658797079</c:v>
                </c:pt>
                <c:pt idx="571">
                  <c:v>68.500562113546934</c:v>
                </c:pt>
                <c:pt idx="572">
                  <c:v>69.891793142214723</c:v>
                </c:pt>
                <c:pt idx="573">
                  <c:v>70.151770657672856</c:v>
                </c:pt>
                <c:pt idx="574">
                  <c:v>70.727937043282736</c:v>
                </c:pt>
                <c:pt idx="575">
                  <c:v>71.346261944912882</c:v>
                </c:pt>
                <c:pt idx="576">
                  <c:v>71.725688589095</c:v>
                </c:pt>
                <c:pt idx="577">
                  <c:v>72.006745362563237</c:v>
                </c:pt>
                <c:pt idx="578">
                  <c:v>71.676503653738052</c:v>
                </c:pt>
                <c:pt idx="579">
                  <c:v>72.540753232152895</c:v>
                </c:pt>
                <c:pt idx="580">
                  <c:v>71.388420460933105</c:v>
                </c:pt>
                <c:pt idx="581">
                  <c:v>70.96683530073075</c:v>
                </c:pt>
                <c:pt idx="582">
                  <c:v>70.474985947161329</c:v>
                </c:pt>
                <c:pt idx="583">
                  <c:v>69.81450252951096</c:v>
                </c:pt>
                <c:pt idx="584">
                  <c:v>70.186902754356382</c:v>
                </c:pt>
                <c:pt idx="585">
                  <c:v>70.657672849915684</c:v>
                </c:pt>
                <c:pt idx="586">
                  <c:v>71.121416526138276</c:v>
                </c:pt>
                <c:pt idx="587">
                  <c:v>69.940978077571671</c:v>
                </c:pt>
                <c:pt idx="588">
                  <c:v>70.699831365935921</c:v>
                </c:pt>
                <c:pt idx="589">
                  <c:v>71.852164137155711</c:v>
                </c:pt>
                <c:pt idx="590">
                  <c:v>72.60399100618325</c:v>
                </c:pt>
                <c:pt idx="591">
                  <c:v>72.126194491287251</c:v>
                </c:pt>
                <c:pt idx="592">
                  <c:v>71.47976391231029</c:v>
                </c:pt>
                <c:pt idx="593">
                  <c:v>69.905845980888131</c:v>
                </c:pt>
                <c:pt idx="594">
                  <c:v>69.231309724564369</c:v>
                </c:pt>
                <c:pt idx="595">
                  <c:v>68.184373243395171</c:v>
                </c:pt>
                <c:pt idx="596">
                  <c:v>69.772344013490724</c:v>
                </c:pt>
                <c:pt idx="597">
                  <c:v>70.875491849353565</c:v>
                </c:pt>
                <c:pt idx="598">
                  <c:v>72.589938167509843</c:v>
                </c:pt>
                <c:pt idx="599">
                  <c:v>73.320685778527263</c:v>
                </c:pt>
                <c:pt idx="600">
                  <c:v>73.376897133220922</c:v>
                </c:pt>
                <c:pt idx="601">
                  <c:v>73.953063518830803</c:v>
                </c:pt>
                <c:pt idx="602">
                  <c:v>69.905845980888131</c:v>
                </c:pt>
                <c:pt idx="603">
                  <c:v>71.100337268128158</c:v>
                </c:pt>
                <c:pt idx="604">
                  <c:v>70.200955593029789</c:v>
                </c:pt>
                <c:pt idx="605">
                  <c:v>69.547498594716131</c:v>
                </c:pt>
                <c:pt idx="606">
                  <c:v>69.772344013490724</c:v>
                </c:pt>
                <c:pt idx="607">
                  <c:v>70.439853850477803</c:v>
                </c:pt>
                <c:pt idx="608">
                  <c:v>69.940978077571671</c:v>
                </c:pt>
                <c:pt idx="609">
                  <c:v>69.898819561551434</c:v>
                </c:pt>
                <c:pt idx="610">
                  <c:v>70.763069139966262</c:v>
                </c:pt>
                <c:pt idx="611">
                  <c:v>70.4468802698145</c:v>
                </c:pt>
                <c:pt idx="612">
                  <c:v>71.135469364811684</c:v>
                </c:pt>
                <c:pt idx="613">
                  <c:v>72.561832490163013</c:v>
                </c:pt>
                <c:pt idx="614">
                  <c:v>73.250421585160197</c:v>
                </c:pt>
                <c:pt idx="615">
                  <c:v>72.955311973018553</c:v>
                </c:pt>
                <c:pt idx="616">
                  <c:v>73.545531197301855</c:v>
                </c:pt>
                <c:pt idx="617">
                  <c:v>73.805508712759988</c:v>
                </c:pt>
                <c:pt idx="618">
                  <c:v>73.686059584035974</c:v>
                </c:pt>
                <c:pt idx="619">
                  <c:v>74.191961776278816</c:v>
                </c:pt>
                <c:pt idx="620">
                  <c:v>73.75632377740304</c:v>
                </c:pt>
                <c:pt idx="621">
                  <c:v>74.571388420460934</c:v>
                </c:pt>
                <c:pt idx="622">
                  <c:v>74.416807195053394</c:v>
                </c:pt>
                <c:pt idx="623">
                  <c:v>74.304384485666105</c:v>
                </c:pt>
                <c:pt idx="624">
                  <c:v>75.126499999999993</c:v>
                </c:pt>
                <c:pt idx="625">
                  <c:v>74.922700000000006</c:v>
                </c:pt>
                <c:pt idx="626">
                  <c:v>73.903899999999993</c:v>
                </c:pt>
                <c:pt idx="627">
                  <c:v>75.119399999999999</c:v>
                </c:pt>
                <c:pt idx="628">
                  <c:v>73.559600000000003</c:v>
                </c:pt>
                <c:pt idx="629">
                  <c:v>72.969399999999993</c:v>
                </c:pt>
                <c:pt idx="630">
                  <c:v>73.236400000000003</c:v>
                </c:pt>
                <c:pt idx="631">
                  <c:v>73.4191</c:v>
                </c:pt>
                <c:pt idx="632">
                  <c:v>70.891099999999994</c:v>
                </c:pt>
              </c:numCache>
            </c:numRef>
          </c:val>
          <c:smooth val="0"/>
          <c:extLst>
            <c:ext xmlns:c16="http://schemas.microsoft.com/office/drawing/2014/chart" uri="{C3380CC4-5D6E-409C-BE32-E72D297353CC}">
              <c16:uniqueId val="{00000001-7FBA-4366-94BD-2E0E790F2BA5}"/>
            </c:ext>
          </c:extLst>
        </c:ser>
        <c:dLbls>
          <c:showLegendKey val="0"/>
          <c:showVal val="0"/>
          <c:showCatName val="0"/>
          <c:showSerName val="0"/>
          <c:showPercent val="0"/>
          <c:showBubbleSize val="0"/>
        </c:dLbls>
        <c:smooth val="0"/>
        <c:axId val="241140112"/>
        <c:axId val="1"/>
      </c:lineChart>
      <c:dateAx>
        <c:axId val="241140112"/>
        <c:scaling>
          <c:orientation val="minMax"/>
        </c:scaling>
        <c:delete val="0"/>
        <c:axPos val="b"/>
        <c:numFmt formatCode="yyyy" sourceLinked="0"/>
        <c:majorTickMark val="out"/>
        <c:minorTickMark val="out"/>
        <c:tickLblPos val="low"/>
        <c:spPr>
          <a:ln w="15875">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1"/>
        <c:crosses val="autoZero"/>
        <c:auto val="1"/>
        <c:lblOffset val="100"/>
        <c:baseTimeUnit val="months"/>
        <c:majorUnit val="5"/>
        <c:majorTimeUnit val="years"/>
        <c:minorUnit val="1"/>
        <c:minorTimeUnit val="years"/>
      </c:dateAx>
      <c:valAx>
        <c:axId val="1"/>
        <c:scaling>
          <c:orientation val="minMax"/>
          <c:max val="120"/>
          <c:min val="0"/>
        </c:scaling>
        <c:delete val="0"/>
        <c:axPos val="l"/>
        <c:title>
          <c:tx>
            <c:rich>
              <a:bodyPr/>
              <a:lstStyle/>
              <a:p>
                <a:pPr>
                  <a:defRPr sz="1800" b="0" i="0" u="none" strike="noStrike" baseline="0">
                    <a:solidFill>
                      <a:schemeClr val="tx1"/>
                    </a:solidFill>
                    <a:latin typeface="Arial"/>
                    <a:ea typeface="Arial"/>
                    <a:cs typeface="Arial"/>
                  </a:defRPr>
                </a:pPr>
                <a:r>
                  <a:rPr lang="en-GB" sz="1800"/>
                  <a:t>Index, Jan 1970 = 100</a:t>
                </a:r>
              </a:p>
            </c:rich>
          </c:tx>
          <c:layout>
            <c:manualLayout>
              <c:xMode val="edge"/>
              <c:yMode val="edge"/>
              <c:x val="2.4196194225721786E-2"/>
              <c:y val="0.26950351390124755"/>
            </c:manualLayout>
          </c:layout>
          <c:overlay val="0"/>
          <c:spPr>
            <a:noFill/>
            <a:ln w="36533">
              <a:noFill/>
            </a:ln>
          </c:spPr>
        </c:title>
        <c:numFmt formatCode="0" sourceLinked="0"/>
        <c:majorTickMark val="out"/>
        <c:minorTickMark val="none"/>
        <c:tickLblPos val="nextTo"/>
        <c:spPr>
          <a:ln w="15875">
            <a:solidFill>
              <a:schemeClr val="tx1"/>
            </a:solidFill>
            <a:prstDash val="solid"/>
          </a:ln>
        </c:spPr>
        <c:txPr>
          <a:bodyPr rot="0" vert="horz"/>
          <a:lstStyle/>
          <a:p>
            <a:pPr>
              <a:defRPr sz="1800" b="0" i="0" u="none" strike="noStrike" baseline="0">
                <a:solidFill>
                  <a:schemeClr val="tx1"/>
                </a:solidFill>
                <a:latin typeface="Arial"/>
                <a:ea typeface="Arial"/>
                <a:cs typeface="Arial"/>
              </a:defRPr>
            </a:pPr>
            <a:endParaRPr lang="en-US"/>
          </a:p>
        </c:txPr>
        <c:crossAx val="241140112"/>
        <c:crosses val="autoZero"/>
        <c:crossBetween val="midCat"/>
        <c:majorUnit val="10"/>
      </c:valAx>
      <c:spPr>
        <a:noFill/>
        <a:ln w="25400">
          <a:noFill/>
        </a:ln>
      </c:spPr>
    </c:plotArea>
    <c:legend>
      <c:legendPos val="r"/>
      <c:legendEntry>
        <c:idx val="0"/>
        <c:txPr>
          <a:bodyPr/>
          <a:lstStyle/>
          <a:p>
            <a:pPr>
              <a:defRPr sz="1800" b="0" i="0" u="none" strike="noStrike" baseline="0">
                <a:solidFill>
                  <a:srgbClr val="FF0000"/>
                </a:solidFill>
                <a:latin typeface="Arial"/>
                <a:ea typeface="Arial"/>
                <a:cs typeface="Arial"/>
              </a:defRPr>
            </a:pPr>
            <a:endParaRPr lang="en-US"/>
          </a:p>
        </c:txPr>
      </c:legendEntry>
      <c:legendEntry>
        <c:idx val="1"/>
        <c:txPr>
          <a:bodyPr/>
          <a:lstStyle/>
          <a:p>
            <a:pPr>
              <a:defRPr sz="1800" b="0" i="0" u="none" strike="noStrike" baseline="0">
                <a:solidFill>
                  <a:srgbClr val="0000FF"/>
                </a:solidFill>
                <a:latin typeface="Arial"/>
                <a:ea typeface="Arial"/>
                <a:cs typeface="Arial"/>
              </a:defRPr>
            </a:pPr>
            <a:endParaRPr lang="en-US"/>
          </a:p>
        </c:txPr>
      </c:legendEntry>
      <c:layout>
        <c:manualLayout>
          <c:xMode val="edge"/>
          <c:yMode val="edge"/>
          <c:x val="0.4807475393700788"/>
          <c:y val="7.2429424413259696E-2"/>
          <c:w val="0.25535761154855641"/>
          <c:h val="0.15179508598616229"/>
        </c:manualLayout>
      </c:layout>
      <c:overlay val="0"/>
      <c:spPr>
        <a:solidFill>
          <a:srgbClr val="FFFFDB"/>
        </a:solidFill>
        <a:ln w="19050">
          <a:solidFill>
            <a:srgbClr val="660066"/>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gap"/>
    <c:showDLblsOverMax val="0"/>
  </c:chart>
  <c:spPr>
    <a:noFill/>
    <a:ln>
      <a:noFill/>
    </a:ln>
  </c:spPr>
  <c:txPr>
    <a:bodyPr/>
    <a:lstStyle/>
    <a:p>
      <a:pPr>
        <a:defRPr sz="2589" b="1" i="0" u="none" strike="noStrike" baseline="0">
          <a:solidFill>
            <a:schemeClr val="tx1"/>
          </a:solidFill>
          <a:latin typeface="Times New Roman"/>
          <a:ea typeface="Times New Roman"/>
          <a:cs typeface="Times New Roman"/>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196891191709838E-2"/>
          <c:y val="4.5676998368678633E-2"/>
          <c:w val="0.90803108808290156"/>
          <c:h val="0.85481239804241438"/>
        </c:manualLayout>
      </c:layout>
      <c:lineChart>
        <c:grouping val="standard"/>
        <c:varyColors val="0"/>
        <c:ser>
          <c:idx val="0"/>
          <c:order val="0"/>
          <c:tx>
            <c:strRef>
              <c:f>Sheet1!$A$2</c:f>
              <c:strCache>
                <c:ptCount val="1"/>
              </c:strCache>
            </c:strRef>
          </c:tx>
          <c:spPr>
            <a:ln w="30640">
              <a:solidFill>
                <a:srgbClr val="0000CC"/>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Sheet1!$B$2:$I$2</c:f>
              <c:numCache>
                <c:formatCode>General</c:formatCode>
                <c:ptCount val="8"/>
                <c:pt idx="1">
                  <c:v>0.9</c:v>
                </c:pt>
                <c:pt idx="6">
                  <c:v>1.7</c:v>
                </c:pt>
              </c:numCache>
            </c:numRef>
          </c:val>
          <c:smooth val="0"/>
          <c:extLst>
            <c:ext xmlns:c16="http://schemas.microsoft.com/office/drawing/2014/chart" uri="{C3380CC4-5D6E-409C-BE32-E72D297353CC}">
              <c16:uniqueId val="{00000000-C477-4B62-9C47-61CC3AD991F9}"/>
            </c:ext>
          </c:extLst>
        </c:ser>
        <c:ser>
          <c:idx val="1"/>
          <c:order val="1"/>
          <c:tx>
            <c:strRef>
              <c:f>Sheet1!$A$3</c:f>
              <c:strCache>
                <c:ptCount val="1"/>
              </c:strCache>
            </c:strRef>
          </c:tx>
          <c:spPr>
            <a:ln w="30640">
              <a:solidFill>
                <a:srgbClr val="0000CC"/>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Sheet1!$B$3:$I$3</c:f>
              <c:numCache>
                <c:formatCode>General</c:formatCode>
                <c:ptCount val="8"/>
                <c:pt idx="1">
                  <c:v>1.7</c:v>
                </c:pt>
                <c:pt idx="6">
                  <c:v>0.9</c:v>
                </c:pt>
              </c:numCache>
            </c:numRef>
          </c:val>
          <c:smooth val="0"/>
          <c:extLst>
            <c:ext xmlns:c16="http://schemas.microsoft.com/office/drawing/2014/chart" uri="{C3380CC4-5D6E-409C-BE32-E72D297353CC}">
              <c16:uniqueId val="{00000001-C477-4B62-9C47-61CC3AD991F9}"/>
            </c:ext>
          </c:extLst>
        </c:ser>
        <c:ser>
          <c:idx val="2"/>
          <c:order val="2"/>
          <c:tx>
            <c:strRef>
              <c:f>Sheet1!$A$4</c:f>
              <c:strCache>
                <c:ptCount val="1"/>
              </c:strCache>
            </c:strRef>
          </c:tx>
          <c:spPr>
            <a:ln w="20427">
              <a:solidFill>
                <a:srgbClr val="0000CC"/>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Sheet1!$B$4:$I$4</c:f>
              <c:numCache>
                <c:formatCode>General</c:formatCode>
                <c:ptCount val="8"/>
              </c:numCache>
            </c:numRef>
          </c:val>
          <c:smooth val="0"/>
          <c:extLst>
            <c:ext xmlns:c16="http://schemas.microsoft.com/office/drawing/2014/chart" uri="{C3380CC4-5D6E-409C-BE32-E72D297353CC}">
              <c16:uniqueId val="{00000002-C477-4B62-9C47-61CC3AD991F9}"/>
            </c:ext>
          </c:extLst>
        </c:ser>
        <c:ser>
          <c:idx val="3"/>
          <c:order val="3"/>
          <c:tx>
            <c:strRef>
              <c:f>Sheet1!$A$5</c:f>
              <c:strCache>
                <c:ptCount val="1"/>
              </c:strCache>
            </c:strRef>
          </c:tx>
          <c:spPr>
            <a:ln w="20427">
              <a:solidFill>
                <a:srgbClr val="00FF00"/>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Sheet1!$B$5:$I$5</c:f>
              <c:numCache>
                <c:formatCode>General</c:formatCode>
                <c:ptCount val="8"/>
              </c:numCache>
            </c:numRef>
          </c:val>
          <c:smooth val="0"/>
          <c:extLst>
            <c:ext xmlns:c16="http://schemas.microsoft.com/office/drawing/2014/chart" uri="{C3380CC4-5D6E-409C-BE32-E72D297353CC}">
              <c16:uniqueId val="{00000003-C477-4B62-9C47-61CC3AD991F9}"/>
            </c:ext>
          </c:extLst>
        </c:ser>
        <c:ser>
          <c:idx val="4"/>
          <c:order val="4"/>
          <c:tx>
            <c:strRef>
              <c:f>Sheet1!$A$6</c:f>
              <c:strCache>
                <c:ptCount val="1"/>
              </c:strCache>
            </c:strRef>
          </c:tx>
          <c:spPr>
            <a:ln w="20427">
              <a:solidFill>
                <a:srgbClr val="FF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Sheet1!$B$6:$I$6</c:f>
              <c:numCache>
                <c:formatCode>General</c:formatCode>
                <c:ptCount val="8"/>
              </c:numCache>
            </c:numRef>
          </c:val>
          <c:smooth val="0"/>
          <c:extLst>
            <c:ext xmlns:c16="http://schemas.microsoft.com/office/drawing/2014/chart" uri="{C3380CC4-5D6E-409C-BE32-E72D297353CC}">
              <c16:uniqueId val="{00000004-C477-4B62-9C47-61CC3AD991F9}"/>
            </c:ext>
          </c:extLst>
        </c:ser>
        <c:ser>
          <c:idx val="5"/>
          <c:order val="5"/>
          <c:tx>
            <c:strRef>
              <c:f>Sheet1!$A$7</c:f>
              <c:strCache>
                <c:ptCount val="1"/>
              </c:strCache>
            </c:strRef>
          </c:tx>
          <c:spPr>
            <a:ln w="20427">
              <a:solidFill>
                <a:srgbClr val="00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Sheet1!$B$7:$I$7</c:f>
              <c:numCache>
                <c:formatCode>General</c:formatCode>
                <c:ptCount val="8"/>
              </c:numCache>
            </c:numRef>
          </c:val>
          <c:smooth val="0"/>
          <c:extLst>
            <c:ext xmlns:c16="http://schemas.microsoft.com/office/drawing/2014/chart" uri="{C3380CC4-5D6E-409C-BE32-E72D297353CC}">
              <c16:uniqueId val="{00000005-C477-4B62-9C47-61CC3AD991F9}"/>
            </c:ext>
          </c:extLst>
        </c:ser>
        <c:dLbls>
          <c:showLegendKey val="0"/>
          <c:showVal val="0"/>
          <c:showCatName val="0"/>
          <c:showSerName val="0"/>
          <c:showPercent val="0"/>
          <c:showBubbleSize val="0"/>
        </c:dLbls>
        <c:smooth val="0"/>
        <c:axId val="227636880"/>
        <c:axId val="1"/>
      </c:lineChart>
      <c:catAx>
        <c:axId val="227636880"/>
        <c:scaling>
          <c:orientation val="minMax"/>
        </c:scaling>
        <c:delete val="0"/>
        <c:axPos val="b"/>
        <c:numFmt formatCode="General" sourceLinked="1"/>
        <c:majorTickMark val="out"/>
        <c:minorTickMark val="none"/>
        <c:tickLblPos val="nextTo"/>
        <c:spPr>
          <a:ln w="20427">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0.8"/>
        <c:auto val="0"/>
        <c:lblAlgn val="ctr"/>
        <c:lblOffset val="100"/>
        <c:tickLblSkip val="10"/>
        <c:tickMarkSkip val="10"/>
        <c:noMultiLvlLbl val="0"/>
      </c:catAx>
      <c:valAx>
        <c:axId val="1"/>
        <c:scaling>
          <c:orientation val="minMax"/>
          <c:max val="1.8"/>
          <c:min val="0.9"/>
        </c:scaling>
        <c:delete val="0"/>
        <c:axPos val="l"/>
        <c:numFmt formatCode="0.00" sourceLinked="0"/>
        <c:majorTickMark val="out"/>
        <c:minorTickMark val="none"/>
        <c:tickLblPos val="nextTo"/>
        <c:spPr>
          <a:ln w="20427">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27636880"/>
        <c:crosses val="autoZero"/>
        <c:crossBetween val="midCat"/>
        <c:majorUnit val="0.1"/>
      </c:valAx>
      <c:spPr>
        <a:noFill/>
        <a:ln w="25400">
          <a:noFill/>
        </a:ln>
      </c:spPr>
    </c:plotArea>
    <c:plotVisOnly val="1"/>
    <c:dispBlanksAs val="span"/>
    <c:showDLblsOverMax val="0"/>
  </c:chart>
  <c:spPr>
    <a:noFill/>
    <a:ln>
      <a:noFill/>
    </a:ln>
  </c:spPr>
  <c:txPr>
    <a:bodyPr/>
    <a:lstStyle/>
    <a:p>
      <a:pPr>
        <a:defRPr sz="1427" b="1" i="0" u="none" strike="noStrike" baseline="0">
          <a:solidFill>
            <a:schemeClr val="tx1"/>
          </a:solidFill>
          <a:latin typeface="Arial"/>
          <a:ea typeface="Arial"/>
          <a:cs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087968952134537E-2"/>
          <c:y val="4.9382716049382713E-2"/>
          <c:w val="0.90815006468305304"/>
          <c:h val="0.84303350970017632"/>
        </c:manualLayout>
      </c:layout>
      <c:lineChart>
        <c:grouping val="standard"/>
        <c:varyColors val="0"/>
        <c:ser>
          <c:idx val="0"/>
          <c:order val="0"/>
          <c:tx>
            <c:strRef>
              <c:f>Sheet1!$A$2</c:f>
              <c:strCache>
                <c:ptCount val="1"/>
              </c:strCache>
            </c:strRef>
          </c:tx>
          <c:spPr>
            <a:ln w="44359">
              <a:solidFill>
                <a:srgbClr val="0000CC"/>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Sheet1!$B$2:$I$2</c:f>
              <c:numCache>
                <c:formatCode>General</c:formatCode>
                <c:ptCount val="8"/>
                <c:pt idx="1">
                  <c:v>1.5</c:v>
                </c:pt>
                <c:pt idx="6">
                  <c:v>1.1000000000000001</c:v>
                </c:pt>
              </c:numCache>
            </c:numRef>
          </c:val>
          <c:smooth val="0"/>
          <c:extLst>
            <c:ext xmlns:c16="http://schemas.microsoft.com/office/drawing/2014/chart" uri="{C3380CC4-5D6E-409C-BE32-E72D297353CC}">
              <c16:uniqueId val="{00000000-91F1-4464-A445-57E94FBCF407}"/>
            </c:ext>
          </c:extLst>
        </c:ser>
        <c:ser>
          <c:idx val="1"/>
          <c:order val="1"/>
          <c:tx>
            <c:strRef>
              <c:f>Sheet1!$A$3</c:f>
              <c:strCache>
                <c:ptCount val="1"/>
              </c:strCache>
            </c:strRef>
          </c:tx>
          <c:spPr>
            <a:ln w="44359">
              <a:solidFill>
                <a:srgbClr val="0000CC"/>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Sheet1!$B$3:$I$3</c:f>
              <c:numCache>
                <c:formatCode>General</c:formatCode>
                <c:ptCount val="8"/>
                <c:pt idx="1">
                  <c:v>1.1000000000000001</c:v>
                </c:pt>
                <c:pt idx="6">
                  <c:v>1.5</c:v>
                </c:pt>
              </c:numCache>
            </c:numRef>
          </c:val>
          <c:smooth val="0"/>
          <c:extLst>
            <c:ext xmlns:c16="http://schemas.microsoft.com/office/drawing/2014/chart" uri="{C3380CC4-5D6E-409C-BE32-E72D297353CC}">
              <c16:uniqueId val="{00000001-91F1-4464-A445-57E94FBCF407}"/>
            </c:ext>
          </c:extLst>
        </c:ser>
        <c:ser>
          <c:idx val="2"/>
          <c:order val="2"/>
          <c:tx>
            <c:strRef>
              <c:f>Sheet1!$A$4</c:f>
              <c:strCache>
                <c:ptCount val="1"/>
              </c:strCache>
            </c:strRef>
          </c:tx>
          <c:spPr>
            <a:ln w="44359">
              <a:solidFill>
                <a:srgbClr val="CC0000"/>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Sheet1!$B$4:$I$4</c:f>
              <c:numCache>
                <c:formatCode>General</c:formatCode>
                <c:ptCount val="8"/>
                <c:pt idx="1">
                  <c:v>1.4</c:v>
                </c:pt>
                <c:pt idx="6">
                  <c:v>1</c:v>
                </c:pt>
              </c:numCache>
            </c:numRef>
          </c:val>
          <c:smooth val="0"/>
          <c:extLst>
            <c:ext xmlns:c16="http://schemas.microsoft.com/office/drawing/2014/chart" uri="{C3380CC4-5D6E-409C-BE32-E72D297353CC}">
              <c16:uniqueId val="{00000002-91F1-4464-A445-57E94FBCF407}"/>
            </c:ext>
          </c:extLst>
        </c:ser>
        <c:ser>
          <c:idx val="3"/>
          <c:order val="3"/>
          <c:tx>
            <c:strRef>
              <c:f>Sheet1!$A$5</c:f>
              <c:strCache>
                <c:ptCount val="1"/>
              </c:strCache>
            </c:strRef>
          </c:tx>
          <c:spPr>
            <a:ln w="44359">
              <a:solidFill>
                <a:srgbClr val="CC0000"/>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Sheet1!$B$5:$I$5</c:f>
              <c:numCache>
                <c:formatCode>General</c:formatCode>
                <c:ptCount val="8"/>
                <c:pt idx="1">
                  <c:v>1</c:v>
                </c:pt>
                <c:pt idx="6">
                  <c:v>1.4</c:v>
                </c:pt>
              </c:numCache>
            </c:numRef>
          </c:val>
          <c:smooth val="0"/>
          <c:extLst>
            <c:ext xmlns:c16="http://schemas.microsoft.com/office/drawing/2014/chart" uri="{C3380CC4-5D6E-409C-BE32-E72D297353CC}">
              <c16:uniqueId val="{00000003-91F1-4464-A445-57E94FBCF407}"/>
            </c:ext>
          </c:extLst>
        </c:ser>
        <c:ser>
          <c:idx val="4"/>
          <c:order val="4"/>
          <c:tx>
            <c:strRef>
              <c:f>Sheet1!$A$6</c:f>
              <c:strCache>
                <c:ptCount val="1"/>
              </c:strCache>
            </c:strRef>
          </c:tx>
          <c:spPr>
            <a:ln w="29572">
              <a:solidFill>
                <a:srgbClr val="FF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Sheet1!$B$6:$I$6</c:f>
              <c:numCache>
                <c:formatCode>General</c:formatCode>
                <c:ptCount val="8"/>
              </c:numCache>
            </c:numRef>
          </c:val>
          <c:smooth val="0"/>
          <c:extLst>
            <c:ext xmlns:c16="http://schemas.microsoft.com/office/drawing/2014/chart" uri="{C3380CC4-5D6E-409C-BE32-E72D297353CC}">
              <c16:uniqueId val="{00000004-91F1-4464-A445-57E94FBCF407}"/>
            </c:ext>
          </c:extLst>
        </c:ser>
        <c:ser>
          <c:idx val="5"/>
          <c:order val="5"/>
          <c:tx>
            <c:strRef>
              <c:f>Sheet1!$A$7</c:f>
              <c:strCache>
                <c:ptCount val="1"/>
              </c:strCache>
            </c:strRef>
          </c:tx>
          <c:spPr>
            <a:ln w="29572">
              <a:solidFill>
                <a:srgbClr val="00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Sheet1!$B$7:$I$7</c:f>
              <c:numCache>
                <c:formatCode>General</c:formatCode>
                <c:ptCount val="8"/>
              </c:numCache>
            </c:numRef>
          </c:val>
          <c:smooth val="0"/>
          <c:extLst>
            <c:ext xmlns:c16="http://schemas.microsoft.com/office/drawing/2014/chart" uri="{C3380CC4-5D6E-409C-BE32-E72D297353CC}">
              <c16:uniqueId val="{00000005-91F1-4464-A445-57E94FBCF407}"/>
            </c:ext>
          </c:extLst>
        </c:ser>
        <c:dLbls>
          <c:showLegendKey val="0"/>
          <c:showVal val="0"/>
          <c:showCatName val="0"/>
          <c:showSerName val="0"/>
          <c:showPercent val="0"/>
          <c:showBubbleSize val="0"/>
        </c:dLbls>
        <c:smooth val="0"/>
        <c:axId val="231576392"/>
        <c:axId val="1"/>
      </c:lineChart>
      <c:catAx>
        <c:axId val="231576392"/>
        <c:scaling>
          <c:orientation val="minMax"/>
        </c:scaling>
        <c:delete val="0"/>
        <c:axPos val="b"/>
        <c:numFmt formatCode="General" sourceLinked="1"/>
        <c:majorTickMark val="out"/>
        <c:minorTickMark val="none"/>
        <c:tickLblPos val="nextTo"/>
        <c:spPr>
          <a:ln w="29572">
            <a:solidFill>
              <a:srgbClr val="000000"/>
            </a:solidFill>
            <a:prstDash val="solid"/>
          </a:ln>
        </c:spPr>
        <c:txPr>
          <a:bodyPr rot="0" vert="horz"/>
          <a:lstStyle/>
          <a:p>
            <a:pPr>
              <a:defRPr sz="1863" b="0" i="0" u="none" strike="noStrike" baseline="0">
                <a:solidFill>
                  <a:srgbClr val="000000"/>
                </a:solidFill>
                <a:latin typeface="Arial"/>
                <a:ea typeface="Arial"/>
                <a:cs typeface="Arial"/>
              </a:defRPr>
            </a:pPr>
            <a:endParaRPr lang="en-US"/>
          </a:p>
        </c:txPr>
        <c:crossAx val="1"/>
        <c:crossesAt val="0.9"/>
        <c:auto val="0"/>
        <c:lblAlgn val="ctr"/>
        <c:lblOffset val="100"/>
        <c:tickLblSkip val="10"/>
        <c:tickMarkSkip val="10"/>
        <c:noMultiLvlLbl val="0"/>
      </c:catAx>
      <c:valAx>
        <c:axId val="1"/>
        <c:scaling>
          <c:orientation val="minMax"/>
          <c:max val="1.6"/>
          <c:min val="0.9"/>
        </c:scaling>
        <c:delete val="0"/>
        <c:axPos val="l"/>
        <c:numFmt formatCode="0.00" sourceLinked="0"/>
        <c:majorTickMark val="out"/>
        <c:minorTickMark val="none"/>
        <c:tickLblPos val="nextTo"/>
        <c:spPr>
          <a:ln w="29572">
            <a:solidFill>
              <a:srgbClr val="000000"/>
            </a:solidFill>
            <a:prstDash val="solid"/>
          </a:ln>
        </c:spPr>
        <c:txPr>
          <a:bodyPr rot="0" vert="horz"/>
          <a:lstStyle/>
          <a:p>
            <a:pPr>
              <a:defRPr sz="1863" b="0" i="0" u="none" strike="noStrike" baseline="0">
                <a:solidFill>
                  <a:srgbClr val="000000"/>
                </a:solidFill>
                <a:latin typeface="Arial"/>
                <a:ea typeface="Arial"/>
                <a:cs typeface="Arial"/>
              </a:defRPr>
            </a:pPr>
            <a:endParaRPr lang="en-US"/>
          </a:p>
        </c:txPr>
        <c:crossAx val="231576392"/>
        <c:crosses val="autoZero"/>
        <c:crossBetween val="midCat"/>
        <c:majorUnit val="0.1"/>
      </c:valAx>
      <c:spPr>
        <a:noFill/>
        <a:ln w="25400">
          <a:noFill/>
        </a:ln>
      </c:spPr>
    </c:plotArea>
    <c:plotVisOnly val="1"/>
    <c:dispBlanksAs val="span"/>
    <c:showDLblsOverMax val="0"/>
  </c:chart>
  <c:spPr>
    <a:noFill/>
    <a:ln>
      <a:noFill/>
    </a:ln>
  </c:spPr>
  <c:txPr>
    <a:bodyPr/>
    <a:lstStyle/>
    <a:p>
      <a:pPr>
        <a:defRPr sz="2096" b="1" i="0" u="none" strike="noStrike" baseline="0">
          <a:solidFill>
            <a:schemeClr val="tx1"/>
          </a:solidFill>
          <a:latin typeface="Arial"/>
          <a:ea typeface="Arial"/>
          <a:cs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4087968952134537E-2"/>
          <c:y val="5.0909090909090911E-2"/>
          <c:w val="0.90815006468305304"/>
          <c:h val="0.84"/>
        </c:manualLayout>
      </c:layout>
      <c:lineChart>
        <c:grouping val="standard"/>
        <c:varyColors val="0"/>
        <c:ser>
          <c:idx val="0"/>
          <c:order val="0"/>
          <c:tx>
            <c:strRef>
              <c:f>Sheet1!$A$2</c:f>
              <c:strCache>
                <c:ptCount val="1"/>
              </c:strCache>
            </c:strRef>
          </c:tx>
          <c:spPr>
            <a:ln w="40677">
              <a:solidFill>
                <a:srgbClr val="000099"/>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Sheet1!$B$2:$I$2</c:f>
              <c:numCache>
                <c:formatCode>General</c:formatCode>
                <c:ptCount val="8"/>
                <c:pt idx="1">
                  <c:v>1.5</c:v>
                </c:pt>
                <c:pt idx="6">
                  <c:v>1.1000000000000001</c:v>
                </c:pt>
              </c:numCache>
            </c:numRef>
          </c:val>
          <c:smooth val="0"/>
          <c:extLst>
            <c:ext xmlns:c16="http://schemas.microsoft.com/office/drawing/2014/chart" uri="{C3380CC4-5D6E-409C-BE32-E72D297353CC}">
              <c16:uniqueId val="{00000000-DA0E-470C-8227-4B3727794557}"/>
            </c:ext>
          </c:extLst>
        </c:ser>
        <c:ser>
          <c:idx val="1"/>
          <c:order val="1"/>
          <c:tx>
            <c:strRef>
              <c:f>Sheet1!$A$3</c:f>
              <c:strCache>
                <c:ptCount val="1"/>
              </c:strCache>
            </c:strRef>
          </c:tx>
          <c:spPr>
            <a:ln w="40677">
              <a:solidFill>
                <a:srgbClr val="000099"/>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Sheet1!$B$3:$I$3</c:f>
              <c:numCache>
                <c:formatCode>General</c:formatCode>
                <c:ptCount val="8"/>
                <c:pt idx="1">
                  <c:v>1.1000000000000001</c:v>
                </c:pt>
                <c:pt idx="6">
                  <c:v>1.5</c:v>
                </c:pt>
              </c:numCache>
            </c:numRef>
          </c:val>
          <c:smooth val="0"/>
          <c:extLst>
            <c:ext xmlns:c16="http://schemas.microsoft.com/office/drawing/2014/chart" uri="{C3380CC4-5D6E-409C-BE32-E72D297353CC}">
              <c16:uniqueId val="{00000001-DA0E-470C-8227-4B3727794557}"/>
            </c:ext>
          </c:extLst>
        </c:ser>
        <c:ser>
          <c:idx val="2"/>
          <c:order val="2"/>
          <c:tx>
            <c:strRef>
              <c:f>Sheet1!$A$4</c:f>
              <c:strCache>
                <c:ptCount val="1"/>
              </c:strCache>
            </c:strRef>
          </c:tx>
          <c:spPr>
            <a:ln w="40677">
              <a:solidFill>
                <a:srgbClr val="CC0000"/>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Sheet1!$B$4:$I$4</c:f>
              <c:numCache>
                <c:formatCode>General</c:formatCode>
                <c:ptCount val="8"/>
                <c:pt idx="1">
                  <c:v>1.4</c:v>
                </c:pt>
                <c:pt idx="6">
                  <c:v>1</c:v>
                </c:pt>
              </c:numCache>
            </c:numRef>
          </c:val>
          <c:smooth val="0"/>
          <c:extLst>
            <c:ext xmlns:c16="http://schemas.microsoft.com/office/drawing/2014/chart" uri="{C3380CC4-5D6E-409C-BE32-E72D297353CC}">
              <c16:uniqueId val="{00000002-DA0E-470C-8227-4B3727794557}"/>
            </c:ext>
          </c:extLst>
        </c:ser>
        <c:ser>
          <c:idx val="3"/>
          <c:order val="3"/>
          <c:tx>
            <c:strRef>
              <c:f>Sheet1!$A$5</c:f>
              <c:strCache>
                <c:ptCount val="1"/>
              </c:strCache>
            </c:strRef>
          </c:tx>
          <c:spPr>
            <a:ln w="40677">
              <a:solidFill>
                <a:srgbClr val="CC0000"/>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Sheet1!$B$5:$I$5</c:f>
              <c:numCache>
                <c:formatCode>General</c:formatCode>
                <c:ptCount val="8"/>
                <c:pt idx="1">
                  <c:v>1</c:v>
                </c:pt>
                <c:pt idx="6">
                  <c:v>1.4</c:v>
                </c:pt>
              </c:numCache>
            </c:numRef>
          </c:val>
          <c:smooth val="0"/>
          <c:extLst>
            <c:ext xmlns:c16="http://schemas.microsoft.com/office/drawing/2014/chart" uri="{C3380CC4-5D6E-409C-BE32-E72D297353CC}">
              <c16:uniqueId val="{00000003-DA0E-470C-8227-4B3727794557}"/>
            </c:ext>
          </c:extLst>
        </c:ser>
        <c:ser>
          <c:idx val="4"/>
          <c:order val="4"/>
          <c:tx>
            <c:strRef>
              <c:f>Sheet1!$A$6</c:f>
              <c:strCache>
                <c:ptCount val="1"/>
              </c:strCache>
            </c:strRef>
          </c:tx>
          <c:spPr>
            <a:ln w="27118">
              <a:solidFill>
                <a:srgbClr val="FF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Sheet1!$B$6:$I$6</c:f>
              <c:numCache>
                <c:formatCode>General</c:formatCode>
                <c:ptCount val="8"/>
              </c:numCache>
            </c:numRef>
          </c:val>
          <c:smooth val="0"/>
          <c:extLst>
            <c:ext xmlns:c16="http://schemas.microsoft.com/office/drawing/2014/chart" uri="{C3380CC4-5D6E-409C-BE32-E72D297353CC}">
              <c16:uniqueId val="{00000004-DA0E-470C-8227-4B3727794557}"/>
            </c:ext>
          </c:extLst>
        </c:ser>
        <c:ser>
          <c:idx val="5"/>
          <c:order val="5"/>
          <c:tx>
            <c:strRef>
              <c:f>Sheet1!$A$7</c:f>
              <c:strCache>
                <c:ptCount val="1"/>
              </c:strCache>
            </c:strRef>
          </c:tx>
          <c:spPr>
            <a:ln w="27118">
              <a:solidFill>
                <a:srgbClr val="0000FF"/>
              </a:solidFill>
              <a:prstDash val="solid"/>
            </a:ln>
          </c:spPr>
          <c:marker>
            <c:symbol val="none"/>
          </c:marker>
          <c:cat>
            <c:numRef>
              <c:f>Sheet1!$B$1:$I$1</c:f>
              <c:numCache>
                <c:formatCode>General</c:formatCode>
                <c:ptCount val="8"/>
                <c:pt idx="0">
                  <c:v>0</c:v>
                </c:pt>
                <c:pt idx="1">
                  <c:v>1</c:v>
                </c:pt>
                <c:pt idx="2">
                  <c:v>2</c:v>
                </c:pt>
                <c:pt idx="3">
                  <c:v>3</c:v>
                </c:pt>
                <c:pt idx="4">
                  <c:v>4</c:v>
                </c:pt>
                <c:pt idx="5">
                  <c:v>5</c:v>
                </c:pt>
                <c:pt idx="6">
                  <c:v>6</c:v>
                </c:pt>
                <c:pt idx="7">
                  <c:v>7</c:v>
                </c:pt>
              </c:numCache>
            </c:numRef>
          </c:cat>
          <c:val>
            <c:numRef>
              <c:f>Sheet1!$B$7:$I$7</c:f>
              <c:numCache>
                <c:formatCode>General</c:formatCode>
                <c:ptCount val="8"/>
              </c:numCache>
            </c:numRef>
          </c:val>
          <c:smooth val="0"/>
          <c:extLst>
            <c:ext xmlns:c16="http://schemas.microsoft.com/office/drawing/2014/chart" uri="{C3380CC4-5D6E-409C-BE32-E72D297353CC}">
              <c16:uniqueId val="{00000005-DA0E-470C-8227-4B3727794557}"/>
            </c:ext>
          </c:extLst>
        </c:ser>
        <c:dLbls>
          <c:showLegendKey val="0"/>
          <c:showVal val="0"/>
          <c:showCatName val="0"/>
          <c:showSerName val="0"/>
          <c:showPercent val="0"/>
          <c:showBubbleSize val="0"/>
        </c:dLbls>
        <c:smooth val="0"/>
        <c:axId val="240814920"/>
        <c:axId val="1"/>
      </c:lineChart>
      <c:catAx>
        <c:axId val="240814920"/>
        <c:scaling>
          <c:orientation val="minMax"/>
        </c:scaling>
        <c:delete val="0"/>
        <c:axPos val="b"/>
        <c:numFmt formatCode="General" sourceLinked="1"/>
        <c:majorTickMark val="out"/>
        <c:minorTickMark val="none"/>
        <c:tickLblPos val="nextTo"/>
        <c:spPr>
          <a:ln w="27118">
            <a:solidFill>
              <a:srgbClr val="000000"/>
            </a:solidFill>
            <a:prstDash val="solid"/>
          </a:ln>
        </c:spPr>
        <c:txPr>
          <a:bodyPr rot="0" vert="horz"/>
          <a:lstStyle/>
          <a:p>
            <a:pPr>
              <a:defRPr sz="1708" b="0" i="0" u="none" strike="noStrike" baseline="0">
                <a:solidFill>
                  <a:srgbClr val="000000"/>
                </a:solidFill>
                <a:latin typeface="Arial"/>
                <a:ea typeface="Arial"/>
                <a:cs typeface="Arial"/>
              </a:defRPr>
            </a:pPr>
            <a:endParaRPr lang="en-US"/>
          </a:p>
        </c:txPr>
        <c:crossAx val="1"/>
        <c:crossesAt val="0.6"/>
        <c:auto val="0"/>
        <c:lblAlgn val="ctr"/>
        <c:lblOffset val="100"/>
        <c:tickLblSkip val="10"/>
        <c:tickMarkSkip val="10"/>
        <c:noMultiLvlLbl val="0"/>
      </c:catAx>
      <c:valAx>
        <c:axId val="1"/>
        <c:scaling>
          <c:orientation val="minMax"/>
          <c:max val="1.6"/>
          <c:min val="0.9"/>
        </c:scaling>
        <c:delete val="0"/>
        <c:axPos val="l"/>
        <c:numFmt formatCode="0.00" sourceLinked="0"/>
        <c:majorTickMark val="out"/>
        <c:minorTickMark val="none"/>
        <c:tickLblPos val="nextTo"/>
        <c:spPr>
          <a:ln w="27118">
            <a:solidFill>
              <a:srgbClr val="000000"/>
            </a:solidFill>
            <a:prstDash val="solid"/>
          </a:ln>
        </c:spPr>
        <c:txPr>
          <a:bodyPr rot="0" vert="horz"/>
          <a:lstStyle/>
          <a:p>
            <a:pPr>
              <a:defRPr sz="1708" b="0" i="0" u="none" strike="noStrike" baseline="0">
                <a:solidFill>
                  <a:srgbClr val="000000"/>
                </a:solidFill>
                <a:latin typeface="Arial"/>
                <a:ea typeface="Arial"/>
                <a:cs typeface="Arial"/>
              </a:defRPr>
            </a:pPr>
            <a:endParaRPr lang="en-US"/>
          </a:p>
        </c:txPr>
        <c:crossAx val="240814920"/>
        <c:crosses val="autoZero"/>
        <c:crossBetween val="midCat"/>
        <c:majorUnit val="0.1"/>
      </c:valAx>
      <c:spPr>
        <a:noFill/>
        <a:ln w="25400">
          <a:noFill/>
        </a:ln>
      </c:spPr>
    </c:plotArea>
    <c:plotVisOnly val="1"/>
    <c:dispBlanksAs val="span"/>
    <c:showDLblsOverMax val="0"/>
  </c:chart>
  <c:spPr>
    <a:noFill/>
    <a:ln>
      <a:noFill/>
    </a:ln>
  </c:spPr>
  <c:txPr>
    <a:bodyPr/>
    <a:lstStyle/>
    <a:p>
      <a:pPr>
        <a:defRPr sz="1922" b="1" i="0" u="none" strike="noStrike" baseline="0">
          <a:solidFill>
            <a:schemeClr val="tx1"/>
          </a:solidFill>
          <a:latin typeface="Arial"/>
          <a:ea typeface="Arial"/>
          <a:cs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152675146375934"/>
          <c:y val="3.0170071646449595E-2"/>
          <c:w val="0.84225519886937206"/>
          <c:h val="0.86535237993899417"/>
        </c:manualLayout>
      </c:layout>
      <c:lineChart>
        <c:grouping val="standard"/>
        <c:varyColors val="0"/>
        <c:ser>
          <c:idx val="2"/>
          <c:order val="0"/>
          <c:tx>
            <c:strRef>
              <c:f>Sheet1!$A$2</c:f>
              <c:strCache>
                <c:ptCount val="1"/>
                <c:pt idx="0">
                  <c:v>USA</c:v>
                </c:pt>
              </c:strCache>
            </c:strRef>
          </c:tx>
          <c:spPr>
            <a:ln w="41912">
              <a:solidFill>
                <a:srgbClr val="800080"/>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Sheet1!$B$2:$AB$2</c:f>
              <c:numCache>
                <c:formatCode>0.00</c:formatCode>
                <c:ptCount val="27"/>
                <c:pt idx="0">
                  <c:v>100.00000000000001</c:v>
                </c:pt>
                <c:pt idx="1">
                  <c:v>102.42165242165244</c:v>
                </c:pt>
                <c:pt idx="2">
                  <c:v>103.988603988604</c:v>
                </c:pt>
                <c:pt idx="3">
                  <c:v>106.26780626780626</c:v>
                </c:pt>
                <c:pt idx="4">
                  <c:v>109.40170940170941</c:v>
                </c:pt>
                <c:pt idx="5">
                  <c:v>112.39316239316241</c:v>
                </c:pt>
                <c:pt idx="6">
                  <c:v>114.95726495726497</c:v>
                </c:pt>
                <c:pt idx="7">
                  <c:v>118.0911680911681</c:v>
                </c:pt>
                <c:pt idx="8">
                  <c:v>121.65242165242167</c:v>
                </c:pt>
                <c:pt idx="9">
                  <c:v>124.78632478632478</c:v>
                </c:pt>
                <c:pt idx="10">
                  <c:v>127.4928774928775</c:v>
                </c:pt>
                <c:pt idx="11">
                  <c:v>128.63247863247864</c:v>
                </c:pt>
                <c:pt idx="12">
                  <c:v>130.48433048433048</c:v>
                </c:pt>
                <c:pt idx="13">
                  <c:v>132.19373219373219</c:v>
                </c:pt>
                <c:pt idx="14">
                  <c:v>136.32478632478634</c:v>
                </c:pt>
                <c:pt idx="15">
                  <c:v>139.8860398860399</c:v>
                </c:pt>
                <c:pt idx="16">
                  <c:v>140.02849002849004</c:v>
                </c:pt>
                <c:pt idx="17">
                  <c:v>140.59829059829062</c:v>
                </c:pt>
                <c:pt idx="18">
                  <c:v>141.16809116809117</c:v>
                </c:pt>
                <c:pt idx="19">
                  <c:v>141.5954415954416</c:v>
                </c:pt>
                <c:pt idx="20">
                  <c:v>142.45014245014247</c:v>
                </c:pt>
                <c:pt idx="21">
                  <c:v>142.87749287749287</c:v>
                </c:pt>
                <c:pt idx="22">
                  <c:v>144.30199430199431</c:v>
                </c:pt>
                <c:pt idx="23">
                  <c:v>145.72649572649573</c:v>
                </c:pt>
                <c:pt idx="24">
                  <c:v>147.57834757834758</c:v>
                </c:pt>
                <c:pt idx="25">
                  <c:v>151.42450142450144</c:v>
                </c:pt>
              </c:numCache>
            </c:numRef>
          </c:val>
          <c:smooth val="0"/>
          <c:extLst>
            <c:ext xmlns:c16="http://schemas.microsoft.com/office/drawing/2014/chart" uri="{C3380CC4-5D6E-409C-BE32-E72D297353CC}">
              <c16:uniqueId val="{00000000-A440-4479-872C-E4AC057B1F21}"/>
            </c:ext>
          </c:extLst>
        </c:ser>
        <c:ser>
          <c:idx val="10"/>
          <c:order val="1"/>
          <c:tx>
            <c:strRef>
              <c:f>Sheet1!$A$3</c:f>
              <c:strCache>
                <c:ptCount val="1"/>
                <c:pt idx="0">
                  <c:v>Germany</c:v>
                </c:pt>
              </c:strCache>
            </c:strRef>
          </c:tx>
          <c:spPr>
            <a:ln w="41912">
              <a:solidFill>
                <a:srgbClr val="008000"/>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Sheet1!$B$3:$AB$3</c:f>
              <c:numCache>
                <c:formatCode>0.00</c:formatCode>
                <c:ptCount val="27"/>
                <c:pt idx="0">
                  <c:v>99.999999999999986</c:v>
                </c:pt>
                <c:pt idx="1">
                  <c:v>101.75438596491227</c:v>
                </c:pt>
                <c:pt idx="2">
                  <c:v>104.26065162907268</c:v>
                </c:pt>
                <c:pt idx="3">
                  <c:v>105.26315789473684</c:v>
                </c:pt>
                <c:pt idx="4">
                  <c:v>106.51629072681703</c:v>
                </c:pt>
                <c:pt idx="5">
                  <c:v>109.14786967418546</c:v>
                </c:pt>
                <c:pt idx="6">
                  <c:v>111.9047619047619</c:v>
                </c:pt>
                <c:pt idx="7">
                  <c:v>112.90726817042605</c:v>
                </c:pt>
                <c:pt idx="8">
                  <c:v>113.7844611528822</c:v>
                </c:pt>
                <c:pt idx="9">
                  <c:v>114.78696741854635</c:v>
                </c:pt>
                <c:pt idx="10">
                  <c:v>116.54135338345864</c:v>
                </c:pt>
                <c:pt idx="11">
                  <c:v>118.42105263157895</c:v>
                </c:pt>
                <c:pt idx="12">
                  <c:v>119.92481203007519</c:v>
                </c:pt>
                <c:pt idx="13">
                  <c:v>119.92481203007519</c:v>
                </c:pt>
                <c:pt idx="14">
                  <c:v>116.2907268170426</c:v>
                </c:pt>
                <c:pt idx="15">
                  <c:v>118.92230576441102</c:v>
                </c:pt>
                <c:pt idx="16">
                  <c:v>122.05513784461154</c:v>
                </c:pt>
                <c:pt idx="17">
                  <c:v>122.80701754385964</c:v>
                </c:pt>
                <c:pt idx="18">
                  <c:v>123.43358395989975</c:v>
                </c:pt>
                <c:pt idx="19">
                  <c:v>124.68671679197995</c:v>
                </c:pt>
                <c:pt idx="20">
                  <c:v>125.31328320802004</c:v>
                </c:pt>
                <c:pt idx="21">
                  <c:v>127.06766917293233</c:v>
                </c:pt>
                <c:pt idx="22">
                  <c:v>129.32330827067668</c:v>
                </c:pt>
                <c:pt idx="23">
                  <c:v>129.32330827067668</c:v>
                </c:pt>
                <c:pt idx="24">
                  <c:v>129.82456140350877</c:v>
                </c:pt>
                <c:pt idx="25">
                  <c:v>130.32581453634086</c:v>
                </c:pt>
                <c:pt idx="26">
                  <c:v>131.45363408521303</c:v>
                </c:pt>
              </c:numCache>
            </c:numRef>
          </c:val>
          <c:smooth val="0"/>
          <c:extLst>
            <c:ext xmlns:c16="http://schemas.microsoft.com/office/drawing/2014/chart" uri="{C3380CC4-5D6E-409C-BE32-E72D297353CC}">
              <c16:uniqueId val="{00000001-A440-4479-872C-E4AC057B1F21}"/>
            </c:ext>
          </c:extLst>
        </c:ser>
        <c:ser>
          <c:idx val="7"/>
          <c:order val="2"/>
          <c:tx>
            <c:strRef>
              <c:f>Sheet1!$A$4</c:f>
              <c:strCache>
                <c:ptCount val="1"/>
                <c:pt idx="0">
                  <c:v>France</c:v>
                </c:pt>
              </c:strCache>
            </c:strRef>
          </c:tx>
          <c:spPr>
            <a:ln w="41912">
              <a:solidFill>
                <a:srgbClr val="0000FF"/>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Sheet1!$B$4:$AB$4</c:f>
              <c:numCache>
                <c:formatCode>0.00</c:formatCode>
                <c:ptCount val="27"/>
                <c:pt idx="0">
                  <c:v>99.999999999999986</c:v>
                </c:pt>
                <c:pt idx="1">
                  <c:v>101.12781954887218</c:v>
                </c:pt>
                <c:pt idx="2">
                  <c:v>102.75689223057644</c:v>
                </c:pt>
                <c:pt idx="3">
                  <c:v>105.38847117794485</c:v>
                </c:pt>
                <c:pt idx="4">
                  <c:v>106.89223057644109</c:v>
                </c:pt>
                <c:pt idx="5">
                  <c:v>109.64912280701753</c:v>
                </c:pt>
                <c:pt idx="6">
                  <c:v>111.77944862155388</c:v>
                </c:pt>
                <c:pt idx="7">
                  <c:v>115.0375939849624</c:v>
                </c:pt>
                <c:pt idx="8">
                  <c:v>115.66416040100249</c:v>
                </c:pt>
                <c:pt idx="9">
                  <c:v>116.9172932330827</c:v>
                </c:pt>
                <c:pt idx="10">
                  <c:v>117.91979949874685</c:v>
                </c:pt>
                <c:pt idx="11">
                  <c:v>120.92731829573934</c:v>
                </c:pt>
                <c:pt idx="12">
                  <c:v>120.30075187969925</c:v>
                </c:pt>
                <c:pt idx="13">
                  <c:v>119.54887218045113</c:v>
                </c:pt>
                <c:pt idx="14">
                  <c:v>118.29573934837093</c:v>
                </c:pt>
                <c:pt idx="15">
                  <c:v>119.92481203007519</c:v>
                </c:pt>
                <c:pt idx="16">
                  <c:v>121.05263157894736</c:v>
                </c:pt>
                <c:pt idx="17">
                  <c:v>121.42857142857143</c:v>
                </c:pt>
                <c:pt idx="18">
                  <c:v>123.05764411027569</c:v>
                </c:pt>
                <c:pt idx="19">
                  <c:v>124.31077694235589</c:v>
                </c:pt>
                <c:pt idx="20">
                  <c:v>125.31328320802004</c:v>
                </c:pt>
                <c:pt idx="21">
                  <c:v>125.6892230576441</c:v>
                </c:pt>
                <c:pt idx="22">
                  <c:v>128.32080200501252</c:v>
                </c:pt>
                <c:pt idx="23">
                  <c:v>128.82205513784461</c:v>
                </c:pt>
                <c:pt idx="24">
                  <c:v>129.32330827067668</c:v>
                </c:pt>
                <c:pt idx="25">
                  <c:v>129.82456140350877</c:v>
                </c:pt>
                <c:pt idx="26">
                  <c:v>128.82205513784461</c:v>
                </c:pt>
              </c:numCache>
            </c:numRef>
          </c:val>
          <c:smooth val="0"/>
          <c:extLst>
            <c:ext xmlns:c16="http://schemas.microsoft.com/office/drawing/2014/chart" uri="{C3380CC4-5D6E-409C-BE32-E72D297353CC}">
              <c16:uniqueId val="{00000002-A440-4479-872C-E4AC057B1F21}"/>
            </c:ext>
          </c:extLst>
        </c:ser>
        <c:ser>
          <c:idx val="8"/>
          <c:order val="3"/>
          <c:tx>
            <c:strRef>
              <c:f>Sheet1!$A$5</c:f>
              <c:strCache>
                <c:ptCount val="1"/>
                <c:pt idx="0">
                  <c:v>Eurozone</c:v>
                </c:pt>
              </c:strCache>
            </c:strRef>
          </c:tx>
          <c:spPr>
            <a:ln w="41912">
              <a:solidFill>
                <a:srgbClr val="808080"/>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Sheet1!$B$5:$AB$5</c:f>
              <c:numCache>
                <c:formatCode>0.00</c:formatCode>
                <c:ptCount val="27"/>
                <c:pt idx="0">
                  <c:v>99.999999999999986</c:v>
                </c:pt>
                <c:pt idx="1">
                  <c:v>101.10974106041922</c:v>
                </c:pt>
                <c:pt idx="2">
                  <c:v>103.08261405672009</c:v>
                </c:pt>
                <c:pt idx="3">
                  <c:v>104.06905055487053</c:v>
                </c:pt>
                <c:pt idx="4">
                  <c:v>105.54870530209617</c:v>
                </c:pt>
                <c:pt idx="5">
                  <c:v>108.13810110974106</c:v>
                </c:pt>
                <c:pt idx="6">
                  <c:v>109.74106041923551</c:v>
                </c:pt>
                <c:pt idx="7">
                  <c:v>110.60419235511714</c:v>
                </c:pt>
                <c:pt idx="8">
                  <c:v>111.09741060419235</c:v>
                </c:pt>
                <c:pt idx="9">
                  <c:v>112.4537607891492</c:v>
                </c:pt>
                <c:pt idx="10">
                  <c:v>113.44019728729963</c:v>
                </c:pt>
                <c:pt idx="11">
                  <c:v>115.04315659679408</c:v>
                </c:pt>
                <c:pt idx="12">
                  <c:v>116.15289765721332</c:v>
                </c:pt>
                <c:pt idx="13">
                  <c:v>115.9062885326757</c:v>
                </c:pt>
                <c:pt idx="14">
                  <c:v>114.54993834771886</c:v>
                </c:pt>
                <c:pt idx="15">
                  <c:v>117.50924784217015</c:v>
                </c:pt>
                <c:pt idx="16">
                  <c:v>119.23551171393341</c:v>
                </c:pt>
                <c:pt idx="17">
                  <c:v>119.97533908754623</c:v>
                </c:pt>
                <c:pt idx="18">
                  <c:v>121.08508014796547</c:v>
                </c:pt>
                <c:pt idx="19">
                  <c:v>121.9482120838471</c:v>
                </c:pt>
                <c:pt idx="20">
                  <c:v>123.30456226880393</c:v>
                </c:pt>
                <c:pt idx="21">
                  <c:v>123.67447595561035</c:v>
                </c:pt>
                <c:pt idx="22">
                  <c:v>125.5240443896424</c:v>
                </c:pt>
                <c:pt idx="23">
                  <c:v>125.64734895191123</c:v>
                </c:pt>
                <c:pt idx="24">
                  <c:v>126.38717632552404</c:v>
                </c:pt>
                <c:pt idx="25">
                  <c:v>128.3600493218249</c:v>
                </c:pt>
                <c:pt idx="26">
                  <c:v>128.3600493218249</c:v>
                </c:pt>
              </c:numCache>
            </c:numRef>
          </c:val>
          <c:smooth val="0"/>
          <c:extLst>
            <c:ext xmlns:c16="http://schemas.microsoft.com/office/drawing/2014/chart" uri="{C3380CC4-5D6E-409C-BE32-E72D297353CC}">
              <c16:uniqueId val="{00000003-A440-4479-872C-E4AC057B1F21}"/>
            </c:ext>
          </c:extLst>
        </c:ser>
        <c:ser>
          <c:idx val="9"/>
          <c:order val="4"/>
          <c:tx>
            <c:strRef>
              <c:f>Sheet1!$A$6</c:f>
              <c:strCache>
                <c:ptCount val="1"/>
                <c:pt idx="0">
                  <c:v>UK</c:v>
                </c:pt>
              </c:strCache>
            </c:strRef>
          </c:tx>
          <c:spPr>
            <a:ln w="41912">
              <a:solidFill>
                <a:srgbClr val="FF0000"/>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Sheet1!$B$6:$AB$6</c:f>
              <c:numCache>
                <c:formatCode>0.00</c:formatCode>
                <c:ptCount val="27"/>
                <c:pt idx="0">
                  <c:v>100</c:v>
                </c:pt>
                <c:pt idx="1">
                  <c:v>101.56046814044213</c:v>
                </c:pt>
                <c:pt idx="2">
                  <c:v>104.68140442132639</c:v>
                </c:pt>
                <c:pt idx="3">
                  <c:v>107.15214564369312</c:v>
                </c:pt>
                <c:pt idx="4">
                  <c:v>109.36280884265278</c:v>
                </c:pt>
                <c:pt idx="5">
                  <c:v>113.26397919375812</c:v>
                </c:pt>
                <c:pt idx="6">
                  <c:v>114.30429128738622</c:v>
                </c:pt>
                <c:pt idx="7">
                  <c:v>117.16514954486345</c:v>
                </c:pt>
                <c:pt idx="8">
                  <c:v>120.28608582574772</c:v>
                </c:pt>
                <c:pt idx="9">
                  <c:v>121.71651495448634</c:v>
                </c:pt>
                <c:pt idx="10">
                  <c:v>122.75682704811445</c:v>
                </c:pt>
                <c:pt idx="11">
                  <c:v>125.35760728218466</c:v>
                </c:pt>
                <c:pt idx="12">
                  <c:v>126.65799739921977</c:v>
                </c:pt>
                <c:pt idx="13">
                  <c:v>126.65799739921977</c:v>
                </c:pt>
                <c:pt idx="14">
                  <c:v>123.92717815344602</c:v>
                </c:pt>
                <c:pt idx="15">
                  <c:v>127.0481144343303</c:v>
                </c:pt>
                <c:pt idx="16">
                  <c:v>127.56827048114434</c:v>
                </c:pt>
                <c:pt idx="17">
                  <c:v>126.78803641092327</c:v>
                </c:pt>
                <c:pt idx="18">
                  <c:v>127.43823146944084</c:v>
                </c:pt>
                <c:pt idx="19">
                  <c:v>127.43823146944084</c:v>
                </c:pt>
                <c:pt idx="20">
                  <c:v>130.03901170351105</c:v>
                </c:pt>
                <c:pt idx="21">
                  <c:v>129.64889466840052</c:v>
                </c:pt>
                <c:pt idx="22">
                  <c:v>131.59947984395319</c:v>
                </c:pt>
                <c:pt idx="23">
                  <c:v>132.11963589076723</c:v>
                </c:pt>
                <c:pt idx="24">
                  <c:v>132.8998699609883</c:v>
                </c:pt>
                <c:pt idx="25">
                  <c:v>136.54096228868661</c:v>
                </c:pt>
              </c:numCache>
            </c:numRef>
          </c:val>
          <c:smooth val="0"/>
          <c:extLst>
            <c:ext xmlns:c16="http://schemas.microsoft.com/office/drawing/2014/chart" uri="{C3380CC4-5D6E-409C-BE32-E72D297353CC}">
              <c16:uniqueId val="{00000004-A440-4479-872C-E4AC057B1F21}"/>
            </c:ext>
          </c:extLst>
        </c:ser>
        <c:ser>
          <c:idx val="0"/>
          <c:order val="5"/>
          <c:tx>
            <c:strRef>
              <c:f>Sheet1!$A$7</c:f>
              <c:strCache>
                <c:ptCount val="1"/>
                <c:pt idx="0">
                  <c:v>Japan</c:v>
                </c:pt>
              </c:strCache>
            </c:strRef>
          </c:tx>
          <c:spPr>
            <a:ln w="41912">
              <a:solidFill>
                <a:srgbClr val="D07C00"/>
              </a:solidFill>
              <a:prstDash val="solid"/>
            </a:ln>
          </c:spPr>
          <c:marker>
            <c:symbol val="none"/>
          </c:marker>
          <c:cat>
            <c:numRef>
              <c:f>Sheet1!$B$1:$AB$1</c:f>
              <c:numCache>
                <c:formatCode>General</c:formatCode>
                <c:ptCount val="27"/>
                <c:pt idx="0">
                  <c:v>1995</c:v>
                </c:pt>
                <c:pt idx="1">
                  <c:v>1996</c:v>
                </c:pt>
                <c:pt idx="2">
                  <c:v>1997</c:v>
                </c:pt>
                <c:pt idx="3">
                  <c:v>1998</c:v>
                </c:pt>
                <c:pt idx="4">
                  <c:v>1999</c:v>
                </c:pt>
                <c:pt idx="5">
                  <c:v>2000</c:v>
                </c:pt>
                <c:pt idx="6">
                  <c:v>2001</c:v>
                </c:pt>
                <c:pt idx="7">
                  <c:v>2002</c:v>
                </c:pt>
                <c:pt idx="8">
                  <c:v>2003</c:v>
                </c:pt>
                <c:pt idx="9">
                  <c:v>2004</c:v>
                </c:pt>
                <c:pt idx="10">
                  <c:v>2005</c:v>
                </c:pt>
                <c:pt idx="11">
                  <c:v>2006</c:v>
                </c:pt>
                <c:pt idx="12">
                  <c:v>2007</c:v>
                </c:pt>
                <c:pt idx="13">
                  <c:v>2008</c:v>
                </c:pt>
                <c:pt idx="14">
                  <c:v>2009</c:v>
                </c:pt>
                <c:pt idx="15">
                  <c:v>2010</c:v>
                </c:pt>
                <c:pt idx="16">
                  <c:v>2011</c:v>
                </c:pt>
                <c:pt idx="17">
                  <c:v>2012</c:v>
                </c:pt>
                <c:pt idx="18">
                  <c:v>2013</c:v>
                </c:pt>
                <c:pt idx="19">
                  <c:v>2014</c:v>
                </c:pt>
                <c:pt idx="20">
                  <c:v>2015</c:v>
                </c:pt>
                <c:pt idx="21">
                  <c:v>2016</c:v>
                </c:pt>
                <c:pt idx="22">
                  <c:v>2017</c:v>
                </c:pt>
                <c:pt idx="23">
                  <c:v>2018</c:v>
                </c:pt>
                <c:pt idx="24">
                  <c:v>2019</c:v>
                </c:pt>
                <c:pt idx="25">
                  <c:v>2020</c:v>
                </c:pt>
                <c:pt idx="26">
                  <c:v>2021</c:v>
                </c:pt>
              </c:numCache>
            </c:numRef>
          </c:cat>
          <c:val>
            <c:numRef>
              <c:f>Sheet1!$B$7:$AB$7</c:f>
              <c:numCache>
                <c:formatCode>0.00</c:formatCode>
                <c:ptCount val="27"/>
                <c:pt idx="0">
                  <c:v>100</c:v>
                </c:pt>
                <c:pt idx="1">
                  <c:v>102.64200792602378</c:v>
                </c:pt>
                <c:pt idx="2">
                  <c:v>104.35931307793923</c:v>
                </c:pt>
                <c:pt idx="3">
                  <c:v>105.54821664464994</c:v>
                </c:pt>
                <c:pt idx="4">
                  <c:v>108.58652575957728</c:v>
                </c:pt>
                <c:pt idx="5">
                  <c:v>111.62483487450463</c:v>
                </c:pt>
                <c:pt idx="6">
                  <c:v>113.34214002642007</c:v>
                </c:pt>
                <c:pt idx="7">
                  <c:v>115.3236459709379</c:v>
                </c:pt>
                <c:pt idx="8">
                  <c:v>117.04095112285336</c:v>
                </c:pt>
                <c:pt idx="9">
                  <c:v>119.68295904887714</c:v>
                </c:pt>
                <c:pt idx="10">
                  <c:v>121.66446499339497</c:v>
                </c:pt>
                <c:pt idx="11">
                  <c:v>121.92866578599735</c:v>
                </c:pt>
                <c:pt idx="12">
                  <c:v>122.7212681638045</c:v>
                </c:pt>
                <c:pt idx="13">
                  <c:v>122.32496697490092</c:v>
                </c:pt>
                <c:pt idx="14">
                  <c:v>120.60766182298546</c:v>
                </c:pt>
                <c:pt idx="15">
                  <c:v>124.30647291941875</c:v>
                </c:pt>
                <c:pt idx="16">
                  <c:v>125.09907529722589</c:v>
                </c:pt>
                <c:pt idx="17">
                  <c:v>126.42007926023778</c:v>
                </c:pt>
                <c:pt idx="18">
                  <c:v>129.32628797886395</c:v>
                </c:pt>
                <c:pt idx="19">
                  <c:v>129.45838837516513</c:v>
                </c:pt>
                <c:pt idx="20">
                  <c:v>132.10039630118891</c:v>
                </c:pt>
                <c:pt idx="21">
                  <c:v>132.23249669749009</c:v>
                </c:pt>
                <c:pt idx="22">
                  <c:v>133.4214002642008</c:v>
                </c:pt>
                <c:pt idx="23">
                  <c:v>134.21400264200793</c:v>
                </c:pt>
                <c:pt idx="24">
                  <c:v>135.53500660501982</c:v>
                </c:pt>
                <c:pt idx="25">
                  <c:v>137.25231175693528</c:v>
                </c:pt>
              </c:numCache>
            </c:numRef>
          </c:val>
          <c:smooth val="0"/>
          <c:extLst>
            <c:ext xmlns:c16="http://schemas.microsoft.com/office/drawing/2014/chart" uri="{C3380CC4-5D6E-409C-BE32-E72D297353CC}">
              <c16:uniqueId val="{00000005-A440-4479-872C-E4AC057B1F21}"/>
            </c:ext>
          </c:extLst>
        </c:ser>
        <c:dLbls>
          <c:showLegendKey val="0"/>
          <c:showVal val="0"/>
          <c:showCatName val="0"/>
          <c:showSerName val="0"/>
          <c:showPercent val="0"/>
          <c:showBubbleSize val="0"/>
        </c:dLbls>
        <c:smooth val="0"/>
        <c:axId val="200003600"/>
        <c:axId val="1"/>
      </c:lineChart>
      <c:catAx>
        <c:axId val="200003600"/>
        <c:scaling>
          <c:orientation val="minMax"/>
        </c:scaling>
        <c:delete val="0"/>
        <c:axPos val="b"/>
        <c:numFmt formatCode="General" sourceLinked="1"/>
        <c:majorTickMark val="out"/>
        <c:minorTickMark val="none"/>
        <c:tickLblPos val="nextTo"/>
        <c:spPr>
          <a:ln w="13971">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60"/>
        <c:auto val="0"/>
        <c:lblAlgn val="ctr"/>
        <c:lblOffset val="100"/>
        <c:tickLblSkip val="5"/>
        <c:tickMarkSkip val="1"/>
        <c:noMultiLvlLbl val="0"/>
      </c:catAx>
      <c:valAx>
        <c:axId val="1"/>
        <c:scaling>
          <c:orientation val="minMax"/>
          <c:max val="155"/>
          <c:min val="100"/>
        </c:scaling>
        <c:delete val="0"/>
        <c:axPos val="l"/>
        <c:majorGridlines>
          <c:spPr>
            <a:ln w="9525">
              <a:solidFill>
                <a:srgbClr val="808080"/>
              </a:solidFill>
              <a:prstDash val="solid"/>
            </a:ln>
          </c:spPr>
        </c:majorGridlines>
        <c:title>
          <c:tx>
            <c:rich>
              <a:bodyPr/>
              <a:lstStyle/>
              <a:p>
                <a:pPr>
                  <a:defRPr sz="2000" b="0" i="0" u="none" strike="noStrike" baseline="0">
                    <a:solidFill>
                      <a:schemeClr val="tx1"/>
                    </a:solidFill>
                    <a:latin typeface="Arial"/>
                    <a:ea typeface="Arial"/>
                    <a:cs typeface="Arial"/>
                  </a:defRPr>
                </a:pPr>
                <a:r>
                  <a:rPr lang="en-GB" sz="2000" dirty="0"/>
                  <a:t>GDP per hour worked (1995 = 100)</a:t>
                </a:r>
              </a:p>
            </c:rich>
          </c:tx>
          <c:layout>
            <c:manualLayout>
              <c:xMode val="edge"/>
              <c:yMode val="edge"/>
              <c:x val="2.295382217847769E-2"/>
              <c:y val="0.10291444988295383"/>
            </c:manualLayout>
          </c:layout>
          <c:overlay val="0"/>
          <c:spPr>
            <a:noFill/>
            <a:ln w="27941">
              <a:noFill/>
            </a:ln>
          </c:spPr>
        </c:title>
        <c:numFmt formatCode="#,##0_ ;\-#,##0\ " sourceLinked="0"/>
        <c:majorTickMark val="out"/>
        <c:minorTickMark val="none"/>
        <c:tickLblPos val="nextTo"/>
        <c:spPr>
          <a:ln w="13971">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200003600"/>
        <c:crosses val="autoZero"/>
        <c:crossBetween val="midCat"/>
        <c:majorUnit val="10"/>
      </c:valAx>
      <c:spPr>
        <a:noFill/>
        <a:ln w="25400">
          <a:noFill/>
        </a:ln>
      </c:spPr>
    </c:plotArea>
    <c:legend>
      <c:legendPos val="r"/>
      <c:legendEntry>
        <c:idx val="0"/>
        <c:txPr>
          <a:bodyPr/>
          <a:lstStyle/>
          <a:p>
            <a:pPr>
              <a:defRPr sz="1800" b="0" i="0" u="none" strike="noStrike" baseline="0">
                <a:solidFill>
                  <a:srgbClr val="800080"/>
                </a:solidFill>
                <a:latin typeface="Arial"/>
                <a:ea typeface="Arial"/>
                <a:cs typeface="Arial"/>
              </a:defRPr>
            </a:pPr>
            <a:endParaRPr lang="en-US"/>
          </a:p>
        </c:txPr>
      </c:legendEntry>
      <c:legendEntry>
        <c:idx val="1"/>
        <c:txPr>
          <a:bodyPr/>
          <a:lstStyle/>
          <a:p>
            <a:pPr>
              <a:defRPr sz="1800" b="0" i="0" u="none" strike="noStrike" baseline="0">
                <a:solidFill>
                  <a:srgbClr val="008000"/>
                </a:solidFill>
                <a:latin typeface="Arial"/>
                <a:ea typeface="Arial"/>
                <a:cs typeface="Arial"/>
              </a:defRPr>
            </a:pPr>
            <a:endParaRPr lang="en-US"/>
          </a:p>
        </c:txPr>
      </c:legendEntry>
      <c:legendEntry>
        <c:idx val="2"/>
        <c:txPr>
          <a:bodyPr/>
          <a:lstStyle/>
          <a:p>
            <a:pPr>
              <a:defRPr sz="1800" b="0" i="0" u="none" strike="noStrike" baseline="0">
                <a:solidFill>
                  <a:srgbClr val="0000FF"/>
                </a:solidFill>
                <a:latin typeface="Arial"/>
                <a:ea typeface="Arial"/>
                <a:cs typeface="Arial"/>
              </a:defRPr>
            </a:pPr>
            <a:endParaRPr lang="en-US"/>
          </a:p>
        </c:txPr>
      </c:legendEntry>
      <c:legendEntry>
        <c:idx val="3"/>
        <c:txPr>
          <a:bodyPr/>
          <a:lstStyle/>
          <a:p>
            <a:pPr>
              <a:defRPr sz="1800" b="0" i="0" u="none" strike="noStrike" baseline="0">
                <a:solidFill>
                  <a:srgbClr val="424242"/>
                </a:solidFill>
                <a:latin typeface="Arial"/>
                <a:ea typeface="Arial"/>
                <a:cs typeface="Arial"/>
              </a:defRPr>
            </a:pPr>
            <a:endParaRPr lang="en-US"/>
          </a:p>
        </c:txPr>
      </c:legendEntry>
      <c:legendEntry>
        <c:idx val="4"/>
        <c:txPr>
          <a:bodyPr/>
          <a:lstStyle/>
          <a:p>
            <a:pPr>
              <a:defRPr sz="1800" b="0" i="0" u="none" strike="noStrike" baseline="0">
                <a:solidFill>
                  <a:srgbClr val="FF0000"/>
                </a:solidFill>
                <a:latin typeface="Arial"/>
                <a:ea typeface="Arial"/>
                <a:cs typeface="Arial"/>
              </a:defRPr>
            </a:pPr>
            <a:endParaRPr lang="en-US"/>
          </a:p>
        </c:txPr>
      </c:legendEntry>
      <c:legendEntry>
        <c:idx val="5"/>
        <c:txPr>
          <a:bodyPr/>
          <a:lstStyle/>
          <a:p>
            <a:pPr>
              <a:defRPr sz="1800" b="0" i="0" u="none" strike="noStrike" baseline="0">
                <a:solidFill>
                  <a:srgbClr val="D07C00"/>
                </a:solidFill>
                <a:latin typeface="Arial"/>
                <a:ea typeface="Arial"/>
                <a:cs typeface="Arial"/>
              </a:defRPr>
            </a:pPr>
            <a:endParaRPr lang="en-US"/>
          </a:p>
        </c:txPr>
      </c:legendEntry>
      <c:layout>
        <c:manualLayout>
          <c:xMode val="edge"/>
          <c:yMode val="edge"/>
          <c:x val="0.13212245734908137"/>
          <c:y val="5.2171561325104629E-2"/>
          <c:w val="0.35819881889763777"/>
          <c:h val="0.16297811591118677"/>
        </c:manualLayout>
      </c:layout>
      <c:overlay val="0"/>
      <c:spPr>
        <a:solidFill>
          <a:srgbClr val="EFF0F7"/>
        </a:solidFill>
        <a:ln w="15875">
          <a:solidFill>
            <a:srgbClr val="800080"/>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1980" b="1" i="0" u="none" strike="noStrike" baseline="0">
          <a:solidFill>
            <a:schemeClr val="tx1"/>
          </a:solidFill>
          <a:latin typeface="Arial"/>
          <a:ea typeface="Arial"/>
          <a:cs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64607308701796"/>
          <c:y val="5.1861759230491376E-2"/>
          <c:w val="0.84918544316575817"/>
          <c:h val="0.83965689516866737"/>
        </c:manualLayout>
      </c:layout>
      <c:lineChart>
        <c:grouping val="standard"/>
        <c:varyColors val="0"/>
        <c:ser>
          <c:idx val="2"/>
          <c:order val="0"/>
          <c:tx>
            <c:strRef>
              <c:f>Sheet1!$A$2</c:f>
              <c:strCache>
                <c:ptCount val="1"/>
                <c:pt idx="0">
                  <c:v>USA</c:v>
                </c:pt>
              </c:strCache>
            </c:strRef>
          </c:tx>
          <c:spPr>
            <a:ln w="43489">
              <a:solidFill>
                <a:srgbClr val="960096"/>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Sheet1!$B$2:$AF$2</c:f>
              <c:numCache>
                <c:formatCode>General</c:formatCode>
                <c:ptCount val="31"/>
                <c:pt idx="0">
                  <c:v>123.20759901572509</c:v>
                </c:pt>
                <c:pt idx="1">
                  <c:v>122.33508153547857</c:v>
                </c:pt>
                <c:pt idx="2">
                  <c:v>120.78088805716818</c:v>
                </c:pt>
                <c:pt idx="3">
                  <c:v>116.95985758569051</c:v>
                </c:pt>
                <c:pt idx="4">
                  <c:v>115.13024834315064</c:v>
                </c:pt>
                <c:pt idx="5">
                  <c:v>113.79085643568405</c:v>
                </c:pt>
                <c:pt idx="6">
                  <c:v>112.20760852098522</c:v>
                </c:pt>
                <c:pt idx="7">
                  <c:v>112.05518084553472</c:v>
                </c:pt>
                <c:pt idx="8">
                  <c:v>113.29763691108677</c:v>
                </c:pt>
                <c:pt idx="9">
                  <c:v>115.0683681265173</c:v>
                </c:pt>
                <c:pt idx="10">
                  <c:v>111.55619669598205</c:v>
                </c:pt>
                <c:pt idx="11">
                  <c:v>111.82456283455895</c:v>
                </c:pt>
                <c:pt idx="12">
                  <c:v>110.69570828041839</c:v>
                </c:pt>
                <c:pt idx="13">
                  <c:v>111.27671097663416</c:v>
                </c:pt>
                <c:pt idx="14">
                  <c:v>111.60850145212844</c:v>
                </c:pt>
                <c:pt idx="15">
                  <c:v>116.28678156140606</c:v>
                </c:pt>
                <c:pt idx="16">
                  <c:v>113.4237519966466</c:v>
                </c:pt>
                <c:pt idx="17">
                  <c:v>115.729634799972</c:v>
                </c:pt>
                <c:pt idx="18">
                  <c:v>114.53752676256339</c:v>
                </c:pt>
                <c:pt idx="19">
                  <c:v>120.90306405420917</c:v>
                </c:pt>
                <c:pt idx="20">
                  <c:v>119.54658680985494</c:v>
                </c:pt>
                <c:pt idx="21">
                  <c:v>119.75671394116223</c:v>
                </c:pt>
                <c:pt idx="22">
                  <c:v>120.57099200185513</c:v>
                </c:pt>
                <c:pt idx="23">
                  <c:v>118.79802626508942</c:v>
                </c:pt>
                <c:pt idx="24">
                  <c:v>120.01564859391532</c:v>
                </c:pt>
                <c:pt idx="25">
                  <c:v>117.89015001537496</c:v>
                </c:pt>
                <c:pt idx="26">
                  <c:v>116.84645321839395</c:v>
                </c:pt>
                <c:pt idx="27">
                  <c:v>115.67585779020213</c:v>
                </c:pt>
                <c:pt idx="28">
                  <c:v>117.34653323466091</c:v>
                </c:pt>
                <c:pt idx="29">
                  <c:v>117.9826134411713</c:v>
                </c:pt>
                <c:pt idx="30">
                  <c:v>113.34051051652381</c:v>
                </c:pt>
              </c:numCache>
            </c:numRef>
          </c:val>
          <c:smooth val="0"/>
          <c:extLst>
            <c:ext xmlns:c16="http://schemas.microsoft.com/office/drawing/2014/chart" uri="{C3380CC4-5D6E-409C-BE32-E72D297353CC}">
              <c16:uniqueId val="{00000000-133B-485A-AC4B-8E3AE3858A85}"/>
            </c:ext>
          </c:extLst>
        </c:ser>
        <c:ser>
          <c:idx val="10"/>
          <c:order val="1"/>
          <c:tx>
            <c:strRef>
              <c:f>Sheet1!$A$3</c:f>
              <c:strCache>
                <c:ptCount val="1"/>
                <c:pt idx="0">
                  <c:v>Germany</c:v>
                </c:pt>
              </c:strCache>
            </c:strRef>
          </c:tx>
          <c:spPr>
            <a:ln w="43489">
              <a:solidFill>
                <a:srgbClr val="008000"/>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Sheet1!$B$3:$AF$3</c:f>
              <c:numCache>
                <c:formatCode>General</c:formatCode>
                <c:ptCount val="31"/>
                <c:pt idx="0">
                  <c:v>115.54413216602961</c:v>
                </c:pt>
                <c:pt idx="1">
                  <c:v>117.17939660276183</c:v>
                </c:pt>
                <c:pt idx="2">
                  <c:v>114.70354946827771</c:v>
                </c:pt>
                <c:pt idx="3">
                  <c:v>112.80791497764284</c:v>
                </c:pt>
                <c:pt idx="4">
                  <c:v>112.96011585189551</c:v>
                </c:pt>
                <c:pt idx="5">
                  <c:v>113.07882713609388</c:v>
                </c:pt>
                <c:pt idx="6">
                  <c:v>110.47158386116071</c:v>
                </c:pt>
                <c:pt idx="7">
                  <c:v>109.99269780700129</c:v>
                </c:pt>
                <c:pt idx="8">
                  <c:v>109.86952452656887</c:v>
                </c:pt>
                <c:pt idx="9">
                  <c:v>110.1217780044089</c:v>
                </c:pt>
                <c:pt idx="10">
                  <c:v>104.81229490373467</c:v>
                </c:pt>
                <c:pt idx="11">
                  <c:v>105.90075730342691</c:v>
                </c:pt>
                <c:pt idx="12">
                  <c:v>104.65299299848614</c:v>
                </c:pt>
                <c:pt idx="13">
                  <c:v>104.21819604321149</c:v>
                </c:pt>
                <c:pt idx="14">
                  <c:v>103.63552287832583</c:v>
                </c:pt>
                <c:pt idx="15">
                  <c:v>104.87534996757195</c:v>
                </c:pt>
                <c:pt idx="16">
                  <c:v>103.24446841489987</c:v>
                </c:pt>
                <c:pt idx="17">
                  <c:v>105.43554318865058</c:v>
                </c:pt>
                <c:pt idx="18">
                  <c:v>104.13903123674962</c:v>
                </c:pt>
                <c:pt idx="19">
                  <c:v>105.74667927401566</c:v>
                </c:pt>
                <c:pt idx="20">
                  <c:v>104.42409351137441</c:v>
                </c:pt>
                <c:pt idx="21">
                  <c:v>108.42315678202992</c:v>
                </c:pt>
                <c:pt idx="22">
                  <c:v>109.22580791373444</c:v>
                </c:pt>
                <c:pt idx="23">
                  <c:v>109.62837493458797</c:v>
                </c:pt>
                <c:pt idx="24">
                  <c:v>112.33740976933436</c:v>
                </c:pt>
                <c:pt idx="25">
                  <c:v>109.91444156865036</c:v>
                </c:pt>
                <c:pt idx="26">
                  <c:v>114.18317089232339</c:v>
                </c:pt>
                <c:pt idx="27">
                  <c:v>114.72029353740396</c:v>
                </c:pt>
                <c:pt idx="28">
                  <c:v>116.19863879583492</c:v>
                </c:pt>
                <c:pt idx="29">
                  <c:v>113.71025719500791</c:v>
                </c:pt>
                <c:pt idx="30">
                  <c:v>109.16329142873798</c:v>
                </c:pt>
              </c:numCache>
            </c:numRef>
          </c:val>
          <c:smooth val="0"/>
          <c:extLst>
            <c:ext xmlns:c16="http://schemas.microsoft.com/office/drawing/2014/chart" uri="{C3380CC4-5D6E-409C-BE32-E72D297353CC}">
              <c16:uniqueId val="{00000001-133B-485A-AC4B-8E3AE3858A85}"/>
            </c:ext>
          </c:extLst>
        </c:ser>
        <c:ser>
          <c:idx val="7"/>
          <c:order val="2"/>
          <c:tx>
            <c:strRef>
              <c:f>Sheet1!$A$4</c:f>
              <c:strCache>
                <c:ptCount val="1"/>
                <c:pt idx="0">
                  <c:v>France</c:v>
                </c:pt>
              </c:strCache>
            </c:strRef>
          </c:tx>
          <c:spPr>
            <a:ln w="43489">
              <a:solidFill>
                <a:srgbClr val="0000FF"/>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Sheet1!$B$4:$AF$4</c:f>
              <c:numCache>
                <c:formatCode>General</c:formatCode>
                <c:ptCount val="31"/>
                <c:pt idx="0">
                  <c:v>117.53964002092428</c:v>
                </c:pt>
                <c:pt idx="1">
                  <c:v>116.64141982328096</c:v>
                </c:pt>
                <c:pt idx="2">
                  <c:v>114.01468611995003</c:v>
                </c:pt>
                <c:pt idx="3">
                  <c:v>111.0124644035598</c:v>
                </c:pt>
                <c:pt idx="4">
                  <c:v>110.59384017710856</c:v>
                </c:pt>
                <c:pt idx="5">
                  <c:v>111.77933156604929</c:v>
                </c:pt>
                <c:pt idx="6">
                  <c:v>108.63542078621253</c:v>
                </c:pt>
                <c:pt idx="7">
                  <c:v>109.16691535139151</c:v>
                </c:pt>
                <c:pt idx="8">
                  <c:v>111.3043257138234</c:v>
                </c:pt>
                <c:pt idx="9">
                  <c:v>111.08162128363801</c:v>
                </c:pt>
                <c:pt idx="10">
                  <c:v>109.40606947755592</c:v>
                </c:pt>
                <c:pt idx="11">
                  <c:v>111.26414417672881</c:v>
                </c:pt>
                <c:pt idx="12">
                  <c:v>112.24487755972076</c:v>
                </c:pt>
                <c:pt idx="13">
                  <c:v>106.56717667006446</c:v>
                </c:pt>
                <c:pt idx="14">
                  <c:v>103.63860687166975</c:v>
                </c:pt>
                <c:pt idx="15">
                  <c:v>107.61945744474505</c:v>
                </c:pt>
                <c:pt idx="16">
                  <c:v>108.18229075363044</c:v>
                </c:pt>
                <c:pt idx="17">
                  <c:v>108.9091105838796</c:v>
                </c:pt>
                <c:pt idx="18">
                  <c:v>107.04189311124487</c:v>
                </c:pt>
                <c:pt idx="19">
                  <c:v>110.11416068194487</c:v>
                </c:pt>
                <c:pt idx="20">
                  <c:v>108.35462006510024</c:v>
                </c:pt>
                <c:pt idx="21">
                  <c:v>110.08646452470559</c:v>
                </c:pt>
                <c:pt idx="22">
                  <c:v>109.62522502362602</c:v>
                </c:pt>
                <c:pt idx="23">
                  <c:v>112.31426595191138</c:v>
                </c:pt>
                <c:pt idx="24">
                  <c:v>113.24855322796562</c:v>
                </c:pt>
                <c:pt idx="25">
                  <c:v>111.52036569310253</c:v>
                </c:pt>
                <c:pt idx="26">
                  <c:v>114.02189944807468</c:v>
                </c:pt>
                <c:pt idx="27">
                  <c:v>114.08417987036594</c:v>
                </c:pt>
                <c:pt idx="28">
                  <c:v>115.51594364903626</c:v>
                </c:pt>
                <c:pt idx="29">
                  <c:v>117.31051919933361</c:v>
                </c:pt>
                <c:pt idx="30">
                  <c:v>113.42949863273408</c:v>
                </c:pt>
              </c:numCache>
            </c:numRef>
          </c:val>
          <c:smooth val="0"/>
          <c:extLst>
            <c:ext xmlns:c16="http://schemas.microsoft.com/office/drawing/2014/chart" uri="{C3380CC4-5D6E-409C-BE32-E72D297353CC}">
              <c16:uniqueId val="{00000002-133B-485A-AC4B-8E3AE3858A85}"/>
            </c:ext>
          </c:extLst>
        </c:ser>
        <c:ser>
          <c:idx val="8"/>
          <c:order val="3"/>
          <c:tx>
            <c:strRef>
              <c:f>Sheet1!$A$5</c:f>
              <c:strCache>
                <c:ptCount val="1"/>
                <c:pt idx="0">
                  <c:v>Eurozone</c:v>
                </c:pt>
              </c:strCache>
            </c:strRef>
          </c:tx>
          <c:spPr>
            <a:ln w="43489">
              <a:solidFill>
                <a:srgbClr val="808080"/>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Sheet1!$B$5:$AF$5</c:f>
              <c:numCache>
                <c:formatCode>General</c:formatCode>
                <c:ptCount val="31"/>
                <c:pt idx="5">
                  <c:v>100.64947739761499</c:v>
                </c:pt>
                <c:pt idx="6">
                  <c:v>97.790179799308589</c:v>
                </c:pt>
                <c:pt idx="7">
                  <c:v>97.925093156630311</c:v>
                </c:pt>
                <c:pt idx="8">
                  <c:v>98.658399076694053</c:v>
                </c:pt>
                <c:pt idx="9">
                  <c:v>98.398776787358159</c:v>
                </c:pt>
                <c:pt idx="10">
                  <c:v>95.386562936022031</c:v>
                </c:pt>
                <c:pt idx="11">
                  <c:v>95.494853985209289</c:v>
                </c:pt>
                <c:pt idx="12">
                  <c:v>94.529220787334197</c:v>
                </c:pt>
                <c:pt idx="13">
                  <c:v>92.28089568734012</c:v>
                </c:pt>
                <c:pt idx="14">
                  <c:v>90.810273389523317</c:v>
                </c:pt>
                <c:pt idx="15">
                  <c:v>92.718931253517468</c:v>
                </c:pt>
                <c:pt idx="16">
                  <c:v>92.787001167673054</c:v>
                </c:pt>
                <c:pt idx="17">
                  <c:v>94.714118137990639</c:v>
                </c:pt>
                <c:pt idx="18">
                  <c:v>94.090886682597869</c:v>
                </c:pt>
                <c:pt idx="19">
                  <c:v>96.785077632786809</c:v>
                </c:pt>
                <c:pt idx="20">
                  <c:v>95.35024299057315</c:v>
                </c:pt>
                <c:pt idx="21">
                  <c:v>97.486544432736636</c:v>
                </c:pt>
                <c:pt idx="22">
                  <c:v>98.591350757712107</c:v>
                </c:pt>
                <c:pt idx="23">
                  <c:v>99.531672415981305</c:v>
                </c:pt>
                <c:pt idx="24">
                  <c:v>100.4629437486503</c:v>
                </c:pt>
                <c:pt idx="25">
                  <c:v>99.179828418730409</c:v>
                </c:pt>
                <c:pt idx="26">
                  <c:v>101.64786822974096</c:v>
                </c:pt>
                <c:pt idx="27">
                  <c:v>101.61003140234722</c:v>
                </c:pt>
                <c:pt idx="28">
                  <c:v>102.29562653908391</c:v>
                </c:pt>
                <c:pt idx="29">
                  <c:v>101.64116547205697</c:v>
                </c:pt>
                <c:pt idx="30">
                  <c:v>98.553375338486688</c:v>
                </c:pt>
              </c:numCache>
            </c:numRef>
          </c:val>
          <c:smooth val="0"/>
          <c:extLst>
            <c:ext xmlns:c16="http://schemas.microsoft.com/office/drawing/2014/chart" uri="{C3380CC4-5D6E-409C-BE32-E72D297353CC}">
              <c16:uniqueId val="{00000003-133B-485A-AC4B-8E3AE3858A85}"/>
            </c:ext>
          </c:extLst>
        </c:ser>
        <c:ser>
          <c:idx val="9"/>
          <c:order val="4"/>
          <c:tx>
            <c:strRef>
              <c:f>Sheet1!$A$6</c:f>
              <c:strCache>
                <c:ptCount val="1"/>
                <c:pt idx="0">
                  <c:v>UK</c:v>
                </c:pt>
              </c:strCache>
            </c:strRef>
          </c:tx>
          <c:spPr>
            <a:ln w="43489">
              <a:solidFill>
                <a:srgbClr val="FF0000"/>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Sheet1!$B$6:$AF$6</c:f>
              <c:numCache>
                <c:formatCode>General</c:formatCode>
                <c:ptCount val="31"/>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100</c:v>
                </c:pt>
                <c:pt idx="24">
                  <c:v>100</c:v>
                </c:pt>
                <c:pt idx="25">
                  <c:v>100</c:v>
                </c:pt>
                <c:pt idx="26">
                  <c:v>100</c:v>
                </c:pt>
                <c:pt idx="27">
                  <c:v>100</c:v>
                </c:pt>
                <c:pt idx="28">
                  <c:v>100</c:v>
                </c:pt>
                <c:pt idx="29">
                  <c:v>100</c:v>
                </c:pt>
                <c:pt idx="30">
                  <c:v>100</c:v>
                </c:pt>
              </c:numCache>
            </c:numRef>
          </c:val>
          <c:smooth val="0"/>
          <c:extLst>
            <c:ext xmlns:c16="http://schemas.microsoft.com/office/drawing/2014/chart" uri="{C3380CC4-5D6E-409C-BE32-E72D297353CC}">
              <c16:uniqueId val="{00000004-133B-485A-AC4B-8E3AE3858A85}"/>
            </c:ext>
          </c:extLst>
        </c:ser>
        <c:ser>
          <c:idx val="0"/>
          <c:order val="5"/>
          <c:tx>
            <c:strRef>
              <c:f>Sheet1!$A$7</c:f>
              <c:strCache>
                <c:ptCount val="1"/>
                <c:pt idx="0">
                  <c:v>Japan</c:v>
                </c:pt>
              </c:strCache>
            </c:strRef>
          </c:tx>
          <c:spPr>
            <a:ln w="43489">
              <a:solidFill>
                <a:srgbClr val="D07C00"/>
              </a:solidFill>
              <a:prstDash val="solid"/>
            </a:ln>
          </c:spPr>
          <c:marker>
            <c:symbol val="none"/>
          </c:marker>
          <c:cat>
            <c:numRef>
              <c:f>Sheet1!$B$1:$AF$1</c:f>
              <c:numCache>
                <c:formatCode>General</c:formatCode>
                <c:ptCount val="31"/>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numCache>
            </c:numRef>
          </c:cat>
          <c:val>
            <c:numRef>
              <c:f>Sheet1!$B$7:$AF$7</c:f>
              <c:numCache>
                <c:formatCode>General</c:formatCode>
                <c:ptCount val="31"/>
                <c:pt idx="0">
                  <c:v>85.010370747612157</c:v>
                </c:pt>
                <c:pt idx="1">
                  <c:v>85.910077560950455</c:v>
                </c:pt>
                <c:pt idx="2">
                  <c:v>83.199667682431183</c:v>
                </c:pt>
                <c:pt idx="3">
                  <c:v>82.066371893209876</c:v>
                </c:pt>
                <c:pt idx="4">
                  <c:v>79.626358503081264</c:v>
                </c:pt>
                <c:pt idx="5">
                  <c:v>80.913127024547109</c:v>
                </c:pt>
                <c:pt idx="6">
                  <c:v>79.872543993394515</c:v>
                </c:pt>
                <c:pt idx="7">
                  <c:v>79.969997606618151</c:v>
                </c:pt>
                <c:pt idx="8">
                  <c:v>79.963672185261458</c:v>
                </c:pt>
                <c:pt idx="9">
                  <c:v>81.096923348724701</c:v>
                </c:pt>
                <c:pt idx="10">
                  <c:v>79.566959403123818</c:v>
                </c:pt>
                <c:pt idx="11">
                  <c:v>79.15667462236263</c:v>
                </c:pt>
                <c:pt idx="12">
                  <c:v>78.475202825994714</c:v>
                </c:pt>
                <c:pt idx="13">
                  <c:v>77.187731416223642</c:v>
                </c:pt>
                <c:pt idx="14">
                  <c:v>77.17036031580183</c:v>
                </c:pt>
                <c:pt idx="15">
                  <c:v>79.590625891613826</c:v>
                </c:pt>
                <c:pt idx="16">
                  <c:v>77.11457922730915</c:v>
                </c:pt>
                <c:pt idx="17">
                  <c:v>78.080035521116173</c:v>
                </c:pt>
                <c:pt idx="18">
                  <c:v>76.163678475397205</c:v>
                </c:pt>
                <c:pt idx="19">
                  <c:v>76.946745237265134</c:v>
                </c:pt>
                <c:pt idx="20">
                  <c:v>76.416115478686862</c:v>
                </c:pt>
                <c:pt idx="21">
                  <c:v>77.15067700215134</c:v>
                </c:pt>
                <c:pt idx="22">
                  <c:v>78.537102151734246</c:v>
                </c:pt>
                <c:pt idx="23">
                  <c:v>79.409163511930501</c:v>
                </c:pt>
                <c:pt idx="24">
                  <c:v>78.563309943471822</c:v>
                </c:pt>
                <c:pt idx="25">
                  <c:v>78.829631481186482</c:v>
                </c:pt>
                <c:pt idx="26">
                  <c:v>76.018353601063268</c:v>
                </c:pt>
                <c:pt idx="27">
                  <c:v>74.064799480205963</c:v>
                </c:pt>
                <c:pt idx="28">
                  <c:v>73.677842988847843</c:v>
                </c:pt>
                <c:pt idx="29">
                  <c:v>72.994012081023513</c:v>
                </c:pt>
                <c:pt idx="30">
                  <c:v>71.087831339003046</c:v>
                </c:pt>
              </c:numCache>
            </c:numRef>
          </c:val>
          <c:smooth val="0"/>
          <c:extLst>
            <c:ext xmlns:c16="http://schemas.microsoft.com/office/drawing/2014/chart" uri="{C3380CC4-5D6E-409C-BE32-E72D297353CC}">
              <c16:uniqueId val="{00000005-133B-485A-AC4B-8E3AE3858A85}"/>
            </c:ext>
          </c:extLst>
        </c:ser>
        <c:dLbls>
          <c:showLegendKey val="0"/>
          <c:showVal val="0"/>
          <c:showCatName val="0"/>
          <c:showSerName val="0"/>
          <c:showPercent val="0"/>
          <c:showBubbleSize val="0"/>
        </c:dLbls>
        <c:smooth val="0"/>
        <c:axId val="166377232"/>
        <c:axId val="1"/>
      </c:lineChart>
      <c:catAx>
        <c:axId val="166377232"/>
        <c:scaling>
          <c:orientation val="minMax"/>
        </c:scaling>
        <c:delete val="0"/>
        <c:axPos val="b"/>
        <c:numFmt formatCode="General" sourceLinked="1"/>
        <c:majorTickMark val="out"/>
        <c:minorTickMark val="none"/>
        <c:tickLblPos val="nextTo"/>
        <c:spPr>
          <a:ln w="14496">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
        <c:crossesAt val="70"/>
        <c:auto val="0"/>
        <c:lblAlgn val="ctr"/>
        <c:lblOffset val="100"/>
        <c:tickLblSkip val="5"/>
        <c:tickMarkSkip val="1"/>
        <c:noMultiLvlLbl val="0"/>
      </c:catAx>
      <c:valAx>
        <c:axId val="1"/>
        <c:scaling>
          <c:orientation val="minMax"/>
          <c:max val="135"/>
          <c:min val="70"/>
        </c:scaling>
        <c:delete val="0"/>
        <c:axPos val="l"/>
        <c:majorGridlines>
          <c:spPr>
            <a:ln w="14496">
              <a:solidFill>
                <a:srgbClr val="969696"/>
              </a:solidFill>
              <a:prstDash val="solid"/>
            </a:ln>
          </c:spPr>
        </c:majorGridlines>
        <c:title>
          <c:tx>
            <c:rich>
              <a:bodyPr/>
              <a:lstStyle/>
              <a:p>
                <a:pPr>
                  <a:defRPr sz="1800" b="0" i="0" u="none" strike="noStrike" baseline="0">
                    <a:solidFill>
                      <a:schemeClr val="tx1"/>
                    </a:solidFill>
                    <a:latin typeface="Arial"/>
                    <a:ea typeface="Arial"/>
                    <a:cs typeface="Arial"/>
                  </a:defRPr>
                </a:pPr>
                <a:r>
                  <a:rPr lang="en-GB" sz="1800" dirty="0"/>
                  <a:t>GDP per hour worked: UK = 100</a:t>
                </a:r>
              </a:p>
            </c:rich>
          </c:tx>
          <c:layout>
            <c:manualLayout>
              <c:xMode val="edge"/>
              <c:yMode val="edge"/>
              <c:x val="1.5471532404603271E-2"/>
              <c:y val="0.15523867981753903"/>
            </c:manualLayout>
          </c:layout>
          <c:overlay val="0"/>
          <c:spPr>
            <a:noFill/>
            <a:ln w="28993">
              <a:noFill/>
            </a:ln>
          </c:spPr>
        </c:title>
        <c:numFmt formatCode="General" sourceLinked="1"/>
        <c:majorTickMark val="out"/>
        <c:minorTickMark val="none"/>
        <c:tickLblPos val="nextTo"/>
        <c:spPr>
          <a:ln w="14496">
            <a:solidFill>
              <a:srgbClr val="000000"/>
            </a:solidFill>
            <a:prstDash val="solid"/>
          </a:ln>
        </c:spPr>
        <c:txPr>
          <a:bodyPr rot="0" vert="horz"/>
          <a:lstStyle/>
          <a:p>
            <a:pPr>
              <a:defRPr sz="1800" b="0" i="0" u="none" strike="noStrike" baseline="0">
                <a:solidFill>
                  <a:srgbClr val="000000"/>
                </a:solidFill>
                <a:latin typeface="Arial"/>
                <a:ea typeface="Arial"/>
                <a:cs typeface="Arial"/>
              </a:defRPr>
            </a:pPr>
            <a:endParaRPr lang="en-US"/>
          </a:p>
        </c:txPr>
        <c:crossAx val="166377232"/>
        <c:crosses val="autoZero"/>
        <c:crossBetween val="midCat"/>
        <c:majorUnit val="10"/>
      </c:valAx>
      <c:spPr>
        <a:noFill/>
        <a:ln w="25400">
          <a:noFill/>
        </a:ln>
      </c:spPr>
    </c:plotArea>
    <c:legend>
      <c:legendPos val="r"/>
      <c:legendEntry>
        <c:idx val="0"/>
        <c:txPr>
          <a:bodyPr/>
          <a:lstStyle/>
          <a:p>
            <a:pPr>
              <a:defRPr sz="1800" b="0" i="0" u="none" strike="noStrike" baseline="0">
                <a:solidFill>
                  <a:srgbClr val="960096"/>
                </a:solidFill>
                <a:latin typeface="Arial"/>
                <a:ea typeface="Arial"/>
                <a:cs typeface="Arial"/>
              </a:defRPr>
            </a:pPr>
            <a:endParaRPr lang="en-US"/>
          </a:p>
        </c:txPr>
      </c:legendEntry>
      <c:legendEntry>
        <c:idx val="1"/>
        <c:txPr>
          <a:bodyPr/>
          <a:lstStyle/>
          <a:p>
            <a:pPr>
              <a:defRPr sz="1800" b="0" i="0" u="none" strike="noStrike" baseline="0">
                <a:solidFill>
                  <a:srgbClr val="008000"/>
                </a:solidFill>
                <a:latin typeface="Arial"/>
                <a:ea typeface="Arial"/>
                <a:cs typeface="Arial"/>
              </a:defRPr>
            </a:pPr>
            <a:endParaRPr lang="en-US"/>
          </a:p>
        </c:txPr>
      </c:legendEntry>
      <c:legendEntry>
        <c:idx val="2"/>
        <c:txPr>
          <a:bodyPr/>
          <a:lstStyle/>
          <a:p>
            <a:pPr>
              <a:defRPr sz="1800" b="0" i="0" u="none" strike="noStrike" baseline="0">
                <a:solidFill>
                  <a:srgbClr val="0000FF"/>
                </a:solidFill>
                <a:latin typeface="Arial"/>
                <a:ea typeface="Arial"/>
                <a:cs typeface="Arial"/>
              </a:defRPr>
            </a:pPr>
            <a:endParaRPr lang="en-US"/>
          </a:p>
        </c:txPr>
      </c:legendEntry>
      <c:legendEntry>
        <c:idx val="3"/>
        <c:txPr>
          <a:bodyPr/>
          <a:lstStyle/>
          <a:p>
            <a:pPr>
              <a:defRPr sz="1800" b="0" i="0" u="none" strike="noStrike" baseline="0">
                <a:solidFill>
                  <a:srgbClr val="424242"/>
                </a:solidFill>
                <a:latin typeface="Arial"/>
                <a:ea typeface="Arial"/>
                <a:cs typeface="Arial"/>
              </a:defRPr>
            </a:pPr>
            <a:endParaRPr lang="en-US"/>
          </a:p>
        </c:txPr>
      </c:legendEntry>
      <c:legendEntry>
        <c:idx val="4"/>
        <c:txPr>
          <a:bodyPr/>
          <a:lstStyle/>
          <a:p>
            <a:pPr>
              <a:defRPr sz="1800" b="0" i="0" u="none" strike="noStrike" baseline="0">
                <a:solidFill>
                  <a:srgbClr val="FF0000"/>
                </a:solidFill>
                <a:latin typeface="Arial"/>
                <a:ea typeface="Arial"/>
                <a:cs typeface="Arial"/>
              </a:defRPr>
            </a:pPr>
            <a:endParaRPr lang="en-US"/>
          </a:p>
        </c:txPr>
      </c:legendEntry>
      <c:legendEntry>
        <c:idx val="5"/>
        <c:txPr>
          <a:bodyPr/>
          <a:lstStyle/>
          <a:p>
            <a:pPr>
              <a:defRPr sz="1800" b="0" i="0" u="none" strike="noStrike" baseline="0">
                <a:solidFill>
                  <a:srgbClr val="D07C00"/>
                </a:solidFill>
                <a:latin typeface="Arial"/>
                <a:ea typeface="Arial"/>
                <a:cs typeface="Arial"/>
              </a:defRPr>
            </a:pPr>
            <a:endParaRPr lang="en-US"/>
          </a:p>
        </c:txPr>
      </c:legendEntry>
      <c:layout>
        <c:manualLayout>
          <c:xMode val="edge"/>
          <c:yMode val="edge"/>
          <c:x val="0.2255925819373264"/>
          <c:y val="6.3440427084225856E-2"/>
          <c:w val="0.36842281369519786"/>
          <c:h val="0.15117139933287563"/>
        </c:manualLayout>
      </c:layout>
      <c:overlay val="0"/>
      <c:spPr>
        <a:solidFill>
          <a:srgbClr val="EFF0F7"/>
        </a:solidFill>
        <a:ln w="19050">
          <a:solidFill>
            <a:srgbClr val="960096"/>
          </a:solidFill>
          <a:prstDash val="solid"/>
        </a:ln>
      </c:spPr>
      <c:txPr>
        <a:bodyPr/>
        <a:lstStyle/>
        <a:p>
          <a:pPr>
            <a:defRPr sz="1800" b="0" i="0" u="none" strike="noStrike" baseline="0">
              <a:solidFill>
                <a:schemeClr val="tx1"/>
              </a:solidFill>
              <a:latin typeface="Arial"/>
              <a:ea typeface="Arial"/>
              <a:cs typeface="Arial"/>
            </a:defRPr>
          </a:pPr>
          <a:endParaRPr lang="en-US"/>
        </a:p>
      </c:txPr>
    </c:legend>
    <c:plotVisOnly val="1"/>
    <c:dispBlanksAs val="span"/>
    <c:showDLblsOverMax val="0"/>
  </c:chart>
  <c:spPr>
    <a:noFill/>
    <a:ln>
      <a:noFill/>
    </a:ln>
  </c:spPr>
  <c:txPr>
    <a:bodyPr/>
    <a:lstStyle/>
    <a:p>
      <a:pPr>
        <a:defRPr sz="2055" b="1" i="0" u="none" strike="noStrike" baseline="0">
          <a:solidFill>
            <a:schemeClr val="tx1"/>
          </a:solidFill>
          <a:latin typeface="Arial"/>
          <a:ea typeface="Arial"/>
          <a:cs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70691409360346"/>
          <c:y val="0.11301367171239918"/>
          <c:w val="0.82324455205811142"/>
          <c:h val="0.71037964823544264"/>
        </c:manualLayout>
      </c:layout>
      <c:scatterChart>
        <c:scatterStyle val="lineMarker"/>
        <c:varyColors val="0"/>
        <c:ser>
          <c:idx val="0"/>
          <c:order val="0"/>
          <c:tx>
            <c:strRef>
              <c:f>Sheet1!$C$1</c:f>
              <c:strCache>
                <c:ptCount val="1"/>
                <c:pt idx="0">
                  <c:v>Output</c:v>
                </c:pt>
              </c:strCache>
            </c:strRef>
          </c:tx>
          <c:spPr>
            <a:ln w="21342">
              <a:noFill/>
            </a:ln>
          </c:spPr>
          <c:marker>
            <c:symbol val="circle"/>
            <c:size val="7"/>
            <c:spPr>
              <a:solidFill>
                <a:srgbClr val="2A6FF9"/>
              </a:solidFill>
              <a:ln w="12700">
                <a:solidFill>
                  <a:srgbClr val="0033CC"/>
                </a:solidFill>
                <a:prstDash val="solid"/>
              </a:ln>
            </c:spPr>
          </c:marker>
          <c:dPt>
            <c:idx val="2"/>
            <c:marker>
              <c:spPr>
                <a:solidFill>
                  <a:schemeClr val="accent2"/>
                </a:solidFill>
                <a:ln w="12700">
                  <a:solidFill>
                    <a:srgbClr val="0033CC"/>
                  </a:solidFill>
                  <a:prstDash val="solid"/>
                </a:ln>
              </c:spPr>
            </c:marker>
            <c:bubble3D val="0"/>
            <c:extLst>
              <c:ext xmlns:c16="http://schemas.microsoft.com/office/drawing/2014/chart" uri="{C3380CC4-5D6E-409C-BE32-E72D297353CC}">
                <c16:uniqueId val="{00000000-AEB2-4656-AFDB-B91E1865378D}"/>
              </c:ext>
            </c:extLst>
          </c:dPt>
          <c:dPt>
            <c:idx val="3"/>
            <c:bubble3D val="0"/>
            <c:extLst>
              <c:ext xmlns:c16="http://schemas.microsoft.com/office/drawing/2014/chart" uri="{C3380CC4-5D6E-409C-BE32-E72D297353CC}">
                <c16:uniqueId val="{00000001-AEB2-4656-AFDB-B91E1865378D}"/>
              </c:ext>
            </c:extLst>
          </c:dPt>
          <c:xVal>
            <c:numRef>
              <c:f>Sheet1!$B$2:$B$18</c:f>
              <c:numCache>
                <c:formatCode>0.000</c:formatCode>
                <c:ptCount val="17"/>
                <c:pt idx="0">
                  <c:v>0.80161256512256873</c:v>
                </c:pt>
                <c:pt idx="1">
                  <c:v>1.034777502739227</c:v>
                </c:pt>
                <c:pt idx="2">
                  <c:v>1.177800619175936</c:v>
                </c:pt>
                <c:pt idx="3">
                  <c:v>1.2134037077680395</c:v>
                </c:pt>
                <c:pt idx="4">
                  <c:v>1.4244889884439524</c:v>
                </c:pt>
                <c:pt idx="5">
                  <c:v>1.5286818108172264</c:v>
                </c:pt>
                <c:pt idx="6">
                  <c:v>1.8034576236461812</c:v>
                </c:pt>
                <c:pt idx="7">
                  <c:v>2.2003966302449323</c:v>
                </c:pt>
                <c:pt idx="8">
                  <c:v>2.230835822125246</c:v>
                </c:pt>
                <c:pt idx="9">
                  <c:v>2.2419245184907415</c:v>
                </c:pt>
                <c:pt idx="10">
                  <c:v>2.3909768352581855</c:v>
                </c:pt>
                <c:pt idx="11">
                  <c:v>2.4401400940900988</c:v>
                </c:pt>
                <c:pt idx="12">
                  <c:v>2.50573262689326</c:v>
                </c:pt>
                <c:pt idx="13">
                  <c:v>2.5301962892670864</c:v>
                </c:pt>
                <c:pt idx="14">
                  <c:v>2.6462195341003887</c:v>
                </c:pt>
                <c:pt idx="15">
                  <c:v>2.6957085361143154</c:v>
                </c:pt>
                <c:pt idx="16">
                  <c:v>2.8080428608024017</c:v>
                </c:pt>
              </c:numCache>
            </c:numRef>
          </c:xVal>
          <c:yVal>
            <c:numRef>
              <c:f>Sheet1!$C$2:$C$18</c:f>
              <c:numCache>
                <c:formatCode>0.000</c:formatCode>
                <c:ptCount val="17"/>
                <c:pt idx="0">
                  <c:v>1.3448268371942285</c:v>
                </c:pt>
                <c:pt idx="1">
                  <c:v>1.0661010465772027</c:v>
                </c:pt>
                <c:pt idx="2">
                  <c:v>1.7301419452832993</c:v>
                </c:pt>
                <c:pt idx="3">
                  <c:v>1.6489016190868975</c:v>
                </c:pt>
                <c:pt idx="4">
                  <c:v>1.7646501111342288</c:v>
                </c:pt>
                <c:pt idx="5">
                  <c:v>1.7319657203781973</c:v>
                </c:pt>
                <c:pt idx="6">
                  <c:v>1.9847980780091123</c:v>
                </c:pt>
                <c:pt idx="7">
                  <c:v>2.1582500915940366</c:v>
                </c:pt>
                <c:pt idx="8">
                  <c:v>1.9417007880718025</c:v>
                </c:pt>
                <c:pt idx="9">
                  <c:v>2.0779454722244113</c:v>
                </c:pt>
                <c:pt idx="10">
                  <c:v>2.0982869140389151</c:v>
                </c:pt>
                <c:pt idx="11">
                  <c:v>2.4359844489693683</c:v>
                </c:pt>
                <c:pt idx="12">
                  <c:v>2.9011959968085521</c:v>
                </c:pt>
                <c:pt idx="13">
                  <c:v>2.32138094265424</c:v>
                </c:pt>
                <c:pt idx="14">
                  <c:v>2.8550559886076265</c:v>
                </c:pt>
                <c:pt idx="15">
                  <c:v>2.5090223307717663</c:v>
                </c:pt>
                <c:pt idx="16">
                  <c:v>3.7454451883085733</c:v>
                </c:pt>
              </c:numCache>
            </c:numRef>
          </c:yVal>
          <c:smooth val="0"/>
          <c:extLst>
            <c:ext xmlns:c16="http://schemas.microsoft.com/office/drawing/2014/chart" uri="{C3380CC4-5D6E-409C-BE32-E72D297353CC}">
              <c16:uniqueId val="{00000002-AEB2-4656-AFDB-B91E1865378D}"/>
            </c:ext>
          </c:extLst>
        </c:ser>
        <c:dLbls>
          <c:showLegendKey val="0"/>
          <c:showVal val="0"/>
          <c:showCatName val="0"/>
          <c:showSerName val="0"/>
          <c:showPercent val="0"/>
          <c:showBubbleSize val="0"/>
        </c:dLbls>
        <c:axId val="206870112"/>
        <c:axId val="1"/>
      </c:scatterChart>
      <c:valAx>
        <c:axId val="206870112"/>
        <c:scaling>
          <c:orientation val="minMax"/>
          <c:max val="3"/>
        </c:scaling>
        <c:delete val="0"/>
        <c:axPos val="b"/>
        <c:title>
          <c:tx>
            <c:rich>
              <a:bodyPr/>
              <a:lstStyle/>
              <a:p>
                <a:pPr>
                  <a:defRPr sz="1600" b="0" i="0" u="none" strike="noStrike" baseline="0">
                    <a:solidFill>
                      <a:schemeClr val="tx1"/>
                    </a:solidFill>
                    <a:latin typeface="Arial"/>
                    <a:ea typeface="Arial"/>
                    <a:cs typeface="Arial"/>
                  </a:defRPr>
                </a:pPr>
                <a:r>
                  <a:rPr lang="en-GB" sz="1600" dirty="0"/>
                  <a:t>Average</a:t>
                </a:r>
                <a:r>
                  <a:rPr lang="en-GB" sz="1600" baseline="0" dirty="0"/>
                  <a:t> increase in net capital per worker </a:t>
                </a:r>
              </a:p>
              <a:p>
                <a:pPr>
                  <a:defRPr sz="1600" b="0" i="0" u="none" strike="noStrike" baseline="0">
                    <a:solidFill>
                      <a:schemeClr val="tx1"/>
                    </a:solidFill>
                    <a:latin typeface="Arial"/>
                    <a:ea typeface="Arial"/>
                    <a:cs typeface="Arial"/>
                  </a:defRPr>
                </a:pPr>
                <a:r>
                  <a:rPr lang="en-GB" sz="1600" baseline="0" dirty="0"/>
                  <a:t>(% per year)</a:t>
                </a:r>
                <a:endParaRPr lang="en-GB" sz="1600" dirty="0"/>
              </a:p>
            </c:rich>
          </c:tx>
          <c:layout>
            <c:manualLayout>
              <c:xMode val="edge"/>
              <c:yMode val="edge"/>
              <c:x val="0.34498871980890028"/>
              <c:y val="0.88480045196485846"/>
            </c:manualLayout>
          </c:layout>
          <c:overlay val="0"/>
          <c:spPr>
            <a:noFill/>
            <a:ln w="28456">
              <a:noFill/>
            </a:ln>
          </c:spPr>
        </c:title>
        <c:numFmt formatCode="0.0" sourceLinked="0"/>
        <c:majorTickMark val="out"/>
        <c:minorTickMark val="none"/>
        <c:tickLblPos val="nextTo"/>
        <c:spPr>
          <a:ln w="14228">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1"/>
        <c:crosses val="autoZero"/>
        <c:crossBetween val="midCat"/>
      </c:valAx>
      <c:valAx>
        <c:axId val="1"/>
        <c:scaling>
          <c:orientation val="minMax"/>
          <c:max val="4"/>
          <c:min val="1"/>
        </c:scaling>
        <c:delete val="0"/>
        <c:axPos val="l"/>
        <c:title>
          <c:tx>
            <c:rich>
              <a:bodyPr/>
              <a:lstStyle/>
              <a:p>
                <a:pPr>
                  <a:defRPr sz="1600" b="0" i="0" u="none" strike="noStrike" baseline="0">
                    <a:solidFill>
                      <a:schemeClr val="tx1"/>
                    </a:solidFill>
                    <a:latin typeface="Arial"/>
                    <a:ea typeface="Arial"/>
                    <a:cs typeface="Arial"/>
                  </a:defRPr>
                </a:pPr>
                <a:r>
                  <a:rPr lang="en-GB" sz="1600" b="0" i="0" u="none" strike="noStrike" baseline="0" dirty="0">
                    <a:solidFill>
                      <a:srgbClr val="000000"/>
                    </a:solidFill>
                    <a:latin typeface="Arial"/>
                    <a:cs typeface="Arial"/>
                  </a:rPr>
                  <a:t>Average increase in output per worker </a:t>
                </a:r>
              </a:p>
              <a:p>
                <a:pPr>
                  <a:defRPr sz="1600" b="0" i="0" u="none" strike="noStrike" baseline="0">
                    <a:solidFill>
                      <a:schemeClr val="tx1"/>
                    </a:solidFill>
                    <a:latin typeface="Arial"/>
                    <a:ea typeface="Arial"/>
                    <a:cs typeface="Arial"/>
                  </a:defRPr>
                </a:pPr>
                <a:r>
                  <a:rPr lang="en-GB" sz="1600" b="0" i="0" u="none" strike="noStrike" baseline="0" dirty="0">
                    <a:solidFill>
                      <a:srgbClr val="000000"/>
                    </a:solidFill>
                    <a:latin typeface="Arial"/>
                    <a:cs typeface="Arial"/>
                  </a:rPr>
                  <a:t>(% per year)</a:t>
                </a:r>
              </a:p>
            </c:rich>
          </c:tx>
          <c:layout>
            <c:manualLayout>
              <c:xMode val="edge"/>
              <c:yMode val="edge"/>
              <c:x val="2.730768380076086E-2"/>
              <c:y val="0.18026237252998142"/>
            </c:manualLayout>
          </c:layout>
          <c:overlay val="0"/>
          <c:spPr>
            <a:noFill/>
            <a:ln w="28456">
              <a:noFill/>
            </a:ln>
          </c:spPr>
        </c:title>
        <c:numFmt formatCode="#,##0.0" sourceLinked="0"/>
        <c:majorTickMark val="out"/>
        <c:minorTickMark val="none"/>
        <c:tickLblPos val="nextTo"/>
        <c:spPr>
          <a:ln w="14228">
            <a:solidFill>
              <a:srgbClr val="000000"/>
            </a:solidFill>
            <a:prstDash val="solid"/>
          </a:ln>
        </c:spPr>
        <c:txPr>
          <a:bodyPr rot="0" vert="horz"/>
          <a:lstStyle/>
          <a:p>
            <a:pPr>
              <a:defRPr sz="1600" b="0" i="0" u="none" strike="noStrike" baseline="0">
                <a:solidFill>
                  <a:srgbClr val="000000"/>
                </a:solidFill>
                <a:latin typeface="Arial"/>
                <a:ea typeface="Arial"/>
                <a:cs typeface="Arial"/>
              </a:defRPr>
            </a:pPr>
            <a:endParaRPr lang="en-US"/>
          </a:p>
        </c:txPr>
        <c:crossAx val="206870112"/>
        <c:crosses val="autoZero"/>
        <c:crossBetween val="midCat"/>
        <c:majorUnit val="0.5"/>
      </c:valAx>
      <c:spPr>
        <a:noFill/>
        <a:ln w="25400">
          <a:noFill/>
        </a:ln>
      </c:spPr>
    </c:plotArea>
    <c:plotVisOnly val="1"/>
    <c:dispBlanksAs val="gap"/>
    <c:showDLblsOverMax val="0"/>
  </c:chart>
  <c:spPr>
    <a:noFill/>
    <a:ln>
      <a:noFill/>
    </a:ln>
  </c:spPr>
  <c:txPr>
    <a:bodyPr/>
    <a:lstStyle/>
    <a:p>
      <a:pPr>
        <a:defRPr sz="2017" b="1" i="0" u="none" strike="noStrike" baseline="0">
          <a:solidFill>
            <a:schemeClr val="tx1"/>
          </a:solidFill>
          <a:latin typeface="Arial"/>
          <a:ea typeface="Arial"/>
          <a:cs typeface="Arial"/>
        </a:defRPr>
      </a:pPr>
      <a:endParaRPr lang="en-US"/>
    </a:p>
  </c:txPr>
  <c:externalData r:id="rId1">
    <c:autoUpdate val="0"/>
  </c:externalData>
</c:chartSpace>
</file>

<file path=ppt/drawings/drawing1.xml><?xml version="1.0" encoding="utf-8"?>
<c:userShapes xmlns:c="http://schemas.openxmlformats.org/drawingml/2006/chart">
  <cdr:relSizeAnchor xmlns:cdr="http://schemas.openxmlformats.org/drawingml/2006/chartDrawing">
    <cdr:from>
      <cdr:x>0.55227</cdr:x>
      <cdr:y>0.08039</cdr:y>
    </cdr:from>
    <cdr:to>
      <cdr:x>0.97876</cdr:x>
      <cdr:y>0.38542</cdr:y>
    </cdr:to>
    <cdr:sp macro="" textlink="">
      <cdr:nvSpPr>
        <cdr:cNvPr id="2" name="TextBox 1">
          <a:extLst xmlns:a="http://schemas.openxmlformats.org/drawingml/2006/main">
            <a:ext uri="{FF2B5EF4-FFF2-40B4-BE49-F238E27FC236}">
              <a16:creationId xmlns:a16="http://schemas.microsoft.com/office/drawing/2014/main" id="{BD830B2C-A6C4-FEAD-450E-B4FBB6A2297D}"/>
            </a:ext>
          </a:extLst>
        </cdr:cNvPr>
        <cdr:cNvSpPr txBox="1"/>
      </cdr:nvSpPr>
      <cdr:spPr>
        <a:xfrm xmlns:a="http://schemas.openxmlformats.org/drawingml/2006/main">
          <a:off x="6733308" y="492906"/>
          <a:ext cx="5199673" cy="1870364"/>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GB" sz="24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B329C-BA19-7741-82E1-E99DDC8851B4}"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252F9-E879-1640-ADA4-A5A78E6B455C}" type="slidenum">
              <a:rPr lang="en-US" smtClean="0"/>
              <a:t>‹#›</a:t>
            </a:fld>
            <a:endParaRPr lang="en-US"/>
          </a:p>
        </p:txBody>
      </p:sp>
    </p:spTree>
    <p:extLst>
      <p:ext uri="{BB962C8B-B14F-4D97-AF65-F5344CB8AC3E}">
        <p14:creationId xmlns:p14="http://schemas.microsoft.com/office/powerpoint/2010/main" val="2517255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5BDA14C-F811-414A-B0B1-34F0F15C7275}"/>
              </a:ext>
            </a:extLst>
          </p:cNvPr>
          <p:cNvSpPr>
            <a:spLocks noGrp="1" noChangeArrowheads="1"/>
          </p:cNvSpPr>
          <p:nvPr>
            <p:ph type="sldNum" sz="quarter" idx="5"/>
          </p:nvPr>
        </p:nvSpPr>
        <p:spPr>
          <a:ln/>
        </p:spPr>
        <p:txBody>
          <a:bodyPr/>
          <a:lstStyle/>
          <a:p>
            <a:fld id="{00ABA4D3-67AB-4569-948F-A856C4519241}" type="slidenum">
              <a:rPr lang="en-GB" altLang="en-US"/>
              <a:pPr/>
              <a:t>5</a:t>
            </a:fld>
            <a:endParaRPr lang="en-GB" altLang="en-US"/>
          </a:p>
        </p:txBody>
      </p:sp>
      <p:sp>
        <p:nvSpPr>
          <p:cNvPr id="417794" name="Rectangle 2">
            <a:extLst>
              <a:ext uri="{FF2B5EF4-FFF2-40B4-BE49-F238E27FC236}">
                <a16:creationId xmlns:a16="http://schemas.microsoft.com/office/drawing/2014/main" id="{66172F22-F6E6-4C9E-A23C-3F8F97CAC18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571250E1-1B29-42DC-8148-709AA81B8D4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17796" name="Rectangle 4">
            <a:extLst>
              <a:ext uri="{FF2B5EF4-FFF2-40B4-BE49-F238E27FC236}">
                <a16:creationId xmlns:a16="http://schemas.microsoft.com/office/drawing/2014/main" id="{89D8B1C7-5CA7-4551-BB1C-9921D7614C54}"/>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0269D472-AC76-4A61-B76E-3C3BEA8CDFA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F686330C-53EB-4010-8952-77DB81073FBD}"/>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C628B407-3F63-4537-AE32-0878B4459463}"/>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893439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BED2EC6E-B0EC-400C-8C86-C115AD25B1F8}"/>
              </a:ext>
            </a:extLst>
          </p:cNvPr>
          <p:cNvSpPr>
            <a:spLocks noGrp="1" noRot="1" noChangeAspect="1" noChangeArrowheads="1" noTextEdit="1"/>
          </p:cNvSpPr>
          <p:nvPr>
            <p:ph type="sldImg"/>
          </p:nvPr>
        </p:nvSpPr>
        <p:spPr bwMode="auto">
          <a:xfrm>
            <a:off x="393700" y="692150"/>
            <a:ext cx="607060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9" name="Rectangle 1027">
            <a:extLst>
              <a:ext uri="{FF2B5EF4-FFF2-40B4-BE49-F238E27FC236}">
                <a16:creationId xmlns:a16="http://schemas.microsoft.com/office/drawing/2014/main" id="{EAFA8736-2033-4EC1-9DD5-EE25AFFE27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dirty="0">
              <a:latin typeface="Times New Roman" panose="02020603050405020304" pitchFamily="18" charset="0"/>
            </a:endParaRPr>
          </a:p>
        </p:txBody>
      </p:sp>
    </p:spTree>
    <p:extLst>
      <p:ext uri="{BB962C8B-B14F-4D97-AF65-F5344CB8AC3E}">
        <p14:creationId xmlns:p14="http://schemas.microsoft.com/office/powerpoint/2010/main" val="2019707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a:extLst>
              <a:ext uri="{FF2B5EF4-FFF2-40B4-BE49-F238E27FC236}">
                <a16:creationId xmlns:a16="http://schemas.microsoft.com/office/drawing/2014/main" id="{59ACE494-62CA-4B9B-910A-B8050D681B45}"/>
              </a:ext>
            </a:extLst>
          </p:cNvPr>
          <p:cNvSpPr>
            <a:spLocks noGrp="1" noChangeArrowheads="1"/>
          </p:cNvSpPr>
          <p:nvPr>
            <p:ph type="sldNum" sz="quarter" idx="5"/>
          </p:nvPr>
        </p:nvSpPr>
        <p:spPr>
          <a:noFill/>
        </p:spPr>
        <p:txBody>
          <a:bodyPr/>
          <a:lstStyle>
            <a:lvl1pPr defTabSz="762000">
              <a:spcBef>
                <a:spcPct val="30000"/>
              </a:spcBef>
              <a:defRPr sz="1200">
                <a:solidFill>
                  <a:schemeClr val="tx1"/>
                </a:solidFill>
                <a:latin typeface="Times New Roman" panose="02020603050405020304" pitchFamily="18" charset="0"/>
              </a:defRPr>
            </a:lvl1pPr>
            <a:lvl2pPr marL="742950" indent="-285750" defTabSz="762000">
              <a:spcBef>
                <a:spcPct val="30000"/>
              </a:spcBef>
              <a:defRPr sz="1200">
                <a:solidFill>
                  <a:schemeClr val="tx1"/>
                </a:solidFill>
                <a:latin typeface="Times New Roman" panose="02020603050405020304" pitchFamily="18" charset="0"/>
              </a:defRPr>
            </a:lvl2pPr>
            <a:lvl3pPr marL="1143000" indent="-228600" defTabSz="762000">
              <a:spcBef>
                <a:spcPct val="30000"/>
              </a:spcBef>
              <a:defRPr sz="1200">
                <a:solidFill>
                  <a:schemeClr val="tx1"/>
                </a:solidFill>
                <a:latin typeface="Times New Roman" panose="02020603050405020304" pitchFamily="18" charset="0"/>
              </a:defRPr>
            </a:lvl3pPr>
            <a:lvl4pPr marL="1600200" indent="-228600" defTabSz="762000">
              <a:spcBef>
                <a:spcPct val="30000"/>
              </a:spcBef>
              <a:defRPr sz="1200">
                <a:solidFill>
                  <a:schemeClr val="tx1"/>
                </a:solidFill>
                <a:latin typeface="Times New Roman" panose="02020603050405020304" pitchFamily="18" charset="0"/>
              </a:defRPr>
            </a:lvl4pPr>
            <a:lvl5pPr marL="2057400" indent="-228600" defTabSz="762000">
              <a:spcBef>
                <a:spcPct val="30000"/>
              </a:spcBef>
              <a:defRPr sz="1200">
                <a:solidFill>
                  <a:schemeClr val="tx1"/>
                </a:solidFill>
                <a:latin typeface="Times New Roman" panose="02020603050405020304" pitchFamily="18" charset="0"/>
              </a:defRPr>
            </a:lvl5pPr>
            <a:lvl6pPr marL="2514600" indent="-228600" defTabSz="7620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7620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7620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7620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24BF0C-6D5A-4DAC-ABB5-CF14824B2D75}" type="slidenum">
              <a:rPr lang="en-GB" altLang="en-US" sz="1000" smtClean="0"/>
              <a:pPr>
                <a:spcBef>
                  <a:spcPct val="0"/>
                </a:spcBef>
              </a:pPr>
              <a:t>7</a:t>
            </a:fld>
            <a:endParaRPr lang="en-GB" altLang="en-US" sz="1000"/>
          </a:p>
        </p:txBody>
      </p:sp>
      <p:sp>
        <p:nvSpPr>
          <p:cNvPr id="5123" name="Rectangle 2">
            <a:extLst>
              <a:ext uri="{FF2B5EF4-FFF2-40B4-BE49-F238E27FC236}">
                <a16:creationId xmlns:a16="http://schemas.microsoft.com/office/drawing/2014/main" id="{B9640DA8-0D64-4290-94BA-8D81F86E9F2F}"/>
              </a:ext>
            </a:extLst>
          </p:cNvPr>
          <p:cNvSpPr>
            <a:spLocks noGrp="1" noRot="1" noChangeAspect="1" noChangeArrowheads="1" noTextEdit="1"/>
          </p:cNvSpPr>
          <p:nvPr>
            <p:ph type="sldImg"/>
          </p:nvPr>
        </p:nvSpPr>
        <p:spPr>
          <a:xfrm>
            <a:off x="393700" y="692150"/>
            <a:ext cx="6070600" cy="3416300"/>
          </a:xfrm>
          <a:ln/>
        </p:spPr>
      </p:sp>
      <p:sp>
        <p:nvSpPr>
          <p:cNvPr id="5124" name="Rectangle 3">
            <a:extLst>
              <a:ext uri="{FF2B5EF4-FFF2-40B4-BE49-F238E27FC236}">
                <a16:creationId xmlns:a16="http://schemas.microsoft.com/office/drawing/2014/main" id="{24EC3B38-15C7-4332-8F90-B26CE6FCA008}"/>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6596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5BDA14C-F811-414A-B0B1-34F0F15C7275}"/>
              </a:ext>
            </a:extLst>
          </p:cNvPr>
          <p:cNvSpPr>
            <a:spLocks noGrp="1" noChangeArrowheads="1"/>
          </p:cNvSpPr>
          <p:nvPr>
            <p:ph type="sldNum" sz="quarter" idx="5"/>
          </p:nvPr>
        </p:nvSpPr>
        <p:spPr>
          <a:ln/>
        </p:spPr>
        <p:txBody>
          <a:bodyPr/>
          <a:lstStyle/>
          <a:p>
            <a:fld id="{00ABA4D3-67AB-4569-948F-A856C4519241}" type="slidenum">
              <a:rPr lang="en-GB" altLang="en-US"/>
              <a:pPr/>
              <a:t>8</a:t>
            </a:fld>
            <a:endParaRPr lang="en-GB" altLang="en-US"/>
          </a:p>
        </p:txBody>
      </p:sp>
      <p:sp>
        <p:nvSpPr>
          <p:cNvPr id="417794" name="Rectangle 2">
            <a:extLst>
              <a:ext uri="{FF2B5EF4-FFF2-40B4-BE49-F238E27FC236}">
                <a16:creationId xmlns:a16="http://schemas.microsoft.com/office/drawing/2014/main" id="{66172F22-F6E6-4C9E-A23C-3F8F97CAC18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571250E1-1B29-42DC-8148-709AA81B8D4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17796" name="Rectangle 4">
            <a:extLst>
              <a:ext uri="{FF2B5EF4-FFF2-40B4-BE49-F238E27FC236}">
                <a16:creationId xmlns:a16="http://schemas.microsoft.com/office/drawing/2014/main" id="{89D8B1C7-5CA7-4551-BB1C-9921D7614C54}"/>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0269D472-AC76-4A61-B76E-3C3BEA8CDFA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F686330C-53EB-4010-8952-77DB81073FBD}"/>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C628B407-3F63-4537-AE32-0878B4459463}"/>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275205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E021B29-80AD-4FD6-AEB2-294E6BC43F5A}"/>
              </a:ext>
            </a:extLst>
          </p:cNvPr>
          <p:cNvSpPr>
            <a:spLocks noGrp="1" noChangeArrowheads="1"/>
          </p:cNvSpPr>
          <p:nvPr>
            <p:ph type="sldNum" sz="quarter" idx="5"/>
          </p:nvPr>
        </p:nvSpPr>
        <p:spPr>
          <a:ln/>
        </p:spPr>
        <p:txBody>
          <a:bodyPr/>
          <a:lstStyle/>
          <a:p>
            <a:fld id="{CF72315F-FC5F-49A8-A7F7-D882A9A79A92}" type="slidenum">
              <a:rPr lang="en-GB" altLang="en-US"/>
              <a:pPr/>
              <a:t>10</a:t>
            </a:fld>
            <a:endParaRPr lang="en-GB" altLang="en-US"/>
          </a:p>
        </p:txBody>
      </p:sp>
      <p:sp>
        <p:nvSpPr>
          <p:cNvPr id="419842" name="Rectangle 2">
            <a:extLst>
              <a:ext uri="{FF2B5EF4-FFF2-40B4-BE49-F238E27FC236}">
                <a16:creationId xmlns:a16="http://schemas.microsoft.com/office/drawing/2014/main" id="{E9E1588E-2D9A-473B-8473-8D57F255468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843" name="Rectangle 3">
            <a:extLst>
              <a:ext uri="{FF2B5EF4-FFF2-40B4-BE49-F238E27FC236}">
                <a16:creationId xmlns:a16="http://schemas.microsoft.com/office/drawing/2014/main" id="{6C7748BC-03A6-498C-9E1C-F5C279C973C7}"/>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19844" name="Rectangle 4">
            <a:extLst>
              <a:ext uri="{FF2B5EF4-FFF2-40B4-BE49-F238E27FC236}">
                <a16:creationId xmlns:a16="http://schemas.microsoft.com/office/drawing/2014/main" id="{B9475CCC-58EA-4FAF-961C-A362762B06A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845" name="Rectangle 5">
            <a:extLst>
              <a:ext uri="{FF2B5EF4-FFF2-40B4-BE49-F238E27FC236}">
                <a16:creationId xmlns:a16="http://schemas.microsoft.com/office/drawing/2014/main" id="{310F27C4-9085-4176-9BCF-CA61EA672868}"/>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9846" name="Rectangle 6">
            <a:extLst>
              <a:ext uri="{FF2B5EF4-FFF2-40B4-BE49-F238E27FC236}">
                <a16:creationId xmlns:a16="http://schemas.microsoft.com/office/drawing/2014/main" id="{42103BFB-1202-4CB7-B1DB-72F91419F06B}"/>
              </a:ext>
            </a:extLst>
          </p:cNvPr>
          <p:cNvSpPr>
            <a:spLocks noGrp="1" noChangeArrowheads="1"/>
          </p:cNvSpPr>
          <p:nvPr>
            <p:ph type="body" idx="1"/>
          </p:nvPr>
        </p:nvSpPr>
        <p:spPr>
          <a:ln/>
        </p:spPr>
        <p:txBody>
          <a:bodyPr lIns="92075" tIns="46038" rIns="92075" bIns="46038"/>
          <a:lstStyle/>
          <a:p>
            <a:endParaRPr lang="en-GB" altLang="en-US" noProof="1"/>
          </a:p>
        </p:txBody>
      </p:sp>
      <p:sp>
        <p:nvSpPr>
          <p:cNvPr id="419847" name="Rectangle 7">
            <a:extLst>
              <a:ext uri="{FF2B5EF4-FFF2-40B4-BE49-F238E27FC236}">
                <a16:creationId xmlns:a16="http://schemas.microsoft.com/office/drawing/2014/main" id="{3D20281A-7008-4649-97B6-6AA053D47380}"/>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32801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D628F56-341F-4B0A-8060-F8E513274F84}"/>
              </a:ext>
            </a:extLst>
          </p:cNvPr>
          <p:cNvSpPr>
            <a:spLocks noGrp="1" noChangeArrowheads="1"/>
          </p:cNvSpPr>
          <p:nvPr>
            <p:ph type="sldNum" sz="quarter" idx="5"/>
          </p:nvPr>
        </p:nvSpPr>
        <p:spPr>
          <a:ln/>
        </p:spPr>
        <p:txBody>
          <a:bodyPr/>
          <a:lstStyle/>
          <a:p>
            <a:fld id="{A1CE85C2-5553-4431-9990-A81691B39485}" type="slidenum">
              <a:rPr lang="en-GB" altLang="en-US"/>
              <a:pPr/>
              <a:t>11</a:t>
            </a:fld>
            <a:endParaRPr lang="en-GB" altLang="en-US"/>
          </a:p>
        </p:txBody>
      </p:sp>
      <p:sp>
        <p:nvSpPr>
          <p:cNvPr id="421890" name="Rectangle 2">
            <a:extLst>
              <a:ext uri="{FF2B5EF4-FFF2-40B4-BE49-F238E27FC236}">
                <a16:creationId xmlns:a16="http://schemas.microsoft.com/office/drawing/2014/main" id="{7CECCDCE-2532-496A-9FCD-15A83919FFD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1" name="Rectangle 3">
            <a:extLst>
              <a:ext uri="{FF2B5EF4-FFF2-40B4-BE49-F238E27FC236}">
                <a16:creationId xmlns:a16="http://schemas.microsoft.com/office/drawing/2014/main" id="{06087990-273F-4994-9CA3-CBB52FA1C7C1}"/>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21892" name="Rectangle 4">
            <a:extLst>
              <a:ext uri="{FF2B5EF4-FFF2-40B4-BE49-F238E27FC236}">
                <a16:creationId xmlns:a16="http://schemas.microsoft.com/office/drawing/2014/main" id="{F7DD471B-100A-43F8-92E2-FA5CA011C6D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3" name="Rectangle 5">
            <a:extLst>
              <a:ext uri="{FF2B5EF4-FFF2-40B4-BE49-F238E27FC236}">
                <a16:creationId xmlns:a16="http://schemas.microsoft.com/office/drawing/2014/main" id="{8EBE7A64-5BF9-4C4C-97BC-09F77AC4757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4" name="Rectangle 6">
            <a:extLst>
              <a:ext uri="{FF2B5EF4-FFF2-40B4-BE49-F238E27FC236}">
                <a16:creationId xmlns:a16="http://schemas.microsoft.com/office/drawing/2014/main" id="{D99CF089-C3A3-45F2-B4FA-B77A8EEF3B94}"/>
              </a:ext>
            </a:extLst>
          </p:cNvPr>
          <p:cNvSpPr>
            <a:spLocks noGrp="1" noChangeArrowheads="1"/>
          </p:cNvSpPr>
          <p:nvPr>
            <p:ph type="body" idx="1"/>
          </p:nvPr>
        </p:nvSpPr>
        <p:spPr>
          <a:ln/>
        </p:spPr>
        <p:txBody>
          <a:bodyPr lIns="92075" tIns="46038" rIns="92075" bIns="46038"/>
          <a:lstStyle/>
          <a:p>
            <a:endParaRPr lang="en-GB" altLang="en-US" noProof="1"/>
          </a:p>
        </p:txBody>
      </p:sp>
      <p:sp>
        <p:nvSpPr>
          <p:cNvPr id="421895" name="Rectangle 7">
            <a:extLst>
              <a:ext uri="{FF2B5EF4-FFF2-40B4-BE49-F238E27FC236}">
                <a16:creationId xmlns:a16="http://schemas.microsoft.com/office/drawing/2014/main" id="{1E1D5B12-E6F2-4778-A031-5521E1D460AD}"/>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142884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1D628F56-341F-4B0A-8060-F8E513274F84}"/>
              </a:ext>
            </a:extLst>
          </p:cNvPr>
          <p:cNvSpPr>
            <a:spLocks noGrp="1" noChangeArrowheads="1"/>
          </p:cNvSpPr>
          <p:nvPr>
            <p:ph type="sldNum" sz="quarter" idx="5"/>
          </p:nvPr>
        </p:nvSpPr>
        <p:spPr>
          <a:ln/>
        </p:spPr>
        <p:txBody>
          <a:bodyPr/>
          <a:lstStyle/>
          <a:p>
            <a:fld id="{A1CE85C2-5553-4431-9990-A81691B39485}" type="slidenum">
              <a:rPr lang="en-GB" altLang="en-US"/>
              <a:pPr/>
              <a:t>12</a:t>
            </a:fld>
            <a:endParaRPr lang="en-GB" altLang="en-US"/>
          </a:p>
        </p:txBody>
      </p:sp>
      <p:sp>
        <p:nvSpPr>
          <p:cNvPr id="421890" name="Rectangle 2">
            <a:extLst>
              <a:ext uri="{FF2B5EF4-FFF2-40B4-BE49-F238E27FC236}">
                <a16:creationId xmlns:a16="http://schemas.microsoft.com/office/drawing/2014/main" id="{7CECCDCE-2532-496A-9FCD-15A83919FFD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1" name="Rectangle 3">
            <a:extLst>
              <a:ext uri="{FF2B5EF4-FFF2-40B4-BE49-F238E27FC236}">
                <a16:creationId xmlns:a16="http://schemas.microsoft.com/office/drawing/2014/main" id="{06087990-273F-4994-9CA3-CBB52FA1C7C1}"/>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421892" name="Rectangle 4">
            <a:extLst>
              <a:ext uri="{FF2B5EF4-FFF2-40B4-BE49-F238E27FC236}">
                <a16:creationId xmlns:a16="http://schemas.microsoft.com/office/drawing/2014/main" id="{F7DD471B-100A-43F8-92E2-FA5CA011C6D7}"/>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3" name="Rectangle 5">
            <a:extLst>
              <a:ext uri="{FF2B5EF4-FFF2-40B4-BE49-F238E27FC236}">
                <a16:creationId xmlns:a16="http://schemas.microsoft.com/office/drawing/2014/main" id="{8EBE7A64-5BF9-4C4C-97BC-09F77AC47573}"/>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1894" name="Rectangle 6">
            <a:extLst>
              <a:ext uri="{FF2B5EF4-FFF2-40B4-BE49-F238E27FC236}">
                <a16:creationId xmlns:a16="http://schemas.microsoft.com/office/drawing/2014/main" id="{D99CF089-C3A3-45F2-B4FA-B77A8EEF3B94}"/>
              </a:ext>
            </a:extLst>
          </p:cNvPr>
          <p:cNvSpPr>
            <a:spLocks noGrp="1" noChangeArrowheads="1"/>
          </p:cNvSpPr>
          <p:nvPr>
            <p:ph type="body" idx="1"/>
          </p:nvPr>
        </p:nvSpPr>
        <p:spPr>
          <a:ln/>
        </p:spPr>
        <p:txBody>
          <a:bodyPr lIns="92075" tIns="46038" rIns="92075" bIns="46038"/>
          <a:lstStyle/>
          <a:p>
            <a:endParaRPr lang="en-GB" altLang="en-US" noProof="1"/>
          </a:p>
        </p:txBody>
      </p:sp>
      <p:sp>
        <p:nvSpPr>
          <p:cNvPr id="421895" name="Rectangle 7">
            <a:extLst>
              <a:ext uri="{FF2B5EF4-FFF2-40B4-BE49-F238E27FC236}">
                <a16:creationId xmlns:a16="http://schemas.microsoft.com/office/drawing/2014/main" id="{1E1D5B12-E6F2-4778-A031-5521E1D460AD}"/>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1379254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EB2D89F9-99B8-426A-9ACD-F13C8EB57010}"/>
              </a:ext>
            </a:extLst>
          </p:cNvPr>
          <p:cNvSpPr>
            <a:spLocks noGrp="1" noChangeArrowheads="1"/>
          </p:cNvSpPr>
          <p:nvPr>
            <p:ph type="sldNum" sz="quarter" idx="5"/>
          </p:nvPr>
        </p:nvSpPr>
        <p:spPr>
          <a:ln/>
        </p:spPr>
        <p:txBody>
          <a:bodyPr/>
          <a:lstStyle/>
          <a:p>
            <a:fld id="{4CE1676A-239D-46B2-9029-1D91F36BFB05}" type="slidenum">
              <a:rPr lang="en-GB" altLang="en-US"/>
              <a:pPr/>
              <a:t>13</a:t>
            </a:fld>
            <a:endParaRPr lang="en-GB" altLang="en-US"/>
          </a:p>
        </p:txBody>
      </p:sp>
      <p:sp>
        <p:nvSpPr>
          <p:cNvPr id="423938" name="Rectangle 2">
            <a:extLst>
              <a:ext uri="{FF2B5EF4-FFF2-40B4-BE49-F238E27FC236}">
                <a16:creationId xmlns:a16="http://schemas.microsoft.com/office/drawing/2014/main" id="{365C593E-879B-4D0F-A36F-023C6C4BE2B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39" name="Rectangle 3">
            <a:extLst>
              <a:ext uri="{FF2B5EF4-FFF2-40B4-BE49-F238E27FC236}">
                <a16:creationId xmlns:a16="http://schemas.microsoft.com/office/drawing/2014/main" id="{114E1D97-18F3-48CF-9316-D83CFD389BDE}"/>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6</a:t>
            </a:r>
          </a:p>
        </p:txBody>
      </p:sp>
      <p:sp>
        <p:nvSpPr>
          <p:cNvPr id="423940" name="Rectangle 4">
            <a:extLst>
              <a:ext uri="{FF2B5EF4-FFF2-40B4-BE49-F238E27FC236}">
                <a16:creationId xmlns:a16="http://schemas.microsoft.com/office/drawing/2014/main" id="{1077D3A0-E40A-4318-BFF7-3F8B4489FD2C}"/>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41" name="Rectangle 5">
            <a:extLst>
              <a:ext uri="{FF2B5EF4-FFF2-40B4-BE49-F238E27FC236}">
                <a16:creationId xmlns:a16="http://schemas.microsoft.com/office/drawing/2014/main" id="{B7379D81-106F-4762-8952-70DD9157AB1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3942" name="Rectangle 6">
            <a:extLst>
              <a:ext uri="{FF2B5EF4-FFF2-40B4-BE49-F238E27FC236}">
                <a16:creationId xmlns:a16="http://schemas.microsoft.com/office/drawing/2014/main" id="{7CE53691-667E-47E7-8C37-969E27D3E4E5}"/>
              </a:ext>
            </a:extLst>
          </p:cNvPr>
          <p:cNvSpPr>
            <a:spLocks noGrp="1" noChangeArrowheads="1"/>
          </p:cNvSpPr>
          <p:nvPr>
            <p:ph type="body" idx="1"/>
          </p:nvPr>
        </p:nvSpPr>
        <p:spPr>
          <a:ln/>
        </p:spPr>
        <p:txBody>
          <a:bodyPr lIns="92075" tIns="46038" rIns="92075" bIns="46038"/>
          <a:lstStyle/>
          <a:p>
            <a:endParaRPr lang="en-GB" altLang="en-US" noProof="1"/>
          </a:p>
        </p:txBody>
      </p:sp>
      <p:sp>
        <p:nvSpPr>
          <p:cNvPr id="423943" name="Rectangle 7">
            <a:extLst>
              <a:ext uri="{FF2B5EF4-FFF2-40B4-BE49-F238E27FC236}">
                <a16:creationId xmlns:a16="http://schemas.microsoft.com/office/drawing/2014/main" id="{9C94CAC0-58AC-43B0-ABAE-7E4E3949BF46}"/>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42349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2498629-E0C6-4BD5-82F7-8A80C46D4745}"/>
              </a:ext>
            </a:extLst>
          </p:cNvPr>
          <p:cNvSpPr>
            <a:spLocks noGrp="1" noChangeArrowheads="1"/>
          </p:cNvSpPr>
          <p:nvPr>
            <p:ph type="sldNum" sz="quarter" idx="5"/>
          </p:nvPr>
        </p:nvSpPr>
        <p:spPr>
          <a:ln/>
        </p:spPr>
        <p:txBody>
          <a:bodyPr/>
          <a:lstStyle/>
          <a:p>
            <a:fld id="{2EF8FBFF-5F45-40A8-BC01-3BACFD7B8C4D}" type="slidenum">
              <a:rPr lang="en-GB" altLang="en-US"/>
              <a:pPr/>
              <a:t>14</a:t>
            </a:fld>
            <a:endParaRPr lang="en-GB" altLang="en-US"/>
          </a:p>
        </p:txBody>
      </p:sp>
      <p:sp>
        <p:nvSpPr>
          <p:cNvPr id="425986" name="Rectangle 2">
            <a:extLst>
              <a:ext uri="{FF2B5EF4-FFF2-40B4-BE49-F238E27FC236}">
                <a16:creationId xmlns:a16="http://schemas.microsoft.com/office/drawing/2014/main" id="{1D045CEE-8C07-4EF3-9793-5DC413DC5EB6}"/>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5987" name="Rectangle 3">
            <a:extLst>
              <a:ext uri="{FF2B5EF4-FFF2-40B4-BE49-F238E27FC236}">
                <a16:creationId xmlns:a16="http://schemas.microsoft.com/office/drawing/2014/main" id="{DC042A48-94D1-444D-A9E8-41897273C21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25988" name="Rectangle 4">
            <a:extLst>
              <a:ext uri="{FF2B5EF4-FFF2-40B4-BE49-F238E27FC236}">
                <a16:creationId xmlns:a16="http://schemas.microsoft.com/office/drawing/2014/main" id="{516C61C8-FEF2-484C-828A-8210E14B2115}"/>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5989" name="Rectangle 5">
            <a:extLst>
              <a:ext uri="{FF2B5EF4-FFF2-40B4-BE49-F238E27FC236}">
                <a16:creationId xmlns:a16="http://schemas.microsoft.com/office/drawing/2014/main" id="{460CC148-2267-4E11-9D89-73C80D7370A6}"/>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5990" name="Rectangle 6">
            <a:extLst>
              <a:ext uri="{FF2B5EF4-FFF2-40B4-BE49-F238E27FC236}">
                <a16:creationId xmlns:a16="http://schemas.microsoft.com/office/drawing/2014/main" id="{D287018D-5B4B-4243-B748-4A4A872E501F}"/>
              </a:ext>
            </a:extLst>
          </p:cNvPr>
          <p:cNvSpPr>
            <a:spLocks noGrp="1" noChangeArrowheads="1"/>
          </p:cNvSpPr>
          <p:nvPr>
            <p:ph type="body" idx="1"/>
          </p:nvPr>
        </p:nvSpPr>
        <p:spPr>
          <a:ln/>
        </p:spPr>
        <p:txBody>
          <a:bodyPr lIns="92075" tIns="46038" rIns="92075" bIns="46038"/>
          <a:lstStyle/>
          <a:p>
            <a:endParaRPr lang="en-GB" altLang="en-US" noProof="1"/>
          </a:p>
        </p:txBody>
      </p:sp>
      <p:sp>
        <p:nvSpPr>
          <p:cNvPr id="425991" name="Rectangle 7">
            <a:extLst>
              <a:ext uri="{FF2B5EF4-FFF2-40B4-BE49-F238E27FC236}">
                <a16:creationId xmlns:a16="http://schemas.microsoft.com/office/drawing/2014/main" id="{3E569BF8-896F-464A-9A1A-C8E40FA90592}"/>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342611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37C1A854-BFA6-4843-B205-79A92339E3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C359B06-7E7B-48A8-93E4-A4B8849B6B6D}" type="slidenum">
              <a:rPr lang="en-GB" altLang="en-US" sz="1200">
                <a:latin typeface="Calibri" panose="020F0502020204030204" pitchFamily="34" charset="0"/>
                <a:cs typeface="Arial" panose="020B0604020202020204" pitchFamily="34" charset="0"/>
              </a:rPr>
              <a:pPr eaLnBrk="1" hangingPunct="1"/>
              <a:t>15</a:t>
            </a:fld>
            <a:endParaRPr lang="en-GB" altLang="en-US" sz="1200">
              <a:latin typeface="Calibri" panose="020F0502020204030204" pitchFamily="34" charset="0"/>
              <a:cs typeface="Arial" panose="020B0604020202020204" pitchFamily="34" charset="0"/>
            </a:endParaRPr>
          </a:p>
        </p:txBody>
      </p:sp>
      <p:sp>
        <p:nvSpPr>
          <p:cNvPr id="4099" name="Rectangle 7">
            <a:extLst>
              <a:ext uri="{FF2B5EF4-FFF2-40B4-BE49-F238E27FC236}">
                <a16:creationId xmlns:a16="http://schemas.microsoft.com/office/drawing/2014/main" id="{04489034-64B0-44C1-BFE6-D826284418C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22FD031F-F245-4703-AD4F-5532DC84E57A}" type="slidenum">
              <a:rPr lang="en-GB" altLang="en-US" sz="1200">
                <a:cs typeface="Arial" panose="020B0604020202020204" pitchFamily="34" charset="0"/>
              </a:rPr>
              <a:pPr algn="r" eaLnBrk="1" hangingPunct="1"/>
              <a:t>15</a:t>
            </a:fld>
            <a:endParaRPr lang="en-GB" altLang="en-US" sz="1200">
              <a:cs typeface="Arial" panose="020B0604020202020204" pitchFamily="34" charset="0"/>
            </a:endParaRPr>
          </a:p>
        </p:txBody>
      </p:sp>
      <p:sp>
        <p:nvSpPr>
          <p:cNvPr id="4100" name="Rectangle 2">
            <a:extLst>
              <a:ext uri="{FF2B5EF4-FFF2-40B4-BE49-F238E27FC236}">
                <a16:creationId xmlns:a16="http://schemas.microsoft.com/office/drawing/2014/main" id="{2C932BD6-2F24-4DC5-97FE-6EA4D6BE596A}"/>
              </a:ext>
            </a:extLst>
          </p:cNvPr>
          <p:cNvSpPr>
            <a:spLocks noGrp="1" noRot="1" noChangeAspect="1" noChangeArrowheads="1" noTextEdit="1"/>
          </p:cNvSpPr>
          <p:nvPr>
            <p:ph type="sldImg"/>
          </p:nvPr>
        </p:nvSpPr>
        <p:spPr>
          <a:xfrm>
            <a:off x="381000" y="685800"/>
            <a:ext cx="6096000" cy="3429000"/>
          </a:xfrm>
          <a:ln/>
        </p:spPr>
      </p:sp>
      <p:sp>
        <p:nvSpPr>
          <p:cNvPr id="4101" name="Rectangle 3">
            <a:extLst>
              <a:ext uri="{FF2B5EF4-FFF2-40B4-BE49-F238E27FC236}">
                <a16:creationId xmlns:a16="http://schemas.microsoft.com/office/drawing/2014/main" id="{36C855F4-4751-48D9-BC05-9C29AD4EF2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6598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06C1773-2F41-4E93-8758-17B553A2369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9021F77-4FCB-4048-821F-2A7E0B56BB1E}" type="slidenum">
              <a:rPr lang="en-GB" altLang="en-US" sz="1200"/>
              <a:pPr/>
              <a:t>16</a:t>
            </a:fld>
            <a:endParaRPr lang="en-GB" altLang="en-US" sz="1200"/>
          </a:p>
        </p:txBody>
      </p:sp>
      <p:sp>
        <p:nvSpPr>
          <p:cNvPr id="4099" name="Rectangle 2">
            <a:extLst>
              <a:ext uri="{FF2B5EF4-FFF2-40B4-BE49-F238E27FC236}">
                <a16:creationId xmlns:a16="http://schemas.microsoft.com/office/drawing/2014/main" id="{3645EC5A-7125-47C4-807F-FE5DF182F545}"/>
              </a:ext>
            </a:extLst>
          </p:cNvPr>
          <p:cNvSpPr>
            <a:spLocks noGrp="1" noRot="1" noChangeAspect="1" noChangeArrowheads="1" noTextEdit="1"/>
          </p:cNvSpPr>
          <p:nvPr>
            <p:ph type="sldImg"/>
          </p:nvPr>
        </p:nvSpPr>
        <p:spPr>
          <a:xfrm>
            <a:off x="381000" y="685800"/>
            <a:ext cx="6096000" cy="3429000"/>
          </a:xfrm>
          <a:ln/>
        </p:spPr>
      </p:sp>
      <p:sp>
        <p:nvSpPr>
          <p:cNvPr id="4100" name="Rectangle 3">
            <a:extLst>
              <a:ext uri="{FF2B5EF4-FFF2-40B4-BE49-F238E27FC236}">
                <a16:creationId xmlns:a16="http://schemas.microsoft.com/office/drawing/2014/main" id="{2737FAD5-2664-4C9E-BC80-ABB0D839E5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718734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67CAED-9751-4CB7-8840-7BDAC861C6C7}"/>
              </a:ext>
            </a:extLst>
          </p:cNvPr>
          <p:cNvSpPr>
            <a:spLocks noGrp="1" noChangeArrowheads="1"/>
          </p:cNvSpPr>
          <p:nvPr>
            <p:ph type="sldNum" sz="quarter" idx="5"/>
          </p:nvPr>
        </p:nvSpPr>
        <p:spPr>
          <a:ln/>
        </p:spPr>
        <p:txBody>
          <a:bodyPr/>
          <a:lstStyle/>
          <a:p>
            <a:fld id="{ACA4DDA7-308D-4195-91E0-C2EB9A3199D5}" type="slidenum">
              <a:rPr lang="en-GB" altLang="en-US"/>
              <a:pPr/>
              <a:t>20</a:t>
            </a:fld>
            <a:endParaRPr lang="en-GB" altLang="en-US"/>
          </a:p>
        </p:txBody>
      </p:sp>
      <p:sp>
        <p:nvSpPr>
          <p:cNvPr id="446466" name="Rectangle 2">
            <a:extLst>
              <a:ext uri="{FF2B5EF4-FFF2-40B4-BE49-F238E27FC236}">
                <a16:creationId xmlns:a16="http://schemas.microsoft.com/office/drawing/2014/main" id="{BF1D68DD-42EF-44D0-AC1E-EDC9E32DB8FD}"/>
              </a:ext>
            </a:extLst>
          </p:cNvPr>
          <p:cNvSpPr>
            <a:spLocks noGrp="1" noRot="1" noChangeAspect="1" noChangeArrowheads="1" noTextEdit="1"/>
          </p:cNvSpPr>
          <p:nvPr>
            <p:ph type="sldImg"/>
          </p:nvPr>
        </p:nvSpPr>
        <p:spPr>
          <a:xfrm>
            <a:off x="393700" y="692150"/>
            <a:ext cx="6070600" cy="3416300"/>
          </a:xfrm>
          <a:ln/>
        </p:spPr>
      </p:sp>
      <p:sp>
        <p:nvSpPr>
          <p:cNvPr id="446467" name="Rectangle 3">
            <a:extLst>
              <a:ext uri="{FF2B5EF4-FFF2-40B4-BE49-F238E27FC236}">
                <a16:creationId xmlns:a16="http://schemas.microsoft.com/office/drawing/2014/main" id="{761B66BF-57E6-4A35-A1E6-035AA7058812}"/>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3516588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37FEB81-2D37-46EE-817C-FB77D93A3FAC}"/>
              </a:ext>
            </a:extLst>
          </p:cNvPr>
          <p:cNvSpPr>
            <a:spLocks noGrp="1" noChangeArrowheads="1"/>
          </p:cNvSpPr>
          <p:nvPr>
            <p:ph type="sldNum" sz="quarter" idx="5"/>
          </p:nvPr>
        </p:nvSpPr>
        <p:spPr>
          <a:ln/>
        </p:spPr>
        <p:txBody>
          <a:bodyPr/>
          <a:lstStyle/>
          <a:p>
            <a:fld id="{ECA1AA5D-C826-4883-8972-D62670876086}" type="slidenum">
              <a:rPr lang="en-GB" altLang="en-US"/>
              <a:pPr/>
              <a:t>21</a:t>
            </a:fld>
            <a:endParaRPr lang="en-GB" altLang="en-US"/>
          </a:p>
        </p:txBody>
      </p:sp>
      <p:sp>
        <p:nvSpPr>
          <p:cNvPr id="448514" name="Rectangle 2">
            <a:extLst>
              <a:ext uri="{FF2B5EF4-FFF2-40B4-BE49-F238E27FC236}">
                <a16:creationId xmlns:a16="http://schemas.microsoft.com/office/drawing/2014/main" id="{C482F71F-8D19-446F-BCE0-9894DC2350EA}"/>
              </a:ext>
            </a:extLst>
          </p:cNvPr>
          <p:cNvSpPr>
            <a:spLocks noGrp="1" noRot="1" noChangeAspect="1" noChangeArrowheads="1" noTextEdit="1"/>
          </p:cNvSpPr>
          <p:nvPr>
            <p:ph type="sldImg"/>
          </p:nvPr>
        </p:nvSpPr>
        <p:spPr>
          <a:xfrm>
            <a:off x="393700" y="692150"/>
            <a:ext cx="6070600" cy="3416300"/>
          </a:xfrm>
          <a:ln/>
        </p:spPr>
      </p:sp>
      <p:sp>
        <p:nvSpPr>
          <p:cNvPr id="448515" name="Rectangle 3">
            <a:extLst>
              <a:ext uri="{FF2B5EF4-FFF2-40B4-BE49-F238E27FC236}">
                <a16:creationId xmlns:a16="http://schemas.microsoft.com/office/drawing/2014/main" id="{CCB14C0D-5153-4FF2-BEAD-78D586237963}"/>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414903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F47C64FB-E3F4-41C1-B053-CC418F7BE2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BDB9866-12D8-4878-B730-547870B15465}" type="slidenum">
              <a:rPr lang="en-GB" altLang="en-US" sz="1200" smtClean="0"/>
              <a:pPr/>
              <a:t>22</a:t>
            </a:fld>
            <a:endParaRPr lang="en-GB" altLang="en-US" sz="1200"/>
          </a:p>
        </p:txBody>
      </p:sp>
      <p:sp>
        <p:nvSpPr>
          <p:cNvPr id="4099" name="Rectangle 2">
            <a:extLst>
              <a:ext uri="{FF2B5EF4-FFF2-40B4-BE49-F238E27FC236}">
                <a16:creationId xmlns:a16="http://schemas.microsoft.com/office/drawing/2014/main" id="{E9E6AAD7-BB83-44F7-9E28-A809F060CE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altLang="en-US">
              <a:latin typeface="Times New Roman" panose="02020603050405020304" pitchFamily="18" charset="0"/>
            </a:endParaRPr>
          </a:p>
        </p:txBody>
      </p:sp>
      <p:sp>
        <p:nvSpPr>
          <p:cNvPr id="4100" name="Rectangle 3">
            <a:extLst>
              <a:ext uri="{FF2B5EF4-FFF2-40B4-BE49-F238E27FC236}">
                <a16:creationId xmlns:a16="http://schemas.microsoft.com/office/drawing/2014/main" id="{8501D54C-67B9-46E3-8720-CC869353A92E}"/>
              </a:ext>
            </a:extLst>
          </p:cNvPr>
          <p:cNvSpPr>
            <a:spLocks noGrp="1" noRot="1" noChangeAspect="1" noChangeArrowheads="1" noTextEdit="1"/>
          </p:cNvSpPr>
          <p:nvPr>
            <p:ph type="sldImg"/>
          </p:nvPr>
        </p:nvSpPr>
        <p:spPr>
          <a:xfrm>
            <a:off x="381000" y="685800"/>
            <a:ext cx="6096000" cy="3429000"/>
          </a:xfrm>
          <a:ln w="12700" cap="flat">
            <a:solidFill>
              <a:schemeClr val="tx1"/>
            </a:solidFill>
          </a:ln>
        </p:spPr>
      </p:sp>
    </p:spTree>
    <p:extLst>
      <p:ext uri="{BB962C8B-B14F-4D97-AF65-F5344CB8AC3E}">
        <p14:creationId xmlns:p14="http://schemas.microsoft.com/office/powerpoint/2010/main" val="3872503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04BF23D0-9E40-41FF-B393-D6BB0FCBC1AC}"/>
              </a:ext>
            </a:extLst>
          </p:cNvPr>
          <p:cNvSpPr>
            <a:spLocks noGrp="1" noChangeArrowheads="1"/>
          </p:cNvSpPr>
          <p:nvPr>
            <p:ph type="sldNum" sz="quarter" idx="5"/>
          </p:nvPr>
        </p:nvSpPr>
        <p:spPr>
          <a:ln/>
        </p:spPr>
        <p:txBody>
          <a:bodyPr/>
          <a:lstStyle/>
          <a:p>
            <a:fld id="{B3744ADF-AA5F-4BED-8FAF-DBE9D8B6E888}" type="slidenum">
              <a:rPr lang="en-GB" altLang="en-US"/>
              <a:pPr/>
              <a:t>28</a:t>
            </a:fld>
            <a:endParaRPr lang="en-GB" altLang="en-US"/>
          </a:p>
        </p:txBody>
      </p:sp>
      <p:sp>
        <p:nvSpPr>
          <p:cNvPr id="397314" name="Rectangle 2">
            <a:extLst>
              <a:ext uri="{FF2B5EF4-FFF2-40B4-BE49-F238E27FC236}">
                <a16:creationId xmlns:a16="http://schemas.microsoft.com/office/drawing/2014/main" id="{8F4398CE-9153-47D8-9E9C-6B6C01EDEB6A}"/>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5" name="Rectangle 3">
            <a:extLst>
              <a:ext uri="{FF2B5EF4-FFF2-40B4-BE49-F238E27FC236}">
                <a16:creationId xmlns:a16="http://schemas.microsoft.com/office/drawing/2014/main" id="{1CF4D37F-5C26-4485-97C6-74495653A1CD}"/>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4</a:t>
            </a:r>
          </a:p>
        </p:txBody>
      </p:sp>
      <p:sp>
        <p:nvSpPr>
          <p:cNvPr id="397316" name="Rectangle 4">
            <a:extLst>
              <a:ext uri="{FF2B5EF4-FFF2-40B4-BE49-F238E27FC236}">
                <a16:creationId xmlns:a16="http://schemas.microsoft.com/office/drawing/2014/main" id="{A3DEEA18-01D6-407F-8F70-8B962AA728D5}"/>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7" name="Rectangle 5">
            <a:extLst>
              <a:ext uri="{FF2B5EF4-FFF2-40B4-BE49-F238E27FC236}">
                <a16:creationId xmlns:a16="http://schemas.microsoft.com/office/drawing/2014/main" id="{0ED56874-97DE-4B65-B1A6-523D49CA83B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7318" name="Rectangle 6">
            <a:extLst>
              <a:ext uri="{FF2B5EF4-FFF2-40B4-BE49-F238E27FC236}">
                <a16:creationId xmlns:a16="http://schemas.microsoft.com/office/drawing/2014/main" id="{E76C1DD1-A54C-4B38-A091-79BBAD980EB2}"/>
              </a:ext>
            </a:extLst>
          </p:cNvPr>
          <p:cNvSpPr>
            <a:spLocks noGrp="1" noChangeArrowheads="1"/>
          </p:cNvSpPr>
          <p:nvPr>
            <p:ph type="body" idx="1"/>
          </p:nvPr>
        </p:nvSpPr>
        <p:spPr>
          <a:ln/>
        </p:spPr>
        <p:txBody>
          <a:bodyPr lIns="92075" tIns="46038" rIns="92075" bIns="46038"/>
          <a:lstStyle/>
          <a:p>
            <a:endParaRPr lang="en-GB" altLang="en-US" noProof="1"/>
          </a:p>
        </p:txBody>
      </p:sp>
      <p:sp>
        <p:nvSpPr>
          <p:cNvPr id="397319" name="Rectangle 7">
            <a:extLst>
              <a:ext uri="{FF2B5EF4-FFF2-40B4-BE49-F238E27FC236}">
                <a16:creationId xmlns:a16="http://schemas.microsoft.com/office/drawing/2014/main" id="{75F7ECAB-686D-4FBA-BA30-B622191DDD12}"/>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946092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5570E6A4-33C1-4453-A010-26254B6FF4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C9B9E96-458B-4533-8016-ED82594E1398}" type="slidenum">
              <a:rPr lang="en-GB" altLang="en-US" sz="1200" smtClean="0"/>
              <a:pPr/>
              <a:t>29</a:t>
            </a:fld>
            <a:endParaRPr lang="en-GB" altLang="en-US" sz="1200"/>
          </a:p>
        </p:txBody>
      </p:sp>
      <p:sp>
        <p:nvSpPr>
          <p:cNvPr id="4099" name="Rectangle 2">
            <a:extLst>
              <a:ext uri="{FF2B5EF4-FFF2-40B4-BE49-F238E27FC236}">
                <a16:creationId xmlns:a16="http://schemas.microsoft.com/office/drawing/2014/main" id="{C3E254E5-6DEC-416F-BDE5-BDBC63491C6D}"/>
              </a:ext>
            </a:extLst>
          </p:cNvPr>
          <p:cNvSpPr>
            <a:spLocks noGrp="1" noRot="1" noChangeAspect="1" noChangeArrowheads="1" noTextEdit="1"/>
          </p:cNvSpPr>
          <p:nvPr>
            <p:ph type="sldImg"/>
          </p:nvPr>
        </p:nvSpPr>
        <p:spPr>
          <a:xfrm>
            <a:off x="177800" y="762000"/>
            <a:ext cx="6502400" cy="3657600"/>
          </a:xfrm>
          <a:ln/>
        </p:spPr>
      </p:sp>
      <p:sp>
        <p:nvSpPr>
          <p:cNvPr id="4100" name="Rectangle 3">
            <a:extLst>
              <a:ext uri="{FF2B5EF4-FFF2-40B4-BE49-F238E27FC236}">
                <a16:creationId xmlns:a16="http://schemas.microsoft.com/office/drawing/2014/main" id="{28D4E8D0-517A-4144-A0A8-63637BC31C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7958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B2EA283E-7E1E-43A7-988A-4B4B15DCDE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C73D8B3B-6A67-43E0-B863-DA6FD2BC3FCD}" type="slidenum">
              <a:rPr kumimoji="0" lang="en-GB"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GB"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4099" name="Rectangle 2">
            <a:extLst>
              <a:ext uri="{FF2B5EF4-FFF2-40B4-BE49-F238E27FC236}">
                <a16:creationId xmlns:a16="http://schemas.microsoft.com/office/drawing/2014/main" id="{B0B25000-9CA9-49E8-872F-F8987B381E88}"/>
              </a:ext>
            </a:extLst>
          </p:cNvPr>
          <p:cNvSpPr>
            <a:spLocks noGrp="1" noRot="1" noChangeAspect="1" noChangeArrowheads="1" noTextEdit="1"/>
          </p:cNvSpPr>
          <p:nvPr>
            <p:ph type="sldImg"/>
          </p:nvPr>
        </p:nvSpPr>
        <p:spPr>
          <a:xfrm>
            <a:off x="381000" y="685800"/>
            <a:ext cx="6096000" cy="3429000"/>
          </a:xfrm>
          <a:ln/>
        </p:spPr>
      </p:sp>
      <p:sp>
        <p:nvSpPr>
          <p:cNvPr id="4100" name="Rectangle 3">
            <a:extLst>
              <a:ext uri="{FF2B5EF4-FFF2-40B4-BE49-F238E27FC236}">
                <a16:creationId xmlns:a16="http://schemas.microsoft.com/office/drawing/2014/main" id="{35A64C82-A85D-4B41-87C5-6284D607D1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80658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F9A2FC-FA6E-4D40-A584-09B9C78FFFA4}"/>
              </a:ext>
            </a:extLst>
          </p:cNvPr>
          <p:cNvSpPr>
            <a:spLocks noGrp="1" noChangeArrowheads="1"/>
          </p:cNvSpPr>
          <p:nvPr>
            <p:ph type="sldNum" sz="quarter" idx="5"/>
          </p:nvPr>
        </p:nvSpPr>
        <p:spPr>
          <a:ln/>
        </p:spPr>
        <p:txBody>
          <a:bodyPr/>
          <a:lstStyle/>
          <a:p>
            <a:fld id="{A3FBBC42-BC46-4438-97CB-BBBE9C27FAD6}" type="slidenum">
              <a:rPr lang="en-GB" altLang="en-US"/>
              <a:pPr/>
              <a:t>31</a:t>
            </a:fld>
            <a:endParaRPr lang="en-GB" altLang="en-US"/>
          </a:p>
        </p:txBody>
      </p:sp>
      <p:sp>
        <p:nvSpPr>
          <p:cNvPr id="516098" name="Rectangle 2">
            <a:extLst>
              <a:ext uri="{FF2B5EF4-FFF2-40B4-BE49-F238E27FC236}">
                <a16:creationId xmlns:a16="http://schemas.microsoft.com/office/drawing/2014/main" id="{9BBDB164-1AB8-4603-AF6B-3A4D2BAB5A12}"/>
              </a:ext>
            </a:extLst>
          </p:cNvPr>
          <p:cNvSpPr>
            <a:spLocks noGrp="1" noRot="1" noChangeAspect="1" noChangeArrowheads="1" noTextEdit="1"/>
          </p:cNvSpPr>
          <p:nvPr>
            <p:ph type="sldImg"/>
          </p:nvPr>
        </p:nvSpPr>
        <p:spPr>
          <a:ln/>
        </p:spPr>
      </p:sp>
      <p:sp>
        <p:nvSpPr>
          <p:cNvPr id="516099" name="Rectangle 3">
            <a:extLst>
              <a:ext uri="{FF2B5EF4-FFF2-40B4-BE49-F238E27FC236}">
                <a16:creationId xmlns:a16="http://schemas.microsoft.com/office/drawing/2014/main" id="{DF630A94-8655-486D-80A9-AD5224CC681C}"/>
              </a:ext>
            </a:extLst>
          </p:cNvPr>
          <p:cNvSpPr>
            <a:spLocks noGrp="1" noChangeArrowheads="1"/>
          </p:cNvSpPr>
          <p:nvPr>
            <p:ph type="body" idx="1"/>
          </p:nvPr>
        </p:nvSpPr>
        <p:spPr/>
        <p:txBody>
          <a:bodyPr/>
          <a:lstStyle/>
          <a:p>
            <a:pPr>
              <a:spcBef>
                <a:spcPct val="0"/>
              </a:spcBef>
            </a:pPr>
            <a:endParaRPr lang="en-US" altLang="en-US" sz="2400"/>
          </a:p>
        </p:txBody>
      </p:sp>
    </p:spTree>
    <p:extLst>
      <p:ext uri="{BB962C8B-B14F-4D97-AF65-F5344CB8AC3E}">
        <p14:creationId xmlns:p14="http://schemas.microsoft.com/office/powerpoint/2010/main" val="3245472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E073788B-A65D-4FCF-B4F6-06D44F7AB607}"/>
              </a:ext>
            </a:extLst>
          </p:cNvPr>
          <p:cNvSpPr>
            <a:spLocks noGrp="1" noChangeArrowheads="1"/>
          </p:cNvSpPr>
          <p:nvPr>
            <p:ph type="sldNum" sz="quarter" idx="5"/>
          </p:nvPr>
        </p:nvSpPr>
        <p:spPr>
          <a:ln/>
        </p:spPr>
        <p:txBody>
          <a:bodyPr/>
          <a:lstStyle/>
          <a:p>
            <a:fld id="{C16B4DCF-602A-4E8B-A4AD-8DEDAF03E521}" type="slidenum">
              <a:rPr lang="en-GB" altLang="en-US"/>
              <a:pPr/>
              <a:t>32</a:t>
            </a:fld>
            <a:endParaRPr lang="en-GB" altLang="en-US"/>
          </a:p>
        </p:txBody>
      </p:sp>
      <p:sp>
        <p:nvSpPr>
          <p:cNvPr id="15362" name="Rectangle 1026">
            <a:extLst>
              <a:ext uri="{FF2B5EF4-FFF2-40B4-BE49-F238E27FC236}">
                <a16:creationId xmlns:a16="http://schemas.microsoft.com/office/drawing/2014/main" id="{107E96BA-ACFE-41F7-BA65-0512D0EEA70D}"/>
              </a:ext>
            </a:extLst>
          </p:cNvPr>
          <p:cNvSpPr>
            <a:spLocks noGrp="1" noChangeArrowheads="1"/>
          </p:cNvSpPr>
          <p:nvPr>
            <p:ph type="body" idx="1"/>
          </p:nvPr>
        </p:nvSpPr>
        <p:spPr>
          <a:ln/>
        </p:spPr>
        <p:txBody>
          <a:bodyPr/>
          <a:lstStyle/>
          <a:p>
            <a:endParaRPr lang="en-GB" altLang="en-US" noProof="1"/>
          </a:p>
        </p:txBody>
      </p:sp>
      <p:sp>
        <p:nvSpPr>
          <p:cNvPr id="15363" name="Rectangle 1027">
            <a:extLst>
              <a:ext uri="{FF2B5EF4-FFF2-40B4-BE49-F238E27FC236}">
                <a16:creationId xmlns:a16="http://schemas.microsoft.com/office/drawing/2014/main" id="{355D51A3-1D7A-44DD-A435-6EB3CA0F4CCA}"/>
              </a:ext>
            </a:extLst>
          </p:cNvPr>
          <p:cNvSpPr>
            <a:spLocks noGrp="1" noRot="1" noChangeAspect="1" noChangeArrowheads="1" noTextEdit="1"/>
          </p:cNvSpPr>
          <p:nvPr>
            <p:ph type="sldImg"/>
          </p:nvPr>
        </p:nvSpPr>
        <p:spPr>
          <a:xfrm>
            <a:off x="393700" y="692150"/>
            <a:ext cx="6070600" cy="3416300"/>
          </a:xfrm>
          <a:ln cap="flat"/>
        </p:spPr>
      </p:sp>
    </p:spTree>
    <p:extLst>
      <p:ext uri="{BB962C8B-B14F-4D97-AF65-F5344CB8AC3E}">
        <p14:creationId xmlns:p14="http://schemas.microsoft.com/office/powerpoint/2010/main" val="15081255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326C84-29B4-4615-8523-F5A996D9CF47}"/>
              </a:ext>
            </a:extLst>
          </p:cNvPr>
          <p:cNvSpPr>
            <a:spLocks noGrp="1" noChangeArrowheads="1"/>
          </p:cNvSpPr>
          <p:nvPr>
            <p:ph type="sldNum" sz="quarter" idx="5"/>
          </p:nvPr>
        </p:nvSpPr>
        <p:spPr>
          <a:ln/>
        </p:spPr>
        <p:txBody>
          <a:bodyPr/>
          <a:lstStyle/>
          <a:p>
            <a:fld id="{287DD075-783C-4025-B809-F5F7061D605B}" type="slidenum">
              <a:rPr lang="en-GB" altLang="en-US"/>
              <a:pPr/>
              <a:t>33</a:t>
            </a:fld>
            <a:endParaRPr lang="en-GB" altLang="en-US"/>
          </a:p>
        </p:txBody>
      </p:sp>
      <p:sp>
        <p:nvSpPr>
          <p:cNvPr id="675842" name="Rectangle 2">
            <a:extLst>
              <a:ext uri="{FF2B5EF4-FFF2-40B4-BE49-F238E27FC236}">
                <a16:creationId xmlns:a16="http://schemas.microsoft.com/office/drawing/2014/main" id="{A424B65F-891A-44F0-9912-73DD680AA2CC}"/>
              </a:ext>
            </a:extLst>
          </p:cNvPr>
          <p:cNvSpPr>
            <a:spLocks noGrp="1" noChangeArrowheads="1"/>
          </p:cNvSpPr>
          <p:nvPr>
            <p:ph type="body" idx="1"/>
          </p:nvPr>
        </p:nvSpPr>
        <p:spPr>
          <a:ln/>
        </p:spPr>
        <p:txBody>
          <a:bodyPr lIns="92075" tIns="46038" rIns="92075" bIns="46038"/>
          <a:lstStyle/>
          <a:p>
            <a:endParaRPr lang="en-US" altLang="en-US"/>
          </a:p>
        </p:txBody>
      </p:sp>
      <p:sp>
        <p:nvSpPr>
          <p:cNvPr id="675843" name="Rectangle 3">
            <a:extLst>
              <a:ext uri="{FF2B5EF4-FFF2-40B4-BE49-F238E27FC236}">
                <a16:creationId xmlns:a16="http://schemas.microsoft.com/office/drawing/2014/main" id="{6F5F4DA1-D378-42C2-A107-9FF803687B9F}"/>
              </a:ext>
            </a:extLst>
          </p:cNvPr>
          <p:cNvSpPr>
            <a:spLocks noGrp="1" noRot="1" noChangeAspect="1" noChangeArrowheads="1" noTextEdit="1"/>
          </p:cNvSpPr>
          <p:nvPr>
            <p:ph type="sldImg"/>
          </p:nvPr>
        </p:nvSpPr>
        <p:spPr>
          <a:xfrm>
            <a:off x="393700" y="692150"/>
            <a:ext cx="6070600"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016723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5712FC-2A58-4012-B6B0-84AFBF30D2F7}"/>
              </a:ext>
            </a:extLst>
          </p:cNvPr>
          <p:cNvSpPr>
            <a:spLocks noGrp="1" noChangeArrowheads="1"/>
          </p:cNvSpPr>
          <p:nvPr>
            <p:ph type="sldNum" sz="quarter" idx="5"/>
          </p:nvPr>
        </p:nvSpPr>
        <p:spPr>
          <a:ln/>
        </p:spPr>
        <p:txBody>
          <a:bodyPr/>
          <a:lstStyle/>
          <a:p>
            <a:fld id="{F03110DE-CD0C-4EDB-B441-F43F860AC33E}" type="slidenum">
              <a:rPr lang="en-GB" altLang="en-US"/>
              <a:pPr/>
              <a:t>34</a:t>
            </a:fld>
            <a:endParaRPr lang="en-GB" altLang="en-US"/>
          </a:p>
        </p:txBody>
      </p:sp>
      <p:sp>
        <p:nvSpPr>
          <p:cNvPr id="534530" name="Rectangle 2">
            <a:extLst>
              <a:ext uri="{FF2B5EF4-FFF2-40B4-BE49-F238E27FC236}">
                <a16:creationId xmlns:a16="http://schemas.microsoft.com/office/drawing/2014/main" id="{651F2159-4431-42FD-A17A-5C24141CD1C3}"/>
              </a:ext>
            </a:extLst>
          </p:cNvPr>
          <p:cNvSpPr>
            <a:spLocks noGrp="1" noRot="1" noChangeAspect="1" noChangeArrowheads="1" noTextEdit="1"/>
          </p:cNvSpPr>
          <p:nvPr>
            <p:ph type="sldImg"/>
          </p:nvPr>
        </p:nvSpPr>
        <p:spPr>
          <a:ln/>
        </p:spPr>
      </p:sp>
      <p:sp>
        <p:nvSpPr>
          <p:cNvPr id="534531" name="Rectangle 3">
            <a:extLst>
              <a:ext uri="{FF2B5EF4-FFF2-40B4-BE49-F238E27FC236}">
                <a16:creationId xmlns:a16="http://schemas.microsoft.com/office/drawing/2014/main" id="{65E31996-7D4F-4852-AF29-2B535DEE0330}"/>
              </a:ext>
            </a:extLst>
          </p:cNvPr>
          <p:cNvSpPr>
            <a:spLocks noGrp="1" noChangeArrowheads="1"/>
          </p:cNvSpPr>
          <p:nvPr>
            <p:ph type="body" idx="1"/>
          </p:nvPr>
        </p:nvSpPr>
        <p:spPr/>
        <p:txBody>
          <a:bodyPr/>
          <a:lstStyle/>
          <a:p>
            <a:pPr>
              <a:spcBef>
                <a:spcPct val="0"/>
              </a:spcBef>
            </a:pPr>
            <a:endParaRPr lang="en-US" altLang="en-US" sz="2400"/>
          </a:p>
        </p:txBody>
      </p:sp>
    </p:spTree>
    <p:extLst>
      <p:ext uri="{BB962C8B-B14F-4D97-AF65-F5344CB8AC3E}">
        <p14:creationId xmlns:p14="http://schemas.microsoft.com/office/powerpoint/2010/main" val="19137815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A25F14-6096-4DD1-B57F-9C68444A7557}"/>
              </a:ext>
            </a:extLst>
          </p:cNvPr>
          <p:cNvSpPr>
            <a:spLocks noGrp="1" noChangeArrowheads="1"/>
          </p:cNvSpPr>
          <p:nvPr>
            <p:ph type="sldNum" sz="quarter" idx="5"/>
          </p:nvPr>
        </p:nvSpPr>
        <p:spPr>
          <a:ln/>
        </p:spPr>
        <p:txBody>
          <a:bodyPr/>
          <a:lstStyle/>
          <a:p>
            <a:fld id="{236675EE-8E1C-4AE2-80AD-A737409EB6B9}" type="slidenum">
              <a:rPr lang="en-GB" altLang="en-US"/>
              <a:pPr/>
              <a:t>35</a:t>
            </a:fld>
            <a:endParaRPr lang="en-GB" altLang="en-US"/>
          </a:p>
        </p:txBody>
      </p:sp>
      <p:sp>
        <p:nvSpPr>
          <p:cNvPr id="536578" name="Rectangle 7">
            <a:extLst>
              <a:ext uri="{FF2B5EF4-FFF2-40B4-BE49-F238E27FC236}">
                <a16:creationId xmlns:a16="http://schemas.microsoft.com/office/drawing/2014/main" id="{E9D4D9F6-1E0A-484F-84E0-5665E1E6793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a:fld id="{EA670624-16F4-4BE6-BC93-766B4DE8E322}" type="slidenum">
              <a:rPr lang="en-GB" altLang="en-US" sz="1200"/>
              <a:pPr algn="r"/>
              <a:t>35</a:t>
            </a:fld>
            <a:endParaRPr lang="en-GB" altLang="en-US" sz="1200"/>
          </a:p>
        </p:txBody>
      </p:sp>
      <p:sp>
        <p:nvSpPr>
          <p:cNvPr id="536579" name="Rectangle 2">
            <a:extLst>
              <a:ext uri="{FF2B5EF4-FFF2-40B4-BE49-F238E27FC236}">
                <a16:creationId xmlns:a16="http://schemas.microsoft.com/office/drawing/2014/main" id="{D6CDAF35-1A79-40A8-824B-DB6D3FE02898}"/>
              </a:ext>
            </a:extLst>
          </p:cNvPr>
          <p:cNvSpPr>
            <a:spLocks noGrp="1" noChangeArrowheads="1"/>
          </p:cNvSpPr>
          <p:nvPr>
            <p:ph type="body" idx="1"/>
          </p:nvPr>
        </p:nvSpPr>
        <p:spPr/>
        <p:txBody>
          <a:bodyPr lIns="92075" tIns="46038" rIns="92075" bIns="46038"/>
          <a:lstStyle/>
          <a:p>
            <a:pPr>
              <a:spcBef>
                <a:spcPct val="0"/>
              </a:spcBef>
            </a:pPr>
            <a:endParaRPr lang="en-GB" altLang="en-US" sz="2400" noProof="1"/>
          </a:p>
        </p:txBody>
      </p:sp>
      <p:sp>
        <p:nvSpPr>
          <p:cNvPr id="536580" name="Rectangle 3">
            <a:extLst>
              <a:ext uri="{FF2B5EF4-FFF2-40B4-BE49-F238E27FC236}">
                <a16:creationId xmlns:a16="http://schemas.microsoft.com/office/drawing/2014/main" id="{D806B574-075F-49DE-B310-4BF929E8B7EE}"/>
              </a:ext>
            </a:extLst>
          </p:cNvPr>
          <p:cNvSpPr>
            <a:spLocks noGrp="1" noRot="1" noChangeAspect="1" noChangeArrowheads="1" noTextEdit="1"/>
          </p:cNvSpPr>
          <p:nvPr>
            <p:ph type="sldImg"/>
          </p:nvPr>
        </p:nvSpPr>
        <p:spPr>
          <a:ln w="12700" cap="flat">
            <a:solidFill>
              <a:schemeClr val="tx1"/>
            </a:solidFill>
          </a:ln>
        </p:spPr>
      </p:sp>
    </p:spTree>
    <p:extLst>
      <p:ext uri="{BB962C8B-B14F-4D97-AF65-F5344CB8AC3E}">
        <p14:creationId xmlns:p14="http://schemas.microsoft.com/office/powerpoint/2010/main" val="30459414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D2E63E-4D54-4609-AF53-D704AE717E6A}"/>
              </a:ext>
            </a:extLst>
          </p:cNvPr>
          <p:cNvSpPr>
            <a:spLocks noGrp="1" noChangeArrowheads="1"/>
          </p:cNvSpPr>
          <p:nvPr>
            <p:ph type="sldNum" sz="quarter" idx="5"/>
          </p:nvPr>
        </p:nvSpPr>
        <p:spPr>
          <a:ln/>
        </p:spPr>
        <p:txBody>
          <a:bodyPr/>
          <a:lstStyle/>
          <a:p>
            <a:fld id="{83D922E6-A5F7-4EFC-82C6-531BCD2224CA}" type="slidenum">
              <a:rPr lang="en-GB" altLang="en-US"/>
              <a:pPr/>
              <a:t>36</a:t>
            </a:fld>
            <a:endParaRPr lang="en-GB" altLang="en-US"/>
          </a:p>
        </p:txBody>
      </p:sp>
      <p:sp>
        <p:nvSpPr>
          <p:cNvPr id="452610" name="Rectangle 2">
            <a:extLst>
              <a:ext uri="{FF2B5EF4-FFF2-40B4-BE49-F238E27FC236}">
                <a16:creationId xmlns:a16="http://schemas.microsoft.com/office/drawing/2014/main" id="{8CA6987D-A192-4A88-9F6B-AFF450D0D4A4}"/>
              </a:ext>
            </a:extLst>
          </p:cNvPr>
          <p:cNvSpPr>
            <a:spLocks noGrp="1" noRot="1" noChangeAspect="1" noChangeArrowheads="1" noTextEdit="1"/>
          </p:cNvSpPr>
          <p:nvPr>
            <p:ph type="sldImg"/>
          </p:nvPr>
        </p:nvSpPr>
        <p:spPr>
          <a:xfrm>
            <a:off x="393700" y="692150"/>
            <a:ext cx="6070600" cy="3416300"/>
          </a:xfrm>
          <a:ln/>
        </p:spPr>
      </p:sp>
      <p:sp>
        <p:nvSpPr>
          <p:cNvPr id="452611" name="Rectangle 3">
            <a:extLst>
              <a:ext uri="{FF2B5EF4-FFF2-40B4-BE49-F238E27FC236}">
                <a16:creationId xmlns:a16="http://schemas.microsoft.com/office/drawing/2014/main" id="{8F7B71EC-0C80-4CEE-8C62-31EEB72008AF}"/>
              </a:ext>
            </a:extLst>
          </p:cNvPr>
          <p:cNvSpPr>
            <a:spLocks noGrp="1" noChangeArrowheads="1"/>
          </p:cNvSpPr>
          <p:nvPr>
            <p:ph type="body" idx="1"/>
          </p:nvPr>
        </p:nvSpPr>
        <p:spPr/>
        <p:txBody>
          <a:bodyPr/>
          <a:lstStyle/>
          <a:p>
            <a:pPr algn="ctr">
              <a:spcBef>
                <a:spcPct val="0"/>
              </a:spcBef>
            </a:pPr>
            <a:endParaRPr lang="en-GB" altLang="en-US" sz="2000" noProof="1">
              <a:latin typeface="Arial" panose="020B0604020202020204" pitchFamily="34" charset="0"/>
            </a:endParaRPr>
          </a:p>
        </p:txBody>
      </p:sp>
    </p:spTree>
    <p:extLst>
      <p:ext uri="{BB962C8B-B14F-4D97-AF65-F5344CB8AC3E}">
        <p14:creationId xmlns:p14="http://schemas.microsoft.com/office/powerpoint/2010/main" val="1388360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56F1ECD6-2C23-44A8-A83F-00905096532B}"/>
              </a:ext>
            </a:extLst>
          </p:cNvPr>
          <p:cNvSpPr>
            <a:spLocks noGrp="1" noChangeArrowheads="1"/>
          </p:cNvSpPr>
          <p:nvPr>
            <p:ph type="sldNum" sz="quarter" idx="5"/>
          </p:nvPr>
        </p:nvSpPr>
        <p:spPr>
          <a:ln/>
        </p:spPr>
        <p:txBody>
          <a:bodyPr/>
          <a:lstStyle/>
          <a:p>
            <a:fld id="{C5B01894-FAD5-4D08-A785-B8A1E6855D7C}" type="slidenum">
              <a:rPr lang="en-GB" altLang="en-US"/>
              <a:pPr/>
              <a:t>37</a:t>
            </a:fld>
            <a:endParaRPr lang="en-GB" altLang="en-US"/>
          </a:p>
        </p:txBody>
      </p:sp>
      <p:sp>
        <p:nvSpPr>
          <p:cNvPr id="403458" name="Rectangle 2">
            <a:extLst>
              <a:ext uri="{FF2B5EF4-FFF2-40B4-BE49-F238E27FC236}">
                <a16:creationId xmlns:a16="http://schemas.microsoft.com/office/drawing/2014/main" id="{57BC3324-D52F-4E6C-9BBA-5029B30D717C}"/>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59" name="Rectangle 3">
            <a:extLst>
              <a:ext uri="{FF2B5EF4-FFF2-40B4-BE49-F238E27FC236}">
                <a16:creationId xmlns:a16="http://schemas.microsoft.com/office/drawing/2014/main" id="{90BFA56E-77C6-451E-98B9-031431285F10}"/>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9</a:t>
            </a:r>
          </a:p>
        </p:txBody>
      </p:sp>
      <p:sp>
        <p:nvSpPr>
          <p:cNvPr id="403460" name="Rectangle 4">
            <a:extLst>
              <a:ext uri="{FF2B5EF4-FFF2-40B4-BE49-F238E27FC236}">
                <a16:creationId xmlns:a16="http://schemas.microsoft.com/office/drawing/2014/main" id="{CEC6E79D-FE7D-4CCF-B482-1DE13F441014}"/>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1" name="Rectangle 5">
            <a:extLst>
              <a:ext uri="{FF2B5EF4-FFF2-40B4-BE49-F238E27FC236}">
                <a16:creationId xmlns:a16="http://schemas.microsoft.com/office/drawing/2014/main" id="{C89A841C-E6FD-4203-B1FD-9F3BE39CCAD5}"/>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3462" name="Rectangle 6">
            <a:extLst>
              <a:ext uri="{FF2B5EF4-FFF2-40B4-BE49-F238E27FC236}">
                <a16:creationId xmlns:a16="http://schemas.microsoft.com/office/drawing/2014/main" id="{C9FEEDBA-0A6F-48E3-B99F-DCB55CEDCA48}"/>
              </a:ext>
            </a:extLst>
          </p:cNvPr>
          <p:cNvSpPr>
            <a:spLocks noGrp="1" noChangeArrowheads="1"/>
          </p:cNvSpPr>
          <p:nvPr>
            <p:ph type="body" idx="1"/>
          </p:nvPr>
        </p:nvSpPr>
        <p:spPr>
          <a:ln/>
        </p:spPr>
        <p:txBody>
          <a:bodyPr lIns="92075" tIns="46038" rIns="92075" bIns="46038"/>
          <a:lstStyle/>
          <a:p>
            <a:endParaRPr lang="en-GB" altLang="en-US" noProof="1"/>
          </a:p>
        </p:txBody>
      </p:sp>
      <p:sp>
        <p:nvSpPr>
          <p:cNvPr id="403463" name="Rectangle 7">
            <a:extLst>
              <a:ext uri="{FF2B5EF4-FFF2-40B4-BE49-F238E27FC236}">
                <a16:creationId xmlns:a16="http://schemas.microsoft.com/office/drawing/2014/main" id="{B08FC89A-DF54-43B0-9A94-66F7AADF437B}"/>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24259460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4250D81C-F2B1-4B1E-AE35-FB797B7FDFA0}"/>
              </a:ext>
            </a:extLst>
          </p:cNvPr>
          <p:cNvSpPr>
            <a:spLocks noGrp="1" noChangeArrowheads="1"/>
          </p:cNvSpPr>
          <p:nvPr>
            <p:ph type="sldNum" sz="quarter" idx="5"/>
          </p:nvPr>
        </p:nvSpPr>
        <p:spPr>
          <a:ln/>
        </p:spPr>
        <p:txBody>
          <a:bodyPr/>
          <a:lstStyle/>
          <a:p>
            <a:fld id="{BFF31894-51C4-4DB7-83AA-358190F380AD}" type="slidenum">
              <a:rPr lang="en-GB" altLang="en-US"/>
              <a:pPr/>
              <a:t>38</a:t>
            </a:fld>
            <a:endParaRPr lang="en-GB" altLang="en-US"/>
          </a:p>
        </p:txBody>
      </p:sp>
      <p:sp>
        <p:nvSpPr>
          <p:cNvPr id="405506" name="Rectangle 2">
            <a:extLst>
              <a:ext uri="{FF2B5EF4-FFF2-40B4-BE49-F238E27FC236}">
                <a16:creationId xmlns:a16="http://schemas.microsoft.com/office/drawing/2014/main" id="{06E6A544-7C08-4A66-A808-84823F7F8690}"/>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7" name="Rectangle 3">
            <a:extLst>
              <a:ext uri="{FF2B5EF4-FFF2-40B4-BE49-F238E27FC236}">
                <a16:creationId xmlns:a16="http://schemas.microsoft.com/office/drawing/2014/main" id="{F7087FA1-3359-4628-BAC1-13E0192EF62B}"/>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11</a:t>
            </a:r>
          </a:p>
        </p:txBody>
      </p:sp>
      <p:sp>
        <p:nvSpPr>
          <p:cNvPr id="405508" name="Rectangle 4">
            <a:extLst>
              <a:ext uri="{FF2B5EF4-FFF2-40B4-BE49-F238E27FC236}">
                <a16:creationId xmlns:a16="http://schemas.microsoft.com/office/drawing/2014/main" id="{6DCF302E-67C4-40B0-8414-E759DA910F8A}"/>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09" name="Rectangle 5">
            <a:extLst>
              <a:ext uri="{FF2B5EF4-FFF2-40B4-BE49-F238E27FC236}">
                <a16:creationId xmlns:a16="http://schemas.microsoft.com/office/drawing/2014/main" id="{F2FF6825-CBC4-4F22-A205-1003038D9A3E}"/>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5510" name="Rectangle 6">
            <a:extLst>
              <a:ext uri="{FF2B5EF4-FFF2-40B4-BE49-F238E27FC236}">
                <a16:creationId xmlns:a16="http://schemas.microsoft.com/office/drawing/2014/main" id="{267FF373-8AFE-4A07-80EF-23A85B9DD96A}"/>
              </a:ext>
            </a:extLst>
          </p:cNvPr>
          <p:cNvSpPr>
            <a:spLocks noGrp="1" noChangeArrowheads="1"/>
          </p:cNvSpPr>
          <p:nvPr>
            <p:ph type="body" idx="1"/>
          </p:nvPr>
        </p:nvSpPr>
        <p:spPr>
          <a:ln/>
        </p:spPr>
        <p:txBody>
          <a:bodyPr lIns="92075" tIns="46038" rIns="92075" bIns="46038"/>
          <a:lstStyle/>
          <a:p>
            <a:endParaRPr lang="en-GB" altLang="en-US" noProof="1"/>
          </a:p>
        </p:txBody>
      </p:sp>
      <p:sp>
        <p:nvSpPr>
          <p:cNvPr id="405511" name="Rectangle 7">
            <a:extLst>
              <a:ext uri="{FF2B5EF4-FFF2-40B4-BE49-F238E27FC236}">
                <a16:creationId xmlns:a16="http://schemas.microsoft.com/office/drawing/2014/main" id="{AE41CD13-7196-45C7-93B5-14105E6ECC77}"/>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3685120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5E5C094-7CC1-456B-B006-B149939AD7CE}"/>
              </a:ext>
            </a:extLst>
          </p:cNvPr>
          <p:cNvSpPr>
            <a:spLocks noGrp="1" noChangeArrowheads="1"/>
          </p:cNvSpPr>
          <p:nvPr>
            <p:ph type="sldNum" sz="quarter" idx="5"/>
          </p:nvPr>
        </p:nvSpPr>
        <p:spPr>
          <a:ln/>
        </p:spPr>
        <p:txBody>
          <a:bodyPr/>
          <a:lstStyle/>
          <a:p>
            <a:fld id="{708E9440-B17A-461F-B9CC-F8093B5A7F2E}" type="slidenum">
              <a:rPr lang="en-GB" altLang="en-US"/>
              <a:pPr/>
              <a:t>39</a:t>
            </a:fld>
            <a:endParaRPr lang="en-GB" altLang="en-US"/>
          </a:p>
        </p:txBody>
      </p:sp>
      <p:sp>
        <p:nvSpPr>
          <p:cNvPr id="407554" name="Rectangle 2">
            <a:extLst>
              <a:ext uri="{FF2B5EF4-FFF2-40B4-BE49-F238E27FC236}">
                <a16:creationId xmlns:a16="http://schemas.microsoft.com/office/drawing/2014/main" id="{039FC790-C754-414E-9A9C-A6289B0B32DB}"/>
              </a:ext>
            </a:extLst>
          </p:cNvPr>
          <p:cNvSpPr>
            <a:spLocks noGrp="1" noRot="1" noChangeAspect="1" noChangeArrowheads="1" noTextEdit="1"/>
          </p:cNvSpPr>
          <p:nvPr>
            <p:ph type="sldImg"/>
          </p:nvPr>
        </p:nvSpPr>
        <p:spPr>
          <a:ln/>
        </p:spPr>
      </p:sp>
      <p:sp>
        <p:nvSpPr>
          <p:cNvPr id="407555" name="Rectangle 3">
            <a:extLst>
              <a:ext uri="{FF2B5EF4-FFF2-40B4-BE49-F238E27FC236}">
                <a16:creationId xmlns:a16="http://schemas.microsoft.com/office/drawing/2014/main" id="{A729311A-F246-4A4D-A768-02F982045E51}"/>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2992119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E05BED31-04A5-4556-A80E-E0A1063A856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a:spcBef>
                <a:spcPct val="0"/>
              </a:spcBef>
            </a:pPr>
            <a:fld id="{2A7F30C0-7819-465D-8FD0-8FA748C4BD5D}" type="slidenum">
              <a:rPr lang="en-GB" altLang="en-US">
                <a:solidFill>
                  <a:srgbClr val="000000"/>
                </a:solidFill>
                <a:latin typeface="Times New Roman" panose="02020603050405020304" pitchFamily="18" charset="0"/>
              </a:rPr>
              <a:pPr algn="r">
                <a:spcBef>
                  <a:spcPct val="0"/>
                </a:spcBef>
              </a:pPr>
              <a:t>42</a:t>
            </a:fld>
            <a:endParaRPr lang="en-GB" altLang="en-US">
              <a:solidFill>
                <a:srgbClr val="000000"/>
              </a:solidFill>
              <a:latin typeface="Times New Roman" panose="02020603050405020304" pitchFamily="18" charset="0"/>
            </a:endParaRPr>
          </a:p>
        </p:txBody>
      </p:sp>
      <p:sp>
        <p:nvSpPr>
          <p:cNvPr id="4099" name="Rectangle 2">
            <a:extLst>
              <a:ext uri="{FF2B5EF4-FFF2-40B4-BE49-F238E27FC236}">
                <a16:creationId xmlns:a16="http://schemas.microsoft.com/office/drawing/2014/main" id="{7A5D0768-F412-45D8-9BD6-B4C31239633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en-GB" altLang="en-US">
              <a:latin typeface="Times New Roman" panose="02020603050405020304" pitchFamily="18" charset="0"/>
            </a:endParaRPr>
          </a:p>
        </p:txBody>
      </p:sp>
      <p:sp>
        <p:nvSpPr>
          <p:cNvPr id="4100" name="Rectangle 3">
            <a:extLst>
              <a:ext uri="{FF2B5EF4-FFF2-40B4-BE49-F238E27FC236}">
                <a16:creationId xmlns:a16="http://schemas.microsoft.com/office/drawing/2014/main" id="{7CBE6F7E-BF51-4FBD-9EFA-3AB66F373F8E}"/>
              </a:ext>
            </a:extLst>
          </p:cNvPr>
          <p:cNvSpPr>
            <a:spLocks noGrp="1" noRot="1" noChangeAspect="1" noChangeArrowheads="1" noTextEdit="1"/>
          </p:cNvSpPr>
          <p:nvPr>
            <p:ph type="sldImg"/>
          </p:nvPr>
        </p:nvSpPr>
        <p:spPr bwMode="auto">
          <a:xfrm>
            <a:off x="381000" y="685800"/>
            <a:ext cx="6096000" cy="34290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21952075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BEA01916-0B50-4AF6-9523-589B2313519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D689258-CBDF-40AA-AD9F-E454E58E8006}" type="slidenum">
              <a:rPr lang="en-GB" altLang="en-US" smtClean="0">
                <a:solidFill>
                  <a:srgbClr val="000000"/>
                </a:solidFill>
              </a:rPr>
              <a:pPr>
                <a:spcBef>
                  <a:spcPct val="0"/>
                </a:spcBef>
              </a:pPr>
              <a:t>43</a:t>
            </a:fld>
            <a:endParaRPr lang="en-GB" altLang="en-US">
              <a:solidFill>
                <a:srgbClr val="000000"/>
              </a:solidFill>
            </a:endParaRPr>
          </a:p>
        </p:txBody>
      </p:sp>
      <p:sp>
        <p:nvSpPr>
          <p:cNvPr id="4099" name="Rectangle 2">
            <a:extLst>
              <a:ext uri="{FF2B5EF4-FFF2-40B4-BE49-F238E27FC236}">
                <a16:creationId xmlns:a16="http://schemas.microsoft.com/office/drawing/2014/main" id="{F8D06BCC-F035-455D-8BE2-AAEC9121504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spcBef>
                <a:spcPct val="0"/>
              </a:spcBef>
            </a:pPr>
            <a:endParaRPr lang="en-GB" altLang="en-US">
              <a:latin typeface="Times New Roman" panose="02020603050405020304" pitchFamily="18" charset="0"/>
            </a:endParaRPr>
          </a:p>
        </p:txBody>
      </p:sp>
      <p:sp>
        <p:nvSpPr>
          <p:cNvPr id="4100" name="Rectangle 3">
            <a:extLst>
              <a:ext uri="{FF2B5EF4-FFF2-40B4-BE49-F238E27FC236}">
                <a16:creationId xmlns:a16="http://schemas.microsoft.com/office/drawing/2014/main" id="{EE1CAE74-B380-4E28-9F5E-FEF03EE82F49}"/>
              </a:ext>
            </a:extLst>
          </p:cNvPr>
          <p:cNvSpPr>
            <a:spLocks noGrp="1" noRot="1" noChangeAspect="1" noChangeArrowheads="1" noTextEdit="1"/>
          </p:cNvSpPr>
          <p:nvPr>
            <p:ph type="sldImg"/>
          </p:nvPr>
        </p:nvSpPr>
        <p:spPr bwMode="auto">
          <a:xfrm>
            <a:off x="381000" y="685800"/>
            <a:ext cx="6096000" cy="3429000"/>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578426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35BDA14C-F811-414A-B0B1-34F0F15C7275}"/>
              </a:ext>
            </a:extLst>
          </p:cNvPr>
          <p:cNvSpPr>
            <a:spLocks noGrp="1" noChangeArrowheads="1"/>
          </p:cNvSpPr>
          <p:nvPr>
            <p:ph type="sldNum" sz="quarter" idx="5"/>
          </p:nvPr>
        </p:nvSpPr>
        <p:spPr>
          <a:ln/>
        </p:spPr>
        <p:txBody>
          <a:bodyPr/>
          <a:lstStyle/>
          <a:p>
            <a:fld id="{00ABA4D3-67AB-4569-948F-A856C4519241}" type="slidenum">
              <a:rPr lang="en-GB" altLang="en-US"/>
              <a:pPr/>
              <a:t>44</a:t>
            </a:fld>
            <a:endParaRPr lang="en-GB" altLang="en-US"/>
          </a:p>
        </p:txBody>
      </p:sp>
      <p:sp>
        <p:nvSpPr>
          <p:cNvPr id="417794" name="Rectangle 2">
            <a:extLst>
              <a:ext uri="{FF2B5EF4-FFF2-40B4-BE49-F238E27FC236}">
                <a16:creationId xmlns:a16="http://schemas.microsoft.com/office/drawing/2014/main" id="{66172F22-F6E6-4C9E-A23C-3F8F97CAC18B}"/>
              </a:ext>
            </a:extLst>
          </p:cNvPr>
          <p:cNvSpPr>
            <a:spLocks noChangeArrowheads="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5" name="Rectangle 3">
            <a:extLst>
              <a:ext uri="{FF2B5EF4-FFF2-40B4-BE49-F238E27FC236}">
                <a16:creationId xmlns:a16="http://schemas.microsoft.com/office/drawing/2014/main" id="{571250E1-1B29-42DC-8148-709AA81B8D42}"/>
              </a:ext>
            </a:extLst>
          </p:cNvPr>
          <p:cNvSpPr>
            <a:spLocks noChangeArrowheads="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000" i="1"/>
              <a:t>2</a:t>
            </a:r>
          </a:p>
        </p:txBody>
      </p:sp>
      <p:sp>
        <p:nvSpPr>
          <p:cNvPr id="417796" name="Rectangle 4">
            <a:extLst>
              <a:ext uri="{FF2B5EF4-FFF2-40B4-BE49-F238E27FC236}">
                <a16:creationId xmlns:a16="http://schemas.microsoft.com/office/drawing/2014/main" id="{89D8B1C7-5CA7-4551-BB1C-9921D7614C54}"/>
              </a:ext>
            </a:extLst>
          </p:cNvPr>
          <p:cNvSpPr>
            <a:spLocks noChangeArrowheads="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7" name="Rectangle 5">
            <a:extLst>
              <a:ext uri="{FF2B5EF4-FFF2-40B4-BE49-F238E27FC236}">
                <a16:creationId xmlns:a16="http://schemas.microsoft.com/office/drawing/2014/main" id="{0269D472-AC76-4A61-B76E-3C3BEA8CDFA9}"/>
              </a:ext>
            </a:extLst>
          </p:cNvPr>
          <p:cNvSpPr>
            <a:spLocks noChangeArrowheads="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7798" name="Rectangle 6">
            <a:extLst>
              <a:ext uri="{FF2B5EF4-FFF2-40B4-BE49-F238E27FC236}">
                <a16:creationId xmlns:a16="http://schemas.microsoft.com/office/drawing/2014/main" id="{F686330C-53EB-4010-8952-77DB81073FBD}"/>
              </a:ext>
            </a:extLst>
          </p:cNvPr>
          <p:cNvSpPr>
            <a:spLocks noGrp="1" noChangeArrowheads="1"/>
          </p:cNvSpPr>
          <p:nvPr>
            <p:ph type="body" idx="1"/>
          </p:nvPr>
        </p:nvSpPr>
        <p:spPr>
          <a:ln/>
        </p:spPr>
        <p:txBody>
          <a:bodyPr lIns="92075" tIns="46038" rIns="92075" bIns="46038"/>
          <a:lstStyle/>
          <a:p>
            <a:endParaRPr lang="en-GB" altLang="en-US" noProof="1"/>
          </a:p>
        </p:txBody>
      </p:sp>
      <p:sp>
        <p:nvSpPr>
          <p:cNvPr id="417799" name="Rectangle 7">
            <a:extLst>
              <a:ext uri="{FF2B5EF4-FFF2-40B4-BE49-F238E27FC236}">
                <a16:creationId xmlns:a16="http://schemas.microsoft.com/office/drawing/2014/main" id="{C628B407-3F63-4537-AE32-0878B4459463}"/>
              </a:ext>
            </a:extLst>
          </p:cNvPr>
          <p:cNvSpPr>
            <a:spLocks noGrp="1" noRot="1" noChangeAspect="1" noChangeArrowheads="1" noTextEdit="1"/>
          </p:cNvSpPr>
          <p:nvPr>
            <p:ph type="sldImg"/>
          </p:nvPr>
        </p:nvSpPr>
        <p:spPr>
          <a:xfrm>
            <a:off x="393700" y="692150"/>
            <a:ext cx="6072188" cy="3416300"/>
          </a:xfrm>
          <a:ln w="12700" cap="flat">
            <a:solidFill>
              <a:schemeClr val="tx1"/>
            </a:solidFill>
          </a:ln>
          <a:extLst>
            <a:ext uri="{909E8E84-426E-40DD-AFC4-6F175D3DCCD1}">
              <a14:hiddenFill xmlns:a14="http://schemas.microsoft.com/office/drawing/2010/main">
                <a:noFill/>
              </a14:hiddenFill>
            </a:ext>
          </a:extLst>
        </p:spPr>
      </p:sp>
    </p:spTree>
    <p:extLst>
      <p:ext uri="{BB962C8B-B14F-4D97-AF65-F5344CB8AC3E}">
        <p14:creationId xmlns:p14="http://schemas.microsoft.com/office/powerpoint/2010/main" val="493759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D2794EE3-321C-4120-8E8B-BD40460729E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fld id="{CA9D2B35-3EB2-435F-BD18-8816CC57F210}" type="slidenum">
              <a:rPr lang="en-GB" altLang="en-US" sz="1200">
                <a:solidFill>
                  <a:srgbClr val="000000"/>
                </a:solidFill>
                <a:latin typeface="Arial" panose="020B0604020202020204" pitchFamily="34" charset="0"/>
                <a:cs typeface="Arial" panose="020B0604020202020204" pitchFamily="34" charset="0"/>
              </a:rPr>
              <a:pPr algn="r" eaLnBrk="1" hangingPunct="1"/>
              <a:t>45</a:t>
            </a:fld>
            <a:endParaRPr lang="en-GB" altLang="en-US" sz="1200">
              <a:solidFill>
                <a:srgbClr val="000000"/>
              </a:solidFill>
              <a:latin typeface="Arial" panose="020B0604020202020204" pitchFamily="34" charset="0"/>
              <a:cs typeface="Arial" panose="020B0604020202020204" pitchFamily="34" charset="0"/>
            </a:endParaRPr>
          </a:p>
        </p:txBody>
      </p:sp>
      <p:sp>
        <p:nvSpPr>
          <p:cNvPr id="4099" name="Rectangle 1026">
            <a:extLst>
              <a:ext uri="{FF2B5EF4-FFF2-40B4-BE49-F238E27FC236}">
                <a16:creationId xmlns:a16="http://schemas.microsoft.com/office/drawing/2014/main" id="{50604B84-32DB-40E4-9C4C-3D7F7C25D3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defTabSz="762000"/>
            <a:endParaRPr lang="en-US" altLang="en-US">
              <a:latin typeface="Times New Roman" panose="02020603050405020304" pitchFamily="18" charset="0"/>
            </a:endParaRPr>
          </a:p>
        </p:txBody>
      </p:sp>
      <p:sp>
        <p:nvSpPr>
          <p:cNvPr id="4100" name="Rectangle 1027">
            <a:extLst>
              <a:ext uri="{FF2B5EF4-FFF2-40B4-BE49-F238E27FC236}">
                <a16:creationId xmlns:a16="http://schemas.microsoft.com/office/drawing/2014/main" id="{6C93CBE2-E767-4769-B0D6-B1CB49B865BD}"/>
              </a:ext>
            </a:extLst>
          </p:cNvPr>
          <p:cNvSpPr>
            <a:spLocks noGrp="1" noRot="1" noChangeAspect="1" noChangeArrowheads="1" noTextEdit="1"/>
          </p:cNvSpPr>
          <p:nvPr>
            <p:ph type="sldImg"/>
          </p:nvPr>
        </p:nvSpPr>
        <p:spPr>
          <a:xfrm>
            <a:off x="393700" y="692150"/>
            <a:ext cx="6070600" cy="3416300"/>
          </a:xfrm>
          <a:ln cap="flat">
            <a:solidFill>
              <a:schemeClr val="tx1"/>
            </a:solidFill>
          </a:ln>
        </p:spPr>
      </p:sp>
    </p:spTree>
    <p:extLst>
      <p:ext uri="{BB962C8B-B14F-4D97-AF65-F5344CB8AC3E}">
        <p14:creationId xmlns:p14="http://schemas.microsoft.com/office/powerpoint/2010/main" val="36261681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B4FD33-1932-4D94-850B-696CE3039F86}"/>
              </a:ext>
            </a:extLst>
          </p:cNvPr>
          <p:cNvSpPr>
            <a:spLocks noGrp="1" noChangeArrowheads="1"/>
          </p:cNvSpPr>
          <p:nvPr>
            <p:ph type="sldNum" sz="quarter" idx="5"/>
          </p:nvPr>
        </p:nvSpPr>
        <p:spPr>
          <a:ln/>
        </p:spPr>
        <p:txBody>
          <a:bodyPr/>
          <a:lstStyle/>
          <a:p>
            <a:fld id="{6100740D-B46A-4281-A4E4-914190E8494D}" type="slidenum">
              <a:rPr lang="en-GB" altLang="en-US"/>
              <a:pPr/>
              <a:t>46</a:t>
            </a:fld>
            <a:endParaRPr lang="en-GB" altLang="en-US"/>
          </a:p>
        </p:txBody>
      </p:sp>
      <p:sp>
        <p:nvSpPr>
          <p:cNvPr id="56322" name="Rectangle 2">
            <a:extLst>
              <a:ext uri="{FF2B5EF4-FFF2-40B4-BE49-F238E27FC236}">
                <a16:creationId xmlns:a16="http://schemas.microsoft.com/office/drawing/2014/main" id="{CD117F7A-6936-4378-9D25-3F38DB1C9688}"/>
              </a:ext>
            </a:extLst>
          </p:cNvPr>
          <p:cNvSpPr>
            <a:spLocks noGrp="1" noRot="1" noChangeAspect="1" noChangeArrowheads="1" noTextEdit="1"/>
          </p:cNvSpPr>
          <p:nvPr>
            <p:ph type="sldImg"/>
          </p:nvPr>
        </p:nvSpPr>
        <p:spPr>
          <a:xfrm>
            <a:off x="381000" y="685800"/>
            <a:ext cx="6096000" cy="3429000"/>
          </a:xfrm>
          <a:ln/>
        </p:spPr>
      </p:sp>
      <p:sp>
        <p:nvSpPr>
          <p:cNvPr id="56323" name="Rectangle 3">
            <a:extLst>
              <a:ext uri="{FF2B5EF4-FFF2-40B4-BE49-F238E27FC236}">
                <a16:creationId xmlns:a16="http://schemas.microsoft.com/office/drawing/2014/main" id="{B4C5D599-6D23-4874-8D1C-CCF54FBFFF76}"/>
              </a:ext>
            </a:extLst>
          </p:cNvPr>
          <p:cNvSpPr>
            <a:spLocks noGrp="1" noChangeArrowheads="1"/>
          </p:cNvSpPr>
          <p:nvPr>
            <p:ph type="body" idx="1"/>
          </p:nvPr>
        </p:nvSpPr>
        <p:spPr/>
        <p:txBody>
          <a:bodyPr/>
          <a:lstStyle/>
          <a:p>
            <a:endParaRPr lang="en-GB" altLang="en-US" noProof="1"/>
          </a:p>
        </p:txBody>
      </p:sp>
    </p:spTree>
    <p:extLst>
      <p:ext uri="{BB962C8B-B14F-4D97-AF65-F5344CB8AC3E}">
        <p14:creationId xmlns:p14="http://schemas.microsoft.com/office/powerpoint/2010/main" val="897189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16431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9278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8288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6"/>
            <a:ext cx="10515600" cy="1070568"/>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81707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6455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0AC40-BA68-2446-8065-C4B79F003CB5}"/>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B779B30-55ED-B44F-A01B-A0C9E151AA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4396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F18BB-AB41-CF4E-BE7D-2DD51299C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4475A2-6400-C94D-AF33-EC725F83C9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7CBE933-92D8-8187-B5F9-67501F4DABDA}"/>
              </a:ext>
            </a:extLst>
          </p:cNvPr>
          <p:cNvSpPr>
            <a:spLocks noGrp="1"/>
          </p:cNvSpPr>
          <p:nvPr>
            <p:ph type="dt" sz="half" idx="2"/>
          </p:nvPr>
        </p:nvSpPr>
        <p:spPr>
          <a:xfrm>
            <a:off x="402771" y="6356350"/>
            <a:ext cx="2743200" cy="365125"/>
          </a:xfrm>
          <a:prstGeom prst="rect">
            <a:avLst/>
          </a:prstGeom>
        </p:spPr>
        <p:txBody>
          <a:bodyPr vert="horz" lIns="91440" tIns="45720" rIns="91440" bIns="45720" rtlCol="0" anchor="ctr"/>
          <a:lstStyle>
            <a:lvl1pPr algn="l">
              <a:defRPr sz="1200" i="1">
                <a:solidFill>
                  <a:schemeClr val="tx1"/>
                </a:solidFill>
              </a:defRPr>
            </a:lvl1pPr>
          </a:lstStyle>
          <a:p>
            <a:r>
              <a:rPr lang="en-US"/>
              <a:t>©copyright, Heriot-Watt University, 2024</a:t>
            </a:r>
          </a:p>
        </p:txBody>
      </p:sp>
    </p:spTree>
    <p:extLst>
      <p:ext uri="{BB962C8B-B14F-4D97-AF65-F5344CB8AC3E}">
        <p14:creationId xmlns:p14="http://schemas.microsoft.com/office/powerpoint/2010/main" val="1452948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876FB-4B5F-634E-A817-234B9CC26B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2F7B0B-5E73-3045-8584-B6E7C8D295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823774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2C3C-1703-5C48-AAF3-7F65689B1B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9DF8FB-2DB8-2446-AF08-6B3559EA63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65F26F5-FD62-8E49-A8EC-D082BC3939F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EF6C83F-17BE-EC41-8744-B17CBAEB2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EFF3977-3FA6-8643-BA95-D15C0754FED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116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39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64CB-A011-BB4E-9F6C-914C4FEB965C}"/>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10297D51-BA3E-B940-A518-23EA6AD40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3115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2A1F4-A4C2-7746-A4BF-73A35FF1A3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C5A778-AE0A-FF45-8919-78FC7BFCEA6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779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3ED18-C36D-6942-A17C-A640DD97E8A8}"/>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2AFA3DE-F5C3-6B44-BEDF-E8C5A75519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622076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98AE-10F7-9747-A17A-DCA5FF5349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C8FD-9F20-0F49-BD8A-24F481F0EE5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EBF451-64DA-6B4F-9C75-D38937F059F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26835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4397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ooter Placeholder 9">
            <a:extLst>
              <a:ext uri="{FF2B5EF4-FFF2-40B4-BE49-F238E27FC236}">
                <a16:creationId xmlns:a16="http://schemas.microsoft.com/office/drawing/2014/main" id="{AABCDC2F-C97E-C150-697A-55C9546E1D9A}"/>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2192588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9">
            <a:extLst>
              <a:ext uri="{FF2B5EF4-FFF2-40B4-BE49-F238E27FC236}">
                <a16:creationId xmlns:a16="http://schemas.microsoft.com/office/drawing/2014/main" id="{B939D61E-F5BD-0A95-A8D7-B362178ECF4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052193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9">
            <a:extLst>
              <a:ext uri="{FF2B5EF4-FFF2-40B4-BE49-F238E27FC236}">
                <a16:creationId xmlns:a16="http://schemas.microsoft.com/office/drawing/2014/main" id="{87E77B97-0FDA-734C-97AA-6B7382C08EB9}"/>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1559837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9">
            <a:extLst>
              <a:ext uri="{FF2B5EF4-FFF2-40B4-BE49-F238E27FC236}">
                <a16:creationId xmlns:a16="http://schemas.microsoft.com/office/drawing/2014/main" id="{7DA158A6-B130-9DFD-E616-112696FAD7B4}"/>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13615918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9">
            <a:extLst>
              <a:ext uri="{FF2B5EF4-FFF2-40B4-BE49-F238E27FC236}">
                <a16:creationId xmlns:a16="http://schemas.microsoft.com/office/drawing/2014/main" id="{49A75C75-4D93-8CEE-C5EB-A2102F4CAE4F}"/>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2557689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1AC21-992D-934E-A395-299418D9A9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634E5D-5859-DF46-8BF2-B091BBA88D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0414075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70260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B2C5-8AEF-3A4E-9A56-6BDA129090CB}"/>
              </a:ext>
            </a:extLst>
          </p:cNvPr>
          <p:cNvSpPr>
            <a:spLocks noGrp="1"/>
          </p:cNvSpPr>
          <p:nvPr>
            <p:ph type="title"/>
          </p:nvPr>
        </p:nvSpPr>
        <p:spPr>
          <a:xfrm>
            <a:off x="831850" y="1709738"/>
            <a:ext cx="10515600"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C8C5CE0C-DD89-1148-9CAC-647F409A2C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3860131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81635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2339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D151C-A25C-40DC-9FB7-A0F1FC10D28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51660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endParaRPr lang="en-GB"/>
          </a:p>
        </p:txBody>
      </p:sp>
      <p:sp>
        <p:nvSpPr>
          <p:cNvPr id="3" name="Chart Placeholder 2"/>
          <p:cNvSpPr>
            <a:spLocks noGrp="1"/>
          </p:cNvSpPr>
          <p:nvPr>
            <p:ph type="chart" idx="1"/>
          </p:nvPr>
        </p:nvSpPr>
        <p:spPr>
          <a:xfrm>
            <a:off x="914400" y="1981200"/>
            <a:ext cx="10363200" cy="4114800"/>
          </a:xfrm>
        </p:spPr>
        <p:txBody>
          <a:bodyPr/>
          <a:lstStyle/>
          <a:p>
            <a:pPr lvl="0"/>
            <a:endParaRPr lang="en-GB" noProof="0"/>
          </a:p>
        </p:txBody>
      </p:sp>
      <p:sp>
        <p:nvSpPr>
          <p:cNvPr id="4" name="Rectangle 4">
            <a:extLst>
              <a:ext uri="{FF2B5EF4-FFF2-40B4-BE49-F238E27FC236}">
                <a16:creationId xmlns:a16="http://schemas.microsoft.com/office/drawing/2014/main" id="{6F90F48C-5734-4D93-932D-AF9E8475BD8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0232125-4D52-4B58-B69F-9302613064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F698CDE-4A7C-4047-8116-5F0BC9F49ECE}"/>
              </a:ext>
            </a:extLst>
          </p:cNvPr>
          <p:cNvSpPr>
            <a:spLocks noGrp="1" noChangeArrowheads="1"/>
          </p:cNvSpPr>
          <p:nvPr>
            <p:ph type="sldNum" sz="quarter" idx="12"/>
          </p:nvPr>
        </p:nvSpPr>
        <p:spPr>
          <a:ln/>
        </p:spPr>
        <p:txBody>
          <a:bodyPr/>
          <a:lstStyle>
            <a:lvl1pPr>
              <a:defRPr/>
            </a:lvl1pPr>
          </a:lstStyle>
          <a:p>
            <a:pPr>
              <a:defRPr/>
            </a:pPr>
            <a:fld id="{6293F265-DDE5-47E3-B441-403318178719}" type="slidenum">
              <a:rPr lang="en-GB" altLang="en-US"/>
              <a:pPr>
                <a:defRPr/>
              </a:pPr>
              <a:t>‹#›</a:t>
            </a:fld>
            <a:endParaRPr lang="en-GB" altLang="en-US"/>
          </a:p>
        </p:txBody>
      </p:sp>
    </p:spTree>
    <p:extLst>
      <p:ext uri="{BB962C8B-B14F-4D97-AF65-F5344CB8AC3E}">
        <p14:creationId xmlns:p14="http://schemas.microsoft.com/office/powerpoint/2010/main" val="12530782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4A340-280C-084B-869C-FA8A87E3FA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82A7A-DF09-0C4B-AE3F-E747D86E840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4012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D8A6-E22C-DA4F-99B7-A0CB8B0671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E80796-FCBB-A246-B504-11F9263C044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FD022-296F-8249-999A-CDB3A04FB0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35464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93244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em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3.xml"/><Relationship Id="rId7" Type="http://schemas.openxmlformats.org/officeDocument/2006/relationships/slideLayout" Target="../slideLayouts/slideLayout2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101074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623701"/>
            <a:ext cx="10515600" cy="455326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E8F45BF-3121-0394-1C27-D888D2346F04}"/>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1" name="Footer Placeholder 9">
            <a:extLst>
              <a:ext uri="{FF2B5EF4-FFF2-40B4-BE49-F238E27FC236}">
                <a16:creationId xmlns:a16="http://schemas.microsoft.com/office/drawing/2014/main" id="{AE900FD1-EA9A-60B4-0DBA-00D96C5CA6AA}"/>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9496335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655F09-F7D9-634B-89AA-9C189BC4E667}"/>
              </a:ext>
            </a:extLst>
          </p:cNvPr>
          <p:cNvSpPr/>
          <p:nvPr userDrawn="1"/>
        </p:nvSpPr>
        <p:spPr>
          <a:xfrm>
            <a:off x="435429" y="365125"/>
            <a:ext cx="11353800" cy="5991225"/>
          </a:xfrm>
          <a:prstGeom prst="rect">
            <a:avLst/>
          </a:prstGeom>
          <a:solidFill>
            <a:srgbClr val="0014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77A534A-6AD3-C445-868C-830A3404D938}"/>
              </a:ext>
            </a:extLst>
          </p:cNvPr>
          <p:cNvSpPr>
            <a:spLocks noGrp="1"/>
          </p:cNvSpPr>
          <p:nvPr>
            <p:ph type="title"/>
          </p:nvPr>
        </p:nvSpPr>
        <p:spPr>
          <a:xfrm>
            <a:off x="838200" y="365126"/>
            <a:ext cx="10515600" cy="925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1DB116-2729-2749-A09B-29BC03CD1BB8}"/>
              </a:ext>
            </a:extLst>
          </p:cNvPr>
          <p:cNvSpPr>
            <a:spLocks noGrp="1"/>
          </p:cNvSpPr>
          <p:nvPr>
            <p:ph type="body" idx="1"/>
          </p:nvPr>
        </p:nvSpPr>
        <p:spPr>
          <a:xfrm>
            <a:off x="838200" y="1546789"/>
            <a:ext cx="10515600" cy="46301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E7EE7C59-90E2-CC45-A617-64A4BC29B368}"/>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9">
            <a:extLst>
              <a:ext uri="{FF2B5EF4-FFF2-40B4-BE49-F238E27FC236}">
                <a16:creationId xmlns:a16="http://schemas.microsoft.com/office/drawing/2014/main" id="{A15CB55C-526A-98CB-3EA0-6FC8897ABB9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2248411"/>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Lst>
  <p:txStyles>
    <p:titleStyle>
      <a:lvl1pPr algn="l" defTabSz="914400" rtl="0" eaLnBrk="1" latinLnBrk="0" hangingPunct="1">
        <a:lnSpc>
          <a:spcPct val="90000"/>
        </a:lnSpc>
        <a:spcBef>
          <a:spcPct val="0"/>
        </a:spcBef>
        <a:buNone/>
        <a:defRPr lang="en-US" sz="4000" b="1" i="0" kern="1200" dirty="0" smtClean="0">
          <a:solidFill>
            <a:srgbClr val="A8BF33"/>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bg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F5936A0-BFBD-1049-B7F0-A1533BACDDA5}"/>
              </a:ext>
            </a:extLst>
          </p:cNvPr>
          <p:cNvSpPr/>
          <p:nvPr userDrawn="1"/>
        </p:nvSpPr>
        <p:spPr>
          <a:xfrm>
            <a:off x="435429" y="365125"/>
            <a:ext cx="11353800" cy="5991225"/>
          </a:xfrm>
          <a:prstGeom prst="rect">
            <a:avLst/>
          </a:prstGeom>
          <a:solidFill>
            <a:srgbClr val="E2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AC8945B-ADB6-1249-9092-50CEDEA401E8}"/>
              </a:ext>
            </a:extLst>
          </p:cNvPr>
          <p:cNvSpPr>
            <a:spLocks noGrp="1"/>
          </p:cNvSpPr>
          <p:nvPr>
            <p:ph type="title"/>
          </p:nvPr>
        </p:nvSpPr>
        <p:spPr>
          <a:xfrm>
            <a:off x="838200" y="365126"/>
            <a:ext cx="10515600" cy="9338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84F7C-51EC-8A40-9E2F-D9D9128C9AD8}"/>
              </a:ext>
            </a:extLst>
          </p:cNvPr>
          <p:cNvSpPr>
            <a:spLocks noGrp="1"/>
          </p:cNvSpPr>
          <p:nvPr>
            <p:ph type="body" idx="1"/>
          </p:nvPr>
        </p:nvSpPr>
        <p:spPr>
          <a:xfrm>
            <a:off x="838200" y="1512606"/>
            <a:ext cx="10515600" cy="466435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Rectangle 9">
            <a:extLst>
              <a:ext uri="{FF2B5EF4-FFF2-40B4-BE49-F238E27FC236}">
                <a16:creationId xmlns:a16="http://schemas.microsoft.com/office/drawing/2014/main" id="{A846A84D-B7D0-F045-A6B0-868A1238B952}"/>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9">
            <a:extLst>
              <a:ext uri="{FF2B5EF4-FFF2-40B4-BE49-F238E27FC236}">
                <a16:creationId xmlns:a16="http://schemas.microsoft.com/office/drawing/2014/main" id="{25E85631-C1F0-6AB5-6808-AE8E3687F028}"/>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1136352026"/>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Lst>
  <p:txStyles>
    <p:titleStyle>
      <a:lvl1pPr algn="l" defTabSz="914400" rtl="0" eaLnBrk="1" latinLnBrk="0" hangingPunct="1">
        <a:lnSpc>
          <a:spcPct val="90000"/>
        </a:lnSpc>
        <a:spcBef>
          <a:spcPct val="0"/>
        </a:spcBef>
        <a:buNone/>
        <a:defRPr sz="4000" b="1" i="0" kern="1200">
          <a:solidFill>
            <a:srgbClr val="003554"/>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rgbClr val="003554"/>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rgbClr val="003554"/>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rgbClr val="003554"/>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rgbClr val="003554"/>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8617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452786"/>
            <a:ext cx="10515600" cy="472417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0B49433-1A9F-8E1D-5118-64124EE451F1}"/>
              </a:ext>
            </a:extLst>
          </p:cNvPr>
          <p:cNvPicPr>
            <a:picLocks noChangeAspect="1"/>
          </p:cNvPicPr>
          <p:nvPr userDrawn="1"/>
        </p:nvPicPr>
        <p:blipFill>
          <a:blip r:embed="rId7"/>
          <a:stretch>
            <a:fillRect/>
          </a:stretch>
        </p:blipFill>
        <p:spPr>
          <a:xfrm>
            <a:off x="8474696" y="5403214"/>
            <a:ext cx="2879104" cy="646423"/>
          </a:xfrm>
          <a:prstGeom prst="rect">
            <a:avLst/>
          </a:prstGeom>
        </p:spPr>
      </p:pic>
      <p:sp>
        <p:nvSpPr>
          <p:cNvPr id="10" name="Footer Placeholder 9">
            <a:extLst>
              <a:ext uri="{FF2B5EF4-FFF2-40B4-BE49-F238E27FC236}">
                <a16:creationId xmlns:a16="http://schemas.microsoft.com/office/drawing/2014/main" id="{4AF306E5-725E-82E6-45E7-7A66599A9EDC}"/>
              </a:ext>
            </a:extLst>
          </p:cNvPr>
          <p:cNvSpPr>
            <a:spLocks noGrp="1"/>
          </p:cNvSpPr>
          <p:nvPr>
            <p:ph type="ftr" sz="quarter" idx="3"/>
          </p:nvPr>
        </p:nvSpPr>
        <p:spPr>
          <a:xfrm>
            <a:off x="435429" y="6396280"/>
            <a:ext cx="4114800" cy="365125"/>
          </a:xfrm>
          <a:prstGeom prst="rect">
            <a:avLst/>
          </a:prstGeom>
        </p:spPr>
        <p:txBody>
          <a:bodyPr vert="horz" lIns="91440" tIns="45720" rIns="91440" bIns="45720" rtlCol="0" anchor="ctr"/>
          <a:lstStyle>
            <a:lvl1pPr algn="l">
              <a:defRPr sz="1200" i="1">
                <a:solidFill>
                  <a:schemeClr val="tx1">
                    <a:tint val="82000"/>
                  </a:schemeClr>
                </a:solidFill>
              </a:defRPr>
            </a:lvl1pPr>
          </a:lstStyle>
          <a:p>
            <a:r>
              <a:rPr lang="en-US"/>
              <a:t>©copyright, Heriot-Watt University, 2024</a:t>
            </a:r>
          </a:p>
        </p:txBody>
      </p:sp>
    </p:spTree>
    <p:extLst>
      <p:ext uri="{BB962C8B-B14F-4D97-AF65-F5344CB8AC3E}">
        <p14:creationId xmlns:p14="http://schemas.microsoft.com/office/powerpoint/2010/main" val="9766423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9" r:id="rId5"/>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4B072A16-2AE9-5940-935E-05B1B4DF81F7}"/>
              </a:ext>
            </a:extLst>
          </p:cNvPr>
          <p:cNvSpPr/>
          <p:nvPr userDrawn="1"/>
        </p:nvSpPr>
        <p:spPr>
          <a:xfrm>
            <a:off x="435429" y="6209960"/>
            <a:ext cx="11353800" cy="157389"/>
          </a:xfrm>
          <a:prstGeom prst="rect">
            <a:avLst/>
          </a:prstGeom>
          <a:solidFill>
            <a:srgbClr val="A8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383552129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22" r:id="rId6"/>
    <p:sldLayoutId id="2147483723" r:id="rId7"/>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FB79C-5835-3543-8381-8734D27052A7}"/>
              </a:ext>
            </a:extLst>
          </p:cNvPr>
          <p:cNvSpPr>
            <a:spLocks noGrp="1"/>
          </p:cNvSpPr>
          <p:nvPr>
            <p:ph type="title"/>
          </p:nvPr>
        </p:nvSpPr>
        <p:spPr>
          <a:xfrm>
            <a:off x="838200" y="365126"/>
            <a:ext cx="10515600" cy="90819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ACF438-A80D-BE47-84AD-E72B7C69338B}"/>
              </a:ext>
            </a:extLst>
          </p:cNvPr>
          <p:cNvSpPr>
            <a:spLocks noGrp="1"/>
          </p:cNvSpPr>
          <p:nvPr>
            <p:ph type="body" idx="1"/>
          </p:nvPr>
        </p:nvSpPr>
        <p:spPr>
          <a:xfrm>
            <a:off x="838200" y="1555335"/>
            <a:ext cx="10515600" cy="462162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9">
            <a:extLst>
              <a:ext uri="{FF2B5EF4-FFF2-40B4-BE49-F238E27FC236}">
                <a16:creationId xmlns:a16="http://schemas.microsoft.com/office/drawing/2014/main" id="{E97C69A4-4F15-CC92-27AF-8510A81068D3}"/>
              </a:ext>
            </a:extLst>
          </p:cNvPr>
          <p:cNvSpPr txBox="1">
            <a:spLocks/>
          </p:cNvSpPr>
          <p:nvPr userDrawn="1"/>
        </p:nvSpPr>
        <p:spPr>
          <a:xfrm>
            <a:off x="435429" y="6396280"/>
            <a:ext cx="4114800" cy="365125"/>
          </a:xfrm>
          <a:prstGeom prst="rect">
            <a:avLst/>
          </a:prstGeom>
        </p:spPr>
        <p:txBody>
          <a:bodyPr vert="horz" lIns="91440" tIns="45720" rIns="91440" bIns="45720" rtlCol="0" anchor="ctr"/>
          <a:lstStyle>
            <a:defPPr>
              <a:defRPr lang="en-US"/>
            </a:defPPr>
            <a:lvl1pPr marL="0" algn="l" defTabSz="914400" rtl="0" eaLnBrk="1" latinLnBrk="0" hangingPunct="1">
              <a:defRPr sz="1200" i="1"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Heriot-Watt University, 2024</a:t>
            </a:r>
          </a:p>
        </p:txBody>
      </p:sp>
    </p:spTree>
    <p:extLst>
      <p:ext uri="{BB962C8B-B14F-4D97-AF65-F5344CB8AC3E}">
        <p14:creationId xmlns:p14="http://schemas.microsoft.com/office/powerpoint/2010/main" val="298349532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Lst>
  <p:txStyles>
    <p:title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5.xml"/><Relationship Id="rId4" Type="http://schemas.openxmlformats.org/officeDocument/2006/relationships/hyperlink" Target="https://stats.oecd.org/viewhtml.aspx?datasetcode=PDB_GR&amp;lang=en"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Word_Document.docx"/><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hyperlink" Target="https://www.imf.org/external/ns/cs.aspx?id=28" TargetMode="External"/><Relationship Id="rId2" Type="http://schemas.openxmlformats.org/officeDocument/2006/relationships/notesSlide" Target="../notesSlides/notesSlide10.xml"/><Relationship Id="rId1" Type="http://schemas.openxmlformats.org/officeDocument/2006/relationships/slideLayout" Target="../slideLayouts/slideLayout25.xml"/><Relationship Id="rId5" Type="http://schemas.openxmlformats.org/officeDocument/2006/relationships/chart" Target="../charts/chart2.xml"/><Relationship Id="rId4" Type="http://schemas.openxmlformats.org/officeDocument/2006/relationships/hyperlink" Target="https://ec.europa.eu/info/business-economy-euro/indicators-statistics/economic-databases/macro-economic-database-ameco/ameco-database_en"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www.oecd.org/" TargetMode="External"/><Relationship Id="rId2" Type="http://schemas.openxmlformats.org/officeDocument/2006/relationships/notesSlide" Target="../notesSlides/notesSlide11.xml"/><Relationship Id="rId1" Type="http://schemas.openxmlformats.org/officeDocument/2006/relationships/slideLayout" Target="../slideLayouts/slideLayout25.xml"/><Relationship Id="rId5" Type="http://schemas.openxmlformats.org/officeDocument/2006/relationships/chart" Target="../charts/chart3.xml"/><Relationship Id="rId4" Type="http://schemas.openxmlformats.org/officeDocument/2006/relationships/hyperlink" Target="https://data.oecd.org/rd/gross-domestic-spending-on-r-d.ht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4.xml"/><Relationship Id="rId1" Type="http://schemas.openxmlformats.org/officeDocument/2006/relationships/slideLayout" Target="../slideLayouts/slideLayout26.xml"/><Relationship Id="rId5" Type="http://schemas.openxmlformats.org/officeDocument/2006/relationships/hyperlink" Target="https://www.ons.gov.uk/economy/grossdomesticproductgdp/timeseries/ybha/ukea" TargetMode="External"/><Relationship Id="rId4" Type="http://schemas.openxmlformats.org/officeDocument/2006/relationships/hyperlink" Target="https://www.ons.gov.uk/economy/nationalaccounts/balanceofpayments/datasets/balanceofpayment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hyperlink" Target="http://www.bankofengland.co.uk/boeapps/iadb/" TargetMode="External"/><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chart" Target="../charts/chart5.xml"/></Relationships>
</file>

<file path=ppt/slides/_rels/slide3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hyperlink" Target="https://www.bis.org/statistics/eer.htm"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2.xml"/><Relationship Id="rId1" Type="http://schemas.openxmlformats.org/officeDocument/2006/relationships/slideLayout" Target="../slideLayouts/slideLayout25.xml"/><Relationship Id="rId4" Type="http://schemas.openxmlformats.org/officeDocument/2006/relationships/image" Target="../media/image5.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3" Type="http://schemas.openxmlformats.org/officeDocument/2006/relationships/hyperlink" Target="https://stats.oecd.org/viewhtml.aspx?datasetcode=PDB_GR&amp;lang=en" TargetMode="External"/><Relationship Id="rId2" Type="http://schemas.openxmlformats.org/officeDocument/2006/relationships/notesSlide" Target="../notesSlides/notesSlide27.xml"/><Relationship Id="rId1" Type="http://schemas.openxmlformats.org/officeDocument/2006/relationships/slideLayout" Target="../slideLayouts/slideLayout25.xml"/><Relationship Id="rId4" Type="http://schemas.openxmlformats.org/officeDocument/2006/relationships/chart" Target="../charts/chart10.xml"/></Relationships>
</file>

<file path=ppt/slides/_rels/slide43.xml.rels><?xml version="1.0" encoding="UTF-8" standalone="yes"?>
<Relationships xmlns="http://schemas.openxmlformats.org/package/2006/relationships"><Relationship Id="rId3" Type="http://schemas.openxmlformats.org/officeDocument/2006/relationships/hyperlink" Target="https://stats.oecd.org/viewhtml.aspx?datasetcode=PDB_GR&amp;lang=en" TargetMode="External"/><Relationship Id="rId2" Type="http://schemas.openxmlformats.org/officeDocument/2006/relationships/notesSlide" Target="../notesSlides/notesSlide28.xml"/><Relationship Id="rId1" Type="http://schemas.openxmlformats.org/officeDocument/2006/relationships/slideLayout" Target="../slideLayouts/slideLayout26.xml"/><Relationship Id="rId4" Type="http://schemas.openxmlformats.org/officeDocument/2006/relationships/chart" Target="../charts/char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0.xml"/><Relationship Id="rId1" Type="http://schemas.openxmlformats.org/officeDocument/2006/relationships/slideLayout" Target="../slideLayouts/slideLayout25.xml"/><Relationship Id="rId4" Type="http://schemas.openxmlformats.org/officeDocument/2006/relationships/hyperlink" Target="https://ec.europa.eu/info/business-economy-euro/indicators-statistics/economic-databases/macro-economic-database-ameco/ameco-database_en" TargetMode="External"/></Relationships>
</file>

<file path=ppt/slides/_rels/slide46.xml.rels><?xml version="1.0" encoding="UTF-8" standalone="yes"?>
<Relationships xmlns="http://schemas.openxmlformats.org/package/2006/relationships"><Relationship Id="rId3" Type="http://schemas.openxmlformats.org/officeDocument/2006/relationships/package" Target="../embeddings/Microsoft_Word_Document12.docx"/><Relationship Id="rId2" Type="http://schemas.openxmlformats.org/officeDocument/2006/relationships/notesSlide" Target="../notesSlides/notesSlide31.xml"/><Relationship Id="rId1" Type="http://schemas.openxmlformats.org/officeDocument/2006/relationships/slideLayout" Target="../slideLayouts/slideLayout25.xml"/><Relationship Id="rId6" Type="http://schemas.openxmlformats.org/officeDocument/2006/relationships/hyperlink" Target="https://www.ons.gov.uk/economy/grossdomesticproductgdp/timeseries/ybha" TargetMode="External"/><Relationship Id="rId5" Type="http://schemas.openxmlformats.org/officeDocument/2006/relationships/hyperlink" Target="https://www.ons.gov.uk/economy/nationalaccounts/uksectoraccounts/bulletins/capitalstocksconsumptionoffixedcapital/previousReleases" TargetMode="Externa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BCAE0-399B-84E2-6473-4B4AD7203AF1}"/>
              </a:ext>
            </a:extLst>
          </p:cNvPr>
          <p:cNvSpPr>
            <a:spLocks noGrp="1"/>
          </p:cNvSpPr>
          <p:nvPr>
            <p:ph type="ctrTitle"/>
          </p:nvPr>
        </p:nvSpPr>
        <p:spPr/>
        <p:txBody>
          <a:bodyPr>
            <a:normAutofit/>
          </a:bodyPr>
          <a:lstStyle/>
          <a:p>
            <a:r>
              <a:rPr lang="en-GB" sz="5000" dirty="0"/>
              <a:t>C29PE Economics for Professionals</a:t>
            </a:r>
          </a:p>
        </p:txBody>
      </p:sp>
      <p:sp>
        <p:nvSpPr>
          <p:cNvPr id="3" name="Subtitle 2">
            <a:extLst>
              <a:ext uri="{FF2B5EF4-FFF2-40B4-BE49-F238E27FC236}">
                <a16:creationId xmlns:a16="http://schemas.microsoft.com/office/drawing/2014/main" id="{492700F6-CF37-8E0A-DA52-38A84466492D}"/>
              </a:ext>
            </a:extLst>
          </p:cNvPr>
          <p:cNvSpPr>
            <a:spLocks noGrp="1"/>
          </p:cNvSpPr>
          <p:nvPr>
            <p:ph type="subTitle" idx="1"/>
          </p:nvPr>
        </p:nvSpPr>
        <p:spPr>
          <a:xfrm>
            <a:off x="1524000" y="3602038"/>
            <a:ext cx="9144000" cy="2387600"/>
          </a:xfrm>
        </p:spPr>
        <p:txBody>
          <a:bodyPr>
            <a:normAutofit lnSpcReduction="10000"/>
          </a:bodyPr>
          <a:lstStyle/>
          <a:p>
            <a:r>
              <a:rPr lang="en-GB" altLang="en-US" sz="2400" dirty="0"/>
              <a:t>Week 11 – </a:t>
            </a:r>
          </a:p>
          <a:p>
            <a:r>
              <a:rPr lang="en-GB" altLang="en-US" dirty="0"/>
              <a:t>Part 1: The supply side alternative and growth</a:t>
            </a:r>
            <a:endParaRPr lang="en-GB" altLang="en-US" sz="2400" dirty="0"/>
          </a:p>
          <a:p>
            <a:r>
              <a:rPr lang="en-GB" altLang="en-US" sz="2000" dirty="0"/>
              <a:t>Sloman </a:t>
            </a:r>
            <a:r>
              <a:rPr lang="en-GB" altLang="en-US" sz="2000" i="1" dirty="0"/>
              <a:t>et al</a:t>
            </a:r>
            <a:r>
              <a:rPr lang="en-GB" altLang="en-US" sz="2000" dirty="0"/>
              <a:t>., 2023, Chapter 31</a:t>
            </a:r>
          </a:p>
          <a:p>
            <a:endParaRPr lang="en-GB" altLang="en-US" sz="2000" dirty="0"/>
          </a:p>
          <a:p>
            <a:r>
              <a:rPr lang="en-GB" altLang="en-US" dirty="0"/>
              <a:t>Part 2: The External Economy</a:t>
            </a:r>
          </a:p>
          <a:p>
            <a:r>
              <a:rPr lang="en-GB" altLang="en-US" sz="2000" dirty="0"/>
              <a:t>Sloman </a:t>
            </a:r>
            <a:r>
              <a:rPr lang="en-GB" altLang="en-US" sz="2000" i="1" dirty="0"/>
              <a:t>et al</a:t>
            </a:r>
            <a:r>
              <a:rPr lang="en-GB" altLang="en-US" sz="2000" dirty="0"/>
              <a:t>., 2023, Chapter 24, 25, 27</a:t>
            </a:r>
          </a:p>
          <a:p>
            <a:endParaRPr lang="en-GB" altLang="en-US" sz="2000" dirty="0"/>
          </a:p>
          <a:p>
            <a:endParaRPr lang="en-GB" dirty="0"/>
          </a:p>
        </p:txBody>
      </p:sp>
    </p:spTree>
    <p:extLst>
      <p:ext uri="{BB962C8B-B14F-4D97-AF65-F5344CB8AC3E}">
        <p14:creationId xmlns:p14="http://schemas.microsoft.com/office/powerpoint/2010/main" val="270339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8526-D4E2-3B02-226F-AC762A5C77FF}"/>
              </a:ext>
            </a:extLst>
          </p:cNvPr>
          <p:cNvSpPr>
            <a:spLocks noGrp="1"/>
          </p:cNvSpPr>
          <p:nvPr>
            <p:ph type="title"/>
          </p:nvPr>
        </p:nvSpPr>
        <p:spPr/>
        <p:txBody>
          <a:bodyPr/>
          <a:lstStyle/>
          <a:p>
            <a:r>
              <a:rPr lang="en-MY" dirty="0"/>
              <a:t>References</a:t>
            </a:r>
          </a:p>
        </p:txBody>
      </p:sp>
      <p:sp>
        <p:nvSpPr>
          <p:cNvPr id="3" name="Content Placeholder 2">
            <a:extLst>
              <a:ext uri="{FF2B5EF4-FFF2-40B4-BE49-F238E27FC236}">
                <a16:creationId xmlns:a16="http://schemas.microsoft.com/office/drawing/2014/main" id="{DEEFEBE0-DBF2-29D7-C4C6-F701E2695E99}"/>
              </a:ext>
            </a:extLst>
          </p:cNvPr>
          <p:cNvSpPr>
            <a:spLocks noGrp="1"/>
          </p:cNvSpPr>
          <p:nvPr>
            <p:ph idx="1"/>
          </p:nvPr>
        </p:nvSpPr>
        <p:spPr/>
        <p:txBody>
          <a:bodyPr>
            <a:normAutofit fontScale="92500" lnSpcReduction="20000"/>
          </a:bodyPr>
          <a:lstStyle/>
          <a:p>
            <a:r>
              <a:rPr lang="en-MY" dirty="0">
                <a:latin typeface="+mn-lt"/>
              </a:rPr>
              <a:t>Sloman et al (2023) </a:t>
            </a:r>
          </a:p>
          <a:p>
            <a:pPr lvl="1"/>
            <a:r>
              <a:rPr lang="en-MY" dirty="0">
                <a:latin typeface="+mn-lt"/>
              </a:rPr>
              <a:t>Chapter 31.1 – 31.3 </a:t>
            </a:r>
          </a:p>
          <a:p>
            <a:pPr lvl="1"/>
            <a:r>
              <a:rPr lang="en-MY" dirty="0">
                <a:latin typeface="+mn-lt"/>
              </a:rPr>
              <a:t>Box 31.1 	</a:t>
            </a:r>
          </a:p>
          <a:p>
            <a:pPr lvl="1"/>
            <a:r>
              <a:rPr lang="en-MY" dirty="0">
                <a:latin typeface="+mn-lt"/>
              </a:rPr>
              <a:t>Chapter 27.1 – 27.4 </a:t>
            </a:r>
          </a:p>
          <a:p>
            <a:pPr lvl="1"/>
            <a:r>
              <a:rPr lang="en-MY" dirty="0">
                <a:latin typeface="+mn-lt"/>
              </a:rPr>
              <a:t>Box 27.4 </a:t>
            </a:r>
          </a:p>
          <a:p>
            <a:pPr lvl="1"/>
            <a:r>
              <a:rPr lang="en-MY" dirty="0">
                <a:latin typeface="+mn-lt"/>
              </a:rPr>
              <a:t>Chapter 24.1 – 24.4 </a:t>
            </a:r>
          </a:p>
          <a:p>
            <a:pPr lvl="1"/>
            <a:r>
              <a:rPr lang="en-MY" dirty="0">
                <a:latin typeface="+mn-lt"/>
              </a:rPr>
              <a:t>Boxes 24.1 &amp; 24.2 </a:t>
            </a:r>
          </a:p>
          <a:p>
            <a:pPr lvl="1"/>
            <a:r>
              <a:rPr lang="en-MY" dirty="0">
                <a:latin typeface="+mn-lt"/>
              </a:rPr>
              <a:t>Chapter 25.1 – 25.3 		</a:t>
            </a:r>
          </a:p>
          <a:p>
            <a:pPr marL="457200" lvl="1" indent="0">
              <a:buNone/>
            </a:pPr>
            <a:endParaRPr lang="en-MY" dirty="0">
              <a:latin typeface="+mn-lt"/>
            </a:endParaRPr>
          </a:p>
          <a:p>
            <a:pPr lvl="1"/>
            <a:endParaRPr lang="en-MY" dirty="0">
              <a:latin typeface="+mn-lt"/>
            </a:endParaRPr>
          </a:p>
          <a:p>
            <a:r>
              <a:rPr lang="en-MY" dirty="0">
                <a:highlight>
                  <a:srgbClr val="FFFF00"/>
                </a:highlight>
                <a:latin typeface="+mn-lt"/>
              </a:rPr>
              <a:t>Important!</a:t>
            </a:r>
          </a:p>
          <a:p>
            <a:pPr lvl="1"/>
            <a:r>
              <a:rPr lang="en-MY" dirty="0">
                <a:highlight>
                  <a:srgbClr val="FFFF00"/>
                </a:highlight>
                <a:latin typeface="+mn-lt"/>
              </a:rPr>
              <a:t>The PowerPoint slide deck for Week 9 lecture provides a guideline of the topics you need to know. However, the materials in the slide deck are insufficient if you wish to excel in the course</a:t>
            </a:r>
          </a:p>
          <a:p>
            <a:pPr lvl="1"/>
            <a:r>
              <a:rPr lang="en-MY" dirty="0">
                <a:highlight>
                  <a:srgbClr val="FFFF00"/>
                </a:highlight>
                <a:latin typeface="+mn-lt"/>
              </a:rPr>
              <a:t>To do well, please do not forget to read the relevant sections of the core textbook</a:t>
            </a:r>
          </a:p>
          <a:p>
            <a:pPr lvl="1"/>
            <a:r>
              <a:rPr lang="en-MY" dirty="0">
                <a:highlight>
                  <a:srgbClr val="FFFF00"/>
                </a:highlight>
                <a:latin typeface="+mn-lt"/>
              </a:rPr>
              <a:t>Please also ensure that you follow economics news regularly as these sources could be used as examples to supplement your answers during assessments</a:t>
            </a:r>
          </a:p>
          <a:p>
            <a:pPr marL="457200" lvl="1" indent="0">
              <a:buNone/>
            </a:pPr>
            <a:endParaRPr lang="en-MY" dirty="0">
              <a:latin typeface="+mn-lt"/>
            </a:endParaRPr>
          </a:p>
          <a:p>
            <a:pPr lvl="1"/>
            <a:endParaRPr lang="en-MY" dirty="0">
              <a:latin typeface="+mn-lt"/>
            </a:endParaRPr>
          </a:p>
        </p:txBody>
      </p:sp>
    </p:spTree>
    <p:extLst>
      <p:ext uri="{BB962C8B-B14F-4D97-AF65-F5344CB8AC3E}">
        <p14:creationId xmlns:p14="http://schemas.microsoft.com/office/powerpoint/2010/main" val="1752030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208B-A234-4E66-F52F-EA4AFAC848EB}"/>
              </a:ext>
            </a:extLst>
          </p:cNvPr>
          <p:cNvSpPr>
            <a:spLocks noGrp="1"/>
          </p:cNvSpPr>
          <p:nvPr>
            <p:ph type="title"/>
          </p:nvPr>
        </p:nvSpPr>
        <p:spPr/>
        <p:txBody>
          <a:bodyPr/>
          <a:lstStyle/>
          <a:p>
            <a:r>
              <a:rPr lang="en-GB" dirty="0"/>
              <a:t>Session Aims</a:t>
            </a:r>
          </a:p>
        </p:txBody>
      </p:sp>
      <p:sp>
        <p:nvSpPr>
          <p:cNvPr id="3" name="Content Placeholder 2">
            <a:extLst>
              <a:ext uri="{FF2B5EF4-FFF2-40B4-BE49-F238E27FC236}">
                <a16:creationId xmlns:a16="http://schemas.microsoft.com/office/drawing/2014/main" id="{6A211E75-8861-1E86-E225-1E6DA3071E55}"/>
              </a:ext>
            </a:extLst>
          </p:cNvPr>
          <p:cNvSpPr>
            <a:spLocks noGrp="1"/>
          </p:cNvSpPr>
          <p:nvPr>
            <p:ph idx="1"/>
          </p:nvPr>
        </p:nvSpPr>
        <p:spPr/>
        <p:txBody>
          <a:bodyPr/>
          <a:lstStyle/>
          <a:p>
            <a:r>
              <a:rPr lang="en-GB" dirty="0">
                <a:latin typeface="+mn-lt"/>
              </a:rPr>
              <a:t>To introduce and explore supply side policies</a:t>
            </a:r>
          </a:p>
          <a:p>
            <a:r>
              <a:rPr lang="en-GB" dirty="0">
                <a:latin typeface="+mn-lt"/>
              </a:rPr>
              <a:t>To understand the nature of balance of payments and exchange rate</a:t>
            </a:r>
          </a:p>
          <a:p>
            <a:r>
              <a:rPr lang="en-GB" dirty="0">
                <a:latin typeface="+mn-lt"/>
              </a:rPr>
              <a:t>To discuss trade theories and the concepts of absolute advantage and comparative advantage</a:t>
            </a:r>
          </a:p>
          <a:p>
            <a:pPr marL="0" indent="0">
              <a:buNone/>
            </a:pPr>
            <a:endParaRPr lang="en-GB" dirty="0">
              <a:latin typeface="+mn-lt"/>
            </a:endParaRPr>
          </a:p>
          <a:p>
            <a:endParaRPr lang="en-GB" dirty="0"/>
          </a:p>
        </p:txBody>
      </p:sp>
    </p:spTree>
    <p:extLst>
      <p:ext uri="{BB962C8B-B14F-4D97-AF65-F5344CB8AC3E}">
        <p14:creationId xmlns:p14="http://schemas.microsoft.com/office/powerpoint/2010/main" val="3478601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6D875-A40C-7F4C-6A9C-BF171E9D1DB8}"/>
              </a:ext>
            </a:extLst>
          </p:cNvPr>
          <p:cNvSpPr>
            <a:spLocks noGrp="1"/>
          </p:cNvSpPr>
          <p:nvPr>
            <p:ph type="title"/>
          </p:nvPr>
        </p:nvSpPr>
        <p:spPr>
          <a:xfrm>
            <a:off x="838200" y="2712086"/>
            <a:ext cx="10515600" cy="908198"/>
          </a:xfrm>
        </p:spPr>
        <p:txBody>
          <a:bodyPr/>
          <a:lstStyle/>
          <a:p>
            <a:r>
              <a:rPr lang="en-MY" dirty="0"/>
              <a:t>Part 1: Supply side policies</a:t>
            </a:r>
          </a:p>
        </p:txBody>
      </p:sp>
    </p:spTree>
    <p:extLst>
      <p:ext uri="{BB962C8B-B14F-4D97-AF65-F5344CB8AC3E}">
        <p14:creationId xmlns:p14="http://schemas.microsoft.com/office/powerpoint/2010/main" val="434549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422FC453-2C6F-4153-97DD-D42C7DEB7D7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79C39D2-A8D8-4868-8518-A6D3F07C147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2" name="Rectangle 4">
            <a:extLst>
              <a:ext uri="{FF2B5EF4-FFF2-40B4-BE49-F238E27FC236}">
                <a16:creationId xmlns:a16="http://schemas.microsoft.com/office/drawing/2014/main" id="{76639FE7-C42E-4B6F-A0FD-3FF0AD425E30}"/>
              </a:ext>
            </a:extLst>
          </p:cNvPr>
          <p:cNvSpPr>
            <a:spLocks noGrp="1"/>
          </p:cNvSpPr>
          <p:nvPr>
            <p:ph type="title"/>
          </p:nvPr>
        </p:nvSpPr>
        <p:spPr/>
        <p:txBody>
          <a:bodyPr/>
          <a:lstStyle/>
          <a:p>
            <a:r>
              <a:rPr lang="en-GB" altLang="en-US" dirty="0"/>
              <a:t>Supply Side Policy Aims</a:t>
            </a:r>
          </a:p>
        </p:txBody>
      </p:sp>
      <p:sp>
        <p:nvSpPr>
          <p:cNvPr id="416773" name="Rectangle 5">
            <a:extLst>
              <a:ext uri="{FF2B5EF4-FFF2-40B4-BE49-F238E27FC236}">
                <a16:creationId xmlns:a16="http://schemas.microsoft.com/office/drawing/2014/main" id="{BC20E920-360D-496A-A4EC-4DE3AA6822CA}"/>
              </a:ext>
            </a:extLst>
          </p:cNvPr>
          <p:cNvSpPr>
            <a:spLocks noGrp="1"/>
          </p:cNvSpPr>
          <p:nvPr>
            <p:ph idx="1"/>
          </p:nvPr>
        </p:nvSpPr>
        <p:spPr>
          <a:xfrm>
            <a:off x="402167" y="1354318"/>
            <a:ext cx="11379200" cy="4754382"/>
          </a:xfrm>
        </p:spPr>
        <p:txBody>
          <a:bodyPr/>
          <a:lstStyle/>
          <a:p>
            <a:pPr defTabSz="762000">
              <a:lnSpc>
                <a:spcPct val="100000"/>
              </a:lnSpc>
              <a:spcBef>
                <a:spcPts val="600"/>
              </a:spcBef>
            </a:pPr>
            <a:r>
              <a:rPr lang="en-GB" altLang="en-US" dirty="0">
                <a:latin typeface="+mn-lt"/>
              </a:rPr>
              <a:t>Supply means productive capacity – related to long-run growth</a:t>
            </a:r>
          </a:p>
          <a:p>
            <a:pPr lvl="1" defTabSz="762000">
              <a:lnSpc>
                <a:spcPct val="100000"/>
              </a:lnSpc>
              <a:spcBef>
                <a:spcPts val="600"/>
              </a:spcBef>
            </a:pPr>
            <a:r>
              <a:rPr lang="en-GB" altLang="en-US" dirty="0">
                <a:latin typeface="+mn-lt"/>
              </a:rPr>
              <a:t>Considered demand side policy – response to short-run fluctuations</a:t>
            </a:r>
          </a:p>
          <a:p>
            <a:pPr lvl="1" defTabSz="762000">
              <a:lnSpc>
                <a:spcPct val="100000"/>
              </a:lnSpc>
              <a:spcBef>
                <a:spcPts val="600"/>
              </a:spcBef>
            </a:pPr>
            <a:r>
              <a:rPr lang="en-GB" altLang="en-US" dirty="0">
                <a:latin typeface="+mn-lt"/>
              </a:rPr>
              <a:t>Supply-side policy shifts short-run and long-run </a:t>
            </a:r>
            <a:r>
              <a:rPr lang="en-GB" altLang="en-US" i="1" dirty="0">
                <a:latin typeface="+mn-lt"/>
              </a:rPr>
              <a:t>AS</a:t>
            </a:r>
            <a:r>
              <a:rPr lang="en-GB" altLang="en-US" dirty="0">
                <a:latin typeface="+mn-lt"/>
              </a:rPr>
              <a:t> curves to the right</a:t>
            </a:r>
          </a:p>
          <a:p>
            <a:pPr lvl="1" defTabSz="762000">
              <a:lnSpc>
                <a:spcPct val="100000"/>
              </a:lnSpc>
              <a:spcBef>
                <a:spcPts val="600"/>
              </a:spcBef>
            </a:pPr>
            <a:endParaRPr lang="en-GB" altLang="en-US" dirty="0">
              <a:latin typeface="+mn-lt"/>
            </a:endParaRPr>
          </a:p>
          <a:p>
            <a:pPr defTabSz="762000">
              <a:lnSpc>
                <a:spcPct val="100000"/>
              </a:lnSpc>
              <a:spcBef>
                <a:spcPts val="600"/>
              </a:spcBef>
            </a:pPr>
            <a:r>
              <a:rPr lang="en-GB" altLang="en-US" dirty="0">
                <a:latin typeface="+mn-lt"/>
              </a:rPr>
              <a:t>Shifts of aggregate supply to the right is related to improvements in productivity</a:t>
            </a:r>
          </a:p>
          <a:p>
            <a:pPr lvl="1" defTabSz="762000">
              <a:lnSpc>
                <a:spcPct val="100000"/>
              </a:lnSpc>
              <a:spcBef>
                <a:spcPts val="600"/>
              </a:spcBef>
            </a:pPr>
            <a:r>
              <a:rPr lang="en-GB" altLang="en-US" dirty="0">
                <a:latin typeface="+mn-lt"/>
              </a:rPr>
              <a:t>Increase GDP/hours worked</a:t>
            </a:r>
          </a:p>
          <a:p>
            <a:pPr lvl="1" defTabSz="762000">
              <a:lnSpc>
                <a:spcPct val="100000"/>
              </a:lnSpc>
              <a:spcBef>
                <a:spcPts val="600"/>
              </a:spcBef>
            </a:pPr>
            <a:r>
              <a:rPr lang="en-GB" altLang="en-US" dirty="0">
                <a:latin typeface="+mn-lt"/>
              </a:rPr>
              <a:t>Increase GDP/worker</a:t>
            </a:r>
          </a:p>
          <a:p>
            <a:pPr defTabSz="762000">
              <a:lnSpc>
                <a:spcPct val="100000"/>
              </a:lnSpc>
              <a:spcBef>
                <a:spcPts val="600"/>
              </a:spcBef>
            </a:pPr>
            <a:endParaRPr lang="en-GB" altLang="en-US" dirty="0">
              <a:latin typeface="+mn-lt"/>
            </a:endParaRPr>
          </a:p>
          <a:p>
            <a:pPr defTabSz="762000">
              <a:lnSpc>
                <a:spcPct val="100000"/>
              </a:lnSpc>
              <a:spcBef>
                <a:spcPts val="600"/>
              </a:spcBef>
            </a:pPr>
            <a:r>
              <a:rPr lang="en-GB" altLang="en-US" dirty="0">
                <a:latin typeface="+mn-lt"/>
              </a:rPr>
              <a:t>Question is – how can productivity be improved?</a:t>
            </a:r>
          </a:p>
        </p:txBody>
      </p:sp>
    </p:spTree>
    <p:extLst>
      <p:ext uri="{BB962C8B-B14F-4D97-AF65-F5344CB8AC3E}">
        <p14:creationId xmlns:p14="http://schemas.microsoft.com/office/powerpoint/2010/main" val="163239958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3">
                                            <p:txEl>
                                              <p:pRg st="0" end="0"/>
                                            </p:txEl>
                                          </p:spTgt>
                                        </p:tgtEl>
                                        <p:attrNameLst>
                                          <p:attrName>style.visibility</p:attrName>
                                        </p:attrNameLst>
                                      </p:cBhvr>
                                      <p:to>
                                        <p:strVal val="visible"/>
                                      </p:to>
                                    </p:set>
                                    <p:anim calcmode="lin" valueType="num">
                                      <p:cBhvr additive="base">
                                        <p:cTn id="7" dur="500"/>
                                        <p:tgtEl>
                                          <p:spTgt spid="41677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3">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6773">
                                            <p:txEl>
                                              <p:pRg st="1" end="1"/>
                                            </p:txEl>
                                          </p:spTgt>
                                        </p:tgtEl>
                                        <p:attrNameLst>
                                          <p:attrName>style.visibility</p:attrName>
                                        </p:attrNameLst>
                                      </p:cBhvr>
                                      <p:to>
                                        <p:strVal val="visible"/>
                                      </p:to>
                                    </p:set>
                                    <p:anim calcmode="lin" valueType="num">
                                      <p:cBhvr additive="base">
                                        <p:cTn id="13" dur="500"/>
                                        <p:tgtEl>
                                          <p:spTgt spid="41677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677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16773">
                                            <p:txEl>
                                              <p:pRg st="2" end="2"/>
                                            </p:txEl>
                                          </p:spTgt>
                                        </p:tgtEl>
                                        <p:attrNameLst>
                                          <p:attrName>style.visibility</p:attrName>
                                        </p:attrNameLst>
                                      </p:cBhvr>
                                      <p:to>
                                        <p:strVal val="visible"/>
                                      </p:to>
                                    </p:set>
                                    <p:anim calcmode="lin" valueType="num">
                                      <p:cBhvr additive="base">
                                        <p:cTn id="19" dur="500"/>
                                        <p:tgtEl>
                                          <p:spTgt spid="41677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1677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16773">
                                            <p:txEl>
                                              <p:pRg st="4" end="4"/>
                                            </p:txEl>
                                          </p:spTgt>
                                        </p:tgtEl>
                                        <p:attrNameLst>
                                          <p:attrName>style.visibility</p:attrName>
                                        </p:attrNameLst>
                                      </p:cBhvr>
                                      <p:to>
                                        <p:strVal val="visible"/>
                                      </p:to>
                                    </p:set>
                                    <p:anim calcmode="lin" valueType="num">
                                      <p:cBhvr additive="base">
                                        <p:cTn id="25" dur="500"/>
                                        <p:tgtEl>
                                          <p:spTgt spid="416773">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1677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16773">
                                            <p:txEl>
                                              <p:pRg st="5" end="5"/>
                                            </p:txEl>
                                          </p:spTgt>
                                        </p:tgtEl>
                                        <p:attrNameLst>
                                          <p:attrName>style.visibility</p:attrName>
                                        </p:attrNameLst>
                                      </p:cBhvr>
                                      <p:to>
                                        <p:strVal val="visible"/>
                                      </p:to>
                                    </p:set>
                                    <p:anim calcmode="lin" valueType="num">
                                      <p:cBhvr additive="base">
                                        <p:cTn id="31" dur="500"/>
                                        <p:tgtEl>
                                          <p:spTgt spid="416773">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677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6773">
                                            <p:txEl>
                                              <p:pRg st="6" end="6"/>
                                            </p:txEl>
                                          </p:spTgt>
                                        </p:tgtEl>
                                        <p:attrNameLst>
                                          <p:attrName>style.visibility</p:attrName>
                                        </p:attrNameLst>
                                      </p:cBhvr>
                                      <p:to>
                                        <p:strVal val="visible"/>
                                      </p:to>
                                    </p:set>
                                    <p:anim calcmode="lin" valueType="num">
                                      <p:cBhvr additive="base">
                                        <p:cTn id="37" dur="500"/>
                                        <p:tgtEl>
                                          <p:spTgt spid="416773">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677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16773">
                                            <p:txEl>
                                              <p:pRg st="8" end="8"/>
                                            </p:txEl>
                                          </p:spTgt>
                                        </p:tgtEl>
                                        <p:attrNameLst>
                                          <p:attrName>style.visibility</p:attrName>
                                        </p:attrNameLst>
                                      </p:cBhvr>
                                      <p:to>
                                        <p:strVal val="visible"/>
                                      </p:to>
                                    </p:set>
                                    <p:anim calcmode="lin" valueType="num">
                                      <p:cBhvr additive="base">
                                        <p:cTn id="43" dur="500"/>
                                        <p:tgtEl>
                                          <p:spTgt spid="416773">
                                            <p:txEl>
                                              <p:pRg st="8" end="8"/>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1677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build="p" bldLvl="4"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a:extLst>
              <a:ext uri="{FF2B5EF4-FFF2-40B4-BE49-F238E27FC236}">
                <a16:creationId xmlns:a16="http://schemas.microsoft.com/office/drawing/2014/main" id="{82767BDA-04D2-4E6B-85B0-55B3D00C49DB}"/>
              </a:ext>
            </a:extLst>
          </p:cNvPr>
          <p:cNvSpPr txBox="1">
            <a:spLocks noChangeArrowheads="1"/>
          </p:cNvSpPr>
          <p:nvPr/>
        </p:nvSpPr>
        <p:spPr bwMode="auto">
          <a:xfrm>
            <a:off x="0" y="0"/>
            <a:ext cx="12115800" cy="608052"/>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120000"/>
              </a:lnSpc>
            </a:pPr>
            <a:r>
              <a:rPr lang="en-GB" altLang="en-US" b="1" dirty="0">
                <a:solidFill>
                  <a:srgbClr val="660066"/>
                </a:solidFill>
              </a:rPr>
              <a:t>Productivity in selected economies, 2020 (UK = 100)</a:t>
            </a:r>
          </a:p>
        </p:txBody>
      </p:sp>
      <p:graphicFrame>
        <p:nvGraphicFramePr>
          <p:cNvPr id="5" name="Object 2">
            <a:extLst>
              <a:ext uri="{FF2B5EF4-FFF2-40B4-BE49-F238E27FC236}">
                <a16:creationId xmlns:a16="http://schemas.microsoft.com/office/drawing/2014/main" id="{39296375-A1FD-43F3-9CC9-C03AA7C8A22F}"/>
              </a:ext>
            </a:extLst>
          </p:cNvPr>
          <p:cNvGraphicFramePr>
            <a:graphicFrameLocks noChangeAspect="1"/>
          </p:cNvGraphicFramePr>
          <p:nvPr/>
        </p:nvGraphicFramePr>
        <p:xfrm>
          <a:off x="0" y="726294"/>
          <a:ext cx="12192000" cy="6131706"/>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Box 14">
            <a:extLst>
              <a:ext uri="{FF2B5EF4-FFF2-40B4-BE49-F238E27FC236}">
                <a16:creationId xmlns:a16="http://schemas.microsoft.com/office/drawing/2014/main" id="{64C6B5EE-252F-4412-A8AB-7DE873ED2E04}"/>
              </a:ext>
            </a:extLst>
          </p:cNvPr>
          <p:cNvSpPr txBox="1">
            <a:spLocks noChangeArrowheads="1"/>
          </p:cNvSpPr>
          <p:nvPr/>
        </p:nvSpPr>
        <p:spPr bwMode="auto">
          <a:xfrm>
            <a:off x="1949380" y="6329826"/>
            <a:ext cx="99836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i="1" dirty="0">
                <a:solidFill>
                  <a:schemeClr val="bg1">
                    <a:lumMod val="50000"/>
                  </a:schemeClr>
                </a:solidFill>
                <a:latin typeface="Arial" panose="020B0604020202020204" pitchFamily="34" charset="0"/>
                <a:cs typeface="Arial" panose="020B0604020202020204" pitchFamily="34" charset="0"/>
              </a:rPr>
              <a:t>Note: </a:t>
            </a:r>
            <a:r>
              <a:rPr lang="en-GB" altLang="en-US" sz="1200" dirty="0">
                <a:solidFill>
                  <a:schemeClr val="bg1">
                    <a:lumMod val="50000"/>
                  </a:schemeClr>
                </a:solidFill>
                <a:latin typeface="Arial" panose="020B0604020202020204" pitchFamily="34" charset="0"/>
                <a:cs typeface="Arial" panose="020B0604020202020204" pitchFamily="34" charset="0"/>
              </a:rPr>
              <a:t> Figures are current-price GDP per hour worked/person employed</a:t>
            </a:r>
          </a:p>
          <a:p>
            <a:r>
              <a:rPr lang="en-GB" altLang="en-US" sz="1200" i="1" dirty="0">
                <a:solidFill>
                  <a:schemeClr val="bg1">
                    <a:lumMod val="50000"/>
                  </a:schemeClr>
                </a:solidFill>
                <a:latin typeface="Arial" panose="020B0604020202020204" pitchFamily="34" charset="0"/>
                <a:cs typeface="Arial" panose="020B0604020202020204" pitchFamily="34" charset="0"/>
              </a:rPr>
              <a:t>Source</a:t>
            </a:r>
            <a:r>
              <a:rPr lang="en-GB" altLang="en-US" sz="1200" dirty="0">
                <a:solidFill>
                  <a:schemeClr val="bg1">
                    <a:lumMod val="50000"/>
                  </a:schemeClr>
                </a:solidFill>
                <a:latin typeface="Arial" panose="020B0604020202020204" pitchFamily="34" charset="0"/>
                <a:cs typeface="Arial" panose="020B0604020202020204" pitchFamily="34" charset="0"/>
              </a:rPr>
              <a:t>: Based on data in </a:t>
            </a:r>
            <a:r>
              <a:rPr lang="en-GB" altLang="en-US" sz="1200" i="1" dirty="0">
                <a:solidFill>
                  <a:schemeClr val="bg1">
                    <a:lumMod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OECDStat</a:t>
            </a:r>
            <a:r>
              <a:rPr lang="en-GB" altLang="en-US" sz="1200" i="1" dirty="0">
                <a:solidFill>
                  <a:schemeClr val="bg1">
                    <a:lumMod val="50000"/>
                  </a:schemeClr>
                </a:solidFill>
                <a:latin typeface="Arial" panose="020B0604020202020204" pitchFamily="34" charset="0"/>
                <a:cs typeface="Arial" panose="020B0604020202020204" pitchFamily="34" charset="0"/>
              </a:rPr>
              <a:t> </a:t>
            </a:r>
            <a:r>
              <a:rPr lang="en-GB" altLang="en-US" sz="1200" dirty="0">
                <a:solidFill>
                  <a:schemeClr val="bg1">
                    <a:lumMod val="50000"/>
                  </a:schemeClr>
                </a:solidFill>
                <a:latin typeface="Arial" panose="020B0604020202020204" pitchFamily="34" charset="0"/>
                <a:cs typeface="Arial" panose="020B0604020202020204" pitchFamily="34" charset="0"/>
              </a:rPr>
              <a:t>(OECD, 2022)</a:t>
            </a:r>
          </a:p>
        </p:txBody>
      </p:sp>
      <p:sp>
        <p:nvSpPr>
          <p:cNvPr id="2" name="TextBox 1">
            <a:extLst>
              <a:ext uri="{FF2B5EF4-FFF2-40B4-BE49-F238E27FC236}">
                <a16:creationId xmlns:a16="http://schemas.microsoft.com/office/drawing/2014/main" id="{337DA79D-E536-C160-198E-50825B034322}"/>
              </a:ext>
            </a:extLst>
          </p:cNvPr>
          <p:cNvSpPr txBox="1"/>
          <p:nvPr/>
        </p:nvSpPr>
        <p:spPr>
          <a:xfrm>
            <a:off x="6785419" y="1058822"/>
            <a:ext cx="5147563" cy="1569660"/>
          </a:xfrm>
          <a:prstGeom prst="rect">
            <a:avLst/>
          </a:prstGeom>
          <a:solidFill>
            <a:srgbClr val="008080"/>
          </a:solidFill>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GB" sz="2400" dirty="0">
                <a:solidFill>
                  <a:srgbClr val="FFC000"/>
                </a:solidFill>
              </a:rPr>
              <a:t>Problem only appears large when </a:t>
            </a:r>
            <a:br>
              <a:rPr lang="en-GB" sz="2400" dirty="0">
                <a:solidFill>
                  <a:srgbClr val="FFC000"/>
                </a:solidFill>
              </a:rPr>
            </a:br>
            <a:r>
              <a:rPr lang="en-GB" sz="2400" dirty="0">
                <a:solidFill>
                  <a:srgbClr val="FFC000"/>
                </a:solidFill>
              </a:rPr>
              <a:t>comparing UK with USA on basis of </a:t>
            </a:r>
            <a:br>
              <a:rPr lang="en-GB" sz="2400" dirty="0">
                <a:solidFill>
                  <a:srgbClr val="FFC000"/>
                </a:solidFill>
              </a:rPr>
            </a:br>
            <a:r>
              <a:rPr lang="en-GB" sz="2400" dirty="0">
                <a:solidFill>
                  <a:srgbClr val="FFC000"/>
                </a:solidFill>
              </a:rPr>
              <a:t>output per workers</a:t>
            </a:r>
          </a:p>
          <a:p>
            <a:r>
              <a:rPr lang="en-GB" sz="2400" dirty="0">
                <a:solidFill>
                  <a:srgbClr val="FFC000"/>
                </a:solidFill>
              </a:rPr>
              <a:t>That may need some explanation</a:t>
            </a:r>
          </a:p>
        </p:txBody>
      </p:sp>
    </p:spTree>
    <p:extLst>
      <p:ext uri="{BB962C8B-B14F-4D97-AF65-F5344CB8AC3E}">
        <p14:creationId xmlns:p14="http://schemas.microsoft.com/office/powerpoint/2010/main" val="51758419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down)">
                                      <p:cBhvr>
                                        <p:cTn id="7" dur="1500"/>
                                        <p:tgtEl>
                                          <p:spTgt spid="5">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down)">
                                      <p:cBhvr>
                                        <p:cTn id="12" dur="1500"/>
                                        <p:tgtEl>
                                          <p:spTgt spid="5">
                                            <p:graphicEl>
                                              <a:chart seriesIdx="1" categoryIdx="-4" bldStep="series"/>
                                            </p:graphicEl>
                                          </p:spTgt>
                                        </p:tgtEl>
                                      </p:cBhvr>
                                    </p:animEffect>
                                  </p:childTnLst>
                                </p:cTn>
                              </p:par>
                            </p:childTnLst>
                          </p:cTn>
                        </p:par>
                        <p:par>
                          <p:cTn id="13" fill="hold">
                            <p:stCondLst>
                              <p:cond delay="1500"/>
                            </p:stCondLst>
                            <p:childTnLst>
                              <p:par>
                                <p:cTn id="14" presetID="42" presetClass="entr" presetSubtype="0" fill="hold" grpId="0" nodeType="afterEffect">
                                  <p:stCondLst>
                                    <p:cond delay="30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anim calcmode="lin" valueType="num">
                                      <p:cBhvr>
                                        <p:cTn id="17" dur="1000" fill="hold"/>
                                        <p:tgtEl>
                                          <p:spTgt spid="2"/>
                                        </p:tgtEl>
                                        <p:attrNameLst>
                                          <p:attrName>ppt_x</p:attrName>
                                        </p:attrNameLst>
                                      </p:cBhvr>
                                      <p:tavLst>
                                        <p:tav tm="0">
                                          <p:val>
                                            <p:strVal val="#ppt_x"/>
                                          </p:val>
                                        </p:tav>
                                        <p:tav tm="100000">
                                          <p:val>
                                            <p:strVal val="#ppt_x"/>
                                          </p:val>
                                        </p:tav>
                                      </p:tavLst>
                                    </p:anim>
                                    <p:anim calcmode="lin" valueType="num">
                                      <p:cBhvr>
                                        <p:cTn id="1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ADA85E39-8882-409A-AAF9-8AAE48447CA8}"/>
              </a:ext>
            </a:extLst>
          </p:cNvPr>
          <p:cNvGrpSpPr/>
          <p:nvPr/>
        </p:nvGrpSpPr>
        <p:grpSpPr>
          <a:xfrm>
            <a:off x="3128555" y="2921040"/>
            <a:ext cx="3860437" cy="2909835"/>
            <a:chOff x="3362235" y="2921040"/>
            <a:chExt cx="3860437" cy="2909835"/>
          </a:xfrm>
        </p:grpSpPr>
        <p:cxnSp>
          <p:nvCxnSpPr>
            <p:cNvPr id="4103" name="Straight Connector 3">
              <a:extLst>
                <a:ext uri="{FF2B5EF4-FFF2-40B4-BE49-F238E27FC236}">
                  <a16:creationId xmlns:a16="http://schemas.microsoft.com/office/drawing/2014/main" id="{103F7250-E5A2-48CF-A1DC-52BE99174783}"/>
                </a:ext>
              </a:extLst>
            </p:cNvPr>
            <p:cNvCxnSpPr>
              <a:cxnSpLocks noChangeShapeType="1"/>
            </p:cNvCxnSpPr>
            <p:nvPr/>
          </p:nvCxnSpPr>
          <p:spPr bwMode="auto">
            <a:xfrm>
              <a:off x="3362235" y="2921040"/>
              <a:ext cx="3299491" cy="2577553"/>
            </a:xfrm>
            <a:prstGeom prst="line">
              <a:avLst/>
            </a:prstGeom>
            <a:noFill/>
            <a:ln w="34925" algn="ctr">
              <a:solidFill>
                <a:srgbClr val="C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40" name="Text Box 16">
              <a:extLst>
                <a:ext uri="{FF2B5EF4-FFF2-40B4-BE49-F238E27FC236}">
                  <a16:creationId xmlns:a16="http://schemas.microsoft.com/office/drawing/2014/main" id="{0B7C55EE-83D4-45FD-B04E-291B5CCF03C1}"/>
                </a:ext>
              </a:extLst>
            </p:cNvPr>
            <p:cNvSpPr txBox="1">
              <a:spLocks noChangeArrowheads="1"/>
            </p:cNvSpPr>
            <p:nvPr/>
          </p:nvSpPr>
          <p:spPr bwMode="auto">
            <a:xfrm>
              <a:off x="6585959" y="5430765"/>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rgbClr val="C00000"/>
                  </a:solidFill>
                </a:rPr>
                <a:t>AD</a:t>
              </a:r>
              <a:r>
                <a:rPr lang="en-GB" altLang="en-US" sz="2000" baseline="-25000" dirty="0">
                  <a:solidFill>
                    <a:srgbClr val="C00000"/>
                  </a:solidFill>
                </a:rPr>
                <a:t>2</a:t>
              </a:r>
              <a:endParaRPr lang="en-GB" altLang="en-US" sz="2000" dirty="0">
                <a:solidFill>
                  <a:srgbClr val="C00000"/>
                </a:solidFill>
              </a:endParaRPr>
            </a:p>
          </p:txBody>
        </p:sp>
      </p:grpSp>
      <p:grpSp>
        <p:nvGrpSpPr>
          <p:cNvPr id="4" name="Group 3">
            <a:extLst>
              <a:ext uri="{FF2B5EF4-FFF2-40B4-BE49-F238E27FC236}">
                <a16:creationId xmlns:a16="http://schemas.microsoft.com/office/drawing/2014/main" id="{D36CFD92-7FD7-4F12-B372-1870AB7BDFF4}"/>
              </a:ext>
            </a:extLst>
          </p:cNvPr>
          <p:cNvGrpSpPr/>
          <p:nvPr/>
        </p:nvGrpSpPr>
        <p:grpSpPr>
          <a:xfrm>
            <a:off x="4719155" y="1371497"/>
            <a:ext cx="1031606" cy="5240000"/>
            <a:chOff x="4952835" y="1371497"/>
            <a:chExt cx="1031606" cy="5240000"/>
          </a:xfrm>
        </p:grpSpPr>
        <p:sp>
          <p:nvSpPr>
            <p:cNvPr id="4102" name="Line 67">
              <a:extLst>
                <a:ext uri="{FF2B5EF4-FFF2-40B4-BE49-F238E27FC236}">
                  <a16:creationId xmlns:a16="http://schemas.microsoft.com/office/drawing/2014/main" id="{5B1BC588-8812-491A-8D9B-0476881E529B}"/>
                </a:ext>
              </a:extLst>
            </p:cNvPr>
            <p:cNvSpPr>
              <a:spLocks noChangeShapeType="1"/>
            </p:cNvSpPr>
            <p:nvPr/>
          </p:nvSpPr>
          <p:spPr bwMode="auto">
            <a:xfrm flipH="1" flipV="1">
              <a:off x="5397147" y="1769764"/>
              <a:ext cx="4147" cy="4500293"/>
            </a:xfrm>
            <a:prstGeom prst="line">
              <a:avLst/>
            </a:prstGeom>
            <a:noFill/>
            <a:ln w="381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GB"/>
            </a:p>
          </p:txBody>
        </p:sp>
        <p:sp>
          <p:nvSpPr>
            <p:cNvPr id="4141" name="Text Box 17">
              <a:extLst>
                <a:ext uri="{FF2B5EF4-FFF2-40B4-BE49-F238E27FC236}">
                  <a16:creationId xmlns:a16="http://schemas.microsoft.com/office/drawing/2014/main" id="{EC2EACD1-BC3B-472C-89D7-9A2C8DFE1887}"/>
                </a:ext>
              </a:extLst>
            </p:cNvPr>
            <p:cNvSpPr txBox="1">
              <a:spLocks noChangeArrowheads="1"/>
            </p:cNvSpPr>
            <p:nvPr/>
          </p:nvSpPr>
          <p:spPr bwMode="auto">
            <a:xfrm>
              <a:off x="5168655" y="6226776"/>
              <a:ext cx="623708"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rgbClr val="008080"/>
                  </a:solidFill>
                </a:rPr>
                <a:t>Y</a:t>
              </a:r>
              <a:r>
                <a:rPr lang="en-GB" altLang="en-US" baseline="-25000" dirty="0">
                  <a:solidFill>
                    <a:srgbClr val="008080"/>
                  </a:solidFill>
                </a:rPr>
                <a:t>p</a:t>
              </a:r>
              <a:r>
                <a:rPr lang="en-GB" altLang="en-US" baseline="-46000" dirty="0">
                  <a:solidFill>
                    <a:srgbClr val="008080"/>
                  </a:solidFill>
                </a:rPr>
                <a:t>2</a:t>
              </a:r>
            </a:p>
          </p:txBody>
        </p:sp>
        <p:sp>
          <p:nvSpPr>
            <p:cNvPr id="56" name="Text Box 21">
              <a:extLst>
                <a:ext uri="{FF2B5EF4-FFF2-40B4-BE49-F238E27FC236}">
                  <a16:creationId xmlns:a16="http://schemas.microsoft.com/office/drawing/2014/main" id="{4BF103D1-2A8D-4B54-B371-E8E9D13DA54C}"/>
                </a:ext>
              </a:extLst>
            </p:cNvPr>
            <p:cNvSpPr txBox="1">
              <a:spLocks noChangeArrowheads="1"/>
            </p:cNvSpPr>
            <p:nvPr/>
          </p:nvSpPr>
          <p:spPr bwMode="auto">
            <a:xfrm>
              <a:off x="4952835" y="1371497"/>
              <a:ext cx="1031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rgbClr val="008080"/>
                  </a:solidFill>
                </a:rPr>
                <a:t>LRAS</a:t>
              </a:r>
              <a:r>
                <a:rPr lang="en-US" altLang="en-US" sz="2000" baseline="-25000" dirty="0">
                  <a:solidFill>
                    <a:srgbClr val="008080"/>
                  </a:solidFill>
                </a:rPr>
                <a:t>2</a:t>
              </a:r>
              <a:endParaRPr lang="en-GB" altLang="en-US" sz="2000" dirty="0">
                <a:solidFill>
                  <a:srgbClr val="008080"/>
                </a:solidFill>
                <a:sym typeface="Symbol" panose="05050102010706020507" pitchFamily="18" charset="2"/>
              </a:endParaRPr>
            </a:p>
          </p:txBody>
        </p:sp>
      </p:grpSp>
      <p:sp>
        <p:nvSpPr>
          <p:cNvPr id="4106" name="Arc 81">
            <a:extLst>
              <a:ext uri="{FF2B5EF4-FFF2-40B4-BE49-F238E27FC236}">
                <a16:creationId xmlns:a16="http://schemas.microsoft.com/office/drawing/2014/main" id="{FC9934CC-5B22-4EB2-9500-08328E915CF4}"/>
              </a:ext>
            </a:extLst>
          </p:cNvPr>
          <p:cNvSpPr>
            <a:spLocks/>
          </p:cNvSpPr>
          <p:nvPr/>
        </p:nvSpPr>
        <p:spPr bwMode="auto">
          <a:xfrm rot="21534119" flipV="1">
            <a:off x="2618433" y="635900"/>
            <a:ext cx="4196335" cy="4037998"/>
          </a:xfrm>
          <a:custGeom>
            <a:avLst/>
            <a:gdLst>
              <a:gd name="T0" fmla="*/ 2147483646 w 19726"/>
              <a:gd name="T1" fmla="*/ 0 h 21566"/>
              <a:gd name="T2" fmla="*/ 2147483646 w 19726"/>
              <a:gd name="T3" fmla="*/ 2147483646 h 21566"/>
              <a:gd name="T4" fmla="*/ 0 w 19726"/>
              <a:gd name="T5" fmla="*/ 2147483646 h 21566"/>
              <a:gd name="T6" fmla="*/ 0 60000 65536"/>
              <a:gd name="T7" fmla="*/ 0 60000 65536"/>
              <a:gd name="T8" fmla="*/ 0 60000 65536"/>
            </a:gdLst>
            <a:ahLst/>
            <a:cxnLst>
              <a:cxn ang="T6">
                <a:pos x="T0" y="T1"/>
              </a:cxn>
              <a:cxn ang="T7">
                <a:pos x="T2" y="T3"/>
              </a:cxn>
              <a:cxn ang="T8">
                <a:pos x="T4" y="T5"/>
              </a:cxn>
            </a:cxnLst>
            <a:rect l="0" t="0" r="r" b="b"/>
            <a:pathLst>
              <a:path w="19726" h="21566" fill="none" extrusionOk="0">
                <a:moveTo>
                  <a:pt x="1210" y="-1"/>
                </a:moveTo>
                <a:cubicBezTo>
                  <a:pt x="9285" y="453"/>
                  <a:pt x="16430" y="5379"/>
                  <a:pt x="19726" y="12765"/>
                </a:cubicBezTo>
              </a:path>
              <a:path w="19726" h="21566" stroke="0" extrusionOk="0">
                <a:moveTo>
                  <a:pt x="1210" y="-1"/>
                </a:moveTo>
                <a:cubicBezTo>
                  <a:pt x="9285" y="453"/>
                  <a:pt x="16430" y="5379"/>
                  <a:pt x="19726" y="12765"/>
                </a:cubicBezTo>
                <a:lnTo>
                  <a:pt x="0" y="21566"/>
                </a:lnTo>
                <a:lnTo>
                  <a:pt x="1210" y="-1"/>
                </a:lnTo>
                <a:close/>
              </a:path>
            </a:pathLst>
          </a:custGeom>
          <a:noFill/>
          <a:ln w="317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08" name="Line 67">
            <a:extLst>
              <a:ext uri="{FF2B5EF4-FFF2-40B4-BE49-F238E27FC236}">
                <a16:creationId xmlns:a16="http://schemas.microsoft.com/office/drawing/2014/main" id="{FBA9AC34-9190-4473-93A1-0CC6B1E743F7}"/>
              </a:ext>
            </a:extLst>
          </p:cNvPr>
          <p:cNvSpPr>
            <a:spLocks noChangeShapeType="1"/>
          </p:cNvSpPr>
          <p:nvPr/>
        </p:nvSpPr>
        <p:spPr bwMode="auto">
          <a:xfrm flipH="1" flipV="1">
            <a:off x="3978800" y="1771136"/>
            <a:ext cx="0" cy="4500293"/>
          </a:xfrm>
          <a:prstGeom prst="line">
            <a:avLst/>
          </a:prstGeom>
          <a:noFill/>
          <a:ln w="38100">
            <a:solidFill>
              <a:srgbClr val="00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endParaRPr lang="en-GB"/>
          </a:p>
        </p:txBody>
      </p:sp>
      <p:cxnSp>
        <p:nvCxnSpPr>
          <p:cNvPr id="4109" name="Straight Connector 3">
            <a:extLst>
              <a:ext uri="{FF2B5EF4-FFF2-40B4-BE49-F238E27FC236}">
                <a16:creationId xmlns:a16="http://schemas.microsoft.com/office/drawing/2014/main" id="{518CB35E-80E8-4E8D-9167-3E5F1C2355A5}"/>
              </a:ext>
            </a:extLst>
          </p:cNvPr>
          <p:cNvCxnSpPr>
            <a:cxnSpLocks noChangeShapeType="1"/>
          </p:cNvCxnSpPr>
          <p:nvPr/>
        </p:nvCxnSpPr>
        <p:spPr bwMode="auto">
          <a:xfrm>
            <a:off x="2712861" y="3560143"/>
            <a:ext cx="3157818" cy="2364581"/>
          </a:xfrm>
          <a:prstGeom prst="line">
            <a:avLst/>
          </a:prstGeom>
          <a:noFill/>
          <a:ln w="34925" algn="ctr">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13" name="Text Box 7">
            <a:extLst>
              <a:ext uri="{FF2B5EF4-FFF2-40B4-BE49-F238E27FC236}">
                <a16:creationId xmlns:a16="http://schemas.microsoft.com/office/drawing/2014/main" id="{ABE2A43F-4112-4A12-B6EF-8239476F42A7}"/>
              </a:ext>
            </a:extLst>
          </p:cNvPr>
          <p:cNvSpPr txBox="1">
            <a:spLocks noChangeArrowheads="1"/>
          </p:cNvSpPr>
          <p:nvPr/>
        </p:nvSpPr>
        <p:spPr bwMode="auto">
          <a:xfrm>
            <a:off x="1738860" y="853942"/>
            <a:ext cx="43364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chemeClr val="tx1"/>
                </a:solidFill>
                <a:latin typeface="+mn-lt"/>
              </a:rPr>
              <a:t>P</a:t>
            </a:r>
            <a:endParaRPr lang="en-GB" altLang="en-US" dirty="0">
              <a:solidFill>
                <a:schemeClr val="tx1"/>
              </a:solidFill>
              <a:latin typeface="+mn-lt"/>
            </a:endParaRPr>
          </a:p>
        </p:txBody>
      </p:sp>
      <p:sp>
        <p:nvSpPr>
          <p:cNvPr id="4116" name="Text Box 17">
            <a:extLst>
              <a:ext uri="{FF2B5EF4-FFF2-40B4-BE49-F238E27FC236}">
                <a16:creationId xmlns:a16="http://schemas.microsoft.com/office/drawing/2014/main" id="{BE54C7D4-2721-4110-A42F-1B9C8DE65D7E}"/>
              </a:ext>
            </a:extLst>
          </p:cNvPr>
          <p:cNvSpPr txBox="1">
            <a:spLocks noChangeArrowheads="1"/>
          </p:cNvSpPr>
          <p:nvPr/>
        </p:nvSpPr>
        <p:spPr bwMode="auto">
          <a:xfrm>
            <a:off x="3768344" y="6237545"/>
            <a:ext cx="62172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rgbClr val="006600"/>
                </a:solidFill>
              </a:rPr>
              <a:t>Y</a:t>
            </a:r>
            <a:r>
              <a:rPr lang="en-GB" altLang="en-US" baseline="-25000" dirty="0">
                <a:solidFill>
                  <a:srgbClr val="006600"/>
                </a:solidFill>
              </a:rPr>
              <a:t>p</a:t>
            </a:r>
            <a:r>
              <a:rPr lang="en-GB" altLang="en-US" baseline="-46000" dirty="0">
                <a:solidFill>
                  <a:srgbClr val="006600"/>
                </a:solidFill>
              </a:rPr>
              <a:t>1</a:t>
            </a:r>
          </a:p>
        </p:txBody>
      </p:sp>
      <p:sp>
        <p:nvSpPr>
          <p:cNvPr id="4119" name="Oval 25">
            <a:extLst>
              <a:ext uri="{FF2B5EF4-FFF2-40B4-BE49-F238E27FC236}">
                <a16:creationId xmlns:a16="http://schemas.microsoft.com/office/drawing/2014/main" id="{338B140C-AA5B-4CD9-8569-37CAE0AE61C1}"/>
              </a:ext>
            </a:extLst>
          </p:cNvPr>
          <p:cNvSpPr>
            <a:spLocks noChangeArrowheads="1"/>
          </p:cNvSpPr>
          <p:nvPr/>
        </p:nvSpPr>
        <p:spPr bwMode="auto">
          <a:xfrm>
            <a:off x="3928350" y="4469773"/>
            <a:ext cx="101600" cy="101600"/>
          </a:xfrm>
          <a:prstGeom prst="ellipse">
            <a:avLst/>
          </a:prstGeom>
          <a:solidFill>
            <a:srgbClr val="DCDC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endParaRPr lang="en-US" altLang="en-US"/>
          </a:p>
        </p:txBody>
      </p:sp>
      <p:sp>
        <p:nvSpPr>
          <p:cNvPr id="4126" name="Text Box 16">
            <a:extLst>
              <a:ext uri="{FF2B5EF4-FFF2-40B4-BE49-F238E27FC236}">
                <a16:creationId xmlns:a16="http://schemas.microsoft.com/office/drawing/2014/main" id="{56ED43FD-9C78-48F9-B701-8F26BB4292A9}"/>
              </a:ext>
            </a:extLst>
          </p:cNvPr>
          <p:cNvSpPr txBox="1">
            <a:spLocks noChangeArrowheads="1"/>
          </p:cNvSpPr>
          <p:nvPr/>
        </p:nvSpPr>
        <p:spPr bwMode="auto">
          <a:xfrm>
            <a:off x="5824309" y="5804172"/>
            <a:ext cx="636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chemeClr val="tx2"/>
                </a:solidFill>
              </a:rPr>
              <a:t>AD</a:t>
            </a:r>
            <a:r>
              <a:rPr lang="en-GB" altLang="en-US" sz="2000" baseline="-25000" dirty="0">
                <a:solidFill>
                  <a:schemeClr val="tx2"/>
                </a:solidFill>
              </a:rPr>
              <a:t>1</a:t>
            </a:r>
            <a:endParaRPr lang="en-GB" altLang="en-US" sz="2000" dirty="0">
              <a:solidFill>
                <a:schemeClr val="tx2"/>
              </a:solidFill>
            </a:endParaRPr>
          </a:p>
        </p:txBody>
      </p:sp>
      <p:grpSp>
        <p:nvGrpSpPr>
          <p:cNvPr id="3" name="Group 2">
            <a:extLst>
              <a:ext uri="{FF2B5EF4-FFF2-40B4-BE49-F238E27FC236}">
                <a16:creationId xmlns:a16="http://schemas.microsoft.com/office/drawing/2014/main" id="{697E8FE8-7E6F-46DC-9C81-463D63A92B6F}"/>
              </a:ext>
            </a:extLst>
          </p:cNvPr>
          <p:cNvGrpSpPr/>
          <p:nvPr/>
        </p:nvGrpSpPr>
        <p:grpSpPr>
          <a:xfrm>
            <a:off x="3071955" y="665434"/>
            <a:ext cx="5276291" cy="4293939"/>
            <a:chOff x="3305635" y="665434"/>
            <a:chExt cx="5276291" cy="4293939"/>
          </a:xfrm>
        </p:grpSpPr>
        <p:sp>
          <p:nvSpPr>
            <p:cNvPr id="4099" name="Arc 81">
              <a:extLst>
                <a:ext uri="{FF2B5EF4-FFF2-40B4-BE49-F238E27FC236}">
                  <a16:creationId xmlns:a16="http://schemas.microsoft.com/office/drawing/2014/main" id="{00906555-03ED-4F4A-AFA7-08528B3B1930}"/>
                </a:ext>
              </a:extLst>
            </p:cNvPr>
            <p:cNvSpPr>
              <a:spLocks/>
            </p:cNvSpPr>
            <p:nvPr/>
          </p:nvSpPr>
          <p:spPr bwMode="auto">
            <a:xfrm rot="21534119" flipV="1">
              <a:off x="3305635" y="665434"/>
              <a:ext cx="4264597" cy="4293939"/>
            </a:xfrm>
            <a:custGeom>
              <a:avLst/>
              <a:gdLst>
                <a:gd name="T0" fmla="*/ 2147483646 w 19726"/>
                <a:gd name="T1" fmla="*/ 0 h 21566"/>
                <a:gd name="T2" fmla="*/ 2147483646 w 19726"/>
                <a:gd name="T3" fmla="*/ 2147483646 h 21566"/>
                <a:gd name="T4" fmla="*/ 0 w 19726"/>
                <a:gd name="T5" fmla="*/ 2147483646 h 21566"/>
                <a:gd name="T6" fmla="*/ 0 60000 65536"/>
                <a:gd name="T7" fmla="*/ 0 60000 65536"/>
                <a:gd name="T8" fmla="*/ 0 60000 65536"/>
              </a:gdLst>
              <a:ahLst/>
              <a:cxnLst>
                <a:cxn ang="T6">
                  <a:pos x="T0" y="T1"/>
                </a:cxn>
                <a:cxn ang="T7">
                  <a:pos x="T2" y="T3"/>
                </a:cxn>
                <a:cxn ang="T8">
                  <a:pos x="T4" y="T5"/>
                </a:cxn>
              </a:cxnLst>
              <a:rect l="0" t="0" r="r" b="b"/>
              <a:pathLst>
                <a:path w="19726" h="21566" fill="none" extrusionOk="0">
                  <a:moveTo>
                    <a:pt x="1210" y="-1"/>
                  </a:moveTo>
                  <a:cubicBezTo>
                    <a:pt x="9285" y="453"/>
                    <a:pt x="16430" y="5379"/>
                    <a:pt x="19726" y="12765"/>
                  </a:cubicBezTo>
                </a:path>
                <a:path w="19726" h="21566" stroke="0" extrusionOk="0">
                  <a:moveTo>
                    <a:pt x="1210" y="-1"/>
                  </a:moveTo>
                  <a:cubicBezTo>
                    <a:pt x="9285" y="453"/>
                    <a:pt x="16430" y="5379"/>
                    <a:pt x="19726" y="12765"/>
                  </a:cubicBezTo>
                  <a:lnTo>
                    <a:pt x="0" y="21566"/>
                  </a:lnTo>
                  <a:lnTo>
                    <a:pt x="1210" y="-1"/>
                  </a:lnTo>
                  <a:close/>
                </a:path>
              </a:pathLst>
            </a:custGeom>
            <a:noFill/>
            <a:ln w="317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32" name="Text Box 21">
              <a:extLst>
                <a:ext uri="{FF2B5EF4-FFF2-40B4-BE49-F238E27FC236}">
                  <a16:creationId xmlns:a16="http://schemas.microsoft.com/office/drawing/2014/main" id="{32027C9C-917F-4CEC-B95A-05BB2A855454}"/>
                </a:ext>
              </a:extLst>
            </p:cNvPr>
            <p:cNvSpPr txBox="1">
              <a:spLocks noChangeArrowheads="1"/>
            </p:cNvSpPr>
            <p:nvPr/>
          </p:nvSpPr>
          <p:spPr bwMode="auto">
            <a:xfrm>
              <a:off x="7550320" y="2089095"/>
              <a:ext cx="1031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rgbClr val="C00000"/>
                  </a:solidFill>
                </a:rPr>
                <a:t>SRAS</a:t>
              </a:r>
              <a:r>
                <a:rPr lang="en-US" altLang="en-US" sz="2000" baseline="-25000" dirty="0">
                  <a:solidFill>
                    <a:srgbClr val="C00000"/>
                  </a:solidFill>
                </a:rPr>
                <a:t>2</a:t>
              </a:r>
              <a:r>
                <a:rPr lang="en-GB" altLang="en-US" sz="2000" dirty="0">
                  <a:solidFill>
                    <a:srgbClr val="C00000"/>
                  </a:solidFill>
                </a:rPr>
                <a:t> </a:t>
              </a:r>
              <a:endParaRPr lang="en-GB" altLang="en-US" sz="2000" dirty="0">
                <a:solidFill>
                  <a:srgbClr val="C00000"/>
                </a:solidFill>
                <a:sym typeface="Symbol" panose="05050102010706020507" pitchFamily="18" charset="2"/>
              </a:endParaRPr>
            </a:p>
          </p:txBody>
        </p:sp>
      </p:grpSp>
      <p:sp>
        <p:nvSpPr>
          <p:cNvPr id="4133" name="Text Box 21">
            <a:extLst>
              <a:ext uri="{FF2B5EF4-FFF2-40B4-BE49-F238E27FC236}">
                <a16:creationId xmlns:a16="http://schemas.microsoft.com/office/drawing/2014/main" id="{1CFBE876-A500-4FAF-B8C8-DA0A77AA231F}"/>
              </a:ext>
            </a:extLst>
          </p:cNvPr>
          <p:cNvSpPr txBox="1">
            <a:spLocks noChangeArrowheads="1"/>
          </p:cNvSpPr>
          <p:nvPr/>
        </p:nvSpPr>
        <p:spPr bwMode="auto">
          <a:xfrm>
            <a:off x="6443539" y="1838294"/>
            <a:ext cx="11400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chemeClr val="tx2"/>
                </a:solidFill>
              </a:rPr>
              <a:t>SRAS</a:t>
            </a:r>
            <a:r>
              <a:rPr lang="en-US" altLang="en-US" sz="2000" baseline="-25000" dirty="0">
                <a:solidFill>
                  <a:schemeClr val="tx2"/>
                </a:solidFill>
              </a:rPr>
              <a:t>1</a:t>
            </a:r>
            <a:endParaRPr lang="en-GB" altLang="en-US" sz="2000" dirty="0">
              <a:solidFill>
                <a:schemeClr val="tx2"/>
              </a:solidFill>
              <a:sym typeface="Symbol" panose="05050102010706020507" pitchFamily="18" charset="2"/>
            </a:endParaRPr>
          </a:p>
        </p:txBody>
      </p:sp>
      <p:grpSp>
        <p:nvGrpSpPr>
          <p:cNvPr id="7" name="Group 6">
            <a:extLst>
              <a:ext uri="{FF2B5EF4-FFF2-40B4-BE49-F238E27FC236}">
                <a16:creationId xmlns:a16="http://schemas.microsoft.com/office/drawing/2014/main" id="{18320857-6F4D-4329-820D-ADA95CAD2A79}"/>
              </a:ext>
            </a:extLst>
          </p:cNvPr>
          <p:cNvGrpSpPr/>
          <p:nvPr/>
        </p:nvGrpSpPr>
        <p:grpSpPr>
          <a:xfrm>
            <a:off x="1584936" y="4143439"/>
            <a:ext cx="3969689" cy="566809"/>
            <a:chOff x="1818616" y="4143439"/>
            <a:chExt cx="3969689" cy="566809"/>
          </a:xfrm>
        </p:grpSpPr>
        <p:sp>
          <p:nvSpPr>
            <p:cNvPr id="4146" name="Line 50">
              <a:extLst>
                <a:ext uri="{FF2B5EF4-FFF2-40B4-BE49-F238E27FC236}">
                  <a16:creationId xmlns:a16="http://schemas.microsoft.com/office/drawing/2014/main" id="{CC5FB0E0-FF1F-4F7D-98BA-1856AF2FB939}"/>
                </a:ext>
              </a:extLst>
            </p:cNvPr>
            <p:cNvSpPr>
              <a:spLocks noChangeShapeType="1"/>
            </p:cNvSpPr>
            <p:nvPr/>
          </p:nvSpPr>
          <p:spPr bwMode="auto">
            <a:xfrm flipH="1">
              <a:off x="2392847" y="4524982"/>
              <a:ext cx="2994080" cy="1588"/>
            </a:xfrm>
            <a:prstGeom prst="line">
              <a:avLst/>
            </a:prstGeom>
            <a:noFill/>
            <a:ln w="15875">
              <a:solidFill>
                <a:srgbClr val="4D4D4D"/>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4118" name="Text Box 20">
              <a:extLst>
                <a:ext uri="{FF2B5EF4-FFF2-40B4-BE49-F238E27FC236}">
                  <a16:creationId xmlns:a16="http://schemas.microsoft.com/office/drawing/2014/main" id="{F970EB27-6A35-42C3-8922-3BBCD3E6DDC3}"/>
                </a:ext>
              </a:extLst>
            </p:cNvPr>
            <p:cNvSpPr txBox="1">
              <a:spLocks noChangeArrowheads="1"/>
            </p:cNvSpPr>
            <p:nvPr/>
          </p:nvSpPr>
          <p:spPr bwMode="auto">
            <a:xfrm>
              <a:off x="1818616" y="4325527"/>
              <a:ext cx="581349"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pPr algn="r"/>
              <a:r>
                <a:rPr lang="en-GB" altLang="en-US" i="1" dirty="0">
                  <a:solidFill>
                    <a:srgbClr val="000000"/>
                  </a:solidFill>
                  <a:latin typeface="+mn-lt"/>
                </a:rPr>
                <a:t>P</a:t>
              </a:r>
              <a:r>
                <a:rPr lang="en-GB" altLang="en-US" baseline="-25000" dirty="0">
                  <a:solidFill>
                    <a:srgbClr val="000000"/>
                  </a:solidFill>
                  <a:latin typeface="+mn-lt"/>
                </a:rPr>
                <a:t>1</a:t>
              </a:r>
              <a:endParaRPr lang="en-GB" altLang="en-US" baseline="-25000" dirty="0">
                <a:solidFill>
                  <a:srgbClr val="000000"/>
                </a:solidFill>
              </a:endParaRPr>
            </a:p>
          </p:txBody>
        </p:sp>
        <p:sp>
          <p:nvSpPr>
            <p:cNvPr id="97" name="Oval 25">
              <a:extLst>
                <a:ext uri="{FF2B5EF4-FFF2-40B4-BE49-F238E27FC236}">
                  <a16:creationId xmlns:a16="http://schemas.microsoft.com/office/drawing/2014/main" id="{F00F2667-0657-40DA-AD8A-067593333A3B}"/>
                </a:ext>
              </a:extLst>
            </p:cNvPr>
            <p:cNvSpPr>
              <a:spLocks noChangeArrowheads="1"/>
            </p:cNvSpPr>
            <p:nvPr/>
          </p:nvSpPr>
          <p:spPr bwMode="auto">
            <a:xfrm>
              <a:off x="5350344" y="4472029"/>
              <a:ext cx="101600" cy="101600"/>
            </a:xfrm>
            <a:prstGeom prst="ellipse">
              <a:avLst/>
            </a:prstGeom>
            <a:solidFill>
              <a:srgbClr val="FFCCCC"/>
            </a:solidFill>
            <a:ln w="22225">
              <a:solidFill>
                <a:schemeClr val="tx1"/>
              </a:solidFill>
              <a:round/>
              <a:headEnd/>
              <a:tailEnd/>
            </a:ln>
          </p:spPr>
          <p:txBody>
            <a:bodyPr wrap="none" anchor="ct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pPr>
                <a:defRPr/>
              </a:pPr>
              <a:endParaRPr lang="en-US" altLang="en-US"/>
            </a:p>
          </p:txBody>
        </p:sp>
        <p:sp>
          <p:nvSpPr>
            <p:cNvPr id="4135" name="Text Box 22">
              <a:extLst>
                <a:ext uri="{FF2B5EF4-FFF2-40B4-BE49-F238E27FC236}">
                  <a16:creationId xmlns:a16="http://schemas.microsoft.com/office/drawing/2014/main" id="{BBDC5365-22CA-4E8C-9117-A1732AFFBF88}"/>
                </a:ext>
              </a:extLst>
            </p:cNvPr>
            <p:cNvSpPr txBox="1">
              <a:spLocks noChangeArrowheads="1"/>
            </p:cNvSpPr>
            <p:nvPr/>
          </p:nvSpPr>
          <p:spPr bwMode="auto">
            <a:xfrm>
              <a:off x="5339042" y="4143439"/>
              <a:ext cx="449263"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rgbClr val="C00000"/>
                  </a:solidFill>
                </a:rPr>
                <a:t>b</a:t>
              </a:r>
            </a:p>
          </p:txBody>
        </p:sp>
      </p:grpSp>
      <p:sp>
        <p:nvSpPr>
          <p:cNvPr id="4138" name="Text Box 22">
            <a:extLst>
              <a:ext uri="{FF2B5EF4-FFF2-40B4-BE49-F238E27FC236}">
                <a16:creationId xmlns:a16="http://schemas.microsoft.com/office/drawing/2014/main" id="{77737912-5DB9-4B15-A57E-2892C839CFEB}"/>
              </a:ext>
            </a:extLst>
          </p:cNvPr>
          <p:cNvSpPr txBox="1">
            <a:spLocks noChangeArrowheads="1"/>
          </p:cNvSpPr>
          <p:nvPr/>
        </p:nvSpPr>
        <p:spPr bwMode="auto">
          <a:xfrm>
            <a:off x="3920665" y="4142528"/>
            <a:ext cx="320922"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chemeClr val="tx2"/>
                </a:solidFill>
              </a:rPr>
              <a:t>a</a:t>
            </a:r>
          </a:p>
        </p:txBody>
      </p:sp>
      <p:sp>
        <p:nvSpPr>
          <p:cNvPr id="55" name="Text Box 21">
            <a:extLst>
              <a:ext uri="{FF2B5EF4-FFF2-40B4-BE49-F238E27FC236}">
                <a16:creationId xmlns:a16="http://schemas.microsoft.com/office/drawing/2014/main" id="{D19B5543-98CA-447A-8198-F06A4AC2F0FE}"/>
              </a:ext>
            </a:extLst>
          </p:cNvPr>
          <p:cNvSpPr txBox="1">
            <a:spLocks noChangeArrowheads="1"/>
          </p:cNvSpPr>
          <p:nvPr/>
        </p:nvSpPr>
        <p:spPr bwMode="auto">
          <a:xfrm>
            <a:off x="3627473" y="1366532"/>
            <a:ext cx="10316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sz="2000" i="1" dirty="0">
                <a:solidFill>
                  <a:srgbClr val="006600"/>
                </a:solidFill>
              </a:rPr>
              <a:t>LRAS</a:t>
            </a:r>
            <a:r>
              <a:rPr lang="en-US" altLang="en-US" sz="2000" baseline="-25000" dirty="0">
                <a:solidFill>
                  <a:srgbClr val="006600"/>
                </a:solidFill>
              </a:rPr>
              <a:t>1</a:t>
            </a:r>
            <a:endParaRPr lang="en-GB" altLang="en-US" sz="2000" dirty="0">
              <a:solidFill>
                <a:srgbClr val="006600"/>
              </a:solidFill>
              <a:sym typeface="Symbol" panose="05050102010706020507" pitchFamily="18" charset="2"/>
            </a:endParaRPr>
          </a:p>
        </p:txBody>
      </p:sp>
      <p:cxnSp>
        <p:nvCxnSpPr>
          <p:cNvPr id="5" name="Straight Connector 4">
            <a:extLst>
              <a:ext uri="{FF2B5EF4-FFF2-40B4-BE49-F238E27FC236}">
                <a16:creationId xmlns:a16="http://schemas.microsoft.com/office/drawing/2014/main" id="{9F9C791C-B3E2-4878-812A-747248691EB0}"/>
              </a:ext>
            </a:extLst>
          </p:cNvPr>
          <p:cNvCxnSpPr>
            <a:cxnSpLocks/>
          </p:cNvCxnSpPr>
          <p:nvPr/>
        </p:nvCxnSpPr>
        <p:spPr bwMode="auto">
          <a:xfrm flipV="1">
            <a:off x="2137866" y="938785"/>
            <a:ext cx="0" cy="5332643"/>
          </a:xfrm>
          <a:prstGeom prst="line">
            <a:avLst/>
          </a:prstGeom>
          <a:solidFill>
            <a:srgbClr val="FFFFCC"/>
          </a:solidFill>
          <a:ln w="28575" cap="flat" cmpd="sng" algn="ctr">
            <a:solidFill>
              <a:schemeClr val="tx1"/>
            </a:solidFill>
            <a:prstDash val="solid"/>
            <a:round/>
            <a:headEnd type="none" w="sm" len="sm"/>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Connector 7">
            <a:extLst>
              <a:ext uri="{FF2B5EF4-FFF2-40B4-BE49-F238E27FC236}">
                <a16:creationId xmlns:a16="http://schemas.microsoft.com/office/drawing/2014/main" id="{2BDA2AE4-2178-429C-A1DF-4F3848483452}"/>
              </a:ext>
            </a:extLst>
          </p:cNvPr>
          <p:cNvCxnSpPr>
            <a:cxnSpLocks/>
          </p:cNvCxnSpPr>
          <p:nvPr/>
        </p:nvCxnSpPr>
        <p:spPr bwMode="auto">
          <a:xfrm>
            <a:off x="2130836" y="6271427"/>
            <a:ext cx="7423830" cy="0"/>
          </a:xfrm>
          <a:prstGeom prst="line">
            <a:avLst/>
          </a:prstGeom>
          <a:solidFill>
            <a:srgbClr val="FFFFCC"/>
          </a:solidFill>
          <a:ln w="28575" cap="flat" cmpd="sng" algn="ctr">
            <a:solidFill>
              <a:schemeClr val="tx1"/>
            </a:solidFill>
            <a:prstDash val="solid"/>
            <a:round/>
            <a:headEnd type="none" w="sm" len="sm"/>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Text Box 7">
            <a:extLst>
              <a:ext uri="{FF2B5EF4-FFF2-40B4-BE49-F238E27FC236}">
                <a16:creationId xmlns:a16="http://schemas.microsoft.com/office/drawing/2014/main" id="{3586EEBE-ED96-4657-8039-0CEB29096473}"/>
              </a:ext>
            </a:extLst>
          </p:cNvPr>
          <p:cNvSpPr txBox="1">
            <a:spLocks noChangeArrowheads="1"/>
          </p:cNvSpPr>
          <p:nvPr/>
        </p:nvSpPr>
        <p:spPr bwMode="auto">
          <a:xfrm>
            <a:off x="9216112" y="6270057"/>
            <a:ext cx="433640" cy="384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900">
                <a:solidFill>
                  <a:schemeClr val="hlink"/>
                </a:solidFill>
                <a:latin typeface="Arial" panose="020B0604020202020204" pitchFamily="34" charset="0"/>
              </a:defRPr>
            </a:lvl1pPr>
            <a:lvl2pPr marL="742950" indent="-285750">
              <a:defRPr sz="1900">
                <a:solidFill>
                  <a:schemeClr val="hlink"/>
                </a:solidFill>
                <a:latin typeface="Arial" panose="020B0604020202020204" pitchFamily="34" charset="0"/>
              </a:defRPr>
            </a:lvl2pPr>
            <a:lvl3pPr marL="1143000" indent="-228600">
              <a:defRPr sz="1900">
                <a:solidFill>
                  <a:schemeClr val="hlink"/>
                </a:solidFill>
                <a:latin typeface="Arial" panose="020B0604020202020204" pitchFamily="34" charset="0"/>
              </a:defRPr>
            </a:lvl3pPr>
            <a:lvl4pPr marL="1600200" indent="-228600">
              <a:defRPr sz="1900">
                <a:solidFill>
                  <a:schemeClr val="hlink"/>
                </a:solidFill>
                <a:latin typeface="Arial" panose="020B0604020202020204" pitchFamily="34" charset="0"/>
              </a:defRPr>
            </a:lvl4pPr>
            <a:lvl5pPr marL="2057400" indent="-228600">
              <a:defRPr sz="1900">
                <a:solidFill>
                  <a:schemeClr val="hlink"/>
                </a:solidFill>
                <a:latin typeface="Arial" panose="020B0604020202020204" pitchFamily="34" charset="0"/>
              </a:defRPr>
            </a:lvl5pPr>
            <a:lvl6pPr marL="2514600" indent="-228600" eaLnBrk="0" fontAlgn="base" hangingPunct="0">
              <a:spcBef>
                <a:spcPct val="0"/>
              </a:spcBef>
              <a:spcAft>
                <a:spcPct val="0"/>
              </a:spcAft>
              <a:defRPr sz="1900">
                <a:solidFill>
                  <a:schemeClr val="hlink"/>
                </a:solidFill>
                <a:latin typeface="Arial" panose="020B0604020202020204" pitchFamily="34" charset="0"/>
              </a:defRPr>
            </a:lvl6pPr>
            <a:lvl7pPr marL="2971800" indent="-228600" eaLnBrk="0" fontAlgn="base" hangingPunct="0">
              <a:spcBef>
                <a:spcPct val="0"/>
              </a:spcBef>
              <a:spcAft>
                <a:spcPct val="0"/>
              </a:spcAft>
              <a:defRPr sz="1900">
                <a:solidFill>
                  <a:schemeClr val="hlink"/>
                </a:solidFill>
                <a:latin typeface="Arial" panose="020B0604020202020204" pitchFamily="34" charset="0"/>
              </a:defRPr>
            </a:lvl7pPr>
            <a:lvl8pPr marL="3429000" indent="-228600" eaLnBrk="0" fontAlgn="base" hangingPunct="0">
              <a:spcBef>
                <a:spcPct val="0"/>
              </a:spcBef>
              <a:spcAft>
                <a:spcPct val="0"/>
              </a:spcAft>
              <a:defRPr sz="1900">
                <a:solidFill>
                  <a:schemeClr val="hlink"/>
                </a:solidFill>
                <a:latin typeface="Arial" panose="020B0604020202020204" pitchFamily="34" charset="0"/>
              </a:defRPr>
            </a:lvl8pPr>
            <a:lvl9pPr marL="3886200" indent="-228600" eaLnBrk="0" fontAlgn="base" hangingPunct="0">
              <a:spcBef>
                <a:spcPct val="0"/>
              </a:spcBef>
              <a:spcAft>
                <a:spcPct val="0"/>
              </a:spcAft>
              <a:defRPr sz="1900">
                <a:solidFill>
                  <a:schemeClr val="hlink"/>
                </a:solidFill>
                <a:latin typeface="Arial" panose="020B0604020202020204" pitchFamily="34" charset="0"/>
              </a:defRPr>
            </a:lvl9pPr>
          </a:lstStyle>
          <a:p>
            <a:r>
              <a:rPr lang="en-GB" altLang="en-US" i="1" dirty="0">
                <a:solidFill>
                  <a:schemeClr val="tx1"/>
                </a:solidFill>
                <a:latin typeface="+mn-lt"/>
              </a:rPr>
              <a:t>Y</a:t>
            </a:r>
            <a:endParaRPr lang="en-GB" altLang="en-US" dirty="0">
              <a:solidFill>
                <a:schemeClr val="tx1"/>
              </a:solidFill>
              <a:latin typeface="+mn-lt"/>
            </a:endParaRPr>
          </a:p>
        </p:txBody>
      </p:sp>
      <p:sp>
        <p:nvSpPr>
          <p:cNvPr id="42" name="Title 1">
            <a:extLst>
              <a:ext uri="{FF2B5EF4-FFF2-40B4-BE49-F238E27FC236}">
                <a16:creationId xmlns:a16="http://schemas.microsoft.com/office/drawing/2014/main" id="{A6641C5C-521E-461E-85F4-C1CE142BA14C}"/>
              </a:ext>
            </a:extLst>
          </p:cNvPr>
          <p:cNvSpPr txBox="1">
            <a:spLocks/>
          </p:cNvSpPr>
          <p:nvPr/>
        </p:nvSpPr>
        <p:spPr bwMode="auto">
          <a:xfrm>
            <a:off x="1" y="186127"/>
            <a:ext cx="12113442" cy="449263"/>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nchor="ct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800" b="1" dirty="0">
                <a:solidFill>
                  <a:srgbClr val="660066"/>
                </a:solidFill>
              </a:rPr>
              <a:t>Supply-side policies and long-term growth</a:t>
            </a:r>
          </a:p>
        </p:txBody>
      </p:sp>
      <p:sp>
        <p:nvSpPr>
          <p:cNvPr id="32" name="AutoShape 24">
            <a:extLst>
              <a:ext uri="{FF2B5EF4-FFF2-40B4-BE49-F238E27FC236}">
                <a16:creationId xmlns:a16="http://schemas.microsoft.com/office/drawing/2014/main" id="{277F7053-83C5-4A19-9060-E22F4260925D}"/>
              </a:ext>
            </a:extLst>
          </p:cNvPr>
          <p:cNvSpPr>
            <a:spLocks noChangeArrowheads="1"/>
          </p:cNvSpPr>
          <p:nvPr/>
        </p:nvSpPr>
        <p:spPr bwMode="auto">
          <a:xfrm>
            <a:off x="7257720" y="2931661"/>
            <a:ext cx="4437622" cy="921814"/>
          </a:xfrm>
          <a:prstGeom prst="roundRect">
            <a:avLst>
              <a:gd name="adj" fmla="val 16667"/>
            </a:avLst>
          </a:prstGeom>
          <a:solidFill>
            <a:srgbClr val="FFFFEB"/>
          </a:solidFill>
          <a:ln w="25400">
            <a:solidFill>
              <a:schemeClr val="accent1"/>
            </a:solidFill>
            <a:round/>
            <a:headEnd type="none" w="sm" len="sm"/>
            <a:tailEnd type="none" w="sm" len="med"/>
          </a:ln>
          <a:effectLst/>
        </p:spPr>
        <p:txBody>
          <a:bodyPr wrap="square" lIns="90000" tIns="46800" rIns="90000" bIns="46800" anchor="ctr">
            <a:spAutoFit/>
          </a:bodyP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400" dirty="0">
                <a:solidFill>
                  <a:srgbClr val="660066"/>
                </a:solidFill>
              </a:rPr>
              <a:t>Supply-side policy results in a rise in aggregate supply</a:t>
            </a:r>
          </a:p>
        </p:txBody>
      </p:sp>
      <p:sp>
        <p:nvSpPr>
          <p:cNvPr id="33" name="AutoShape 24">
            <a:extLst>
              <a:ext uri="{FF2B5EF4-FFF2-40B4-BE49-F238E27FC236}">
                <a16:creationId xmlns:a16="http://schemas.microsoft.com/office/drawing/2014/main" id="{8065C5DE-D70A-4ED9-A6D6-27706E5D6F6B}"/>
              </a:ext>
            </a:extLst>
          </p:cNvPr>
          <p:cNvSpPr>
            <a:spLocks noChangeArrowheads="1"/>
          </p:cNvSpPr>
          <p:nvPr/>
        </p:nvSpPr>
        <p:spPr bwMode="auto">
          <a:xfrm>
            <a:off x="7273330" y="4517887"/>
            <a:ext cx="4422012" cy="1330436"/>
          </a:xfrm>
          <a:prstGeom prst="roundRect">
            <a:avLst>
              <a:gd name="adj" fmla="val 16667"/>
            </a:avLst>
          </a:prstGeom>
          <a:solidFill>
            <a:srgbClr val="FFFFEB"/>
          </a:solidFill>
          <a:ln w="25400">
            <a:solidFill>
              <a:schemeClr val="accent1"/>
            </a:solidFill>
            <a:round/>
            <a:headEnd type="none" w="sm" len="sm"/>
            <a:tailEnd type="none" w="sm" len="med"/>
          </a:ln>
          <a:effectLst/>
        </p:spPr>
        <p:txBody>
          <a:bodyPr wrap="square" lIns="90000" tIns="46800" rIns="90000" bIns="46800" anchor="ctr">
            <a:spAutoFit/>
          </a:bodyPr>
          <a:lstStyle>
            <a:lvl1pPr defTabSz="762000">
              <a:defRPr sz="1900">
                <a:solidFill>
                  <a:schemeClr val="hlink"/>
                </a:solidFill>
                <a:latin typeface="Arial" panose="020B0604020202020204" pitchFamily="34" charset="0"/>
              </a:defRPr>
            </a:lvl1pPr>
            <a:lvl2pPr marL="742950" indent="-285750" defTabSz="762000">
              <a:defRPr sz="1900">
                <a:solidFill>
                  <a:schemeClr val="hlink"/>
                </a:solidFill>
                <a:latin typeface="Arial" panose="020B0604020202020204" pitchFamily="34" charset="0"/>
              </a:defRPr>
            </a:lvl2pPr>
            <a:lvl3pPr marL="1143000" indent="-228600" defTabSz="762000">
              <a:defRPr sz="1900">
                <a:solidFill>
                  <a:schemeClr val="hlink"/>
                </a:solidFill>
                <a:latin typeface="Arial" panose="020B0604020202020204" pitchFamily="34" charset="0"/>
              </a:defRPr>
            </a:lvl3pPr>
            <a:lvl4pPr marL="1600200" indent="-228600" defTabSz="762000">
              <a:defRPr sz="1900">
                <a:solidFill>
                  <a:schemeClr val="hlink"/>
                </a:solidFill>
                <a:latin typeface="Arial" panose="020B0604020202020204" pitchFamily="34" charset="0"/>
              </a:defRPr>
            </a:lvl4pPr>
            <a:lvl5pPr marL="2057400" indent="-228600" defTabSz="762000">
              <a:defRPr sz="1900">
                <a:solidFill>
                  <a:schemeClr val="hlink"/>
                </a:solidFill>
                <a:latin typeface="Arial" panose="020B0604020202020204" pitchFamily="34" charset="0"/>
              </a:defRPr>
            </a:lvl5pPr>
            <a:lvl6pPr marL="2514600" indent="-228600" defTabSz="762000" eaLnBrk="0" fontAlgn="base" hangingPunct="0">
              <a:spcBef>
                <a:spcPct val="0"/>
              </a:spcBef>
              <a:spcAft>
                <a:spcPct val="0"/>
              </a:spcAft>
              <a:defRPr sz="1900">
                <a:solidFill>
                  <a:schemeClr val="hlink"/>
                </a:solidFill>
                <a:latin typeface="Arial" panose="020B0604020202020204" pitchFamily="34" charset="0"/>
              </a:defRPr>
            </a:lvl6pPr>
            <a:lvl7pPr marL="2971800" indent="-228600" defTabSz="762000" eaLnBrk="0" fontAlgn="base" hangingPunct="0">
              <a:spcBef>
                <a:spcPct val="0"/>
              </a:spcBef>
              <a:spcAft>
                <a:spcPct val="0"/>
              </a:spcAft>
              <a:defRPr sz="1900">
                <a:solidFill>
                  <a:schemeClr val="hlink"/>
                </a:solidFill>
                <a:latin typeface="Arial" panose="020B0604020202020204" pitchFamily="34" charset="0"/>
              </a:defRPr>
            </a:lvl7pPr>
            <a:lvl8pPr marL="3429000" indent="-228600" defTabSz="762000" eaLnBrk="0" fontAlgn="base" hangingPunct="0">
              <a:spcBef>
                <a:spcPct val="0"/>
              </a:spcBef>
              <a:spcAft>
                <a:spcPct val="0"/>
              </a:spcAft>
              <a:defRPr sz="1900">
                <a:solidFill>
                  <a:schemeClr val="hlink"/>
                </a:solidFill>
                <a:latin typeface="Arial" panose="020B0604020202020204" pitchFamily="34" charset="0"/>
              </a:defRPr>
            </a:lvl8pPr>
            <a:lvl9pPr marL="3886200" indent="-228600" defTabSz="762000" eaLnBrk="0" fontAlgn="base" hangingPunct="0">
              <a:spcBef>
                <a:spcPct val="0"/>
              </a:spcBef>
              <a:spcAft>
                <a:spcPct val="0"/>
              </a:spcAft>
              <a:defRPr sz="1900">
                <a:solidFill>
                  <a:schemeClr val="hlink"/>
                </a:solidFill>
                <a:latin typeface="Arial" panose="020B0604020202020204" pitchFamily="34" charset="0"/>
              </a:defRPr>
            </a:lvl9pPr>
          </a:lstStyle>
          <a:p>
            <a:pPr algn="ctr"/>
            <a:r>
              <a:rPr lang="en-GB" altLang="en-US" sz="2400" dirty="0">
                <a:solidFill>
                  <a:srgbClr val="660066"/>
                </a:solidFill>
              </a:rPr>
              <a:t>For price stability, demand increases match supply increases</a:t>
            </a:r>
          </a:p>
        </p:txBody>
      </p:sp>
    </p:spTree>
    <p:extLst>
      <p:ext uri="{BB962C8B-B14F-4D97-AF65-F5344CB8AC3E}">
        <p14:creationId xmlns:p14="http://schemas.microsoft.com/office/powerpoint/2010/main" val="107562533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1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anim calcmode="lin" valueType="num">
                                      <p:cBhvr>
                                        <p:cTn id="23" dur="500" fill="hold"/>
                                        <p:tgtEl>
                                          <p:spTgt spid="33"/>
                                        </p:tgtEl>
                                        <p:attrNameLst>
                                          <p:attrName>ppt_w</p:attrName>
                                        </p:attrNameLst>
                                      </p:cBhvr>
                                      <p:tavLst>
                                        <p:tav tm="0">
                                          <p:val>
                                            <p:fltVal val="0"/>
                                          </p:val>
                                        </p:tav>
                                        <p:tav tm="100000">
                                          <p:val>
                                            <p:strVal val="#ppt_w"/>
                                          </p:val>
                                        </p:tav>
                                      </p:tavLst>
                                    </p:anim>
                                    <p:anim calcmode="lin" valueType="num">
                                      <p:cBhvr>
                                        <p:cTn id="24" dur="500" fill="hold"/>
                                        <p:tgtEl>
                                          <p:spTgt spid="33"/>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1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autoUpdateAnimBg="0"/>
      <p:bldP spid="33"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422FC453-2C6F-4153-97DD-D42C7DEB7D7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79C39D2-A8D8-4868-8518-A6D3F07C147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2" name="Rectangle 4">
            <a:extLst>
              <a:ext uri="{FF2B5EF4-FFF2-40B4-BE49-F238E27FC236}">
                <a16:creationId xmlns:a16="http://schemas.microsoft.com/office/drawing/2014/main" id="{76639FE7-C42E-4B6F-A0FD-3FF0AD425E30}"/>
              </a:ext>
            </a:extLst>
          </p:cNvPr>
          <p:cNvSpPr>
            <a:spLocks noGrp="1"/>
          </p:cNvSpPr>
          <p:nvPr>
            <p:ph type="title"/>
          </p:nvPr>
        </p:nvSpPr>
        <p:spPr/>
        <p:txBody>
          <a:bodyPr/>
          <a:lstStyle/>
          <a:p>
            <a:r>
              <a:rPr lang="en-GB" altLang="en-US" dirty="0"/>
              <a:t>Labour markets and productivity</a:t>
            </a:r>
          </a:p>
        </p:txBody>
      </p:sp>
      <p:sp>
        <p:nvSpPr>
          <p:cNvPr id="416773" name="Rectangle 5">
            <a:extLst>
              <a:ext uri="{FF2B5EF4-FFF2-40B4-BE49-F238E27FC236}">
                <a16:creationId xmlns:a16="http://schemas.microsoft.com/office/drawing/2014/main" id="{BC20E920-360D-496A-A4EC-4DE3AA6822CA}"/>
              </a:ext>
            </a:extLst>
          </p:cNvPr>
          <p:cNvSpPr>
            <a:spLocks noGrp="1"/>
          </p:cNvSpPr>
          <p:nvPr>
            <p:ph idx="1"/>
          </p:nvPr>
        </p:nvSpPr>
        <p:spPr/>
        <p:txBody>
          <a:bodyPr/>
          <a:lstStyle/>
          <a:p>
            <a:pPr defTabSz="762000">
              <a:spcBef>
                <a:spcPts val="1200"/>
              </a:spcBef>
            </a:pPr>
            <a:r>
              <a:rPr lang="en-GB" altLang="en-US" dirty="0">
                <a:latin typeface="+mn-lt"/>
              </a:rPr>
              <a:t>Turning towards policies to address perceived problems</a:t>
            </a:r>
          </a:p>
          <a:p>
            <a:pPr lvl="1" defTabSz="762000">
              <a:spcBef>
                <a:spcPts val="1200"/>
              </a:spcBef>
            </a:pPr>
            <a:r>
              <a:rPr lang="en-GB" altLang="en-US" dirty="0">
                <a:latin typeface="+mn-lt"/>
              </a:rPr>
              <a:t>Might greater labour mobility reduce unemployment?</a:t>
            </a:r>
          </a:p>
          <a:p>
            <a:pPr lvl="2" defTabSz="762000">
              <a:spcBef>
                <a:spcPts val="1200"/>
              </a:spcBef>
            </a:pPr>
            <a:r>
              <a:rPr lang="en-GB" altLang="en-US" dirty="0">
                <a:latin typeface="+mn-lt"/>
              </a:rPr>
              <a:t>Many elements to labour market flexibility: wage setting, union representation, employment law – </a:t>
            </a:r>
            <a:r>
              <a:rPr lang="en-GB" altLang="en-US" i="1" dirty="0">
                <a:latin typeface="+mn-lt"/>
              </a:rPr>
              <a:t>may reduce ability of labour market to respond to shocks</a:t>
            </a:r>
            <a:endParaRPr lang="en-GB" altLang="en-US" dirty="0">
              <a:latin typeface="+mn-lt"/>
            </a:endParaRPr>
          </a:p>
          <a:p>
            <a:pPr lvl="1" defTabSz="762000">
              <a:spcBef>
                <a:spcPts val="1200"/>
              </a:spcBef>
            </a:pPr>
            <a:r>
              <a:rPr lang="en-GB" altLang="en-US" dirty="0">
                <a:latin typeface="+mn-lt"/>
              </a:rPr>
              <a:t>Would greater </a:t>
            </a:r>
            <a:r>
              <a:rPr lang="en-GB" altLang="en-US" b="1" u="sng" dirty="0">
                <a:latin typeface="+mn-lt"/>
              </a:rPr>
              <a:t>investment</a:t>
            </a:r>
            <a:r>
              <a:rPr lang="en-GB" altLang="en-US" dirty="0">
                <a:latin typeface="+mn-lt"/>
              </a:rPr>
              <a:t> improve productivity?</a:t>
            </a:r>
          </a:p>
          <a:p>
            <a:pPr lvl="2" defTabSz="762000">
              <a:spcBef>
                <a:spcPts val="1200"/>
              </a:spcBef>
            </a:pPr>
            <a:r>
              <a:rPr lang="en-GB" altLang="en-US" dirty="0">
                <a:latin typeface="+mn-lt"/>
              </a:rPr>
              <a:t>Education is investment – but need physical capital to utilise it fully </a:t>
            </a:r>
          </a:p>
          <a:p>
            <a:pPr lvl="2" defTabSz="762000">
              <a:spcBef>
                <a:spcPts val="1200"/>
              </a:spcBef>
            </a:pPr>
            <a:r>
              <a:rPr lang="en-GB" altLang="en-US" dirty="0">
                <a:latin typeface="+mn-lt"/>
              </a:rPr>
              <a:t>How do we encourage </a:t>
            </a:r>
            <a:r>
              <a:rPr lang="en-GB" altLang="en-US" i="1" dirty="0">
                <a:latin typeface="+mn-lt"/>
              </a:rPr>
              <a:t>entrepreneurship</a:t>
            </a:r>
            <a:r>
              <a:rPr lang="en-GB" altLang="en-US" dirty="0">
                <a:latin typeface="+mn-lt"/>
              </a:rPr>
              <a:t> and risk-taking?</a:t>
            </a:r>
          </a:p>
          <a:p>
            <a:pPr lvl="2" defTabSz="762000">
              <a:spcBef>
                <a:spcPts val="1200"/>
              </a:spcBef>
            </a:pPr>
            <a:r>
              <a:rPr lang="en-GB" altLang="en-US" dirty="0">
                <a:latin typeface="+mn-lt"/>
              </a:rPr>
              <a:t>How do we turn (scientific) knowledge into useful good and services?</a:t>
            </a:r>
          </a:p>
        </p:txBody>
      </p:sp>
    </p:spTree>
    <p:extLst>
      <p:ext uri="{BB962C8B-B14F-4D97-AF65-F5344CB8AC3E}">
        <p14:creationId xmlns:p14="http://schemas.microsoft.com/office/powerpoint/2010/main" val="3978345628"/>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6773">
                                            <p:txEl>
                                              <p:pRg st="1" end="1"/>
                                            </p:txEl>
                                          </p:spTgt>
                                        </p:tgtEl>
                                        <p:attrNameLst>
                                          <p:attrName>style.visibility</p:attrName>
                                        </p:attrNameLst>
                                      </p:cBhvr>
                                      <p:to>
                                        <p:strVal val="visible"/>
                                      </p:to>
                                    </p:set>
                                    <p:anim calcmode="lin" valueType="num">
                                      <p:cBhvr additive="base">
                                        <p:cTn id="7" dur="500"/>
                                        <p:tgtEl>
                                          <p:spTgt spid="41677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6773">
                                            <p:txEl>
                                              <p:pRg st="1" end="1"/>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16773">
                                            <p:txEl>
                                              <p:pRg st="2" end="2"/>
                                            </p:txEl>
                                          </p:spTgt>
                                        </p:tgtEl>
                                        <p:attrNameLst>
                                          <p:attrName>style.visibility</p:attrName>
                                        </p:attrNameLst>
                                      </p:cBhvr>
                                      <p:to>
                                        <p:strVal val="visible"/>
                                      </p:to>
                                    </p:set>
                                    <p:anim calcmode="lin" valueType="num">
                                      <p:cBhvr additive="base">
                                        <p:cTn id="11" dur="500"/>
                                        <p:tgtEl>
                                          <p:spTgt spid="416773">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1677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16773">
                                            <p:txEl>
                                              <p:pRg st="3" end="3"/>
                                            </p:txEl>
                                          </p:spTgt>
                                        </p:tgtEl>
                                        <p:attrNameLst>
                                          <p:attrName>style.visibility</p:attrName>
                                        </p:attrNameLst>
                                      </p:cBhvr>
                                      <p:to>
                                        <p:strVal val="visible"/>
                                      </p:to>
                                    </p:set>
                                    <p:anim calcmode="lin" valueType="num">
                                      <p:cBhvr additive="base">
                                        <p:cTn id="17" dur="500"/>
                                        <p:tgtEl>
                                          <p:spTgt spid="416773">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6773">
                                            <p:txEl>
                                              <p:pRg st="3" end="3"/>
                                            </p:txEl>
                                          </p:spTgt>
                                        </p:tgtEl>
                                      </p:cBhvr>
                                    </p:animEffect>
                                  </p:childTnLst>
                                </p:cTn>
                              </p:par>
                            </p:childTnLst>
                          </p:cTn>
                        </p:par>
                        <p:par>
                          <p:cTn id="19" fill="hold">
                            <p:stCondLst>
                              <p:cond delay="500"/>
                            </p:stCondLst>
                            <p:childTnLst>
                              <p:par>
                                <p:cTn id="20" presetID="12" presetClass="entr" presetSubtype="4" fill="hold" grpId="0" nodeType="afterEffect">
                                  <p:stCondLst>
                                    <p:cond delay="2000"/>
                                  </p:stCondLst>
                                  <p:childTnLst>
                                    <p:set>
                                      <p:cBhvr>
                                        <p:cTn id="21" dur="1" fill="hold">
                                          <p:stCondLst>
                                            <p:cond delay="0"/>
                                          </p:stCondLst>
                                        </p:cTn>
                                        <p:tgtEl>
                                          <p:spTgt spid="416773">
                                            <p:txEl>
                                              <p:pRg st="4" end="4"/>
                                            </p:txEl>
                                          </p:spTgt>
                                        </p:tgtEl>
                                        <p:attrNameLst>
                                          <p:attrName>style.visibility</p:attrName>
                                        </p:attrNameLst>
                                      </p:cBhvr>
                                      <p:to>
                                        <p:strVal val="visible"/>
                                      </p:to>
                                    </p:set>
                                    <p:anim calcmode="lin" valueType="num">
                                      <p:cBhvr additive="base">
                                        <p:cTn id="22" dur="500"/>
                                        <p:tgtEl>
                                          <p:spTgt spid="416773">
                                            <p:txEl>
                                              <p:pRg st="4" end="4"/>
                                            </p:txEl>
                                          </p:spTgt>
                                        </p:tgtEl>
                                        <p:attrNameLst>
                                          <p:attrName>ppt_y</p:attrName>
                                        </p:attrNameLst>
                                      </p:cBhvr>
                                      <p:tavLst>
                                        <p:tav tm="0">
                                          <p:val>
                                            <p:strVal val="#ppt_y+#ppt_h*1.125000"/>
                                          </p:val>
                                        </p:tav>
                                        <p:tav tm="100000">
                                          <p:val>
                                            <p:strVal val="#ppt_y"/>
                                          </p:val>
                                        </p:tav>
                                      </p:tavLst>
                                    </p:anim>
                                    <p:animEffect transition="in" filter="wipe(up)">
                                      <p:cBhvr>
                                        <p:cTn id="23" dur="500"/>
                                        <p:tgtEl>
                                          <p:spTgt spid="416773">
                                            <p:txEl>
                                              <p:pRg st="4" end="4"/>
                                            </p:txEl>
                                          </p:spTgt>
                                        </p:tgtEl>
                                      </p:cBhvr>
                                    </p:animEffect>
                                  </p:childTnLst>
                                </p:cTn>
                              </p:par>
                            </p:childTnLst>
                          </p:cTn>
                        </p:par>
                        <p:par>
                          <p:cTn id="24" fill="hold" nodeType="withGroup">
                            <p:stCondLst>
                              <p:cond delay="3000"/>
                            </p:stCondLst>
                            <p:childTnLst>
                              <p:par>
                                <p:cTn id="25" presetID="12" presetClass="entr" presetSubtype="4" fill="hold" grpId="0" nodeType="afterEffect">
                                  <p:stCondLst>
                                    <p:cond delay="2000"/>
                                  </p:stCondLst>
                                  <p:childTnLst>
                                    <p:set>
                                      <p:cBhvr>
                                        <p:cTn id="26" dur="1" fill="hold">
                                          <p:stCondLst>
                                            <p:cond delay="0"/>
                                          </p:stCondLst>
                                        </p:cTn>
                                        <p:tgtEl>
                                          <p:spTgt spid="416773">
                                            <p:txEl>
                                              <p:pRg st="5" end="5"/>
                                            </p:txEl>
                                          </p:spTgt>
                                        </p:tgtEl>
                                        <p:attrNameLst>
                                          <p:attrName>style.visibility</p:attrName>
                                        </p:attrNameLst>
                                      </p:cBhvr>
                                      <p:to>
                                        <p:strVal val="visible"/>
                                      </p:to>
                                    </p:set>
                                    <p:anim calcmode="lin" valueType="num">
                                      <p:cBhvr additive="base">
                                        <p:cTn id="27" dur="500"/>
                                        <p:tgtEl>
                                          <p:spTgt spid="416773">
                                            <p:txEl>
                                              <p:pRg st="5" end="5"/>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6773">
                                            <p:txEl>
                                              <p:pRg st="5" end="5"/>
                                            </p:txEl>
                                          </p:spTgt>
                                        </p:tgtEl>
                                      </p:cBhvr>
                                    </p:animEffect>
                                  </p:childTnLst>
                                </p:cTn>
                              </p:par>
                            </p:childTnLst>
                          </p:cTn>
                        </p:par>
                        <p:par>
                          <p:cTn id="29" fill="hold">
                            <p:stCondLst>
                              <p:cond delay="5500"/>
                            </p:stCondLst>
                            <p:childTnLst>
                              <p:par>
                                <p:cTn id="30" presetID="12" presetClass="entr" presetSubtype="4" fill="hold" grpId="0" nodeType="afterEffect">
                                  <p:stCondLst>
                                    <p:cond delay="2000"/>
                                  </p:stCondLst>
                                  <p:childTnLst>
                                    <p:set>
                                      <p:cBhvr>
                                        <p:cTn id="31" dur="1" fill="hold">
                                          <p:stCondLst>
                                            <p:cond delay="0"/>
                                          </p:stCondLst>
                                        </p:cTn>
                                        <p:tgtEl>
                                          <p:spTgt spid="416773">
                                            <p:txEl>
                                              <p:pRg st="6" end="6"/>
                                            </p:txEl>
                                          </p:spTgt>
                                        </p:tgtEl>
                                        <p:attrNameLst>
                                          <p:attrName>style.visibility</p:attrName>
                                        </p:attrNameLst>
                                      </p:cBhvr>
                                      <p:to>
                                        <p:strVal val="visible"/>
                                      </p:to>
                                    </p:set>
                                    <p:anim calcmode="lin" valueType="num">
                                      <p:cBhvr additive="base">
                                        <p:cTn id="32" dur="500"/>
                                        <p:tgtEl>
                                          <p:spTgt spid="416773">
                                            <p:txEl>
                                              <p:pRg st="6" end="6"/>
                                            </p:txEl>
                                          </p:spTgt>
                                        </p:tgtEl>
                                        <p:attrNameLst>
                                          <p:attrName>ppt_y</p:attrName>
                                        </p:attrNameLst>
                                      </p:cBhvr>
                                      <p:tavLst>
                                        <p:tav tm="0">
                                          <p:val>
                                            <p:strVal val="#ppt_y+#ppt_h*1.125000"/>
                                          </p:val>
                                        </p:tav>
                                        <p:tav tm="100000">
                                          <p:val>
                                            <p:strVal val="#ppt_y"/>
                                          </p:val>
                                        </p:tav>
                                      </p:tavLst>
                                    </p:anim>
                                    <p:animEffect transition="in" filter="wipe(up)">
                                      <p:cBhvr>
                                        <p:cTn id="33" dur="500"/>
                                        <p:tgtEl>
                                          <p:spTgt spid="41677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3" grpId="0" uiExpand="1" build="p" bldLvl="4"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a:extLst>
              <a:ext uri="{FF2B5EF4-FFF2-40B4-BE49-F238E27FC236}">
                <a16:creationId xmlns:a16="http://schemas.microsoft.com/office/drawing/2014/main" id="{6AFEC68B-7EBB-46B9-B02C-7BD101140EF2}"/>
              </a:ext>
            </a:extLst>
          </p:cNvPr>
          <p:cNvGraphicFramePr>
            <a:graphicFrameLocks noChangeAspect="1"/>
          </p:cNvGraphicFramePr>
          <p:nvPr/>
        </p:nvGraphicFramePr>
        <p:xfrm>
          <a:off x="1295400" y="842962"/>
          <a:ext cx="9626600" cy="5753100"/>
        </p:xfrm>
        <a:graphic>
          <a:graphicData uri="http://schemas.openxmlformats.org/presentationml/2006/ole">
            <mc:AlternateContent xmlns:mc="http://schemas.openxmlformats.org/markup-compatibility/2006">
              <mc:Choice xmlns:v="urn:schemas-microsoft-com:vml" Requires="v">
                <p:oleObj name="Document" r:id="rId2" imgW="5739677" imgH="3428236" progId="Word.Document.12">
                  <p:embed/>
                </p:oleObj>
              </mc:Choice>
              <mc:Fallback>
                <p:oleObj name="Document" r:id="rId2" imgW="5739677" imgH="3428236" progId="Word.Document.12">
                  <p:embed/>
                  <p:pic>
                    <p:nvPicPr>
                      <p:cNvPr id="4" name="Object 3">
                        <a:extLst>
                          <a:ext uri="{FF2B5EF4-FFF2-40B4-BE49-F238E27FC236}">
                            <a16:creationId xmlns:a16="http://schemas.microsoft.com/office/drawing/2014/main" id="{6AFEC68B-7EBB-46B9-B02C-7BD101140EF2}"/>
                          </a:ext>
                        </a:extLst>
                      </p:cNvPr>
                      <p:cNvPicPr/>
                      <p:nvPr/>
                    </p:nvPicPr>
                    <p:blipFill>
                      <a:blip r:embed="rId3"/>
                      <a:stretch>
                        <a:fillRect/>
                      </a:stretch>
                    </p:blipFill>
                    <p:spPr>
                      <a:xfrm>
                        <a:off x="1295400" y="842962"/>
                        <a:ext cx="9626600" cy="5753100"/>
                      </a:xfrm>
                      <a:prstGeom prst="rect">
                        <a:avLst/>
                      </a:prstGeom>
                    </p:spPr>
                  </p:pic>
                </p:oleObj>
              </mc:Fallback>
            </mc:AlternateContent>
          </a:graphicData>
        </a:graphic>
      </p:graphicFrame>
      <p:sp>
        <p:nvSpPr>
          <p:cNvPr id="463874" name="Text Box 2">
            <a:extLst>
              <a:ext uri="{FF2B5EF4-FFF2-40B4-BE49-F238E27FC236}">
                <a16:creationId xmlns:a16="http://schemas.microsoft.com/office/drawing/2014/main" id="{36577F37-ACA2-4D08-95A0-06E906200399}"/>
              </a:ext>
            </a:extLst>
          </p:cNvPr>
          <p:cNvSpPr txBox="1">
            <a:spLocks noChangeArrowheads="1"/>
          </p:cNvSpPr>
          <p:nvPr/>
        </p:nvSpPr>
        <p:spPr bwMode="auto">
          <a:xfrm>
            <a:off x="1270001" y="6517211"/>
            <a:ext cx="8213725" cy="26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GB" altLang="en-US" sz="1138" i="1" dirty="0">
                <a:solidFill>
                  <a:srgbClr val="969696"/>
                </a:solidFill>
                <a:latin typeface="Arial" panose="020B0604020202020204" pitchFamily="34" charset="0"/>
                <a:cs typeface="Times New Roman" panose="02020603050405020304" pitchFamily="18" charset="0"/>
              </a:rPr>
              <a:t>Source</a:t>
            </a:r>
            <a:r>
              <a:rPr lang="en-GB" altLang="en-US" sz="1138" dirty="0">
                <a:solidFill>
                  <a:srgbClr val="969696"/>
                </a:solidFill>
                <a:latin typeface="Arial" panose="020B0604020202020204" pitchFamily="34" charset="0"/>
                <a:cs typeface="Times New Roman" panose="02020603050405020304" pitchFamily="18" charset="0"/>
              </a:rPr>
              <a:t>: </a:t>
            </a:r>
            <a:r>
              <a:rPr lang="en-GB" altLang="en-US" sz="1138" i="1" dirty="0">
                <a:solidFill>
                  <a:srgbClr val="969696"/>
                </a:solidFill>
                <a:latin typeface="Arial" panose="020B0604020202020204" pitchFamily="34" charset="0"/>
                <a:cs typeface="Arial" panose="020B0604020202020204" pitchFamily="34" charset="0"/>
              </a:rPr>
              <a:t>AMECO</a:t>
            </a:r>
            <a:r>
              <a:rPr lang="en-GB" altLang="en-US" sz="1138" dirty="0">
                <a:solidFill>
                  <a:srgbClr val="969696"/>
                </a:solidFill>
                <a:latin typeface="Arial" panose="020B0604020202020204" pitchFamily="34" charset="0"/>
                <a:cs typeface="Arial" panose="020B0604020202020204" pitchFamily="34" charset="0"/>
              </a:rPr>
              <a:t> database</a:t>
            </a:r>
            <a:r>
              <a:rPr lang="en-GB" altLang="en-US" sz="1138" dirty="0">
                <a:solidFill>
                  <a:srgbClr val="969696"/>
                </a:solidFill>
                <a:latin typeface="Arial" panose="020B0604020202020204" pitchFamily="34" charset="0"/>
                <a:cs typeface="Times New Roman" panose="02020603050405020304" pitchFamily="18" charset="0"/>
              </a:rPr>
              <a:t>, European Commission, DGECFIN, Tables 3.2 and 6.1 (data from 2022 based on forecasts)</a:t>
            </a:r>
            <a:r>
              <a:rPr lang="en-GB" altLang="en-US" sz="1138" noProof="1">
                <a:solidFill>
                  <a:srgbClr val="969696"/>
                </a:solidFill>
                <a:latin typeface="Arial" panose="020B0604020202020204" pitchFamily="34" charset="0"/>
                <a:cs typeface="Times New Roman" panose="02020603050405020304" pitchFamily="18" charset="0"/>
              </a:rPr>
              <a:t> </a:t>
            </a:r>
            <a:endParaRPr lang="en-GB" altLang="en-US" sz="1138" dirty="0">
              <a:solidFill>
                <a:srgbClr val="969696"/>
              </a:solidFill>
              <a:latin typeface="Arial" panose="020B0604020202020204" pitchFamily="34" charset="0"/>
              <a:cs typeface="Times New Roman" panose="02020603050405020304" pitchFamily="18" charset="0"/>
            </a:endParaRPr>
          </a:p>
        </p:txBody>
      </p:sp>
      <p:sp>
        <p:nvSpPr>
          <p:cNvPr id="463875" name="Text Box 3">
            <a:extLst>
              <a:ext uri="{FF2B5EF4-FFF2-40B4-BE49-F238E27FC236}">
                <a16:creationId xmlns:a16="http://schemas.microsoft.com/office/drawing/2014/main" id="{A6CA02F9-895E-4A5C-AA4F-3D499051C9D2}"/>
              </a:ext>
            </a:extLst>
          </p:cNvPr>
          <p:cNvSpPr txBox="1">
            <a:spLocks noChangeArrowheads="1"/>
          </p:cNvSpPr>
          <p:nvPr/>
        </p:nvSpPr>
        <p:spPr bwMode="auto">
          <a:xfrm>
            <a:off x="1143000" y="6629"/>
            <a:ext cx="9906000" cy="647739"/>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tIns="184275">
            <a:spAutoFit/>
          </a:bodyPr>
          <a:lstStyle/>
          <a:p>
            <a:pPr algn="ctr" eaLnBrk="1" hangingPunct="1"/>
            <a:r>
              <a:rPr lang="en-GB" altLang="en-US" sz="2700" b="1" dirty="0">
                <a:solidFill>
                  <a:srgbClr val="660066"/>
                </a:solidFill>
                <a:latin typeface="Arial" panose="020B0604020202020204" pitchFamily="34" charset="0"/>
                <a:cs typeface="Times New Roman" panose="02020603050405020304" pitchFamily="18" charset="0"/>
              </a:rPr>
              <a:t>Gross fixed capital formation as a percentage of GDP</a:t>
            </a:r>
            <a:endParaRPr lang="en-GB" altLang="en-US" sz="2700" b="1" dirty="0">
              <a:solidFill>
                <a:srgbClr val="660066"/>
              </a:solidFill>
              <a:latin typeface="Arial" panose="020B0604020202020204" pitchFamily="34" charset="0"/>
            </a:endParaRPr>
          </a:p>
        </p:txBody>
      </p:sp>
      <p:sp>
        <p:nvSpPr>
          <p:cNvPr id="2" name="Rectangle 1">
            <a:extLst>
              <a:ext uri="{FF2B5EF4-FFF2-40B4-BE49-F238E27FC236}">
                <a16:creationId xmlns:a16="http://schemas.microsoft.com/office/drawing/2014/main" id="{34E3DAA5-8906-2DC4-173A-C5B6036A96B1}"/>
              </a:ext>
            </a:extLst>
          </p:cNvPr>
          <p:cNvSpPr/>
          <p:nvPr/>
        </p:nvSpPr>
        <p:spPr bwMode="auto">
          <a:xfrm>
            <a:off x="4100945" y="969817"/>
            <a:ext cx="762000" cy="5308143"/>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
        <p:nvSpPr>
          <p:cNvPr id="3" name="Rectangle 2">
            <a:extLst>
              <a:ext uri="{FF2B5EF4-FFF2-40B4-BE49-F238E27FC236}">
                <a16:creationId xmlns:a16="http://schemas.microsoft.com/office/drawing/2014/main" id="{8CE4E0C3-99B0-E1CC-C8F6-EBF5560F3B4F}"/>
              </a:ext>
            </a:extLst>
          </p:cNvPr>
          <p:cNvSpPr/>
          <p:nvPr/>
        </p:nvSpPr>
        <p:spPr bwMode="auto">
          <a:xfrm>
            <a:off x="5232977" y="969818"/>
            <a:ext cx="762000" cy="5237018"/>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
        <p:nvSpPr>
          <p:cNvPr id="5" name="Rectangle 4">
            <a:extLst>
              <a:ext uri="{FF2B5EF4-FFF2-40B4-BE49-F238E27FC236}">
                <a16:creationId xmlns:a16="http://schemas.microsoft.com/office/drawing/2014/main" id="{1614A48B-EF7E-2E3B-6825-AB5B1830D38F}"/>
              </a:ext>
            </a:extLst>
          </p:cNvPr>
          <p:cNvSpPr/>
          <p:nvPr/>
        </p:nvSpPr>
        <p:spPr bwMode="auto">
          <a:xfrm>
            <a:off x="6362700" y="997528"/>
            <a:ext cx="762000" cy="5237018"/>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
        <p:nvSpPr>
          <p:cNvPr id="6" name="Rectangle 5">
            <a:extLst>
              <a:ext uri="{FF2B5EF4-FFF2-40B4-BE49-F238E27FC236}">
                <a16:creationId xmlns:a16="http://schemas.microsoft.com/office/drawing/2014/main" id="{9492B19E-0200-060F-A92A-B5BE468BD0ED}"/>
              </a:ext>
            </a:extLst>
          </p:cNvPr>
          <p:cNvSpPr/>
          <p:nvPr/>
        </p:nvSpPr>
        <p:spPr bwMode="auto">
          <a:xfrm>
            <a:off x="7516090" y="1040943"/>
            <a:ext cx="762000" cy="5237018"/>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
        <p:nvSpPr>
          <p:cNvPr id="7" name="Rectangle 6">
            <a:extLst>
              <a:ext uri="{FF2B5EF4-FFF2-40B4-BE49-F238E27FC236}">
                <a16:creationId xmlns:a16="http://schemas.microsoft.com/office/drawing/2014/main" id="{4B2428B4-82DB-B48F-BD0C-D0DC0B83CBF3}"/>
              </a:ext>
            </a:extLst>
          </p:cNvPr>
          <p:cNvSpPr/>
          <p:nvPr/>
        </p:nvSpPr>
        <p:spPr bwMode="auto">
          <a:xfrm>
            <a:off x="8556337" y="997528"/>
            <a:ext cx="762000" cy="5237018"/>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
        <p:nvSpPr>
          <p:cNvPr id="8" name="Rectangle 7">
            <a:extLst>
              <a:ext uri="{FF2B5EF4-FFF2-40B4-BE49-F238E27FC236}">
                <a16:creationId xmlns:a16="http://schemas.microsoft.com/office/drawing/2014/main" id="{4E8BF8A6-7CB4-4556-2DE5-A0D59732CDCA}"/>
              </a:ext>
            </a:extLst>
          </p:cNvPr>
          <p:cNvSpPr/>
          <p:nvPr/>
        </p:nvSpPr>
        <p:spPr bwMode="auto">
          <a:xfrm>
            <a:off x="9712036" y="997528"/>
            <a:ext cx="1080655" cy="5237018"/>
          </a:xfrm>
          <a:prstGeom prst="rect">
            <a:avLst/>
          </a:prstGeom>
          <a:solidFill>
            <a:schemeClr val="bg1"/>
          </a:solidFill>
          <a:ln>
            <a:noFill/>
          </a:ln>
          <a:effectLst/>
          <a:extLs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GB" sz="2800" b="0"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578211243"/>
      </p:ext>
    </p:extLst>
  </p:cSld>
  <p:clrMapOvr>
    <a:masterClrMapping/>
  </p:clrMapOvr>
  <mc:AlternateContent xmlns:mc="http://schemas.openxmlformats.org/markup-compatibility/2006" xmlns:p14="http://schemas.microsoft.com/office/powerpoint/2010/main">
    <mc:Choice Requires="p14">
      <p:transition spd="slow" p14:dur="1250">
        <p:wipe dir="d"/>
      </p:transition>
    </mc:Choice>
    <mc:Fallback xmlns="">
      <p:transition spd="slow">
        <p:wipe dir="d"/>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1" fill="hold" grpId="0" nodeType="afterEffect">
                                  <p:stCondLst>
                                    <p:cond delay="2000"/>
                                  </p:stCondLst>
                                  <p:childTnLst>
                                    <p:animEffect transition="out" filter="wipe(up)">
                                      <p:cBhvr>
                                        <p:cTn id="6" dur="1000"/>
                                        <p:tgtEl>
                                          <p:spTgt spid="2"/>
                                        </p:tgtEl>
                                      </p:cBhvr>
                                    </p:animEffect>
                                    <p:set>
                                      <p:cBhvr>
                                        <p:cTn id="7" dur="1" fill="hold">
                                          <p:stCondLst>
                                            <p:cond delay="999"/>
                                          </p:stCondLst>
                                        </p:cTn>
                                        <p:tgtEl>
                                          <p:spTgt spid="2"/>
                                        </p:tgtEl>
                                        <p:attrNameLst>
                                          <p:attrName>style.visibility</p:attrName>
                                        </p:attrNameLst>
                                      </p:cBhvr>
                                      <p:to>
                                        <p:strVal val="hidden"/>
                                      </p:to>
                                    </p:set>
                                  </p:childTnLst>
                                </p:cTn>
                              </p:par>
                            </p:childTnLst>
                          </p:cTn>
                        </p:par>
                        <p:par>
                          <p:cTn id="8" fill="hold">
                            <p:stCondLst>
                              <p:cond delay="3000"/>
                            </p:stCondLst>
                            <p:childTnLst>
                              <p:par>
                                <p:cTn id="9" presetID="22" presetClass="exit" presetSubtype="1" fill="hold" grpId="0" nodeType="afterEffect">
                                  <p:stCondLst>
                                    <p:cond delay="2000"/>
                                  </p:stCondLst>
                                  <p:childTnLst>
                                    <p:animEffect transition="out" filter="wipe(up)">
                                      <p:cBhvr>
                                        <p:cTn id="10" dur="1000"/>
                                        <p:tgtEl>
                                          <p:spTgt spid="3"/>
                                        </p:tgtEl>
                                      </p:cBhvr>
                                    </p:animEffect>
                                    <p:set>
                                      <p:cBhvr>
                                        <p:cTn id="11" dur="1" fill="hold">
                                          <p:stCondLst>
                                            <p:cond delay="999"/>
                                          </p:stCondLst>
                                        </p:cTn>
                                        <p:tgtEl>
                                          <p:spTgt spid="3"/>
                                        </p:tgtEl>
                                        <p:attrNameLst>
                                          <p:attrName>style.visibility</p:attrName>
                                        </p:attrNameLst>
                                      </p:cBhvr>
                                      <p:to>
                                        <p:strVal val="hidden"/>
                                      </p:to>
                                    </p:set>
                                  </p:childTnLst>
                                </p:cTn>
                              </p:par>
                            </p:childTnLst>
                          </p:cTn>
                        </p:par>
                        <p:par>
                          <p:cTn id="12" fill="hold">
                            <p:stCondLst>
                              <p:cond delay="6000"/>
                            </p:stCondLst>
                            <p:childTnLst>
                              <p:par>
                                <p:cTn id="13" presetID="22" presetClass="exit" presetSubtype="1" fill="hold" grpId="0" nodeType="afterEffect">
                                  <p:stCondLst>
                                    <p:cond delay="2000"/>
                                  </p:stCondLst>
                                  <p:childTnLst>
                                    <p:animEffect transition="out" filter="wipe(up)">
                                      <p:cBhvr>
                                        <p:cTn id="14" dur="1000"/>
                                        <p:tgtEl>
                                          <p:spTgt spid="5"/>
                                        </p:tgtEl>
                                      </p:cBhvr>
                                    </p:animEffect>
                                    <p:set>
                                      <p:cBhvr>
                                        <p:cTn id="15" dur="1" fill="hold">
                                          <p:stCondLst>
                                            <p:cond delay="999"/>
                                          </p:stCondLst>
                                        </p:cTn>
                                        <p:tgtEl>
                                          <p:spTgt spid="5"/>
                                        </p:tgtEl>
                                        <p:attrNameLst>
                                          <p:attrName>style.visibility</p:attrName>
                                        </p:attrNameLst>
                                      </p:cBhvr>
                                      <p:to>
                                        <p:strVal val="hidden"/>
                                      </p:to>
                                    </p:set>
                                  </p:childTnLst>
                                </p:cTn>
                              </p:par>
                            </p:childTnLst>
                          </p:cTn>
                        </p:par>
                        <p:par>
                          <p:cTn id="16" fill="hold">
                            <p:stCondLst>
                              <p:cond delay="9000"/>
                            </p:stCondLst>
                            <p:childTnLst>
                              <p:par>
                                <p:cTn id="17" presetID="22" presetClass="exit" presetSubtype="1" fill="hold" grpId="0" nodeType="afterEffect">
                                  <p:stCondLst>
                                    <p:cond delay="2000"/>
                                  </p:stCondLst>
                                  <p:childTnLst>
                                    <p:animEffect transition="out" filter="wipe(up)">
                                      <p:cBhvr>
                                        <p:cTn id="18" dur="1000"/>
                                        <p:tgtEl>
                                          <p:spTgt spid="6"/>
                                        </p:tgtEl>
                                      </p:cBhvr>
                                    </p:animEffect>
                                    <p:set>
                                      <p:cBhvr>
                                        <p:cTn id="19" dur="1" fill="hold">
                                          <p:stCondLst>
                                            <p:cond delay="999"/>
                                          </p:stCondLst>
                                        </p:cTn>
                                        <p:tgtEl>
                                          <p:spTgt spid="6"/>
                                        </p:tgtEl>
                                        <p:attrNameLst>
                                          <p:attrName>style.visibility</p:attrName>
                                        </p:attrNameLst>
                                      </p:cBhvr>
                                      <p:to>
                                        <p:strVal val="hidden"/>
                                      </p:to>
                                    </p:set>
                                  </p:childTnLst>
                                </p:cTn>
                              </p:par>
                            </p:childTnLst>
                          </p:cTn>
                        </p:par>
                        <p:par>
                          <p:cTn id="20" fill="hold">
                            <p:stCondLst>
                              <p:cond delay="12000"/>
                            </p:stCondLst>
                            <p:childTnLst>
                              <p:par>
                                <p:cTn id="21" presetID="22" presetClass="exit" presetSubtype="1" fill="hold" grpId="0" nodeType="afterEffect">
                                  <p:stCondLst>
                                    <p:cond delay="2000"/>
                                  </p:stCondLst>
                                  <p:childTnLst>
                                    <p:animEffect transition="out" filter="wipe(up)">
                                      <p:cBhvr>
                                        <p:cTn id="22" dur="1000"/>
                                        <p:tgtEl>
                                          <p:spTgt spid="7"/>
                                        </p:tgtEl>
                                      </p:cBhvr>
                                    </p:animEffect>
                                    <p:set>
                                      <p:cBhvr>
                                        <p:cTn id="23" dur="1" fill="hold">
                                          <p:stCondLst>
                                            <p:cond delay="999"/>
                                          </p:stCondLst>
                                        </p:cTn>
                                        <p:tgtEl>
                                          <p:spTgt spid="7"/>
                                        </p:tgtEl>
                                        <p:attrNameLst>
                                          <p:attrName>style.visibility</p:attrName>
                                        </p:attrNameLst>
                                      </p:cBhvr>
                                      <p:to>
                                        <p:strVal val="hidden"/>
                                      </p:to>
                                    </p:set>
                                  </p:childTnLst>
                                </p:cTn>
                              </p:par>
                            </p:childTnLst>
                          </p:cTn>
                        </p:par>
                        <p:par>
                          <p:cTn id="24" fill="hold">
                            <p:stCondLst>
                              <p:cond delay="15000"/>
                            </p:stCondLst>
                            <p:childTnLst>
                              <p:par>
                                <p:cTn id="25" presetID="22" presetClass="exit" presetSubtype="1" fill="hold" grpId="0" nodeType="afterEffect">
                                  <p:stCondLst>
                                    <p:cond delay="2000"/>
                                  </p:stCondLst>
                                  <p:childTnLst>
                                    <p:animEffect transition="out" filter="wipe(up)">
                                      <p:cBhvr>
                                        <p:cTn id="26" dur="1000"/>
                                        <p:tgtEl>
                                          <p:spTgt spid="8"/>
                                        </p:tgtEl>
                                      </p:cBhvr>
                                    </p:animEffect>
                                    <p:set>
                                      <p:cBhvr>
                                        <p:cTn id="27"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8818" name="Rectangle 2">
            <a:extLst>
              <a:ext uri="{FF2B5EF4-FFF2-40B4-BE49-F238E27FC236}">
                <a16:creationId xmlns:a16="http://schemas.microsoft.com/office/drawing/2014/main" id="{DEEA6F5A-E0AC-4C26-98DC-17812D8F5687}"/>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8819" name="Rectangle 3">
            <a:extLst>
              <a:ext uri="{FF2B5EF4-FFF2-40B4-BE49-F238E27FC236}">
                <a16:creationId xmlns:a16="http://schemas.microsoft.com/office/drawing/2014/main" id="{6EAC3439-2C34-4AF7-97A2-1A265856C462}"/>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8820" name="Rectangle 4">
            <a:extLst>
              <a:ext uri="{FF2B5EF4-FFF2-40B4-BE49-F238E27FC236}">
                <a16:creationId xmlns:a16="http://schemas.microsoft.com/office/drawing/2014/main" id="{1BF58E9D-36E7-436A-B8A6-1B2C881600B2}"/>
              </a:ext>
            </a:extLst>
          </p:cNvPr>
          <p:cNvSpPr>
            <a:spLocks noGrp="1"/>
          </p:cNvSpPr>
          <p:nvPr>
            <p:ph type="title"/>
          </p:nvPr>
        </p:nvSpPr>
        <p:spPr/>
        <p:txBody>
          <a:bodyPr/>
          <a:lstStyle/>
          <a:p>
            <a:r>
              <a:rPr lang="en-GB" altLang="en-US" dirty="0"/>
              <a:t>Policy approaches</a:t>
            </a:r>
          </a:p>
        </p:txBody>
      </p:sp>
      <p:sp>
        <p:nvSpPr>
          <p:cNvPr id="418821" name="Rectangle 5">
            <a:extLst>
              <a:ext uri="{FF2B5EF4-FFF2-40B4-BE49-F238E27FC236}">
                <a16:creationId xmlns:a16="http://schemas.microsoft.com/office/drawing/2014/main" id="{1D07B607-E235-4914-A502-09EA8AC0398F}"/>
              </a:ext>
            </a:extLst>
          </p:cNvPr>
          <p:cNvSpPr>
            <a:spLocks noGrp="1"/>
          </p:cNvSpPr>
          <p:nvPr>
            <p:ph idx="1"/>
          </p:nvPr>
        </p:nvSpPr>
        <p:spPr/>
        <p:txBody>
          <a:bodyPr/>
          <a:lstStyle/>
          <a:p>
            <a:pPr defTabSz="762000">
              <a:spcBef>
                <a:spcPct val="40000"/>
              </a:spcBef>
            </a:pPr>
            <a:r>
              <a:rPr lang="en-GB" altLang="en-US" dirty="0">
                <a:latin typeface="+mn-lt"/>
              </a:rPr>
              <a:t>Market orientation – free up markets</a:t>
            </a:r>
          </a:p>
          <a:p>
            <a:pPr lvl="1" defTabSz="762000">
              <a:spcBef>
                <a:spcPct val="40000"/>
              </a:spcBef>
            </a:pPr>
            <a:r>
              <a:rPr lang="en-GB" altLang="en-US" dirty="0">
                <a:latin typeface="+mn-lt"/>
              </a:rPr>
              <a:t>Reduce regulations seen as impeding wage flexibility</a:t>
            </a:r>
          </a:p>
          <a:p>
            <a:pPr lvl="1" defTabSz="762000">
              <a:spcBef>
                <a:spcPct val="40000"/>
              </a:spcBef>
            </a:pPr>
            <a:r>
              <a:rPr lang="en-GB" altLang="en-US" dirty="0">
                <a:latin typeface="+mn-lt"/>
              </a:rPr>
              <a:t>Encourage creation of knowledge spill-overs </a:t>
            </a:r>
          </a:p>
          <a:p>
            <a:pPr lvl="2" defTabSz="762000">
              <a:spcBef>
                <a:spcPct val="40000"/>
              </a:spcBef>
            </a:pPr>
            <a:r>
              <a:rPr lang="en-GB" altLang="en-US" dirty="0">
                <a:latin typeface="+mn-lt"/>
              </a:rPr>
              <a:t>Accelerate diffusion of useful knowledge through the economy</a:t>
            </a:r>
          </a:p>
          <a:p>
            <a:pPr defTabSz="762000">
              <a:spcBef>
                <a:spcPct val="40000"/>
              </a:spcBef>
            </a:pPr>
            <a:r>
              <a:rPr lang="en-GB" altLang="en-US" dirty="0">
                <a:latin typeface="+mn-lt"/>
              </a:rPr>
              <a:t>May suggest a more interventionist approach</a:t>
            </a:r>
          </a:p>
          <a:p>
            <a:pPr lvl="1" defTabSz="762000">
              <a:spcBef>
                <a:spcPct val="40000"/>
              </a:spcBef>
            </a:pPr>
            <a:r>
              <a:rPr lang="en-GB" altLang="en-US" dirty="0">
                <a:latin typeface="+mn-lt"/>
              </a:rPr>
              <a:t>Spillovers are positive externalities – think of policies discussed in week 7: subsidies, direct spending, tax reliefs, regulation </a:t>
            </a:r>
          </a:p>
          <a:p>
            <a:pPr defTabSz="762000">
              <a:spcBef>
                <a:spcPct val="40000"/>
              </a:spcBef>
            </a:pPr>
            <a:r>
              <a:rPr lang="en-GB" altLang="en-US" dirty="0">
                <a:latin typeface="+mn-lt"/>
              </a:rPr>
              <a:t>Suggests that supply-side policies affect aggregate demand</a:t>
            </a:r>
          </a:p>
          <a:p>
            <a:pPr lvl="1" defTabSz="762000">
              <a:spcBef>
                <a:spcPct val="40000"/>
              </a:spcBef>
            </a:pPr>
            <a:r>
              <a:rPr lang="en-GB" altLang="en-US" dirty="0">
                <a:latin typeface="+mn-lt"/>
              </a:rPr>
              <a:t>Education, training, R&amp;D – even regulation – comes with demand-side effects</a:t>
            </a:r>
          </a:p>
        </p:txBody>
      </p:sp>
    </p:spTree>
    <p:extLst>
      <p:ext uri="{BB962C8B-B14F-4D97-AF65-F5344CB8AC3E}">
        <p14:creationId xmlns:p14="http://schemas.microsoft.com/office/powerpoint/2010/main" val="178542290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8821">
                                            <p:txEl>
                                              <p:pRg st="0" end="0"/>
                                            </p:txEl>
                                          </p:spTgt>
                                        </p:tgtEl>
                                        <p:attrNameLst>
                                          <p:attrName>style.visibility</p:attrName>
                                        </p:attrNameLst>
                                      </p:cBhvr>
                                      <p:to>
                                        <p:strVal val="visible"/>
                                      </p:to>
                                    </p:set>
                                    <p:anim calcmode="lin" valueType="num">
                                      <p:cBhvr additive="base">
                                        <p:cTn id="7" dur="500"/>
                                        <p:tgtEl>
                                          <p:spTgt spid="418821">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1882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18821">
                                            <p:txEl>
                                              <p:pRg st="1" end="1"/>
                                            </p:txEl>
                                          </p:spTgt>
                                        </p:tgtEl>
                                        <p:attrNameLst>
                                          <p:attrName>style.visibility</p:attrName>
                                        </p:attrNameLst>
                                      </p:cBhvr>
                                      <p:to>
                                        <p:strVal val="visible"/>
                                      </p:to>
                                    </p:set>
                                    <p:anim calcmode="lin" valueType="num">
                                      <p:cBhvr additive="base">
                                        <p:cTn id="13" dur="500"/>
                                        <p:tgtEl>
                                          <p:spTgt spid="418821">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18821">
                                            <p:txEl>
                                              <p:pRg st="1" end="1"/>
                                            </p:txEl>
                                          </p:spTgt>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418821">
                                            <p:txEl>
                                              <p:pRg st="2" end="2"/>
                                            </p:txEl>
                                          </p:spTgt>
                                        </p:tgtEl>
                                        <p:attrNameLst>
                                          <p:attrName>style.visibility</p:attrName>
                                        </p:attrNameLst>
                                      </p:cBhvr>
                                      <p:to>
                                        <p:strVal val="visible"/>
                                      </p:to>
                                    </p:set>
                                    <p:anim calcmode="lin" valueType="num">
                                      <p:cBhvr additive="base">
                                        <p:cTn id="17" dur="500"/>
                                        <p:tgtEl>
                                          <p:spTgt spid="418821">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18821">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418821">
                                            <p:txEl>
                                              <p:pRg st="3" end="3"/>
                                            </p:txEl>
                                          </p:spTgt>
                                        </p:tgtEl>
                                        <p:attrNameLst>
                                          <p:attrName>style.visibility</p:attrName>
                                        </p:attrNameLst>
                                      </p:cBhvr>
                                      <p:to>
                                        <p:strVal val="visible"/>
                                      </p:to>
                                    </p:set>
                                    <p:anim calcmode="lin" valueType="num">
                                      <p:cBhvr additive="base">
                                        <p:cTn id="21" dur="500"/>
                                        <p:tgtEl>
                                          <p:spTgt spid="418821">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1882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18821">
                                            <p:txEl>
                                              <p:pRg st="4" end="4"/>
                                            </p:txEl>
                                          </p:spTgt>
                                        </p:tgtEl>
                                        <p:attrNameLst>
                                          <p:attrName>style.visibility</p:attrName>
                                        </p:attrNameLst>
                                      </p:cBhvr>
                                      <p:to>
                                        <p:strVal val="visible"/>
                                      </p:to>
                                    </p:set>
                                    <p:anim calcmode="lin" valueType="num">
                                      <p:cBhvr additive="base">
                                        <p:cTn id="27" dur="500"/>
                                        <p:tgtEl>
                                          <p:spTgt spid="418821">
                                            <p:txEl>
                                              <p:pRg st="4" end="4"/>
                                            </p:txEl>
                                          </p:spTgt>
                                        </p:tgtEl>
                                        <p:attrNameLst>
                                          <p:attrName>ppt_y</p:attrName>
                                        </p:attrNameLst>
                                      </p:cBhvr>
                                      <p:tavLst>
                                        <p:tav tm="0">
                                          <p:val>
                                            <p:strVal val="#ppt_y+#ppt_h*1.125000"/>
                                          </p:val>
                                        </p:tav>
                                        <p:tav tm="100000">
                                          <p:val>
                                            <p:strVal val="#ppt_y"/>
                                          </p:val>
                                        </p:tav>
                                      </p:tavLst>
                                    </p:anim>
                                    <p:animEffect transition="in" filter="wipe(up)">
                                      <p:cBhvr>
                                        <p:cTn id="28" dur="500"/>
                                        <p:tgtEl>
                                          <p:spTgt spid="418821">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18821">
                                            <p:txEl>
                                              <p:pRg st="5" end="5"/>
                                            </p:txEl>
                                          </p:spTgt>
                                        </p:tgtEl>
                                        <p:attrNameLst>
                                          <p:attrName>style.visibility</p:attrName>
                                        </p:attrNameLst>
                                      </p:cBhvr>
                                      <p:to>
                                        <p:strVal val="visible"/>
                                      </p:to>
                                    </p:set>
                                    <p:anim calcmode="lin" valueType="num">
                                      <p:cBhvr additive="base">
                                        <p:cTn id="31" dur="500"/>
                                        <p:tgtEl>
                                          <p:spTgt spid="418821">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1882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18821">
                                            <p:txEl>
                                              <p:pRg st="6" end="6"/>
                                            </p:txEl>
                                          </p:spTgt>
                                        </p:tgtEl>
                                        <p:attrNameLst>
                                          <p:attrName>style.visibility</p:attrName>
                                        </p:attrNameLst>
                                      </p:cBhvr>
                                      <p:to>
                                        <p:strVal val="visible"/>
                                      </p:to>
                                    </p:set>
                                    <p:anim calcmode="lin" valueType="num">
                                      <p:cBhvr additive="base">
                                        <p:cTn id="37" dur="500"/>
                                        <p:tgtEl>
                                          <p:spTgt spid="418821">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18821">
                                            <p:txEl>
                                              <p:pRg st="6" end="6"/>
                                            </p:txEl>
                                          </p:spTgt>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418821">
                                            <p:txEl>
                                              <p:pRg st="7" end="7"/>
                                            </p:txEl>
                                          </p:spTgt>
                                        </p:tgtEl>
                                        <p:attrNameLst>
                                          <p:attrName>style.visibility</p:attrName>
                                        </p:attrNameLst>
                                      </p:cBhvr>
                                      <p:to>
                                        <p:strVal val="visible"/>
                                      </p:to>
                                    </p:set>
                                    <p:anim calcmode="lin" valueType="num">
                                      <p:cBhvr additive="base">
                                        <p:cTn id="41" dur="500"/>
                                        <p:tgtEl>
                                          <p:spTgt spid="418821">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1882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21" grpId="0" uiExpand="1" build="p" bldLvl="2"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0866" name="Rectangle 2">
            <a:extLst>
              <a:ext uri="{FF2B5EF4-FFF2-40B4-BE49-F238E27FC236}">
                <a16:creationId xmlns:a16="http://schemas.microsoft.com/office/drawing/2014/main" id="{2BCFF0B6-DE1B-4D30-B7D7-33FFBECA507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867" name="Rectangle 3">
            <a:extLst>
              <a:ext uri="{FF2B5EF4-FFF2-40B4-BE49-F238E27FC236}">
                <a16:creationId xmlns:a16="http://schemas.microsoft.com/office/drawing/2014/main" id="{64F96D29-6391-496D-BCD1-20B46A4A5D7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870" name="Rectangle 6">
            <a:extLst>
              <a:ext uri="{FF2B5EF4-FFF2-40B4-BE49-F238E27FC236}">
                <a16:creationId xmlns:a16="http://schemas.microsoft.com/office/drawing/2014/main" id="{57A9D263-913A-4361-A35B-7D482E0D8485}"/>
              </a:ext>
            </a:extLst>
          </p:cNvPr>
          <p:cNvSpPr>
            <a:spLocks noGrp="1"/>
          </p:cNvSpPr>
          <p:nvPr>
            <p:ph type="title"/>
          </p:nvPr>
        </p:nvSpPr>
        <p:spPr/>
        <p:txBody>
          <a:bodyPr/>
          <a:lstStyle/>
          <a:p>
            <a:r>
              <a:rPr lang="en-GB" altLang="en-US" dirty="0"/>
              <a:t>Market orientation</a:t>
            </a:r>
          </a:p>
        </p:txBody>
      </p:sp>
      <p:sp>
        <p:nvSpPr>
          <p:cNvPr id="420871" name="Rectangle 7">
            <a:extLst>
              <a:ext uri="{FF2B5EF4-FFF2-40B4-BE49-F238E27FC236}">
                <a16:creationId xmlns:a16="http://schemas.microsoft.com/office/drawing/2014/main" id="{23C20D6D-8036-4457-A8B3-041223F3625B}"/>
              </a:ext>
            </a:extLst>
          </p:cNvPr>
          <p:cNvSpPr>
            <a:spLocks noGrp="1"/>
          </p:cNvSpPr>
          <p:nvPr>
            <p:ph idx="1"/>
          </p:nvPr>
        </p:nvSpPr>
        <p:spPr/>
        <p:txBody>
          <a:bodyPr/>
          <a:lstStyle/>
          <a:p>
            <a:pPr>
              <a:spcBef>
                <a:spcPct val="25000"/>
              </a:spcBef>
            </a:pPr>
            <a:r>
              <a:rPr lang="en-GB" altLang="en-US" dirty="0">
                <a:latin typeface="+mn-lt"/>
              </a:rPr>
              <a:t>Simplest formulation: government does less, markets do more</a:t>
            </a:r>
          </a:p>
          <a:p>
            <a:pPr lvl="1">
              <a:spcBef>
                <a:spcPct val="25000"/>
              </a:spcBef>
            </a:pPr>
            <a:r>
              <a:rPr lang="en-GB" altLang="en-US" dirty="0">
                <a:latin typeface="+mn-lt"/>
              </a:rPr>
              <a:t>Reducing government spending, taxation – in that order</a:t>
            </a:r>
          </a:p>
          <a:p>
            <a:pPr lvl="1">
              <a:spcBef>
                <a:spcPct val="25000"/>
              </a:spcBef>
            </a:pPr>
            <a:r>
              <a:rPr lang="en-GB" altLang="en-US" dirty="0">
                <a:latin typeface="+mn-lt"/>
              </a:rPr>
              <a:t>Argument that private sector has more incentive to achieve allocative efficiency, develop innovations than government bureaucracy</a:t>
            </a:r>
          </a:p>
          <a:p>
            <a:pPr lvl="2">
              <a:spcBef>
                <a:spcPct val="25000"/>
              </a:spcBef>
            </a:pPr>
            <a:r>
              <a:rPr lang="en-GB" altLang="en-US" dirty="0">
                <a:latin typeface="+mn-lt"/>
              </a:rPr>
              <a:t>Smaller state role with low tax increases incentives for private sector to find efficiency</a:t>
            </a:r>
          </a:p>
        </p:txBody>
      </p:sp>
    </p:spTree>
    <p:extLst>
      <p:ext uri="{BB962C8B-B14F-4D97-AF65-F5344CB8AC3E}">
        <p14:creationId xmlns:p14="http://schemas.microsoft.com/office/powerpoint/2010/main" val="1418582829"/>
      </p:ext>
    </p:extLst>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0866" name="Rectangle 2">
            <a:extLst>
              <a:ext uri="{FF2B5EF4-FFF2-40B4-BE49-F238E27FC236}">
                <a16:creationId xmlns:a16="http://schemas.microsoft.com/office/drawing/2014/main" id="{2BCFF0B6-DE1B-4D30-B7D7-33FFBECA507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867" name="Rectangle 3">
            <a:extLst>
              <a:ext uri="{FF2B5EF4-FFF2-40B4-BE49-F238E27FC236}">
                <a16:creationId xmlns:a16="http://schemas.microsoft.com/office/drawing/2014/main" id="{64F96D29-6391-496D-BCD1-20B46A4A5D7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0870" name="Rectangle 6">
            <a:extLst>
              <a:ext uri="{FF2B5EF4-FFF2-40B4-BE49-F238E27FC236}">
                <a16:creationId xmlns:a16="http://schemas.microsoft.com/office/drawing/2014/main" id="{57A9D263-913A-4361-A35B-7D482E0D8485}"/>
              </a:ext>
            </a:extLst>
          </p:cNvPr>
          <p:cNvSpPr>
            <a:spLocks noGrp="1"/>
          </p:cNvSpPr>
          <p:nvPr>
            <p:ph type="title"/>
          </p:nvPr>
        </p:nvSpPr>
        <p:spPr/>
        <p:txBody>
          <a:bodyPr/>
          <a:lstStyle/>
          <a:p>
            <a:r>
              <a:rPr lang="en-GB" altLang="en-US" dirty="0"/>
              <a:t>Market-orientation (2): role of tax cuts</a:t>
            </a:r>
          </a:p>
        </p:txBody>
      </p:sp>
      <p:sp>
        <p:nvSpPr>
          <p:cNvPr id="420871" name="Rectangle 7">
            <a:extLst>
              <a:ext uri="{FF2B5EF4-FFF2-40B4-BE49-F238E27FC236}">
                <a16:creationId xmlns:a16="http://schemas.microsoft.com/office/drawing/2014/main" id="{23C20D6D-8036-4457-A8B3-041223F3625B}"/>
              </a:ext>
            </a:extLst>
          </p:cNvPr>
          <p:cNvSpPr>
            <a:spLocks noGrp="1"/>
          </p:cNvSpPr>
          <p:nvPr>
            <p:ph idx="1"/>
          </p:nvPr>
        </p:nvSpPr>
        <p:spPr/>
        <p:txBody>
          <a:bodyPr/>
          <a:lstStyle/>
          <a:p>
            <a:pPr>
              <a:spcBef>
                <a:spcPct val="25000"/>
              </a:spcBef>
            </a:pPr>
            <a:r>
              <a:rPr lang="en-GB" altLang="en-US" dirty="0">
                <a:latin typeface="+mn-lt"/>
              </a:rPr>
              <a:t>Taxes typically on income, employment, expenditure</a:t>
            </a:r>
          </a:p>
          <a:p>
            <a:pPr lvl="1">
              <a:spcBef>
                <a:spcPct val="25000"/>
              </a:spcBef>
            </a:pPr>
            <a:r>
              <a:rPr lang="en-GB" altLang="en-US" dirty="0">
                <a:latin typeface="+mn-lt"/>
              </a:rPr>
              <a:t>Reducing income tax should affect labour supply</a:t>
            </a:r>
          </a:p>
          <a:p>
            <a:pPr lvl="1">
              <a:spcBef>
                <a:spcPct val="25000"/>
              </a:spcBef>
            </a:pPr>
            <a:r>
              <a:rPr lang="en-GB" altLang="en-US" dirty="0">
                <a:latin typeface="+mn-lt"/>
              </a:rPr>
              <a:t>Expect to see wealth (income) and substitution effects – </a:t>
            </a:r>
          </a:p>
          <a:p>
            <a:pPr lvl="2">
              <a:spcBef>
                <a:spcPct val="25000"/>
              </a:spcBef>
            </a:pPr>
            <a:r>
              <a:rPr lang="en-GB" altLang="en-US" dirty="0">
                <a:latin typeface="+mn-lt"/>
              </a:rPr>
              <a:t>Higher pay means spending targets easier to achieve</a:t>
            </a:r>
          </a:p>
          <a:p>
            <a:pPr lvl="2">
              <a:spcBef>
                <a:spcPct val="25000"/>
              </a:spcBef>
            </a:pPr>
            <a:r>
              <a:rPr lang="en-GB" altLang="en-US" dirty="0">
                <a:latin typeface="+mn-lt"/>
              </a:rPr>
              <a:t>Cost of effort offset – substitution effect should offset wealth effect</a:t>
            </a:r>
          </a:p>
          <a:p>
            <a:pPr lvl="2">
              <a:spcBef>
                <a:spcPct val="25000"/>
              </a:spcBef>
            </a:pPr>
            <a:r>
              <a:rPr lang="en-GB" altLang="en-US" dirty="0">
                <a:latin typeface="+mn-lt"/>
              </a:rPr>
              <a:t>May encourage workers to enter employment – labour force increases</a:t>
            </a:r>
          </a:p>
          <a:p>
            <a:pPr lvl="2">
              <a:spcBef>
                <a:spcPct val="25000"/>
              </a:spcBef>
            </a:pPr>
            <a:r>
              <a:rPr lang="en-GB" altLang="en-US" dirty="0">
                <a:latin typeface="+mn-lt"/>
              </a:rPr>
              <a:t>Reduces costs to employers, increasing employment</a:t>
            </a:r>
          </a:p>
          <a:p>
            <a:pPr lvl="1">
              <a:spcBef>
                <a:spcPct val="25000"/>
              </a:spcBef>
            </a:pPr>
            <a:r>
              <a:rPr lang="en-GB" altLang="en-US" dirty="0">
                <a:latin typeface="+mn-lt"/>
              </a:rPr>
              <a:t>Expect similar effects of cuts in corporate taxes</a:t>
            </a:r>
          </a:p>
          <a:p>
            <a:pPr lvl="2">
              <a:spcBef>
                <a:spcPct val="25000"/>
              </a:spcBef>
            </a:pPr>
            <a:r>
              <a:rPr lang="en-GB" altLang="en-US" dirty="0">
                <a:latin typeface="+mn-lt"/>
              </a:rPr>
              <a:t>Lower profit taxes should lead to higher output (so </a:t>
            </a:r>
            <a:r>
              <a:rPr lang="en-GB" altLang="en-US" i="1" dirty="0">
                <a:latin typeface="+mn-lt"/>
              </a:rPr>
              <a:t>MC = MR</a:t>
            </a:r>
            <a:r>
              <a:rPr lang="en-GB" altLang="en-US" dirty="0">
                <a:latin typeface="+mn-lt"/>
              </a:rPr>
              <a:t>)</a:t>
            </a:r>
          </a:p>
          <a:p>
            <a:pPr lvl="2">
              <a:spcBef>
                <a:spcPct val="25000"/>
              </a:spcBef>
            </a:pPr>
            <a:r>
              <a:rPr lang="en-GB" altLang="en-US" dirty="0">
                <a:latin typeface="+mn-lt"/>
              </a:rPr>
              <a:t>Tax relief for investment leads to income and substitution effects</a:t>
            </a:r>
          </a:p>
        </p:txBody>
      </p:sp>
    </p:spTree>
    <p:extLst>
      <p:ext uri="{BB962C8B-B14F-4D97-AF65-F5344CB8AC3E}">
        <p14:creationId xmlns:p14="http://schemas.microsoft.com/office/powerpoint/2010/main" val="3997591783"/>
      </p:ext>
    </p:extLst>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2914" name="Rectangle 2">
            <a:extLst>
              <a:ext uri="{FF2B5EF4-FFF2-40B4-BE49-F238E27FC236}">
                <a16:creationId xmlns:a16="http://schemas.microsoft.com/office/drawing/2014/main" id="{14A13E39-B254-4554-B135-AF5154FB8218}"/>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915" name="Rectangle 3">
            <a:extLst>
              <a:ext uri="{FF2B5EF4-FFF2-40B4-BE49-F238E27FC236}">
                <a16:creationId xmlns:a16="http://schemas.microsoft.com/office/drawing/2014/main" id="{A898443A-C32F-45F5-8E7B-CD1184C0AF1B}"/>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2916" name="Rectangle 4">
            <a:extLst>
              <a:ext uri="{FF2B5EF4-FFF2-40B4-BE49-F238E27FC236}">
                <a16:creationId xmlns:a16="http://schemas.microsoft.com/office/drawing/2014/main" id="{4983A26F-DEA3-4C8D-9015-52A850DEB0E6}"/>
              </a:ext>
            </a:extLst>
          </p:cNvPr>
          <p:cNvSpPr>
            <a:spLocks noChangeArrowheads="1"/>
          </p:cNvSpPr>
          <p:nvPr/>
        </p:nvSpPr>
        <p:spPr bwMode="auto">
          <a:xfrm>
            <a:off x="1690689" y="1047751"/>
            <a:ext cx="8975725" cy="580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40000"/>
              </a:lnSpc>
              <a:spcBef>
                <a:spcPct val="20000"/>
              </a:spcBef>
              <a:buFontTx/>
              <a:buChar char="•"/>
            </a:pPr>
            <a:endParaRPr lang="en-GB" altLang="en-US" sz="2800" b="1" noProof="1">
              <a:solidFill>
                <a:schemeClr val="folHlink"/>
              </a:solidFill>
              <a:effectLst>
                <a:outerShdw blurRad="38100" dist="38100" dir="2700000" algn="tl">
                  <a:srgbClr val="000000"/>
                </a:outerShdw>
              </a:effectLst>
              <a:latin typeface="Arial" panose="020B0604020202020204" pitchFamily="34" charset="0"/>
            </a:endParaRPr>
          </a:p>
        </p:txBody>
      </p:sp>
      <p:sp>
        <p:nvSpPr>
          <p:cNvPr id="422919" name="Rectangle 7">
            <a:extLst>
              <a:ext uri="{FF2B5EF4-FFF2-40B4-BE49-F238E27FC236}">
                <a16:creationId xmlns:a16="http://schemas.microsoft.com/office/drawing/2014/main" id="{9B030518-265C-4F52-A43B-94194DA8DD0B}"/>
              </a:ext>
            </a:extLst>
          </p:cNvPr>
          <p:cNvSpPr>
            <a:spLocks noGrp="1"/>
          </p:cNvSpPr>
          <p:nvPr>
            <p:ph type="title"/>
          </p:nvPr>
        </p:nvSpPr>
        <p:spPr/>
        <p:txBody>
          <a:bodyPr>
            <a:normAutofit fontScale="90000"/>
          </a:bodyPr>
          <a:lstStyle/>
          <a:p>
            <a:r>
              <a:rPr lang="en-GB" altLang="en-US" dirty="0"/>
              <a:t>Supply-side Policies: encouraging competition</a:t>
            </a:r>
          </a:p>
        </p:txBody>
      </p:sp>
      <p:sp>
        <p:nvSpPr>
          <p:cNvPr id="422920" name="Rectangle 8">
            <a:extLst>
              <a:ext uri="{FF2B5EF4-FFF2-40B4-BE49-F238E27FC236}">
                <a16:creationId xmlns:a16="http://schemas.microsoft.com/office/drawing/2014/main" id="{40984907-290E-46C6-8DE5-9790A76AD1DB}"/>
              </a:ext>
            </a:extLst>
          </p:cNvPr>
          <p:cNvSpPr>
            <a:spLocks noGrp="1"/>
          </p:cNvSpPr>
          <p:nvPr>
            <p:ph idx="1"/>
          </p:nvPr>
        </p:nvSpPr>
        <p:spPr>
          <a:xfrm>
            <a:off x="402167" y="1400175"/>
            <a:ext cx="11379200" cy="5013325"/>
          </a:xfrm>
        </p:spPr>
        <p:txBody>
          <a:bodyPr/>
          <a:lstStyle/>
          <a:p>
            <a:pPr>
              <a:spcBef>
                <a:spcPts val="1000"/>
              </a:spcBef>
            </a:pPr>
            <a:r>
              <a:rPr lang="en-GB" altLang="en-US" dirty="0">
                <a:latin typeface="+mn-lt"/>
              </a:rPr>
              <a:t>Policies have developed since 1980s</a:t>
            </a:r>
          </a:p>
          <a:p>
            <a:pPr lvl="1">
              <a:spcBef>
                <a:spcPts val="1000"/>
              </a:spcBef>
            </a:pPr>
            <a:r>
              <a:rPr lang="en-GB" altLang="en-US" dirty="0">
                <a:latin typeface="+mn-lt"/>
              </a:rPr>
              <a:t>Wave of privatisation and deregulation – e.g. financial services, airlines</a:t>
            </a:r>
          </a:p>
          <a:p>
            <a:pPr lvl="1">
              <a:spcBef>
                <a:spcPts val="1000"/>
              </a:spcBef>
            </a:pPr>
            <a:r>
              <a:rPr lang="en-GB" altLang="en-US" dirty="0">
                <a:latin typeface="+mn-lt"/>
              </a:rPr>
              <a:t>Introducing market relationships into the public sector</a:t>
            </a:r>
          </a:p>
          <a:p>
            <a:pPr lvl="2">
              <a:spcBef>
                <a:spcPts val="1000"/>
              </a:spcBef>
            </a:pPr>
            <a:r>
              <a:rPr lang="en-GB" altLang="en-US" dirty="0">
                <a:latin typeface="+mn-lt"/>
              </a:rPr>
              <a:t>Allow public service managers to bid for autonomy in spending</a:t>
            </a:r>
          </a:p>
          <a:p>
            <a:pPr lvl="2">
              <a:spcBef>
                <a:spcPts val="1000"/>
              </a:spcBef>
            </a:pPr>
            <a:r>
              <a:rPr lang="en-GB" altLang="en-US" dirty="0">
                <a:latin typeface="+mn-lt"/>
              </a:rPr>
              <a:t>Public–private partnerships - Private Finance Initiative (PFI and PFI2) in UK</a:t>
            </a:r>
          </a:p>
          <a:p>
            <a:pPr lvl="2">
              <a:spcBef>
                <a:spcPts val="1000"/>
              </a:spcBef>
            </a:pPr>
            <a:r>
              <a:rPr lang="en-GB" altLang="en-US" dirty="0">
                <a:latin typeface="+mn-lt"/>
              </a:rPr>
              <a:t>Infrastructure (schools, hospitals) built on Build, Own, Operate, Transfer basis</a:t>
            </a:r>
          </a:p>
        </p:txBody>
      </p:sp>
    </p:spTree>
    <p:extLst>
      <p:ext uri="{BB962C8B-B14F-4D97-AF65-F5344CB8AC3E}">
        <p14:creationId xmlns:p14="http://schemas.microsoft.com/office/powerpoint/2010/main" val="1738587481"/>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4962" name="Rectangle 2">
            <a:extLst>
              <a:ext uri="{FF2B5EF4-FFF2-40B4-BE49-F238E27FC236}">
                <a16:creationId xmlns:a16="http://schemas.microsoft.com/office/drawing/2014/main" id="{61C69D9C-DB6D-45FA-8894-AD6D49BEE4C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4963" name="Rectangle 3">
            <a:extLst>
              <a:ext uri="{FF2B5EF4-FFF2-40B4-BE49-F238E27FC236}">
                <a16:creationId xmlns:a16="http://schemas.microsoft.com/office/drawing/2014/main" id="{032D8116-8A45-43E6-B019-8C451631F861}"/>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24964" name="Rectangle 4">
            <a:extLst>
              <a:ext uri="{FF2B5EF4-FFF2-40B4-BE49-F238E27FC236}">
                <a16:creationId xmlns:a16="http://schemas.microsoft.com/office/drawing/2014/main" id="{64E11F24-3AF3-4020-809C-E7170C0DD5A3}"/>
              </a:ext>
            </a:extLst>
          </p:cNvPr>
          <p:cNvSpPr>
            <a:spLocks noGrp="1"/>
          </p:cNvSpPr>
          <p:nvPr>
            <p:ph type="title"/>
          </p:nvPr>
        </p:nvSpPr>
        <p:spPr/>
        <p:txBody>
          <a:bodyPr/>
          <a:lstStyle/>
          <a:p>
            <a:r>
              <a:rPr lang="en-GB" altLang="en-US" dirty="0"/>
              <a:t>Interventions on supply-side</a:t>
            </a:r>
          </a:p>
        </p:txBody>
      </p:sp>
      <p:sp>
        <p:nvSpPr>
          <p:cNvPr id="424965" name="Rectangle 5">
            <a:extLst>
              <a:ext uri="{FF2B5EF4-FFF2-40B4-BE49-F238E27FC236}">
                <a16:creationId xmlns:a16="http://schemas.microsoft.com/office/drawing/2014/main" id="{AEC3A11C-D504-403E-BEC7-6B598286EEF5}"/>
              </a:ext>
            </a:extLst>
          </p:cNvPr>
          <p:cNvSpPr>
            <a:spLocks noGrp="1"/>
          </p:cNvSpPr>
          <p:nvPr>
            <p:ph idx="1"/>
          </p:nvPr>
        </p:nvSpPr>
        <p:spPr/>
        <p:txBody>
          <a:bodyPr/>
          <a:lstStyle/>
          <a:p>
            <a:pPr defTabSz="762000">
              <a:spcBef>
                <a:spcPct val="25000"/>
              </a:spcBef>
            </a:pPr>
            <a:r>
              <a:rPr lang="en-GB" altLang="en-US" dirty="0">
                <a:latin typeface="+mn-lt"/>
              </a:rPr>
              <a:t>Go back to market failure argument – </a:t>
            </a:r>
          </a:p>
          <a:p>
            <a:pPr lvl="1" defTabSz="762000">
              <a:spcBef>
                <a:spcPct val="25000"/>
              </a:spcBef>
            </a:pPr>
            <a:r>
              <a:rPr lang="en-GB" altLang="en-US" dirty="0">
                <a:latin typeface="+mn-lt"/>
              </a:rPr>
              <a:t>Government better able to assume complex risks than private sector</a:t>
            </a:r>
          </a:p>
          <a:p>
            <a:pPr lvl="1" defTabSz="762000">
              <a:spcBef>
                <a:spcPct val="25000"/>
              </a:spcBef>
            </a:pPr>
            <a:r>
              <a:rPr lang="en-GB" altLang="en-US" dirty="0">
                <a:latin typeface="+mn-lt"/>
              </a:rPr>
              <a:t>Spillovers from knowledge development give public sector coordination role</a:t>
            </a:r>
          </a:p>
          <a:p>
            <a:pPr defTabSz="762000">
              <a:spcBef>
                <a:spcPct val="25000"/>
              </a:spcBef>
            </a:pPr>
            <a:r>
              <a:rPr lang="en-GB" altLang="en-US" dirty="0">
                <a:latin typeface="+mn-lt"/>
              </a:rPr>
              <a:t>Government has ability to take on ownership of businesses</a:t>
            </a:r>
          </a:p>
          <a:p>
            <a:pPr lvl="1" defTabSz="762000">
              <a:spcBef>
                <a:spcPct val="25000"/>
              </a:spcBef>
            </a:pPr>
            <a:r>
              <a:rPr lang="en-GB" altLang="en-US" dirty="0">
                <a:latin typeface="+mn-lt"/>
              </a:rPr>
              <a:t>But also create public R&amp;D institutions (e.g. with universities)</a:t>
            </a:r>
          </a:p>
          <a:p>
            <a:pPr lvl="2" defTabSz="762000">
              <a:spcBef>
                <a:spcPct val="25000"/>
              </a:spcBef>
            </a:pPr>
            <a:r>
              <a:rPr lang="en-GB" altLang="en-US" dirty="0">
                <a:latin typeface="+mn-lt"/>
              </a:rPr>
              <a:t>Human capital has a very important role to play</a:t>
            </a:r>
          </a:p>
          <a:p>
            <a:pPr lvl="1" defTabSz="762000">
              <a:spcBef>
                <a:spcPct val="25000"/>
              </a:spcBef>
            </a:pPr>
            <a:r>
              <a:rPr lang="en-GB" altLang="en-US" dirty="0">
                <a:latin typeface="+mn-lt"/>
                <a:cs typeface="Times New Roman" panose="02020603050405020304" pitchFamily="18" charset="0"/>
              </a:rPr>
              <a:t>Support private sector R&amp;D through tax relief, subsidies, advice</a:t>
            </a:r>
            <a:endParaRPr lang="en-GB" altLang="en-US" dirty="0">
              <a:latin typeface="+mn-lt"/>
            </a:endParaRPr>
          </a:p>
        </p:txBody>
      </p:sp>
    </p:spTree>
    <p:extLst>
      <p:ext uri="{BB962C8B-B14F-4D97-AF65-F5344CB8AC3E}">
        <p14:creationId xmlns:p14="http://schemas.microsoft.com/office/powerpoint/2010/main" val="11727516"/>
      </p:ext>
    </p:extLst>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5" name="Text Box 5">
            <a:extLst>
              <a:ext uri="{FF2B5EF4-FFF2-40B4-BE49-F238E27FC236}">
                <a16:creationId xmlns:a16="http://schemas.microsoft.com/office/drawing/2014/main" id="{C893A49F-3330-4A12-8478-09589F7878B8}"/>
              </a:ext>
            </a:extLst>
          </p:cNvPr>
          <p:cNvSpPr txBox="1">
            <a:spLocks noChangeArrowheads="1"/>
          </p:cNvSpPr>
          <p:nvPr/>
        </p:nvSpPr>
        <p:spPr bwMode="auto">
          <a:xfrm>
            <a:off x="1143001" y="1"/>
            <a:ext cx="9901281"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800" b="1" dirty="0">
                <a:solidFill>
                  <a:srgbClr val="660066"/>
                </a:solidFill>
                <a:latin typeface="Arial" panose="020B0604020202020204" pitchFamily="34" charset="0"/>
                <a:cs typeface="Arial" panose="020B0604020202020204" pitchFamily="34" charset="0"/>
              </a:rPr>
              <a:t>General government expenditure (% of GDP)</a:t>
            </a:r>
          </a:p>
        </p:txBody>
      </p:sp>
      <p:sp>
        <p:nvSpPr>
          <p:cNvPr id="5" name="Text Box 10">
            <a:extLst>
              <a:ext uri="{FF2B5EF4-FFF2-40B4-BE49-F238E27FC236}">
                <a16:creationId xmlns:a16="http://schemas.microsoft.com/office/drawing/2014/main" id="{C1FDE5BB-56DD-E101-DF3C-1B24E21ED9D3}"/>
              </a:ext>
            </a:extLst>
          </p:cNvPr>
          <p:cNvSpPr txBox="1">
            <a:spLocks noChangeArrowheads="1"/>
          </p:cNvSpPr>
          <p:nvPr/>
        </p:nvSpPr>
        <p:spPr bwMode="auto">
          <a:xfrm>
            <a:off x="685800" y="6400800"/>
            <a:ext cx="8839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tabLst>
                <a:tab pos="668338" algn="l"/>
              </a:tabLst>
              <a:defRPr sz="2400">
                <a:solidFill>
                  <a:schemeClr val="tx1"/>
                </a:solidFill>
                <a:latin typeface="Times New Roman" panose="02020603050405020304" pitchFamily="18" charset="0"/>
              </a:defRPr>
            </a:lvl1pPr>
            <a:lvl2pPr marL="742950" indent="-285750">
              <a:tabLst>
                <a:tab pos="668338" algn="l"/>
              </a:tabLst>
              <a:defRPr sz="2400">
                <a:solidFill>
                  <a:schemeClr val="tx1"/>
                </a:solidFill>
                <a:latin typeface="Times New Roman" panose="02020603050405020304" pitchFamily="18" charset="0"/>
              </a:defRPr>
            </a:lvl2pPr>
            <a:lvl3pPr marL="1143000" indent="-228600">
              <a:tabLst>
                <a:tab pos="668338" algn="l"/>
              </a:tabLst>
              <a:defRPr sz="2400">
                <a:solidFill>
                  <a:schemeClr val="tx1"/>
                </a:solidFill>
                <a:latin typeface="Times New Roman" panose="02020603050405020304" pitchFamily="18" charset="0"/>
              </a:defRPr>
            </a:lvl3pPr>
            <a:lvl4pPr marL="1600200" indent="-228600">
              <a:tabLst>
                <a:tab pos="668338" algn="l"/>
              </a:tabLst>
              <a:defRPr sz="2400">
                <a:solidFill>
                  <a:schemeClr val="tx1"/>
                </a:solidFill>
                <a:latin typeface="Times New Roman" panose="02020603050405020304" pitchFamily="18" charset="0"/>
              </a:defRPr>
            </a:lvl4pPr>
            <a:lvl5pPr marL="2057400" indent="-228600">
              <a:tabLst>
                <a:tab pos="668338"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668338"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668338"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668338"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668338" algn="l"/>
              </a:tabLst>
              <a:defRPr sz="2400">
                <a:solidFill>
                  <a:schemeClr val="tx1"/>
                </a:solidFill>
                <a:latin typeface="Times New Roman" panose="02020603050405020304" pitchFamily="18" charset="0"/>
              </a:defRPr>
            </a:lvl9pPr>
          </a:lstStyle>
          <a:p>
            <a:r>
              <a:rPr lang="en-GB" altLang="en-US" sz="1200" i="1" dirty="0">
                <a:solidFill>
                  <a:schemeClr val="tx1">
                    <a:lumMod val="50000"/>
                    <a:lumOff val="50000"/>
                  </a:schemeClr>
                </a:solidFill>
                <a:latin typeface="Arial" panose="020B0604020202020204" pitchFamily="34" charset="0"/>
              </a:rPr>
              <a:t>Notes:  </a:t>
            </a:r>
            <a:r>
              <a:rPr lang="en-GB" altLang="en-US" sz="1200" dirty="0">
                <a:solidFill>
                  <a:schemeClr val="tx1">
                    <a:lumMod val="50000"/>
                    <a:lumOff val="50000"/>
                  </a:schemeClr>
                </a:solidFill>
                <a:latin typeface="Arial" panose="020B0604020202020204" pitchFamily="34" charset="0"/>
              </a:rPr>
              <a:t>Data from 2018 based on forecasts</a:t>
            </a:r>
            <a:r>
              <a:rPr lang="en-GB" altLang="en-US" sz="1200" i="1" dirty="0">
                <a:solidFill>
                  <a:schemeClr val="tx1">
                    <a:lumMod val="50000"/>
                    <a:lumOff val="50000"/>
                  </a:schemeClr>
                </a:solidFill>
                <a:latin typeface="Arial" panose="020B0604020202020204" pitchFamily="34" charset="0"/>
              </a:rPr>
              <a:t> </a:t>
            </a:r>
          </a:p>
          <a:p>
            <a:r>
              <a:rPr lang="en-GB" altLang="en-US" sz="1200" i="1" dirty="0">
                <a:solidFill>
                  <a:schemeClr val="tx1">
                    <a:lumMod val="50000"/>
                    <a:lumOff val="50000"/>
                  </a:schemeClr>
                </a:solidFill>
                <a:latin typeface="Arial" panose="020B0604020202020204" pitchFamily="34" charset="0"/>
              </a:rPr>
              <a:t>Source:  </a:t>
            </a:r>
            <a:r>
              <a:rPr lang="en-GB" altLang="en-US" sz="1200" dirty="0">
                <a:solidFill>
                  <a:schemeClr val="tx1">
                    <a:lumMod val="50000"/>
                    <a:lumOff val="50000"/>
                  </a:schemeClr>
                </a:solidFill>
                <a:latin typeface="Arial" panose="020B0604020202020204" pitchFamily="34" charset="0"/>
              </a:rPr>
              <a:t>Based on data from </a:t>
            </a:r>
            <a:r>
              <a:rPr lang="en-GB" altLang="en-US" sz="1200" i="1" dirty="0">
                <a:solidFill>
                  <a:schemeClr val="tx1">
                    <a:lumMod val="50000"/>
                    <a:lumOff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World Economic Outlook Database </a:t>
            </a:r>
            <a:r>
              <a:rPr lang="en-GB" altLang="en-US" sz="1200" dirty="0">
                <a:solidFill>
                  <a:schemeClr val="tx1">
                    <a:lumMod val="50000"/>
                    <a:lumOff val="50000"/>
                  </a:schemeClr>
                </a:solidFill>
                <a:latin typeface="Arial" panose="020B0604020202020204" pitchFamily="34" charset="0"/>
              </a:rPr>
              <a:t>(IMF, April 2022) and </a:t>
            </a:r>
            <a:r>
              <a:rPr lang="en-GB" altLang="en-US" sz="1200" i="1" dirty="0">
                <a:solidFill>
                  <a:schemeClr val="tx1">
                    <a:lumMod val="50000"/>
                    <a:lumOff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AMECO</a:t>
            </a:r>
            <a:r>
              <a:rPr lang="en-GB" altLang="en-US" sz="1200" dirty="0">
                <a:solidFill>
                  <a:schemeClr val="tx1">
                    <a:lumMod val="50000"/>
                    <a:lumOff val="50000"/>
                  </a:schemeClr>
                </a:solidFill>
                <a:latin typeface="Arial" panose="020B0604020202020204" pitchFamily="34" charset="0"/>
              </a:rPr>
              <a:t> database (EC. May 2022)</a:t>
            </a:r>
          </a:p>
        </p:txBody>
      </p:sp>
      <p:graphicFrame>
        <p:nvGraphicFramePr>
          <p:cNvPr id="6" name="Object 3">
            <a:extLst>
              <a:ext uri="{FF2B5EF4-FFF2-40B4-BE49-F238E27FC236}">
                <a16:creationId xmlns:a16="http://schemas.microsoft.com/office/drawing/2014/main" id="{88E6E9B4-DF29-1D54-8A68-67AB2FBB79BA}"/>
              </a:ext>
            </a:extLst>
          </p:cNvPr>
          <p:cNvGraphicFramePr>
            <a:graphicFrameLocks noChangeAspect="1"/>
          </p:cNvGraphicFramePr>
          <p:nvPr/>
        </p:nvGraphicFramePr>
        <p:xfrm>
          <a:off x="0" y="573089"/>
          <a:ext cx="12192000" cy="5826125"/>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8426245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animEffect transition="in" filter="wipe(left)">
                                      <p:cBhvr>
                                        <p:cTn id="7" dur="1000"/>
                                        <p:tgtEl>
                                          <p:spTgt spid="6">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left)">
                                      <p:cBhvr>
                                        <p:cTn id="12" dur="1000"/>
                                        <p:tgtEl>
                                          <p:spTgt spid="6">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graphicEl>
                                              <a:chart seriesIdx="4" categoryIdx="-4" bldStep="series"/>
                                            </p:graphicEl>
                                          </p:spTgt>
                                        </p:tgtEl>
                                        <p:attrNameLst>
                                          <p:attrName>style.visibility</p:attrName>
                                        </p:attrNameLst>
                                      </p:cBhvr>
                                      <p:to>
                                        <p:strVal val="visible"/>
                                      </p:to>
                                    </p:set>
                                    <p:animEffect transition="in" filter="wipe(left)">
                                      <p:cBhvr>
                                        <p:cTn id="17" dur="1000"/>
                                        <p:tgtEl>
                                          <p:spTgt spid="6">
                                            <p:graphicEl>
                                              <a:chart seriesIdx="4"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Chart bld="series" animBg="0"/>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5">
            <a:extLst>
              <a:ext uri="{FF2B5EF4-FFF2-40B4-BE49-F238E27FC236}">
                <a16:creationId xmlns:a16="http://schemas.microsoft.com/office/drawing/2014/main" id="{CEF38992-12D7-4AFD-AFBF-642E69AF4F3B}"/>
              </a:ext>
            </a:extLst>
          </p:cNvPr>
          <p:cNvSpPr txBox="1">
            <a:spLocks noChangeArrowheads="1"/>
          </p:cNvSpPr>
          <p:nvPr/>
        </p:nvSpPr>
        <p:spPr bwMode="auto">
          <a:xfrm>
            <a:off x="1143000" y="1"/>
            <a:ext cx="9905999" cy="569387"/>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91440">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800" b="1" dirty="0">
                <a:solidFill>
                  <a:srgbClr val="660066"/>
                </a:solidFill>
                <a:latin typeface="Arial" panose="020B0604020202020204" pitchFamily="34" charset="0"/>
                <a:cs typeface="Arial" panose="020B0604020202020204" pitchFamily="34" charset="0"/>
              </a:rPr>
              <a:t>Gross expenditure on R&amp;D (% of GDP)</a:t>
            </a:r>
          </a:p>
        </p:txBody>
      </p:sp>
      <p:sp>
        <p:nvSpPr>
          <p:cNvPr id="5" name="Text Box 2060">
            <a:extLst>
              <a:ext uri="{FF2B5EF4-FFF2-40B4-BE49-F238E27FC236}">
                <a16:creationId xmlns:a16="http://schemas.microsoft.com/office/drawing/2014/main" id="{DAEF0FCB-BD29-17A3-0DCE-5A5CF5E8D68B}"/>
              </a:ext>
            </a:extLst>
          </p:cNvPr>
          <p:cNvSpPr txBox="1">
            <a:spLocks noChangeArrowheads="1"/>
          </p:cNvSpPr>
          <p:nvPr/>
        </p:nvSpPr>
        <p:spPr bwMode="auto">
          <a:xfrm>
            <a:off x="1143000" y="6340475"/>
            <a:ext cx="1041558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300" i="1" dirty="0">
                <a:solidFill>
                  <a:schemeClr val="tx1">
                    <a:lumMod val="50000"/>
                    <a:lumOff val="50000"/>
                  </a:schemeClr>
                </a:solidFill>
                <a:latin typeface="Arial" panose="020B0604020202020204" pitchFamily="34" charset="0"/>
              </a:rPr>
              <a:t>Note: </a:t>
            </a:r>
            <a:r>
              <a:rPr lang="en-GB" altLang="en-US" sz="1300" dirty="0">
                <a:solidFill>
                  <a:schemeClr val="tx1">
                    <a:lumMod val="50000"/>
                    <a:lumOff val="50000"/>
                  </a:schemeClr>
                </a:solidFill>
                <a:latin typeface="Arial" panose="020B0604020202020204" pitchFamily="34" charset="0"/>
              </a:rPr>
              <a:t>OECD = 38 members (as of 25 May 2021) of the </a:t>
            </a:r>
            <a:r>
              <a:rPr lang="en-GB" altLang="en-US" sz="1300" dirty="0">
                <a:solidFill>
                  <a:schemeClr val="tx1">
                    <a:lumMod val="50000"/>
                    <a:lumOff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Organisation for Economic Co-operation and Development</a:t>
            </a:r>
            <a:r>
              <a:rPr lang="en-GB" altLang="en-US" sz="1300" dirty="0">
                <a:solidFill>
                  <a:schemeClr val="tx1">
                    <a:lumMod val="50000"/>
                    <a:lumOff val="50000"/>
                  </a:schemeClr>
                </a:solidFill>
                <a:latin typeface="Arial" panose="020B0604020202020204" pitchFamily="34" charset="0"/>
              </a:rPr>
              <a:t>.</a:t>
            </a:r>
          </a:p>
          <a:p>
            <a:r>
              <a:rPr lang="en-GB" altLang="en-US" sz="1300" i="1" dirty="0">
                <a:solidFill>
                  <a:schemeClr val="tx1">
                    <a:lumMod val="50000"/>
                    <a:lumOff val="50000"/>
                  </a:schemeClr>
                </a:solidFill>
                <a:latin typeface="Arial" panose="020B0604020202020204" pitchFamily="34" charset="0"/>
              </a:rPr>
              <a:t>Source</a:t>
            </a:r>
            <a:r>
              <a:rPr lang="en-GB" altLang="en-US" sz="1300" dirty="0">
                <a:solidFill>
                  <a:schemeClr val="tx1">
                    <a:lumMod val="50000"/>
                    <a:lumOff val="50000"/>
                  </a:schemeClr>
                </a:solidFill>
                <a:latin typeface="Arial" panose="020B0604020202020204" pitchFamily="34" charset="0"/>
              </a:rPr>
              <a:t>: </a:t>
            </a:r>
            <a:r>
              <a:rPr lang="en-GB" altLang="en-US" sz="1300" i="1" dirty="0">
                <a:solidFill>
                  <a:schemeClr val="tx1">
                    <a:lumMod val="50000"/>
                    <a:lumOff val="50000"/>
                  </a:schemeClr>
                </a:solidFill>
                <a:latin typeface="Arial" panose="020B0604020202020204" pitchFamily="34" charset="0"/>
                <a:hlinkClick r:id="rId4">
                  <a:extLst>
                    <a:ext uri="{A12FA001-AC4F-418D-AE19-62706E023703}">
                      <ahyp:hlinkClr xmlns:ahyp="http://schemas.microsoft.com/office/drawing/2018/hyperlinkcolor" val="tx"/>
                    </a:ext>
                  </a:extLst>
                </a:hlinkClick>
              </a:rPr>
              <a:t>Gross Domestic Spending on R&amp;D </a:t>
            </a:r>
            <a:r>
              <a:rPr lang="en-GB" altLang="en-US" sz="1300" dirty="0">
                <a:solidFill>
                  <a:schemeClr val="tx1">
                    <a:lumMod val="50000"/>
                    <a:lumOff val="50000"/>
                  </a:schemeClr>
                </a:solidFill>
                <a:latin typeface="Arial" panose="020B0604020202020204" pitchFamily="34" charset="0"/>
              </a:rPr>
              <a:t>(OECD, 2022)</a:t>
            </a:r>
          </a:p>
        </p:txBody>
      </p:sp>
      <p:graphicFrame>
        <p:nvGraphicFramePr>
          <p:cNvPr id="6" name="Object 2051">
            <a:extLst>
              <a:ext uri="{FF2B5EF4-FFF2-40B4-BE49-F238E27FC236}">
                <a16:creationId xmlns:a16="http://schemas.microsoft.com/office/drawing/2014/main" id="{17E6144A-4CF6-83FE-3E76-806EF2985418}"/>
              </a:ext>
            </a:extLst>
          </p:cNvPr>
          <p:cNvGraphicFramePr>
            <a:graphicFrameLocks noChangeAspect="1"/>
          </p:cNvGraphicFramePr>
          <p:nvPr/>
        </p:nvGraphicFramePr>
        <p:xfrm>
          <a:off x="0" y="376238"/>
          <a:ext cx="12192000" cy="5986462"/>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27674518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left)">
                                      <p:cBhvr>
                                        <p:cTn id="7" dur="1000"/>
                                        <p:tgtEl>
                                          <p:spTgt spid="6">
                                            <p:graphicEl>
                                              <a:chart seriesIdx="1"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graphicEl>
                                              <a:chart seriesIdx="2" categoryIdx="-4" bldStep="series"/>
                                            </p:graphicEl>
                                          </p:spTgt>
                                        </p:tgtEl>
                                        <p:attrNameLst>
                                          <p:attrName>style.visibility</p:attrName>
                                        </p:attrNameLst>
                                      </p:cBhvr>
                                      <p:to>
                                        <p:strVal val="visible"/>
                                      </p:to>
                                    </p:set>
                                    <p:animEffect transition="in" filter="wipe(left)">
                                      <p:cBhvr>
                                        <p:cTn id="12" dur="1000"/>
                                        <p:tgtEl>
                                          <p:spTgt spid="6">
                                            <p:graphicEl>
                                              <a:chart seriesIdx="2"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graphicEl>
                                              <a:chart seriesIdx="3" categoryIdx="-4" bldStep="series"/>
                                            </p:graphicEl>
                                          </p:spTgt>
                                        </p:tgtEl>
                                        <p:attrNameLst>
                                          <p:attrName>style.visibility</p:attrName>
                                        </p:attrNameLst>
                                      </p:cBhvr>
                                      <p:to>
                                        <p:strVal val="visible"/>
                                      </p:to>
                                    </p:set>
                                    <p:animEffect transition="in" filter="wipe(left)">
                                      <p:cBhvr>
                                        <p:cTn id="17" dur="1000"/>
                                        <p:tgtEl>
                                          <p:spTgt spid="6">
                                            <p:graphicEl>
                                              <a:chart seriesIdx="3"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graphicEl>
                                              <a:chart seriesIdx="3" categoryIdx="-4" bldStep="series"/>
                                            </p:graphicEl>
                                          </p:spTgt>
                                        </p:tgtEl>
                                        <p:attrNameLst>
                                          <p:attrName>style.visibility</p:attrName>
                                        </p:attrNameLst>
                                      </p:cBhvr>
                                      <p:to>
                                        <p:strVal val="visible"/>
                                      </p:to>
                                    </p:set>
                                    <p:animEffect transition="in" filter="wipe(left)">
                                      <p:cBhvr>
                                        <p:cTn id="22" dur="1000"/>
                                        <p:tgtEl>
                                          <p:spTgt spid="6">
                                            <p:graphicEl>
                                              <a:chart seriesIdx="3"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 animBg="0"/>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2FD4D-0D26-7DB1-AD86-4A508F66638D}"/>
              </a:ext>
            </a:extLst>
          </p:cNvPr>
          <p:cNvSpPr txBox="1">
            <a:spLocks/>
          </p:cNvSpPr>
          <p:nvPr/>
        </p:nvSpPr>
        <p:spPr>
          <a:xfrm>
            <a:off x="838200" y="2712086"/>
            <a:ext cx="10515600" cy="908198"/>
          </a:xfrm>
          <a:prstGeom prst="rect">
            <a:avLst/>
          </a:prstGeom>
        </p:spPr>
        <p:txBody>
          <a:bodyPr/>
          <a:lstStyle>
            <a:lvl1pPr algn="l" defTabSz="914400" rtl="0" eaLnBrk="1" latinLnBrk="0" hangingPunct="1">
              <a:lnSpc>
                <a:spcPct val="90000"/>
              </a:lnSpc>
              <a:spcBef>
                <a:spcPct val="0"/>
              </a:spcBef>
              <a:buNone/>
              <a:defRPr sz="4000" b="1" i="0" kern="1200">
                <a:solidFill>
                  <a:schemeClr val="tx1"/>
                </a:solidFill>
                <a:latin typeface="Helvetica" pitchFamily="2" charset="0"/>
                <a:ea typeface="+mj-ea"/>
                <a:cs typeface="+mj-cs"/>
              </a:defRPr>
            </a:lvl1pPr>
          </a:lstStyle>
          <a:p>
            <a:r>
              <a:rPr lang="en-MY" dirty="0"/>
              <a:t>Part 2: The external economy</a:t>
            </a:r>
          </a:p>
        </p:txBody>
      </p:sp>
    </p:spTree>
    <p:extLst>
      <p:ext uri="{BB962C8B-B14F-4D97-AF65-F5344CB8AC3E}">
        <p14:creationId xmlns:p14="http://schemas.microsoft.com/office/powerpoint/2010/main" val="1903550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B396F-E6A4-4E00-7476-5A31A07D2B76}"/>
              </a:ext>
            </a:extLst>
          </p:cNvPr>
          <p:cNvSpPr>
            <a:spLocks noGrp="1"/>
          </p:cNvSpPr>
          <p:nvPr>
            <p:ph type="title"/>
          </p:nvPr>
        </p:nvSpPr>
        <p:spPr/>
        <p:txBody>
          <a:bodyPr/>
          <a:lstStyle/>
          <a:p>
            <a:r>
              <a:rPr lang="en-MY" dirty="0"/>
              <a:t>Balance of payments</a:t>
            </a:r>
          </a:p>
        </p:txBody>
      </p:sp>
      <p:sp>
        <p:nvSpPr>
          <p:cNvPr id="3" name="Content Placeholder 2">
            <a:extLst>
              <a:ext uri="{FF2B5EF4-FFF2-40B4-BE49-F238E27FC236}">
                <a16:creationId xmlns:a16="http://schemas.microsoft.com/office/drawing/2014/main" id="{DF97E5FF-6350-C649-2533-41A097A83C39}"/>
              </a:ext>
            </a:extLst>
          </p:cNvPr>
          <p:cNvSpPr>
            <a:spLocks noGrp="1"/>
          </p:cNvSpPr>
          <p:nvPr>
            <p:ph idx="1"/>
          </p:nvPr>
        </p:nvSpPr>
        <p:spPr>
          <a:xfrm>
            <a:off x="767080" y="1372455"/>
            <a:ext cx="10515600" cy="4621628"/>
          </a:xfrm>
        </p:spPr>
        <p:txBody>
          <a:bodyPr>
            <a:normAutofit fontScale="92500" lnSpcReduction="10000"/>
          </a:bodyPr>
          <a:lstStyle/>
          <a:p>
            <a:r>
              <a:rPr lang="en-MY" dirty="0">
                <a:latin typeface="+mn-lt"/>
              </a:rPr>
              <a:t>A set of accounts that shows the flow of money between residents of a country and the rest of the world</a:t>
            </a:r>
          </a:p>
          <a:p>
            <a:r>
              <a:rPr lang="en-MY" dirty="0">
                <a:latin typeface="+mn-lt"/>
              </a:rPr>
              <a:t>Component accounts</a:t>
            </a:r>
          </a:p>
          <a:p>
            <a:pPr lvl="1"/>
            <a:r>
              <a:rPr lang="en-MY" dirty="0">
                <a:latin typeface="+mn-lt"/>
              </a:rPr>
              <a:t>Current account - </a:t>
            </a:r>
            <a:r>
              <a:rPr lang="en-US" altLang="en-US" dirty="0">
                <a:latin typeface="+mn-lt"/>
              </a:rPr>
              <a:t>Records all sales of currently produced goods and services, investment incomes and income transfers </a:t>
            </a:r>
            <a:endParaRPr lang="en-MY" dirty="0">
              <a:latin typeface="+mn-lt"/>
            </a:endParaRPr>
          </a:p>
          <a:p>
            <a:pPr lvl="1"/>
            <a:r>
              <a:rPr lang="en-MY" dirty="0">
                <a:latin typeface="+mn-lt"/>
              </a:rPr>
              <a:t>Capital account – Records flow of funds for purchase/disposal of fixed assets such as land, intangible assets (trademark, patents), payment of grants by governments for oversea projects, debt forgiveness by government and receipt of money for capital projects</a:t>
            </a:r>
          </a:p>
          <a:p>
            <a:pPr lvl="1"/>
            <a:r>
              <a:rPr lang="en-MY" dirty="0">
                <a:latin typeface="+mn-lt"/>
              </a:rPr>
              <a:t>Financial account – Records purchase and sales of financial assets</a:t>
            </a:r>
          </a:p>
          <a:p>
            <a:pPr lvl="1"/>
            <a:endParaRPr lang="en-MY" dirty="0">
              <a:latin typeface="+mn-lt"/>
            </a:endParaRPr>
          </a:p>
          <a:p>
            <a:r>
              <a:rPr lang="en-MY" dirty="0">
                <a:latin typeface="+mn-lt"/>
              </a:rPr>
              <a:t>If inflow exceeds outflow, the account is in </a:t>
            </a:r>
            <a:r>
              <a:rPr lang="en-MY" i="1" u="sng" dirty="0">
                <a:latin typeface="+mn-lt"/>
              </a:rPr>
              <a:t>surplus</a:t>
            </a:r>
            <a:r>
              <a:rPr lang="en-MY" dirty="0">
                <a:latin typeface="+mn-lt"/>
              </a:rPr>
              <a:t>; if outflow &gt; inflow the account is in </a:t>
            </a:r>
            <a:r>
              <a:rPr lang="en-MY" i="1" u="sng" dirty="0">
                <a:latin typeface="+mn-lt"/>
              </a:rPr>
              <a:t>deficit</a:t>
            </a:r>
            <a:r>
              <a:rPr lang="en-MY" dirty="0">
                <a:latin typeface="+mn-lt"/>
              </a:rPr>
              <a:t> </a:t>
            </a:r>
          </a:p>
          <a:p>
            <a:r>
              <a:rPr lang="en-MY" dirty="0">
                <a:latin typeface="+mn-lt"/>
              </a:rPr>
              <a:t>Double entry principle - </a:t>
            </a:r>
            <a:r>
              <a:rPr lang="en-US" dirty="0">
                <a:latin typeface="+mn-lt"/>
              </a:rPr>
              <a:t>Transactions enter BOP twice, once as debit and once as credit </a:t>
            </a:r>
            <a:r>
              <a:rPr lang="en-US" dirty="0">
                <a:latin typeface="+mn-lt"/>
                <a:sym typeface="Wingdings" panose="05000000000000000000" pitchFamily="2" charset="2"/>
              </a:rPr>
              <a:t> Sum of account positions must lead to a ‘0’ (BOP is balanced)</a:t>
            </a:r>
            <a:endParaRPr lang="en-US" dirty="0">
              <a:latin typeface="+mn-lt"/>
            </a:endParaRPr>
          </a:p>
          <a:p>
            <a:endParaRPr lang="en-MY" dirty="0"/>
          </a:p>
          <a:p>
            <a:endParaRPr lang="en-MY" dirty="0"/>
          </a:p>
        </p:txBody>
      </p:sp>
    </p:spTree>
    <p:extLst>
      <p:ext uri="{BB962C8B-B14F-4D97-AF65-F5344CB8AC3E}">
        <p14:creationId xmlns:p14="http://schemas.microsoft.com/office/powerpoint/2010/main" val="2769781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5BB95-BC55-4D28-50A4-58BC2AC27508}"/>
              </a:ext>
            </a:extLst>
          </p:cNvPr>
          <p:cNvSpPr>
            <a:spLocks noGrp="1"/>
          </p:cNvSpPr>
          <p:nvPr>
            <p:ph type="title"/>
          </p:nvPr>
        </p:nvSpPr>
        <p:spPr/>
        <p:txBody>
          <a:bodyPr/>
          <a:lstStyle/>
          <a:p>
            <a:r>
              <a:rPr lang="en-MY" dirty="0"/>
              <a:t>UK’s balance of payments at a glance</a:t>
            </a:r>
          </a:p>
        </p:txBody>
      </p:sp>
      <p:pic>
        <p:nvPicPr>
          <p:cNvPr id="5" name="Picture 4">
            <a:extLst>
              <a:ext uri="{FF2B5EF4-FFF2-40B4-BE49-F238E27FC236}">
                <a16:creationId xmlns:a16="http://schemas.microsoft.com/office/drawing/2014/main" id="{0A1CC1BE-EC31-88A3-BCC7-A6ED7D516EFF}"/>
              </a:ext>
            </a:extLst>
          </p:cNvPr>
          <p:cNvPicPr>
            <a:picLocks noChangeAspect="1"/>
          </p:cNvPicPr>
          <p:nvPr/>
        </p:nvPicPr>
        <p:blipFill>
          <a:blip r:embed="rId2"/>
          <a:stretch>
            <a:fillRect/>
          </a:stretch>
        </p:blipFill>
        <p:spPr>
          <a:xfrm>
            <a:off x="671323" y="1470207"/>
            <a:ext cx="11110774" cy="4699365"/>
          </a:xfrm>
          <a:prstGeom prst="rect">
            <a:avLst/>
          </a:prstGeom>
        </p:spPr>
      </p:pic>
    </p:spTree>
    <p:extLst>
      <p:ext uri="{BB962C8B-B14F-4D97-AF65-F5344CB8AC3E}">
        <p14:creationId xmlns:p14="http://schemas.microsoft.com/office/powerpoint/2010/main" val="4070805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5444" name="Rectangle 4">
            <a:extLst>
              <a:ext uri="{FF2B5EF4-FFF2-40B4-BE49-F238E27FC236}">
                <a16:creationId xmlns:a16="http://schemas.microsoft.com/office/drawing/2014/main" id="{0A3C22DF-C886-4E56-BC5B-A49D71B7619E}"/>
              </a:ext>
            </a:extLst>
          </p:cNvPr>
          <p:cNvSpPr>
            <a:spLocks noGrp="1"/>
          </p:cNvSpPr>
          <p:nvPr>
            <p:ph type="title"/>
          </p:nvPr>
        </p:nvSpPr>
        <p:spPr/>
        <p:txBody>
          <a:bodyPr/>
          <a:lstStyle/>
          <a:p>
            <a:r>
              <a:rPr lang="en-GB" altLang="en-US" dirty="0"/>
              <a:t>Current and Capital Accounts</a:t>
            </a:r>
          </a:p>
        </p:txBody>
      </p:sp>
      <p:sp>
        <p:nvSpPr>
          <p:cNvPr id="445445" name="Rectangle 5">
            <a:extLst>
              <a:ext uri="{FF2B5EF4-FFF2-40B4-BE49-F238E27FC236}">
                <a16:creationId xmlns:a16="http://schemas.microsoft.com/office/drawing/2014/main" id="{8503E0D3-6700-4AFE-9CCA-B743E32C6171}"/>
              </a:ext>
            </a:extLst>
          </p:cNvPr>
          <p:cNvSpPr>
            <a:spLocks noGrp="1"/>
          </p:cNvSpPr>
          <p:nvPr>
            <p:ph sz="quarter" idx="1"/>
          </p:nvPr>
        </p:nvSpPr>
        <p:spPr>
          <a:xfrm>
            <a:off x="402336" y="1527048"/>
            <a:ext cx="11338560" cy="4861720"/>
          </a:xfrm>
        </p:spPr>
        <p:txBody>
          <a:bodyPr/>
          <a:lstStyle/>
          <a:p>
            <a:pPr>
              <a:lnSpc>
                <a:spcPct val="100000"/>
              </a:lnSpc>
              <a:spcBef>
                <a:spcPts val="600"/>
              </a:spcBef>
            </a:pPr>
            <a:r>
              <a:rPr lang="en-GB" altLang="en-US" dirty="0">
                <a:latin typeface="+mn-lt"/>
              </a:rPr>
              <a:t>Part of national accounts: </a:t>
            </a:r>
          </a:p>
          <a:p>
            <a:pPr lvl="1">
              <a:lnSpc>
                <a:spcPct val="100000"/>
              </a:lnSpc>
              <a:spcBef>
                <a:spcPts val="600"/>
              </a:spcBef>
            </a:pPr>
            <a:r>
              <a:rPr lang="en-GB" altLang="en-US" dirty="0">
                <a:latin typeface="+mn-lt"/>
              </a:rPr>
              <a:t>Setting out a country’s external position relative to rest of the world</a:t>
            </a:r>
          </a:p>
          <a:p>
            <a:pPr lvl="1">
              <a:lnSpc>
                <a:spcPct val="100000"/>
              </a:lnSpc>
              <a:spcBef>
                <a:spcPts val="600"/>
              </a:spcBef>
            </a:pPr>
            <a:r>
              <a:rPr lang="en-GB" altLang="en-US" dirty="0">
                <a:latin typeface="+mn-lt"/>
              </a:rPr>
              <a:t>Consists of current account, capital account, financial account</a:t>
            </a:r>
          </a:p>
          <a:p>
            <a:pPr>
              <a:lnSpc>
                <a:spcPct val="100000"/>
              </a:lnSpc>
              <a:spcBef>
                <a:spcPts val="600"/>
              </a:spcBef>
            </a:pPr>
            <a:r>
              <a:rPr lang="en-GB" altLang="en-US" dirty="0">
                <a:latin typeface="+mn-lt"/>
              </a:rPr>
              <a:t>Current account: payments for exports, imports</a:t>
            </a:r>
          </a:p>
          <a:p>
            <a:pPr lvl="1">
              <a:lnSpc>
                <a:spcPct val="100000"/>
              </a:lnSpc>
              <a:spcBef>
                <a:spcPts val="600"/>
              </a:spcBef>
            </a:pPr>
            <a:r>
              <a:rPr lang="en-GB" altLang="en-US" dirty="0">
                <a:latin typeface="+mn-lt"/>
              </a:rPr>
              <a:t>trade in goods and services – </a:t>
            </a:r>
            <a:r>
              <a:rPr lang="en-GB" altLang="en-US" i="1" dirty="0">
                <a:latin typeface="+mn-lt"/>
              </a:rPr>
              <a:t>balance of trade in goods and services</a:t>
            </a:r>
          </a:p>
          <a:p>
            <a:pPr lvl="1">
              <a:lnSpc>
                <a:spcPct val="100000"/>
              </a:lnSpc>
              <a:spcBef>
                <a:spcPts val="600"/>
              </a:spcBef>
            </a:pPr>
            <a:r>
              <a:rPr lang="en-GB" altLang="en-US" dirty="0">
                <a:latin typeface="+mn-lt"/>
              </a:rPr>
              <a:t>then add income flows (e.g. wages, dividends), monetary transfers (remittances) to obtain </a:t>
            </a:r>
            <a:r>
              <a:rPr lang="en-GB" altLang="en-US" i="1" dirty="0">
                <a:latin typeface="+mn-lt"/>
              </a:rPr>
              <a:t>balance on current account</a:t>
            </a:r>
            <a:endParaRPr lang="en-GB" altLang="en-US" dirty="0">
              <a:latin typeface="+mn-lt"/>
            </a:endParaRPr>
          </a:p>
          <a:p>
            <a:pPr>
              <a:lnSpc>
                <a:spcPct val="100000"/>
              </a:lnSpc>
              <a:spcBef>
                <a:spcPts val="600"/>
              </a:spcBef>
            </a:pPr>
            <a:r>
              <a:rPr lang="en-GB" altLang="en-US" dirty="0">
                <a:latin typeface="+mn-lt"/>
              </a:rPr>
              <a:t>Capital account: a small balance representing</a:t>
            </a:r>
          </a:p>
          <a:p>
            <a:pPr lvl="1">
              <a:lnSpc>
                <a:spcPct val="100000"/>
              </a:lnSpc>
              <a:spcBef>
                <a:spcPts val="600"/>
              </a:spcBef>
            </a:pPr>
            <a:r>
              <a:rPr lang="en-GB" altLang="en-US" dirty="0">
                <a:latin typeface="+mn-lt"/>
              </a:rPr>
              <a:t>Net flow of funds into country from purchase of assets, transfers, and capital accumulation</a:t>
            </a:r>
          </a:p>
        </p:txBody>
      </p:sp>
    </p:spTree>
    <p:extLst>
      <p:ext uri="{BB962C8B-B14F-4D97-AF65-F5344CB8AC3E}">
        <p14:creationId xmlns:p14="http://schemas.microsoft.com/office/powerpoint/2010/main" val="3073972179"/>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45445">
                                            <p:txEl>
                                              <p:pRg st="0" end="0"/>
                                            </p:txEl>
                                          </p:spTgt>
                                        </p:tgtEl>
                                        <p:attrNameLst>
                                          <p:attrName>style.visibility</p:attrName>
                                        </p:attrNameLst>
                                      </p:cBhvr>
                                      <p:to>
                                        <p:strVal val="visible"/>
                                      </p:to>
                                    </p:set>
                                    <p:anim calcmode="lin" valueType="num">
                                      <p:cBhvr additive="base">
                                        <p:cTn id="7" dur="500"/>
                                        <p:tgtEl>
                                          <p:spTgt spid="44544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45445">
                                            <p:txEl>
                                              <p:pRg st="0" end="0"/>
                                            </p:txEl>
                                          </p:spTgt>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45445">
                                            <p:txEl>
                                              <p:pRg st="1" end="1"/>
                                            </p:txEl>
                                          </p:spTgt>
                                        </p:tgtEl>
                                        <p:attrNameLst>
                                          <p:attrName>style.visibility</p:attrName>
                                        </p:attrNameLst>
                                      </p:cBhvr>
                                      <p:to>
                                        <p:strVal val="visible"/>
                                      </p:to>
                                    </p:set>
                                    <p:anim calcmode="lin" valueType="num">
                                      <p:cBhvr additive="base">
                                        <p:cTn id="11" dur="500"/>
                                        <p:tgtEl>
                                          <p:spTgt spid="44544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445445">
                                            <p:txEl>
                                              <p:pRg st="1" end="1"/>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445445">
                                            <p:txEl>
                                              <p:pRg st="2" end="2"/>
                                            </p:txEl>
                                          </p:spTgt>
                                        </p:tgtEl>
                                        <p:attrNameLst>
                                          <p:attrName>style.visibility</p:attrName>
                                        </p:attrNameLst>
                                      </p:cBhvr>
                                      <p:to>
                                        <p:strVal val="visible"/>
                                      </p:to>
                                    </p:set>
                                    <p:anim calcmode="lin" valueType="num">
                                      <p:cBhvr additive="base">
                                        <p:cTn id="15" dur="500"/>
                                        <p:tgtEl>
                                          <p:spTgt spid="445445">
                                            <p:txEl>
                                              <p:pRg st="2" end="2"/>
                                            </p:txEl>
                                          </p:spTgt>
                                        </p:tgtEl>
                                        <p:attrNameLst>
                                          <p:attrName>ppt_y</p:attrName>
                                        </p:attrNameLst>
                                      </p:cBhvr>
                                      <p:tavLst>
                                        <p:tav tm="0">
                                          <p:val>
                                            <p:strVal val="#ppt_y+#ppt_h*1.125000"/>
                                          </p:val>
                                        </p:tav>
                                        <p:tav tm="100000">
                                          <p:val>
                                            <p:strVal val="#ppt_y"/>
                                          </p:val>
                                        </p:tav>
                                      </p:tavLst>
                                    </p:anim>
                                    <p:animEffect transition="in" filter="wipe(up)">
                                      <p:cBhvr>
                                        <p:cTn id="16" dur="500"/>
                                        <p:tgtEl>
                                          <p:spTgt spid="445445">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445445">
                                            <p:txEl>
                                              <p:pRg st="3" end="3"/>
                                            </p:txEl>
                                          </p:spTgt>
                                        </p:tgtEl>
                                        <p:attrNameLst>
                                          <p:attrName>style.visibility</p:attrName>
                                        </p:attrNameLst>
                                      </p:cBhvr>
                                      <p:to>
                                        <p:strVal val="visible"/>
                                      </p:to>
                                    </p:set>
                                    <p:anim calcmode="lin" valueType="num">
                                      <p:cBhvr additive="base">
                                        <p:cTn id="21" dur="500"/>
                                        <p:tgtEl>
                                          <p:spTgt spid="445445">
                                            <p:txEl>
                                              <p:pRg st="3" end="3"/>
                                            </p:txEl>
                                          </p:spTgt>
                                        </p:tgtEl>
                                        <p:attrNameLst>
                                          <p:attrName>ppt_y</p:attrName>
                                        </p:attrNameLst>
                                      </p:cBhvr>
                                      <p:tavLst>
                                        <p:tav tm="0">
                                          <p:val>
                                            <p:strVal val="#ppt_y+#ppt_h*1.125000"/>
                                          </p:val>
                                        </p:tav>
                                        <p:tav tm="100000">
                                          <p:val>
                                            <p:strVal val="#ppt_y"/>
                                          </p:val>
                                        </p:tav>
                                      </p:tavLst>
                                    </p:anim>
                                    <p:animEffect transition="in" filter="wipe(up)">
                                      <p:cBhvr>
                                        <p:cTn id="22" dur="500"/>
                                        <p:tgtEl>
                                          <p:spTgt spid="445445">
                                            <p:txEl>
                                              <p:pRg st="3" end="3"/>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445445">
                                            <p:txEl>
                                              <p:pRg st="4" end="4"/>
                                            </p:txEl>
                                          </p:spTgt>
                                        </p:tgtEl>
                                        <p:attrNameLst>
                                          <p:attrName>style.visibility</p:attrName>
                                        </p:attrNameLst>
                                      </p:cBhvr>
                                      <p:to>
                                        <p:strVal val="visible"/>
                                      </p:to>
                                    </p:set>
                                    <p:anim calcmode="lin" valueType="num">
                                      <p:cBhvr additive="base">
                                        <p:cTn id="25" dur="500"/>
                                        <p:tgtEl>
                                          <p:spTgt spid="445445">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45445">
                                            <p:txEl>
                                              <p:pRg st="4" end="4"/>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445445">
                                            <p:txEl>
                                              <p:pRg st="5" end="5"/>
                                            </p:txEl>
                                          </p:spTgt>
                                        </p:tgtEl>
                                        <p:attrNameLst>
                                          <p:attrName>style.visibility</p:attrName>
                                        </p:attrNameLst>
                                      </p:cBhvr>
                                      <p:to>
                                        <p:strVal val="visible"/>
                                      </p:to>
                                    </p:set>
                                    <p:anim calcmode="lin" valueType="num">
                                      <p:cBhvr additive="base">
                                        <p:cTn id="29" dur="500"/>
                                        <p:tgtEl>
                                          <p:spTgt spid="445445">
                                            <p:txEl>
                                              <p:pRg st="5" end="5"/>
                                            </p:txEl>
                                          </p:spTgt>
                                        </p:tgtEl>
                                        <p:attrNameLst>
                                          <p:attrName>ppt_y</p:attrName>
                                        </p:attrNameLst>
                                      </p:cBhvr>
                                      <p:tavLst>
                                        <p:tav tm="0">
                                          <p:val>
                                            <p:strVal val="#ppt_y+#ppt_h*1.125000"/>
                                          </p:val>
                                        </p:tav>
                                        <p:tav tm="100000">
                                          <p:val>
                                            <p:strVal val="#ppt_y"/>
                                          </p:val>
                                        </p:tav>
                                      </p:tavLst>
                                    </p:anim>
                                    <p:animEffect transition="in" filter="wipe(up)">
                                      <p:cBhvr>
                                        <p:cTn id="30" dur="500"/>
                                        <p:tgtEl>
                                          <p:spTgt spid="44544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445445">
                                            <p:txEl>
                                              <p:pRg st="6" end="6"/>
                                            </p:txEl>
                                          </p:spTgt>
                                        </p:tgtEl>
                                        <p:attrNameLst>
                                          <p:attrName>style.visibility</p:attrName>
                                        </p:attrNameLst>
                                      </p:cBhvr>
                                      <p:to>
                                        <p:strVal val="visible"/>
                                      </p:to>
                                    </p:set>
                                    <p:anim calcmode="lin" valueType="num">
                                      <p:cBhvr additive="base">
                                        <p:cTn id="35" dur="500"/>
                                        <p:tgtEl>
                                          <p:spTgt spid="445445">
                                            <p:txEl>
                                              <p:pRg st="6" end="6"/>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45445">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grpId="0" nodeType="clickEffect">
                                  <p:stCondLst>
                                    <p:cond delay="0"/>
                                  </p:stCondLst>
                                  <p:childTnLst>
                                    <p:set>
                                      <p:cBhvr>
                                        <p:cTn id="40" dur="1" fill="hold">
                                          <p:stCondLst>
                                            <p:cond delay="0"/>
                                          </p:stCondLst>
                                        </p:cTn>
                                        <p:tgtEl>
                                          <p:spTgt spid="445445">
                                            <p:txEl>
                                              <p:pRg st="7" end="7"/>
                                            </p:txEl>
                                          </p:spTgt>
                                        </p:tgtEl>
                                        <p:attrNameLst>
                                          <p:attrName>style.visibility</p:attrName>
                                        </p:attrNameLst>
                                      </p:cBhvr>
                                      <p:to>
                                        <p:strVal val="visible"/>
                                      </p:to>
                                    </p:set>
                                    <p:anim calcmode="lin" valueType="num">
                                      <p:cBhvr additive="base">
                                        <p:cTn id="41" dur="500"/>
                                        <p:tgtEl>
                                          <p:spTgt spid="445445">
                                            <p:txEl>
                                              <p:pRg st="7" end="7"/>
                                            </p:txEl>
                                          </p:spTgt>
                                        </p:tgtEl>
                                        <p:attrNameLst>
                                          <p:attrName>ppt_y</p:attrName>
                                        </p:attrNameLst>
                                      </p:cBhvr>
                                      <p:tavLst>
                                        <p:tav tm="0">
                                          <p:val>
                                            <p:strVal val="#ppt_y+#ppt_h*1.125000"/>
                                          </p:val>
                                        </p:tav>
                                        <p:tav tm="100000">
                                          <p:val>
                                            <p:strVal val="#ppt_y"/>
                                          </p:val>
                                        </p:tav>
                                      </p:tavLst>
                                    </p:anim>
                                    <p:animEffect transition="in" filter="wipe(up)">
                                      <p:cBhvr>
                                        <p:cTn id="42" dur="500"/>
                                        <p:tgtEl>
                                          <p:spTgt spid="44544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45" grpId="0" uiExpand="1"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7492" name="Rectangle 4">
            <a:extLst>
              <a:ext uri="{FF2B5EF4-FFF2-40B4-BE49-F238E27FC236}">
                <a16:creationId xmlns:a16="http://schemas.microsoft.com/office/drawing/2014/main" id="{B4730F53-6343-418B-9FC2-778D292B5062}"/>
              </a:ext>
            </a:extLst>
          </p:cNvPr>
          <p:cNvSpPr>
            <a:spLocks noGrp="1"/>
          </p:cNvSpPr>
          <p:nvPr>
            <p:ph type="title"/>
          </p:nvPr>
        </p:nvSpPr>
        <p:spPr/>
        <p:txBody>
          <a:bodyPr/>
          <a:lstStyle/>
          <a:p>
            <a:r>
              <a:rPr lang="en-GB" altLang="en-US" dirty="0"/>
              <a:t>The Financial Account</a:t>
            </a:r>
          </a:p>
        </p:txBody>
      </p:sp>
      <p:sp>
        <p:nvSpPr>
          <p:cNvPr id="447493" name="Rectangle 5">
            <a:extLst>
              <a:ext uri="{FF2B5EF4-FFF2-40B4-BE49-F238E27FC236}">
                <a16:creationId xmlns:a16="http://schemas.microsoft.com/office/drawing/2014/main" id="{0A94A38E-F675-4445-87E2-9CBE14D242F8}"/>
              </a:ext>
            </a:extLst>
          </p:cNvPr>
          <p:cNvSpPr>
            <a:spLocks noGrp="1"/>
          </p:cNvSpPr>
          <p:nvPr>
            <p:ph sz="quarter" idx="1"/>
          </p:nvPr>
        </p:nvSpPr>
        <p:spPr>
          <a:xfrm>
            <a:off x="402336" y="1527047"/>
            <a:ext cx="11338560" cy="4893805"/>
          </a:xfrm>
        </p:spPr>
        <p:txBody>
          <a:bodyPr/>
          <a:lstStyle/>
          <a:p>
            <a:pPr>
              <a:spcBef>
                <a:spcPts val="800"/>
              </a:spcBef>
            </a:pPr>
            <a:r>
              <a:rPr lang="en-GB" altLang="en-US" i="1" dirty="0">
                <a:latin typeface="+mn-lt"/>
              </a:rPr>
              <a:t>Formerly the ‘capital account’ </a:t>
            </a:r>
            <a:r>
              <a:rPr lang="en-GB" altLang="en-US" dirty="0">
                <a:latin typeface="+mn-lt"/>
              </a:rPr>
              <a:t>– relates to asset accumulation</a:t>
            </a:r>
          </a:p>
          <a:p>
            <a:pPr lvl="1">
              <a:spcBef>
                <a:spcPts val="800"/>
              </a:spcBef>
            </a:pPr>
            <a:r>
              <a:rPr lang="en-GB" altLang="en-US" dirty="0">
                <a:latin typeface="+mn-lt"/>
              </a:rPr>
              <a:t>Balance represents net financial inflows because of investments being made, including</a:t>
            </a:r>
          </a:p>
          <a:p>
            <a:pPr lvl="2">
              <a:spcBef>
                <a:spcPts val="800"/>
              </a:spcBef>
            </a:pPr>
            <a:r>
              <a:rPr lang="en-GB" altLang="en-US" dirty="0">
                <a:latin typeface="+mn-lt"/>
              </a:rPr>
              <a:t>Foreign direct investment – by organisations based in other countries</a:t>
            </a:r>
          </a:p>
          <a:p>
            <a:pPr lvl="2">
              <a:spcBef>
                <a:spcPts val="800"/>
              </a:spcBef>
            </a:pPr>
            <a:r>
              <a:rPr lang="en-GB" altLang="en-US" dirty="0">
                <a:latin typeface="+mn-lt"/>
              </a:rPr>
              <a:t>Purchase of financial securities by investors in other countries</a:t>
            </a:r>
          </a:p>
          <a:p>
            <a:pPr lvl="2">
              <a:spcBef>
                <a:spcPts val="800"/>
              </a:spcBef>
            </a:pPr>
            <a:r>
              <a:rPr lang="en-GB" altLang="en-US" dirty="0">
                <a:latin typeface="+mn-lt"/>
              </a:rPr>
              <a:t>Bank deposits and other short-term financial flows</a:t>
            </a:r>
          </a:p>
          <a:p>
            <a:pPr lvl="2">
              <a:spcBef>
                <a:spcPts val="800"/>
              </a:spcBef>
            </a:pPr>
            <a:r>
              <a:rPr lang="en-GB" altLang="en-US" dirty="0">
                <a:latin typeface="+mn-lt"/>
              </a:rPr>
              <a:t>Government’s use of reserves to support currency exchange rates</a:t>
            </a:r>
          </a:p>
          <a:p>
            <a:pPr>
              <a:spcBef>
                <a:spcPts val="800"/>
              </a:spcBef>
            </a:pPr>
            <a:r>
              <a:rPr lang="en-GB" altLang="en-US" dirty="0">
                <a:latin typeface="+mn-lt"/>
              </a:rPr>
              <a:t>Sum of balances of current, capital, financial account should add up to zero</a:t>
            </a:r>
          </a:p>
          <a:p>
            <a:pPr lvl="1">
              <a:spcBef>
                <a:spcPts val="800"/>
              </a:spcBef>
            </a:pPr>
            <a:r>
              <a:rPr lang="en-GB" altLang="en-US" dirty="0">
                <a:latin typeface="+mn-lt"/>
              </a:rPr>
              <a:t>For each credit, there should be a debit</a:t>
            </a:r>
          </a:p>
          <a:p>
            <a:pPr lvl="1">
              <a:spcBef>
                <a:spcPts val="800"/>
              </a:spcBef>
            </a:pPr>
            <a:r>
              <a:rPr lang="en-GB" altLang="en-US" dirty="0">
                <a:latin typeface="+mn-lt"/>
              </a:rPr>
              <a:t>But generally need (quite large) balancing item for errors, omissions</a:t>
            </a:r>
          </a:p>
          <a:p>
            <a:pPr marL="274638" lvl="1" indent="0">
              <a:spcBef>
                <a:spcPts val="800"/>
              </a:spcBef>
              <a:buNone/>
            </a:pPr>
            <a:r>
              <a:rPr lang="en-GB" altLang="en-US" dirty="0"/>
              <a:t>	</a:t>
            </a:r>
            <a:endParaRPr lang="en-GB" altLang="en-US" i="1" dirty="0"/>
          </a:p>
        </p:txBody>
      </p:sp>
    </p:spTree>
    <p:extLst>
      <p:ext uri="{BB962C8B-B14F-4D97-AF65-F5344CB8AC3E}">
        <p14:creationId xmlns:p14="http://schemas.microsoft.com/office/powerpoint/2010/main" val="2293822990"/>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47493">
                                            <p:txEl>
                                              <p:pRg st="0" end="0"/>
                                            </p:txEl>
                                          </p:spTgt>
                                        </p:tgtEl>
                                        <p:attrNameLst>
                                          <p:attrName>style.visibility</p:attrName>
                                        </p:attrNameLst>
                                      </p:cBhvr>
                                      <p:to>
                                        <p:strVal val="visible"/>
                                      </p:to>
                                    </p:set>
                                    <p:animEffect transition="in" filter="fade">
                                      <p:cBhvr>
                                        <p:cTn id="7" dur="1000"/>
                                        <p:tgtEl>
                                          <p:spTgt spid="447493">
                                            <p:txEl>
                                              <p:pRg st="0" end="0"/>
                                            </p:txEl>
                                          </p:spTgt>
                                        </p:tgtEl>
                                      </p:cBhvr>
                                    </p:animEffect>
                                    <p:anim calcmode="lin" valueType="num">
                                      <p:cBhvr>
                                        <p:cTn id="8" dur="1000" fill="hold"/>
                                        <p:tgtEl>
                                          <p:spTgt spid="4474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4749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47493">
                                            <p:txEl>
                                              <p:pRg st="1" end="1"/>
                                            </p:txEl>
                                          </p:spTgt>
                                        </p:tgtEl>
                                        <p:attrNameLst>
                                          <p:attrName>style.visibility</p:attrName>
                                        </p:attrNameLst>
                                      </p:cBhvr>
                                      <p:to>
                                        <p:strVal val="visible"/>
                                      </p:to>
                                    </p:set>
                                    <p:animEffect transition="in" filter="fade">
                                      <p:cBhvr>
                                        <p:cTn id="12" dur="1000"/>
                                        <p:tgtEl>
                                          <p:spTgt spid="447493">
                                            <p:txEl>
                                              <p:pRg st="1" end="1"/>
                                            </p:txEl>
                                          </p:spTgt>
                                        </p:tgtEl>
                                      </p:cBhvr>
                                    </p:animEffect>
                                    <p:anim calcmode="lin" valueType="num">
                                      <p:cBhvr>
                                        <p:cTn id="13" dur="1000" fill="hold"/>
                                        <p:tgtEl>
                                          <p:spTgt spid="44749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4749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47493">
                                            <p:txEl>
                                              <p:pRg st="2" end="2"/>
                                            </p:txEl>
                                          </p:spTgt>
                                        </p:tgtEl>
                                        <p:attrNameLst>
                                          <p:attrName>style.visibility</p:attrName>
                                        </p:attrNameLst>
                                      </p:cBhvr>
                                      <p:to>
                                        <p:strVal val="visible"/>
                                      </p:to>
                                    </p:set>
                                    <p:animEffect transition="in" filter="fade">
                                      <p:cBhvr>
                                        <p:cTn id="17" dur="1000"/>
                                        <p:tgtEl>
                                          <p:spTgt spid="447493">
                                            <p:txEl>
                                              <p:pRg st="2" end="2"/>
                                            </p:txEl>
                                          </p:spTgt>
                                        </p:tgtEl>
                                      </p:cBhvr>
                                    </p:animEffect>
                                    <p:anim calcmode="lin" valueType="num">
                                      <p:cBhvr>
                                        <p:cTn id="18" dur="1000" fill="hold"/>
                                        <p:tgtEl>
                                          <p:spTgt spid="44749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4749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47493">
                                            <p:txEl>
                                              <p:pRg st="3" end="3"/>
                                            </p:txEl>
                                          </p:spTgt>
                                        </p:tgtEl>
                                        <p:attrNameLst>
                                          <p:attrName>style.visibility</p:attrName>
                                        </p:attrNameLst>
                                      </p:cBhvr>
                                      <p:to>
                                        <p:strVal val="visible"/>
                                      </p:to>
                                    </p:set>
                                    <p:animEffect transition="in" filter="fade">
                                      <p:cBhvr>
                                        <p:cTn id="22" dur="1000"/>
                                        <p:tgtEl>
                                          <p:spTgt spid="447493">
                                            <p:txEl>
                                              <p:pRg st="3" end="3"/>
                                            </p:txEl>
                                          </p:spTgt>
                                        </p:tgtEl>
                                      </p:cBhvr>
                                    </p:animEffect>
                                    <p:anim calcmode="lin" valueType="num">
                                      <p:cBhvr>
                                        <p:cTn id="23" dur="1000" fill="hold"/>
                                        <p:tgtEl>
                                          <p:spTgt spid="44749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4749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47493">
                                            <p:txEl>
                                              <p:pRg st="4" end="4"/>
                                            </p:txEl>
                                          </p:spTgt>
                                        </p:tgtEl>
                                        <p:attrNameLst>
                                          <p:attrName>style.visibility</p:attrName>
                                        </p:attrNameLst>
                                      </p:cBhvr>
                                      <p:to>
                                        <p:strVal val="visible"/>
                                      </p:to>
                                    </p:set>
                                    <p:animEffect transition="in" filter="fade">
                                      <p:cBhvr>
                                        <p:cTn id="27" dur="1000"/>
                                        <p:tgtEl>
                                          <p:spTgt spid="447493">
                                            <p:txEl>
                                              <p:pRg st="4" end="4"/>
                                            </p:txEl>
                                          </p:spTgt>
                                        </p:tgtEl>
                                      </p:cBhvr>
                                    </p:animEffect>
                                    <p:anim calcmode="lin" valueType="num">
                                      <p:cBhvr>
                                        <p:cTn id="28" dur="1000" fill="hold"/>
                                        <p:tgtEl>
                                          <p:spTgt spid="44749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4749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47493">
                                            <p:txEl>
                                              <p:pRg st="5" end="5"/>
                                            </p:txEl>
                                          </p:spTgt>
                                        </p:tgtEl>
                                        <p:attrNameLst>
                                          <p:attrName>style.visibility</p:attrName>
                                        </p:attrNameLst>
                                      </p:cBhvr>
                                      <p:to>
                                        <p:strVal val="visible"/>
                                      </p:to>
                                    </p:set>
                                    <p:animEffect transition="in" filter="fade">
                                      <p:cBhvr>
                                        <p:cTn id="32" dur="1000"/>
                                        <p:tgtEl>
                                          <p:spTgt spid="447493">
                                            <p:txEl>
                                              <p:pRg st="5" end="5"/>
                                            </p:txEl>
                                          </p:spTgt>
                                        </p:tgtEl>
                                      </p:cBhvr>
                                    </p:animEffect>
                                    <p:anim calcmode="lin" valueType="num">
                                      <p:cBhvr>
                                        <p:cTn id="33" dur="1000" fill="hold"/>
                                        <p:tgtEl>
                                          <p:spTgt spid="44749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44749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47493">
                                            <p:txEl>
                                              <p:pRg st="6" end="6"/>
                                            </p:txEl>
                                          </p:spTgt>
                                        </p:tgtEl>
                                        <p:attrNameLst>
                                          <p:attrName>style.visibility</p:attrName>
                                        </p:attrNameLst>
                                      </p:cBhvr>
                                      <p:to>
                                        <p:strVal val="visible"/>
                                      </p:to>
                                    </p:set>
                                    <p:animEffect transition="in" filter="fade">
                                      <p:cBhvr>
                                        <p:cTn id="39" dur="1000"/>
                                        <p:tgtEl>
                                          <p:spTgt spid="447493">
                                            <p:txEl>
                                              <p:pRg st="6" end="6"/>
                                            </p:txEl>
                                          </p:spTgt>
                                        </p:tgtEl>
                                      </p:cBhvr>
                                    </p:animEffect>
                                    <p:anim calcmode="lin" valueType="num">
                                      <p:cBhvr>
                                        <p:cTn id="40" dur="1000" fill="hold"/>
                                        <p:tgtEl>
                                          <p:spTgt spid="447493">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47493">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447493">
                                            <p:txEl>
                                              <p:pRg st="7" end="7"/>
                                            </p:txEl>
                                          </p:spTgt>
                                        </p:tgtEl>
                                        <p:attrNameLst>
                                          <p:attrName>style.visibility</p:attrName>
                                        </p:attrNameLst>
                                      </p:cBhvr>
                                      <p:to>
                                        <p:strVal val="visible"/>
                                      </p:to>
                                    </p:set>
                                    <p:animEffect transition="in" filter="fade">
                                      <p:cBhvr>
                                        <p:cTn id="44" dur="1000"/>
                                        <p:tgtEl>
                                          <p:spTgt spid="447493">
                                            <p:txEl>
                                              <p:pRg st="7" end="7"/>
                                            </p:txEl>
                                          </p:spTgt>
                                        </p:tgtEl>
                                      </p:cBhvr>
                                    </p:animEffect>
                                    <p:anim calcmode="lin" valueType="num">
                                      <p:cBhvr>
                                        <p:cTn id="45" dur="1000" fill="hold"/>
                                        <p:tgtEl>
                                          <p:spTgt spid="447493">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447493">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447493">
                                            <p:txEl>
                                              <p:pRg st="8" end="8"/>
                                            </p:txEl>
                                          </p:spTgt>
                                        </p:tgtEl>
                                        <p:attrNameLst>
                                          <p:attrName>style.visibility</p:attrName>
                                        </p:attrNameLst>
                                      </p:cBhvr>
                                      <p:to>
                                        <p:strVal val="visible"/>
                                      </p:to>
                                    </p:set>
                                    <p:animEffect transition="in" filter="fade">
                                      <p:cBhvr>
                                        <p:cTn id="49" dur="1000"/>
                                        <p:tgtEl>
                                          <p:spTgt spid="447493">
                                            <p:txEl>
                                              <p:pRg st="8" end="8"/>
                                            </p:txEl>
                                          </p:spTgt>
                                        </p:tgtEl>
                                      </p:cBhvr>
                                    </p:animEffect>
                                    <p:anim calcmode="lin" valueType="num">
                                      <p:cBhvr>
                                        <p:cTn id="50" dur="1000" fill="hold"/>
                                        <p:tgtEl>
                                          <p:spTgt spid="44749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44749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4">
            <a:extLst>
              <a:ext uri="{FF2B5EF4-FFF2-40B4-BE49-F238E27FC236}">
                <a16:creationId xmlns:a16="http://schemas.microsoft.com/office/drawing/2014/main" id="{78CF1EAD-4E49-4761-8D3C-F00AB5DE9BB8}"/>
              </a:ext>
            </a:extLst>
          </p:cNvPr>
          <p:cNvSpPr txBox="1">
            <a:spLocks noChangeArrowheads="1"/>
          </p:cNvSpPr>
          <p:nvPr/>
        </p:nvSpPr>
        <p:spPr bwMode="auto">
          <a:xfrm>
            <a:off x="1143000" y="0"/>
            <a:ext cx="9869864" cy="523220"/>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800" b="1" dirty="0">
                <a:solidFill>
                  <a:srgbClr val="660066"/>
                </a:solidFill>
                <a:latin typeface="Arial" panose="020B0604020202020204" pitchFamily="34" charset="0"/>
              </a:rPr>
              <a:t>UK balance of payments as a percentage of GDP</a:t>
            </a:r>
          </a:p>
        </p:txBody>
      </p:sp>
      <p:graphicFrame>
        <p:nvGraphicFramePr>
          <p:cNvPr id="5" name="Object 2">
            <a:extLst>
              <a:ext uri="{FF2B5EF4-FFF2-40B4-BE49-F238E27FC236}">
                <a16:creationId xmlns:a16="http://schemas.microsoft.com/office/drawing/2014/main" id="{569C8457-D3B5-3B4A-1526-7403D665CD3F}"/>
              </a:ext>
            </a:extLst>
          </p:cNvPr>
          <p:cNvGraphicFramePr>
            <a:graphicFrameLocks/>
          </p:cNvGraphicFramePr>
          <p:nvPr/>
        </p:nvGraphicFramePr>
        <p:xfrm>
          <a:off x="-1" y="565757"/>
          <a:ext cx="12192001" cy="601760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Box 14">
            <a:extLst>
              <a:ext uri="{FF2B5EF4-FFF2-40B4-BE49-F238E27FC236}">
                <a16:creationId xmlns:a16="http://schemas.microsoft.com/office/drawing/2014/main" id="{42DB05C8-EF1F-0C23-E0B9-3704B046D7D7}"/>
              </a:ext>
            </a:extLst>
          </p:cNvPr>
          <p:cNvSpPr txBox="1">
            <a:spLocks noChangeArrowheads="1"/>
          </p:cNvSpPr>
          <p:nvPr/>
        </p:nvSpPr>
        <p:spPr bwMode="auto">
          <a:xfrm>
            <a:off x="871530" y="6479080"/>
            <a:ext cx="8577264" cy="308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30000"/>
              </a:lnSpc>
            </a:pPr>
            <a:r>
              <a:rPr lang="en-GB" altLang="en-US" sz="1200" i="1" dirty="0">
                <a:solidFill>
                  <a:schemeClr val="tx1">
                    <a:lumMod val="65000"/>
                    <a:lumOff val="35000"/>
                  </a:schemeClr>
                </a:solidFill>
                <a:latin typeface="+mj-lt"/>
              </a:rPr>
              <a:t>Source</a:t>
            </a:r>
            <a:r>
              <a:rPr lang="en-GB" altLang="en-US" sz="1200" dirty="0">
                <a:solidFill>
                  <a:schemeClr val="tx1">
                    <a:lumMod val="65000"/>
                    <a:lumOff val="35000"/>
                  </a:schemeClr>
                </a:solidFill>
                <a:latin typeface="+mj-lt"/>
              </a:rPr>
              <a:t>: Based on data </a:t>
            </a:r>
            <a:r>
              <a:rPr lang="en-GB" sz="1200" dirty="0">
                <a:solidFill>
                  <a:schemeClr val="tx1">
                    <a:lumMod val="65000"/>
                    <a:lumOff val="35000"/>
                  </a:schemeClr>
                </a:solidFill>
                <a:latin typeface="+mj-lt"/>
              </a:rPr>
              <a:t>from </a:t>
            </a:r>
            <a:r>
              <a:rPr lang="en-GB" sz="1200" i="1" u="sng" dirty="0">
                <a:solidFill>
                  <a:schemeClr val="tx1">
                    <a:lumMod val="65000"/>
                    <a:lumOff val="35000"/>
                  </a:schemeClr>
                </a:solidFill>
                <a:latin typeface="+mj-lt"/>
                <a:hlinkClick r:id="rId4">
                  <a:extLst>
                    <a:ext uri="{A12FA001-AC4F-418D-AE19-62706E023703}">
                      <ahyp:hlinkClr xmlns:ahyp="http://schemas.microsoft.com/office/drawing/2018/hyperlinkcolor" val="tx"/>
                    </a:ext>
                  </a:extLst>
                </a:hlinkClick>
              </a:rPr>
              <a:t>Balance of Payments </a:t>
            </a:r>
            <a:r>
              <a:rPr lang="en-GB" sz="1200" u="sng" dirty="0">
                <a:solidFill>
                  <a:schemeClr val="tx1">
                    <a:lumMod val="65000"/>
                    <a:lumOff val="35000"/>
                  </a:schemeClr>
                </a:solidFill>
                <a:latin typeface="+mj-lt"/>
                <a:hlinkClick r:id="rId4">
                  <a:extLst>
                    <a:ext uri="{A12FA001-AC4F-418D-AE19-62706E023703}">
                      <ahyp:hlinkClr xmlns:ahyp="http://schemas.microsoft.com/office/drawing/2018/hyperlinkcolor" val="tx"/>
                    </a:ext>
                  </a:extLst>
                </a:hlinkClick>
              </a:rPr>
              <a:t>time series</a:t>
            </a:r>
            <a:r>
              <a:rPr lang="en-GB" sz="1200" i="1" dirty="0">
                <a:solidFill>
                  <a:schemeClr val="tx1">
                    <a:lumMod val="65000"/>
                    <a:lumOff val="35000"/>
                  </a:schemeClr>
                </a:solidFill>
                <a:latin typeface="+mj-lt"/>
              </a:rPr>
              <a:t> </a:t>
            </a:r>
            <a:r>
              <a:rPr lang="en-GB" sz="1200" dirty="0">
                <a:solidFill>
                  <a:schemeClr val="tx1">
                    <a:lumMod val="65000"/>
                    <a:lumOff val="35000"/>
                  </a:schemeClr>
                </a:solidFill>
                <a:latin typeface="+mj-lt"/>
              </a:rPr>
              <a:t>and series </a:t>
            </a:r>
            <a:r>
              <a:rPr lang="en-GB" sz="1200" u="sng" dirty="0">
                <a:solidFill>
                  <a:schemeClr val="tx1">
                    <a:lumMod val="65000"/>
                    <a:lumOff val="35000"/>
                  </a:schemeClr>
                </a:solidFill>
                <a:latin typeface="+mj-lt"/>
                <a:hlinkClick r:id="rId5">
                  <a:extLst>
                    <a:ext uri="{A12FA001-AC4F-418D-AE19-62706E023703}">
                      <ahyp:hlinkClr xmlns:ahyp="http://schemas.microsoft.com/office/drawing/2018/hyperlinkcolor" val="tx"/>
                    </a:ext>
                  </a:extLst>
                </a:hlinkClick>
              </a:rPr>
              <a:t>YBHA</a:t>
            </a:r>
            <a:r>
              <a:rPr lang="en-GB" sz="1200" dirty="0">
                <a:solidFill>
                  <a:schemeClr val="tx1">
                    <a:lumMod val="65000"/>
                    <a:lumOff val="35000"/>
                  </a:schemeClr>
                </a:solidFill>
                <a:latin typeface="+mj-lt"/>
              </a:rPr>
              <a:t> (ONS)</a:t>
            </a:r>
            <a:endParaRPr lang="en-GB" altLang="en-US" sz="1200" dirty="0">
              <a:solidFill>
                <a:schemeClr val="tx1">
                  <a:lumMod val="65000"/>
                  <a:lumOff val="35000"/>
                </a:schemeClr>
              </a:solidFill>
              <a:latin typeface="+mj-lt"/>
            </a:endParaRPr>
          </a:p>
        </p:txBody>
      </p:sp>
    </p:spTree>
    <p:extLst>
      <p:ext uri="{BB962C8B-B14F-4D97-AF65-F5344CB8AC3E}">
        <p14:creationId xmlns:p14="http://schemas.microsoft.com/office/powerpoint/2010/main" val="174496289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left)">
                                      <p:cBhvr>
                                        <p:cTn id="7" dur="1250"/>
                                        <p:tgtEl>
                                          <p:spTgt spid="5">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left)">
                                      <p:cBhvr>
                                        <p:cTn id="12" dur="1250"/>
                                        <p:tgtEl>
                                          <p:spTgt spid="5">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graphicEl>
                                              <a:chart seriesIdx="2" categoryIdx="-4" bldStep="series"/>
                                            </p:graphicEl>
                                          </p:spTgt>
                                        </p:tgtEl>
                                        <p:attrNameLst>
                                          <p:attrName>style.visibility</p:attrName>
                                        </p:attrNameLst>
                                      </p:cBhvr>
                                      <p:to>
                                        <p:strVal val="visible"/>
                                      </p:to>
                                    </p:set>
                                    <p:animEffect transition="in" filter="wipe(left)">
                                      <p:cBhvr>
                                        <p:cTn id="17" dur="1250"/>
                                        <p:tgtEl>
                                          <p:spTgt spid="5">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graphicEl>
                                              <a:chart seriesIdx="3" categoryIdx="-4" bldStep="series"/>
                                            </p:graphicEl>
                                          </p:spTgt>
                                        </p:tgtEl>
                                        <p:attrNameLst>
                                          <p:attrName>style.visibility</p:attrName>
                                        </p:attrNameLst>
                                      </p:cBhvr>
                                      <p:to>
                                        <p:strVal val="visible"/>
                                      </p:to>
                                    </p:set>
                                    <p:animEffect transition="in" filter="wipe(left)">
                                      <p:cBhvr>
                                        <p:cTn id="22" dur="1250"/>
                                        <p:tgtEl>
                                          <p:spTgt spid="5">
                                            <p:graphicEl>
                                              <a:chart seriesIdx="3"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B9C6-3E73-D5B0-3617-A8D98628A004}"/>
              </a:ext>
            </a:extLst>
          </p:cNvPr>
          <p:cNvSpPr>
            <a:spLocks noGrp="1"/>
          </p:cNvSpPr>
          <p:nvPr>
            <p:ph type="title"/>
          </p:nvPr>
        </p:nvSpPr>
        <p:spPr/>
        <p:txBody>
          <a:bodyPr/>
          <a:lstStyle/>
          <a:p>
            <a:r>
              <a:rPr lang="en-MY" dirty="0"/>
              <a:t>Trade theories</a:t>
            </a:r>
          </a:p>
        </p:txBody>
      </p:sp>
      <p:sp>
        <p:nvSpPr>
          <p:cNvPr id="3" name="Content Placeholder 2">
            <a:extLst>
              <a:ext uri="{FF2B5EF4-FFF2-40B4-BE49-F238E27FC236}">
                <a16:creationId xmlns:a16="http://schemas.microsoft.com/office/drawing/2014/main" id="{42A0DF9A-4061-B123-203B-E4C5826C6CCC}"/>
              </a:ext>
            </a:extLst>
          </p:cNvPr>
          <p:cNvSpPr>
            <a:spLocks noGrp="1"/>
          </p:cNvSpPr>
          <p:nvPr>
            <p:ph idx="1"/>
          </p:nvPr>
        </p:nvSpPr>
        <p:spPr>
          <a:xfrm>
            <a:off x="838200" y="1423255"/>
            <a:ext cx="10515600" cy="4621628"/>
          </a:xfrm>
        </p:spPr>
        <p:txBody>
          <a:bodyPr/>
          <a:lstStyle/>
          <a:p>
            <a:pPr marL="0" indent="0">
              <a:buNone/>
            </a:pPr>
            <a:r>
              <a:rPr lang="en-US" b="1" dirty="0">
                <a:latin typeface="+mn-lt"/>
              </a:rPr>
              <a:t>Why do countries trade goods and services? To understand trade, we explore 2 concepts, absolute advantage and comparative advantage</a:t>
            </a:r>
          </a:p>
          <a:p>
            <a:r>
              <a:rPr lang="en-US" b="1" dirty="0">
                <a:latin typeface="+mn-lt"/>
              </a:rPr>
              <a:t>Absolute advantage</a:t>
            </a:r>
            <a:r>
              <a:rPr lang="en-US" dirty="0">
                <a:latin typeface="+mn-lt"/>
              </a:rPr>
              <a:t> occurs when a country can produce more of a good than another country with similar resources.</a:t>
            </a:r>
          </a:p>
          <a:p>
            <a:r>
              <a:rPr lang="en-US" dirty="0">
                <a:latin typeface="+mn-lt"/>
              </a:rPr>
              <a:t>If Kenya can produce coffee with fewer resources than Canada, Kenya has an absolute advantage in coffee.</a:t>
            </a:r>
          </a:p>
          <a:p>
            <a:r>
              <a:rPr lang="en-US" dirty="0">
                <a:latin typeface="+mn-lt"/>
              </a:rPr>
              <a:t>If Canada can produce cars with fewer resources than Kenya, Canada has an absolute advantage in cars.</a:t>
            </a:r>
          </a:p>
          <a:p>
            <a:r>
              <a:rPr lang="en-US" dirty="0">
                <a:latin typeface="+mn-lt"/>
              </a:rPr>
              <a:t>Both countries will gain if Kenya </a:t>
            </a:r>
            <a:r>
              <a:rPr lang="en-US" dirty="0" err="1">
                <a:latin typeface="+mn-lt"/>
              </a:rPr>
              <a:t>specialises</a:t>
            </a:r>
            <a:r>
              <a:rPr lang="en-US" dirty="0">
                <a:latin typeface="+mn-lt"/>
              </a:rPr>
              <a:t> in the production of coffee and Canada in the production of cars, as the total production of coffee and cars will be at a maximum this way.</a:t>
            </a:r>
          </a:p>
          <a:p>
            <a:endParaRPr lang="en-MY" dirty="0"/>
          </a:p>
        </p:txBody>
      </p:sp>
    </p:spTree>
    <p:extLst>
      <p:ext uri="{BB962C8B-B14F-4D97-AF65-F5344CB8AC3E}">
        <p14:creationId xmlns:p14="http://schemas.microsoft.com/office/powerpoint/2010/main" val="2142791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F3DF83B-11EC-D325-CF5B-58D844E49E18}"/>
              </a:ext>
            </a:extLst>
          </p:cNvPr>
          <p:cNvSpPr>
            <a:spLocks noGrp="1"/>
          </p:cNvSpPr>
          <p:nvPr>
            <p:ph type="title"/>
          </p:nvPr>
        </p:nvSpPr>
        <p:spPr>
          <a:xfrm>
            <a:off x="838200" y="365126"/>
            <a:ext cx="10515600" cy="908198"/>
          </a:xfrm>
        </p:spPr>
        <p:txBody>
          <a:bodyPr/>
          <a:lstStyle/>
          <a:p>
            <a:r>
              <a:rPr lang="en-US" dirty="0"/>
              <a:t>Comparative advantage</a:t>
            </a:r>
          </a:p>
        </p:txBody>
      </p:sp>
      <p:sp>
        <p:nvSpPr>
          <p:cNvPr id="5" name="Rectangle 1">
            <a:extLst>
              <a:ext uri="{FF2B5EF4-FFF2-40B4-BE49-F238E27FC236}">
                <a16:creationId xmlns:a16="http://schemas.microsoft.com/office/drawing/2014/main" id="{FD82A9BF-7FB5-45D0-8877-2842CB418B15}"/>
              </a:ext>
            </a:extLst>
          </p:cNvPr>
          <p:cNvSpPr>
            <a:spLocks noChangeArrowheads="1"/>
          </p:cNvSpPr>
          <p:nvPr/>
        </p:nvSpPr>
        <p:spPr bwMode="auto">
          <a:xfrm>
            <a:off x="6172200" y="1825625"/>
            <a:ext cx="51816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r>
              <a:rPr kumimoji="0" lang="en-US" altLang="en-US" sz="2200" u="none" strike="noStrike" cap="none" normalizeH="0" baseline="0" dirty="0">
                <a:ln>
                  <a:noFill/>
                </a:ln>
                <a:effectLst/>
                <a:latin typeface="+mn-lt"/>
              </a:rPr>
              <a:t>One country may be more efficient in producing all goods than another, but different relative efficiencies mean gains from trade can still be made.</a:t>
            </a:r>
          </a:p>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r>
              <a:rPr kumimoji="0" lang="en-US" altLang="en-US" sz="2200" u="none" strike="noStrike" cap="none" normalizeH="0" baseline="0" dirty="0">
                <a:ln>
                  <a:noFill/>
                </a:ln>
                <a:effectLst/>
                <a:latin typeface="+mn-lt"/>
              </a:rPr>
              <a:t>Two Countries, A and B have the following production data for Tractors and Rice. Each country has 10 resources and devotes half of these resources (5 resources) to each.</a:t>
            </a:r>
          </a:p>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r>
              <a:rPr kumimoji="0" lang="en-US" altLang="en-US" sz="2200" u="none" strike="noStrike" cap="none" normalizeH="0" baseline="0" dirty="0">
                <a:ln>
                  <a:noFill/>
                </a:ln>
                <a:effectLst/>
                <a:latin typeface="+mn-lt"/>
              </a:rPr>
              <a:t>Total production is 150 Tractors and 1750 </a:t>
            </a:r>
            <a:r>
              <a:rPr kumimoji="0" lang="en-US" altLang="en-US" sz="2200" u="none" strike="noStrike" cap="none" normalizeH="0" baseline="0" dirty="0" err="1">
                <a:ln>
                  <a:noFill/>
                </a:ln>
                <a:effectLst/>
                <a:latin typeface="+mn-lt"/>
              </a:rPr>
              <a:t>tonnes</a:t>
            </a:r>
            <a:r>
              <a:rPr kumimoji="0" lang="en-US" altLang="en-US" sz="2200" u="none" strike="noStrike" cap="none" normalizeH="0" baseline="0" dirty="0">
                <a:ln>
                  <a:noFill/>
                </a:ln>
                <a:effectLst/>
                <a:latin typeface="+mn-lt"/>
              </a:rPr>
              <a:t> of Rice.</a:t>
            </a:r>
          </a:p>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endParaRPr kumimoji="0" lang="en-US" altLang="en-US" sz="2200" u="none" strike="noStrike" cap="none" normalizeH="0" baseline="0" dirty="0">
              <a:ln>
                <a:noFill/>
              </a:ln>
              <a:effectLst/>
              <a:latin typeface="Helvetica" pitchFamily="2" charset="0"/>
            </a:endParaRPr>
          </a:p>
        </p:txBody>
      </p:sp>
      <p:graphicFrame>
        <p:nvGraphicFramePr>
          <p:cNvPr id="4" name="Content Placeholder 3">
            <a:extLst>
              <a:ext uri="{FF2B5EF4-FFF2-40B4-BE49-F238E27FC236}">
                <a16:creationId xmlns:a16="http://schemas.microsoft.com/office/drawing/2014/main" id="{157BEAF8-AAF0-D4B3-90A8-5191784FB7F7}"/>
              </a:ext>
            </a:extLst>
          </p:cNvPr>
          <p:cNvGraphicFramePr>
            <a:graphicFrameLocks noGrp="1"/>
          </p:cNvGraphicFramePr>
          <p:nvPr>
            <p:ph sz="half" idx="1"/>
          </p:nvPr>
        </p:nvGraphicFramePr>
        <p:xfrm>
          <a:off x="914399" y="1825625"/>
          <a:ext cx="5181601" cy="2418080"/>
        </p:xfrm>
        <a:graphic>
          <a:graphicData uri="http://schemas.openxmlformats.org/drawingml/2006/table">
            <a:tbl>
              <a:tblPr/>
              <a:tblGrid>
                <a:gridCol w="2087034">
                  <a:extLst>
                    <a:ext uri="{9D8B030D-6E8A-4147-A177-3AD203B41FA5}">
                      <a16:colId xmlns:a16="http://schemas.microsoft.com/office/drawing/2014/main" val="914322316"/>
                    </a:ext>
                  </a:extLst>
                </a:gridCol>
                <a:gridCol w="1907117">
                  <a:extLst>
                    <a:ext uri="{9D8B030D-6E8A-4147-A177-3AD203B41FA5}">
                      <a16:colId xmlns:a16="http://schemas.microsoft.com/office/drawing/2014/main" val="1928202012"/>
                    </a:ext>
                  </a:extLst>
                </a:gridCol>
                <a:gridCol w="1187450">
                  <a:extLst>
                    <a:ext uri="{9D8B030D-6E8A-4147-A177-3AD203B41FA5}">
                      <a16:colId xmlns:a16="http://schemas.microsoft.com/office/drawing/2014/main" val="1484077441"/>
                    </a:ext>
                  </a:extLst>
                </a:gridCol>
              </a:tblGrid>
              <a:tr h="604520">
                <a:tc>
                  <a:txBody>
                    <a:bodyPr/>
                    <a:lstStyle/>
                    <a:p>
                      <a:pPr algn="l" fontAlgn="ctr">
                        <a:buNone/>
                      </a:pPr>
                      <a:endParaRPr lang="en-US"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dirty="0">
                          <a:effectLst/>
                          <a:latin typeface="Arial" panose="020B0604020202020204" pitchFamily="34" charset="0"/>
                        </a:rPr>
                        <a:t>Tractors</a:t>
                      </a:r>
                      <a:endParaRPr lang="en-MY" sz="3200" b="0" i="0" u="none" strike="noStrike" dirty="0">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Rice</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506431331"/>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A</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100</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1000</a:t>
                      </a:r>
                    </a:p>
                  </a:txBody>
                  <a:tcPr marL="26988" marR="26988" marT="26988" marB="26988" anchor="ctr">
                    <a:lnL>
                      <a:noFill/>
                    </a:lnL>
                    <a:lnR>
                      <a:noFill/>
                    </a:lnR>
                    <a:lnT>
                      <a:noFill/>
                    </a:lnT>
                    <a:lnB>
                      <a:noFill/>
                    </a:lnB>
                    <a:noFill/>
                  </a:tcPr>
                </a:tc>
                <a:extLst>
                  <a:ext uri="{0D108BD9-81ED-4DB2-BD59-A6C34878D82A}">
                    <a16:rowId xmlns:a16="http://schemas.microsoft.com/office/drawing/2014/main" val="2280811826"/>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B </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50</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750</a:t>
                      </a:r>
                    </a:p>
                  </a:txBody>
                  <a:tcPr marL="26988" marR="26988" marT="26988" marB="26988" anchor="ctr">
                    <a:lnL>
                      <a:noFill/>
                    </a:lnL>
                    <a:lnR>
                      <a:noFill/>
                    </a:lnR>
                    <a:lnT>
                      <a:noFill/>
                    </a:lnT>
                    <a:lnB>
                      <a:noFill/>
                    </a:lnB>
                    <a:noFill/>
                  </a:tcPr>
                </a:tc>
                <a:extLst>
                  <a:ext uri="{0D108BD9-81ED-4DB2-BD59-A6C34878D82A}">
                    <a16:rowId xmlns:a16="http://schemas.microsoft.com/office/drawing/2014/main" val="1755019569"/>
                  </a:ext>
                </a:extLst>
              </a:tr>
              <a:tr h="604520">
                <a:tc>
                  <a:txBody>
                    <a:bodyPr/>
                    <a:lstStyle/>
                    <a:p>
                      <a:pPr algn="l" fontAlgn="ctr">
                        <a:spcBef>
                          <a:spcPts val="900"/>
                        </a:spcBef>
                        <a:spcAft>
                          <a:spcPts val="900"/>
                        </a:spcAft>
                        <a:buNone/>
                      </a:pPr>
                      <a:r>
                        <a:rPr lang="en-MY" sz="3200" b="1" i="0" u="none" strike="noStrike">
                          <a:effectLst/>
                          <a:latin typeface="Arial" panose="020B0604020202020204" pitchFamily="34" charset="0"/>
                        </a:rPr>
                        <a:t>TOTAL</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150</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dirty="0">
                          <a:effectLst/>
                          <a:latin typeface="Arial" panose="020B0604020202020204" pitchFamily="34" charset="0"/>
                        </a:rPr>
                        <a:t>1750</a:t>
                      </a:r>
                      <a:endParaRPr lang="en-MY" sz="3200" b="0" i="0" u="none" strike="noStrike" dirty="0">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541402351"/>
                  </a:ext>
                </a:extLst>
              </a:tr>
            </a:tbl>
          </a:graphicData>
        </a:graphic>
      </p:graphicFrame>
    </p:spTree>
    <p:extLst>
      <p:ext uri="{BB962C8B-B14F-4D97-AF65-F5344CB8AC3E}">
        <p14:creationId xmlns:p14="http://schemas.microsoft.com/office/powerpoint/2010/main" val="3608582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7C449-E41B-DB43-F976-1ECCBD5FA9A1}"/>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0C79B6B9-3592-4674-D7E9-5ADBA9117E86}"/>
              </a:ext>
            </a:extLst>
          </p:cNvPr>
          <p:cNvSpPr>
            <a:spLocks noGrp="1"/>
          </p:cNvSpPr>
          <p:nvPr>
            <p:ph sz="half" idx="1"/>
          </p:nvPr>
        </p:nvSpPr>
        <p:spPr>
          <a:xfrm>
            <a:off x="838200" y="1571625"/>
            <a:ext cx="5181600" cy="4351338"/>
          </a:xfrm>
          <a:ln>
            <a:solidFill>
              <a:schemeClr val="accent1"/>
            </a:solidFill>
          </a:ln>
        </p:spPr>
        <p:txBody>
          <a:bodyPr>
            <a:normAutofit fontScale="85000" lnSpcReduction="20000"/>
          </a:bodyPr>
          <a:lstStyle/>
          <a:p>
            <a:r>
              <a:rPr lang="en-US" dirty="0">
                <a:latin typeface="+mn-lt"/>
              </a:rPr>
              <a:t>Country A has a greater advantage in Tractors, as it can make twice as many as Country B from the same resources, the advantage is 100:50 or 2:1.</a:t>
            </a:r>
          </a:p>
          <a:p>
            <a:r>
              <a:rPr lang="en-US" dirty="0">
                <a:latin typeface="+mn-lt"/>
              </a:rPr>
              <a:t>Country A also has an advantage in Rice over Country B, this time the advantage is 1000:750 or 1.33:1.</a:t>
            </a:r>
          </a:p>
          <a:p>
            <a:r>
              <a:rPr lang="en-US" dirty="0">
                <a:latin typeface="+mn-lt"/>
              </a:rPr>
              <a:t>Let us now look at domestic opportunity cost ratios.</a:t>
            </a:r>
          </a:p>
          <a:p>
            <a:r>
              <a:rPr lang="en-US" dirty="0">
                <a:latin typeface="+mn-lt"/>
              </a:rPr>
              <a:t>For Country A the ‘cost’ of 1 Tractor is 1000/100 = 10 </a:t>
            </a:r>
            <a:r>
              <a:rPr lang="en-US" dirty="0" err="1">
                <a:latin typeface="+mn-lt"/>
              </a:rPr>
              <a:t>tonnes</a:t>
            </a:r>
            <a:r>
              <a:rPr lang="en-US" dirty="0">
                <a:latin typeface="+mn-lt"/>
              </a:rPr>
              <a:t> of Rice.</a:t>
            </a:r>
          </a:p>
          <a:p>
            <a:r>
              <a:rPr lang="en-US" dirty="0">
                <a:latin typeface="+mn-lt"/>
              </a:rPr>
              <a:t>For Country B the cost of 1 Tractor is 750/50 = 15 </a:t>
            </a:r>
            <a:r>
              <a:rPr lang="en-US" dirty="0" err="1">
                <a:latin typeface="+mn-lt"/>
              </a:rPr>
              <a:t>tonnes</a:t>
            </a:r>
            <a:r>
              <a:rPr lang="en-US" dirty="0">
                <a:latin typeface="+mn-lt"/>
              </a:rPr>
              <a:t> of Rice.</a:t>
            </a:r>
          </a:p>
          <a:p>
            <a:r>
              <a:rPr lang="en-US" dirty="0">
                <a:latin typeface="+mn-lt"/>
              </a:rPr>
              <a:t>For Country A the ‘cost’ of 1 ton of Rice = 100/1000 = one-tenth of a tractor.</a:t>
            </a:r>
          </a:p>
          <a:p>
            <a:endParaRPr lang="en-MY" dirty="0"/>
          </a:p>
        </p:txBody>
      </p:sp>
      <p:sp>
        <p:nvSpPr>
          <p:cNvPr id="4" name="Content Placeholder 3">
            <a:extLst>
              <a:ext uri="{FF2B5EF4-FFF2-40B4-BE49-F238E27FC236}">
                <a16:creationId xmlns:a16="http://schemas.microsoft.com/office/drawing/2014/main" id="{B9DA1389-2ABA-80DF-0FF3-48DB832A970F}"/>
              </a:ext>
            </a:extLst>
          </p:cNvPr>
          <p:cNvSpPr>
            <a:spLocks noGrp="1"/>
          </p:cNvSpPr>
          <p:nvPr>
            <p:ph sz="half" idx="2"/>
          </p:nvPr>
        </p:nvSpPr>
        <p:spPr>
          <a:xfrm>
            <a:off x="6172200" y="1571625"/>
            <a:ext cx="5181600" cy="4351338"/>
          </a:xfrm>
          <a:ln>
            <a:solidFill>
              <a:schemeClr val="accent1"/>
            </a:solidFill>
          </a:ln>
        </p:spPr>
        <p:txBody>
          <a:bodyPr>
            <a:normAutofit fontScale="85000" lnSpcReduction="20000"/>
          </a:bodyPr>
          <a:lstStyle/>
          <a:p>
            <a:r>
              <a:rPr lang="en-US" dirty="0">
                <a:latin typeface="+mn-lt"/>
              </a:rPr>
              <a:t>For Country B the ‘cost’ of 1 ton of Rice = 50/750 = one-fifteenth of a tractor.</a:t>
            </a:r>
          </a:p>
          <a:p>
            <a:r>
              <a:rPr lang="en-US" dirty="0">
                <a:latin typeface="+mn-lt"/>
              </a:rPr>
              <a:t>In terms of the </a:t>
            </a:r>
            <a:r>
              <a:rPr lang="en-US" b="1" dirty="0">
                <a:latin typeface="+mn-lt"/>
              </a:rPr>
              <a:t>opportunity cost</a:t>
            </a:r>
            <a:r>
              <a:rPr lang="en-US" dirty="0">
                <a:latin typeface="+mn-lt"/>
              </a:rPr>
              <a:t> (the amount of tractors given up for one ton of Rice), Rice is cheaper in Country B than in Country A.</a:t>
            </a:r>
          </a:p>
          <a:p>
            <a:r>
              <a:rPr lang="en-US" dirty="0">
                <a:latin typeface="+mn-lt"/>
              </a:rPr>
              <a:t>Country B therefore has a </a:t>
            </a:r>
            <a:r>
              <a:rPr lang="en-US" b="1" dirty="0">
                <a:latin typeface="+mn-lt"/>
              </a:rPr>
              <a:t>comparative advantage</a:t>
            </a:r>
            <a:r>
              <a:rPr lang="en-US" dirty="0">
                <a:latin typeface="+mn-lt"/>
              </a:rPr>
              <a:t> in Rice.</a:t>
            </a:r>
          </a:p>
          <a:p>
            <a:r>
              <a:rPr lang="en-US" dirty="0">
                <a:latin typeface="+mn-lt"/>
              </a:rPr>
              <a:t>Country A and Country B may trade based on this comparative advantage. What happens if each country ‘</a:t>
            </a:r>
            <a:r>
              <a:rPr lang="en-US" dirty="0" err="1">
                <a:latin typeface="+mn-lt"/>
              </a:rPr>
              <a:t>specialises</a:t>
            </a:r>
            <a:r>
              <a:rPr lang="en-US" dirty="0">
                <a:latin typeface="+mn-lt"/>
              </a:rPr>
              <a:t>’ so that Country A produces Tractors and Country B Rice?</a:t>
            </a:r>
          </a:p>
          <a:p>
            <a:endParaRPr lang="en-MY" dirty="0"/>
          </a:p>
        </p:txBody>
      </p:sp>
    </p:spTree>
    <p:extLst>
      <p:ext uri="{BB962C8B-B14F-4D97-AF65-F5344CB8AC3E}">
        <p14:creationId xmlns:p14="http://schemas.microsoft.com/office/powerpoint/2010/main" val="2819239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AB2A2CE-7FC7-7004-4B8B-0EDE02191DA6}"/>
              </a:ext>
            </a:extLst>
          </p:cNvPr>
          <p:cNvSpPr>
            <a:spLocks noGrp="1"/>
          </p:cNvSpPr>
          <p:nvPr>
            <p:ph type="title"/>
          </p:nvPr>
        </p:nvSpPr>
        <p:spPr>
          <a:xfrm>
            <a:off x="838200" y="365126"/>
            <a:ext cx="10515600" cy="908198"/>
          </a:xfrm>
        </p:spPr>
        <p:txBody>
          <a:bodyPr/>
          <a:lstStyle/>
          <a:p>
            <a:endParaRPr lang="en-US"/>
          </a:p>
        </p:txBody>
      </p:sp>
      <p:sp>
        <p:nvSpPr>
          <p:cNvPr id="6" name="Rectangle 1">
            <a:extLst>
              <a:ext uri="{FF2B5EF4-FFF2-40B4-BE49-F238E27FC236}">
                <a16:creationId xmlns:a16="http://schemas.microsoft.com/office/drawing/2014/main" id="{8A4706F5-50DF-5F3B-7E0A-15905A6F886F}"/>
              </a:ext>
            </a:extLst>
          </p:cNvPr>
          <p:cNvSpPr>
            <a:spLocks noChangeArrowheads="1"/>
          </p:cNvSpPr>
          <p:nvPr/>
        </p:nvSpPr>
        <p:spPr bwMode="auto">
          <a:xfrm>
            <a:off x="6172200" y="1825625"/>
            <a:ext cx="51816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28600" marR="0" lvl="0" indent="-228600" fontAlgn="base">
              <a:lnSpc>
                <a:spcPct val="90000"/>
              </a:lnSpc>
              <a:spcBef>
                <a:spcPts val="1000"/>
              </a:spcBef>
              <a:spcAft>
                <a:spcPct val="0"/>
              </a:spcAft>
              <a:buClrTx/>
              <a:buSzTx/>
              <a:buFont typeface="Arial" panose="020B0604020202020204" pitchFamily="34" charset="0"/>
              <a:buChar char="•"/>
              <a:tabLst/>
            </a:pPr>
            <a:r>
              <a:rPr kumimoji="0" lang="en-US" altLang="en-US" sz="2400" u="none" strike="noStrike" cap="none" normalizeH="0" baseline="0" dirty="0">
                <a:ln>
                  <a:noFill/>
                </a:ln>
                <a:effectLst/>
              </a:rPr>
              <a:t>Country A would be able to produce 200 tractors which is an increase of 50 over the original total for both countries. But Country B will only be able to produce 1500 </a:t>
            </a:r>
            <a:r>
              <a:rPr kumimoji="0" lang="en-US" altLang="en-US" sz="2400" u="none" strike="noStrike" cap="none" normalizeH="0" baseline="0" dirty="0" err="1">
                <a:ln>
                  <a:noFill/>
                </a:ln>
                <a:effectLst/>
              </a:rPr>
              <a:t>tonnes</a:t>
            </a:r>
            <a:r>
              <a:rPr kumimoji="0" lang="en-US" altLang="en-US" sz="2400" u="none" strike="noStrike" cap="none" normalizeH="0" baseline="0" dirty="0">
                <a:ln>
                  <a:noFill/>
                </a:ln>
                <a:effectLst/>
              </a:rPr>
              <a:t> of Rice. This is a reduction in Rice production and therefore not a great solution!</a:t>
            </a:r>
          </a:p>
        </p:txBody>
      </p:sp>
      <p:graphicFrame>
        <p:nvGraphicFramePr>
          <p:cNvPr id="5" name="Content Placeholder 4">
            <a:extLst>
              <a:ext uri="{FF2B5EF4-FFF2-40B4-BE49-F238E27FC236}">
                <a16:creationId xmlns:a16="http://schemas.microsoft.com/office/drawing/2014/main" id="{0CF2C518-DF18-C3B0-2D4D-851164857383}"/>
              </a:ext>
            </a:extLst>
          </p:cNvPr>
          <p:cNvGraphicFramePr>
            <a:graphicFrameLocks noGrp="1"/>
          </p:cNvGraphicFramePr>
          <p:nvPr>
            <p:ph sz="half" idx="1"/>
          </p:nvPr>
        </p:nvGraphicFramePr>
        <p:xfrm>
          <a:off x="838200" y="1825625"/>
          <a:ext cx="5181601" cy="2418080"/>
        </p:xfrm>
        <a:graphic>
          <a:graphicData uri="http://schemas.openxmlformats.org/drawingml/2006/table">
            <a:tbl>
              <a:tblPr/>
              <a:tblGrid>
                <a:gridCol w="2087034">
                  <a:extLst>
                    <a:ext uri="{9D8B030D-6E8A-4147-A177-3AD203B41FA5}">
                      <a16:colId xmlns:a16="http://schemas.microsoft.com/office/drawing/2014/main" val="1046485237"/>
                    </a:ext>
                  </a:extLst>
                </a:gridCol>
                <a:gridCol w="1907117">
                  <a:extLst>
                    <a:ext uri="{9D8B030D-6E8A-4147-A177-3AD203B41FA5}">
                      <a16:colId xmlns:a16="http://schemas.microsoft.com/office/drawing/2014/main" val="1952080981"/>
                    </a:ext>
                  </a:extLst>
                </a:gridCol>
                <a:gridCol w="1187450">
                  <a:extLst>
                    <a:ext uri="{9D8B030D-6E8A-4147-A177-3AD203B41FA5}">
                      <a16:colId xmlns:a16="http://schemas.microsoft.com/office/drawing/2014/main" val="4059910187"/>
                    </a:ext>
                  </a:extLst>
                </a:gridCol>
              </a:tblGrid>
              <a:tr h="604520">
                <a:tc>
                  <a:txBody>
                    <a:bodyPr/>
                    <a:lstStyle/>
                    <a:p>
                      <a:pPr algn="l" fontAlgn="ctr">
                        <a:buNone/>
                      </a:pPr>
                      <a:endParaRPr lang="en-US"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Tractors</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Rice</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4127362178"/>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A</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200 </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dirty="0">
                          <a:effectLst/>
                          <a:latin typeface="Arial" panose="020B0604020202020204" pitchFamily="34" charset="0"/>
                        </a:rPr>
                        <a:t>0</a:t>
                      </a:r>
                    </a:p>
                  </a:txBody>
                  <a:tcPr marL="26988" marR="26988" marT="26988" marB="26988" anchor="ctr">
                    <a:lnL>
                      <a:noFill/>
                    </a:lnL>
                    <a:lnR>
                      <a:noFill/>
                    </a:lnR>
                    <a:lnT>
                      <a:noFill/>
                    </a:lnT>
                    <a:lnB>
                      <a:noFill/>
                    </a:lnB>
                    <a:noFill/>
                  </a:tcPr>
                </a:tc>
                <a:extLst>
                  <a:ext uri="{0D108BD9-81ED-4DB2-BD59-A6C34878D82A}">
                    <a16:rowId xmlns:a16="http://schemas.microsoft.com/office/drawing/2014/main" val="1665915107"/>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B </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0</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1500</a:t>
                      </a:r>
                    </a:p>
                  </a:txBody>
                  <a:tcPr marL="26988" marR="26988" marT="26988" marB="26988" anchor="ctr">
                    <a:lnL>
                      <a:noFill/>
                    </a:lnL>
                    <a:lnR>
                      <a:noFill/>
                    </a:lnR>
                    <a:lnT>
                      <a:noFill/>
                    </a:lnT>
                    <a:lnB>
                      <a:noFill/>
                    </a:lnB>
                    <a:noFill/>
                  </a:tcPr>
                </a:tc>
                <a:extLst>
                  <a:ext uri="{0D108BD9-81ED-4DB2-BD59-A6C34878D82A}">
                    <a16:rowId xmlns:a16="http://schemas.microsoft.com/office/drawing/2014/main" val="1302429267"/>
                  </a:ext>
                </a:extLst>
              </a:tr>
              <a:tr h="604520">
                <a:tc>
                  <a:txBody>
                    <a:bodyPr/>
                    <a:lstStyle/>
                    <a:p>
                      <a:pPr algn="l" fontAlgn="ctr">
                        <a:spcBef>
                          <a:spcPts val="900"/>
                        </a:spcBef>
                        <a:spcAft>
                          <a:spcPts val="900"/>
                        </a:spcAft>
                        <a:buNone/>
                      </a:pPr>
                      <a:r>
                        <a:rPr lang="en-MY" sz="3200" b="1" i="0" u="none" strike="noStrike">
                          <a:effectLst/>
                          <a:latin typeface="Arial" panose="020B0604020202020204" pitchFamily="34" charset="0"/>
                        </a:rPr>
                        <a:t>TOTAL</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200</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dirty="0">
                          <a:effectLst/>
                          <a:latin typeface="Arial" panose="020B0604020202020204" pitchFamily="34" charset="0"/>
                        </a:rPr>
                        <a:t>1500</a:t>
                      </a:r>
                      <a:endParaRPr lang="en-MY" sz="3200" b="0" i="0" u="none" strike="noStrike" dirty="0">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2213039461"/>
                  </a:ext>
                </a:extLst>
              </a:tr>
            </a:tbl>
          </a:graphicData>
        </a:graphic>
      </p:graphicFrame>
    </p:spTree>
    <p:extLst>
      <p:ext uri="{BB962C8B-B14F-4D97-AF65-F5344CB8AC3E}">
        <p14:creationId xmlns:p14="http://schemas.microsoft.com/office/powerpoint/2010/main" val="3690311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4221900-F6D4-71B7-5371-854307DA1E1E}"/>
              </a:ext>
            </a:extLst>
          </p:cNvPr>
          <p:cNvSpPr>
            <a:spLocks noGrp="1"/>
          </p:cNvSpPr>
          <p:nvPr>
            <p:ph type="title"/>
          </p:nvPr>
        </p:nvSpPr>
        <p:spPr>
          <a:xfrm>
            <a:off x="838200" y="365126"/>
            <a:ext cx="10515600" cy="908198"/>
          </a:xfrm>
        </p:spPr>
        <p:txBody>
          <a:bodyPr/>
          <a:lstStyle/>
          <a:p>
            <a:r>
              <a:rPr lang="en-US" dirty="0"/>
              <a:t>Gains from trade</a:t>
            </a:r>
          </a:p>
        </p:txBody>
      </p:sp>
      <p:sp>
        <p:nvSpPr>
          <p:cNvPr id="6" name="Rectangle 1">
            <a:extLst>
              <a:ext uri="{FF2B5EF4-FFF2-40B4-BE49-F238E27FC236}">
                <a16:creationId xmlns:a16="http://schemas.microsoft.com/office/drawing/2014/main" id="{9268AF90-B0AE-882D-F91E-B2E8DBA62BC7}"/>
              </a:ext>
            </a:extLst>
          </p:cNvPr>
          <p:cNvSpPr>
            <a:spLocks noChangeArrowheads="1"/>
          </p:cNvSpPr>
          <p:nvPr/>
        </p:nvSpPr>
        <p:spPr bwMode="auto">
          <a:xfrm>
            <a:off x="6172200" y="1825625"/>
            <a:ext cx="5181600" cy="4351338"/>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r>
              <a:rPr kumimoji="0" lang="en-US" altLang="en-US" sz="2400" u="none" strike="noStrike" cap="none" normalizeH="0" baseline="0" dirty="0">
                <a:ln>
                  <a:noFill/>
                </a:ln>
                <a:effectLst/>
                <a:latin typeface="+mn-lt"/>
              </a:rPr>
              <a:t>By only partially </a:t>
            </a:r>
            <a:r>
              <a:rPr kumimoji="0" lang="en-US" altLang="en-US" sz="2400" u="none" strike="noStrike" cap="none" normalizeH="0" baseline="0" dirty="0" err="1">
                <a:ln>
                  <a:noFill/>
                </a:ln>
                <a:effectLst/>
                <a:latin typeface="+mn-lt"/>
              </a:rPr>
              <a:t>specialising</a:t>
            </a:r>
            <a:r>
              <a:rPr kumimoji="0" lang="en-US" altLang="en-US" sz="2400" u="none" strike="noStrike" cap="none" normalizeH="0" baseline="0" dirty="0">
                <a:ln>
                  <a:noFill/>
                </a:ln>
                <a:effectLst/>
                <a:latin typeface="+mn-lt"/>
              </a:rPr>
              <a:t> Country A, the more efficient country can have more of ‘both goods’ if for example Country A devotes 8 resources to tractors and 2 to Rice while Country B </a:t>
            </a:r>
            <a:r>
              <a:rPr kumimoji="0" lang="en-US" altLang="en-US" sz="2400" u="none" strike="noStrike" cap="none" normalizeH="0" baseline="0" dirty="0" err="1">
                <a:ln>
                  <a:noFill/>
                </a:ln>
                <a:effectLst/>
                <a:latin typeface="+mn-lt"/>
              </a:rPr>
              <a:t>specialises</a:t>
            </a:r>
            <a:r>
              <a:rPr kumimoji="0" lang="en-US" altLang="en-US" sz="2400" u="none" strike="noStrike" cap="none" normalizeH="0" baseline="0" dirty="0">
                <a:ln>
                  <a:noFill/>
                </a:ln>
                <a:effectLst/>
                <a:latin typeface="+mn-lt"/>
              </a:rPr>
              <a:t> fully in Rice:</a:t>
            </a:r>
          </a:p>
          <a:p>
            <a:pPr marR="0" lvl="0" eaLnBrk="1" fontAlgn="base" hangingPunct="1">
              <a:lnSpc>
                <a:spcPct val="90000"/>
              </a:lnSpc>
              <a:spcBef>
                <a:spcPts val="1000"/>
              </a:spcBef>
              <a:spcAft>
                <a:spcPct val="0"/>
              </a:spcAft>
              <a:buClrTx/>
              <a:buSzTx/>
              <a:tabLst/>
            </a:pPr>
            <a:endParaRPr kumimoji="0" lang="en-US" altLang="en-US" sz="2400" u="none" strike="noStrike" cap="none" normalizeH="0" baseline="0" dirty="0">
              <a:ln>
                <a:noFill/>
              </a:ln>
              <a:effectLst/>
              <a:latin typeface="+mn-lt"/>
            </a:endParaRPr>
          </a:p>
          <a:p>
            <a:pPr marL="228600" marR="0" lvl="0" indent="-228600" eaLnBrk="1" fontAlgn="base" hangingPunct="1">
              <a:lnSpc>
                <a:spcPct val="90000"/>
              </a:lnSpc>
              <a:spcBef>
                <a:spcPts val="1000"/>
              </a:spcBef>
              <a:spcAft>
                <a:spcPct val="0"/>
              </a:spcAft>
              <a:buClrTx/>
              <a:buSzTx/>
              <a:buFont typeface="Arial" panose="020B0604020202020204" pitchFamily="34" charset="0"/>
              <a:buChar char="•"/>
              <a:tabLst/>
            </a:pPr>
            <a:r>
              <a:rPr kumimoji="0" lang="en-US" altLang="en-US" sz="2400" u="none" strike="noStrike" cap="none" normalizeH="0" baseline="0" dirty="0">
                <a:ln>
                  <a:noFill/>
                </a:ln>
                <a:effectLst/>
                <a:latin typeface="+mn-lt"/>
              </a:rPr>
              <a:t>We now have an increased total of both Tractors and Rice. We have a gain from trade!</a:t>
            </a:r>
          </a:p>
        </p:txBody>
      </p:sp>
      <p:graphicFrame>
        <p:nvGraphicFramePr>
          <p:cNvPr id="5" name="Content Placeholder 4">
            <a:extLst>
              <a:ext uri="{FF2B5EF4-FFF2-40B4-BE49-F238E27FC236}">
                <a16:creationId xmlns:a16="http://schemas.microsoft.com/office/drawing/2014/main" id="{9BB40301-98B0-03FE-E2A5-CB006A9849E2}"/>
              </a:ext>
            </a:extLst>
          </p:cNvPr>
          <p:cNvGraphicFramePr>
            <a:graphicFrameLocks noGrp="1"/>
          </p:cNvGraphicFramePr>
          <p:nvPr>
            <p:ph sz="half" idx="1"/>
          </p:nvPr>
        </p:nvGraphicFramePr>
        <p:xfrm>
          <a:off x="914399" y="1974672"/>
          <a:ext cx="5181601" cy="2418080"/>
        </p:xfrm>
        <a:graphic>
          <a:graphicData uri="http://schemas.openxmlformats.org/drawingml/2006/table">
            <a:tbl>
              <a:tblPr/>
              <a:tblGrid>
                <a:gridCol w="2087034">
                  <a:extLst>
                    <a:ext uri="{9D8B030D-6E8A-4147-A177-3AD203B41FA5}">
                      <a16:colId xmlns:a16="http://schemas.microsoft.com/office/drawing/2014/main" val="2993481300"/>
                    </a:ext>
                  </a:extLst>
                </a:gridCol>
                <a:gridCol w="1907117">
                  <a:extLst>
                    <a:ext uri="{9D8B030D-6E8A-4147-A177-3AD203B41FA5}">
                      <a16:colId xmlns:a16="http://schemas.microsoft.com/office/drawing/2014/main" val="3556747111"/>
                    </a:ext>
                  </a:extLst>
                </a:gridCol>
                <a:gridCol w="1187450">
                  <a:extLst>
                    <a:ext uri="{9D8B030D-6E8A-4147-A177-3AD203B41FA5}">
                      <a16:colId xmlns:a16="http://schemas.microsoft.com/office/drawing/2014/main" val="78694109"/>
                    </a:ext>
                  </a:extLst>
                </a:gridCol>
              </a:tblGrid>
              <a:tr h="604520">
                <a:tc>
                  <a:txBody>
                    <a:bodyPr/>
                    <a:lstStyle/>
                    <a:p>
                      <a:pPr algn="l" fontAlgn="ctr">
                        <a:buNone/>
                      </a:pPr>
                      <a:endParaRPr lang="en-US"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Tractors</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Rice</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3886666971"/>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A</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160 </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400</a:t>
                      </a:r>
                    </a:p>
                  </a:txBody>
                  <a:tcPr marL="26988" marR="26988" marT="26988" marB="26988" anchor="ctr">
                    <a:lnL>
                      <a:noFill/>
                    </a:lnL>
                    <a:lnR>
                      <a:noFill/>
                    </a:lnR>
                    <a:lnT>
                      <a:noFill/>
                    </a:lnT>
                    <a:lnB>
                      <a:noFill/>
                    </a:lnB>
                    <a:noFill/>
                  </a:tcPr>
                </a:tc>
                <a:extLst>
                  <a:ext uri="{0D108BD9-81ED-4DB2-BD59-A6C34878D82A}">
                    <a16:rowId xmlns:a16="http://schemas.microsoft.com/office/drawing/2014/main" val="2477662955"/>
                  </a:ext>
                </a:extLst>
              </a:tr>
              <a:tr h="604520">
                <a:tc>
                  <a:txBody>
                    <a:bodyPr/>
                    <a:lstStyle/>
                    <a:p>
                      <a:pPr algn="l" fontAlgn="ctr">
                        <a:spcBef>
                          <a:spcPts val="900"/>
                        </a:spcBef>
                        <a:spcAft>
                          <a:spcPts val="900"/>
                        </a:spcAft>
                        <a:buNone/>
                      </a:pPr>
                      <a:r>
                        <a:rPr lang="en-MY" sz="3200" b="0" i="0" u="none" strike="noStrike">
                          <a:effectLst/>
                          <a:latin typeface="Arial" panose="020B0604020202020204" pitchFamily="34" charset="0"/>
                        </a:rPr>
                        <a:t>Country B </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0</a:t>
                      </a: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0" i="0" u="none" strike="noStrike">
                          <a:effectLst/>
                          <a:latin typeface="Arial" panose="020B0604020202020204" pitchFamily="34" charset="0"/>
                        </a:rPr>
                        <a:t>1500</a:t>
                      </a:r>
                    </a:p>
                  </a:txBody>
                  <a:tcPr marL="26988" marR="26988" marT="26988" marB="26988" anchor="ctr">
                    <a:lnL>
                      <a:noFill/>
                    </a:lnL>
                    <a:lnR>
                      <a:noFill/>
                    </a:lnR>
                    <a:lnT>
                      <a:noFill/>
                    </a:lnT>
                    <a:lnB>
                      <a:noFill/>
                    </a:lnB>
                    <a:noFill/>
                  </a:tcPr>
                </a:tc>
                <a:extLst>
                  <a:ext uri="{0D108BD9-81ED-4DB2-BD59-A6C34878D82A}">
                    <a16:rowId xmlns:a16="http://schemas.microsoft.com/office/drawing/2014/main" val="1991128448"/>
                  </a:ext>
                </a:extLst>
              </a:tr>
              <a:tr h="604520">
                <a:tc>
                  <a:txBody>
                    <a:bodyPr/>
                    <a:lstStyle/>
                    <a:p>
                      <a:pPr algn="l" fontAlgn="ctr">
                        <a:spcBef>
                          <a:spcPts val="900"/>
                        </a:spcBef>
                        <a:spcAft>
                          <a:spcPts val="900"/>
                        </a:spcAft>
                        <a:buNone/>
                      </a:pPr>
                      <a:r>
                        <a:rPr lang="en-MY" sz="3200" b="1" i="0" u="none" strike="noStrike">
                          <a:effectLst/>
                          <a:latin typeface="Arial" panose="020B0604020202020204" pitchFamily="34" charset="0"/>
                        </a:rPr>
                        <a:t>TOTAL</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a:effectLst/>
                          <a:latin typeface="Arial" panose="020B0604020202020204" pitchFamily="34" charset="0"/>
                        </a:rPr>
                        <a:t>160</a:t>
                      </a:r>
                      <a:endParaRPr lang="en-MY" sz="3200" b="0" i="0" u="none" strike="noStrike">
                        <a:effectLst/>
                        <a:latin typeface="Arial" panose="020B0604020202020204" pitchFamily="34" charset="0"/>
                      </a:endParaRPr>
                    </a:p>
                  </a:txBody>
                  <a:tcPr marL="26988" marR="26988" marT="26988" marB="26988" anchor="ctr">
                    <a:lnL>
                      <a:noFill/>
                    </a:lnL>
                    <a:lnR>
                      <a:noFill/>
                    </a:lnR>
                    <a:lnT>
                      <a:noFill/>
                    </a:lnT>
                    <a:lnB>
                      <a:noFill/>
                    </a:lnB>
                    <a:noFill/>
                  </a:tcPr>
                </a:tc>
                <a:tc>
                  <a:txBody>
                    <a:bodyPr/>
                    <a:lstStyle/>
                    <a:p>
                      <a:pPr algn="l" fontAlgn="ctr">
                        <a:spcBef>
                          <a:spcPts val="900"/>
                        </a:spcBef>
                        <a:spcAft>
                          <a:spcPts val="900"/>
                        </a:spcAft>
                        <a:buNone/>
                      </a:pPr>
                      <a:r>
                        <a:rPr lang="en-MY" sz="3200" b="1" i="0" u="none" strike="noStrike" dirty="0">
                          <a:effectLst/>
                          <a:latin typeface="Arial" panose="020B0604020202020204" pitchFamily="34" charset="0"/>
                        </a:rPr>
                        <a:t>1900</a:t>
                      </a:r>
                      <a:endParaRPr lang="en-MY" sz="3200" b="0" i="0" u="none" strike="noStrike" dirty="0">
                        <a:effectLst/>
                        <a:latin typeface="Arial" panose="020B0604020202020204" pitchFamily="34" charset="0"/>
                      </a:endParaRPr>
                    </a:p>
                  </a:txBody>
                  <a:tcPr marL="26988" marR="26988" marT="26988" marB="26988" anchor="ctr">
                    <a:lnL>
                      <a:noFill/>
                    </a:lnL>
                    <a:lnR>
                      <a:noFill/>
                    </a:lnR>
                    <a:lnT>
                      <a:noFill/>
                    </a:lnT>
                    <a:lnB>
                      <a:noFill/>
                    </a:lnB>
                    <a:noFill/>
                  </a:tcPr>
                </a:tc>
                <a:extLst>
                  <a:ext uri="{0D108BD9-81ED-4DB2-BD59-A6C34878D82A}">
                    <a16:rowId xmlns:a16="http://schemas.microsoft.com/office/drawing/2014/main" val="3077777047"/>
                  </a:ext>
                </a:extLst>
              </a:tr>
            </a:tbl>
          </a:graphicData>
        </a:graphic>
      </p:graphicFrame>
    </p:spTree>
    <p:extLst>
      <p:ext uri="{BB962C8B-B14F-4D97-AF65-F5344CB8AC3E}">
        <p14:creationId xmlns:p14="http://schemas.microsoft.com/office/powerpoint/2010/main" val="1290077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6290" name="Rectangle 2">
            <a:extLst>
              <a:ext uri="{FF2B5EF4-FFF2-40B4-BE49-F238E27FC236}">
                <a16:creationId xmlns:a16="http://schemas.microsoft.com/office/drawing/2014/main" id="{BF6FAE8C-853D-49B9-A259-6D43F348D00D}"/>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1" name="Rectangle 3">
            <a:extLst>
              <a:ext uri="{FF2B5EF4-FFF2-40B4-BE49-F238E27FC236}">
                <a16:creationId xmlns:a16="http://schemas.microsoft.com/office/drawing/2014/main" id="{D7FC37B5-0499-4342-9F8C-F1171A65AB6E}"/>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96292" name="Rectangle 4">
            <a:extLst>
              <a:ext uri="{FF2B5EF4-FFF2-40B4-BE49-F238E27FC236}">
                <a16:creationId xmlns:a16="http://schemas.microsoft.com/office/drawing/2014/main" id="{F2E99D91-776E-421C-BAB7-AC075D4814A8}"/>
              </a:ext>
            </a:extLst>
          </p:cNvPr>
          <p:cNvSpPr>
            <a:spLocks noGrp="1"/>
          </p:cNvSpPr>
          <p:nvPr>
            <p:ph type="title"/>
          </p:nvPr>
        </p:nvSpPr>
        <p:spPr/>
        <p:txBody>
          <a:bodyPr/>
          <a:lstStyle/>
          <a:p>
            <a:r>
              <a:rPr lang="en-GB" altLang="en-US"/>
              <a:t>Exchange Rates</a:t>
            </a:r>
          </a:p>
        </p:txBody>
      </p:sp>
      <p:sp>
        <p:nvSpPr>
          <p:cNvPr id="396293" name="Rectangle 5">
            <a:extLst>
              <a:ext uri="{FF2B5EF4-FFF2-40B4-BE49-F238E27FC236}">
                <a16:creationId xmlns:a16="http://schemas.microsoft.com/office/drawing/2014/main" id="{06493314-9644-4DF7-B32B-B10D822321FB}"/>
              </a:ext>
            </a:extLst>
          </p:cNvPr>
          <p:cNvSpPr>
            <a:spLocks noGrp="1"/>
          </p:cNvSpPr>
          <p:nvPr>
            <p:ph sz="quarter" idx="1"/>
          </p:nvPr>
        </p:nvSpPr>
        <p:spPr>
          <a:xfrm>
            <a:off x="402167" y="1358900"/>
            <a:ext cx="11379200" cy="4889500"/>
          </a:xfrm>
        </p:spPr>
        <p:txBody>
          <a:bodyPr/>
          <a:lstStyle/>
          <a:p>
            <a:pPr>
              <a:spcBef>
                <a:spcPts val="600"/>
              </a:spcBef>
            </a:pPr>
            <a:r>
              <a:rPr lang="en-GB" altLang="en-US" dirty="0">
                <a:latin typeface="+mn-lt"/>
              </a:rPr>
              <a:t>The rate of exchange: how much of one currency required to purchase a unit of another currency</a:t>
            </a:r>
          </a:p>
          <a:p>
            <a:pPr lvl="1">
              <a:spcBef>
                <a:spcPts val="600"/>
              </a:spcBef>
            </a:pPr>
            <a:r>
              <a:rPr lang="en-GB" altLang="en-US" dirty="0">
                <a:latin typeface="+mn-lt"/>
              </a:rPr>
              <a:t>e.g. the number of ringgit required to purchase a pound (about 6))</a:t>
            </a:r>
          </a:p>
          <a:p>
            <a:pPr lvl="2">
              <a:spcBef>
                <a:spcPts val="600"/>
              </a:spcBef>
            </a:pPr>
            <a:r>
              <a:rPr lang="en-GB" altLang="en-US" dirty="0">
                <a:latin typeface="+mn-lt"/>
              </a:rPr>
              <a:t>In most countries, units of home currency per unit of foreign currency</a:t>
            </a:r>
          </a:p>
          <a:p>
            <a:pPr lvl="2">
              <a:spcBef>
                <a:spcPts val="600"/>
              </a:spcBef>
            </a:pPr>
            <a:r>
              <a:rPr lang="en-GB" altLang="en-US" dirty="0">
                <a:latin typeface="+mn-lt"/>
              </a:rPr>
              <a:t>But in UK units of foreign currency per pound</a:t>
            </a:r>
          </a:p>
          <a:p>
            <a:pPr>
              <a:spcBef>
                <a:spcPts val="600"/>
              </a:spcBef>
            </a:pPr>
            <a:r>
              <a:rPr lang="en-GB" altLang="en-US" dirty="0">
                <a:latin typeface="+mn-lt"/>
              </a:rPr>
              <a:t>Use foreign currency to make purchases, but also in trading</a:t>
            </a:r>
          </a:p>
          <a:p>
            <a:pPr lvl="1">
              <a:spcBef>
                <a:spcPts val="600"/>
              </a:spcBef>
            </a:pPr>
            <a:r>
              <a:rPr lang="en-GB" altLang="en-US" dirty="0">
                <a:latin typeface="+mn-lt"/>
              </a:rPr>
              <a:t>Individual rates of exchange between pairs of currency driven by trading activity in short run</a:t>
            </a:r>
          </a:p>
          <a:p>
            <a:pPr lvl="1">
              <a:spcBef>
                <a:spcPts val="600"/>
              </a:spcBef>
            </a:pPr>
            <a:r>
              <a:rPr lang="en-GB" altLang="en-US" dirty="0">
                <a:latin typeface="+mn-lt"/>
              </a:rPr>
              <a:t>Distinguish nominal exchange rates – based on trading from </a:t>
            </a:r>
            <a:r>
              <a:rPr lang="en-GB" altLang="en-US" i="1" dirty="0">
                <a:latin typeface="+mn-lt"/>
              </a:rPr>
              <a:t>real</a:t>
            </a:r>
            <a:r>
              <a:rPr lang="en-GB" altLang="en-US" dirty="0">
                <a:latin typeface="+mn-lt"/>
              </a:rPr>
              <a:t> rates</a:t>
            </a:r>
          </a:p>
          <a:p>
            <a:pPr lvl="2">
              <a:spcBef>
                <a:spcPts val="600"/>
              </a:spcBef>
            </a:pPr>
            <a:r>
              <a:rPr lang="en-GB" altLang="en-US" dirty="0">
                <a:latin typeface="+mn-lt"/>
              </a:rPr>
              <a:t>Based on terms of trade – ratio of price levels for exports and imports</a:t>
            </a:r>
          </a:p>
          <a:p>
            <a:pPr lvl="2">
              <a:spcBef>
                <a:spcPts val="600"/>
              </a:spcBef>
            </a:pPr>
            <a:r>
              <a:rPr lang="en-GB" altLang="en-US" dirty="0">
                <a:latin typeface="+mn-lt"/>
              </a:rPr>
              <a:t>Country with low inflation benefits from improving terms of trade: </a:t>
            </a:r>
            <a:br>
              <a:rPr lang="en-GB" altLang="en-US" dirty="0">
                <a:latin typeface="+mn-lt"/>
              </a:rPr>
            </a:br>
            <a:r>
              <a:rPr lang="en-GB" altLang="en-US" dirty="0">
                <a:latin typeface="+mn-lt"/>
              </a:rPr>
              <a:t>exchange rate appreciates</a:t>
            </a:r>
          </a:p>
        </p:txBody>
      </p:sp>
    </p:spTree>
    <p:extLst>
      <p:ext uri="{BB962C8B-B14F-4D97-AF65-F5344CB8AC3E}">
        <p14:creationId xmlns:p14="http://schemas.microsoft.com/office/powerpoint/2010/main" val="3523904108"/>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96293">
                                            <p:txEl>
                                              <p:pRg st="0" end="0"/>
                                            </p:txEl>
                                          </p:spTgt>
                                        </p:tgtEl>
                                        <p:attrNameLst>
                                          <p:attrName>style.visibility</p:attrName>
                                        </p:attrNameLst>
                                      </p:cBhvr>
                                      <p:to>
                                        <p:strVal val="visible"/>
                                      </p:to>
                                    </p:set>
                                    <p:animEffect transition="in" filter="fade">
                                      <p:cBhvr>
                                        <p:cTn id="7" dur="1000"/>
                                        <p:tgtEl>
                                          <p:spTgt spid="396293">
                                            <p:txEl>
                                              <p:pRg st="0" end="0"/>
                                            </p:txEl>
                                          </p:spTgt>
                                        </p:tgtEl>
                                      </p:cBhvr>
                                    </p:animEffect>
                                    <p:anim calcmode="lin" valueType="num">
                                      <p:cBhvr>
                                        <p:cTn id="8" dur="1000" fill="hold"/>
                                        <p:tgtEl>
                                          <p:spTgt spid="39629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9629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96293">
                                            <p:txEl>
                                              <p:pRg st="1" end="1"/>
                                            </p:txEl>
                                          </p:spTgt>
                                        </p:tgtEl>
                                        <p:attrNameLst>
                                          <p:attrName>style.visibility</p:attrName>
                                        </p:attrNameLst>
                                      </p:cBhvr>
                                      <p:to>
                                        <p:strVal val="visible"/>
                                      </p:to>
                                    </p:set>
                                    <p:animEffect transition="in" filter="fade">
                                      <p:cBhvr>
                                        <p:cTn id="12" dur="1000"/>
                                        <p:tgtEl>
                                          <p:spTgt spid="396293">
                                            <p:txEl>
                                              <p:pRg st="1" end="1"/>
                                            </p:txEl>
                                          </p:spTgt>
                                        </p:tgtEl>
                                      </p:cBhvr>
                                    </p:animEffect>
                                    <p:anim calcmode="lin" valueType="num">
                                      <p:cBhvr>
                                        <p:cTn id="13" dur="1000" fill="hold"/>
                                        <p:tgtEl>
                                          <p:spTgt spid="39629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9629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96293">
                                            <p:txEl>
                                              <p:pRg st="2" end="2"/>
                                            </p:txEl>
                                          </p:spTgt>
                                        </p:tgtEl>
                                        <p:attrNameLst>
                                          <p:attrName>style.visibility</p:attrName>
                                        </p:attrNameLst>
                                      </p:cBhvr>
                                      <p:to>
                                        <p:strVal val="visible"/>
                                      </p:to>
                                    </p:set>
                                    <p:animEffect transition="in" filter="fade">
                                      <p:cBhvr>
                                        <p:cTn id="17" dur="1000"/>
                                        <p:tgtEl>
                                          <p:spTgt spid="396293">
                                            <p:txEl>
                                              <p:pRg st="2" end="2"/>
                                            </p:txEl>
                                          </p:spTgt>
                                        </p:tgtEl>
                                      </p:cBhvr>
                                    </p:animEffect>
                                    <p:anim calcmode="lin" valueType="num">
                                      <p:cBhvr>
                                        <p:cTn id="18" dur="1000" fill="hold"/>
                                        <p:tgtEl>
                                          <p:spTgt spid="39629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9629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96293">
                                            <p:txEl>
                                              <p:pRg st="3" end="3"/>
                                            </p:txEl>
                                          </p:spTgt>
                                        </p:tgtEl>
                                        <p:attrNameLst>
                                          <p:attrName>style.visibility</p:attrName>
                                        </p:attrNameLst>
                                      </p:cBhvr>
                                      <p:to>
                                        <p:strVal val="visible"/>
                                      </p:to>
                                    </p:set>
                                    <p:animEffect transition="in" filter="fade">
                                      <p:cBhvr>
                                        <p:cTn id="22" dur="1000"/>
                                        <p:tgtEl>
                                          <p:spTgt spid="396293">
                                            <p:txEl>
                                              <p:pRg st="3" end="3"/>
                                            </p:txEl>
                                          </p:spTgt>
                                        </p:tgtEl>
                                      </p:cBhvr>
                                    </p:animEffect>
                                    <p:anim calcmode="lin" valueType="num">
                                      <p:cBhvr>
                                        <p:cTn id="23" dur="1000" fill="hold"/>
                                        <p:tgtEl>
                                          <p:spTgt spid="39629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9629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96293">
                                            <p:txEl>
                                              <p:pRg st="4" end="4"/>
                                            </p:txEl>
                                          </p:spTgt>
                                        </p:tgtEl>
                                        <p:attrNameLst>
                                          <p:attrName>style.visibility</p:attrName>
                                        </p:attrNameLst>
                                      </p:cBhvr>
                                      <p:to>
                                        <p:strVal val="visible"/>
                                      </p:to>
                                    </p:set>
                                    <p:animEffect transition="in" filter="fade">
                                      <p:cBhvr>
                                        <p:cTn id="29" dur="1000"/>
                                        <p:tgtEl>
                                          <p:spTgt spid="396293">
                                            <p:txEl>
                                              <p:pRg st="4" end="4"/>
                                            </p:txEl>
                                          </p:spTgt>
                                        </p:tgtEl>
                                      </p:cBhvr>
                                    </p:animEffect>
                                    <p:anim calcmode="lin" valueType="num">
                                      <p:cBhvr>
                                        <p:cTn id="30" dur="1000" fill="hold"/>
                                        <p:tgtEl>
                                          <p:spTgt spid="39629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9629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96293">
                                            <p:txEl>
                                              <p:pRg st="5" end="5"/>
                                            </p:txEl>
                                          </p:spTgt>
                                        </p:tgtEl>
                                        <p:attrNameLst>
                                          <p:attrName>style.visibility</p:attrName>
                                        </p:attrNameLst>
                                      </p:cBhvr>
                                      <p:to>
                                        <p:strVal val="visible"/>
                                      </p:to>
                                    </p:set>
                                    <p:animEffect transition="in" filter="fade">
                                      <p:cBhvr>
                                        <p:cTn id="34" dur="1000"/>
                                        <p:tgtEl>
                                          <p:spTgt spid="396293">
                                            <p:txEl>
                                              <p:pRg st="5" end="5"/>
                                            </p:txEl>
                                          </p:spTgt>
                                        </p:tgtEl>
                                      </p:cBhvr>
                                    </p:animEffect>
                                    <p:anim calcmode="lin" valueType="num">
                                      <p:cBhvr>
                                        <p:cTn id="35" dur="1000" fill="hold"/>
                                        <p:tgtEl>
                                          <p:spTgt spid="39629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9629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96293">
                                            <p:txEl>
                                              <p:pRg st="6" end="6"/>
                                            </p:txEl>
                                          </p:spTgt>
                                        </p:tgtEl>
                                        <p:attrNameLst>
                                          <p:attrName>style.visibility</p:attrName>
                                        </p:attrNameLst>
                                      </p:cBhvr>
                                      <p:to>
                                        <p:strVal val="visible"/>
                                      </p:to>
                                    </p:set>
                                    <p:animEffect transition="in" filter="fade">
                                      <p:cBhvr>
                                        <p:cTn id="41" dur="1000"/>
                                        <p:tgtEl>
                                          <p:spTgt spid="396293">
                                            <p:txEl>
                                              <p:pRg st="6" end="6"/>
                                            </p:txEl>
                                          </p:spTgt>
                                        </p:tgtEl>
                                      </p:cBhvr>
                                    </p:animEffect>
                                    <p:anim calcmode="lin" valueType="num">
                                      <p:cBhvr>
                                        <p:cTn id="42" dur="1000" fill="hold"/>
                                        <p:tgtEl>
                                          <p:spTgt spid="39629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9629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96293">
                                            <p:txEl>
                                              <p:pRg st="7" end="7"/>
                                            </p:txEl>
                                          </p:spTgt>
                                        </p:tgtEl>
                                        <p:attrNameLst>
                                          <p:attrName>style.visibility</p:attrName>
                                        </p:attrNameLst>
                                      </p:cBhvr>
                                      <p:to>
                                        <p:strVal val="visible"/>
                                      </p:to>
                                    </p:set>
                                    <p:animEffect transition="in" filter="fade">
                                      <p:cBhvr>
                                        <p:cTn id="46" dur="1000"/>
                                        <p:tgtEl>
                                          <p:spTgt spid="396293">
                                            <p:txEl>
                                              <p:pRg st="7" end="7"/>
                                            </p:txEl>
                                          </p:spTgt>
                                        </p:tgtEl>
                                      </p:cBhvr>
                                    </p:animEffect>
                                    <p:anim calcmode="lin" valueType="num">
                                      <p:cBhvr>
                                        <p:cTn id="47" dur="1000" fill="hold"/>
                                        <p:tgtEl>
                                          <p:spTgt spid="39629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96293">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96293">
                                            <p:txEl>
                                              <p:pRg st="8" end="8"/>
                                            </p:txEl>
                                          </p:spTgt>
                                        </p:tgtEl>
                                        <p:attrNameLst>
                                          <p:attrName>style.visibility</p:attrName>
                                        </p:attrNameLst>
                                      </p:cBhvr>
                                      <p:to>
                                        <p:strVal val="visible"/>
                                      </p:to>
                                    </p:set>
                                    <p:animEffect transition="in" filter="fade">
                                      <p:cBhvr>
                                        <p:cTn id="51" dur="1000"/>
                                        <p:tgtEl>
                                          <p:spTgt spid="396293">
                                            <p:txEl>
                                              <p:pRg st="8" end="8"/>
                                            </p:txEl>
                                          </p:spTgt>
                                        </p:tgtEl>
                                      </p:cBhvr>
                                    </p:animEffect>
                                    <p:anim calcmode="lin" valueType="num">
                                      <p:cBhvr>
                                        <p:cTn id="52" dur="1000" fill="hold"/>
                                        <p:tgtEl>
                                          <p:spTgt spid="396293">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9629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13">
            <a:extLst>
              <a:ext uri="{FF2B5EF4-FFF2-40B4-BE49-F238E27FC236}">
                <a16:creationId xmlns:a16="http://schemas.microsoft.com/office/drawing/2014/main" id="{902347AC-25D6-4113-8FEA-1F318129C826}"/>
              </a:ext>
            </a:extLst>
          </p:cNvPr>
          <p:cNvSpPr>
            <a:spLocks noChangeArrowheads="1"/>
          </p:cNvSpPr>
          <p:nvPr/>
        </p:nvSpPr>
        <p:spPr bwMode="auto">
          <a:xfrm>
            <a:off x="-24680" y="0"/>
            <a:ext cx="12216679" cy="620688"/>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GB" altLang="en-US" sz="2800" b="1" dirty="0">
                <a:solidFill>
                  <a:srgbClr val="660066"/>
                </a:solidFill>
                <a:latin typeface="Arial" panose="020B0604020202020204" pitchFamily="34" charset="0"/>
              </a:rPr>
              <a:t>Sterling exchange rates against selected currencies</a:t>
            </a:r>
          </a:p>
        </p:txBody>
      </p:sp>
      <p:sp>
        <p:nvSpPr>
          <p:cNvPr id="6" name="Text Box 10">
            <a:extLst>
              <a:ext uri="{FF2B5EF4-FFF2-40B4-BE49-F238E27FC236}">
                <a16:creationId xmlns:a16="http://schemas.microsoft.com/office/drawing/2014/main" id="{37891461-2C17-AB5D-0F2E-AB5C61E80353}"/>
              </a:ext>
            </a:extLst>
          </p:cNvPr>
          <p:cNvSpPr txBox="1">
            <a:spLocks noChangeArrowheads="1"/>
          </p:cNvSpPr>
          <p:nvPr/>
        </p:nvSpPr>
        <p:spPr bwMode="auto">
          <a:xfrm>
            <a:off x="1125414" y="6170444"/>
            <a:ext cx="10636182" cy="674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15000"/>
              </a:spcBef>
              <a:buFontTx/>
              <a:buNone/>
            </a:pPr>
            <a:r>
              <a:rPr lang="en-US" altLang="en-US" sz="1200" i="1" dirty="0">
                <a:solidFill>
                  <a:schemeClr val="tx1">
                    <a:lumMod val="50000"/>
                    <a:lumOff val="50000"/>
                  </a:schemeClr>
                </a:solidFill>
                <a:latin typeface="Arial" panose="020B0604020202020204" pitchFamily="34" charset="0"/>
                <a:cs typeface="Arial" panose="020B0604020202020204" pitchFamily="34" charset="0"/>
              </a:rPr>
              <a:t>Notes</a:t>
            </a:r>
            <a:r>
              <a:rPr lang="en-US" altLang="en-US" sz="1200" dirty="0">
                <a:solidFill>
                  <a:schemeClr val="tx1">
                    <a:lumMod val="50000"/>
                    <a:lumOff val="50000"/>
                  </a:schemeClr>
                </a:solidFill>
                <a:latin typeface="Arial" panose="020B0604020202020204" pitchFamily="34" charset="0"/>
                <a:cs typeface="Arial" panose="020B0604020202020204" pitchFamily="34" charset="0"/>
              </a:rPr>
              <a:t>: (i) Index is the broad-based effective sterling exchange rate index; (ii) The euro was introduced in 1999, with notes and coins circulating from 2001. The euro figures prior to 1999 (in grey) are projections backwards in time based on the average exchange rates of the currencies that made up the euro.</a:t>
            </a:r>
            <a:endParaRPr lang="en-GB" altLang="en-US" sz="1200" dirty="0">
              <a:solidFill>
                <a:schemeClr val="tx1">
                  <a:lumMod val="50000"/>
                  <a:lumOff val="50000"/>
                </a:schemeClr>
              </a:solidFill>
              <a:latin typeface="Arial" panose="020B0604020202020204" pitchFamily="34" charset="0"/>
            </a:endParaRPr>
          </a:p>
          <a:p>
            <a:pPr>
              <a:spcBef>
                <a:spcPct val="15000"/>
              </a:spcBef>
              <a:buFontTx/>
              <a:buNone/>
            </a:pPr>
            <a:r>
              <a:rPr lang="en-GB" altLang="en-US" sz="1200" i="1" dirty="0">
                <a:solidFill>
                  <a:schemeClr val="tx1">
                    <a:lumMod val="50000"/>
                    <a:lumOff val="50000"/>
                  </a:schemeClr>
                </a:solidFill>
                <a:latin typeface="Arial" panose="020B0604020202020204" pitchFamily="34" charset="0"/>
              </a:rPr>
              <a:t>Source</a:t>
            </a:r>
            <a:r>
              <a:rPr lang="en-GB" altLang="en-US" sz="1200" dirty="0">
                <a:solidFill>
                  <a:schemeClr val="tx1">
                    <a:lumMod val="50000"/>
                    <a:lumOff val="50000"/>
                  </a:schemeClr>
                </a:solidFill>
                <a:latin typeface="Arial" panose="020B0604020202020204" pitchFamily="34" charset="0"/>
              </a:rPr>
              <a:t>: Based on data in </a:t>
            </a:r>
            <a:r>
              <a:rPr lang="en-GB" altLang="en-US" sz="1200" i="1" dirty="0">
                <a:solidFill>
                  <a:schemeClr val="tx1">
                    <a:lumMod val="50000"/>
                    <a:lumOff val="50000"/>
                  </a:schemeClr>
                </a:solidFill>
                <a:latin typeface="Arial" panose="020B0604020202020204" pitchFamily="34" charset="0"/>
                <a:hlinkClick r:id="rId3">
                  <a:extLst>
                    <a:ext uri="{A12FA001-AC4F-418D-AE19-62706E023703}">
                      <ahyp:hlinkClr xmlns:ahyp="http://schemas.microsoft.com/office/drawing/2018/hyperlinkcolor" val="tx"/>
                    </a:ext>
                  </a:extLst>
                </a:hlinkClick>
              </a:rPr>
              <a:t>Statistical Interactive Database</a:t>
            </a:r>
            <a:r>
              <a:rPr lang="en-GB" altLang="en-US" sz="1200" i="1" dirty="0">
                <a:solidFill>
                  <a:schemeClr val="tx1">
                    <a:lumMod val="50000"/>
                    <a:lumOff val="50000"/>
                  </a:schemeClr>
                </a:solidFill>
                <a:latin typeface="Arial" panose="020B0604020202020204" pitchFamily="34" charset="0"/>
              </a:rPr>
              <a:t> </a:t>
            </a:r>
            <a:r>
              <a:rPr lang="en-GB" altLang="en-US" sz="1200" dirty="0">
                <a:solidFill>
                  <a:schemeClr val="tx1">
                    <a:lumMod val="50000"/>
                    <a:lumOff val="50000"/>
                  </a:schemeClr>
                </a:solidFill>
                <a:latin typeface="Arial" panose="020B0604020202020204" pitchFamily="34" charset="0"/>
              </a:rPr>
              <a:t>(</a:t>
            </a:r>
            <a:r>
              <a:rPr lang="en-US" altLang="en-US" sz="1200" dirty="0">
                <a:solidFill>
                  <a:schemeClr val="tx1">
                    <a:lumMod val="50000"/>
                    <a:lumOff val="50000"/>
                  </a:schemeClr>
                </a:solidFill>
                <a:latin typeface="Arial" panose="020B0604020202020204" pitchFamily="34" charset="0"/>
              </a:rPr>
              <a:t>Bank of England</a:t>
            </a:r>
            <a:r>
              <a:rPr lang="en-GB" altLang="en-US" sz="1200" dirty="0">
                <a:solidFill>
                  <a:schemeClr val="tx1">
                    <a:lumMod val="50000"/>
                    <a:lumOff val="50000"/>
                  </a:schemeClr>
                </a:solidFill>
                <a:latin typeface="Arial" panose="020B0604020202020204" pitchFamily="34" charset="0"/>
              </a:rPr>
              <a:t>)</a:t>
            </a:r>
          </a:p>
        </p:txBody>
      </p:sp>
      <p:graphicFrame>
        <p:nvGraphicFramePr>
          <p:cNvPr id="7" name="Object 3">
            <a:extLst>
              <a:ext uri="{FF2B5EF4-FFF2-40B4-BE49-F238E27FC236}">
                <a16:creationId xmlns:a16="http://schemas.microsoft.com/office/drawing/2014/main" id="{FFE1784C-1929-3BBB-7809-AE81315E1647}"/>
              </a:ext>
            </a:extLst>
          </p:cNvPr>
          <p:cNvGraphicFramePr>
            <a:graphicFrameLocks noChangeAspect="1"/>
          </p:cNvGraphicFramePr>
          <p:nvPr/>
        </p:nvGraphicFramePr>
        <p:xfrm>
          <a:off x="-12341" y="497393"/>
          <a:ext cx="12191999" cy="56626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14454964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graphicEl>
                                              <a:chart seriesIdx="2" categoryIdx="-4" bldStep="series"/>
                                            </p:graphicEl>
                                          </p:spTgt>
                                        </p:tgtEl>
                                        <p:attrNameLst>
                                          <p:attrName>style.visibility</p:attrName>
                                        </p:attrNameLst>
                                      </p:cBhvr>
                                      <p:to>
                                        <p:strVal val="visible"/>
                                      </p:to>
                                    </p:set>
                                    <p:animEffect transition="in" filter="wipe(left)">
                                      <p:cBhvr>
                                        <p:cTn id="7" dur="1250"/>
                                        <p:tgtEl>
                                          <p:spTgt spid="7">
                                            <p:graphicEl>
                                              <a:chart seriesIdx="2"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graphicEl>
                                              <a:chart seriesIdx="3" categoryIdx="-4" bldStep="series"/>
                                            </p:graphicEl>
                                          </p:spTgt>
                                        </p:tgtEl>
                                        <p:attrNameLst>
                                          <p:attrName>style.visibility</p:attrName>
                                        </p:attrNameLst>
                                      </p:cBhvr>
                                      <p:to>
                                        <p:strVal val="visible"/>
                                      </p:to>
                                    </p:set>
                                    <p:animEffect transition="in" filter="wipe(left)">
                                      <p:cBhvr>
                                        <p:cTn id="12" dur="1250"/>
                                        <p:tgtEl>
                                          <p:spTgt spid="7">
                                            <p:graphicEl>
                                              <a:chart seriesIdx="3"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graphicEl>
                                              <a:chart seriesIdx="2" categoryIdx="-4" bldStep="series"/>
                                            </p:graphicEl>
                                          </p:spTgt>
                                        </p:tgtEl>
                                        <p:attrNameLst>
                                          <p:attrName>style.visibility</p:attrName>
                                        </p:attrNameLst>
                                      </p:cBhvr>
                                      <p:to>
                                        <p:strVal val="visible"/>
                                      </p:to>
                                    </p:set>
                                    <p:animEffect transition="in" filter="wipe(left)">
                                      <p:cBhvr>
                                        <p:cTn id="17" dur="1250"/>
                                        <p:tgtEl>
                                          <p:spTgt spid="7">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graphicEl>
                                              <a:chart seriesIdx="5" categoryIdx="-4" bldStep="series"/>
                                            </p:graphicEl>
                                          </p:spTgt>
                                        </p:tgtEl>
                                        <p:attrNameLst>
                                          <p:attrName>style.visibility</p:attrName>
                                        </p:attrNameLst>
                                      </p:cBhvr>
                                      <p:to>
                                        <p:strVal val="visible"/>
                                      </p:to>
                                    </p:set>
                                    <p:animEffect transition="in" filter="wipe(left)">
                                      <p:cBhvr>
                                        <p:cTn id="22" dur="1250"/>
                                        <p:tgtEl>
                                          <p:spTgt spid="7">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 animBg="0"/>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a:extLst>
              <a:ext uri="{FF2B5EF4-FFF2-40B4-BE49-F238E27FC236}">
                <a16:creationId xmlns:a16="http://schemas.microsoft.com/office/drawing/2014/main" id="{BC49BAA5-031C-4B49-A718-DD3537CB22D2}"/>
              </a:ext>
            </a:extLst>
          </p:cNvPr>
          <p:cNvSpPr txBox="1">
            <a:spLocks noChangeArrowheads="1"/>
          </p:cNvSpPr>
          <p:nvPr/>
        </p:nvSpPr>
        <p:spPr bwMode="auto">
          <a:xfrm>
            <a:off x="1143000" y="12777"/>
            <a:ext cx="9906000" cy="892552"/>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GB" altLang="en-US" sz="2600" b="1" dirty="0">
                <a:solidFill>
                  <a:srgbClr val="660066"/>
                </a:solidFill>
                <a:latin typeface="Arial" panose="020B0604020202020204" pitchFamily="34" charset="0"/>
              </a:rPr>
              <a:t>Sterling nominal and real exchange rate indices</a:t>
            </a:r>
            <a:br>
              <a:rPr lang="en-GB" altLang="en-US" sz="2600" b="1" dirty="0">
                <a:solidFill>
                  <a:srgbClr val="660066"/>
                </a:solidFill>
                <a:latin typeface="Arial" panose="020B0604020202020204" pitchFamily="34" charset="0"/>
              </a:rPr>
            </a:br>
            <a:r>
              <a:rPr lang="en-GB" altLang="en-US" sz="2600" b="1" dirty="0">
                <a:solidFill>
                  <a:srgbClr val="660066"/>
                </a:solidFill>
                <a:latin typeface="Arial" panose="020B0604020202020204" pitchFamily="34" charset="0"/>
              </a:rPr>
              <a:t>(Jan 1970 = 100) </a:t>
            </a:r>
          </a:p>
        </p:txBody>
      </p:sp>
      <p:graphicFrame>
        <p:nvGraphicFramePr>
          <p:cNvPr id="5" name="Object 2">
            <a:extLst>
              <a:ext uri="{FF2B5EF4-FFF2-40B4-BE49-F238E27FC236}">
                <a16:creationId xmlns:a16="http://schemas.microsoft.com/office/drawing/2014/main" id="{01A4CB65-BA31-8E40-91BB-FA71231CCE9B}"/>
              </a:ext>
            </a:extLst>
          </p:cNvPr>
          <p:cNvGraphicFramePr>
            <a:graphicFrameLocks noChangeAspect="1"/>
          </p:cNvGraphicFramePr>
          <p:nvPr/>
        </p:nvGraphicFramePr>
        <p:xfrm>
          <a:off x="0" y="764705"/>
          <a:ext cx="12192000" cy="55067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Box 4">
            <a:extLst>
              <a:ext uri="{FF2B5EF4-FFF2-40B4-BE49-F238E27FC236}">
                <a16:creationId xmlns:a16="http://schemas.microsoft.com/office/drawing/2014/main" id="{373E6107-8CFA-956D-DDC4-4F2E71B45B24}"/>
              </a:ext>
            </a:extLst>
          </p:cNvPr>
          <p:cNvSpPr txBox="1">
            <a:spLocks noChangeArrowheads="1"/>
          </p:cNvSpPr>
          <p:nvPr/>
        </p:nvSpPr>
        <p:spPr bwMode="auto">
          <a:xfrm>
            <a:off x="1029956" y="6313198"/>
            <a:ext cx="88760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None/>
              <a:defRPr/>
            </a:pPr>
            <a:r>
              <a:rPr lang="en-GB" altLang="en-US" sz="1200" i="1" dirty="0">
                <a:solidFill>
                  <a:schemeClr val="tx1">
                    <a:lumMod val="50000"/>
                    <a:lumOff val="50000"/>
                  </a:schemeClr>
                </a:solidFill>
                <a:latin typeface="Arial" panose="020B0604020202020204" pitchFamily="34" charset="0"/>
                <a:cs typeface="Arial" panose="020B0604020202020204" pitchFamily="34" charset="0"/>
              </a:rPr>
              <a:t>Note</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Exchange rate indices are BIS narrow indices comprising 27 countries; re-based by the authors, Jan 1970 = 100</a:t>
            </a:r>
          </a:p>
          <a:p>
            <a:pPr>
              <a:spcBef>
                <a:spcPct val="0"/>
              </a:spcBef>
              <a:buNone/>
              <a:defRPr/>
            </a:pPr>
            <a:r>
              <a:rPr lang="en-GB" altLang="en-US" sz="1200" i="1" dirty="0">
                <a:solidFill>
                  <a:schemeClr val="tx1">
                    <a:lumMod val="50000"/>
                    <a:lumOff val="50000"/>
                  </a:schemeClr>
                </a:solidFill>
                <a:latin typeface="Arial" panose="020B0604020202020204" pitchFamily="34" charset="0"/>
                <a:cs typeface="Arial" panose="020B0604020202020204" pitchFamily="34" charset="0"/>
              </a:rPr>
              <a:t>Source</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 Based on data from </a:t>
            </a:r>
            <a:r>
              <a:rPr lang="en-GB" altLang="en-US" sz="1200" i="1" dirty="0">
                <a:solidFill>
                  <a:schemeClr val="tx1">
                    <a:lumMod val="50000"/>
                    <a:lumOff val="50000"/>
                  </a:schemeClr>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effective exchange rate indices </a:t>
            </a:r>
            <a:r>
              <a:rPr lang="en-GB" altLang="en-US" sz="1200" dirty="0">
                <a:solidFill>
                  <a:schemeClr val="tx1">
                    <a:lumMod val="50000"/>
                    <a:lumOff val="50000"/>
                  </a:schemeClr>
                </a:solidFill>
                <a:latin typeface="Arial" panose="020B0604020202020204" pitchFamily="34" charset="0"/>
                <a:cs typeface="Arial" panose="020B0604020202020204" pitchFamily="34" charset="0"/>
              </a:rPr>
              <a:t>(Bank for International Settlements)</a:t>
            </a:r>
          </a:p>
        </p:txBody>
      </p:sp>
      <p:sp>
        <p:nvSpPr>
          <p:cNvPr id="2" name="TextBox 1">
            <a:extLst>
              <a:ext uri="{FF2B5EF4-FFF2-40B4-BE49-F238E27FC236}">
                <a16:creationId xmlns:a16="http://schemas.microsoft.com/office/drawing/2014/main" id="{F086FDE0-9FBD-D94C-6922-A76ABBD932A5}"/>
              </a:ext>
            </a:extLst>
          </p:cNvPr>
          <p:cNvSpPr txBox="1"/>
          <p:nvPr/>
        </p:nvSpPr>
        <p:spPr>
          <a:xfrm>
            <a:off x="1855774" y="4377845"/>
            <a:ext cx="4706738" cy="830997"/>
          </a:xfrm>
          <a:prstGeom prst="rect">
            <a:avLst/>
          </a:prstGeom>
        </p:spPr>
        <p:txBody>
          <a:bodyPr wrap="non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en-GB" sz="2400" dirty="0">
                <a:solidFill>
                  <a:srgbClr val="002060"/>
                </a:solidFill>
              </a:rPr>
              <a:t>Which country had the lower </a:t>
            </a:r>
            <a:br>
              <a:rPr lang="en-GB" sz="2400" dirty="0">
                <a:solidFill>
                  <a:srgbClr val="002060"/>
                </a:solidFill>
              </a:rPr>
            </a:br>
            <a:r>
              <a:rPr lang="en-GB" sz="2400" dirty="0">
                <a:solidFill>
                  <a:srgbClr val="002060"/>
                </a:solidFill>
              </a:rPr>
              <a:t>inflation, especially in the 1970s?</a:t>
            </a:r>
          </a:p>
        </p:txBody>
      </p:sp>
    </p:spTree>
    <p:extLst>
      <p:ext uri="{BB962C8B-B14F-4D97-AF65-F5344CB8AC3E}">
        <p14:creationId xmlns:p14="http://schemas.microsoft.com/office/powerpoint/2010/main" val="395895819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graphicEl>
                                              <a:chart seriesIdx="0" categoryIdx="-4" bldStep="series"/>
                                            </p:graphicEl>
                                          </p:spTgt>
                                        </p:tgtEl>
                                        <p:attrNameLst>
                                          <p:attrName>style.visibility</p:attrName>
                                        </p:attrNameLst>
                                      </p:cBhvr>
                                      <p:to>
                                        <p:strVal val="visible"/>
                                      </p:to>
                                    </p:set>
                                    <p:animEffect transition="in" filter="wipe(left)">
                                      <p:cBhvr>
                                        <p:cTn id="7" dur="1250"/>
                                        <p:tgtEl>
                                          <p:spTgt spid="5">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graphicEl>
                                              <a:chart seriesIdx="1" categoryIdx="-4" bldStep="series"/>
                                            </p:graphicEl>
                                          </p:spTgt>
                                        </p:tgtEl>
                                        <p:attrNameLst>
                                          <p:attrName>style.visibility</p:attrName>
                                        </p:attrNameLst>
                                      </p:cBhvr>
                                      <p:to>
                                        <p:strVal val="visible"/>
                                      </p:to>
                                    </p:set>
                                    <p:animEffect transition="in" filter="wipe(left)">
                                      <p:cBhvr>
                                        <p:cTn id="12" dur="1250"/>
                                        <p:tgtEl>
                                          <p:spTgt spid="5">
                                            <p:graphicEl>
                                              <a:chart seriesIdx="1"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series" animBg="0"/>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9CFF111-B92F-46C0-AE42-9C04AC84119A}"/>
              </a:ext>
            </a:extLst>
          </p:cNvPr>
          <p:cNvSpPr>
            <a:spLocks noGrp="1" noChangeArrowheads="1"/>
          </p:cNvSpPr>
          <p:nvPr>
            <p:ph type="title"/>
          </p:nvPr>
        </p:nvSpPr>
        <p:spPr/>
        <p:txBody>
          <a:bodyPr/>
          <a:lstStyle/>
          <a:p>
            <a:r>
              <a:rPr lang="en-GB" altLang="en-US" dirty="0"/>
              <a:t>Theory of exchange rate determination</a:t>
            </a:r>
          </a:p>
        </p:txBody>
      </p:sp>
      <p:sp>
        <p:nvSpPr>
          <p:cNvPr id="125955" name="Rectangle 3">
            <a:extLst>
              <a:ext uri="{FF2B5EF4-FFF2-40B4-BE49-F238E27FC236}">
                <a16:creationId xmlns:a16="http://schemas.microsoft.com/office/drawing/2014/main" id="{87EC04F9-6017-4E76-9900-A52C96624F27}"/>
              </a:ext>
            </a:extLst>
          </p:cNvPr>
          <p:cNvSpPr>
            <a:spLocks noGrp="1" noChangeArrowheads="1"/>
          </p:cNvSpPr>
          <p:nvPr>
            <p:ph sz="quarter" idx="1"/>
          </p:nvPr>
        </p:nvSpPr>
        <p:spPr>
          <a:xfrm>
            <a:off x="402167" y="1364343"/>
            <a:ext cx="11379200" cy="4889500"/>
          </a:xfrm>
        </p:spPr>
        <p:txBody>
          <a:bodyPr/>
          <a:lstStyle/>
          <a:p>
            <a:pPr>
              <a:lnSpc>
                <a:spcPct val="95000"/>
              </a:lnSpc>
              <a:spcBef>
                <a:spcPts val="600"/>
              </a:spcBef>
            </a:pPr>
            <a:r>
              <a:rPr lang="en-GB" altLang="en-US" dirty="0">
                <a:latin typeface="+mn-lt"/>
              </a:rPr>
              <a:t>Exchange rate is a price – so apply principles of supply, demand</a:t>
            </a:r>
          </a:p>
          <a:p>
            <a:pPr lvl="1">
              <a:lnSpc>
                <a:spcPct val="95000"/>
              </a:lnSpc>
              <a:spcBef>
                <a:spcPts val="600"/>
              </a:spcBef>
            </a:pPr>
            <a:r>
              <a:rPr lang="en-GB" altLang="en-US" dirty="0">
                <a:latin typeface="+mn-lt"/>
              </a:rPr>
              <a:t>Determine equilibrium exchange rate so that quantity demanded</a:t>
            </a:r>
            <a:br>
              <a:rPr lang="en-GB" altLang="en-US" dirty="0">
                <a:latin typeface="+mn-lt"/>
              </a:rPr>
            </a:br>
            <a:r>
              <a:rPr lang="en-GB" altLang="en-US" dirty="0">
                <a:latin typeface="+mn-lt"/>
              </a:rPr>
              <a:t>(of sterling) in USA equal to quantity supplied (in exchange for dollars)</a:t>
            </a:r>
          </a:p>
          <a:p>
            <a:pPr lvl="1">
              <a:lnSpc>
                <a:spcPct val="95000"/>
              </a:lnSpc>
              <a:spcBef>
                <a:spcPts val="600"/>
              </a:spcBef>
            </a:pPr>
            <a:r>
              <a:rPr lang="en-GB" altLang="en-US" dirty="0">
                <a:latin typeface="+mn-lt"/>
              </a:rPr>
              <a:t>Excess supply (of sterling) pushes exchange rate down</a:t>
            </a:r>
          </a:p>
          <a:p>
            <a:pPr lvl="2">
              <a:lnSpc>
                <a:spcPct val="95000"/>
              </a:lnSpc>
              <a:spcBef>
                <a:spcPts val="600"/>
              </a:spcBef>
            </a:pPr>
            <a:r>
              <a:rPr lang="en-GB" altLang="en-US" dirty="0">
                <a:latin typeface="+mn-lt"/>
              </a:rPr>
              <a:t>Excess demand (for sterling) pushes exchange rate up</a:t>
            </a:r>
          </a:p>
          <a:p>
            <a:pPr lvl="1">
              <a:lnSpc>
                <a:spcPct val="95000"/>
              </a:lnSpc>
              <a:spcBef>
                <a:spcPts val="600"/>
              </a:spcBef>
            </a:pPr>
            <a:r>
              <a:rPr lang="en-GB" altLang="en-US" dirty="0">
                <a:latin typeface="+mn-lt"/>
              </a:rPr>
              <a:t>As an exercise think about the demand and supply for dollars</a:t>
            </a:r>
          </a:p>
          <a:p>
            <a:pPr>
              <a:lnSpc>
                <a:spcPct val="95000"/>
              </a:lnSpc>
              <a:spcBef>
                <a:spcPts val="600"/>
              </a:spcBef>
            </a:pPr>
            <a:r>
              <a:rPr lang="en-GB" altLang="en-US" dirty="0">
                <a:latin typeface="+mn-lt"/>
              </a:rPr>
              <a:t>Can apply analysis of shifts in demand, supply in the same way</a:t>
            </a:r>
          </a:p>
          <a:p>
            <a:pPr lvl="1">
              <a:lnSpc>
                <a:spcPct val="95000"/>
              </a:lnSpc>
              <a:spcBef>
                <a:spcPts val="600"/>
              </a:spcBef>
            </a:pPr>
            <a:r>
              <a:rPr lang="en-GB" altLang="en-US" dirty="0">
                <a:latin typeface="+mn-lt"/>
              </a:rPr>
              <a:t>Increased supply of sterling (buying more US goods and services?)</a:t>
            </a:r>
          </a:p>
          <a:p>
            <a:pPr lvl="2">
              <a:lnSpc>
                <a:spcPct val="95000"/>
              </a:lnSpc>
              <a:spcBef>
                <a:spcPts val="600"/>
              </a:spcBef>
            </a:pPr>
            <a:r>
              <a:rPr lang="en-GB" altLang="en-US" dirty="0">
                <a:latin typeface="+mn-lt"/>
              </a:rPr>
              <a:t>Supply curve shifts to the right; quantity traded increases, exchange rate falls </a:t>
            </a:r>
          </a:p>
          <a:p>
            <a:pPr lvl="1">
              <a:lnSpc>
                <a:spcPct val="95000"/>
              </a:lnSpc>
              <a:spcBef>
                <a:spcPts val="600"/>
              </a:spcBef>
            </a:pPr>
            <a:r>
              <a:rPr lang="en-GB" altLang="en-US" dirty="0">
                <a:latin typeface="+mn-lt"/>
              </a:rPr>
              <a:t>Reduced demand for sterling (UK interest rates expected to fall?)</a:t>
            </a:r>
          </a:p>
          <a:p>
            <a:pPr lvl="2">
              <a:lnSpc>
                <a:spcPct val="95000"/>
              </a:lnSpc>
              <a:spcBef>
                <a:spcPts val="600"/>
              </a:spcBef>
            </a:pPr>
            <a:r>
              <a:rPr lang="en-GB" altLang="en-US" dirty="0">
                <a:latin typeface="+mn-lt"/>
              </a:rPr>
              <a:t>Demand curve shifts to the right; quantity traded falls, exchange rate falls </a:t>
            </a:r>
          </a:p>
        </p:txBody>
      </p:sp>
    </p:spTree>
    <p:extLst>
      <p:ext uri="{BB962C8B-B14F-4D97-AF65-F5344CB8AC3E}">
        <p14:creationId xmlns:p14="http://schemas.microsoft.com/office/powerpoint/2010/main" val="223076845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animEffect transition="in" filter="fade">
                                      <p:cBhvr>
                                        <p:cTn id="7" dur="1000"/>
                                        <p:tgtEl>
                                          <p:spTgt spid="125955">
                                            <p:txEl>
                                              <p:pRg st="0" end="0"/>
                                            </p:txEl>
                                          </p:spTgt>
                                        </p:tgtEl>
                                      </p:cBhvr>
                                    </p:animEffect>
                                    <p:anim calcmode="lin" valueType="num">
                                      <p:cBhvr>
                                        <p:cTn id="8" dur="1000" fill="hold"/>
                                        <p:tgtEl>
                                          <p:spTgt spid="12595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595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5955">
                                            <p:txEl>
                                              <p:pRg st="1" end="1"/>
                                            </p:txEl>
                                          </p:spTgt>
                                        </p:tgtEl>
                                        <p:attrNameLst>
                                          <p:attrName>style.visibility</p:attrName>
                                        </p:attrNameLst>
                                      </p:cBhvr>
                                      <p:to>
                                        <p:strVal val="visible"/>
                                      </p:to>
                                    </p:set>
                                    <p:animEffect transition="in" filter="fade">
                                      <p:cBhvr>
                                        <p:cTn id="12" dur="1000"/>
                                        <p:tgtEl>
                                          <p:spTgt spid="125955">
                                            <p:txEl>
                                              <p:pRg st="1" end="1"/>
                                            </p:txEl>
                                          </p:spTgt>
                                        </p:tgtEl>
                                      </p:cBhvr>
                                    </p:animEffect>
                                    <p:anim calcmode="lin" valueType="num">
                                      <p:cBhvr>
                                        <p:cTn id="13" dur="1000" fill="hold"/>
                                        <p:tgtEl>
                                          <p:spTgt spid="12595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595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5955">
                                            <p:txEl>
                                              <p:pRg st="2" end="2"/>
                                            </p:txEl>
                                          </p:spTgt>
                                        </p:tgtEl>
                                        <p:attrNameLst>
                                          <p:attrName>style.visibility</p:attrName>
                                        </p:attrNameLst>
                                      </p:cBhvr>
                                      <p:to>
                                        <p:strVal val="visible"/>
                                      </p:to>
                                    </p:set>
                                    <p:animEffect transition="in" filter="fade">
                                      <p:cBhvr>
                                        <p:cTn id="17" dur="1000"/>
                                        <p:tgtEl>
                                          <p:spTgt spid="125955">
                                            <p:txEl>
                                              <p:pRg st="2" end="2"/>
                                            </p:txEl>
                                          </p:spTgt>
                                        </p:tgtEl>
                                      </p:cBhvr>
                                    </p:animEffect>
                                    <p:anim calcmode="lin" valueType="num">
                                      <p:cBhvr>
                                        <p:cTn id="18" dur="1000" fill="hold"/>
                                        <p:tgtEl>
                                          <p:spTgt spid="12595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2595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5955">
                                            <p:txEl>
                                              <p:pRg st="3" end="3"/>
                                            </p:txEl>
                                          </p:spTgt>
                                        </p:tgtEl>
                                        <p:attrNameLst>
                                          <p:attrName>style.visibility</p:attrName>
                                        </p:attrNameLst>
                                      </p:cBhvr>
                                      <p:to>
                                        <p:strVal val="visible"/>
                                      </p:to>
                                    </p:set>
                                    <p:animEffect transition="in" filter="fade">
                                      <p:cBhvr>
                                        <p:cTn id="22" dur="1000"/>
                                        <p:tgtEl>
                                          <p:spTgt spid="125955">
                                            <p:txEl>
                                              <p:pRg st="3" end="3"/>
                                            </p:txEl>
                                          </p:spTgt>
                                        </p:tgtEl>
                                      </p:cBhvr>
                                    </p:animEffect>
                                    <p:anim calcmode="lin" valueType="num">
                                      <p:cBhvr>
                                        <p:cTn id="23" dur="1000" fill="hold"/>
                                        <p:tgtEl>
                                          <p:spTgt spid="12595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2595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5955">
                                            <p:txEl>
                                              <p:pRg st="4" end="4"/>
                                            </p:txEl>
                                          </p:spTgt>
                                        </p:tgtEl>
                                        <p:attrNameLst>
                                          <p:attrName>style.visibility</p:attrName>
                                        </p:attrNameLst>
                                      </p:cBhvr>
                                      <p:to>
                                        <p:strVal val="visible"/>
                                      </p:to>
                                    </p:set>
                                    <p:animEffect transition="in" filter="fade">
                                      <p:cBhvr>
                                        <p:cTn id="27" dur="1000"/>
                                        <p:tgtEl>
                                          <p:spTgt spid="125955">
                                            <p:txEl>
                                              <p:pRg st="4" end="4"/>
                                            </p:txEl>
                                          </p:spTgt>
                                        </p:tgtEl>
                                      </p:cBhvr>
                                    </p:animEffect>
                                    <p:anim calcmode="lin" valueType="num">
                                      <p:cBhvr>
                                        <p:cTn id="28" dur="1000" fill="hold"/>
                                        <p:tgtEl>
                                          <p:spTgt spid="12595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2595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25955">
                                            <p:txEl>
                                              <p:pRg st="5" end="5"/>
                                            </p:txEl>
                                          </p:spTgt>
                                        </p:tgtEl>
                                        <p:attrNameLst>
                                          <p:attrName>style.visibility</p:attrName>
                                        </p:attrNameLst>
                                      </p:cBhvr>
                                      <p:to>
                                        <p:strVal val="visible"/>
                                      </p:to>
                                    </p:set>
                                    <p:animEffect transition="in" filter="fade">
                                      <p:cBhvr>
                                        <p:cTn id="34" dur="1000"/>
                                        <p:tgtEl>
                                          <p:spTgt spid="125955">
                                            <p:txEl>
                                              <p:pRg st="5" end="5"/>
                                            </p:txEl>
                                          </p:spTgt>
                                        </p:tgtEl>
                                      </p:cBhvr>
                                    </p:animEffect>
                                    <p:anim calcmode="lin" valueType="num">
                                      <p:cBhvr>
                                        <p:cTn id="35" dur="1000" fill="hold"/>
                                        <p:tgtEl>
                                          <p:spTgt spid="125955">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25955">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5955">
                                            <p:txEl>
                                              <p:pRg st="6" end="6"/>
                                            </p:txEl>
                                          </p:spTgt>
                                        </p:tgtEl>
                                        <p:attrNameLst>
                                          <p:attrName>style.visibility</p:attrName>
                                        </p:attrNameLst>
                                      </p:cBhvr>
                                      <p:to>
                                        <p:strVal val="visible"/>
                                      </p:to>
                                    </p:set>
                                    <p:animEffect transition="in" filter="fade">
                                      <p:cBhvr>
                                        <p:cTn id="39" dur="1000"/>
                                        <p:tgtEl>
                                          <p:spTgt spid="125955">
                                            <p:txEl>
                                              <p:pRg st="6" end="6"/>
                                            </p:txEl>
                                          </p:spTgt>
                                        </p:tgtEl>
                                      </p:cBhvr>
                                    </p:animEffect>
                                    <p:anim calcmode="lin" valueType="num">
                                      <p:cBhvr>
                                        <p:cTn id="40" dur="1000" fill="hold"/>
                                        <p:tgtEl>
                                          <p:spTgt spid="125955">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25955">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25955">
                                            <p:txEl>
                                              <p:pRg st="7" end="7"/>
                                            </p:txEl>
                                          </p:spTgt>
                                        </p:tgtEl>
                                        <p:attrNameLst>
                                          <p:attrName>style.visibility</p:attrName>
                                        </p:attrNameLst>
                                      </p:cBhvr>
                                      <p:to>
                                        <p:strVal val="visible"/>
                                      </p:to>
                                    </p:set>
                                    <p:animEffect transition="in" filter="fade">
                                      <p:cBhvr>
                                        <p:cTn id="44" dur="1000"/>
                                        <p:tgtEl>
                                          <p:spTgt spid="125955">
                                            <p:txEl>
                                              <p:pRg st="7" end="7"/>
                                            </p:txEl>
                                          </p:spTgt>
                                        </p:tgtEl>
                                      </p:cBhvr>
                                    </p:animEffect>
                                    <p:anim calcmode="lin" valueType="num">
                                      <p:cBhvr>
                                        <p:cTn id="45" dur="1000" fill="hold"/>
                                        <p:tgtEl>
                                          <p:spTgt spid="125955">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12595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25955">
                                            <p:txEl>
                                              <p:pRg st="8" end="8"/>
                                            </p:txEl>
                                          </p:spTgt>
                                        </p:tgtEl>
                                        <p:attrNameLst>
                                          <p:attrName>style.visibility</p:attrName>
                                        </p:attrNameLst>
                                      </p:cBhvr>
                                      <p:to>
                                        <p:strVal val="visible"/>
                                      </p:to>
                                    </p:set>
                                    <p:animEffect transition="in" filter="fade">
                                      <p:cBhvr>
                                        <p:cTn id="51" dur="1000"/>
                                        <p:tgtEl>
                                          <p:spTgt spid="125955">
                                            <p:txEl>
                                              <p:pRg st="8" end="8"/>
                                            </p:txEl>
                                          </p:spTgt>
                                        </p:tgtEl>
                                      </p:cBhvr>
                                    </p:animEffect>
                                    <p:anim calcmode="lin" valueType="num">
                                      <p:cBhvr>
                                        <p:cTn id="52" dur="1000" fill="hold"/>
                                        <p:tgtEl>
                                          <p:spTgt spid="125955">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125955">
                                            <p:txEl>
                                              <p:pRg st="8" end="8"/>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125955">
                                            <p:txEl>
                                              <p:pRg st="9" end="9"/>
                                            </p:txEl>
                                          </p:spTgt>
                                        </p:tgtEl>
                                        <p:attrNameLst>
                                          <p:attrName>style.visibility</p:attrName>
                                        </p:attrNameLst>
                                      </p:cBhvr>
                                      <p:to>
                                        <p:strVal val="visible"/>
                                      </p:to>
                                    </p:set>
                                    <p:animEffect transition="in" filter="fade">
                                      <p:cBhvr>
                                        <p:cTn id="56" dur="1000"/>
                                        <p:tgtEl>
                                          <p:spTgt spid="125955">
                                            <p:txEl>
                                              <p:pRg st="9" end="9"/>
                                            </p:txEl>
                                          </p:spTgt>
                                        </p:tgtEl>
                                      </p:cBhvr>
                                    </p:animEffect>
                                    <p:anim calcmode="lin" valueType="num">
                                      <p:cBhvr>
                                        <p:cTn id="57" dur="1000" fill="hold"/>
                                        <p:tgtEl>
                                          <p:spTgt spid="125955">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25955">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6FA4A8D4-A0E2-4E05-A0E7-4834A4925583}"/>
              </a:ext>
            </a:extLst>
          </p:cNvPr>
          <p:cNvGraphicFramePr>
            <a:graphicFrameLocks/>
          </p:cNvGraphicFramePr>
          <p:nvPr/>
        </p:nvGraphicFramePr>
        <p:xfrm>
          <a:off x="1991544" y="503074"/>
          <a:ext cx="7905797" cy="6330950"/>
        </p:xfrm>
        <a:graphic>
          <a:graphicData uri="http://schemas.openxmlformats.org/drawingml/2006/chart">
            <c:chart xmlns:c="http://schemas.openxmlformats.org/drawingml/2006/chart" xmlns:r="http://schemas.openxmlformats.org/officeDocument/2006/relationships" r:id="rId3"/>
          </a:graphicData>
        </a:graphic>
      </p:graphicFrame>
      <p:sp>
        <p:nvSpPr>
          <p:cNvPr id="14339" name="Rectangle 3">
            <a:extLst>
              <a:ext uri="{FF2B5EF4-FFF2-40B4-BE49-F238E27FC236}">
                <a16:creationId xmlns:a16="http://schemas.microsoft.com/office/drawing/2014/main" id="{FB623F9D-07B3-4643-8476-DA553C25B387}"/>
              </a:ext>
            </a:extLst>
          </p:cNvPr>
          <p:cNvSpPr>
            <a:spLocks noChangeArrowheads="1"/>
          </p:cNvSpPr>
          <p:nvPr/>
        </p:nvSpPr>
        <p:spPr bwMode="auto">
          <a:xfrm rot="16200000">
            <a:off x="916458" y="3226550"/>
            <a:ext cx="1327286"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800">
                <a:latin typeface="Arial" panose="020B0604020202020204" pitchFamily="34" charset="0"/>
              </a:rPr>
              <a:t>$ price of £</a:t>
            </a:r>
          </a:p>
        </p:txBody>
      </p:sp>
      <p:sp>
        <p:nvSpPr>
          <p:cNvPr id="14340" name="Rectangle 4">
            <a:extLst>
              <a:ext uri="{FF2B5EF4-FFF2-40B4-BE49-F238E27FC236}">
                <a16:creationId xmlns:a16="http://schemas.microsoft.com/office/drawing/2014/main" id="{3DF197F8-C7BB-4BCE-A676-952B215F06FA}"/>
              </a:ext>
            </a:extLst>
          </p:cNvPr>
          <p:cNvSpPr>
            <a:spLocks noChangeArrowheads="1"/>
          </p:cNvSpPr>
          <p:nvPr/>
        </p:nvSpPr>
        <p:spPr bwMode="auto">
          <a:xfrm>
            <a:off x="7479421" y="988849"/>
            <a:ext cx="2152833"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dirty="0">
                <a:solidFill>
                  <a:schemeClr val="tx2"/>
                </a:solidFill>
                <a:latin typeface="Arial" panose="020B0604020202020204" pitchFamily="34" charset="0"/>
              </a:rPr>
              <a:t>Supply of sterling</a:t>
            </a:r>
            <a:br>
              <a:rPr lang="en-GB" altLang="en-US" sz="2000" i="1" dirty="0">
                <a:solidFill>
                  <a:schemeClr val="tx2"/>
                </a:solidFill>
                <a:latin typeface="Arial" panose="020B0604020202020204" pitchFamily="34" charset="0"/>
              </a:rPr>
            </a:br>
            <a:r>
              <a:rPr lang="en-GB" altLang="en-US" sz="2000" dirty="0">
                <a:solidFill>
                  <a:schemeClr val="tx2"/>
                </a:solidFill>
                <a:latin typeface="Arial" panose="020B0604020202020204" pitchFamily="34" charset="0"/>
              </a:rPr>
              <a:t> by UK</a:t>
            </a:r>
          </a:p>
        </p:txBody>
      </p:sp>
      <p:sp>
        <p:nvSpPr>
          <p:cNvPr id="14341" name="Rectangle 5">
            <a:extLst>
              <a:ext uri="{FF2B5EF4-FFF2-40B4-BE49-F238E27FC236}">
                <a16:creationId xmlns:a16="http://schemas.microsoft.com/office/drawing/2014/main" id="{F7AE8A80-243B-4F24-A7BA-169B083E3E1E}"/>
              </a:ext>
            </a:extLst>
          </p:cNvPr>
          <p:cNvSpPr>
            <a:spLocks noChangeArrowheads="1"/>
          </p:cNvSpPr>
          <p:nvPr/>
        </p:nvSpPr>
        <p:spPr bwMode="auto">
          <a:xfrm>
            <a:off x="7327991" y="5505957"/>
            <a:ext cx="2422138"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000" i="1" dirty="0">
                <a:solidFill>
                  <a:schemeClr val="tx2"/>
                </a:solidFill>
                <a:latin typeface="Arial" panose="020B0604020202020204" pitchFamily="34" charset="0"/>
              </a:rPr>
              <a:t>Demand for sterling</a:t>
            </a:r>
            <a:br>
              <a:rPr lang="en-GB" altLang="en-US" sz="2000" i="1" dirty="0">
                <a:solidFill>
                  <a:schemeClr val="tx2"/>
                </a:solidFill>
                <a:latin typeface="Arial" panose="020B0604020202020204" pitchFamily="34" charset="0"/>
              </a:rPr>
            </a:br>
            <a:r>
              <a:rPr lang="en-GB" altLang="en-US" sz="2000" dirty="0">
                <a:solidFill>
                  <a:schemeClr val="tx2"/>
                </a:solidFill>
                <a:latin typeface="Arial" panose="020B0604020202020204" pitchFamily="34" charset="0"/>
              </a:rPr>
              <a:t> by USA</a:t>
            </a:r>
          </a:p>
        </p:txBody>
      </p:sp>
      <p:sp>
        <p:nvSpPr>
          <p:cNvPr id="14342" name="Rectangle 6">
            <a:extLst>
              <a:ext uri="{FF2B5EF4-FFF2-40B4-BE49-F238E27FC236}">
                <a16:creationId xmlns:a16="http://schemas.microsoft.com/office/drawing/2014/main" id="{28E28888-10C7-430E-B50E-8974B66C3B9E}"/>
              </a:ext>
            </a:extLst>
          </p:cNvPr>
          <p:cNvSpPr>
            <a:spLocks noChangeArrowheads="1"/>
          </p:cNvSpPr>
          <p:nvPr/>
        </p:nvSpPr>
        <p:spPr bwMode="auto">
          <a:xfrm>
            <a:off x="8963090" y="6240464"/>
            <a:ext cx="81432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1800" dirty="0">
                <a:latin typeface="Arial" panose="020B0604020202020204" pitchFamily="34" charset="0"/>
              </a:rPr>
              <a:t>Q of £</a:t>
            </a:r>
          </a:p>
        </p:txBody>
      </p:sp>
      <p:grpSp>
        <p:nvGrpSpPr>
          <p:cNvPr id="5" name="Group 4">
            <a:extLst>
              <a:ext uri="{FF2B5EF4-FFF2-40B4-BE49-F238E27FC236}">
                <a16:creationId xmlns:a16="http://schemas.microsoft.com/office/drawing/2014/main" id="{855C5B8C-81CD-480C-919F-C44F59EB791C}"/>
              </a:ext>
            </a:extLst>
          </p:cNvPr>
          <p:cNvGrpSpPr/>
          <p:nvPr/>
        </p:nvGrpSpPr>
        <p:grpSpPr>
          <a:xfrm>
            <a:off x="2671765" y="3741425"/>
            <a:ext cx="3581139" cy="104772"/>
            <a:chOff x="2671765" y="3741425"/>
            <a:chExt cx="3581139" cy="104772"/>
          </a:xfrm>
        </p:grpSpPr>
        <p:sp>
          <p:nvSpPr>
            <p:cNvPr id="14343" name="Line 7">
              <a:extLst>
                <a:ext uri="{FF2B5EF4-FFF2-40B4-BE49-F238E27FC236}">
                  <a16:creationId xmlns:a16="http://schemas.microsoft.com/office/drawing/2014/main" id="{CDD7AB72-0432-4E6B-88F2-4F086F6B9A6E}"/>
                </a:ext>
              </a:extLst>
            </p:cNvPr>
            <p:cNvSpPr>
              <a:spLocks noChangeShapeType="1"/>
            </p:cNvSpPr>
            <p:nvPr/>
          </p:nvSpPr>
          <p:spPr bwMode="auto">
            <a:xfrm flipH="1">
              <a:off x="2671765" y="3798688"/>
              <a:ext cx="3570287" cy="0"/>
            </a:xfrm>
            <a:prstGeom prst="line">
              <a:avLst/>
            </a:prstGeom>
            <a:noFill/>
            <a:ln w="19050">
              <a:solidFill>
                <a:schemeClr val="bg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4" name="Oval 8">
              <a:extLst>
                <a:ext uri="{FF2B5EF4-FFF2-40B4-BE49-F238E27FC236}">
                  <a16:creationId xmlns:a16="http://schemas.microsoft.com/office/drawing/2014/main" id="{15E944B2-C58B-43F8-9C56-90299C013533}"/>
                </a:ext>
              </a:extLst>
            </p:cNvPr>
            <p:cNvSpPr>
              <a:spLocks noChangeArrowheads="1"/>
            </p:cNvSpPr>
            <p:nvPr/>
          </p:nvSpPr>
          <p:spPr bwMode="auto">
            <a:xfrm>
              <a:off x="6148132" y="3741425"/>
              <a:ext cx="104772" cy="104772"/>
            </a:xfrm>
            <a:prstGeom prst="ellipse">
              <a:avLst/>
            </a:prstGeom>
            <a:solidFill>
              <a:srgbClr val="DCE1FF"/>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14345" name="Line 9">
            <a:extLst>
              <a:ext uri="{FF2B5EF4-FFF2-40B4-BE49-F238E27FC236}">
                <a16:creationId xmlns:a16="http://schemas.microsoft.com/office/drawing/2014/main" id="{E3A591CD-53FE-4C23-90DC-642A774F5A38}"/>
              </a:ext>
            </a:extLst>
          </p:cNvPr>
          <p:cNvSpPr>
            <a:spLocks noChangeShapeType="1"/>
          </p:cNvSpPr>
          <p:nvPr/>
        </p:nvSpPr>
        <p:spPr bwMode="auto">
          <a:xfrm>
            <a:off x="2671763" y="3199640"/>
            <a:ext cx="4203700" cy="0"/>
          </a:xfrm>
          <a:prstGeom prst="line">
            <a:avLst/>
          </a:prstGeom>
          <a:noFill/>
          <a:ln w="1905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3" name="Group 2">
            <a:extLst>
              <a:ext uri="{FF2B5EF4-FFF2-40B4-BE49-F238E27FC236}">
                <a16:creationId xmlns:a16="http://schemas.microsoft.com/office/drawing/2014/main" id="{F6488C03-A0E4-4353-961D-4C61E01A7D45}"/>
              </a:ext>
            </a:extLst>
          </p:cNvPr>
          <p:cNvGrpSpPr/>
          <p:nvPr/>
        </p:nvGrpSpPr>
        <p:grpSpPr>
          <a:xfrm>
            <a:off x="5455999" y="2749253"/>
            <a:ext cx="1539778" cy="501312"/>
            <a:chOff x="5455999" y="2749253"/>
            <a:chExt cx="1539778" cy="501312"/>
          </a:xfrm>
        </p:grpSpPr>
        <p:sp>
          <p:nvSpPr>
            <p:cNvPr id="14346" name="Oval 10">
              <a:extLst>
                <a:ext uri="{FF2B5EF4-FFF2-40B4-BE49-F238E27FC236}">
                  <a16:creationId xmlns:a16="http://schemas.microsoft.com/office/drawing/2014/main" id="{55426298-621E-4F13-88E7-3D0BE4C980F6}"/>
                </a:ext>
              </a:extLst>
            </p:cNvPr>
            <p:cNvSpPr>
              <a:spLocks noChangeArrowheads="1"/>
            </p:cNvSpPr>
            <p:nvPr/>
          </p:nvSpPr>
          <p:spPr bwMode="auto">
            <a:xfrm>
              <a:off x="5522352" y="3142301"/>
              <a:ext cx="104772" cy="104772"/>
            </a:xfrm>
            <a:prstGeom prst="ellipse">
              <a:avLst/>
            </a:prstGeom>
            <a:solidFill>
              <a:srgbClr val="FFCCCC"/>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7" name="Oval 11">
              <a:extLst>
                <a:ext uri="{FF2B5EF4-FFF2-40B4-BE49-F238E27FC236}">
                  <a16:creationId xmlns:a16="http://schemas.microsoft.com/office/drawing/2014/main" id="{4271BF32-D978-4CB2-94B3-B0631D886D69}"/>
                </a:ext>
              </a:extLst>
            </p:cNvPr>
            <p:cNvSpPr>
              <a:spLocks noChangeArrowheads="1"/>
            </p:cNvSpPr>
            <p:nvPr/>
          </p:nvSpPr>
          <p:spPr bwMode="auto">
            <a:xfrm>
              <a:off x="6785686" y="3145793"/>
              <a:ext cx="104772" cy="104772"/>
            </a:xfrm>
            <a:prstGeom prst="ellipse">
              <a:avLst/>
            </a:prstGeom>
            <a:solidFill>
              <a:srgbClr val="FFCCCC"/>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48" name="Rectangle 12">
              <a:extLst>
                <a:ext uri="{FF2B5EF4-FFF2-40B4-BE49-F238E27FC236}">
                  <a16:creationId xmlns:a16="http://schemas.microsoft.com/office/drawing/2014/main" id="{37072E6E-A4FF-4CB4-BBB0-320C65C7FB4C}"/>
                </a:ext>
              </a:extLst>
            </p:cNvPr>
            <p:cNvSpPr>
              <a:spLocks noChangeArrowheads="1"/>
            </p:cNvSpPr>
            <p:nvPr/>
          </p:nvSpPr>
          <p:spPr bwMode="auto">
            <a:xfrm>
              <a:off x="5455999" y="2774209"/>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b</a:t>
              </a:r>
            </a:p>
          </p:txBody>
        </p:sp>
        <p:sp>
          <p:nvSpPr>
            <p:cNvPr id="14349" name="Rectangle 13">
              <a:extLst>
                <a:ext uri="{FF2B5EF4-FFF2-40B4-BE49-F238E27FC236}">
                  <a16:creationId xmlns:a16="http://schemas.microsoft.com/office/drawing/2014/main" id="{1A49CC57-8923-4AC6-B203-E1D00943D7F9}"/>
                </a:ext>
              </a:extLst>
            </p:cNvPr>
            <p:cNvSpPr>
              <a:spLocks noChangeArrowheads="1"/>
            </p:cNvSpPr>
            <p:nvPr/>
          </p:nvSpPr>
          <p:spPr bwMode="auto">
            <a:xfrm>
              <a:off x="6667161" y="2749253"/>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a:solidFill>
                    <a:schemeClr val="accent2"/>
                  </a:solidFill>
                  <a:latin typeface="Arial" panose="020B0604020202020204" pitchFamily="34" charset="0"/>
                </a:rPr>
                <a:t>a</a:t>
              </a:r>
            </a:p>
          </p:txBody>
        </p:sp>
      </p:grpSp>
      <p:sp>
        <p:nvSpPr>
          <p:cNvPr id="14350" name="Line 14">
            <a:extLst>
              <a:ext uri="{FF2B5EF4-FFF2-40B4-BE49-F238E27FC236}">
                <a16:creationId xmlns:a16="http://schemas.microsoft.com/office/drawing/2014/main" id="{1FA02CE9-B201-4C71-BBE3-25FF66426E40}"/>
              </a:ext>
            </a:extLst>
          </p:cNvPr>
          <p:cNvSpPr>
            <a:spLocks noChangeShapeType="1"/>
          </p:cNvSpPr>
          <p:nvPr/>
        </p:nvSpPr>
        <p:spPr bwMode="auto">
          <a:xfrm>
            <a:off x="1951830" y="3159126"/>
            <a:ext cx="0" cy="584200"/>
          </a:xfrm>
          <a:prstGeom prst="line">
            <a:avLst/>
          </a:prstGeom>
          <a:noFill/>
          <a:ln w="381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1" name="Rectangle 15">
            <a:extLst>
              <a:ext uri="{FF2B5EF4-FFF2-40B4-BE49-F238E27FC236}">
                <a16:creationId xmlns:a16="http://schemas.microsoft.com/office/drawing/2014/main" id="{284AE79B-C194-48E3-9186-EC1DF1BF3F90}"/>
              </a:ext>
            </a:extLst>
          </p:cNvPr>
          <p:cNvSpPr>
            <a:spLocks noGrp="1" noChangeArrowheads="1"/>
          </p:cNvSpPr>
          <p:nvPr>
            <p:ph type="title"/>
          </p:nvPr>
        </p:nvSpPr>
        <p:spPr>
          <a:xfrm>
            <a:off x="-24674" y="-7142"/>
            <a:ext cx="12216674" cy="600204"/>
          </a:xfrm>
          <a:noFill/>
          <a:ln/>
          <a:effectLst>
            <a:outerShdw dist="12700" dir="2700000" algn="ctr" rotWithShape="0">
              <a:schemeClr val="tx1"/>
            </a:outerShdw>
          </a:effectLst>
        </p:spPr>
        <p:txBody>
          <a:bodyPr/>
          <a:lstStyle/>
          <a:p>
            <a:pPr algn="ctr"/>
            <a:r>
              <a:rPr lang="en-GB" altLang="en-US" sz="2800" b="1" dirty="0">
                <a:solidFill>
                  <a:srgbClr val="660066"/>
                </a:solidFill>
                <a:effectLst/>
              </a:rPr>
              <a:t>Determination of the rate of exchange</a:t>
            </a:r>
          </a:p>
        </p:txBody>
      </p:sp>
      <p:sp>
        <p:nvSpPr>
          <p:cNvPr id="14352" name="AutoShape 16">
            <a:extLst>
              <a:ext uri="{FF2B5EF4-FFF2-40B4-BE49-F238E27FC236}">
                <a16:creationId xmlns:a16="http://schemas.microsoft.com/office/drawing/2014/main" id="{FCFE3DC0-6492-4C80-80D3-379E16BCAD30}"/>
              </a:ext>
            </a:extLst>
          </p:cNvPr>
          <p:cNvSpPr>
            <a:spLocks noChangeArrowheads="1"/>
          </p:cNvSpPr>
          <p:nvPr/>
        </p:nvSpPr>
        <p:spPr bwMode="auto">
          <a:xfrm>
            <a:off x="9840416" y="1840865"/>
            <a:ext cx="2232248" cy="1023969"/>
          </a:xfrm>
          <a:prstGeom prst="roundRect">
            <a:avLst>
              <a:gd name="adj" fmla="val 16667"/>
            </a:avLst>
          </a:prstGeom>
          <a:solidFill>
            <a:srgbClr val="FFFFCC"/>
          </a:solidFill>
          <a:ln w="25400">
            <a:solidFill>
              <a:schemeClr val="accent1"/>
            </a:solidFill>
            <a:round/>
            <a:headEnd type="none" w="sm" len="sm"/>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chemeClr val="accent2"/>
                </a:solidFill>
                <a:latin typeface="Arial" panose="020B0604020202020204" pitchFamily="34" charset="0"/>
              </a:rPr>
              <a:t>Excess supply of pounds leads to a depreciation.</a:t>
            </a:r>
          </a:p>
        </p:txBody>
      </p:sp>
      <p:sp>
        <p:nvSpPr>
          <p:cNvPr id="14354" name="Line 18">
            <a:extLst>
              <a:ext uri="{FF2B5EF4-FFF2-40B4-BE49-F238E27FC236}">
                <a16:creationId xmlns:a16="http://schemas.microsoft.com/office/drawing/2014/main" id="{291328C3-91A3-4ED0-AE81-3E1BF26AC18B}"/>
              </a:ext>
            </a:extLst>
          </p:cNvPr>
          <p:cNvSpPr>
            <a:spLocks noChangeShapeType="1"/>
          </p:cNvSpPr>
          <p:nvPr/>
        </p:nvSpPr>
        <p:spPr bwMode="auto">
          <a:xfrm>
            <a:off x="2671766" y="4399089"/>
            <a:ext cx="4198937" cy="0"/>
          </a:xfrm>
          <a:prstGeom prst="line">
            <a:avLst/>
          </a:prstGeom>
          <a:noFill/>
          <a:ln w="19050">
            <a:solidFill>
              <a:srgbClr val="006600"/>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nvGrpSpPr>
          <p:cNvPr id="4" name="Group 3">
            <a:extLst>
              <a:ext uri="{FF2B5EF4-FFF2-40B4-BE49-F238E27FC236}">
                <a16:creationId xmlns:a16="http://schemas.microsoft.com/office/drawing/2014/main" id="{AED355EF-0BA1-4B81-91A4-D1350890FAA3}"/>
              </a:ext>
            </a:extLst>
          </p:cNvPr>
          <p:cNvGrpSpPr/>
          <p:nvPr/>
        </p:nvGrpSpPr>
        <p:grpSpPr>
          <a:xfrm>
            <a:off x="5432770" y="4327320"/>
            <a:ext cx="1563426" cy="413299"/>
            <a:chOff x="5432770" y="4327320"/>
            <a:chExt cx="1563426" cy="413299"/>
          </a:xfrm>
        </p:grpSpPr>
        <p:sp>
          <p:nvSpPr>
            <p:cNvPr id="14355" name="Oval 19">
              <a:extLst>
                <a:ext uri="{FF2B5EF4-FFF2-40B4-BE49-F238E27FC236}">
                  <a16:creationId xmlns:a16="http://schemas.microsoft.com/office/drawing/2014/main" id="{AFCCD43F-2D05-40E0-87B3-75548A1CE33E}"/>
                </a:ext>
              </a:extLst>
            </p:cNvPr>
            <p:cNvSpPr>
              <a:spLocks noChangeArrowheads="1"/>
            </p:cNvSpPr>
            <p:nvPr/>
          </p:nvSpPr>
          <p:spPr bwMode="auto">
            <a:xfrm>
              <a:off x="6786710" y="4341509"/>
              <a:ext cx="104772" cy="104772"/>
            </a:xfrm>
            <a:prstGeom prst="ellipse">
              <a:avLst/>
            </a:prstGeom>
            <a:solidFill>
              <a:srgbClr val="99FF99"/>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6" name="Oval 20">
              <a:extLst>
                <a:ext uri="{FF2B5EF4-FFF2-40B4-BE49-F238E27FC236}">
                  <a16:creationId xmlns:a16="http://schemas.microsoft.com/office/drawing/2014/main" id="{E2AD82BC-8354-4209-BDC5-B988183BB143}"/>
                </a:ext>
              </a:extLst>
            </p:cNvPr>
            <p:cNvSpPr>
              <a:spLocks noChangeArrowheads="1"/>
            </p:cNvSpPr>
            <p:nvPr/>
          </p:nvSpPr>
          <p:spPr bwMode="auto">
            <a:xfrm>
              <a:off x="5527664" y="4342458"/>
              <a:ext cx="104772" cy="104772"/>
            </a:xfrm>
            <a:prstGeom prst="ellipse">
              <a:avLst/>
            </a:prstGeom>
            <a:solidFill>
              <a:srgbClr val="99FF99"/>
            </a:solidFill>
            <a:ln w="222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57" name="Rectangle 21">
              <a:extLst>
                <a:ext uri="{FF2B5EF4-FFF2-40B4-BE49-F238E27FC236}">
                  <a16:creationId xmlns:a16="http://schemas.microsoft.com/office/drawing/2014/main" id="{BB5D2029-68CA-460F-B15D-3213F334747D}"/>
                </a:ext>
              </a:extLst>
            </p:cNvPr>
            <p:cNvSpPr>
              <a:spLocks noChangeArrowheads="1"/>
            </p:cNvSpPr>
            <p:nvPr/>
          </p:nvSpPr>
          <p:spPr bwMode="auto">
            <a:xfrm>
              <a:off x="6682007" y="4327320"/>
              <a:ext cx="314189"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dirty="0">
                  <a:solidFill>
                    <a:srgbClr val="006600"/>
                  </a:solidFill>
                  <a:latin typeface="Arial" panose="020B0604020202020204" pitchFamily="34" charset="0"/>
                </a:rPr>
                <a:t>c</a:t>
              </a:r>
            </a:p>
          </p:txBody>
        </p:sp>
        <p:sp>
          <p:nvSpPr>
            <p:cNvPr id="14358" name="Rectangle 22">
              <a:extLst>
                <a:ext uri="{FF2B5EF4-FFF2-40B4-BE49-F238E27FC236}">
                  <a16:creationId xmlns:a16="http://schemas.microsoft.com/office/drawing/2014/main" id="{702FD494-CA6C-4115-B3F3-D02B5739EF52}"/>
                </a:ext>
              </a:extLst>
            </p:cNvPr>
            <p:cNvSpPr>
              <a:spLocks noChangeArrowheads="1"/>
            </p:cNvSpPr>
            <p:nvPr/>
          </p:nvSpPr>
          <p:spPr bwMode="auto">
            <a:xfrm>
              <a:off x="5432770" y="4339867"/>
              <a:ext cx="328616"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2000" i="1" dirty="0">
                  <a:solidFill>
                    <a:srgbClr val="006600"/>
                  </a:solidFill>
                  <a:latin typeface="Arial" panose="020B0604020202020204" pitchFamily="34" charset="0"/>
                </a:rPr>
                <a:t>d</a:t>
              </a:r>
            </a:p>
          </p:txBody>
        </p:sp>
      </p:grpSp>
      <p:sp>
        <p:nvSpPr>
          <p:cNvPr id="14359" name="Line 23">
            <a:extLst>
              <a:ext uri="{FF2B5EF4-FFF2-40B4-BE49-F238E27FC236}">
                <a16:creationId xmlns:a16="http://schemas.microsoft.com/office/drawing/2014/main" id="{B71199BE-229B-4C30-8D3A-16A2D31CA728}"/>
              </a:ext>
            </a:extLst>
          </p:cNvPr>
          <p:cNvSpPr>
            <a:spLocks noChangeShapeType="1"/>
          </p:cNvSpPr>
          <p:nvPr/>
        </p:nvSpPr>
        <p:spPr bwMode="auto">
          <a:xfrm flipV="1">
            <a:off x="1950242" y="3771902"/>
            <a:ext cx="0" cy="646113"/>
          </a:xfrm>
          <a:prstGeom prst="line">
            <a:avLst/>
          </a:prstGeom>
          <a:noFill/>
          <a:ln w="38100">
            <a:solidFill>
              <a:srgbClr val="0066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360" name="AutoShape 24">
            <a:extLst>
              <a:ext uri="{FF2B5EF4-FFF2-40B4-BE49-F238E27FC236}">
                <a16:creationId xmlns:a16="http://schemas.microsoft.com/office/drawing/2014/main" id="{E90A314C-7852-490A-8946-7458F0A777DE}"/>
              </a:ext>
            </a:extLst>
          </p:cNvPr>
          <p:cNvSpPr>
            <a:spLocks noChangeArrowheads="1"/>
          </p:cNvSpPr>
          <p:nvPr/>
        </p:nvSpPr>
        <p:spPr bwMode="auto">
          <a:xfrm>
            <a:off x="9840416" y="3445999"/>
            <a:ext cx="2232248" cy="1023969"/>
          </a:xfrm>
          <a:prstGeom prst="roundRect">
            <a:avLst>
              <a:gd name="adj" fmla="val 16667"/>
            </a:avLst>
          </a:prstGeom>
          <a:solidFill>
            <a:srgbClr val="FFFFCC"/>
          </a:solidFill>
          <a:ln w="25400">
            <a:solidFill>
              <a:schemeClr val="accent1"/>
            </a:solidFill>
            <a:round/>
            <a:headEnd type="none" w="sm" len="sm"/>
            <a:tailEnd type="non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GB" altLang="en-US" sz="1800">
                <a:solidFill>
                  <a:srgbClr val="006600"/>
                </a:solidFill>
                <a:latin typeface="Arial" panose="020B0604020202020204" pitchFamily="34" charset="0"/>
              </a:rPr>
              <a:t>Shortage of pounds leads to an appreciation.</a:t>
            </a:r>
          </a:p>
        </p:txBody>
      </p:sp>
    </p:spTree>
    <p:extLst>
      <p:ext uri="{BB962C8B-B14F-4D97-AF65-F5344CB8AC3E}">
        <p14:creationId xmlns:p14="http://schemas.microsoft.com/office/powerpoint/2010/main" val="77177923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graphicEl>
                                              <a:chart seriesIdx="0" categoryIdx="-4" bldStep="series"/>
                                            </p:graphicEl>
                                          </p:spTgt>
                                        </p:tgtEl>
                                        <p:attrNameLst>
                                          <p:attrName>style.visibility</p:attrName>
                                        </p:attrNameLst>
                                      </p:cBhvr>
                                      <p:to>
                                        <p:strVal val="visible"/>
                                      </p:to>
                                    </p:set>
                                    <p:animEffect transition="in" filter="wipe(left)">
                                      <p:cBhvr>
                                        <p:cTn id="7" dur="500"/>
                                        <p:tgtEl>
                                          <p:spTgt spid="2">
                                            <p:graphicEl>
                                              <a:chart seriesIdx="0" categoryIdx="-4" bldStep="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graphicEl>
                                              <a:chart seriesIdx="1" categoryIdx="-4" bldStep="series"/>
                                            </p:graphicEl>
                                          </p:spTgt>
                                        </p:tgtEl>
                                        <p:attrNameLst>
                                          <p:attrName>style.visibility</p:attrName>
                                        </p:attrNameLst>
                                      </p:cBhvr>
                                      <p:to>
                                        <p:strVal val="visible"/>
                                      </p:to>
                                    </p:set>
                                    <p:animEffect transition="in" filter="wipe(left)">
                                      <p:cBhvr>
                                        <p:cTn id="12" dur="500"/>
                                        <p:tgtEl>
                                          <p:spTgt spid="2">
                                            <p:graphicEl>
                                              <a:chart seriesIdx="1" categoryIdx="-4" bldStep="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graphicEl>
                                              <a:chart seriesIdx="2" categoryIdx="-4" bldStep="series"/>
                                            </p:graphicEl>
                                          </p:spTgt>
                                        </p:tgtEl>
                                        <p:attrNameLst>
                                          <p:attrName>style.visibility</p:attrName>
                                        </p:attrNameLst>
                                      </p:cBhvr>
                                      <p:to>
                                        <p:strVal val="visible"/>
                                      </p:to>
                                    </p:set>
                                    <p:animEffect transition="in" filter="wipe(left)">
                                      <p:cBhvr>
                                        <p:cTn id="17" dur="500"/>
                                        <p:tgtEl>
                                          <p:spTgt spid="2">
                                            <p:graphicEl>
                                              <a:chart seriesIdx="2" categoryIdx="-4" bldStep="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graphicEl>
                                              <a:chart seriesIdx="3" categoryIdx="-4" bldStep="series"/>
                                            </p:graphicEl>
                                          </p:spTgt>
                                        </p:tgtEl>
                                        <p:attrNameLst>
                                          <p:attrName>style.visibility</p:attrName>
                                        </p:attrNameLst>
                                      </p:cBhvr>
                                      <p:to>
                                        <p:strVal val="visible"/>
                                      </p:to>
                                    </p:set>
                                    <p:animEffect transition="in" filter="wipe(left)">
                                      <p:cBhvr>
                                        <p:cTn id="22" dur="500"/>
                                        <p:tgtEl>
                                          <p:spTgt spid="2">
                                            <p:graphicEl>
                                              <a:chart seriesIdx="3" categoryIdx="-4" bldStep="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graphicEl>
                                              <a:chart seriesIdx="4" categoryIdx="-4" bldStep="series"/>
                                            </p:graphicEl>
                                          </p:spTgt>
                                        </p:tgtEl>
                                        <p:attrNameLst>
                                          <p:attrName>style.visibility</p:attrName>
                                        </p:attrNameLst>
                                      </p:cBhvr>
                                      <p:to>
                                        <p:strVal val="visible"/>
                                      </p:to>
                                    </p:set>
                                    <p:animEffect transition="in" filter="wipe(left)">
                                      <p:cBhvr>
                                        <p:cTn id="27" dur="500"/>
                                        <p:tgtEl>
                                          <p:spTgt spid="2">
                                            <p:graphicEl>
                                              <a:chart seriesIdx="4" categoryIdx="-4" bldStep="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graphicEl>
                                              <a:chart seriesIdx="5" categoryIdx="-4" bldStep="series"/>
                                            </p:graphicEl>
                                          </p:spTgt>
                                        </p:tgtEl>
                                        <p:attrNameLst>
                                          <p:attrName>style.visibility</p:attrName>
                                        </p:attrNameLst>
                                      </p:cBhvr>
                                      <p:to>
                                        <p:strVal val="visible"/>
                                      </p:to>
                                    </p:set>
                                    <p:animEffect transition="in" filter="wipe(left)">
                                      <p:cBhvr>
                                        <p:cTn id="32" dur="500"/>
                                        <p:tgtEl>
                                          <p:spTgt spid="2">
                                            <p:graphicEl>
                                              <a:chart seriesIdx="5" categoryIdx="-4" bldStep="series"/>
                                            </p:graphicEl>
                                          </p:spTgt>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4340"/>
                                        </p:tgtEl>
                                        <p:attrNameLst>
                                          <p:attrName>style.visibility</p:attrName>
                                        </p:attrNameLst>
                                      </p:cBhvr>
                                      <p:to>
                                        <p:strVal val="visible"/>
                                      </p:to>
                                    </p:set>
                                    <p:animEffect transition="in" filter="wipe(left)">
                                      <p:cBhvr>
                                        <p:cTn id="36" dur="500"/>
                                        <p:tgtEl>
                                          <p:spTgt spid="1434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4345"/>
                                        </p:tgtEl>
                                        <p:attrNameLst>
                                          <p:attrName>style.visibility</p:attrName>
                                        </p:attrNameLst>
                                      </p:cBhvr>
                                      <p:to>
                                        <p:strVal val="visible"/>
                                      </p:to>
                                    </p:set>
                                    <p:animEffect transition="in" filter="wipe(left)">
                                      <p:cBhvr>
                                        <p:cTn id="41" dur="1000"/>
                                        <p:tgtEl>
                                          <p:spTgt spid="14345"/>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grpId="0" nodeType="clickEffect">
                                  <p:stCondLst>
                                    <p:cond delay="0"/>
                                  </p:stCondLst>
                                  <p:childTnLst>
                                    <p:set>
                                      <p:cBhvr>
                                        <p:cTn id="50" dur="1" fill="hold">
                                          <p:stCondLst>
                                            <p:cond delay="0"/>
                                          </p:stCondLst>
                                        </p:cTn>
                                        <p:tgtEl>
                                          <p:spTgt spid="14352"/>
                                        </p:tgtEl>
                                        <p:attrNameLst>
                                          <p:attrName>style.visibility</p:attrName>
                                        </p:attrNameLst>
                                      </p:cBhvr>
                                      <p:to>
                                        <p:strVal val="visible"/>
                                      </p:to>
                                    </p:set>
                                    <p:anim calcmode="lin" valueType="num">
                                      <p:cBhvr>
                                        <p:cTn id="51" dur="500" fill="hold"/>
                                        <p:tgtEl>
                                          <p:spTgt spid="14352"/>
                                        </p:tgtEl>
                                        <p:attrNameLst>
                                          <p:attrName>ppt_w</p:attrName>
                                        </p:attrNameLst>
                                      </p:cBhvr>
                                      <p:tavLst>
                                        <p:tav tm="0">
                                          <p:val>
                                            <p:fltVal val="0"/>
                                          </p:val>
                                        </p:tav>
                                        <p:tav tm="100000">
                                          <p:val>
                                            <p:strVal val="#ppt_w"/>
                                          </p:val>
                                        </p:tav>
                                      </p:tavLst>
                                    </p:anim>
                                    <p:anim calcmode="lin" valueType="num">
                                      <p:cBhvr>
                                        <p:cTn id="52" dur="500" fill="hold"/>
                                        <p:tgtEl>
                                          <p:spTgt spid="14352"/>
                                        </p:tgtEl>
                                        <p:attrNameLst>
                                          <p:attrName>ppt_h</p:attrName>
                                        </p:attrNameLst>
                                      </p:cBhvr>
                                      <p:tavLst>
                                        <p:tav tm="0">
                                          <p:val>
                                            <p:strVal val="#ppt_h"/>
                                          </p:val>
                                        </p:tav>
                                        <p:tav tm="100000">
                                          <p:val>
                                            <p:strVal val="#ppt_h"/>
                                          </p:val>
                                        </p:tav>
                                      </p:tavLst>
                                    </p:anim>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14350"/>
                                        </p:tgtEl>
                                        <p:attrNameLst>
                                          <p:attrName>style.visibility</p:attrName>
                                        </p:attrNameLst>
                                      </p:cBhvr>
                                      <p:to>
                                        <p:strVal val="visible"/>
                                      </p:to>
                                    </p:set>
                                    <p:animEffect transition="in" filter="wipe(up)">
                                      <p:cBhvr>
                                        <p:cTn id="56" dur="1000"/>
                                        <p:tgtEl>
                                          <p:spTgt spid="1435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4354"/>
                                        </p:tgtEl>
                                        <p:attrNameLst>
                                          <p:attrName>style.visibility</p:attrName>
                                        </p:attrNameLst>
                                      </p:cBhvr>
                                      <p:to>
                                        <p:strVal val="visible"/>
                                      </p:to>
                                    </p:set>
                                    <p:animEffect transition="in" filter="wipe(left)">
                                      <p:cBhvr>
                                        <p:cTn id="61" dur="1000"/>
                                        <p:tgtEl>
                                          <p:spTgt spid="14354"/>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animEffect transition="in" filter="fade">
                                      <p:cBhvr>
                                        <p:cTn id="66" dur="10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17" presetClass="entr" presetSubtype="10" fill="hold" grpId="0" nodeType="clickEffect">
                                  <p:stCondLst>
                                    <p:cond delay="0"/>
                                  </p:stCondLst>
                                  <p:childTnLst>
                                    <p:set>
                                      <p:cBhvr>
                                        <p:cTn id="70" dur="1" fill="hold">
                                          <p:stCondLst>
                                            <p:cond delay="0"/>
                                          </p:stCondLst>
                                        </p:cTn>
                                        <p:tgtEl>
                                          <p:spTgt spid="14360"/>
                                        </p:tgtEl>
                                        <p:attrNameLst>
                                          <p:attrName>style.visibility</p:attrName>
                                        </p:attrNameLst>
                                      </p:cBhvr>
                                      <p:to>
                                        <p:strVal val="visible"/>
                                      </p:to>
                                    </p:set>
                                    <p:anim calcmode="lin" valueType="num">
                                      <p:cBhvr>
                                        <p:cTn id="71" dur="500" fill="hold"/>
                                        <p:tgtEl>
                                          <p:spTgt spid="14360"/>
                                        </p:tgtEl>
                                        <p:attrNameLst>
                                          <p:attrName>ppt_w</p:attrName>
                                        </p:attrNameLst>
                                      </p:cBhvr>
                                      <p:tavLst>
                                        <p:tav tm="0">
                                          <p:val>
                                            <p:fltVal val="0"/>
                                          </p:val>
                                        </p:tav>
                                        <p:tav tm="100000">
                                          <p:val>
                                            <p:strVal val="#ppt_w"/>
                                          </p:val>
                                        </p:tav>
                                      </p:tavLst>
                                    </p:anim>
                                    <p:anim calcmode="lin" valueType="num">
                                      <p:cBhvr>
                                        <p:cTn id="72" dur="500" fill="hold"/>
                                        <p:tgtEl>
                                          <p:spTgt spid="14360"/>
                                        </p:tgtEl>
                                        <p:attrNameLst>
                                          <p:attrName>ppt_h</p:attrName>
                                        </p:attrNameLst>
                                      </p:cBhvr>
                                      <p:tavLst>
                                        <p:tav tm="0">
                                          <p:val>
                                            <p:strVal val="#ppt_h"/>
                                          </p:val>
                                        </p:tav>
                                        <p:tav tm="100000">
                                          <p:val>
                                            <p:strVal val="#ppt_h"/>
                                          </p:val>
                                        </p:tav>
                                      </p:tavLst>
                                    </p:anim>
                                  </p:childTnLst>
                                </p:cTn>
                              </p:par>
                            </p:childTnLst>
                          </p:cTn>
                        </p:par>
                        <p:par>
                          <p:cTn id="73" fill="hold">
                            <p:stCondLst>
                              <p:cond delay="500"/>
                            </p:stCondLst>
                            <p:childTnLst>
                              <p:par>
                                <p:cTn id="74" presetID="22" presetClass="entr" presetSubtype="4" fill="hold" grpId="0" nodeType="afterEffect">
                                  <p:stCondLst>
                                    <p:cond delay="0"/>
                                  </p:stCondLst>
                                  <p:childTnLst>
                                    <p:set>
                                      <p:cBhvr>
                                        <p:cTn id="75" dur="1" fill="hold">
                                          <p:stCondLst>
                                            <p:cond delay="0"/>
                                          </p:stCondLst>
                                        </p:cTn>
                                        <p:tgtEl>
                                          <p:spTgt spid="14359"/>
                                        </p:tgtEl>
                                        <p:attrNameLst>
                                          <p:attrName>style.visibility</p:attrName>
                                        </p:attrNameLst>
                                      </p:cBhvr>
                                      <p:to>
                                        <p:strVal val="visible"/>
                                      </p:to>
                                    </p:set>
                                    <p:animEffect transition="in" filter="wipe(down)">
                                      <p:cBhvr>
                                        <p:cTn id="76" dur="1000"/>
                                        <p:tgtEl>
                                          <p:spTgt spid="14359"/>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wipe(left)">
                                      <p:cBhvr>
                                        <p:cTn id="81"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 animBg="0"/>
        </p:bldSub>
      </p:bldGraphic>
      <p:bldP spid="14340" grpId="0"/>
      <p:bldP spid="14345" grpId="0" animBg="1"/>
      <p:bldP spid="14350" grpId="0" animBg="1"/>
      <p:bldP spid="14352" grpId="0" animBg="1"/>
      <p:bldP spid="14354" grpId="0" animBg="1"/>
      <p:bldP spid="14359" grpId="0" animBg="1"/>
      <p:bldP spid="1436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E1A0DC6B-155A-4FE3-BE39-A2CD8DF87EB6}"/>
              </a:ext>
            </a:extLst>
          </p:cNvPr>
          <p:cNvGraphicFramePr>
            <a:graphicFrameLocks/>
          </p:cNvGraphicFramePr>
          <p:nvPr/>
        </p:nvGraphicFramePr>
        <p:xfrm>
          <a:off x="1925638" y="642016"/>
          <a:ext cx="8691562" cy="6294658"/>
        </p:xfrm>
        <a:graphic>
          <a:graphicData uri="http://schemas.openxmlformats.org/drawingml/2006/chart">
            <c:chart xmlns:c="http://schemas.openxmlformats.org/drawingml/2006/chart" xmlns:r="http://schemas.openxmlformats.org/officeDocument/2006/relationships" r:id="rId3"/>
          </a:graphicData>
        </a:graphic>
      </p:graphicFrame>
      <p:sp>
        <p:nvSpPr>
          <p:cNvPr id="674819" name="Rectangle 3">
            <a:extLst>
              <a:ext uri="{FF2B5EF4-FFF2-40B4-BE49-F238E27FC236}">
                <a16:creationId xmlns:a16="http://schemas.microsoft.com/office/drawing/2014/main" id="{BE2FE6B6-2738-4193-B136-989546D9B2B2}"/>
              </a:ext>
            </a:extLst>
          </p:cNvPr>
          <p:cNvSpPr>
            <a:spLocks noChangeArrowheads="1"/>
          </p:cNvSpPr>
          <p:nvPr/>
        </p:nvSpPr>
        <p:spPr bwMode="auto">
          <a:xfrm>
            <a:off x="2209800" y="63833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4820" name="Rectangle 4">
            <a:extLst>
              <a:ext uri="{FF2B5EF4-FFF2-40B4-BE49-F238E27FC236}">
                <a16:creationId xmlns:a16="http://schemas.microsoft.com/office/drawing/2014/main" id="{11CD2863-DA71-4427-985C-98E2C984CB69}"/>
              </a:ext>
            </a:extLst>
          </p:cNvPr>
          <p:cNvSpPr>
            <a:spLocks noChangeArrowheads="1"/>
          </p:cNvSpPr>
          <p:nvPr/>
        </p:nvSpPr>
        <p:spPr bwMode="auto">
          <a:xfrm>
            <a:off x="4648200" y="63833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4822" name="Rectangle 6">
            <a:extLst>
              <a:ext uri="{FF2B5EF4-FFF2-40B4-BE49-F238E27FC236}">
                <a16:creationId xmlns:a16="http://schemas.microsoft.com/office/drawing/2014/main" id="{40326199-E53D-4AC9-BB1B-B6E346B74714}"/>
              </a:ext>
            </a:extLst>
          </p:cNvPr>
          <p:cNvSpPr>
            <a:spLocks noChangeArrowheads="1"/>
          </p:cNvSpPr>
          <p:nvPr/>
        </p:nvSpPr>
        <p:spPr bwMode="auto">
          <a:xfrm rot="16200000">
            <a:off x="1169045" y="3166406"/>
            <a:ext cx="735779"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200" dirty="0">
                <a:latin typeface="Arial" panose="020B0604020202020204" pitchFamily="34" charset="0"/>
              </a:rPr>
              <a:t>€ / £</a:t>
            </a:r>
          </a:p>
        </p:txBody>
      </p:sp>
      <p:sp>
        <p:nvSpPr>
          <p:cNvPr id="674823" name="Rectangle 7">
            <a:extLst>
              <a:ext uri="{FF2B5EF4-FFF2-40B4-BE49-F238E27FC236}">
                <a16:creationId xmlns:a16="http://schemas.microsoft.com/office/drawing/2014/main" id="{4DE2258F-04A5-4876-9507-E97B6554DE2B}"/>
              </a:ext>
            </a:extLst>
          </p:cNvPr>
          <p:cNvSpPr>
            <a:spLocks noChangeArrowheads="1"/>
          </p:cNvSpPr>
          <p:nvPr/>
        </p:nvSpPr>
        <p:spPr bwMode="auto">
          <a:xfrm>
            <a:off x="8829960" y="6388101"/>
            <a:ext cx="955390" cy="43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200" i="1">
                <a:latin typeface="Arial" panose="020B0604020202020204" pitchFamily="34" charset="0"/>
              </a:rPr>
              <a:t>Q</a:t>
            </a:r>
            <a:r>
              <a:rPr lang="en-GB" altLang="en-US" sz="2200">
                <a:latin typeface="Arial" panose="020B0604020202020204" pitchFamily="34" charset="0"/>
              </a:rPr>
              <a:t> of £</a:t>
            </a:r>
          </a:p>
        </p:txBody>
      </p:sp>
      <p:grpSp>
        <p:nvGrpSpPr>
          <p:cNvPr id="3" name="Group 2">
            <a:extLst>
              <a:ext uri="{FF2B5EF4-FFF2-40B4-BE49-F238E27FC236}">
                <a16:creationId xmlns:a16="http://schemas.microsoft.com/office/drawing/2014/main" id="{771DCAFE-1236-B9D0-BCA2-7EEFE559ACAE}"/>
              </a:ext>
            </a:extLst>
          </p:cNvPr>
          <p:cNvGrpSpPr/>
          <p:nvPr/>
        </p:nvGrpSpPr>
        <p:grpSpPr>
          <a:xfrm>
            <a:off x="2640013" y="3165475"/>
            <a:ext cx="3998912" cy="120650"/>
            <a:chOff x="2640013" y="3165475"/>
            <a:chExt cx="3998912" cy="120650"/>
          </a:xfrm>
        </p:grpSpPr>
        <p:sp>
          <p:nvSpPr>
            <p:cNvPr id="674824" name="Line 8">
              <a:extLst>
                <a:ext uri="{FF2B5EF4-FFF2-40B4-BE49-F238E27FC236}">
                  <a16:creationId xmlns:a16="http://schemas.microsoft.com/office/drawing/2014/main" id="{E7878DDE-F908-498D-B0C3-D74CF822B35E}"/>
                </a:ext>
              </a:extLst>
            </p:cNvPr>
            <p:cNvSpPr>
              <a:spLocks noChangeShapeType="1"/>
            </p:cNvSpPr>
            <p:nvPr/>
          </p:nvSpPr>
          <p:spPr bwMode="auto">
            <a:xfrm>
              <a:off x="2640013" y="3232150"/>
              <a:ext cx="3930650" cy="0"/>
            </a:xfrm>
            <a:prstGeom prst="line">
              <a:avLst/>
            </a:prstGeom>
            <a:noFill/>
            <a:ln w="19050">
              <a:solidFill>
                <a:schemeClr val="tx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4825" name="Oval 9">
              <a:extLst>
                <a:ext uri="{FF2B5EF4-FFF2-40B4-BE49-F238E27FC236}">
                  <a16:creationId xmlns:a16="http://schemas.microsoft.com/office/drawing/2014/main" id="{4F20F42C-D758-4C57-A60C-BC1D80551FC4}"/>
                </a:ext>
              </a:extLst>
            </p:cNvPr>
            <p:cNvSpPr>
              <a:spLocks noChangeArrowheads="1"/>
            </p:cNvSpPr>
            <p:nvPr/>
          </p:nvSpPr>
          <p:spPr bwMode="auto">
            <a:xfrm>
              <a:off x="6511925" y="3165475"/>
              <a:ext cx="127000" cy="120650"/>
            </a:xfrm>
            <a:prstGeom prst="ellipse">
              <a:avLst/>
            </a:prstGeom>
            <a:solidFill>
              <a:srgbClr val="DCE1FF"/>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674826" name="Rectangle 10">
            <a:extLst>
              <a:ext uri="{FF2B5EF4-FFF2-40B4-BE49-F238E27FC236}">
                <a16:creationId xmlns:a16="http://schemas.microsoft.com/office/drawing/2014/main" id="{80A19249-7347-49F3-B068-F361E303FB99}"/>
              </a:ext>
            </a:extLst>
          </p:cNvPr>
          <p:cNvSpPr>
            <a:spLocks noChangeArrowheads="1"/>
          </p:cNvSpPr>
          <p:nvPr/>
        </p:nvSpPr>
        <p:spPr bwMode="auto">
          <a:xfrm>
            <a:off x="9353429" y="1358901"/>
            <a:ext cx="50494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tx2"/>
                </a:solidFill>
                <a:latin typeface="Arial" panose="020B0604020202020204" pitchFamily="34" charset="0"/>
              </a:rPr>
              <a:t>S</a:t>
            </a:r>
            <a:r>
              <a:rPr lang="en-GB" altLang="en-US" baseline="-25000" dirty="0">
                <a:solidFill>
                  <a:schemeClr val="tx2"/>
                </a:solidFill>
                <a:latin typeface="Arial" panose="020B0604020202020204" pitchFamily="34" charset="0"/>
              </a:rPr>
              <a:t>1</a:t>
            </a:r>
          </a:p>
        </p:txBody>
      </p:sp>
      <p:sp>
        <p:nvSpPr>
          <p:cNvPr id="674827" name="Rectangle 11">
            <a:extLst>
              <a:ext uri="{FF2B5EF4-FFF2-40B4-BE49-F238E27FC236}">
                <a16:creationId xmlns:a16="http://schemas.microsoft.com/office/drawing/2014/main" id="{A495D626-AFAF-4C96-9E5F-B98F6D71362C}"/>
              </a:ext>
            </a:extLst>
          </p:cNvPr>
          <p:cNvSpPr>
            <a:spLocks noChangeArrowheads="1"/>
          </p:cNvSpPr>
          <p:nvPr/>
        </p:nvSpPr>
        <p:spPr bwMode="auto">
          <a:xfrm>
            <a:off x="9362785" y="4549776"/>
            <a:ext cx="522579"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tx2"/>
                </a:solidFill>
                <a:latin typeface="Arial" panose="020B0604020202020204" pitchFamily="34" charset="0"/>
              </a:rPr>
              <a:t>D</a:t>
            </a:r>
            <a:r>
              <a:rPr lang="en-GB" altLang="en-US" baseline="-25000" dirty="0">
                <a:solidFill>
                  <a:schemeClr val="tx2"/>
                </a:solidFill>
                <a:latin typeface="Arial" panose="020B0604020202020204" pitchFamily="34" charset="0"/>
              </a:rPr>
              <a:t>1</a:t>
            </a:r>
          </a:p>
        </p:txBody>
      </p:sp>
      <p:sp>
        <p:nvSpPr>
          <p:cNvPr id="674828" name="Rectangle 12">
            <a:extLst>
              <a:ext uri="{FF2B5EF4-FFF2-40B4-BE49-F238E27FC236}">
                <a16:creationId xmlns:a16="http://schemas.microsoft.com/office/drawing/2014/main" id="{2CB33FFB-4390-417A-A0EA-1CC610F783C7}"/>
              </a:ext>
            </a:extLst>
          </p:cNvPr>
          <p:cNvSpPr>
            <a:spLocks noChangeArrowheads="1"/>
          </p:cNvSpPr>
          <p:nvPr/>
        </p:nvSpPr>
        <p:spPr bwMode="auto">
          <a:xfrm>
            <a:off x="9362954" y="2129519"/>
            <a:ext cx="504946"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a:solidFill>
                  <a:schemeClr val="accent2"/>
                </a:solidFill>
                <a:latin typeface="Arial" panose="020B0604020202020204" pitchFamily="34" charset="0"/>
              </a:rPr>
              <a:t>S</a:t>
            </a:r>
            <a:r>
              <a:rPr lang="en-GB" altLang="en-US" baseline="-25000">
                <a:solidFill>
                  <a:schemeClr val="accent2"/>
                </a:solidFill>
                <a:latin typeface="Arial" panose="020B0604020202020204" pitchFamily="34" charset="0"/>
              </a:rPr>
              <a:t>2</a:t>
            </a:r>
          </a:p>
        </p:txBody>
      </p:sp>
      <p:sp>
        <p:nvSpPr>
          <p:cNvPr id="674829" name="Rectangle 13">
            <a:extLst>
              <a:ext uri="{FF2B5EF4-FFF2-40B4-BE49-F238E27FC236}">
                <a16:creationId xmlns:a16="http://schemas.microsoft.com/office/drawing/2014/main" id="{1C5B0820-0DCB-4F69-B07A-1D486BE57515}"/>
              </a:ext>
            </a:extLst>
          </p:cNvPr>
          <p:cNvSpPr>
            <a:spLocks noChangeArrowheads="1"/>
          </p:cNvSpPr>
          <p:nvPr/>
        </p:nvSpPr>
        <p:spPr bwMode="auto">
          <a:xfrm>
            <a:off x="9380247" y="5383894"/>
            <a:ext cx="522579"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accent2"/>
                </a:solidFill>
                <a:latin typeface="Arial" panose="020B0604020202020204" pitchFamily="34" charset="0"/>
              </a:rPr>
              <a:t>D</a:t>
            </a:r>
            <a:r>
              <a:rPr lang="en-GB" altLang="en-US" baseline="-25000" dirty="0">
                <a:solidFill>
                  <a:schemeClr val="accent2"/>
                </a:solidFill>
                <a:latin typeface="Arial" panose="020B0604020202020204" pitchFamily="34" charset="0"/>
              </a:rPr>
              <a:t>2</a:t>
            </a:r>
          </a:p>
        </p:txBody>
      </p:sp>
      <p:grpSp>
        <p:nvGrpSpPr>
          <p:cNvPr id="4" name="Group 3">
            <a:extLst>
              <a:ext uri="{FF2B5EF4-FFF2-40B4-BE49-F238E27FC236}">
                <a16:creationId xmlns:a16="http://schemas.microsoft.com/office/drawing/2014/main" id="{9573F0C4-FDCE-ECAF-326B-68DC5941998B}"/>
              </a:ext>
            </a:extLst>
          </p:cNvPr>
          <p:cNvGrpSpPr/>
          <p:nvPr/>
        </p:nvGrpSpPr>
        <p:grpSpPr>
          <a:xfrm>
            <a:off x="2636838" y="3922713"/>
            <a:ext cx="4003675" cy="120650"/>
            <a:chOff x="2636838" y="3922713"/>
            <a:chExt cx="4003675" cy="120650"/>
          </a:xfrm>
        </p:grpSpPr>
        <p:sp>
          <p:nvSpPr>
            <p:cNvPr id="674830" name="Line 14">
              <a:extLst>
                <a:ext uri="{FF2B5EF4-FFF2-40B4-BE49-F238E27FC236}">
                  <a16:creationId xmlns:a16="http://schemas.microsoft.com/office/drawing/2014/main" id="{2ED52C06-FE34-4FA5-BE88-9D4CB9A22BC1}"/>
                </a:ext>
              </a:extLst>
            </p:cNvPr>
            <p:cNvSpPr>
              <a:spLocks noChangeShapeType="1"/>
            </p:cNvSpPr>
            <p:nvPr/>
          </p:nvSpPr>
          <p:spPr bwMode="auto">
            <a:xfrm>
              <a:off x="2636838" y="3997325"/>
              <a:ext cx="3922712" cy="0"/>
            </a:xfrm>
            <a:prstGeom prst="line">
              <a:avLst/>
            </a:prstGeom>
            <a:noFill/>
            <a:ln w="19050">
              <a:solidFill>
                <a:schemeClr val="accent2"/>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674831" name="Oval 15">
              <a:extLst>
                <a:ext uri="{FF2B5EF4-FFF2-40B4-BE49-F238E27FC236}">
                  <a16:creationId xmlns:a16="http://schemas.microsoft.com/office/drawing/2014/main" id="{35C7CF0B-71B6-47EA-9627-F24CD85A7B37}"/>
                </a:ext>
              </a:extLst>
            </p:cNvPr>
            <p:cNvSpPr>
              <a:spLocks noChangeArrowheads="1"/>
            </p:cNvSpPr>
            <p:nvPr/>
          </p:nvSpPr>
          <p:spPr bwMode="auto">
            <a:xfrm>
              <a:off x="6513513" y="3922713"/>
              <a:ext cx="127000" cy="120650"/>
            </a:xfrm>
            <a:prstGeom prst="ellipse">
              <a:avLst/>
            </a:prstGeom>
            <a:solidFill>
              <a:srgbClr val="FFCCCC"/>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sp>
        <p:nvSpPr>
          <p:cNvPr id="674832" name="Line 16">
            <a:extLst>
              <a:ext uri="{FF2B5EF4-FFF2-40B4-BE49-F238E27FC236}">
                <a16:creationId xmlns:a16="http://schemas.microsoft.com/office/drawing/2014/main" id="{425F00BF-CB6A-467D-991C-E2712B2F9ABB}"/>
              </a:ext>
            </a:extLst>
          </p:cNvPr>
          <p:cNvSpPr>
            <a:spLocks noChangeShapeType="1"/>
          </p:cNvSpPr>
          <p:nvPr/>
        </p:nvSpPr>
        <p:spPr bwMode="auto">
          <a:xfrm>
            <a:off x="1860681" y="3244851"/>
            <a:ext cx="0" cy="733425"/>
          </a:xfrm>
          <a:prstGeom prst="line">
            <a:avLst/>
          </a:prstGeom>
          <a:noFill/>
          <a:ln w="38100">
            <a:solidFill>
              <a:schemeClr val="accent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 name="Rectangle 5">
            <a:extLst>
              <a:ext uri="{FF2B5EF4-FFF2-40B4-BE49-F238E27FC236}">
                <a16:creationId xmlns:a16="http://schemas.microsoft.com/office/drawing/2014/main" id="{01062571-C113-4FB1-84DD-EA249723CBFE}"/>
              </a:ext>
            </a:extLst>
          </p:cNvPr>
          <p:cNvSpPr>
            <a:spLocks noGrp="1"/>
          </p:cNvSpPr>
          <p:nvPr>
            <p:ph type="title"/>
          </p:nvPr>
        </p:nvSpPr>
        <p:spPr>
          <a:xfrm>
            <a:off x="0" y="0"/>
            <a:ext cx="12192000" cy="877888"/>
          </a:xfrm>
          <a:noFill/>
          <a:ln/>
          <a:effectLst>
            <a:outerShdw dist="12700" dir="2700000" algn="ctr" rotWithShape="0">
              <a:schemeClr val="tx1"/>
            </a:outerShdw>
          </a:effectLst>
        </p:spPr>
        <p:txBody>
          <a:bodyPr vert="horz" wrap="square" lIns="92075" tIns="46038" rIns="92075" bIns="46038" numCol="1" anchor="ctr" anchorCtr="0" compatLnSpc="1">
            <a:prstTxWarp prst="textNoShape">
              <a:avLst/>
            </a:prstTxWarp>
            <a:normAutofit fontScale="90000"/>
          </a:bodyPr>
          <a:lstStyle/>
          <a:p>
            <a:pPr>
              <a:lnSpc>
                <a:spcPct val="95000"/>
              </a:lnSpc>
            </a:pPr>
            <a:r>
              <a:rPr lang="en-GB" altLang="en-US" sz="2800" b="1" dirty="0">
                <a:solidFill>
                  <a:srgbClr val="4B6B2B"/>
                </a:solidFill>
              </a:rPr>
              <a:t>Floating exchange rates:</a:t>
            </a:r>
            <a:br>
              <a:rPr lang="en-GB" altLang="en-US" sz="2800" b="1" dirty="0">
                <a:solidFill>
                  <a:srgbClr val="4B6B2B"/>
                </a:solidFill>
              </a:rPr>
            </a:br>
            <a:r>
              <a:rPr lang="en-GB" altLang="en-US" sz="2800" b="1" dirty="0">
                <a:solidFill>
                  <a:srgbClr val="4B6B2B"/>
                </a:solidFill>
              </a:rPr>
              <a:t>movement to a new equilibrium</a:t>
            </a:r>
          </a:p>
        </p:txBody>
      </p:sp>
    </p:spTree>
    <p:extLst>
      <p:ext uri="{BB962C8B-B14F-4D97-AF65-F5344CB8AC3E}">
        <p14:creationId xmlns:p14="http://schemas.microsoft.com/office/powerpoint/2010/main" val="24845357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2000"/>
                            </p:stCondLst>
                            <p:childTnLst>
                              <p:par>
                                <p:cTn id="5" presetID="22" presetClass="entr" presetSubtype="2" fill="hold" grpId="0" nodeType="afterEffect">
                                  <p:stCondLst>
                                    <p:cond delay="1000"/>
                                  </p:stCondLst>
                                  <p:childTnLst>
                                    <p:set>
                                      <p:cBhvr>
                                        <p:cTn id="6" dur="1" fill="hold">
                                          <p:stCondLst>
                                            <p:cond delay="0"/>
                                          </p:stCondLst>
                                        </p:cTn>
                                        <p:tgtEl>
                                          <p:spTgt spid="2">
                                            <p:graphicEl>
                                              <a:chart seriesIdx="0" categoryIdx="-4" bldStep="series"/>
                                            </p:graphicEl>
                                          </p:spTgt>
                                        </p:tgtEl>
                                        <p:attrNameLst>
                                          <p:attrName>style.visibility</p:attrName>
                                        </p:attrNameLst>
                                      </p:cBhvr>
                                      <p:to>
                                        <p:strVal val="visible"/>
                                      </p:to>
                                    </p:set>
                                    <p:animEffect transition="in" filter="wipe(right)">
                                      <p:cBhvr>
                                        <p:cTn id="7" dur="1000"/>
                                        <p:tgtEl>
                                          <p:spTgt spid="2">
                                            <p:graphicEl>
                                              <a:chart seriesIdx="0" categoryIdx="-4" bldStep="series"/>
                                            </p:graphicEl>
                                          </p:spTgt>
                                        </p:tgtEl>
                                      </p:cBhvr>
                                    </p:animEffect>
                                  </p:childTnLst>
                                </p:cTn>
                              </p:par>
                            </p:childTnLst>
                          </p:cTn>
                        </p:par>
                        <p:par>
                          <p:cTn id="8" fill="hold">
                            <p:stCondLst>
                              <p:cond delay="4000"/>
                            </p:stCondLst>
                            <p:childTnLst>
                              <p:par>
                                <p:cTn id="9" presetID="22" presetClass="entr" presetSubtype="4" fill="hold" grpId="0" nodeType="afterEffect">
                                  <p:stCondLst>
                                    <p:cond delay="0"/>
                                  </p:stCondLst>
                                  <p:childTnLst>
                                    <p:set>
                                      <p:cBhvr>
                                        <p:cTn id="10" dur="1" fill="hold">
                                          <p:stCondLst>
                                            <p:cond delay="0"/>
                                          </p:stCondLst>
                                        </p:cTn>
                                        <p:tgtEl>
                                          <p:spTgt spid="674827"/>
                                        </p:tgtEl>
                                        <p:attrNameLst>
                                          <p:attrName>style.visibility</p:attrName>
                                        </p:attrNameLst>
                                      </p:cBhvr>
                                      <p:to>
                                        <p:strVal val="visible"/>
                                      </p:to>
                                    </p:set>
                                    <p:animEffect transition="in" filter="wipe(down)">
                                      <p:cBhvr>
                                        <p:cTn id="11" dur="1000"/>
                                        <p:tgtEl>
                                          <p:spTgt spid="674827"/>
                                        </p:tgtEl>
                                      </p:cBhvr>
                                    </p:animEffect>
                                  </p:childTnLst>
                                </p:cTn>
                              </p:par>
                            </p:childTnLst>
                          </p:cTn>
                        </p:par>
                        <p:par>
                          <p:cTn id="12" fill="hold">
                            <p:stCondLst>
                              <p:cond delay="5000"/>
                            </p:stCondLst>
                            <p:childTnLst>
                              <p:par>
                                <p:cTn id="13" presetID="22" presetClass="entr" presetSubtype="2" fill="hold" grpId="0" nodeType="afterEffect">
                                  <p:stCondLst>
                                    <p:cond delay="1000"/>
                                  </p:stCondLst>
                                  <p:childTnLst>
                                    <p:set>
                                      <p:cBhvr>
                                        <p:cTn id="14" dur="1" fill="hold">
                                          <p:stCondLst>
                                            <p:cond delay="0"/>
                                          </p:stCondLst>
                                        </p:cTn>
                                        <p:tgtEl>
                                          <p:spTgt spid="2">
                                            <p:graphicEl>
                                              <a:chart seriesIdx="1" categoryIdx="-4" bldStep="series"/>
                                            </p:graphicEl>
                                          </p:spTgt>
                                        </p:tgtEl>
                                        <p:attrNameLst>
                                          <p:attrName>style.visibility</p:attrName>
                                        </p:attrNameLst>
                                      </p:cBhvr>
                                      <p:to>
                                        <p:strVal val="visible"/>
                                      </p:to>
                                    </p:set>
                                    <p:animEffect transition="in" filter="wipe(right)">
                                      <p:cBhvr>
                                        <p:cTn id="15" dur="1000"/>
                                        <p:tgtEl>
                                          <p:spTgt spid="2">
                                            <p:graphicEl>
                                              <a:chart seriesIdx="1" categoryIdx="-4" bldStep="series"/>
                                            </p:graphicEl>
                                          </p:spTgt>
                                        </p:tgtEl>
                                      </p:cBhvr>
                                    </p:animEffect>
                                  </p:childTnLst>
                                </p:cTn>
                              </p:par>
                            </p:childTnLst>
                          </p:cTn>
                        </p:par>
                        <p:par>
                          <p:cTn id="16" fill="hold">
                            <p:stCondLst>
                              <p:cond delay="7000"/>
                            </p:stCondLst>
                            <p:childTnLst>
                              <p:par>
                                <p:cTn id="17" presetID="22" presetClass="entr" presetSubtype="4" fill="hold" grpId="0" nodeType="afterEffect">
                                  <p:stCondLst>
                                    <p:cond delay="0"/>
                                  </p:stCondLst>
                                  <p:childTnLst>
                                    <p:set>
                                      <p:cBhvr>
                                        <p:cTn id="18" dur="1" fill="hold">
                                          <p:stCondLst>
                                            <p:cond delay="0"/>
                                          </p:stCondLst>
                                        </p:cTn>
                                        <p:tgtEl>
                                          <p:spTgt spid="674826"/>
                                        </p:tgtEl>
                                        <p:attrNameLst>
                                          <p:attrName>style.visibility</p:attrName>
                                        </p:attrNameLst>
                                      </p:cBhvr>
                                      <p:to>
                                        <p:strVal val="visible"/>
                                      </p:to>
                                    </p:set>
                                    <p:animEffect transition="in" filter="wipe(down)">
                                      <p:cBhvr>
                                        <p:cTn id="19" dur="1000"/>
                                        <p:tgtEl>
                                          <p:spTgt spid="674826"/>
                                        </p:tgtEl>
                                      </p:cBhvr>
                                    </p:animEffect>
                                  </p:childTnLst>
                                </p:cTn>
                              </p:par>
                            </p:childTnLst>
                          </p:cTn>
                        </p:par>
                        <p:par>
                          <p:cTn id="20" fill="hold">
                            <p:stCondLst>
                              <p:cond delay="8000"/>
                            </p:stCondLst>
                            <p:childTnLst>
                              <p:par>
                                <p:cTn id="21" presetID="22" presetClass="entr" presetSubtype="2" fill="hold" grpId="0" nodeType="afterEffect">
                                  <p:stCondLst>
                                    <p:cond delay="1000"/>
                                  </p:stCondLst>
                                  <p:childTnLst>
                                    <p:set>
                                      <p:cBhvr>
                                        <p:cTn id="22" dur="1" fill="hold">
                                          <p:stCondLst>
                                            <p:cond delay="0"/>
                                          </p:stCondLst>
                                        </p:cTn>
                                        <p:tgtEl>
                                          <p:spTgt spid="2">
                                            <p:graphicEl>
                                              <a:chart seriesIdx="2" categoryIdx="-4" bldStep="series"/>
                                            </p:graphicEl>
                                          </p:spTgt>
                                        </p:tgtEl>
                                        <p:attrNameLst>
                                          <p:attrName>style.visibility</p:attrName>
                                        </p:attrNameLst>
                                      </p:cBhvr>
                                      <p:to>
                                        <p:strVal val="visible"/>
                                      </p:to>
                                    </p:set>
                                    <p:animEffect transition="in" filter="wipe(right)">
                                      <p:cBhvr>
                                        <p:cTn id="23" dur="1000"/>
                                        <p:tgtEl>
                                          <p:spTgt spid="2">
                                            <p:graphicEl>
                                              <a:chart seriesIdx="2" categoryIdx="-4" bldStep="series"/>
                                            </p:graphicEl>
                                          </p:spTgt>
                                        </p:tgtEl>
                                      </p:cBhvr>
                                    </p:animEffect>
                                  </p:childTnLst>
                                </p:cTn>
                              </p:par>
                            </p:childTnLst>
                          </p:cTn>
                        </p:par>
                        <p:par>
                          <p:cTn id="24" fill="hold">
                            <p:stCondLst>
                              <p:cond delay="10000"/>
                            </p:stCondLst>
                            <p:childTnLst>
                              <p:par>
                                <p:cTn id="25" presetID="22" presetClass="entr" presetSubtype="4" fill="hold" grpId="0" nodeType="afterEffect">
                                  <p:stCondLst>
                                    <p:cond delay="0"/>
                                  </p:stCondLst>
                                  <p:childTnLst>
                                    <p:set>
                                      <p:cBhvr>
                                        <p:cTn id="26" dur="1" fill="hold">
                                          <p:stCondLst>
                                            <p:cond delay="0"/>
                                          </p:stCondLst>
                                        </p:cTn>
                                        <p:tgtEl>
                                          <p:spTgt spid="674829"/>
                                        </p:tgtEl>
                                        <p:attrNameLst>
                                          <p:attrName>style.visibility</p:attrName>
                                        </p:attrNameLst>
                                      </p:cBhvr>
                                      <p:to>
                                        <p:strVal val="visible"/>
                                      </p:to>
                                    </p:set>
                                    <p:animEffect transition="in" filter="wipe(down)">
                                      <p:cBhvr>
                                        <p:cTn id="27" dur="1000"/>
                                        <p:tgtEl>
                                          <p:spTgt spid="674829"/>
                                        </p:tgtEl>
                                      </p:cBhvr>
                                    </p:animEffect>
                                  </p:childTnLst>
                                </p:cTn>
                              </p:par>
                            </p:childTnLst>
                          </p:cTn>
                        </p:par>
                        <p:par>
                          <p:cTn id="28" fill="hold">
                            <p:stCondLst>
                              <p:cond delay="11000"/>
                            </p:stCondLst>
                            <p:childTnLst>
                              <p:par>
                                <p:cTn id="29" presetID="22" presetClass="entr" presetSubtype="2" fill="hold" grpId="0" nodeType="afterEffect">
                                  <p:stCondLst>
                                    <p:cond delay="1000"/>
                                  </p:stCondLst>
                                  <p:childTnLst>
                                    <p:set>
                                      <p:cBhvr>
                                        <p:cTn id="30" dur="1" fill="hold">
                                          <p:stCondLst>
                                            <p:cond delay="0"/>
                                          </p:stCondLst>
                                        </p:cTn>
                                        <p:tgtEl>
                                          <p:spTgt spid="2">
                                            <p:graphicEl>
                                              <a:chart seriesIdx="3" categoryIdx="-4" bldStep="series"/>
                                            </p:graphicEl>
                                          </p:spTgt>
                                        </p:tgtEl>
                                        <p:attrNameLst>
                                          <p:attrName>style.visibility</p:attrName>
                                        </p:attrNameLst>
                                      </p:cBhvr>
                                      <p:to>
                                        <p:strVal val="visible"/>
                                      </p:to>
                                    </p:set>
                                    <p:animEffect transition="in" filter="wipe(right)">
                                      <p:cBhvr>
                                        <p:cTn id="31" dur="1000"/>
                                        <p:tgtEl>
                                          <p:spTgt spid="2">
                                            <p:graphicEl>
                                              <a:chart seriesIdx="3" categoryIdx="-4" bldStep="series"/>
                                            </p:graphicEl>
                                          </p:spTgt>
                                        </p:tgtEl>
                                      </p:cBhvr>
                                    </p:animEffect>
                                  </p:childTnLst>
                                </p:cTn>
                              </p:par>
                            </p:childTnLst>
                          </p:cTn>
                        </p:par>
                        <p:par>
                          <p:cTn id="32" fill="hold">
                            <p:stCondLst>
                              <p:cond delay="13000"/>
                            </p:stCondLst>
                            <p:childTnLst>
                              <p:par>
                                <p:cTn id="33" presetID="22" presetClass="entr" presetSubtype="4" fill="hold" grpId="0" nodeType="afterEffect">
                                  <p:stCondLst>
                                    <p:cond delay="0"/>
                                  </p:stCondLst>
                                  <p:childTnLst>
                                    <p:set>
                                      <p:cBhvr>
                                        <p:cTn id="34" dur="1" fill="hold">
                                          <p:stCondLst>
                                            <p:cond delay="0"/>
                                          </p:stCondLst>
                                        </p:cTn>
                                        <p:tgtEl>
                                          <p:spTgt spid="674828"/>
                                        </p:tgtEl>
                                        <p:attrNameLst>
                                          <p:attrName>style.visibility</p:attrName>
                                        </p:attrNameLst>
                                      </p:cBhvr>
                                      <p:to>
                                        <p:strVal val="visible"/>
                                      </p:to>
                                    </p:set>
                                    <p:animEffect transition="in" filter="wipe(down)">
                                      <p:cBhvr>
                                        <p:cTn id="35" dur="1000"/>
                                        <p:tgtEl>
                                          <p:spTgt spid="674828"/>
                                        </p:tgtEl>
                                      </p:cBhvr>
                                    </p:animEffect>
                                  </p:childTnLst>
                                </p:cTn>
                              </p:par>
                            </p:childTnLst>
                          </p:cTn>
                        </p:par>
                        <p:par>
                          <p:cTn id="36" fill="hold">
                            <p:stCondLst>
                              <p:cond delay="14000"/>
                            </p:stCondLst>
                            <p:childTnLst>
                              <p:par>
                                <p:cTn id="37" presetID="16" presetClass="entr" presetSubtype="21" fill="hold" nodeType="afterEffect">
                                  <p:stCondLst>
                                    <p:cond delay="1000"/>
                                  </p:stCondLst>
                                  <p:childTnLst>
                                    <p:set>
                                      <p:cBhvr>
                                        <p:cTn id="38" dur="1" fill="hold">
                                          <p:stCondLst>
                                            <p:cond delay="0"/>
                                          </p:stCondLst>
                                        </p:cTn>
                                        <p:tgtEl>
                                          <p:spTgt spid="3"/>
                                        </p:tgtEl>
                                        <p:attrNameLst>
                                          <p:attrName>style.visibility</p:attrName>
                                        </p:attrNameLst>
                                      </p:cBhvr>
                                      <p:to>
                                        <p:strVal val="visible"/>
                                      </p:to>
                                    </p:set>
                                    <p:animEffect transition="in" filter="barn(inVertical)">
                                      <p:cBhvr>
                                        <p:cTn id="39" dur="1000"/>
                                        <p:tgtEl>
                                          <p:spTgt spid="3"/>
                                        </p:tgtEl>
                                      </p:cBhvr>
                                    </p:animEffect>
                                  </p:childTnLst>
                                </p:cTn>
                              </p:par>
                            </p:childTnLst>
                          </p:cTn>
                        </p:par>
                        <p:par>
                          <p:cTn id="40" fill="hold">
                            <p:stCondLst>
                              <p:cond delay="16000"/>
                            </p:stCondLst>
                            <p:childTnLst>
                              <p:par>
                                <p:cTn id="41" presetID="16" presetClass="entr" presetSubtype="21" fill="hold" nodeType="afterEffect">
                                  <p:stCondLst>
                                    <p:cond delay="1000"/>
                                  </p:stCondLst>
                                  <p:childTnLst>
                                    <p:set>
                                      <p:cBhvr>
                                        <p:cTn id="42" dur="1" fill="hold">
                                          <p:stCondLst>
                                            <p:cond delay="0"/>
                                          </p:stCondLst>
                                        </p:cTn>
                                        <p:tgtEl>
                                          <p:spTgt spid="4"/>
                                        </p:tgtEl>
                                        <p:attrNameLst>
                                          <p:attrName>style.visibility</p:attrName>
                                        </p:attrNameLst>
                                      </p:cBhvr>
                                      <p:to>
                                        <p:strVal val="visible"/>
                                      </p:to>
                                    </p:set>
                                    <p:animEffect transition="in" filter="barn(inVertical)">
                                      <p:cBhvr>
                                        <p:cTn id="43" dur="1000"/>
                                        <p:tgtEl>
                                          <p:spTgt spid="4"/>
                                        </p:tgtEl>
                                      </p:cBhvr>
                                    </p:animEffect>
                                  </p:childTnLst>
                                </p:cTn>
                              </p:par>
                            </p:childTnLst>
                          </p:cTn>
                        </p:par>
                        <p:par>
                          <p:cTn id="44" fill="hold">
                            <p:stCondLst>
                              <p:cond delay="18000"/>
                            </p:stCondLst>
                            <p:childTnLst>
                              <p:par>
                                <p:cTn id="45" presetID="22" presetClass="entr" presetSubtype="4" fill="hold" grpId="0" nodeType="afterEffect">
                                  <p:stCondLst>
                                    <p:cond delay="1000"/>
                                  </p:stCondLst>
                                  <p:childTnLst>
                                    <p:set>
                                      <p:cBhvr>
                                        <p:cTn id="46" dur="1" fill="hold">
                                          <p:stCondLst>
                                            <p:cond delay="0"/>
                                          </p:stCondLst>
                                        </p:cTn>
                                        <p:tgtEl>
                                          <p:spTgt spid="674832"/>
                                        </p:tgtEl>
                                        <p:attrNameLst>
                                          <p:attrName>style.visibility</p:attrName>
                                        </p:attrNameLst>
                                      </p:cBhvr>
                                      <p:to>
                                        <p:strVal val="visible"/>
                                      </p:to>
                                    </p:set>
                                    <p:animEffect transition="in" filter="wipe(down)">
                                      <p:cBhvr>
                                        <p:cTn id="47" dur="1000"/>
                                        <p:tgtEl>
                                          <p:spTgt spid="674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uiExpand="1">
        <p:bldSub>
          <a:bldChart bld="series"/>
        </p:bldSub>
      </p:bldGraphic>
      <p:bldP spid="674826" grpId="0"/>
      <p:bldP spid="674827" grpId="0"/>
      <p:bldP spid="674828" grpId="0"/>
      <p:bldP spid="674829" grpId="0"/>
      <p:bldP spid="67483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EEB5B00-43ED-4015-BB05-1703394EAE24}"/>
              </a:ext>
            </a:extLst>
          </p:cNvPr>
          <p:cNvSpPr>
            <a:spLocks noGrp="1" noChangeArrowheads="1"/>
          </p:cNvSpPr>
          <p:nvPr>
            <p:ph type="title"/>
          </p:nvPr>
        </p:nvSpPr>
        <p:spPr/>
        <p:txBody>
          <a:bodyPr/>
          <a:lstStyle/>
          <a:p>
            <a:r>
              <a:rPr lang="en-GB" altLang="en-US" dirty="0"/>
              <a:t>What causes exchange rates to vary?</a:t>
            </a:r>
          </a:p>
        </p:txBody>
      </p:sp>
      <p:sp>
        <p:nvSpPr>
          <p:cNvPr id="533507" name="Rectangle 3">
            <a:extLst>
              <a:ext uri="{FF2B5EF4-FFF2-40B4-BE49-F238E27FC236}">
                <a16:creationId xmlns:a16="http://schemas.microsoft.com/office/drawing/2014/main" id="{827C40CD-93E8-4A44-BC34-0DADAC68914D}"/>
              </a:ext>
            </a:extLst>
          </p:cNvPr>
          <p:cNvSpPr>
            <a:spLocks noGrp="1" noChangeArrowheads="1"/>
          </p:cNvSpPr>
          <p:nvPr>
            <p:ph sz="quarter" idx="1"/>
          </p:nvPr>
        </p:nvSpPr>
        <p:spPr>
          <a:xfrm>
            <a:off x="402167" y="1451429"/>
            <a:ext cx="11379200" cy="4889500"/>
          </a:xfrm>
        </p:spPr>
        <p:txBody>
          <a:bodyPr/>
          <a:lstStyle/>
          <a:p>
            <a:pPr>
              <a:spcBef>
                <a:spcPts val="600"/>
              </a:spcBef>
            </a:pPr>
            <a:r>
              <a:rPr lang="en-GB" altLang="en-US" sz="3100" dirty="0">
                <a:latin typeface="+mn-lt"/>
              </a:rPr>
              <a:t>Think of sterling depreciating (falling) against US dollar</a:t>
            </a:r>
          </a:p>
          <a:p>
            <a:pPr lvl="1">
              <a:spcBef>
                <a:spcPts val="600"/>
              </a:spcBef>
            </a:pPr>
            <a:r>
              <a:rPr lang="en-GB" altLang="en-US" sz="2700" dirty="0">
                <a:latin typeface="+mn-lt"/>
              </a:rPr>
              <a:t>Must be less demand for sterling relative to US dollars</a:t>
            </a:r>
          </a:p>
          <a:p>
            <a:pPr>
              <a:spcBef>
                <a:spcPts val="600"/>
              </a:spcBef>
            </a:pPr>
            <a:r>
              <a:rPr lang="en-GB" altLang="en-US" sz="3100" dirty="0">
                <a:latin typeface="+mn-lt"/>
              </a:rPr>
              <a:t>Several possibilities</a:t>
            </a:r>
          </a:p>
          <a:p>
            <a:pPr lvl="1">
              <a:spcBef>
                <a:spcPts val="600"/>
              </a:spcBef>
            </a:pPr>
            <a:r>
              <a:rPr lang="en-GB" altLang="en-US" sz="2700" dirty="0">
                <a:latin typeface="+mn-lt"/>
              </a:rPr>
              <a:t>Reduction in demand for UK exports / </a:t>
            </a:r>
            <a:br>
              <a:rPr lang="en-GB" altLang="en-US" sz="2700" dirty="0">
                <a:latin typeface="+mn-lt"/>
              </a:rPr>
            </a:br>
            <a:r>
              <a:rPr lang="en-GB" altLang="en-US" sz="2700" dirty="0">
                <a:latin typeface="+mn-lt"/>
              </a:rPr>
              <a:t>increase in supply of US exports</a:t>
            </a:r>
          </a:p>
          <a:p>
            <a:pPr lvl="2">
              <a:spcBef>
                <a:spcPts val="600"/>
              </a:spcBef>
            </a:pPr>
            <a:r>
              <a:rPr lang="en-GB" altLang="en-US" sz="2400" dirty="0">
                <a:latin typeface="+mn-lt"/>
              </a:rPr>
              <a:t>Would naturally follow rising UK income relative to USA</a:t>
            </a:r>
          </a:p>
          <a:p>
            <a:pPr lvl="1">
              <a:spcBef>
                <a:spcPts val="600"/>
              </a:spcBef>
            </a:pPr>
            <a:r>
              <a:rPr lang="en-GB" altLang="en-US" sz="2700" dirty="0">
                <a:latin typeface="+mn-lt"/>
              </a:rPr>
              <a:t>Expectation of higher inflation in the UK; or lower (real) interest rates</a:t>
            </a:r>
          </a:p>
          <a:p>
            <a:pPr lvl="1">
              <a:spcBef>
                <a:spcPts val="600"/>
              </a:spcBef>
            </a:pPr>
            <a:r>
              <a:rPr lang="en-GB" altLang="en-US" sz="2700" dirty="0">
                <a:latin typeface="+mn-lt"/>
              </a:rPr>
              <a:t>Belief that US offers superior investment returns – </a:t>
            </a:r>
            <a:br>
              <a:rPr lang="en-GB" altLang="en-US" sz="2700" dirty="0">
                <a:latin typeface="+mn-lt"/>
              </a:rPr>
            </a:br>
            <a:r>
              <a:rPr lang="en-GB" altLang="en-US" sz="2700" dirty="0">
                <a:latin typeface="+mn-lt"/>
              </a:rPr>
              <a:t>leading to flow of capital into USA</a:t>
            </a:r>
          </a:p>
          <a:p>
            <a:pPr lvl="1">
              <a:spcBef>
                <a:spcPts val="600"/>
              </a:spcBef>
            </a:pPr>
            <a:r>
              <a:rPr lang="en-GB" altLang="en-US" sz="2700" dirty="0">
                <a:latin typeface="+mn-lt"/>
              </a:rPr>
              <a:t>Self-fulfilling beliefs – especially likely in trading: </a:t>
            </a:r>
          </a:p>
          <a:p>
            <a:pPr lvl="2">
              <a:spcBef>
                <a:spcPts val="600"/>
              </a:spcBef>
            </a:pPr>
            <a:r>
              <a:rPr lang="en-GB" altLang="en-US" sz="2400" dirty="0">
                <a:latin typeface="+mn-lt"/>
              </a:rPr>
              <a:t>Keynes’ beauty contest story</a:t>
            </a:r>
          </a:p>
        </p:txBody>
      </p:sp>
    </p:spTree>
    <p:extLst>
      <p:ext uri="{BB962C8B-B14F-4D97-AF65-F5344CB8AC3E}">
        <p14:creationId xmlns:p14="http://schemas.microsoft.com/office/powerpoint/2010/main" val="4035134014"/>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fade">
                                      <p:cBhvr>
                                        <p:cTn id="7" dur="1000"/>
                                        <p:tgtEl>
                                          <p:spTgt spid="533507">
                                            <p:txEl>
                                              <p:pRg st="0" end="0"/>
                                            </p:txEl>
                                          </p:spTgt>
                                        </p:tgtEl>
                                      </p:cBhvr>
                                    </p:animEffect>
                                    <p:anim calcmode="lin" valueType="num">
                                      <p:cBhvr>
                                        <p:cTn id="8" dur="1000" fill="hold"/>
                                        <p:tgtEl>
                                          <p:spTgt spid="533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350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33507">
                                            <p:txEl>
                                              <p:pRg st="1" end="1"/>
                                            </p:txEl>
                                          </p:spTgt>
                                        </p:tgtEl>
                                        <p:attrNameLst>
                                          <p:attrName>style.visibility</p:attrName>
                                        </p:attrNameLst>
                                      </p:cBhvr>
                                      <p:to>
                                        <p:strVal val="visible"/>
                                      </p:to>
                                    </p:set>
                                    <p:animEffect transition="in" filter="fade">
                                      <p:cBhvr>
                                        <p:cTn id="12" dur="1000"/>
                                        <p:tgtEl>
                                          <p:spTgt spid="533507">
                                            <p:txEl>
                                              <p:pRg st="1" end="1"/>
                                            </p:txEl>
                                          </p:spTgt>
                                        </p:tgtEl>
                                      </p:cBhvr>
                                    </p:animEffect>
                                    <p:anim calcmode="lin" valueType="num">
                                      <p:cBhvr>
                                        <p:cTn id="13" dur="1000" fill="hold"/>
                                        <p:tgtEl>
                                          <p:spTgt spid="53350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335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33507">
                                            <p:txEl>
                                              <p:pRg st="2" end="2"/>
                                            </p:txEl>
                                          </p:spTgt>
                                        </p:tgtEl>
                                        <p:attrNameLst>
                                          <p:attrName>style.visibility</p:attrName>
                                        </p:attrNameLst>
                                      </p:cBhvr>
                                      <p:to>
                                        <p:strVal val="visible"/>
                                      </p:to>
                                    </p:set>
                                    <p:animEffect transition="in" filter="fade">
                                      <p:cBhvr>
                                        <p:cTn id="19" dur="1000"/>
                                        <p:tgtEl>
                                          <p:spTgt spid="533507">
                                            <p:txEl>
                                              <p:pRg st="2" end="2"/>
                                            </p:txEl>
                                          </p:spTgt>
                                        </p:tgtEl>
                                      </p:cBhvr>
                                    </p:animEffect>
                                    <p:anim calcmode="lin" valueType="num">
                                      <p:cBhvr>
                                        <p:cTn id="20" dur="1000" fill="hold"/>
                                        <p:tgtEl>
                                          <p:spTgt spid="53350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33507">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1000"/>
                                  </p:stCondLst>
                                  <p:childTnLst>
                                    <p:set>
                                      <p:cBhvr>
                                        <p:cTn id="24" dur="1" fill="hold">
                                          <p:stCondLst>
                                            <p:cond delay="0"/>
                                          </p:stCondLst>
                                        </p:cTn>
                                        <p:tgtEl>
                                          <p:spTgt spid="533507">
                                            <p:txEl>
                                              <p:pRg st="3" end="3"/>
                                            </p:txEl>
                                          </p:spTgt>
                                        </p:tgtEl>
                                        <p:attrNameLst>
                                          <p:attrName>style.visibility</p:attrName>
                                        </p:attrNameLst>
                                      </p:cBhvr>
                                      <p:to>
                                        <p:strVal val="visible"/>
                                      </p:to>
                                    </p:set>
                                    <p:animEffect transition="in" filter="fade">
                                      <p:cBhvr>
                                        <p:cTn id="25" dur="1000"/>
                                        <p:tgtEl>
                                          <p:spTgt spid="533507">
                                            <p:txEl>
                                              <p:pRg st="3" end="3"/>
                                            </p:txEl>
                                          </p:spTgt>
                                        </p:tgtEl>
                                      </p:cBhvr>
                                    </p:animEffect>
                                    <p:anim calcmode="lin" valueType="num">
                                      <p:cBhvr>
                                        <p:cTn id="26" dur="1000" fill="hold"/>
                                        <p:tgtEl>
                                          <p:spTgt spid="533507">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533507">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1000"/>
                                  </p:stCondLst>
                                  <p:childTnLst>
                                    <p:set>
                                      <p:cBhvr>
                                        <p:cTn id="30" dur="1" fill="hold">
                                          <p:stCondLst>
                                            <p:cond delay="0"/>
                                          </p:stCondLst>
                                        </p:cTn>
                                        <p:tgtEl>
                                          <p:spTgt spid="533507">
                                            <p:txEl>
                                              <p:pRg st="4" end="4"/>
                                            </p:txEl>
                                          </p:spTgt>
                                        </p:tgtEl>
                                        <p:attrNameLst>
                                          <p:attrName>style.visibility</p:attrName>
                                        </p:attrNameLst>
                                      </p:cBhvr>
                                      <p:to>
                                        <p:strVal val="visible"/>
                                      </p:to>
                                    </p:set>
                                    <p:animEffect transition="in" filter="fade">
                                      <p:cBhvr>
                                        <p:cTn id="31" dur="1000"/>
                                        <p:tgtEl>
                                          <p:spTgt spid="533507">
                                            <p:txEl>
                                              <p:pRg st="4" end="4"/>
                                            </p:txEl>
                                          </p:spTgt>
                                        </p:tgtEl>
                                      </p:cBhvr>
                                    </p:animEffect>
                                    <p:anim calcmode="lin" valueType="num">
                                      <p:cBhvr>
                                        <p:cTn id="32" dur="1000" fill="hold"/>
                                        <p:tgtEl>
                                          <p:spTgt spid="53350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533507">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1000"/>
                                  </p:stCondLst>
                                  <p:childTnLst>
                                    <p:set>
                                      <p:cBhvr>
                                        <p:cTn id="36" dur="1" fill="hold">
                                          <p:stCondLst>
                                            <p:cond delay="0"/>
                                          </p:stCondLst>
                                        </p:cTn>
                                        <p:tgtEl>
                                          <p:spTgt spid="533507">
                                            <p:txEl>
                                              <p:pRg st="5" end="5"/>
                                            </p:txEl>
                                          </p:spTgt>
                                        </p:tgtEl>
                                        <p:attrNameLst>
                                          <p:attrName>style.visibility</p:attrName>
                                        </p:attrNameLst>
                                      </p:cBhvr>
                                      <p:to>
                                        <p:strVal val="visible"/>
                                      </p:to>
                                    </p:set>
                                    <p:animEffect transition="in" filter="fade">
                                      <p:cBhvr>
                                        <p:cTn id="37" dur="1000"/>
                                        <p:tgtEl>
                                          <p:spTgt spid="533507">
                                            <p:txEl>
                                              <p:pRg st="5" end="5"/>
                                            </p:txEl>
                                          </p:spTgt>
                                        </p:tgtEl>
                                      </p:cBhvr>
                                    </p:animEffect>
                                    <p:anim calcmode="lin" valueType="num">
                                      <p:cBhvr>
                                        <p:cTn id="38" dur="1000" fill="hold"/>
                                        <p:tgtEl>
                                          <p:spTgt spid="533507">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533507">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7000"/>
                            </p:stCondLst>
                            <p:childTnLst>
                              <p:par>
                                <p:cTn id="41" presetID="42" presetClass="entr" presetSubtype="0" fill="hold" nodeType="afterEffect">
                                  <p:stCondLst>
                                    <p:cond delay="1000"/>
                                  </p:stCondLst>
                                  <p:childTnLst>
                                    <p:set>
                                      <p:cBhvr>
                                        <p:cTn id="42" dur="1" fill="hold">
                                          <p:stCondLst>
                                            <p:cond delay="0"/>
                                          </p:stCondLst>
                                        </p:cTn>
                                        <p:tgtEl>
                                          <p:spTgt spid="533507">
                                            <p:txEl>
                                              <p:pRg st="6" end="6"/>
                                            </p:txEl>
                                          </p:spTgt>
                                        </p:tgtEl>
                                        <p:attrNameLst>
                                          <p:attrName>style.visibility</p:attrName>
                                        </p:attrNameLst>
                                      </p:cBhvr>
                                      <p:to>
                                        <p:strVal val="visible"/>
                                      </p:to>
                                    </p:set>
                                    <p:animEffect transition="in" filter="fade">
                                      <p:cBhvr>
                                        <p:cTn id="43" dur="1000"/>
                                        <p:tgtEl>
                                          <p:spTgt spid="533507">
                                            <p:txEl>
                                              <p:pRg st="6" end="6"/>
                                            </p:txEl>
                                          </p:spTgt>
                                        </p:tgtEl>
                                      </p:cBhvr>
                                    </p:animEffect>
                                    <p:anim calcmode="lin" valueType="num">
                                      <p:cBhvr>
                                        <p:cTn id="44" dur="1000" fill="hold"/>
                                        <p:tgtEl>
                                          <p:spTgt spid="53350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533507">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9000"/>
                            </p:stCondLst>
                            <p:childTnLst>
                              <p:par>
                                <p:cTn id="47" presetID="42" presetClass="entr" presetSubtype="0" fill="hold" nodeType="afterEffect">
                                  <p:stCondLst>
                                    <p:cond delay="1000"/>
                                  </p:stCondLst>
                                  <p:childTnLst>
                                    <p:set>
                                      <p:cBhvr>
                                        <p:cTn id="48" dur="1" fill="hold">
                                          <p:stCondLst>
                                            <p:cond delay="0"/>
                                          </p:stCondLst>
                                        </p:cTn>
                                        <p:tgtEl>
                                          <p:spTgt spid="533507">
                                            <p:txEl>
                                              <p:pRg st="7" end="7"/>
                                            </p:txEl>
                                          </p:spTgt>
                                        </p:tgtEl>
                                        <p:attrNameLst>
                                          <p:attrName>style.visibility</p:attrName>
                                        </p:attrNameLst>
                                      </p:cBhvr>
                                      <p:to>
                                        <p:strVal val="visible"/>
                                      </p:to>
                                    </p:set>
                                    <p:animEffect transition="in" filter="fade">
                                      <p:cBhvr>
                                        <p:cTn id="49" dur="1000"/>
                                        <p:tgtEl>
                                          <p:spTgt spid="533507">
                                            <p:txEl>
                                              <p:pRg st="7" end="7"/>
                                            </p:txEl>
                                          </p:spTgt>
                                        </p:tgtEl>
                                      </p:cBhvr>
                                    </p:animEffect>
                                    <p:anim calcmode="lin" valueType="num">
                                      <p:cBhvr>
                                        <p:cTn id="50" dur="1000" fill="hold"/>
                                        <p:tgtEl>
                                          <p:spTgt spid="53350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533507">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11000"/>
                            </p:stCondLst>
                            <p:childTnLst>
                              <p:par>
                                <p:cTn id="53" presetID="42" presetClass="entr" presetSubtype="0" fill="hold" nodeType="afterEffect">
                                  <p:stCondLst>
                                    <p:cond delay="1000"/>
                                  </p:stCondLst>
                                  <p:childTnLst>
                                    <p:set>
                                      <p:cBhvr>
                                        <p:cTn id="54" dur="1" fill="hold">
                                          <p:stCondLst>
                                            <p:cond delay="0"/>
                                          </p:stCondLst>
                                        </p:cTn>
                                        <p:tgtEl>
                                          <p:spTgt spid="533507">
                                            <p:txEl>
                                              <p:pRg st="8" end="8"/>
                                            </p:txEl>
                                          </p:spTgt>
                                        </p:tgtEl>
                                        <p:attrNameLst>
                                          <p:attrName>style.visibility</p:attrName>
                                        </p:attrNameLst>
                                      </p:cBhvr>
                                      <p:to>
                                        <p:strVal val="visible"/>
                                      </p:to>
                                    </p:set>
                                    <p:animEffect transition="in" filter="fade">
                                      <p:cBhvr>
                                        <p:cTn id="55" dur="1000"/>
                                        <p:tgtEl>
                                          <p:spTgt spid="533507">
                                            <p:txEl>
                                              <p:pRg st="8" end="8"/>
                                            </p:txEl>
                                          </p:spTgt>
                                        </p:tgtEl>
                                      </p:cBhvr>
                                    </p:animEffect>
                                    <p:anim calcmode="lin" valueType="num">
                                      <p:cBhvr>
                                        <p:cTn id="56" dur="1000" fill="hold"/>
                                        <p:tgtEl>
                                          <p:spTgt spid="533507">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53350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2E39B385-19E0-441F-8C19-2F9CF3870AE9}"/>
              </a:ext>
            </a:extLst>
          </p:cNvPr>
          <p:cNvGraphicFramePr>
            <a:graphicFrameLocks/>
          </p:cNvGraphicFramePr>
          <p:nvPr/>
        </p:nvGraphicFramePr>
        <p:xfrm>
          <a:off x="483530" y="675847"/>
          <a:ext cx="7861300" cy="5959475"/>
        </p:xfrm>
        <a:graphic>
          <a:graphicData uri="http://schemas.openxmlformats.org/drawingml/2006/chart">
            <c:chart xmlns:c="http://schemas.openxmlformats.org/drawingml/2006/chart" xmlns:r="http://schemas.openxmlformats.org/officeDocument/2006/relationships" r:id="rId3"/>
          </a:graphicData>
        </a:graphic>
      </p:graphicFrame>
      <p:sp>
        <p:nvSpPr>
          <p:cNvPr id="535556" name="Rectangle 6">
            <a:extLst>
              <a:ext uri="{FF2B5EF4-FFF2-40B4-BE49-F238E27FC236}">
                <a16:creationId xmlns:a16="http://schemas.microsoft.com/office/drawing/2014/main" id="{96C8B658-C852-4886-A244-2AB4527395D7}"/>
              </a:ext>
            </a:extLst>
          </p:cNvPr>
          <p:cNvSpPr>
            <a:spLocks noChangeArrowheads="1"/>
          </p:cNvSpPr>
          <p:nvPr/>
        </p:nvSpPr>
        <p:spPr bwMode="auto">
          <a:xfrm rot="16200000">
            <a:off x="-108989" y="2974078"/>
            <a:ext cx="735779"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200">
                <a:latin typeface="Arial" panose="020B0604020202020204" pitchFamily="34" charset="0"/>
                <a:cs typeface="Arial" panose="020B0604020202020204" pitchFamily="34" charset="0"/>
              </a:rPr>
              <a:t>€ / £</a:t>
            </a:r>
          </a:p>
        </p:txBody>
      </p:sp>
      <p:grpSp>
        <p:nvGrpSpPr>
          <p:cNvPr id="3" name="Group 2">
            <a:extLst>
              <a:ext uri="{FF2B5EF4-FFF2-40B4-BE49-F238E27FC236}">
                <a16:creationId xmlns:a16="http://schemas.microsoft.com/office/drawing/2014/main" id="{C36CBF3F-391C-A4E8-E06A-4DA13F282EB9}"/>
              </a:ext>
            </a:extLst>
          </p:cNvPr>
          <p:cNvGrpSpPr/>
          <p:nvPr/>
        </p:nvGrpSpPr>
        <p:grpSpPr>
          <a:xfrm>
            <a:off x="1105830" y="3066070"/>
            <a:ext cx="3606389" cy="120650"/>
            <a:chOff x="1105830" y="3066070"/>
            <a:chExt cx="3606389" cy="120650"/>
          </a:xfrm>
        </p:grpSpPr>
        <p:sp>
          <p:nvSpPr>
            <p:cNvPr id="535557" name="Line 7">
              <a:extLst>
                <a:ext uri="{FF2B5EF4-FFF2-40B4-BE49-F238E27FC236}">
                  <a16:creationId xmlns:a16="http://schemas.microsoft.com/office/drawing/2014/main" id="{5202280E-B463-46A5-8803-33381C5BA151}"/>
                </a:ext>
              </a:extLst>
            </p:cNvPr>
            <p:cNvSpPr>
              <a:spLocks noChangeShapeType="1"/>
            </p:cNvSpPr>
            <p:nvPr/>
          </p:nvSpPr>
          <p:spPr bwMode="auto">
            <a:xfrm>
              <a:off x="1105830" y="3125760"/>
              <a:ext cx="3589338" cy="0"/>
            </a:xfrm>
            <a:prstGeom prst="line">
              <a:avLst/>
            </a:prstGeom>
            <a:noFill/>
            <a:ln w="19050">
              <a:solidFill>
                <a:schemeClr val="tx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535558" name="Oval 8">
              <a:extLst>
                <a:ext uri="{FF2B5EF4-FFF2-40B4-BE49-F238E27FC236}">
                  <a16:creationId xmlns:a16="http://schemas.microsoft.com/office/drawing/2014/main" id="{F465E6EB-A0ED-40C8-ABB5-7BF0023E935A}"/>
                </a:ext>
              </a:extLst>
            </p:cNvPr>
            <p:cNvSpPr>
              <a:spLocks noChangeArrowheads="1"/>
            </p:cNvSpPr>
            <p:nvPr/>
          </p:nvSpPr>
          <p:spPr bwMode="auto">
            <a:xfrm>
              <a:off x="4598554" y="3066070"/>
              <a:ext cx="113665" cy="120650"/>
            </a:xfrm>
            <a:prstGeom prst="ellipse">
              <a:avLst/>
            </a:prstGeom>
            <a:solidFill>
              <a:srgbClr val="99CCFF"/>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cs typeface="Arial" panose="020B0604020202020204" pitchFamily="34" charset="0"/>
              </a:endParaRPr>
            </a:p>
          </p:txBody>
        </p:sp>
      </p:grpSp>
      <p:sp>
        <p:nvSpPr>
          <p:cNvPr id="535559" name="Rectangle 9">
            <a:extLst>
              <a:ext uri="{FF2B5EF4-FFF2-40B4-BE49-F238E27FC236}">
                <a16:creationId xmlns:a16="http://schemas.microsoft.com/office/drawing/2014/main" id="{D766B352-D915-480C-A143-A65CF854CACF}"/>
              </a:ext>
            </a:extLst>
          </p:cNvPr>
          <p:cNvSpPr>
            <a:spLocks noChangeArrowheads="1"/>
          </p:cNvSpPr>
          <p:nvPr/>
        </p:nvSpPr>
        <p:spPr bwMode="auto">
          <a:xfrm>
            <a:off x="7190597" y="1334502"/>
            <a:ext cx="5049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tx2"/>
                </a:solidFill>
                <a:latin typeface="Arial" panose="020B0604020202020204" pitchFamily="34" charset="0"/>
                <a:cs typeface="Arial" panose="020B0604020202020204" pitchFamily="34" charset="0"/>
              </a:rPr>
              <a:t>S</a:t>
            </a:r>
            <a:r>
              <a:rPr lang="en-GB" altLang="en-US" baseline="-25000" dirty="0">
                <a:solidFill>
                  <a:schemeClr val="tx2"/>
                </a:solidFill>
                <a:latin typeface="Arial" panose="020B0604020202020204" pitchFamily="34" charset="0"/>
                <a:cs typeface="Arial" panose="020B0604020202020204" pitchFamily="34" charset="0"/>
              </a:rPr>
              <a:t>1</a:t>
            </a:r>
          </a:p>
        </p:txBody>
      </p:sp>
      <p:sp>
        <p:nvSpPr>
          <p:cNvPr id="535560" name="Rectangle 10">
            <a:extLst>
              <a:ext uri="{FF2B5EF4-FFF2-40B4-BE49-F238E27FC236}">
                <a16:creationId xmlns:a16="http://schemas.microsoft.com/office/drawing/2014/main" id="{9422B426-3DC4-444F-BF0E-F4354EF08456}"/>
              </a:ext>
            </a:extLst>
          </p:cNvPr>
          <p:cNvSpPr>
            <a:spLocks noChangeArrowheads="1"/>
          </p:cNvSpPr>
          <p:nvPr/>
        </p:nvSpPr>
        <p:spPr bwMode="auto">
          <a:xfrm>
            <a:off x="7197146" y="4393129"/>
            <a:ext cx="52257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tx2"/>
                </a:solidFill>
                <a:latin typeface="Arial" panose="020B0604020202020204" pitchFamily="34" charset="0"/>
                <a:cs typeface="Arial" panose="020B0604020202020204" pitchFamily="34" charset="0"/>
              </a:rPr>
              <a:t>D</a:t>
            </a:r>
            <a:r>
              <a:rPr lang="en-GB" altLang="en-US" baseline="-25000" dirty="0">
                <a:solidFill>
                  <a:schemeClr val="tx2"/>
                </a:solidFill>
                <a:latin typeface="Arial" panose="020B0604020202020204" pitchFamily="34" charset="0"/>
                <a:cs typeface="Arial" panose="020B0604020202020204" pitchFamily="34" charset="0"/>
              </a:rPr>
              <a:t>1</a:t>
            </a:r>
          </a:p>
        </p:txBody>
      </p:sp>
      <p:sp>
        <p:nvSpPr>
          <p:cNvPr id="535561" name="Rectangle 11">
            <a:extLst>
              <a:ext uri="{FF2B5EF4-FFF2-40B4-BE49-F238E27FC236}">
                <a16:creationId xmlns:a16="http://schemas.microsoft.com/office/drawing/2014/main" id="{CD59CAB0-CFD1-43B2-8452-C685E7AE45A7}"/>
              </a:ext>
            </a:extLst>
          </p:cNvPr>
          <p:cNvSpPr>
            <a:spLocks noChangeArrowheads="1"/>
          </p:cNvSpPr>
          <p:nvPr/>
        </p:nvSpPr>
        <p:spPr bwMode="auto">
          <a:xfrm>
            <a:off x="7181396" y="2068566"/>
            <a:ext cx="50494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accent2"/>
                </a:solidFill>
                <a:latin typeface="Arial" panose="020B0604020202020204" pitchFamily="34" charset="0"/>
                <a:cs typeface="Arial" panose="020B0604020202020204" pitchFamily="34" charset="0"/>
              </a:rPr>
              <a:t>S</a:t>
            </a:r>
            <a:r>
              <a:rPr lang="en-GB" altLang="en-US" baseline="-25000" dirty="0">
                <a:solidFill>
                  <a:schemeClr val="accent2"/>
                </a:solidFill>
                <a:latin typeface="Arial" panose="020B0604020202020204" pitchFamily="34" charset="0"/>
                <a:cs typeface="Arial" panose="020B0604020202020204" pitchFamily="34" charset="0"/>
              </a:rPr>
              <a:t>2</a:t>
            </a:r>
          </a:p>
        </p:txBody>
      </p:sp>
      <p:sp>
        <p:nvSpPr>
          <p:cNvPr id="535562" name="Rectangle 12">
            <a:extLst>
              <a:ext uri="{FF2B5EF4-FFF2-40B4-BE49-F238E27FC236}">
                <a16:creationId xmlns:a16="http://schemas.microsoft.com/office/drawing/2014/main" id="{5B82D399-2A1D-4B18-B217-DC418020A07B}"/>
              </a:ext>
            </a:extLst>
          </p:cNvPr>
          <p:cNvSpPr>
            <a:spLocks noChangeArrowheads="1"/>
          </p:cNvSpPr>
          <p:nvPr/>
        </p:nvSpPr>
        <p:spPr bwMode="auto">
          <a:xfrm>
            <a:off x="7192259" y="5083532"/>
            <a:ext cx="522579"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i="1" dirty="0">
                <a:solidFill>
                  <a:schemeClr val="accent2"/>
                </a:solidFill>
                <a:latin typeface="Arial" panose="020B0604020202020204" pitchFamily="34" charset="0"/>
                <a:cs typeface="Arial" panose="020B0604020202020204" pitchFamily="34" charset="0"/>
              </a:rPr>
              <a:t>D</a:t>
            </a:r>
            <a:r>
              <a:rPr lang="en-GB" altLang="en-US" baseline="-25000" dirty="0">
                <a:solidFill>
                  <a:schemeClr val="accent2"/>
                </a:solidFill>
                <a:latin typeface="Arial" panose="020B0604020202020204" pitchFamily="34" charset="0"/>
                <a:cs typeface="Arial" panose="020B0604020202020204" pitchFamily="34" charset="0"/>
              </a:rPr>
              <a:t>2</a:t>
            </a:r>
          </a:p>
        </p:txBody>
      </p:sp>
      <p:grpSp>
        <p:nvGrpSpPr>
          <p:cNvPr id="4" name="Group 3">
            <a:extLst>
              <a:ext uri="{FF2B5EF4-FFF2-40B4-BE49-F238E27FC236}">
                <a16:creationId xmlns:a16="http://schemas.microsoft.com/office/drawing/2014/main" id="{631DABD9-CEA9-0B26-CFA9-8661DA0C47F1}"/>
              </a:ext>
            </a:extLst>
          </p:cNvPr>
          <p:cNvGrpSpPr/>
          <p:nvPr/>
        </p:nvGrpSpPr>
        <p:grpSpPr>
          <a:xfrm>
            <a:off x="1118530" y="3776560"/>
            <a:ext cx="3601309" cy="120650"/>
            <a:chOff x="1118530" y="3776560"/>
            <a:chExt cx="3601309" cy="120650"/>
          </a:xfrm>
        </p:grpSpPr>
        <p:sp>
          <p:nvSpPr>
            <p:cNvPr id="1083405" name="Line 13">
              <a:extLst>
                <a:ext uri="{FF2B5EF4-FFF2-40B4-BE49-F238E27FC236}">
                  <a16:creationId xmlns:a16="http://schemas.microsoft.com/office/drawing/2014/main" id="{5CB36380-8C8E-4C7C-AA39-CA3739F31DD5}"/>
                </a:ext>
              </a:extLst>
            </p:cNvPr>
            <p:cNvSpPr>
              <a:spLocks noChangeShapeType="1"/>
            </p:cNvSpPr>
            <p:nvPr/>
          </p:nvSpPr>
          <p:spPr bwMode="auto">
            <a:xfrm>
              <a:off x="1118530" y="3842284"/>
              <a:ext cx="3589338" cy="0"/>
            </a:xfrm>
            <a:prstGeom prst="line">
              <a:avLst/>
            </a:prstGeom>
            <a:noFill/>
            <a:ln w="19050">
              <a:solidFill>
                <a:schemeClr val="accent2"/>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GB"/>
            </a:p>
          </p:txBody>
        </p:sp>
        <p:sp>
          <p:nvSpPr>
            <p:cNvPr id="1083406" name="Oval 14">
              <a:extLst>
                <a:ext uri="{FF2B5EF4-FFF2-40B4-BE49-F238E27FC236}">
                  <a16:creationId xmlns:a16="http://schemas.microsoft.com/office/drawing/2014/main" id="{2F7F931C-8D95-42F6-B5C9-8C555B1F9726}"/>
                </a:ext>
              </a:extLst>
            </p:cNvPr>
            <p:cNvSpPr>
              <a:spLocks noChangeArrowheads="1"/>
            </p:cNvSpPr>
            <p:nvPr/>
          </p:nvSpPr>
          <p:spPr bwMode="auto">
            <a:xfrm>
              <a:off x="4606174" y="3776560"/>
              <a:ext cx="113665" cy="120650"/>
            </a:xfrm>
            <a:prstGeom prst="ellipse">
              <a:avLst/>
            </a:prstGeom>
            <a:solidFill>
              <a:srgbClr val="FFCCCC"/>
            </a:solidFill>
            <a:ln w="25400">
              <a:solidFill>
                <a:schemeClr val="bg2"/>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cs typeface="Arial" panose="020B0604020202020204" pitchFamily="34" charset="0"/>
              </a:endParaRPr>
            </a:p>
          </p:txBody>
        </p:sp>
      </p:grpSp>
      <p:sp>
        <p:nvSpPr>
          <p:cNvPr id="1083407" name="Line 15">
            <a:extLst>
              <a:ext uri="{FF2B5EF4-FFF2-40B4-BE49-F238E27FC236}">
                <a16:creationId xmlns:a16="http://schemas.microsoft.com/office/drawing/2014/main" id="{4B035083-2D54-4F02-B359-C77172BDD9DE}"/>
              </a:ext>
            </a:extLst>
          </p:cNvPr>
          <p:cNvSpPr>
            <a:spLocks noChangeShapeType="1"/>
          </p:cNvSpPr>
          <p:nvPr/>
        </p:nvSpPr>
        <p:spPr bwMode="auto">
          <a:xfrm>
            <a:off x="480355" y="3076336"/>
            <a:ext cx="0" cy="733425"/>
          </a:xfrm>
          <a:prstGeom prst="line">
            <a:avLst/>
          </a:prstGeom>
          <a:noFill/>
          <a:ln w="38100">
            <a:solidFill>
              <a:schemeClr val="accent2"/>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GB"/>
          </a:p>
        </p:txBody>
      </p:sp>
      <p:sp>
        <p:nvSpPr>
          <p:cNvPr id="535566" name="Rectangle 16">
            <a:extLst>
              <a:ext uri="{FF2B5EF4-FFF2-40B4-BE49-F238E27FC236}">
                <a16:creationId xmlns:a16="http://schemas.microsoft.com/office/drawing/2014/main" id="{22E12FEA-B218-430B-851E-5AA7912A66A8}"/>
              </a:ext>
            </a:extLst>
          </p:cNvPr>
          <p:cNvSpPr>
            <a:spLocks noChangeArrowheads="1"/>
          </p:cNvSpPr>
          <p:nvPr/>
        </p:nvSpPr>
        <p:spPr bwMode="auto">
          <a:xfrm>
            <a:off x="7292603" y="6100335"/>
            <a:ext cx="955390" cy="431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defRPr sz="2400">
                <a:solidFill>
                  <a:schemeClr val="tx1"/>
                </a:solidFill>
                <a:latin typeface="Times New Roman" panose="02020603050405020304" pitchFamily="18" charset="0"/>
              </a:defRPr>
            </a:lvl1pPr>
            <a:lvl2pPr marL="742950" indent="-285750" defTabSz="762000">
              <a:defRPr sz="2400">
                <a:solidFill>
                  <a:schemeClr val="tx1"/>
                </a:solidFill>
                <a:latin typeface="Times New Roman" panose="02020603050405020304" pitchFamily="18" charset="0"/>
              </a:defRPr>
            </a:lvl2pPr>
            <a:lvl3pPr marL="1143000" indent="-228600" defTabSz="762000">
              <a:defRPr sz="2400">
                <a:solidFill>
                  <a:schemeClr val="tx1"/>
                </a:solidFill>
                <a:latin typeface="Times New Roman" panose="02020603050405020304" pitchFamily="18" charset="0"/>
              </a:defRPr>
            </a:lvl3pPr>
            <a:lvl4pPr marL="1600200" indent="-228600" defTabSz="762000">
              <a:defRPr sz="2400">
                <a:solidFill>
                  <a:schemeClr val="tx1"/>
                </a:solidFill>
                <a:latin typeface="Times New Roman" panose="02020603050405020304" pitchFamily="18" charset="0"/>
              </a:defRPr>
            </a:lvl4pPr>
            <a:lvl5pPr marL="2057400" indent="-228600" defTabSz="762000">
              <a:defRPr sz="2400">
                <a:solidFill>
                  <a:schemeClr val="tx1"/>
                </a:solidFill>
                <a:latin typeface="Times New Roman" panose="02020603050405020304" pitchFamily="18" charset="0"/>
              </a:defRPr>
            </a:lvl5pPr>
            <a:lvl6pPr marL="2514600" indent="-228600" defTabSz="7620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7620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7620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7620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GB" altLang="en-US" sz="2200">
                <a:latin typeface="Arial" panose="020B0604020202020204" pitchFamily="34" charset="0"/>
                <a:cs typeface="Arial" panose="020B0604020202020204" pitchFamily="34" charset="0"/>
              </a:rPr>
              <a:t>Q of £</a:t>
            </a:r>
          </a:p>
        </p:txBody>
      </p:sp>
      <p:sp>
        <p:nvSpPr>
          <p:cNvPr id="1083410" name="Rectangle 18" descr="Parchment">
            <a:extLst>
              <a:ext uri="{FF2B5EF4-FFF2-40B4-BE49-F238E27FC236}">
                <a16:creationId xmlns:a16="http://schemas.microsoft.com/office/drawing/2014/main" id="{3D74DD7C-6056-47CA-A523-FE7D4535AD87}"/>
              </a:ext>
            </a:extLst>
          </p:cNvPr>
          <p:cNvSpPr>
            <a:spLocks noChangeArrowheads="1"/>
          </p:cNvSpPr>
          <p:nvPr/>
        </p:nvSpPr>
        <p:spPr bwMode="auto">
          <a:xfrm>
            <a:off x="8247675" y="1930057"/>
            <a:ext cx="3892665" cy="2169825"/>
          </a:xfrm>
          <a:prstGeom prst="rect">
            <a:avLst/>
          </a:prstGeom>
          <a:blipFill dpi="0" rotWithShape="0">
            <a:blip r:embed="rId4"/>
            <a:srcRect/>
            <a:tile tx="0" ty="0" sx="100000" sy="100000" flip="none" algn="tl"/>
          </a:blipFill>
          <a:ln w="19050">
            <a:solidFill>
              <a:schemeClr val="accent1"/>
            </a:solidFill>
            <a:miter lim="800000"/>
            <a:headEnd/>
            <a:tailEnd/>
          </a:ln>
        </p:spPr>
        <p:txBody>
          <a:bodyPr wrap="square">
            <a:spAutoFit/>
          </a:bodyPr>
          <a:lstStyle>
            <a:lvl1pPr indent="185738">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ts val="600"/>
              </a:spcBef>
              <a:spcAft>
                <a:spcPts val="600"/>
              </a:spcAft>
              <a:buClr>
                <a:schemeClr val="accent2"/>
              </a:buClr>
              <a:buSzPct val="120000"/>
              <a:buFontTx/>
              <a:buChar char="•"/>
            </a:pPr>
            <a:r>
              <a:rPr lang="en-GB" altLang="en-US" sz="1900">
                <a:solidFill>
                  <a:srgbClr val="660066"/>
                </a:solidFill>
                <a:latin typeface="Arial" panose="020B0604020202020204" pitchFamily="34" charset="0"/>
                <a:cs typeface="Arial" panose="020B0604020202020204" pitchFamily="34" charset="0"/>
              </a:rPr>
              <a:t>fall in interest rate</a:t>
            </a:r>
          </a:p>
          <a:p>
            <a:pPr>
              <a:spcBef>
                <a:spcPts val="600"/>
              </a:spcBef>
              <a:spcAft>
                <a:spcPts val="600"/>
              </a:spcAft>
              <a:buClr>
                <a:schemeClr val="accent2"/>
              </a:buClr>
              <a:buSzPct val="120000"/>
              <a:buFontTx/>
              <a:buChar char="•"/>
            </a:pPr>
            <a:r>
              <a:rPr lang="en-GB" altLang="en-US" sz="1900">
                <a:solidFill>
                  <a:srgbClr val="660066"/>
                </a:solidFill>
                <a:latin typeface="Arial" panose="020B0604020202020204" pitchFamily="34" charset="0"/>
                <a:cs typeface="Arial" panose="020B0604020202020204" pitchFamily="34" charset="0"/>
              </a:rPr>
              <a:t>rise in inflation rate</a:t>
            </a:r>
          </a:p>
          <a:p>
            <a:pPr>
              <a:spcBef>
                <a:spcPts val="600"/>
              </a:spcBef>
              <a:spcAft>
                <a:spcPts val="600"/>
              </a:spcAft>
              <a:buClr>
                <a:schemeClr val="accent2"/>
              </a:buClr>
              <a:buSzPct val="120000"/>
              <a:buFontTx/>
              <a:buChar char="•"/>
            </a:pPr>
            <a:r>
              <a:rPr lang="en-GB" altLang="en-US" sz="1900">
                <a:solidFill>
                  <a:srgbClr val="660066"/>
                </a:solidFill>
                <a:latin typeface="Arial" panose="020B0604020202020204" pitchFamily="34" charset="0"/>
                <a:cs typeface="Arial" panose="020B0604020202020204" pitchFamily="34" charset="0"/>
              </a:rPr>
              <a:t>rise in aggregate demand</a:t>
            </a:r>
          </a:p>
          <a:p>
            <a:pPr>
              <a:spcBef>
                <a:spcPts val="600"/>
              </a:spcBef>
              <a:spcAft>
                <a:spcPts val="600"/>
              </a:spcAft>
              <a:buClr>
                <a:schemeClr val="accent2"/>
              </a:buClr>
              <a:buSzPct val="120000"/>
              <a:buFontTx/>
              <a:buChar char="•"/>
            </a:pPr>
            <a:r>
              <a:rPr lang="en-GB" altLang="en-US" sz="1900">
                <a:solidFill>
                  <a:srgbClr val="660066"/>
                </a:solidFill>
                <a:latin typeface="Arial" panose="020B0604020202020204" pitchFamily="34" charset="0"/>
                <a:cs typeface="Arial" panose="020B0604020202020204" pitchFamily="34" charset="0"/>
              </a:rPr>
              <a:t>inward investment less attractive</a:t>
            </a:r>
          </a:p>
          <a:p>
            <a:pPr>
              <a:spcBef>
                <a:spcPts val="600"/>
              </a:spcBef>
              <a:spcAft>
                <a:spcPts val="600"/>
              </a:spcAft>
              <a:buClr>
                <a:schemeClr val="accent2"/>
              </a:buClr>
              <a:buSzPct val="120000"/>
              <a:buFontTx/>
              <a:buChar char="•"/>
            </a:pPr>
            <a:r>
              <a:rPr lang="en-GB" altLang="en-US" sz="1900">
                <a:solidFill>
                  <a:srgbClr val="660066"/>
                </a:solidFill>
                <a:latin typeface="Arial" panose="020B0604020202020204" pitchFamily="34" charset="0"/>
                <a:cs typeface="Arial" panose="020B0604020202020204" pitchFamily="34" charset="0"/>
              </a:rPr>
              <a:t>speculation against depreciation</a:t>
            </a:r>
          </a:p>
        </p:txBody>
      </p:sp>
      <p:sp>
        <p:nvSpPr>
          <p:cNvPr id="1083412" name="Rectangle 20">
            <a:extLst>
              <a:ext uri="{FF2B5EF4-FFF2-40B4-BE49-F238E27FC236}">
                <a16:creationId xmlns:a16="http://schemas.microsoft.com/office/drawing/2014/main" id="{1F60FFA3-E4C7-491A-B909-301738E117B6}"/>
              </a:ext>
            </a:extLst>
          </p:cNvPr>
          <p:cNvSpPr>
            <a:spLocks noGrp="1" noChangeArrowheads="1"/>
          </p:cNvSpPr>
          <p:nvPr>
            <p:ph type="title" idx="4294967295"/>
          </p:nvPr>
        </p:nvSpPr>
        <p:spPr>
          <a:xfrm>
            <a:off x="0" y="135448"/>
            <a:ext cx="12140340" cy="540399"/>
          </a:xfrm>
          <a:effectLst>
            <a:outerShdw dist="12700" dir="2700000" algn="ctr" rotWithShape="0">
              <a:schemeClr val="bg2"/>
            </a:outerShdw>
          </a:effectLst>
        </p:spPr>
        <p:txBody>
          <a:bodyPr vert="horz" wrap="square" lIns="92075" tIns="46038" rIns="92075" bIns="46038" numCol="1" anchor="b" anchorCtr="0" compatLnSpc="1">
            <a:prstTxWarp prst="textNoShape">
              <a:avLst/>
            </a:prstTxWarp>
            <a:normAutofit fontScale="90000"/>
          </a:bodyPr>
          <a:lstStyle/>
          <a:p>
            <a:r>
              <a:rPr lang="en-GB" altLang="en-US" sz="2800" b="1" dirty="0">
                <a:solidFill>
                  <a:srgbClr val="663300"/>
                </a:solidFill>
                <a:effectLst/>
              </a:rPr>
              <a:t>Causes of a depreciation in own currency</a:t>
            </a:r>
            <a:br>
              <a:rPr lang="en-GB" altLang="en-US" sz="2800" b="1" dirty="0">
                <a:solidFill>
                  <a:srgbClr val="663300"/>
                </a:solidFill>
                <a:effectLst/>
              </a:rPr>
            </a:br>
            <a:r>
              <a:rPr lang="en-GB" altLang="en-US" sz="2800" b="1" dirty="0">
                <a:solidFill>
                  <a:srgbClr val="663300"/>
                </a:solidFill>
                <a:effectLst/>
              </a:rPr>
              <a:t>(assume no changes abroad)</a:t>
            </a:r>
          </a:p>
        </p:txBody>
      </p:sp>
    </p:spTree>
    <p:extLst>
      <p:ext uri="{BB962C8B-B14F-4D97-AF65-F5344CB8AC3E}">
        <p14:creationId xmlns:p14="http://schemas.microsoft.com/office/powerpoint/2010/main" val="3908335469"/>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5561"/>
                                        </p:tgtEl>
                                        <p:attrNameLst>
                                          <p:attrName>style.visibility</p:attrName>
                                        </p:attrNameLst>
                                      </p:cBhvr>
                                      <p:to>
                                        <p:strVal val="visible"/>
                                      </p:to>
                                    </p:set>
                                    <p:animEffect transition="in" filter="fade">
                                      <p:cBhvr>
                                        <p:cTn id="7" dur="500"/>
                                        <p:tgtEl>
                                          <p:spTgt spid="5355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righ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nodeType="clickEffect">
                                  <p:stCondLst>
                                    <p:cond delay="0"/>
                                  </p:stCondLst>
                                  <p:childTnLst>
                                    <p:set>
                                      <p:cBhvr>
                                        <p:cTn id="16" dur="1" fill="hold">
                                          <p:stCondLst>
                                            <p:cond delay="0"/>
                                          </p:stCondLst>
                                        </p:cTn>
                                        <p:tgtEl>
                                          <p:spTgt spid="1083407"/>
                                        </p:tgtEl>
                                        <p:attrNameLst>
                                          <p:attrName>style.visibility</p:attrName>
                                        </p:attrNameLst>
                                      </p:cBhvr>
                                      <p:to>
                                        <p:strVal val="visible"/>
                                      </p:to>
                                    </p:set>
                                    <p:anim calcmode="lin" valueType="num">
                                      <p:cBhvr>
                                        <p:cTn id="17" dur="500" fill="hold"/>
                                        <p:tgtEl>
                                          <p:spTgt spid="1083407"/>
                                        </p:tgtEl>
                                        <p:attrNameLst>
                                          <p:attrName>ppt_x</p:attrName>
                                        </p:attrNameLst>
                                      </p:cBhvr>
                                      <p:tavLst>
                                        <p:tav tm="0">
                                          <p:val>
                                            <p:strVal val="#ppt_x"/>
                                          </p:val>
                                        </p:tav>
                                        <p:tav tm="100000">
                                          <p:val>
                                            <p:strVal val="#ppt_x"/>
                                          </p:val>
                                        </p:tav>
                                      </p:tavLst>
                                    </p:anim>
                                    <p:anim calcmode="lin" valueType="num">
                                      <p:cBhvr>
                                        <p:cTn id="18" dur="500" fill="hold"/>
                                        <p:tgtEl>
                                          <p:spTgt spid="1083407"/>
                                        </p:tgtEl>
                                        <p:attrNameLst>
                                          <p:attrName>ppt_y</p:attrName>
                                        </p:attrNameLst>
                                      </p:cBhvr>
                                      <p:tavLst>
                                        <p:tav tm="0">
                                          <p:val>
                                            <p:strVal val="#ppt_y-#ppt_h/2"/>
                                          </p:val>
                                        </p:tav>
                                        <p:tav tm="100000">
                                          <p:val>
                                            <p:strVal val="#ppt_y"/>
                                          </p:val>
                                        </p:tav>
                                      </p:tavLst>
                                    </p:anim>
                                    <p:anim calcmode="lin" valueType="num">
                                      <p:cBhvr>
                                        <p:cTn id="19" dur="500" fill="hold"/>
                                        <p:tgtEl>
                                          <p:spTgt spid="1083407"/>
                                        </p:tgtEl>
                                        <p:attrNameLst>
                                          <p:attrName>ppt_w</p:attrName>
                                        </p:attrNameLst>
                                      </p:cBhvr>
                                      <p:tavLst>
                                        <p:tav tm="0">
                                          <p:val>
                                            <p:strVal val="#ppt_w"/>
                                          </p:val>
                                        </p:tav>
                                        <p:tav tm="100000">
                                          <p:val>
                                            <p:strVal val="#ppt_w"/>
                                          </p:val>
                                        </p:tav>
                                      </p:tavLst>
                                    </p:anim>
                                    <p:anim calcmode="lin" valueType="num">
                                      <p:cBhvr>
                                        <p:cTn id="20" dur="500" fill="hold"/>
                                        <p:tgtEl>
                                          <p:spTgt spid="1083407"/>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83410">
                                            <p:bg/>
                                          </p:spTgt>
                                        </p:tgtEl>
                                        <p:attrNameLst>
                                          <p:attrName>style.visibility</p:attrName>
                                        </p:attrNameLst>
                                      </p:cBhvr>
                                      <p:to>
                                        <p:strVal val="visible"/>
                                      </p:to>
                                    </p:set>
                                    <p:animEffect transition="in" filter="dissolve">
                                      <p:cBhvr>
                                        <p:cTn id="25" dur="500"/>
                                        <p:tgtEl>
                                          <p:spTgt spid="1083410">
                                            <p:bg/>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83410">
                                            <p:txEl>
                                              <p:pRg st="0" end="0"/>
                                            </p:txEl>
                                          </p:spTgt>
                                        </p:tgtEl>
                                        <p:attrNameLst>
                                          <p:attrName>style.visibility</p:attrName>
                                        </p:attrNameLst>
                                      </p:cBhvr>
                                      <p:to>
                                        <p:strVal val="visible"/>
                                      </p:to>
                                    </p:set>
                                    <p:animEffect transition="in" filter="dissolve">
                                      <p:cBhvr>
                                        <p:cTn id="30" dur="500"/>
                                        <p:tgtEl>
                                          <p:spTgt spid="108341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83410">
                                            <p:txEl>
                                              <p:pRg st="1" end="1"/>
                                            </p:txEl>
                                          </p:spTgt>
                                        </p:tgtEl>
                                        <p:attrNameLst>
                                          <p:attrName>style.visibility</p:attrName>
                                        </p:attrNameLst>
                                      </p:cBhvr>
                                      <p:to>
                                        <p:strVal val="visible"/>
                                      </p:to>
                                    </p:set>
                                    <p:animEffect transition="in" filter="dissolve">
                                      <p:cBhvr>
                                        <p:cTn id="35" dur="500"/>
                                        <p:tgtEl>
                                          <p:spTgt spid="1083410">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83410">
                                            <p:txEl>
                                              <p:pRg st="2" end="2"/>
                                            </p:txEl>
                                          </p:spTgt>
                                        </p:tgtEl>
                                        <p:attrNameLst>
                                          <p:attrName>style.visibility</p:attrName>
                                        </p:attrNameLst>
                                      </p:cBhvr>
                                      <p:to>
                                        <p:strVal val="visible"/>
                                      </p:to>
                                    </p:set>
                                    <p:animEffect transition="in" filter="dissolve">
                                      <p:cBhvr>
                                        <p:cTn id="40" dur="500"/>
                                        <p:tgtEl>
                                          <p:spTgt spid="1083410">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083410">
                                            <p:txEl>
                                              <p:pRg st="3" end="3"/>
                                            </p:txEl>
                                          </p:spTgt>
                                        </p:tgtEl>
                                        <p:attrNameLst>
                                          <p:attrName>style.visibility</p:attrName>
                                        </p:attrNameLst>
                                      </p:cBhvr>
                                      <p:to>
                                        <p:strVal val="visible"/>
                                      </p:to>
                                    </p:set>
                                    <p:animEffect transition="in" filter="dissolve">
                                      <p:cBhvr>
                                        <p:cTn id="45" dur="500"/>
                                        <p:tgtEl>
                                          <p:spTgt spid="1083410">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083410">
                                            <p:txEl>
                                              <p:pRg st="4" end="4"/>
                                            </p:txEl>
                                          </p:spTgt>
                                        </p:tgtEl>
                                        <p:attrNameLst>
                                          <p:attrName>style.visibility</p:attrName>
                                        </p:attrNameLst>
                                      </p:cBhvr>
                                      <p:to>
                                        <p:strVal val="visible"/>
                                      </p:to>
                                    </p:set>
                                    <p:animEffect transition="in" filter="dissolve">
                                      <p:cBhvr>
                                        <p:cTn id="50" dur="500"/>
                                        <p:tgtEl>
                                          <p:spTgt spid="10834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61" grpId="0"/>
      <p:bldP spid="1083410" grpId="0" build="p"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1590" name="Rectangle 6">
            <a:extLst>
              <a:ext uri="{FF2B5EF4-FFF2-40B4-BE49-F238E27FC236}">
                <a16:creationId xmlns:a16="http://schemas.microsoft.com/office/drawing/2014/main" id="{D1597786-8818-4100-A6BD-30DFD5428FB1}"/>
              </a:ext>
            </a:extLst>
          </p:cNvPr>
          <p:cNvSpPr>
            <a:spLocks noGrp="1"/>
          </p:cNvSpPr>
          <p:nvPr>
            <p:ph sz="quarter" idx="1"/>
          </p:nvPr>
        </p:nvSpPr>
        <p:spPr>
          <a:xfrm>
            <a:off x="402336" y="1393371"/>
            <a:ext cx="11338560" cy="5065486"/>
          </a:xfrm>
        </p:spPr>
        <p:txBody>
          <a:bodyPr/>
          <a:lstStyle/>
          <a:p>
            <a:pPr>
              <a:lnSpc>
                <a:spcPct val="100000"/>
              </a:lnSpc>
              <a:spcBef>
                <a:spcPts val="600"/>
              </a:spcBef>
            </a:pPr>
            <a:r>
              <a:rPr lang="en-GB" altLang="en-US" b="1" dirty="0">
                <a:latin typeface="+mn-lt"/>
              </a:rPr>
              <a:t>Without </a:t>
            </a:r>
            <a:r>
              <a:rPr lang="en-GB" altLang="en-US" dirty="0">
                <a:latin typeface="+mn-lt"/>
              </a:rPr>
              <a:t>government or central bank intervention</a:t>
            </a:r>
          </a:p>
          <a:p>
            <a:pPr lvl="1">
              <a:lnSpc>
                <a:spcPct val="100000"/>
              </a:lnSpc>
              <a:spcBef>
                <a:spcPts val="600"/>
              </a:spcBef>
            </a:pPr>
            <a:r>
              <a:rPr lang="en-GB" altLang="en-US" dirty="0">
                <a:latin typeface="+mn-lt"/>
              </a:rPr>
              <a:t>a floating exchange rate: determined by supply, demand factors</a:t>
            </a:r>
          </a:p>
          <a:p>
            <a:pPr lvl="1">
              <a:lnSpc>
                <a:spcPct val="100000"/>
              </a:lnSpc>
              <a:spcBef>
                <a:spcPts val="600"/>
              </a:spcBef>
            </a:pPr>
            <a:r>
              <a:rPr lang="en-GB" altLang="en-US" dirty="0">
                <a:latin typeface="+mn-lt"/>
              </a:rPr>
              <a:t>automatic balancing of overall balance of payments</a:t>
            </a:r>
          </a:p>
          <a:p>
            <a:pPr lvl="1">
              <a:lnSpc>
                <a:spcPct val="100000"/>
              </a:lnSpc>
              <a:spcBef>
                <a:spcPts val="600"/>
              </a:spcBef>
            </a:pPr>
            <a:r>
              <a:rPr lang="en-GB" altLang="en-US" dirty="0">
                <a:latin typeface="+mn-lt"/>
              </a:rPr>
              <a:t>current, capital and financial accounts may not separately balance</a:t>
            </a:r>
          </a:p>
          <a:p>
            <a:r>
              <a:rPr lang="en-GB" altLang="en-US" b="1" dirty="0">
                <a:latin typeface="+mn-lt"/>
              </a:rPr>
              <a:t>With </a:t>
            </a:r>
            <a:r>
              <a:rPr lang="en-GB" altLang="en-US" dirty="0">
                <a:latin typeface="+mn-lt"/>
              </a:rPr>
              <a:t>government or central bank intervention</a:t>
            </a:r>
          </a:p>
          <a:p>
            <a:pPr lvl="1"/>
            <a:r>
              <a:rPr lang="en-GB" altLang="en-US" dirty="0">
                <a:latin typeface="+mn-lt"/>
              </a:rPr>
              <a:t>Reducing short-term fluctuations</a:t>
            </a:r>
          </a:p>
          <a:p>
            <a:pPr lvl="2"/>
            <a:r>
              <a:rPr lang="en-GB" altLang="en-US" dirty="0">
                <a:latin typeface="+mn-lt"/>
              </a:rPr>
              <a:t>selling foreign currency, increasing demand for sterling, possibly funded by borrowing (e.g. from IMF); or using interest rates actively</a:t>
            </a:r>
          </a:p>
          <a:p>
            <a:pPr lvl="1"/>
            <a:r>
              <a:rPr lang="en-GB" altLang="en-US" dirty="0">
                <a:latin typeface="+mn-lt"/>
              </a:rPr>
              <a:t>Fixed rate of exchange over the longer term requires</a:t>
            </a:r>
          </a:p>
          <a:p>
            <a:pPr lvl="2"/>
            <a:r>
              <a:rPr lang="en-GB" altLang="en-US" dirty="0">
                <a:latin typeface="+mn-lt"/>
              </a:rPr>
              <a:t>Aggregate demand management; or use of import controls</a:t>
            </a:r>
          </a:p>
          <a:p>
            <a:pPr lvl="2"/>
            <a:r>
              <a:rPr lang="en-GB" altLang="en-US" dirty="0">
                <a:latin typeface="+mn-lt"/>
              </a:rPr>
              <a:t>Perhaps with additional supply-side policies</a:t>
            </a:r>
          </a:p>
        </p:txBody>
      </p:sp>
      <p:sp>
        <p:nvSpPr>
          <p:cNvPr id="6" name="Rectangle 6">
            <a:extLst>
              <a:ext uri="{FF2B5EF4-FFF2-40B4-BE49-F238E27FC236}">
                <a16:creationId xmlns:a16="http://schemas.microsoft.com/office/drawing/2014/main" id="{97CF3018-4965-4D5C-878D-1AEC28C34031}"/>
              </a:ext>
            </a:extLst>
          </p:cNvPr>
          <p:cNvSpPr>
            <a:spLocks noGrp="1"/>
          </p:cNvSpPr>
          <p:nvPr>
            <p:ph type="title"/>
          </p:nvPr>
        </p:nvSpPr>
        <p:spPr/>
        <p:txBody>
          <a:bodyPr>
            <a:normAutofit fontScale="90000"/>
          </a:bodyPr>
          <a:lstStyle/>
          <a:p>
            <a:r>
              <a:rPr lang="en-GB" altLang="en-US" dirty="0">
                <a:latin typeface="Arial" panose="020B0604020202020204" pitchFamily="34" charset="0"/>
                <a:cs typeface="Arial" panose="020B0604020202020204" pitchFamily="34" charset="0"/>
              </a:rPr>
              <a:t>Exchange Rates and the Balance of Payments</a:t>
            </a:r>
          </a:p>
        </p:txBody>
      </p:sp>
    </p:spTree>
    <p:extLst>
      <p:ext uri="{BB962C8B-B14F-4D97-AF65-F5344CB8AC3E}">
        <p14:creationId xmlns:p14="http://schemas.microsoft.com/office/powerpoint/2010/main" val="188718620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1590">
                                            <p:txEl>
                                              <p:pRg st="0" end="0"/>
                                            </p:txEl>
                                          </p:spTgt>
                                        </p:tgtEl>
                                        <p:attrNameLst>
                                          <p:attrName>style.visibility</p:attrName>
                                        </p:attrNameLst>
                                      </p:cBhvr>
                                      <p:to>
                                        <p:strVal val="visible"/>
                                      </p:to>
                                    </p:set>
                                    <p:anim calcmode="lin" valueType="num">
                                      <p:cBhvr additive="base">
                                        <p:cTn id="7" dur="500"/>
                                        <p:tgtEl>
                                          <p:spTgt spid="451590">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51590">
                                            <p:txEl>
                                              <p:pRg st="0" end="0"/>
                                            </p:txEl>
                                          </p:spTgt>
                                        </p:tgtEl>
                                      </p:cBhvr>
                                    </p:animEffect>
                                  </p:childTnLst>
                                </p:cTn>
                              </p:par>
                            </p:childTnLst>
                          </p:cTn>
                        </p:par>
                        <p:par>
                          <p:cTn id="9" fill="hold" nodeType="withGroup">
                            <p:stCondLst>
                              <p:cond delay="500"/>
                            </p:stCondLst>
                            <p:childTnLst>
                              <p:par>
                                <p:cTn id="10" presetID="12" presetClass="entr" presetSubtype="4" fill="hold" grpId="0" nodeType="afterEffect">
                                  <p:stCondLst>
                                    <p:cond delay="0"/>
                                  </p:stCondLst>
                                  <p:childTnLst>
                                    <p:set>
                                      <p:cBhvr>
                                        <p:cTn id="11" dur="1" fill="hold">
                                          <p:stCondLst>
                                            <p:cond delay="0"/>
                                          </p:stCondLst>
                                        </p:cTn>
                                        <p:tgtEl>
                                          <p:spTgt spid="451590">
                                            <p:txEl>
                                              <p:pRg st="1" end="1"/>
                                            </p:txEl>
                                          </p:spTgt>
                                        </p:tgtEl>
                                        <p:attrNameLst>
                                          <p:attrName>style.visibility</p:attrName>
                                        </p:attrNameLst>
                                      </p:cBhvr>
                                      <p:to>
                                        <p:strVal val="visible"/>
                                      </p:to>
                                    </p:set>
                                    <p:anim calcmode="lin" valueType="num">
                                      <p:cBhvr additive="base">
                                        <p:cTn id="12" dur="500"/>
                                        <p:tgtEl>
                                          <p:spTgt spid="451590">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451590">
                                            <p:txEl>
                                              <p:pRg st="1" end="1"/>
                                            </p:txEl>
                                          </p:spTgt>
                                        </p:tgtEl>
                                      </p:cBhvr>
                                    </p:animEffect>
                                  </p:childTnLst>
                                </p:cTn>
                              </p:par>
                            </p:childTnLst>
                          </p:cTn>
                        </p:par>
                        <p:par>
                          <p:cTn id="14" fill="hold" nodeType="withGroup">
                            <p:stCondLst>
                              <p:cond delay="1000"/>
                            </p:stCondLst>
                            <p:childTnLst>
                              <p:par>
                                <p:cTn id="15" presetID="12" presetClass="entr" presetSubtype="4" fill="hold" grpId="0" nodeType="afterEffect">
                                  <p:stCondLst>
                                    <p:cond delay="0"/>
                                  </p:stCondLst>
                                  <p:childTnLst>
                                    <p:set>
                                      <p:cBhvr>
                                        <p:cTn id="16" dur="1" fill="hold">
                                          <p:stCondLst>
                                            <p:cond delay="0"/>
                                          </p:stCondLst>
                                        </p:cTn>
                                        <p:tgtEl>
                                          <p:spTgt spid="451590">
                                            <p:txEl>
                                              <p:pRg st="2" end="2"/>
                                            </p:txEl>
                                          </p:spTgt>
                                        </p:tgtEl>
                                        <p:attrNameLst>
                                          <p:attrName>style.visibility</p:attrName>
                                        </p:attrNameLst>
                                      </p:cBhvr>
                                      <p:to>
                                        <p:strVal val="visible"/>
                                      </p:to>
                                    </p:set>
                                    <p:anim calcmode="lin" valueType="num">
                                      <p:cBhvr additive="base">
                                        <p:cTn id="17" dur="500"/>
                                        <p:tgtEl>
                                          <p:spTgt spid="451590">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451590">
                                            <p:txEl>
                                              <p:pRg st="2" end="2"/>
                                            </p:txEl>
                                          </p:spTgt>
                                        </p:tgtEl>
                                      </p:cBhvr>
                                    </p:animEffect>
                                  </p:childTnLst>
                                </p:cTn>
                              </p:par>
                            </p:childTnLst>
                          </p:cTn>
                        </p:par>
                        <p:par>
                          <p:cTn id="19" fill="hold" nodeType="withGroup">
                            <p:stCondLst>
                              <p:cond delay="1500"/>
                            </p:stCondLst>
                            <p:childTnLst>
                              <p:par>
                                <p:cTn id="20" presetID="12" presetClass="entr" presetSubtype="4" fill="hold" grpId="0" nodeType="afterEffect">
                                  <p:stCondLst>
                                    <p:cond delay="0"/>
                                  </p:stCondLst>
                                  <p:childTnLst>
                                    <p:set>
                                      <p:cBhvr>
                                        <p:cTn id="21" dur="1" fill="hold">
                                          <p:stCondLst>
                                            <p:cond delay="0"/>
                                          </p:stCondLst>
                                        </p:cTn>
                                        <p:tgtEl>
                                          <p:spTgt spid="451590">
                                            <p:txEl>
                                              <p:pRg st="3" end="3"/>
                                            </p:txEl>
                                          </p:spTgt>
                                        </p:tgtEl>
                                        <p:attrNameLst>
                                          <p:attrName>style.visibility</p:attrName>
                                        </p:attrNameLst>
                                      </p:cBhvr>
                                      <p:to>
                                        <p:strVal val="visible"/>
                                      </p:to>
                                    </p:set>
                                    <p:anim calcmode="lin" valueType="num">
                                      <p:cBhvr additive="base">
                                        <p:cTn id="22" dur="500"/>
                                        <p:tgtEl>
                                          <p:spTgt spid="451590">
                                            <p:txEl>
                                              <p:pRg st="3" end="3"/>
                                            </p:txEl>
                                          </p:spTgt>
                                        </p:tgtEl>
                                        <p:attrNameLst>
                                          <p:attrName>ppt_y</p:attrName>
                                        </p:attrNameLst>
                                      </p:cBhvr>
                                      <p:tavLst>
                                        <p:tav tm="0">
                                          <p:val>
                                            <p:strVal val="#ppt_y+#ppt_h*1.125000"/>
                                          </p:val>
                                        </p:tav>
                                        <p:tav tm="100000">
                                          <p:val>
                                            <p:strVal val="#ppt_y"/>
                                          </p:val>
                                        </p:tav>
                                      </p:tavLst>
                                    </p:anim>
                                    <p:animEffect transition="in" filter="wipe(up)">
                                      <p:cBhvr>
                                        <p:cTn id="23" dur="500"/>
                                        <p:tgtEl>
                                          <p:spTgt spid="45159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451590">
                                            <p:txEl>
                                              <p:pRg st="4" end="4"/>
                                            </p:txEl>
                                          </p:spTgt>
                                        </p:tgtEl>
                                        <p:attrNameLst>
                                          <p:attrName>style.visibility</p:attrName>
                                        </p:attrNameLst>
                                      </p:cBhvr>
                                      <p:to>
                                        <p:strVal val="visible"/>
                                      </p:to>
                                    </p:set>
                                    <p:anim calcmode="lin" valueType="num">
                                      <p:cBhvr additive="base">
                                        <p:cTn id="28" dur="500"/>
                                        <p:tgtEl>
                                          <p:spTgt spid="451590">
                                            <p:txEl>
                                              <p:pRg st="4" end="4"/>
                                            </p:txEl>
                                          </p:spTgt>
                                        </p:tgtEl>
                                        <p:attrNameLst>
                                          <p:attrName>ppt_y</p:attrName>
                                        </p:attrNameLst>
                                      </p:cBhvr>
                                      <p:tavLst>
                                        <p:tav tm="0">
                                          <p:val>
                                            <p:strVal val="#ppt_y+#ppt_h*1.125000"/>
                                          </p:val>
                                        </p:tav>
                                        <p:tav tm="100000">
                                          <p:val>
                                            <p:strVal val="#ppt_y"/>
                                          </p:val>
                                        </p:tav>
                                      </p:tavLst>
                                    </p:anim>
                                    <p:animEffect transition="in" filter="wipe(up)">
                                      <p:cBhvr>
                                        <p:cTn id="29" dur="500"/>
                                        <p:tgtEl>
                                          <p:spTgt spid="451590">
                                            <p:txEl>
                                              <p:pRg st="4" end="4"/>
                                            </p:txEl>
                                          </p:spTgt>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451590">
                                            <p:txEl>
                                              <p:pRg st="5" end="5"/>
                                            </p:txEl>
                                          </p:spTgt>
                                        </p:tgtEl>
                                        <p:attrNameLst>
                                          <p:attrName>style.visibility</p:attrName>
                                        </p:attrNameLst>
                                      </p:cBhvr>
                                      <p:to>
                                        <p:strVal val="visible"/>
                                      </p:to>
                                    </p:set>
                                    <p:anim calcmode="lin" valueType="num">
                                      <p:cBhvr additive="base">
                                        <p:cTn id="32" dur="500"/>
                                        <p:tgtEl>
                                          <p:spTgt spid="451590">
                                            <p:txEl>
                                              <p:pRg st="5" end="5"/>
                                            </p:txEl>
                                          </p:spTgt>
                                        </p:tgtEl>
                                        <p:attrNameLst>
                                          <p:attrName>ppt_y</p:attrName>
                                        </p:attrNameLst>
                                      </p:cBhvr>
                                      <p:tavLst>
                                        <p:tav tm="0">
                                          <p:val>
                                            <p:strVal val="#ppt_y+#ppt_h*1.125000"/>
                                          </p:val>
                                        </p:tav>
                                        <p:tav tm="100000">
                                          <p:val>
                                            <p:strVal val="#ppt_y"/>
                                          </p:val>
                                        </p:tav>
                                      </p:tavLst>
                                    </p:anim>
                                    <p:animEffect transition="in" filter="wipe(up)">
                                      <p:cBhvr>
                                        <p:cTn id="33" dur="500"/>
                                        <p:tgtEl>
                                          <p:spTgt spid="451590">
                                            <p:txEl>
                                              <p:pRg st="5" end="5"/>
                                            </p:txEl>
                                          </p:spTgt>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451590">
                                            <p:txEl>
                                              <p:pRg st="6" end="6"/>
                                            </p:txEl>
                                          </p:spTgt>
                                        </p:tgtEl>
                                        <p:attrNameLst>
                                          <p:attrName>style.visibility</p:attrName>
                                        </p:attrNameLst>
                                      </p:cBhvr>
                                      <p:to>
                                        <p:strVal val="visible"/>
                                      </p:to>
                                    </p:set>
                                    <p:anim calcmode="lin" valueType="num">
                                      <p:cBhvr additive="base">
                                        <p:cTn id="36" dur="500"/>
                                        <p:tgtEl>
                                          <p:spTgt spid="451590">
                                            <p:txEl>
                                              <p:pRg st="6" end="6"/>
                                            </p:txEl>
                                          </p:spTgt>
                                        </p:tgtEl>
                                        <p:attrNameLst>
                                          <p:attrName>ppt_y</p:attrName>
                                        </p:attrNameLst>
                                      </p:cBhvr>
                                      <p:tavLst>
                                        <p:tav tm="0">
                                          <p:val>
                                            <p:strVal val="#ppt_y+#ppt_h*1.125000"/>
                                          </p:val>
                                        </p:tav>
                                        <p:tav tm="100000">
                                          <p:val>
                                            <p:strVal val="#ppt_y"/>
                                          </p:val>
                                        </p:tav>
                                      </p:tavLst>
                                    </p:anim>
                                    <p:animEffect transition="in" filter="wipe(up)">
                                      <p:cBhvr>
                                        <p:cTn id="37" dur="500"/>
                                        <p:tgtEl>
                                          <p:spTgt spid="451590">
                                            <p:txEl>
                                              <p:pRg st="6" end="6"/>
                                            </p:txEl>
                                          </p:spTgt>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451590">
                                            <p:txEl>
                                              <p:pRg st="7" end="7"/>
                                            </p:txEl>
                                          </p:spTgt>
                                        </p:tgtEl>
                                        <p:attrNameLst>
                                          <p:attrName>style.visibility</p:attrName>
                                        </p:attrNameLst>
                                      </p:cBhvr>
                                      <p:to>
                                        <p:strVal val="visible"/>
                                      </p:to>
                                    </p:set>
                                    <p:anim calcmode="lin" valueType="num">
                                      <p:cBhvr additive="base">
                                        <p:cTn id="40" dur="500"/>
                                        <p:tgtEl>
                                          <p:spTgt spid="451590">
                                            <p:txEl>
                                              <p:pRg st="7" end="7"/>
                                            </p:txEl>
                                          </p:spTgt>
                                        </p:tgtEl>
                                        <p:attrNameLst>
                                          <p:attrName>ppt_y</p:attrName>
                                        </p:attrNameLst>
                                      </p:cBhvr>
                                      <p:tavLst>
                                        <p:tav tm="0">
                                          <p:val>
                                            <p:strVal val="#ppt_y+#ppt_h*1.125000"/>
                                          </p:val>
                                        </p:tav>
                                        <p:tav tm="100000">
                                          <p:val>
                                            <p:strVal val="#ppt_y"/>
                                          </p:val>
                                        </p:tav>
                                      </p:tavLst>
                                    </p:anim>
                                    <p:animEffect transition="in" filter="wipe(up)">
                                      <p:cBhvr>
                                        <p:cTn id="41" dur="500"/>
                                        <p:tgtEl>
                                          <p:spTgt spid="451590">
                                            <p:txEl>
                                              <p:pRg st="7" end="7"/>
                                            </p:txEl>
                                          </p:spTgt>
                                        </p:tgtEl>
                                      </p:cBhvr>
                                    </p:animEffect>
                                  </p:childTnLst>
                                </p:cTn>
                              </p:par>
                              <p:par>
                                <p:cTn id="42" presetID="12" presetClass="entr" presetSubtype="4" fill="hold" grpId="0" nodeType="withEffect">
                                  <p:stCondLst>
                                    <p:cond delay="0"/>
                                  </p:stCondLst>
                                  <p:childTnLst>
                                    <p:set>
                                      <p:cBhvr>
                                        <p:cTn id="43" dur="1" fill="hold">
                                          <p:stCondLst>
                                            <p:cond delay="0"/>
                                          </p:stCondLst>
                                        </p:cTn>
                                        <p:tgtEl>
                                          <p:spTgt spid="451590">
                                            <p:txEl>
                                              <p:pRg st="8" end="8"/>
                                            </p:txEl>
                                          </p:spTgt>
                                        </p:tgtEl>
                                        <p:attrNameLst>
                                          <p:attrName>style.visibility</p:attrName>
                                        </p:attrNameLst>
                                      </p:cBhvr>
                                      <p:to>
                                        <p:strVal val="visible"/>
                                      </p:to>
                                    </p:set>
                                    <p:anim calcmode="lin" valueType="num">
                                      <p:cBhvr additive="base">
                                        <p:cTn id="44" dur="500"/>
                                        <p:tgtEl>
                                          <p:spTgt spid="451590">
                                            <p:txEl>
                                              <p:pRg st="8" end="8"/>
                                            </p:txEl>
                                          </p:spTgt>
                                        </p:tgtEl>
                                        <p:attrNameLst>
                                          <p:attrName>ppt_y</p:attrName>
                                        </p:attrNameLst>
                                      </p:cBhvr>
                                      <p:tavLst>
                                        <p:tav tm="0">
                                          <p:val>
                                            <p:strVal val="#ppt_y+#ppt_h*1.125000"/>
                                          </p:val>
                                        </p:tav>
                                        <p:tav tm="100000">
                                          <p:val>
                                            <p:strVal val="#ppt_y"/>
                                          </p:val>
                                        </p:tav>
                                      </p:tavLst>
                                    </p:anim>
                                    <p:animEffect transition="in" filter="wipe(up)">
                                      <p:cBhvr>
                                        <p:cTn id="45" dur="500"/>
                                        <p:tgtEl>
                                          <p:spTgt spid="451590">
                                            <p:txEl>
                                              <p:pRg st="8" end="8"/>
                                            </p:txEl>
                                          </p:spTgt>
                                        </p:tgtEl>
                                      </p:cBhvr>
                                    </p:animEffect>
                                  </p:childTnLst>
                                </p:cTn>
                              </p:par>
                              <p:par>
                                <p:cTn id="46" presetID="12" presetClass="entr" presetSubtype="4" fill="hold" grpId="0" nodeType="withEffect">
                                  <p:stCondLst>
                                    <p:cond delay="0"/>
                                  </p:stCondLst>
                                  <p:childTnLst>
                                    <p:set>
                                      <p:cBhvr>
                                        <p:cTn id="47" dur="1" fill="hold">
                                          <p:stCondLst>
                                            <p:cond delay="0"/>
                                          </p:stCondLst>
                                        </p:cTn>
                                        <p:tgtEl>
                                          <p:spTgt spid="451590">
                                            <p:txEl>
                                              <p:pRg st="9" end="9"/>
                                            </p:txEl>
                                          </p:spTgt>
                                        </p:tgtEl>
                                        <p:attrNameLst>
                                          <p:attrName>style.visibility</p:attrName>
                                        </p:attrNameLst>
                                      </p:cBhvr>
                                      <p:to>
                                        <p:strVal val="visible"/>
                                      </p:to>
                                    </p:set>
                                    <p:anim calcmode="lin" valueType="num">
                                      <p:cBhvr additive="base">
                                        <p:cTn id="48" dur="500"/>
                                        <p:tgtEl>
                                          <p:spTgt spid="451590">
                                            <p:txEl>
                                              <p:pRg st="9" end="9"/>
                                            </p:txEl>
                                          </p:spTgt>
                                        </p:tgtEl>
                                        <p:attrNameLst>
                                          <p:attrName>ppt_y</p:attrName>
                                        </p:attrNameLst>
                                      </p:cBhvr>
                                      <p:tavLst>
                                        <p:tav tm="0">
                                          <p:val>
                                            <p:strVal val="#ppt_y+#ppt_h*1.125000"/>
                                          </p:val>
                                        </p:tav>
                                        <p:tav tm="100000">
                                          <p:val>
                                            <p:strVal val="#ppt_y"/>
                                          </p:val>
                                        </p:tav>
                                      </p:tavLst>
                                    </p:anim>
                                    <p:animEffect transition="in" filter="wipe(up)">
                                      <p:cBhvr>
                                        <p:cTn id="49" dur="500"/>
                                        <p:tgtEl>
                                          <p:spTgt spid="451590">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590" grpId="0" uiExpand="1" build="p" bldLvl="3"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3CCDB276-FB87-443E-9C21-2432F1EABCFA}"/>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5" name="Rectangle 3">
            <a:extLst>
              <a:ext uri="{FF2B5EF4-FFF2-40B4-BE49-F238E27FC236}">
                <a16:creationId xmlns:a16="http://schemas.microsoft.com/office/drawing/2014/main" id="{F11BF274-1C07-4516-9CC4-8F1AF69FDFD6}"/>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2438" name="Rectangle 6">
            <a:extLst>
              <a:ext uri="{FF2B5EF4-FFF2-40B4-BE49-F238E27FC236}">
                <a16:creationId xmlns:a16="http://schemas.microsoft.com/office/drawing/2014/main" id="{841FAD42-2193-4DD5-ACAD-E32CD4FCB2FB}"/>
              </a:ext>
            </a:extLst>
          </p:cNvPr>
          <p:cNvSpPr>
            <a:spLocks noGrp="1"/>
          </p:cNvSpPr>
          <p:nvPr>
            <p:ph type="title"/>
          </p:nvPr>
        </p:nvSpPr>
        <p:spPr/>
        <p:txBody>
          <a:bodyPr/>
          <a:lstStyle/>
          <a:p>
            <a:r>
              <a:rPr lang="en-GB" altLang="en-US" dirty="0"/>
              <a:t>Fixed versus Floating Exchange Rates (1)</a:t>
            </a:r>
          </a:p>
        </p:txBody>
      </p:sp>
      <p:sp>
        <p:nvSpPr>
          <p:cNvPr id="402439" name="Rectangle 7">
            <a:extLst>
              <a:ext uri="{FF2B5EF4-FFF2-40B4-BE49-F238E27FC236}">
                <a16:creationId xmlns:a16="http://schemas.microsoft.com/office/drawing/2014/main" id="{D8F5C114-98D9-41CC-92A9-5184517ED595}"/>
              </a:ext>
            </a:extLst>
          </p:cNvPr>
          <p:cNvSpPr>
            <a:spLocks noGrp="1"/>
          </p:cNvSpPr>
          <p:nvPr>
            <p:ph sz="quarter" idx="1"/>
          </p:nvPr>
        </p:nvSpPr>
        <p:spPr>
          <a:xfrm>
            <a:off x="402167" y="1358900"/>
            <a:ext cx="11379200" cy="4889500"/>
          </a:xfrm>
        </p:spPr>
        <p:txBody>
          <a:bodyPr/>
          <a:lstStyle/>
          <a:p>
            <a:pPr>
              <a:spcBef>
                <a:spcPts val="600"/>
              </a:spcBef>
            </a:pPr>
            <a:r>
              <a:rPr lang="en-GB" altLang="en-US" dirty="0">
                <a:latin typeface="+mn-lt"/>
              </a:rPr>
              <a:t>Advantages of fixed exchange rates</a:t>
            </a:r>
          </a:p>
          <a:p>
            <a:pPr lvl="1">
              <a:spcBef>
                <a:spcPts val="600"/>
              </a:spcBef>
            </a:pPr>
            <a:r>
              <a:rPr lang="en-GB" altLang="en-US" dirty="0">
                <a:latin typeface="+mn-lt"/>
              </a:rPr>
              <a:t>Certainty – limiting speculation (if rate is absolutely fixed)</a:t>
            </a:r>
          </a:p>
          <a:p>
            <a:pPr lvl="1">
              <a:spcBef>
                <a:spcPts val="600"/>
              </a:spcBef>
            </a:pPr>
            <a:r>
              <a:rPr lang="en-GB" altLang="en-US" dirty="0">
                <a:latin typeface="+mn-lt"/>
              </a:rPr>
              <a:t>Constrains government policies, ensuring ‘sound money’</a:t>
            </a:r>
          </a:p>
          <a:p>
            <a:pPr>
              <a:spcBef>
                <a:spcPts val="600"/>
              </a:spcBef>
            </a:pPr>
            <a:r>
              <a:rPr lang="en-GB" altLang="en-US" dirty="0">
                <a:latin typeface="+mn-lt"/>
              </a:rPr>
              <a:t>Disadvantages of fixed exchange rates</a:t>
            </a:r>
          </a:p>
          <a:p>
            <a:pPr lvl="1">
              <a:spcBef>
                <a:spcPts val="600"/>
              </a:spcBef>
            </a:pPr>
            <a:r>
              <a:rPr lang="en-GB" altLang="en-US" dirty="0">
                <a:latin typeface="+mn-lt"/>
              </a:rPr>
              <a:t>conflicts between exchange-rate and other macroeconomic objectives</a:t>
            </a:r>
          </a:p>
          <a:p>
            <a:pPr lvl="2">
              <a:spcBef>
                <a:spcPts val="600"/>
              </a:spcBef>
            </a:pPr>
            <a:r>
              <a:rPr lang="en-GB" altLang="en-US" dirty="0">
                <a:latin typeface="+mn-lt"/>
              </a:rPr>
              <a:t>external factors may cause exchange rate to change</a:t>
            </a:r>
          </a:p>
          <a:p>
            <a:pPr lvl="2">
              <a:spcBef>
                <a:spcPts val="600"/>
              </a:spcBef>
            </a:pPr>
            <a:r>
              <a:rPr lang="en-GB" altLang="en-US" dirty="0">
                <a:latin typeface="+mn-lt"/>
              </a:rPr>
              <a:t>maintaining currency value could require large changes in AD following interest rate changes </a:t>
            </a:r>
          </a:p>
          <a:p>
            <a:pPr lvl="1">
              <a:spcBef>
                <a:spcPts val="600"/>
              </a:spcBef>
            </a:pPr>
            <a:r>
              <a:rPr lang="en-GB" altLang="en-US" dirty="0">
                <a:latin typeface="+mn-lt"/>
              </a:rPr>
              <a:t>problems of international liquidity – sufficient for trade, not so much as to cause inflation</a:t>
            </a:r>
          </a:p>
          <a:p>
            <a:pPr lvl="1">
              <a:spcBef>
                <a:spcPts val="600"/>
              </a:spcBef>
            </a:pPr>
            <a:r>
              <a:rPr lang="en-GB" altLang="en-US" dirty="0">
                <a:latin typeface="+mn-lt"/>
              </a:rPr>
              <a:t>difficulties in adjusting to shocks – may require inappropriate deflation</a:t>
            </a:r>
          </a:p>
          <a:p>
            <a:pPr lvl="2">
              <a:spcBef>
                <a:spcPts val="600"/>
              </a:spcBef>
            </a:pPr>
            <a:r>
              <a:rPr lang="en-GB" altLang="en-US" dirty="0">
                <a:latin typeface="+mn-lt"/>
              </a:rPr>
              <a:t>Will lead to speculation that regime might change …. </a:t>
            </a:r>
          </a:p>
        </p:txBody>
      </p:sp>
    </p:spTree>
    <p:extLst>
      <p:ext uri="{BB962C8B-B14F-4D97-AF65-F5344CB8AC3E}">
        <p14:creationId xmlns:p14="http://schemas.microsoft.com/office/powerpoint/2010/main" val="40664822"/>
      </p:ext>
    </p:extLst>
  </p:cSld>
  <p:clrMapOvr>
    <a:masterClrMapping/>
  </p:clrMapOvr>
  <p:transition spd="slow">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2439">
                                            <p:txEl>
                                              <p:pRg st="0" end="0"/>
                                            </p:txEl>
                                          </p:spTgt>
                                        </p:tgtEl>
                                        <p:attrNameLst>
                                          <p:attrName>style.visibility</p:attrName>
                                        </p:attrNameLst>
                                      </p:cBhvr>
                                      <p:to>
                                        <p:strVal val="visible"/>
                                      </p:to>
                                    </p:set>
                                    <p:anim calcmode="lin" valueType="num">
                                      <p:cBhvr additive="base">
                                        <p:cTn id="7" dur="500"/>
                                        <p:tgtEl>
                                          <p:spTgt spid="402439">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2439">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2439">
                                            <p:txEl>
                                              <p:pRg st="1" end="1"/>
                                            </p:txEl>
                                          </p:spTgt>
                                        </p:tgtEl>
                                        <p:attrNameLst>
                                          <p:attrName>style.visibility</p:attrName>
                                        </p:attrNameLst>
                                      </p:cBhvr>
                                      <p:to>
                                        <p:strVal val="visible"/>
                                      </p:to>
                                    </p:set>
                                    <p:anim calcmode="lin" valueType="num">
                                      <p:cBhvr additive="base">
                                        <p:cTn id="13" dur="500"/>
                                        <p:tgtEl>
                                          <p:spTgt spid="402439">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243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2439">
                                            <p:txEl>
                                              <p:pRg st="2" end="2"/>
                                            </p:txEl>
                                          </p:spTgt>
                                        </p:tgtEl>
                                        <p:attrNameLst>
                                          <p:attrName>style.visibility</p:attrName>
                                        </p:attrNameLst>
                                      </p:cBhvr>
                                      <p:to>
                                        <p:strVal val="visible"/>
                                      </p:to>
                                    </p:set>
                                    <p:anim calcmode="lin" valueType="num">
                                      <p:cBhvr additive="base">
                                        <p:cTn id="19" dur="500"/>
                                        <p:tgtEl>
                                          <p:spTgt spid="402439">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2439">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2439">
                                            <p:txEl>
                                              <p:pRg st="3" end="3"/>
                                            </p:txEl>
                                          </p:spTgt>
                                        </p:tgtEl>
                                        <p:attrNameLst>
                                          <p:attrName>style.visibility</p:attrName>
                                        </p:attrNameLst>
                                      </p:cBhvr>
                                      <p:to>
                                        <p:strVal val="visible"/>
                                      </p:to>
                                    </p:set>
                                    <p:anim calcmode="lin" valueType="num">
                                      <p:cBhvr additive="base">
                                        <p:cTn id="25" dur="500"/>
                                        <p:tgtEl>
                                          <p:spTgt spid="402439">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2439">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2439">
                                            <p:txEl>
                                              <p:pRg st="4" end="4"/>
                                            </p:txEl>
                                          </p:spTgt>
                                        </p:tgtEl>
                                        <p:attrNameLst>
                                          <p:attrName>style.visibility</p:attrName>
                                        </p:attrNameLst>
                                      </p:cBhvr>
                                      <p:to>
                                        <p:strVal val="visible"/>
                                      </p:to>
                                    </p:set>
                                    <p:anim calcmode="lin" valueType="num">
                                      <p:cBhvr additive="base">
                                        <p:cTn id="31" dur="500"/>
                                        <p:tgtEl>
                                          <p:spTgt spid="402439">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2439">
                                            <p:txEl>
                                              <p:pRg st="4" end="4"/>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402439">
                                            <p:txEl>
                                              <p:pRg st="5" end="5"/>
                                            </p:txEl>
                                          </p:spTgt>
                                        </p:tgtEl>
                                        <p:attrNameLst>
                                          <p:attrName>style.visibility</p:attrName>
                                        </p:attrNameLst>
                                      </p:cBhvr>
                                      <p:to>
                                        <p:strVal val="visible"/>
                                      </p:to>
                                    </p:set>
                                    <p:anim calcmode="lin" valueType="num">
                                      <p:cBhvr additive="base">
                                        <p:cTn id="35" dur="500"/>
                                        <p:tgtEl>
                                          <p:spTgt spid="402439">
                                            <p:txEl>
                                              <p:pRg st="5" end="5"/>
                                            </p:txEl>
                                          </p:spTgt>
                                        </p:tgtEl>
                                        <p:attrNameLst>
                                          <p:attrName>ppt_y</p:attrName>
                                        </p:attrNameLst>
                                      </p:cBhvr>
                                      <p:tavLst>
                                        <p:tav tm="0">
                                          <p:val>
                                            <p:strVal val="#ppt_y+#ppt_h*1.125000"/>
                                          </p:val>
                                        </p:tav>
                                        <p:tav tm="100000">
                                          <p:val>
                                            <p:strVal val="#ppt_y"/>
                                          </p:val>
                                        </p:tav>
                                      </p:tavLst>
                                    </p:anim>
                                    <p:animEffect transition="in" filter="wipe(up)">
                                      <p:cBhvr>
                                        <p:cTn id="36" dur="500"/>
                                        <p:tgtEl>
                                          <p:spTgt spid="402439">
                                            <p:txEl>
                                              <p:pRg st="5" end="5"/>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402439">
                                            <p:txEl>
                                              <p:pRg st="6" end="6"/>
                                            </p:txEl>
                                          </p:spTgt>
                                        </p:tgtEl>
                                        <p:attrNameLst>
                                          <p:attrName>style.visibility</p:attrName>
                                        </p:attrNameLst>
                                      </p:cBhvr>
                                      <p:to>
                                        <p:strVal val="visible"/>
                                      </p:to>
                                    </p:set>
                                    <p:anim calcmode="lin" valueType="num">
                                      <p:cBhvr additive="base">
                                        <p:cTn id="39" dur="500"/>
                                        <p:tgtEl>
                                          <p:spTgt spid="402439">
                                            <p:txEl>
                                              <p:pRg st="6" end="6"/>
                                            </p:txEl>
                                          </p:spTgt>
                                        </p:tgtEl>
                                        <p:attrNameLst>
                                          <p:attrName>ppt_y</p:attrName>
                                        </p:attrNameLst>
                                      </p:cBhvr>
                                      <p:tavLst>
                                        <p:tav tm="0">
                                          <p:val>
                                            <p:strVal val="#ppt_y+#ppt_h*1.125000"/>
                                          </p:val>
                                        </p:tav>
                                        <p:tav tm="100000">
                                          <p:val>
                                            <p:strVal val="#ppt_y"/>
                                          </p:val>
                                        </p:tav>
                                      </p:tavLst>
                                    </p:anim>
                                    <p:animEffect transition="in" filter="wipe(up)">
                                      <p:cBhvr>
                                        <p:cTn id="40" dur="500"/>
                                        <p:tgtEl>
                                          <p:spTgt spid="402439">
                                            <p:txEl>
                                              <p:pRg st="6" end="6"/>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402439">
                                            <p:txEl>
                                              <p:pRg st="7" end="7"/>
                                            </p:txEl>
                                          </p:spTgt>
                                        </p:tgtEl>
                                        <p:attrNameLst>
                                          <p:attrName>style.visibility</p:attrName>
                                        </p:attrNameLst>
                                      </p:cBhvr>
                                      <p:to>
                                        <p:strVal val="visible"/>
                                      </p:to>
                                    </p:set>
                                    <p:anim calcmode="lin" valueType="num">
                                      <p:cBhvr additive="base">
                                        <p:cTn id="45" dur="500"/>
                                        <p:tgtEl>
                                          <p:spTgt spid="402439">
                                            <p:txEl>
                                              <p:pRg st="7" end="7"/>
                                            </p:txEl>
                                          </p:spTgt>
                                        </p:tgtEl>
                                        <p:attrNameLst>
                                          <p:attrName>ppt_y</p:attrName>
                                        </p:attrNameLst>
                                      </p:cBhvr>
                                      <p:tavLst>
                                        <p:tav tm="0">
                                          <p:val>
                                            <p:strVal val="#ppt_y+#ppt_h*1.125000"/>
                                          </p:val>
                                        </p:tav>
                                        <p:tav tm="100000">
                                          <p:val>
                                            <p:strVal val="#ppt_y"/>
                                          </p:val>
                                        </p:tav>
                                      </p:tavLst>
                                    </p:anim>
                                    <p:animEffect transition="in" filter="wipe(up)">
                                      <p:cBhvr>
                                        <p:cTn id="46" dur="500"/>
                                        <p:tgtEl>
                                          <p:spTgt spid="402439">
                                            <p:txEl>
                                              <p:pRg st="7" end="7"/>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402439">
                                            <p:txEl>
                                              <p:pRg st="8" end="8"/>
                                            </p:txEl>
                                          </p:spTgt>
                                        </p:tgtEl>
                                        <p:attrNameLst>
                                          <p:attrName>style.visibility</p:attrName>
                                        </p:attrNameLst>
                                      </p:cBhvr>
                                      <p:to>
                                        <p:strVal val="visible"/>
                                      </p:to>
                                    </p:set>
                                    <p:anim calcmode="lin" valueType="num">
                                      <p:cBhvr additive="base">
                                        <p:cTn id="51" dur="500"/>
                                        <p:tgtEl>
                                          <p:spTgt spid="402439">
                                            <p:txEl>
                                              <p:pRg st="8" end="8"/>
                                            </p:txEl>
                                          </p:spTgt>
                                        </p:tgtEl>
                                        <p:attrNameLst>
                                          <p:attrName>ppt_y</p:attrName>
                                        </p:attrNameLst>
                                      </p:cBhvr>
                                      <p:tavLst>
                                        <p:tav tm="0">
                                          <p:val>
                                            <p:strVal val="#ppt_y+#ppt_h*1.125000"/>
                                          </p:val>
                                        </p:tav>
                                        <p:tav tm="100000">
                                          <p:val>
                                            <p:strVal val="#ppt_y"/>
                                          </p:val>
                                        </p:tav>
                                      </p:tavLst>
                                    </p:anim>
                                    <p:animEffect transition="in" filter="wipe(up)">
                                      <p:cBhvr>
                                        <p:cTn id="52" dur="500"/>
                                        <p:tgtEl>
                                          <p:spTgt spid="402439">
                                            <p:txEl>
                                              <p:pRg st="8" end="8"/>
                                            </p:txEl>
                                          </p:spTgt>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402439">
                                            <p:txEl>
                                              <p:pRg st="9" end="9"/>
                                            </p:txEl>
                                          </p:spTgt>
                                        </p:tgtEl>
                                        <p:attrNameLst>
                                          <p:attrName>style.visibility</p:attrName>
                                        </p:attrNameLst>
                                      </p:cBhvr>
                                      <p:to>
                                        <p:strVal val="visible"/>
                                      </p:to>
                                    </p:set>
                                    <p:anim calcmode="lin" valueType="num">
                                      <p:cBhvr additive="base">
                                        <p:cTn id="55" dur="500"/>
                                        <p:tgtEl>
                                          <p:spTgt spid="402439">
                                            <p:txEl>
                                              <p:pRg st="9" end="9"/>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24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9" grpId="0" build="p" bldLvl="2"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4482" name="Rectangle 2">
            <a:extLst>
              <a:ext uri="{FF2B5EF4-FFF2-40B4-BE49-F238E27FC236}">
                <a16:creationId xmlns:a16="http://schemas.microsoft.com/office/drawing/2014/main" id="{B396ECF5-2F86-4319-8FDF-A949D6EF0215}"/>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3" name="Rectangle 3">
            <a:extLst>
              <a:ext uri="{FF2B5EF4-FFF2-40B4-BE49-F238E27FC236}">
                <a16:creationId xmlns:a16="http://schemas.microsoft.com/office/drawing/2014/main" id="{1E537CF4-7D59-43B2-A23F-CC98209C187C}"/>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04486" name="Rectangle 6">
            <a:extLst>
              <a:ext uri="{FF2B5EF4-FFF2-40B4-BE49-F238E27FC236}">
                <a16:creationId xmlns:a16="http://schemas.microsoft.com/office/drawing/2014/main" id="{64CAD001-074D-4641-BEEA-992B29671B83}"/>
              </a:ext>
            </a:extLst>
          </p:cNvPr>
          <p:cNvSpPr>
            <a:spLocks noGrp="1"/>
          </p:cNvSpPr>
          <p:nvPr>
            <p:ph type="title"/>
          </p:nvPr>
        </p:nvSpPr>
        <p:spPr/>
        <p:txBody>
          <a:bodyPr/>
          <a:lstStyle/>
          <a:p>
            <a:r>
              <a:rPr lang="en-GB" altLang="en-US" dirty="0"/>
              <a:t>Fixed versus Floating Exchange Rates (2)</a:t>
            </a:r>
          </a:p>
        </p:txBody>
      </p:sp>
      <p:sp>
        <p:nvSpPr>
          <p:cNvPr id="404487" name="Rectangle 7">
            <a:extLst>
              <a:ext uri="{FF2B5EF4-FFF2-40B4-BE49-F238E27FC236}">
                <a16:creationId xmlns:a16="http://schemas.microsoft.com/office/drawing/2014/main" id="{28E3134E-9068-4EC5-8364-66C236A1031E}"/>
              </a:ext>
            </a:extLst>
          </p:cNvPr>
          <p:cNvSpPr>
            <a:spLocks noGrp="1"/>
          </p:cNvSpPr>
          <p:nvPr>
            <p:ph sz="quarter" idx="1"/>
          </p:nvPr>
        </p:nvSpPr>
        <p:spPr>
          <a:xfrm>
            <a:off x="402336" y="1495839"/>
            <a:ext cx="11338560" cy="4940403"/>
          </a:xfrm>
        </p:spPr>
        <p:txBody>
          <a:bodyPr/>
          <a:lstStyle/>
          <a:p>
            <a:pPr>
              <a:lnSpc>
                <a:spcPct val="90000"/>
              </a:lnSpc>
              <a:spcBef>
                <a:spcPts val="600"/>
              </a:spcBef>
            </a:pPr>
            <a:r>
              <a:rPr lang="en-GB" altLang="en-US" sz="2900" dirty="0">
                <a:latin typeface="+mn-lt"/>
              </a:rPr>
              <a:t>Advantages of free-floating rates</a:t>
            </a:r>
          </a:p>
          <a:p>
            <a:pPr lvl="1">
              <a:lnSpc>
                <a:spcPct val="90000"/>
              </a:lnSpc>
              <a:spcBef>
                <a:spcPts val="600"/>
              </a:spcBef>
            </a:pPr>
            <a:r>
              <a:rPr lang="en-GB" altLang="en-US" sz="2600" dirty="0">
                <a:latin typeface="+mn-lt"/>
              </a:rPr>
              <a:t>Treating exchange rate as a price – allows maximum freedom for domestic policy stance, including AD management</a:t>
            </a:r>
          </a:p>
          <a:p>
            <a:pPr>
              <a:lnSpc>
                <a:spcPct val="90000"/>
              </a:lnSpc>
              <a:spcBef>
                <a:spcPts val="600"/>
              </a:spcBef>
            </a:pPr>
            <a:r>
              <a:rPr lang="en-GB" altLang="en-US" sz="2900" dirty="0">
                <a:latin typeface="+mn-lt"/>
              </a:rPr>
              <a:t>But exchange rates are then unstable</a:t>
            </a:r>
          </a:p>
          <a:p>
            <a:pPr lvl="1">
              <a:lnSpc>
                <a:spcPct val="90000"/>
              </a:lnSpc>
              <a:spcBef>
                <a:spcPts val="600"/>
              </a:spcBef>
            </a:pPr>
            <a:r>
              <a:rPr lang="en-GB" altLang="en-US" sz="2600" dirty="0">
                <a:latin typeface="+mn-lt"/>
              </a:rPr>
              <a:t>speculation and overshooting – in response to ‘news’</a:t>
            </a:r>
          </a:p>
          <a:p>
            <a:pPr lvl="1">
              <a:lnSpc>
                <a:spcPct val="90000"/>
              </a:lnSpc>
              <a:spcBef>
                <a:spcPts val="600"/>
              </a:spcBef>
            </a:pPr>
            <a:r>
              <a:rPr lang="en-GB" altLang="en-US" sz="2600" dirty="0">
                <a:latin typeface="+mn-lt"/>
              </a:rPr>
              <a:t>uncertainty for business – can be managed through forward markets</a:t>
            </a:r>
          </a:p>
          <a:p>
            <a:pPr lvl="1">
              <a:lnSpc>
                <a:spcPct val="90000"/>
              </a:lnSpc>
              <a:spcBef>
                <a:spcPts val="600"/>
              </a:spcBef>
            </a:pPr>
            <a:r>
              <a:rPr lang="en-GB" altLang="en-US" sz="2600" dirty="0">
                <a:latin typeface="+mn-lt"/>
              </a:rPr>
              <a:t>lack of discipline on economy</a:t>
            </a:r>
          </a:p>
        </p:txBody>
      </p:sp>
    </p:spTree>
    <p:extLst>
      <p:ext uri="{BB962C8B-B14F-4D97-AF65-F5344CB8AC3E}">
        <p14:creationId xmlns:p14="http://schemas.microsoft.com/office/powerpoint/2010/main" val="353460100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4487">
                                            <p:txEl>
                                              <p:pRg st="0" end="0"/>
                                            </p:txEl>
                                          </p:spTgt>
                                        </p:tgtEl>
                                        <p:attrNameLst>
                                          <p:attrName>style.visibility</p:attrName>
                                        </p:attrNameLst>
                                      </p:cBhvr>
                                      <p:to>
                                        <p:strVal val="visible"/>
                                      </p:to>
                                    </p:set>
                                    <p:anim calcmode="lin" valueType="num">
                                      <p:cBhvr additive="base">
                                        <p:cTn id="7" dur="500"/>
                                        <p:tgtEl>
                                          <p:spTgt spid="404487">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448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4487">
                                            <p:txEl>
                                              <p:pRg st="1" end="1"/>
                                            </p:txEl>
                                          </p:spTgt>
                                        </p:tgtEl>
                                        <p:attrNameLst>
                                          <p:attrName>style.visibility</p:attrName>
                                        </p:attrNameLst>
                                      </p:cBhvr>
                                      <p:to>
                                        <p:strVal val="visible"/>
                                      </p:to>
                                    </p:set>
                                    <p:anim calcmode="lin" valueType="num">
                                      <p:cBhvr additive="base">
                                        <p:cTn id="13" dur="500"/>
                                        <p:tgtEl>
                                          <p:spTgt spid="404487">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4487">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4487">
                                            <p:txEl>
                                              <p:pRg st="2" end="2"/>
                                            </p:txEl>
                                          </p:spTgt>
                                        </p:tgtEl>
                                        <p:attrNameLst>
                                          <p:attrName>style.visibility</p:attrName>
                                        </p:attrNameLst>
                                      </p:cBhvr>
                                      <p:to>
                                        <p:strVal val="visible"/>
                                      </p:to>
                                    </p:set>
                                    <p:anim calcmode="lin" valueType="num">
                                      <p:cBhvr additive="base">
                                        <p:cTn id="19" dur="500"/>
                                        <p:tgtEl>
                                          <p:spTgt spid="404487">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44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4487">
                                            <p:txEl>
                                              <p:pRg st="3" end="3"/>
                                            </p:txEl>
                                          </p:spTgt>
                                        </p:tgtEl>
                                        <p:attrNameLst>
                                          <p:attrName>style.visibility</p:attrName>
                                        </p:attrNameLst>
                                      </p:cBhvr>
                                      <p:to>
                                        <p:strVal val="visible"/>
                                      </p:to>
                                    </p:set>
                                    <p:anim calcmode="lin" valueType="num">
                                      <p:cBhvr additive="base">
                                        <p:cTn id="25" dur="500"/>
                                        <p:tgtEl>
                                          <p:spTgt spid="404487">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448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4487">
                                            <p:txEl>
                                              <p:pRg st="4" end="4"/>
                                            </p:txEl>
                                          </p:spTgt>
                                        </p:tgtEl>
                                        <p:attrNameLst>
                                          <p:attrName>style.visibility</p:attrName>
                                        </p:attrNameLst>
                                      </p:cBhvr>
                                      <p:to>
                                        <p:strVal val="visible"/>
                                      </p:to>
                                    </p:set>
                                    <p:anim calcmode="lin" valueType="num">
                                      <p:cBhvr additive="base">
                                        <p:cTn id="31" dur="500"/>
                                        <p:tgtEl>
                                          <p:spTgt spid="404487">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448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4487">
                                            <p:txEl>
                                              <p:pRg st="5" end="5"/>
                                            </p:txEl>
                                          </p:spTgt>
                                        </p:tgtEl>
                                        <p:attrNameLst>
                                          <p:attrName>style.visibility</p:attrName>
                                        </p:attrNameLst>
                                      </p:cBhvr>
                                      <p:to>
                                        <p:strVal val="visible"/>
                                      </p:to>
                                    </p:set>
                                    <p:anim calcmode="lin" valueType="num">
                                      <p:cBhvr additive="base">
                                        <p:cTn id="37" dur="500"/>
                                        <p:tgtEl>
                                          <p:spTgt spid="404487">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44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7" grpId="0" build="p" bldLvl="3"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6532" name="Rectangle 4">
            <a:extLst>
              <a:ext uri="{FF2B5EF4-FFF2-40B4-BE49-F238E27FC236}">
                <a16:creationId xmlns:a16="http://schemas.microsoft.com/office/drawing/2014/main" id="{269AAFBA-AB7B-4B35-A1EC-0587F8FF375B}"/>
              </a:ext>
            </a:extLst>
          </p:cNvPr>
          <p:cNvSpPr>
            <a:spLocks noGrp="1"/>
          </p:cNvSpPr>
          <p:nvPr>
            <p:ph type="title"/>
          </p:nvPr>
        </p:nvSpPr>
        <p:spPr/>
        <p:txBody>
          <a:bodyPr/>
          <a:lstStyle/>
          <a:p>
            <a:r>
              <a:rPr lang="en-GB" altLang="en-US" dirty="0"/>
              <a:t>The reality: difficult to agree to fixed rates</a:t>
            </a:r>
          </a:p>
        </p:txBody>
      </p:sp>
      <p:sp>
        <p:nvSpPr>
          <p:cNvPr id="406533" name="Rectangle 5">
            <a:extLst>
              <a:ext uri="{FF2B5EF4-FFF2-40B4-BE49-F238E27FC236}">
                <a16:creationId xmlns:a16="http://schemas.microsoft.com/office/drawing/2014/main" id="{9EFC4117-381F-433E-B8EE-EF242ABAA3B5}"/>
              </a:ext>
            </a:extLst>
          </p:cNvPr>
          <p:cNvSpPr>
            <a:spLocks noGrp="1"/>
          </p:cNvSpPr>
          <p:nvPr>
            <p:ph sz="quarter" idx="1"/>
          </p:nvPr>
        </p:nvSpPr>
        <p:spPr>
          <a:xfrm>
            <a:off x="402167" y="1406013"/>
            <a:ext cx="11379200" cy="5247198"/>
          </a:xfrm>
        </p:spPr>
        <p:txBody>
          <a:bodyPr/>
          <a:lstStyle/>
          <a:p>
            <a:pPr>
              <a:spcBef>
                <a:spcPts val="600"/>
              </a:spcBef>
            </a:pPr>
            <a:r>
              <a:rPr lang="en-GB" altLang="en-US" dirty="0">
                <a:latin typeface="+mn-lt"/>
              </a:rPr>
              <a:t>Exchange rates are typically volatile – see box 27.4</a:t>
            </a:r>
          </a:p>
          <a:p>
            <a:pPr lvl="1">
              <a:spcBef>
                <a:spcPts val="600"/>
              </a:spcBef>
            </a:pPr>
            <a:r>
              <a:rPr lang="en-GB" altLang="en-US" dirty="0">
                <a:latin typeface="+mn-lt"/>
              </a:rPr>
              <a:t>Monetary policy natural affects exchange rates through use of interest rates, credit availability</a:t>
            </a:r>
          </a:p>
          <a:p>
            <a:pPr lvl="2">
              <a:spcBef>
                <a:spcPts val="600"/>
              </a:spcBef>
            </a:pPr>
            <a:r>
              <a:rPr lang="en-GB" altLang="en-US" dirty="0">
                <a:latin typeface="+mn-lt"/>
              </a:rPr>
              <a:t>Some governments therefore target exchange rates as part of policy</a:t>
            </a:r>
          </a:p>
          <a:p>
            <a:pPr>
              <a:spcBef>
                <a:spcPts val="600"/>
              </a:spcBef>
            </a:pPr>
            <a:r>
              <a:rPr lang="en-GB" altLang="en-US" dirty="0">
                <a:latin typeface="+mn-lt"/>
              </a:rPr>
              <a:t>Must take account of growth in international financial flows</a:t>
            </a:r>
          </a:p>
          <a:p>
            <a:pPr lvl="1">
              <a:spcBef>
                <a:spcPts val="600"/>
              </a:spcBef>
            </a:pPr>
            <a:r>
              <a:rPr lang="en-GB" altLang="en-US" dirty="0">
                <a:latin typeface="+mn-lt"/>
              </a:rPr>
              <a:t>Trade and international investment (a relatively small component)</a:t>
            </a:r>
          </a:p>
          <a:p>
            <a:pPr lvl="1">
              <a:spcBef>
                <a:spcPts val="600"/>
              </a:spcBef>
            </a:pPr>
            <a:r>
              <a:rPr lang="en-GB" altLang="en-US" dirty="0">
                <a:latin typeface="+mn-lt"/>
              </a:rPr>
              <a:t>Much more important is market for foreign currency</a:t>
            </a:r>
          </a:p>
          <a:p>
            <a:pPr lvl="2">
              <a:spcBef>
                <a:spcPts val="600"/>
              </a:spcBef>
            </a:pPr>
            <a:r>
              <a:rPr lang="en-GB" altLang="en-US" dirty="0">
                <a:latin typeface="+mn-lt"/>
              </a:rPr>
              <a:t>Impossible to insulate country from speculation against any fixed rate, except through international cooperation</a:t>
            </a:r>
          </a:p>
          <a:p>
            <a:pPr lvl="1">
              <a:spcBef>
                <a:spcPts val="600"/>
              </a:spcBef>
            </a:pPr>
            <a:r>
              <a:rPr lang="en-GB" altLang="en-US" dirty="0">
                <a:latin typeface="+mn-lt"/>
              </a:rPr>
              <a:t>Governments have little power to prevent exchange rate fluctuations</a:t>
            </a:r>
          </a:p>
          <a:p>
            <a:pPr lvl="2">
              <a:spcBef>
                <a:spcPts val="600"/>
              </a:spcBef>
            </a:pPr>
            <a:r>
              <a:rPr lang="en-GB" altLang="en-US" dirty="0">
                <a:latin typeface="+mn-lt"/>
              </a:rPr>
              <a:t>Can reach agreements such as Euro – establishing a currency</a:t>
            </a:r>
          </a:p>
          <a:p>
            <a:pPr lvl="2">
              <a:spcBef>
                <a:spcPts val="600"/>
              </a:spcBef>
            </a:pPr>
            <a:r>
              <a:rPr lang="en-GB" altLang="en-US" dirty="0">
                <a:latin typeface="+mn-lt"/>
              </a:rPr>
              <a:t>Has experienced two major crises, which threatened its collapse</a:t>
            </a:r>
          </a:p>
          <a:p>
            <a:pPr lvl="2">
              <a:spcBef>
                <a:spcPct val="25000"/>
              </a:spcBef>
            </a:pPr>
            <a:endParaRPr lang="en-GB" altLang="en-US" dirty="0"/>
          </a:p>
        </p:txBody>
      </p:sp>
    </p:spTree>
    <p:extLst>
      <p:ext uri="{BB962C8B-B14F-4D97-AF65-F5344CB8AC3E}">
        <p14:creationId xmlns:p14="http://schemas.microsoft.com/office/powerpoint/2010/main" val="52788643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06533">
                                            <p:txEl>
                                              <p:pRg st="0" end="0"/>
                                            </p:txEl>
                                          </p:spTgt>
                                        </p:tgtEl>
                                        <p:attrNameLst>
                                          <p:attrName>style.visibility</p:attrName>
                                        </p:attrNameLst>
                                      </p:cBhvr>
                                      <p:to>
                                        <p:strVal val="visible"/>
                                      </p:to>
                                    </p:set>
                                    <p:anim calcmode="lin" valueType="num">
                                      <p:cBhvr additive="base">
                                        <p:cTn id="7" dur="500"/>
                                        <p:tgtEl>
                                          <p:spTgt spid="406533">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06533">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06533">
                                            <p:txEl>
                                              <p:pRg st="1" end="1"/>
                                            </p:txEl>
                                          </p:spTgt>
                                        </p:tgtEl>
                                        <p:attrNameLst>
                                          <p:attrName>style.visibility</p:attrName>
                                        </p:attrNameLst>
                                      </p:cBhvr>
                                      <p:to>
                                        <p:strVal val="visible"/>
                                      </p:to>
                                    </p:set>
                                    <p:anim calcmode="lin" valueType="num">
                                      <p:cBhvr additive="base">
                                        <p:cTn id="13" dur="500"/>
                                        <p:tgtEl>
                                          <p:spTgt spid="406533">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40653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406533">
                                            <p:txEl>
                                              <p:pRg st="2" end="2"/>
                                            </p:txEl>
                                          </p:spTgt>
                                        </p:tgtEl>
                                        <p:attrNameLst>
                                          <p:attrName>style.visibility</p:attrName>
                                        </p:attrNameLst>
                                      </p:cBhvr>
                                      <p:to>
                                        <p:strVal val="visible"/>
                                      </p:to>
                                    </p:set>
                                    <p:anim calcmode="lin" valueType="num">
                                      <p:cBhvr additive="base">
                                        <p:cTn id="19" dur="500"/>
                                        <p:tgtEl>
                                          <p:spTgt spid="406533">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40653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06533">
                                            <p:txEl>
                                              <p:pRg st="3" end="3"/>
                                            </p:txEl>
                                          </p:spTgt>
                                        </p:tgtEl>
                                        <p:attrNameLst>
                                          <p:attrName>style.visibility</p:attrName>
                                        </p:attrNameLst>
                                      </p:cBhvr>
                                      <p:to>
                                        <p:strVal val="visible"/>
                                      </p:to>
                                    </p:set>
                                    <p:anim calcmode="lin" valueType="num">
                                      <p:cBhvr additive="base">
                                        <p:cTn id="25" dur="500"/>
                                        <p:tgtEl>
                                          <p:spTgt spid="406533">
                                            <p:txEl>
                                              <p:pRg st="3" end="3"/>
                                            </p:txEl>
                                          </p:spTgt>
                                        </p:tgtEl>
                                        <p:attrNameLst>
                                          <p:attrName>ppt_y</p:attrName>
                                        </p:attrNameLst>
                                      </p:cBhvr>
                                      <p:tavLst>
                                        <p:tav tm="0">
                                          <p:val>
                                            <p:strVal val="#ppt_y+#ppt_h*1.125000"/>
                                          </p:val>
                                        </p:tav>
                                        <p:tav tm="100000">
                                          <p:val>
                                            <p:strVal val="#ppt_y"/>
                                          </p:val>
                                        </p:tav>
                                      </p:tavLst>
                                    </p:anim>
                                    <p:animEffect transition="in" filter="wipe(up)">
                                      <p:cBhvr>
                                        <p:cTn id="26" dur="500"/>
                                        <p:tgtEl>
                                          <p:spTgt spid="40653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406533">
                                            <p:txEl>
                                              <p:pRg st="4" end="4"/>
                                            </p:txEl>
                                          </p:spTgt>
                                        </p:tgtEl>
                                        <p:attrNameLst>
                                          <p:attrName>style.visibility</p:attrName>
                                        </p:attrNameLst>
                                      </p:cBhvr>
                                      <p:to>
                                        <p:strVal val="visible"/>
                                      </p:to>
                                    </p:set>
                                    <p:anim calcmode="lin" valueType="num">
                                      <p:cBhvr additive="base">
                                        <p:cTn id="31" dur="500"/>
                                        <p:tgtEl>
                                          <p:spTgt spid="406533">
                                            <p:txEl>
                                              <p:pRg st="4" end="4"/>
                                            </p:txEl>
                                          </p:spTgt>
                                        </p:tgtEl>
                                        <p:attrNameLst>
                                          <p:attrName>ppt_y</p:attrName>
                                        </p:attrNameLst>
                                      </p:cBhvr>
                                      <p:tavLst>
                                        <p:tav tm="0">
                                          <p:val>
                                            <p:strVal val="#ppt_y+#ppt_h*1.125000"/>
                                          </p:val>
                                        </p:tav>
                                        <p:tav tm="100000">
                                          <p:val>
                                            <p:strVal val="#ppt_y"/>
                                          </p:val>
                                        </p:tav>
                                      </p:tavLst>
                                    </p:anim>
                                    <p:animEffect transition="in" filter="wipe(up)">
                                      <p:cBhvr>
                                        <p:cTn id="32" dur="500"/>
                                        <p:tgtEl>
                                          <p:spTgt spid="40653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406533">
                                            <p:txEl>
                                              <p:pRg st="5" end="5"/>
                                            </p:txEl>
                                          </p:spTgt>
                                        </p:tgtEl>
                                        <p:attrNameLst>
                                          <p:attrName>style.visibility</p:attrName>
                                        </p:attrNameLst>
                                      </p:cBhvr>
                                      <p:to>
                                        <p:strVal val="visible"/>
                                      </p:to>
                                    </p:set>
                                    <p:anim calcmode="lin" valueType="num">
                                      <p:cBhvr additive="base">
                                        <p:cTn id="37" dur="500"/>
                                        <p:tgtEl>
                                          <p:spTgt spid="406533">
                                            <p:txEl>
                                              <p:pRg st="5" end="5"/>
                                            </p:txEl>
                                          </p:spTgt>
                                        </p:tgtEl>
                                        <p:attrNameLst>
                                          <p:attrName>ppt_y</p:attrName>
                                        </p:attrNameLst>
                                      </p:cBhvr>
                                      <p:tavLst>
                                        <p:tav tm="0">
                                          <p:val>
                                            <p:strVal val="#ppt_y+#ppt_h*1.125000"/>
                                          </p:val>
                                        </p:tav>
                                        <p:tav tm="100000">
                                          <p:val>
                                            <p:strVal val="#ppt_y"/>
                                          </p:val>
                                        </p:tav>
                                      </p:tavLst>
                                    </p:anim>
                                    <p:animEffect transition="in" filter="wipe(up)">
                                      <p:cBhvr>
                                        <p:cTn id="38" dur="500"/>
                                        <p:tgtEl>
                                          <p:spTgt spid="40653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406533">
                                            <p:txEl>
                                              <p:pRg st="6" end="6"/>
                                            </p:txEl>
                                          </p:spTgt>
                                        </p:tgtEl>
                                        <p:attrNameLst>
                                          <p:attrName>style.visibility</p:attrName>
                                        </p:attrNameLst>
                                      </p:cBhvr>
                                      <p:to>
                                        <p:strVal val="visible"/>
                                      </p:to>
                                    </p:set>
                                    <p:anim calcmode="lin" valueType="num">
                                      <p:cBhvr additive="base">
                                        <p:cTn id="43" dur="500"/>
                                        <p:tgtEl>
                                          <p:spTgt spid="406533">
                                            <p:txEl>
                                              <p:pRg st="6" end="6"/>
                                            </p:txEl>
                                          </p:spTgt>
                                        </p:tgtEl>
                                        <p:attrNameLst>
                                          <p:attrName>ppt_y</p:attrName>
                                        </p:attrNameLst>
                                      </p:cBhvr>
                                      <p:tavLst>
                                        <p:tav tm="0">
                                          <p:val>
                                            <p:strVal val="#ppt_y+#ppt_h*1.125000"/>
                                          </p:val>
                                        </p:tav>
                                        <p:tav tm="100000">
                                          <p:val>
                                            <p:strVal val="#ppt_y"/>
                                          </p:val>
                                        </p:tav>
                                      </p:tavLst>
                                    </p:anim>
                                    <p:animEffect transition="in" filter="wipe(up)">
                                      <p:cBhvr>
                                        <p:cTn id="44" dur="500"/>
                                        <p:tgtEl>
                                          <p:spTgt spid="40653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406533">
                                            <p:txEl>
                                              <p:pRg st="7" end="7"/>
                                            </p:txEl>
                                          </p:spTgt>
                                        </p:tgtEl>
                                        <p:attrNameLst>
                                          <p:attrName>style.visibility</p:attrName>
                                        </p:attrNameLst>
                                      </p:cBhvr>
                                      <p:to>
                                        <p:strVal val="visible"/>
                                      </p:to>
                                    </p:set>
                                    <p:anim calcmode="lin" valueType="num">
                                      <p:cBhvr additive="base">
                                        <p:cTn id="49" dur="500"/>
                                        <p:tgtEl>
                                          <p:spTgt spid="406533">
                                            <p:txEl>
                                              <p:pRg st="7" end="7"/>
                                            </p:txEl>
                                          </p:spTgt>
                                        </p:tgtEl>
                                        <p:attrNameLst>
                                          <p:attrName>ppt_y</p:attrName>
                                        </p:attrNameLst>
                                      </p:cBhvr>
                                      <p:tavLst>
                                        <p:tav tm="0">
                                          <p:val>
                                            <p:strVal val="#ppt_y+#ppt_h*1.125000"/>
                                          </p:val>
                                        </p:tav>
                                        <p:tav tm="100000">
                                          <p:val>
                                            <p:strVal val="#ppt_y"/>
                                          </p:val>
                                        </p:tav>
                                      </p:tavLst>
                                    </p:anim>
                                    <p:animEffect transition="in" filter="wipe(up)">
                                      <p:cBhvr>
                                        <p:cTn id="50" dur="500"/>
                                        <p:tgtEl>
                                          <p:spTgt spid="406533">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grpId="0" nodeType="clickEffect">
                                  <p:stCondLst>
                                    <p:cond delay="0"/>
                                  </p:stCondLst>
                                  <p:childTnLst>
                                    <p:set>
                                      <p:cBhvr>
                                        <p:cTn id="54" dur="1" fill="hold">
                                          <p:stCondLst>
                                            <p:cond delay="0"/>
                                          </p:stCondLst>
                                        </p:cTn>
                                        <p:tgtEl>
                                          <p:spTgt spid="406533">
                                            <p:txEl>
                                              <p:pRg st="8" end="8"/>
                                            </p:txEl>
                                          </p:spTgt>
                                        </p:tgtEl>
                                        <p:attrNameLst>
                                          <p:attrName>style.visibility</p:attrName>
                                        </p:attrNameLst>
                                      </p:cBhvr>
                                      <p:to>
                                        <p:strVal val="visible"/>
                                      </p:to>
                                    </p:set>
                                    <p:anim calcmode="lin" valueType="num">
                                      <p:cBhvr additive="base">
                                        <p:cTn id="55" dur="500"/>
                                        <p:tgtEl>
                                          <p:spTgt spid="406533">
                                            <p:txEl>
                                              <p:pRg st="8" end="8"/>
                                            </p:txEl>
                                          </p:spTgt>
                                        </p:tgtEl>
                                        <p:attrNameLst>
                                          <p:attrName>ppt_y</p:attrName>
                                        </p:attrNameLst>
                                      </p:cBhvr>
                                      <p:tavLst>
                                        <p:tav tm="0">
                                          <p:val>
                                            <p:strVal val="#ppt_y+#ppt_h*1.125000"/>
                                          </p:val>
                                        </p:tav>
                                        <p:tav tm="100000">
                                          <p:val>
                                            <p:strVal val="#ppt_y"/>
                                          </p:val>
                                        </p:tav>
                                      </p:tavLst>
                                    </p:anim>
                                    <p:animEffect transition="in" filter="wipe(up)">
                                      <p:cBhvr>
                                        <p:cTn id="56" dur="500"/>
                                        <p:tgtEl>
                                          <p:spTgt spid="406533">
                                            <p:txEl>
                                              <p:pRg st="8" end="8"/>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06533">
                                            <p:txEl>
                                              <p:pRg st="9" end="9"/>
                                            </p:txEl>
                                          </p:spTgt>
                                        </p:tgtEl>
                                        <p:attrNameLst>
                                          <p:attrName>style.visibility</p:attrName>
                                        </p:attrNameLst>
                                      </p:cBhvr>
                                      <p:to>
                                        <p:strVal val="visible"/>
                                      </p:to>
                                    </p:set>
                                    <p:anim calcmode="lin" valueType="num">
                                      <p:cBhvr additive="base">
                                        <p:cTn id="61" dur="500"/>
                                        <p:tgtEl>
                                          <p:spTgt spid="406533">
                                            <p:txEl>
                                              <p:pRg st="9" end="9"/>
                                            </p:txEl>
                                          </p:spTgt>
                                        </p:tgtEl>
                                        <p:attrNameLst>
                                          <p:attrName>ppt_y</p:attrName>
                                        </p:attrNameLst>
                                      </p:cBhvr>
                                      <p:tavLst>
                                        <p:tav tm="0">
                                          <p:val>
                                            <p:strVal val="#ppt_y+#ppt_h*1.125000"/>
                                          </p:val>
                                        </p:tav>
                                        <p:tav tm="100000">
                                          <p:val>
                                            <p:strVal val="#ppt_y"/>
                                          </p:val>
                                        </p:tav>
                                      </p:tavLst>
                                    </p:anim>
                                    <p:animEffect transition="in" filter="wipe(up)">
                                      <p:cBhvr>
                                        <p:cTn id="62" dur="500"/>
                                        <p:tgtEl>
                                          <p:spTgt spid="40653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6533" grpId="0" build="p" bldLvl="3"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BF390-8469-BF62-DF2C-135A11AAFDAC}"/>
              </a:ext>
            </a:extLst>
          </p:cNvPr>
          <p:cNvSpPr>
            <a:spLocks noGrp="1"/>
          </p:cNvSpPr>
          <p:nvPr>
            <p:ph type="title"/>
          </p:nvPr>
        </p:nvSpPr>
        <p:spPr/>
        <p:txBody>
          <a:bodyPr/>
          <a:lstStyle/>
          <a:p>
            <a:r>
              <a:rPr lang="en-GB" dirty="0"/>
              <a:t>Summary</a:t>
            </a:r>
          </a:p>
        </p:txBody>
      </p:sp>
      <p:sp>
        <p:nvSpPr>
          <p:cNvPr id="3" name="Content Placeholder 2">
            <a:extLst>
              <a:ext uri="{FF2B5EF4-FFF2-40B4-BE49-F238E27FC236}">
                <a16:creationId xmlns:a16="http://schemas.microsoft.com/office/drawing/2014/main" id="{8580AE0F-20AD-B242-D4A0-6C988D1829F8}"/>
              </a:ext>
            </a:extLst>
          </p:cNvPr>
          <p:cNvSpPr>
            <a:spLocks noGrp="1"/>
          </p:cNvSpPr>
          <p:nvPr>
            <p:ph idx="1"/>
          </p:nvPr>
        </p:nvSpPr>
        <p:spPr/>
        <p:txBody>
          <a:bodyPr>
            <a:normAutofit fontScale="92500" lnSpcReduction="10000"/>
          </a:bodyPr>
          <a:lstStyle/>
          <a:p>
            <a:r>
              <a:rPr lang="en-GB" dirty="0">
                <a:latin typeface="+mn-lt"/>
              </a:rPr>
              <a:t>Supply side policies aim to increase productivity. </a:t>
            </a:r>
          </a:p>
          <a:p>
            <a:r>
              <a:rPr lang="en-GB" dirty="0">
                <a:latin typeface="+mn-lt"/>
              </a:rPr>
              <a:t>Effect of a rise in productivity is a shift in SRAS and LRAS to the right</a:t>
            </a:r>
          </a:p>
          <a:p>
            <a:r>
              <a:rPr lang="en-GB" dirty="0">
                <a:latin typeface="+mn-lt"/>
              </a:rPr>
              <a:t>Productivity increase can be made either with government intervention or market orientation – each approach has pros and cons; either approaches involve an increase in investments in skills, training, education and R&amp;D and encourage more entrepreneurship, innovation and risk-taking</a:t>
            </a:r>
          </a:p>
          <a:p>
            <a:r>
              <a:rPr lang="en-GB" dirty="0">
                <a:latin typeface="+mn-lt"/>
              </a:rPr>
              <a:t>Balance of payments record the flow of funds between people in a country and the rest of the world. For organised record keeping, the fund flows are organised into various accounts</a:t>
            </a:r>
          </a:p>
          <a:p>
            <a:r>
              <a:rPr lang="en-GB" dirty="0">
                <a:latin typeface="+mn-lt"/>
              </a:rPr>
              <a:t>Balance of payments tend to balance or reach ‘0’ – net inflow and outflow balances out</a:t>
            </a:r>
          </a:p>
          <a:p>
            <a:r>
              <a:rPr lang="en-GB" dirty="0">
                <a:latin typeface="+mn-lt"/>
              </a:rPr>
              <a:t>Comparative advantage can explain why countries trade, and the gains from trade</a:t>
            </a:r>
          </a:p>
          <a:p>
            <a:r>
              <a:rPr lang="en-GB" dirty="0">
                <a:latin typeface="+mn-lt"/>
              </a:rPr>
              <a:t>Exchange rates reflect the relative value of a country’s currency as compared to a benchmark country currency. Fluctuations in exchange rates reflect changes in demand and supply conditions in the foreign exchange markets</a:t>
            </a:r>
          </a:p>
          <a:p>
            <a:endParaRPr lang="en-GB" dirty="0"/>
          </a:p>
          <a:p>
            <a:pPr lvl="1"/>
            <a:endParaRPr lang="en-GB" dirty="0"/>
          </a:p>
        </p:txBody>
      </p:sp>
    </p:spTree>
    <p:extLst>
      <p:ext uri="{BB962C8B-B14F-4D97-AF65-F5344CB8AC3E}">
        <p14:creationId xmlns:p14="http://schemas.microsoft.com/office/powerpoint/2010/main" val="23604659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B9C7-A44A-4812-A0A0-64426E57A390}"/>
              </a:ext>
            </a:extLst>
          </p:cNvPr>
          <p:cNvSpPr>
            <a:spLocks noGrp="1"/>
          </p:cNvSpPr>
          <p:nvPr>
            <p:ph type="title"/>
          </p:nvPr>
        </p:nvSpPr>
        <p:spPr/>
        <p:txBody>
          <a:bodyPr>
            <a:normAutofit fontScale="90000"/>
          </a:bodyPr>
          <a:lstStyle/>
          <a:p>
            <a:r>
              <a:rPr lang="en-MY" dirty="0"/>
              <a:t>Supplementary slides for reading (will not be covered in class)</a:t>
            </a:r>
          </a:p>
        </p:txBody>
      </p:sp>
      <p:sp>
        <p:nvSpPr>
          <p:cNvPr id="3" name="Content Placeholder 2">
            <a:extLst>
              <a:ext uri="{FF2B5EF4-FFF2-40B4-BE49-F238E27FC236}">
                <a16:creationId xmlns:a16="http://schemas.microsoft.com/office/drawing/2014/main" id="{C26EBD6D-57AC-60F5-1C69-2A5957F02502}"/>
              </a:ext>
            </a:extLst>
          </p:cNvPr>
          <p:cNvSpPr>
            <a:spLocks noGrp="1"/>
          </p:cNvSpPr>
          <p:nvPr>
            <p:ph idx="1"/>
          </p:nvPr>
        </p:nvSpPr>
        <p:spPr/>
        <p:txBody>
          <a:bodyPr/>
          <a:lstStyle/>
          <a:p>
            <a:r>
              <a:rPr lang="en-MY" dirty="0"/>
              <a:t>UK’s productivity problems</a:t>
            </a:r>
          </a:p>
        </p:txBody>
      </p:sp>
    </p:spTree>
    <p:extLst>
      <p:ext uri="{BB962C8B-B14F-4D97-AF65-F5344CB8AC3E}">
        <p14:creationId xmlns:p14="http://schemas.microsoft.com/office/powerpoint/2010/main" val="948777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4">
            <a:extLst>
              <a:ext uri="{FF2B5EF4-FFF2-40B4-BE49-F238E27FC236}">
                <a16:creationId xmlns:a16="http://schemas.microsoft.com/office/drawing/2014/main" id="{1F1C7250-850B-4565-928A-05DA27B0606E}"/>
              </a:ext>
            </a:extLst>
          </p:cNvPr>
          <p:cNvSpPr>
            <a:spLocks noGrp="1" noChangeArrowheads="1"/>
          </p:cNvSpPr>
          <p:nvPr>
            <p:ph type="title" idx="4294967295"/>
          </p:nvPr>
        </p:nvSpPr>
        <p:spPr>
          <a:xfrm>
            <a:off x="0" y="0"/>
            <a:ext cx="12192000" cy="641073"/>
          </a:xfrm>
          <a:effectLst>
            <a:outerShdw dist="12700" dir="2700000" algn="ctr" rotWithShape="0">
              <a:schemeClr val="tx1"/>
            </a:outerShdw>
          </a:effectLst>
        </p:spPr>
        <p:txBody>
          <a:bodyPr vert="horz" wrap="square" lIns="91440" tIns="91440" rIns="91440" bIns="45720" numCol="1" anchor="b" anchorCtr="0" compatLnSpc="1">
            <a:prstTxWarp prst="textNoShape">
              <a:avLst/>
            </a:prstTxWarp>
          </a:bodyPr>
          <a:lstStyle/>
          <a:p>
            <a:pPr eaLnBrk="1" hangingPunct="1"/>
            <a:r>
              <a:rPr lang="en-GB" altLang="en-US" sz="2700" b="1" dirty="0">
                <a:solidFill>
                  <a:schemeClr val="tx2">
                    <a:lumMod val="75000"/>
                  </a:schemeClr>
                </a:solidFill>
                <a:effectLst/>
              </a:rPr>
              <a:t>UK’s problems emerged in the run-up to the financial crisis</a:t>
            </a:r>
          </a:p>
        </p:txBody>
      </p:sp>
      <p:sp>
        <p:nvSpPr>
          <p:cNvPr id="5" name="Text Box 14">
            <a:extLst>
              <a:ext uri="{FF2B5EF4-FFF2-40B4-BE49-F238E27FC236}">
                <a16:creationId xmlns:a16="http://schemas.microsoft.com/office/drawing/2014/main" id="{14DC5F2B-F38F-4E28-8D11-542868DFAECB}"/>
              </a:ext>
            </a:extLst>
          </p:cNvPr>
          <p:cNvSpPr txBox="1">
            <a:spLocks noChangeArrowheads="1"/>
          </p:cNvSpPr>
          <p:nvPr/>
        </p:nvSpPr>
        <p:spPr bwMode="auto">
          <a:xfrm>
            <a:off x="794222" y="6375436"/>
            <a:ext cx="87307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i="1" dirty="0">
                <a:solidFill>
                  <a:schemeClr val="bg1">
                    <a:lumMod val="50000"/>
                  </a:schemeClr>
                </a:solidFill>
                <a:latin typeface="Arial" panose="020B0604020202020204" pitchFamily="34" charset="0"/>
                <a:cs typeface="Arial" panose="020B0604020202020204" pitchFamily="34" charset="0"/>
              </a:rPr>
              <a:t>Note: </a:t>
            </a:r>
            <a:r>
              <a:rPr lang="en-GB" altLang="en-US" sz="1200" dirty="0">
                <a:solidFill>
                  <a:schemeClr val="bg1">
                    <a:lumMod val="50000"/>
                  </a:schemeClr>
                </a:solidFill>
                <a:latin typeface="Arial" panose="020B0604020202020204" pitchFamily="34" charset="0"/>
                <a:cs typeface="Arial" panose="020B0604020202020204" pitchFamily="34" charset="0"/>
              </a:rPr>
              <a:t> Figures are constant-price GDP per hour worked</a:t>
            </a:r>
          </a:p>
          <a:p>
            <a:r>
              <a:rPr lang="en-GB" altLang="en-US" sz="1200" i="1" dirty="0">
                <a:solidFill>
                  <a:schemeClr val="bg1">
                    <a:lumMod val="50000"/>
                  </a:schemeClr>
                </a:solidFill>
                <a:latin typeface="Arial" panose="020B0604020202020204" pitchFamily="34" charset="0"/>
                <a:cs typeface="Arial" panose="020B0604020202020204" pitchFamily="34" charset="0"/>
              </a:rPr>
              <a:t>Source</a:t>
            </a:r>
            <a:r>
              <a:rPr lang="en-GB" altLang="en-US" sz="1200" dirty="0">
                <a:solidFill>
                  <a:schemeClr val="bg1">
                    <a:lumMod val="50000"/>
                  </a:schemeClr>
                </a:solidFill>
                <a:latin typeface="Arial" panose="020B0604020202020204" pitchFamily="34" charset="0"/>
                <a:cs typeface="Arial" panose="020B0604020202020204" pitchFamily="34" charset="0"/>
              </a:rPr>
              <a:t>: Based on data in </a:t>
            </a:r>
            <a:r>
              <a:rPr lang="en-GB" altLang="en-US" sz="1200" i="1" dirty="0">
                <a:solidFill>
                  <a:schemeClr val="bg1">
                    <a:lumMod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OECDStat</a:t>
            </a:r>
            <a:r>
              <a:rPr lang="en-GB" altLang="en-US" sz="1200" i="1" dirty="0">
                <a:solidFill>
                  <a:schemeClr val="bg1">
                    <a:lumMod val="50000"/>
                  </a:schemeClr>
                </a:solidFill>
                <a:latin typeface="Arial" panose="020B0604020202020204" pitchFamily="34" charset="0"/>
                <a:cs typeface="Arial" panose="020B0604020202020204" pitchFamily="34" charset="0"/>
              </a:rPr>
              <a:t> </a:t>
            </a:r>
            <a:r>
              <a:rPr lang="en-GB" altLang="en-US" sz="1200" dirty="0">
                <a:solidFill>
                  <a:schemeClr val="bg1">
                    <a:lumMod val="50000"/>
                  </a:schemeClr>
                </a:solidFill>
                <a:latin typeface="Arial" panose="020B0604020202020204" pitchFamily="34" charset="0"/>
                <a:cs typeface="Arial" panose="020B0604020202020204" pitchFamily="34" charset="0"/>
              </a:rPr>
              <a:t>(OECD, 2022)</a:t>
            </a:r>
          </a:p>
        </p:txBody>
      </p:sp>
      <p:graphicFrame>
        <p:nvGraphicFramePr>
          <p:cNvPr id="8" name="Object 2">
            <a:extLst>
              <a:ext uri="{FF2B5EF4-FFF2-40B4-BE49-F238E27FC236}">
                <a16:creationId xmlns:a16="http://schemas.microsoft.com/office/drawing/2014/main" id="{256AA745-8F69-D63F-2F5D-D19A5606AB2C}"/>
              </a:ext>
            </a:extLst>
          </p:cNvPr>
          <p:cNvGraphicFramePr>
            <a:graphicFrameLocks/>
          </p:cNvGraphicFramePr>
          <p:nvPr/>
        </p:nvGraphicFramePr>
        <p:xfrm>
          <a:off x="0" y="838200"/>
          <a:ext cx="12192000" cy="56388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24325842"/>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250"/>
                                  </p:stCondLst>
                                  <p:childTnLst>
                                    <p:set>
                                      <p:cBhvr>
                                        <p:cTn id="6" dur="1" fill="hold">
                                          <p:stCondLst>
                                            <p:cond delay="0"/>
                                          </p:stCondLst>
                                        </p:cTn>
                                        <p:tgtEl>
                                          <p:spTgt spid="8">
                                            <p:graphicEl>
                                              <a:chart seriesIdx="0" categoryIdx="-4" bldStep="series"/>
                                            </p:graphicEl>
                                          </p:spTgt>
                                        </p:tgtEl>
                                        <p:attrNameLst>
                                          <p:attrName>style.visibility</p:attrName>
                                        </p:attrNameLst>
                                      </p:cBhvr>
                                      <p:to>
                                        <p:strVal val="visible"/>
                                      </p:to>
                                    </p:set>
                                    <p:animEffect transition="in" filter="wipe(left)">
                                      <p:cBhvr>
                                        <p:cTn id="7" dur="1250"/>
                                        <p:tgtEl>
                                          <p:spTgt spid="8">
                                            <p:graphicEl>
                                              <a:chart seriesIdx="0" categoryIdx="-4" bldStep="series"/>
                                            </p:graphicEl>
                                          </p:spTgt>
                                        </p:tgtEl>
                                      </p:cBhvr>
                                    </p:animEffect>
                                  </p:childTnLst>
                                </p:cTn>
                              </p:par>
                            </p:childTnLst>
                          </p:cTn>
                        </p:par>
                        <p:par>
                          <p:cTn id="8" fill="hold">
                            <p:stCondLst>
                              <p:cond delay="2500"/>
                            </p:stCondLst>
                            <p:childTnLst>
                              <p:par>
                                <p:cTn id="9" presetID="22" presetClass="entr" presetSubtype="8" fill="hold" grpId="0" nodeType="afterEffect">
                                  <p:stCondLst>
                                    <p:cond delay="1250"/>
                                  </p:stCondLst>
                                  <p:childTnLst>
                                    <p:set>
                                      <p:cBhvr>
                                        <p:cTn id="10" dur="1" fill="hold">
                                          <p:stCondLst>
                                            <p:cond delay="0"/>
                                          </p:stCondLst>
                                        </p:cTn>
                                        <p:tgtEl>
                                          <p:spTgt spid="8">
                                            <p:graphicEl>
                                              <a:chart seriesIdx="1" categoryIdx="-4" bldStep="series"/>
                                            </p:graphicEl>
                                          </p:spTgt>
                                        </p:tgtEl>
                                        <p:attrNameLst>
                                          <p:attrName>style.visibility</p:attrName>
                                        </p:attrNameLst>
                                      </p:cBhvr>
                                      <p:to>
                                        <p:strVal val="visible"/>
                                      </p:to>
                                    </p:set>
                                    <p:animEffect transition="in" filter="wipe(left)">
                                      <p:cBhvr>
                                        <p:cTn id="11" dur="1250"/>
                                        <p:tgtEl>
                                          <p:spTgt spid="8">
                                            <p:graphicEl>
                                              <a:chart seriesIdx="1" categoryIdx="-4" bldStep="series"/>
                                            </p:graphicEl>
                                          </p:spTgt>
                                        </p:tgtEl>
                                      </p:cBhvr>
                                    </p:animEffect>
                                  </p:childTnLst>
                                </p:cTn>
                              </p:par>
                            </p:childTnLst>
                          </p:cTn>
                        </p:par>
                        <p:par>
                          <p:cTn id="12" fill="hold">
                            <p:stCondLst>
                              <p:cond delay="5000"/>
                            </p:stCondLst>
                            <p:childTnLst>
                              <p:par>
                                <p:cTn id="13" presetID="22" presetClass="entr" presetSubtype="8" fill="hold" grpId="0" nodeType="afterEffect">
                                  <p:stCondLst>
                                    <p:cond delay="1250"/>
                                  </p:stCondLst>
                                  <p:childTnLst>
                                    <p:set>
                                      <p:cBhvr>
                                        <p:cTn id="14" dur="1" fill="hold">
                                          <p:stCondLst>
                                            <p:cond delay="0"/>
                                          </p:stCondLst>
                                        </p:cTn>
                                        <p:tgtEl>
                                          <p:spTgt spid="8">
                                            <p:graphicEl>
                                              <a:chart seriesIdx="2" categoryIdx="-4" bldStep="series"/>
                                            </p:graphicEl>
                                          </p:spTgt>
                                        </p:tgtEl>
                                        <p:attrNameLst>
                                          <p:attrName>style.visibility</p:attrName>
                                        </p:attrNameLst>
                                      </p:cBhvr>
                                      <p:to>
                                        <p:strVal val="visible"/>
                                      </p:to>
                                    </p:set>
                                    <p:animEffect transition="in" filter="wipe(left)">
                                      <p:cBhvr>
                                        <p:cTn id="15" dur="1250"/>
                                        <p:tgtEl>
                                          <p:spTgt spid="8">
                                            <p:graphicEl>
                                              <a:chart seriesIdx="2" categoryIdx="-4" bldStep="series"/>
                                            </p:graphicEl>
                                          </p:spTgt>
                                        </p:tgtEl>
                                      </p:cBhvr>
                                    </p:animEffect>
                                  </p:childTnLst>
                                </p:cTn>
                              </p:par>
                            </p:childTnLst>
                          </p:cTn>
                        </p:par>
                        <p:par>
                          <p:cTn id="16" fill="hold">
                            <p:stCondLst>
                              <p:cond delay="7500"/>
                            </p:stCondLst>
                            <p:childTnLst>
                              <p:par>
                                <p:cTn id="17" presetID="22" presetClass="entr" presetSubtype="8" fill="hold" grpId="0" nodeType="afterEffect">
                                  <p:stCondLst>
                                    <p:cond delay="1250"/>
                                  </p:stCondLst>
                                  <p:childTnLst>
                                    <p:set>
                                      <p:cBhvr>
                                        <p:cTn id="18" dur="1" fill="hold">
                                          <p:stCondLst>
                                            <p:cond delay="0"/>
                                          </p:stCondLst>
                                        </p:cTn>
                                        <p:tgtEl>
                                          <p:spTgt spid="8">
                                            <p:graphicEl>
                                              <a:chart seriesIdx="3" categoryIdx="-4" bldStep="series"/>
                                            </p:graphicEl>
                                          </p:spTgt>
                                        </p:tgtEl>
                                        <p:attrNameLst>
                                          <p:attrName>style.visibility</p:attrName>
                                        </p:attrNameLst>
                                      </p:cBhvr>
                                      <p:to>
                                        <p:strVal val="visible"/>
                                      </p:to>
                                    </p:set>
                                    <p:animEffect transition="in" filter="wipe(left)">
                                      <p:cBhvr>
                                        <p:cTn id="19" dur="1250"/>
                                        <p:tgtEl>
                                          <p:spTgt spid="8">
                                            <p:graphicEl>
                                              <a:chart seriesIdx="3" categoryIdx="-4" bldStep="series"/>
                                            </p:graphicEl>
                                          </p:spTgt>
                                        </p:tgtEl>
                                      </p:cBhvr>
                                    </p:animEffect>
                                  </p:childTnLst>
                                </p:cTn>
                              </p:par>
                            </p:childTnLst>
                          </p:cTn>
                        </p:par>
                        <p:par>
                          <p:cTn id="20" fill="hold">
                            <p:stCondLst>
                              <p:cond delay="10000"/>
                            </p:stCondLst>
                            <p:childTnLst>
                              <p:par>
                                <p:cTn id="21" presetID="22" presetClass="entr" presetSubtype="8" fill="hold" grpId="0" nodeType="afterEffect">
                                  <p:stCondLst>
                                    <p:cond delay="1250"/>
                                  </p:stCondLst>
                                  <p:childTnLst>
                                    <p:set>
                                      <p:cBhvr>
                                        <p:cTn id="22" dur="1" fill="hold">
                                          <p:stCondLst>
                                            <p:cond delay="0"/>
                                          </p:stCondLst>
                                        </p:cTn>
                                        <p:tgtEl>
                                          <p:spTgt spid="8">
                                            <p:graphicEl>
                                              <a:chart seriesIdx="4" categoryIdx="-4" bldStep="series"/>
                                            </p:graphicEl>
                                          </p:spTgt>
                                        </p:tgtEl>
                                        <p:attrNameLst>
                                          <p:attrName>style.visibility</p:attrName>
                                        </p:attrNameLst>
                                      </p:cBhvr>
                                      <p:to>
                                        <p:strVal val="visible"/>
                                      </p:to>
                                    </p:set>
                                    <p:animEffect transition="in" filter="wipe(left)">
                                      <p:cBhvr>
                                        <p:cTn id="23" dur="1250"/>
                                        <p:tgtEl>
                                          <p:spTgt spid="8">
                                            <p:graphicEl>
                                              <a:chart seriesIdx="4" categoryIdx="-4" bldStep="series"/>
                                            </p:graphicEl>
                                          </p:spTgt>
                                        </p:tgtEl>
                                      </p:cBhvr>
                                    </p:animEffect>
                                  </p:childTnLst>
                                </p:cTn>
                              </p:par>
                            </p:childTnLst>
                          </p:cTn>
                        </p:par>
                        <p:par>
                          <p:cTn id="24" fill="hold">
                            <p:stCondLst>
                              <p:cond delay="12500"/>
                            </p:stCondLst>
                            <p:childTnLst>
                              <p:par>
                                <p:cTn id="25" presetID="22" presetClass="entr" presetSubtype="8" fill="hold" grpId="0" nodeType="afterEffect">
                                  <p:stCondLst>
                                    <p:cond delay="1250"/>
                                  </p:stCondLst>
                                  <p:childTnLst>
                                    <p:set>
                                      <p:cBhvr>
                                        <p:cTn id="26" dur="1" fill="hold">
                                          <p:stCondLst>
                                            <p:cond delay="0"/>
                                          </p:stCondLst>
                                        </p:cTn>
                                        <p:tgtEl>
                                          <p:spTgt spid="8">
                                            <p:graphicEl>
                                              <a:chart seriesIdx="5" categoryIdx="-4" bldStep="series"/>
                                            </p:graphicEl>
                                          </p:spTgt>
                                        </p:tgtEl>
                                        <p:attrNameLst>
                                          <p:attrName>style.visibility</p:attrName>
                                        </p:attrNameLst>
                                      </p:cBhvr>
                                      <p:to>
                                        <p:strVal val="visible"/>
                                      </p:to>
                                    </p:set>
                                    <p:animEffect transition="in" filter="wipe(left)">
                                      <p:cBhvr>
                                        <p:cTn id="27" dur="1250"/>
                                        <p:tgtEl>
                                          <p:spTgt spid="8">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Chart bld="series" animBg="0"/>
        </p:bldSub>
      </p:bldGraphic>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 Box 4">
            <a:extLst>
              <a:ext uri="{FF2B5EF4-FFF2-40B4-BE49-F238E27FC236}">
                <a16:creationId xmlns:a16="http://schemas.microsoft.com/office/drawing/2014/main" id="{6FB0DD74-A2FA-4658-B2E0-E2DE3E8F03EB}"/>
              </a:ext>
            </a:extLst>
          </p:cNvPr>
          <p:cNvSpPr>
            <a:spLocks noGrp="1" noChangeArrowheads="1"/>
          </p:cNvSpPr>
          <p:nvPr>
            <p:ph type="title"/>
          </p:nvPr>
        </p:nvSpPr>
        <p:spPr>
          <a:xfrm>
            <a:off x="0" y="1"/>
            <a:ext cx="12192000" cy="838199"/>
          </a:xfrm>
          <a:effectLst>
            <a:outerShdw dist="12700" dir="2700000" algn="ctr" rotWithShape="0">
              <a:schemeClr val="tx1"/>
            </a:outerShdw>
          </a:effectLst>
        </p:spPr>
        <p:txBody>
          <a:bodyPr vert="horz" wrap="square" lIns="91440" tIns="91440" rIns="91440" bIns="45720" numCol="1" anchor="b" anchorCtr="0" compatLnSpc="1">
            <a:prstTxWarp prst="textNoShape">
              <a:avLst/>
            </a:prstTxWarp>
          </a:bodyPr>
          <a:lstStyle/>
          <a:p>
            <a:pPr marL="533400" indent="-533400"/>
            <a:r>
              <a:rPr lang="en-GB" altLang="en-US" sz="2600" b="1" dirty="0">
                <a:solidFill>
                  <a:srgbClr val="A50021"/>
                </a:solidFill>
                <a:effectLst/>
              </a:rPr>
              <a:t>And involve relatively small losses in productivity since then</a:t>
            </a:r>
          </a:p>
        </p:txBody>
      </p:sp>
      <p:sp>
        <p:nvSpPr>
          <p:cNvPr id="5" name="Text Box 14">
            <a:extLst>
              <a:ext uri="{FF2B5EF4-FFF2-40B4-BE49-F238E27FC236}">
                <a16:creationId xmlns:a16="http://schemas.microsoft.com/office/drawing/2014/main" id="{F9A18C5B-C73B-4195-A645-70D7D35F1651}"/>
              </a:ext>
            </a:extLst>
          </p:cNvPr>
          <p:cNvSpPr txBox="1">
            <a:spLocks noChangeArrowheads="1"/>
          </p:cNvSpPr>
          <p:nvPr/>
        </p:nvSpPr>
        <p:spPr bwMode="auto">
          <a:xfrm>
            <a:off x="990600" y="6284188"/>
            <a:ext cx="8534400" cy="547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30000"/>
              </a:lnSpc>
            </a:pPr>
            <a:r>
              <a:rPr lang="en-GB" altLang="en-US" sz="1200" i="1" dirty="0">
                <a:solidFill>
                  <a:schemeClr val="bg1">
                    <a:lumMod val="50000"/>
                  </a:schemeClr>
                </a:solidFill>
                <a:latin typeface="Arial" panose="020B0604020202020204" pitchFamily="34" charset="0"/>
                <a:cs typeface="Arial" panose="020B0604020202020204" pitchFamily="34" charset="0"/>
              </a:rPr>
              <a:t>Note: </a:t>
            </a:r>
            <a:r>
              <a:rPr lang="en-GB" altLang="en-US" sz="1200" dirty="0">
                <a:solidFill>
                  <a:schemeClr val="bg1">
                    <a:lumMod val="50000"/>
                  </a:schemeClr>
                </a:solidFill>
                <a:latin typeface="Arial" panose="020B0604020202020204" pitchFamily="34" charset="0"/>
                <a:cs typeface="Arial" panose="020B0604020202020204" pitchFamily="34" charset="0"/>
              </a:rPr>
              <a:t> Figures are current-price GDP per hour worked</a:t>
            </a:r>
          </a:p>
          <a:p>
            <a:pPr>
              <a:lnSpc>
                <a:spcPct val="130000"/>
              </a:lnSpc>
            </a:pPr>
            <a:r>
              <a:rPr lang="en-GB" altLang="en-US" sz="1200" i="1" dirty="0">
                <a:solidFill>
                  <a:schemeClr val="bg1">
                    <a:lumMod val="50000"/>
                  </a:schemeClr>
                </a:solidFill>
                <a:latin typeface="Arial" panose="020B0604020202020204" pitchFamily="34" charset="0"/>
                <a:cs typeface="Arial" panose="020B0604020202020204" pitchFamily="34" charset="0"/>
              </a:rPr>
              <a:t>Source</a:t>
            </a:r>
            <a:r>
              <a:rPr lang="en-GB" altLang="en-US" sz="1200" dirty="0">
                <a:solidFill>
                  <a:schemeClr val="bg1">
                    <a:lumMod val="50000"/>
                  </a:schemeClr>
                </a:solidFill>
                <a:latin typeface="Arial" panose="020B0604020202020204" pitchFamily="34" charset="0"/>
                <a:cs typeface="Arial" panose="020B0604020202020204" pitchFamily="34" charset="0"/>
              </a:rPr>
              <a:t>: Based on data in </a:t>
            </a:r>
            <a:r>
              <a:rPr lang="en-GB" altLang="en-US" sz="1200" i="1" dirty="0">
                <a:solidFill>
                  <a:schemeClr val="bg1">
                    <a:lumMod val="50000"/>
                  </a:schemeClr>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OECDStat</a:t>
            </a:r>
            <a:r>
              <a:rPr lang="en-GB" altLang="en-US" sz="1200" i="1" dirty="0">
                <a:solidFill>
                  <a:schemeClr val="bg1">
                    <a:lumMod val="50000"/>
                  </a:schemeClr>
                </a:solidFill>
                <a:latin typeface="Arial" panose="020B0604020202020204" pitchFamily="34" charset="0"/>
                <a:cs typeface="Arial" panose="020B0604020202020204" pitchFamily="34" charset="0"/>
              </a:rPr>
              <a:t> </a:t>
            </a:r>
            <a:r>
              <a:rPr lang="en-GB" altLang="en-US" sz="1200" dirty="0">
                <a:solidFill>
                  <a:schemeClr val="bg1">
                    <a:lumMod val="50000"/>
                  </a:schemeClr>
                </a:solidFill>
                <a:latin typeface="Arial" panose="020B0604020202020204" pitchFamily="34" charset="0"/>
                <a:cs typeface="Arial" panose="020B0604020202020204" pitchFamily="34" charset="0"/>
              </a:rPr>
              <a:t>(OECD, 2022)</a:t>
            </a:r>
          </a:p>
        </p:txBody>
      </p:sp>
      <p:graphicFrame>
        <p:nvGraphicFramePr>
          <p:cNvPr id="6" name="Object 2">
            <a:extLst>
              <a:ext uri="{FF2B5EF4-FFF2-40B4-BE49-F238E27FC236}">
                <a16:creationId xmlns:a16="http://schemas.microsoft.com/office/drawing/2014/main" id="{5B698D13-4864-40F6-AE86-DE7898DEB846}"/>
              </a:ext>
            </a:extLst>
          </p:cNvPr>
          <p:cNvGraphicFramePr>
            <a:graphicFrameLocks/>
          </p:cNvGraphicFramePr>
          <p:nvPr/>
        </p:nvGraphicFramePr>
        <p:xfrm>
          <a:off x="-1588" y="733530"/>
          <a:ext cx="12193588" cy="573258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29926994"/>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250"/>
                                  </p:stCondLst>
                                  <p:childTnLst>
                                    <p:set>
                                      <p:cBhvr>
                                        <p:cTn id="6" dur="1" fill="hold">
                                          <p:stCondLst>
                                            <p:cond delay="0"/>
                                          </p:stCondLst>
                                        </p:cTn>
                                        <p:tgtEl>
                                          <p:spTgt spid="6">
                                            <p:graphicEl>
                                              <a:chart seriesIdx="0" categoryIdx="-4" bldStep="series"/>
                                            </p:graphicEl>
                                          </p:spTgt>
                                        </p:tgtEl>
                                        <p:attrNameLst>
                                          <p:attrName>style.visibility</p:attrName>
                                        </p:attrNameLst>
                                      </p:cBhvr>
                                      <p:to>
                                        <p:strVal val="visible"/>
                                      </p:to>
                                    </p:set>
                                    <p:animEffect transition="in" filter="wipe(left)">
                                      <p:cBhvr>
                                        <p:cTn id="7" dur="1250"/>
                                        <p:tgtEl>
                                          <p:spTgt spid="6">
                                            <p:graphicEl>
                                              <a:chart seriesIdx="0" categoryIdx="-4" bldStep="series"/>
                                            </p:graphicEl>
                                          </p:spTgt>
                                        </p:tgtEl>
                                      </p:cBhvr>
                                    </p:animEffect>
                                  </p:childTnLst>
                                </p:cTn>
                              </p:par>
                            </p:childTnLst>
                          </p:cTn>
                        </p:par>
                        <p:par>
                          <p:cTn id="8" fill="hold">
                            <p:stCondLst>
                              <p:cond delay="2500"/>
                            </p:stCondLst>
                            <p:childTnLst>
                              <p:par>
                                <p:cTn id="9" presetID="22" presetClass="entr" presetSubtype="8" fill="hold" grpId="0" nodeType="afterEffect">
                                  <p:stCondLst>
                                    <p:cond delay="1250"/>
                                  </p:stCondLst>
                                  <p:childTnLst>
                                    <p:set>
                                      <p:cBhvr>
                                        <p:cTn id="10" dur="1" fill="hold">
                                          <p:stCondLst>
                                            <p:cond delay="0"/>
                                          </p:stCondLst>
                                        </p:cTn>
                                        <p:tgtEl>
                                          <p:spTgt spid="6">
                                            <p:graphicEl>
                                              <a:chart seriesIdx="1" categoryIdx="-4" bldStep="series"/>
                                            </p:graphicEl>
                                          </p:spTgt>
                                        </p:tgtEl>
                                        <p:attrNameLst>
                                          <p:attrName>style.visibility</p:attrName>
                                        </p:attrNameLst>
                                      </p:cBhvr>
                                      <p:to>
                                        <p:strVal val="visible"/>
                                      </p:to>
                                    </p:set>
                                    <p:animEffect transition="in" filter="wipe(left)">
                                      <p:cBhvr>
                                        <p:cTn id="11" dur="1250"/>
                                        <p:tgtEl>
                                          <p:spTgt spid="6">
                                            <p:graphicEl>
                                              <a:chart seriesIdx="1" categoryIdx="-4" bldStep="series"/>
                                            </p:graphicEl>
                                          </p:spTgt>
                                        </p:tgtEl>
                                      </p:cBhvr>
                                    </p:animEffect>
                                  </p:childTnLst>
                                </p:cTn>
                              </p:par>
                            </p:childTnLst>
                          </p:cTn>
                        </p:par>
                        <p:par>
                          <p:cTn id="12" fill="hold">
                            <p:stCondLst>
                              <p:cond delay="5000"/>
                            </p:stCondLst>
                            <p:childTnLst>
                              <p:par>
                                <p:cTn id="13" presetID="22" presetClass="entr" presetSubtype="8" fill="hold" grpId="0" nodeType="afterEffect">
                                  <p:stCondLst>
                                    <p:cond delay="1250"/>
                                  </p:stCondLst>
                                  <p:childTnLst>
                                    <p:set>
                                      <p:cBhvr>
                                        <p:cTn id="14" dur="1" fill="hold">
                                          <p:stCondLst>
                                            <p:cond delay="0"/>
                                          </p:stCondLst>
                                        </p:cTn>
                                        <p:tgtEl>
                                          <p:spTgt spid="6">
                                            <p:graphicEl>
                                              <a:chart seriesIdx="2" categoryIdx="-4" bldStep="series"/>
                                            </p:graphicEl>
                                          </p:spTgt>
                                        </p:tgtEl>
                                        <p:attrNameLst>
                                          <p:attrName>style.visibility</p:attrName>
                                        </p:attrNameLst>
                                      </p:cBhvr>
                                      <p:to>
                                        <p:strVal val="visible"/>
                                      </p:to>
                                    </p:set>
                                    <p:animEffect transition="in" filter="wipe(left)">
                                      <p:cBhvr>
                                        <p:cTn id="15" dur="1250"/>
                                        <p:tgtEl>
                                          <p:spTgt spid="6">
                                            <p:graphicEl>
                                              <a:chart seriesIdx="2" categoryIdx="-4" bldStep="series"/>
                                            </p:graphicEl>
                                          </p:spTgt>
                                        </p:tgtEl>
                                      </p:cBhvr>
                                    </p:animEffect>
                                  </p:childTnLst>
                                </p:cTn>
                              </p:par>
                            </p:childTnLst>
                          </p:cTn>
                        </p:par>
                        <p:par>
                          <p:cTn id="16" fill="hold">
                            <p:stCondLst>
                              <p:cond delay="7500"/>
                            </p:stCondLst>
                            <p:childTnLst>
                              <p:par>
                                <p:cTn id="17" presetID="22" presetClass="entr" presetSubtype="8" fill="hold" grpId="0" nodeType="afterEffect">
                                  <p:stCondLst>
                                    <p:cond delay="1250"/>
                                  </p:stCondLst>
                                  <p:childTnLst>
                                    <p:set>
                                      <p:cBhvr>
                                        <p:cTn id="18" dur="1" fill="hold">
                                          <p:stCondLst>
                                            <p:cond delay="0"/>
                                          </p:stCondLst>
                                        </p:cTn>
                                        <p:tgtEl>
                                          <p:spTgt spid="6">
                                            <p:graphicEl>
                                              <a:chart seriesIdx="3" categoryIdx="-4" bldStep="series"/>
                                            </p:graphicEl>
                                          </p:spTgt>
                                        </p:tgtEl>
                                        <p:attrNameLst>
                                          <p:attrName>style.visibility</p:attrName>
                                        </p:attrNameLst>
                                      </p:cBhvr>
                                      <p:to>
                                        <p:strVal val="visible"/>
                                      </p:to>
                                    </p:set>
                                    <p:animEffect transition="in" filter="wipe(left)">
                                      <p:cBhvr>
                                        <p:cTn id="19" dur="1250"/>
                                        <p:tgtEl>
                                          <p:spTgt spid="6">
                                            <p:graphicEl>
                                              <a:chart seriesIdx="3" categoryIdx="-4" bldStep="series"/>
                                            </p:graphicEl>
                                          </p:spTgt>
                                        </p:tgtEl>
                                      </p:cBhvr>
                                    </p:animEffect>
                                  </p:childTnLst>
                                </p:cTn>
                              </p:par>
                            </p:childTnLst>
                          </p:cTn>
                        </p:par>
                        <p:par>
                          <p:cTn id="20" fill="hold">
                            <p:stCondLst>
                              <p:cond delay="10000"/>
                            </p:stCondLst>
                            <p:childTnLst>
                              <p:par>
                                <p:cTn id="21" presetID="22" presetClass="entr" presetSubtype="8" fill="hold" grpId="0" nodeType="afterEffect">
                                  <p:stCondLst>
                                    <p:cond delay="1250"/>
                                  </p:stCondLst>
                                  <p:childTnLst>
                                    <p:set>
                                      <p:cBhvr>
                                        <p:cTn id="22" dur="1" fill="hold">
                                          <p:stCondLst>
                                            <p:cond delay="0"/>
                                          </p:stCondLst>
                                        </p:cTn>
                                        <p:tgtEl>
                                          <p:spTgt spid="6">
                                            <p:graphicEl>
                                              <a:chart seriesIdx="4" categoryIdx="-4" bldStep="series"/>
                                            </p:graphicEl>
                                          </p:spTgt>
                                        </p:tgtEl>
                                        <p:attrNameLst>
                                          <p:attrName>style.visibility</p:attrName>
                                        </p:attrNameLst>
                                      </p:cBhvr>
                                      <p:to>
                                        <p:strVal val="visible"/>
                                      </p:to>
                                    </p:set>
                                    <p:animEffect transition="in" filter="wipe(left)">
                                      <p:cBhvr>
                                        <p:cTn id="23" dur="1250"/>
                                        <p:tgtEl>
                                          <p:spTgt spid="6">
                                            <p:graphicEl>
                                              <a:chart seriesIdx="4" categoryIdx="-4" bldStep="series"/>
                                            </p:graphicEl>
                                          </p:spTgt>
                                        </p:tgtEl>
                                      </p:cBhvr>
                                    </p:animEffect>
                                  </p:childTnLst>
                                </p:cTn>
                              </p:par>
                            </p:childTnLst>
                          </p:cTn>
                        </p:par>
                        <p:par>
                          <p:cTn id="24" fill="hold">
                            <p:stCondLst>
                              <p:cond delay="12500"/>
                            </p:stCondLst>
                            <p:childTnLst>
                              <p:par>
                                <p:cTn id="25" presetID="22" presetClass="entr" presetSubtype="8" fill="hold" grpId="0" nodeType="afterEffect">
                                  <p:stCondLst>
                                    <p:cond delay="1250"/>
                                  </p:stCondLst>
                                  <p:childTnLst>
                                    <p:set>
                                      <p:cBhvr>
                                        <p:cTn id="26" dur="1" fill="hold">
                                          <p:stCondLst>
                                            <p:cond delay="0"/>
                                          </p:stCondLst>
                                        </p:cTn>
                                        <p:tgtEl>
                                          <p:spTgt spid="6">
                                            <p:graphicEl>
                                              <a:chart seriesIdx="5" categoryIdx="-4" bldStep="series"/>
                                            </p:graphicEl>
                                          </p:spTgt>
                                        </p:tgtEl>
                                        <p:attrNameLst>
                                          <p:attrName>style.visibility</p:attrName>
                                        </p:attrNameLst>
                                      </p:cBhvr>
                                      <p:to>
                                        <p:strVal val="visible"/>
                                      </p:to>
                                    </p:set>
                                    <p:animEffect transition="in" filter="wipe(left)">
                                      <p:cBhvr>
                                        <p:cTn id="27" dur="1250"/>
                                        <p:tgtEl>
                                          <p:spTgt spid="6">
                                            <p:graphicEl>
                                              <a:chart seriesIdx="5" categoryIdx="-4" bldStep="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 animBg="0"/>
        </p:bldSub>
      </p:bldGraphic>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6770" name="Rectangle 2">
            <a:extLst>
              <a:ext uri="{FF2B5EF4-FFF2-40B4-BE49-F238E27FC236}">
                <a16:creationId xmlns:a16="http://schemas.microsoft.com/office/drawing/2014/main" id="{422FC453-2C6F-4153-97DD-D42C7DEB7D79}"/>
              </a:ext>
            </a:extLst>
          </p:cNvPr>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1" name="Rectangle 3">
            <a:extLst>
              <a:ext uri="{FF2B5EF4-FFF2-40B4-BE49-F238E27FC236}">
                <a16:creationId xmlns:a16="http://schemas.microsoft.com/office/drawing/2014/main" id="{179C39D2-A8D8-4868-8518-A6D3F07C147D}"/>
              </a:ext>
            </a:extLst>
          </p:cNvPr>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416772" name="Rectangle 4">
            <a:extLst>
              <a:ext uri="{FF2B5EF4-FFF2-40B4-BE49-F238E27FC236}">
                <a16:creationId xmlns:a16="http://schemas.microsoft.com/office/drawing/2014/main" id="{76639FE7-C42E-4B6F-A0FD-3FF0AD425E30}"/>
              </a:ext>
            </a:extLst>
          </p:cNvPr>
          <p:cNvSpPr>
            <a:spLocks noGrp="1"/>
          </p:cNvSpPr>
          <p:nvPr>
            <p:ph type="title"/>
          </p:nvPr>
        </p:nvSpPr>
        <p:spPr/>
        <p:txBody>
          <a:bodyPr/>
          <a:lstStyle/>
          <a:p>
            <a:r>
              <a:rPr lang="en-GB" altLang="en-US" dirty="0"/>
              <a:t>UK capital stock and growth</a:t>
            </a:r>
          </a:p>
        </p:txBody>
      </p:sp>
      <p:sp>
        <p:nvSpPr>
          <p:cNvPr id="416773" name="Rectangle 5">
            <a:extLst>
              <a:ext uri="{FF2B5EF4-FFF2-40B4-BE49-F238E27FC236}">
                <a16:creationId xmlns:a16="http://schemas.microsoft.com/office/drawing/2014/main" id="{BC20E920-360D-496A-A4EC-4DE3AA6822CA}"/>
              </a:ext>
            </a:extLst>
          </p:cNvPr>
          <p:cNvSpPr>
            <a:spLocks noGrp="1"/>
          </p:cNvSpPr>
          <p:nvPr>
            <p:ph idx="1"/>
          </p:nvPr>
        </p:nvSpPr>
        <p:spPr>
          <a:xfrm>
            <a:off x="402167" y="1427015"/>
            <a:ext cx="11379200" cy="4889500"/>
          </a:xfrm>
        </p:spPr>
        <p:txBody>
          <a:bodyPr/>
          <a:lstStyle/>
          <a:p>
            <a:pPr defTabSz="762000">
              <a:spcBef>
                <a:spcPts val="600"/>
              </a:spcBef>
            </a:pPr>
            <a:r>
              <a:rPr lang="en-GB" altLang="en-US" dirty="0">
                <a:solidFill>
                  <a:schemeClr val="tx1">
                    <a:lumMod val="65000"/>
                    <a:lumOff val="35000"/>
                  </a:schemeClr>
                </a:solidFill>
                <a:latin typeface="+mn-lt"/>
              </a:rPr>
              <a:t>Need to increase the scale of output – capital accumulation</a:t>
            </a:r>
          </a:p>
          <a:p>
            <a:pPr lvl="1" defTabSz="762000">
              <a:spcBef>
                <a:spcPts val="600"/>
              </a:spcBef>
            </a:pPr>
            <a:r>
              <a:rPr lang="en-GB" altLang="en-US" dirty="0">
                <a:solidFill>
                  <a:schemeClr val="tx1">
                    <a:lumMod val="65000"/>
                    <a:lumOff val="35000"/>
                  </a:schemeClr>
                </a:solidFill>
                <a:latin typeface="+mn-lt"/>
              </a:rPr>
              <a:t>Increase labour productivity so that wages rise</a:t>
            </a:r>
          </a:p>
          <a:p>
            <a:pPr defTabSz="762000">
              <a:spcBef>
                <a:spcPts val="600"/>
              </a:spcBef>
            </a:pPr>
            <a:r>
              <a:rPr lang="en-GB" altLang="en-US" dirty="0">
                <a:solidFill>
                  <a:schemeClr val="tx1">
                    <a:lumMod val="65000"/>
                    <a:lumOff val="35000"/>
                  </a:schemeClr>
                </a:solidFill>
                <a:latin typeface="+mn-lt"/>
              </a:rPr>
              <a:t>Requires investment in capital (physical, human, organisational)</a:t>
            </a:r>
          </a:p>
          <a:p>
            <a:pPr lvl="1" defTabSz="762000">
              <a:spcBef>
                <a:spcPts val="600"/>
              </a:spcBef>
            </a:pPr>
            <a:r>
              <a:rPr lang="en-GB" altLang="en-US" dirty="0">
                <a:solidFill>
                  <a:schemeClr val="tx1">
                    <a:lumMod val="65000"/>
                    <a:lumOff val="35000"/>
                  </a:schemeClr>
                </a:solidFill>
                <a:latin typeface="+mn-lt"/>
              </a:rPr>
              <a:t>Currently seen as a policy problem that the UK has a long record of low investment in physical capital</a:t>
            </a:r>
          </a:p>
          <a:p>
            <a:pPr lvl="1" defTabSz="762000">
              <a:spcBef>
                <a:spcPts val="600"/>
              </a:spcBef>
            </a:pPr>
            <a:r>
              <a:rPr lang="en-GB" altLang="en-US" dirty="0">
                <a:solidFill>
                  <a:schemeClr val="tx1">
                    <a:lumMod val="65000"/>
                    <a:lumOff val="35000"/>
                  </a:schemeClr>
                </a:solidFill>
                <a:latin typeface="+mn-lt"/>
              </a:rPr>
              <a:t>And this explains relatively poor record of labour productivity</a:t>
            </a:r>
          </a:p>
          <a:p>
            <a:pPr lvl="2" defTabSz="762000">
              <a:spcBef>
                <a:spcPts val="600"/>
              </a:spcBef>
            </a:pPr>
            <a:r>
              <a:rPr lang="en-GB" altLang="en-US" dirty="0">
                <a:solidFill>
                  <a:schemeClr val="tx1">
                    <a:lumMod val="65000"/>
                    <a:lumOff val="35000"/>
                  </a:schemeClr>
                </a:solidFill>
                <a:latin typeface="+mn-lt"/>
              </a:rPr>
              <a:t>Measure this by economic value created per hour of work (GDP/working time)</a:t>
            </a:r>
          </a:p>
          <a:p>
            <a:pPr defTabSz="762000">
              <a:spcBef>
                <a:spcPts val="600"/>
              </a:spcBef>
            </a:pPr>
            <a:r>
              <a:rPr lang="en-GB" altLang="en-US" dirty="0">
                <a:latin typeface="+mn-lt"/>
              </a:rPr>
              <a:t>Is there a composition as well as a growth problem?</a:t>
            </a:r>
          </a:p>
          <a:p>
            <a:pPr lvl="1" defTabSz="762000">
              <a:spcBef>
                <a:spcPts val="600"/>
              </a:spcBef>
            </a:pPr>
            <a:r>
              <a:rPr lang="en-GB" altLang="en-US" dirty="0">
                <a:latin typeface="+mn-lt"/>
              </a:rPr>
              <a:t>Note physical stocks tiny compared with human capital – see box 26.4</a:t>
            </a:r>
          </a:p>
          <a:p>
            <a:pPr lvl="1" defTabSz="762000">
              <a:spcBef>
                <a:spcPts val="600"/>
              </a:spcBef>
            </a:pPr>
            <a:r>
              <a:rPr lang="en-GB" altLang="en-US" dirty="0">
                <a:latin typeface="+mn-lt"/>
              </a:rPr>
              <a:t>UK capital formation weak compared with other economies</a:t>
            </a:r>
          </a:p>
          <a:p>
            <a:pPr lvl="1" defTabSz="762000">
              <a:spcBef>
                <a:spcPts val="600"/>
              </a:spcBef>
            </a:pPr>
            <a:r>
              <a:rPr lang="en-GB" altLang="en-US" dirty="0">
                <a:latin typeface="+mn-lt"/>
              </a:rPr>
              <a:t>2/5 of stock consists of housing – not contributing to GDP</a:t>
            </a:r>
          </a:p>
          <a:p>
            <a:pPr lvl="1" defTabSz="762000">
              <a:spcBef>
                <a:spcPts val="1200"/>
              </a:spcBef>
            </a:pPr>
            <a:endParaRPr lang="en-GB" altLang="en-US" dirty="0">
              <a:latin typeface="+mn-lt"/>
            </a:endParaRPr>
          </a:p>
        </p:txBody>
      </p:sp>
    </p:spTree>
    <p:extLst>
      <p:ext uri="{BB962C8B-B14F-4D97-AF65-F5344CB8AC3E}">
        <p14:creationId xmlns:p14="http://schemas.microsoft.com/office/powerpoint/2010/main" val="970069382"/>
      </p:ext>
    </p:extLst>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6">
            <a:extLst>
              <a:ext uri="{FF2B5EF4-FFF2-40B4-BE49-F238E27FC236}">
                <a16:creationId xmlns:a16="http://schemas.microsoft.com/office/drawing/2014/main" id="{1FF57A4F-D0B1-45B1-9041-95E7D49871E2}"/>
              </a:ext>
            </a:extLst>
          </p:cNvPr>
          <p:cNvSpPr>
            <a:spLocks noChangeArrowheads="1"/>
          </p:cNvSpPr>
          <p:nvPr/>
        </p:nvSpPr>
        <p:spPr bwMode="auto">
          <a:xfrm>
            <a:off x="0" y="6921"/>
            <a:ext cx="12192000" cy="543996"/>
          </a:xfrm>
          <a:prstGeom prst="rect">
            <a:avLst/>
          </a:prstGeom>
          <a:noFill/>
          <a:ln>
            <a:noFill/>
          </a:ln>
          <a:effectLst>
            <a:outerShdw dist="12700" dir="2700000" algn="tl" rotWithShape="0">
              <a:prstClr val="black"/>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125000"/>
              </a:lnSpc>
            </a:pPr>
            <a:r>
              <a:rPr lang="en-GB" altLang="en-US" sz="2600" b="1" dirty="0">
                <a:solidFill>
                  <a:srgbClr val="660066"/>
                </a:solidFill>
                <a:latin typeface="Arial" panose="020B0604020202020204" pitchFamily="34" charset="0"/>
              </a:rPr>
              <a:t>Growth in capital and output per worker: 1961</a:t>
            </a:r>
            <a:r>
              <a:rPr lang="en-GB" altLang="en-US" sz="2600" b="1" dirty="0">
                <a:solidFill>
                  <a:srgbClr val="660066"/>
                </a:solidFill>
                <a:latin typeface="Arial" panose="020B0604020202020204" pitchFamily="34" charset="0"/>
                <a:cs typeface="Arial" panose="020B0604020202020204" pitchFamily="34" charset="0"/>
              </a:rPr>
              <a:t>–</a:t>
            </a:r>
            <a:r>
              <a:rPr lang="en-GB" altLang="en-US" sz="2600" b="1" dirty="0">
                <a:solidFill>
                  <a:srgbClr val="660066"/>
                </a:solidFill>
                <a:latin typeface="Arial" panose="020B0604020202020204" pitchFamily="34" charset="0"/>
              </a:rPr>
              <a:t>2023</a:t>
            </a:r>
          </a:p>
        </p:txBody>
      </p:sp>
      <p:graphicFrame>
        <p:nvGraphicFramePr>
          <p:cNvPr id="27" name="Object 3">
            <a:extLst>
              <a:ext uri="{FF2B5EF4-FFF2-40B4-BE49-F238E27FC236}">
                <a16:creationId xmlns:a16="http://schemas.microsoft.com/office/drawing/2014/main" id="{75275C85-7387-42C2-B028-F9A164D6F36A}"/>
              </a:ext>
            </a:extLst>
          </p:cNvPr>
          <p:cNvGraphicFramePr>
            <a:graphicFrameLocks/>
          </p:cNvGraphicFramePr>
          <p:nvPr/>
        </p:nvGraphicFramePr>
        <p:xfrm>
          <a:off x="910489" y="110167"/>
          <a:ext cx="9042400" cy="6234113"/>
        </p:xfrm>
        <a:graphic>
          <a:graphicData uri="http://schemas.openxmlformats.org/drawingml/2006/chart">
            <c:chart xmlns:c="http://schemas.openxmlformats.org/drawingml/2006/chart" xmlns:r="http://schemas.openxmlformats.org/officeDocument/2006/relationships" r:id="rId3"/>
          </a:graphicData>
        </a:graphic>
      </p:graphicFrame>
      <p:sp>
        <p:nvSpPr>
          <p:cNvPr id="28" name="Rectangle 5">
            <a:extLst>
              <a:ext uri="{FF2B5EF4-FFF2-40B4-BE49-F238E27FC236}">
                <a16:creationId xmlns:a16="http://schemas.microsoft.com/office/drawing/2014/main" id="{C870CCEB-44BD-43A2-8D27-FFF77AFF034E}"/>
              </a:ext>
            </a:extLst>
          </p:cNvPr>
          <p:cNvSpPr>
            <a:spLocks noChangeArrowheads="1"/>
          </p:cNvSpPr>
          <p:nvPr/>
        </p:nvSpPr>
        <p:spPr bwMode="auto">
          <a:xfrm>
            <a:off x="1723289" y="6324600"/>
            <a:ext cx="861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i="1" dirty="0">
                <a:solidFill>
                  <a:srgbClr val="5F5F5F"/>
                </a:solidFill>
                <a:latin typeface="Arial" panose="020B0604020202020204" pitchFamily="34" charset="0"/>
              </a:rPr>
              <a:t>Note</a:t>
            </a:r>
            <a:r>
              <a:rPr lang="en-GB" altLang="en-US" sz="1200" dirty="0">
                <a:solidFill>
                  <a:srgbClr val="5F5F5F"/>
                </a:solidFill>
                <a:latin typeface="Arial" panose="020B0604020202020204" pitchFamily="34" charset="0"/>
              </a:rPr>
              <a:t>: Data from 2021 are forecasts; output and net capital are measured at constant prices.</a:t>
            </a:r>
          </a:p>
          <a:p>
            <a:r>
              <a:rPr lang="en-GB" altLang="en-US" sz="1200" i="1" dirty="0">
                <a:solidFill>
                  <a:srgbClr val="5F5F5F"/>
                </a:solidFill>
                <a:latin typeface="Arial" panose="020B0604020202020204" pitchFamily="34" charset="0"/>
              </a:rPr>
              <a:t>Source</a:t>
            </a:r>
            <a:r>
              <a:rPr lang="en-GB" altLang="en-US" sz="1200" dirty="0">
                <a:solidFill>
                  <a:srgbClr val="5F5F5F"/>
                </a:solidFill>
                <a:latin typeface="Arial" panose="020B0604020202020204" pitchFamily="34" charset="0"/>
              </a:rPr>
              <a:t>: Based on data from </a:t>
            </a:r>
            <a:r>
              <a:rPr lang="en-GB" altLang="en-US" sz="1200" i="1" dirty="0">
                <a:solidFill>
                  <a:srgbClr val="5F5F5F"/>
                </a:solidFill>
                <a:latin typeface="Arial" panose="020B0604020202020204" pitchFamily="34" charset="0"/>
                <a:hlinkClick r:id="rId4">
                  <a:extLst>
                    <a:ext uri="{A12FA001-AC4F-418D-AE19-62706E023703}">
                      <ahyp:hlinkClr xmlns:ahyp="http://schemas.microsoft.com/office/drawing/2018/hyperlinkcolor" val="tx"/>
                    </a:ext>
                  </a:extLst>
                </a:hlinkClick>
              </a:rPr>
              <a:t>AMECO database</a:t>
            </a:r>
            <a:r>
              <a:rPr lang="en-GB" altLang="en-US" sz="1200" i="1" dirty="0">
                <a:solidFill>
                  <a:srgbClr val="5F5F5F"/>
                </a:solidFill>
                <a:latin typeface="Arial" panose="020B0604020202020204" pitchFamily="34" charset="0"/>
              </a:rPr>
              <a:t> </a:t>
            </a:r>
            <a:r>
              <a:rPr lang="en-GB" altLang="en-US" sz="1200" dirty="0">
                <a:solidFill>
                  <a:srgbClr val="5F5F5F"/>
                </a:solidFill>
                <a:latin typeface="Arial" panose="020B0604020202020204" pitchFamily="34" charset="0"/>
              </a:rPr>
              <a:t>(European Commission).</a:t>
            </a:r>
          </a:p>
        </p:txBody>
      </p:sp>
      <p:grpSp>
        <p:nvGrpSpPr>
          <p:cNvPr id="29" name="Group 28">
            <a:extLst>
              <a:ext uri="{FF2B5EF4-FFF2-40B4-BE49-F238E27FC236}">
                <a16:creationId xmlns:a16="http://schemas.microsoft.com/office/drawing/2014/main" id="{D1BC9118-4C3A-42F2-AD59-4FBD7868F404}"/>
              </a:ext>
            </a:extLst>
          </p:cNvPr>
          <p:cNvGrpSpPr/>
          <p:nvPr/>
        </p:nvGrpSpPr>
        <p:grpSpPr>
          <a:xfrm>
            <a:off x="3389328" y="1190910"/>
            <a:ext cx="6308593" cy="3957910"/>
            <a:chOff x="3723439" y="1361731"/>
            <a:chExt cx="6308593" cy="3957910"/>
          </a:xfrm>
        </p:grpSpPr>
        <p:sp>
          <p:nvSpPr>
            <p:cNvPr id="30" name="TextBox 7">
              <a:extLst>
                <a:ext uri="{FF2B5EF4-FFF2-40B4-BE49-F238E27FC236}">
                  <a16:creationId xmlns:a16="http://schemas.microsoft.com/office/drawing/2014/main" id="{40D56F35-9274-46A9-8619-6B12049111E5}"/>
                </a:ext>
              </a:extLst>
            </p:cNvPr>
            <p:cNvSpPr txBox="1">
              <a:spLocks noChangeArrowheads="1"/>
            </p:cNvSpPr>
            <p:nvPr/>
          </p:nvSpPr>
          <p:spPr bwMode="auto">
            <a:xfrm>
              <a:off x="5027682" y="5043416"/>
              <a:ext cx="11080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Switzerland</a:t>
              </a:r>
            </a:p>
          </p:txBody>
        </p:sp>
        <p:sp>
          <p:nvSpPr>
            <p:cNvPr id="31" name="TextBox 2">
              <a:extLst>
                <a:ext uri="{FF2B5EF4-FFF2-40B4-BE49-F238E27FC236}">
                  <a16:creationId xmlns:a16="http://schemas.microsoft.com/office/drawing/2014/main" id="{0633D6B4-9D82-4D64-B315-0C3BFC4FB972}"/>
                </a:ext>
              </a:extLst>
            </p:cNvPr>
            <p:cNvSpPr txBox="1">
              <a:spLocks noChangeArrowheads="1"/>
            </p:cNvSpPr>
            <p:nvPr/>
          </p:nvSpPr>
          <p:spPr bwMode="auto">
            <a:xfrm>
              <a:off x="5360107" y="4484982"/>
              <a:ext cx="7207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USA</a:t>
              </a:r>
            </a:p>
          </p:txBody>
        </p:sp>
        <p:sp>
          <p:nvSpPr>
            <p:cNvPr id="32" name="TextBox 2">
              <a:extLst>
                <a:ext uri="{FF2B5EF4-FFF2-40B4-BE49-F238E27FC236}">
                  <a16:creationId xmlns:a16="http://schemas.microsoft.com/office/drawing/2014/main" id="{B709A7A5-C500-4A69-AD90-01C15F0DBDCF}"/>
                </a:ext>
              </a:extLst>
            </p:cNvPr>
            <p:cNvSpPr txBox="1">
              <a:spLocks noChangeArrowheads="1"/>
            </p:cNvSpPr>
            <p:nvPr/>
          </p:nvSpPr>
          <p:spPr bwMode="auto">
            <a:xfrm>
              <a:off x="6636671" y="3668844"/>
              <a:ext cx="800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Belgium</a:t>
              </a:r>
            </a:p>
          </p:txBody>
        </p:sp>
        <p:sp>
          <p:nvSpPr>
            <p:cNvPr id="33" name="TextBox 2">
              <a:extLst>
                <a:ext uri="{FF2B5EF4-FFF2-40B4-BE49-F238E27FC236}">
                  <a16:creationId xmlns:a16="http://schemas.microsoft.com/office/drawing/2014/main" id="{5BE6A52D-A8F3-437E-A00B-55A07AC5B599}"/>
                </a:ext>
              </a:extLst>
            </p:cNvPr>
            <p:cNvSpPr txBox="1">
              <a:spLocks noChangeArrowheads="1"/>
            </p:cNvSpPr>
            <p:nvPr/>
          </p:nvSpPr>
          <p:spPr bwMode="auto">
            <a:xfrm>
              <a:off x="5157702" y="4128980"/>
              <a:ext cx="467604"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C00000"/>
                  </a:solidFill>
                  <a:latin typeface="Arial" panose="020B0604020202020204" pitchFamily="34" charset="0"/>
                  <a:cs typeface="Arial" panose="020B0604020202020204" pitchFamily="34" charset="0"/>
                </a:rPr>
                <a:t>UK</a:t>
              </a:r>
            </a:p>
          </p:txBody>
        </p:sp>
        <p:sp>
          <p:nvSpPr>
            <p:cNvPr id="34" name="TextBox 2">
              <a:extLst>
                <a:ext uri="{FF2B5EF4-FFF2-40B4-BE49-F238E27FC236}">
                  <a16:creationId xmlns:a16="http://schemas.microsoft.com/office/drawing/2014/main" id="{A75584EB-0B38-4B35-83F1-DC484E8D86F6}"/>
                </a:ext>
              </a:extLst>
            </p:cNvPr>
            <p:cNvSpPr txBox="1">
              <a:spLocks noChangeArrowheads="1"/>
            </p:cNvSpPr>
            <p:nvPr/>
          </p:nvSpPr>
          <p:spPr bwMode="auto">
            <a:xfrm>
              <a:off x="6310708" y="4344726"/>
              <a:ext cx="10969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Netherlands</a:t>
              </a:r>
            </a:p>
          </p:txBody>
        </p:sp>
        <p:sp>
          <p:nvSpPr>
            <p:cNvPr id="35" name="TextBox 2">
              <a:extLst>
                <a:ext uri="{FF2B5EF4-FFF2-40B4-BE49-F238E27FC236}">
                  <a16:creationId xmlns:a16="http://schemas.microsoft.com/office/drawing/2014/main" id="{EFA7FD01-B616-46FD-8CC7-C9777EB78CD2}"/>
                </a:ext>
              </a:extLst>
            </p:cNvPr>
            <p:cNvSpPr txBox="1">
              <a:spLocks noChangeArrowheads="1"/>
            </p:cNvSpPr>
            <p:nvPr/>
          </p:nvSpPr>
          <p:spPr bwMode="auto">
            <a:xfrm>
              <a:off x="5581720" y="4015802"/>
              <a:ext cx="8699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Denmark</a:t>
              </a:r>
            </a:p>
          </p:txBody>
        </p:sp>
        <p:sp>
          <p:nvSpPr>
            <p:cNvPr id="36" name="TextBox 2">
              <a:extLst>
                <a:ext uri="{FF2B5EF4-FFF2-40B4-BE49-F238E27FC236}">
                  <a16:creationId xmlns:a16="http://schemas.microsoft.com/office/drawing/2014/main" id="{7454A902-E5AD-4131-B51A-E5156826449E}"/>
                </a:ext>
              </a:extLst>
            </p:cNvPr>
            <p:cNvSpPr txBox="1">
              <a:spLocks noChangeArrowheads="1"/>
            </p:cNvSpPr>
            <p:nvPr/>
          </p:nvSpPr>
          <p:spPr bwMode="auto">
            <a:xfrm>
              <a:off x="7846681" y="4013218"/>
              <a:ext cx="7683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Sweden</a:t>
              </a:r>
            </a:p>
          </p:txBody>
        </p:sp>
        <p:sp>
          <p:nvSpPr>
            <p:cNvPr id="37" name="TextBox 2">
              <a:extLst>
                <a:ext uri="{FF2B5EF4-FFF2-40B4-BE49-F238E27FC236}">
                  <a16:creationId xmlns:a16="http://schemas.microsoft.com/office/drawing/2014/main" id="{B8D3D32C-CEC1-4B08-B47D-26C3C6DA11BD}"/>
                </a:ext>
              </a:extLst>
            </p:cNvPr>
            <p:cNvSpPr txBox="1">
              <a:spLocks noChangeArrowheads="1"/>
            </p:cNvSpPr>
            <p:nvPr/>
          </p:nvSpPr>
          <p:spPr bwMode="auto">
            <a:xfrm>
              <a:off x="3723439" y="4886859"/>
              <a:ext cx="11064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Luxembourg</a:t>
              </a:r>
            </a:p>
          </p:txBody>
        </p:sp>
        <p:sp>
          <p:nvSpPr>
            <p:cNvPr id="38" name="TextBox 2">
              <a:extLst>
                <a:ext uri="{FF2B5EF4-FFF2-40B4-BE49-F238E27FC236}">
                  <a16:creationId xmlns:a16="http://schemas.microsoft.com/office/drawing/2014/main" id="{C661D950-8224-475D-A6C2-589D2B1AFB4E}"/>
                </a:ext>
              </a:extLst>
            </p:cNvPr>
            <p:cNvSpPr txBox="1">
              <a:spLocks noChangeArrowheads="1"/>
            </p:cNvSpPr>
            <p:nvPr/>
          </p:nvSpPr>
          <p:spPr bwMode="auto">
            <a:xfrm>
              <a:off x="7590297" y="3687643"/>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1200" dirty="0">
                  <a:solidFill>
                    <a:srgbClr val="000000"/>
                  </a:solidFill>
                  <a:latin typeface="Arial" panose="020B0604020202020204" pitchFamily="34" charset="0"/>
                  <a:cs typeface="Arial" panose="020B0604020202020204" pitchFamily="34" charset="0"/>
                </a:rPr>
                <a:t>Italy</a:t>
              </a:r>
            </a:p>
          </p:txBody>
        </p:sp>
        <p:sp>
          <p:nvSpPr>
            <p:cNvPr id="39" name="TextBox 2">
              <a:extLst>
                <a:ext uri="{FF2B5EF4-FFF2-40B4-BE49-F238E27FC236}">
                  <a16:creationId xmlns:a16="http://schemas.microsoft.com/office/drawing/2014/main" id="{7ECE3CEA-AA00-44C8-AD7D-647692EC09B7}"/>
                </a:ext>
              </a:extLst>
            </p:cNvPr>
            <p:cNvSpPr txBox="1">
              <a:spLocks noChangeArrowheads="1"/>
            </p:cNvSpPr>
            <p:nvPr/>
          </p:nvSpPr>
          <p:spPr bwMode="auto">
            <a:xfrm>
              <a:off x="7817771" y="3403559"/>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France</a:t>
              </a:r>
            </a:p>
          </p:txBody>
        </p:sp>
        <p:sp>
          <p:nvSpPr>
            <p:cNvPr id="40" name="TextBox 2">
              <a:extLst>
                <a:ext uri="{FF2B5EF4-FFF2-40B4-BE49-F238E27FC236}">
                  <a16:creationId xmlns:a16="http://schemas.microsoft.com/office/drawing/2014/main" id="{9A97601B-A7EA-4E52-8417-A6621AB747BC}"/>
                </a:ext>
              </a:extLst>
            </p:cNvPr>
            <p:cNvSpPr txBox="1">
              <a:spLocks noChangeArrowheads="1"/>
            </p:cNvSpPr>
            <p:nvPr/>
          </p:nvSpPr>
          <p:spPr bwMode="auto">
            <a:xfrm>
              <a:off x="7922903" y="3052815"/>
              <a:ext cx="873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1200" dirty="0">
                  <a:solidFill>
                    <a:srgbClr val="000000"/>
                  </a:solidFill>
                  <a:latin typeface="Arial" panose="020B0604020202020204" pitchFamily="34" charset="0"/>
                  <a:cs typeface="Arial" panose="020B0604020202020204" pitchFamily="34" charset="0"/>
                </a:rPr>
                <a:t>Finland</a:t>
              </a:r>
            </a:p>
          </p:txBody>
        </p:sp>
        <p:sp>
          <p:nvSpPr>
            <p:cNvPr id="41" name="TextBox 2">
              <a:extLst>
                <a:ext uri="{FF2B5EF4-FFF2-40B4-BE49-F238E27FC236}">
                  <a16:creationId xmlns:a16="http://schemas.microsoft.com/office/drawing/2014/main" id="{7AE947E4-9288-4C42-856F-9605D175F94F}"/>
                </a:ext>
              </a:extLst>
            </p:cNvPr>
            <p:cNvSpPr txBox="1">
              <a:spLocks noChangeArrowheads="1"/>
            </p:cNvSpPr>
            <p:nvPr/>
          </p:nvSpPr>
          <p:spPr bwMode="auto">
            <a:xfrm>
              <a:off x="8275305" y="3763695"/>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Austria</a:t>
              </a:r>
            </a:p>
          </p:txBody>
        </p:sp>
        <p:sp>
          <p:nvSpPr>
            <p:cNvPr id="42" name="TextBox 2">
              <a:extLst>
                <a:ext uri="{FF2B5EF4-FFF2-40B4-BE49-F238E27FC236}">
                  <a16:creationId xmlns:a16="http://schemas.microsoft.com/office/drawing/2014/main" id="{8E817709-70C3-4EE0-9701-424E19E81B77}"/>
                </a:ext>
              </a:extLst>
            </p:cNvPr>
            <p:cNvSpPr txBox="1">
              <a:spLocks noChangeArrowheads="1"/>
            </p:cNvSpPr>
            <p:nvPr/>
          </p:nvSpPr>
          <p:spPr bwMode="auto">
            <a:xfrm>
              <a:off x="8919496" y="2676563"/>
              <a:ext cx="873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Portugal</a:t>
              </a:r>
            </a:p>
          </p:txBody>
        </p:sp>
        <p:sp>
          <p:nvSpPr>
            <p:cNvPr id="43" name="TextBox 2">
              <a:extLst>
                <a:ext uri="{FF2B5EF4-FFF2-40B4-BE49-F238E27FC236}">
                  <a16:creationId xmlns:a16="http://schemas.microsoft.com/office/drawing/2014/main" id="{59CA1F1C-D13A-4376-92F2-0D1C7C8FD4CC}"/>
                </a:ext>
              </a:extLst>
            </p:cNvPr>
            <p:cNvSpPr txBox="1">
              <a:spLocks noChangeArrowheads="1"/>
            </p:cNvSpPr>
            <p:nvPr/>
          </p:nvSpPr>
          <p:spPr bwMode="auto">
            <a:xfrm>
              <a:off x="9311307" y="3069542"/>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Spain</a:t>
              </a:r>
            </a:p>
          </p:txBody>
        </p:sp>
        <p:sp>
          <p:nvSpPr>
            <p:cNvPr id="44" name="TextBox 2">
              <a:extLst>
                <a:ext uri="{FF2B5EF4-FFF2-40B4-BE49-F238E27FC236}">
                  <a16:creationId xmlns:a16="http://schemas.microsoft.com/office/drawing/2014/main" id="{F74CD277-66B4-4B1F-925C-E88CAE47A616}"/>
                </a:ext>
              </a:extLst>
            </p:cNvPr>
            <p:cNvSpPr txBox="1">
              <a:spLocks noChangeArrowheads="1"/>
            </p:cNvSpPr>
            <p:nvPr/>
          </p:nvSpPr>
          <p:spPr bwMode="auto">
            <a:xfrm>
              <a:off x="9299829" y="1361731"/>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Ireland</a:t>
              </a:r>
            </a:p>
          </p:txBody>
        </p:sp>
        <p:sp>
          <p:nvSpPr>
            <p:cNvPr id="45" name="TextBox 2">
              <a:extLst>
                <a:ext uri="{FF2B5EF4-FFF2-40B4-BE49-F238E27FC236}">
                  <a16:creationId xmlns:a16="http://schemas.microsoft.com/office/drawing/2014/main" id="{76625EA6-F4CA-4BD3-919C-FF7909B06ABC}"/>
                </a:ext>
              </a:extLst>
            </p:cNvPr>
            <p:cNvSpPr txBox="1">
              <a:spLocks noChangeArrowheads="1"/>
            </p:cNvSpPr>
            <p:nvPr/>
          </p:nvSpPr>
          <p:spPr bwMode="auto">
            <a:xfrm>
              <a:off x="8198771" y="2484099"/>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Japan</a:t>
              </a:r>
            </a:p>
          </p:txBody>
        </p:sp>
        <p:sp>
          <p:nvSpPr>
            <p:cNvPr id="46" name="TextBox 2">
              <a:extLst>
                <a:ext uri="{FF2B5EF4-FFF2-40B4-BE49-F238E27FC236}">
                  <a16:creationId xmlns:a16="http://schemas.microsoft.com/office/drawing/2014/main" id="{14E07C7F-2EE5-4AB2-A818-0F6D572849B9}"/>
                </a:ext>
              </a:extLst>
            </p:cNvPr>
            <p:cNvSpPr txBox="1">
              <a:spLocks noChangeArrowheads="1"/>
            </p:cNvSpPr>
            <p:nvPr/>
          </p:nvSpPr>
          <p:spPr bwMode="auto">
            <a:xfrm>
              <a:off x="8776978" y="3444651"/>
              <a:ext cx="7207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1200" dirty="0">
                  <a:solidFill>
                    <a:srgbClr val="000000"/>
                  </a:solidFill>
                  <a:latin typeface="Arial" panose="020B0604020202020204" pitchFamily="34" charset="0"/>
                  <a:cs typeface="Arial" panose="020B0604020202020204" pitchFamily="34" charset="0"/>
                </a:rPr>
                <a:t>Greece</a:t>
              </a:r>
            </a:p>
          </p:txBody>
        </p:sp>
      </p:grpSp>
    </p:spTree>
    <p:extLst>
      <p:ext uri="{BB962C8B-B14F-4D97-AF65-F5344CB8AC3E}">
        <p14:creationId xmlns:p14="http://schemas.microsoft.com/office/powerpoint/2010/main" val="1597897775"/>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graphicEl>
                                              <a:chart seriesIdx="0" categoryIdx="-4" bldStep="series"/>
                                            </p:graphicEl>
                                          </p:spTgt>
                                        </p:tgtEl>
                                        <p:attrNameLst>
                                          <p:attrName>style.visibility</p:attrName>
                                        </p:attrNameLst>
                                      </p:cBhvr>
                                      <p:to>
                                        <p:strVal val="visible"/>
                                      </p:to>
                                    </p:set>
                                    <p:animEffect transition="in" filter="wipe(left)">
                                      <p:cBhvr>
                                        <p:cTn id="7" dur="1500"/>
                                        <p:tgtEl>
                                          <p:spTgt spid="27">
                                            <p:graphicEl>
                                              <a:chart seriesIdx="0" categoryIdx="-4" bldStep="series"/>
                                            </p:graphic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left)">
                                      <p:cBhvr>
                                        <p:cTn id="10" dur="1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7" grpId="0">
        <p:bldSub>
          <a:bldChart bld="series" animBg="0"/>
        </p:bldSub>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Box 3">
            <a:extLst>
              <a:ext uri="{FF2B5EF4-FFF2-40B4-BE49-F238E27FC236}">
                <a16:creationId xmlns:a16="http://schemas.microsoft.com/office/drawing/2014/main" id="{324066B2-7D78-4BEA-8D5A-401CBF36B30D}"/>
              </a:ext>
            </a:extLst>
          </p:cNvPr>
          <p:cNvSpPr txBox="1">
            <a:spLocks noChangeArrowheads="1"/>
          </p:cNvSpPr>
          <p:nvPr/>
        </p:nvSpPr>
        <p:spPr bwMode="auto">
          <a:xfrm>
            <a:off x="1" y="76200"/>
            <a:ext cx="12221632" cy="523220"/>
          </a:xfrm>
          <a:prstGeom prst="rect">
            <a:avLst/>
          </a:prstGeom>
          <a:noFill/>
          <a:ln>
            <a:noFill/>
          </a:ln>
          <a:effectLst>
            <a:outerShdw dist="12700" dir="2700000" algn="ctr" rotWithShape="0">
              <a:schemeClr val="tx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lgn="ctr"/>
            <a:r>
              <a:rPr lang="en-GB" altLang="en-US" sz="2800" b="1" dirty="0">
                <a:solidFill>
                  <a:srgbClr val="660066"/>
                </a:solidFill>
                <a:latin typeface="Arial" panose="020B0604020202020204" pitchFamily="34" charset="0"/>
                <a:cs typeface="Arial" panose="020B0604020202020204" pitchFamily="34" charset="0"/>
              </a:rPr>
              <a:t>UK net capital stock, 2021</a:t>
            </a:r>
            <a:endParaRPr lang="en-GB" altLang="en-US" sz="2800" noProof="1">
              <a:latin typeface="Arial" panose="020B0604020202020204" pitchFamily="34" charset="0"/>
              <a:cs typeface="Arial" panose="020B0604020202020204" pitchFamily="34" charset="0"/>
            </a:endParaRPr>
          </a:p>
        </p:txBody>
      </p:sp>
      <p:graphicFrame>
        <p:nvGraphicFramePr>
          <p:cNvPr id="3" name="Object 2">
            <a:extLst>
              <a:ext uri="{FF2B5EF4-FFF2-40B4-BE49-F238E27FC236}">
                <a16:creationId xmlns:a16="http://schemas.microsoft.com/office/drawing/2014/main" id="{34417F1F-FD99-AFF3-18C6-D078229F4C8C}"/>
              </a:ext>
            </a:extLst>
          </p:cNvPr>
          <p:cNvGraphicFramePr>
            <a:graphicFrameLocks noChangeAspect="1"/>
          </p:cNvGraphicFramePr>
          <p:nvPr/>
        </p:nvGraphicFramePr>
        <p:xfrm>
          <a:off x="992943" y="692697"/>
          <a:ext cx="10215625" cy="5717450"/>
        </p:xfrm>
        <a:graphic>
          <a:graphicData uri="http://schemas.openxmlformats.org/presentationml/2006/ole">
            <mc:AlternateContent xmlns:mc="http://schemas.openxmlformats.org/markup-compatibility/2006">
              <mc:Choice xmlns:v="urn:schemas-microsoft-com:vml" Requires="v">
                <p:oleObj name="Document" r:id="rId3" imgW="6291618" imgH="3520687" progId="Word.Document.12">
                  <p:embed/>
                </p:oleObj>
              </mc:Choice>
              <mc:Fallback>
                <p:oleObj name="Document" r:id="rId3" imgW="6291618" imgH="3520687" progId="Word.Document.12">
                  <p:embed/>
                  <p:pic>
                    <p:nvPicPr>
                      <p:cNvPr id="3" name="Object 2">
                        <a:extLst>
                          <a:ext uri="{FF2B5EF4-FFF2-40B4-BE49-F238E27FC236}">
                            <a16:creationId xmlns:a16="http://schemas.microsoft.com/office/drawing/2014/main" id="{34417F1F-FD99-AFF3-18C6-D078229F4C8C}"/>
                          </a:ext>
                        </a:extLst>
                      </p:cNvPr>
                      <p:cNvPicPr/>
                      <p:nvPr/>
                    </p:nvPicPr>
                    <p:blipFill>
                      <a:blip r:embed="rId4"/>
                      <a:stretch>
                        <a:fillRect/>
                      </a:stretch>
                    </p:blipFill>
                    <p:spPr>
                      <a:xfrm>
                        <a:off x="992943" y="692697"/>
                        <a:ext cx="10215625" cy="571745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44259D19-416C-00BE-54AD-BB25164550AC}"/>
              </a:ext>
            </a:extLst>
          </p:cNvPr>
          <p:cNvSpPr txBox="1"/>
          <p:nvPr/>
        </p:nvSpPr>
        <p:spPr>
          <a:xfrm>
            <a:off x="1055440" y="6453336"/>
            <a:ext cx="7924800" cy="276999"/>
          </a:xfrm>
          <a:prstGeom prst="rect">
            <a:avLst/>
          </a:prstGeom>
          <a:noFill/>
        </p:spPr>
        <p:txBody>
          <a:bodyPr wrap="square" rtlCol="0">
            <a:spAutoFit/>
          </a:bodyPr>
          <a:lstStyle/>
          <a:p>
            <a:r>
              <a:rPr lang="en-GB" sz="1200" i="1" dirty="0">
                <a:solidFill>
                  <a:schemeClr val="tx1">
                    <a:lumMod val="50000"/>
                    <a:lumOff val="50000"/>
                  </a:schemeClr>
                </a:solidFill>
                <a:effectLst/>
                <a:latin typeface="Arial" panose="020B0604020202020204" pitchFamily="34" charset="0"/>
                <a:ea typeface="Times New Roman" panose="02020603050405020304" pitchFamily="18" charset="0"/>
              </a:rPr>
              <a:t>Sources</a:t>
            </a:r>
            <a:r>
              <a:rPr lang="en-GB" sz="1200" dirty="0">
                <a:solidFill>
                  <a:schemeClr val="tx1">
                    <a:lumMod val="50000"/>
                    <a:lumOff val="50000"/>
                  </a:schemeClr>
                </a:solidFill>
                <a:effectLst/>
                <a:latin typeface="Arial" panose="020B0604020202020204" pitchFamily="34" charset="0"/>
                <a:ea typeface="Times New Roman" panose="02020603050405020304" pitchFamily="18" charset="0"/>
              </a:rPr>
              <a:t>: Based on data from </a:t>
            </a:r>
            <a:r>
              <a:rPr lang="en-GB" sz="1200" i="1" dirty="0">
                <a:solidFill>
                  <a:schemeClr val="tx1">
                    <a:lumMod val="50000"/>
                    <a:lumOff val="50000"/>
                  </a:schemeClr>
                </a:solidFill>
                <a:effectLst/>
                <a:latin typeface="Arial" panose="020B0604020202020204" pitchFamily="34" charset="0"/>
                <a:ea typeface="Times New Roman" panose="02020603050405020304" pitchFamily="18" charset="0"/>
                <a:hlinkClick r:id="rId5">
                  <a:extLst>
                    <a:ext uri="{A12FA001-AC4F-418D-AE19-62706E023703}">
                      <ahyp:hlinkClr xmlns:ahyp="http://schemas.microsoft.com/office/drawing/2018/hyperlinkcolor" val="tx"/>
                    </a:ext>
                  </a:extLst>
                </a:hlinkClick>
              </a:rPr>
              <a:t>Capital stocks and fixed capital consumption</a:t>
            </a:r>
            <a:r>
              <a:rPr lang="en-GB" sz="1200" dirty="0">
                <a:solidFill>
                  <a:schemeClr val="tx1">
                    <a:lumMod val="50000"/>
                    <a:lumOff val="50000"/>
                  </a:schemeClr>
                </a:solidFill>
                <a:effectLst/>
                <a:latin typeface="Arial" panose="020B0604020202020204" pitchFamily="34" charset="0"/>
                <a:ea typeface="Times New Roman" panose="02020603050405020304" pitchFamily="18" charset="0"/>
              </a:rPr>
              <a:t> time series and series </a:t>
            </a:r>
            <a:r>
              <a:rPr lang="en-GB" sz="1200" dirty="0">
                <a:solidFill>
                  <a:schemeClr val="tx1">
                    <a:lumMod val="50000"/>
                    <a:lumOff val="50000"/>
                  </a:schemeClr>
                </a:solidFill>
                <a:effectLst/>
                <a:latin typeface="Arial" panose="020B0604020202020204" pitchFamily="34" charset="0"/>
                <a:ea typeface="Times New Roman" panose="02020603050405020304" pitchFamily="18" charset="0"/>
                <a:hlinkClick r:id="rId6">
                  <a:extLst>
                    <a:ext uri="{A12FA001-AC4F-418D-AE19-62706E023703}">
                      <ahyp:hlinkClr xmlns:ahyp="http://schemas.microsoft.com/office/drawing/2018/hyperlinkcolor" val="tx"/>
                    </a:ext>
                  </a:extLst>
                </a:hlinkClick>
              </a:rPr>
              <a:t>YBHA</a:t>
            </a:r>
            <a:r>
              <a:rPr lang="en-GB" sz="1200" dirty="0">
                <a:solidFill>
                  <a:schemeClr val="tx1">
                    <a:lumMod val="50000"/>
                    <a:lumOff val="50000"/>
                  </a:schemeClr>
                </a:solidFill>
                <a:effectLst/>
                <a:latin typeface="Arial" panose="020B0604020202020204" pitchFamily="34" charset="0"/>
                <a:ea typeface="Times New Roman" panose="02020603050405020304" pitchFamily="18" charset="0"/>
              </a:rPr>
              <a:t> (ONS</a:t>
            </a:r>
            <a:r>
              <a:rPr lang="en-GB" sz="1200" dirty="0">
                <a:solidFill>
                  <a:schemeClr val="tx1">
                    <a:lumMod val="50000"/>
                    <a:lumOff val="50000"/>
                  </a:schemeClr>
                </a:solidFill>
                <a:ea typeface="Times New Roman" panose="02020603050405020304" pitchFamily="18" charset="0"/>
              </a:rPr>
              <a:t>)</a:t>
            </a:r>
            <a:endParaRPr lang="en-GB" sz="1200" dirty="0">
              <a:solidFill>
                <a:schemeClr val="tx1">
                  <a:lumMod val="50000"/>
                  <a:lumOff val="50000"/>
                </a:schemeClr>
              </a:solidFill>
            </a:endParaRPr>
          </a:p>
        </p:txBody>
      </p:sp>
    </p:spTree>
    <p:extLst>
      <p:ext uri="{BB962C8B-B14F-4D97-AF65-F5344CB8AC3E}">
        <p14:creationId xmlns:p14="http://schemas.microsoft.com/office/powerpoint/2010/main" val="4128170840"/>
      </p:ext>
    </p:extLst>
  </p:cSld>
  <p:clrMapOvr>
    <a:masterClrMapping/>
  </p:clrMapOvr>
  <mc:AlternateContent xmlns:mc="http://schemas.openxmlformats.org/markup-compatibility/2006" xmlns:p14="http://schemas.microsoft.com/office/powerpoint/2010/main">
    <mc:Choice Requires="p14">
      <p:transition spd="slow" p14:dur="1500">
        <p:wipe dir="d"/>
      </p:transition>
    </mc:Choice>
    <mc:Fallback xmlns="">
      <p:transition spd="slow">
        <p:wipe dir="d"/>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18D0F1B-ED24-4043-861A-D433F19CA78C}"/>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8079BABB-D5A2-4A04-86CD-415D03243D00}"/>
    </a:ext>
  </a:extLst>
</a:theme>
</file>

<file path=ppt/theme/theme3.xml><?xml version="1.0" encoding="utf-8"?>
<a:theme xmlns:a="http://schemas.openxmlformats.org/drawingml/2006/main" name="1_Office Theme">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0D2A3BC3-CEDD-4C53-A3FC-3DE9294C301B}"/>
    </a:ext>
  </a:extLst>
</a:theme>
</file>

<file path=ppt/theme/theme4.xml><?xml version="1.0" encoding="utf-8"?>
<a:theme xmlns:a="http://schemas.openxmlformats.org/drawingml/2006/main" name="4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34F82C73-F6DE-4FCA-855E-58081A0B843E}"/>
    </a:ext>
  </a:extLst>
</a:theme>
</file>

<file path=ppt/theme/theme5.xml><?xml version="1.0" encoding="utf-8"?>
<a:theme xmlns:a="http://schemas.openxmlformats.org/drawingml/2006/main" name="5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6.xml><?xml version="1.0" encoding="utf-8"?>
<a:theme xmlns:a="http://schemas.openxmlformats.org/drawingml/2006/main" name="6_Custom Design">
  <a:themeElements>
    <a:clrScheme name="Heriot-Watt Colours 2">
      <a:dk1>
        <a:srgbClr val="000000"/>
      </a:dk1>
      <a:lt1>
        <a:srgbClr val="FFFFFF"/>
      </a:lt1>
      <a:dk2>
        <a:srgbClr val="003454"/>
      </a:dk2>
      <a:lt2>
        <a:srgbClr val="0094BD"/>
      </a:lt2>
      <a:accent1>
        <a:srgbClr val="257039"/>
      </a:accent1>
      <a:accent2>
        <a:srgbClr val="B8D137"/>
      </a:accent2>
      <a:accent3>
        <a:srgbClr val="A7BE33"/>
      </a:accent3>
      <a:accent4>
        <a:srgbClr val="51160F"/>
      </a:accent4>
      <a:accent5>
        <a:srgbClr val="E8822C"/>
      </a:accent5>
      <a:accent6>
        <a:srgbClr val="D91D5B"/>
      </a:accent6>
      <a:hlink>
        <a:srgbClr val="E88EAD"/>
      </a:hlink>
      <a:folHlink>
        <a:srgbClr val="6F185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BS PowerPoint Template (Official).pptx" id="{0B949918-01BA-4D49-8100-B241C941CF28}" vid="{B3867412-9FC6-4B77-B245-0DBC0A5A1474}"/>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50e769a-c6ab-48a0-ac99-347a633d873e" xsi:nil="true"/>
    <lcf76f155ced4ddcb4097134ff3c332f xmlns="4e318df0-612d-4dff-ad55-c2016fd214d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3A621054F1D04C90C60CDB3C987234" ma:contentTypeVersion="17" ma:contentTypeDescription="Create a new document." ma:contentTypeScope="" ma:versionID="18071292a42031f7c77aa4bdf678ff00">
  <xsd:schema xmlns:xsd="http://www.w3.org/2001/XMLSchema" xmlns:xs="http://www.w3.org/2001/XMLSchema" xmlns:p="http://schemas.microsoft.com/office/2006/metadata/properties" xmlns:ns2="4e318df0-612d-4dff-ad55-c2016fd214d1" xmlns:ns3="750e769a-c6ab-48a0-ac99-347a633d873e" targetNamespace="http://schemas.microsoft.com/office/2006/metadata/properties" ma:root="true" ma:fieldsID="f3dd89fd09c91a75d61e58820517e053" ns2:_="" ns3:_="">
    <xsd:import namespace="4e318df0-612d-4dff-ad55-c2016fd214d1"/>
    <xsd:import namespace="750e769a-c6ab-48a0-ac99-347a633d873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18df0-612d-4dff-ad55-c2016fd214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f8fe375-cbb6-4b35-9ea2-3916cf22ce7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0e769a-c6ab-48a0-ac99-347a633d87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26268af-b411-43de-b041-f690f17633b8}" ma:internalName="TaxCatchAll" ma:showField="CatchAllData" ma:web="750e769a-c6ab-48a0-ac99-347a633d87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ECF88A7-10E3-4B78-AAB4-E035B0995F42}">
  <ds:schemaRefs>
    <ds:schemaRef ds:uri="http://schemas.microsoft.com/sharepoint/v3/contenttype/forms"/>
  </ds:schemaRefs>
</ds:datastoreItem>
</file>

<file path=customXml/itemProps2.xml><?xml version="1.0" encoding="utf-8"?>
<ds:datastoreItem xmlns:ds="http://schemas.openxmlformats.org/officeDocument/2006/customXml" ds:itemID="{982C876A-3CFF-456F-9860-B4CE26D1D368}">
  <ds:schemaRefs>
    <ds:schemaRef ds:uri="4e318df0-612d-4dff-ad55-c2016fd214d1"/>
    <ds:schemaRef ds:uri="750e769a-c6ab-48a0-ac99-347a633d873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D7B2099-E7CC-434D-9C82-BE12EDC62CEE}">
  <ds:schemaRefs>
    <ds:schemaRef ds:uri="4e318df0-612d-4dff-ad55-c2016fd214d1"/>
    <ds:schemaRef ds:uri="750e769a-c6ab-48a0-ac99-347a633d873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160</TotalTime>
  <Words>3425</Words>
  <Application>Microsoft Office PowerPoint</Application>
  <PresentationFormat>Widescreen</PresentationFormat>
  <Paragraphs>417</Paragraphs>
  <Slides>46</Slides>
  <Notes>31</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46</vt:i4>
      </vt:variant>
    </vt:vector>
  </HeadingPairs>
  <TitlesOfParts>
    <vt:vector size="59" baseType="lpstr">
      <vt:lpstr>Aptos</vt:lpstr>
      <vt:lpstr>Arial</vt:lpstr>
      <vt:lpstr>Calibri</vt:lpstr>
      <vt:lpstr>Helvetica</vt:lpstr>
      <vt:lpstr>Symbol</vt:lpstr>
      <vt:lpstr>Times New Roman</vt:lpstr>
      <vt:lpstr>Custom Design</vt:lpstr>
      <vt:lpstr>1_Custom Design</vt:lpstr>
      <vt:lpstr>1_Office Theme</vt:lpstr>
      <vt:lpstr>4_Custom Design</vt:lpstr>
      <vt:lpstr>5_Custom Design</vt:lpstr>
      <vt:lpstr>6_Custom Design</vt:lpstr>
      <vt:lpstr>Document</vt:lpstr>
      <vt:lpstr>C29PE Economics for Professionals</vt:lpstr>
      <vt:lpstr>References</vt:lpstr>
      <vt:lpstr>Session Aims</vt:lpstr>
      <vt:lpstr>Part 1: Supply side policies</vt:lpstr>
      <vt:lpstr>Supply Side Policy Aims</vt:lpstr>
      <vt:lpstr>PowerPoint Presentation</vt:lpstr>
      <vt:lpstr>PowerPoint Presentation</vt:lpstr>
      <vt:lpstr>Labour markets and productivity</vt:lpstr>
      <vt:lpstr>PowerPoint Presentation</vt:lpstr>
      <vt:lpstr>Policy approaches</vt:lpstr>
      <vt:lpstr>Market orientation</vt:lpstr>
      <vt:lpstr>Market-orientation (2): role of tax cuts</vt:lpstr>
      <vt:lpstr>Supply-side Policies: encouraging competition</vt:lpstr>
      <vt:lpstr>Interventions on supply-side</vt:lpstr>
      <vt:lpstr>PowerPoint Presentation</vt:lpstr>
      <vt:lpstr>PowerPoint Presentation</vt:lpstr>
      <vt:lpstr>PowerPoint Presentation</vt:lpstr>
      <vt:lpstr>Balance of payments</vt:lpstr>
      <vt:lpstr>UK’s balance of payments at a glance</vt:lpstr>
      <vt:lpstr>Current and Capital Accounts</vt:lpstr>
      <vt:lpstr>The Financial Account</vt:lpstr>
      <vt:lpstr>PowerPoint Presentation</vt:lpstr>
      <vt:lpstr>Trade theories</vt:lpstr>
      <vt:lpstr>Comparative advantage</vt:lpstr>
      <vt:lpstr>PowerPoint Presentation</vt:lpstr>
      <vt:lpstr>PowerPoint Presentation</vt:lpstr>
      <vt:lpstr>Gains from trade</vt:lpstr>
      <vt:lpstr>Exchange Rates</vt:lpstr>
      <vt:lpstr>PowerPoint Presentation</vt:lpstr>
      <vt:lpstr>PowerPoint Presentation</vt:lpstr>
      <vt:lpstr>Theory of exchange rate determination</vt:lpstr>
      <vt:lpstr>Determination of the rate of exchange</vt:lpstr>
      <vt:lpstr>Floating exchange rates: movement to a new equilibrium</vt:lpstr>
      <vt:lpstr>What causes exchange rates to vary?</vt:lpstr>
      <vt:lpstr>Causes of a depreciation in own currency (assume no changes abroad)</vt:lpstr>
      <vt:lpstr>Exchange Rates and the Balance of Payments</vt:lpstr>
      <vt:lpstr>Fixed versus Floating Exchange Rates (1)</vt:lpstr>
      <vt:lpstr>Fixed versus Floating Exchange Rates (2)</vt:lpstr>
      <vt:lpstr>The reality: difficult to agree to fixed rates</vt:lpstr>
      <vt:lpstr>Summary</vt:lpstr>
      <vt:lpstr>Supplementary slides for reading (will not be covered in class)</vt:lpstr>
      <vt:lpstr>UK’s problems emerged in the run-up to the financial crisis</vt:lpstr>
      <vt:lpstr>And involve relatively small losses in productivity since then</vt:lpstr>
      <vt:lpstr>UK capital stock and growth</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Grant Campbell</dc:creator>
  <cp:lastModifiedBy>Hui, Hon Chung</cp:lastModifiedBy>
  <cp:revision>15</cp:revision>
  <cp:lastPrinted>2024-03-27T09:31:09Z</cp:lastPrinted>
  <dcterms:created xsi:type="dcterms:W3CDTF">2024-03-26T13:44:16Z</dcterms:created>
  <dcterms:modified xsi:type="dcterms:W3CDTF">2025-08-29T02:06:34Z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0x010100B93A621054F1D04C90C60CDB3C987234</vt:lpwstr>
  </property>
  <property fmtid="{D5CDD505-2E9C-101B-9397-08002B2CF9AE}" pid="3" name="MediaServiceImageTags">
    <vt:lpwstr/>
  </property>
</Properties>
</file>