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12" r:id="rId5"/>
    <p:sldMasterId id="2147483700" r:id="rId6"/>
    <p:sldMasterId id="2147483692" r:id="rId7"/>
    <p:sldMasterId id="2147483706" r:id="rId8"/>
    <p:sldMasterId id="2147483718" r:id="rId9"/>
  </p:sldMasterIdLst>
  <p:notesMasterIdLst>
    <p:notesMasterId r:id="rId47"/>
  </p:notesMasterIdLst>
  <p:sldIdLst>
    <p:sldId id="690" r:id="rId10"/>
    <p:sldId id="266" r:id="rId11"/>
    <p:sldId id="259" r:id="rId12"/>
    <p:sldId id="267" r:id="rId13"/>
    <p:sldId id="691" r:id="rId14"/>
    <p:sldId id="268" r:id="rId15"/>
    <p:sldId id="269" r:id="rId16"/>
    <p:sldId id="270" r:id="rId17"/>
    <p:sldId id="272" r:id="rId18"/>
    <p:sldId id="274" r:id="rId19"/>
    <p:sldId id="473" r:id="rId20"/>
    <p:sldId id="294" r:id="rId21"/>
    <p:sldId id="468" r:id="rId22"/>
    <p:sldId id="483" r:id="rId23"/>
    <p:sldId id="694" r:id="rId24"/>
    <p:sldId id="481" r:id="rId25"/>
    <p:sldId id="653" r:id="rId26"/>
    <p:sldId id="683" r:id="rId27"/>
    <p:sldId id="486" r:id="rId28"/>
    <p:sldId id="293" r:id="rId29"/>
    <p:sldId id="485" r:id="rId30"/>
    <p:sldId id="677" r:id="rId31"/>
    <p:sldId id="672" r:id="rId32"/>
    <p:sldId id="488" r:id="rId33"/>
    <p:sldId id="491" r:id="rId34"/>
    <p:sldId id="489" r:id="rId35"/>
    <p:sldId id="490" r:id="rId36"/>
    <p:sldId id="673" r:id="rId37"/>
    <p:sldId id="674" r:id="rId38"/>
    <p:sldId id="675" r:id="rId39"/>
    <p:sldId id="682" r:id="rId40"/>
    <p:sldId id="685" r:id="rId41"/>
    <p:sldId id="686" r:id="rId42"/>
    <p:sldId id="687" r:id="rId43"/>
    <p:sldId id="688" r:id="rId44"/>
    <p:sldId id="684" r:id="rId45"/>
    <p:sldId id="67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33"/>
    <a:srgbClr val="A8BF33"/>
    <a:srgbClr val="0096CE"/>
    <a:srgbClr val="003C22"/>
    <a:srgbClr val="51160F"/>
    <a:srgbClr val="38042E"/>
    <a:srgbClr val="E9822C"/>
    <a:srgbClr val="D497B8"/>
    <a:srgbClr val="E48539"/>
    <a:srgbClr val="ACD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48EFE3-DBF6-8A68-3E79-39613B418F49}" v="19" dt="2024-12-11T07:39:43.5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FC3592-3C97-43AA-8FFC-53178B3F07D3}" type="doc">
      <dgm:prSet loTypeId="urn:microsoft.com/office/officeart/2005/8/layout/equation1" loCatId="relationship" qsTypeId="urn:microsoft.com/office/officeart/2005/8/quickstyle/3d2" qsCatId="3D" csTypeId="urn:microsoft.com/office/officeart/2005/8/colors/accent1_2" csCatId="accent1" phldr="1"/>
      <dgm:spPr/>
    </dgm:pt>
    <dgm:pt modelId="{C45410A9-BCDB-452E-93B5-CFA4413391E1}">
      <dgm:prSet phldrT="[Text]" custT="1"/>
      <dgm:spPr/>
      <dgm:t>
        <a:bodyPr/>
        <a:lstStyle/>
        <a:p>
          <a:r>
            <a:rPr lang="en-GB" sz="2000">
              <a:latin typeface="+mn-lt"/>
              <a:ea typeface="Verdana" panose="020B0604030504040204" pitchFamily="34" charset="0"/>
              <a:cs typeface="Verdana" panose="020B0604030504040204" pitchFamily="34" charset="0"/>
            </a:rPr>
            <a:t>Limited Resources</a:t>
          </a:r>
        </a:p>
      </dgm:t>
    </dgm:pt>
    <dgm:pt modelId="{1F47DD64-3135-4C3C-AD1E-31DB80717572}" type="parTrans" cxnId="{DA55EB10-8FAE-48CD-90A3-595D18FBA18C}">
      <dgm:prSet/>
      <dgm:spPr/>
      <dgm:t>
        <a:bodyPr/>
        <a:lstStyle/>
        <a:p>
          <a:endParaRPr lang="en-GB"/>
        </a:p>
      </dgm:t>
    </dgm:pt>
    <dgm:pt modelId="{EDBA5C9C-1B86-4AB9-BD0A-DA33020148E0}" type="sibTrans" cxnId="{DA55EB10-8FAE-48CD-90A3-595D18FBA18C}">
      <dgm:prSet custT="1"/>
      <dgm:spPr/>
      <dgm:t>
        <a:bodyPr/>
        <a:lstStyle/>
        <a:p>
          <a:endParaRPr lang="en-GB" sz="2400"/>
        </a:p>
      </dgm:t>
    </dgm:pt>
    <dgm:pt modelId="{8E543F45-B909-4554-8A81-97D0E83A5454}">
      <dgm:prSet phldrT="[Text]" custT="1"/>
      <dgm:spPr/>
      <dgm:t>
        <a:bodyPr/>
        <a:lstStyle/>
        <a:p>
          <a:r>
            <a:rPr lang="en-GB" sz="2000">
              <a:latin typeface="+mn-lt"/>
              <a:ea typeface="Verdana" panose="020B0604030504040204" pitchFamily="34" charset="0"/>
              <a:cs typeface="Verdana" panose="020B0604030504040204" pitchFamily="34" charset="0"/>
            </a:rPr>
            <a:t>Unlimited Human Wants</a:t>
          </a:r>
        </a:p>
      </dgm:t>
    </dgm:pt>
    <dgm:pt modelId="{85F8D3B0-A25F-4CD0-B2C5-8103EC2411C8}" type="parTrans" cxnId="{33972FB8-221A-49DC-BAA7-81AD5B34AAA8}">
      <dgm:prSet/>
      <dgm:spPr/>
      <dgm:t>
        <a:bodyPr/>
        <a:lstStyle/>
        <a:p>
          <a:endParaRPr lang="en-GB"/>
        </a:p>
      </dgm:t>
    </dgm:pt>
    <dgm:pt modelId="{F7DFA051-A2E1-4E80-9D98-65D160B41520}" type="sibTrans" cxnId="{33972FB8-221A-49DC-BAA7-81AD5B34AAA8}">
      <dgm:prSet custT="1"/>
      <dgm:spPr/>
      <dgm:t>
        <a:bodyPr/>
        <a:lstStyle/>
        <a:p>
          <a:endParaRPr lang="en-GB" sz="2400"/>
        </a:p>
      </dgm:t>
    </dgm:pt>
    <dgm:pt modelId="{DD7CC7EE-4703-4663-9D33-029993B419B2}">
      <dgm:prSet phldrT="[Text]" custT="1"/>
      <dgm:spPr/>
      <dgm:t>
        <a:bodyPr/>
        <a:lstStyle/>
        <a:p>
          <a:r>
            <a:rPr lang="en-GB" sz="2000">
              <a:latin typeface="+mn-lt"/>
              <a:ea typeface="Verdana" panose="020B0604030504040204" pitchFamily="34" charset="0"/>
              <a:cs typeface="Verdana" panose="020B0604030504040204" pitchFamily="34" charset="0"/>
            </a:rPr>
            <a:t>Scarcity of Goods and Services</a:t>
          </a:r>
        </a:p>
      </dgm:t>
    </dgm:pt>
    <dgm:pt modelId="{4F8F3F49-1B7E-45F6-8899-D4B63A3F15F1}" type="parTrans" cxnId="{D5289F52-F4CF-4BED-926E-0A7ED1E48CC0}">
      <dgm:prSet/>
      <dgm:spPr/>
      <dgm:t>
        <a:bodyPr/>
        <a:lstStyle/>
        <a:p>
          <a:endParaRPr lang="en-GB"/>
        </a:p>
      </dgm:t>
    </dgm:pt>
    <dgm:pt modelId="{4AA1DF34-96A1-40DD-AAAC-5759B33A05A0}" type="sibTrans" cxnId="{D5289F52-F4CF-4BED-926E-0A7ED1E48CC0}">
      <dgm:prSet/>
      <dgm:spPr/>
      <dgm:t>
        <a:bodyPr/>
        <a:lstStyle/>
        <a:p>
          <a:endParaRPr lang="en-GB"/>
        </a:p>
      </dgm:t>
    </dgm:pt>
    <dgm:pt modelId="{C70651B0-D7B1-469E-AAED-527B487495B7}" type="pres">
      <dgm:prSet presAssocID="{75FC3592-3C97-43AA-8FFC-53178B3F07D3}" presName="linearFlow" presStyleCnt="0">
        <dgm:presLayoutVars>
          <dgm:dir/>
          <dgm:resizeHandles val="exact"/>
        </dgm:presLayoutVars>
      </dgm:prSet>
      <dgm:spPr/>
    </dgm:pt>
    <dgm:pt modelId="{3257AD16-DD9C-46F2-BACF-04D09717997A}" type="pres">
      <dgm:prSet presAssocID="{C45410A9-BCDB-452E-93B5-CFA4413391E1}" presName="node" presStyleLbl="node1" presStyleIdx="0" presStyleCnt="3">
        <dgm:presLayoutVars>
          <dgm:bulletEnabled val="1"/>
        </dgm:presLayoutVars>
      </dgm:prSet>
      <dgm:spPr/>
    </dgm:pt>
    <dgm:pt modelId="{BCE42B7E-B3A9-4195-B636-348B04CC411F}" type="pres">
      <dgm:prSet presAssocID="{EDBA5C9C-1B86-4AB9-BD0A-DA33020148E0}" presName="spacerL" presStyleCnt="0"/>
      <dgm:spPr/>
    </dgm:pt>
    <dgm:pt modelId="{9E062F90-B472-4A24-9606-A1EDEC7D35C4}" type="pres">
      <dgm:prSet presAssocID="{EDBA5C9C-1B86-4AB9-BD0A-DA33020148E0}" presName="sibTrans" presStyleLbl="sibTrans2D1" presStyleIdx="0" presStyleCnt="2"/>
      <dgm:spPr/>
    </dgm:pt>
    <dgm:pt modelId="{F7525770-7596-4E92-AE28-F20DB27EF0A0}" type="pres">
      <dgm:prSet presAssocID="{EDBA5C9C-1B86-4AB9-BD0A-DA33020148E0}" presName="spacerR" presStyleCnt="0"/>
      <dgm:spPr/>
    </dgm:pt>
    <dgm:pt modelId="{8A84EB4C-4468-4495-A396-65AB24558A98}" type="pres">
      <dgm:prSet presAssocID="{8E543F45-B909-4554-8A81-97D0E83A5454}" presName="node" presStyleLbl="node1" presStyleIdx="1" presStyleCnt="3">
        <dgm:presLayoutVars>
          <dgm:bulletEnabled val="1"/>
        </dgm:presLayoutVars>
      </dgm:prSet>
      <dgm:spPr/>
    </dgm:pt>
    <dgm:pt modelId="{9A234C22-E733-4188-8BE0-8C38C2FE968D}" type="pres">
      <dgm:prSet presAssocID="{F7DFA051-A2E1-4E80-9D98-65D160B41520}" presName="spacerL" presStyleCnt="0"/>
      <dgm:spPr/>
    </dgm:pt>
    <dgm:pt modelId="{8200372A-10DC-4E22-9325-C31C1839E979}" type="pres">
      <dgm:prSet presAssocID="{F7DFA051-A2E1-4E80-9D98-65D160B41520}" presName="sibTrans" presStyleLbl="sibTrans2D1" presStyleIdx="1" presStyleCnt="2"/>
      <dgm:spPr/>
    </dgm:pt>
    <dgm:pt modelId="{55B46854-C382-4918-A59D-83B40A863A3A}" type="pres">
      <dgm:prSet presAssocID="{F7DFA051-A2E1-4E80-9D98-65D160B41520}" presName="spacerR" presStyleCnt="0"/>
      <dgm:spPr/>
    </dgm:pt>
    <dgm:pt modelId="{D395AEB9-D048-4F5D-AF45-B52B4B8F6797}" type="pres">
      <dgm:prSet presAssocID="{DD7CC7EE-4703-4663-9D33-029993B419B2}" presName="node" presStyleLbl="node1" presStyleIdx="2" presStyleCnt="3">
        <dgm:presLayoutVars>
          <dgm:bulletEnabled val="1"/>
        </dgm:presLayoutVars>
      </dgm:prSet>
      <dgm:spPr/>
    </dgm:pt>
  </dgm:ptLst>
  <dgm:cxnLst>
    <dgm:cxn modelId="{DA55EB10-8FAE-48CD-90A3-595D18FBA18C}" srcId="{75FC3592-3C97-43AA-8FFC-53178B3F07D3}" destId="{C45410A9-BCDB-452E-93B5-CFA4413391E1}" srcOrd="0" destOrd="0" parTransId="{1F47DD64-3135-4C3C-AD1E-31DB80717572}" sibTransId="{EDBA5C9C-1B86-4AB9-BD0A-DA33020148E0}"/>
    <dgm:cxn modelId="{CB31A23B-0F88-4D4A-837D-81149EED6806}" type="presOf" srcId="{DD7CC7EE-4703-4663-9D33-029993B419B2}" destId="{D395AEB9-D048-4F5D-AF45-B52B4B8F6797}" srcOrd="0" destOrd="0" presId="urn:microsoft.com/office/officeart/2005/8/layout/equation1"/>
    <dgm:cxn modelId="{DCBA4B5C-800A-408C-AB1C-068196ABF057}" type="presOf" srcId="{EDBA5C9C-1B86-4AB9-BD0A-DA33020148E0}" destId="{9E062F90-B472-4A24-9606-A1EDEC7D35C4}" srcOrd="0" destOrd="0" presId="urn:microsoft.com/office/officeart/2005/8/layout/equation1"/>
    <dgm:cxn modelId="{A6FCF465-B1E4-476F-A355-5A8D7DD1CA03}" type="presOf" srcId="{8E543F45-B909-4554-8A81-97D0E83A5454}" destId="{8A84EB4C-4468-4495-A396-65AB24558A98}" srcOrd="0" destOrd="0" presId="urn:microsoft.com/office/officeart/2005/8/layout/equation1"/>
    <dgm:cxn modelId="{28B58D46-ABA7-4AAF-9473-62AD5B0E2BA5}" type="presOf" srcId="{F7DFA051-A2E1-4E80-9D98-65D160B41520}" destId="{8200372A-10DC-4E22-9325-C31C1839E979}" srcOrd="0" destOrd="0" presId="urn:microsoft.com/office/officeart/2005/8/layout/equation1"/>
    <dgm:cxn modelId="{D5289F52-F4CF-4BED-926E-0A7ED1E48CC0}" srcId="{75FC3592-3C97-43AA-8FFC-53178B3F07D3}" destId="{DD7CC7EE-4703-4663-9D33-029993B419B2}" srcOrd="2" destOrd="0" parTransId="{4F8F3F49-1B7E-45F6-8899-D4B63A3F15F1}" sibTransId="{4AA1DF34-96A1-40DD-AAAC-5759B33A05A0}"/>
    <dgm:cxn modelId="{10AF5E76-908C-4FBB-982C-DE4807D3A711}" type="presOf" srcId="{C45410A9-BCDB-452E-93B5-CFA4413391E1}" destId="{3257AD16-DD9C-46F2-BACF-04D09717997A}" srcOrd="0" destOrd="0" presId="urn:microsoft.com/office/officeart/2005/8/layout/equation1"/>
    <dgm:cxn modelId="{33972FB8-221A-49DC-BAA7-81AD5B34AAA8}" srcId="{75FC3592-3C97-43AA-8FFC-53178B3F07D3}" destId="{8E543F45-B909-4554-8A81-97D0E83A5454}" srcOrd="1" destOrd="0" parTransId="{85F8D3B0-A25F-4CD0-B2C5-8103EC2411C8}" sibTransId="{F7DFA051-A2E1-4E80-9D98-65D160B41520}"/>
    <dgm:cxn modelId="{F8819AD4-365A-4247-B8DC-41315C1AD5E1}" type="presOf" srcId="{75FC3592-3C97-43AA-8FFC-53178B3F07D3}" destId="{C70651B0-D7B1-469E-AAED-527B487495B7}" srcOrd="0" destOrd="0" presId="urn:microsoft.com/office/officeart/2005/8/layout/equation1"/>
    <dgm:cxn modelId="{3500398D-19C8-4293-A47C-26C1AACF8164}" type="presParOf" srcId="{C70651B0-D7B1-469E-AAED-527B487495B7}" destId="{3257AD16-DD9C-46F2-BACF-04D09717997A}" srcOrd="0" destOrd="0" presId="urn:microsoft.com/office/officeart/2005/8/layout/equation1"/>
    <dgm:cxn modelId="{25CAC678-1F98-4DCA-B6A2-F76752EA929A}" type="presParOf" srcId="{C70651B0-D7B1-469E-AAED-527B487495B7}" destId="{BCE42B7E-B3A9-4195-B636-348B04CC411F}" srcOrd="1" destOrd="0" presId="urn:microsoft.com/office/officeart/2005/8/layout/equation1"/>
    <dgm:cxn modelId="{F28BD909-6668-42F0-9E5D-3F5B8D3A6459}" type="presParOf" srcId="{C70651B0-D7B1-469E-AAED-527B487495B7}" destId="{9E062F90-B472-4A24-9606-A1EDEC7D35C4}" srcOrd="2" destOrd="0" presId="urn:microsoft.com/office/officeart/2005/8/layout/equation1"/>
    <dgm:cxn modelId="{78F312B7-8809-44E2-8B21-812AA4D6F016}" type="presParOf" srcId="{C70651B0-D7B1-469E-AAED-527B487495B7}" destId="{F7525770-7596-4E92-AE28-F20DB27EF0A0}" srcOrd="3" destOrd="0" presId="urn:microsoft.com/office/officeart/2005/8/layout/equation1"/>
    <dgm:cxn modelId="{0C7BC59D-573C-4A81-9CD7-D0B8F456DF82}" type="presParOf" srcId="{C70651B0-D7B1-469E-AAED-527B487495B7}" destId="{8A84EB4C-4468-4495-A396-65AB24558A98}" srcOrd="4" destOrd="0" presId="urn:microsoft.com/office/officeart/2005/8/layout/equation1"/>
    <dgm:cxn modelId="{7DD22623-3BED-48F6-A7C0-9A074AA3B068}" type="presParOf" srcId="{C70651B0-D7B1-469E-AAED-527B487495B7}" destId="{9A234C22-E733-4188-8BE0-8C38C2FE968D}" srcOrd="5" destOrd="0" presId="urn:microsoft.com/office/officeart/2005/8/layout/equation1"/>
    <dgm:cxn modelId="{81739FF6-AC11-4F24-AEBD-D0A87669DB55}" type="presParOf" srcId="{C70651B0-D7B1-469E-AAED-527B487495B7}" destId="{8200372A-10DC-4E22-9325-C31C1839E979}" srcOrd="6" destOrd="0" presId="urn:microsoft.com/office/officeart/2005/8/layout/equation1"/>
    <dgm:cxn modelId="{9E64B967-A8A8-43AF-8C96-2494A0E8F2D3}" type="presParOf" srcId="{C70651B0-D7B1-469E-AAED-527B487495B7}" destId="{55B46854-C382-4918-A59D-83B40A863A3A}" srcOrd="7" destOrd="0" presId="urn:microsoft.com/office/officeart/2005/8/layout/equation1"/>
    <dgm:cxn modelId="{A9D03AAC-6E70-4939-A5FC-B21C564776CE}" type="presParOf" srcId="{C70651B0-D7B1-469E-AAED-527B487495B7}" destId="{D395AEB9-D048-4F5D-AF45-B52B4B8F6797}" srcOrd="8" destOrd="0" presId="urn:microsoft.com/office/officeart/2005/8/layout/equati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7AD16-DD9C-46F2-BACF-04D09717997A}">
      <dsp:nvSpPr>
        <dsp:cNvPr id="0" name=""/>
        <dsp:cNvSpPr/>
      </dsp:nvSpPr>
      <dsp:spPr>
        <a:xfrm>
          <a:off x="1477" y="1235209"/>
          <a:ext cx="1958174" cy="195817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a:latin typeface="+mn-lt"/>
              <a:ea typeface="Verdana" panose="020B0604030504040204" pitchFamily="34" charset="0"/>
              <a:cs typeface="Verdana" panose="020B0604030504040204" pitchFamily="34" charset="0"/>
            </a:rPr>
            <a:t>Limited Resources</a:t>
          </a:r>
        </a:p>
      </dsp:txBody>
      <dsp:txXfrm>
        <a:off x="288245" y="1521977"/>
        <a:ext cx="1384638" cy="1384638"/>
      </dsp:txXfrm>
    </dsp:sp>
    <dsp:sp modelId="{9E062F90-B472-4A24-9606-A1EDEC7D35C4}">
      <dsp:nvSpPr>
        <dsp:cNvPr id="0" name=""/>
        <dsp:cNvSpPr/>
      </dsp:nvSpPr>
      <dsp:spPr>
        <a:xfrm>
          <a:off x="2118655" y="1646425"/>
          <a:ext cx="1135741" cy="1135741"/>
        </a:xfrm>
        <a:prstGeom prst="mathPlus">
          <a:avLst/>
        </a:prstGeom>
        <a:solidFill>
          <a:schemeClr val="accent1">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GB" sz="2400" kern="1200"/>
        </a:p>
      </dsp:txBody>
      <dsp:txXfrm>
        <a:off x="2269197" y="2080732"/>
        <a:ext cx="834657" cy="267127"/>
      </dsp:txXfrm>
    </dsp:sp>
    <dsp:sp modelId="{8A84EB4C-4468-4495-A396-65AB24558A98}">
      <dsp:nvSpPr>
        <dsp:cNvPr id="0" name=""/>
        <dsp:cNvSpPr/>
      </dsp:nvSpPr>
      <dsp:spPr>
        <a:xfrm>
          <a:off x="3413400" y="1235209"/>
          <a:ext cx="1958174" cy="195817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a:latin typeface="+mn-lt"/>
              <a:ea typeface="Verdana" panose="020B0604030504040204" pitchFamily="34" charset="0"/>
              <a:cs typeface="Verdana" panose="020B0604030504040204" pitchFamily="34" charset="0"/>
            </a:rPr>
            <a:t>Unlimited Human Wants</a:t>
          </a:r>
        </a:p>
      </dsp:txBody>
      <dsp:txXfrm>
        <a:off x="3700168" y="1521977"/>
        <a:ext cx="1384638" cy="1384638"/>
      </dsp:txXfrm>
    </dsp:sp>
    <dsp:sp modelId="{8200372A-10DC-4E22-9325-C31C1839E979}">
      <dsp:nvSpPr>
        <dsp:cNvPr id="0" name=""/>
        <dsp:cNvSpPr/>
      </dsp:nvSpPr>
      <dsp:spPr>
        <a:xfrm>
          <a:off x="5530579" y="1646425"/>
          <a:ext cx="1135741" cy="1135741"/>
        </a:xfrm>
        <a:prstGeom prst="mathEqual">
          <a:avLst/>
        </a:prstGeom>
        <a:solidFill>
          <a:schemeClr val="accent1">
            <a:tint val="60000"/>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GB" sz="2400" kern="1200"/>
        </a:p>
      </dsp:txBody>
      <dsp:txXfrm>
        <a:off x="5681121" y="1880388"/>
        <a:ext cx="834657" cy="667815"/>
      </dsp:txXfrm>
    </dsp:sp>
    <dsp:sp modelId="{D395AEB9-D048-4F5D-AF45-B52B4B8F6797}">
      <dsp:nvSpPr>
        <dsp:cNvPr id="0" name=""/>
        <dsp:cNvSpPr/>
      </dsp:nvSpPr>
      <dsp:spPr>
        <a:xfrm>
          <a:off x="6825324" y="1235209"/>
          <a:ext cx="1958174" cy="1958174"/>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a:latin typeface="+mn-lt"/>
              <a:ea typeface="Verdana" panose="020B0604030504040204" pitchFamily="34" charset="0"/>
              <a:cs typeface="Verdana" panose="020B0604030504040204" pitchFamily="34" charset="0"/>
            </a:rPr>
            <a:t>Scarcity of Goods and Services</a:t>
          </a:r>
        </a:p>
      </dsp:txBody>
      <dsp:txXfrm>
        <a:off x="7112092" y="1521977"/>
        <a:ext cx="1384638" cy="1384638"/>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06D40-0E8C-424B-991F-69AF8DB1782A}" type="datetimeFigureOut">
              <a:rPr lang="en-GB" smtClean="0"/>
              <a:t>02/09/2025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014004-77EB-460B-9551-8DB9690EF2DA}" type="slidenum">
              <a:rPr lang="en-GB" smtClean="0"/>
              <a:t>‹#›</a:t>
            </a:fld>
            <a:endParaRPr lang="en-GB"/>
          </a:p>
        </p:txBody>
      </p:sp>
    </p:spTree>
    <p:extLst>
      <p:ext uri="{BB962C8B-B14F-4D97-AF65-F5344CB8AC3E}">
        <p14:creationId xmlns:p14="http://schemas.microsoft.com/office/powerpoint/2010/main" val="397106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43845A3-F64E-4BE5-9AB4-0EB4DAF7EA85}" type="slidenum">
              <a:rPr lang="en-GB" smtClean="0"/>
              <a:pPr/>
              <a:t>3</a:t>
            </a:fld>
            <a:endParaRPr lang="en-GB"/>
          </a:p>
        </p:txBody>
      </p:sp>
    </p:spTree>
    <p:extLst>
      <p:ext uri="{BB962C8B-B14F-4D97-AF65-F5344CB8AC3E}">
        <p14:creationId xmlns:p14="http://schemas.microsoft.com/office/powerpoint/2010/main" val="4094604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11</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139229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r>
              <a:rPr lang="en-GB" sz="1000">
                <a:latin typeface="Calibri" panose="020F0502020204030204" pitchFamily="34" charset="0"/>
                <a:ea typeface="Verdana" panose="020B0604030504040204" pitchFamily="34" charset="0"/>
                <a:cs typeface="Verdana" panose="020B0604030504040204" pitchFamily="34" charset="0"/>
              </a:rPr>
              <a:t>The limited resources are CELL</a:t>
            </a:r>
          </a:p>
          <a:p>
            <a:r>
              <a:rPr lang="en-GB" sz="1000">
                <a:latin typeface="Calibri" panose="020F0502020204030204" pitchFamily="34" charset="0"/>
                <a:ea typeface="Verdana" panose="020B0604030504040204" pitchFamily="34" charset="0"/>
                <a:cs typeface="Verdana" panose="020B0604030504040204" pitchFamily="34" charset="0"/>
              </a:rPr>
              <a:t>Capital</a:t>
            </a:r>
          </a:p>
          <a:p>
            <a:r>
              <a:rPr lang="en-GB" sz="1000">
                <a:latin typeface="Calibri" panose="020F0502020204030204" pitchFamily="34" charset="0"/>
                <a:ea typeface="Verdana" panose="020B0604030504040204" pitchFamily="34" charset="0"/>
                <a:cs typeface="Verdana" panose="020B0604030504040204" pitchFamily="34" charset="0"/>
              </a:rPr>
              <a:t>Enterprise</a:t>
            </a:r>
          </a:p>
          <a:p>
            <a:r>
              <a:rPr lang="en-GB" sz="1000">
                <a:latin typeface="Calibri" panose="020F0502020204030204" pitchFamily="34" charset="0"/>
                <a:ea typeface="Verdana" panose="020B0604030504040204" pitchFamily="34" charset="0"/>
                <a:cs typeface="Verdana" panose="020B0604030504040204" pitchFamily="34" charset="0"/>
              </a:rPr>
              <a:t>Land and Labour</a:t>
            </a:r>
          </a:p>
        </p:txBody>
      </p:sp>
      <p:sp>
        <p:nvSpPr>
          <p:cNvPr id="3" name="Slide Number Placeholder 2"/>
          <p:cNvSpPr>
            <a:spLocks noGrp="1"/>
          </p:cNvSpPr>
          <p:nvPr>
            <p:ph type="sldNum" sz="quarter" idx="10"/>
          </p:nvPr>
        </p:nvSpPr>
        <p:spPr/>
        <p:txBody>
          <a:bodyPr/>
          <a:lstStyle/>
          <a:p>
            <a:pPr>
              <a:defRPr/>
            </a:pPr>
            <a:fld id="{81510577-D008-40B1-A749-2458A03807C0}" type="slidenum">
              <a:rPr lang="en-GB" smtClean="0"/>
              <a:pPr>
                <a:defRPr/>
              </a:pPr>
              <a:t>12</a:t>
            </a:fld>
            <a:endParaRPr lang="en-GB"/>
          </a:p>
        </p:txBody>
      </p:sp>
    </p:spTree>
    <p:extLst>
      <p:ext uri="{BB962C8B-B14F-4D97-AF65-F5344CB8AC3E}">
        <p14:creationId xmlns:p14="http://schemas.microsoft.com/office/powerpoint/2010/main" val="3762065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13</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1385635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14</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2123463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r>
              <a:rPr lang="en-GB" sz="1000">
                <a:latin typeface="Calibri" panose="020F0502020204030204" pitchFamily="34" charset="0"/>
                <a:ea typeface="Verdana" panose="020B0604030504040204" pitchFamily="34" charset="0"/>
                <a:cs typeface="Verdana" panose="020B0604030504040204" pitchFamily="34" charset="0"/>
              </a:rPr>
              <a:t>The limited resources are CELL</a:t>
            </a:r>
          </a:p>
          <a:p>
            <a:r>
              <a:rPr lang="en-GB" sz="1000">
                <a:latin typeface="Calibri" panose="020F0502020204030204" pitchFamily="34" charset="0"/>
                <a:ea typeface="Verdana" panose="020B0604030504040204" pitchFamily="34" charset="0"/>
                <a:cs typeface="Verdana" panose="020B0604030504040204" pitchFamily="34" charset="0"/>
              </a:rPr>
              <a:t>Capital</a:t>
            </a:r>
          </a:p>
          <a:p>
            <a:r>
              <a:rPr lang="en-GB" sz="1000">
                <a:latin typeface="Calibri" panose="020F0502020204030204" pitchFamily="34" charset="0"/>
                <a:ea typeface="Verdana" panose="020B0604030504040204" pitchFamily="34" charset="0"/>
                <a:cs typeface="Verdana" panose="020B0604030504040204" pitchFamily="34" charset="0"/>
              </a:rPr>
              <a:t>Enterprise</a:t>
            </a:r>
          </a:p>
          <a:p>
            <a:r>
              <a:rPr lang="en-GB" sz="1000">
                <a:latin typeface="Calibri" panose="020F0502020204030204" pitchFamily="34" charset="0"/>
                <a:ea typeface="Verdana" panose="020B0604030504040204" pitchFamily="34" charset="0"/>
                <a:cs typeface="Verdana" panose="020B0604030504040204" pitchFamily="34" charset="0"/>
              </a:rPr>
              <a:t>Land and Labour</a:t>
            </a:r>
          </a:p>
        </p:txBody>
      </p:sp>
      <p:sp>
        <p:nvSpPr>
          <p:cNvPr id="3" name="Slide Number Placeholder 2"/>
          <p:cNvSpPr>
            <a:spLocks noGrp="1"/>
          </p:cNvSpPr>
          <p:nvPr>
            <p:ph type="sldNum" sz="quarter" idx="10"/>
          </p:nvPr>
        </p:nvSpPr>
        <p:spPr/>
        <p:txBody>
          <a:bodyPr/>
          <a:lstStyle/>
          <a:p>
            <a:pPr>
              <a:defRPr/>
            </a:pPr>
            <a:fld id="{81510577-D008-40B1-A749-2458A03807C0}" type="slidenum">
              <a:rPr lang="en-GB" smtClean="0"/>
              <a:pPr>
                <a:defRPr/>
              </a:pPr>
              <a:t>16</a:t>
            </a:fld>
            <a:endParaRPr lang="en-GB"/>
          </a:p>
        </p:txBody>
      </p:sp>
    </p:spTree>
    <p:extLst>
      <p:ext uri="{BB962C8B-B14F-4D97-AF65-F5344CB8AC3E}">
        <p14:creationId xmlns:p14="http://schemas.microsoft.com/office/powerpoint/2010/main" val="289312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819D7A0-4F3D-4778-96A6-ED274D4C42D3}"/>
              </a:ext>
            </a:extLst>
          </p:cNvPr>
          <p:cNvSpPr>
            <a:spLocks noGrp="1" noChangeArrowheads="1"/>
          </p:cNvSpPr>
          <p:nvPr>
            <p:ph type="sldNum" sz="quarter" idx="5"/>
          </p:nvPr>
        </p:nvSpPr>
        <p:spPr>
          <a:ln/>
        </p:spPr>
        <p:txBody>
          <a:bodyPr/>
          <a:lstStyle/>
          <a:p>
            <a:fld id="{9DB38AB5-F294-4E89-895D-05B946643EC8}" type="slidenum">
              <a:rPr lang="en-GB" altLang="en-US"/>
              <a:pPr/>
              <a:t>17</a:t>
            </a:fld>
            <a:endParaRPr lang="en-GB" altLang="en-US"/>
          </a:p>
        </p:txBody>
      </p:sp>
      <p:sp>
        <p:nvSpPr>
          <p:cNvPr id="372738" name="Rectangle 2">
            <a:extLst>
              <a:ext uri="{FF2B5EF4-FFF2-40B4-BE49-F238E27FC236}">
                <a16:creationId xmlns:a16="http://schemas.microsoft.com/office/drawing/2014/main" id="{B7990A07-3FEB-49C6-AA0E-A798FD776334}"/>
              </a:ext>
            </a:extLst>
          </p:cNvPr>
          <p:cNvSpPr>
            <a:spLocks noGrp="1" noRot="1" noChangeAspect="1" noChangeArrowheads="1" noTextEdit="1"/>
          </p:cNvSpPr>
          <p:nvPr>
            <p:ph type="sldImg"/>
          </p:nvPr>
        </p:nvSpPr>
        <p:spPr>
          <a:ln/>
        </p:spPr>
      </p:sp>
      <p:sp>
        <p:nvSpPr>
          <p:cNvPr id="372739" name="Rectangle 3">
            <a:extLst>
              <a:ext uri="{FF2B5EF4-FFF2-40B4-BE49-F238E27FC236}">
                <a16:creationId xmlns:a16="http://schemas.microsoft.com/office/drawing/2014/main" id="{C6A9A8F2-4EE4-47DE-AD6B-3C3A2E29881D}"/>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00840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819D7A0-4F3D-4778-96A6-ED274D4C42D3}"/>
              </a:ext>
            </a:extLst>
          </p:cNvPr>
          <p:cNvSpPr>
            <a:spLocks noGrp="1" noChangeArrowheads="1"/>
          </p:cNvSpPr>
          <p:nvPr>
            <p:ph type="sldNum" sz="quarter" idx="5"/>
          </p:nvPr>
        </p:nvSpPr>
        <p:spPr>
          <a:ln/>
        </p:spPr>
        <p:txBody>
          <a:bodyPr/>
          <a:lstStyle/>
          <a:p>
            <a:fld id="{9DB38AB5-F294-4E89-895D-05B946643EC8}" type="slidenum">
              <a:rPr lang="en-GB" altLang="en-US"/>
              <a:pPr/>
              <a:t>18</a:t>
            </a:fld>
            <a:endParaRPr lang="en-GB" altLang="en-US"/>
          </a:p>
        </p:txBody>
      </p:sp>
      <p:sp>
        <p:nvSpPr>
          <p:cNvPr id="372738" name="Rectangle 2">
            <a:extLst>
              <a:ext uri="{FF2B5EF4-FFF2-40B4-BE49-F238E27FC236}">
                <a16:creationId xmlns:a16="http://schemas.microsoft.com/office/drawing/2014/main" id="{B7990A07-3FEB-49C6-AA0E-A798FD776334}"/>
              </a:ext>
            </a:extLst>
          </p:cNvPr>
          <p:cNvSpPr>
            <a:spLocks noGrp="1" noRot="1" noChangeAspect="1" noChangeArrowheads="1" noTextEdit="1"/>
          </p:cNvSpPr>
          <p:nvPr>
            <p:ph type="sldImg"/>
          </p:nvPr>
        </p:nvSpPr>
        <p:spPr>
          <a:ln/>
        </p:spPr>
      </p:sp>
      <p:sp>
        <p:nvSpPr>
          <p:cNvPr id="372739" name="Rectangle 3">
            <a:extLst>
              <a:ext uri="{FF2B5EF4-FFF2-40B4-BE49-F238E27FC236}">
                <a16:creationId xmlns:a16="http://schemas.microsoft.com/office/drawing/2014/main" id="{C6A9A8F2-4EE4-47DE-AD6B-3C3A2E29881D}"/>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2310154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19</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973352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z="1000">
                <a:latin typeface="Calibri" panose="020F0502020204030204" pitchFamily="34" charset="0"/>
                <a:ea typeface="Verdana" panose="020B0604030504040204" pitchFamily="34" charset="0"/>
                <a:cs typeface="Verdana" panose="020B0604030504040204" pitchFamily="34" charset="0"/>
              </a:rPr>
              <a:t>3 – stress</a:t>
            </a:r>
            <a:r>
              <a:rPr lang="en-US" sz="1000" baseline="0">
                <a:latin typeface="Calibri" panose="020F0502020204030204" pitchFamily="34" charset="0"/>
                <a:ea typeface="Verdana" panose="020B0604030504040204" pitchFamily="34" charset="0"/>
                <a:cs typeface="Verdana" panose="020B0604030504040204" pitchFamily="34" charset="0"/>
              </a:rPr>
              <a:t> the total costs/benefits and marginal</a:t>
            </a:r>
            <a:r>
              <a:rPr lang="en-US" sz="1000">
                <a:latin typeface="Calibri" panose="020F0502020204030204" pitchFamily="34" charset="0"/>
                <a:ea typeface="Verdana" panose="020B0604030504040204" pitchFamily="34" charset="0"/>
                <a:cs typeface="Verdana" panose="020B0604030504040204" pitchFamily="34" charset="0"/>
              </a:rPr>
              <a:t> costs/benefits</a:t>
            </a:r>
          </a:p>
        </p:txBody>
      </p:sp>
      <p:sp>
        <p:nvSpPr>
          <p:cNvPr id="3" name="Slide Number Placeholder 2"/>
          <p:cNvSpPr>
            <a:spLocks noGrp="1"/>
          </p:cNvSpPr>
          <p:nvPr>
            <p:ph type="sldNum" sz="quarter" idx="10"/>
          </p:nvPr>
        </p:nvSpPr>
        <p:spPr/>
        <p:txBody>
          <a:bodyPr/>
          <a:lstStyle/>
          <a:p>
            <a:pPr>
              <a:defRPr/>
            </a:pPr>
            <a:fld id="{81510577-D008-40B1-A749-2458A03807C0}" type="slidenum">
              <a:rPr lang="en-GB" smtClean="0"/>
              <a:pPr>
                <a:defRPr/>
              </a:pPr>
              <a:t>20</a:t>
            </a:fld>
            <a:endParaRPr lang="en-GB"/>
          </a:p>
        </p:txBody>
      </p:sp>
    </p:spTree>
    <p:extLst>
      <p:ext uri="{BB962C8B-B14F-4D97-AF65-F5344CB8AC3E}">
        <p14:creationId xmlns:p14="http://schemas.microsoft.com/office/powerpoint/2010/main" val="3474907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21</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4041562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22</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1391711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23</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123769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24</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2662548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25</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626494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26</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6485518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27</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344404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28</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17610580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29</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1407693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30</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42351765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31</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3595429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2AA93E-27DC-4F04-AB6F-DAC1F1F7460F}"/>
              </a:ext>
            </a:extLst>
          </p:cNvPr>
          <p:cNvSpPr>
            <a:spLocks noGrp="1" noChangeArrowheads="1"/>
          </p:cNvSpPr>
          <p:nvPr>
            <p:ph type="sldNum" sz="quarter" idx="5"/>
          </p:nvPr>
        </p:nvSpPr>
        <p:spPr>
          <a:ln/>
        </p:spPr>
        <p:txBody>
          <a:bodyPr/>
          <a:lstStyle/>
          <a:p>
            <a:fld id="{9CA69C24-2BF8-48E0-9ED2-8008FEAE9584}" type="slidenum">
              <a:rPr lang="en-GB" altLang="en-US"/>
              <a:pPr/>
              <a:t>37</a:t>
            </a:fld>
            <a:endParaRPr lang="en-GB" altLang="en-US"/>
          </a:p>
        </p:txBody>
      </p:sp>
      <p:sp>
        <p:nvSpPr>
          <p:cNvPr id="385026" name="Rectangle 2">
            <a:extLst>
              <a:ext uri="{FF2B5EF4-FFF2-40B4-BE49-F238E27FC236}">
                <a16:creationId xmlns:a16="http://schemas.microsoft.com/office/drawing/2014/main" id="{78C89612-2270-4432-9B68-40A16618C964}"/>
              </a:ext>
            </a:extLst>
          </p:cNvPr>
          <p:cNvSpPr>
            <a:spLocks noGrp="1" noRot="1" noChangeAspect="1" noChangeArrowheads="1" noTextEdit="1"/>
          </p:cNvSpPr>
          <p:nvPr>
            <p:ph type="sldImg"/>
          </p:nvPr>
        </p:nvSpPr>
        <p:spPr>
          <a:ln/>
        </p:spPr>
      </p:sp>
      <p:sp>
        <p:nvSpPr>
          <p:cNvPr id="385027" name="Rectangle 3">
            <a:extLst>
              <a:ext uri="{FF2B5EF4-FFF2-40B4-BE49-F238E27FC236}">
                <a16:creationId xmlns:a16="http://schemas.microsoft.com/office/drawing/2014/main" id="{D8A7AAB4-1C53-41C3-BDD5-6838488942FE}"/>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1508836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1643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927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828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6"/>
            <a:ext cx="10515600" cy="1070568"/>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170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4396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CBE933-92D8-8187-B5F9-67501F4DABDA}"/>
              </a:ext>
            </a:extLst>
          </p:cNvPr>
          <p:cNvSpPr>
            <a:spLocks noGrp="1"/>
          </p:cNvSpPr>
          <p:nvPr>
            <p:ph type="dt" sz="half" idx="2"/>
          </p:nvPr>
        </p:nvSpPr>
        <p:spPr>
          <a:xfrm>
            <a:off x="402771" y="6356350"/>
            <a:ext cx="2743200" cy="365125"/>
          </a:xfrm>
          <a:prstGeom prst="rect">
            <a:avLst/>
          </a:prstGeom>
        </p:spPr>
        <p:txBody>
          <a:bodyPr vert="horz" lIns="91440" tIns="45720" rIns="91440" bIns="45720" rtlCol="0" anchor="ctr"/>
          <a:lstStyle>
            <a:lvl1pPr algn="l">
              <a:defRPr sz="1200" i="1">
                <a:solidFill>
                  <a:schemeClr val="tx1"/>
                </a:solidFill>
              </a:defRPr>
            </a:lvl1pPr>
          </a:lstStyle>
          <a:p>
            <a:r>
              <a:rPr lang="en-US"/>
              <a:t>©copyright, Heriot-Watt University, 2024</a:t>
            </a:r>
          </a:p>
        </p:txBody>
      </p:sp>
    </p:spTree>
    <p:extLst>
      <p:ext uri="{BB962C8B-B14F-4D97-AF65-F5344CB8AC3E}">
        <p14:creationId xmlns:p14="http://schemas.microsoft.com/office/powerpoint/2010/main" val="14529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82377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11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39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64CB-A011-BB4E-9F6C-914C4FEB965C}"/>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10297D51-BA3E-B940-A518-23EA6AD40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31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A1F4-A4C2-7746-A4BF-73A35FF1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5A778-AE0A-FF45-8919-78FC7BFCEA6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67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ED18-C36D-6942-A17C-A640DD97E8A8}"/>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2AFA3DE-F5C3-6B44-BEDF-E8C5A7551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22076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98AE-10F7-9747-A17A-DCA5FF5349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C8FD-9F20-0F49-BD8A-24F481F0EE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BF451-64DA-6B4F-9C75-D38937F059F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68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9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9">
            <a:extLst>
              <a:ext uri="{FF2B5EF4-FFF2-40B4-BE49-F238E27FC236}">
                <a16:creationId xmlns:a16="http://schemas.microsoft.com/office/drawing/2014/main" id="{AABCDC2F-C97E-C150-697A-55C9546E1D9A}"/>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219258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9">
            <a:extLst>
              <a:ext uri="{FF2B5EF4-FFF2-40B4-BE49-F238E27FC236}">
                <a16:creationId xmlns:a16="http://schemas.microsoft.com/office/drawing/2014/main" id="{B939D61E-F5BD-0A95-A8D7-B362178ECF4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05219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9">
            <a:extLst>
              <a:ext uri="{FF2B5EF4-FFF2-40B4-BE49-F238E27FC236}">
                <a16:creationId xmlns:a16="http://schemas.microsoft.com/office/drawing/2014/main" id="{87E77B97-0FDA-734C-97AA-6B7382C08EB9}"/>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15598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9">
            <a:extLst>
              <a:ext uri="{FF2B5EF4-FFF2-40B4-BE49-F238E27FC236}">
                <a16:creationId xmlns:a16="http://schemas.microsoft.com/office/drawing/2014/main" id="{7DA158A6-B130-9DFD-E616-112696FAD7B4}"/>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36159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9">
            <a:extLst>
              <a:ext uri="{FF2B5EF4-FFF2-40B4-BE49-F238E27FC236}">
                <a16:creationId xmlns:a16="http://schemas.microsoft.com/office/drawing/2014/main" id="{49A75C75-4D93-8CEE-C5EB-A2102F4CAE4F}"/>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557689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407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0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386013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81635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33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4012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464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24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101074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623701"/>
            <a:ext cx="10515600" cy="45532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E8F45BF-3121-0394-1C27-D888D2346F04}"/>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1" name="Footer Placeholder 9">
            <a:extLst>
              <a:ext uri="{FF2B5EF4-FFF2-40B4-BE49-F238E27FC236}">
                <a16:creationId xmlns:a16="http://schemas.microsoft.com/office/drawing/2014/main" id="{AE900FD1-EA9A-60B4-0DBA-00D96C5CA6AA}"/>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9496335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925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546789"/>
            <a:ext cx="10515600" cy="463017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9">
            <a:extLst>
              <a:ext uri="{FF2B5EF4-FFF2-40B4-BE49-F238E27FC236}">
                <a16:creationId xmlns:a16="http://schemas.microsoft.com/office/drawing/2014/main" id="{A15CB55C-526A-98CB-3EA0-6FC8897ABB9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22484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5936A0-BFBD-1049-B7F0-A1533BACDDA5}"/>
              </a:ext>
            </a:extLst>
          </p:cNvPr>
          <p:cNvSpPr/>
          <p:nvPr userDrawn="1"/>
        </p:nvSpPr>
        <p:spPr>
          <a:xfrm>
            <a:off x="435429" y="365125"/>
            <a:ext cx="11353800" cy="5991225"/>
          </a:xfrm>
          <a:prstGeom prst="rect">
            <a:avLst/>
          </a:prstGeom>
          <a:solidFill>
            <a:srgbClr val="E2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AC8945B-ADB6-1249-9092-50CEDEA401E8}"/>
              </a:ext>
            </a:extLst>
          </p:cNvPr>
          <p:cNvSpPr>
            <a:spLocks noGrp="1"/>
          </p:cNvSpPr>
          <p:nvPr>
            <p:ph type="title"/>
          </p:nvPr>
        </p:nvSpPr>
        <p:spPr>
          <a:xfrm>
            <a:off x="838200" y="365126"/>
            <a:ext cx="10515600" cy="9338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84F7C-51EC-8A40-9E2F-D9D9128C9AD8}"/>
              </a:ext>
            </a:extLst>
          </p:cNvPr>
          <p:cNvSpPr>
            <a:spLocks noGrp="1"/>
          </p:cNvSpPr>
          <p:nvPr>
            <p:ph type="body" idx="1"/>
          </p:nvPr>
        </p:nvSpPr>
        <p:spPr>
          <a:xfrm>
            <a:off x="838200" y="1512606"/>
            <a:ext cx="10515600" cy="46643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A846A84D-B7D0-F045-A6B0-868A1238B952}"/>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9">
            <a:extLst>
              <a:ext uri="{FF2B5EF4-FFF2-40B4-BE49-F238E27FC236}">
                <a16:creationId xmlns:a16="http://schemas.microsoft.com/office/drawing/2014/main" id="{25E85631-C1F0-6AB5-6808-AE8E3687F028}"/>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11363520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txStyles>
    <p:titleStyle>
      <a:lvl1pPr algn="l" defTabSz="914400" rtl="0" eaLnBrk="1" latinLnBrk="0" hangingPunct="1">
        <a:lnSpc>
          <a:spcPct val="90000"/>
        </a:lnSpc>
        <a:spcBef>
          <a:spcPct val="0"/>
        </a:spcBef>
        <a:buNone/>
        <a:defRPr sz="4000" b="1" i="0" kern="1200">
          <a:solidFill>
            <a:srgbClr val="003554"/>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003554"/>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3554"/>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rgbClr val="003554"/>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86172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452786"/>
            <a:ext cx="10515600" cy="472417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B49433-1A9F-8E1D-5118-64124EE451F1}"/>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0" name="Footer Placeholder 9">
            <a:extLst>
              <a:ext uri="{FF2B5EF4-FFF2-40B4-BE49-F238E27FC236}">
                <a16:creationId xmlns:a16="http://schemas.microsoft.com/office/drawing/2014/main" id="{4AF306E5-725E-82E6-45E7-7A66599A9ED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9766423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9"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8355212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83495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hyperlink" Target="mailto:s.lampert@hw.ac.uk" TargetMode="External"/><Relationship Id="rId7" Type="http://schemas.openxmlformats.org/officeDocument/2006/relationships/hyperlink" Target="mailto:n.yaakub@hw.ac.uk" TargetMode="External"/><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hyperlink" Target="mailto:L.Adeoye@hw.ac.uk" TargetMode="External"/><Relationship Id="rId5" Type="http://schemas.openxmlformats.org/officeDocument/2006/relationships/hyperlink" Target="mailto:H.Hui@hw.ac.uk" TargetMode="External"/><Relationship Id="rId4" Type="http://schemas.openxmlformats.org/officeDocument/2006/relationships/hyperlink" Target="mailto:J.Karimli@hw.ac.u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pWxmcETjkPc" TargetMode="Externa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BQQ1HFobVPQ" TargetMode="Externa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jJajz9n9Oi4" TargetMode="External"/><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8" Type="http://schemas.openxmlformats.org/officeDocument/2006/relationships/hyperlink" Target="https://gulfnews.com/business/property/abu-dhabi-hotels-attract-24-million-visitors-in-five-months-1.1724170105488" TargetMode="External"/><Relationship Id="rId13" Type="http://schemas.openxmlformats.org/officeDocument/2006/relationships/hyperlink" Target="https://www.businesstoday.com.my/2024/08/22/japans-import-growth-in-line-with-malaysias-shipment/" TargetMode="External"/><Relationship Id="rId3" Type="http://schemas.openxmlformats.org/officeDocument/2006/relationships/hyperlink" Target="https://www.bbc.co.uk/news/articles/cq82y55jg35o" TargetMode="External"/><Relationship Id="rId7" Type="http://schemas.openxmlformats.org/officeDocument/2006/relationships/hyperlink" Target="https://gulfnews.com/business/property/dubai-why-apartment-owners-at-the-burj-khalifa-are-waiting-longer-to-sell-1.1704267208332" TargetMode="External"/><Relationship Id="rId12" Type="http://schemas.openxmlformats.org/officeDocument/2006/relationships/hyperlink" Target="https://www.businesstimes.com.sg/international/asean/malaysias-october-industrial-production-27-exceeds-forecast" TargetMode="External"/><Relationship Id="rId2" Type="http://schemas.openxmlformats.org/officeDocument/2006/relationships/notesSlide" Target="../notesSlides/notesSlide17.xml"/><Relationship Id="rId1" Type="http://schemas.openxmlformats.org/officeDocument/2006/relationships/slideLayout" Target="../slideLayouts/slideLayout22.xml"/><Relationship Id="rId6" Type="http://schemas.openxmlformats.org/officeDocument/2006/relationships/hyperlink" Target="https://www.channel4.com/news/bank-of-england-cuts-interest-rate-to-5" TargetMode="External"/><Relationship Id="rId11" Type="http://schemas.openxmlformats.org/officeDocument/2006/relationships/hyperlink" Target="https://www.businesstoday.com.my/2024/08/19/malaysias-rapid-development-ideals-must-incorporate-sustainability/" TargetMode="External"/><Relationship Id="rId5" Type="http://schemas.openxmlformats.org/officeDocument/2006/relationships/hyperlink" Target="https://www-economist-com.hwu-ezproxy.idm.oclc.org/finance-and-economics/2024/08/15/europes-economic-growth-is-extremely-fragile" TargetMode="External"/><Relationship Id="rId10" Type="http://schemas.openxmlformats.org/officeDocument/2006/relationships/hyperlink" Target="https://gulfnews.com/business/property/abu-dhabis-new-rental-index-will-help-clarify-rates-on-new-leased-homes-1.1724304623228" TargetMode="External"/><Relationship Id="rId4" Type="http://schemas.openxmlformats.org/officeDocument/2006/relationships/hyperlink" Target="https://www.bbc.co.uk/news/articles/ceq59pqr9qxo" TargetMode="External"/><Relationship Id="rId9" Type="http://schemas.openxmlformats.org/officeDocument/2006/relationships/hyperlink" Target="https://www.businesstimes.com.sg/international/asean/anwars-trip-spurs-japans-rm66-billion-investment-malaysia"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hyperlink" Target="https://www.cips.org/intelligence-hub/supply-chain-management/steepled#:~:text=STEEPLED%20analysis%20is%20a%20strategic,legislative%2C%20ethical%2C%20and%20demographic." TargetMode="Externa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CAE0-399B-84E2-6473-4B4AD7203AF1}"/>
              </a:ext>
            </a:extLst>
          </p:cNvPr>
          <p:cNvSpPr>
            <a:spLocks noGrp="1"/>
          </p:cNvSpPr>
          <p:nvPr>
            <p:ph type="ctrTitle"/>
          </p:nvPr>
        </p:nvSpPr>
        <p:spPr/>
        <p:txBody>
          <a:bodyPr>
            <a:normAutofit/>
          </a:bodyPr>
          <a:lstStyle/>
          <a:p>
            <a:r>
              <a:rPr lang="en-GB" sz="5000"/>
              <a:t>C29PE Economics for Professionals</a:t>
            </a:r>
          </a:p>
        </p:txBody>
      </p:sp>
      <p:sp>
        <p:nvSpPr>
          <p:cNvPr id="3" name="Subtitle 2">
            <a:extLst>
              <a:ext uri="{FF2B5EF4-FFF2-40B4-BE49-F238E27FC236}">
                <a16:creationId xmlns:a16="http://schemas.microsoft.com/office/drawing/2014/main" id="{492700F6-CF37-8E0A-DA52-38A84466492D}"/>
              </a:ext>
            </a:extLst>
          </p:cNvPr>
          <p:cNvSpPr>
            <a:spLocks noGrp="1"/>
          </p:cNvSpPr>
          <p:nvPr>
            <p:ph type="subTitle" idx="1"/>
          </p:nvPr>
        </p:nvSpPr>
        <p:spPr/>
        <p:txBody>
          <a:bodyPr/>
          <a:lstStyle/>
          <a:p>
            <a:r>
              <a:rPr lang="en-GB" altLang="en-US" sz="2400" dirty="0"/>
              <a:t>Week 1 – An Introduction</a:t>
            </a:r>
          </a:p>
          <a:p>
            <a:r>
              <a:rPr lang="en-GB" altLang="en-US" sz="2000" dirty="0"/>
              <a:t>Sloman </a:t>
            </a:r>
            <a:r>
              <a:rPr lang="en-GB" altLang="en-US" sz="2000" i="1" dirty="0"/>
              <a:t>et al</a:t>
            </a:r>
            <a:r>
              <a:rPr lang="en-GB" altLang="en-US" sz="2000" dirty="0"/>
              <a:t>., 2023, Chapters 1,2 &amp; 4</a:t>
            </a:r>
          </a:p>
          <a:p>
            <a:endParaRPr lang="en-GB" dirty="0"/>
          </a:p>
        </p:txBody>
      </p:sp>
    </p:spTree>
    <p:extLst>
      <p:ext uri="{BB962C8B-B14F-4D97-AF65-F5344CB8AC3E}">
        <p14:creationId xmlns:p14="http://schemas.microsoft.com/office/powerpoint/2010/main" val="3326450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2EA4-19B8-7620-F508-2DC691315F5E}"/>
              </a:ext>
            </a:extLst>
          </p:cNvPr>
          <p:cNvSpPr>
            <a:spLocks noGrp="1"/>
          </p:cNvSpPr>
          <p:nvPr>
            <p:ph type="title"/>
          </p:nvPr>
        </p:nvSpPr>
        <p:spPr/>
        <p:txBody>
          <a:bodyPr/>
          <a:lstStyle/>
          <a:p>
            <a:r>
              <a:rPr lang="en-GB"/>
              <a:t>Welcome to the Course</a:t>
            </a:r>
          </a:p>
        </p:txBody>
      </p:sp>
      <p:sp>
        <p:nvSpPr>
          <p:cNvPr id="3" name="Content Placeholder 2">
            <a:extLst>
              <a:ext uri="{FF2B5EF4-FFF2-40B4-BE49-F238E27FC236}">
                <a16:creationId xmlns:a16="http://schemas.microsoft.com/office/drawing/2014/main" id="{E5EA73A6-F021-C95E-9A96-0A661D193F36}"/>
              </a:ext>
            </a:extLst>
          </p:cNvPr>
          <p:cNvSpPr>
            <a:spLocks noGrp="1"/>
          </p:cNvSpPr>
          <p:nvPr>
            <p:ph idx="1"/>
          </p:nvPr>
        </p:nvSpPr>
        <p:spPr>
          <a:xfrm>
            <a:off x="838200" y="1310546"/>
            <a:ext cx="10515600" cy="4724178"/>
          </a:xfrm>
        </p:spPr>
        <p:txBody>
          <a:bodyPr vert="horz" lIns="91440" tIns="45720" rIns="91440" bIns="45720" rtlCol="0" anchor="t">
            <a:normAutofit/>
          </a:bodyPr>
          <a:lstStyle/>
          <a:p>
            <a:pPr>
              <a:lnSpc>
                <a:spcPct val="100000"/>
              </a:lnSpc>
              <a:spcBef>
                <a:spcPts val="1200"/>
              </a:spcBef>
            </a:pPr>
            <a:r>
              <a:rPr lang="en-GB" altLang="en-US" sz="2000" b="1" dirty="0">
                <a:latin typeface="Calibri"/>
                <a:ea typeface="Calibri"/>
                <a:cs typeface="Calibri"/>
              </a:rPr>
              <a:t>Key Information</a:t>
            </a:r>
          </a:p>
          <a:p>
            <a:pPr lvl="1">
              <a:lnSpc>
                <a:spcPct val="100000"/>
              </a:lnSpc>
              <a:spcBef>
                <a:spcPts val="1200"/>
              </a:spcBef>
            </a:pPr>
            <a:r>
              <a:rPr lang="en-GB" altLang="en-US" sz="2000" dirty="0">
                <a:latin typeface="Calibri"/>
                <a:ea typeface="Calibri"/>
                <a:cs typeface="Calibri"/>
              </a:rPr>
              <a:t>Global course delivered across three campuses</a:t>
            </a:r>
          </a:p>
          <a:p>
            <a:pPr>
              <a:lnSpc>
                <a:spcPct val="100000"/>
              </a:lnSpc>
              <a:spcBef>
                <a:spcPts val="1200"/>
              </a:spcBef>
            </a:pPr>
            <a:r>
              <a:rPr lang="en-GB" altLang="en-US" sz="2000" b="1" dirty="0">
                <a:latin typeface="Calibri"/>
                <a:ea typeface="Calibri"/>
                <a:cs typeface="Calibri"/>
              </a:rPr>
              <a:t>Course Structure</a:t>
            </a:r>
          </a:p>
          <a:p>
            <a:pPr lvl="1">
              <a:lnSpc>
                <a:spcPct val="100000"/>
              </a:lnSpc>
              <a:spcBef>
                <a:spcPts val="1200"/>
              </a:spcBef>
            </a:pPr>
            <a:r>
              <a:rPr lang="en-GB" altLang="en-US" sz="2000" dirty="0">
                <a:latin typeface="Calibri"/>
                <a:ea typeface="Calibri"/>
                <a:cs typeface="Calibri"/>
              </a:rPr>
              <a:t>Microeconomics – </a:t>
            </a:r>
            <a:r>
              <a:rPr lang="en-GB" altLang="en-US" dirty="0">
                <a:latin typeface="Calibri"/>
                <a:ea typeface="Calibri"/>
                <a:cs typeface="Calibri"/>
              </a:rPr>
              <a:t>Lectures (Weeks</a:t>
            </a:r>
            <a:r>
              <a:rPr lang="en-GB" altLang="en-US" sz="2000" dirty="0">
                <a:latin typeface="Calibri"/>
                <a:ea typeface="Calibri"/>
                <a:cs typeface="Calibri"/>
              </a:rPr>
              <a:t> 1 to </a:t>
            </a:r>
            <a:r>
              <a:rPr lang="en-GB" altLang="en-US" dirty="0">
                <a:latin typeface="Calibri"/>
                <a:ea typeface="Calibri"/>
                <a:cs typeface="Calibri"/>
              </a:rPr>
              <a:t>5 &amp; 7),</a:t>
            </a:r>
            <a:r>
              <a:rPr lang="en-GB" altLang="en-US" sz="2000" dirty="0">
                <a:latin typeface="Calibri"/>
                <a:ea typeface="Calibri"/>
                <a:cs typeface="Calibri"/>
              </a:rPr>
              <a:t> and Tutorials (Weeks </a:t>
            </a:r>
            <a:r>
              <a:rPr lang="en-GB" altLang="en-US" dirty="0">
                <a:latin typeface="Calibri"/>
                <a:ea typeface="Calibri"/>
                <a:cs typeface="Calibri"/>
              </a:rPr>
              <a:t>3</a:t>
            </a:r>
            <a:r>
              <a:rPr lang="en-GB" altLang="en-US" sz="2000" dirty="0">
                <a:latin typeface="Calibri"/>
                <a:ea typeface="Calibri"/>
                <a:cs typeface="Calibri"/>
              </a:rPr>
              <a:t> to 5)</a:t>
            </a:r>
          </a:p>
          <a:p>
            <a:pPr lvl="1">
              <a:lnSpc>
                <a:spcPct val="100000"/>
              </a:lnSpc>
              <a:spcBef>
                <a:spcPts val="1200"/>
              </a:spcBef>
            </a:pPr>
            <a:r>
              <a:rPr lang="en-GB" altLang="en-US" sz="2000" dirty="0">
                <a:latin typeface="Calibri"/>
                <a:ea typeface="Calibri"/>
                <a:cs typeface="Calibri"/>
              </a:rPr>
              <a:t>Macroeconomics – </a:t>
            </a:r>
            <a:r>
              <a:rPr lang="en-GB" altLang="en-US" dirty="0">
                <a:latin typeface="Calibri"/>
                <a:ea typeface="Calibri"/>
                <a:cs typeface="Calibri"/>
              </a:rPr>
              <a:t>Lectures</a:t>
            </a:r>
            <a:r>
              <a:rPr lang="en-GB" altLang="en-US" sz="2000" dirty="0">
                <a:latin typeface="Calibri"/>
                <a:ea typeface="Calibri"/>
                <a:cs typeface="Calibri"/>
              </a:rPr>
              <a:t> (Weeks </a:t>
            </a:r>
            <a:r>
              <a:rPr lang="en-GB" altLang="en-US" dirty="0">
                <a:latin typeface="Calibri"/>
                <a:ea typeface="Calibri"/>
                <a:cs typeface="Calibri"/>
              </a:rPr>
              <a:t>8</a:t>
            </a:r>
            <a:r>
              <a:rPr lang="en-GB" altLang="en-US" sz="2000" dirty="0">
                <a:latin typeface="Calibri"/>
                <a:ea typeface="Calibri"/>
                <a:cs typeface="Calibri"/>
              </a:rPr>
              <a:t> to 12) and Tutorials (Weeks 8 to 12)</a:t>
            </a:r>
          </a:p>
          <a:p>
            <a:pPr>
              <a:lnSpc>
                <a:spcPct val="100000"/>
              </a:lnSpc>
              <a:spcBef>
                <a:spcPts val="1200"/>
              </a:spcBef>
            </a:pPr>
            <a:r>
              <a:rPr lang="en-GB" altLang="en-US" sz="2000" b="1" dirty="0">
                <a:latin typeface="Calibri"/>
                <a:ea typeface="Calibri"/>
                <a:cs typeface="Calibri"/>
              </a:rPr>
              <a:t>Assessment</a:t>
            </a:r>
            <a:r>
              <a:rPr lang="en-GB" altLang="en-US" sz="2000" dirty="0">
                <a:latin typeface="Calibri"/>
                <a:ea typeface="Calibri"/>
                <a:cs typeface="Calibri"/>
              </a:rPr>
              <a:t> </a:t>
            </a:r>
          </a:p>
          <a:p>
            <a:pPr lvl="1">
              <a:lnSpc>
                <a:spcPct val="100000"/>
              </a:lnSpc>
              <a:spcBef>
                <a:spcPts val="1200"/>
              </a:spcBef>
            </a:pPr>
            <a:r>
              <a:rPr lang="en-GB" altLang="en-US" sz="2000" dirty="0">
                <a:latin typeface="Calibri"/>
                <a:ea typeface="Calibri"/>
                <a:cs typeface="Calibri"/>
              </a:rPr>
              <a:t>Class test: 30% of overall course mark</a:t>
            </a:r>
            <a:r>
              <a:rPr lang="en-GB" altLang="en-US" dirty="0">
                <a:latin typeface="Calibri"/>
                <a:ea typeface="Calibri"/>
                <a:cs typeface="Calibri"/>
              </a:rPr>
              <a:t>; 1 hour duration, </a:t>
            </a:r>
            <a:r>
              <a:rPr lang="en-GB" altLang="en-US" sz="2000" dirty="0">
                <a:latin typeface="Calibri"/>
                <a:ea typeface="Calibri"/>
                <a:cs typeface="Calibri"/>
              </a:rPr>
              <a:t>happening i</a:t>
            </a:r>
            <a:r>
              <a:rPr lang="en-GB" altLang="en-US" dirty="0">
                <a:latin typeface="Calibri"/>
                <a:ea typeface="Calibri"/>
                <a:cs typeface="Calibri"/>
              </a:rPr>
              <a:t>n</a:t>
            </a:r>
            <a:r>
              <a:rPr lang="en-GB" altLang="en-US" sz="2000" dirty="0">
                <a:latin typeface="Calibri"/>
                <a:ea typeface="Calibri"/>
                <a:cs typeface="Calibri"/>
              </a:rPr>
              <a:t> Week 7</a:t>
            </a:r>
          </a:p>
          <a:p>
            <a:pPr lvl="1">
              <a:lnSpc>
                <a:spcPct val="100000"/>
              </a:lnSpc>
              <a:spcBef>
                <a:spcPts val="1200"/>
              </a:spcBef>
            </a:pPr>
            <a:r>
              <a:rPr lang="en-GB" altLang="en-US" sz="2000" dirty="0">
                <a:latin typeface="Calibri"/>
                <a:ea typeface="Calibri"/>
                <a:cs typeface="Calibri"/>
              </a:rPr>
              <a:t>Final exam: 70% of overall course mark; 2 hours duration, happening during the December diet – wait for announcement from the University</a:t>
            </a:r>
          </a:p>
          <a:p>
            <a:pPr lvl="1">
              <a:lnSpc>
                <a:spcPct val="100000"/>
              </a:lnSpc>
              <a:spcBef>
                <a:spcPts val="1200"/>
              </a:spcBef>
            </a:pPr>
            <a:r>
              <a:rPr lang="en-GB" altLang="en-US" sz="2000" dirty="0">
                <a:latin typeface="Calibri"/>
                <a:ea typeface="Calibri"/>
                <a:cs typeface="Calibri"/>
              </a:rPr>
              <a:t>Questions will be drawn from the whole course</a:t>
            </a:r>
            <a:endParaRPr lang="en-GB" dirty="0">
              <a:latin typeface="Calibri"/>
              <a:ea typeface="Calibri"/>
              <a:cs typeface="Calibri"/>
            </a:endParaRPr>
          </a:p>
        </p:txBody>
      </p:sp>
    </p:spTree>
    <p:extLst>
      <p:ext uri="{BB962C8B-B14F-4D97-AF65-F5344CB8AC3E}">
        <p14:creationId xmlns:p14="http://schemas.microsoft.com/office/powerpoint/2010/main" val="4280375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2EDDC-8456-4C27-BDEF-F33F7F862736}"/>
              </a:ext>
            </a:extLst>
          </p:cNvPr>
          <p:cNvSpPr>
            <a:spLocks noGrp="1"/>
          </p:cNvSpPr>
          <p:nvPr>
            <p:ph type="title"/>
          </p:nvPr>
        </p:nvSpPr>
        <p:spPr/>
        <p:txBody>
          <a:bodyPr/>
          <a:lstStyle/>
          <a:p>
            <a:pPr algn="l"/>
            <a:r>
              <a:rPr lang="en-GB" dirty="0"/>
              <a:t>Key staff for the course</a:t>
            </a:r>
          </a:p>
        </p:txBody>
      </p:sp>
      <p:sp>
        <p:nvSpPr>
          <p:cNvPr id="4098" name="Rectangle 3"/>
          <p:cNvSpPr>
            <a:spLocks noGrp="1" noChangeArrowheads="1"/>
          </p:cNvSpPr>
          <p:nvPr>
            <p:ph idx="1"/>
          </p:nvPr>
        </p:nvSpPr>
        <p:spPr/>
        <p:txBody>
          <a:bodyPr>
            <a:normAutofit/>
          </a:bodyPr>
          <a:lstStyle/>
          <a:p>
            <a:r>
              <a:rPr lang="en-GB" altLang="en-US" sz="2800" b="1" dirty="0"/>
              <a:t>Global course coordinator</a:t>
            </a:r>
          </a:p>
          <a:p>
            <a:pPr lvl="1"/>
            <a:r>
              <a:rPr lang="en-GB" altLang="en-US" sz="2400" dirty="0"/>
              <a:t>Dr. Suzanne Lampert </a:t>
            </a:r>
            <a:r>
              <a:rPr lang="en-GB" altLang="en-US" sz="2400" dirty="0">
                <a:hlinkClick r:id="rId3"/>
              </a:rPr>
              <a:t>s.lampert@hw.ac.uk</a:t>
            </a:r>
            <a:r>
              <a:rPr lang="en-GB" altLang="en-US" sz="2400" dirty="0"/>
              <a:t> </a:t>
            </a:r>
          </a:p>
          <a:p>
            <a:pPr lvl="1"/>
            <a:r>
              <a:rPr lang="en-GB" altLang="en-US" sz="2400" dirty="0"/>
              <a:t>Based in the Edinburgh campus, managing teaching across all campuses</a:t>
            </a:r>
          </a:p>
          <a:p>
            <a:r>
              <a:rPr lang="en-GB" altLang="en-US" sz="2800" b="1" dirty="0"/>
              <a:t>Lecturers </a:t>
            </a:r>
          </a:p>
          <a:p>
            <a:pPr lvl="1"/>
            <a:r>
              <a:rPr lang="en-GB" altLang="en-US" sz="2400" dirty="0"/>
              <a:t>Dr. Hedieh </a:t>
            </a:r>
            <a:r>
              <a:rPr lang="en-GB" altLang="en-US" sz="2400" dirty="0" err="1"/>
              <a:t>Tajali</a:t>
            </a:r>
            <a:r>
              <a:rPr lang="en-GB" altLang="en-US" sz="2400" dirty="0"/>
              <a:t> [insert email] (Edinburgh)</a:t>
            </a:r>
          </a:p>
          <a:p>
            <a:pPr lvl="1"/>
            <a:r>
              <a:rPr lang="en-GB" altLang="en-US" sz="2400" dirty="0"/>
              <a:t>Mr. Javid Karimli </a:t>
            </a:r>
            <a:r>
              <a:rPr lang="en-MY" sz="2400" dirty="0">
                <a:hlinkClick r:id="rId4">
                  <a:extLst>
                    <a:ext uri="{A12FA001-AC4F-418D-AE19-62706E023703}">
                      <ahyp:hlinkClr xmlns:ahyp="http://schemas.microsoft.com/office/drawing/2018/hyperlinkcolor" val="tx"/>
                    </a:ext>
                  </a:extLst>
                </a:hlinkClick>
              </a:rPr>
              <a:t>J.Karimli@hw.ac.uk</a:t>
            </a:r>
            <a:r>
              <a:rPr lang="en-MY" sz="2400" dirty="0"/>
              <a:t> (Edinburgh)</a:t>
            </a:r>
            <a:endParaRPr lang="en-GB" altLang="en-US" sz="2400" dirty="0"/>
          </a:p>
          <a:p>
            <a:pPr lvl="1"/>
            <a:r>
              <a:rPr lang="en-GB" altLang="en-US" sz="2400" dirty="0"/>
              <a:t>Dr. Hui Hon Chung </a:t>
            </a:r>
            <a:r>
              <a:rPr lang="en-GB" altLang="en-US" sz="2400" dirty="0">
                <a:hlinkClick r:id="rId5"/>
              </a:rPr>
              <a:t>H.Hui@hw.ac.uk</a:t>
            </a:r>
            <a:r>
              <a:rPr lang="en-GB" altLang="en-US" sz="2400" dirty="0"/>
              <a:t> (Malaysia)</a:t>
            </a:r>
          </a:p>
          <a:p>
            <a:r>
              <a:rPr lang="en-GB" altLang="en-US" sz="2800" b="1" dirty="0"/>
              <a:t>Tutors</a:t>
            </a:r>
          </a:p>
          <a:p>
            <a:pPr lvl="1"/>
            <a:r>
              <a:rPr lang="en-GB" sz="2400" dirty="0"/>
              <a:t>Ms. Lydia Adeoye </a:t>
            </a:r>
            <a:r>
              <a:rPr lang="en-MY" dirty="0"/>
              <a:t> </a:t>
            </a:r>
            <a:r>
              <a:rPr lang="en-MY" sz="2400" dirty="0">
                <a:hlinkClick r:id="rId6"/>
              </a:rPr>
              <a:t>L.Adeoye@hw.ac.uk</a:t>
            </a:r>
            <a:r>
              <a:rPr lang="en-MY" sz="2400" dirty="0"/>
              <a:t> (Edinburgh)</a:t>
            </a:r>
          </a:p>
          <a:p>
            <a:pPr lvl="1"/>
            <a:r>
              <a:rPr lang="en-GB" altLang="en-US" sz="2400" dirty="0"/>
              <a:t>Dr. Hui Hon Chung </a:t>
            </a:r>
            <a:r>
              <a:rPr lang="en-GB" altLang="en-US" sz="2400" dirty="0">
                <a:hlinkClick r:id="rId7"/>
              </a:rPr>
              <a:t>H.Hui@hw.ac.uk</a:t>
            </a:r>
            <a:r>
              <a:rPr lang="en-GB" altLang="en-US" sz="2400" dirty="0"/>
              <a:t> (Malaysia)</a:t>
            </a:r>
          </a:p>
          <a:p>
            <a:pPr lvl="1"/>
            <a:endParaRPr lang="en-GB" altLang="en-US" sz="2400" dirty="0"/>
          </a:p>
        </p:txBody>
      </p:sp>
    </p:spTree>
    <p:extLst>
      <p:ext uri="{BB962C8B-B14F-4D97-AF65-F5344CB8AC3E}">
        <p14:creationId xmlns:p14="http://schemas.microsoft.com/office/powerpoint/2010/main" val="328543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98">
                                            <p:txEl>
                                              <p:pRg st="3" end="3"/>
                                            </p:txEl>
                                          </p:spTgt>
                                        </p:tgtEl>
                                        <p:attrNameLst>
                                          <p:attrName>style.visibility</p:attrName>
                                        </p:attrNameLst>
                                      </p:cBhvr>
                                      <p:to>
                                        <p:strVal val="visible"/>
                                      </p:to>
                                    </p:set>
                                    <p:animEffect transition="in" filter="wipe(down)">
                                      <p:cBhvr>
                                        <p:cTn id="7" dur="500"/>
                                        <p:tgtEl>
                                          <p:spTgt spid="4098">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098">
                                            <p:txEl>
                                              <p:pRg st="4" end="4"/>
                                            </p:txEl>
                                          </p:spTgt>
                                        </p:tgtEl>
                                        <p:attrNameLst>
                                          <p:attrName>style.visibility</p:attrName>
                                        </p:attrNameLst>
                                      </p:cBhvr>
                                      <p:to>
                                        <p:strVal val="visible"/>
                                      </p:to>
                                    </p:set>
                                    <p:animEffect transition="in" filter="wipe(down)">
                                      <p:cBhvr>
                                        <p:cTn id="10" dur="500"/>
                                        <p:tgtEl>
                                          <p:spTgt spid="4098">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098">
                                            <p:txEl>
                                              <p:pRg st="5" end="5"/>
                                            </p:txEl>
                                          </p:spTgt>
                                        </p:tgtEl>
                                        <p:attrNameLst>
                                          <p:attrName>style.visibility</p:attrName>
                                        </p:attrNameLst>
                                      </p:cBhvr>
                                      <p:to>
                                        <p:strVal val="visible"/>
                                      </p:to>
                                    </p:set>
                                    <p:animEffect transition="in" filter="wipe(down)">
                                      <p:cBhvr>
                                        <p:cTn id="13" dur="500"/>
                                        <p:tgtEl>
                                          <p:spTgt spid="4098">
                                            <p:txEl>
                                              <p:pRg st="5" end="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4098">
                                            <p:txEl>
                                              <p:pRg st="6" end="6"/>
                                            </p:txEl>
                                          </p:spTgt>
                                        </p:tgtEl>
                                        <p:attrNameLst>
                                          <p:attrName>style.visibility</p:attrName>
                                        </p:attrNameLst>
                                      </p:cBhvr>
                                      <p:to>
                                        <p:strVal val="visible"/>
                                      </p:to>
                                    </p:set>
                                    <p:animEffect transition="in" filter="wipe(down)">
                                      <p:cBhvr>
                                        <p:cTn id="16" dur="500"/>
                                        <p:tgtEl>
                                          <p:spTgt spid="4098">
                                            <p:txEl>
                                              <p:pRg st="6" end="6"/>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4098">
                                            <p:txEl>
                                              <p:pRg st="7" end="7"/>
                                            </p:txEl>
                                          </p:spTgt>
                                        </p:tgtEl>
                                        <p:attrNameLst>
                                          <p:attrName>style.visibility</p:attrName>
                                        </p:attrNameLst>
                                      </p:cBhvr>
                                      <p:to>
                                        <p:strVal val="visible"/>
                                      </p:to>
                                    </p:set>
                                    <p:animEffect transition="in" filter="wipe(down)">
                                      <p:cBhvr>
                                        <p:cTn id="19" dur="500"/>
                                        <p:tgtEl>
                                          <p:spTgt spid="4098">
                                            <p:txEl>
                                              <p:pRg st="7" end="7"/>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4098">
                                            <p:txEl>
                                              <p:pRg st="8" end="8"/>
                                            </p:txEl>
                                          </p:spTgt>
                                        </p:tgtEl>
                                        <p:attrNameLst>
                                          <p:attrName>style.visibility</p:attrName>
                                        </p:attrNameLst>
                                      </p:cBhvr>
                                      <p:to>
                                        <p:strVal val="visible"/>
                                      </p:to>
                                    </p:set>
                                    <p:animEffect transition="in" filter="wipe(down)">
                                      <p:cBhvr>
                                        <p:cTn id="22" dur="500"/>
                                        <p:tgtEl>
                                          <p:spTgt spid="4098">
                                            <p:txEl>
                                              <p:pRg st="8" end="8"/>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4098">
                                            <p:txEl>
                                              <p:pRg st="9" end="9"/>
                                            </p:txEl>
                                          </p:spTgt>
                                        </p:tgtEl>
                                        <p:attrNameLst>
                                          <p:attrName>style.visibility</p:attrName>
                                        </p:attrNameLst>
                                      </p:cBhvr>
                                      <p:to>
                                        <p:strVal val="visible"/>
                                      </p:to>
                                    </p:set>
                                    <p:animEffect transition="in" filter="wipe(down)">
                                      <p:cBhvr>
                                        <p:cTn id="25" dur="500"/>
                                        <p:tgtEl>
                                          <p:spTgt spid="409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C1CAC-C702-5237-75B4-A177FBF7CC33}"/>
              </a:ext>
            </a:extLst>
          </p:cNvPr>
          <p:cNvSpPr>
            <a:spLocks noGrp="1"/>
          </p:cNvSpPr>
          <p:nvPr>
            <p:ph type="title"/>
          </p:nvPr>
        </p:nvSpPr>
        <p:spPr/>
        <p:txBody>
          <a:bodyPr/>
          <a:lstStyle/>
          <a:p>
            <a:r>
              <a:rPr lang="en-GB" dirty="0"/>
              <a:t>Structure of </a:t>
            </a:r>
            <a:r>
              <a:rPr lang="en-GB"/>
              <a:t>the session</a:t>
            </a:r>
            <a:endParaRPr lang="en-GB" dirty="0"/>
          </a:p>
        </p:txBody>
      </p:sp>
      <p:sp>
        <p:nvSpPr>
          <p:cNvPr id="3" name="Content Placeholder 2">
            <a:extLst>
              <a:ext uri="{FF2B5EF4-FFF2-40B4-BE49-F238E27FC236}">
                <a16:creationId xmlns:a16="http://schemas.microsoft.com/office/drawing/2014/main" id="{C09EF264-DA39-6978-EB4C-35778656A5E1}"/>
              </a:ext>
            </a:extLst>
          </p:cNvPr>
          <p:cNvSpPr>
            <a:spLocks noGrp="1"/>
          </p:cNvSpPr>
          <p:nvPr>
            <p:ph idx="1"/>
          </p:nvPr>
        </p:nvSpPr>
        <p:spPr>
          <a:xfrm>
            <a:off x="578498" y="1352938"/>
            <a:ext cx="11094098" cy="4898571"/>
          </a:xfrm>
        </p:spPr>
        <p:txBody>
          <a:bodyPr>
            <a:normAutofit fontScale="92500" lnSpcReduction="20000"/>
          </a:bodyPr>
          <a:lstStyle/>
          <a:p>
            <a:pPr>
              <a:lnSpc>
                <a:spcPct val="80000"/>
              </a:lnSpc>
              <a:spcBef>
                <a:spcPct val="55000"/>
              </a:spcBef>
            </a:pPr>
            <a:r>
              <a:rPr lang="en-GB" altLang="en-US" sz="2400" b="1">
                <a:latin typeface="Calibri" panose="020F0502020204030204" pitchFamily="34" charset="0"/>
                <a:cs typeface="Calibri" panose="020F0502020204030204" pitchFamily="34" charset="0"/>
              </a:rPr>
              <a:t>What do Economist’s Study?</a:t>
            </a:r>
          </a:p>
          <a:p>
            <a:pPr lvl="1">
              <a:lnSpc>
                <a:spcPct val="80000"/>
              </a:lnSpc>
              <a:spcBef>
                <a:spcPct val="55000"/>
              </a:spcBef>
            </a:pPr>
            <a:r>
              <a:rPr lang="en-GB" altLang="en-US" sz="2000">
                <a:latin typeface="Calibri" panose="020F0502020204030204" pitchFamily="34" charset="0"/>
                <a:cs typeface="Calibri" panose="020F0502020204030204" pitchFamily="34" charset="0"/>
              </a:rPr>
              <a:t>Tackling the Problem of Scarcity</a:t>
            </a:r>
          </a:p>
          <a:p>
            <a:pPr>
              <a:lnSpc>
                <a:spcPct val="80000"/>
              </a:lnSpc>
              <a:spcBef>
                <a:spcPct val="55000"/>
              </a:spcBef>
            </a:pPr>
            <a:r>
              <a:rPr lang="en-GB" altLang="en-US" sz="2400" b="1">
                <a:latin typeface="Calibri" panose="020F0502020204030204" pitchFamily="34" charset="0"/>
                <a:cs typeface="Calibri" panose="020F0502020204030204" pitchFamily="34" charset="0"/>
              </a:rPr>
              <a:t>Microeconomic Choices</a:t>
            </a:r>
          </a:p>
          <a:p>
            <a:pPr lvl="1">
              <a:lnSpc>
                <a:spcPct val="80000"/>
              </a:lnSpc>
              <a:spcBef>
                <a:spcPct val="55000"/>
              </a:spcBef>
            </a:pPr>
            <a:r>
              <a:rPr lang="en-GB" altLang="en-US" sz="2000">
                <a:latin typeface="Calibri" panose="020F0502020204030204" pitchFamily="34" charset="0"/>
                <a:cs typeface="Calibri" panose="020F0502020204030204" pitchFamily="34" charset="0"/>
              </a:rPr>
              <a:t>Choice and Opportunity Cost</a:t>
            </a:r>
          </a:p>
          <a:p>
            <a:pPr lvl="1">
              <a:lnSpc>
                <a:spcPct val="80000"/>
              </a:lnSpc>
              <a:spcBef>
                <a:spcPct val="55000"/>
              </a:spcBef>
            </a:pPr>
            <a:r>
              <a:rPr lang="en-GB" altLang="en-US" sz="2000">
                <a:latin typeface="Calibri" panose="020F0502020204030204" pitchFamily="34" charset="0"/>
                <a:cs typeface="Calibri" panose="020F0502020204030204" pitchFamily="34" charset="0"/>
              </a:rPr>
              <a:t>Rational Choices</a:t>
            </a:r>
          </a:p>
          <a:p>
            <a:pPr lvl="1">
              <a:lnSpc>
                <a:spcPct val="80000"/>
              </a:lnSpc>
              <a:spcBef>
                <a:spcPct val="55000"/>
              </a:spcBef>
            </a:pPr>
            <a:r>
              <a:rPr lang="en-GB" altLang="en-US" sz="2000">
                <a:latin typeface="Calibri" panose="020F0502020204030204" pitchFamily="34" charset="0"/>
                <a:cs typeface="Calibri" panose="020F0502020204030204" pitchFamily="34" charset="0"/>
              </a:rPr>
              <a:t>Marginal Costs and Benefits</a:t>
            </a:r>
          </a:p>
          <a:p>
            <a:pPr lvl="1">
              <a:lnSpc>
                <a:spcPct val="80000"/>
              </a:lnSpc>
              <a:spcBef>
                <a:spcPct val="55000"/>
              </a:spcBef>
            </a:pPr>
            <a:r>
              <a:rPr lang="en-GB" altLang="en-US" sz="2000">
                <a:latin typeface="Calibri" panose="020F0502020204030204" pitchFamily="34" charset="0"/>
                <a:cs typeface="Calibri" panose="020F0502020204030204" pitchFamily="34" charset="0"/>
              </a:rPr>
              <a:t>Microeconomic choices and the Firm</a:t>
            </a:r>
          </a:p>
          <a:p>
            <a:pPr>
              <a:lnSpc>
                <a:spcPct val="80000"/>
              </a:lnSpc>
              <a:spcBef>
                <a:spcPct val="55000"/>
              </a:spcBef>
            </a:pPr>
            <a:r>
              <a:rPr lang="en-GB" altLang="en-US" sz="2400" b="1">
                <a:latin typeface="Calibri" panose="020F0502020204030204" pitchFamily="34" charset="0"/>
                <a:cs typeface="Calibri" panose="020F0502020204030204" pitchFamily="34" charset="0"/>
              </a:rPr>
              <a:t>The Macroeconomic Environment</a:t>
            </a:r>
          </a:p>
          <a:p>
            <a:pPr lvl="1">
              <a:lnSpc>
                <a:spcPct val="80000"/>
              </a:lnSpc>
              <a:spcBef>
                <a:spcPct val="55000"/>
              </a:spcBef>
            </a:pPr>
            <a:r>
              <a:rPr lang="en-GB" altLang="en-US" sz="2000">
                <a:latin typeface="Calibri" panose="020F0502020204030204" pitchFamily="34" charset="0"/>
                <a:cs typeface="Calibri" panose="020F0502020204030204" pitchFamily="34" charset="0"/>
              </a:rPr>
              <a:t>Inflation, Unemployment, Balance of Trade, Economic Growth</a:t>
            </a:r>
          </a:p>
          <a:p>
            <a:pPr lvl="1">
              <a:lnSpc>
                <a:spcPct val="80000"/>
              </a:lnSpc>
              <a:spcBef>
                <a:spcPct val="55000"/>
              </a:spcBef>
            </a:pPr>
            <a:r>
              <a:rPr lang="en-GB" altLang="en-US" sz="2000">
                <a:latin typeface="Calibri" panose="020F0502020204030204" pitchFamily="34" charset="0"/>
                <a:cs typeface="Calibri" panose="020F0502020204030204" pitchFamily="34" charset="0"/>
              </a:rPr>
              <a:t>Macroeconomic Policy and its Effect on Business</a:t>
            </a:r>
          </a:p>
          <a:p>
            <a:pPr lvl="1">
              <a:lnSpc>
                <a:spcPct val="80000"/>
              </a:lnSpc>
              <a:spcBef>
                <a:spcPct val="55000"/>
              </a:spcBef>
            </a:pPr>
            <a:r>
              <a:rPr lang="en-GB" altLang="en-US" sz="2000">
                <a:latin typeface="Calibri" panose="020F0502020204030204" pitchFamily="34" charset="0"/>
                <a:cs typeface="Calibri" panose="020F0502020204030204" pitchFamily="34" charset="0"/>
              </a:rPr>
              <a:t>The Circular Flow of Income</a:t>
            </a:r>
          </a:p>
          <a:p>
            <a:pPr>
              <a:lnSpc>
                <a:spcPct val="80000"/>
              </a:lnSpc>
              <a:spcBef>
                <a:spcPct val="55000"/>
              </a:spcBef>
            </a:pPr>
            <a:r>
              <a:rPr lang="en-GB" altLang="en-US" sz="2400" b="1">
                <a:latin typeface="Calibri" panose="020F0502020204030204" pitchFamily="34" charset="0"/>
                <a:cs typeface="Calibri" panose="020F0502020204030204" pitchFamily="34" charset="0"/>
              </a:rPr>
              <a:t>Understanding the Business Environment</a:t>
            </a:r>
          </a:p>
          <a:p>
            <a:pPr lvl="1">
              <a:lnSpc>
                <a:spcPct val="80000"/>
              </a:lnSpc>
              <a:spcBef>
                <a:spcPct val="55000"/>
              </a:spcBef>
            </a:pPr>
            <a:r>
              <a:rPr lang="en-GB">
                <a:latin typeface="Calibri" panose="020F0502020204030204" pitchFamily="34" charset="0"/>
                <a:cs typeface="Calibri" panose="020F0502020204030204" pitchFamily="34" charset="0"/>
              </a:rPr>
              <a:t>What is business? Business economics? What determines business performance? </a:t>
            </a:r>
          </a:p>
          <a:p>
            <a:pPr lvl="1">
              <a:lnSpc>
                <a:spcPct val="80000"/>
              </a:lnSpc>
              <a:spcBef>
                <a:spcPct val="55000"/>
              </a:spcBef>
            </a:pPr>
            <a:r>
              <a:rPr lang="en-GB">
                <a:latin typeface="Calibri" panose="020F0502020204030204" pitchFamily="34" charset="0"/>
                <a:cs typeface="Calibri" panose="020F0502020204030204" pitchFamily="34" charset="0"/>
              </a:rPr>
              <a:t>PEST/STEEPLE analysis</a:t>
            </a:r>
            <a:endParaRPr lang="en-GB"/>
          </a:p>
        </p:txBody>
      </p:sp>
    </p:spTree>
    <p:extLst>
      <p:ext uri="{BB962C8B-B14F-4D97-AF65-F5344CB8AC3E}">
        <p14:creationId xmlns:p14="http://schemas.microsoft.com/office/powerpoint/2010/main" val="158486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8526-D4E2-3B02-226F-AC762A5C77FF}"/>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DEEFEBE0-DBF2-29D7-C4C6-F701E2695E99}"/>
              </a:ext>
            </a:extLst>
          </p:cNvPr>
          <p:cNvSpPr>
            <a:spLocks noGrp="1"/>
          </p:cNvSpPr>
          <p:nvPr>
            <p:ph idx="1"/>
          </p:nvPr>
        </p:nvSpPr>
        <p:spPr/>
        <p:txBody>
          <a:bodyPr/>
          <a:lstStyle/>
          <a:p>
            <a:r>
              <a:rPr lang="en-MY" dirty="0">
                <a:latin typeface="+mn-lt"/>
              </a:rPr>
              <a:t>Sloman et al (2023) </a:t>
            </a:r>
          </a:p>
          <a:p>
            <a:pPr lvl="1"/>
            <a:r>
              <a:rPr lang="en-MY" dirty="0">
                <a:latin typeface="+mn-lt"/>
              </a:rPr>
              <a:t>Chapters 1.1-1.3</a:t>
            </a:r>
          </a:p>
          <a:p>
            <a:pPr lvl="1"/>
            <a:r>
              <a:rPr lang="en-MY" dirty="0">
                <a:latin typeface="+mn-lt"/>
              </a:rPr>
              <a:t>Chapters 2.1-2.3</a:t>
            </a:r>
          </a:p>
          <a:p>
            <a:pPr lvl="1"/>
            <a:r>
              <a:rPr lang="en-MY" dirty="0">
                <a:latin typeface="+mn-lt"/>
              </a:rPr>
              <a:t>Chapters 4.1-4.2</a:t>
            </a:r>
          </a:p>
          <a:p>
            <a:pPr lvl="1"/>
            <a:endParaRPr lang="en-MY" dirty="0">
              <a:latin typeface="+mn-lt"/>
            </a:endParaRPr>
          </a:p>
          <a:p>
            <a:r>
              <a:rPr lang="en-MY" dirty="0">
                <a:highlight>
                  <a:srgbClr val="FFFF00"/>
                </a:highlight>
                <a:latin typeface="+mn-lt"/>
              </a:rPr>
              <a:t>Important!</a:t>
            </a:r>
          </a:p>
          <a:p>
            <a:pPr lvl="1"/>
            <a:r>
              <a:rPr lang="en-MY" dirty="0">
                <a:highlight>
                  <a:srgbClr val="FFFF00"/>
                </a:highlight>
                <a:latin typeface="+mn-lt"/>
              </a:rPr>
              <a:t>The PowerPoint slide deck for Week 1 lecture provides a guideline of the topics you need to know. However, the materials in the slide deck are insufficient if you wish to excel in the course</a:t>
            </a:r>
          </a:p>
          <a:p>
            <a:pPr lvl="1"/>
            <a:r>
              <a:rPr lang="en-MY" dirty="0">
                <a:highlight>
                  <a:srgbClr val="FFFF00"/>
                </a:highlight>
                <a:latin typeface="+mn-lt"/>
              </a:rPr>
              <a:t>To do well, please do not forget to read the relevant sections of the core textbook</a:t>
            </a:r>
          </a:p>
          <a:p>
            <a:pPr lvl="1"/>
            <a:r>
              <a:rPr lang="en-MY" dirty="0">
                <a:highlight>
                  <a:srgbClr val="FFFF00"/>
                </a:highlight>
                <a:latin typeface="+mn-lt"/>
              </a:rPr>
              <a:t>Please also ensure that you follow economics news regularly as these sources could be used as examples to supplement your answers during assessments</a:t>
            </a:r>
          </a:p>
          <a:p>
            <a:pPr marL="457200" lvl="1" indent="0">
              <a:buNone/>
            </a:pPr>
            <a:endParaRPr lang="en-MY" dirty="0"/>
          </a:p>
          <a:p>
            <a:pPr lvl="1"/>
            <a:endParaRPr lang="en-MY" dirty="0"/>
          </a:p>
        </p:txBody>
      </p:sp>
    </p:spTree>
    <p:extLst>
      <p:ext uri="{BB962C8B-B14F-4D97-AF65-F5344CB8AC3E}">
        <p14:creationId xmlns:p14="http://schemas.microsoft.com/office/powerpoint/2010/main" val="3307304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3DD34-C95D-1791-9A3B-7326885164AB}"/>
              </a:ext>
            </a:extLst>
          </p:cNvPr>
          <p:cNvSpPr>
            <a:spLocks noGrp="1"/>
          </p:cNvSpPr>
          <p:nvPr>
            <p:ph type="title"/>
          </p:nvPr>
        </p:nvSpPr>
        <p:spPr/>
        <p:txBody>
          <a:bodyPr/>
          <a:lstStyle/>
          <a:p>
            <a:r>
              <a:rPr lang="en-GB"/>
              <a:t>What do Economist’s Study?</a:t>
            </a:r>
          </a:p>
        </p:txBody>
      </p:sp>
      <p:sp>
        <p:nvSpPr>
          <p:cNvPr id="3" name="Content Placeholder 2">
            <a:extLst>
              <a:ext uri="{FF2B5EF4-FFF2-40B4-BE49-F238E27FC236}">
                <a16:creationId xmlns:a16="http://schemas.microsoft.com/office/drawing/2014/main" id="{D5B5DDDC-23EB-68BA-AAA0-B302CB399072}"/>
              </a:ext>
            </a:extLst>
          </p:cNvPr>
          <p:cNvSpPr>
            <a:spLocks noGrp="1"/>
          </p:cNvSpPr>
          <p:nvPr>
            <p:ph idx="1"/>
          </p:nvPr>
        </p:nvSpPr>
        <p:spPr/>
        <p:txBody>
          <a:bodyPr/>
          <a:lstStyle/>
          <a:p>
            <a:r>
              <a:rPr lang="en-GB" altLang="en-US" sz="2400" dirty="0">
                <a:highlight>
                  <a:srgbClr val="FFFF00"/>
                </a:highlight>
              </a:rPr>
              <a:t>Activity</a:t>
            </a:r>
            <a:r>
              <a:rPr lang="en-GB" altLang="en-US" sz="2400" dirty="0">
                <a:effectLst/>
                <a:highlight>
                  <a:srgbClr val="FFFF00"/>
                </a:highlight>
              </a:rPr>
              <a:t> – use one word to describe what you think economics is about; share your answer with the person sitting next to you</a:t>
            </a:r>
          </a:p>
          <a:p>
            <a:pPr marL="0" indent="0">
              <a:buNone/>
            </a:pPr>
            <a:endParaRPr lang="en-GB" altLang="en-US" sz="2400" dirty="0">
              <a:effectLst/>
              <a:highlight>
                <a:srgbClr val="FFFF00"/>
              </a:highlight>
            </a:endParaRPr>
          </a:p>
          <a:p>
            <a:pPr marL="0" indent="0">
              <a:buNone/>
            </a:pPr>
            <a:endParaRPr lang="en-GB" dirty="0"/>
          </a:p>
        </p:txBody>
      </p:sp>
    </p:spTree>
    <p:extLst>
      <p:ext uri="{BB962C8B-B14F-4D97-AF65-F5344CB8AC3E}">
        <p14:creationId xmlns:p14="http://schemas.microsoft.com/office/powerpoint/2010/main" val="402872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CAF3A-B890-7BF8-3917-620487E6FDB6}"/>
              </a:ext>
            </a:extLst>
          </p:cNvPr>
          <p:cNvSpPr>
            <a:spLocks noGrp="1"/>
          </p:cNvSpPr>
          <p:nvPr>
            <p:ph type="title"/>
          </p:nvPr>
        </p:nvSpPr>
        <p:spPr/>
        <p:txBody>
          <a:bodyPr/>
          <a:lstStyle/>
          <a:p>
            <a:r>
              <a:rPr lang="en-GB"/>
              <a:t>What do Economist’s Study?</a:t>
            </a:r>
          </a:p>
        </p:txBody>
      </p:sp>
      <p:sp>
        <p:nvSpPr>
          <p:cNvPr id="3" name="Content Placeholder 2">
            <a:extLst>
              <a:ext uri="{FF2B5EF4-FFF2-40B4-BE49-F238E27FC236}">
                <a16:creationId xmlns:a16="http://schemas.microsoft.com/office/drawing/2014/main" id="{422DB8EA-8B14-63B5-8F24-24C3DEAF6935}"/>
              </a:ext>
            </a:extLst>
          </p:cNvPr>
          <p:cNvSpPr>
            <a:spLocks noGrp="1"/>
          </p:cNvSpPr>
          <p:nvPr>
            <p:ph idx="1"/>
          </p:nvPr>
        </p:nvSpPr>
        <p:spPr/>
        <p:txBody>
          <a:bodyPr vert="horz" lIns="91440" tIns="45720" rIns="91440" bIns="45720" rtlCol="0" anchor="t">
            <a:normAutofit/>
          </a:bodyPr>
          <a:lstStyle/>
          <a:p>
            <a:r>
              <a:rPr lang="en-GB" altLang="en-US" sz="2400" dirty="0">
                <a:effectLst/>
                <a:latin typeface="Calibri"/>
                <a:ea typeface="Calibri"/>
                <a:cs typeface="Calibri"/>
              </a:rPr>
              <a:t>Students who were asked what they think economics is about for the Oriana </a:t>
            </a:r>
            <a:r>
              <a:rPr lang="en-GB" altLang="en-US" sz="2400" dirty="0" err="1">
                <a:effectLst/>
                <a:latin typeface="Calibri"/>
                <a:ea typeface="Calibri"/>
                <a:cs typeface="Calibri"/>
              </a:rPr>
              <a:t>Bandiero</a:t>
            </a:r>
            <a:r>
              <a:rPr lang="en-GB" altLang="en-US" sz="2400" dirty="0">
                <a:effectLst/>
                <a:latin typeface="Calibri"/>
                <a:ea typeface="Calibri"/>
                <a:cs typeface="Calibri"/>
              </a:rPr>
              <a:t>, ‘What do economists do?’ video </a:t>
            </a:r>
            <a:r>
              <a:rPr lang="en-GB" altLang="en-US" sz="2400" dirty="0">
                <a:effectLst/>
                <a:latin typeface="+mn-lt"/>
                <a:cs typeface="Calibri"/>
              </a:rPr>
              <a:t>(</a:t>
            </a:r>
            <a:r>
              <a:rPr lang="en-GB" sz="2400" dirty="0">
                <a:latin typeface="+mn-lt"/>
                <a:hlinkClick r:id="rId2"/>
              </a:rPr>
              <a:t>what do economists do? – YouTube</a:t>
            </a:r>
            <a:r>
              <a:rPr lang="en-GB" sz="2400" dirty="0">
                <a:latin typeface="+mn-lt"/>
              </a:rPr>
              <a:t>)</a:t>
            </a:r>
            <a:r>
              <a:rPr lang="en-GB" altLang="en-US" sz="2400" dirty="0">
                <a:effectLst/>
                <a:latin typeface="+mj-lt"/>
                <a:cs typeface="Calibri"/>
              </a:rPr>
              <a:t>, </a:t>
            </a:r>
            <a:r>
              <a:rPr lang="en-GB" altLang="en-US" sz="2400" dirty="0">
                <a:effectLst/>
                <a:latin typeface="Calibri"/>
                <a:ea typeface="Calibri"/>
                <a:cs typeface="Calibri"/>
              </a:rPr>
              <a:t>responded with some of the following: </a:t>
            </a:r>
          </a:p>
          <a:p>
            <a:pPr marL="342900" indent="-342900">
              <a:buFont typeface="Arial" panose="020B0604020202020204" pitchFamily="34" charset="0"/>
              <a:buChar char="•"/>
            </a:pPr>
            <a:r>
              <a:rPr lang="en-GB" altLang="en-US" sz="2400" dirty="0">
                <a:latin typeface="Calibri"/>
                <a:ea typeface="Calibri"/>
                <a:cs typeface="Calibri"/>
              </a:rPr>
              <a:t>“</a:t>
            </a:r>
            <a:r>
              <a:rPr lang="en-GB" altLang="en-US" sz="2400" dirty="0">
                <a:effectLst/>
                <a:latin typeface="Calibri"/>
                <a:ea typeface="Calibri"/>
                <a:cs typeface="Calibri"/>
              </a:rPr>
              <a:t>money</a:t>
            </a:r>
            <a:r>
              <a:rPr lang="en-GB" altLang="en-US" sz="2400" dirty="0">
                <a:latin typeface="Calibri"/>
                <a:ea typeface="Calibri"/>
                <a:cs typeface="Calibri"/>
              </a:rPr>
              <a:t>”</a:t>
            </a:r>
            <a:r>
              <a:rPr lang="en-GB" altLang="en-US" sz="2400" dirty="0">
                <a:effectLst/>
                <a:latin typeface="Calibri"/>
                <a:ea typeface="Calibri"/>
                <a:cs typeface="Calibri"/>
              </a:rPr>
              <a:t> </a:t>
            </a:r>
          </a:p>
          <a:p>
            <a:pPr marL="342900" indent="-342900">
              <a:buFont typeface="Arial" panose="020B0604020202020204" pitchFamily="34" charset="0"/>
              <a:buChar char="•"/>
            </a:pPr>
            <a:r>
              <a:rPr lang="en-GB" altLang="en-US" sz="2400" dirty="0">
                <a:latin typeface="Calibri"/>
                <a:ea typeface="Calibri"/>
                <a:cs typeface="Calibri"/>
              </a:rPr>
              <a:t>“</a:t>
            </a:r>
            <a:r>
              <a:rPr lang="en-GB" altLang="en-US" sz="2400" dirty="0">
                <a:effectLst/>
                <a:latin typeface="Calibri"/>
                <a:ea typeface="Calibri"/>
                <a:cs typeface="Calibri"/>
              </a:rPr>
              <a:t>banking</a:t>
            </a:r>
            <a:r>
              <a:rPr lang="en-GB" altLang="en-US" sz="2400" dirty="0">
                <a:latin typeface="Calibri"/>
                <a:ea typeface="Calibri"/>
                <a:cs typeface="Calibri"/>
              </a:rPr>
              <a:t>”</a:t>
            </a:r>
          </a:p>
          <a:p>
            <a:pPr marL="342900" indent="-342900">
              <a:buFont typeface="Arial" panose="020B0604020202020204" pitchFamily="34" charset="0"/>
              <a:buChar char="•"/>
            </a:pPr>
            <a:r>
              <a:rPr lang="en-GB" altLang="en-US" sz="2400" dirty="0">
                <a:latin typeface="Calibri"/>
                <a:ea typeface="Calibri"/>
                <a:cs typeface="Calibri"/>
              </a:rPr>
              <a:t>“</a:t>
            </a:r>
            <a:r>
              <a:rPr lang="en-GB" altLang="en-US" sz="2400" dirty="0">
                <a:effectLst/>
                <a:latin typeface="Calibri"/>
                <a:ea typeface="Calibri"/>
                <a:cs typeface="Calibri"/>
              </a:rPr>
              <a:t>debt”</a:t>
            </a:r>
          </a:p>
          <a:p>
            <a:pPr marL="342900" indent="-342900">
              <a:buFont typeface="Arial" panose="020B0604020202020204" pitchFamily="34" charset="0"/>
              <a:buChar char="•"/>
            </a:pPr>
            <a:r>
              <a:rPr lang="en-GB" altLang="en-US" sz="2400" dirty="0">
                <a:latin typeface="Calibri"/>
                <a:ea typeface="Calibri"/>
                <a:cs typeface="Calibri"/>
              </a:rPr>
              <a:t>“</a:t>
            </a:r>
            <a:r>
              <a:rPr lang="en-GB" altLang="en-US" sz="2400" dirty="0">
                <a:effectLst/>
                <a:latin typeface="Calibri"/>
                <a:ea typeface="Calibri"/>
                <a:cs typeface="Calibri"/>
              </a:rPr>
              <a:t>finance</a:t>
            </a:r>
            <a:r>
              <a:rPr lang="en-GB" altLang="en-US" sz="2400" dirty="0">
                <a:latin typeface="Calibri"/>
                <a:ea typeface="Calibri"/>
                <a:cs typeface="Calibri"/>
              </a:rPr>
              <a:t>”</a:t>
            </a:r>
          </a:p>
          <a:p>
            <a:pPr marL="342900" indent="-342900">
              <a:buFont typeface="Arial" panose="020B0604020202020204" pitchFamily="34" charset="0"/>
              <a:buChar char="•"/>
            </a:pPr>
            <a:r>
              <a:rPr lang="en-GB" altLang="en-US" sz="2400" dirty="0">
                <a:latin typeface="Calibri"/>
                <a:ea typeface="Calibri"/>
                <a:cs typeface="Calibri"/>
              </a:rPr>
              <a:t>“</a:t>
            </a:r>
            <a:r>
              <a:rPr lang="en-GB" altLang="en-US" sz="2400" dirty="0">
                <a:effectLst/>
                <a:latin typeface="Calibri"/>
                <a:ea typeface="Calibri"/>
                <a:cs typeface="Calibri"/>
              </a:rPr>
              <a:t>numbers”</a:t>
            </a:r>
          </a:p>
          <a:p>
            <a:endParaRPr lang="en-GB" altLang="en-US" sz="2400" dirty="0">
              <a:latin typeface="Calibri" panose="020F0502020204030204" pitchFamily="34" charset="0"/>
              <a:cs typeface="Calibri" panose="020F0502020204030204" pitchFamily="34" charset="0"/>
            </a:endParaRPr>
          </a:p>
          <a:p>
            <a:r>
              <a:rPr lang="en-GB" altLang="en-US" sz="2400" dirty="0">
                <a:effectLst/>
                <a:latin typeface="Calibri"/>
                <a:ea typeface="Calibri"/>
                <a:cs typeface="Calibri"/>
              </a:rPr>
              <a:t>If you watch the short clip, you will see that economics is about much more than this.</a:t>
            </a:r>
          </a:p>
          <a:p>
            <a:endParaRPr lang="en-GB" altLang="en-US" sz="2400" dirty="0">
              <a:effectLst/>
              <a:latin typeface="Calibri" panose="020F0502020204030204" pitchFamily="34" charset="0"/>
              <a:cs typeface="Calibri" panose="020F0502020204030204" pitchFamily="34" charset="0"/>
            </a:endParaRPr>
          </a:p>
          <a:p>
            <a:endParaRPr lang="en-GB" dirty="0"/>
          </a:p>
        </p:txBody>
      </p:sp>
    </p:spTree>
    <p:extLst>
      <p:ext uri="{BB962C8B-B14F-4D97-AF65-F5344CB8AC3E}">
        <p14:creationId xmlns:p14="http://schemas.microsoft.com/office/powerpoint/2010/main" val="2641001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895B1-72EB-83A1-BFEC-A049DAB0128C}"/>
              </a:ext>
            </a:extLst>
          </p:cNvPr>
          <p:cNvSpPr>
            <a:spLocks noGrp="1"/>
          </p:cNvSpPr>
          <p:nvPr>
            <p:ph type="title"/>
          </p:nvPr>
        </p:nvSpPr>
        <p:spPr/>
        <p:txBody>
          <a:bodyPr>
            <a:normAutofit fontScale="90000"/>
          </a:bodyPr>
          <a:lstStyle/>
          <a:p>
            <a:r>
              <a:rPr lang="en-GB"/>
              <a:t>What do the following research topics/questions have in common?</a:t>
            </a:r>
          </a:p>
        </p:txBody>
      </p:sp>
      <p:sp>
        <p:nvSpPr>
          <p:cNvPr id="3" name="Content Placeholder 2">
            <a:extLst>
              <a:ext uri="{FF2B5EF4-FFF2-40B4-BE49-F238E27FC236}">
                <a16:creationId xmlns:a16="http://schemas.microsoft.com/office/drawing/2014/main" id="{74899C1B-F421-FC80-9525-A55BE157FA55}"/>
              </a:ext>
            </a:extLst>
          </p:cNvPr>
          <p:cNvSpPr>
            <a:spLocks noGrp="1"/>
          </p:cNvSpPr>
          <p:nvPr>
            <p:ph idx="1"/>
          </p:nvPr>
        </p:nvSpPr>
        <p:spPr>
          <a:xfrm>
            <a:off x="838200" y="1555335"/>
            <a:ext cx="10435614" cy="4720516"/>
          </a:xfrm>
        </p:spPr>
        <p:txBody>
          <a:bodyPr>
            <a:normAutofit fontScale="55000" lnSpcReduction="20000"/>
          </a:bodyPr>
          <a:lstStyle/>
          <a:p>
            <a:pPr>
              <a:lnSpc>
                <a:spcPct val="100000"/>
              </a:lnSpc>
              <a:spcBef>
                <a:spcPts val="1200"/>
              </a:spcBef>
            </a:pPr>
            <a:r>
              <a:rPr lang="en-GB" sz="3300">
                <a:latin typeface="Calibri" panose="020F0502020204030204" pitchFamily="34" charset="0"/>
                <a:cs typeface="Calibri" panose="020F0502020204030204" pitchFamily="34" charset="0"/>
              </a:rPr>
              <a:t>What is the health impact of famines on survivors?</a:t>
            </a:r>
          </a:p>
          <a:p>
            <a:pPr>
              <a:lnSpc>
                <a:spcPct val="100000"/>
              </a:lnSpc>
              <a:spcBef>
                <a:spcPts val="1200"/>
              </a:spcBef>
            </a:pPr>
            <a:r>
              <a:rPr lang="en-GB" sz="3300">
                <a:latin typeface="Calibri" panose="020F0502020204030204" pitchFamily="34" charset="0"/>
                <a:cs typeface="Calibri" panose="020F0502020204030204" pitchFamily="34" charset="0"/>
              </a:rPr>
              <a:t>Is membership of urban youth clubs in Mali associated with greater trust and trustworthiness toward society? </a:t>
            </a:r>
          </a:p>
          <a:p>
            <a:pPr>
              <a:lnSpc>
                <a:spcPct val="100000"/>
              </a:lnSpc>
              <a:spcBef>
                <a:spcPts val="1200"/>
              </a:spcBef>
            </a:pPr>
            <a:r>
              <a:rPr lang="en-GB" sz="3300">
                <a:latin typeface="Calibri" panose="020F0502020204030204" pitchFamily="34" charset="0"/>
                <a:cs typeface="Calibri" panose="020F0502020204030204" pitchFamily="34" charset="0"/>
              </a:rPr>
              <a:t>What caused the US banking crisis?</a:t>
            </a:r>
          </a:p>
          <a:p>
            <a:pPr>
              <a:lnSpc>
                <a:spcPct val="100000"/>
              </a:lnSpc>
              <a:spcBef>
                <a:spcPts val="1200"/>
              </a:spcBef>
            </a:pPr>
            <a:r>
              <a:rPr lang="en-GB" sz="3300">
                <a:latin typeface="Calibri" panose="020F0502020204030204" pitchFamily="34" charset="0"/>
                <a:cs typeface="Calibri" panose="020F0502020204030204" pitchFamily="34" charset="0"/>
              </a:rPr>
              <a:t>How does inequality affect economic growth?</a:t>
            </a:r>
          </a:p>
          <a:p>
            <a:pPr>
              <a:lnSpc>
                <a:spcPct val="100000"/>
              </a:lnSpc>
              <a:spcBef>
                <a:spcPts val="1200"/>
              </a:spcBef>
            </a:pPr>
            <a:r>
              <a:rPr lang="en-GB" sz="3300">
                <a:latin typeface="Calibri" panose="020F0502020204030204" pitchFamily="34" charset="0"/>
                <a:cs typeface="Calibri" panose="020F0502020204030204" pitchFamily="34" charset="0"/>
              </a:rPr>
              <a:t>How do we explain the observed gap in earnings between men and women?</a:t>
            </a:r>
          </a:p>
          <a:p>
            <a:pPr>
              <a:lnSpc>
                <a:spcPct val="100000"/>
              </a:lnSpc>
              <a:spcBef>
                <a:spcPts val="1200"/>
              </a:spcBef>
            </a:pPr>
            <a:r>
              <a:rPr lang="en-GB" sz="3300">
                <a:latin typeface="Calibri" panose="020F0502020204030204" pitchFamily="34" charset="0"/>
                <a:cs typeface="Calibri" panose="020F0502020204030204" pitchFamily="34" charset="0"/>
              </a:rPr>
              <a:t>The roles of employers, healthcare professionals and occupational health staff in supporting employees with cancer</a:t>
            </a:r>
          </a:p>
          <a:p>
            <a:pPr>
              <a:lnSpc>
                <a:spcPct val="100000"/>
              </a:lnSpc>
              <a:spcBef>
                <a:spcPts val="1200"/>
              </a:spcBef>
            </a:pPr>
            <a:r>
              <a:rPr lang="en-GB" sz="3300">
                <a:latin typeface="Calibri" panose="020F0502020204030204" pitchFamily="34" charset="0"/>
                <a:cs typeface="Calibri" panose="020F0502020204030204" pitchFamily="34" charset="0"/>
              </a:rPr>
              <a:t>The effects of longer secondary school days on parents’ labour market outcomes</a:t>
            </a:r>
          </a:p>
          <a:p>
            <a:pPr>
              <a:lnSpc>
                <a:spcPct val="100000"/>
              </a:lnSpc>
              <a:spcBef>
                <a:spcPts val="1200"/>
              </a:spcBef>
            </a:pPr>
            <a:r>
              <a:rPr lang="en-GB" sz="3300">
                <a:latin typeface="Calibri" panose="020F0502020204030204" pitchFamily="34" charset="0"/>
                <a:cs typeface="Calibri" panose="020F0502020204030204" pitchFamily="34" charset="0"/>
              </a:rPr>
              <a:t>Air quality and inequalities in Colombia</a:t>
            </a:r>
          </a:p>
          <a:p>
            <a:pPr>
              <a:lnSpc>
                <a:spcPct val="100000"/>
              </a:lnSpc>
              <a:spcBef>
                <a:spcPts val="1200"/>
              </a:spcBef>
            </a:pPr>
            <a:r>
              <a:rPr lang="en-GB" sz="3300">
                <a:latin typeface="Calibri" panose="020F0502020204030204" pitchFamily="34" charset="0"/>
                <a:cs typeface="Calibri" panose="020F0502020204030204" pitchFamily="34" charset="0"/>
              </a:rPr>
              <a:t>A valuation of marine biodiversity in the Galapagos Islands</a:t>
            </a:r>
          </a:p>
          <a:p>
            <a:pPr>
              <a:lnSpc>
                <a:spcPct val="100000"/>
              </a:lnSpc>
              <a:spcBef>
                <a:spcPts val="1200"/>
              </a:spcBef>
            </a:pPr>
            <a:r>
              <a:rPr lang="en-GB" sz="3300">
                <a:latin typeface="Calibri" panose="020F0502020204030204" pitchFamily="34" charset="0"/>
                <a:cs typeface="Calibri" panose="020F0502020204030204" pitchFamily="34" charset="0"/>
              </a:rPr>
              <a:t>What are the costs associated with job creation and job destruction?</a:t>
            </a:r>
          </a:p>
          <a:p>
            <a:pPr>
              <a:lnSpc>
                <a:spcPct val="100000"/>
              </a:lnSpc>
              <a:spcBef>
                <a:spcPts val="1200"/>
              </a:spcBef>
            </a:pPr>
            <a:r>
              <a:rPr lang="en-GB" sz="3300">
                <a:latin typeface="Calibri" panose="020F0502020204030204" pitchFamily="34" charset="0"/>
                <a:cs typeface="Calibri" panose="020F0502020204030204" pitchFamily="34" charset="0"/>
              </a:rPr>
              <a:t>What are the alternatives to interest rates when trying to influence inflation, output and employment over the business cycle?</a:t>
            </a:r>
          </a:p>
        </p:txBody>
      </p:sp>
    </p:spTree>
    <p:extLst>
      <p:ext uri="{BB962C8B-B14F-4D97-AF65-F5344CB8AC3E}">
        <p14:creationId xmlns:p14="http://schemas.microsoft.com/office/powerpoint/2010/main" val="1076153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306DF-BC8C-6EAE-FB96-E9E2B0379FEA}"/>
              </a:ext>
            </a:extLst>
          </p:cNvPr>
          <p:cNvSpPr>
            <a:spLocks noGrp="1"/>
          </p:cNvSpPr>
          <p:nvPr>
            <p:ph type="title"/>
          </p:nvPr>
        </p:nvSpPr>
        <p:spPr/>
        <p:txBody>
          <a:bodyPr/>
          <a:lstStyle/>
          <a:p>
            <a:r>
              <a:rPr lang="en-GB"/>
              <a:t>What do Economist’s Study?</a:t>
            </a:r>
          </a:p>
        </p:txBody>
      </p:sp>
      <p:sp>
        <p:nvSpPr>
          <p:cNvPr id="3" name="Content Placeholder 2">
            <a:extLst>
              <a:ext uri="{FF2B5EF4-FFF2-40B4-BE49-F238E27FC236}">
                <a16:creationId xmlns:a16="http://schemas.microsoft.com/office/drawing/2014/main" id="{F734F572-CA71-1CEA-EC60-1A41427A1A29}"/>
              </a:ext>
            </a:extLst>
          </p:cNvPr>
          <p:cNvSpPr>
            <a:spLocks noGrp="1"/>
          </p:cNvSpPr>
          <p:nvPr>
            <p:ph idx="1"/>
          </p:nvPr>
        </p:nvSpPr>
        <p:spPr/>
        <p:txBody>
          <a:bodyPr>
            <a:normAutofit fontScale="92500" lnSpcReduction="20000"/>
          </a:bodyPr>
          <a:lstStyle/>
          <a:p>
            <a:pPr marL="0" indent="0">
              <a:lnSpc>
                <a:spcPct val="100000"/>
              </a:lnSpc>
              <a:spcBef>
                <a:spcPts val="1200"/>
              </a:spcBef>
              <a:buNone/>
            </a:pPr>
            <a:r>
              <a:rPr lang="en-GB" sz="2400" dirty="0">
                <a:latin typeface="Calibri" panose="020F0502020204030204" pitchFamily="34" charset="0"/>
                <a:cs typeface="Calibri" panose="020F0502020204030204" pitchFamily="34" charset="0"/>
              </a:rPr>
              <a:t>You may never have studied economics before, yet you are constantly facing economic problems and making economic decisions. </a:t>
            </a:r>
          </a:p>
          <a:p>
            <a:pPr>
              <a:lnSpc>
                <a:spcPct val="100000"/>
              </a:lnSpc>
              <a:spcBef>
                <a:spcPts val="1200"/>
              </a:spcBef>
            </a:pPr>
            <a:r>
              <a:rPr lang="en-GB" sz="2400" b="1" dirty="0">
                <a:latin typeface="Calibri" panose="020F0502020204030204" pitchFamily="34" charset="0"/>
                <a:cs typeface="Calibri" panose="020F0502020204030204" pitchFamily="34" charset="0"/>
              </a:rPr>
              <a:t>Economics is relevant to ALL of us</a:t>
            </a:r>
          </a:p>
          <a:p>
            <a:pPr>
              <a:lnSpc>
                <a:spcPct val="100000"/>
              </a:lnSpc>
              <a:spcBef>
                <a:spcPts val="1200"/>
              </a:spcBef>
            </a:pPr>
            <a:r>
              <a:rPr lang="en-GB" sz="2400" dirty="0">
                <a:latin typeface="Calibri" panose="020F0502020204030204" pitchFamily="34" charset="0"/>
                <a:cs typeface="Calibri" panose="020F0502020204030204" pitchFamily="34" charset="0"/>
              </a:rPr>
              <a:t>For example: What should I buy? Should I save more today so I can spend more next year? Should I go to the supermarket or buy online? Should I go to university, or should I try and find a job now?</a:t>
            </a:r>
          </a:p>
          <a:p>
            <a:pPr>
              <a:lnSpc>
                <a:spcPct val="100000"/>
              </a:lnSpc>
              <a:spcBef>
                <a:spcPts val="1200"/>
              </a:spcBef>
            </a:pPr>
            <a:r>
              <a:rPr lang="en-GB" sz="2400" dirty="0">
                <a:latin typeface="Calibri" panose="020F0502020204030204" pitchFamily="34" charset="0"/>
                <a:cs typeface="Calibri" panose="020F0502020204030204" pitchFamily="34" charset="0"/>
              </a:rPr>
              <a:t>Firms – should we cut prices? Should we install new equipment? Should we diversify our products? Should we develop an environmental strategy?</a:t>
            </a:r>
          </a:p>
          <a:p>
            <a:pPr>
              <a:lnSpc>
                <a:spcPct val="100000"/>
              </a:lnSpc>
              <a:spcBef>
                <a:spcPts val="1200"/>
              </a:spcBef>
            </a:pPr>
            <a:r>
              <a:rPr lang="en-GB" sz="2400" dirty="0">
                <a:latin typeface="Calibri" panose="020F0502020204030204" pitchFamily="34" charset="0"/>
                <a:cs typeface="Calibri" panose="020F0502020204030204" pitchFamily="34" charset="0"/>
              </a:rPr>
              <a:t>Government – should we subsidise energy? How much should we invest in healthcare? Do we cut taxes? If so, when? For whom? Which ones?</a:t>
            </a:r>
          </a:p>
          <a:p>
            <a:pPr marL="0" indent="0">
              <a:lnSpc>
                <a:spcPct val="100000"/>
              </a:lnSpc>
              <a:spcBef>
                <a:spcPts val="1200"/>
              </a:spcBef>
              <a:buNone/>
            </a:pPr>
            <a:endParaRPr lang="en-GB" sz="2400" dirty="0">
              <a:latin typeface="Calibri" panose="020F0502020204030204" pitchFamily="34" charset="0"/>
              <a:cs typeface="Calibri" panose="020F0502020204030204" pitchFamily="34" charset="0"/>
            </a:endParaRPr>
          </a:p>
          <a:p>
            <a:pPr marL="0" indent="0">
              <a:lnSpc>
                <a:spcPct val="100000"/>
              </a:lnSpc>
              <a:spcBef>
                <a:spcPts val="1200"/>
              </a:spcBef>
              <a:buNone/>
            </a:pPr>
            <a:r>
              <a:rPr lang="en-GB" sz="2400" dirty="0">
                <a:latin typeface="Calibri" panose="020F0502020204030204" pitchFamily="34" charset="0"/>
                <a:cs typeface="Calibri" panose="020F0502020204030204" pitchFamily="34" charset="0"/>
              </a:rPr>
              <a:t>Anybody studying economics today is doing so at an incredibly interesting, if not turbulent, time.</a:t>
            </a:r>
          </a:p>
          <a:p>
            <a:pPr marL="0" indent="0">
              <a:buNone/>
            </a:pPr>
            <a:endParaRPr lang="en-GB" dirty="0"/>
          </a:p>
        </p:txBody>
      </p:sp>
    </p:spTree>
    <p:extLst>
      <p:ext uri="{BB962C8B-B14F-4D97-AF65-F5344CB8AC3E}">
        <p14:creationId xmlns:p14="http://schemas.microsoft.com/office/powerpoint/2010/main" val="1670598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A4478-6FE9-396D-0466-C58CCC7C2ADA}"/>
              </a:ext>
            </a:extLst>
          </p:cNvPr>
          <p:cNvSpPr>
            <a:spLocks noGrp="1"/>
          </p:cNvSpPr>
          <p:nvPr>
            <p:ph type="title"/>
          </p:nvPr>
        </p:nvSpPr>
        <p:spPr/>
        <p:txBody>
          <a:bodyPr/>
          <a:lstStyle/>
          <a:p>
            <a:r>
              <a:rPr lang="en-GB"/>
              <a:t>What do Economist’s Study?</a:t>
            </a:r>
          </a:p>
        </p:txBody>
      </p:sp>
      <p:sp>
        <p:nvSpPr>
          <p:cNvPr id="3" name="Content Placeholder 2">
            <a:extLst>
              <a:ext uri="{FF2B5EF4-FFF2-40B4-BE49-F238E27FC236}">
                <a16:creationId xmlns:a16="http://schemas.microsoft.com/office/drawing/2014/main" id="{335A1801-3974-0BB6-F2FA-14DA210FB823}"/>
              </a:ext>
            </a:extLst>
          </p:cNvPr>
          <p:cNvSpPr>
            <a:spLocks noGrp="1"/>
          </p:cNvSpPr>
          <p:nvPr>
            <p:ph idx="1"/>
          </p:nvPr>
        </p:nvSpPr>
        <p:spPr/>
        <p:txBody>
          <a:bodyPr/>
          <a:lstStyle/>
          <a:p>
            <a:pPr>
              <a:lnSpc>
                <a:spcPct val="100000"/>
              </a:lnSpc>
              <a:spcBef>
                <a:spcPts val="1200"/>
              </a:spcBef>
            </a:pPr>
            <a:r>
              <a:rPr lang="en-GB" sz="2400">
                <a:latin typeface="Calibri" panose="020F0502020204030204" pitchFamily="34" charset="0"/>
                <a:cs typeface="Calibri" panose="020F0502020204030204" pitchFamily="34" charset="0"/>
              </a:rPr>
              <a:t>What is it that makes a problem an economic problem? </a:t>
            </a:r>
          </a:p>
          <a:p>
            <a:pPr marL="0" indent="0">
              <a:lnSpc>
                <a:spcPct val="100000"/>
              </a:lnSpc>
              <a:spcBef>
                <a:spcPts val="1200"/>
              </a:spcBef>
              <a:buNone/>
            </a:pPr>
            <a:endParaRPr lang="en-GB" sz="2400">
              <a:latin typeface="Calibri" panose="020F0502020204030204" pitchFamily="34" charset="0"/>
              <a:cs typeface="Calibri" panose="020F0502020204030204" pitchFamily="34" charset="0"/>
            </a:endParaRPr>
          </a:p>
          <a:p>
            <a:pPr>
              <a:lnSpc>
                <a:spcPct val="100000"/>
              </a:lnSpc>
              <a:spcBef>
                <a:spcPts val="1200"/>
              </a:spcBef>
            </a:pPr>
            <a:r>
              <a:rPr lang="en-GB" sz="2400">
                <a:latin typeface="Calibri" panose="020F0502020204030204" pitchFamily="34" charset="0"/>
                <a:cs typeface="Calibri" panose="020F0502020204030204" pitchFamily="34" charset="0"/>
              </a:rPr>
              <a:t>There is one central problem faced by all, individuals, firms, governments and in all societies, no matter how rich they are. From this problem stem all other economic problems that we will be looking at. </a:t>
            </a:r>
          </a:p>
          <a:p>
            <a:pPr marL="0" indent="0">
              <a:lnSpc>
                <a:spcPct val="100000"/>
              </a:lnSpc>
              <a:spcBef>
                <a:spcPts val="1200"/>
              </a:spcBef>
              <a:buNone/>
            </a:pPr>
            <a:endParaRPr lang="en-GB" sz="2400">
              <a:latin typeface="Calibri" panose="020F0502020204030204" pitchFamily="34" charset="0"/>
              <a:cs typeface="Calibri" panose="020F0502020204030204" pitchFamily="34" charset="0"/>
            </a:endParaRPr>
          </a:p>
          <a:p>
            <a:pPr>
              <a:lnSpc>
                <a:spcPct val="100000"/>
              </a:lnSpc>
              <a:spcBef>
                <a:spcPts val="1200"/>
              </a:spcBef>
            </a:pPr>
            <a:r>
              <a:rPr lang="en-GB" sz="2400">
                <a:latin typeface="Calibri" panose="020F0502020204030204" pitchFamily="34" charset="0"/>
                <a:cs typeface="Calibri" panose="020F0502020204030204" pitchFamily="34" charset="0"/>
              </a:rPr>
              <a:t>This is the problem of </a:t>
            </a:r>
            <a:r>
              <a:rPr lang="en-GB" sz="2400" b="1">
                <a:latin typeface="Calibri" panose="020F0502020204030204" pitchFamily="34" charset="0"/>
                <a:cs typeface="Calibri" panose="020F0502020204030204" pitchFamily="34" charset="0"/>
              </a:rPr>
              <a:t>scarcity</a:t>
            </a:r>
            <a:r>
              <a:rPr lang="en-GB" sz="2400">
                <a:latin typeface="Calibri" panose="020F0502020204030204" pitchFamily="34" charset="0"/>
                <a:cs typeface="Calibri" panose="020F0502020204030204" pitchFamily="34" charset="0"/>
              </a:rPr>
              <a:t>.</a:t>
            </a:r>
          </a:p>
          <a:p>
            <a:pPr>
              <a:lnSpc>
                <a:spcPct val="100000"/>
              </a:lnSpc>
              <a:spcBef>
                <a:spcPts val="1200"/>
              </a:spcBef>
            </a:pPr>
            <a:endParaRPr lang="en-GB" sz="2400">
              <a:latin typeface="Calibri" panose="020F0502020204030204" pitchFamily="34" charset="0"/>
              <a:cs typeface="Calibri" panose="020F0502020204030204" pitchFamily="34" charset="0"/>
            </a:endParaRPr>
          </a:p>
          <a:p>
            <a:pPr>
              <a:lnSpc>
                <a:spcPct val="100000"/>
              </a:lnSpc>
              <a:spcBef>
                <a:spcPts val="1200"/>
              </a:spcBef>
            </a:pPr>
            <a:r>
              <a:rPr lang="en-GB" sz="2400">
                <a:highlight>
                  <a:srgbClr val="FFFF00"/>
                </a:highlight>
                <a:latin typeface="Calibri" panose="020F0502020204030204" pitchFamily="34" charset="0"/>
                <a:cs typeface="Calibri" panose="020F0502020204030204" pitchFamily="34" charset="0"/>
              </a:rPr>
              <a:t>Activity: Take 30 seconds to write a list of things that you want/want more of </a:t>
            </a:r>
          </a:p>
          <a:p>
            <a:endParaRPr lang="en-GB"/>
          </a:p>
        </p:txBody>
      </p:sp>
    </p:spTree>
    <p:extLst>
      <p:ext uri="{BB962C8B-B14F-4D97-AF65-F5344CB8AC3E}">
        <p14:creationId xmlns:p14="http://schemas.microsoft.com/office/powerpoint/2010/main" val="2825557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t>What do Economists Study?</a:t>
            </a:r>
          </a:p>
        </p:txBody>
      </p:sp>
      <p:pic>
        <p:nvPicPr>
          <p:cNvPr id="2" name="Picture 1">
            <a:extLst>
              <a:ext uri="{FF2B5EF4-FFF2-40B4-BE49-F238E27FC236}">
                <a16:creationId xmlns:a16="http://schemas.microsoft.com/office/drawing/2014/main" id="{FB3F69E9-79C5-5A1C-284C-BAB330CAC819}"/>
              </a:ext>
            </a:extLst>
          </p:cNvPr>
          <p:cNvPicPr>
            <a:picLocks noChangeAspect="1"/>
          </p:cNvPicPr>
          <p:nvPr/>
        </p:nvPicPr>
        <p:blipFill>
          <a:blip r:embed="rId3"/>
          <a:stretch>
            <a:fillRect/>
          </a:stretch>
        </p:blipFill>
        <p:spPr>
          <a:xfrm>
            <a:off x="5215269" y="1964305"/>
            <a:ext cx="6698442" cy="3763792"/>
          </a:xfrm>
          <a:prstGeom prst="rect">
            <a:avLst/>
          </a:prstGeom>
        </p:spPr>
      </p:pic>
      <p:sp>
        <p:nvSpPr>
          <p:cNvPr id="5" name="TextBox 4">
            <a:extLst>
              <a:ext uri="{FF2B5EF4-FFF2-40B4-BE49-F238E27FC236}">
                <a16:creationId xmlns:a16="http://schemas.microsoft.com/office/drawing/2014/main" id="{2DD056FE-19BD-731B-65FB-D588F6C2F5F7}"/>
              </a:ext>
            </a:extLst>
          </p:cNvPr>
          <p:cNvSpPr txBox="1"/>
          <p:nvPr/>
        </p:nvSpPr>
        <p:spPr>
          <a:xfrm>
            <a:off x="278289" y="1435397"/>
            <a:ext cx="4777492" cy="4862870"/>
          </a:xfrm>
          <a:prstGeom prst="rect">
            <a:avLst/>
          </a:prstGeom>
          <a:noFill/>
        </p:spPr>
        <p:txBody>
          <a:bodyPr wrap="square" rtlCol="0">
            <a:spAutoFit/>
          </a:bodyPr>
          <a:lstStyle/>
          <a:p>
            <a:pPr marL="342900" indent="-342900">
              <a:spcBef>
                <a:spcPts val="1200"/>
              </a:spcBef>
              <a:buFont typeface="Arial" panose="020B0604020202020204" pitchFamily="34" charset="0"/>
              <a:buChar char="•"/>
            </a:pPr>
            <a:r>
              <a:rPr lang="en-GB" sz="2000">
                <a:latin typeface="Calibri" panose="020F0502020204030204" pitchFamily="34" charset="0"/>
                <a:cs typeface="Calibri" panose="020F0502020204030204" pitchFamily="34" charset="0"/>
              </a:rPr>
              <a:t>Consumer wants are virtually </a:t>
            </a:r>
            <a:r>
              <a:rPr lang="en-GB" sz="2000" b="1">
                <a:latin typeface="Calibri" panose="020F0502020204030204" pitchFamily="34" charset="0"/>
                <a:cs typeface="Calibri" panose="020F0502020204030204" pitchFamily="34" charset="0"/>
              </a:rPr>
              <a:t>unlimited</a:t>
            </a:r>
          </a:p>
          <a:p>
            <a:pPr marL="342900" indent="-342900">
              <a:spcBef>
                <a:spcPts val="1200"/>
              </a:spcBef>
              <a:buFont typeface="Arial" panose="020B0604020202020204" pitchFamily="34" charset="0"/>
              <a:buChar char="•"/>
            </a:pPr>
            <a:r>
              <a:rPr lang="en-GB" sz="2000">
                <a:latin typeface="Calibri" panose="020F0502020204030204" pitchFamily="34" charset="0"/>
                <a:cs typeface="Calibri" panose="020F0502020204030204" pitchFamily="34" charset="0"/>
              </a:rPr>
              <a:t>For example:</a:t>
            </a:r>
          </a:p>
          <a:p>
            <a:pPr marL="800100" lvl="1" indent="-342900">
              <a:spcBef>
                <a:spcPts val="1200"/>
              </a:spcBef>
              <a:buFont typeface="Arial" panose="020B0604020202020204" pitchFamily="34" charset="0"/>
              <a:buChar char="•"/>
            </a:pPr>
            <a:r>
              <a:rPr lang="en-GB" sz="2000">
                <a:latin typeface="Calibri" panose="020F0502020204030204" pitchFamily="34" charset="0"/>
                <a:cs typeface="Calibri" panose="020F0502020204030204" pitchFamily="34" charset="0"/>
              </a:rPr>
              <a:t>A new car</a:t>
            </a:r>
          </a:p>
          <a:p>
            <a:pPr marL="800100" lvl="1" indent="-342900">
              <a:spcBef>
                <a:spcPts val="1200"/>
              </a:spcBef>
              <a:buFont typeface="Arial" panose="020B0604020202020204" pitchFamily="34" charset="0"/>
              <a:buChar char="•"/>
            </a:pPr>
            <a:r>
              <a:rPr lang="en-GB" sz="2000">
                <a:latin typeface="Calibri" panose="020F0502020204030204" pitchFamily="34" charset="0"/>
                <a:cs typeface="Calibri" panose="020F0502020204030204" pitchFamily="34" charset="0"/>
              </a:rPr>
              <a:t>More clothes</a:t>
            </a:r>
          </a:p>
          <a:p>
            <a:pPr marL="800100" lvl="1" indent="-342900">
              <a:spcBef>
                <a:spcPts val="1200"/>
              </a:spcBef>
              <a:buFont typeface="Arial" panose="020B0604020202020204" pitchFamily="34" charset="0"/>
              <a:buChar char="•"/>
            </a:pPr>
            <a:r>
              <a:rPr lang="en-GB" sz="2000">
                <a:latin typeface="Calibri" panose="020F0502020204030204" pitchFamily="34" charset="0"/>
                <a:cs typeface="Calibri" panose="020F0502020204030204" pitchFamily="34" charset="0"/>
              </a:rPr>
              <a:t>More holidays abroad</a:t>
            </a:r>
          </a:p>
          <a:p>
            <a:pPr marL="800100" lvl="1" indent="-342900">
              <a:spcBef>
                <a:spcPts val="1200"/>
              </a:spcBef>
              <a:buFont typeface="Arial" panose="020B0604020202020204" pitchFamily="34" charset="0"/>
              <a:buChar char="•"/>
            </a:pPr>
            <a:r>
              <a:rPr lang="en-GB" sz="2000">
                <a:latin typeface="Calibri" panose="020F0502020204030204" pitchFamily="34" charset="0"/>
                <a:cs typeface="Calibri" panose="020F0502020204030204" pitchFamily="34" charset="0"/>
              </a:rPr>
              <a:t>More leisure time</a:t>
            </a:r>
          </a:p>
          <a:p>
            <a:pPr marL="800100" lvl="1" indent="-342900">
              <a:spcBef>
                <a:spcPts val="1200"/>
              </a:spcBef>
              <a:buFont typeface="Arial" panose="020B0604020202020204" pitchFamily="34" charset="0"/>
              <a:buChar char="•"/>
            </a:pPr>
            <a:r>
              <a:rPr lang="en-GB" sz="2000">
                <a:latin typeface="Calibri" panose="020F0502020204030204" pitchFamily="34" charset="0"/>
                <a:cs typeface="Calibri" panose="020F0502020204030204" pitchFamily="34" charset="0"/>
              </a:rPr>
              <a:t>Faster medical treatment</a:t>
            </a:r>
          </a:p>
          <a:p>
            <a:pPr marL="342900" indent="-342900">
              <a:lnSpc>
                <a:spcPct val="100000"/>
              </a:lnSpc>
              <a:spcBef>
                <a:spcPts val="1200"/>
              </a:spcBef>
              <a:buFont typeface="Arial" panose="020B0604020202020204" pitchFamily="34" charset="0"/>
              <a:buChar char="•"/>
            </a:pPr>
            <a:r>
              <a:rPr lang="en-GB" sz="2000">
                <a:latin typeface="Calibri" panose="020F0502020204030204" pitchFamily="34" charset="0"/>
                <a:cs typeface="Calibri" panose="020F0502020204030204" pitchFamily="34" charset="0"/>
              </a:rPr>
              <a:t>Resources are </a:t>
            </a:r>
            <a:r>
              <a:rPr lang="en-GB" sz="2000" b="1">
                <a:latin typeface="Calibri" panose="020F0502020204030204" pitchFamily="34" charset="0"/>
                <a:cs typeface="Calibri" panose="020F0502020204030204" pitchFamily="34" charset="0"/>
              </a:rPr>
              <a:t>limited</a:t>
            </a:r>
          </a:p>
          <a:p>
            <a:pPr marL="800100" lvl="1" indent="-342900">
              <a:spcBef>
                <a:spcPts val="1200"/>
              </a:spcBef>
              <a:buFont typeface="Arial" panose="020B0604020202020204" pitchFamily="34" charset="0"/>
              <a:buChar char="•"/>
            </a:pPr>
            <a:r>
              <a:rPr lang="en-GB" sz="2000">
                <a:latin typeface="Calibri" panose="020F0502020204030204" pitchFamily="34" charset="0"/>
                <a:ea typeface="Times New Roman" panose="02020603050405020304" pitchFamily="18" charset="0"/>
                <a:cs typeface="Calibri" panose="020F0502020204030204" pitchFamily="34" charset="0"/>
              </a:rPr>
              <a:t>C</a:t>
            </a:r>
            <a:r>
              <a:rPr lang="en-GB" sz="2000">
                <a:effectLst/>
                <a:latin typeface="Calibri" panose="020F0502020204030204" pitchFamily="34" charset="0"/>
                <a:ea typeface="Times New Roman" panose="02020603050405020304" pitchFamily="18" charset="0"/>
                <a:cs typeface="Calibri" panose="020F0502020204030204" pitchFamily="34" charset="0"/>
              </a:rPr>
              <a:t>onsumers - limited time, information and income</a:t>
            </a:r>
          </a:p>
          <a:p>
            <a:pPr marL="800100" lvl="1" indent="-342900">
              <a:spcBef>
                <a:spcPts val="1200"/>
              </a:spcBef>
              <a:buFont typeface="Arial" panose="020B0604020202020204" pitchFamily="34" charset="0"/>
              <a:buChar char="•"/>
            </a:pPr>
            <a:r>
              <a:rPr lang="en-GB" sz="2000">
                <a:latin typeface="Calibri" panose="020F0502020204030204" pitchFamily="34" charset="0"/>
                <a:ea typeface="Times New Roman" panose="02020603050405020304" pitchFamily="18" charset="0"/>
                <a:cs typeface="Calibri" panose="020F0502020204030204" pitchFamily="34" charset="0"/>
              </a:rPr>
              <a:t>Producers</a:t>
            </a:r>
            <a:r>
              <a:rPr lang="en-GB" sz="2000">
                <a:effectLst/>
                <a:latin typeface="Calibri" panose="020F0502020204030204" pitchFamily="34" charset="0"/>
                <a:ea typeface="Times New Roman" panose="02020603050405020304" pitchFamily="18" charset="0"/>
                <a:cs typeface="Calibri" panose="020F0502020204030204" pitchFamily="34" charset="0"/>
              </a:rPr>
              <a:t> - limited resources</a:t>
            </a:r>
            <a:endParaRPr lang="en-GB"/>
          </a:p>
        </p:txBody>
      </p:sp>
      <p:sp>
        <p:nvSpPr>
          <p:cNvPr id="3" name="TextBox 2">
            <a:extLst>
              <a:ext uri="{FF2B5EF4-FFF2-40B4-BE49-F238E27FC236}">
                <a16:creationId xmlns:a16="http://schemas.microsoft.com/office/drawing/2014/main" id="{CEC23336-5848-7378-FC56-6BDC81DF14AF}"/>
              </a:ext>
            </a:extLst>
          </p:cNvPr>
          <p:cNvSpPr txBox="1"/>
          <p:nvPr/>
        </p:nvSpPr>
        <p:spPr>
          <a:xfrm>
            <a:off x="7878724" y="1451343"/>
            <a:ext cx="2371061" cy="400110"/>
          </a:xfrm>
          <a:prstGeom prst="rect">
            <a:avLst/>
          </a:prstGeom>
          <a:noFill/>
        </p:spPr>
        <p:txBody>
          <a:bodyPr wrap="square" rtlCol="0">
            <a:spAutoFit/>
          </a:bodyPr>
          <a:lstStyle/>
          <a:p>
            <a:r>
              <a:rPr lang="en-GB" sz="2000" b="1">
                <a:latin typeface="Calibri" panose="020F0502020204030204" pitchFamily="34" charset="0"/>
                <a:cs typeface="Calibri" panose="020F0502020204030204" pitchFamily="34" charset="0"/>
              </a:rPr>
              <a:t>Resources</a:t>
            </a:r>
          </a:p>
        </p:txBody>
      </p:sp>
      <p:sp>
        <p:nvSpPr>
          <p:cNvPr id="4" name="TextBox 3">
            <a:extLst>
              <a:ext uri="{FF2B5EF4-FFF2-40B4-BE49-F238E27FC236}">
                <a16:creationId xmlns:a16="http://schemas.microsoft.com/office/drawing/2014/main" id="{FF11B139-46B6-578C-BDF8-37D435174625}"/>
              </a:ext>
            </a:extLst>
          </p:cNvPr>
          <p:cNvSpPr txBox="1"/>
          <p:nvPr/>
        </p:nvSpPr>
        <p:spPr>
          <a:xfrm>
            <a:off x="6985596" y="5874492"/>
            <a:ext cx="3195084" cy="400110"/>
          </a:xfrm>
          <a:prstGeom prst="rect">
            <a:avLst/>
          </a:prstGeom>
          <a:noFill/>
        </p:spPr>
        <p:txBody>
          <a:bodyPr wrap="square" rtlCol="0">
            <a:spAutoFit/>
          </a:bodyPr>
          <a:lstStyle/>
          <a:p>
            <a:r>
              <a:rPr lang="en-GB" sz="2000">
                <a:latin typeface="Calibri" panose="020F0502020204030204" pitchFamily="34" charset="0"/>
                <a:ea typeface="Calibri" panose="020F0502020204030204" pitchFamily="34" charset="0"/>
                <a:cs typeface="Calibri" panose="020F0502020204030204" pitchFamily="34" charset="0"/>
              </a:rPr>
              <a:t>Importance of sustainability</a:t>
            </a:r>
          </a:p>
        </p:txBody>
      </p:sp>
    </p:spTree>
    <p:extLst>
      <p:ext uri="{BB962C8B-B14F-4D97-AF65-F5344CB8AC3E}">
        <p14:creationId xmlns:p14="http://schemas.microsoft.com/office/powerpoint/2010/main" val="143971780"/>
      </p:ext>
    </p:extLst>
  </p:cSld>
  <p:clrMapOvr>
    <a:masterClrMapping/>
  </p:clrMapOvr>
  <p:transition spd="slow">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838200" y="451003"/>
            <a:ext cx="10515600" cy="520142"/>
          </a:xfrm>
        </p:spPr>
        <p:txBody>
          <a:bodyPr>
            <a:normAutofit fontScale="90000"/>
          </a:bodyPr>
          <a:lstStyle/>
          <a:p>
            <a:pPr eaLnBrk="1" hangingPunct="1"/>
            <a:r>
              <a:rPr lang="en-GB">
                <a:cs typeface="Arial" charset="0"/>
              </a:rPr>
              <a:t>The Economic Problem</a:t>
            </a:r>
          </a:p>
        </p:txBody>
      </p:sp>
      <p:graphicFrame>
        <p:nvGraphicFramePr>
          <p:cNvPr id="6" name="Diagram 5"/>
          <p:cNvGraphicFramePr/>
          <p:nvPr/>
        </p:nvGraphicFramePr>
        <p:xfrm>
          <a:off x="1703512" y="760856"/>
          <a:ext cx="8784976" cy="44285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E19D082E-11C2-500F-C9C0-42FF2C671560}"/>
              </a:ext>
            </a:extLst>
          </p:cNvPr>
          <p:cNvSpPr txBox="1"/>
          <p:nvPr/>
        </p:nvSpPr>
        <p:spPr>
          <a:xfrm>
            <a:off x="1703512" y="4513520"/>
            <a:ext cx="9088535" cy="830997"/>
          </a:xfrm>
          <a:prstGeom prst="rect">
            <a:avLst/>
          </a:prstGeom>
          <a:noFill/>
        </p:spPr>
        <p:txBody>
          <a:bodyPr wrap="square" rtlCol="0">
            <a:spAutoFit/>
          </a:bodyPr>
          <a:lstStyle/>
          <a:p>
            <a:r>
              <a:rPr lang="en-GB" sz="2000">
                <a:latin typeface="Calibri" panose="020F0502020204030204" pitchFamily="34" charset="0"/>
                <a:cs typeface="Calibri" panose="020F0502020204030204" pitchFamily="34" charset="0"/>
              </a:rPr>
              <a:t>Scarcity is the excess of human wants over what can be produced to fulfil these wants. </a:t>
            </a:r>
          </a:p>
          <a:p>
            <a:endParaRPr lang="en-GB"/>
          </a:p>
        </p:txBody>
      </p:sp>
    </p:spTree>
    <p:extLst>
      <p:ext uri="{BB962C8B-B14F-4D97-AF65-F5344CB8AC3E}">
        <p14:creationId xmlns:p14="http://schemas.microsoft.com/office/powerpoint/2010/main" val="3365533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t>Tackling the problem of scarcity</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295840" y="1417675"/>
            <a:ext cx="11527563" cy="4889500"/>
          </a:xfrm>
        </p:spPr>
        <p:txBody>
          <a:bodyPr/>
          <a:lstStyle/>
          <a:p>
            <a:pPr>
              <a:lnSpc>
                <a:spcPct val="100000"/>
              </a:lnSpc>
              <a:spcBef>
                <a:spcPts val="1200"/>
              </a:spcBef>
            </a:pPr>
            <a:r>
              <a:rPr lang="en-GB" altLang="en-US" sz="2200">
                <a:latin typeface="Calibri" panose="020F0502020204030204" pitchFamily="34" charset="0"/>
                <a:cs typeface="Calibri" panose="020F0502020204030204" pitchFamily="34" charset="0"/>
              </a:rPr>
              <a:t>Tackling the problem of scarcity</a:t>
            </a:r>
          </a:p>
          <a:p>
            <a:pPr lvl="1">
              <a:lnSpc>
                <a:spcPct val="100000"/>
              </a:lnSpc>
              <a:spcBef>
                <a:spcPts val="1200"/>
              </a:spcBef>
            </a:pPr>
            <a:r>
              <a:rPr lang="en-GB" altLang="en-US" sz="2000">
                <a:latin typeface="Calibri" panose="020F0502020204030204" pitchFamily="34" charset="0"/>
                <a:cs typeface="Calibri" panose="020F0502020204030204" pitchFamily="34" charset="0"/>
              </a:rPr>
              <a:t>Scarcity - the excess of human wants over what can be produced. </a:t>
            </a:r>
          </a:p>
          <a:p>
            <a:pPr lvl="1">
              <a:lnSpc>
                <a:spcPct val="100000"/>
              </a:lnSpc>
              <a:spcBef>
                <a:spcPts val="1200"/>
              </a:spcBef>
            </a:pPr>
            <a:r>
              <a:rPr lang="en-GB" altLang="en-US" sz="2000">
                <a:latin typeface="Calibri" panose="020F0502020204030204" pitchFamily="34" charset="0"/>
                <a:cs typeface="Calibri" panose="020F0502020204030204" pitchFamily="34" charset="0"/>
              </a:rPr>
              <a:t>Because of scarcity, various choices must be made.</a:t>
            </a:r>
          </a:p>
          <a:p>
            <a:pPr lvl="1">
              <a:lnSpc>
                <a:spcPct val="100000"/>
              </a:lnSpc>
              <a:spcBef>
                <a:spcPts val="1200"/>
              </a:spcBef>
            </a:pPr>
            <a:r>
              <a:rPr lang="en-GB" altLang="en-US" sz="2000">
                <a:latin typeface="Calibri" panose="020F0502020204030204" pitchFamily="34" charset="0"/>
                <a:cs typeface="Calibri" panose="020F0502020204030204" pitchFamily="34" charset="0"/>
              </a:rPr>
              <a:t>We do not all face an equal problem of scarcity, but both rich and poor, want more than they can have.</a:t>
            </a:r>
          </a:p>
          <a:p>
            <a:pPr lvl="1">
              <a:lnSpc>
                <a:spcPct val="100000"/>
              </a:lnSpc>
              <a:spcBef>
                <a:spcPts val="1200"/>
              </a:spcBef>
            </a:pPr>
            <a:r>
              <a:rPr lang="en-GB" altLang="en-US" sz="2000">
                <a:latin typeface="Calibri" panose="020F0502020204030204" pitchFamily="34" charset="0"/>
                <a:cs typeface="Calibri" panose="020F0502020204030204" pitchFamily="34" charset="0"/>
              </a:rPr>
              <a:t>Two of the key elements in satisfying wants are therefore </a:t>
            </a:r>
            <a:r>
              <a:rPr lang="en-GB" altLang="en-US" sz="2000" i="1">
                <a:latin typeface="Calibri" panose="020F0502020204030204" pitchFamily="34" charset="0"/>
                <a:cs typeface="Calibri" panose="020F0502020204030204" pitchFamily="34" charset="0"/>
              </a:rPr>
              <a:t>consumption</a:t>
            </a:r>
            <a:r>
              <a:rPr lang="en-GB" altLang="en-US" sz="2000">
                <a:latin typeface="Calibri" panose="020F0502020204030204" pitchFamily="34" charset="0"/>
                <a:cs typeface="Calibri" panose="020F0502020204030204" pitchFamily="34" charset="0"/>
              </a:rPr>
              <a:t> and </a:t>
            </a:r>
            <a:r>
              <a:rPr lang="en-GB" altLang="en-US" sz="2000" i="1">
                <a:latin typeface="Calibri" panose="020F0502020204030204" pitchFamily="34" charset="0"/>
                <a:cs typeface="Calibri" panose="020F0502020204030204" pitchFamily="34" charset="0"/>
              </a:rPr>
              <a:t>production.</a:t>
            </a:r>
          </a:p>
          <a:p>
            <a:pPr lvl="1">
              <a:lnSpc>
                <a:spcPct val="100000"/>
              </a:lnSpc>
              <a:spcBef>
                <a:spcPts val="1200"/>
              </a:spcBef>
            </a:pPr>
            <a:r>
              <a:rPr lang="en-GB" altLang="en-US" sz="2000" b="1">
                <a:latin typeface="Calibri" panose="020F0502020204030204" pitchFamily="34" charset="0"/>
                <a:cs typeface="Calibri" panose="020F0502020204030204" pitchFamily="34" charset="0"/>
              </a:rPr>
              <a:t>Consumption</a:t>
            </a:r>
            <a:r>
              <a:rPr lang="en-GB" altLang="en-US" sz="2000">
                <a:latin typeface="Calibri" panose="020F0502020204030204" pitchFamily="34" charset="0"/>
                <a:cs typeface="Calibri" panose="020F0502020204030204" pitchFamily="34" charset="0"/>
              </a:rPr>
              <a:t> – economics studies how much the population spends; what the pattern of consumption is in the economy; and how much people buy of different items. </a:t>
            </a:r>
          </a:p>
          <a:p>
            <a:pPr lvl="1">
              <a:lnSpc>
                <a:spcPct val="100000"/>
              </a:lnSpc>
              <a:spcBef>
                <a:spcPts val="1200"/>
              </a:spcBef>
            </a:pPr>
            <a:r>
              <a:rPr lang="en-GB" altLang="en-US" sz="2000" b="1">
                <a:latin typeface="Calibri" panose="020F0502020204030204" pitchFamily="34" charset="0"/>
                <a:cs typeface="Calibri" panose="020F0502020204030204" pitchFamily="34" charset="0"/>
              </a:rPr>
              <a:t>Production</a:t>
            </a:r>
            <a:r>
              <a:rPr lang="en-GB" altLang="en-US" sz="2000">
                <a:latin typeface="Calibri" panose="020F0502020204030204" pitchFamily="34" charset="0"/>
                <a:cs typeface="Calibri" panose="020F0502020204030204" pitchFamily="34" charset="0"/>
              </a:rPr>
              <a:t> – economics studies how much the economy produces in total; what influences the rate of growth of production; and why the production of some goods increases, and the production of others falls.</a:t>
            </a:r>
          </a:p>
          <a:p>
            <a:pPr marL="457200" lvl="1" indent="0">
              <a:lnSpc>
                <a:spcPct val="100000"/>
              </a:lnSpc>
              <a:spcBef>
                <a:spcPts val="1200"/>
              </a:spcBef>
              <a:buNone/>
            </a:pPr>
            <a:r>
              <a:rPr lang="en-GB" altLang="en-US" sz="2000">
                <a:latin typeface="Calibri" panose="020F0502020204030204" pitchFamily="34" charset="0"/>
                <a:cs typeface="Calibri" panose="020F0502020204030204" pitchFamily="34" charset="0"/>
              </a:rPr>
              <a:t>We will be studying the way in which firms use their resources to produce goods and services and how consumers make their choices given the constraints they face.</a:t>
            </a:r>
          </a:p>
        </p:txBody>
      </p:sp>
    </p:spTree>
    <p:extLst>
      <p:ext uri="{BB962C8B-B14F-4D97-AF65-F5344CB8AC3E}">
        <p14:creationId xmlns:p14="http://schemas.microsoft.com/office/powerpoint/2010/main" val="2004430592"/>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p:tgtEl>
                                          <p:spTgt spid="3840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3">
                                            <p:txEl>
                                              <p:pRg st="1" end="1"/>
                                            </p:txEl>
                                          </p:spTgt>
                                        </p:tgtEl>
                                        <p:attrNameLst>
                                          <p:attrName>style.visibility</p:attrName>
                                        </p:attrNameLst>
                                      </p:cBhvr>
                                      <p:to>
                                        <p:strVal val="visible"/>
                                      </p:to>
                                    </p:set>
                                    <p:anim calcmode="lin" valueType="num">
                                      <p:cBhvr additive="base">
                                        <p:cTn id="13" dur="500"/>
                                        <p:tgtEl>
                                          <p:spTgt spid="38400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3">
                                            <p:txEl>
                                              <p:pRg st="2" end="2"/>
                                            </p:txEl>
                                          </p:spTgt>
                                        </p:tgtEl>
                                        <p:attrNameLst>
                                          <p:attrName>style.visibility</p:attrName>
                                        </p:attrNameLst>
                                      </p:cBhvr>
                                      <p:to>
                                        <p:strVal val="visible"/>
                                      </p:to>
                                    </p:set>
                                    <p:anim calcmode="lin" valueType="num">
                                      <p:cBhvr additive="base">
                                        <p:cTn id="19" dur="500"/>
                                        <p:tgtEl>
                                          <p:spTgt spid="38400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4003">
                                            <p:txEl>
                                              <p:pRg st="3" end="3"/>
                                            </p:txEl>
                                          </p:spTgt>
                                        </p:tgtEl>
                                        <p:attrNameLst>
                                          <p:attrName>style.visibility</p:attrName>
                                        </p:attrNameLst>
                                      </p:cBhvr>
                                      <p:to>
                                        <p:strVal val="visible"/>
                                      </p:to>
                                    </p:set>
                                    <p:anim calcmode="lin" valueType="num">
                                      <p:cBhvr additive="base">
                                        <p:cTn id="25" dur="500"/>
                                        <p:tgtEl>
                                          <p:spTgt spid="38400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400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4003">
                                            <p:txEl>
                                              <p:pRg st="4" end="4"/>
                                            </p:txEl>
                                          </p:spTgt>
                                        </p:tgtEl>
                                        <p:attrNameLst>
                                          <p:attrName>style.visibility</p:attrName>
                                        </p:attrNameLst>
                                      </p:cBhvr>
                                      <p:to>
                                        <p:strVal val="visible"/>
                                      </p:to>
                                    </p:set>
                                    <p:anim calcmode="lin" valueType="num">
                                      <p:cBhvr additive="base">
                                        <p:cTn id="31" dur="500"/>
                                        <p:tgtEl>
                                          <p:spTgt spid="38400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40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4003">
                                            <p:txEl>
                                              <p:pRg st="5" end="5"/>
                                            </p:txEl>
                                          </p:spTgt>
                                        </p:tgtEl>
                                        <p:attrNameLst>
                                          <p:attrName>style.visibility</p:attrName>
                                        </p:attrNameLst>
                                      </p:cBhvr>
                                      <p:to>
                                        <p:strVal val="visible"/>
                                      </p:to>
                                    </p:set>
                                    <p:anim calcmode="lin" valueType="num">
                                      <p:cBhvr additive="base">
                                        <p:cTn id="37" dur="500"/>
                                        <p:tgtEl>
                                          <p:spTgt spid="38400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400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4003">
                                            <p:txEl>
                                              <p:pRg st="6" end="6"/>
                                            </p:txEl>
                                          </p:spTgt>
                                        </p:tgtEl>
                                        <p:attrNameLst>
                                          <p:attrName>style.visibility</p:attrName>
                                        </p:attrNameLst>
                                      </p:cBhvr>
                                      <p:to>
                                        <p:strVal val="visible"/>
                                      </p:to>
                                    </p:set>
                                    <p:anim calcmode="lin" valueType="num">
                                      <p:cBhvr additive="base">
                                        <p:cTn id="43" dur="500"/>
                                        <p:tgtEl>
                                          <p:spTgt spid="38400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400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84003">
                                            <p:txEl>
                                              <p:pRg st="7" end="7"/>
                                            </p:txEl>
                                          </p:spTgt>
                                        </p:tgtEl>
                                        <p:attrNameLst>
                                          <p:attrName>style.visibility</p:attrName>
                                        </p:attrNameLst>
                                      </p:cBhvr>
                                      <p:to>
                                        <p:strVal val="visible"/>
                                      </p:to>
                                    </p:set>
                                    <p:anim calcmode="lin" valueType="num">
                                      <p:cBhvr additive="base">
                                        <p:cTn id="49" dur="500"/>
                                        <p:tgtEl>
                                          <p:spTgt spid="38400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840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bldLvl="4"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t>Microeconomics Choices</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p:txBody>
          <a:bodyPr>
            <a:normAutofit fontScale="92500" lnSpcReduction="10000"/>
          </a:bodyPr>
          <a:lstStyle/>
          <a:p>
            <a:pPr marL="0" indent="0">
              <a:lnSpc>
                <a:spcPct val="100000"/>
              </a:lnSpc>
              <a:spcBef>
                <a:spcPts val="1200"/>
              </a:spcBef>
              <a:buNone/>
            </a:pPr>
            <a:r>
              <a:rPr lang="en-GB" altLang="en-US" sz="2000">
                <a:latin typeface="Calibri" panose="020F0502020204030204" pitchFamily="34" charset="0"/>
                <a:cs typeface="Calibri" panose="020F0502020204030204" pitchFamily="34" charset="0"/>
              </a:rPr>
              <a:t>There are three main categories of choice that must be made in any society:</a:t>
            </a:r>
          </a:p>
          <a:p>
            <a:pPr>
              <a:lnSpc>
                <a:spcPct val="100000"/>
              </a:lnSpc>
              <a:spcBef>
                <a:spcPts val="1200"/>
              </a:spcBef>
            </a:pPr>
            <a:r>
              <a:rPr lang="en-GB" altLang="en-US" sz="2000" b="1">
                <a:latin typeface="Calibri" panose="020F0502020204030204" pitchFamily="34" charset="0"/>
                <a:cs typeface="Calibri" panose="020F0502020204030204" pitchFamily="34" charset="0"/>
              </a:rPr>
              <a:t>What</a:t>
            </a:r>
            <a:r>
              <a:rPr lang="en-GB" altLang="en-US" sz="2000">
                <a:latin typeface="Calibri" panose="020F0502020204030204" pitchFamily="34" charset="0"/>
                <a:cs typeface="Calibri" panose="020F0502020204030204" pitchFamily="34" charset="0"/>
              </a:rPr>
              <a:t> goods and services are going to be produced and in what quantities</a:t>
            </a:r>
          </a:p>
          <a:p>
            <a:pPr>
              <a:lnSpc>
                <a:spcPct val="100000"/>
              </a:lnSpc>
              <a:spcBef>
                <a:spcPts val="1200"/>
              </a:spcBef>
            </a:pPr>
            <a:r>
              <a:rPr lang="en-GB" altLang="en-US" sz="2000" b="1">
                <a:latin typeface="Calibri" panose="020F0502020204030204" pitchFamily="34" charset="0"/>
                <a:cs typeface="Calibri" panose="020F0502020204030204" pitchFamily="34" charset="0"/>
              </a:rPr>
              <a:t>How</a:t>
            </a:r>
            <a:r>
              <a:rPr lang="en-GB" altLang="en-US" sz="2000">
                <a:latin typeface="Calibri" panose="020F0502020204030204" pitchFamily="34" charset="0"/>
                <a:cs typeface="Calibri" panose="020F0502020204030204" pitchFamily="34" charset="0"/>
              </a:rPr>
              <a:t> are things going to be produced</a:t>
            </a:r>
          </a:p>
          <a:p>
            <a:pPr>
              <a:lnSpc>
                <a:spcPct val="100000"/>
              </a:lnSpc>
              <a:spcBef>
                <a:spcPts val="1200"/>
              </a:spcBef>
            </a:pPr>
            <a:r>
              <a:rPr lang="en-GB" altLang="en-US" sz="2000" b="1">
                <a:latin typeface="Calibri" panose="020F0502020204030204" pitchFamily="34" charset="0"/>
                <a:cs typeface="Calibri" panose="020F0502020204030204" pitchFamily="34" charset="0"/>
              </a:rPr>
              <a:t>For whom </a:t>
            </a:r>
            <a:r>
              <a:rPr lang="en-GB" altLang="en-US" sz="2000">
                <a:latin typeface="Calibri" panose="020F0502020204030204" pitchFamily="34" charset="0"/>
                <a:cs typeface="Calibri" panose="020F0502020204030204" pitchFamily="34" charset="0"/>
              </a:rPr>
              <a:t>are the things going to be produced? </a:t>
            </a:r>
          </a:p>
          <a:p>
            <a:pPr marL="0" indent="0">
              <a:lnSpc>
                <a:spcPct val="100000"/>
              </a:lnSpc>
              <a:spcBef>
                <a:spcPts val="1200"/>
              </a:spcBef>
              <a:buNone/>
            </a:pPr>
            <a:endParaRPr lang="en-GB" altLang="en-US" sz="2000">
              <a:latin typeface="Calibri" panose="020F0502020204030204" pitchFamily="34" charset="0"/>
              <a:cs typeface="Calibri" panose="020F0502020204030204" pitchFamily="34" charset="0"/>
            </a:endParaRPr>
          </a:p>
          <a:p>
            <a:pPr marL="0" indent="0">
              <a:lnSpc>
                <a:spcPct val="100000"/>
              </a:lnSpc>
              <a:spcBef>
                <a:spcPts val="0"/>
              </a:spcBef>
              <a:spcAft>
                <a:spcPts val="600"/>
              </a:spcAft>
              <a:buNone/>
            </a:pPr>
            <a:r>
              <a:rPr lang="en-GB" altLang="en-US" sz="2000">
                <a:latin typeface="Calibri" panose="020F0502020204030204" pitchFamily="34" charset="0"/>
                <a:cs typeface="Calibri" panose="020F0502020204030204" pitchFamily="34" charset="0"/>
              </a:rPr>
              <a:t>These choices can be seen as </a:t>
            </a:r>
            <a:r>
              <a:rPr lang="en-GB" altLang="en-US" sz="2000" b="1">
                <a:latin typeface="Calibri" panose="020F0502020204030204" pitchFamily="34" charset="0"/>
                <a:cs typeface="Calibri" panose="020F0502020204030204" pitchFamily="34" charset="0"/>
              </a:rPr>
              <a:t>microeconomic choices</a:t>
            </a:r>
            <a:r>
              <a:rPr lang="en-GB" altLang="en-US" sz="2000">
                <a:latin typeface="Calibri" panose="020F0502020204030204" pitchFamily="34" charset="0"/>
                <a:cs typeface="Calibri" panose="020F0502020204030204" pitchFamily="34" charset="0"/>
              </a:rPr>
              <a:t>, since they are concerned not with the total amount of national output, but with the individual goods and services that make it up.</a:t>
            </a:r>
          </a:p>
          <a:p>
            <a:pPr marL="0" indent="0">
              <a:lnSpc>
                <a:spcPct val="100000"/>
              </a:lnSpc>
              <a:spcBef>
                <a:spcPts val="1200"/>
              </a:spcBef>
              <a:buNone/>
            </a:pPr>
            <a:endParaRPr lang="en-GB" altLang="en-US" sz="1900">
              <a:latin typeface="Calibri" panose="020F0502020204030204" pitchFamily="34" charset="0"/>
              <a:cs typeface="Calibri" panose="020F0502020204030204" pitchFamily="34" charset="0"/>
            </a:endParaRPr>
          </a:p>
          <a:p>
            <a:pPr marL="0" indent="0">
              <a:lnSpc>
                <a:spcPct val="100000"/>
              </a:lnSpc>
              <a:spcBef>
                <a:spcPts val="1200"/>
              </a:spcBef>
              <a:buNone/>
            </a:pPr>
            <a:r>
              <a:rPr lang="en-GB" altLang="en-US" sz="1900">
                <a:latin typeface="Calibri" panose="020F0502020204030204" pitchFamily="34" charset="0"/>
                <a:cs typeface="Calibri" panose="020F0502020204030204" pitchFamily="34" charset="0"/>
              </a:rPr>
              <a:t>Answers to these questions depends on type of political system</a:t>
            </a:r>
          </a:p>
          <a:p>
            <a:pPr>
              <a:lnSpc>
                <a:spcPct val="100000"/>
              </a:lnSpc>
              <a:spcBef>
                <a:spcPts val="1200"/>
              </a:spcBef>
            </a:pPr>
            <a:r>
              <a:rPr lang="en-GB" altLang="en-US" sz="1900">
                <a:latin typeface="Calibri" panose="020F0502020204030204" pitchFamily="34" charset="0"/>
                <a:cs typeface="Calibri" panose="020F0502020204030204" pitchFamily="34" charset="0"/>
              </a:rPr>
              <a:t>In a command economy, there is a central authority (part of government)</a:t>
            </a:r>
          </a:p>
          <a:p>
            <a:pPr>
              <a:lnSpc>
                <a:spcPct val="100000"/>
              </a:lnSpc>
              <a:spcBef>
                <a:spcPts val="1200"/>
              </a:spcBef>
            </a:pPr>
            <a:r>
              <a:rPr lang="en-GB" altLang="en-US" sz="1900">
                <a:latin typeface="Calibri" panose="020F0502020204030204" pitchFamily="34" charset="0"/>
                <a:cs typeface="Calibri" panose="020F0502020204030204" pitchFamily="34" charset="0"/>
              </a:rPr>
              <a:t>In a (free) market economy, market (buyers and sellers) makes decisions</a:t>
            </a:r>
          </a:p>
          <a:p>
            <a:pPr>
              <a:lnSpc>
                <a:spcPct val="100000"/>
              </a:lnSpc>
              <a:spcBef>
                <a:spcPts val="1200"/>
              </a:spcBef>
            </a:pPr>
            <a:r>
              <a:rPr lang="en-GB" altLang="en-US" sz="1900">
                <a:latin typeface="Calibri" panose="020F0502020204030204" pitchFamily="34" charset="0"/>
                <a:cs typeface="Calibri" panose="020F0502020204030204" pitchFamily="34" charset="0"/>
              </a:rPr>
              <a:t>In a mixed economy, there is a role for both markets and government</a:t>
            </a:r>
          </a:p>
        </p:txBody>
      </p:sp>
    </p:spTree>
    <p:extLst>
      <p:ext uri="{BB962C8B-B14F-4D97-AF65-F5344CB8AC3E}">
        <p14:creationId xmlns:p14="http://schemas.microsoft.com/office/powerpoint/2010/main" val="185907933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p:tgtEl>
                                          <p:spTgt spid="3840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3">
                                            <p:txEl>
                                              <p:pRg st="1" end="1"/>
                                            </p:txEl>
                                          </p:spTgt>
                                        </p:tgtEl>
                                        <p:attrNameLst>
                                          <p:attrName>style.visibility</p:attrName>
                                        </p:attrNameLst>
                                      </p:cBhvr>
                                      <p:to>
                                        <p:strVal val="visible"/>
                                      </p:to>
                                    </p:set>
                                    <p:anim calcmode="lin" valueType="num">
                                      <p:cBhvr additive="base">
                                        <p:cTn id="13" dur="500"/>
                                        <p:tgtEl>
                                          <p:spTgt spid="38400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3">
                                            <p:txEl>
                                              <p:pRg st="2" end="2"/>
                                            </p:txEl>
                                          </p:spTgt>
                                        </p:tgtEl>
                                        <p:attrNameLst>
                                          <p:attrName>style.visibility</p:attrName>
                                        </p:attrNameLst>
                                      </p:cBhvr>
                                      <p:to>
                                        <p:strVal val="visible"/>
                                      </p:to>
                                    </p:set>
                                    <p:anim calcmode="lin" valueType="num">
                                      <p:cBhvr additive="base">
                                        <p:cTn id="19" dur="500"/>
                                        <p:tgtEl>
                                          <p:spTgt spid="38400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4003">
                                            <p:txEl>
                                              <p:pRg st="3" end="3"/>
                                            </p:txEl>
                                          </p:spTgt>
                                        </p:tgtEl>
                                        <p:attrNameLst>
                                          <p:attrName>style.visibility</p:attrName>
                                        </p:attrNameLst>
                                      </p:cBhvr>
                                      <p:to>
                                        <p:strVal val="visible"/>
                                      </p:to>
                                    </p:set>
                                    <p:anim calcmode="lin" valueType="num">
                                      <p:cBhvr additive="base">
                                        <p:cTn id="25" dur="500"/>
                                        <p:tgtEl>
                                          <p:spTgt spid="38400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400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4003">
                                            <p:txEl>
                                              <p:pRg st="5" end="5"/>
                                            </p:txEl>
                                          </p:spTgt>
                                        </p:tgtEl>
                                        <p:attrNameLst>
                                          <p:attrName>style.visibility</p:attrName>
                                        </p:attrNameLst>
                                      </p:cBhvr>
                                      <p:to>
                                        <p:strVal val="visible"/>
                                      </p:to>
                                    </p:set>
                                    <p:anim calcmode="lin" valueType="num">
                                      <p:cBhvr additive="base">
                                        <p:cTn id="31" dur="500"/>
                                        <p:tgtEl>
                                          <p:spTgt spid="384003">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40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4003">
                                            <p:txEl>
                                              <p:pRg st="7" end="7"/>
                                            </p:txEl>
                                          </p:spTgt>
                                        </p:tgtEl>
                                        <p:attrNameLst>
                                          <p:attrName>style.visibility</p:attrName>
                                        </p:attrNameLst>
                                      </p:cBhvr>
                                      <p:to>
                                        <p:strVal val="visible"/>
                                      </p:to>
                                    </p:set>
                                    <p:anim calcmode="lin" valueType="num">
                                      <p:cBhvr additive="base">
                                        <p:cTn id="37" dur="500"/>
                                        <p:tgtEl>
                                          <p:spTgt spid="384003">
                                            <p:txEl>
                                              <p:pRg st="7" end="7"/>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400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4003">
                                            <p:txEl>
                                              <p:pRg st="8" end="8"/>
                                            </p:txEl>
                                          </p:spTgt>
                                        </p:tgtEl>
                                        <p:attrNameLst>
                                          <p:attrName>style.visibility</p:attrName>
                                        </p:attrNameLst>
                                      </p:cBhvr>
                                      <p:to>
                                        <p:strVal val="visible"/>
                                      </p:to>
                                    </p:set>
                                    <p:anim calcmode="lin" valueType="num">
                                      <p:cBhvr additive="base">
                                        <p:cTn id="43" dur="500"/>
                                        <p:tgtEl>
                                          <p:spTgt spid="384003">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400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84003">
                                            <p:txEl>
                                              <p:pRg st="9" end="9"/>
                                            </p:txEl>
                                          </p:spTgt>
                                        </p:tgtEl>
                                        <p:attrNameLst>
                                          <p:attrName>style.visibility</p:attrName>
                                        </p:attrNameLst>
                                      </p:cBhvr>
                                      <p:to>
                                        <p:strVal val="visible"/>
                                      </p:to>
                                    </p:set>
                                    <p:anim calcmode="lin" valueType="num">
                                      <p:cBhvr additive="base">
                                        <p:cTn id="49" dur="500"/>
                                        <p:tgtEl>
                                          <p:spTgt spid="384003">
                                            <p:txEl>
                                              <p:pRg st="9" end="9"/>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8400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84003">
                                            <p:txEl>
                                              <p:pRg st="10" end="10"/>
                                            </p:txEl>
                                          </p:spTgt>
                                        </p:tgtEl>
                                        <p:attrNameLst>
                                          <p:attrName>style.visibility</p:attrName>
                                        </p:attrNameLst>
                                      </p:cBhvr>
                                      <p:to>
                                        <p:strVal val="visible"/>
                                      </p:to>
                                    </p:set>
                                    <p:anim calcmode="lin" valueType="num">
                                      <p:cBhvr additive="base">
                                        <p:cTn id="55" dur="500"/>
                                        <p:tgtEl>
                                          <p:spTgt spid="384003">
                                            <p:txEl>
                                              <p:pRg st="10" end="10"/>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8400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bldLvl="4"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B17EC-AF2B-EC34-EDE3-B62C87EC028D}"/>
              </a:ext>
            </a:extLst>
          </p:cNvPr>
          <p:cNvSpPr>
            <a:spLocks noGrp="1"/>
          </p:cNvSpPr>
          <p:nvPr>
            <p:ph type="title"/>
          </p:nvPr>
        </p:nvSpPr>
        <p:spPr/>
        <p:txBody>
          <a:bodyPr/>
          <a:lstStyle/>
          <a:p>
            <a:endParaRPr lang="en-MY"/>
          </a:p>
        </p:txBody>
      </p:sp>
      <p:sp>
        <p:nvSpPr>
          <p:cNvPr id="4" name="Content Placeholder 3">
            <a:extLst>
              <a:ext uri="{FF2B5EF4-FFF2-40B4-BE49-F238E27FC236}">
                <a16:creationId xmlns:a16="http://schemas.microsoft.com/office/drawing/2014/main" id="{54E2E9BC-9013-D01E-12C3-9FD915C0BC78}"/>
              </a:ext>
            </a:extLst>
          </p:cNvPr>
          <p:cNvSpPr>
            <a:spLocks noGrp="1"/>
          </p:cNvSpPr>
          <p:nvPr>
            <p:ph idx="1"/>
          </p:nvPr>
        </p:nvSpPr>
        <p:spPr>
          <a:xfrm>
            <a:off x="838200" y="1433830"/>
            <a:ext cx="10515600" cy="4837222"/>
          </a:xfrm>
          <a:prstGeom prst="rect">
            <a:avLst/>
          </a:prstGeom>
        </p:spPr>
        <p:txBody>
          <a:bodyPr wrap="square">
            <a:spAutoFit/>
          </a:bodyPr>
          <a:lstStyle/>
          <a:p>
            <a:pPr>
              <a:spcAft>
                <a:spcPts val="1200"/>
              </a:spcAft>
            </a:pPr>
            <a:r>
              <a:rPr lang="en-GB" sz="2000" dirty="0">
                <a:latin typeface="Calibri" panose="020F0502020204030204" pitchFamily="34" charset="0"/>
                <a:cs typeface="Calibri" panose="020F0502020204030204" pitchFamily="34" charset="0"/>
              </a:rPr>
              <a:t>The problem of economics is </a:t>
            </a:r>
            <a:r>
              <a:rPr lang="en-GB" sz="2000" b="1" dirty="0">
                <a:latin typeface="Calibri" panose="020F0502020204030204" pitchFamily="34" charset="0"/>
                <a:cs typeface="Calibri" panose="020F0502020204030204" pitchFamily="34" charset="0"/>
              </a:rPr>
              <a:t>scarcity</a:t>
            </a:r>
            <a:r>
              <a:rPr lang="en-GB" sz="2000" dirty="0">
                <a:latin typeface="Calibri" panose="020F0502020204030204" pitchFamily="34" charset="0"/>
                <a:cs typeface="Calibri" panose="020F0502020204030204" pitchFamily="34" charset="0"/>
              </a:rPr>
              <a:t>, which creates trade-offs. </a:t>
            </a:r>
          </a:p>
          <a:p>
            <a:pPr>
              <a:spcAft>
                <a:spcPts val="1200"/>
              </a:spcAft>
            </a:pPr>
            <a:r>
              <a:rPr lang="en-GB" sz="2000" dirty="0">
                <a:latin typeface="Calibri" panose="020F0502020204030204" pitchFamily="34" charset="0"/>
                <a:cs typeface="Calibri" panose="020F0502020204030204" pitchFamily="34" charset="0"/>
              </a:rPr>
              <a:t>Wherever there is scarcity we must make </a:t>
            </a:r>
            <a:r>
              <a:rPr lang="en-GB" sz="2000" b="1" dirty="0">
                <a:latin typeface="Calibri" panose="020F0502020204030204" pitchFamily="34" charset="0"/>
                <a:cs typeface="Calibri" panose="020F0502020204030204" pitchFamily="34" charset="0"/>
              </a:rPr>
              <a:t>choices</a:t>
            </a:r>
            <a:r>
              <a:rPr lang="en-GB" sz="2000" dirty="0">
                <a:latin typeface="Calibri" panose="020F0502020204030204" pitchFamily="34" charset="0"/>
                <a:cs typeface="Calibri" panose="020F0502020204030204" pitchFamily="34" charset="0"/>
              </a:rPr>
              <a:t>. </a:t>
            </a:r>
          </a:p>
          <a:p>
            <a:pPr marL="342900" indent="-342900">
              <a:spcAft>
                <a:spcPts val="12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Opportunity cost </a:t>
            </a:r>
            <a:r>
              <a:rPr lang="en-GB" sz="2000" dirty="0">
                <a:latin typeface="Calibri" panose="020F0502020204030204" pitchFamily="34" charset="0"/>
                <a:cs typeface="Calibri" panose="020F0502020204030204" pitchFamily="34" charset="0"/>
              </a:rPr>
              <a:t>explains the relationship between scarcity and choice, it is what you must give up to get something else.</a:t>
            </a:r>
          </a:p>
          <a:p>
            <a:pPr marL="342900" indent="-342900">
              <a:spcAft>
                <a:spcPts val="1200"/>
              </a:spcAft>
              <a:buFont typeface="Arial" panose="020B0604020202020204" pitchFamily="34" charset="0"/>
              <a:buChar char="•"/>
            </a:pPr>
            <a:r>
              <a:rPr lang="en-GB" sz="2000" b="1" dirty="0">
                <a:latin typeface="Calibri" panose="020F0502020204030204" pitchFamily="34" charset="0"/>
                <a:cs typeface="Calibri" panose="020F0502020204030204" pitchFamily="34" charset="0"/>
              </a:rPr>
              <a:t>Opportunity cost is the next best alternative foregone </a:t>
            </a:r>
            <a:r>
              <a:rPr lang="en-GB" sz="2000" dirty="0">
                <a:latin typeface="Calibri" panose="020F0502020204030204" pitchFamily="34" charset="0"/>
                <a:cs typeface="Calibri" panose="020F0502020204030204" pitchFamily="34" charset="0"/>
              </a:rPr>
              <a:t>- t</a:t>
            </a:r>
            <a:r>
              <a:rPr lang="en-GB" altLang="en-US" sz="2000" dirty="0">
                <a:latin typeface="Calibri" panose="020F0502020204030204" pitchFamily="34" charset="0"/>
                <a:cs typeface="Calibri" panose="020F0502020204030204" pitchFamily="34" charset="0"/>
              </a:rPr>
              <a:t>he cost of any activity measured in terms of the sacrifice made in doing it.</a:t>
            </a:r>
          </a:p>
          <a:p>
            <a:pPr marL="0" indent="0">
              <a:spcAft>
                <a:spcPts val="1200"/>
              </a:spcAft>
              <a:buNone/>
            </a:pPr>
            <a:endParaRPr lang="en-GB" altLang="en-US" sz="2000" dirty="0">
              <a:latin typeface="Calibri" panose="020F0502020204030204" pitchFamily="34" charset="0"/>
              <a:cs typeface="Calibri" panose="020F0502020204030204" pitchFamily="34" charset="0"/>
            </a:endParaRPr>
          </a:p>
          <a:p>
            <a:pPr marL="0" indent="0">
              <a:spcAft>
                <a:spcPts val="1200"/>
              </a:spcAft>
              <a:buNone/>
            </a:pPr>
            <a:r>
              <a:rPr lang="en-GB" altLang="en-US" sz="2000" dirty="0">
                <a:latin typeface="Calibri" panose="020F0502020204030204" pitchFamily="34" charset="0"/>
                <a:cs typeface="Calibri" panose="020F0502020204030204" pitchFamily="34" charset="0"/>
              </a:rPr>
              <a:t>See: </a:t>
            </a:r>
            <a:r>
              <a:rPr lang="en-GB" altLang="en-US" sz="2000" dirty="0">
                <a:latin typeface="Calibri" panose="020F0502020204030204" pitchFamily="34" charset="0"/>
                <a:cs typeface="Calibri" panose="020F0502020204030204" pitchFamily="34" charset="0"/>
                <a:hlinkClick r:id="rId2"/>
              </a:rPr>
              <a:t>https://www.youtube.com/watch?v=BQQ1HFobVPQ</a:t>
            </a:r>
            <a:endParaRPr lang="en-GB" altLang="en-US" sz="2000" dirty="0">
              <a:latin typeface="Calibri" panose="020F0502020204030204" pitchFamily="34" charset="0"/>
              <a:cs typeface="Calibri" panose="020F0502020204030204" pitchFamily="34" charset="0"/>
            </a:endParaRPr>
          </a:p>
          <a:p>
            <a:pPr marL="0" indent="0">
              <a:spcAft>
                <a:spcPts val="1200"/>
              </a:spcAft>
              <a:buNone/>
            </a:pPr>
            <a:endParaRPr lang="en-GB" altLang="en-US" sz="2000" dirty="0">
              <a:latin typeface="Calibri" panose="020F0502020204030204" pitchFamily="34" charset="0"/>
              <a:cs typeface="Calibri" panose="020F0502020204030204" pitchFamily="34" charset="0"/>
            </a:endParaRPr>
          </a:p>
          <a:p>
            <a:pPr marL="342900" indent="-342900">
              <a:spcAft>
                <a:spcPts val="1200"/>
              </a:spcAft>
              <a:buFont typeface="Arial" panose="020B0604020202020204" pitchFamily="34" charset="0"/>
              <a:buChar char="•"/>
            </a:pPr>
            <a:endParaRPr lang="en-GB"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1717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838200" y="413789"/>
            <a:ext cx="10515600" cy="520142"/>
          </a:xfrm>
        </p:spPr>
        <p:txBody>
          <a:bodyPr>
            <a:normAutofit fontScale="90000"/>
          </a:bodyPr>
          <a:lstStyle/>
          <a:p>
            <a:r>
              <a:rPr lang="en-GB">
                <a:cs typeface="Arial" charset="0"/>
              </a:rPr>
              <a:t>Opportunity Cost</a:t>
            </a:r>
          </a:p>
        </p:txBody>
      </p:sp>
      <p:sp>
        <p:nvSpPr>
          <p:cNvPr id="2" name="Rectangle 1"/>
          <p:cNvSpPr/>
          <p:nvPr/>
        </p:nvSpPr>
        <p:spPr>
          <a:xfrm>
            <a:off x="520996" y="1584251"/>
            <a:ext cx="10428558" cy="1754326"/>
          </a:xfrm>
          <a:prstGeom prst="rect">
            <a:avLst/>
          </a:prstGeom>
        </p:spPr>
        <p:txBody>
          <a:bodyPr wrap="square">
            <a:spAutoFit/>
          </a:bodyPr>
          <a:lstStyle/>
          <a:p>
            <a:pPr>
              <a:spcAft>
                <a:spcPts val="1200"/>
              </a:spcAft>
            </a:pPr>
            <a:r>
              <a:rPr lang="en-GB" sz="2200">
                <a:latin typeface="Calibri" panose="020F0502020204030204" pitchFamily="34" charset="0"/>
                <a:cs typeface="Calibri" panose="020F0502020204030204" pitchFamily="34" charset="0"/>
              </a:rPr>
              <a:t>What are you sacrificing by choosing to study at university rather than taking a job that you have been offered?</a:t>
            </a:r>
          </a:p>
          <a:p>
            <a:pPr>
              <a:spcAft>
                <a:spcPts val="1200"/>
              </a:spcAft>
            </a:pPr>
            <a:endParaRPr lang="en-GB" sz="2200">
              <a:latin typeface="Calibri" panose="020F0502020204030204" pitchFamily="34" charset="0"/>
              <a:cs typeface="Calibri" panose="020F0502020204030204" pitchFamily="34" charset="0"/>
            </a:endParaRPr>
          </a:p>
          <a:p>
            <a:pPr>
              <a:spcAft>
                <a:spcPts val="1200"/>
              </a:spcAft>
            </a:pPr>
            <a:r>
              <a:rPr lang="en-GB" sz="2200">
                <a:highlight>
                  <a:srgbClr val="FFFF00"/>
                </a:highlight>
                <a:latin typeface="Calibri" panose="020F0502020204030204" pitchFamily="34" charset="0"/>
                <a:cs typeface="Calibri" panose="020F0502020204030204" pitchFamily="34" charset="0"/>
              </a:rPr>
              <a:t>Activity: write a list of the opportunity costs of being a student in higher education?</a:t>
            </a:r>
          </a:p>
        </p:txBody>
      </p:sp>
    </p:spTree>
    <p:extLst>
      <p:ext uri="{BB962C8B-B14F-4D97-AF65-F5344CB8AC3E}">
        <p14:creationId xmlns:p14="http://schemas.microsoft.com/office/powerpoint/2010/main" val="3279562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a:extLst>
              <a:ext uri="{FF2B5EF4-FFF2-40B4-BE49-F238E27FC236}">
                <a16:creationId xmlns:a16="http://schemas.microsoft.com/office/drawing/2014/main" id="{E23D1BC2-2963-4692-8647-E8B5CAC88EA8}"/>
              </a:ext>
            </a:extLst>
          </p:cNvPr>
          <p:cNvSpPr>
            <a:spLocks noGrp="1"/>
          </p:cNvSpPr>
          <p:nvPr>
            <p:ph type="title"/>
          </p:nvPr>
        </p:nvSpPr>
        <p:spPr/>
        <p:txBody>
          <a:bodyPr/>
          <a:lstStyle/>
          <a:p>
            <a:r>
              <a:rPr lang="en-GB" altLang="en-US">
                <a:latin typeface="Calibri" panose="020F0502020204030204" pitchFamily="34" charset="0"/>
                <a:cs typeface="Calibri" panose="020F0502020204030204" pitchFamily="34" charset="0"/>
              </a:rPr>
              <a:t>Opportunity Cost</a:t>
            </a:r>
          </a:p>
        </p:txBody>
      </p:sp>
      <p:sp>
        <p:nvSpPr>
          <p:cNvPr id="371715" name="Rectangle 3">
            <a:extLst>
              <a:ext uri="{FF2B5EF4-FFF2-40B4-BE49-F238E27FC236}">
                <a16:creationId xmlns:a16="http://schemas.microsoft.com/office/drawing/2014/main" id="{5C5E4FE8-1166-41C3-A6D8-913216FE4585}"/>
              </a:ext>
            </a:extLst>
          </p:cNvPr>
          <p:cNvSpPr>
            <a:spLocks noGrp="1"/>
          </p:cNvSpPr>
          <p:nvPr>
            <p:ph idx="1"/>
          </p:nvPr>
        </p:nvSpPr>
        <p:spPr>
          <a:xfrm>
            <a:off x="402167" y="1433625"/>
            <a:ext cx="11379200" cy="4889500"/>
          </a:xfrm>
        </p:spPr>
        <p:txBody>
          <a:bodyPr/>
          <a:lstStyle/>
          <a:p>
            <a:pPr>
              <a:spcBef>
                <a:spcPct val="40000"/>
              </a:spcBef>
            </a:pPr>
            <a:r>
              <a:rPr lang="en-GB" altLang="en-US" sz="2200" dirty="0">
                <a:latin typeface="Calibri" panose="020F0502020204030204" pitchFamily="34" charset="0"/>
                <a:cs typeface="Calibri" panose="020F0502020204030204" pitchFamily="34" charset="0"/>
              </a:rPr>
              <a:t>Opportunity cost for businesses</a:t>
            </a:r>
          </a:p>
          <a:p>
            <a:pPr lvl="1">
              <a:spcBef>
                <a:spcPct val="40000"/>
              </a:spcBef>
            </a:pPr>
            <a:r>
              <a:rPr lang="en-GB" altLang="en-US" sz="2200" dirty="0">
                <a:latin typeface="Calibri" panose="020F0502020204030204" pitchFamily="34" charset="0"/>
                <a:cs typeface="Calibri" panose="020F0502020204030204" pitchFamily="34" charset="0"/>
              </a:rPr>
              <a:t>Examples</a:t>
            </a:r>
          </a:p>
          <a:p>
            <a:pPr lvl="2">
              <a:spcBef>
                <a:spcPct val="40000"/>
              </a:spcBef>
            </a:pPr>
            <a:r>
              <a:rPr lang="en-GB" altLang="en-US" sz="2200" dirty="0">
                <a:latin typeface="Calibri" panose="020F0502020204030204" pitchFamily="34" charset="0"/>
                <a:cs typeface="Calibri" panose="020F0502020204030204" pitchFamily="34" charset="0"/>
              </a:rPr>
              <a:t>If a car manufacturer can produce 10 small saloon cars with the same amount of inputs as it takes to produce 6 large saloon cars – the opportunity cost of producing one small car is 0.6 of a large car.</a:t>
            </a:r>
          </a:p>
          <a:p>
            <a:pPr lvl="2">
              <a:spcBef>
                <a:spcPct val="40000"/>
              </a:spcBef>
            </a:pPr>
            <a:r>
              <a:rPr lang="en-GB" altLang="en-US" sz="2200" dirty="0">
                <a:latin typeface="Calibri" panose="020F0502020204030204" pitchFamily="34" charset="0"/>
                <a:cs typeface="Calibri" panose="020F0502020204030204" pitchFamily="34" charset="0"/>
              </a:rPr>
              <a:t>If a taxi and car hire firm uses its cars as taxis, then the opportunity cost includes not only the cost of employing taxi drivers and buying fuel, but also the sacrifice of rental income from hiring its vehicles out.</a:t>
            </a:r>
          </a:p>
          <a:p>
            <a:pPr marL="914400" lvl="2" indent="0">
              <a:spcBef>
                <a:spcPct val="40000"/>
              </a:spcBef>
              <a:buNone/>
            </a:pPr>
            <a:endParaRPr lang="en-GB" alt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48145504"/>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p:tgtEl>
                                          <p:spTgt spid="3717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5">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5">
                                            <p:txEl>
                                              <p:pRg st="1" end="1"/>
                                            </p:txEl>
                                          </p:spTgt>
                                        </p:tgtEl>
                                        <p:attrNameLst>
                                          <p:attrName>style.visibility</p:attrName>
                                        </p:attrNameLst>
                                      </p:cBhvr>
                                      <p:to>
                                        <p:strVal val="visible"/>
                                      </p:to>
                                    </p:set>
                                    <p:anim calcmode="lin" valueType="num">
                                      <p:cBhvr additive="base">
                                        <p:cTn id="13" dur="500"/>
                                        <p:tgtEl>
                                          <p:spTgt spid="37171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5">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71715">
                                            <p:txEl>
                                              <p:pRg st="2" end="2"/>
                                            </p:txEl>
                                          </p:spTgt>
                                        </p:tgtEl>
                                        <p:attrNameLst>
                                          <p:attrName>style.visibility</p:attrName>
                                        </p:attrNameLst>
                                      </p:cBhvr>
                                      <p:to>
                                        <p:strVal val="visible"/>
                                      </p:to>
                                    </p:set>
                                    <p:anim calcmode="lin" valueType="num">
                                      <p:cBhvr additive="base">
                                        <p:cTn id="17" dur="500"/>
                                        <p:tgtEl>
                                          <p:spTgt spid="371715">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71715">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71715">
                                            <p:txEl>
                                              <p:pRg st="3" end="3"/>
                                            </p:txEl>
                                          </p:spTgt>
                                        </p:tgtEl>
                                        <p:attrNameLst>
                                          <p:attrName>style.visibility</p:attrName>
                                        </p:attrNameLst>
                                      </p:cBhvr>
                                      <p:to>
                                        <p:strVal val="visible"/>
                                      </p:to>
                                    </p:set>
                                    <p:anim calcmode="lin" valueType="num">
                                      <p:cBhvr additive="base">
                                        <p:cTn id="21" dur="500"/>
                                        <p:tgtEl>
                                          <p:spTgt spid="371715">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717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bldLvl="2"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1714" name="Rectangle 2">
            <a:extLst>
              <a:ext uri="{FF2B5EF4-FFF2-40B4-BE49-F238E27FC236}">
                <a16:creationId xmlns:a16="http://schemas.microsoft.com/office/drawing/2014/main" id="{E23D1BC2-2963-4692-8647-E8B5CAC88EA8}"/>
              </a:ext>
            </a:extLst>
          </p:cNvPr>
          <p:cNvSpPr>
            <a:spLocks noGrp="1"/>
          </p:cNvSpPr>
          <p:nvPr>
            <p:ph type="title"/>
          </p:nvPr>
        </p:nvSpPr>
        <p:spPr/>
        <p:txBody>
          <a:bodyPr/>
          <a:lstStyle/>
          <a:p>
            <a:r>
              <a:rPr lang="en-GB" altLang="en-US" dirty="0">
                <a:latin typeface="Calibri" panose="020F0502020204030204" pitchFamily="34" charset="0"/>
                <a:cs typeface="Calibri" panose="020F0502020204030204" pitchFamily="34" charset="0"/>
              </a:rPr>
              <a:t>Self-test activity – try this on your own</a:t>
            </a:r>
          </a:p>
        </p:txBody>
      </p:sp>
      <p:sp>
        <p:nvSpPr>
          <p:cNvPr id="371715" name="Rectangle 3">
            <a:extLst>
              <a:ext uri="{FF2B5EF4-FFF2-40B4-BE49-F238E27FC236}">
                <a16:creationId xmlns:a16="http://schemas.microsoft.com/office/drawing/2014/main" id="{5C5E4FE8-1166-41C3-A6D8-913216FE4585}"/>
              </a:ext>
            </a:extLst>
          </p:cNvPr>
          <p:cNvSpPr>
            <a:spLocks noGrp="1"/>
          </p:cNvSpPr>
          <p:nvPr>
            <p:ph idx="1"/>
          </p:nvPr>
        </p:nvSpPr>
        <p:spPr>
          <a:xfrm>
            <a:off x="402167" y="1438938"/>
            <a:ext cx="11379200" cy="4961861"/>
          </a:xfrm>
        </p:spPr>
        <p:txBody>
          <a:bodyPr/>
          <a:lstStyle/>
          <a:p>
            <a:pPr>
              <a:lnSpc>
                <a:spcPct val="100000"/>
              </a:lnSpc>
              <a:spcBef>
                <a:spcPts val="1200"/>
              </a:spcBef>
            </a:pPr>
            <a:r>
              <a:rPr lang="en-GB" altLang="en-US" sz="2200" b="1" dirty="0">
                <a:latin typeface="Calibri" panose="020F0502020204030204" pitchFamily="34" charset="0"/>
                <a:cs typeface="Calibri" panose="020F0502020204030204" pitchFamily="34" charset="0"/>
              </a:rPr>
              <a:t>Measuring a firm’s opportunity costs</a:t>
            </a:r>
          </a:p>
          <a:p>
            <a:pPr lvl="1">
              <a:lnSpc>
                <a:spcPct val="100000"/>
              </a:lnSpc>
              <a:spcBef>
                <a:spcPts val="1200"/>
              </a:spcBef>
            </a:pPr>
            <a:r>
              <a:rPr lang="en-GB" altLang="en-US" sz="2200" dirty="0">
                <a:latin typeface="Calibri" panose="020F0502020204030204" pitchFamily="34" charset="0"/>
                <a:cs typeface="Calibri" panose="020F0502020204030204" pitchFamily="34" charset="0"/>
              </a:rPr>
              <a:t>Step 1. Discover which factors of production have been used</a:t>
            </a:r>
          </a:p>
          <a:p>
            <a:pPr lvl="2">
              <a:lnSpc>
                <a:spcPct val="100000"/>
              </a:lnSpc>
              <a:spcBef>
                <a:spcPts val="1200"/>
              </a:spcBef>
            </a:pPr>
            <a:r>
              <a:rPr lang="en-GB" altLang="en-US" sz="2200" dirty="0">
                <a:latin typeface="Calibri" panose="020F0502020204030204" pitchFamily="34" charset="0"/>
                <a:cs typeface="Calibri" panose="020F0502020204030204" pitchFamily="34" charset="0"/>
              </a:rPr>
              <a:t>Labour </a:t>
            </a:r>
          </a:p>
          <a:p>
            <a:pPr lvl="2">
              <a:lnSpc>
                <a:spcPct val="100000"/>
              </a:lnSpc>
              <a:spcBef>
                <a:spcPts val="1200"/>
              </a:spcBef>
            </a:pPr>
            <a:r>
              <a:rPr lang="en-GB" altLang="en-US" sz="2200" dirty="0">
                <a:latin typeface="Calibri" panose="020F0502020204030204" pitchFamily="34" charset="0"/>
                <a:cs typeface="Calibri" panose="020F0502020204030204" pitchFamily="34" charset="0"/>
              </a:rPr>
              <a:t>Land and raw materials </a:t>
            </a:r>
          </a:p>
          <a:p>
            <a:pPr lvl="2">
              <a:lnSpc>
                <a:spcPct val="100000"/>
              </a:lnSpc>
              <a:spcBef>
                <a:spcPts val="1200"/>
              </a:spcBef>
            </a:pPr>
            <a:r>
              <a:rPr lang="en-GB" altLang="en-US" sz="2200" dirty="0">
                <a:latin typeface="Calibri" panose="020F0502020204030204" pitchFamily="34" charset="0"/>
                <a:cs typeface="Calibri" panose="020F0502020204030204" pitchFamily="34" charset="0"/>
              </a:rPr>
              <a:t>Capital (consists of all those inputs that themselves have had to be produced in the first place, for e.g., factories, machines, transportation, and other equipment)</a:t>
            </a:r>
          </a:p>
          <a:p>
            <a:pPr lvl="2">
              <a:lnSpc>
                <a:spcPct val="100000"/>
              </a:lnSpc>
              <a:spcBef>
                <a:spcPts val="1200"/>
              </a:spcBef>
            </a:pPr>
            <a:r>
              <a:rPr lang="en-GB" altLang="en-US" sz="2200" dirty="0">
                <a:latin typeface="Calibri" panose="020F0502020204030204" pitchFamily="34" charset="0"/>
                <a:cs typeface="Calibri" panose="020F0502020204030204" pitchFamily="34" charset="0"/>
              </a:rPr>
              <a:t>Entrepreneurship (every ship needs someone at the wheel)</a:t>
            </a:r>
          </a:p>
          <a:p>
            <a:pPr marL="914400" lvl="2" indent="0">
              <a:lnSpc>
                <a:spcPct val="100000"/>
              </a:lnSpc>
              <a:spcBef>
                <a:spcPts val="1200"/>
              </a:spcBef>
              <a:buNone/>
            </a:pPr>
            <a:endParaRPr lang="en-GB" altLang="en-US" sz="2200" dirty="0">
              <a:latin typeface="Calibri" panose="020F0502020204030204" pitchFamily="34" charset="0"/>
              <a:cs typeface="Calibri" panose="020F0502020204030204" pitchFamily="34" charset="0"/>
            </a:endParaRPr>
          </a:p>
          <a:p>
            <a:pPr lvl="1">
              <a:lnSpc>
                <a:spcPct val="100000"/>
              </a:lnSpc>
              <a:spcBef>
                <a:spcPts val="1200"/>
              </a:spcBef>
            </a:pPr>
            <a:r>
              <a:rPr lang="en-GB" altLang="en-US" sz="2200" dirty="0">
                <a:latin typeface="Calibri" panose="020F0502020204030204" pitchFamily="34" charset="0"/>
                <a:cs typeface="Calibri" panose="020F0502020204030204" pitchFamily="34" charset="0"/>
              </a:rPr>
              <a:t>Step 2. Measure the sacrifice involved in using the them</a:t>
            </a:r>
          </a:p>
          <a:p>
            <a:pPr marL="457200" lvl="1" indent="0">
              <a:lnSpc>
                <a:spcPct val="100000"/>
              </a:lnSpc>
              <a:spcBef>
                <a:spcPts val="1200"/>
              </a:spcBef>
              <a:buNone/>
            </a:pPr>
            <a:endParaRPr lang="en-GB" alt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572693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anim calcmode="lin" valueType="num">
                                      <p:cBhvr additive="base">
                                        <p:cTn id="7" dur="500"/>
                                        <p:tgtEl>
                                          <p:spTgt spid="3717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7171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71715">
                                            <p:txEl>
                                              <p:pRg st="1" end="1"/>
                                            </p:txEl>
                                          </p:spTgt>
                                        </p:tgtEl>
                                        <p:attrNameLst>
                                          <p:attrName>style.visibility</p:attrName>
                                        </p:attrNameLst>
                                      </p:cBhvr>
                                      <p:to>
                                        <p:strVal val="visible"/>
                                      </p:to>
                                    </p:set>
                                    <p:anim calcmode="lin" valueType="num">
                                      <p:cBhvr additive="base">
                                        <p:cTn id="13" dur="500"/>
                                        <p:tgtEl>
                                          <p:spTgt spid="37171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71715">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71715">
                                            <p:txEl>
                                              <p:pRg st="2" end="2"/>
                                            </p:txEl>
                                          </p:spTgt>
                                        </p:tgtEl>
                                        <p:attrNameLst>
                                          <p:attrName>style.visibility</p:attrName>
                                        </p:attrNameLst>
                                      </p:cBhvr>
                                      <p:to>
                                        <p:strVal val="visible"/>
                                      </p:to>
                                    </p:set>
                                    <p:anim calcmode="lin" valueType="num">
                                      <p:cBhvr additive="base">
                                        <p:cTn id="17" dur="500"/>
                                        <p:tgtEl>
                                          <p:spTgt spid="371715">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71715">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71715">
                                            <p:txEl>
                                              <p:pRg st="3" end="3"/>
                                            </p:txEl>
                                          </p:spTgt>
                                        </p:tgtEl>
                                        <p:attrNameLst>
                                          <p:attrName>style.visibility</p:attrName>
                                        </p:attrNameLst>
                                      </p:cBhvr>
                                      <p:to>
                                        <p:strVal val="visible"/>
                                      </p:to>
                                    </p:set>
                                    <p:anim calcmode="lin" valueType="num">
                                      <p:cBhvr additive="base">
                                        <p:cTn id="21" dur="500"/>
                                        <p:tgtEl>
                                          <p:spTgt spid="371715">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71715">
                                            <p:txEl>
                                              <p:pRg st="3" end="3"/>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371715">
                                            <p:txEl>
                                              <p:pRg st="4" end="4"/>
                                            </p:txEl>
                                          </p:spTgt>
                                        </p:tgtEl>
                                        <p:attrNameLst>
                                          <p:attrName>style.visibility</p:attrName>
                                        </p:attrNameLst>
                                      </p:cBhvr>
                                      <p:to>
                                        <p:strVal val="visible"/>
                                      </p:to>
                                    </p:set>
                                    <p:anim calcmode="lin" valueType="num">
                                      <p:cBhvr additive="base">
                                        <p:cTn id="25" dur="500"/>
                                        <p:tgtEl>
                                          <p:spTgt spid="371715">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71715">
                                            <p:txEl>
                                              <p:pRg st="4" end="4"/>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371715">
                                            <p:txEl>
                                              <p:pRg st="5" end="5"/>
                                            </p:txEl>
                                          </p:spTgt>
                                        </p:tgtEl>
                                        <p:attrNameLst>
                                          <p:attrName>style.visibility</p:attrName>
                                        </p:attrNameLst>
                                      </p:cBhvr>
                                      <p:to>
                                        <p:strVal val="visible"/>
                                      </p:to>
                                    </p:set>
                                    <p:anim calcmode="lin" valueType="num">
                                      <p:cBhvr additive="base">
                                        <p:cTn id="29" dur="500"/>
                                        <p:tgtEl>
                                          <p:spTgt spid="371715">
                                            <p:txEl>
                                              <p:pRg st="5" end="5"/>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7171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71715">
                                            <p:txEl>
                                              <p:pRg st="7" end="7"/>
                                            </p:txEl>
                                          </p:spTgt>
                                        </p:tgtEl>
                                        <p:attrNameLst>
                                          <p:attrName>style.visibility</p:attrName>
                                        </p:attrNameLst>
                                      </p:cBhvr>
                                      <p:to>
                                        <p:strVal val="visible"/>
                                      </p:to>
                                    </p:set>
                                    <p:anim calcmode="lin" valueType="num">
                                      <p:cBhvr additive="base">
                                        <p:cTn id="35" dur="500"/>
                                        <p:tgtEl>
                                          <p:spTgt spid="371715">
                                            <p:txEl>
                                              <p:pRg st="7" end="7"/>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717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bldLvl="2"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t>Marginal costs and benefits</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50580"/>
            <a:ext cx="11379200" cy="4889500"/>
          </a:xfrm>
        </p:spPr>
        <p:txBody>
          <a:bodyPr/>
          <a:lstStyle/>
          <a:p>
            <a:pPr>
              <a:lnSpc>
                <a:spcPct val="100000"/>
              </a:lnSpc>
              <a:spcBef>
                <a:spcPts val="1200"/>
              </a:spcBef>
            </a:pPr>
            <a:r>
              <a:rPr lang="en-GB" altLang="en-US" sz="2200">
                <a:latin typeface="Calibri" panose="020F0502020204030204" pitchFamily="34" charset="0"/>
                <a:cs typeface="Calibri" panose="020F0502020204030204" pitchFamily="34" charset="0"/>
              </a:rPr>
              <a:t>The same principle applies to rational decisions made by consumers, workers and firms.</a:t>
            </a:r>
          </a:p>
          <a:p>
            <a:pPr lvl="1">
              <a:lnSpc>
                <a:spcPct val="100000"/>
              </a:lnSpc>
              <a:spcBef>
                <a:spcPts val="1200"/>
              </a:spcBef>
            </a:pPr>
            <a:r>
              <a:rPr lang="en-GB" altLang="en-US" sz="2200">
                <a:latin typeface="Calibri" panose="020F0502020204030204" pitchFamily="34" charset="0"/>
                <a:cs typeface="Calibri" panose="020F0502020204030204" pitchFamily="34" charset="0"/>
              </a:rPr>
              <a:t>For example, a car firm will weigh up the marginal costs and benefits of producing cars</a:t>
            </a:r>
          </a:p>
          <a:p>
            <a:pPr lvl="1">
              <a:lnSpc>
                <a:spcPct val="100000"/>
              </a:lnSpc>
              <a:spcBef>
                <a:spcPts val="1200"/>
              </a:spcBef>
            </a:pPr>
            <a:r>
              <a:rPr lang="en-GB" altLang="en-US" sz="2200">
                <a:latin typeface="Calibri" panose="020F0502020204030204" pitchFamily="34" charset="0"/>
                <a:cs typeface="Calibri" panose="020F0502020204030204" pitchFamily="34" charset="0"/>
              </a:rPr>
              <a:t>It will compare the costs and revenue of producing </a:t>
            </a:r>
            <a:r>
              <a:rPr lang="en-GB" altLang="en-US" sz="2200" i="1">
                <a:latin typeface="Calibri" panose="020F0502020204030204" pitchFamily="34" charset="0"/>
                <a:cs typeface="Calibri" panose="020F0502020204030204" pitchFamily="34" charset="0"/>
              </a:rPr>
              <a:t>additional</a:t>
            </a:r>
            <a:r>
              <a:rPr lang="en-GB" altLang="en-US" sz="2200">
                <a:latin typeface="Calibri" panose="020F0502020204030204" pitchFamily="34" charset="0"/>
                <a:cs typeface="Calibri" panose="020F0502020204030204" pitchFamily="34" charset="0"/>
              </a:rPr>
              <a:t> cars.</a:t>
            </a:r>
          </a:p>
          <a:p>
            <a:pPr lvl="1">
              <a:lnSpc>
                <a:spcPct val="100000"/>
              </a:lnSpc>
              <a:spcBef>
                <a:spcPts val="1200"/>
              </a:spcBef>
            </a:pPr>
            <a:r>
              <a:rPr lang="en-GB" altLang="en-US" sz="2200">
                <a:latin typeface="Calibri" panose="020F0502020204030204" pitchFamily="34" charset="0"/>
                <a:cs typeface="Calibri" panose="020F0502020204030204" pitchFamily="34" charset="0"/>
              </a:rPr>
              <a:t>If additional cars add more to the firm’s revenue than to its costs, it will be profitable to produce them.</a:t>
            </a:r>
          </a:p>
          <a:p>
            <a:pPr lvl="1">
              <a:lnSpc>
                <a:spcPct val="100000"/>
              </a:lnSpc>
              <a:spcBef>
                <a:spcPts val="1200"/>
              </a:spcBef>
            </a:pPr>
            <a:endParaRPr lang="en-GB" altLang="en-US" sz="2200">
              <a:latin typeface="Calibri" panose="020F0502020204030204" pitchFamily="34" charset="0"/>
              <a:cs typeface="Calibri" panose="020F0502020204030204" pitchFamily="34" charset="0"/>
            </a:endParaRPr>
          </a:p>
          <a:p>
            <a:pPr lvl="1">
              <a:lnSpc>
                <a:spcPct val="100000"/>
              </a:lnSpc>
              <a:spcBef>
                <a:spcPts val="1200"/>
              </a:spcBef>
            </a:pPr>
            <a:endParaRPr lang="en-GB" sz="22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68614300"/>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p:tgtEl>
                                          <p:spTgt spid="3840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3">
                                            <p:txEl>
                                              <p:pRg st="1" end="1"/>
                                            </p:txEl>
                                          </p:spTgt>
                                        </p:tgtEl>
                                        <p:attrNameLst>
                                          <p:attrName>style.visibility</p:attrName>
                                        </p:attrNameLst>
                                      </p:cBhvr>
                                      <p:to>
                                        <p:strVal val="visible"/>
                                      </p:to>
                                    </p:set>
                                    <p:anim calcmode="lin" valueType="num">
                                      <p:cBhvr additive="base">
                                        <p:cTn id="13" dur="500"/>
                                        <p:tgtEl>
                                          <p:spTgt spid="38400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3">
                                            <p:txEl>
                                              <p:pRg st="2" end="2"/>
                                            </p:txEl>
                                          </p:spTgt>
                                        </p:tgtEl>
                                        <p:attrNameLst>
                                          <p:attrName>style.visibility</p:attrName>
                                        </p:attrNameLst>
                                      </p:cBhvr>
                                      <p:to>
                                        <p:strVal val="visible"/>
                                      </p:to>
                                    </p:set>
                                    <p:anim calcmode="lin" valueType="num">
                                      <p:cBhvr additive="base">
                                        <p:cTn id="19" dur="500"/>
                                        <p:tgtEl>
                                          <p:spTgt spid="38400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4003">
                                            <p:txEl>
                                              <p:pRg st="3" end="3"/>
                                            </p:txEl>
                                          </p:spTgt>
                                        </p:tgtEl>
                                        <p:attrNameLst>
                                          <p:attrName>style.visibility</p:attrName>
                                        </p:attrNameLst>
                                      </p:cBhvr>
                                      <p:to>
                                        <p:strVal val="visible"/>
                                      </p:to>
                                    </p:set>
                                    <p:anim calcmode="lin" valueType="num">
                                      <p:cBhvr additive="base">
                                        <p:cTn id="25" dur="500"/>
                                        <p:tgtEl>
                                          <p:spTgt spid="38400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40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bldLvl="4"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205732" y="4508203"/>
            <a:ext cx="3259942" cy="1062999"/>
          </a:xfrm>
        </p:spPr>
        <p:txBody>
          <a:bodyPr>
            <a:normAutofit/>
          </a:bodyPr>
          <a:lstStyle/>
          <a:p>
            <a:r>
              <a:rPr lang="en-GB" sz="2600">
                <a:cs typeface="Arial" charset="0"/>
              </a:rPr>
              <a:t>Example: </a:t>
            </a:r>
            <a:br>
              <a:rPr lang="en-GB" sz="2600">
                <a:cs typeface="Arial" charset="0"/>
              </a:rPr>
            </a:br>
            <a:r>
              <a:rPr lang="en-GB" sz="2600">
                <a:cs typeface="Arial" charset="0"/>
              </a:rPr>
              <a:t>Airport Terminals</a:t>
            </a:r>
          </a:p>
        </p:txBody>
      </p:sp>
      <p:sp>
        <p:nvSpPr>
          <p:cNvPr id="29721" name="Rectangle 3"/>
          <p:cNvSpPr>
            <a:spLocks noGrp="1" noChangeArrowheads="1"/>
          </p:cNvSpPr>
          <p:nvPr>
            <p:ph idx="1"/>
          </p:nvPr>
        </p:nvSpPr>
        <p:spPr>
          <a:xfrm>
            <a:off x="5250106" y="4329321"/>
            <a:ext cx="6106742" cy="1645920"/>
          </a:xfrm>
        </p:spPr>
        <p:txBody>
          <a:bodyPr anchor="ctr">
            <a:noAutofit/>
          </a:bodyPr>
          <a:lstStyle/>
          <a:p>
            <a:r>
              <a:rPr lang="en-GB" sz="2000">
                <a:latin typeface="Calibri" panose="020F0502020204030204" pitchFamily="34" charset="0"/>
                <a:cs typeface="Calibri" panose="020F0502020204030204" pitchFamily="34" charset="0"/>
              </a:rPr>
              <a:t>Here is the extra daily benefit and costs that would be derived from adding successive terminals at an airport to increase passenger handling capacity</a:t>
            </a:r>
          </a:p>
          <a:p>
            <a:r>
              <a:rPr lang="en-GB" sz="2000" b="1">
                <a:highlight>
                  <a:srgbClr val="FFFF00"/>
                </a:highlight>
                <a:latin typeface="Calibri" panose="020F0502020204030204" pitchFamily="34" charset="0"/>
                <a:cs typeface="Calibri" panose="020F0502020204030204" pitchFamily="34" charset="0"/>
              </a:rPr>
              <a:t>Activity: How many terminals should be added?</a:t>
            </a:r>
          </a:p>
        </p:txBody>
      </p:sp>
      <p:pic>
        <p:nvPicPr>
          <p:cNvPr id="2" name="Picture 1">
            <a:extLst>
              <a:ext uri="{FF2B5EF4-FFF2-40B4-BE49-F238E27FC236}">
                <a16:creationId xmlns:a16="http://schemas.microsoft.com/office/drawing/2014/main" id="{BFD72BD7-0A32-4057-8A5E-2831F6750B44}"/>
              </a:ext>
            </a:extLst>
          </p:cNvPr>
          <p:cNvPicPr>
            <a:picLocks noChangeAspect="1"/>
          </p:cNvPicPr>
          <p:nvPr/>
        </p:nvPicPr>
        <p:blipFill>
          <a:blip r:embed="rId3"/>
          <a:stretch>
            <a:fillRect/>
          </a:stretch>
        </p:blipFill>
        <p:spPr>
          <a:xfrm>
            <a:off x="681536" y="361910"/>
            <a:ext cx="5238893" cy="3483864"/>
          </a:xfrm>
          <a:prstGeom prst="rect">
            <a:avLst/>
          </a:prstGeom>
        </p:spPr>
      </p:pic>
      <p:graphicFrame>
        <p:nvGraphicFramePr>
          <p:cNvPr id="7" name="Group 80"/>
          <p:cNvGraphicFramePr>
            <a:graphicFrameLocks/>
          </p:cNvGraphicFramePr>
          <p:nvPr/>
        </p:nvGraphicFramePr>
        <p:xfrm>
          <a:off x="6198887" y="443611"/>
          <a:ext cx="5522977" cy="3311145"/>
        </p:xfrm>
        <a:graphic>
          <a:graphicData uri="http://schemas.openxmlformats.org/drawingml/2006/table">
            <a:tbl>
              <a:tblPr firstRow="1">
                <a:solidFill>
                  <a:srgbClr val="F2F2F2">
                    <a:alpha val="45098"/>
                  </a:srgbClr>
                </a:solidFill>
                <a:tableStyleId>{0E3FDE45-AF77-4B5C-9715-49D594BDF05E}</a:tableStyleId>
              </a:tblPr>
              <a:tblGrid>
                <a:gridCol w="1570468">
                  <a:extLst>
                    <a:ext uri="{9D8B030D-6E8A-4147-A177-3AD203B41FA5}">
                      <a16:colId xmlns:a16="http://schemas.microsoft.com/office/drawing/2014/main" val="20000"/>
                    </a:ext>
                  </a:extLst>
                </a:gridCol>
                <a:gridCol w="2116263">
                  <a:extLst>
                    <a:ext uri="{9D8B030D-6E8A-4147-A177-3AD203B41FA5}">
                      <a16:colId xmlns:a16="http://schemas.microsoft.com/office/drawing/2014/main" val="20001"/>
                    </a:ext>
                  </a:extLst>
                </a:gridCol>
                <a:gridCol w="1836246">
                  <a:extLst>
                    <a:ext uri="{9D8B030D-6E8A-4147-A177-3AD203B41FA5}">
                      <a16:colId xmlns:a16="http://schemas.microsoft.com/office/drawing/2014/main" val="20002"/>
                    </a:ext>
                  </a:extLst>
                </a:gridCol>
              </a:tblGrid>
              <a:tr h="881685">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100" b="0" u="none" strike="noStrike" cap="none" spc="0" normalizeH="0" baseline="0">
                          <a:ln>
                            <a:noFill/>
                          </a:ln>
                          <a:solidFill>
                            <a:schemeClr val="bg1"/>
                          </a:solidFill>
                          <a:effectLst/>
                          <a:latin typeface="+mn-lt"/>
                        </a:rPr>
                        <a:t>Terminal</a:t>
                      </a:r>
                      <a:endParaRPr kumimoji="0" lang="en-GB" sz="2100" b="0" i="0" u="none" strike="noStrike" cap="none" spc="0" normalizeH="0" baseline="0">
                        <a:ln>
                          <a:noFill/>
                        </a:ln>
                        <a:solidFill>
                          <a:schemeClr val="bg1"/>
                        </a:solidFill>
                        <a:effectLst/>
                        <a:latin typeface="+mn-lt"/>
                      </a:endParaRPr>
                    </a:p>
                  </a:txBody>
                  <a:tcPr marL="182248" marR="182248" marT="136686" marB="68343" anchor="ctr" horzOverflow="overflow">
                    <a:lnL w="12700" cmpd="sng">
                      <a:noFill/>
                    </a:lnL>
                    <a:lnR w="12700" cmpd="sng">
                      <a:noFill/>
                    </a:lnR>
                    <a:lnT w="19050" cap="flat" cmpd="sng" algn="ctr">
                      <a:noFill/>
                      <a:prstDash val="solid"/>
                    </a:lnT>
                    <a:lnB w="38100" cmpd="sng">
                      <a:noFill/>
                    </a:lnB>
                    <a:solidFill>
                      <a:schemeClr val="tx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100" b="0" u="none" strike="noStrike" cap="none" spc="0" normalizeH="0" baseline="0">
                          <a:ln>
                            <a:noFill/>
                          </a:ln>
                          <a:solidFill>
                            <a:schemeClr val="bg1"/>
                          </a:solidFill>
                          <a:effectLst/>
                          <a:latin typeface="+mn-lt"/>
                        </a:rPr>
                        <a:t>Additional Benefits ($M)</a:t>
                      </a:r>
                      <a:endParaRPr kumimoji="0" lang="en-GB" sz="2100" b="0" i="0" u="none" strike="noStrike" cap="none" spc="0" normalizeH="0" baseline="0">
                        <a:ln>
                          <a:noFill/>
                        </a:ln>
                        <a:solidFill>
                          <a:schemeClr val="bg1"/>
                        </a:solidFill>
                        <a:effectLst/>
                        <a:latin typeface="+mn-lt"/>
                      </a:endParaRPr>
                    </a:p>
                  </a:txBody>
                  <a:tcPr marL="182248" marR="182248" marT="136686" marB="68343" anchor="ctr" horzOverflow="overflow">
                    <a:lnL w="12700" cmpd="sng">
                      <a:noFill/>
                    </a:lnL>
                    <a:lnR w="12700" cmpd="sng">
                      <a:noFill/>
                    </a:lnR>
                    <a:lnT w="19050" cap="flat" cmpd="sng" algn="ctr">
                      <a:noFill/>
                      <a:prstDash val="solid"/>
                    </a:lnT>
                    <a:lnB w="38100" cmpd="sng">
                      <a:noFill/>
                    </a:lnB>
                    <a:solidFill>
                      <a:schemeClr val="tx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100" b="0" u="none" strike="noStrike" cap="none" spc="0" normalizeH="0" baseline="0">
                          <a:ln>
                            <a:noFill/>
                          </a:ln>
                          <a:solidFill>
                            <a:schemeClr val="bg1"/>
                          </a:solidFill>
                          <a:effectLst/>
                          <a:latin typeface="+mn-lt"/>
                        </a:rPr>
                        <a:t>Additional Costs ($M)</a:t>
                      </a:r>
                      <a:endParaRPr kumimoji="0" lang="en-GB" sz="2100" b="0" i="0" u="none" strike="noStrike" cap="none" spc="0" normalizeH="0" baseline="0">
                        <a:ln>
                          <a:noFill/>
                        </a:ln>
                        <a:solidFill>
                          <a:schemeClr val="bg1"/>
                        </a:solidFill>
                        <a:effectLst/>
                        <a:latin typeface="+mn-lt"/>
                      </a:endParaRPr>
                    </a:p>
                  </a:txBody>
                  <a:tcPr marL="182248" marR="182248" marT="136686" marB="68343" anchor="ctr" horzOverflow="overflow">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0000"/>
                  </a:ext>
                </a:extLst>
              </a:tr>
              <a:tr h="607365">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1</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38100" cmpd="sng">
                      <a:noFill/>
                    </a:lnT>
                    <a:lnB w="12700" cmpd="sng">
                      <a:noFill/>
                      <a:prstDash val="solid"/>
                    </a:lnB>
                    <a:solidFill>
                      <a:srgbClr val="F2F2F2">
                        <a:alpha val="45098"/>
                      </a:srgb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45</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38100" cmpd="sng">
                      <a:noFill/>
                    </a:lnT>
                    <a:lnB w="12700" cmpd="sng">
                      <a:noFill/>
                      <a:prstDash val="solid"/>
                    </a:lnB>
                    <a:solidFill>
                      <a:srgbClr val="F2F2F2">
                        <a:alpha val="45098"/>
                      </a:srgb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40</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38100" cmpd="sng">
                      <a:noFill/>
                    </a:lnT>
                    <a:lnB w="12700" cmpd="sng">
                      <a:noFill/>
                      <a:prstDash val="solid"/>
                    </a:lnB>
                    <a:solidFill>
                      <a:srgbClr val="F2F2F2">
                        <a:alpha val="45098"/>
                      </a:srgbClr>
                    </a:solidFill>
                  </a:tcPr>
                </a:tc>
                <a:extLst>
                  <a:ext uri="{0D108BD9-81ED-4DB2-BD59-A6C34878D82A}">
                    <a16:rowId xmlns:a16="http://schemas.microsoft.com/office/drawing/2014/main" val="10001"/>
                  </a:ext>
                </a:extLst>
              </a:tr>
              <a:tr h="607365">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2</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35</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25</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10002"/>
                  </a:ext>
                </a:extLst>
              </a:tr>
              <a:tr h="607365">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3</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25</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20</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10003"/>
                  </a:ext>
                </a:extLst>
              </a:tr>
              <a:tr h="607365">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4</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15</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Tx/>
                        <a:buFont typeface="Wingdings" pitchFamily="2" charset="2"/>
                        <a:buNone/>
                        <a:tabLst/>
                      </a:pPr>
                      <a:r>
                        <a:rPr kumimoji="0" lang="en-GB" sz="2400" u="none" strike="noStrike" cap="none" spc="0" normalizeH="0" baseline="0">
                          <a:ln>
                            <a:noFill/>
                          </a:ln>
                          <a:solidFill>
                            <a:schemeClr val="tx1"/>
                          </a:solidFill>
                          <a:effectLst/>
                          <a:latin typeface="+mn-lt"/>
                        </a:rPr>
                        <a:t>18</a:t>
                      </a:r>
                      <a:endParaRPr kumimoji="0" lang="en-GB" sz="2400" b="0" i="0" u="none" strike="noStrike" cap="none" spc="0" normalizeH="0" baseline="0">
                        <a:ln>
                          <a:noFill/>
                        </a:ln>
                        <a:solidFill>
                          <a:schemeClr val="tx1"/>
                        </a:solidFill>
                        <a:effectLst/>
                        <a:latin typeface="+mn-lt"/>
                      </a:endParaRPr>
                    </a:p>
                  </a:txBody>
                  <a:tcPr marL="182248" marR="182248" marT="136686" marB="68343" horzOverflow="overflow">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64037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t>Marginal costs and benefits</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838200" y="1458779"/>
            <a:ext cx="10515600" cy="4621628"/>
          </a:xfrm>
        </p:spPr>
        <p:txBody>
          <a:bodyPr>
            <a:normAutofit fontScale="92500"/>
          </a:bodyPr>
          <a:lstStyle/>
          <a:p>
            <a:pPr>
              <a:lnSpc>
                <a:spcPct val="100000"/>
              </a:lnSpc>
              <a:spcBef>
                <a:spcPts val="1200"/>
              </a:spcBef>
            </a:pPr>
            <a:r>
              <a:rPr lang="en-GB" sz="2000">
                <a:latin typeface="Calibri" panose="020F0502020204030204" pitchFamily="34" charset="0"/>
                <a:cs typeface="Calibri" panose="020F0502020204030204" pitchFamily="34" charset="0"/>
              </a:rPr>
              <a:t>In economics we argue that </a:t>
            </a:r>
            <a:r>
              <a:rPr lang="en-GB" sz="2000" b="1">
                <a:latin typeface="Calibri" panose="020F0502020204030204" pitchFamily="34" charset="0"/>
                <a:cs typeface="Calibri" panose="020F0502020204030204" pitchFamily="34" charset="0"/>
              </a:rPr>
              <a:t>rational choices </a:t>
            </a:r>
            <a:r>
              <a:rPr lang="en-GB" sz="2000">
                <a:latin typeface="Calibri" panose="020F0502020204030204" pitchFamily="34" charset="0"/>
                <a:cs typeface="Calibri" panose="020F0502020204030204" pitchFamily="34" charset="0"/>
              </a:rPr>
              <a:t>involve weighing up marginal costs and marginal benefits.</a:t>
            </a:r>
          </a:p>
          <a:p>
            <a:pPr>
              <a:lnSpc>
                <a:spcPct val="100000"/>
              </a:lnSpc>
              <a:spcBef>
                <a:spcPts val="1200"/>
              </a:spcBef>
            </a:pPr>
            <a:r>
              <a:rPr lang="en-GB" sz="2000">
                <a:latin typeface="Calibri" panose="020F0502020204030204" pitchFamily="34" charset="0"/>
                <a:cs typeface="Calibri" panose="020F0502020204030204" pitchFamily="34" charset="0"/>
              </a:rPr>
              <a:t>These are the costs and benefits of doing a little bit more or a little bit less of a specific activity.</a:t>
            </a:r>
          </a:p>
          <a:p>
            <a:pPr>
              <a:lnSpc>
                <a:spcPct val="100000"/>
              </a:lnSpc>
              <a:spcBef>
                <a:spcPts val="1200"/>
              </a:spcBef>
            </a:pPr>
            <a:r>
              <a:rPr lang="en-GB" sz="2000" b="1">
                <a:latin typeface="Calibri" panose="020F0502020204030204" pitchFamily="34" charset="0"/>
                <a:cs typeface="Calibri" panose="020F0502020204030204" pitchFamily="34" charset="0"/>
              </a:rPr>
              <a:t> </a:t>
            </a:r>
            <a:r>
              <a:rPr lang="en-GB" sz="2000">
                <a:latin typeface="Calibri" panose="020F0502020204030204" pitchFamily="34" charset="0"/>
                <a:cs typeface="Calibri" panose="020F0502020204030204" pitchFamily="34" charset="0"/>
              </a:rPr>
              <a:t>They can be contrasted with the </a:t>
            </a:r>
            <a:r>
              <a:rPr lang="en-GB" sz="2000" i="1">
                <a:latin typeface="Calibri" panose="020F0502020204030204" pitchFamily="34" charset="0"/>
                <a:cs typeface="Calibri" panose="020F0502020204030204" pitchFamily="34" charset="0"/>
              </a:rPr>
              <a:t>total </a:t>
            </a:r>
            <a:r>
              <a:rPr lang="en-GB" sz="2000">
                <a:latin typeface="Calibri" panose="020F0502020204030204" pitchFamily="34" charset="0"/>
                <a:cs typeface="Calibri" panose="020F0502020204030204" pitchFamily="34" charset="0"/>
              </a:rPr>
              <a:t>costs and benefits of the activity.</a:t>
            </a:r>
          </a:p>
          <a:p>
            <a:pPr lvl="1">
              <a:lnSpc>
                <a:spcPct val="100000"/>
              </a:lnSpc>
              <a:spcBef>
                <a:spcPts val="1200"/>
              </a:spcBef>
            </a:pPr>
            <a:r>
              <a:rPr lang="en-GB" sz="1900">
                <a:latin typeface="Calibri" panose="020F0502020204030204" pitchFamily="34" charset="0"/>
                <a:cs typeface="Calibri" panose="020F0502020204030204" pitchFamily="34" charset="0"/>
              </a:rPr>
              <a:t>For example, what time will you set the alarm for tomorrow morning? If you need to leave home at 8.30am, will you set the alarm for 7am? That will give you plenty of time to get ready, but it will mean a relatively short night’s sleep. So perhaps you will set it for 7.30am or even 8am, even if that means you will be rushed. </a:t>
            </a:r>
          </a:p>
          <a:p>
            <a:pPr lvl="1">
              <a:lnSpc>
                <a:spcPct val="100000"/>
              </a:lnSpc>
              <a:spcBef>
                <a:spcPts val="1200"/>
              </a:spcBef>
            </a:pPr>
            <a:r>
              <a:rPr lang="en-GB" sz="1900">
                <a:latin typeface="Calibri" panose="020F0502020204030204" pitchFamily="34" charset="0"/>
                <a:cs typeface="Calibri" panose="020F0502020204030204" pitchFamily="34" charset="0"/>
              </a:rPr>
              <a:t>To make a rational decision about what time to set your alarm for, you can weigh up the costs and benefits of </a:t>
            </a:r>
            <a:r>
              <a:rPr lang="en-GB" sz="1900" b="1">
                <a:latin typeface="Calibri" panose="020F0502020204030204" pitchFamily="34" charset="0"/>
                <a:cs typeface="Calibri" panose="020F0502020204030204" pitchFamily="34" charset="0"/>
              </a:rPr>
              <a:t>additional</a:t>
            </a:r>
            <a:r>
              <a:rPr lang="en-GB" sz="1900">
                <a:latin typeface="Calibri" panose="020F0502020204030204" pitchFamily="34" charset="0"/>
                <a:cs typeface="Calibri" panose="020F0502020204030204" pitchFamily="34" charset="0"/>
              </a:rPr>
              <a:t> sleep.</a:t>
            </a:r>
          </a:p>
          <a:p>
            <a:pPr lvl="1">
              <a:lnSpc>
                <a:spcPct val="100000"/>
              </a:lnSpc>
              <a:spcBef>
                <a:spcPts val="1200"/>
              </a:spcBef>
            </a:pPr>
            <a:r>
              <a:rPr lang="en-GB" sz="1900">
                <a:latin typeface="Calibri" panose="020F0502020204030204" pitchFamily="34" charset="0"/>
                <a:cs typeface="Calibri" panose="020F0502020204030204" pitchFamily="34" charset="0"/>
              </a:rPr>
              <a:t>Each extra minute in bed gives you more sleep (the </a:t>
            </a:r>
            <a:r>
              <a:rPr lang="en-GB" sz="1900" b="1">
                <a:latin typeface="Calibri" panose="020F0502020204030204" pitchFamily="34" charset="0"/>
                <a:cs typeface="Calibri" panose="020F0502020204030204" pitchFamily="34" charset="0"/>
              </a:rPr>
              <a:t>marginal benefit</a:t>
            </a:r>
            <a:r>
              <a:rPr lang="en-GB" sz="1900">
                <a:latin typeface="Calibri" panose="020F0502020204030204" pitchFamily="34" charset="0"/>
                <a:cs typeface="Calibri" panose="020F0502020204030204" pitchFamily="34" charset="0"/>
              </a:rPr>
              <a:t>) but makes you more rushed when you get up (the </a:t>
            </a:r>
            <a:r>
              <a:rPr lang="en-GB" sz="1900" b="1">
                <a:latin typeface="Calibri" panose="020F0502020204030204" pitchFamily="34" charset="0"/>
                <a:cs typeface="Calibri" panose="020F0502020204030204" pitchFamily="34" charset="0"/>
              </a:rPr>
              <a:t>marginal cost</a:t>
            </a:r>
            <a:r>
              <a:rPr lang="en-GB" sz="1900">
                <a:latin typeface="Calibri" panose="020F0502020204030204" pitchFamily="34" charset="0"/>
                <a:cs typeface="Calibri" panose="020F0502020204030204" pitchFamily="34" charset="0"/>
              </a:rPr>
              <a:t>).</a:t>
            </a:r>
          </a:p>
          <a:p>
            <a:pPr lvl="1">
              <a:lnSpc>
                <a:spcPct val="100000"/>
              </a:lnSpc>
              <a:spcBef>
                <a:spcPts val="1200"/>
              </a:spcBef>
            </a:pPr>
            <a:r>
              <a:rPr lang="en-GB" sz="1900">
                <a:latin typeface="Calibri" panose="020F0502020204030204" pitchFamily="34" charset="0"/>
                <a:cs typeface="Calibri" panose="020F0502020204030204" pitchFamily="34" charset="0"/>
              </a:rPr>
              <a:t>The decision is therefore, based on the costs and benefits of </a:t>
            </a:r>
            <a:r>
              <a:rPr lang="en-GB" sz="1900" i="1">
                <a:latin typeface="Calibri" panose="020F0502020204030204" pitchFamily="34" charset="0"/>
                <a:cs typeface="Calibri" panose="020F0502020204030204" pitchFamily="34" charset="0"/>
              </a:rPr>
              <a:t>extra</a:t>
            </a:r>
            <a:r>
              <a:rPr lang="en-GB" sz="1900">
                <a:latin typeface="Calibri" panose="020F0502020204030204" pitchFamily="34" charset="0"/>
                <a:cs typeface="Calibri" panose="020F0502020204030204" pitchFamily="34" charset="0"/>
              </a:rPr>
              <a:t> sleep, not on the </a:t>
            </a:r>
            <a:r>
              <a:rPr lang="en-GB" sz="1900" i="1">
                <a:latin typeface="Calibri" panose="020F0502020204030204" pitchFamily="34" charset="0"/>
                <a:cs typeface="Calibri" panose="020F0502020204030204" pitchFamily="34" charset="0"/>
              </a:rPr>
              <a:t>total</a:t>
            </a:r>
            <a:r>
              <a:rPr lang="en-GB" sz="1900">
                <a:latin typeface="Calibri" panose="020F0502020204030204" pitchFamily="34" charset="0"/>
                <a:cs typeface="Calibri" panose="020F0502020204030204" pitchFamily="34" charset="0"/>
              </a:rPr>
              <a:t> costs and benefits of a whole night’s sleep. </a:t>
            </a:r>
          </a:p>
        </p:txBody>
      </p:sp>
    </p:spTree>
    <p:extLst>
      <p:ext uri="{BB962C8B-B14F-4D97-AF65-F5344CB8AC3E}">
        <p14:creationId xmlns:p14="http://schemas.microsoft.com/office/powerpoint/2010/main" val="279670236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p:tgtEl>
                                          <p:spTgt spid="3840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3">
                                            <p:txEl>
                                              <p:pRg st="1" end="1"/>
                                            </p:txEl>
                                          </p:spTgt>
                                        </p:tgtEl>
                                        <p:attrNameLst>
                                          <p:attrName>style.visibility</p:attrName>
                                        </p:attrNameLst>
                                      </p:cBhvr>
                                      <p:to>
                                        <p:strVal val="visible"/>
                                      </p:to>
                                    </p:set>
                                    <p:anim calcmode="lin" valueType="num">
                                      <p:cBhvr additive="base">
                                        <p:cTn id="13" dur="500"/>
                                        <p:tgtEl>
                                          <p:spTgt spid="38400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3">
                                            <p:txEl>
                                              <p:pRg st="2" end="2"/>
                                            </p:txEl>
                                          </p:spTgt>
                                        </p:tgtEl>
                                        <p:attrNameLst>
                                          <p:attrName>style.visibility</p:attrName>
                                        </p:attrNameLst>
                                      </p:cBhvr>
                                      <p:to>
                                        <p:strVal val="visible"/>
                                      </p:to>
                                    </p:set>
                                    <p:anim calcmode="lin" valueType="num">
                                      <p:cBhvr additive="base">
                                        <p:cTn id="19" dur="500"/>
                                        <p:tgtEl>
                                          <p:spTgt spid="38400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4003">
                                            <p:txEl>
                                              <p:pRg st="3" end="3"/>
                                            </p:txEl>
                                          </p:spTgt>
                                        </p:tgtEl>
                                        <p:attrNameLst>
                                          <p:attrName>style.visibility</p:attrName>
                                        </p:attrNameLst>
                                      </p:cBhvr>
                                      <p:to>
                                        <p:strVal val="visible"/>
                                      </p:to>
                                    </p:set>
                                    <p:anim calcmode="lin" valueType="num">
                                      <p:cBhvr additive="base">
                                        <p:cTn id="25" dur="500"/>
                                        <p:tgtEl>
                                          <p:spTgt spid="38400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400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4003">
                                            <p:txEl>
                                              <p:pRg st="4" end="4"/>
                                            </p:txEl>
                                          </p:spTgt>
                                        </p:tgtEl>
                                        <p:attrNameLst>
                                          <p:attrName>style.visibility</p:attrName>
                                        </p:attrNameLst>
                                      </p:cBhvr>
                                      <p:to>
                                        <p:strVal val="visible"/>
                                      </p:to>
                                    </p:set>
                                    <p:anim calcmode="lin" valueType="num">
                                      <p:cBhvr additive="base">
                                        <p:cTn id="31" dur="500"/>
                                        <p:tgtEl>
                                          <p:spTgt spid="38400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40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4003">
                                            <p:txEl>
                                              <p:pRg st="5" end="5"/>
                                            </p:txEl>
                                          </p:spTgt>
                                        </p:tgtEl>
                                        <p:attrNameLst>
                                          <p:attrName>style.visibility</p:attrName>
                                        </p:attrNameLst>
                                      </p:cBhvr>
                                      <p:to>
                                        <p:strVal val="visible"/>
                                      </p:to>
                                    </p:set>
                                    <p:anim calcmode="lin" valueType="num">
                                      <p:cBhvr additive="base">
                                        <p:cTn id="37" dur="500"/>
                                        <p:tgtEl>
                                          <p:spTgt spid="38400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400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4003">
                                            <p:txEl>
                                              <p:pRg st="6" end="6"/>
                                            </p:txEl>
                                          </p:spTgt>
                                        </p:tgtEl>
                                        <p:attrNameLst>
                                          <p:attrName>style.visibility</p:attrName>
                                        </p:attrNameLst>
                                      </p:cBhvr>
                                      <p:to>
                                        <p:strVal val="visible"/>
                                      </p:to>
                                    </p:set>
                                    <p:anim calcmode="lin" valueType="num">
                                      <p:cBhvr additive="base">
                                        <p:cTn id="43" dur="500"/>
                                        <p:tgtEl>
                                          <p:spTgt spid="38400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400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bldLvl="4"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t>Marginal costs and benefits</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50580"/>
            <a:ext cx="11379200" cy="4889500"/>
          </a:xfrm>
        </p:spPr>
        <p:txBody>
          <a:bodyPr/>
          <a:lstStyle/>
          <a:p>
            <a:r>
              <a:rPr lang="en-GB" sz="2200">
                <a:latin typeface="Calibri" panose="020F0502020204030204" pitchFamily="34" charset="0"/>
                <a:cs typeface="Calibri" panose="020F0502020204030204" pitchFamily="34" charset="0"/>
              </a:rPr>
              <a:t>Opportunity cost and marginal analysis are both methods of resource allocation, and both assume that decision making is rational.</a:t>
            </a:r>
          </a:p>
          <a:p>
            <a:endParaRPr lang="en-GB" sz="2200">
              <a:latin typeface="Calibri" panose="020F0502020204030204" pitchFamily="34" charset="0"/>
              <a:cs typeface="Calibri" panose="020F0502020204030204" pitchFamily="34" charset="0"/>
            </a:endParaRPr>
          </a:p>
          <a:p>
            <a:r>
              <a:rPr lang="en-GB" sz="2200">
                <a:latin typeface="Calibri" panose="020F0502020204030204" pitchFamily="34" charset="0"/>
                <a:cs typeface="Calibri" panose="020F0502020204030204" pitchFamily="34" charset="0"/>
              </a:rPr>
              <a:t>This is not always the case - behavioural economics is a field of economics that combines psychological insights with economic theory to better understand how people make decisions.</a:t>
            </a:r>
          </a:p>
          <a:p>
            <a:pPr lvl="1"/>
            <a:r>
              <a:rPr lang="en-GB" sz="2000">
                <a:latin typeface="Calibri" panose="020F0502020204030204" pitchFamily="34" charset="0"/>
                <a:cs typeface="Calibri" panose="020F0502020204030204" pitchFamily="34" charset="0"/>
              </a:rPr>
              <a:t>The study of behavioural economics recognises that people do not always act in their own best interests or make decisions in a perfectly rational way, and that they are influenced by a variety of cognitive biases and emotional factors - for now, we will stick with rational decision making.</a:t>
            </a:r>
          </a:p>
          <a:p>
            <a:pPr marL="0" indent="0">
              <a:buNone/>
            </a:pPr>
            <a:endParaRPr lang="en-GB" sz="2200">
              <a:latin typeface="Calibri" panose="020F0502020204030204" pitchFamily="34" charset="0"/>
              <a:cs typeface="Calibri" panose="020F0502020204030204" pitchFamily="34" charset="0"/>
            </a:endParaRPr>
          </a:p>
          <a:p>
            <a:r>
              <a:rPr lang="en-GB" sz="2200">
                <a:latin typeface="Calibri" panose="020F0502020204030204" pitchFamily="34" charset="0"/>
                <a:cs typeface="Calibri" panose="020F0502020204030204" pitchFamily="34" charset="0"/>
              </a:rPr>
              <a:t>For now, we will assume that decision making is rational.</a:t>
            </a:r>
          </a:p>
          <a:p>
            <a:pPr marL="457200" lvl="1" indent="0">
              <a:lnSpc>
                <a:spcPct val="100000"/>
              </a:lnSpc>
              <a:spcBef>
                <a:spcPts val="1200"/>
              </a:spcBef>
              <a:buNone/>
            </a:pPr>
            <a:endParaRPr lang="en-GB" sz="2200">
              <a:latin typeface="Calibri" panose="020F0502020204030204" pitchFamily="34" charset="0"/>
              <a:cs typeface="Calibri" panose="020F0502020204030204" pitchFamily="34" charset="0"/>
            </a:endParaRPr>
          </a:p>
          <a:p>
            <a:pPr lvl="1">
              <a:lnSpc>
                <a:spcPct val="100000"/>
              </a:lnSpc>
              <a:spcBef>
                <a:spcPts val="1200"/>
              </a:spcBef>
            </a:pPr>
            <a:endParaRPr lang="en-GB" sz="22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9231386"/>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p:tgtEl>
                                          <p:spTgt spid="3840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3">
                                            <p:txEl>
                                              <p:pRg st="2" end="2"/>
                                            </p:txEl>
                                          </p:spTgt>
                                        </p:tgtEl>
                                        <p:attrNameLst>
                                          <p:attrName>style.visibility</p:attrName>
                                        </p:attrNameLst>
                                      </p:cBhvr>
                                      <p:to>
                                        <p:strVal val="visible"/>
                                      </p:to>
                                    </p:set>
                                    <p:anim calcmode="lin" valueType="num">
                                      <p:cBhvr additive="base">
                                        <p:cTn id="13" dur="500"/>
                                        <p:tgtEl>
                                          <p:spTgt spid="384003">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3">
                                            <p:txEl>
                                              <p:pRg st="3" end="3"/>
                                            </p:txEl>
                                          </p:spTgt>
                                        </p:tgtEl>
                                        <p:attrNameLst>
                                          <p:attrName>style.visibility</p:attrName>
                                        </p:attrNameLst>
                                      </p:cBhvr>
                                      <p:to>
                                        <p:strVal val="visible"/>
                                      </p:to>
                                    </p:set>
                                    <p:anim calcmode="lin" valueType="num">
                                      <p:cBhvr additive="base">
                                        <p:cTn id="19" dur="500"/>
                                        <p:tgtEl>
                                          <p:spTgt spid="384003">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4003">
                                            <p:txEl>
                                              <p:pRg st="5" end="5"/>
                                            </p:txEl>
                                          </p:spTgt>
                                        </p:tgtEl>
                                        <p:attrNameLst>
                                          <p:attrName>style.visibility</p:attrName>
                                        </p:attrNameLst>
                                      </p:cBhvr>
                                      <p:to>
                                        <p:strVal val="visible"/>
                                      </p:to>
                                    </p:set>
                                    <p:anim calcmode="lin" valueType="num">
                                      <p:cBhvr additive="base">
                                        <p:cTn id="25" dur="500"/>
                                        <p:tgtEl>
                                          <p:spTgt spid="384003">
                                            <p:txEl>
                                              <p:pRg st="5" end="5"/>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40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bldLvl="4"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dirty="0"/>
              <a:t>Sunk cost fallacy</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50580"/>
            <a:ext cx="11379200" cy="4889500"/>
          </a:xfrm>
        </p:spPr>
        <p:txBody>
          <a:bodyPr/>
          <a:lstStyle/>
          <a:p>
            <a:pPr lvl="1">
              <a:lnSpc>
                <a:spcPct val="100000"/>
              </a:lnSpc>
              <a:spcBef>
                <a:spcPts val="1200"/>
              </a:spcBef>
            </a:pPr>
            <a:endParaRPr lang="en-GB" sz="18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A0A4421-DB17-257B-2691-4649812DE18E}"/>
              </a:ext>
            </a:extLst>
          </p:cNvPr>
          <p:cNvSpPr txBox="1"/>
          <p:nvPr/>
        </p:nvSpPr>
        <p:spPr>
          <a:xfrm>
            <a:off x="1004543" y="1782011"/>
            <a:ext cx="9675628" cy="954107"/>
          </a:xfrm>
          <a:prstGeom prst="rect">
            <a:avLst/>
          </a:prstGeom>
          <a:noFill/>
        </p:spPr>
        <p:txBody>
          <a:bodyPr wrap="square">
            <a:spAutoFit/>
          </a:bodyPr>
          <a:lstStyle/>
          <a:p>
            <a:r>
              <a:rPr lang="en-GB" sz="2800" dirty="0"/>
              <a:t>Watch this: </a:t>
            </a:r>
            <a:r>
              <a:rPr lang="en-GB" sz="2800" dirty="0">
                <a:hlinkClick r:id="rId3"/>
              </a:rPr>
              <a:t>https://www.youtube.com/watch?v=jJajz9n9Oi4</a:t>
            </a:r>
            <a:endParaRPr lang="en-GB" sz="2800" dirty="0"/>
          </a:p>
          <a:p>
            <a:endParaRPr lang="en-GB" sz="2800" dirty="0"/>
          </a:p>
        </p:txBody>
      </p:sp>
    </p:spTree>
    <p:extLst>
      <p:ext uri="{BB962C8B-B14F-4D97-AF65-F5344CB8AC3E}">
        <p14:creationId xmlns:p14="http://schemas.microsoft.com/office/powerpoint/2010/main" val="2685493658"/>
      </p:ext>
    </p:extLst>
  </p:cSld>
  <p:clrMapOvr>
    <a:masterClrMapping/>
  </p:clrMapOvr>
  <p:transition spd="slow">
    <p:pull dir="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t>Microeconomics</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50580"/>
            <a:ext cx="11379200" cy="4889500"/>
          </a:xfrm>
        </p:spPr>
        <p:txBody>
          <a:bodyPr/>
          <a:lstStyle/>
          <a:p>
            <a:pPr>
              <a:lnSpc>
                <a:spcPct val="100000"/>
              </a:lnSpc>
              <a:spcBef>
                <a:spcPts val="1200"/>
              </a:spcBef>
            </a:pPr>
            <a:r>
              <a:rPr lang="en-GB" altLang="en-US" sz="2200">
                <a:latin typeface="Calibri" panose="020F0502020204030204" pitchFamily="34" charset="0"/>
                <a:cs typeface="Calibri" panose="020F0502020204030204" pitchFamily="34" charset="0"/>
              </a:rPr>
              <a:t>So far, we have focussed on microeconomics, and we will continue to do so for the next three weeks of lectures (and the first three tutorials).</a:t>
            </a:r>
          </a:p>
          <a:p>
            <a:pPr marL="0" indent="0">
              <a:lnSpc>
                <a:spcPct val="100000"/>
              </a:lnSpc>
              <a:spcBef>
                <a:spcPts val="1200"/>
              </a:spcBef>
              <a:buNone/>
            </a:pPr>
            <a:endParaRPr lang="en-GB" altLang="en-US" sz="2200">
              <a:latin typeface="Calibri" panose="020F0502020204030204" pitchFamily="34" charset="0"/>
              <a:cs typeface="Calibri" panose="020F0502020204030204" pitchFamily="34" charset="0"/>
            </a:endParaRPr>
          </a:p>
          <a:p>
            <a:pPr>
              <a:lnSpc>
                <a:spcPct val="100000"/>
              </a:lnSpc>
              <a:spcBef>
                <a:spcPts val="1200"/>
              </a:spcBef>
            </a:pPr>
            <a:r>
              <a:rPr lang="en-GB" altLang="en-US" sz="2200" b="1">
                <a:latin typeface="Calibri" panose="020F0502020204030204" pitchFamily="34" charset="0"/>
                <a:cs typeface="Calibri" panose="020F0502020204030204" pitchFamily="34" charset="0"/>
              </a:rPr>
              <a:t>Microeconomics</a:t>
            </a:r>
            <a:r>
              <a:rPr lang="en-GB" altLang="en-US" sz="2200">
                <a:latin typeface="Calibri" panose="020F0502020204030204" pitchFamily="34" charset="0"/>
                <a:cs typeface="Calibri" panose="020F0502020204030204" pitchFamily="34" charset="0"/>
              </a:rPr>
              <a:t> is the branch of economics that studies individual units (e.g., households, firms and industries). It studies the interrelationships between these units in determining the pattern of production and distribution of goods and services.</a:t>
            </a:r>
          </a:p>
          <a:p>
            <a:pPr marL="0" indent="0">
              <a:lnSpc>
                <a:spcPct val="100000"/>
              </a:lnSpc>
              <a:spcBef>
                <a:spcPts val="1200"/>
              </a:spcBef>
              <a:buNone/>
            </a:pPr>
            <a:endParaRPr lang="en-GB" altLang="en-US" sz="2200">
              <a:latin typeface="Calibri" panose="020F0502020204030204" pitchFamily="34" charset="0"/>
              <a:cs typeface="Calibri" panose="020F0502020204030204" pitchFamily="34" charset="0"/>
            </a:endParaRPr>
          </a:p>
          <a:p>
            <a:pPr>
              <a:lnSpc>
                <a:spcPct val="100000"/>
              </a:lnSpc>
              <a:spcBef>
                <a:spcPts val="1200"/>
              </a:spcBef>
            </a:pPr>
            <a:r>
              <a:rPr lang="en-GB" altLang="en-US" sz="2200">
                <a:latin typeface="Calibri" panose="020F0502020204030204" pitchFamily="34" charset="0"/>
                <a:cs typeface="Calibri" panose="020F0502020204030204" pitchFamily="34" charset="0"/>
              </a:rPr>
              <a:t>We will now have a quick glance at macroeconomics (just to introduce it).</a:t>
            </a:r>
          </a:p>
          <a:p>
            <a:pPr marL="0" indent="0">
              <a:lnSpc>
                <a:spcPct val="100000"/>
              </a:lnSpc>
              <a:spcBef>
                <a:spcPts val="1200"/>
              </a:spcBef>
              <a:buNone/>
            </a:pPr>
            <a:endParaRPr lang="en-GB" altLang="en-US" sz="22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sz="18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4921980"/>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p:tgtEl>
                                          <p:spTgt spid="3840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3">
                                            <p:txEl>
                                              <p:pRg st="2" end="2"/>
                                            </p:txEl>
                                          </p:spTgt>
                                        </p:tgtEl>
                                        <p:attrNameLst>
                                          <p:attrName>style.visibility</p:attrName>
                                        </p:attrNameLst>
                                      </p:cBhvr>
                                      <p:to>
                                        <p:strVal val="visible"/>
                                      </p:to>
                                    </p:set>
                                    <p:anim calcmode="lin" valueType="num">
                                      <p:cBhvr additive="base">
                                        <p:cTn id="13" dur="500"/>
                                        <p:tgtEl>
                                          <p:spTgt spid="384003">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3">
                                            <p:txEl>
                                              <p:pRg st="4" end="4"/>
                                            </p:txEl>
                                          </p:spTgt>
                                        </p:tgtEl>
                                        <p:attrNameLst>
                                          <p:attrName>style.visibility</p:attrName>
                                        </p:attrNameLst>
                                      </p:cBhvr>
                                      <p:to>
                                        <p:strVal val="visible"/>
                                      </p:to>
                                    </p:set>
                                    <p:anim calcmode="lin" valueType="num">
                                      <p:cBhvr additive="base">
                                        <p:cTn id="19" dur="500"/>
                                        <p:tgtEl>
                                          <p:spTgt spid="384003">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bldLvl="4"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t>Macroeconomics</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50580"/>
            <a:ext cx="11379200" cy="4889500"/>
          </a:xfrm>
        </p:spPr>
        <p:txBody>
          <a:bodyPr/>
          <a:lstStyle/>
          <a:p>
            <a:pPr>
              <a:lnSpc>
                <a:spcPct val="100000"/>
              </a:lnSpc>
              <a:spcBef>
                <a:spcPts val="1200"/>
              </a:spcBef>
            </a:pPr>
            <a:r>
              <a:rPr lang="en-GB" altLang="en-US" sz="2200">
                <a:latin typeface="Calibri" panose="020F0502020204030204" pitchFamily="34" charset="0"/>
                <a:cs typeface="Calibri" panose="020F0502020204030204" pitchFamily="34" charset="0"/>
              </a:rPr>
              <a:t>Because things are scarce, societies are concerned that their resources are being used as </a:t>
            </a:r>
            <a:r>
              <a:rPr lang="en-GB" altLang="en-US" sz="2200" i="1">
                <a:latin typeface="Calibri" panose="020F0502020204030204" pitchFamily="34" charset="0"/>
                <a:cs typeface="Calibri" panose="020F0502020204030204" pitchFamily="34" charset="0"/>
              </a:rPr>
              <a:t>fully as possible</a:t>
            </a:r>
            <a:r>
              <a:rPr lang="en-GB" altLang="en-US" sz="2200">
                <a:latin typeface="Calibri" panose="020F0502020204030204" pitchFamily="34" charset="0"/>
                <a:cs typeface="Calibri" panose="020F0502020204030204" pitchFamily="34" charset="0"/>
              </a:rPr>
              <a:t>, and that over time the national output should </a:t>
            </a:r>
            <a:r>
              <a:rPr lang="en-GB" altLang="en-US" sz="2200" i="1">
                <a:latin typeface="Calibri" panose="020F0502020204030204" pitchFamily="34" charset="0"/>
                <a:cs typeface="Calibri" panose="020F0502020204030204" pitchFamily="34" charset="0"/>
              </a:rPr>
              <a:t>grow</a:t>
            </a:r>
            <a:r>
              <a:rPr lang="en-GB" altLang="en-US" sz="2200">
                <a:latin typeface="Calibri" panose="020F0502020204030204" pitchFamily="34" charset="0"/>
                <a:cs typeface="Calibri" panose="020F0502020204030204" pitchFamily="34" charset="0"/>
              </a:rPr>
              <a:t>.</a:t>
            </a:r>
          </a:p>
          <a:p>
            <a:pPr lvl="1">
              <a:lnSpc>
                <a:spcPct val="100000"/>
              </a:lnSpc>
              <a:spcBef>
                <a:spcPts val="1200"/>
              </a:spcBef>
            </a:pPr>
            <a:r>
              <a:rPr lang="en-GB" altLang="en-US" sz="1900">
                <a:latin typeface="Calibri" panose="020F0502020204030204" pitchFamily="34" charset="0"/>
                <a:cs typeface="Calibri" panose="020F0502020204030204" pitchFamily="34" charset="0"/>
              </a:rPr>
              <a:t>The achievement of growth and the full use of resources is not easy, however, as demonstrated by the periods of high unemployment and stagnation that have occurred from time to throughout the world (e.g., the 1930s, the early 1980s and 1990s, the financial crisis of 2008-9 and the Covid-19 pandemic in 2020).</a:t>
            </a:r>
          </a:p>
          <a:p>
            <a:pPr lvl="1">
              <a:lnSpc>
                <a:spcPct val="100000"/>
              </a:lnSpc>
              <a:spcBef>
                <a:spcPts val="1200"/>
              </a:spcBef>
            </a:pPr>
            <a:r>
              <a:rPr lang="en-GB" altLang="en-US" sz="1900">
                <a:latin typeface="Calibri" panose="020F0502020204030204" pitchFamily="34" charset="0"/>
                <a:cs typeface="Calibri" panose="020F0502020204030204" pitchFamily="34" charset="0"/>
              </a:rPr>
              <a:t>Furthermore, attempts by governments to stimulate growth and employment often have resulted in inflation and a large rise in imports.</a:t>
            </a:r>
          </a:p>
          <a:p>
            <a:pPr marL="457200" lvl="1" indent="0">
              <a:lnSpc>
                <a:spcPct val="100000"/>
              </a:lnSpc>
              <a:spcBef>
                <a:spcPts val="1200"/>
              </a:spcBef>
              <a:buNone/>
            </a:pPr>
            <a:endParaRPr lang="en-GB" altLang="en-US" sz="1900">
              <a:latin typeface="Calibri" panose="020F0502020204030204" pitchFamily="34" charset="0"/>
              <a:cs typeface="Calibri" panose="020F0502020204030204" pitchFamily="34" charset="0"/>
            </a:endParaRPr>
          </a:p>
          <a:p>
            <a:pPr>
              <a:lnSpc>
                <a:spcPct val="100000"/>
              </a:lnSpc>
              <a:spcBef>
                <a:spcPts val="1200"/>
              </a:spcBef>
            </a:pPr>
            <a:r>
              <a:rPr lang="en-GB" altLang="en-US" sz="2200">
                <a:latin typeface="Calibri" panose="020F0502020204030204" pitchFamily="34" charset="0"/>
                <a:cs typeface="Calibri" panose="020F0502020204030204" pitchFamily="34" charset="0"/>
              </a:rPr>
              <a:t>Macroeconomics studies the determination of national output and its growth over time. </a:t>
            </a:r>
          </a:p>
          <a:p>
            <a:pPr>
              <a:lnSpc>
                <a:spcPct val="100000"/>
              </a:lnSpc>
              <a:spcBef>
                <a:spcPts val="1200"/>
              </a:spcBef>
            </a:pPr>
            <a:r>
              <a:rPr lang="en-GB" altLang="en-US" sz="2200">
                <a:latin typeface="Calibri" panose="020F0502020204030204" pitchFamily="34" charset="0"/>
                <a:cs typeface="Calibri" panose="020F0502020204030204" pitchFamily="34" charset="0"/>
              </a:rPr>
              <a:t>It also studies the problems of stagnation, unemployment, inflation, the balance of international payments and cyclical instability, and the policies adopted by governments to deal with these problems. </a:t>
            </a:r>
          </a:p>
          <a:p>
            <a:pPr marL="457200" lvl="1" indent="0">
              <a:lnSpc>
                <a:spcPct val="100000"/>
              </a:lnSpc>
              <a:spcBef>
                <a:spcPts val="1200"/>
              </a:spcBef>
              <a:buNone/>
            </a:pPr>
            <a:endParaRPr lang="en-GB" sz="22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227200"/>
      </p:ext>
    </p:extLst>
  </p:cSld>
  <p:clrMapOvr>
    <a:masterClrMapping/>
  </p:clrMapOvr>
  <p:transition spd="slow">
    <p:pull dir="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solidFill>
                  <a:schemeClr val="tx1"/>
                </a:solidFill>
              </a:rPr>
              <a:t>What is happening in the economy?</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71844"/>
            <a:ext cx="11379200" cy="4889500"/>
          </a:xfrm>
        </p:spPr>
        <p:txBody>
          <a:bodyPr/>
          <a:lstStyle/>
          <a:p>
            <a:pPr>
              <a:lnSpc>
                <a:spcPct val="100000"/>
              </a:lnSpc>
              <a:spcBef>
                <a:spcPts val="1200"/>
              </a:spcBef>
            </a:pPr>
            <a:r>
              <a:rPr lang="en-GB" altLang="en-US" sz="2200">
                <a:latin typeface="Calibri" panose="020F0502020204030204" pitchFamily="34" charset="0"/>
                <a:cs typeface="Calibri" panose="020F0502020204030204" pitchFamily="34" charset="0"/>
              </a:rPr>
              <a:t>What are the current economic issues affecting us as consumers, workers, business owners, societies?</a:t>
            </a:r>
          </a:p>
          <a:p>
            <a:pPr marL="0" indent="0">
              <a:lnSpc>
                <a:spcPct val="100000"/>
              </a:lnSpc>
              <a:spcBef>
                <a:spcPts val="1200"/>
              </a:spcBef>
              <a:buNone/>
            </a:pPr>
            <a:endParaRPr lang="en-GB" altLang="en-US" sz="2200">
              <a:latin typeface="Calibri" panose="020F0502020204030204" pitchFamily="34" charset="0"/>
              <a:cs typeface="Calibri" panose="020F0502020204030204" pitchFamily="34" charset="0"/>
            </a:endParaRPr>
          </a:p>
          <a:p>
            <a:pPr>
              <a:lnSpc>
                <a:spcPct val="100000"/>
              </a:lnSpc>
              <a:spcBef>
                <a:spcPts val="1200"/>
              </a:spcBef>
            </a:pPr>
            <a:r>
              <a:rPr lang="en-GB" altLang="en-US" sz="2200">
                <a:highlight>
                  <a:srgbClr val="FFFF00"/>
                </a:highlight>
                <a:latin typeface="Calibri" panose="020F0502020204030204" pitchFamily="34" charset="0"/>
                <a:cs typeface="Calibri" panose="020F0502020204030204" pitchFamily="34" charset="0"/>
              </a:rPr>
              <a:t>Task: spend a few minutes searching news sites for some current economic issues.</a:t>
            </a:r>
            <a:endParaRPr lang="en-GB" altLang="en-US" sz="22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sz="22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3389750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p:tgtEl>
                                          <p:spTgt spid="3840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3">
                                            <p:txEl>
                                              <p:pRg st="2" end="2"/>
                                            </p:txEl>
                                          </p:spTgt>
                                        </p:tgtEl>
                                        <p:attrNameLst>
                                          <p:attrName>style.visibility</p:attrName>
                                        </p:attrNameLst>
                                      </p:cBhvr>
                                      <p:to>
                                        <p:strVal val="visible"/>
                                      </p:to>
                                    </p:set>
                                    <p:anim calcmode="lin" valueType="num">
                                      <p:cBhvr additive="base">
                                        <p:cTn id="13" dur="500"/>
                                        <p:tgtEl>
                                          <p:spTgt spid="384003">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bldLvl="4"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dirty="0">
                <a:solidFill>
                  <a:schemeClr val="tx1"/>
                </a:solidFill>
              </a:rPr>
              <a:t>What is happening in the economy?</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433621"/>
            <a:ext cx="11379200" cy="4889500"/>
          </a:xfrm>
        </p:spPr>
        <p:txBody>
          <a:bodyPr>
            <a:normAutofit lnSpcReduction="10000"/>
          </a:bodyPr>
          <a:lstStyle/>
          <a:p>
            <a:pPr>
              <a:lnSpc>
                <a:spcPct val="100000"/>
              </a:lnSpc>
              <a:spcBef>
                <a:spcPts val="1200"/>
              </a:spcBef>
            </a:pPr>
            <a:r>
              <a:rPr lang="en-GB" altLang="en-US" sz="2000">
                <a:latin typeface="Calibri" panose="020F0502020204030204" pitchFamily="34" charset="0"/>
                <a:cs typeface="Calibri" panose="020F0502020204030204" pitchFamily="34" charset="0"/>
              </a:rPr>
              <a:t>Some examples (August 2024)</a:t>
            </a:r>
          </a:p>
          <a:p>
            <a:pPr lvl="1">
              <a:lnSpc>
                <a:spcPct val="100000"/>
              </a:lnSpc>
              <a:spcBef>
                <a:spcPts val="1200"/>
              </a:spcBef>
            </a:pPr>
            <a:r>
              <a:rPr lang="en-GB" sz="1800">
                <a:hlinkClick r:id="rId3"/>
              </a:rPr>
              <a:t>UK economy continues recovery with 0.6% growth - BBC News</a:t>
            </a:r>
            <a:endParaRPr lang="en-GB" sz="1800"/>
          </a:p>
          <a:p>
            <a:pPr lvl="1">
              <a:lnSpc>
                <a:spcPct val="100000"/>
              </a:lnSpc>
              <a:spcBef>
                <a:spcPts val="1200"/>
              </a:spcBef>
            </a:pPr>
            <a:r>
              <a:rPr lang="en-GB" sz="1800">
                <a:hlinkClick r:id="rId4"/>
              </a:rPr>
              <a:t>UK inflation rate ticks up to 2.2% in first rise this year - BBC News</a:t>
            </a:r>
            <a:endParaRPr lang="en-GB" sz="1800"/>
          </a:p>
          <a:p>
            <a:pPr lvl="1">
              <a:lnSpc>
                <a:spcPct val="100000"/>
              </a:lnSpc>
              <a:spcBef>
                <a:spcPts val="1200"/>
              </a:spcBef>
            </a:pPr>
            <a:r>
              <a:rPr lang="en-GB" sz="1800">
                <a:hlinkClick r:id="rId5"/>
              </a:rPr>
              <a:t>Europe’s economic growth is extremely fragile (oclc.org)</a:t>
            </a:r>
            <a:endParaRPr lang="en-GB" sz="1800"/>
          </a:p>
          <a:p>
            <a:pPr lvl="1">
              <a:lnSpc>
                <a:spcPct val="100000"/>
              </a:lnSpc>
              <a:spcBef>
                <a:spcPts val="1200"/>
              </a:spcBef>
            </a:pPr>
            <a:r>
              <a:rPr lang="en-GB" sz="1800">
                <a:hlinkClick r:id="rId6"/>
              </a:rPr>
              <a:t>Bank of England cuts interest rate to 5% – Channel 4 News</a:t>
            </a:r>
            <a:endParaRPr lang="en-GB" sz="1800">
              <a:latin typeface="Calibri" panose="020F0502020204030204" pitchFamily="34" charset="0"/>
              <a:ea typeface="Calibri" panose="020F0502020204030204" pitchFamily="34" charset="0"/>
              <a:cs typeface="Calibri" panose="020F0502020204030204" pitchFamily="34" charset="0"/>
              <a:hlinkClick r:id="rId7"/>
            </a:endParaRPr>
          </a:p>
          <a:p>
            <a:pPr lvl="1">
              <a:lnSpc>
                <a:spcPct val="100000"/>
              </a:lnSpc>
              <a:spcBef>
                <a:spcPts val="1200"/>
              </a:spcBef>
            </a:pPr>
            <a:r>
              <a:rPr lang="en-GB" sz="1800">
                <a:hlinkClick r:id="rId8"/>
              </a:rPr>
              <a:t>Abu Dhabi hotels attract 2.4 million visitors in five months | Property – Gulf News</a:t>
            </a:r>
            <a:endParaRPr lang="en-GB" sz="1800">
              <a:latin typeface="Calibri" panose="020F0502020204030204" pitchFamily="34" charset="0"/>
              <a:ea typeface="Calibri" panose="020F0502020204030204" pitchFamily="34" charset="0"/>
              <a:cs typeface="Calibri" panose="020F0502020204030204" pitchFamily="34" charset="0"/>
              <a:hlinkClick r:id="rId9"/>
            </a:endParaRPr>
          </a:p>
          <a:p>
            <a:pPr lvl="1">
              <a:lnSpc>
                <a:spcPct val="100000"/>
              </a:lnSpc>
              <a:spcBef>
                <a:spcPts val="1200"/>
              </a:spcBef>
            </a:pPr>
            <a:r>
              <a:rPr lang="en-GB" sz="1800">
                <a:hlinkClick r:id="rId10"/>
              </a:rPr>
              <a:t>Abu Dhabi's new Rental Index will help clarify rates on new leased homes | Property – Gulf News</a:t>
            </a:r>
            <a:endParaRPr lang="en-GB" sz="1800"/>
          </a:p>
          <a:p>
            <a:pPr lvl="1">
              <a:lnSpc>
                <a:spcPct val="100000"/>
              </a:lnSpc>
              <a:spcBef>
                <a:spcPts val="1200"/>
              </a:spcBef>
            </a:pPr>
            <a:r>
              <a:rPr lang="en-GB" sz="1800">
                <a:hlinkClick r:id="rId11"/>
              </a:rPr>
              <a:t>Malaysia's Rapid Development Ideals Must Incorporate Sustainability </a:t>
            </a:r>
            <a:r>
              <a:rPr lang="en-GB" sz="1800">
                <a:hlinkClick r:id="rId12"/>
              </a:rPr>
              <a:t>–</a:t>
            </a:r>
            <a:r>
              <a:rPr lang="en-GB" sz="1800">
                <a:hlinkClick r:id="rId11"/>
              </a:rPr>
              <a:t> </a:t>
            </a:r>
            <a:r>
              <a:rPr lang="en-GB" sz="1800" err="1">
                <a:hlinkClick r:id="rId11"/>
              </a:rPr>
              <a:t>BusinessToday</a:t>
            </a:r>
            <a:endParaRPr lang="en-GB" sz="1800"/>
          </a:p>
          <a:p>
            <a:pPr lvl="1">
              <a:lnSpc>
                <a:spcPct val="100000"/>
              </a:lnSpc>
              <a:spcBef>
                <a:spcPts val="1200"/>
              </a:spcBef>
            </a:pPr>
            <a:r>
              <a:rPr lang="en-GB" sz="1800">
                <a:hlinkClick r:id="rId13"/>
              </a:rPr>
              <a:t>Japan's Import Growth In Line With Malaysia's Shipment (businesstoday.com.my)</a:t>
            </a:r>
            <a:endParaRPr lang="en-GB" sz="1800">
              <a:latin typeface="Calibri" panose="020F0502020204030204" pitchFamily="34" charset="0"/>
              <a:ea typeface="Calibri" panose="020F0502020204030204" pitchFamily="34" charset="0"/>
              <a:cs typeface="Calibri" panose="020F0502020204030204" pitchFamily="34" charset="0"/>
              <a:hlinkClick r:id="rId12"/>
            </a:endParaRPr>
          </a:p>
          <a:p>
            <a:pPr marL="0"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a:p>
            <a:pPr marL="0" indent="0">
              <a:lnSpc>
                <a:spcPct val="100000"/>
              </a:lnSpc>
              <a:spcBef>
                <a:spcPts val="1200"/>
              </a:spcBef>
              <a:buNone/>
            </a:pPr>
            <a:r>
              <a:rPr lang="en-GB" altLang="en-US" sz="1800">
                <a:latin typeface="Calibri" panose="020F0502020204030204" pitchFamily="34" charset="0"/>
                <a:cs typeface="Calibri" panose="020F0502020204030204" pitchFamily="34" charset="0"/>
              </a:rPr>
              <a:t>Whilst most of the above are macroeconomic issues, they will impact the decision making of individual consumers, firms and industries. </a:t>
            </a:r>
            <a:r>
              <a:rPr lang="en-GB" altLang="en-US" sz="1800" b="1">
                <a:latin typeface="Calibri" panose="020F0502020204030204" pitchFamily="34" charset="0"/>
                <a:cs typeface="Calibri" panose="020F0502020204030204" pitchFamily="34" charset="0"/>
              </a:rPr>
              <a:t>The macroeconomic environment is very important to individual consumers, firms and industries.</a:t>
            </a:r>
          </a:p>
          <a:p>
            <a:pPr marL="457200" lvl="1" indent="0">
              <a:lnSpc>
                <a:spcPct val="100000"/>
              </a:lnSpc>
              <a:spcBef>
                <a:spcPts val="1200"/>
              </a:spcBef>
              <a:buNone/>
            </a:pPr>
            <a:endParaRPr lang="en-GB" sz="18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9495703"/>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p:tgtEl>
                                          <p:spTgt spid="3840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84003">
                                            <p:txEl>
                                              <p:pRg st="1" end="1"/>
                                            </p:txEl>
                                          </p:spTgt>
                                        </p:tgtEl>
                                        <p:attrNameLst>
                                          <p:attrName>style.visibility</p:attrName>
                                        </p:attrNameLst>
                                      </p:cBhvr>
                                      <p:to>
                                        <p:strVal val="visible"/>
                                      </p:to>
                                    </p:set>
                                    <p:anim calcmode="lin" valueType="num">
                                      <p:cBhvr additive="base">
                                        <p:cTn id="13" dur="500"/>
                                        <p:tgtEl>
                                          <p:spTgt spid="38400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8400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84003">
                                            <p:txEl>
                                              <p:pRg st="2" end="2"/>
                                            </p:txEl>
                                          </p:spTgt>
                                        </p:tgtEl>
                                        <p:attrNameLst>
                                          <p:attrName>style.visibility</p:attrName>
                                        </p:attrNameLst>
                                      </p:cBhvr>
                                      <p:to>
                                        <p:strVal val="visible"/>
                                      </p:to>
                                    </p:set>
                                    <p:anim calcmode="lin" valueType="num">
                                      <p:cBhvr additive="base">
                                        <p:cTn id="19" dur="500"/>
                                        <p:tgtEl>
                                          <p:spTgt spid="38400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8400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84003">
                                            <p:txEl>
                                              <p:pRg st="3" end="3"/>
                                            </p:txEl>
                                          </p:spTgt>
                                        </p:tgtEl>
                                        <p:attrNameLst>
                                          <p:attrName>style.visibility</p:attrName>
                                        </p:attrNameLst>
                                      </p:cBhvr>
                                      <p:to>
                                        <p:strVal val="visible"/>
                                      </p:to>
                                    </p:set>
                                    <p:anim calcmode="lin" valueType="num">
                                      <p:cBhvr additive="base">
                                        <p:cTn id="25" dur="500"/>
                                        <p:tgtEl>
                                          <p:spTgt spid="38400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8400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84003">
                                            <p:txEl>
                                              <p:pRg st="4" end="4"/>
                                            </p:txEl>
                                          </p:spTgt>
                                        </p:tgtEl>
                                        <p:attrNameLst>
                                          <p:attrName>style.visibility</p:attrName>
                                        </p:attrNameLst>
                                      </p:cBhvr>
                                      <p:to>
                                        <p:strVal val="visible"/>
                                      </p:to>
                                    </p:set>
                                    <p:anim calcmode="lin" valueType="num">
                                      <p:cBhvr additive="base">
                                        <p:cTn id="31" dur="500"/>
                                        <p:tgtEl>
                                          <p:spTgt spid="38400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840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84003">
                                            <p:txEl>
                                              <p:pRg st="5" end="5"/>
                                            </p:txEl>
                                          </p:spTgt>
                                        </p:tgtEl>
                                        <p:attrNameLst>
                                          <p:attrName>style.visibility</p:attrName>
                                        </p:attrNameLst>
                                      </p:cBhvr>
                                      <p:to>
                                        <p:strVal val="visible"/>
                                      </p:to>
                                    </p:set>
                                    <p:anim calcmode="lin" valueType="num">
                                      <p:cBhvr additive="base">
                                        <p:cTn id="37" dur="500"/>
                                        <p:tgtEl>
                                          <p:spTgt spid="38400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8400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84003">
                                            <p:txEl>
                                              <p:pRg st="6" end="6"/>
                                            </p:txEl>
                                          </p:spTgt>
                                        </p:tgtEl>
                                        <p:attrNameLst>
                                          <p:attrName>style.visibility</p:attrName>
                                        </p:attrNameLst>
                                      </p:cBhvr>
                                      <p:to>
                                        <p:strVal val="visible"/>
                                      </p:to>
                                    </p:set>
                                    <p:anim calcmode="lin" valueType="num">
                                      <p:cBhvr additive="base">
                                        <p:cTn id="43" dur="500"/>
                                        <p:tgtEl>
                                          <p:spTgt spid="38400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8400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84003">
                                            <p:txEl>
                                              <p:pRg st="7" end="7"/>
                                            </p:txEl>
                                          </p:spTgt>
                                        </p:tgtEl>
                                        <p:attrNameLst>
                                          <p:attrName>style.visibility</p:attrName>
                                        </p:attrNameLst>
                                      </p:cBhvr>
                                      <p:to>
                                        <p:strVal val="visible"/>
                                      </p:to>
                                    </p:set>
                                    <p:anim calcmode="lin" valueType="num">
                                      <p:cBhvr additive="base">
                                        <p:cTn id="49" dur="500"/>
                                        <p:tgtEl>
                                          <p:spTgt spid="38400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8400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84003">
                                            <p:txEl>
                                              <p:pRg st="8" end="8"/>
                                            </p:txEl>
                                          </p:spTgt>
                                        </p:tgtEl>
                                        <p:attrNameLst>
                                          <p:attrName>style.visibility</p:attrName>
                                        </p:attrNameLst>
                                      </p:cBhvr>
                                      <p:to>
                                        <p:strVal val="visible"/>
                                      </p:to>
                                    </p:set>
                                    <p:anim calcmode="lin" valueType="num">
                                      <p:cBhvr additive="base">
                                        <p:cTn id="55" dur="500"/>
                                        <p:tgtEl>
                                          <p:spTgt spid="384003">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84003">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384003">
                                            <p:txEl>
                                              <p:pRg st="10" end="10"/>
                                            </p:txEl>
                                          </p:spTgt>
                                        </p:tgtEl>
                                        <p:attrNameLst>
                                          <p:attrName>style.visibility</p:attrName>
                                        </p:attrNameLst>
                                      </p:cBhvr>
                                      <p:to>
                                        <p:strVal val="visible"/>
                                      </p:to>
                                    </p:set>
                                    <p:anim calcmode="lin" valueType="num">
                                      <p:cBhvr additive="base">
                                        <p:cTn id="61" dur="500"/>
                                        <p:tgtEl>
                                          <p:spTgt spid="384003">
                                            <p:txEl>
                                              <p:pRg st="10" end="10"/>
                                            </p:txEl>
                                          </p:spTgt>
                                        </p:tgtEl>
                                        <p:attrNameLst>
                                          <p:attrName>ppt_y</p:attrName>
                                        </p:attrNameLst>
                                      </p:cBhvr>
                                      <p:tavLst>
                                        <p:tav tm="0">
                                          <p:val>
                                            <p:strVal val="#ppt_y+#ppt_h*1.125000"/>
                                          </p:val>
                                        </p:tav>
                                        <p:tav tm="100000">
                                          <p:val>
                                            <p:strVal val="#ppt_y"/>
                                          </p:val>
                                        </p:tav>
                                      </p:tavLst>
                                    </p:anim>
                                    <p:animEffect transition="in" filter="wipe(up)">
                                      <p:cBhvr>
                                        <p:cTn id="62" dur="500"/>
                                        <p:tgtEl>
                                          <p:spTgt spid="38400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bldLvl="4"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solidFill>
                  <a:schemeClr val="tx1"/>
                </a:solidFill>
              </a:rPr>
              <a:t>The Circular Flow of Income</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71844"/>
            <a:ext cx="11379200" cy="4889500"/>
          </a:xfrm>
        </p:spPr>
        <p:txBody>
          <a:bodyPr/>
          <a:lstStyle/>
          <a:p>
            <a:pPr>
              <a:lnSpc>
                <a:spcPct val="100000"/>
              </a:lnSpc>
              <a:spcBef>
                <a:spcPts val="1200"/>
              </a:spcBef>
            </a:pPr>
            <a:r>
              <a:rPr lang="en-GB" altLang="en-US" sz="2000">
                <a:latin typeface="Calibri" panose="020F0502020204030204" pitchFamily="34" charset="0"/>
                <a:cs typeface="Calibri" panose="020F0502020204030204" pitchFamily="34" charset="0"/>
              </a:rPr>
              <a:t>One of the most useful diagrams for illustrating the macroeconomic environment and the relationship between producers and consumers is the </a:t>
            </a:r>
            <a:r>
              <a:rPr lang="en-GB" altLang="en-US" sz="2000" b="1">
                <a:latin typeface="Calibri" panose="020F0502020204030204" pitchFamily="34" charset="0"/>
                <a:cs typeface="Calibri" panose="020F0502020204030204" pitchFamily="34" charset="0"/>
              </a:rPr>
              <a:t>circular flow of income</a:t>
            </a:r>
            <a:r>
              <a:rPr lang="en-GB" altLang="en-US" sz="2000">
                <a:latin typeface="Calibri" panose="020F0502020204030204" pitchFamily="34" charset="0"/>
                <a:cs typeface="Calibri" panose="020F0502020204030204" pitchFamily="34" charset="0"/>
              </a:rPr>
              <a:t> diagram.</a:t>
            </a:r>
          </a:p>
          <a:p>
            <a:pPr marL="457200" lvl="1" indent="0">
              <a:lnSpc>
                <a:spcPct val="100000"/>
              </a:lnSpc>
              <a:spcBef>
                <a:spcPts val="1200"/>
              </a:spcBef>
              <a:buNone/>
            </a:pPr>
            <a:endParaRPr lang="en-GB" sz="18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80A5DA15-3171-73EF-8C15-D9E50FF1C179}"/>
              </a:ext>
            </a:extLst>
          </p:cNvPr>
          <p:cNvPicPr>
            <a:picLocks noChangeAspect="1"/>
          </p:cNvPicPr>
          <p:nvPr/>
        </p:nvPicPr>
        <p:blipFill>
          <a:blip r:embed="rId3"/>
          <a:stretch>
            <a:fillRect/>
          </a:stretch>
        </p:blipFill>
        <p:spPr>
          <a:xfrm>
            <a:off x="6426288" y="2618122"/>
            <a:ext cx="4953429" cy="3429297"/>
          </a:xfrm>
          <a:prstGeom prst="rect">
            <a:avLst/>
          </a:prstGeom>
        </p:spPr>
      </p:pic>
      <p:sp>
        <p:nvSpPr>
          <p:cNvPr id="4" name="TextBox 3">
            <a:extLst>
              <a:ext uri="{FF2B5EF4-FFF2-40B4-BE49-F238E27FC236}">
                <a16:creationId xmlns:a16="http://schemas.microsoft.com/office/drawing/2014/main" id="{12A3E4A7-5554-4564-65AC-D34266659B48}"/>
              </a:ext>
            </a:extLst>
          </p:cNvPr>
          <p:cNvSpPr txBox="1"/>
          <p:nvPr/>
        </p:nvSpPr>
        <p:spPr>
          <a:xfrm>
            <a:off x="402167" y="2570054"/>
            <a:ext cx="5743451" cy="3754874"/>
          </a:xfrm>
          <a:prstGeom prst="rect">
            <a:avLst/>
          </a:prstGeom>
          <a:noFill/>
          <a:ln>
            <a:solidFill>
              <a:schemeClr val="accent1"/>
            </a:solidFill>
          </a:ln>
        </p:spPr>
        <p:txBody>
          <a:bodyPr wrap="square" rtlCol="0">
            <a:spAutoFit/>
          </a:bodyPr>
          <a:lstStyle/>
          <a:p>
            <a:pPr marL="342900" indent="-34290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The consumers of goods and services are labelled ‘households’ (and represented by the house)</a:t>
            </a:r>
          </a:p>
          <a:p>
            <a:pPr marL="342900" indent="-34290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Some members of households are also workers or owners of other factors of production, such as land.</a:t>
            </a:r>
          </a:p>
          <a:p>
            <a:pPr marL="342900" indent="-34290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The producers of goods and services are labelled ‘firms’ (and represented by the factory)</a:t>
            </a:r>
          </a:p>
          <a:p>
            <a:pPr marL="342900" indent="-34290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Firms and households are in a twin ‘demand and supply’ relationship.</a:t>
            </a:r>
          </a:p>
          <a:p>
            <a:pPr>
              <a:spcAft>
                <a:spcPts val="1200"/>
              </a:spcAft>
            </a:pPr>
            <a:endParaRPr lang="en-GB" sz="1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1004361"/>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4003">
                                            <p:txEl>
                                              <p:pRg st="0" end="0"/>
                                            </p:txEl>
                                          </p:spTgt>
                                        </p:tgtEl>
                                        <p:attrNameLst>
                                          <p:attrName>style.visibility</p:attrName>
                                        </p:attrNameLst>
                                      </p:cBhvr>
                                      <p:to>
                                        <p:strVal val="visible"/>
                                      </p:to>
                                    </p:set>
                                    <p:anim calcmode="lin" valueType="num">
                                      <p:cBhvr additive="base">
                                        <p:cTn id="7" dur="500"/>
                                        <p:tgtEl>
                                          <p:spTgt spid="38400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840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4003" grpId="0" build="p" bldLvl="4"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dirty="0">
                <a:solidFill>
                  <a:schemeClr val="tx1"/>
                </a:solidFill>
              </a:rPr>
              <a:t>The Circular Flow of Income</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71844"/>
            <a:ext cx="11379200" cy="4889500"/>
          </a:xfrm>
        </p:spPr>
        <p:txBody>
          <a:bodyPr/>
          <a:lstStyle/>
          <a:p>
            <a:pPr marL="457200" lvl="1" indent="0">
              <a:lnSpc>
                <a:spcPct val="100000"/>
              </a:lnSpc>
              <a:spcBef>
                <a:spcPts val="1200"/>
              </a:spcBef>
              <a:buNone/>
            </a:pPr>
            <a:endParaRPr lang="en-GB" sz="18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80A5DA15-3171-73EF-8C15-D9E50FF1C179}"/>
              </a:ext>
            </a:extLst>
          </p:cNvPr>
          <p:cNvPicPr>
            <a:picLocks noChangeAspect="1"/>
          </p:cNvPicPr>
          <p:nvPr/>
        </p:nvPicPr>
        <p:blipFill>
          <a:blip r:embed="rId3"/>
          <a:stretch>
            <a:fillRect/>
          </a:stretch>
        </p:blipFill>
        <p:spPr>
          <a:xfrm>
            <a:off x="6617672" y="1958522"/>
            <a:ext cx="5205731" cy="3594484"/>
          </a:xfrm>
          <a:prstGeom prst="rect">
            <a:avLst/>
          </a:prstGeom>
        </p:spPr>
      </p:pic>
      <p:sp>
        <p:nvSpPr>
          <p:cNvPr id="4" name="TextBox 3">
            <a:extLst>
              <a:ext uri="{FF2B5EF4-FFF2-40B4-BE49-F238E27FC236}">
                <a16:creationId xmlns:a16="http://schemas.microsoft.com/office/drawing/2014/main" id="{12A3E4A7-5554-4564-65AC-D34266659B48}"/>
              </a:ext>
            </a:extLst>
          </p:cNvPr>
          <p:cNvSpPr txBox="1"/>
          <p:nvPr/>
        </p:nvSpPr>
        <p:spPr>
          <a:xfrm>
            <a:off x="244549" y="1320228"/>
            <a:ext cx="6097772" cy="6263253"/>
          </a:xfrm>
          <a:prstGeom prst="rect">
            <a:avLst/>
          </a:prstGeom>
          <a:noFill/>
          <a:ln>
            <a:noFill/>
          </a:ln>
        </p:spPr>
        <p:txBody>
          <a:bodyPr wrap="square" rtlCol="0">
            <a:spAutoFit/>
          </a:bodyPr>
          <a:lstStyle/>
          <a:p>
            <a:pPr marL="285750" indent="-285750">
              <a:spcAft>
                <a:spcPts val="1200"/>
              </a:spcAft>
              <a:buFont typeface="Arial" panose="020B0604020202020204" pitchFamily="34" charset="0"/>
              <a:buChar char="•"/>
            </a:pPr>
            <a:r>
              <a:rPr lang="en-GB" sz="1900">
                <a:latin typeface="Calibri" panose="020F0502020204030204" pitchFamily="34" charset="0"/>
                <a:cs typeface="Calibri" panose="020F0502020204030204" pitchFamily="34" charset="0"/>
              </a:rPr>
              <a:t>First, households demand goods and services and firms supply goods and services.</a:t>
            </a:r>
          </a:p>
          <a:p>
            <a:pPr marL="285750" indent="-285750">
              <a:spcAft>
                <a:spcPts val="1200"/>
              </a:spcAft>
              <a:buFont typeface="Arial" panose="020B0604020202020204" pitchFamily="34" charset="0"/>
              <a:buChar char="•"/>
            </a:pPr>
            <a:r>
              <a:rPr lang="en-GB" sz="1900">
                <a:latin typeface="Calibri" panose="020F0502020204030204" pitchFamily="34" charset="0"/>
                <a:cs typeface="Calibri" panose="020F0502020204030204" pitchFamily="34" charset="0"/>
              </a:rPr>
              <a:t>Money flows from households to firms and goods and services flow from firms to households.</a:t>
            </a:r>
          </a:p>
          <a:p>
            <a:pPr marL="285750" indent="-285750">
              <a:spcAft>
                <a:spcPts val="1200"/>
              </a:spcAft>
              <a:buFont typeface="Arial" panose="020B0604020202020204" pitchFamily="34" charset="0"/>
              <a:buChar char="•"/>
            </a:pPr>
            <a:r>
              <a:rPr lang="en-GB" sz="1900">
                <a:latin typeface="Calibri" panose="020F0502020204030204" pitchFamily="34" charset="0"/>
                <a:cs typeface="Calibri" panose="020F0502020204030204" pitchFamily="34" charset="0"/>
              </a:rPr>
              <a:t>This coming together of buyers and sellers is known as the market.</a:t>
            </a:r>
          </a:p>
          <a:p>
            <a:pPr marL="285750" indent="-285750">
              <a:spcAft>
                <a:spcPts val="1200"/>
              </a:spcAft>
              <a:buFont typeface="Arial" panose="020B0604020202020204" pitchFamily="34" charset="0"/>
              <a:buChar char="•"/>
            </a:pPr>
            <a:r>
              <a:rPr lang="en-GB" sz="1900">
                <a:latin typeface="Calibri" panose="020F0502020204030204" pitchFamily="34" charset="0"/>
                <a:cs typeface="Calibri" panose="020F0502020204030204" pitchFamily="34" charset="0"/>
              </a:rPr>
              <a:t>Second, firms demand the use of factors of production owned by households (labour, land and capital) and households supply them. </a:t>
            </a:r>
          </a:p>
          <a:p>
            <a:pPr marL="285750" indent="-285750">
              <a:spcAft>
                <a:spcPts val="1200"/>
              </a:spcAft>
              <a:buFont typeface="Arial" panose="020B0604020202020204" pitchFamily="34" charset="0"/>
              <a:buChar char="•"/>
            </a:pPr>
            <a:r>
              <a:rPr lang="en-GB" sz="1900">
                <a:latin typeface="Calibri" panose="020F0502020204030204" pitchFamily="34" charset="0"/>
                <a:cs typeface="Calibri" panose="020F0502020204030204" pitchFamily="34" charset="0"/>
              </a:rPr>
              <a:t>The services of labour and other factors flow from households to firms. In exchange, firms pay households money (wages, rent, dividends, and interest).</a:t>
            </a:r>
          </a:p>
          <a:p>
            <a:pPr marL="285750" indent="-285750">
              <a:spcAft>
                <a:spcPts val="1200"/>
              </a:spcAft>
              <a:buFont typeface="Arial" panose="020B0604020202020204" pitchFamily="34" charset="0"/>
              <a:buChar char="•"/>
            </a:pPr>
            <a:r>
              <a:rPr lang="en-GB" sz="1900">
                <a:latin typeface="Calibri" panose="020F0502020204030204" pitchFamily="34" charset="0"/>
                <a:cs typeface="Calibri" panose="020F0502020204030204" pitchFamily="34" charset="0"/>
              </a:rPr>
              <a:t>This is a factor market, for e.g., the market for bricklayers.</a:t>
            </a:r>
          </a:p>
          <a:p>
            <a:pPr marL="285750" indent="-285750">
              <a:spcAft>
                <a:spcPts val="1200"/>
              </a:spcAft>
              <a:buFont typeface="Arial" panose="020B0604020202020204" pitchFamily="34" charset="0"/>
              <a:buChar char="•"/>
            </a:pPr>
            <a:endParaRPr lang="en-GB" sz="1900">
              <a:latin typeface="Calibri" panose="020F0502020204030204" pitchFamily="34" charset="0"/>
              <a:cs typeface="Calibri" panose="020F0502020204030204" pitchFamily="34" charset="0"/>
            </a:endParaRPr>
          </a:p>
          <a:p>
            <a:pPr marL="285750" indent="-285750">
              <a:spcAft>
                <a:spcPts val="1200"/>
              </a:spcAft>
              <a:buFont typeface="Arial" panose="020B0604020202020204" pitchFamily="34" charset="0"/>
              <a:buChar char="•"/>
            </a:pPr>
            <a:endParaRPr lang="en-GB" sz="1800">
              <a:latin typeface="Calibri" panose="020F0502020204030204" pitchFamily="34" charset="0"/>
              <a:cs typeface="Calibri" panose="020F0502020204030204" pitchFamily="34" charset="0"/>
            </a:endParaRPr>
          </a:p>
          <a:p>
            <a:pPr marL="285750" indent="-285750">
              <a:spcAft>
                <a:spcPts val="1200"/>
              </a:spcAft>
              <a:buFont typeface="Arial" panose="020B0604020202020204" pitchFamily="34" charset="0"/>
              <a:buChar char="•"/>
            </a:pPr>
            <a:endParaRPr lang="en-GB" sz="18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6374264"/>
      </p:ext>
    </p:extLst>
  </p:cSld>
  <p:clrMapOvr>
    <a:masterClrMapping/>
  </p:clrMapOvr>
  <p:transition spd="slow">
    <p:pull dir="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dirty="0">
                <a:solidFill>
                  <a:schemeClr val="tx1"/>
                </a:solidFill>
              </a:rPr>
              <a:t>The Circular Flow of Income</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71844"/>
            <a:ext cx="11379200" cy="4889500"/>
          </a:xfrm>
        </p:spPr>
        <p:txBody>
          <a:bodyPr/>
          <a:lstStyle/>
          <a:p>
            <a:pPr marL="457200" lvl="1" indent="0">
              <a:lnSpc>
                <a:spcPct val="100000"/>
              </a:lnSpc>
              <a:spcBef>
                <a:spcPts val="1200"/>
              </a:spcBef>
              <a:buNone/>
            </a:pPr>
            <a:endParaRPr lang="en-GB" sz="18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2A3E4A7-5554-4564-65AC-D34266659B48}"/>
              </a:ext>
            </a:extLst>
          </p:cNvPr>
          <p:cNvSpPr txBox="1"/>
          <p:nvPr/>
        </p:nvSpPr>
        <p:spPr>
          <a:xfrm>
            <a:off x="410633" y="1372303"/>
            <a:ext cx="11295814" cy="4718564"/>
          </a:xfrm>
          <a:prstGeom prst="rect">
            <a:avLst/>
          </a:prstGeom>
          <a:noFill/>
          <a:ln>
            <a:noFill/>
          </a:ln>
        </p:spPr>
        <p:txBody>
          <a:bodyPr wrap="square" rtlCol="0">
            <a:spAutoFit/>
          </a:bodyPr>
          <a:lstStyle/>
          <a:p>
            <a:pPr marL="285750" indent="-285750">
              <a:spcAft>
                <a:spcPts val="1200"/>
              </a:spcAft>
              <a:buFont typeface="Arial" panose="020B0604020202020204" pitchFamily="34" charset="0"/>
              <a:buChar char="•"/>
            </a:pPr>
            <a:r>
              <a:rPr lang="en-GB" sz="1900" dirty="0">
                <a:latin typeface="Calibri" panose="020F0502020204030204" pitchFamily="34" charset="0"/>
                <a:cs typeface="Calibri" panose="020F0502020204030204" pitchFamily="34" charset="0"/>
              </a:rPr>
              <a:t>Macroeconomics is concerned with the total size of the flow. </a:t>
            </a:r>
          </a:p>
          <a:p>
            <a:pPr marL="285750" indent="-285750">
              <a:spcAft>
                <a:spcPts val="1200"/>
              </a:spcAft>
              <a:buFont typeface="Arial" panose="020B0604020202020204" pitchFamily="34" charset="0"/>
              <a:buChar char="•"/>
            </a:pPr>
            <a:r>
              <a:rPr lang="en-GB" sz="1900" dirty="0">
                <a:latin typeface="Calibri" panose="020F0502020204030204" pitchFamily="34" charset="0"/>
                <a:cs typeface="Calibri" panose="020F0502020204030204" pitchFamily="34" charset="0"/>
              </a:rPr>
              <a:t>If consumers choose to spend more, firms will earn more from the increased level of sales (feeds into </a:t>
            </a:r>
            <a:r>
              <a:rPr lang="en-GB" sz="1900" b="1" dirty="0">
                <a:latin typeface="Calibri" panose="020F0502020204030204" pitchFamily="34" charset="0"/>
                <a:cs typeface="Calibri" panose="020F0502020204030204" pitchFamily="34" charset="0"/>
              </a:rPr>
              <a:t>economic growth</a:t>
            </a:r>
            <a:r>
              <a:rPr lang="en-GB" sz="1900" dirty="0">
                <a:latin typeface="Calibri" panose="020F0502020204030204" pitchFamily="34" charset="0"/>
                <a:cs typeface="Calibri" panose="020F0502020204030204" pitchFamily="34" charset="0"/>
              </a:rPr>
              <a:t>)</a:t>
            </a:r>
          </a:p>
          <a:p>
            <a:pPr marL="285750" indent="-285750">
              <a:spcAft>
                <a:spcPts val="1200"/>
              </a:spcAft>
              <a:buFont typeface="Arial" panose="020B0604020202020204" pitchFamily="34" charset="0"/>
              <a:buChar char="•"/>
            </a:pPr>
            <a:r>
              <a:rPr lang="en-GB" sz="1900" dirty="0">
                <a:latin typeface="Calibri" panose="020F0502020204030204" pitchFamily="34" charset="0"/>
                <a:cs typeface="Calibri" panose="020F0502020204030204" pitchFamily="34" charset="0"/>
              </a:rPr>
              <a:t>Firms will probably respond by producing more (feeds into </a:t>
            </a:r>
            <a:r>
              <a:rPr lang="en-GB" sz="1900" b="1" dirty="0">
                <a:latin typeface="Calibri" panose="020F0502020204030204" pitchFamily="34" charset="0"/>
                <a:cs typeface="Calibri" panose="020F0502020204030204" pitchFamily="34" charset="0"/>
              </a:rPr>
              <a:t>economic growth and unemployment </a:t>
            </a:r>
            <a:r>
              <a:rPr lang="en-GB" sz="1900" dirty="0">
                <a:latin typeface="Calibri" panose="020F0502020204030204" pitchFamily="34" charset="0"/>
                <a:cs typeface="Calibri" panose="020F0502020204030204" pitchFamily="34" charset="0"/>
              </a:rPr>
              <a:t>levels) or raising their prices (feeds into the </a:t>
            </a:r>
            <a:r>
              <a:rPr lang="en-GB" sz="1900" b="1" dirty="0">
                <a:latin typeface="Calibri" panose="020F0502020204030204" pitchFamily="34" charset="0"/>
                <a:cs typeface="Calibri" panose="020F0502020204030204" pitchFamily="34" charset="0"/>
              </a:rPr>
              <a:t>inflation </a:t>
            </a:r>
            <a:r>
              <a:rPr lang="en-GB" sz="1900" dirty="0">
                <a:latin typeface="Calibri" panose="020F0502020204030204" pitchFamily="34" charset="0"/>
                <a:cs typeface="Calibri" panose="020F0502020204030204" pitchFamily="34" charset="0"/>
              </a:rPr>
              <a:t>rate), or some combination of the two. </a:t>
            </a:r>
          </a:p>
          <a:p>
            <a:pPr marL="285750" indent="-285750">
              <a:spcAft>
                <a:spcPts val="1200"/>
              </a:spcAft>
              <a:buFont typeface="Arial" panose="020B0604020202020204" pitchFamily="34" charset="0"/>
              <a:buChar char="•"/>
            </a:pPr>
            <a:r>
              <a:rPr lang="en-GB" sz="1900" dirty="0">
                <a:latin typeface="Calibri" panose="020F0502020204030204" pitchFamily="34" charset="0"/>
                <a:cs typeface="Calibri" panose="020F0502020204030204" pitchFamily="34" charset="0"/>
              </a:rPr>
              <a:t>As a result, they will end up paying more out to workers in the form of wages (feeds into </a:t>
            </a:r>
            <a:r>
              <a:rPr lang="en-GB" sz="1900" b="1" dirty="0">
                <a:latin typeface="Calibri" panose="020F0502020204030204" pitchFamily="34" charset="0"/>
                <a:cs typeface="Calibri" panose="020F0502020204030204" pitchFamily="34" charset="0"/>
              </a:rPr>
              <a:t>inflation</a:t>
            </a:r>
            <a:r>
              <a:rPr lang="en-GB" sz="1900" dirty="0">
                <a:latin typeface="Calibri" panose="020F0502020204030204" pitchFamily="34" charset="0"/>
                <a:cs typeface="Calibri" panose="020F0502020204030204" pitchFamily="34" charset="0"/>
              </a:rPr>
              <a:t>), and to shareholders in the form of profits (feeds into </a:t>
            </a:r>
            <a:r>
              <a:rPr lang="en-GB" sz="1900" b="1" dirty="0">
                <a:latin typeface="Calibri" panose="020F0502020204030204" pitchFamily="34" charset="0"/>
                <a:cs typeface="Calibri" panose="020F0502020204030204" pitchFamily="34" charset="0"/>
              </a:rPr>
              <a:t>inflation</a:t>
            </a:r>
            <a:r>
              <a:rPr lang="en-GB" sz="1900" dirty="0">
                <a:latin typeface="Calibri" panose="020F0502020204030204" pitchFamily="34" charset="0"/>
                <a:cs typeface="Calibri" panose="020F0502020204030204" pitchFamily="34" charset="0"/>
              </a:rPr>
              <a:t> and </a:t>
            </a:r>
            <a:r>
              <a:rPr lang="en-GB" sz="1900" b="1" dirty="0">
                <a:latin typeface="Calibri" panose="020F0502020204030204" pitchFamily="34" charset="0"/>
                <a:cs typeface="Calibri" panose="020F0502020204030204" pitchFamily="34" charset="0"/>
              </a:rPr>
              <a:t>economic growth</a:t>
            </a:r>
            <a:r>
              <a:rPr lang="en-GB" sz="1900" dirty="0">
                <a:latin typeface="Calibri" panose="020F0502020204030204" pitchFamily="34" charset="0"/>
                <a:cs typeface="Calibri" panose="020F0502020204030204" pitchFamily="34" charset="0"/>
              </a:rPr>
              <a:t>).</a:t>
            </a:r>
          </a:p>
          <a:p>
            <a:pPr marL="285750" indent="-285750">
              <a:spcAft>
                <a:spcPts val="1200"/>
              </a:spcAft>
              <a:buFont typeface="Arial" panose="020B0604020202020204" pitchFamily="34" charset="0"/>
              <a:buChar char="•"/>
            </a:pPr>
            <a:r>
              <a:rPr lang="en-GB" sz="1900" dirty="0">
                <a:latin typeface="Calibri" panose="020F0502020204030204" pitchFamily="34" charset="0"/>
                <a:cs typeface="Calibri" panose="020F0502020204030204" pitchFamily="34" charset="0"/>
              </a:rPr>
              <a:t>Households will thus gain additional income, and this will lead to an additional increase in consumer spending, and therefore, a further boost to production (feeds into </a:t>
            </a:r>
            <a:r>
              <a:rPr lang="en-GB" sz="1900" b="1" dirty="0">
                <a:latin typeface="Calibri" panose="020F0502020204030204" pitchFamily="34" charset="0"/>
                <a:cs typeface="Calibri" panose="020F0502020204030204" pitchFamily="34" charset="0"/>
              </a:rPr>
              <a:t>inflation, economic growth </a:t>
            </a:r>
            <a:r>
              <a:rPr lang="en-GB" sz="1900" dirty="0">
                <a:latin typeface="Calibri" panose="020F0502020204030204" pitchFamily="34" charset="0"/>
                <a:cs typeface="Calibri" panose="020F0502020204030204" pitchFamily="34" charset="0"/>
              </a:rPr>
              <a:t>and </a:t>
            </a:r>
            <a:r>
              <a:rPr lang="en-GB" sz="1900" b="1" dirty="0">
                <a:latin typeface="Calibri" panose="020F0502020204030204" pitchFamily="34" charset="0"/>
                <a:cs typeface="Calibri" panose="020F0502020204030204" pitchFamily="34" charset="0"/>
              </a:rPr>
              <a:t>unemployment</a:t>
            </a:r>
            <a:r>
              <a:rPr lang="en-GB" sz="1900" dirty="0">
                <a:latin typeface="Calibri" panose="020F0502020204030204" pitchFamily="34" charset="0"/>
                <a:cs typeface="Calibri" panose="020F0502020204030204" pitchFamily="34" charset="0"/>
              </a:rPr>
              <a:t> levels).</a:t>
            </a:r>
          </a:p>
          <a:p>
            <a:pPr marL="285750" indent="-285750">
              <a:spcAft>
                <a:spcPts val="1200"/>
              </a:spcAft>
              <a:buFont typeface="Arial" panose="020B0604020202020204" pitchFamily="34" charset="0"/>
              <a:buChar char="•"/>
            </a:pPr>
            <a:r>
              <a:rPr lang="en-GB" sz="1900" dirty="0">
                <a:latin typeface="Calibri" panose="020F0502020204030204" pitchFamily="34" charset="0"/>
                <a:cs typeface="Calibri" panose="020F0502020204030204" pitchFamily="34" charset="0"/>
              </a:rPr>
              <a:t>This effect does not go on indefinitely. When households earn additional incomes, not all of it is spent – some will be saved (influenced by </a:t>
            </a:r>
            <a:r>
              <a:rPr lang="en-GB" sz="1900" b="1" dirty="0">
                <a:latin typeface="Calibri" panose="020F0502020204030204" pitchFamily="34" charset="0"/>
                <a:cs typeface="Calibri" panose="020F0502020204030204" pitchFamily="34" charset="0"/>
              </a:rPr>
              <a:t>government policy</a:t>
            </a:r>
            <a:r>
              <a:rPr lang="en-GB" sz="1900" dirty="0">
                <a:latin typeface="Calibri" panose="020F0502020204030204" pitchFamily="34" charset="0"/>
                <a:cs typeface="Calibri" panose="020F0502020204030204" pitchFamily="34" charset="0"/>
              </a:rPr>
              <a:t>), some will be paid in taxes (depends on </a:t>
            </a:r>
            <a:r>
              <a:rPr lang="en-GB" sz="1900" b="1" dirty="0">
                <a:latin typeface="Calibri" panose="020F0502020204030204" pitchFamily="34" charset="0"/>
                <a:cs typeface="Calibri" panose="020F0502020204030204" pitchFamily="34" charset="0"/>
              </a:rPr>
              <a:t>government policy</a:t>
            </a:r>
            <a:r>
              <a:rPr lang="en-GB" sz="1900" dirty="0">
                <a:latin typeface="Calibri" panose="020F0502020204030204" pitchFamily="34" charset="0"/>
                <a:cs typeface="Calibri" panose="020F0502020204030204" pitchFamily="34" charset="0"/>
              </a:rPr>
              <a:t>), and some will be spent on imports (non-domestic goods and services) (feeds into </a:t>
            </a:r>
            <a:r>
              <a:rPr lang="en-GB" sz="1900" b="1" dirty="0">
                <a:latin typeface="Calibri" panose="020F0502020204030204" pitchFamily="34" charset="0"/>
                <a:cs typeface="Calibri" panose="020F0502020204030204" pitchFamily="34" charset="0"/>
              </a:rPr>
              <a:t>balance of trade</a:t>
            </a:r>
            <a:r>
              <a:rPr lang="en-GB" sz="19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942428816"/>
      </p:ext>
    </p:extLst>
  </p:cSld>
  <p:clrMapOvr>
    <a:masterClrMapping/>
  </p:clrMapOvr>
  <p:transition spd="slow">
    <p:pull dir="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a:xfrm>
            <a:off x="196702" y="228603"/>
            <a:ext cx="11791507" cy="758825"/>
          </a:xfrm>
        </p:spPr>
        <p:txBody>
          <a:bodyPr>
            <a:normAutofit fontScale="90000"/>
          </a:bodyPr>
          <a:lstStyle/>
          <a:p>
            <a:r>
              <a:rPr lang="en-GB" altLang="en-US" sz="3200" dirty="0">
                <a:solidFill>
                  <a:schemeClr val="tx1"/>
                </a:solidFill>
              </a:rPr>
              <a:t>The impact of the macroeconomy on individuals and businesses</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71844"/>
            <a:ext cx="11379200" cy="4889500"/>
          </a:xfrm>
        </p:spPr>
        <p:txBody>
          <a:bodyPr/>
          <a:lstStyle/>
          <a:p>
            <a:pPr marL="457200" lvl="1" indent="0">
              <a:lnSpc>
                <a:spcPct val="100000"/>
              </a:lnSpc>
              <a:spcBef>
                <a:spcPts val="1200"/>
              </a:spcBef>
              <a:buNone/>
            </a:pPr>
            <a:endParaRPr lang="en-GB" sz="18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2A3E4A7-5554-4564-65AC-D34266659B48}"/>
              </a:ext>
            </a:extLst>
          </p:cNvPr>
          <p:cNvSpPr txBox="1"/>
          <p:nvPr/>
        </p:nvSpPr>
        <p:spPr>
          <a:xfrm>
            <a:off x="410633" y="1321186"/>
            <a:ext cx="11295814" cy="4093428"/>
          </a:xfrm>
          <a:prstGeom prst="rect">
            <a:avLst/>
          </a:prstGeom>
          <a:noFill/>
          <a:ln>
            <a:noFill/>
          </a:ln>
        </p:spPr>
        <p:txBody>
          <a:bodyPr wrap="square" rtlCol="0">
            <a:spAutoFit/>
          </a:bodyPr>
          <a:lstStyle/>
          <a:p>
            <a:pPr>
              <a:spcAft>
                <a:spcPts val="1200"/>
              </a:spcAft>
            </a:pPr>
            <a:r>
              <a:rPr lang="en-GB" sz="2000">
                <a:highlight>
                  <a:srgbClr val="FFFF00"/>
                </a:highlight>
                <a:latin typeface="Calibri" panose="020F0502020204030204" pitchFamily="34" charset="0"/>
                <a:cs typeface="Calibri" panose="020F0502020204030204" pitchFamily="34" charset="0"/>
              </a:rPr>
              <a:t>Activity – think about/discuss with the person next to you the following questions:</a:t>
            </a:r>
          </a:p>
          <a:p>
            <a:pPr marL="285750" indent="-28575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Why does economic growth matter to us as individuals?</a:t>
            </a:r>
          </a:p>
          <a:p>
            <a:pPr marL="285750" indent="-28575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Why does economic growth matter to businesses?</a:t>
            </a:r>
          </a:p>
          <a:p>
            <a:pPr marL="285750" indent="-28575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Why does unemployment matter to us as individuals?</a:t>
            </a:r>
          </a:p>
          <a:p>
            <a:pPr marL="285750" indent="-28575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Why does unemployment matter to businesses?</a:t>
            </a:r>
          </a:p>
          <a:p>
            <a:pPr marL="285750" indent="-28575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Why does inflation matter to us as individuals?</a:t>
            </a:r>
          </a:p>
          <a:p>
            <a:pPr marL="285750" indent="-28575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Why does inflation matter to businesses?</a:t>
            </a:r>
          </a:p>
          <a:p>
            <a:pPr marL="285750" indent="-28575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Why does government policy matter to us as individuals?</a:t>
            </a:r>
          </a:p>
          <a:p>
            <a:pPr marL="285750" indent="-285750">
              <a:spcAft>
                <a:spcPts val="1200"/>
              </a:spcAft>
              <a:buFont typeface="Arial" panose="020B0604020202020204" pitchFamily="34" charset="0"/>
              <a:buChar char="•"/>
            </a:pPr>
            <a:r>
              <a:rPr lang="en-GB" sz="2000">
                <a:latin typeface="Calibri" panose="020F0502020204030204" pitchFamily="34" charset="0"/>
                <a:cs typeface="Calibri" panose="020F0502020204030204" pitchFamily="34" charset="0"/>
              </a:rPr>
              <a:t>Why does government policy matter to businesses?</a:t>
            </a:r>
          </a:p>
        </p:txBody>
      </p:sp>
    </p:spTree>
    <p:extLst>
      <p:ext uri="{BB962C8B-B14F-4D97-AF65-F5344CB8AC3E}">
        <p14:creationId xmlns:p14="http://schemas.microsoft.com/office/powerpoint/2010/main" val="364373116"/>
      </p:ext>
    </p:extLst>
  </p:cSld>
  <p:clrMapOvr>
    <a:masterClrMapping/>
  </p:clrMapOvr>
  <p:transition spd="slow">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0488-2F3C-A660-1376-80DD374FEAB9}"/>
              </a:ext>
            </a:extLst>
          </p:cNvPr>
          <p:cNvSpPr>
            <a:spLocks noGrp="1"/>
          </p:cNvSpPr>
          <p:nvPr>
            <p:ph type="title"/>
          </p:nvPr>
        </p:nvSpPr>
        <p:spPr/>
        <p:txBody>
          <a:bodyPr/>
          <a:lstStyle/>
          <a:p>
            <a:r>
              <a:rPr lang="en-MY" dirty="0"/>
              <a:t>The business environment</a:t>
            </a:r>
          </a:p>
        </p:txBody>
      </p:sp>
      <p:sp>
        <p:nvSpPr>
          <p:cNvPr id="3" name="Content Placeholder 2">
            <a:extLst>
              <a:ext uri="{FF2B5EF4-FFF2-40B4-BE49-F238E27FC236}">
                <a16:creationId xmlns:a16="http://schemas.microsoft.com/office/drawing/2014/main" id="{20DEDDE8-064E-5F26-DB2A-D362900F7420}"/>
              </a:ext>
            </a:extLst>
          </p:cNvPr>
          <p:cNvSpPr>
            <a:spLocks noGrp="1"/>
          </p:cNvSpPr>
          <p:nvPr>
            <p:ph idx="1"/>
          </p:nvPr>
        </p:nvSpPr>
        <p:spPr/>
        <p:txBody>
          <a:bodyPr vert="horz" lIns="91440" tIns="45720" rIns="91440" bIns="45720" rtlCol="0" anchor="t">
            <a:normAutofit/>
          </a:bodyPr>
          <a:lstStyle/>
          <a:p>
            <a:r>
              <a:rPr lang="en-GB" dirty="0">
                <a:latin typeface="+mn-lt"/>
                <a:cs typeface="Helvetica"/>
              </a:rPr>
              <a:t>What do we mean by a business?</a:t>
            </a:r>
          </a:p>
          <a:p>
            <a:pPr lvl="1"/>
            <a:r>
              <a:rPr lang="en-GB" sz="2400" dirty="0">
                <a:latin typeface="+mn-lt"/>
                <a:cs typeface="Helvetica"/>
              </a:rPr>
              <a:t>Typically, an organisation which makes good or provides services</a:t>
            </a:r>
          </a:p>
          <a:p>
            <a:pPr lvl="1"/>
            <a:r>
              <a:rPr lang="en-GB" sz="2400" dirty="0">
                <a:latin typeface="+mn-lt"/>
                <a:cs typeface="Helvetica"/>
              </a:rPr>
              <a:t>Sells goods and services to people, who use them (weeks 2 – 3)</a:t>
            </a:r>
          </a:p>
          <a:p>
            <a:pPr lvl="1"/>
            <a:r>
              <a:rPr lang="en-GB" sz="2400" dirty="0">
                <a:latin typeface="+mn-lt"/>
                <a:cs typeface="Helvetica"/>
              </a:rPr>
              <a:t>Uses the revenue from sales to pay its costs (weeks 3 – 4)</a:t>
            </a:r>
          </a:p>
          <a:p>
            <a:pPr lvl="2"/>
            <a:r>
              <a:rPr lang="en-GB" sz="2400" dirty="0">
                <a:latin typeface="+mn-lt"/>
                <a:cs typeface="Helvetica"/>
              </a:rPr>
              <a:t>Wages to employees</a:t>
            </a:r>
          </a:p>
          <a:p>
            <a:pPr lvl="2"/>
            <a:r>
              <a:rPr lang="en-GB" sz="2400" dirty="0">
                <a:latin typeface="+mn-lt"/>
                <a:cs typeface="Helvetica"/>
              </a:rPr>
              <a:t>All its other operating costs</a:t>
            </a:r>
          </a:p>
          <a:p>
            <a:pPr lvl="2"/>
            <a:r>
              <a:rPr lang="en-GB" sz="2400" dirty="0">
                <a:latin typeface="+mn-lt"/>
                <a:cs typeface="Helvetica"/>
              </a:rPr>
              <a:t>For investment in new equipment and processes</a:t>
            </a:r>
          </a:p>
          <a:p>
            <a:pPr lvl="2"/>
            <a:r>
              <a:rPr lang="en-GB" sz="2400" dirty="0">
                <a:latin typeface="+mn-lt"/>
                <a:cs typeface="Helvetica"/>
              </a:rPr>
              <a:t>And keeps any money left over as profit</a:t>
            </a:r>
          </a:p>
          <a:p>
            <a:pPr lvl="1"/>
            <a:r>
              <a:rPr lang="en-GB" sz="2400" dirty="0">
                <a:latin typeface="+mn-lt"/>
                <a:cs typeface="Helvetica"/>
              </a:rPr>
              <a:t>We assume that businesses do all their buying and selling through markets </a:t>
            </a:r>
            <a:endParaRPr lang="en-GB" sz="3000" dirty="0">
              <a:latin typeface="+mn-lt"/>
              <a:cs typeface="Helvetica"/>
            </a:endParaRPr>
          </a:p>
          <a:p>
            <a:endParaRPr lang="en-MY" dirty="0"/>
          </a:p>
        </p:txBody>
      </p:sp>
    </p:spTree>
    <p:extLst>
      <p:ext uri="{BB962C8B-B14F-4D97-AF65-F5344CB8AC3E}">
        <p14:creationId xmlns:p14="http://schemas.microsoft.com/office/powerpoint/2010/main" val="15153966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80EDE-6A0D-7935-64DD-1A7201D99BDF}"/>
              </a:ext>
            </a:extLst>
          </p:cNvPr>
          <p:cNvSpPr>
            <a:spLocks noGrp="1"/>
          </p:cNvSpPr>
          <p:nvPr>
            <p:ph type="title"/>
          </p:nvPr>
        </p:nvSpPr>
        <p:spPr/>
        <p:txBody>
          <a:bodyPr/>
          <a:lstStyle/>
          <a:p>
            <a:r>
              <a:rPr lang="en-MY"/>
              <a:t>What is business economics?</a:t>
            </a:r>
          </a:p>
        </p:txBody>
      </p:sp>
      <p:sp>
        <p:nvSpPr>
          <p:cNvPr id="3" name="Content Placeholder 2">
            <a:extLst>
              <a:ext uri="{FF2B5EF4-FFF2-40B4-BE49-F238E27FC236}">
                <a16:creationId xmlns:a16="http://schemas.microsoft.com/office/drawing/2014/main" id="{C1F62A98-27F5-5308-77C5-9F636295A951}"/>
              </a:ext>
            </a:extLst>
          </p:cNvPr>
          <p:cNvSpPr>
            <a:spLocks noGrp="1"/>
          </p:cNvSpPr>
          <p:nvPr>
            <p:ph idx="1"/>
          </p:nvPr>
        </p:nvSpPr>
        <p:spPr/>
        <p:txBody>
          <a:bodyPr/>
          <a:lstStyle/>
          <a:p>
            <a:pPr>
              <a:lnSpc>
                <a:spcPct val="80000"/>
              </a:lnSpc>
              <a:spcBef>
                <a:spcPct val="45000"/>
              </a:spcBef>
            </a:pPr>
            <a:r>
              <a:rPr lang="en-GB" altLang="en-US" dirty="0">
                <a:latin typeface="+mn-lt"/>
              </a:rPr>
              <a:t>Understanding decision making in business</a:t>
            </a:r>
          </a:p>
          <a:p>
            <a:pPr lvl="1">
              <a:lnSpc>
                <a:spcPct val="80000"/>
              </a:lnSpc>
              <a:spcBef>
                <a:spcPct val="45000"/>
              </a:spcBef>
            </a:pPr>
            <a:r>
              <a:rPr lang="en-GB" altLang="en-US" dirty="0">
                <a:latin typeface="+mn-lt"/>
              </a:rPr>
              <a:t>from the economic perspective of thinking about market exchange</a:t>
            </a:r>
          </a:p>
          <a:p>
            <a:pPr lvl="1">
              <a:lnSpc>
                <a:spcPct val="80000"/>
              </a:lnSpc>
              <a:spcBef>
                <a:spcPct val="45000"/>
              </a:spcBef>
            </a:pPr>
            <a:r>
              <a:rPr lang="en-GB" altLang="en-US" dirty="0">
                <a:latin typeface="+mn-lt"/>
              </a:rPr>
              <a:t>Important for us to consider</a:t>
            </a:r>
          </a:p>
          <a:p>
            <a:pPr lvl="2">
              <a:lnSpc>
                <a:spcPct val="80000"/>
              </a:lnSpc>
              <a:spcBef>
                <a:spcPct val="45000"/>
              </a:spcBef>
            </a:pPr>
            <a:r>
              <a:rPr lang="en-GB" altLang="en-US" dirty="0">
                <a:latin typeface="+mn-lt"/>
              </a:rPr>
              <a:t>external influences on the firm – the business environment</a:t>
            </a:r>
          </a:p>
          <a:p>
            <a:pPr lvl="2">
              <a:lnSpc>
                <a:spcPct val="80000"/>
              </a:lnSpc>
              <a:spcBef>
                <a:spcPct val="45000"/>
              </a:spcBef>
            </a:pPr>
            <a:r>
              <a:rPr lang="en-GB" altLang="en-US" dirty="0">
                <a:latin typeface="+mn-lt"/>
              </a:rPr>
              <a:t>decisions which the firm makes itself (internal decisions)</a:t>
            </a:r>
          </a:p>
          <a:p>
            <a:pPr lvl="2">
              <a:lnSpc>
                <a:spcPct val="80000"/>
              </a:lnSpc>
              <a:spcBef>
                <a:spcPct val="45000"/>
              </a:spcBef>
            </a:pPr>
            <a:r>
              <a:rPr lang="en-GB" altLang="en-US" dirty="0">
                <a:latin typeface="+mn-lt"/>
              </a:rPr>
              <a:t>external effects of business decision making (the effects on society)</a:t>
            </a:r>
          </a:p>
          <a:p>
            <a:pPr>
              <a:lnSpc>
                <a:spcPct val="80000"/>
              </a:lnSpc>
              <a:spcBef>
                <a:spcPct val="45000"/>
              </a:spcBef>
            </a:pPr>
            <a:r>
              <a:rPr lang="en-GB" altLang="en-US" dirty="0">
                <a:latin typeface="+mn-lt"/>
              </a:rPr>
              <a:t>What do business economists do?</a:t>
            </a:r>
          </a:p>
          <a:p>
            <a:pPr lvl="1">
              <a:lnSpc>
                <a:spcPct val="80000"/>
              </a:lnSpc>
              <a:spcBef>
                <a:spcPct val="45000"/>
              </a:spcBef>
            </a:pPr>
            <a:r>
              <a:rPr lang="en-GB" altLang="en-US" dirty="0">
                <a:latin typeface="+mn-lt"/>
              </a:rPr>
              <a:t>Describe – what we can observe happening in businesses and markets</a:t>
            </a:r>
          </a:p>
          <a:p>
            <a:pPr lvl="1">
              <a:lnSpc>
                <a:spcPct val="80000"/>
              </a:lnSpc>
              <a:spcBef>
                <a:spcPct val="45000"/>
              </a:spcBef>
            </a:pPr>
            <a:r>
              <a:rPr lang="en-GB" altLang="en-US" dirty="0">
                <a:latin typeface="+mn-lt"/>
              </a:rPr>
              <a:t>Analyse – what would be the effects of changes in market conditions</a:t>
            </a:r>
          </a:p>
          <a:p>
            <a:pPr lvl="1">
              <a:lnSpc>
                <a:spcPct val="80000"/>
              </a:lnSpc>
              <a:spcBef>
                <a:spcPct val="45000"/>
              </a:spcBef>
            </a:pPr>
            <a:r>
              <a:rPr lang="en-GB" altLang="en-US" dirty="0">
                <a:latin typeface="+mn-lt"/>
              </a:rPr>
              <a:t>Recommend – how businesses should change their behaviour</a:t>
            </a:r>
          </a:p>
          <a:p>
            <a:endParaRPr lang="en-MY" dirty="0"/>
          </a:p>
        </p:txBody>
      </p:sp>
    </p:spTree>
    <p:extLst>
      <p:ext uri="{BB962C8B-B14F-4D97-AF65-F5344CB8AC3E}">
        <p14:creationId xmlns:p14="http://schemas.microsoft.com/office/powerpoint/2010/main" val="3801173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CE532-2871-3051-E33C-7D2354012741}"/>
              </a:ext>
            </a:extLst>
          </p:cNvPr>
          <p:cNvSpPr>
            <a:spLocks noGrp="1"/>
          </p:cNvSpPr>
          <p:nvPr>
            <p:ph type="title"/>
          </p:nvPr>
        </p:nvSpPr>
        <p:spPr/>
        <p:txBody>
          <a:bodyPr/>
          <a:lstStyle/>
          <a:p>
            <a:r>
              <a:rPr lang="en-MY"/>
              <a:t>Determinants of business performance</a:t>
            </a:r>
          </a:p>
        </p:txBody>
      </p:sp>
      <p:sp>
        <p:nvSpPr>
          <p:cNvPr id="3" name="Content Placeholder 2">
            <a:extLst>
              <a:ext uri="{FF2B5EF4-FFF2-40B4-BE49-F238E27FC236}">
                <a16:creationId xmlns:a16="http://schemas.microsoft.com/office/drawing/2014/main" id="{26E9B167-3F96-40D8-7297-139612B760C1}"/>
              </a:ext>
            </a:extLst>
          </p:cNvPr>
          <p:cNvSpPr>
            <a:spLocks noGrp="1"/>
          </p:cNvSpPr>
          <p:nvPr>
            <p:ph idx="1"/>
          </p:nvPr>
        </p:nvSpPr>
        <p:spPr>
          <a:xfrm>
            <a:off x="838200" y="1555335"/>
            <a:ext cx="10515600" cy="4469545"/>
          </a:xfrm>
        </p:spPr>
        <p:txBody>
          <a:bodyPr/>
          <a:lstStyle/>
          <a:p>
            <a:pPr>
              <a:spcBef>
                <a:spcPct val="60000"/>
              </a:spcBef>
            </a:pPr>
            <a:r>
              <a:rPr lang="en-GB" altLang="en-US" dirty="0"/>
              <a:t>Structure </a:t>
            </a:r>
            <a:r>
              <a:rPr lang="en-GB" altLang="en-US" dirty="0">
                <a:sym typeface="Wingdings" panose="05000000000000000000" pitchFamily="2" charset="2"/>
              </a:rPr>
              <a:t> Conduct  Performance</a:t>
            </a:r>
            <a:endParaRPr lang="en-GB" altLang="en-US" dirty="0"/>
          </a:p>
          <a:p>
            <a:pPr>
              <a:spcBef>
                <a:spcPct val="60000"/>
              </a:spcBef>
            </a:pPr>
            <a:endParaRPr lang="en-GB" altLang="en-US" dirty="0"/>
          </a:p>
          <a:p>
            <a:pPr>
              <a:spcBef>
                <a:spcPct val="60000"/>
              </a:spcBef>
            </a:pPr>
            <a:r>
              <a:rPr lang="en-GB" altLang="en-US" dirty="0"/>
              <a:t>How business structure affects business conduct (behaviour)</a:t>
            </a:r>
          </a:p>
          <a:p>
            <a:pPr lvl="1">
              <a:spcBef>
                <a:spcPct val="60000"/>
              </a:spcBef>
            </a:pPr>
            <a:r>
              <a:rPr lang="en-GB" altLang="en-US" dirty="0"/>
              <a:t>Competitive markets imply competitive behaviour</a:t>
            </a:r>
          </a:p>
          <a:p>
            <a:pPr lvl="2">
              <a:spcBef>
                <a:spcPct val="60000"/>
              </a:spcBef>
            </a:pPr>
            <a:r>
              <a:rPr lang="en-GB" altLang="en-US" dirty="0"/>
              <a:t>Will look at this in detail in weeks 4 – 5: small firms, low profits</a:t>
            </a:r>
          </a:p>
          <a:p>
            <a:pPr lvl="1">
              <a:spcBef>
                <a:spcPct val="60000"/>
              </a:spcBef>
            </a:pPr>
            <a:r>
              <a:rPr lang="en-GB" altLang="en-US" dirty="0"/>
              <a:t>Market power implies limited competition and collusion</a:t>
            </a:r>
          </a:p>
          <a:p>
            <a:pPr lvl="2">
              <a:spcBef>
                <a:spcPct val="60000"/>
              </a:spcBef>
            </a:pPr>
            <a:r>
              <a:rPr lang="en-GB" altLang="en-US" dirty="0"/>
              <a:t>Larger firms – higher profits – which is more efficient?</a:t>
            </a:r>
          </a:p>
          <a:p>
            <a:pPr lvl="1">
              <a:spcBef>
                <a:spcPct val="60000"/>
              </a:spcBef>
            </a:pPr>
            <a:r>
              <a:rPr lang="en-GB" altLang="en-US" dirty="0"/>
              <a:t>Performance indicators for businesses include profitability, market share, growth in market share, share prices</a:t>
            </a:r>
          </a:p>
          <a:p>
            <a:endParaRPr lang="en-MY" dirty="0"/>
          </a:p>
        </p:txBody>
      </p:sp>
    </p:spTree>
    <p:extLst>
      <p:ext uri="{BB962C8B-B14F-4D97-AF65-F5344CB8AC3E}">
        <p14:creationId xmlns:p14="http://schemas.microsoft.com/office/powerpoint/2010/main" val="2655524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E9CC1-EA6C-540D-D18C-3590790BAB4C}"/>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D91BD6BA-D5CF-6A7A-65DA-9D44D26CBA3F}"/>
              </a:ext>
            </a:extLst>
          </p:cNvPr>
          <p:cNvSpPr>
            <a:spLocks noGrp="1"/>
          </p:cNvSpPr>
          <p:nvPr>
            <p:ph idx="1"/>
          </p:nvPr>
        </p:nvSpPr>
        <p:spPr/>
        <p:txBody>
          <a:bodyPr/>
          <a:lstStyle/>
          <a:p>
            <a:pPr>
              <a:spcBef>
                <a:spcPct val="40000"/>
              </a:spcBef>
            </a:pPr>
            <a:r>
              <a:rPr lang="en-GB" altLang="en-US" dirty="0"/>
              <a:t>For the business – is the main objective profit maximisation</a:t>
            </a:r>
          </a:p>
          <a:p>
            <a:pPr lvl="1">
              <a:spcBef>
                <a:spcPct val="40000"/>
              </a:spcBef>
            </a:pPr>
            <a:r>
              <a:rPr lang="en-GB" altLang="en-US" dirty="0"/>
              <a:t>Or will firms have other goals?</a:t>
            </a:r>
          </a:p>
          <a:p>
            <a:pPr>
              <a:spcBef>
                <a:spcPct val="40000"/>
              </a:spcBef>
            </a:pPr>
            <a:r>
              <a:rPr lang="en-GB" altLang="en-US" dirty="0"/>
              <a:t>Consider the internal organisation of (large) businesses</a:t>
            </a:r>
          </a:p>
          <a:p>
            <a:pPr lvl="1">
              <a:spcBef>
                <a:spcPct val="40000"/>
              </a:spcBef>
            </a:pPr>
            <a:r>
              <a:rPr lang="en-GB" altLang="en-US" dirty="0"/>
              <a:t>Owners appoint managers to act in their interests</a:t>
            </a:r>
          </a:p>
          <a:p>
            <a:pPr lvl="1">
              <a:spcBef>
                <a:spcPct val="40000"/>
              </a:spcBef>
            </a:pPr>
            <a:r>
              <a:rPr lang="en-GB" altLang="en-US" dirty="0"/>
              <a:t>Managers have their own objectives</a:t>
            </a:r>
          </a:p>
          <a:p>
            <a:pPr lvl="2">
              <a:spcBef>
                <a:spcPct val="40000"/>
              </a:spcBef>
            </a:pPr>
            <a:r>
              <a:rPr lang="en-GB" altLang="en-US" dirty="0"/>
              <a:t>May be interested in salary, turnover, staff size, reward without effort</a:t>
            </a:r>
          </a:p>
          <a:p>
            <a:pPr lvl="1">
              <a:spcBef>
                <a:spcPct val="40000"/>
              </a:spcBef>
            </a:pPr>
            <a:r>
              <a:rPr lang="en-GB" altLang="en-US" dirty="0"/>
              <a:t>Owners and managers can be in conflict</a:t>
            </a:r>
          </a:p>
          <a:p>
            <a:pPr lvl="2">
              <a:spcBef>
                <a:spcPct val="40000"/>
              </a:spcBef>
            </a:pPr>
            <a:r>
              <a:rPr lang="en-GB" altLang="en-US" dirty="0"/>
              <a:t>Many interesting problems – principal-agent</a:t>
            </a:r>
          </a:p>
          <a:p>
            <a:endParaRPr lang="en-MY" dirty="0"/>
          </a:p>
          <a:p>
            <a:r>
              <a:rPr lang="en-MY" dirty="0">
                <a:highlight>
                  <a:srgbClr val="FFFF00"/>
                </a:highlight>
              </a:rPr>
              <a:t>Self-test activity: What are other factors affecting business performance?</a:t>
            </a:r>
          </a:p>
        </p:txBody>
      </p:sp>
    </p:spTree>
    <p:extLst>
      <p:ext uri="{BB962C8B-B14F-4D97-AF65-F5344CB8AC3E}">
        <p14:creationId xmlns:p14="http://schemas.microsoft.com/office/powerpoint/2010/main" val="2441459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23460-E75D-C407-F233-0039ADD44408}"/>
              </a:ext>
            </a:extLst>
          </p:cNvPr>
          <p:cNvSpPr>
            <a:spLocks noGrp="1"/>
          </p:cNvSpPr>
          <p:nvPr>
            <p:ph type="title"/>
          </p:nvPr>
        </p:nvSpPr>
        <p:spPr/>
        <p:txBody>
          <a:bodyPr/>
          <a:lstStyle/>
          <a:p>
            <a:r>
              <a:rPr lang="en-MY"/>
              <a:t>Tools for analysing business environment</a:t>
            </a:r>
          </a:p>
        </p:txBody>
      </p:sp>
      <p:sp>
        <p:nvSpPr>
          <p:cNvPr id="3" name="Content Placeholder 2">
            <a:extLst>
              <a:ext uri="{FF2B5EF4-FFF2-40B4-BE49-F238E27FC236}">
                <a16:creationId xmlns:a16="http://schemas.microsoft.com/office/drawing/2014/main" id="{816B6021-EFF4-E2F5-E88F-A366A0BC78E0}"/>
              </a:ext>
            </a:extLst>
          </p:cNvPr>
          <p:cNvSpPr>
            <a:spLocks noGrp="1"/>
          </p:cNvSpPr>
          <p:nvPr>
            <p:ph idx="1"/>
          </p:nvPr>
        </p:nvSpPr>
        <p:spPr/>
        <p:txBody>
          <a:bodyPr/>
          <a:lstStyle/>
          <a:p>
            <a:r>
              <a:rPr lang="en-MY" dirty="0"/>
              <a:t>One way to think about the business environment is to use PEST analysis</a:t>
            </a:r>
          </a:p>
          <a:p>
            <a:r>
              <a:rPr lang="en-MY" dirty="0"/>
              <a:t>Case study: the EV market in Malaysia (or other country)</a:t>
            </a:r>
          </a:p>
          <a:p>
            <a:pPr lvl="1"/>
            <a:r>
              <a:rPr lang="en-MY" dirty="0"/>
              <a:t>(P) Political factors: what are the political factors affecting development of an EV industry in Malaysia</a:t>
            </a:r>
          </a:p>
          <a:p>
            <a:pPr lvl="1"/>
            <a:r>
              <a:rPr lang="en-MY" dirty="0"/>
              <a:t>(E) Economic factors: what are the economic factors?</a:t>
            </a:r>
          </a:p>
          <a:p>
            <a:pPr lvl="1"/>
            <a:r>
              <a:rPr lang="en-MY" dirty="0"/>
              <a:t>(S) Social factors?</a:t>
            </a:r>
          </a:p>
          <a:p>
            <a:pPr lvl="1"/>
            <a:r>
              <a:rPr lang="en-MY" dirty="0"/>
              <a:t>(T) Technological factors?</a:t>
            </a:r>
          </a:p>
          <a:p>
            <a:pPr lvl="1"/>
            <a:endParaRPr lang="en-MY" dirty="0"/>
          </a:p>
          <a:p>
            <a:r>
              <a:rPr lang="en-MY" dirty="0"/>
              <a:t>A similar framework is the STEEPLE analysis (example </a:t>
            </a:r>
            <a:r>
              <a:rPr lang="en-MY" dirty="0">
                <a:hlinkClick r:id="rId2"/>
              </a:rPr>
              <a:t>here</a:t>
            </a:r>
            <a:r>
              <a:rPr lang="en-MY" dirty="0"/>
              <a:t>)</a:t>
            </a:r>
          </a:p>
          <a:p>
            <a:r>
              <a:rPr lang="en-MY" dirty="0"/>
              <a:t>More on this during the tutorial</a:t>
            </a:r>
          </a:p>
          <a:p>
            <a:pPr marL="457200" lvl="1" indent="0">
              <a:buNone/>
            </a:pPr>
            <a:endParaRPr lang="en-MY" dirty="0"/>
          </a:p>
          <a:p>
            <a:pPr lvl="1"/>
            <a:endParaRPr lang="en-MY" dirty="0"/>
          </a:p>
        </p:txBody>
      </p:sp>
    </p:spTree>
    <p:extLst>
      <p:ext uri="{BB962C8B-B14F-4D97-AF65-F5344CB8AC3E}">
        <p14:creationId xmlns:p14="http://schemas.microsoft.com/office/powerpoint/2010/main" val="2690953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62E35767-FC4D-4381-B778-FB14A3201F2E}"/>
              </a:ext>
            </a:extLst>
          </p:cNvPr>
          <p:cNvSpPr>
            <a:spLocks noGrp="1"/>
          </p:cNvSpPr>
          <p:nvPr>
            <p:ph type="title"/>
          </p:nvPr>
        </p:nvSpPr>
        <p:spPr/>
        <p:txBody>
          <a:bodyPr/>
          <a:lstStyle/>
          <a:p>
            <a:r>
              <a:rPr lang="en-GB" altLang="en-US">
                <a:solidFill>
                  <a:schemeClr val="tx1"/>
                </a:solidFill>
              </a:rPr>
              <a:t>Summary</a:t>
            </a:r>
          </a:p>
        </p:txBody>
      </p:sp>
      <p:sp>
        <p:nvSpPr>
          <p:cNvPr id="384003" name="Rectangle 3">
            <a:extLst>
              <a:ext uri="{FF2B5EF4-FFF2-40B4-BE49-F238E27FC236}">
                <a16:creationId xmlns:a16="http://schemas.microsoft.com/office/drawing/2014/main" id="{811FE29D-CF2D-4484-8C09-D894F8F590C1}"/>
              </a:ext>
            </a:extLst>
          </p:cNvPr>
          <p:cNvSpPr>
            <a:spLocks noGrp="1"/>
          </p:cNvSpPr>
          <p:nvPr>
            <p:ph idx="1"/>
          </p:nvPr>
        </p:nvSpPr>
        <p:spPr>
          <a:xfrm>
            <a:off x="402167" y="1571844"/>
            <a:ext cx="11379200" cy="4889500"/>
          </a:xfrm>
        </p:spPr>
        <p:txBody>
          <a:bodyPr/>
          <a:lstStyle/>
          <a:p>
            <a:pPr marL="457200" lvl="1" indent="0">
              <a:lnSpc>
                <a:spcPct val="100000"/>
              </a:lnSpc>
              <a:spcBef>
                <a:spcPts val="1200"/>
              </a:spcBef>
              <a:buNone/>
            </a:pPr>
            <a:endParaRPr lang="en-GB" sz="1800">
              <a:latin typeface="Calibri" panose="020F0502020204030204" pitchFamily="34" charset="0"/>
              <a:cs typeface="Calibri" panose="020F0502020204030204" pitchFamily="34" charset="0"/>
            </a:endParaRPr>
          </a:p>
          <a:p>
            <a:pPr marL="457200" lvl="1" indent="0">
              <a:lnSpc>
                <a:spcPct val="100000"/>
              </a:lnSpc>
              <a:spcBef>
                <a:spcPts val="1200"/>
              </a:spcBef>
              <a:buNone/>
            </a:pPr>
            <a:endParaRPr lang="en-GB" altLang="en-US" sz="180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D6C8D862-AB3A-588B-EF6D-2BF40A38BCAD}"/>
              </a:ext>
            </a:extLst>
          </p:cNvPr>
          <p:cNvSpPr txBox="1"/>
          <p:nvPr/>
        </p:nvSpPr>
        <p:spPr>
          <a:xfrm>
            <a:off x="515678" y="1360311"/>
            <a:ext cx="10983434" cy="4899803"/>
          </a:xfrm>
          <a:prstGeom prst="rect">
            <a:avLst/>
          </a:prstGeom>
          <a:noFill/>
        </p:spPr>
        <p:txBody>
          <a:bodyPr wrap="square">
            <a:spAutoFit/>
          </a:bodyPr>
          <a:lstStyle/>
          <a:p>
            <a:pPr marL="342900" indent="-342900">
              <a:lnSpc>
                <a:spcPct val="80000"/>
              </a:lnSpc>
              <a:spcBef>
                <a:spcPct val="55000"/>
              </a:spcBef>
              <a:buFont typeface="Arial" panose="020B0604020202020204" pitchFamily="34" charset="0"/>
              <a:buChar char="•"/>
            </a:pPr>
            <a:r>
              <a:rPr lang="en-GB" altLang="en-US" sz="2000">
                <a:latin typeface="Calibri" panose="020F0502020204030204" pitchFamily="34" charset="0"/>
                <a:cs typeface="Calibri" panose="020F0502020204030204" pitchFamily="34" charset="0"/>
              </a:rPr>
              <a:t>Economist’s study the problem of </a:t>
            </a:r>
            <a:r>
              <a:rPr lang="en-GB" altLang="en-US" sz="2000" b="1">
                <a:latin typeface="Calibri" panose="020F0502020204030204" pitchFamily="34" charset="0"/>
                <a:cs typeface="Calibri" panose="020F0502020204030204" pitchFamily="34" charset="0"/>
              </a:rPr>
              <a:t>scarcity</a:t>
            </a:r>
            <a:r>
              <a:rPr lang="en-GB" altLang="en-US" sz="2000">
                <a:latin typeface="Calibri" panose="020F0502020204030204" pitchFamily="34" charset="0"/>
                <a:cs typeface="Calibri" panose="020F0502020204030204" pitchFamily="34" charset="0"/>
              </a:rPr>
              <a:t>.</a:t>
            </a:r>
          </a:p>
          <a:p>
            <a:pPr marL="342900" indent="-342900">
              <a:lnSpc>
                <a:spcPct val="80000"/>
              </a:lnSpc>
              <a:spcBef>
                <a:spcPct val="55000"/>
              </a:spcBef>
              <a:buFont typeface="Arial" panose="020B0604020202020204" pitchFamily="34" charset="0"/>
              <a:buChar char="•"/>
            </a:pPr>
            <a:r>
              <a:rPr lang="en-GB" altLang="en-US" sz="2000" b="1">
                <a:latin typeface="Calibri" panose="020F0502020204030204" pitchFamily="34" charset="0"/>
                <a:cs typeface="Calibri" panose="020F0502020204030204" pitchFamily="34" charset="0"/>
              </a:rPr>
              <a:t>Microeconomic choices </a:t>
            </a:r>
            <a:r>
              <a:rPr lang="en-GB" altLang="en-US" sz="2000">
                <a:latin typeface="Calibri" panose="020F0502020204030204" pitchFamily="34" charset="0"/>
                <a:cs typeface="Calibri" panose="020F0502020204030204" pitchFamily="34" charset="0"/>
              </a:rPr>
              <a:t>are made at the individual consumer, firm or industry level</a:t>
            </a:r>
          </a:p>
          <a:p>
            <a:pPr marL="800100" lvl="1" indent="-342900">
              <a:lnSpc>
                <a:spcPct val="80000"/>
              </a:lnSpc>
              <a:spcBef>
                <a:spcPct val="55000"/>
              </a:spcBef>
              <a:buFont typeface="Arial" panose="020B0604020202020204" pitchFamily="34" charset="0"/>
              <a:buChar char="•"/>
            </a:pPr>
            <a:r>
              <a:rPr lang="en-GB" altLang="en-US" sz="2000">
                <a:latin typeface="Calibri" panose="020F0502020204030204" pitchFamily="34" charset="0"/>
                <a:cs typeface="Calibri" panose="020F0502020204030204" pitchFamily="34" charset="0"/>
              </a:rPr>
              <a:t>To help with these choices, we use the concept of </a:t>
            </a:r>
            <a:r>
              <a:rPr lang="en-GB" altLang="en-US" sz="2000" b="1">
                <a:latin typeface="Calibri" panose="020F0502020204030204" pitchFamily="34" charset="0"/>
                <a:cs typeface="Calibri" panose="020F0502020204030204" pitchFamily="34" charset="0"/>
              </a:rPr>
              <a:t>opportunity cost</a:t>
            </a:r>
          </a:p>
          <a:p>
            <a:pPr marL="800100" lvl="1" indent="-342900">
              <a:lnSpc>
                <a:spcPct val="80000"/>
              </a:lnSpc>
              <a:spcBef>
                <a:spcPct val="55000"/>
              </a:spcBef>
              <a:buFont typeface="Arial" panose="020B0604020202020204" pitchFamily="34" charset="0"/>
              <a:buChar char="•"/>
            </a:pPr>
            <a:r>
              <a:rPr lang="en-GB" altLang="en-US" sz="2000">
                <a:latin typeface="Calibri" panose="020F0502020204030204" pitchFamily="34" charset="0"/>
                <a:cs typeface="Calibri" panose="020F0502020204030204" pitchFamily="34" charset="0"/>
              </a:rPr>
              <a:t>For now, we will focus on </a:t>
            </a:r>
            <a:r>
              <a:rPr lang="en-GB" altLang="en-US" sz="2000" b="1">
                <a:latin typeface="Calibri" panose="020F0502020204030204" pitchFamily="34" charset="0"/>
                <a:cs typeface="Calibri" panose="020F0502020204030204" pitchFamily="34" charset="0"/>
              </a:rPr>
              <a:t>rational choices </a:t>
            </a:r>
            <a:r>
              <a:rPr lang="en-GB" altLang="en-US" sz="2000">
                <a:latin typeface="Calibri" panose="020F0502020204030204" pitchFamily="34" charset="0"/>
                <a:cs typeface="Calibri" panose="020F0502020204030204" pitchFamily="34" charset="0"/>
              </a:rPr>
              <a:t>(weighing up the </a:t>
            </a:r>
            <a:r>
              <a:rPr lang="en-GB" altLang="en-US" sz="2000" b="1">
                <a:latin typeface="Calibri" panose="020F0502020204030204" pitchFamily="34" charset="0"/>
                <a:cs typeface="Calibri" panose="020F0502020204030204" pitchFamily="34" charset="0"/>
              </a:rPr>
              <a:t>marginal costs </a:t>
            </a:r>
            <a:r>
              <a:rPr lang="en-GB" altLang="en-US" sz="2000">
                <a:latin typeface="Calibri" panose="020F0502020204030204" pitchFamily="34" charset="0"/>
                <a:cs typeface="Calibri" panose="020F0502020204030204" pitchFamily="34" charset="0"/>
              </a:rPr>
              <a:t>and </a:t>
            </a:r>
            <a:r>
              <a:rPr lang="en-GB" altLang="en-US" sz="2000" b="1">
                <a:latin typeface="Calibri" panose="020F0502020204030204" pitchFamily="34" charset="0"/>
                <a:cs typeface="Calibri" panose="020F0502020204030204" pitchFamily="34" charset="0"/>
              </a:rPr>
              <a:t>marginal benefits</a:t>
            </a:r>
            <a:r>
              <a:rPr lang="en-GB" altLang="en-US" sz="2000">
                <a:latin typeface="Calibri" panose="020F0502020204030204" pitchFamily="34" charset="0"/>
                <a:cs typeface="Calibri" panose="020F0502020204030204" pitchFamily="34" charset="0"/>
              </a:rPr>
              <a:t>)</a:t>
            </a:r>
          </a:p>
          <a:p>
            <a:pPr marL="800100" lvl="1" indent="-342900">
              <a:lnSpc>
                <a:spcPct val="80000"/>
              </a:lnSpc>
              <a:spcBef>
                <a:spcPct val="55000"/>
              </a:spcBef>
              <a:buFont typeface="Arial" panose="020B0604020202020204" pitchFamily="34" charset="0"/>
              <a:buChar char="•"/>
            </a:pPr>
            <a:r>
              <a:rPr lang="en-GB" altLang="en-US" sz="2000">
                <a:latin typeface="Calibri" panose="020F0502020204030204" pitchFamily="34" charset="0"/>
                <a:cs typeface="Calibri" panose="020F0502020204030204" pitchFamily="34" charset="0"/>
              </a:rPr>
              <a:t>At the firm level, these choices involve decisions about what goods and services to produce, how to produce them and for whom.</a:t>
            </a:r>
          </a:p>
          <a:p>
            <a:pPr marL="342900" indent="-342900">
              <a:lnSpc>
                <a:spcPct val="80000"/>
              </a:lnSpc>
              <a:spcBef>
                <a:spcPct val="55000"/>
              </a:spcBef>
              <a:buFont typeface="Arial" panose="020B0604020202020204" pitchFamily="34" charset="0"/>
              <a:buChar char="•"/>
            </a:pPr>
            <a:r>
              <a:rPr lang="en-GB" altLang="en-US" sz="2000" b="1">
                <a:latin typeface="Calibri" panose="020F0502020204030204" pitchFamily="34" charset="0"/>
                <a:cs typeface="Calibri" panose="020F0502020204030204" pitchFamily="34" charset="0"/>
              </a:rPr>
              <a:t>Macroeconomic studies </a:t>
            </a:r>
            <a:r>
              <a:rPr lang="en-GB" altLang="en-US" sz="2000">
                <a:latin typeface="Calibri" panose="020F0502020204030204" pitchFamily="34" charset="0"/>
                <a:cs typeface="Calibri" panose="020F0502020204030204" pitchFamily="34" charset="0"/>
              </a:rPr>
              <a:t>the determination of national output and its growth over time</a:t>
            </a:r>
          </a:p>
          <a:p>
            <a:pPr marL="800100" lvl="1" indent="-342900">
              <a:lnSpc>
                <a:spcPct val="80000"/>
              </a:lnSpc>
              <a:spcBef>
                <a:spcPct val="55000"/>
              </a:spcBef>
              <a:buFont typeface="Arial" panose="020B0604020202020204" pitchFamily="34" charset="0"/>
              <a:buChar char="•"/>
            </a:pPr>
            <a:r>
              <a:rPr lang="en-GB" altLang="en-US" sz="2000">
                <a:latin typeface="Calibri" panose="020F0502020204030204" pitchFamily="34" charset="0"/>
                <a:cs typeface="Calibri" panose="020F0502020204030204" pitchFamily="34" charset="0"/>
              </a:rPr>
              <a:t>It all studies the problems of stagnation, inflation, unemployment, the balance of international payments and cyclical instability, and the policies adopted by governments to deal with these problems.</a:t>
            </a:r>
          </a:p>
          <a:p>
            <a:pPr marL="800100" lvl="1" indent="-342900">
              <a:lnSpc>
                <a:spcPct val="80000"/>
              </a:lnSpc>
              <a:spcBef>
                <a:spcPct val="55000"/>
              </a:spcBef>
              <a:buFont typeface="Arial" panose="020B0604020202020204" pitchFamily="34" charset="0"/>
              <a:buChar char="•"/>
            </a:pPr>
            <a:r>
              <a:rPr lang="en-GB" altLang="en-US" sz="2000">
                <a:latin typeface="Calibri" panose="020F0502020204030204" pitchFamily="34" charset="0"/>
                <a:cs typeface="Calibri" panose="020F0502020204030204" pitchFamily="34" charset="0"/>
              </a:rPr>
              <a:t>The circular flow of income illustrates the relationship between producers and consumers.</a:t>
            </a:r>
          </a:p>
          <a:p>
            <a:pPr marL="342900" indent="-342900">
              <a:lnSpc>
                <a:spcPct val="80000"/>
              </a:lnSpc>
              <a:spcBef>
                <a:spcPct val="55000"/>
              </a:spcBef>
              <a:buFont typeface="Arial" panose="020B0604020202020204" pitchFamily="34" charset="0"/>
              <a:buChar char="•"/>
            </a:pPr>
            <a:r>
              <a:rPr lang="en-GB" altLang="en-US" sz="2000">
                <a:latin typeface="Calibri" panose="020F0502020204030204" pitchFamily="34" charset="0"/>
                <a:cs typeface="Calibri" panose="020F0502020204030204" pitchFamily="34" charset="0"/>
              </a:rPr>
              <a:t>Important to understand the business environment; PEST/STEEPLE analysis are useful methods to analyse business environment</a:t>
            </a:r>
          </a:p>
        </p:txBody>
      </p:sp>
    </p:spTree>
    <p:extLst>
      <p:ext uri="{BB962C8B-B14F-4D97-AF65-F5344CB8AC3E}">
        <p14:creationId xmlns:p14="http://schemas.microsoft.com/office/powerpoint/2010/main" val="3984159329"/>
      </p:ext>
    </p:extLst>
  </p:cSld>
  <p:clrMapOvr>
    <a:masterClrMapping/>
  </p:clrMapOvr>
  <p:transition spd="slow">
    <p:pull dir="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18D0F1B-ED24-4043-861A-D433F19CA78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079BABB-D5A2-4A04-86CD-415D03243D00}"/>
    </a:ext>
  </a:extLst>
</a:theme>
</file>

<file path=ppt/theme/theme3.xml><?xml version="1.0" encoding="utf-8"?>
<a:theme xmlns:a="http://schemas.openxmlformats.org/drawingml/2006/main" name="1_Office Theme">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0D2A3BC3-CEDD-4C53-A3FC-3DE9294C301B}"/>
    </a:ext>
  </a:extLst>
</a:theme>
</file>

<file path=ppt/theme/theme4.xml><?xml version="1.0" encoding="utf-8"?>
<a:theme xmlns:a="http://schemas.openxmlformats.org/drawingml/2006/main" name="4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34F82C73-F6DE-4FCA-855E-58081A0B843E}"/>
    </a:ext>
  </a:extLst>
</a:theme>
</file>

<file path=ppt/theme/theme5.xml><?xml version="1.0" encoding="utf-8"?>
<a:theme xmlns:a="http://schemas.openxmlformats.org/drawingml/2006/main" name="5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6.xml><?xml version="1.0" encoding="utf-8"?>
<a:theme xmlns:a="http://schemas.openxmlformats.org/drawingml/2006/main" name="6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3A621054F1D04C90C60CDB3C987234" ma:contentTypeVersion="17" ma:contentTypeDescription="Create a new document." ma:contentTypeScope="" ma:versionID="18071292a42031f7c77aa4bdf678ff00">
  <xsd:schema xmlns:xsd="http://www.w3.org/2001/XMLSchema" xmlns:xs="http://www.w3.org/2001/XMLSchema" xmlns:p="http://schemas.microsoft.com/office/2006/metadata/properties" xmlns:ns2="4e318df0-612d-4dff-ad55-c2016fd214d1" xmlns:ns3="750e769a-c6ab-48a0-ac99-347a633d873e" targetNamespace="http://schemas.microsoft.com/office/2006/metadata/properties" ma:root="true" ma:fieldsID="f3dd89fd09c91a75d61e58820517e053" ns2:_="" ns3:_="">
    <xsd:import namespace="4e318df0-612d-4dff-ad55-c2016fd214d1"/>
    <xsd:import namespace="750e769a-c6ab-48a0-ac99-347a633d873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18df0-612d-4dff-ad55-c2016fd214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0e769a-c6ab-48a0-ac99-347a633d87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26268af-b411-43de-b041-f690f17633b8}" ma:internalName="TaxCatchAll" ma:showField="CatchAllData" ma:web="750e769a-c6ab-48a0-ac99-347a633d87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50e769a-c6ab-48a0-ac99-347a633d873e" xsi:nil="true"/>
    <lcf76f155ced4ddcb4097134ff3c332f xmlns="4e318df0-612d-4dff-ad55-c2016fd214d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ECF88A7-10E3-4B78-AAB4-E035B0995F42}">
  <ds:schemaRefs>
    <ds:schemaRef ds:uri="http://schemas.microsoft.com/sharepoint/v3/contenttype/forms"/>
  </ds:schemaRefs>
</ds:datastoreItem>
</file>

<file path=customXml/itemProps2.xml><?xml version="1.0" encoding="utf-8"?>
<ds:datastoreItem xmlns:ds="http://schemas.openxmlformats.org/officeDocument/2006/customXml" ds:itemID="{6D7B2099-E7CC-434D-9C82-BE12EDC62CEE}">
  <ds:schemaRefs>
    <ds:schemaRef ds:uri="4e318df0-612d-4dff-ad55-c2016fd214d1"/>
    <ds:schemaRef ds:uri="750e769a-c6ab-48a0-ac99-347a633d87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982C876A-3CFF-456F-9860-B4CE26D1D368}">
  <ds:schemaRefs>
    <ds:schemaRef ds:uri="4e318df0-612d-4dff-ad55-c2016fd214d1"/>
    <ds:schemaRef ds:uri="750e769a-c6ab-48a0-ac99-347a633d873e"/>
    <ds:schemaRef ds:uri="http://schemas.microsoft.com/office/2006/metadata/properties"/>
    <ds:schemaRef ds:uri="http://schemas.microsoft.com/office/infopath/2007/PartnerControls"/>
    <ds:schemaRef ds:uri="http://www.w3.org/2000/xmlns/"/>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
  <TotalTime>42</TotalTime>
  <Words>3641</Words>
  <Application>Microsoft Office PowerPoint</Application>
  <PresentationFormat>Widescreen</PresentationFormat>
  <Paragraphs>345</Paragraphs>
  <Slides>37</Slides>
  <Notes>22</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37</vt:i4>
      </vt:variant>
    </vt:vector>
  </HeadingPairs>
  <TitlesOfParts>
    <vt:vector size="48" baseType="lpstr">
      <vt:lpstr>Aptos</vt:lpstr>
      <vt:lpstr>Arial</vt:lpstr>
      <vt:lpstr>Calibri</vt:lpstr>
      <vt:lpstr>Helvetica</vt:lpstr>
      <vt:lpstr>Wingdings</vt:lpstr>
      <vt:lpstr>Custom Design</vt:lpstr>
      <vt:lpstr>1_Custom Design</vt:lpstr>
      <vt:lpstr>1_Office Theme</vt:lpstr>
      <vt:lpstr>4_Custom Design</vt:lpstr>
      <vt:lpstr>5_Custom Design</vt:lpstr>
      <vt:lpstr>6_Custom Design</vt:lpstr>
      <vt:lpstr>C29PE Economics for Professionals</vt:lpstr>
      <vt:lpstr>Welcome to the Course</vt:lpstr>
      <vt:lpstr>Key staff for the course</vt:lpstr>
      <vt:lpstr>Structure of the session</vt:lpstr>
      <vt:lpstr>References</vt:lpstr>
      <vt:lpstr>What do Economist’s Study?</vt:lpstr>
      <vt:lpstr>What do Economist’s Study?</vt:lpstr>
      <vt:lpstr>What do the following research topics/questions have in common?</vt:lpstr>
      <vt:lpstr>What do Economist’s Study?</vt:lpstr>
      <vt:lpstr>What do Economist’s Study?</vt:lpstr>
      <vt:lpstr>What do Economists Study?</vt:lpstr>
      <vt:lpstr>The Economic Problem</vt:lpstr>
      <vt:lpstr>Tackling the problem of scarcity</vt:lpstr>
      <vt:lpstr>Microeconomics Choices</vt:lpstr>
      <vt:lpstr>PowerPoint Presentation</vt:lpstr>
      <vt:lpstr>Opportunity Cost</vt:lpstr>
      <vt:lpstr>Opportunity Cost</vt:lpstr>
      <vt:lpstr>Self-test activity – try this on your own</vt:lpstr>
      <vt:lpstr>Marginal costs and benefits</vt:lpstr>
      <vt:lpstr>Example:  Airport Terminals</vt:lpstr>
      <vt:lpstr>Marginal costs and benefits</vt:lpstr>
      <vt:lpstr>Marginal costs and benefits</vt:lpstr>
      <vt:lpstr>Sunk cost fallacy</vt:lpstr>
      <vt:lpstr>Microeconomics</vt:lpstr>
      <vt:lpstr>Macroeconomics</vt:lpstr>
      <vt:lpstr>What is happening in the economy?</vt:lpstr>
      <vt:lpstr>What is happening in the economy?</vt:lpstr>
      <vt:lpstr>The Circular Flow of Income</vt:lpstr>
      <vt:lpstr>The Circular Flow of Income</vt:lpstr>
      <vt:lpstr>The Circular Flow of Income</vt:lpstr>
      <vt:lpstr>The impact of the macroeconomy on individuals and businesses</vt:lpstr>
      <vt:lpstr>The business environment</vt:lpstr>
      <vt:lpstr>What is business economics?</vt:lpstr>
      <vt:lpstr>Determinants of business performance</vt:lpstr>
      <vt:lpstr>PowerPoint Presentation</vt:lpstr>
      <vt:lpstr>Tools for analysing business environment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Grant Campbell</dc:creator>
  <cp:lastModifiedBy>Hui, Hon Chung</cp:lastModifiedBy>
  <cp:revision>19</cp:revision>
  <cp:lastPrinted>2024-03-27T09:31:09Z</cp:lastPrinted>
  <dcterms:created xsi:type="dcterms:W3CDTF">2024-03-26T13:44:16Z</dcterms:created>
  <dcterms:modified xsi:type="dcterms:W3CDTF">2025-09-02T05:03:59Z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0x010100B93A621054F1D04C90C60CDB3C987234</vt:lpwstr>
  </property>
  <property fmtid="{D5CDD505-2E9C-101B-9397-08002B2CF9AE}" pid="3" name="MediaServiceImageTags">
    <vt:lpwstr/>
  </property>
</Properties>
</file>