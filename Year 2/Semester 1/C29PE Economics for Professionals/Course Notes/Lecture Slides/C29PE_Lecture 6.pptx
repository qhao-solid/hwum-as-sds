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12" r:id="rId5"/>
    <p:sldMasterId id="2147483700" r:id="rId6"/>
    <p:sldMasterId id="2147483692" r:id="rId7"/>
    <p:sldMasterId id="2147483706" r:id="rId8"/>
    <p:sldMasterId id="2147483718" r:id="rId9"/>
  </p:sldMasterIdLst>
  <p:notesMasterIdLst>
    <p:notesMasterId r:id="rId74"/>
  </p:notesMasterIdLst>
  <p:sldIdLst>
    <p:sldId id="258" r:id="rId10"/>
    <p:sldId id="722" r:id="rId11"/>
    <p:sldId id="691" r:id="rId12"/>
    <p:sldId id="510" r:id="rId13"/>
    <p:sldId id="671" r:id="rId14"/>
    <p:sldId id="670" r:id="rId15"/>
    <p:sldId id="672" r:id="rId16"/>
    <p:sldId id="512" r:id="rId17"/>
    <p:sldId id="262" r:id="rId18"/>
    <p:sldId id="674" r:id="rId19"/>
    <p:sldId id="675" r:id="rId20"/>
    <p:sldId id="676" r:id="rId21"/>
    <p:sldId id="513" r:id="rId22"/>
    <p:sldId id="678" r:id="rId23"/>
    <p:sldId id="677" r:id="rId24"/>
    <p:sldId id="682" r:id="rId25"/>
    <p:sldId id="680" r:id="rId26"/>
    <p:sldId id="679" r:id="rId27"/>
    <p:sldId id="681" r:id="rId28"/>
    <p:sldId id="607" r:id="rId29"/>
    <p:sldId id="683" r:id="rId30"/>
    <p:sldId id="608" r:id="rId31"/>
    <p:sldId id="609" r:id="rId32"/>
    <p:sldId id="684" r:id="rId33"/>
    <p:sldId id="611" r:id="rId34"/>
    <p:sldId id="612" r:id="rId35"/>
    <p:sldId id="685" r:id="rId36"/>
    <p:sldId id="517" r:id="rId37"/>
    <p:sldId id="520" r:id="rId38"/>
    <p:sldId id="686" r:id="rId39"/>
    <p:sldId id="521" r:id="rId40"/>
    <p:sldId id="687" r:id="rId41"/>
    <p:sldId id="522" r:id="rId42"/>
    <p:sldId id="688" r:id="rId43"/>
    <p:sldId id="523" r:id="rId44"/>
    <p:sldId id="690" r:id="rId45"/>
    <p:sldId id="689" r:id="rId46"/>
    <p:sldId id="525" r:id="rId47"/>
    <p:sldId id="526" r:id="rId48"/>
    <p:sldId id="724" r:id="rId49"/>
    <p:sldId id="528" r:id="rId50"/>
    <p:sldId id="723" r:id="rId51"/>
    <p:sldId id="692" r:id="rId52"/>
    <p:sldId id="290" r:id="rId53"/>
    <p:sldId id="529" r:id="rId54"/>
    <p:sldId id="530" r:id="rId55"/>
    <p:sldId id="486" r:id="rId56"/>
    <p:sldId id="693" r:id="rId57"/>
    <p:sldId id="502" r:id="rId58"/>
    <p:sldId id="503" r:id="rId59"/>
    <p:sldId id="694" r:id="rId60"/>
    <p:sldId id="695" r:id="rId61"/>
    <p:sldId id="487" r:id="rId62"/>
    <p:sldId id="673" r:id="rId63"/>
    <p:sldId id="488" r:id="rId64"/>
    <p:sldId id="489" r:id="rId65"/>
    <p:sldId id="490" r:id="rId66"/>
    <p:sldId id="491" r:id="rId67"/>
    <p:sldId id="492" r:id="rId68"/>
    <p:sldId id="493" r:id="rId69"/>
    <p:sldId id="494" r:id="rId70"/>
    <p:sldId id="696" r:id="rId71"/>
    <p:sldId id="697" r:id="rId72"/>
    <p:sldId id="718"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33"/>
    <a:srgbClr val="A8BF33"/>
    <a:srgbClr val="0096CE"/>
    <a:srgbClr val="003C22"/>
    <a:srgbClr val="51160F"/>
    <a:srgbClr val="38042E"/>
    <a:srgbClr val="E9822C"/>
    <a:srgbClr val="D497B8"/>
    <a:srgbClr val="E48539"/>
    <a:srgbClr val="ACD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6143"/>
  </p:normalViewPr>
  <p:slideViewPr>
    <p:cSldViewPr snapToGrid="0" snapToObjects="1">
      <p:cViewPr varScale="1">
        <p:scale>
          <a:sx n="79" d="100"/>
          <a:sy n="79" d="100"/>
        </p:scale>
        <p:origin x="610"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16" Type="http://schemas.openxmlformats.org/officeDocument/2006/relationships/slide" Target="slides/slide7.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74"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77"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 Target="slides/slide62.xml"/><Relationship Id="rId2" Type="http://schemas.openxmlformats.org/officeDocument/2006/relationships/customXml" Target="../customXml/item2.xml"/><Relationship Id="rId29"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06D40-0E8C-424B-991F-69AF8DB1782A}" type="datetimeFigureOut">
              <a:rPr lang="en-GB" smtClean="0"/>
              <a:t>29/08/2025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14004-77EB-460B-9551-8DB9690EF2DA}" type="slidenum">
              <a:rPr lang="en-GB" smtClean="0"/>
              <a:t>‹#›</a:t>
            </a:fld>
            <a:endParaRPr lang="en-GB"/>
          </a:p>
        </p:txBody>
      </p:sp>
    </p:spTree>
    <p:extLst>
      <p:ext uri="{BB962C8B-B14F-4D97-AF65-F5344CB8AC3E}">
        <p14:creationId xmlns:p14="http://schemas.microsoft.com/office/powerpoint/2010/main" val="397106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B33870-1B50-412E-9CC8-1FD8C8EC0CB9}" type="slidenum">
              <a:rPr lang="en-GB" altLang="en-US"/>
              <a:pPr/>
              <a:t>4</a:t>
            </a:fld>
            <a:endParaRPr lang="en-GB" altLang="en-US"/>
          </a:p>
        </p:txBody>
      </p:sp>
      <p:sp>
        <p:nvSpPr>
          <p:cNvPr id="372738" name="Rectangle 2"/>
          <p:cNvSpPr>
            <a:spLocks noGrp="1" noRot="1" noChangeAspect="1" noChangeArrowheads="1" noTextEdit="1"/>
          </p:cNvSpPr>
          <p:nvPr>
            <p:ph type="sldImg"/>
          </p:nvPr>
        </p:nvSpPr>
        <p:spPr>
          <a:ln/>
        </p:spPr>
      </p:sp>
      <p:sp>
        <p:nvSpPr>
          <p:cNvPr id="372739" name="Rectangle 3"/>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1504181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B33870-1B50-412E-9CC8-1FD8C8EC0CB9}" type="slidenum">
              <a:rPr lang="en-GB" altLang="en-US"/>
              <a:pPr/>
              <a:t>5</a:t>
            </a:fld>
            <a:endParaRPr lang="en-GB" altLang="en-US"/>
          </a:p>
        </p:txBody>
      </p:sp>
      <p:sp>
        <p:nvSpPr>
          <p:cNvPr id="372738" name="Rectangle 2"/>
          <p:cNvSpPr>
            <a:spLocks noGrp="1" noRot="1" noChangeAspect="1" noChangeArrowheads="1" noTextEdit="1"/>
          </p:cNvSpPr>
          <p:nvPr>
            <p:ph type="sldImg"/>
          </p:nvPr>
        </p:nvSpPr>
        <p:spPr>
          <a:ln/>
        </p:spPr>
      </p:sp>
      <p:sp>
        <p:nvSpPr>
          <p:cNvPr id="372739" name="Rectangle 3"/>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3618246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B33870-1B50-412E-9CC8-1FD8C8EC0CB9}" type="slidenum">
              <a:rPr lang="en-GB" altLang="en-US"/>
              <a:pPr/>
              <a:t>6</a:t>
            </a:fld>
            <a:endParaRPr lang="en-GB" altLang="en-US"/>
          </a:p>
        </p:txBody>
      </p:sp>
      <p:sp>
        <p:nvSpPr>
          <p:cNvPr id="372738" name="Rectangle 2"/>
          <p:cNvSpPr>
            <a:spLocks noGrp="1" noRot="1" noChangeAspect="1" noChangeArrowheads="1" noTextEdit="1"/>
          </p:cNvSpPr>
          <p:nvPr>
            <p:ph type="sldImg"/>
          </p:nvPr>
        </p:nvSpPr>
        <p:spPr>
          <a:ln/>
        </p:spPr>
      </p:sp>
      <p:sp>
        <p:nvSpPr>
          <p:cNvPr id="372739" name="Rectangle 3"/>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2766050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B33870-1B50-412E-9CC8-1FD8C8EC0CB9}" type="slidenum">
              <a:rPr lang="en-GB" altLang="en-US"/>
              <a:pPr/>
              <a:t>7</a:t>
            </a:fld>
            <a:endParaRPr lang="en-GB" altLang="en-US"/>
          </a:p>
        </p:txBody>
      </p:sp>
      <p:sp>
        <p:nvSpPr>
          <p:cNvPr id="372738" name="Rectangle 2"/>
          <p:cNvSpPr>
            <a:spLocks noGrp="1" noRot="1" noChangeAspect="1" noChangeArrowheads="1" noTextEdit="1"/>
          </p:cNvSpPr>
          <p:nvPr>
            <p:ph type="sldImg"/>
          </p:nvPr>
        </p:nvSpPr>
        <p:spPr>
          <a:ln/>
        </p:spPr>
      </p:sp>
      <p:sp>
        <p:nvSpPr>
          <p:cNvPr id="372739" name="Rectangle 3"/>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940703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763CED6A-E061-4DAD-8EC3-2E3AB425FF1E}" type="slidenum">
              <a:rPr lang="en-GB" altLang="en-US"/>
              <a:pPr/>
              <a:t>8</a:t>
            </a:fld>
            <a:endParaRPr lang="en-GB" altLang="en-US"/>
          </a:p>
        </p:txBody>
      </p:sp>
      <p:sp>
        <p:nvSpPr>
          <p:cNvPr id="37683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7683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8" name="Rectangle 6"/>
          <p:cNvSpPr>
            <a:spLocks noGrp="1" noChangeArrowheads="1"/>
          </p:cNvSpPr>
          <p:nvPr>
            <p:ph type="body" idx="1"/>
          </p:nvPr>
        </p:nvSpPr>
        <p:spPr>
          <a:ln/>
        </p:spPr>
        <p:txBody>
          <a:bodyPr lIns="92075" tIns="46038" rIns="92075" bIns="46038"/>
          <a:lstStyle/>
          <a:p>
            <a:endParaRPr lang="en-GB" altLang="en-US" noProof="1"/>
          </a:p>
        </p:txBody>
      </p:sp>
      <p:sp>
        <p:nvSpPr>
          <p:cNvPr id="376839"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96568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5">
            <a:extLst>
              <a:ext uri="{FF2B5EF4-FFF2-40B4-BE49-F238E27FC236}">
                <a16:creationId xmlns:a16="http://schemas.microsoft.com/office/drawing/2014/main" id="{06497C0A-A3E4-4FAD-8C24-1A057BB4F973}"/>
              </a:ext>
            </a:extLst>
          </p:cNvPr>
          <p:cNvSpPr>
            <a:spLocks noGrp="1" noChangeArrowheads="1"/>
          </p:cNvSpPr>
          <p:nvPr>
            <p:ph type="sldNum" sz="quarter" idx="5"/>
          </p:nvPr>
        </p:nvSpPr>
        <p:spPr>
          <a:ln/>
        </p:spPr>
        <p:txBody>
          <a:bodyPr/>
          <a:lstStyle/>
          <a:p>
            <a:fld id="{6613390B-4ECB-4D60-810B-FC8F3CF9074D}" type="slidenum">
              <a:rPr lang="en-GB" altLang="en-US"/>
              <a:pPr/>
              <a:t>9</a:t>
            </a:fld>
            <a:endParaRPr lang="en-GB" altLang="en-US"/>
          </a:p>
        </p:txBody>
      </p:sp>
      <p:sp>
        <p:nvSpPr>
          <p:cNvPr id="15362" name="Rectangle 2">
            <a:extLst>
              <a:ext uri="{FF2B5EF4-FFF2-40B4-BE49-F238E27FC236}">
                <a16:creationId xmlns:a16="http://schemas.microsoft.com/office/drawing/2014/main" id="{01BA3F90-398B-4F18-89E1-03A6FDE24C8B}"/>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63" name="Rectangle 3">
            <a:extLst>
              <a:ext uri="{FF2B5EF4-FFF2-40B4-BE49-F238E27FC236}">
                <a16:creationId xmlns:a16="http://schemas.microsoft.com/office/drawing/2014/main" id="{C07B15F4-A730-478A-BEC5-B3A867A943E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15364" name="Rectangle 4">
            <a:extLst>
              <a:ext uri="{FF2B5EF4-FFF2-40B4-BE49-F238E27FC236}">
                <a16:creationId xmlns:a16="http://schemas.microsoft.com/office/drawing/2014/main" id="{C8FFDA4C-9C14-4E38-B814-977A8D48659A}"/>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65" name="Rectangle 5">
            <a:extLst>
              <a:ext uri="{FF2B5EF4-FFF2-40B4-BE49-F238E27FC236}">
                <a16:creationId xmlns:a16="http://schemas.microsoft.com/office/drawing/2014/main" id="{E5E247FD-D66C-4A70-BA5E-3CD423EDA8A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66" name="Rectangle 6">
            <a:extLst>
              <a:ext uri="{FF2B5EF4-FFF2-40B4-BE49-F238E27FC236}">
                <a16:creationId xmlns:a16="http://schemas.microsoft.com/office/drawing/2014/main" id="{E1560194-4C79-4A97-A255-2F0E334D6A6D}"/>
              </a:ext>
            </a:extLst>
          </p:cNvPr>
          <p:cNvSpPr>
            <a:spLocks noGrp="1" noChangeArrowheads="1"/>
          </p:cNvSpPr>
          <p:nvPr>
            <p:ph type="body" idx="1"/>
          </p:nvPr>
        </p:nvSpPr>
        <p:spPr>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endParaRPr lang="en-US" altLang="en-US"/>
          </a:p>
        </p:txBody>
      </p:sp>
      <p:sp>
        <p:nvSpPr>
          <p:cNvPr id="15367" name="Rectangle 7">
            <a:extLst>
              <a:ext uri="{FF2B5EF4-FFF2-40B4-BE49-F238E27FC236}">
                <a16:creationId xmlns:a16="http://schemas.microsoft.com/office/drawing/2014/main" id="{52418E49-56BB-49EC-923A-77C346887DB8}"/>
              </a:ext>
            </a:extLst>
          </p:cNvPr>
          <p:cNvSpPr>
            <a:spLocks noGrp="1" noRot="1" noChangeAspect="1" noChangeArrowheads="1" noTextEdit="1"/>
          </p:cNvSpPr>
          <p:nvPr>
            <p:ph type="sldImg"/>
          </p:nvPr>
        </p:nvSpPr>
        <p:spPr>
          <a:xfrm>
            <a:off x="393700" y="692150"/>
            <a:ext cx="6070600" cy="3416300"/>
          </a:xfrm>
          <a:ln cap="flat"/>
        </p:spPr>
      </p:sp>
    </p:spTree>
    <p:extLst>
      <p:ext uri="{BB962C8B-B14F-4D97-AF65-F5344CB8AC3E}">
        <p14:creationId xmlns:p14="http://schemas.microsoft.com/office/powerpoint/2010/main" val="3623274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763CED6A-E061-4DAD-8EC3-2E3AB425FF1E}" type="slidenum">
              <a:rPr lang="en-GB" altLang="en-US"/>
              <a:pPr/>
              <a:t>10</a:t>
            </a:fld>
            <a:endParaRPr lang="en-GB" altLang="en-US"/>
          </a:p>
        </p:txBody>
      </p:sp>
      <p:sp>
        <p:nvSpPr>
          <p:cNvPr id="37683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7683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8" name="Rectangle 6"/>
          <p:cNvSpPr>
            <a:spLocks noGrp="1" noChangeArrowheads="1"/>
          </p:cNvSpPr>
          <p:nvPr>
            <p:ph type="body" idx="1"/>
          </p:nvPr>
        </p:nvSpPr>
        <p:spPr>
          <a:ln/>
        </p:spPr>
        <p:txBody>
          <a:bodyPr lIns="92075" tIns="46038" rIns="92075" bIns="46038"/>
          <a:lstStyle/>
          <a:p>
            <a:endParaRPr lang="en-GB" altLang="en-US" noProof="1"/>
          </a:p>
        </p:txBody>
      </p:sp>
      <p:sp>
        <p:nvSpPr>
          <p:cNvPr id="376839"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512346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763CED6A-E061-4DAD-8EC3-2E3AB425FF1E}" type="slidenum">
              <a:rPr lang="en-GB" altLang="en-US"/>
              <a:pPr/>
              <a:t>11</a:t>
            </a:fld>
            <a:endParaRPr lang="en-GB" altLang="en-US"/>
          </a:p>
        </p:txBody>
      </p:sp>
      <p:sp>
        <p:nvSpPr>
          <p:cNvPr id="37683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7683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8" name="Rectangle 6"/>
          <p:cNvSpPr>
            <a:spLocks noGrp="1" noChangeArrowheads="1"/>
          </p:cNvSpPr>
          <p:nvPr>
            <p:ph type="body" idx="1"/>
          </p:nvPr>
        </p:nvSpPr>
        <p:spPr>
          <a:ln/>
        </p:spPr>
        <p:txBody>
          <a:bodyPr lIns="92075" tIns="46038" rIns="92075" bIns="46038"/>
          <a:lstStyle/>
          <a:p>
            <a:endParaRPr lang="en-GB" altLang="en-US" noProof="1"/>
          </a:p>
        </p:txBody>
      </p:sp>
      <p:sp>
        <p:nvSpPr>
          <p:cNvPr id="376839"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980549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4803BAA6-522F-468A-B1EE-204B2E6A64DD}" type="slidenum">
              <a:rPr lang="en-GB" altLang="en-US"/>
              <a:pPr/>
              <a:t>13</a:t>
            </a:fld>
            <a:endParaRPr lang="en-GB" altLang="en-US"/>
          </a:p>
        </p:txBody>
      </p:sp>
      <p:sp>
        <p:nvSpPr>
          <p:cNvPr id="37478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37478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90" name="Rectangle 6"/>
          <p:cNvSpPr>
            <a:spLocks noGrp="1" noChangeArrowheads="1"/>
          </p:cNvSpPr>
          <p:nvPr>
            <p:ph type="body" idx="1"/>
          </p:nvPr>
        </p:nvSpPr>
        <p:spPr>
          <a:ln/>
        </p:spPr>
        <p:txBody>
          <a:bodyPr lIns="92075" tIns="46038" rIns="92075" bIns="46038"/>
          <a:lstStyle/>
          <a:p>
            <a:endParaRPr lang="en-GB" altLang="en-US" noProof="1"/>
          </a:p>
        </p:txBody>
      </p:sp>
      <p:sp>
        <p:nvSpPr>
          <p:cNvPr id="374791"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144351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4803BAA6-522F-468A-B1EE-204B2E6A64DD}" type="slidenum">
              <a:rPr lang="en-GB" altLang="en-US"/>
              <a:pPr/>
              <a:t>14</a:t>
            </a:fld>
            <a:endParaRPr lang="en-GB" altLang="en-US"/>
          </a:p>
        </p:txBody>
      </p:sp>
      <p:sp>
        <p:nvSpPr>
          <p:cNvPr id="37478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37478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90" name="Rectangle 6"/>
          <p:cNvSpPr>
            <a:spLocks noGrp="1" noChangeArrowheads="1"/>
          </p:cNvSpPr>
          <p:nvPr>
            <p:ph type="body" idx="1"/>
          </p:nvPr>
        </p:nvSpPr>
        <p:spPr>
          <a:ln/>
        </p:spPr>
        <p:txBody>
          <a:bodyPr lIns="92075" tIns="46038" rIns="92075" bIns="46038"/>
          <a:lstStyle/>
          <a:p>
            <a:endParaRPr lang="en-GB" altLang="en-US" noProof="1"/>
          </a:p>
        </p:txBody>
      </p:sp>
      <p:sp>
        <p:nvSpPr>
          <p:cNvPr id="374791"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575000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4803BAA6-522F-468A-B1EE-204B2E6A64DD}" type="slidenum">
              <a:rPr lang="en-GB" altLang="en-US"/>
              <a:pPr/>
              <a:t>15</a:t>
            </a:fld>
            <a:endParaRPr lang="en-GB" altLang="en-US"/>
          </a:p>
        </p:txBody>
      </p:sp>
      <p:sp>
        <p:nvSpPr>
          <p:cNvPr id="37478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37478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90" name="Rectangle 6"/>
          <p:cNvSpPr>
            <a:spLocks noGrp="1" noChangeArrowheads="1"/>
          </p:cNvSpPr>
          <p:nvPr>
            <p:ph type="body" idx="1"/>
          </p:nvPr>
        </p:nvSpPr>
        <p:spPr>
          <a:ln/>
        </p:spPr>
        <p:txBody>
          <a:bodyPr lIns="92075" tIns="46038" rIns="92075" bIns="46038"/>
          <a:lstStyle/>
          <a:p>
            <a:endParaRPr lang="en-GB" altLang="en-US" noProof="1"/>
          </a:p>
        </p:txBody>
      </p:sp>
      <p:sp>
        <p:nvSpPr>
          <p:cNvPr id="374791"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439897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4803BAA6-522F-468A-B1EE-204B2E6A64DD}" type="slidenum">
              <a:rPr lang="en-GB" altLang="en-US"/>
              <a:pPr/>
              <a:t>16</a:t>
            </a:fld>
            <a:endParaRPr lang="en-GB" altLang="en-US"/>
          </a:p>
        </p:txBody>
      </p:sp>
      <p:sp>
        <p:nvSpPr>
          <p:cNvPr id="37478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37478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90" name="Rectangle 6"/>
          <p:cNvSpPr>
            <a:spLocks noGrp="1" noChangeArrowheads="1"/>
          </p:cNvSpPr>
          <p:nvPr>
            <p:ph type="body" idx="1"/>
          </p:nvPr>
        </p:nvSpPr>
        <p:spPr>
          <a:ln/>
        </p:spPr>
        <p:txBody>
          <a:bodyPr lIns="92075" tIns="46038" rIns="92075" bIns="46038"/>
          <a:lstStyle/>
          <a:p>
            <a:endParaRPr lang="en-GB" altLang="en-US" noProof="1"/>
          </a:p>
        </p:txBody>
      </p:sp>
      <p:sp>
        <p:nvSpPr>
          <p:cNvPr id="374791"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650192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4803BAA6-522F-468A-B1EE-204B2E6A64DD}" type="slidenum">
              <a:rPr lang="en-GB" altLang="en-US"/>
              <a:pPr/>
              <a:t>18</a:t>
            </a:fld>
            <a:endParaRPr lang="en-GB" altLang="en-US"/>
          </a:p>
        </p:txBody>
      </p:sp>
      <p:sp>
        <p:nvSpPr>
          <p:cNvPr id="37478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37478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90" name="Rectangle 6"/>
          <p:cNvSpPr>
            <a:spLocks noGrp="1" noChangeArrowheads="1"/>
          </p:cNvSpPr>
          <p:nvPr>
            <p:ph type="body" idx="1"/>
          </p:nvPr>
        </p:nvSpPr>
        <p:spPr>
          <a:ln/>
        </p:spPr>
        <p:txBody>
          <a:bodyPr lIns="92075" tIns="46038" rIns="92075" bIns="46038"/>
          <a:lstStyle/>
          <a:p>
            <a:endParaRPr lang="en-GB" altLang="en-US" noProof="1"/>
          </a:p>
        </p:txBody>
      </p:sp>
      <p:sp>
        <p:nvSpPr>
          <p:cNvPr id="374791"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051561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5415C325-09A7-4ED5-BDC4-7483F7A5A553}"/>
              </a:ext>
            </a:extLst>
          </p:cNvPr>
          <p:cNvSpPr>
            <a:spLocks noGrp="1" noChangeArrowheads="1"/>
          </p:cNvSpPr>
          <p:nvPr>
            <p:ph type="sldNum" sz="quarter" idx="5"/>
          </p:nvPr>
        </p:nvSpPr>
        <p:spPr>
          <a:ln/>
        </p:spPr>
        <p:txBody>
          <a:bodyPr/>
          <a:lstStyle/>
          <a:p>
            <a:fld id="{5FBBEBE7-E0D2-4E11-AD25-AFD6C2815A79}" type="slidenum">
              <a:rPr lang="en-GB" altLang="en-US"/>
              <a:pPr/>
              <a:t>20</a:t>
            </a:fld>
            <a:endParaRPr lang="en-GB" altLang="en-US"/>
          </a:p>
        </p:txBody>
      </p:sp>
      <p:sp>
        <p:nvSpPr>
          <p:cNvPr id="409602" name="Rectangle 2">
            <a:extLst>
              <a:ext uri="{FF2B5EF4-FFF2-40B4-BE49-F238E27FC236}">
                <a16:creationId xmlns:a16="http://schemas.microsoft.com/office/drawing/2014/main" id="{48747484-0094-4111-BA52-6B822B5A1B4A}"/>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3" name="Rectangle 3">
            <a:extLst>
              <a:ext uri="{FF2B5EF4-FFF2-40B4-BE49-F238E27FC236}">
                <a16:creationId xmlns:a16="http://schemas.microsoft.com/office/drawing/2014/main" id="{9962D6DD-2CAE-41BE-B419-A08D28F3979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409604" name="Rectangle 4">
            <a:extLst>
              <a:ext uri="{FF2B5EF4-FFF2-40B4-BE49-F238E27FC236}">
                <a16:creationId xmlns:a16="http://schemas.microsoft.com/office/drawing/2014/main" id="{F5D29F8C-E30D-475E-9ED1-E3FCFFA40E6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5" name="Rectangle 5">
            <a:extLst>
              <a:ext uri="{FF2B5EF4-FFF2-40B4-BE49-F238E27FC236}">
                <a16:creationId xmlns:a16="http://schemas.microsoft.com/office/drawing/2014/main" id="{55FD0062-CAF9-4146-A6D5-576DD781B310}"/>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6" name="Rectangle 6">
            <a:extLst>
              <a:ext uri="{FF2B5EF4-FFF2-40B4-BE49-F238E27FC236}">
                <a16:creationId xmlns:a16="http://schemas.microsoft.com/office/drawing/2014/main" id="{1BA879B8-4AE5-4DA3-BA15-653916391623}"/>
              </a:ext>
            </a:extLst>
          </p:cNvPr>
          <p:cNvSpPr>
            <a:spLocks noGrp="1" noChangeArrowheads="1"/>
          </p:cNvSpPr>
          <p:nvPr>
            <p:ph type="body" idx="1"/>
          </p:nvPr>
        </p:nvSpPr>
        <p:spPr>
          <a:ln/>
        </p:spPr>
        <p:txBody>
          <a:bodyPr lIns="92075" tIns="46038" rIns="92075" bIns="46038"/>
          <a:lstStyle/>
          <a:p>
            <a:endParaRPr lang="en-GB" altLang="en-US" noProof="1"/>
          </a:p>
        </p:txBody>
      </p:sp>
      <p:sp>
        <p:nvSpPr>
          <p:cNvPr id="409607" name="Rectangle 7">
            <a:extLst>
              <a:ext uri="{FF2B5EF4-FFF2-40B4-BE49-F238E27FC236}">
                <a16:creationId xmlns:a16="http://schemas.microsoft.com/office/drawing/2014/main" id="{9C2B56FD-36EA-49EE-8F8E-3F3432657F2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462615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5415C325-09A7-4ED5-BDC4-7483F7A5A553}"/>
              </a:ext>
            </a:extLst>
          </p:cNvPr>
          <p:cNvSpPr>
            <a:spLocks noGrp="1" noChangeArrowheads="1"/>
          </p:cNvSpPr>
          <p:nvPr>
            <p:ph type="sldNum" sz="quarter" idx="5"/>
          </p:nvPr>
        </p:nvSpPr>
        <p:spPr>
          <a:ln/>
        </p:spPr>
        <p:txBody>
          <a:bodyPr/>
          <a:lstStyle/>
          <a:p>
            <a:fld id="{5FBBEBE7-E0D2-4E11-AD25-AFD6C2815A79}" type="slidenum">
              <a:rPr lang="en-GB" altLang="en-US"/>
              <a:pPr/>
              <a:t>21</a:t>
            </a:fld>
            <a:endParaRPr lang="en-GB" altLang="en-US"/>
          </a:p>
        </p:txBody>
      </p:sp>
      <p:sp>
        <p:nvSpPr>
          <p:cNvPr id="409602" name="Rectangle 2">
            <a:extLst>
              <a:ext uri="{FF2B5EF4-FFF2-40B4-BE49-F238E27FC236}">
                <a16:creationId xmlns:a16="http://schemas.microsoft.com/office/drawing/2014/main" id="{48747484-0094-4111-BA52-6B822B5A1B4A}"/>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3" name="Rectangle 3">
            <a:extLst>
              <a:ext uri="{FF2B5EF4-FFF2-40B4-BE49-F238E27FC236}">
                <a16:creationId xmlns:a16="http://schemas.microsoft.com/office/drawing/2014/main" id="{9962D6DD-2CAE-41BE-B419-A08D28F3979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409604" name="Rectangle 4">
            <a:extLst>
              <a:ext uri="{FF2B5EF4-FFF2-40B4-BE49-F238E27FC236}">
                <a16:creationId xmlns:a16="http://schemas.microsoft.com/office/drawing/2014/main" id="{F5D29F8C-E30D-475E-9ED1-E3FCFFA40E6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5" name="Rectangle 5">
            <a:extLst>
              <a:ext uri="{FF2B5EF4-FFF2-40B4-BE49-F238E27FC236}">
                <a16:creationId xmlns:a16="http://schemas.microsoft.com/office/drawing/2014/main" id="{55FD0062-CAF9-4146-A6D5-576DD781B310}"/>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6" name="Rectangle 6">
            <a:extLst>
              <a:ext uri="{FF2B5EF4-FFF2-40B4-BE49-F238E27FC236}">
                <a16:creationId xmlns:a16="http://schemas.microsoft.com/office/drawing/2014/main" id="{1BA879B8-4AE5-4DA3-BA15-653916391623}"/>
              </a:ext>
            </a:extLst>
          </p:cNvPr>
          <p:cNvSpPr>
            <a:spLocks noGrp="1" noChangeArrowheads="1"/>
          </p:cNvSpPr>
          <p:nvPr>
            <p:ph type="body" idx="1"/>
          </p:nvPr>
        </p:nvSpPr>
        <p:spPr>
          <a:ln/>
        </p:spPr>
        <p:txBody>
          <a:bodyPr lIns="92075" tIns="46038" rIns="92075" bIns="46038"/>
          <a:lstStyle/>
          <a:p>
            <a:endParaRPr lang="en-GB" altLang="en-US" noProof="1"/>
          </a:p>
        </p:txBody>
      </p:sp>
      <p:sp>
        <p:nvSpPr>
          <p:cNvPr id="409607" name="Rectangle 7">
            <a:extLst>
              <a:ext uri="{FF2B5EF4-FFF2-40B4-BE49-F238E27FC236}">
                <a16:creationId xmlns:a16="http://schemas.microsoft.com/office/drawing/2014/main" id="{9C2B56FD-36EA-49EE-8F8E-3F3432657F2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99921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9D3A84F8-DB1A-4FC2-914C-6390D058BA9D}"/>
              </a:ext>
            </a:extLst>
          </p:cNvPr>
          <p:cNvSpPr>
            <a:spLocks noGrp="1" noChangeArrowheads="1"/>
          </p:cNvSpPr>
          <p:nvPr>
            <p:ph type="sldNum" sz="quarter" idx="5"/>
          </p:nvPr>
        </p:nvSpPr>
        <p:spPr>
          <a:ln/>
        </p:spPr>
        <p:txBody>
          <a:bodyPr/>
          <a:lstStyle/>
          <a:p>
            <a:fld id="{199EAE4A-9313-4EF3-9FD2-5266774CECCB}" type="slidenum">
              <a:rPr lang="en-GB" altLang="en-US"/>
              <a:pPr/>
              <a:t>22</a:t>
            </a:fld>
            <a:endParaRPr lang="en-GB" altLang="en-US"/>
          </a:p>
        </p:txBody>
      </p:sp>
      <p:sp>
        <p:nvSpPr>
          <p:cNvPr id="411650" name="Rectangle 2">
            <a:extLst>
              <a:ext uri="{FF2B5EF4-FFF2-40B4-BE49-F238E27FC236}">
                <a16:creationId xmlns:a16="http://schemas.microsoft.com/office/drawing/2014/main" id="{15BBF65D-B8C0-4E45-A26F-6EE1B81E7A52}"/>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1" name="Rectangle 3">
            <a:extLst>
              <a:ext uri="{FF2B5EF4-FFF2-40B4-BE49-F238E27FC236}">
                <a16:creationId xmlns:a16="http://schemas.microsoft.com/office/drawing/2014/main" id="{5AEC6821-60DB-4072-ADD7-01E81D3AC4D0}"/>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411652" name="Rectangle 4">
            <a:extLst>
              <a:ext uri="{FF2B5EF4-FFF2-40B4-BE49-F238E27FC236}">
                <a16:creationId xmlns:a16="http://schemas.microsoft.com/office/drawing/2014/main" id="{81F31C2D-EBC5-4BAA-97F2-8480FA6583C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3" name="Rectangle 5">
            <a:extLst>
              <a:ext uri="{FF2B5EF4-FFF2-40B4-BE49-F238E27FC236}">
                <a16:creationId xmlns:a16="http://schemas.microsoft.com/office/drawing/2014/main" id="{E4F74BD7-3D54-44F1-A587-E039C340A26F}"/>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4" name="Rectangle 6">
            <a:extLst>
              <a:ext uri="{FF2B5EF4-FFF2-40B4-BE49-F238E27FC236}">
                <a16:creationId xmlns:a16="http://schemas.microsoft.com/office/drawing/2014/main" id="{1AE8A10F-64AA-41F2-B97E-DB8779016A06}"/>
              </a:ext>
            </a:extLst>
          </p:cNvPr>
          <p:cNvSpPr>
            <a:spLocks noGrp="1" noChangeArrowheads="1"/>
          </p:cNvSpPr>
          <p:nvPr>
            <p:ph type="body" idx="1"/>
          </p:nvPr>
        </p:nvSpPr>
        <p:spPr>
          <a:ln/>
        </p:spPr>
        <p:txBody>
          <a:bodyPr lIns="92075" tIns="46038" rIns="92075" bIns="46038"/>
          <a:lstStyle/>
          <a:p>
            <a:endParaRPr lang="en-GB" altLang="en-US" noProof="1"/>
          </a:p>
        </p:txBody>
      </p:sp>
      <p:sp>
        <p:nvSpPr>
          <p:cNvPr id="411655" name="Rectangle 7">
            <a:extLst>
              <a:ext uri="{FF2B5EF4-FFF2-40B4-BE49-F238E27FC236}">
                <a16:creationId xmlns:a16="http://schemas.microsoft.com/office/drawing/2014/main" id="{BE6D893C-D809-4D1C-A197-E0B4ACE1A79A}"/>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989096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C8443A9-3935-4BF4-8C1B-4C9763D0A615}"/>
              </a:ext>
            </a:extLst>
          </p:cNvPr>
          <p:cNvSpPr>
            <a:spLocks noGrp="1" noChangeArrowheads="1"/>
          </p:cNvSpPr>
          <p:nvPr>
            <p:ph type="sldNum" sz="quarter" idx="5"/>
          </p:nvPr>
        </p:nvSpPr>
        <p:spPr>
          <a:ln/>
        </p:spPr>
        <p:txBody>
          <a:bodyPr/>
          <a:lstStyle/>
          <a:p>
            <a:fld id="{C2F081B5-F4EA-41AA-9798-13E251FDB1CB}" type="slidenum">
              <a:rPr lang="en-GB" altLang="en-US"/>
              <a:pPr/>
              <a:t>23</a:t>
            </a:fld>
            <a:endParaRPr lang="en-GB" altLang="en-US"/>
          </a:p>
        </p:txBody>
      </p:sp>
      <p:sp>
        <p:nvSpPr>
          <p:cNvPr id="452610" name="Rectangle 7">
            <a:extLst>
              <a:ext uri="{FF2B5EF4-FFF2-40B4-BE49-F238E27FC236}">
                <a16:creationId xmlns:a16="http://schemas.microsoft.com/office/drawing/2014/main" id="{1B94EE1D-7B1D-4A5A-B686-33F70938A7F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D5A9C7F0-6093-4515-9884-1779C2CB3489}" type="slidenum">
              <a:rPr lang="en-GB" altLang="en-US" sz="1000" i="1"/>
              <a:pPr algn="r">
                <a:spcBef>
                  <a:spcPct val="0"/>
                </a:spcBef>
              </a:pPr>
              <a:t>23</a:t>
            </a:fld>
            <a:endParaRPr lang="en-GB" altLang="en-US" sz="1000" i="1"/>
          </a:p>
        </p:txBody>
      </p:sp>
      <p:sp>
        <p:nvSpPr>
          <p:cNvPr id="452611" name="Rectangle 2">
            <a:extLst>
              <a:ext uri="{FF2B5EF4-FFF2-40B4-BE49-F238E27FC236}">
                <a16:creationId xmlns:a16="http://schemas.microsoft.com/office/drawing/2014/main" id="{CD51F916-CA1F-4F17-8EEE-BE77D8B47AE5}"/>
              </a:ext>
            </a:extLst>
          </p:cNvPr>
          <p:cNvSpPr>
            <a:spLocks noGrp="1" noRot="1" noChangeAspect="1" noChangeArrowheads="1" noTextEdit="1"/>
          </p:cNvSpPr>
          <p:nvPr>
            <p:ph type="sldImg"/>
          </p:nvPr>
        </p:nvSpPr>
        <p:spPr>
          <a:xfrm>
            <a:off x="393700" y="692150"/>
            <a:ext cx="6070600" cy="3416300"/>
          </a:xfrm>
          <a:ln/>
        </p:spPr>
      </p:sp>
      <p:sp>
        <p:nvSpPr>
          <p:cNvPr id="452612" name="Rectangle 3">
            <a:extLst>
              <a:ext uri="{FF2B5EF4-FFF2-40B4-BE49-F238E27FC236}">
                <a16:creationId xmlns:a16="http://schemas.microsoft.com/office/drawing/2014/main" id="{CB590ACF-641D-4900-8C32-3AAE0F587EE1}"/>
              </a:ext>
            </a:extLst>
          </p:cNvPr>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defTabSz="762000"/>
            <a:endParaRPr lang="en-US" altLang="en-US"/>
          </a:p>
        </p:txBody>
      </p:sp>
    </p:spTree>
    <p:extLst>
      <p:ext uri="{BB962C8B-B14F-4D97-AF65-F5344CB8AC3E}">
        <p14:creationId xmlns:p14="http://schemas.microsoft.com/office/powerpoint/2010/main" val="1593887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2BBD6A9E-0675-491F-AD56-AD23DF8D28FB}"/>
              </a:ext>
            </a:extLst>
          </p:cNvPr>
          <p:cNvSpPr>
            <a:spLocks noGrp="1" noChangeArrowheads="1"/>
          </p:cNvSpPr>
          <p:nvPr>
            <p:ph type="sldNum" sz="quarter" idx="5"/>
          </p:nvPr>
        </p:nvSpPr>
        <p:spPr>
          <a:ln/>
        </p:spPr>
        <p:txBody>
          <a:bodyPr/>
          <a:lstStyle/>
          <a:p>
            <a:fld id="{4104C345-E18C-4BBF-98EF-6335D35F032B}" type="slidenum">
              <a:rPr lang="en-GB" altLang="en-US"/>
              <a:pPr/>
              <a:t>24</a:t>
            </a:fld>
            <a:endParaRPr lang="en-GB" altLang="en-US"/>
          </a:p>
        </p:txBody>
      </p:sp>
      <p:sp>
        <p:nvSpPr>
          <p:cNvPr id="485378" name="Rectangle 2">
            <a:extLst>
              <a:ext uri="{FF2B5EF4-FFF2-40B4-BE49-F238E27FC236}">
                <a16:creationId xmlns:a16="http://schemas.microsoft.com/office/drawing/2014/main" id="{33D53316-94F4-42D6-A5CE-DA075CA4D326}"/>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5379" name="Rectangle 3">
            <a:extLst>
              <a:ext uri="{FF2B5EF4-FFF2-40B4-BE49-F238E27FC236}">
                <a16:creationId xmlns:a16="http://schemas.microsoft.com/office/drawing/2014/main" id="{21934427-5F4B-4949-B726-1459C27D8DBF}"/>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485380" name="Rectangle 4">
            <a:extLst>
              <a:ext uri="{FF2B5EF4-FFF2-40B4-BE49-F238E27FC236}">
                <a16:creationId xmlns:a16="http://schemas.microsoft.com/office/drawing/2014/main" id="{56E64D72-3C83-4A21-9D0F-0EBFD0A21BA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5381" name="Rectangle 5">
            <a:extLst>
              <a:ext uri="{FF2B5EF4-FFF2-40B4-BE49-F238E27FC236}">
                <a16:creationId xmlns:a16="http://schemas.microsoft.com/office/drawing/2014/main" id="{FD657B25-70D3-48E3-B987-C4A01A2998D3}"/>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5382" name="Rectangle 6">
            <a:extLst>
              <a:ext uri="{FF2B5EF4-FFF2-40B4-BE49-F238E27FC236}">
                <a16:creationId xmlns:a16="http://schemas.microsoft.com/office/drawing/2014/main" id="{3E470106-7844-4369-8000-CB361610F109}"/>
              </a:ext>
            </a:extLst>
          </p:cNvPr>
          <p:cNvSpPr>
            <a:spLocks noGrp="1" noChangeArrowheads="1"/>
          </p:cNvSpPr>
          <p:nvPr>
            <p:ph type="body" idx="1"/>
          </p:nvPr>
        </p:nvSpPr>
        <p:spPr>
          <a:ln/>
        </p:spPr>
        <p:txBody>
          <a:bodyPr lIns="92075" tIns="46038" rIns="92075" bIns="46038"/>
          <a:lstStyle/>
          <a:p>
            <a:endParaRPr lang="en-GB" altLang="en-US" noProof="1"/>
          </a:p>
        </p:txBody>
      </p:sp>
      <p:sp>
        <p:nvSpPr>
          <p:cNvPr id="485383" name="Rectangle 7">
            <a:extLst>
              <a:ext uri="{FF2B5EF4-FFF2-40B4-BE49-F238E27FC236}">
                <a16:creationId xmlns:a16="http://schemas.microsoft.com/office/drawing/2014/main" id="{D0444C57-85E2-4AED-A407-8B13222B9AB6}"/>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191336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E473AA8-0335-4A79-830B-78FA8ECB6FE4}"/>
              </a:ext>
            </a:extLst>
          </p:cNvPr>
          <p:cNvSpPr>
            <a:spLocks noGrp="1" noChangeArrowheads="1"/>
          </p:cNvSpPr>
          <p:nvPr>
            <p:ph type="sldNum" sz="quarter" idx="5"/>
          </p:nvPr>
        </p:nvSpPr>
        <p:spPr>
          <a:ln/>
        </p:spPr>
        <p:txBody>
          <a:bodyPr/>
          <a:lstStyle/>
          <a:p>
            <a:fld id="{023AF3CD-A54E-44C9-A882-A5FDED51789A}" type="slidenum">
              <a:rPr lang="en-GB" altLang="en-US"/>
              <a:pPr/>
              <a:t>25</a:t>
            </a:fld>
            <a:endParaRPr lang="en-GB" altLang="en-US"/>
          </a:p>
        </p:txBody>
      </p:sp>
      <p:sp>
        <p:nvSpPr>
          <p:cNvPr id="489474" name="Rectangle 7">
            <a:extLst>
              <a:ext uri="{FF2B5EF4-FFF2-40B4-BE49-F238E27FC236}">
                <a16:creationId xmlns:a16="http://schemas.microsoft.com/office/drawing/2014/main" id="{BF2823E3-EA87-471E-8998-1F98B6EDE848}"/>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60FC9DB5-D01E-4E88-A4DF-1D35EF5492EB}" type="slidenum">
              <a:rPr lang="en-GB" altLang="en-US" sz="1000" i="1"/>
              <a:pPr algn="r">
                <a:spcBef>
                  <a:spcPct val="0"/>
                </a:spcBef>
              </a:pPr>
              <a:t>25</a:t>
            </a:fld>
            <a:endParaRPr lang="en-GB" altLang="en-US" sz="1000" i="1"/>
          </a:p>
        </p:txBody>
      </p:sp>
      <p:sp>
        <p:nvSpPr>
          <p:cNvPr id="489475" name="Rectangle 2">
            <a:extLst>
              <a:ext uri="{FF2B5EF4-FFF2-40B4-BE49-F238E27FC236}">
                <a16:creationId xmlns:a16="http://schemas.microsoft.com/office/drawing/2014/main" id="{0E4430F7-9073-4152-A2AF-5BDB2636F997}"/>
              </a:ext>
            </a:extLst>
          </p:cNvPr>
          <p:cNvSpPr>
            <a:spLocks noGrp="1" noRot="1" noChangeAspect="1" noChangeArrowheads="1" noTextEdit="1"/>
          </p:cNvSpPr>
          <p:nvPr>
            <p:ph type="sldImg"/>
          </p:nvPr>
        </p:nvSpPr>
        <p:spPr>
          <a:xfrm>
            <a:off x="393700" y="692150"/>
            <a:ext cx="6070600" cy="3416300"/>
          </a:xfrm>
          <a:ln/>
        </p:spPr>
      </p:sp>
      <p:sp>
        <p:nvSpPr>
          <p:cNvPr id="489476" name="Rectangle 3">
            <a:extLst>
              <a:ext uri="{FF2B5EF4-FFF2-40B4-BE49-F238E27FC236}">
                <a16:creationId xmlns:a16="http://schemas.microsoft.com/office/drawing/2014/main" id="{D1C37B18-BBFA-4915-A38B-5EC1968F941C}"/>
              </a:ext>
            </a:extLst>
          </p:cNvPr>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defTabSz="762000"/>
            <a:endParaRPr lang="en-US" altLang="en-US"/>
          </a:p>
        </p:txBody>
      </p:sp>
    </p:spTree>
    <p:extLst>
      <p:ext uri="{BB962C8B-B14F-4D97-AF65-F5344CB8AC3E}">
        <p14:creationId xmlns:p14="http://schemas.microsoft.com/office/powerpoint/2010/main" val="411728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371EECA-6B00-4D97-A244-C47EEAD2FFBD}"/>
              </a:ext>
            </a:extLst>
          </p:cNvPr>
          <p:cNvSpPr>
            <a:spLocks noGrp="1" noChangeArrowheads="1"/>
          </p:cNvSpPr>
          <p:nvPr>
            <p:ph type="sldNum" sz="quarter" idx="5"/>
          </p:nvPr>
        </p:nvSpPr>
        <p:spPr>
          <a:ln/>
        </p:spPr>
        <p:txBody>
          <a:bodyPr/>
          <a:lstStyle/>
          <a:p>
            <a:fld id="{F7BC51B7-A817-404B-803F-ACC9B7ED7437}" type="slidenum">
              <a:rPr lang="en-GB" altLang="en-US"/>
              <a:pPr/>
              <a:t>26</a:t>
            </a:fld>
            <a:endParaRPr lang="en-GB" altLang="en-US"/>
          </a:p>
        </p:txBody>
      </p:sp>
      <p:sp>
        <p:nvSpPr>
          <p:cNvPr id="491522" name="Rectangle 7">
            <a:extLst>
              <a:ext uri="{FF2B5EF4-FFF2-40B4-BE49-F238E27FC236}">
                <a16:creationId xmlns:a16="http://schemas.microsoft.com/office/drawing/2014/main" id="{AC0521B8-BFEB-4EB3-8080-7DC81DD1E867}"/>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770FDAD7-38D5-4CC0-98E2-C64E16F886A7}" type="slidenum">
              <a:rPr lang="en-GB" altLang="en-US" sz="1000" i="1"/>
              <a:pPr algn="r">
                <a:spcBef>
                  <a:spcPct val="0"/>
                </a:spcBef>
              </a:pPr>
              <a:t>26</a:t>
            </a:fld>
            <a:endParaRPr lang="en-GB" altLang="en-US" sz="1000" i="1"/>
          </a:p>
        </p:txBody>
      </p:sp>
      <p:sp>
        <p:nvSpPr>
          <p:cNvPr id="491523" name="Rectangle 2">
            <a:extLst>
              <a:ext uri="{FF2B5EF4-FFF2-40B4-BE49-F238E27FC236}">
                <a16:creationId xmlns:a16="http://schemas.microsoft.com/office/drawing/2014/main" id="{8A0E041E-6D80-486C-BB7E-132A9A3D3FB4}"/>
              </a:ext>
            </a:extLst>
          </p:cNvPr>
          <p:cNvSpPr>
            <a:spLocks noGrp="1" noRot="1" noChangeAspect="1" noChangeArrowheads="1" noTextEdit="1"/>
          </p:cNvSpPr>
          <p:nvPr>
            <p:ph type="sldImg"/>
          </p:nvPr>
        </p:nvSpPr>
        <p:spPr>
          <a:xfrm>
            <a:off x="393700" y="692150"/>
            <a:ext cx="6070600" cy="3416300"/>
          </a:xfrm>
          <a:ln/>
        </p:spPr>
      </p:sp>
      <p:sp>
        <p:nvSpPr>
          <p:cNvPr id="491524" name="Rectangle 3">
            <a:extLst>
              <a:ext uri="{FF2B5EF4-FFF2-40B4-BE49-F238E27FC236}">
                <a16:creationId xmlns:a16="http://schemas.microsoft.com/office/drawing/2014/main" id="{3AF2CBAD-E801-46F8-8A4D-6FCA951F0CFB}"/>
              </a:ext>
            </a:extLst>
          </p:cNvPr>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defTabSz="762000"/>
            <a:endParaRPr lang="en-US" altLang="en-US"/>
          </a:p>
        </p:txBody>
      </p:sp>
    </p:spTree>
    <p:extLst>
      <p:ext uri="{BB962C8B-B14F-4D97-AF65-F5344CB8AC3E}">
        <p14:creationId xmlns:p14="http://schemas.microsoft.com/office/powerpoint/2010/main" val="7567170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2BBD6A9E-0675-491F-AD56-AD23DF8D28FB}"/>
              </a:ext>
            </a:extLst>
          </p:cNvPr>
          <p:cNvSpPr>
            <a:spLocks noGrp="1" noChangeArrowheads="1"/>
          </p:cNvSpPr>
          <p:nvPr>
            <p:ph type="sldNum" sz="quarter" idx="5"/>
          </p:nvPr>
        </p:nvSpPr>
        <p:spPr>
          <a:ln/>
        </p:spPr>
        <p:txBody>
          <a:bodyPr/>
          <a:lstStyle/>
          <a:p>
            <a:fld id="{4104C345-E18C-4BBF-98EF-6335D35F032B}" type="slidenum">
              <a:rPr lang="en-GB" altLang="en-US"/>
              <a:pPr/>
              <a:t>27</a:t>
            </a:fld>
            <a:endParaRPr lang="en-GB" altLang="en-US"/>
          </a:p>
        </p:txBody>
      </p:sp>
      <p:sp>
        <p:nvSpPr>
          <p:cNvPr id="485378" name="Rectangle 2">
            <a:extLst>
              <a:ext uri="{FF2B5EF4-FFF2-40B4-BE49-F238E27FC236}">
                <a16:creationId xmlns:a16="http://schemas.microsoft.com/office/drawing/2014/main" id="{33D53316-94F4-42D6-A5CE-DA075CA4D326}"/>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5379" name="Rectangle 3">
            <a:extLst>
              <a:ext uri="{FF2B5EF4-FFF2-40B4-BE49-F238E27FC236}">
                <a16:creationId xmlns:a16="http://schemas.microsoft.com/office/drawing/2014/main" id="{21934427-5F4B-4949-B726-1459C27D8DBF}"/>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485380" name="Rectangle 4">
            <a:extLst>
              <a:ext uri="{FF2B5EF4-FFF2-40B4-BE49-F238E27FC236}">
                <a16:creationId xmlns:a16="http://schemas.microsoft.com/office/drawing/2014/main" id="{56E64D72-3C83-4A21-9D0F-0EBFD0A21BA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5381" name="Rectangle 5">
            <a:extLst>
              <a:ext uri="{FF2B5EF4-FFF2-40B4-BE49-F238E27FC236}">
                <a16:creationId xmlns:a16="http://schemas.microsoft.com/office/drawing/2014/main" id="{FD657B25-70D3-48E3-B987-C4A01A2998D3}"/>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5382" name="Rectangle 6">
            <a:extLst>
              <a:ext uri="{FF2B5EF4-FFF2-40B4-BE49-F238E27FC236}">
                <a16:creationId xmlns:a16="http://schemas.microsoft.com/office/drawing/2014/main" id="{3E470106-7844-4369-8000-CB361610F109}"/>
              </a:ext>
            </a:extLst>
          </p:cNvPr>
          <p:cNvSpPr>
            <a:spLocks noGrp="1" noChangeArrowheads="1"/>
          </p:cNvSpPr>
          <p:nvPr>
            <p:ph type="body" idx="1"/>
          </p:nvPr>
        </p:nvSpPr>
        <p:spPr>
          <a:ln/>
        </p:spPr>
        <p:txBody>
          <a:bodyPr lIns="92075" tIns="46038" rIns="92075" bIns="46038"/>
          <a:lstStyle/>
          <a:p>
            <a:endParaRPr lang="en-GB" altLang="en-US" noProof="1"/>
          </a:p>
        </p:txBody>
      </p:sp>
      <p:sp>
        <p:nvSpPr>
          <p:cNvPr id="485383" name="Rectangle 7">
            <a:extLst>
              <a:ext uri="{FF2B5EF4-FFF2-40B4-BE49-F238E27FC236}">
                <a16:creationId xmlns:a16="http://schemas.microsoft.com/office/drawing/2014/main" id="{D0444C57-85E2-4AED-A407-8B13222B9AB6}"/>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6036595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C008A78-9540-4550-B9DA-EE196F91D968}" type="slidenum">
              <a:rPr lang="en-GB" altLang="en-US"/>
              <a:pPr/>
              <a:t>28</a:t>
            </a:fld>
            <a:endParaRPr lang="en-GB" altLang="en-US"/>
          </a:p>
        </p:txBody>
      </p:sp>
      <p:sp>
        <p:nvSpPr>
          <p:cNvPr id="37888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7888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6" name="Rectangle 6"/>
          <p:cNvSpPr>
            <a:spLocks noGrp="1" noChangeArrowheads="1"/>
          </p:cNvSpPr>
          <p:nvPr>
            <p:ph type="body" idx="1"/>
          </p:nvPr>
        </p:nvSpPr>
        <p:spPr>
          <a:ln/>
        </p:spPr>
        <p:txBody>
          <a:bodyPr lIns="92075" tIns="46038" rIns="92075" bIns="46038"/>
          <a:lstStyle/>
          <a:p>
            <a:endParaRPr lang="en-GB" altLang="en-US" noProof="1"/>
          </a:p>
        </p:txBody>
      </p:sp>
      <p:sp>
        <p:nvSpPr>
          <p:cNvPr id="378887"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9080496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646290DF-46B0-4AC0-82A3-058C6E89ADDF}" type="slidenum">
              <a:rPr lang="en-GB" altLang="en-US"/>
              <a:pPr/>
              <a:t>29</a:t>
            </a:fld>
            <a:endParaRPr lang="en-GB" altLang="en-US"/>
          </a:p>
        </p:txBody>
      </p:sp>
      <p:sp>
        <p:nvSpPr>
          <p:cNvPr id="38297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7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38298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2" name="Rectangle 6"/>
          <p:cNvSpPr>
            <a:spLocks noGrp="1" noChangeArrowheads="1"/>
          </p:cNvSpPr>
          <p:nvPr>
            <p:ph type="body" idx="1"/>
          </p:nvPr>
        </p:nvSpPr>
        <p:spPr>
          <a:ln/>
        </p:spPr>
        <p:txBody>
          <a:bodyPr lIns="92075" tIns="46038" rIns="92075" bIns="46038"/>
          <a:lstStyle/>
          <a:p>
            <a:endParaRPr lang="en-GB" altLang="en-US" noProof="1"/>
          </a:p>
        </p:txBody>
      </p:sp>
      <p:sp>
        <p:nvSpPr>
          <p:cNvPr id="382983"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4276662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646290DF-46B0-4AC0-82A3-058C6E89ADDF}" type="slidenum">
              <a:rPr lang="en-GB" altLang="en-US"/>
              <a:pPr/>
              <a:t>30</a:t>
            </a:fld>
            <a:endParaRPr lang="en-GB" altLang="en-US"/>
          </a:p>
        </p:txBody>
      </p:sp>
      <p:sp>
        <p:nvSpPr>
          <p:cNvPr id="38297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7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38298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2" name="Rectangle 6"/>
          <p:cNvSpPr>
            <a:spLocks noGrp="1" noChangeArrowheads="1"/>
          </p:cNvSpPr>
          <p:nvPr>
            <p:ph type="body" idx="1"/>
          </p:nvPr>
        </p:nvSpPr>
        <p:spPr>
          <a:ln/>
        </p:spPr>
        <p:txBody>
          <a:bodyPr lIns="92075" tIns="46038" rIns="92075" bIns="46038"/>
          <a:lstStyle/>
          <a:p>
            <a:endParaRPr lang="en-GB" altLang="en-US" noProof="1"/>
          </a:p>
        </p:txBody>
      </p:sp>
      <p:sp>
        <p:nvSpPr>
          <p:cNvPr id="382983"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645372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61598408-3153-453D-A492-FA2C93216B1F}" type="slidenum">
              <a:rPr lang="en-GB" altLang="en-US"/>
              <a:pPr/>
              <a:t>31</a:t>
            </a:fld>
            <a:endParaRPr lang="en-GB" altLang="en-US"/>
          </a:p>
        </p:txBody>
      </p:sp>
      <p:sp>
        <p:nvSpPr>
          <p:cNvPr id="38502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2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9</a:t>
            </a:r>
          </a:p>
        </p:txBody>
      </p:sp>
      <p:sp>
        <p:nvSpPr>
          <p:cNvPr id="38502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2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30" name="Rectangle 6"/>
          <p:cNvSpPr>
            <a:spLocks noGrp="1" noChangeArrowheads="1"/>
          </p:cNvSpPr>
          <p:nvPr>
            <p:ph type="body" idx="1"/>
          </p:nvPr>
        </p:nvSpPr>
        <p:spPr>
          <a:ln/>
        </p:spPr>
        <p:txBody>
          <a:bodyPr lIns="92075" tIns="46038" rIns="92075" bIns="46038"/>
          <a:lstStyle/>
          <a:p>
            <a:endParaRPr lang="en-GB" altLang="en-US" noProof="1"/>
          </a:p>
        </p:txBody>
      </p:sp>
      <p:sp>
        <p:nvSpPr>
          <p:cNvPr id="385031"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8518992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61598408-3153-453D-A492-FA2C93216B1F}" type="slidenum">
              <a:rPr lang="en-GB" altLang="en-US"/>
              <a:pPr/>
              <a:t>32</a:t>
            </a:fld>
            <a:endParaRPr lang="en-GB" altLang="en-US"/>
          </a:p>
        </p:txBody>
      </p:sp>
      <p:sp>
        <p:nvSpPr>
          <p:cNvPr id="38502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2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9</a:t>
            </a:r>
          </a:p>
        </p:txBody>
      </p:sp>
      <p:sp>
        <p:nvSpPr>
          <p:cNvPr id="38502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2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30" name="Rectangle 6"/>
          <p:cNvSpPr>
            <a:spLocks noGrp="1" noChangeArrowheads="1"/>
          </p:cNvSpPr>
          <p:nvPr>
            <p:ph type="body" idx="1"/>
          </p:nvPr>
        </p:nvSpPr>
        <p:spPr>
          <a:ln/>
        </p:spPr>
        <p:txBody>
          <a:bodyPr lIns="92075" tIns="46038" rIns="92075" bIns="46038"/>
          <a:lstStyle/>
          <a:p>
            <a:endParaRPr lang="en-GB" altLang="en-US" noProof="1"/>
          </a:p>
        </p:txBody>
      </p:sp>
      <p:sp>
        <p:nvSpPr>
          <p:cNvPr id="385031"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2303640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FCF201B0-E5E9-4D10-A567-987C97235093}" type="slidenum">
              <a:rPr lang="en-GB" altLang="en-US"/>
              <a:pPr/>
              <a:t>33</a:t>
            </a:fld>
            <a:endParaRPr lang="en-GB" altLang="en-US"/>
          </a:p>
        </p:txBody>
      </p:sp>
      <p:sp>
        <p:nvSpPr>
          <p:cNvPr id="38707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707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9</a:t>
            </a:r>
          </a:p>
        </p:txBody>
      </p:sp>
      <p:sp>
        <p:nvSpPr>
          <p:cNvPr id="38707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707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7078" name="Rectangle 6"/>
          <p:cNvSpPr>
            <a:spLocks noGrp="1" noChangeArrowheads="1"/>
          </p:cNvSpPr>
          <p:nvPr>
            <p:ph type="body" idx="1"/>
          </p:nvPr>
        </p:nvSpPr>
        <p:spPr>
          <a:ln/>
        </p:spPr>
        <p:txBody>
          <a:bodyPr lIns="92075" tIns="46038" rIns="92075" bIns="46038"/>
          <a:lstStyle/>
          <a:p>
            <a:endParaRPr lang="en-GB" altLang="en-US" noProof="1"/>
          </a:p>
        </p:txBody>
      </p:sp>
      <p:sp>
        <p:nvSpPr>
          <p:cNvPr id="387079"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7438898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FCF201B0-E5E9-4D10-A567-987C97235093}" type="slidenum">
              <a:rPr lang="en-GB" altLang="en-US"/>
              <a:pPr/>
              <a:t>34</a:t>
            </a:fld>
            <a:endParaRPr lang="en-GB" altLang="en-US"/>
          </a:p>
        </p:txBody>
      </p:sp>
      <p:sp>
        <p:nvSpPr>
          <p:cNvPr id="38707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707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9</a:t>
            </a:r>
          </a:p>
        </p:txBody>
      </p:sp>
      <p:sp>
        <p:nvSpPr>
          <p:cNvPr id="38707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707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7078" name="Rectangle 6"/>
          <p:cNvSpPr>
            <a:spLocks noGrp="1" noChangeArrowheads="1"/>
          </p:cNvSpPr>
          <p:nvPr>
            <p:ph type="body" idx="1"/>
          </p:nvPr>
        </p:nvSpPr>
        <p:spPr>
          <a:ln/>
        </p:spPr>
        <p:txBody>
          <a:bodyPr lIns="92075" tIns="46038" rIns="92075" bIns="46038"/>
          <a:lstStyle/>
          <a:p>
            <a:endParaRPr lang="en-GB" altLang="en-US" noProof="1"/>
          </a:p>
        </p:txBody>
      </p:sp>
      <p:sp>
        <p:nvSpPr>
          <p:cNvPr id="387079"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2873251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FBC3FCE-263B-44B1-B627-30322DCC20BE}" type="slidenum">
              <a:rPr lang="en-GB" altLang="en-US"/>
              <a:pPr/>
              <a:t>35</a:t>
            </a:fld>
            <a:endParaRPr lang="en-GB" altLang="en-US"/>
          </a:p>
        </p:txBody>
      </p:sp>
      <p:sp>
        <p:nvSpPr>
          <p:cNvPr id="38912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10</a:t>
            </a:r>
          </a:p>
        </p:txBody>
      </p:sp>
      <p:sp>
        <p:nvSpPr>
          <p:cNvPr id="38912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6" name="Rectangle 6"/>
          <p:cNvSpPr>
            <a:spLocks noGrp="1" noChangeArrowheads="1"/>
          </p:cNvSpPr>
          <p:nvPr>
            <p:ph type="body" idx="1"/>
          </p:nvPr>
        </p:nvSpPr>
        <p:spPr>
          <a:ln/>
        </p:spPr>
        <p:txBody>
          <a:bodyPr lIns="92075" tIns="46038" rIns="92075" bIns="46038"/>
          <a:lstStyle/>
          <a:p>
            <a:endParaRPr lang="en-GB" altLang="en-US" noProof="1"/>
          </a:p>
        </p:txBody>
      </p:sp>
      <p:sp>
        <p:nvSpPr>
          <p:cNvPr id="389127"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0556695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FBC3FCE-263B-44B1-B627-30322DCC20BE}" type="slidenum">
              <a:rPr lang="en-GB" altLang="en-US"/>
              <a:pPr/>
              <a:t>36</a:t>
            </a:fld>
            <a:endParaRPr lang="en-GB" altLang="en-US"/>
          </a:p>
        </p:txBody>
      </p:sp>
      <p:sp>
        <p:nvSpPr>
          <p:cNvPr id="38912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10</a:t>
            </a:r>
          </a:p>
        </p:txBody>
      </p:sp>
      <p:sp>
        <p:nvSpPr>
          <p:cNvPr id="38912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6" name="Rectangle 6"/>
          <p:cNvSpPr>
            <a:spLocks noGrp="1" noChangeArrowheads="1"/>
          </p:cNvSpPr>
          <p:nvPr>
            <p:ph type="body" idx="1"/>
          </p:nvPr>
        </p:nvSpPr>
        <p:spPr>
          <a:ln/>
        </p:spPr>
        <p:txBody>
          <a:bodyPr lIns="92075" tIns="46038" rIns="92075" bIns="46038"/>
          <a:lstStyle/>
          <a:p>
            <a:endParaRPr lang="en-GB" altLang="en-US" noProof="1"/>
          </a:p>
        </p:txBody>
      </p:sp>
      <p:sp>
        <p:nvSpPr>
          <p:cNvPr id="389127"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9920381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FBC3FCE-263B-44B1-B627-30322DCC20BE}" type="slidenum">
              <a:rPr lang="en-GB" altLang="en-US"/>
              <a:pPr/>
              <a:t>37</a:t>
            </a:fld>
            <a:endParaRPr lang="en-GB" altLang="en-US"/>
          </a:p>
        </p:txBody>
      </p:sp>
      <p:sp>
        <p:nvSpPr>
          <p:cNvPr id="38912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10</a:t>
            </a:r>
          </a:p>
        </p:txBody>
      </p:sp>
      <p:sp>
        <p:nvSpPr>
          <p:cNvPr id="38912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6" name="Rectangle 6"/>
          <p:cNvSpPr>
            <a:spLocks noGrp="1" noChangeArrowheads="1"/>
          </p:cNvSpPr>
          <p:nvPr>
            <p:ph type="body" idx="1"/>
          </p:nvPr>
        </p:nvSpPr>
        <p:spPr>
          <a:ln/>
        </p:spPr>
        <p:txBody>
          <a:bodyPr lIns="92075" tIns="46038" rIns="92075" bIns="46038"/>
          <a:lstStyle/>
          <a:p>
            <a:endParaRPr lang="en-GB" altLang="en-US" noProof="1"/>
          </a:p>
        </p:txBody>
      </p:sp>
      <p:sp>
        <p:nvSpPr>
          <p:cNvPr id="389127"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4343531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BB4A92F0-EDB2-4C83-AECE-720592CEEC6D}" type="slidenum">
              <a:rPr lang="en-GB" altLang="en-US"/>
              <a:pPr/>
              <a:t>38</a:t>
            </a:fld>
            <a:endParaRPr lang="en-GB" altLang="en-US"/>
          </a:p>
        </p:txBody>
      </p:sp>
      <p:sp>
        <p:nvSpPr>
          <p:cNvPr id="39117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17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15</a:t>
            </a:r>
          </a:p>
        </p:txBody>
      </p:sp>
      <p:sp>
        <p:nvSpPr>
          <p:cNvPr id="39117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17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174" name="Rectangle 6"/>
          <p:cNvSpPr>
            <a:spLocks noGrp="1" noChangeArrowheads="1"/>
          </p:cNvSpPr>
          <p:nvPr>
            <p:ph type="body" idx="1"/>
          </p:nvPr>
        </p:nvSpPr>
        <p:spPr>
          <a:ln/>
        </p:spPr>
        <p:txBody>
          <a:bodyPr lIns="92075" tIns="46038" rIns="92075" bIns="46038"/>
          <a:lstStyle/>
          <a:p>
            <a:endParaRPr lang="en-GB" altLang="en-US" noProof="1"/>
          </a:p>
        </p:txBody>
      </p:sp>
      <p:sp>
        <p:nvSpPr>
          <p:cNvPr id="391175"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0251808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1F5459A0-9EF1-4B36-BB21-696DB77B0B0C}" type="slidenum">
              <a:rPr lang="en-GB" altLang="en-US"/>
              <a:pPr/>
              <a:t>39</a:t>
            </a:fld>
            <a:endParaRPr lang="en-GB" altLang="en-US"/>
          </a:p>
        </p:txBody>
      </p:sp>
      <p:sp>
        <p:nvSpPr>
          <p:cNvPr id="39321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321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16</a:t>
            </a:r>
          </a:p>
        </p:txBody>
      </p:sp>
      <p:sp>
        <p:nvSpPr>
          <p:cNvPr id="39322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322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3222" name="Rectangle 6"/>
          <p:cNvSpPr>
            <a:spLocks noGrp="1" noChangeArrowheads="1"/>
          </p:cNvSpPr>
          <p:nvPr>
            <p:ph type="body" idx="1"/>
          </p:nvPr>
        </p:nvSpPr>
        <p:spPr>
          <a:ln/>
        </p:spPr>
        <p:txBody>
          <a:bodyPr lIns="92075" tIns="46038" rIns="92075" bIns="46038"/>
          <a:lstStyle/>
          <a:p>
            <a:endParaRPr lang="en-GB" altLang="en-US" noProof="1"/>
          </a:p>
        </p:txBody>
      </p:sp>
      <p:sp>
        <p:nvSpPr>
          <p:cNvPr id="393223"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7318570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A8BEE9-D4BE-44CE-9CBA-9C7C1CE844EA}" type="slidenum">
              <a:rPr lang="en-GB" altLang="en-US"/>
              <a:pPr/>
              <a:t>41</a:t>
            </a:fld>
            <a:endParaRPr lang="en-GB" altLang="en-US"/>
          </a:p>
        </p:txBody>
      </p:sp>
      <p:sp>
        <p:nvSpPr>
          <p:cNvPr id="395266" name="Rectangle 2"/>
          <p:cNvSpPr>
            <a:spLocks noGrp="1" noRot="1" noChangeAspect="1" noChangeArrowheads="1" noTextEdit="1"/>
          </p:cNvSpPr>
          <p:nvPr>
            <p:ph type="sldImg"/>
          </p:nvPr>
        </p:nvSpPr>
        <p:spPr>
          <a:ln/>
        </p:spPr>
      </p:sp>
      <p:sp>
        <p:nvSpPr>
          <p:cNvPr id="395267" name="Rectangle 3"/>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2726531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A8BEE9-D4BE-44CE-9CBA-9C7C1CE844EA}" type="slidenum">
              <a:rPr lang="en-GB" altLang="en-US"/>
              <a:pPr/>
              <a:t>42</a:t>
            </a:fld>
            <a:endParaRPr lang="en-GB" altLang="en-US"/>
          </a:p>
        </p:txBody>
      </p:sp>
      <p:sp>
        <p:nvSpPr>
          <p:cNvPr id="395266" name="Rectangle 2"/>
          <p:cNvSpPr>
            <a:spLocks noGrp="1" noRot="1" noChangeAspect="1" noChangeArrowheads="1" noTextEdit="1"/>
          </p:cNvSpPr>
          <p:nvPr>
            <p:ph type="sldImg"/>
          </p:nvPr>
        </p:nvSpPr>
        <p:spPr>
          <a:ln/>
        </p:spPr>
      </p:sp>
      <p:sp>
        <p:nvSpPr>
          <p:cNvPr id="395267" name="Rectangle 3"/>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23023983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F715A3B8-253A-4B35-9CDE-8D91BD232D0F}" type="slidenum">
              <a:rPr lang="en-GB" altLang="en-US"/>
              <a:pPr/>
              <a:t>43</a:t>
            </a:fld>
            <a:endParaRPr lang="en-GB" altLang="en-US"/>
          </a:p>
        </p:txBody>
      </p:sp>
      <p:sp>
        <p:nvSpPr>
          <p:cNvPr id="39936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36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16</a:t>
            </a:r>
          </a:p>
        </p:txBody>
      </p:sp>
      <p:sp>
        <p:nvSpPr>
          <p:cNvPr id="39936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36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366" name="Rectangle 6"/>
          <p:cNvSpPr>
            <a:spLocks noGrp="1" noChangeArrowheads="1"/>
          </p:cNvSpPr>
          <p:nvPr>
            <p:ph type="body" idx="1"/>
          </p:nvPr>
        </p:nvSpPr>
        <p:spPr>
          <a:ln/>
        </p:spPr>
        <p:txBody>
          <a:bodyPr lIns="92075" tIns="46038" rIns="92075" bIns="46038"/>
          <a:lstStyle/>
          <a:p>
            <a:endParaRPr lang="en-GB" altLang="en-US" noProof="1"/>
          </a:p>
        </p:txBody>
      </p:sp>
      <p:sp>
        <p:nvSpPr>
          <p:cNvPr id="399367"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9175809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3332BA7-163F-4BA6-BEEA-AFBB092767AE}"/>
              </a:ext>
            </a:extLst>
          </p:cNvPr>
          <p:cNvSpPr>
            <a:spLocks noGrp="1" noChangeArrowheads="1"/>
          </p:cNvSpPr>
          <p:nvPr>
            <p:ph type="sldNum" sz="quarter" idx="5"/>
          </p:nvPr>
        </p:nvSpPr>
        <p:spPr>
          <a:ln/>
        </p:spPr>
        <p:txBody>
          <a:bodyPr/>
          <a:lstStyle/>
          <a:p>
            <a:fld id="{3D503835-F719-42CF-BA8A-2BDB29228061}" type="slidenum">
              <a:rPr lang="en-GB" altLang="en-US"/>
              <a:pPr/>
              <a:t>44</a:t>
            </a:fld>
            <a:endParaRPr lang="en-GB" altLang="en-US"/>
          </a:p>
        </p:txBody>
      </p:sp>
      <p:sp>
        <p:nvSpPr>
          <p:cNvPr id="6146" name="Rectangle 2">
            <a:extLst>
              <a:ext uri="{FF2B5EF4-FFF2-40B4-BE49-F238E27FC236}">
                <a16:creationId xmlns:a16="http://schemas.microsoft.com/office/drawing/2014/main" id="{61649807-165B-46D2-AC80-538EB22BD51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0217356B-04AA-4019-A352-07469E94509F}"/>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671476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F715A3B8-253A-4B35-9CDE-8D91BD232D0F}" type="slidenum">
              <a:rPr lang="en-GB" altLang="en-US"/>
              <a:pPr/>
              <a:t>45</a:t>
            </a:fld>
            <a:endParaRPr lang="en-GB" altLang="en-US"/>
          </a:p>
        </p:txBody>
      </p:sp>
      <p:sp>
        <p:nvSpPr>
          <p:cNvPr id="39936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36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16</a:t>
            </a:r>
          </a:p>
        </p:txBody>
      </p:sp>
      <p:sp>
        <p:nvSpPr>
          <p:cNvPr id="39936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36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366" name="Rectangle 6"/>
          <p:cNvSpPr>
            <a:spLocks noGrp="1" noChangeArrowheads="1"/>
          </p:cNvSpPr>
          <p:nvPr>
            <p:ph type="body" idx="1"/>
          </p:nvPr>
        </p:nvSpPr>
        <p:spPr>
          <a:ln/>
        </p:spPr>
        <p:txBody>
          <a:bodyPr lIns="92075" tIns="46038" rIns="92075" bIns="46038"/>
          <a:lstStyle/>
          <a:p>
            <a:endParaRPr lang="en-GB" altLang="en-US" noProof="1"/>
          </a:p>
        </p:txBody>
      </p:sp>
      <p:sp>
        <p:nvSpPr>
          <p:cNvPr id="399367"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8952852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49BC6D-5D87-4DE8-B80D-D10539F9A2B0}"/>
              </a:ext>
            </a:extLst>
          </p:cNvPr>
          <p:cNvSpPr>
            <a:spLocks noGrp="1" noChangeArrowheads="1"/>
          </p:cNvSpPr>
          <p:nvPr>
            <p:ph type="sldNum" sz="quarter" idx="5"/>
          </p:nvPr>
        </p:nvSpPr>
        <p:spPr>
          <a:ln/>
        </p:spPr>
        <p:txBody>
          <a:bodyPr/>
          <a:lstStyle/>
          <a:p>
            <a:fld id="{7EEA11A0-A7D4-4857-B5BE-6FC4A10A4427}" type="slidenum">
              <a:rPr lang="en-GB" altLang="en-US"/>
              <a:pPr/>
              <a:t>47</a:t>
            </a:fld>
            <a:endParaRPr lang="en-GB" altLang="en-US"/>
          </a:p>
        </p:txBody>
      </p:sp>
      <p:sp>
        <p:nvSpPr>
          <p:cNvPr id="372738" name="Rectangle 2">
            <a:extLst>
              <a:ext uri="{FF2B5EF4-FFF2-40B4-BE49-F238E27FC236}">
                <a16:creationId xmlns:a16="http://schemas.microsoft.com/office/drawing/2014/main" id="{008695D2-2691-40CA-A7A7-959C78AEDD95}"/>
              </a:ext>
            </a:extLst>
          </p:cNvPr>
          <p:cNvSpPr>
            <a:spLocks noGrp="1" noRot="1" noChangeAspect="1" noChangeArrowheads="1" noTextEdit="1"/>
          </p:cNvSpPr>
          <p:nvPr>
            <p:ph type="sldImg"/>
          </p:nvPr>
        </p:nvSpPr>
        <p:spPr>
          <a:xfrm>
            <a:off x="387350" y="712788"/>
            <a:ext cx="6081713" cy="3421062"/>
          </a:xfrm>
          <a:ln/>
        </p:spPr>
      </p:sp>
      <p:sp>
        <p:nvSpPr>
          <p:cNvPr id="372739" name="Rectangle 3">
            <a:extLst>
              <a:ext uri="{FF2B5EF4-FFF2-40B4-BE49-F238E27FC236}">
                <a16:creationId xmlns:a16="http://schemas.microsoft.com/office/drawing/2014/main" id="{C6AA9523-5017-4908-8531-57A6BC772EC4}"/>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6191761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49BC6D-5D87-4DE8-B80D-D10539F9A2B0}"/>
              </a:ext>
            </a:extLst>
          </p:cNvPr>
          <p:cNvSpPr>
            <a:spLocks noGrp="1" noChangeArrowheads="1"/>
          </p:cNvSpPr>
          <p:nvPr>
            <p:ph type="sldNum" sz="quarter" idx="5"/>
          </p:nvPr>
        </p:nvSpPr>
        <p:spPr>
          <a:ln/>
        </p:spPr>
        <p:txBody>
          <a:bodyPr/>
          <a:lstStyle/>
          <a:p>
            <a:fld id="{7EEA11A0-A7D4-4857-B5BE-6FC4A10A4427}" type="slidenum">
              <a:rPr lang="en-GB" altLang="en-US"/>
              <a:pPr/>
              <a:t>48</a:t>
            </a:fld>
            <a:endParaRPr lang="en-GB" altLang="en-US"/>
          </a:p>
        </p:txBody>
      </p:sp>
      <p:sp>
        <p:nvSpPr>
          <p:cNvPr id="372738" name="Rectangle 2">
            <a:extLst>
              <a:ext uri="{FF2B5EF4-FFF2-40B4-BE49-F238E27FC236}">
                <a16:creationId xmlns:a16="http://schemas.microsoft.com/office/drawing/2014/main" id="{008695D2-2691-40CA-A7A7-959C78AEDD95}"/>
              </a:ext>
            </a:extLst>
          </p:cNvPr>
          <p:cNvSpPr>
            <a:spLocks noGrp="1" noRot="1" noChangeAspect="1" noChangeArrowheads="1" noTextEdit="1"/>
          </p:cNvSpPr>
          <p:nvPr>
            <p:ph type="sldImg"/>
          </p:nvPr>
        </p:nvSpPr>
        <p:spPr>
          <a:xfrm>
            <a:off x="387350" y="712788"/>
            <a:ext cx="6081713" cy="3421062"/>
          </a:xfrm>
          <a:ln/>
        </p:spPr>
      </p:sp>
      <p:sp>
        <p:nvSpPr>
          <p:cNvPr id="372739" name="Rectangle 3">
            <a:extLst>
              <a:ext uri="{FF2B5EF4-FFF2-40B4-BE49-F238E27FC236}">
                <a16:creationId xmlns:a16="http://schemas.microsoft.com/office/drawing/2014/main" id="{C6AA9523-5017-4908-8531-57A6BC772EC4}"/>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3762826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49BC6D-5D87-4DE8-B80D-D10539F9A2B0}"/>
              </a:ext>
            </a:extLst>
          </p:cNvPr>
          <p:cNvSpPr>
            <a:spLocks noGrp="1" noChangeArrowheads="1"/>
          </p:cNvSpPr>
          <p:nvPr>
            <p:ph type="sldNum" sz="quarter" idx="5"/>
          </p:nvPr>
        </p:nvSpPr>
        <p:spPr>
          <a:ln/>
        </p:spPr>
        <p:txBody>
          <a:bodyPr/>
          <a:lstStyle/>
          <a:p>
            <a:fld id="{7EEA11A0-A7D4-4857-B5BE-6FC4A10A4427}" type="slidenum">
              <a:rPr lang="en-GB" altLang="en-US"/>
              <a:pPr/>
              <a:t>49</a:t>
            </a:fld>
            <a:endParaRPr lang="en-GB" altLang="en-US"/>
          </a:p>
        </p:txBody>
      </p:sp>
      <p:sp>
        <p:nvSpPr>
          <p:cNvPr id="372738" name="Rectangle 2">
            <a:extLst>
              <a:ext uri="{FF2B5EF4-FFF2-40B4-BE49-F238E27FC236}">
                <a16:creationId xmlns:a16="http://schemas.microsoft.com/office/drawing/2014/main" id="{008695D2-2691-40CA-A7A7-959C78AEDD95}"/>
              </a:ext>
            </a:extLst>
          </p:cNvPr>
          <p:cNvSpPr>
            <a:spLocks noGrp="1" noRot="1" noChangeAspect="1" noChangeArrowheads="1" noTextEdit="1"/>
          </p:cNvSpPr>
          <p:nvPr>
            <p:ph type="sldImg"/>
          </p:nvPr>
        </p:nvSpPr>
        <p:spPr>
          <a:xfrm>
            <a:off x="387350" y="712788"/>
            <a:ext cx="6081713" cy="3421062"/>
          </a:xfrm>
          <a:ln/>
        </p:spPr>
      </p:sp>
      <p:sp>
        <p:nvSpPr>
          <p:cNvPr id="372739" name="Rectangle 3">
            <a:extLst>
              <a:ext uri="{FF2B5EF4-FFF2-40B4-BE49-F238E27FC236}">
                <a16:creationId xmlns:a16="http://schemas.microsoft.com/office/drawing/2014/main" id="{C6AA9523-5017-4908-8531-57A6BC772EC4}"/>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3557659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49BC6D-5D87-4DE8-B80D-D10539F9A2B0}"/>
              </a:ext>
            </a:extLst>
          </p:cNvPr>
          <p:cNvSpPr>
            <a:spLocks noGrp="1" noChangeArrowheads="1"/>
          </p:cNvSpPr>
          <p:nvPr>
            <p:ph type="sldNum" sz="quarter" idx="5"/>
          </p:nvPr>
        </p:nvSpPr>
        <p:spPr>
          <a:ln/>
        </p:spPr>
        <p:txBody>
          <a:bodyPr/>
          <a:lstStyle/>
          <a:p>
            <a:fld id="{7EEA11A0-A7D4-4857-B5BE-6FC4A10A4427}" type="slidenum">
              <a:rPr lang="en-GB" altLang="en-US"/>
              <a:pPr/>
              <a:t>50</a:t>
            </a:fld>
            <a:endParaRPr lang="en-GB" altLang="en-US"/>
          </a:p>
        </p:txBody>
      </p:sp>
      <p:sp>
        <p:nvSpPr>
          <p:cNvPr id="372738" name="Rectangle 2">
            <a:extLst>
              <a:ext uri="{FF2B5EF4-FFF2-40B4-BE49-F238E27FC236}">
                <a16:creationId xmlns:a16="http://schemas.microsoft.com/office/drawing/2014/main" id="{008695D2-2691-40CA-A7A7-959C78AEDD95}"/>
              </a:ext>
            </a:extLst>
          </p:cNvPr>
          <p:cNvSpPr>
            <a:spLocks noGrp="1" noRot="1" noChangeAspect="1" noChangeArrowheads="1" noTextEdit="1"/>
          </p:cNvSpPr>
          <p:nvPr>
            <p:ph type="sldImg"/>
          </p:nvPr>
        </p:nvSpPr>
        <p:spPr>
          <a:xfrm>
            <a:off x="387350" y="712788"/>
            <a:ext cx="6081713" cy="3421062"/>
          </a:xfrm>
          <a:ln/>
        </p:spPr>
      </p:sp>
      <p:sp>
        <p:nvSpPr>
          <p:cNvPr id="372739" name="Rectangle 3">
            <a:extLst>
              <a:ext uri="{FF2B5EF4-FFF2-40B4-BE49-F238E27FC236}">
                <a16:creationId xmlns:a16="http://schemas.microsoft.com/office/drawing/2014/main" id="{C6AA9523-5017-4908-8531-57A6BC772EC4}"/>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0687382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49BC6D-5D87-4DE8-B80D-D10539F9A2B0}"/>
              </a:ext>
            </a:extLst>
          </p:cNvPr>
          <p:cNvSpPr>
            <a:spLocks noGrp="1" noChangeArrowheads="1"/>
          </p:cNvSpPr>
          <p:nvPr>
            <p:ph type="sldNum" sz="quarter" idx="5"/>
          </p:nvPr>
        </p:nvSpPr>
        <p:spPr>
          <a:ln/>
        </p:spPr>
        <p:txBody>
          <a:bodyPr/>
          <a:lstStyle/>
          <a:p>
            <a:fld id="{7EEA11A0-A7D4-4857-B5BE-6FC4A10A4427}" type="slidenum">
              <a:rPr lang="en-GB" altLang="en-US"/>
              <a:pPr/>
              <a:t>51</a:t>
            </a:fld>
            <a:endParaRPr lang="en-GB" altLang="en-US"/>
          </a:p>
        </p:txBody>
      </p:sp>
      <p:sp>
        <p:nvSpPr>
          <p:cNvPr id="372738" name="Rectangle 2">
            <a:extLst>
              <a:ext uri="{FF2B5EF4-FFF2-40B4-BE49-F238E27FC236}">
                <a16:creationId xmlns:a16="http://schemas.microsoft.com/office/drawing/2014/main" id="{008695D2-2691-40CA-A7A7-959C78AEDD95}"/>
              </a:ext>
            </a:extLst>
          </p:cNvPr>
          <p:cNvSpPr>
            <a:spLocks noGrp="1" noRot="1" noChangeAspect="1" noChangeArrowheads="1" noTextEdit="1"/>
          </p:cNvSpPr>
          <p:nvPr>
            <p:ph type="sldImg"/>
          </p:nvPr>
        </p:nvSpPr>
        <p:spPr>
          <a:xfrm>
            <a:off x="387350" y="712788"/>
            <a:ext cx="6081713" cy="3421062"/>
          </a:xfrm>
          <a:ln/>
        </p:spPr>
      </p:sp>
      <p:sp>
        <p:nvSpPr>
          <p:cNvPr id="372739" name="Rectangle 3">
            <a:extLst>
              <a:ext uri="{FF2B5EF4-FFF2-40B4-BE49-F238E27FC236}">
                <a16:creationId xmlns:a16="http://schemas.microsoft.com/office/drawing/2014/main" id="{C6AA9523-5017-4908-8531-57A6BC772EC4}"/>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28726702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49BC6D-5D87-4DE8-B80D-D10539F9A2B0}"/>
              </a:ext>
            </a:extLst>
          </p:cNvPr>
          <p:cNvSpPr>
            <a:spLocks noGrp="1" noChangeArrowheads="1"/>
          </p:cNvSpPr>
          <p:nvPr>
            <p:ph type="sldNum" sz="quarter" idx="5"/>
          </p:nvPr>
        </p:nvSpPr>
        <p:spPr>
          <a:ln/>
        </p:spPr>
        <p:txBody>
          <a:bodyPr/>
          <a:lstStyle/>
          <a:p>
            <a:fld id="{7EEA11A0-A7D4-4857-B5BE-6FC4A10A4427}" type="slidenum">
              <a:rPr lang="en-GB" altLang="en-US"/>
              <a:pPr/>
              <a:t>52</a:t>
            </a:fld>
            <a:endParaRPr lang="en-GB" altLang="en-US"/>
          </a:p>
        </p:txBody>
      </p:sp>
      <p:sp>
        <p:nvSpPr>
          <p:cNvPr id="372738" name="Rectangle 2">
            <a:extLst>
              <a:ext uri="{FF2B5EF4-FFF2-40B4-BE49-F238E27FC236}">
                <a16:creationId xmlns:a16="http://schemas.microsoft.com/office/drawing/2014/main" id="{008695D2-2691-40CA-A7A7-959C78AEDD95}"/>
              </a:ext>
            </a:extLst>
          </p:cNvPr>
          <p:cNvSpPr>
            <a:spLocks noGrp="1" noRot="1" noChangeAspect="1" noChangeArrowheads="1" noTextEdit="1"/>
          </p:cNvSpPr>
          <p:nvPr>
            <p:ph type="sldImg"/>
          </p:nvPr>
        </p:nvSpPr>
        <p:spPr>
          <a:xfrm>
            <a:off x="387350" y="712788"/>
            <a:ext cx="6081713" cy="3421062"/>
          </a:xfrm>
          <a:ln/>
        </p:spPr>
      </p:sp>
      <p:sp>
        <p:nvSpPr>
          <p:cNvPr id="372739" name="Rectangle 3">
            <a:extLst>
              <a:ext uri="{FF2B5EF4-FFF2-40B4-BE49-F238E27FC236}">
                <a16:creationId xmlns:a16="http://schemas.microsoft.com/office/drawing/2014/main" id="{C6AA9523-5017-4908-8531-57A6BC772EC4}"/>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31030937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3C9EED6-04CD-4A28-AD37-3ABA58A39F05}"/>
              </a:ext>
            </a:extLst>
          </p:cNvPr>
          <p:cNvSpPr>
            <a:spLocks noGrp="1" noChangeArrowheads="1"/>
          </p:cNvSpPr>
          <p:nvPr>
            <p:ph type="sldNum" sz="quarter" idx="5"/>
          </p:nvPr>
        </p:nvSpPr>
        <p:spPr>
          <a:ln/>
        </p:spPr>
        <p:txBody>
          <a:bodyPr/>
          <a:lstStyle/>
          <a:p>
            <a:fld id="{37E00DDA-3CE6-48A7-891E-FEB11AD87716}" type="slidenum">
              <a:rPr lang="en-GB" altLang="en-US"/>
              <a:pPr/>
              <a:t>53</a:t>
            </a:fld>
            <a:endParaRPr lang="en-GB" altLang="en-US"/>
          </a:p>
        </p:txBody>
      </p:sp>
      <p:sp>
        <p:nvSpPr>
          <p:cNvPr id="391170" name="Rectangle 2">
            <a:extLst>
              <a:ext uri="{FF2B5EF4-FFF2-40B4-BE49-F238E27FC236}">
                <a16:creationId xmlns:a16="http://schemas.microsoft.com/office/drawing/2014/main" id="{D59062D9-58A7-4212-B11E-056B83DB14CE}"/>
              </a:ext>
            </a:extLst>
          </p:cNvPr>
          <p:cNvSpPr>
            <a:spLocks noGrp="1" noRot="1" noChangeAspect="1" noChangeArrowheads="1" noTextEdit="1"/>
          </p:cNvSpPr>
          <p:nvPr>
            <p:ph type="sldImg"/>
          </p:nvPr>
        </p:nvSpPr>
        <p:spPr>
          <a:xfrm>
            <a:off x="387350" y="712788"/>
            <a:ext cx="6081713" cy="3421062"/>
          </a:xfrm>
          <a:ln/>
        </p:spPr>
      </p:sp>
      <p:sp>
        <p:nvSpPr>
          <p:cNvPr id="391171" name="Rectangle 3">
            <a:extLst>
              <a:ext uri="{FF2B5EF4-FFF2-40B4-BE49-F238E27FC236}">
                <a16:creationId xmlns:a16="http://schemas.microsoft.com/office/drawing/2014/main" id="{1ACC54E1-7169-4CDE-AC5C-36A0BD7B2A23}"/>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4336824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3C9EED6-04CD-4A28-AD37-3ABA58A39F05}"/>
              </a:ext>
            </a:extLst>
          </p:cNvPr>
          <p:cNvSpPr>
            <a:spLocks noGrp="1" noChangeArrowheads="1"/>
          </p:cNvSpPr>
          <p:nvPr>
            <p:ph type="sldNum" sz="quarter" idx="5"/>
          </p:nvPr>
        </p:nvSpPr>
        <p:spPr>
          <a:ln/>
        </p:spPr>
        <p:txBody>
          <a:bodyPr/>
          <a:lstStyle/>
          <a:p>
            <a:fld id="{37E00DDA-3CE6-48A7-891E-FEB11AD87716}" type="slidenum">
              <a:rPr lang="en-GB" altLang="en-US"/>
              <a:pPr/>
              <a:t>54</a:t>
            </a:fld>
            <a:endParaRPr lang="en-GB" altLang="en-US"/>
          </a:p>
        </p:txBody>
      </p:sp>
      <p:sp>
        <p:nvSpPr>
          <p:cNvPr id="391170" name="Rectangle 2">
            <a:extLst>
              <a:ext uri="{FF2B5EF4-FFF2-40B4-BE49-F238E27FC236}">
                <a16:creationId xmlns:a16="http://schemas.microsoft.com/office/drawing/2014/main" id="{D59062D9-58A7-4212-B11E-056B83DB14CE}"/>
              </a:ext>
            </a:extLst>
          </p:cNvPr>
          <p:cNvSpPr>
            <a:spLocks noGrp="1" noRot="1" noChangeAspect="1" noChangeArrowheads="1" noTextEdit="1"/>
          </p:cNvSpPr>
          <p:nvPr>
            <p:ph type="sldImg"/>
          </p:nvPr>
        </p:nvSpPr>
        <p:spPr>
          <a:xfrm>
            <a:off x="387350" y="712788"/>
            <a:ext cx="6081713" cy="3421062"/>
          </a:xfrm>
          <a:ln/>
        </p:spPr>
      </p:sp>
      <p:sp>
        <p:nvSpPr>
          <p:cNvPr id="391171" name="Rectangle 3">
            <a:extLst>
              <a:ext uri="{FF2B5EF4-FFF2-40B4-BE49-F238E27FC236}">
                <a16:creationId xmlns:a16="http://schemas.microsoft.com/office/drawing/2014/main" id="{1ACC54E1-7169-4CDE-AC5C-36A0BD7B2A23}"/>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4858533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BFF5713-C060-49E7-A88E-43FC24777544}"/>
              </a:ext>
            </a:extLst>
          </p:cNvPr>
          <p:cNvSpPr>
            <a:spLocks noGrp="1" noChangeArrowheads="1"/>
          </p:cNvSpPr>
          <p:nvPr>
            <p:ph type="sldNum" sz="quarter" idx="5"/>
          </p:nvPr>
        </p:nvSpPr>
        <p:spPr>
          <a:ln/>
        </p:spPr>
        <p:txBody>
          <a:bodyPr/>
          <a:lstStyle/>
          <a:p>
            <a:fld id="{38ABEE24-1A93-4883-AC40-1B3822070997}" type="slidenum">
              <a:rPr lang="en-GB" altLang="en-US"/>
              <a:pPr/>
              <a:t>55</a:t>
            </a:fld>
            <a:endParaRPr lang="en-GB" altLang="en-US"/>
          </a:p>
        </p:txBody>
      </p:sp>
      <p:sp>
        <p:nvSpPr>
          <p:cNvPr id="393218" name="Rectangle 2">
            <a:extLst>
              <a:ext uri="{FF2B5EF4-FFF2-40B4-BE49-F238E27FC236}">
                <a16:creationId xmlns:a16="http://schemas.microsoft.com/office/drawing/2014/main" id="{FF480B4F-3FB3-4DC6-B45E-9F0B7AEFE789}"/>
              </a:ext>
            </a:extLst>
          </p:cNvPr>
          <p:cNvSpPr>
            <a:spLocks noGrp="1" noRot="1" noChangeAspect="1" noChangeArrowheads="1" noTextEdit="1"/>
          </p:cNvSpPr>
          <p:nvPr>
            <p:ph type="sldImg"/>
          </p:nvPr>
        </p:nvSpPr>
        <p:spPr>
          <a:xfrm>
            <a:off x="387350" y="712788"/>
            <a:ext cx="6081713" cy="3421062"/>
          </a:xfrm>
          <a:ln/>
        </p:spPr>
      </p:sp>
      <p:sp>
        <p:nvSpPr>
          <p:cNvPr id="393219" name="Rectangle 3">
            <a:extLst>
              <a:ext uri="{FF2B5EF4-FFF2-40B4-BE49-F238E27FC236}">
                <a16:creationId xmlns:a16="http://schemas.microsoft.com/office/drawing/2014/main" id="{EA1C4874-4836-4A01-985E-947E01879B93}"/>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4966832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974B9C1-AAA1-48BE-A45F-075605C40789}"/>
              </a:ext>
            </a:extLst>
          </p:cNvPr>
          <p:cNvSpPr>
            <a:spLocks noGrp="1" noChangeArrowheads="1"/>
          </p:cNvSpPr>
          <p:nvPr>
            <p:ph type="sldNum" sz="quarter" idx="5"/>
          </p:nvPr>
        </p:nvSpPr>
        <p:spPr>
          <a:ln/>
        </p:spPr>
        <p:txBody>
          <a:bodyPr/>
          <a:lstStyle/>
          <a:p>
            <a:fld id="{EF69C206-EC7B-4016-AB66-D1A70EF95130}" type="slidenum">
              <a:rPr lang="en-GB" altLang="en-US"/>
              <a:pPr/>
              <a:t>56</a:t>
            </a:fld>
            <a:endParaRPr lang="en-GB" altLang="en-US"/>
          </a:p>
        </p:txBody>
      </p:sp>
      <p:sp>
        <p:nvSpPr>
          <p:cNvPr id="395266" name="Rectangle 2">
            <a:extLst>
              <a:ext uri="{FF2B5EF4-FFF2-40B4-BE49-F238E27FC236}">
                <a16:creationId xmlns:a16="http://schemas.microsoft.com/office/drawing/2014/main" id="{2C7C4D67-4AE9-4DC4-A57C-FF1B3ACE42B0}"/>
              </a:ext>
            </a:extLst>
          </p:cNvPr>
          <p:cNvSpPr>
            <a:spLocks noGrp="1" noRot="1" noChangeAspect="1" noChangeArrowheads="1" noTextEdit="1"/>
          </p:cNvSpPr>
          <p:nvPr>
            <p:ph type="sldImg"/>
          </p:nvPr>
        </p:nvSpPr>
        <p:spPr>
          <a:xfrm>
            <a:off x="387350" y="712788"/>
            <a:ext cx="6081713" cy="3421062"/>
          </a:xfrm>
          <a:ln/>
        </p:spPr>
      </p:sp>
      <p:sp>
        <p:nvSpPr>
          <p:cNvPr id="395267" name="Rectangle 3">
            <a:extLst>
              <a:ext uri="{FF2B5EF4-FFF2-40B4-BE49-F238E27FC236}">
                <a16:creationId xmlns:a16="http://schemas.microsoft.com/office/drawing/2014/main" id="{5CD3B137-C7D6-4151-A130-9EF339AC47FA}"/>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5580568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032F2D-A7C7-4029-9911-92DEDF6094A9}"/>
              </a:ext>
            </a:extLst>
          </p:cNvPr>
          <p:cNvSpPr>
            <a:spLocks noGrp="1" noChangeArrowheads="1"/>
          </p:cNvSpPr>
          <p:nvPr>
            <p:ph type="sldNum" sz="quarter" idx="5"/>
          </p:nvPr>
        </p:nvSpPr>
        <p:spPr>
          <a:ln/>
        </p:spPr>
        <p:txBody>
          <a:bodyPr/>
          <a:lstStyle/>
          <a:p>
            <a:fld id="{55EE7483-AEE6-4B72-BD56-A6AB0DF33E92}" type="slidenum">
              <a:rPr lang="en-GB" altLang="en-US"/>
              <a:pPr/>
              <a:t>57</a:t>
            </a:fld>
            <a:endParaRPr lang="en-GB" altLang="en-US"/>
          </a:p>
        </p:txBody>
      </p:sp>
      <p:sp>
        <p:nvSpPr>
          <p:cNvPr id="374786" name="Rectangle 2">
            <a:extLst>
              <a:ext uri="{FF2B5EF4-FFF2-40B4-BE49-F238E27FC236}">
                <a16:creationId xmlns:a16="http://schemas.microsoft.com/office/drawing/2014/main" id="{F3B7A3CD-E584-4042-B04B-039FE63AC9BD}"/>
              </a:ext>
            </a:extLst>
          </p:cNvPr>
          <p:cNvSpPr>
            <a:spLocks noGrp="1" noRot="1" noChangeAspect="1" noChangeArrowheads="1" noTextEdit="1"/>
          </p:cNvSpPr>
          <p:nvPr>
            <p:ph type="sldImg"/>
          </p:nvPr>
        </p:nvSpPr>
        <p:spPr>
          <a:xfrm>
            <a:off x="387350" y="712788"/>
            <a:ext cx="6081713" cy="3421062"/>
          </a:xfrm>
          <a:ln/>
        </p:spPr>
      </p:sp>
      <p:sp>
        <p:nvSpPr>
          <p:cNvPr id="374787" name="Rectangle 3">
            <a:extLst>
              <a:ext uri="{FF2B5EF4-FFF2-40B4-BE49-F238E27FC236}">
                <a16:creationId xmlns:a16="http://schemas.microsoft.com/office/drawing/2014/main" id="{8DB5694A-7497-42B1-8FC2-C19F991B0563}"/>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30066856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06CCD56-E473-4B76-BF43-91AC393CE732}"/>
              </a:ext>
            </a:extLst>
          </p:cNvPr>
          <p:cNvSpPr>
            <a:spLocks noGrp="1" noChangeArrowheads="1"/>
          </p:cNvSpPr>
          <p:nvPr>
            <p:ph type="sldNum" sz="quarter" idx="5"/>
          </p:nvPr>
        </p:nvSpPr>
        <p:spPr>
          <a:ln/>
        </p:spPr>
        <p:txBody>
          <a:bodyPr/>
          <a:lstStyle/>
          <a:p>
            <a:fld id="{7ED7D48B-3429-4FC3-B891-13D32A3DE320}" type="slidenum">
              <a:rPr lang="en-GB" altLang="en-US"/>
              <a:pPr/>
              <a:t>58</a:t>
            </a:fld>
            <a:endParaRPr lang="en-GB" altLang="en-US"/>
          </a:p>
        </p:txBody>
      </p:sp>
      <p:sp>
        <p:nvSpPr>
          <p:cNvPr id="376834" name="Rectangle 2">
            <a:extLst>
              <a:ext uri="{FF2B5EF4-FFF2-40B4-BE49-F238E27FC236}">
                <a16:creationId xmlns:a16="http://schemas.microsoft.com/office/drawing/2014/main" id="{63F0A786-5094-4230-A9A3-2648A03DCF45}"/>
              </a:ext>
            </a:extLst>
          </p:cNvPr>
          <p:cNvSpPr>
            <a:spLocks noGrp="1" noRot="1" noChangeAspect="1" noChangeArrowheads="1" noTextEdit="1"/>
          </p:cNvSpPr>
          <p:nvPr>
            <p:ph type="sldImg"/>
          </p:nvPr>
        </p:nvSpPr>
        <p:spPr>
          <a:xfrm>
            <a:off x="387350" y="712788"/>
            <a:ext cx="6081713" cy="3421062"/>
          </a:xfrm>
          <a:ln/>
        </p:spPr>
      </p:sp>
      <p:sp>
        <p:nvSpPr>
          <p:cNvPr id="376835" name="Rectangle 3">
            <a:extLst>
              <a:ext uri="{FF2B5EF4-FFF2-40B4-BE49-F238E27FC236}">
                <a16:creationId xmlns:a16="http://schemas.microsoft.com/office/drawing/2014/main" id="{54BE3B76-DC6C-45D0-B3F1-07CCB61554B6}"/>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0987802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6CC015E-632D-4E8B-B732-74E09A81B230}"/>
              </a:ext>
            </a:extLst>
          </p:cNvPr>
          <p:cNvSpPr>
            <a:spLocks noGrp="1" noChangeArrowheads="1"/>
          </p:cNvSpPr>
          <p:nvPr>
            <p:ph type="sldNum" sz="quarter" idx="5"/>
          </p:nvPr>
        </p:nvSpPr>
        <p:spPr>
          <a:ln/>
        </p:spPr>
        <p:txBody>
          <a:bodyPr/>
          <a:lstStyle/>
          <a:p>
            <a:fld id="{0C44CA6C-EBBF-4ED4-9D45-21E21C56FDB5}" type="slidenum">
              <a:rPr lang="en-GB" altLang="en-US"/>
              <a:pPr/>
              <a:t>59</a:t>
            </a:fld>
            <a:endParaRPr lang="en-GB" altLang="en-US"/>
          </a:p>
        </p:txBody>
      </p:sp>
      <p:sp>
        <p:nvSpPr>
          <p:cNvPr id="378882" name="Rectangle 2">
            <a:extLst>
              <a:ext uri="{FF2B5EF4-FFF2-40B4-BE49-F238E27FC236}">
                <a16:creationId xmlns:a16="http://schemas.microsoft.com/office/drawing/2014/main" id="{A579F6AE-3D74-464F-B4FA-E3F16AC4ADF9}"/>
              </a:ext>
            </a:extLst>
          </p:cNvPr>
          <p:cNvSpPr>
            <a:spLocks noGrp="1" noRot="1" noChangeAspect="1" noChangeArrowheads="1" noTextEdit="1"/>
          </p:cNvSpPr>
          <p:nvPr>
            <p:ph type="sldImg"/>
          </p:nvPr>
        </p:nvSpPr>
        <p:spPr>
          <a:xfrm>
            <a:off x="387350" y="712788"/>
            <a:ext cx="6081713" cy="3421062"/>
          </a:xfrm>
          <a:ln/>
        </p:spPr>
      </p:sp>
      <p:sp>
        <p:nvSpPr>
          <p:cNvPr id="378883" name="Rectangle 3">
            <a:extLst>
              <a:ext uri="{FF2B5EF4-FFF2-40B4-BE49-F238E27FC236}">
                <a16:creationId xmlns:a16="http://schemas.microsoft.com/office/drawing/2014/main" id="{83D6CB7F-C96A-4128-84B2-AD489F586A51}"/>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32012060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8DC0AB2-FB8B-4698-99A1-F336BA0A2030}"/>
              </a:ext>
            </a:extLst>
          </p:cNvPr>
          <p:cNvSpPr>
            <a:spLocks noGrp="1" noChangeArrowheads="1"/>
          </p:cNvSpPr>
          <p:nvPr>
            <p:ph type="sldNum" sz="quarter" idx="5"/>
          </p:nvPr>
        </p:nvSpPr>
        <p:spPr>
          <a:ln/>
        </p:spPr>
        <p:txBody>
          <a:bodyPr/>
          <a:lstStyle/>
          <a:p>
            <a:fld id="{E2FF4054-B4DC-430F-AA22-366E6968B742}" type="slidenum">
              <a:rPr lang="en-GB" altLang="en-US"/>
              <a:pPr/>
              <a:t>60</a:t>
            </a:fld>
            <a:endParaRPr lang="en-GB" altLang="en-US"/>
          </a:p>
        </p:txBody>
      </p:sp>
      <p:sp>
        <p:nvSpPr>
          <p:cNvPr id="397314" name="Rectangle 2">
            <a:extLst>
              <a:ext uri="{FF2B5EF4-FFF2-40B4-BE49-F238E27FC236}">
                <a16:creationId xmlns:a16="http://schemas.microsoft.com/office/drawing/2014/main" id="{2F3E248D-FC52-40A1-9DBC-99AB3DB74BD7}"/>
              </a:ext>
            </a:extLst>
          </p:cNvPr>
          <p:cNvSpPr>
            <a:spLocks noGrp="1" noRot="1" noChangeAspect="1" noChangeArrowheads="1" noTextEdit="1"/>
          </p:cNvSpPr>
          <p:nvPr>
            <p:ph type="sldImg"/>
          </p:nvPr>
        </p:nvSpPr>
        <p:spPr>
          <a:xfrm>
            <a:off x="387350" y="712788"/>
            <a:ext cx="6081713" cy="3421062"/>
          </a:xfrm>
          <a:ln/>
        </p:spPr>
      </p:sp>
      <p:sp>
        <p:nvSpPr>
          <p:cNvPr id="397315" name="Rectangle 3">
            <a:extLst>
              <a:ext uri="{FF2B5EF4-FFF2-40B4-BE49-F238E27FC236}">
                <a16:creationId xmlns:a16="http://schemas.microsoft.com/office/drawing/2014/main" id="{3961D6F1-869A-47C1-871A-A3B5E248A677}"/>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33195353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C6C3921-BFC3-4B38-9806-C2760E0F44BB}"/>
              </a:ext>
            </a:extLst>
          </p:cNvPr>
          <p:cNvSpPr>
            <a:spLocks noGrp="1" noChangeArrowheads="1"/>
          </p:cNvSpPr>
          <p:nvPr>
            <p:ph type="sldNum" sz="quarter" idx="5"/>
          </p:nvPr>
        </p:nvSpPr>
        <p:spPr>
          <a:ln/>
        </p:spPr>
        <p:txBody>
          <a:bodyPr/>
          <a:lstStyle/>
          <a:p>
            <a:fld id="{EA3E1837-F6E0-467F-98EF-39A0691FB4E7}" type="slidenum">
              <a:rPr lang="en-GB" altLang="en-US"/>
              <a:pPr/>
              <a:t>61</a:t>
            </a:fld>
            <a:endParaRPr lang="en-GB" altLang="en-US"/>
          </a:p>
        </p:txBody>
      </p:sp>
      <p:sp>
        <p:nvSpPr>
          <p:cNvPr id="399362" name="Rectangle 2">
            <a:extLst>
              <a:ext uri="{FF2B5EF4-FFF2-40B4-BE49-F238E27FC236}">
                <a16:creationId xmlns:a16="http://schemas.microsoft.com/office/drawing/2014/main" id="{EA40B7B4-3799-4004-9420-9FB95625F2D2}"/>
              </a:ext>
            </a:extLst>
          </p:cNvPr>
          <p:cNvSpPr>
            <a:spLocks noGrp="1" noRot="1" noChangeAspect="1" noChangeArrowheads="1" noTextEdit="1"/>
          </p:cNvSpPr>
          <p:nvPr>
            <p:ph type="sldImg"/>
          </p:nvPr>
        </p:nvSpPr>
        <p:spPr>
          <a:xfrm>
            <a:off x="387350" y="712788"/>
            <a:ext cx="6081713" cy="3421062"/>
          </a:xfrm>
          <a:ln/>
        </p:spPr>
      </p:sp>
      <p:sp>
        <p:nvSpPr>
          <p:cNvPr id="399363" name="Rectangle 3">
            <a:extLst>
              <a:ext uri="{FF2B5EF4-FFF2-40B4-BE49-F238E27FC236}">
                <a16:creationId xmlns:a16="http://schemas.microsoft.com/office/drawing/2014/main" id="{3300CED6-235A-499E-9252-CB4CEC19CD75}"/>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41980409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C6C3921-BFC3-4B38-9806-C2760E0F44BB}"/>
              </a:ext>
            </a:extLst>
          </p:cNvPr>
          <p:cNvSpPr>
            <a:spLocks noGrp="1" noChangeArrowheads="1"/>
          </p:cNvSpPr>
          <p:nvPr>
            <p:ph type="sldNum" sz="quarter" idx="5"/>
          </p:nvPr>
        </p:nvSpPr>
        <p:spPr>
          <a:ln/>
        </p:spPr>
        <p:txBody>
          <a:bodyPr/>
          <a:lstStyle/>
          <a:p>
            <a:fld id="{EA3E1837-F6E0-467F-98EF-39A0691FB4E7}" type="slidenum">
              <a:rPr lang="en-GB" altLang="en-US"/>
              <a:pPr/>
              <a:t>62</a:t>
            </a:fld>
            <a:endParaRPr lang="en-GB" altLang="en-US"/>
          </a:p>
        </p:txBody>
      </p:sp>
      <p:sp>
        <p:nvSpPr>
          <p:cNvPr id="399362" name="Rectangle 2">
            <a:extLst>
              <a:ext uri="{FF2B5EF4-FFF2-40B4-BE49-F238E27FC236}">
                <a16:creationId xmlns:a16="http://schemas.microsoft.com/office/drawing/2014/main" id="{EA40B7B4-3799-4004-9420-9FB95625F2D2}"/>
              </a:ext>
            </a:extLst>
          </p:cNvPr>
          <p:cNvSpPr>
            <a:spLocks noGrp="1" noRot="1" noChangeAspect="1" noChangeArrowheads="1" noTextEdit="1"/>
          </p:cNvSpPr>
          <p:nvPr>
            <p:ph type="sldImg"/>
          </p:nvPr>
        </p:nvSpPr>
        <p:spPr>
          <a:xfrm>
            <a:off x="387350" y="712788"/>
            <a:ext cx="6081713" cy="3421062"/>
          </a:xfrm>
          <a:ln/>
        </p:spPr>
      </p:sp>
      <p:sp>
        <p:nvSpPr>
          <p:cNvPr id="399363" name="Rectangle 3">
            <a:extLst>
              <a:ext uri="{FF2B5EF4-FFF2-40B4-BE49-F238E27FC236}">
                <a16:creationId xmlns:a16="http://schemas.microsoft.com/office/drawing/2014/main" id="{3300CED6-235A-499E-9252-CB4CEC19CD75}"/>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23569073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C6C3921-BFC3-4B38-9806-C2760E0F44BB}"/>
              </a:ext>
            </a:extLst>
          </p:cNvPr>
          <p:cNvSpPr>
            <a:spLocks noGrp="1" noChangeArrowheads="1"/>
          </p:cNvSpPr>
          <p:nvPr>
            <p:ph type="sldNum" sz="quarter" idx="5"/>
          </p:nvPr>
        </p:nvSpPr>
        <p:spPr>
          <a:ln/>
        </p:spPr>
        <p:txBody>
          <a:bodyPr/>
          <a:lstStyle/>
          <a:p>
            <a:fld id="{EA3E1837-F6E0-467F-98EF-39A0691FB4E7}" type="slidenum">
              <a:rPr lang="en-GB" altLang="en-US"/>
              <a:pPr/>
              <a:t>63</a:t>
            </a:fld>
            <a:endParaRPr lang="en-GB" altLang="en-US"/>
          </a:p>
        </p:txBody>
      </p:sp>
      <p:sp>
        <p:nvSpPr>
          <p:cNvPr id="399362" name="Rectangle 2">
            <a:extLst>
              <a:ext uri="{FF2B5EF4-FFF2-40B4-BE49-F238E27FC236}">
                <a16:creationId xmlns:a16="http://schemas.microsoft.com/office/drawing/2014/main" id="{EA40B7B4-3799-4004-9420-9FB95625F2D2}"/>
              </a:ext>
            </a:extLst>
          </p:cNvPr>
          <p:cNvSpPr>
            <a:spLocks noGrp="1" noRot="1" noChangeAspect="1" noChangeArrowheads="1" noTextEdit="1"/>
          </p:cNvSpPr>
          <p:nvPr>
            <p:ph type="sldImg"/>
          </p:nvPr>
        </p:nvSpPr>
        <p:spPr>
          <a:xfrm>
            <a:off x="387350" y="712788"/>
            <a:ext cx="6081713" cy="3421062"/>
          </a:xfrm>
          <a:ln/>
        </p:spPr>
      </p:sp>
      <p:sp>
        <p:nvSpPr>
          <p:cNvPr id="399363" name="Rectangle 3">
            <a:extLst>
              <a:ext uri="{FF2B5EF4-FFF2-40B4-BE49-F238E27FC236}">
                <a16:creationId xmlns:a16="http://schemas.microsoft.com/office/drawing/2014/main" id="{3300CED6-235A-499E-9252-CB4CEC19CD75}"/>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085311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646290DF-46B0-4AC0-82A3-058C6E89ADDF}" type="slidenum">
              <a:rPr lang="en-GB" altLang="en-US"/>
              <a:pPr/>
              <a:t>64</a:t>
            </a:fld>
            <a:endParaRPr lang="en-GB" altLang="en-US"/>
          </a:p>
        </p:txBody>
      </p:sp>
      <p:sp>
        <p:nvSpPr>
          <p:cNvPr id="38297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7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38298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2" name="Rectangle 6"/>
          <p:cNvSpPr>
            <a:spLocks noGrp="1" noChangeArrowheads="1"/>
          </p:cNvSpPr>
          <p:nvPr>
            <p:ph type="body" idx="1"/>
          </p:nvPr>
        </p:nvSpPr>
        <p:spPr>
          <a:ln/>
        </p:spPr>
        <p:txBody>
          <a:bodyPr lIns="92075" tIns="46038" rIns="92075" bIns="46038"/>
          <a:lstStyle/>
          <a:p>
            <a:endParaRPr lang="en-GB" altLang="en-US" noProof="1"/>
          </a:p>
        </p:txBody>
      </p:sp>
      <p:sp>
        <p:nvSpPr>
          <p:cNvPr id="382983"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015114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1643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927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28288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6"/>
            <a:ext cx="10515600" cy="107056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1707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455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4396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7CBE933-92D8-8187-B5F9-67501F4DABDA}"/>
              </a:ext>
            </a:extLst>
          </p:cNvPr>
          <p:cNvSpPr>
            <a:spLocks noGrp="1"/>
          </p:cNvSpPr>
          <p:nvPr>
            <p:ph type="dt" sz="half" idx="2"/>
          </p:nvPr>
        </p:nvSpPr>
        <p:spPr>
          <a:xfrm>
            <a:off x="402771" y="6356350"/>
            <a:ext cx="2743200" cy="365125"/>
          </a:xfrm>
          <a:prstGeom prst="rect">
            <a:avLst/>
          </a:prstGeom>
        </p:spPr>
        <p:txBody>
          <a:bodyPr vert="horz" lIns="91440" tIns="45720" rIns="91440" bIns="45720" rtlCol="0" anchor="ctr"/>
          <a:lstStyle>
            <a:lvl1pPr algn="l">
              <a:defRPr sz="1200" i="1">
                <a:solidFill>
                  <a:schemeClr val="tx1"/>
                </a:solidFill>
              </a:defRPr>
            </a:lvl1pPr>
          </a:lstStyle>
          <a:p>
            <a:r>
              <a:rPr lang="en-US"/>
              <a:t>©copyright, Heriot-Watt University, 2024</a:t>
            </a:r>
            <a:endParaRPr lang="en-US" dirty="0"/>
          </a:p>
        </p:txBody>
      </p:sp>
    </p:spTree>
    <p:extLst>
      <p:ext uri="{BB962C8B-B14F-4D97-AF65-F5344CB8AC3E}">
        <p14:creationId xmlns:p14="http://schemas.microsoft.com/office/powerpoint/2010/main" val="145294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823774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11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39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64CB-A011-BB4E-9F6C-914C4FEB965C}"/>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dirty="0"/>
              <a:t>Click to edit Master title style</a:t>
            </a:r>
          </a:p>
        </p:txBody>
      </p:sp>
      <p:sp>
        <p:nvSpPr>
          <p:cNvPr id="3" name="Subtitle 2">
            <a:extLst>
              <a:ext uri="{FF2B5EF4-FFF2-40B4-BE49-F238E27FC236}">
                <a16:creationId xmlns:a16="http://schemas.microsoft.com/office/drawing/2014/main" id="{10297D51-BA3E-B940-A518-23EA6AD40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2311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A1F4-A4C2-7746-A4BF-73A35FF1A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5A778-AE0A-FF45-8919-78FC7BFCEA61}"/>
              </a:ext>
            </a:extLst>
          </p:cNvPr>
          <p:cNvSpPr>
            <a:spLocks noGrp="1"/>
          </p:cNvSpPr>
          <p:nvPr>
            <p:ph idx="1"/>
          </p:nvPr>
        </p:nvSpPr>
        <p:spPr/>
        <p:txBody>
          <a:bodyPr/>
          <a:lstStyle/>
          <a:p>
            <a:pPr lvl="0"/>
            <a:r>
              <a:rPr lang="en-US"/>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567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ED18-C36D-6942-A17C-A640DD97E8A8}"/>
              </a:ext>
            </a:extLst>
          </p:cNvPr>
          <p:cNvSpPr>
            <a:spLocks noGrp="1"/>
          </p:cNvSpPr>
          <p:nvPr>
            <p:ph type="title"/>
          </p:nvPr>
        </p:nvSpPr>
        <p:spPr>
          <a:xfrm>
            <a:off x="831850" y="1709738"/>
            <a:ext cx="10515600" cy="2852737"/>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C2AFA3DE-F5C3-6B44-BEDF-E8C5A75519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622076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98AE-10F7-9747-A17A-DCA5FF5349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8C8FD-9F20-0F49-BD8A-24F481F0EE5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BF451-64DA-6B4F-9C75-D38937F059F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2683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9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dirty="0"/>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9">
            <a:extLst>
              <a:ext uri="{FF2B5EF4-FFF2-40B4-BE49-F238E27FC236}">
                <a16:creationId xmlns:a16="http://schemas.microsoft.com/office/drawing/2014/main" id="{AABCDC2F-C97E-C150-697A-55C9546E1D9A}"/>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1219258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9">
            <a:extLst>
              <a:ext uri="{FF2B5EF4-FFF2-40B4-BE49-F238E27FC236}">
                <a16:creationId xmlns:a16="http://schemas.microsoft.com/office/drawing/2014/main" id="{B939D61E-F5BD-0A95-A8D7-B362178ECF4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205219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9">
            <a:extLst>
              <a:ext uri="{FF2B5EF4-FFF2-40B4-BE49-F238E27FC236}">
                <a16:creationId xmlns:a16="http://schemas.microsoft.com/office/drawing/2014/main" id="{87E77B97-0FDA-734C-97AA-6B7382C08EB9}"/>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1155983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9">
            <a:extLst>
              <a:ext uri="{FF2B5EF4-FFF2-40B4-BE49-F238E27FC236}">
                <a16:creationId xmlns:a16="http://schemas.microsoft.com/office/drawing/2014/main" id="{7DA158A6-B130-9DFD-E616-112696FAD7B4}"/>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136159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9">
            <a:extLst>
              <a:ext uri="{FF2B5EF4-FFF2-40B4-BE49-F238E27FC236}">
                <a16:creationId xmlns:a16="http://schemas.microsoft.com/office/drawing/2014/main" id="{49A75C75-4D93-8CEE-C5EB-A2102F4CAE4F}"/>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2557689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414075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3702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3860131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81635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233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A0462-FB60-412D-8528-96BBE0301135}"/>
              </a:ext>
            </a:extLst>
          </p:cNvPr>
          <p:cNvSpPr>
            <a:spLocks noGrp="1"/>
          </p:cNvSpPr>
          <p:nvPr>
            <p:ph type="title"/>
          </p:nvPr>
        </p:nvSpPr>
        <p:spPr/>
        <p:txBody>
          <a:bodyPr/>
          <a:lstStyle>
            <a:lvl1pPr>
              <a:defRPr sz="4000"/>
            </a:lvl1pPr>
          </a:lstStyle>
          <a:p>
            <a:r>
              <a:rPr lang="en-US"/>
              <a:t>Click to edit Master title style</a:t>
            </a:r>
            <a:endParaRPr lang="en-GB"/>
          </a:p>
        </p:txBody>
      </p:sp>
    </p:spTree>
    <p:extLst>
      <p:ext uri="{BB962C8B-B14F-4D97-AF65-F5344CB8AC3E}">
        <p14:creationId xmlns:p14="http://schemas.microsoft.com/office/powerpoint/2010/main" val="1522691206"/>
      </p:ext>
    </p:extLst>
  </p:cSld>
  <p:clrMapOvr>
    <a:masterClrMapping/>
  </p:clrMapOvr>
  <p:transition spd="slow">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04012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35464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3244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emf"/><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theme" Target="../theme/theme5.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101074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623701"/>
            <a:ext cx="10515600" cy="455326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E8F45BF-3121-0394-1C27-D888D2346F04}"/>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1" name="Footer Placeholder 9">
            <a:extLst>
              <a:ext uri="{FF2B5EF4-FFF2-40B4-BE49-F238E27FC236}">
                <a16:creationId xmlns:a16="http://schemas.microsoft.com/office/drawing/2014/main" id="{AE900FD1-EA9A-60B4-0DBA-00D96C5CA6AA}"/>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endParaRPr lang="en-US" dirty="0"/>
          </a:p>
        </p:txBody>
      </p:sp>
    </p:spTree>
    <p:extLst>
      <p:ext uri="{BB962C8B-B14F-4D97-AF65-F5344CB8AC3E}">
        <p14:creationId xmlns:p14="http://schemas.microsoft.com/office/powerpoint/2010/main" val="39496335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92529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546789"/>
            <a:ext cx="10515600" cy="46301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9">
            <a:extLst>
              <a:ext uri="{FF2B5EF4-FFF2-40B4-BE49-F238E27FC236}">
                <a16:creationId xmlns:a16="http://schemas.microsoft.com/office/drawing/2014/main" id="{A15CB55C-526A-98CB-3EA0-6FC8897ABB9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endParaRPr lang="en-US" dirty="0"/>
          </a:p>
        </p:txBody>
      </p:sp>
    </p:spTree>
    <p:extLst>
      <p:ext uri="{BB962C8B-B14F-4D97-AF65-F5344CB8AC3E}">
        <p14:creationId xmlns:p14="http://schemas.microsoft.com/office/powerpoint/2010/main" val="29224841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5936A0-BFBD-1049-B7F0-A1533BACDDA5}"/>
              </a:ext>
            </a:extLst>
          </p:cNvPr>
          <p:cNvSpPr/>
          <p:nvPr userDrawn="1"/>
        </p:nvSpPr>
        <p:spPr>
          <a:xfrm>
            <a:off x="435429" y="365125"/>
            <a:ext cx="11353800" cy="5991225"/>
          </a:xfrm>
          <a:prstGeom prst="rect">
            <a:avLst/>
          </a:prstGeom>
          <a:solidFill>
            <a:srgbClr val="E2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AC8945B-ADB6-1249-9092-50CEDEA401E8}"/>
              </a:ext>
            </a:extLst>
          </p:cNvPr>
          <p:cNvSpPr>
            <a:spLocks noGrp="1"/>
          </p:cNvSpPr>
          <p:nvPr>
            <p:ph type="title"/>
          </p:nvPr>
        </p:nvSpPr>
        <p:spPr>
          <a:xfrm>
            <a:off x="838200" y="365126"/>
            <a:ext cx="10515600" cy="93383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0284F7C-51EC-8A40-9E2F-D9D9128C9AD8}"/>
              </a:ext>
            </a:extLst>
          </p:cNvPr>
          <p:cNvSpPr>
            <a:spLocks noGrp="1"/>
          </p:cNvSpPr>
          <p:nvPr>
            <p:ph type="body" idx="1"/>
          </p:nvPr>
        </p:nvSpPr>
        <p:spPr>
          <a:xfrm>
            <a:off x="838200" y="1512606"/>
            <a:ext cx="10515600" cy="4664357"/>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A846A84D-B7D0-F045-A6B0-868A1238B952}"/>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9">
            <a:extLst>
              <a:ext uri="{FF2B5EF4-FFF2-40B4-BE49-F238E27FC236}">
                <a16:creationId xmlns:a16="http://schemas.microsoft.com/office/drawing/2014/main" id="{25E85631-C1F0-6AB5-6808-AE8E3687F028}"/>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endParaRPr lang="en-US" dirty="0"/>
          </a:p>
        </p:txBody>
      </p:sp>
    </p:spTree>
    <p:extLst>
      <p:ext uri="{BB962C8B-B14F-4D97-AF65-F5344CB8AC3E}">
        <p14:creationId xmlns:p14="http://schemas.microsoft.com/office/powerpoint/2010/main" val="113635202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Lst>
  <p:txStyles>
    <p:titleStyle>
      <a:lvl1pPr algn="l" defTabSz="914400" rtl="0" eaLnBrk="1" latinLnBrk="0" hangingPunct="1">
        <a:lnSpc>
          <a:spcPct val="90000"/>
        </a:lnSpc>
        <a:spcBef>
          <a:spcPct val="0"/>
        </a:spcBef>
        <a:buNone/>
        <a:defRPr sz="4000" b="1" i="0" kern="1200">
          <a:solidFill>
            <a:srgbClr val="003554"/>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003554"/>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3554"/>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rgbClr val="003554"/>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86172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452786"/>
            <a:ext cx="10515600" cy="472417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0B49433-1A9F-8E1D-5118-64124EE451F1}"/>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0" name="Footer Placeholder 9">
            <a:extLst>
              <a:ext uri="{FF2B5EF4-FFF2-40B4-BE49-F238E27FC236}">
                <a16:creationId xmlns:a16="http://schemas.microsoft.com/office/drawing/2014/main" id="{4AF306E5-725E-82E6-45E7-7A66599A9ED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9766423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9"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endParaRPr lang="en-US" dirty="0"/>
          </a:p>
        </p:txBody>
      </p:sp>
    </p:spTree>
    <p:extLst>
      <p:ext uri="{BB962C8B-B14F-4D97-AF65-F5344CB8AC3E}">
        <p14:creationId xmlns:p14="http://schemas.microsoft.com/office/powerpoint/2010/main" val="383552129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22" r:id="rId6"/>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endParaRPr lang="en-US" dirty="0"/>
          </a:p>
        </p:txBody>
      </p:sp>
    </p:spTree>
    <p:extLst>
      <p:ext uri="{BB962C8B-B14F-4D97-AF65-F5344CB8AC3E}">
        <p14:creationId xmlns:p14="http://schemas.microsoft.com/office/powerpoint/2010/main" val="298349532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3" Type="http://schemas.openxmlformats.org/officeDocument/2006/relationships/hyperlink" Target="https://www.gov.uk/government/collections/business-cartels-case-studies" TargetMode="External"/><Relationship Id="rId2" Type="http://schemas.openxmlformats.org/officeDocument/2006/relationships/notesSlide" Target="../notesSlides/notesSlide44.xml"/><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3" Type="http://schemas.openxmlformats.org/officeDocument/2006/relationships/hyperlink" Target="https://www.gov.uk/government/organisations/competition-and-markets-authority" TargetMode="External"/><Relationship Id="rId2" Type="http://schemas.openxmlformats.org/officeDocument/2006/relationships/notesSlide" Target="../notesSlides/notesSlide49.xml"/><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CAE0-399B-84E2-6473-4B4AD7203AF1}"/>
              </a:ext>
            </a:extLst>
          </p:cNvPr>
          <p:cNvSpPr>
            <a:spLocks noGrp="1"/>
          </p:cNvSpPr>
          <p:nvPr>
            <p:ph type="ctrTitle"/>
          </p:nvPr>
        </p:nvSpPr>
        <p:spPr/>
        <p:txBody>
          <a:bodyPr>
            <a:normAutofit/>
          </a:bodyPr>
          <a:lstStyle/>
          <a:p>
            <a:r>
              <a:rPr lang="en-GB" sz="5000" dirty="0"/>
              <a:t>C29PE Economics for Professionals</a:t>
            </a:r>
          </a:p>
        </p:txBody>
      </p:sp>
      <p:sp>
        <p:nvSpPr>
          <p:cNvPr id="3" name="Subtitle 2">
            <a:extLst>
              <a:ext uri="{FF2B5EF4-FFF2-40B4-BE49-F238E27FC236}">
                <a16:creationId xmlns:a16="http://schemas.microsoft.com/office/drawing/2014/main" id="{492700F6-CF37-8E0A-DA52-38A84466492D}"/>
              </a:ext>
            </a:extLst>
          </p:cNvPr>
          <p:cNvSpPr>
            <a:spLocks noGrp="1"/>
          </p:cNvSpPr>
          <p:nvPr>
            <p:ph type="subTitle" idx="1"/>
          </p:nvPr>
        </p:nvSpPr>
        <p:spPr/>
        <p:txBody>
          <a:bodyPr/>
          <a:lstStyle/>
          <a:p>
            <a:r>
              <a:rPr lang="en-GB" altLang="en-US" sz="2400" dirty="0"/>
              <a:t>Week 7 – </a:t>
            </a:r>
            <a:r>
              <a:rPr lang="en-GB" altLang="en-US" dirty="0"/>
              <a:t>Governments and Markets</a:t>
            </a:r>
            <a:endParaRPr lang="en-GB" altLang="en-US" sz="2400" dirty="0"/>
          </a:p>
          <a:p>
            <a:r>
              <a:rPr lang="en-GB" altLang="en-US" sz="2000" dirty="0"/>
              <a:t>Sloman </a:t>
            </a:r>
            <a:r>
              <a:rPr lang="en-GB" altLang="en-US" sz="2000" i="1" dirty="0"/>
              <a:t>et al</a:t>
            </a:r>
            <a:r>
              <a:rPr lang="en-GB" altLang="en-US" sz="2000" dirty="0"/>
              <a:t>., 2023, Chapters 20 &amp; 21</a:t>
            </a:r>
          </a:p>
          <a:p>
            <a:endParaRPr lang="en-GB" dirty="0"/>
          </a:p>
        </p:txBody>
      </p:sp>
    </p:spTree>
    <p:extLst>
      <p:ext uri="{BB962C8B-B14F-4D97-AF65-F5344CB8AC3E}">
        <p14:creationId xmlns:p14="http://schemas.microsoft.com/office/powerpoint/2010/main" val="1556209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469A-482A-6AA1-B654-2A0291684685}"/>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id="{26068D52-6276-4F36-8569-8B0B87E697B9}"/>
              </a:ext>
            </a:extLst>
          </p:cNvPr>
          <p:cNvSpPr>
            <a:spLocks noGrp="1"/>
          </p:cNvSpPr>
          <p:nvPr>
            <p:ph idx="1"/>
          </p:nvPr>
        </p:nvSpPr>
        <p:spPr/>
        <p:txBody>
          <a:bodyPr/>
          <a:lstStyle/>
          <a:p>
            <a:pPr marL="0" indent="0">
              <a:buNone/>
            </a:pPr>
            <a:r>
              <a:rPr lang="en-MY" dirty="0">
                <a:latin typeface="+mn-lt"/>
              </a:rPr>
              <a:t>Session Aims</a:t>
            </a:r>
          </a:p>
          <a:p>
            <a:r>
              <a:rPr lang="en-MY" sz="2000" dirty="0">
                <a:latin typeface="+mn-lt"/>
              </a:rPr>
              <a:t>To understand the rationale for government intervention</a:t>
            </a:r>
          </a:p>
          <a:p>
            <a:r>
              <a:rPr lang="en-MY" sz="2000" dirty="0">
                <a:latin typeface="+mn-lt"/>
              </a:rPr>
              <a:t>To identify and discuss types of market failure and the relevant remedies</a:t>
            </a:r>
          </a:p>
          <a:p>
            <a:r>
              <a:rPr lang="en-MY" sz="2000" dirty="0">
                <a:latin typeface="+mn-lt"/>
              </a:rPr>
              <a:t>To differentiate the government intervention and market oriented approaches to remedy market failure</a:t>
            </a:r>
          </a:p>
          <a:p>
            <a:endParaRPr lang="en-MY" sz="2000" dirty="0"/>
          </a:p>
          <a:p>
            <a:pPr lvl="1"/>
            <a:endParaRPr lang="en-MY" dirty="0"/>
          </a:p>
          <a:p>
            <a:endParaRPr lang="en-MY" dirty="0"/>
          </a:p>
        </p:txBody>
      </p:sp>
    </p:spTree>
    <p:extLst>
      <p:ext uri="{BB962C8B-B14F-4D97-AF65-F5344CB8AC3E}">
        <p14:creationId xmlns:p14="http://schemas.microsoft.com/office/powerpoint/2010/main" val="2043369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8526-D4E2-3B02-226F-AC762A5C77FF}"/>
              </a:ext>
            </a:extLst>
          </p:cNvPr>
          <p:cNvSpPr>
            <a:spLocks noGrp="1"/>
          </p:cNvSpPr>
          <p:nvPr>
            <p:ph type="title"/>
          </p:nvPr>
        </p:nvSpPr>
        <p:spPr/>
        <p:txBody>
          <a:bodyPr/>
          <a:lstStyle/>
          <a:p>
            <a:r>
              <a:rPr lang="en-MY" dirty="0"/>
              <a:t>References</a:t>
            </a:r>
          </a:p>
        </p:txBody>
      </p:sp>
      <p:sp>
        <p:nvSpPr>
          <p:cNvPr id="3" name="Content Placeholder 2">
            <a:extLst>
              <a:ext uri="{FF2B5EF4-FFF2-40B4-BE49-F238E27FC236}">
                <a16:creationId xmlns:a16="http://schemas.microsoft.com/office/drawing/2014/main" id="{DEEFEBE0-DBF2-29D7-C4C6-F701E2695E99}"/>
              </a:ext>
            </a:extLst>
          </p:cNvPr>
          <p:cNvSpPr>
            <a:spLocks noGrp="1"/>
          </p:cNvSpPr>
          <p:nvPr>
            <p:ph idx="1"/>
          </p:nvPr>
        </p:nvSpPr>
        <p:spPr/>
        <p:txBody>
          <a:bodyPr>
            <a:normAutofit/>
          </a:bodyPr>
          <a:lstStyle/>
          <a:p>
            <a:r>
              <a:rPr lang="en-MY" dirty="0">
                <a:latin typeface="+mn-lt"/>
              </a:rPr>
              <a:t>Sloman et al (2023) </a:t>
            </a:r>
          </a:p>
          <a:p>
            <a:pPr lvl="1"/>
            <a:r>
              <a:rPr lang="en-MY" dirty="0">
                <a:latin typeface="+mn-lt"/>
              </a:rPr>
              <a:t>Chapter 20.1 – 20.3 </a:t>
            </a:r>
          </a:p>
          <a:p>
            <a:pPr lvl="1"/>
            <a:r>
              <a:rPr lang="en-MY" dirty="0">
                <a:latin typeface="+mn-lt"/>
              </a:rPr>
              <a:t>Boxes 20.1 – 20.3 </a:t>
            </a:r>
          </a:p>
          <a:p>
            <a:pPr lvl="1"/>
            <a:r>
              <a:rPr lang="en-MY" dirty="0">
                <a:latin typeface="+mn-lt"/>
              </a:rPr>
              <a:t>Chapter 21.1 </a:t>
            </a:r>
          </a:p>
          <a:p>
            <a:pPr lvl="1"/>
            <a:r>
              <a:rPr lang="en-MY" dirty="0">
                <a:latin typeface="+mn-lt"/>
              </a:rPr>
              <a:t>Box 21.1 	</a:t>
            </a:r>
          </a:p>
          <a:p>
            <a:pPr lvl="1"/>
            <a:endParaRPr lang="en-MY" dirty="0">
              <a:latin typeface="+mn-lt"/>
            </a:endParaRPr>
          </a:p>
          <a:p>
            <a:r>
              <a:rPr lang="en-MY" dirty="0">
                <a:highlight>
                  <a:srgbClr val="FFFF00"/>
                </a:highlight>
                <a:latin typeface="+mn-lt"/>
              </a:rPr>
              <a:t>Important!</a:t>
            </a:r>
          </a:p>
          <a:p>
            <a:pPr lvl="1"/>
            <a:r>
              <a:rPr lang="en-MY" dirty="0">
                <a:highlight>
                  <a:srgbClr val="FFFF00"/>
                </a:highlight>
                <a:latin typeface="+mn-lt"/>
              </a:rPr>
              <a:t>The PowerPoint slide deck for Week 7 lecture provides a guideline of the topics you need to know. However, the materials in the slide deck are insufficient if you wish to excel in the course</a:t>
            </a:r>
          </a:p>
          <a:p>
            <a:pPr lvl="1"/>
            <a:r>
              <a:rPr lang="en-MY" dirty="0">
                <a:highlight>
                  <a:srgbClr val="FFFF00"/>
                </a:highlight>
                <a:latin typeface="+mn-lt"/>
              </a:rPr>
              <a:t>To do well, please do not forget to read the relevant sections of the core textbook</a:t>
            </a:r>
          </a:p>
          <a:p>
            <a:pPr lvl="1"/>
            <a:r>
              <a:rPr lang="en-MY" dirty="0">
                <a:highlight>
                  <a:srgbClr val="FFFF00"/>
                </a:highlight>
                <a:latin typeface="+mn-lt"/>
              </a:rPr>
              <a:t>Please also ensure that you follow economics news regularly as these sources could be used as examples to supplement your answers during assessments</a:t>
            </a:r>
          </a:p>
          <a:p>
            <a:pPr marL="457200" lvl="1" indent="0">
              <a:buNone/>
            </a:pPr>
            <a:endParaRPr lang="en-MY" dirty="0"/>
          </a:p>
          <a:p>
            <a:pPr lvl="1"/>
            <a:endParaRPr lang="en-MY" dirty="0"/>
          </a:p>
        </p:txBody>
      </p:sp>
    </p:spTree>
    <p:extLst>
      <p:ext uri="{BB962C8B-B14F-4D97-AF65-F5344CB8AC3E}">
        <p14:creationId xmlns:p14="http://schemas.microsoft.com/office/powerpoint/2010/main" val="3307304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4" name="Rectangle 2"/>
          <p:cNvSpPr>
            <a:spLocks noGrp="1"/>
          </p:cNvSpPr>
          <p:nvPr>
            <p:ph type="title"/>
          </p:nvPr>
        </p:nvSpPr>
        <p:spPr/>
        <p:txBody>
          <a:bodyPr/>
          <a:lstStyle/>
          <a:p>
            <a:r>
              <a:rPr lang="en-GB" altLang="en-US"/>
              <a:t>Markets and the Role of Government</a:t>
            </a:r>
          </a:p>
        </p:txBody>
      </p:sp>
      <p:sp>
        <p:nvSpPr>
          <p:cNvPr id="371715" name="Rectangle 3"/>
          <p:cNvSpPr>
            <a:spLocks noGrp="1"/>
          </p:cNvSpPr>
          <p:nvPr>
            <p:ph idx="1"/>
          </p:nvPr>
        </p:nvSpPr>
        <p:spPr/>
        <p:txBody>
          <a:bodyPr/>
          <a:lstStyle/>
          <a:p>
            <a:pPr marL="0" indent="0">
              <a:spcBef>
                <a:spcPct val="35000"/>
              </a:spcBef>
              <a:buNone/>
            </a:pPr>
            <a:r>
              <a:rPr lang="en-GB" altLang="en-US" sz="2000" i="1" dirty="0">
                <a:latin typeface="Calibri" panose="020F0502020204030204" pitchFamily="34" charset="0"/>
                <a:ea typeface="Calibri" panose="020F0502020204030204" pitchFamily="34" charset="0"/>
                <a:cs typeface="Calibri" panose="020F0502020204030204" pitchFamily="34" charset="0"/>
              </a:rPr>
              <a:t>“While I have been a lifelong capitalist, I could never accept the laissez-faire is a good solution for society. It was John Ralston Saul who said that ‘unregulated competition is just a naïve metaphor for anarchy’ – we don’t need that. What we need are regulated markets. And the challenge is to maximise our prosperity by finding the most efficient ways to regulate them.”</a:t>
            </a:r>
          </a:p>
          <a:p>
            <a:pPr marL="0" indent="0">
              <a:spcBef>
                <a:spcPct val="35000"/>
              </a:spcBef>
              <a:buNone/>
            </a:pPr>
            <a:endParaRPr lang="en-GB" altLang="en-US" sz="1600" i="1" dirty="0"/>
          </a:p>
          <a:p>
            <a:pPr marL="0" indent="0">
              <a:spcBef>
                <a:spcPct val="35000"/>
              </a:spcBef>
              <a:buNone/>
            </a:pPr>
            <a:r>
              <a:rPr lang="en-GB" altLang="en-US" sz="1600" i="1" dirty="0" err="1"/>
              <a:t>Neelie</a:t>
            </a:r>
            <a:r>
              <a:rPr lang="en-GB" altLang="en-US" sz="1600" i="1" dirty="0"/>
              <a:t> </a:t>
            </a:r>
            <a:r>
              <a:rPr lang="en-GB" altLang="en-US" sz="1600" i="1" dirty="0" err="1"/>
              <a:t>Kroes</a:t>
            </a:r>
            <a:r>
              <a:rPr lang="en-GB" altLang="en-US" sz="1600" i="1" dirty="0"/>
              <a:t>, European Competition Commissioner, ‘Competition, the crisis and the road to recovery’, Address at the Economic Club of Toronto, 30 March 2009</a:t>
            </a:r>
            <a:endParaRPr lang="en-GB" altLang="en-US" sz="2000" i="1" dirty="0"/>
          </a:p>
          <a:p>
            <a:pPr marL="0" indent="0">
              <a:spcBef>
                <a:spcPct val="35000"/>
              </a:spcBef>
              <a:buNone/>
            </a:pPr>
            <a:endParaRPr lang="en-GB" altLang="en-US" sz="2000" i="1" dirty="0"/>
          </a:p>
          <a:p>
            <a:pPr marL="0" indent="0">
              <a:spcBef>
                <a:spcPct val="35000"/>
              </a:spcBef>
              <a:buNone/>
            </a:pPr>
            <a:endParaRPr lang="en-GB" altLang="en-US" sz="2400" dirty="0"/>
          </a:p>
          <a:p>
            <a:pPr marL="0" indent="0">
              <a:spcBef>
                <a:spcPct val="35000"/>
              </a:spcBef>
              <a:buNone/>
            </a:pPr>
            <a:r>
              <a:rPr lang="en-GB" altLang="en-US" sz="2400" dirty="0">
                <a:latin typeface="Calibri" panose="020F0502020204030204" pitchFamily="34" charset="0"/>
                <a:ea typeface="Calibri" panose="020F0502020204030204" pitchFamily="34" charset="0"/>
                <a:cs typeface="Calibri" panose="020F0502020204030204" pitchFamily="34" charset="0"/>
              </a:rPr>
              <a:t>Why do we need the government to intervene in the activities of business?</a:t>
            </a:r>
          </a:p>
        </p:txBody>
      </p:sp>
    </p:spTree>
    <p:extLst>
      <p:ext uri="{BB962C8B-B14F-4D97-AF65-F5344CB8AC3E}">
        <p14:creationId xmlns:p14="http://schemas.microsoft.com/office/powerpoint/2010/main" val="1221721670"/>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p:tgtEl>
                                          <p:spTgt spid="3717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5">
                                            <p:txEl>
                                              <p:pRg st="2" end="2"/>
                                            </p:txEl>
                                          </p:spTgt>
                                        </p:tgtEl>
                                        <p:attrNameLst>
                                          <p:attrName>style.visibility</p:attrName>
                                        </p:attrNameLst>
                                      </p:cBhvr>
                                      <p:to>
                                        <p:strVal val="visible"/>
                                      </p:to>
                                    </p:set>
                                    <p:anim calcmode="lin" valueType="num">
                                      <p:cBhvr additive="base">
                                        <p:cTn id="13" dur="500"/>
                                        <p:tgtEl>
                                          <p:spTgt spid="371715">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5">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5">
                                            <p:txEl>
                                              <p:pRg st="5" end="5"/>
                                            </p:txEl>
                                          </p:spTgt>
                                        </p:tgtEl>
                                        <p:attrNameLst>
                                          <p:attrName>style.visibility</p:attrName>
                                        </p:attrNameLst>
                                      </p:cBhvr>
                                      <p:to>
                                        <p:strVal val="visible"/>
                                      </p:to>
                                    </p:set>
                                    <p:anim calcmode="lin" valueType="num">
                                      <p:cBhvr additive="base">
                                        <p:cTn id="19" dur="500"/>
                                        <p:tgtEl>
                                          <p:spTgt spid="371715">
                                            <p:txEl>
                                              <p:pRg st="5" end="5"/>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4" name="Rectangle 2"/>
          <p:cNvSpPr>
            <a:spLocks noGrp="1"/>
          </p:cNvSpPr>
          <p:nvPr>
            <p:ph type="title"/>
          </p:nvPr>
        </p:nvSpPr>
        <p:spPr/>
        <p:txBody>
          <a:bodyPr/>
          <a:lstStyle/>
          <a:p>
            <a:r>
              <a:rPr lang="en-GB" altLang="en-US" dirty="0"/>
              <a:t>Markets and the Role of Government</a:t>
            </a:r>
          </a:p>
        </p:txBody>
      </p:sp>
      <p:sp>
        <p:nvSpPr>
          <p:cNvPr id="371715" name="Rectangle 3"/>
          <p:cNvSpPr>
            <a:spLocks noGrp="1"/>
          </p:cNvSpPr>
          <p:nvPr>
            <p:ph idx="1"/>
          </p:nvPr>
        </p:nvSpPr>
        <p:spPr>
          <a:xfrm>
            <a:off x="233916" y="1422992"/>
            <a:ext cx="11722396" cy="4889500"/>
          </a:xfrm>
        </p:spPr>
        <p:txBody>
          <a:bodyPr/>
          <a:lstStyle/>
          <a:p>
            <a:pPr>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Although most countries today can be classified as ‘market economies’, governments still intervene substantially in the activities of business to protect the interest of consumers, workers and the environment.</a:t>
            </a:r>
          </a:p>
          <a:p>
            <a:pPr>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For instance, firms might:</a:t>
            </a:r>
          </a:p>
          <a:p>
            <a:pPr lvl="1">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Collude to fix prices</a:t>
            </a:r>
          </a:p>
          <a:p>
            <a:pPr lvl="1">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Use misleading advertising</a:t>
            </a:r>
          </a:p>
          <a:p>
            <a:pPr lvl="1">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Create pollution</a:t>
            </a:r>
          </a:p>
          <a:p>
            <a:pPr lvl="1">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Produce unsafe products</a:t>
            </a:r>
          </a:p>
          <a:p>
            <a:pPr lvl="1">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Use unacceptable employment practices</a:t>
            </a:r>
          </a:p>
          <a:p>
            <a:pPr>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 such cases, government is expected to intervene to correct for failings of the market system.</a:t>
            </a:r>
          </a:p>
          <a:p>
            <a:pPr>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However, unless government intervention is carefully designed, it can have unintended consequences. The ‘cure’ might be worse than the ‘disease’.</a:t>
            </a:r>
          </a:p>
        </p:txBody>
      </p:sp>
    </p:spTree>
    <p:extLst>
      <p:ext uri="{BB962C8B-B14F-4D97-AF65-F5344CB8AC3E}">
        <p14:creationId xmlns:p14="http://schemas.microsoft.com/office/powerpoint/2010/main" val="14905429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p:tgtEl>
                                          <p:spTgt spid="3717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5">
                                            <p:txEl>
                                              <p:pRg st="1" end="1"/>
                                            </p:txEl>
                                          </p:spTgt>
                                        </p:tgtEl>
                                        <p:attrNameLst>
                                          <p:attrName>style.visibility</p:attrName>
                                        </p:attrNameLst>
                                      </p:cBhvr>
                                      <p:to>
                                        <p:strVal val="visible"/>
                                      </p:to>
                                    </p:set>
                                    <p:anim calcmode="lin" valueType="num">
                                      <p:cBhvr additive="base">
                                        <p:cTn id="13" dur="500"/>
                                        <p:tgtEl>
                                          <p:spTgt spid="37171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5">
                                            <p:txEl>
                                              <p:pRg st="2" end="2"/>
                                            </p:txEl>
                                          </p:spTgt>
                                        </p:tgtEl>
                                        <p:attrNameLst>
                                          <p:attrName>style.visibility</p:attrName>
                                        </p:attrNameLst>
                                      </p:cBhvr>
                                      <p:to>
                                        <p:strVal val="visible"/>
                                      </p:to>
                                    </p:set>
                                    <p:anim calcmode="lin" valueType="num">
                                      <p:cBhvr additive="base">
                                        <p:cTn id="19" dur="500"/>
                                        <p:tgtEl>
                                          <p:spTgt spid="37171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1715">
                                            <p:txEl>
                                              <p:pRg st="3" end="3"/>
                                            </p:txEl>
                                          </p:spTgt>
                                        </p:tgtEl>
                                        <p:attrNameLst>
                                          <p:attrName>style.visibility</p:attrName>
                                        </p:attrNameLst>
                                      </p:cBhvr>
                                      <p:to>
                                        <p:strVal val="visible"/>
                                      </p:to>
                                    </p:set>
                                    <p:anim calcmode="lin" valueType="num">
                                      <p:cBhvr additive="base">
                                        <p:cTn id="25" dur="500"/>
                                        <p:tgtEl>
                                          <p:spTgt spid="37171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171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1715">
                                            <p:txEl>
                                              <p:pRg st="4" end="4"/>
                                            </p:txEl>
                                          </p:spTgt>
                                        </p:tgtEl>
                                        <p:attrNameLst>
                                          <p:attrName>style.visibility</p:attrName>
                                        </p:attrNameLst>
                                      </p:cBhvr>
                                      <p:to>
                                        <p:strVal val="visible"/>
                                      </p:to>
                                    </p:set>
                                    <p:anim calcmode="lin" valueType="num">
                                      <p:cBhvr additive="base">
                                        <p:cTn id="31" dur="500"/>
                                        <p:tgtEl>
                                          <p:spTgt spid="371715">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171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1715">
                                            <p:txEl>
                                              <p:pRg st="5" end="5"/>
                                            </p:txEl>
                                          </p:spTgt>
                                        </p:tgtEl>
                                        <p:attrNameLst>
                                          <p:attrName>style.visibility</p:attrName>
                                        </p:attrNameLst>
                                      </p:cBhvr>
                                      <p:to>
                                        <p:strVal val="visible"/>
                                      </p:to>
                                    </p:set>
                                    <p:anim calcmode="lin" valueType="num">
                                      <p:cBhvr additive="base">
                                        <p:cTn id="37" dur="500"/>
                                        <p:tgtEl>
                                          <p:spTgt spid="371715">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171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1715">
                                            <p:txEl>
                                              <p:pRg st="6" end="6"/>
                                            </p:txEl>
                                          </p:spTgt>
                                        </p:tgtEl>
                                        <p:attrNameLst>
                                          <p:attrName>style.visibility</p:attrName>
                                        </p:attrNameLst>
                                      </p:cBhvr>
                                      <p:to>
                                        <p:strVal val="visible"/>
                                      </p:to>
                                    </p:set>
                                    <p:anim calcmode="lin" valueType="num">
                                      <p:cBhvr additive="base">
                                        <p:cTn id="43" dur="500"/>
                                        <p:tgtEl>
                                          <p:spTgt spid="371715">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1715">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1715">
                                            <p:txEl>
                                              <p:pRg st="7" end="7"/>
                                            </p:txEl>
                                          </p:spTgt>
                                        </p:tgtEl>
                                        <p:attrNameLst>
                                          <p:attrName>style.visibility</p:attrName>
                                        </p:attrNameLst>
                                      </p:cBhvr>
                                      <p:to>
                                        <p:strVal val="visible"/>
                                      </p:to>
                                    </p:set>
                                    <p:anim calcmode="lin" valueType="num">
                                      <p:cBhvr additive="base">
                                        <p:cTn id="49" dur="500"/>
                                        <p:tgtEl>
                                          <p:spTgt spid="371715">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1715">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71715">
                                            <p:txEl>
                                              <p:pRg st="8" end="8"/>
                                            </p:txEl>
                                          </p:spTgt>
                                        </p:tgtEl>
                                        <p:attrNameLst>
                                          <p:attrName>style.visibility</p:attrName>
                                        </p:attrNameLst>
                                      </p:cBhvr>
                                      <p:to>
                                        <p:strVal val="visible"/>
                                      </p:to>
                                    </p:set>
                                    <p:anim calcmode="lin" valueType="num">
                                      <p:cBhvr additive="base">
                                        <p:cTn id="55" dur="500"/>
                                        <p:tgtEl>
                                          <p:spTgt spid="371715">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717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build="p" bldLvl="2"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4" name="Rectangle 2"/>
          <p:cNvSpPr>
            <a:spLocks noGrp="1"/>
          </p:cNvSpPr>
          <p:nvPr>
            <p:ph type="title"/>
          </p:nvPr>
        </p:nvSpPr>
        <p:spPr>
          <a:xfrm>
            <a:off x="838200" y="231786"/>
            <a:ext cx="10515600" cy="908198"/>
          </a:xfrm>
        </p:spPr>
        <p:txBody>
          <a:bodyPr/>
          <a:lstStyle/>
          <a:p>
            <a:r>
              <a:rPr lang="en-GB" altLang="en-US" dirty="0"/>
              <a:t>Markets and the Role of Government</a:t>
            </a:r>
          </a:p>
        </p:txBody>
      </p:sp>
      <p:sp>
        <p:nvSpPr>
          <p:cNvPr id="371715" name="Rectangle 3"/>
          <p:cNvSpPr>
            <a:spLocks noGrp="1"/>
          </p:cNvSpPr>
          <p:nvPr>
            <p:ph idx="1"/>
          </p:nvPr>
        </p:nvSpPr>
        <p:spPr>
          <a:xfrm>
            <a:off x="406400" y="1276172"/>
            <a:ext cx="11379200" cy="4842527"/>
          </a:xfrm>
        </p:spPr>
        <p:txBody>
          <a:bodyPr>
            <a:normAutofit lnSpcReduction="10000"/>
          </a:bodyPr>
          <a:lstStyle/>
          <a:p>
            <a:pPr>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Government intervention and social objectives</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To decide the optimum levels of government intervention, it is necessary to identify the various social goals that intervention is designed to meet.</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Two key objectives of govt. policy identified by economists are social efficiency &amp; equity.</a:t>
            </a: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1. The objective of </a:t>
            </a:r>
            <a:r>
              <a:rPr lang="en-GB" altLang="en-US" sz="2000" b="1" dirty="0">
                <a:latin typeface="Calibri" panose="020F0502020204030204" pitchFamily="34" charset="0"/>
                <a:ea typeface="Calibri" panose="020F0502020204030204" pitchFamily="34" charset="0"/>
                <a:cs typeface="Calibri" panose="020F0502020204030204" pitchFamily="34" charset="0"/>
              </a:rPr>
              <a:t>social efficiency</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Marginal social benefits and costs</a:t>
            </a:r>
          </a:p>
          <a:p>
            <a:pPr lvl="2">
              <a:lnSpc>
                <a:spcPct val="100000"/>
              </a:lnSpc>
              <a:spcBef>
                <a:spcPts val="600"/>
              </a:spcBef>
            </a:pPr>
            <a:r>
              <a:rPr lang="en-GB" altLang="en-US" sz="2000" i="1" dirty="0">
                <a:latin typeface="Calibri" panose="020F0502020204030204" pitchFamily="34" charset="0"/>
                <a:ea typeface="Calibri" panose="020F0502020204030204" pitchFamily="34" charset="0"/>
                <a:cs typeface="Calibri" panose="020F0502020204030204" pitchFamily="34" charset="0"/>
              </a:rPr>
              <a:t>MSB &gt; MSC </a:t>
            </a:r>
            <a:r>
              <a:rPr lang="en-GB" altLang="en-US" sz="2000" dirty="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 socially efficient to produce (or consume) more</a:t>
            </a:r>
          </a:p>
          <a:p>
            <a:pPr lvl="2">
              <a:lnSpc>
                <a:spcPct val="100000"/>
              </a:lnSpc>
              <a:spcBef>
                <a:spcPts val="600"/>
              </a:spcBef>
            </a:pPr>
            <a:r>
              <a:rPr lang="en-GB" altLang="en-US" sz="2000" i="1" dirty="0">
                <a:latin typeface="Calibri" panose="020F0502020204030204" pitchFamily="34" charset="0"/>
                <a:ea typeface="Calibri" panose="020F0502020204030204" pitchFamily="34" charset="0"/>
                <a:cs typeface="Calibri" panose="020F0502020204030204" pitchFamily="34" charset="0"/>
              </a:rPr>
              <a:t>MSC &gt; MSB </a:t>
            </a:r>
            <a:r>
              <a:rPr lang="en-GB" altLang="en-US" sz="2000" dirty="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 socially efficient to produce (or consume) less</a:t>
            </a: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Socially efficient output where </a:t>
            </a:r>
            <a:r>
              <a:rPr lang="en-GB" altLang="en-US" sz="2000" i="1" dirty="0">
                <a:latin typeface="Calibri" panose="020F0502020204030204" pitchFamily="34" charset="0"/>
                <a:ea typeface="Calibri" panose="020F0502020204030204" pitchFamily="34" charset="0"/>
                <a:cs typeface="Calibri" panose="020F0502020204030204" pitchFamily="34" charset="0"/>
              </a:rPr>
              <a:t>MSB = MSC</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For e.g., if people’s gains from having a high-speed railway, such as HS2 in the UK, exceed </a:t>
            </a:r>
            <a:r>
              <a:rPr lang="en-GB" altLang="en-US" sz="2000" i="1" dirty="0">
                <a:latin typeface="Calibri" panose="020F0502020204030204" pitchFamily="34" charset="0"/>
                <a:ea typeface="Calibri" panose="020F0502020204030204" pitchFamily="34" charset="0"/>
                <a:cs typeface="Calibri" panose="020F0502020204030204" pitchFamily="34" charset="0"/>
              </a:rPr>
              <a:t>all</a:t>
            </a:r>
            <a:r>
              <a:rPr lang="en-GB" altLang="en-US" sz="2000" dirty="0">
                <a:latin typeface="Calibri" panose="020F0502020204030204" pitchFamily="34" charset="0"/>
                <a:ea typeface="Calibri" panose="020F0502020204030204" pitchFamily="34" charset="0"/>
                <a:cs typeface="Calibri" panose="020F0502020204030204" pitchFamily="34" charset="0"/>
              </a:rPr>
              <a:t> the additional cost to society (both financial and non-financial) then it is socially efficient to construct the railway.</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Social efficiency is an e.g. of allocative efficiency, i.e. the best allocation of resources between alternative uses</a:t>
            </a:r>
          </a:p>
        </p:txBody>
      </p:sp>
    </p:spTree>
    <p:extLst>
      <p:ext uri="{BB962C8B-B14F-4D97-AF65-F5344CB8AC3E}">
        <p14:creationId xmlns:p14="http://schemas.microsoft.com/office/powerpoint/2010/main" val="3379274887"/>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p:tgtEl>
                                          <p:spTgt spid="3717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5">
                                            <p:txEl>
                                              <p:pRg st="1" end="1"/>
                                            </p:txEl>
                                          </p:spTgt>
                                        </p:tgtEl>
                                        <p:attrNameLst>
                                          <p:attrName>style.visibility</p:attrName>
                                        </p:attrNameLst>
                                      </p:cBhvr>
                                      <p:to>
                                        <p:strVal val="visible"/>
                                      </p:to>
                                    </p:set>
                                    <p:anim calcmode="lin" valueType="num">
                                      <p:cBhvr additive="base">
                                        <p:cTn id="13" dur="500"/>
                                        <p:tgtEl>
                                          <p:spTgt spid="37171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5">
                                            <p:txEl>
                                              <p:pRg st="2" end="2"/>
                                            </p:txEl>
                                          </p:spTgt>
                                        </p:tgtEl>
                                        <p:attrNameLst>
                                          <p:attrName>style.visibility</p:attrName>
                                        </p:attrNameLst>
                                      </p:cBhvr>
                                      <p:to>
                                        <p:strVal val="visible"/>
                                      </p:to>
                                    </p:set>
                                    <p:anim calcmode="lin" valueType="num">
                                      <p:cBhvr additive="base">
                                        <p:cTn id="19" dur="500"/>
                                        <p:tgtEl>
                                          <p:spTgt spid="37171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5">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1715">
                                            <p:txEl>
                                              <p:pRg st="3" end="3"/>
                                            </p:txEl>
                                          </p:spTgt>
                                        </p:tgtEl>
                                        <p:attrNameLst>
                                          <p:attrName>style.visibility</p:attrName>
                                        </p:attrNameLst>
                                      </p:cBhvr>
                                      <p:to>
                                        <p:strVal val="visible"/>
                                      </p:to>
                                    </p:set>
                                    <p:anim calcmode="lin" valueType="num">
                                      <p:cBhvr additive="base">
                                        <p:cTn id="25" dur="500"/>
                                        <p:tgtEl>
                                          <p:spTgt spid="37171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1715">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1715">
                                            <p:txEl>
                                              <p:pRg st="4" end="4"/>
                                            </p:txEl>
                                          </p:spTgt>
                                        </p:tgtEl>
                                        <p:attrNameLst>
                                          <p:attrName>style.visibility</p:attrName>
                                        </p:attrNameLst>
                                      </p:cBhvr>
                                      <p:to>
                                        <p:strVal val="visible"/>
                                      </p:to>
                                    </p:set>
                                    <p:anim calcmode="lin" valueType="num">
                                      <p:cBhvr additive="base">
                                        <p:cTn id="31" dur="500"/>
                                        <p:tgtEl>
                                          <p:spTgt spid="371715">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1715">
                                            <p:txEl>
                                              <p:pRg st="4" end="4"/>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371715">
                                            <p:txEl>
                                              <p:pRg st="5" end="5"/>
                                            </p:txEl>
                                          </p:spTgt>
                                        </p:tgtEl>
                                        <p:attrNameLst>
                                          <p:attrName>style.visibility</p:attrName>
                                        </p:attrNameLst>
                                      </p:cBhvr>
                                      <p:to>
                                        <p:strVal val="visible"/>
                                      </p:to>
                                    </p:set>
                                    <p:anim calcmode="lin" valueType="num">
                                      <p:cBhvr additive="base">
                                        <p:cTn id="35" dur="500"/>
                                        <p:tgtEl>
                                          <p:spTgt spid="371715">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71715">
                                            <p:txEl>
                                              <p:pRg st="5" end="5"/>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371715">
                                            <p:txEl>
                                              <p:pRg st="6" end="6"/>
                                            </p:txEl>
                                          </p:spTgt>
                                        </p:tgtEl>
                                        <p:attrNameLst>
                                          <p:attrName>style.visibility</p:attrName>
                                        </p:attrNameLst>
                                      </p:cBhvr>
                                      <p:to>
                                        <p:strVal val="visible"/>
                                      </p:to>
                                    </p:set>
                                    <p:anim calcmode="lin" valueType="num">
                                      <p:cBhvr additive="base">
                                        <p:cTn id="39" dur="500"/>
                                        <p:tgtEl>
                                          <p:spTgt spid="371715">
                                            <p:txEl>
                                              <p:pRg st="6" end="6"/>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71715">
                                            <p:txEl>
                                              <p:pRg st="6" end="6"/>
                                            </p:tx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371715">
                                            <p:txEl>
                                              <p:pRg st="7" end="7"/>
                                            </p:txEl>
                                          </p:spTgt>
                                        </p:tgtEl>
                                        <p:attrNameLst>
                                          <p:attrName>style.visibility</p:attrName>
                                        </p:attrNameLst>
                                      </p:cBhvr>
                                      <p:to>
                                        <p:strVal val="visible"/>
                                      </p:to>
                                    </p:set>
                                    <p:anim calcmode="lin" valueType="num">
                                      <p:cBhvr additive="base">
                                        <p:cTn id="43" dur="500"/>
                                        <p:tgtEl>
                                          <p:spTgt spid="371715">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1715">
                                            <p:txEl>
                                              <p:pRg st="7" end="7"/>
                                            </p:txEl>
                                          </p:spTgt>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371715">
                                            <p:txEl>
                                              <p:pRg st="8" end="8"/>
                                            </p:txEl>
                                          </p:spTgt>
                                        </p:tgtEl>
                                        <p:attrNameLst>
                                          <p:attrName>style.visibility</p:attrName>
                                        </p:attrNameLst>
                                      </p:cBhvr>
                                      <p:to>
                                        <p:strVal val="visible"/>
                                      </p:to>
                                    </p:set>
                                    <p:anim calcmode="lin" valueType="num">
                                      <p:cBhvr additive="base">
                                        <p:cTn id="47" dur="500"/>
                                        <p:tgtEl>
                                          <p:spTgt spid="371715">
                                            <p:txEl>
                                              <p:pRg st="8" end="8"/>
                                            </p:txEl>
                                          </p:spTgt>
                                        </p:tgtEl>
                                        <p:attrNameLst>
                                          <p:attrName>ppt_y</p:attrName>
                                        </p:attrNameLst>
                                      </p:cBhvr>
                                      <p:tavLst>
                                        <p:tav tm="0">
                                          <p:val>
                                            <p:strVal val="#ppt_y+#ppt_h*1.125000"/>
                                          </p:val>
                                        </p:tav>
                                        <p:tav tm="100000">
                                          <p:val>
                                            <p:strVal val="#ppt_y"/>
                                          </p:val>
                                        </p:tav>
                                      </p:tavLst>
                                    </p:anim>
                                    <p:animEffect transition="in" filter="wipe(up)">
                                      <p:cBhvr>
                                        <p:cTn id="48" dur="500"/>
                                        <p:tgtEl>
                                          <p:spTgt spid="371715">
                                            <p:txEl>
                                              <p:pRg st="8" end="8"/>
                                            </p:txEl>
                                          </p:spTgt>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371715">
                                            <p:txEl>
                                              <p:pRg st="9" end="9"/>
                                            </p:txEl>
                                          </p:spTgt>
                                        </p:tgtEl>
                                        <p:attrNameLst>
                                          <p:attrName>style.visibility</p:attrName>
                                        </p:attrNameLst>
                                      </p:cBhvr>
                                      <p:to>
                                        <p:strVal val="visible"/>
                                      </p:to>
                                    </p:set>
                                    <p:anim calcmode="lin" valueType="num">
                                      <p:cBhvr additive="base">
                                        <p:cTn id="51" dur="500"/>
                                        <p:tgtEl>
                                          <p:spTgt spid="371715">
                                            <p:txEl>
                                              <p:pRg st="9" end="9"/>
                                            </p:txEl>
                                          </p:spTgt>
                                        </p:tgtEl>
                                        <p:attrNameLst>
                                          <p:attrName>ppt_y</p:attrName>
                                        </p:attrNameLst>
                                      </p:cBhvr>
                                      <p:tavLst>
                                        <p:tav tm="0">
                                          <p:val>
                                            <p:strVal val="#ppt_y+#ppt_h*1.125000"/>
                                          </p:val>
                                        </p:tav>
                                        <p:tav tm="100000">
                                          <p:val>
                                            <p:strVal val="#ppt_y"/>
                                          </p:val>
                                        </p:tav>
                                      </p:tavLst>
                                    </p:anim>
                                    <p:animEffect transition="in" filter="wipe(up)">
                                      <p:cBhvr>
                                        <p:cTn id="52" dur="500"/>
                                        <p:tgtEl>
                                          <p:spTgt spid="3717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4" name="Rectangle 2"/>
          <p:cNvSpPr>
            <a:spLocks noGrp="1"/>
          </p:cNvSpPr>
          <p:nvPr>
            <p:ph type="title"/>
          </p:nvPr>
        </p:nvSpPr>
        <p:spPr/>
        <p:txBody>
          <a:bodyPr/>
          <a:lstStyle/>
          <a:p>
            <a:r>
              <a:rPr lang="en-GB" altLang="en-US"/>
              <a:t>Markets and the Role of Government</a:t>
            </a:r>
          </a:p>
        </p:txBody>
      </p:sp>
      <p:sp>
        <p:nvSpPr>
          <p:cNvPr id="371715" name="Rectangle 3"/>
          <p:cNvSpPr>
            <a:spLocks noGrp="1"/>
          </p:cNvSpPr>
          <p:nvPr>
            <p:ph idx="1"/>
          </p:nvPr>
        </p:nvSpPr>
        <p:spPr/>
        <p:txBody>
          <a:bodyPr>
            <a:normAutofit lnSpcReduction="10000"/>
          </a:bodyPr>
          <a:lstStyle/>
          <a:p>
            <a:pPr>
              <a:lnSpc>
                <a:spcPct val="100000"/>
              </a:lnSpc>
              <a:spcBef>
                <a:spcPts val="0"/>
              </a:spcBef>
              <a:spcAft>
                <a:spcPts val="1200"/>
              </a:spcAft>
            </a:pPr>
            <a:r>
              <a:rPr lang="en-GB" altLang="en-US" sz="2000" b="1" dirty="0">
                <a:latin typeface="Calibri" panose="020F0502020204030204" pitchFamily="34" charset="0"/>
                <a:ea typeface="Calibri" panose="020F0502020204030204" pitchFamily="34" charset="0"/>
                <a:cs typeface="Calibri" panose="020F0502020204030204" pitchFamily="34" charset="0"/>
              </a:rPr>
              <a:t>Government intervention and social objectives</a:t>
            </a:r>
          </a:p>
          <a:p>
            <a:pPr>
              <a:lnSpc>
                <a:spcPct val="100000"/>
              </a:lnSpc>
              <a:spcBef>
                <a:spcPts val="0"/>
              </a:spcBef>
              <a:spcAft>
                <a:spcPts val="1200"/>
              </a:spcAft>
            </a:pPr>
            <a:r>
              <a:rPr lang="en-GB" altLang="en-US" sz="2000" dirty="0">
                <a:latin typeface="Calibri" panose="020F0502020204030204" pitchFamily="34" charset="0"/>
                <a:ea typeface="Calibri" panose="020F0502020204030204" pitchFamily="34" charset="0"/>
                <a:cs typeface="Calibri" panose="020F0502020204030204" pitchFamily="34" charset="0"/>
              </a:rPr>
              <a:t>2. The objective of </a:t>
            </a:r>
            <a:r>
              <a:rPr lang="en-GB" altLang="en-US" sz="2000" b="1" dirty="0">
                <a:latin typeface="Calibri" panose="020F0502020204030204" pitchFamily="34" charset="0"/>
                <a:ea typeface="Calibri" panose="020F0502020204030204" pitchFamily="34" charset="0"/>
                <a:cs typeface="Calibri" panose="020F0502020204030204" pitchFamily="34" charset="0"/>
              </a:rPr>
              <a:t>equity</a:t>
            </a:r>
          </a:p>
          <a:p>
            <a:pPr lvl="1">
              <a:lnSpc>
                <a:spcPct val="100000"/>
              </a:lnSpc>
              <a:spcBef>
                <a:spcPts val="0"/>
              </a:spcBef>
              <a:spcAft>
                <a:spcPts val="1200"/>
              </a:spcAft>
            </a:pPr>
            <a:r>
              <a:rPr lang="en-GB" altLang="en-US" sz="2000" dirty="0">
                <a:latin typeface="Calibri" panose="020F0502020204030204" pitchFamily="34" charset="0"/>
                <a:ea typeface="Calibri" panose="020F0502020204030204" pitchFamily="34" charset="0"/>
                <a:cs typeface="Calibri" panose="020F0502020204030204" pitchFamily="34" charset="0"/>
              </a:rPr>
              <a:t>Most people would argue that the free market fails to lead to a </a:t>
            </a:r>
            <a:r>
              <a:rPr lang="en-GB" altLang="en-US" sz="2000" i="1" dirty="0">
                <a:latin typeface="Calibri" panose="020F0502020204030204" pitchFamily="34" charset="0"/>
                <a:ea typeface="Calibri" panose="020F0502020204030204" pitchFamily="34" charset="0"/>
                <a:cs typeface="Calibri" panose="020F0502020204030204" pitchFamily="34" charset="0"/>
              </a:rPr>
              <a:t>fair</a:t>
            </a:r>
            <a:r>
              <a:rPr lang="en-GB" altLang="en-US" sz="2000" dirty="0">
                <a:latin typeface="Calibri" panose="020F0502020204030204" pitchFamily="34" charset="0"/>
                <a:ea typeface="Calibri" panose="020F0502020204030204" pitchFamily="34" charset="0"/>
                <a:cs typeface="Calibri" panose="020F0502020204030204" pitchFamily="34" charset="0"/>
              </a:rPr>
              <a:t> distribution of resources, if it results in some people living in great affluence while others live in extreme poverty.</a:t>
            </a:r>
          </a:p>
          <a:p>
            <a:pPr lvl="1">
              <a:lnSpc>
                <a:spcPct val="100000"/>
              </a:lnSpc>
              <a:spcBef>
                <a:spcPts val="0"/>
              </a:spcBef>
              <a:spcAft>
                <a:spcPts val="1200"/>
              </a:spcAft>
            </a:pPr>
            <a:r>
              <a:rPr lang="en-GB" altLang="en-US" sz="2000" dirty="0">
                <a:latin typeface="Calibri" panose="020F0502020204030204" pitchFamily="34" charset="0"/>
                <a:ea typeface="Calibri" panose="020F0502020204030204" pitchFamily="34" charset="0"/>
                <a:cs typeface="Calibri" panose="020F0502020204030204" pitchFamily="34" charset="0"/>
              </a:rPr>
              <a:t>Concepts of fairness – what constitutes ‘fairness’ is a contentious issue</a:t>
            </a:r>
          </a:p>
          <a:p>
            <a:pPr lvl="2">
              <a:lnSpc>
                <a:spcPct val="100000"/>
              </a:lnSpc>
              <a:spcBef>
                <a:spcPts val="0"/>
              </a:spcBef>
              <a:spcAft>
                <a:spcPts val="1200"/>
              </a:spcAft>
            </a:pPr>
            <a:r>
              <a:rPr lang="en-GB" altLang="en-US" sz="2000" dirty="0">
                <a:latin typeface="Calibri" panose="020F0502020204030204" pitchFamily="34" charset="0"/>
                <a:ea typeface="Calibri" panose="020F0502020204030204" pitchFamily="34" charset="0"/>
                <a:cs typeface="Calibri" panose="020F0502020204030204" pitchFamily="34" charset="0"/>
              </a:rPr>
              <a:t>Most people would argue however that the government does have some duty to redistribute incomes from the rich to the poor through the tax and benefit system, and perhaps to provide various forms of legal protection for the poor (such as the minimum wage rate).</a:t>
            </a:r>
          </a:p>
          <a:p>
            <a:pPr lvl="1">
              <a:lnSpc>
                <a:spcPct val="100000"/>
              </a:lnSpc>
              <a:spcBef>
                <a:spcPts val="0"/>
              </a:spcBef>
              <a:spcAft>
                <a:spcPts val="1200"/>
              </a:spcAft>
            </a:pPr>
            <a:r>
              <a:rPr lang="en-GB" altLang="en-US" sz="2000" dirty="0">
                <a:latin typeface="Calibri" panose="020F0502020204030204" pitchFamily="34" charset="0"/>
                <a:ea typeface="Calibri" panose="020F0502020204030204" pitchFamily="34" charset="0"/>
                <a:cs typeface="Calibri" panose="020F0502020204030204" pitchFamily="34" charset="0"/>
              </a:rPr>
              <a:t>An equitable distribution is not the same as a totally equal distribution.</a:t>
            </a:r>
          </a:p>
          <a:p>
            <a:pPr>
              <a:lnSpc>
                <a:spcPct val="100000"/>
              </a:lnSpc>
              <a:spcBef>
                <a:spcPts val="0"/>
              </a:spcBef>
              <a:spcAft>
                <a:spcPts val="1200"/>
              </a:spcAft>
            </a:pP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0"/>
              </a:spcBef>
              <a:spcAft>
                <a:spcPts val="1200"/>
              </a:spcAft>
            </a:pPr>
            <a:r>
              <a:rPr lang="en-GB" altLang="en-US" sz="2000" dirty="0">
                <a:latin typeface="Calibri" panose="020F0502020204030204" pitchFamily="34" charset="0"/>
                <a:ea typeface="Calibri" panose="020F0502020204030204" pitchFamily="34" charset="0"/>
                <a:cs typeface="Calibri" panose="020F0502020204030204" pitchFamily="34" charset="0"/>
              </a:rPr>
              <a:t>There may be trade-offs between equity and efficiency</a:t>
            </a:r>
          </a:p>
        </p:txBody>
      </p:sp>
    </p:spTree>
    <p:extLst>
      <p:ext uri="{BB962C8B-B14F-4D97-AF65-F5344CB8AC3E}">
        <p14:creationId xmlns:p14="http://schemas.microsoft.com/office/powerpoint/2010/main" val="441242684"/>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p:tgtEl>
                                          <p:spTgt spid="3717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5">
                                            <p:txEl>
                                              <p:pRg st="1" end="1"/>
                                            </p:txEl>
                                          </p:spTgt>
                                        </p:tgtEl>
                                        <p:attrNameLst>
                                          <p:attrName>style.visibility</p:attrName>
                                        </p:attrNameLst>
                                      </p:cBhvr>
                                      <p:to>
                                        <p:strVal val="visible"/>
                                      </p:to>
                                    </p:set>
                                    <p:anim calcmode="lin" valueType="num">
                                      <p:cBhvr additive="base">
                                        <p:cTn id="13" dur="500"/>
                                        <p:tgtEl>
                                          <p:spTgt spid="37171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5">
                                            <p:txEl>
                                              <p:pRg st="2" end="2"/>
                                            </p:txEl>
                                          </p:spTgt>
                                        </p:tgtEl>
                                        <p:attrNameLst>
                                          <p:attrName>style.visibility</p:attrName>
                                        </p:attrNameLst>
                                      </p:cBhvr>
                                      <p:to>
                                        <p:strVal val="visible"/>
                                      </p:to>
                                    </p:set>
                                    <p:anim calcmode="lin" valueType="num">
                                      <p:cBhvr additive="base">
                                        <p:cTn id="19" dur="500"/>
                                        <p:tgtEl>
                                          <p:spTgt spid="37171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1715">
                                            <p:txEl>
                                              <p:pRg st="3" end="3"/>
                                            </p:txEl>
                                          </p:spTgt>
                                        </p:tgtEl>
                                        <p:attrNameLst>
                                          <p:attrName>style.visibility</p:attrName>
                                        </p:attrNameLst>
                                      </p:cBhvr>
                                      <p:to>
                                        <p:strVal val="visible"/>
                                      </p:to>
                                    </p:set>
                                    <p:anim calcmode="lin" valueType="num">
                                      <p:cBhvr additive="base">
                                        <p:cTn id="25" dur="500"/>
                                        <p:tgtEl>
                                          <p:spTgt spid="37171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1715">
                                            <p:txEl>
                                              <p:pRg st="3" end="3"/>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71715">
                                            <p:txEl>
                                              <p:pRg st="4" end="4"/>
                                            </p:txEl>
                                          </p:spTgt>
                                        </p:tgtEl>
                                        <p:attrNameLst>
                                          <p:attrName>style.visibility</p:attrName>
                                        </p:attrNameLst>
                                      </p:cBhvr>
                                      <p:to>
                                        <p:strVal val="visible"/>
                                      </p:to>
                                    </p:set>
                                    <p:anim calcmode="lin" valueType="num">
                                      <p:cBhvr additive="base">
                                        <p:cTn id="29" dur="500"/>
                                        <p:tgtEl>
                                          <p:spTgt spid="371715">
                                            <p:txEl>
                                              <p:pRg st="4" end="4"/>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7171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71715">
                                            <p:txEl>
                                              <p:pRg st="5" end="5"/>
                                            </p:txEl>
                                          </p:spTgt>
                                        </p:tgtEl>
                                        <p:attrNameLst>
                                          <p:attrName>style.visibility</p:attrName>
                                        </p:attrNameLst>
                                      </p:cBhvr>
                                      <p:to>
                                        <p:strVal val="visible"/>
                                      </p:to>
                                    </p:set>
                                    <p:anim calcmode="lin" valueType="num">
                                      <p:cBhvr additive="base">
                                        <p:cTn id="35" dur="500"/>
                                        <p:tgtEl>
                                          <p:spTgt spid="371715">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71715">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371715">
                                            <p:txEl>
                                              <p:pRg st="7" end="7"/>
                                            </p:txEl>
                                          </p:spTgt>
                                        </p:tgtEl>
                                        <p:attrNameLst>
                                          <p:attrName>style.visibility</p:attrName>
                                        </p:attrNameLst>
                                      </p:cBhvr>
                                      <p:to>
                                        <p:strVal val="visible"/>
                                      </p:to>
                                    </p:set>
                                    <p:anim calcmode="lin" valueType="num">
                                      <p:cBhvr additive="base">
                                        <p:cTn id="41" dur="500"/>
                                        <p:tgtEl>
                                          <p:spTgt spid="371715">
                                            <p:txEl>
                                              <p:pRg st="7" end="7"/>
                                            </p:txEl>
                                          </p:spTgt>
                                        </p:tgtEl>
                                        <p:attrNameLst>
                                          <p:attrName>ppt_y</p:attrName>
                                        </p:attrNameLst>
                                      </p:cBhvr>
                                      <p:tavLst>
                                        <p:tav tm="0">
                                          <p:val>
                                            <p:strVal val="#ppt_y+#ppt_h*1.125000"/>
                                          </p:val>
                                        </p:tav>
                                        <p:tav tm="100000">
                                          <p:val>
                                            <p:strVal val="#ppt_y"/>
                                          </p:val>
                                        </p:tav>
                                      </p:tavLst>
                                    </p:anim>
                                    <p:animEffect transition="in" filter="wipe(up)">
                                      <p:cBhvr>
                                        <p:cTn id="42" dur="500"/>
                                        <p:tgtEl>
                                          <p:spTgt spid="3717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build="p" bldLvl="2"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0"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1"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2" name="Rectangle 4"/>
          <p:cNvSpPr>
            <a:spLocks noGrp="1"/>
          </p:cNvSpPr>
          <p:nvPr>
            <p:ph type="title"/>
          </p:nvPr>
        </p:nvSpPr>
        <p:spPr/>
        <p:txBody>
          <a:bodyPr/>
          <a:lstStyle/>
          <a:p>
            <a:r>
              <a:rPr lang="en-GB" altLang="en-US"/>
              <a:t>Types of Market Failure</a:t>
            </a:r>
          </a:p>
        </p:txBody>
      </p:sp>
      <p:sp>
        <p:nvSpPr>
          <p:cNvPr id="375813" name="Rectangle 5"/>
          <p:cNvSpPr>
            <a:spLocks noGrp="1"/>
          </p:cNvSpPr>
          <p:nvPr>
            <p:ph idx="1"/>
          </p:nvPr>
        </p:nvSpPr>
        <p:spPr>
          <a:xfrm>
            <a:off x="402167" y="1425388"/>
            <a:ext cx="11379200" cy="4988112"/>
          </a:xfrm>
        </p:spPr>
        <p:txBody>
          <a:bodyPr/>
          <a:lstStyle/>
          <a:p>
            <a:pPr>
              <a:lnSpc>
                <a:spcPct val="100000"/>
              </a:lnSpc>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Market power</a:t>
            </a:r>
          </a:p>
          <a:p>
            <a:pPr lvl="1">
              <a:lnSpc>
                <a:spcPct val="100000"/>
              </a:lnSpc>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Lack of social efficiency</a:t>
            </a:r>
          </a:p>
          <a:p>
            <a:pPr lvl="2">
              <a:lnSpc>
                <a:spcPct val="100000"/>
              </a:lnSpc>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Whenever markets are imperfect, whether as pure monopoly or monopsony or whether as some form of imperfect competition, the market will fail to equate MSB and MSC </a:t>
            </a:r>
          </a:p>
          <a:p>
            <a:pPr lvl="2">
              <a:lnSpc>
                <a:spcPct val="100000"/>
              </a:lnSpc>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Assume initially that all the costs and benefits to society accrue solely to the firm and its customers (we drop this assumption when we talk about externalities).</a:t>
            </a:r>
          </a:p>
          <a:p>
            <a:pPr lvl="2">
              <a:lnSpc>
                <a:spcPct val="100000"/>
              </a:lnSpc>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This means that the firm’s MC = MSC and the price (AR), i.e. what consumers are willing to pay for one more unit is the MSB (AR = MSB)</a:t>
            </a:r>
          </a:p>
          <a:p>
            <a:pPr lvl="2">
              <a:lnSpc>
                <a:spcPct val="100000"/>
              </a:lnSpc>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 the case of a monopoly, the firm will produce less than the socially efficient output.</a:t>
            </a:r>
          </a:p>
          <a:p>
            <a:pPr lvl="2">
              <a:lnSpc>
                <a:spcPct val="100000"/>
              </a:lnSpc>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 monopoly faces a downward-sloping demand curve and therefore MR is below AR (MSB).</a:t>
            </a:r>
          </a:p>
          <a:p>
            <a:pPr lvl="2">
              <a:lnSpc>
                <a:spcPct val="100000"/>
              </a:lnSpc>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Profits are maximised at an output of Q</a:t>
            </a:r>
            <a:r>
              <a:rPr lang="en-GB" altLang="en-US" sz="2000" baseline="-25000" dirty="0">
                <a:latin typeface="Calibri" panose="020F0502020204030204" pitchFamily="34" charset="0"/>
                <a:ea typeface="Calibri" panose="020F0502020204030204" pitchFamily="34" charset="0"/>
                <a:cs typeface="Calibri" panose="020F0502020204030204" pitchFamily="34" charset="0"/>
              </a:rPr>
              <a:t>1</a:t>
            </a:r>
            <a:r>
              <a:rPr lang="en-GB" altLang="en-US" sz="2000" dirty="0">
                <a:latin typeface="Calibri" panose="020F0502020204030204" pitchFamily="34" charset="0"/>
                <a:ea typeface="Calibri" panose="020F0502020204030204" pitchFamily="34" charset="0"/>
                <a:cs typeface="Calibri" panose="020F0502020204030204" pitchFamily="34" charset="0"/>
              </a:rPr>
              <a:t>, where MR = MC.</a:t>
            </a:r>
          </a:p>
          <a:p>
            <a:pPr lvl="2">
              <a:lnSpc>
                <a:spcPct val="100000"/>
              </a:lnSpc>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If there are no other sources of market failure, the socially efficient output will be at the higher level of Q</a:t>
            </a:r>
            <a:r>
              <a:rPr lang="en-GB" altLang="en-US" sz="2000" baseline="-25000" dirty="0">
                <a:latin typeface="Calibri" panose="020F0502020204030204" pitchFamily="34" charset="0"/>
                <a:ea typeface="Calibri" panose="020F0502020204030204" pitchFamily="34" charset="0"/>
                <a:cs typeface="Calibri" panose="020F0502020204030204" pitchFamily="34" charset="0"/>
              </a:rPr>
              <a:t>2</a:t>
            </a:r>
            <a:r>
              <a:rPr lang="en-GB" altLang="en-US" sz="2000" dirty="0">
                <a:latin typeface="Calibri" panose="020F0502020204030204" pitchFamily="34" charset="0"/>
                <a:ea typeface="Calibri" panose="020F0502020204030204" pitchFamily="34" charset="0"/>
                <a:cs typeface="Calibri" panose="020F0502020204030204" pitchFamily="34" charset="0"/>
              </a:rPr>
              <a:t>, where MSB = MSC.</a:t>
            </a:r>
          </a:p>
          <a:p>
            <a:pPr lvl="1">
              <a:spcBef>
                <a:spcPct val="25000"/>
              </a:spcBef>
            </a:pPr>
            <a:endParaRPr lang="en-GB" altLang="en-US" sz="2400" dirty="0"/>
          </a:p>
        </p:txBody>
      </p:sp>
    </p:spTree>
    <p:extLst>
      <p:ext uri="{BB962C8B-B14F-4D97-AF65-F5344CB8AC3E}">
        <p14:creationId xmlns:p14="http://schemas.microsoft.com/office/powerpoint/2010/main" val="2519805178"/>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5813">
                                            <p:txEl>
                                              <p:pRg st="0" end="0"/>
                                            </p:txEl>
                                          </p:spTgt>
                                        </p:tgtEl>
                                        <p:attrNameLst>
                                          <p:attrName>style.visibility</p:attrName>
                                        </p:attrNameLst>
                                      </p:cBhvr>
                                      <p:to>
                                        <p:strVal val="visible"/>
                                      </p:to>
                                    </p:set>
                                    <p:anim calcmode="lin" valueType="num">
                                      <p:cBhvr additive="base">
                                        <p:cTn id="7" dur="500"/>
                                        <p:tgtEl>
                                          <p:spTgt spid="37581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5813">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5813">
                                            <p:txEl>
                                              <p:pRg st="1" end="1"/>
                                            </p:txEl>
                                          </p:spTgt>
                                        </p:tgtEl>
                                        <p:attrNameLst>
                                          <p:attrName>style.visibility</p:attrName>
                                        </p:attrNameLst>
                                      </p:cBhvr>
                                      <p:to>
                                        <p:strVal val="visible"/>
                                      </p:to>
                                    </p:set>
                                    <p:anim calcmode="lin" valueType="num">
                                      <p:cBhvr additive="base">
                                        <p:cTn id="13" dur="500"/>
                                        <p:tgtEl>
                                          <p:spTgt spid="37581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581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5813">
                                            <p:txEl>
                                              <p:pRg st="2" end="2"/>
                                            </p:txEl>
                                          </p:spTgt>
                                        </p:tgtEl>
                                        <p:attrNameLst>
                                          <p:attrName>style.visibility</p:attrName>
                                        </p:attrNameLst>
                                      </p:cBhvr>
                                      <p:to>
                                        <p:strVal val="visible"/>
                                      </p:to>
                                    </p:set>
                                    <p:anim calcmode="lin" valueType="num">
                                      <p:cBhvr additive="base">
                                        <p:cTn id="19" dur="500"/>
                                        <p:tgtEl>
                                          <p:spTgt spid="37581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581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5813">
                                            <p:txEl>
                                              <p:pRg st="3" end="3"/>
                                            </p:txEl>
                                          </p:spTgt>
                                        </p:tgtEl>
                                        <p:attrNameLst>
                                          <p:attrName>style.visibility</p:attrName>
                                        </p:attrNameLst>
                                      </p:cBhvr>
                                      <p:to>
                                        <p:strVal val="visible"/>
                                      </p:to>
                                    </p:set>
                                    <p:anim calcmode="lin" valueType="num">
                                      <p:cBhvr additive="base">
                                        <p:cTn id="25" dur="500"/>
                                        <p:tgtEl>
                                          <p:spTgt spid="37581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581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5813">
                                            <p:txEl>
                                              <p:pRg st="4" end="4"/>
                                            </p:txEl>
                                          </p:spTgt>
                                        </p:tgtEl>
                                        <p:attrNameLst>
                                          <p:attrName>style.visibility</p:attrName>
                                        </p:attrNameLst>
                                      </p:cBhvr>
                                      <p:to>
                                        <p:strVal val="visible"/>
                                      </p:to>
                                    </p:set>
                                    <p:anim calcmode="lin" valueType="num">
                                      <p:cBhvr additive="base">
                                        <p:cTn id="31" dur="500"/>
                                        <p:tgtEl>
                                          <p:spTgt spid="37581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581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5813">
                                            <p:txEl>
                                              <p:pRg st="5" end="5"/>
                                            </p:txEl>
                                          </p:spTgt>
                                        </p:tgtEl>
                                        <p:attrNameLst>
                                          <p:attrName>style.visibility</p:attrName>
                                        </p:attrNameLst>
                                      </p:cBhvr>
                                      <p:to>
                                        <p:strVal val="visible"/>
                                      </p:to>
                                    </p:set>
                                    <p:anim calcmode="lin" valueType="num">
                                      <p:cBhvr additive="base">
                                        <p:cTn id="37" dur="500"/>
                                        <p:tgtEl>
                                          <p:spTgt spid="37581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581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5813">
                                            <p:txEl>
                                              <p:pRg st="6" end="6"/>
                                            </p:txEl>
                                          </p:spTgt>
                                        </p:tgtEl>
                                        <p:attrNameLst>
                                          <p:attrName>style.visibility</p:attrName>
                                        </p:attrNameLst>
                                      </p:cBhvr>
                                      <p:to>
                                        <p:strVal val="visible"/>
                                      </p:to>
                                    </p:set>
                                    <p:anim calcmode="lin" valueType="num">
                                      <p:cBhvr additive="base">
                                        <p:cTn id="43" dur="500"/>
                                        <p:tgtEl>
                                          <p:spTgt spid="375813">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581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5813">
                                            <p:txEl>
                                              <p:pRg st="7" end="7"/>
                                            </p:txEl>
                                          </p:spTgt>
                                        </p:tgtEl>
                                        <p:attrNameLst>
                                          <p:attrName>style.visibility</p:attrName>
                                        </p:attrNameLst>
                                      </p:cBhvr>
                                      <p:to>
                                        <p:strVal val="visible"/>
                                      </p:to>
                                    </p:set>
                                    <p:anim calcmode="lin" valueType="num">
                                      <p:cBhvr additive="base">
                                        <p:cTn id="49" dur="500"/>
                                        <p:tgtEl>
                                          <p:spTgt spid="375813">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581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75813">
                                            <p:txEl>
                                              <p:pRg st="8" end="8"/>
                                            </p:txEl>
                                          </p:spTgt>
                                        </p:tgtEl>
                                        <p:attrNameLst>
                                          <p:attrName>style.visibility</p:attrName>
                                        </p:attrNameLst>
                                      </p:cBhvr>
                                      <p:to>
                                        <p:strVal val="visible"/>
                                      </p:to>
                                    </p:set>
                                    <p:anim calcmode="lin" valueType="num">
                                      <p:cBhvr additive="base">
                                        <p:cTn id="55" dur="500"/>
                                        <p:tgtEl>
                                          <p:spTgt spid="375813">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7581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3" grpId="0" build="p" bldLvl="3"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67" name="Line 1055">
            <a:extLst>
              <a:ext uri="{FF2B5EF4-FFF2-40B4-BE49-F238E27FC236}">
                <a16:creationId xmlns:a16="http://schemas.microsoft.com/office/drawing/2014/main" id="{AE4E65D9-19B4-4DF3-B73E-116BD32BA345}"/>
              </a:ext>
            </a:extLst>
          </p:cNvPr>
          <p:cNvSpPr>
            <a:spLocks noChangeShapeType="1"/>
          </p:cNvSpPr>
          <p:nvPr/>
        </p:nvSpPr>
        <p:spPr bwMode="auto">
          <a:xfrm flipH="1" flipV="1">
            <a:off x="6105525" y="6026150"/>
            <a:ext cx="971550" cy="331788"/>
          </a:xfrm>
          <a:prstGeom prst="line">
            <a:avLst/>
          </a:prstGeom>
          <a:noFill/>
          <a:ln w="25400">
            <a:solidFill>
              <a:schemeClr val="accent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GB"/>
          </a:p>
        </p:txBody>
      </p:sp>
      <p:sp>
        <p:nvSpPr>
          <p:cNvPr id="14338" name="Arc 1026">
            <a:extLst>
              <a:ext uri="{FF2B5EF4-FFF2-40B4-BE49-F238E27FC236}">
                <a16:creationId xmlns:a16="http://schemas.microsoft.com/office/drawing/2014/main" id="{374411CE-6951-4718-B1FD-03DC9C4EC27E}"/>
              </a:ext>
            </a:extLst>
          </p:cNvPr>
          <p:cNvSpPr>
            <a:spLocks/>
          </p:cNvSpPr>
          <p:nvPr/>
        </p:nvSpPr>
        <p:spPr bwMode="auto">
          <a:xfrm rot="540000">
            <a:off x="3089275" y="331788"/>
            <a:ext cx="3773488" cy="5092700"/>
          </a:xfrm>
          <a:custGeom>
            <a:avLst/>
            <a:gdLst>
              <a:gd name="G0" fmla="+- 9089 0 0"/>
              <a:gd name="G1" fmla="+- 0 0 0"/>
              <a:gd name="G2" fmla="+- 21600 0 0"/>
              <a:gd name="T0" fmla="*/ 30473 w 30473"/>
              <a:gd name="T1" fmla="*/ 3050 h 21600"/>
              <a:gd name="T2" fmla="*/ 0 w 30473"/>
              <a:gd name="T3" fmla="*/ 19595 h 21600"/>
              <a:gd name="T4" fmla="*/ 9089 w 30473"/>
              <a:gd name="T5" fmla="*/ 0 h 21600"/>
            </a:gdLst>
            <a:ahLst/>
            <a:cxnLst>
              <a:cxn ang="0">
                <a:pos x="T0" y="T1"/>
              </a:cxn>
              <a:cxn ang="0">
                <a:pos x="T2" y="T3"/>
              </a:cxn>
              <a:cxn ang="0">
                <a:pos x="T4" y="T5"/>
              </a:cxn>
            </a:cxnLst>
            <a:rect l="0" t="0" r="r" b="b"/>
            <a:pathLst>
              <a:path w="30473" h="21600" fill="none" extrusionOk="0">
                <a:moveTo>
                  <a:pt x="30472" y="3049"/>
                </a:moveTo>
                <a:cubicBezTo>
                  <a:pt x="28954" y="13693"/>
                  <a:pt x="19840" y="21600"/>
                  <a:pt x="9089" y="21600"/>
                </a:cubicBezTo>
                <a:cubicBezTo>
                  <a:pt x="5949" y="21600"/>
                  <a:pt x="2848" y="20915"/>
                  <a:pt x="0" y="19594"/>
                </a:cubicBezTo>
              </a:path>
              <a:path w="30473" h="21600" stroke="0" extrusionOk="0">
                <a:moveTo>
                  <a:pt x="30472" y="3049"/>
                </a:moveTo>
                <a:cubicBezTo>
                  <a:pt x="28954" y="13693"/>
                  <a:pt x="19840" y="21600"/>
                  <a:pt x="9089" y="21600"/>
                </a:cubicBezTo>
                <a:cubicBezTo>
                  <a:pt x="5949" y="21600"/>
                  <a:pt x="2848" y="20915"/>
                  <a:pt x="0" y="19594"/>
                </a:cubicBezTo>
                <a:lnTo>
                  <a:pt x="9089" y="0"/>
                </a:lnTo>
                <a:close/>
              </a:path>
            </a:pathLst>
          </a:custGeom>
          <a:noFill/>
          <a:ln w="38100" cap="rnd">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39" name="Rectangle 1027">
            <a:extLst>
              <a:ext uri="{FF2B5EF4-FFF2-40B4-BE49-F238E27FC236}">
                <a16:creationId xmlns:a16="http://schemas.microsoft.com/office/drawing/2014/main" id="{8386D34E-CC75-40E9-9CA1-C10DB104FA5B}"/>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0" name="Rectangle 1028">
            <a:extLst>
              <a:ext uri="{FF2B5EF4-FFF2-40B4-BE49-F238E27FC236}">
                <a16:creationId xmlns:a16="http://schemas.microsoft.com/office/drawing/2014/main" id="{C7560F9F-2F27-4C44-B0C4-05330565D43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1" name="Line 1029">
            <a:extLst>
              <a:ext uri="{FF2B5EF4-FFF2-40B4-BE49-F238E27FC236}">
                <a16:creationId xmlns:a16="http://schemas.microsoft.com/office/drawing/2014/main" id="{3EBAA83D-D268-4D18-BA04-C9A4D556696F}"/>
              </a:ext>
            </a:extLst>
          </p:cNvPr>
          <p:cNvSpPr>
            <a:spLocks noChangeShapeType="1"/>
          </p:cNvSpPr>
          <p:nvPr/>
        </p:nvSpPr>
        <p:spPr bwMode="auto">
          <a:xfrm>
            <a:off x="2719388" y="642938"/>
            <a:ext cx="0" cy="5307012"/>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2" name="Line 1030">
            <a:extLst>
              <a:ext uri="{FF2B5EF4-FFF2-40B4-BE49-F238E27FC236}">
                <a16:creationId xmlns:a16="http://schemas.microsoft.com/office/drawing/2014/main" id="{F98383E8-6899-48C6-9068-5C3D646BE5DD}"/>
              </a:ext>
            </a:extLst>
          </p:cNvPr>
          <p:cNvSpPr>
            <a:spLocks noChangeShapeType="1"/>
          </p:cNvSpPr>
          <p:nvPr/>
        </p:nvSpPr>
        <p:spPr bwMode="auto">
          <a:xfrm>
            <a:off x="2733677" y="5962650"/>
            <a:ext cx="698341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3" name="Rectangle 1031">
            <a:extLst>
              <a:ext uri="{FF2B5EF4-FFF2-40B4-BE49-F238E27FC236}">
                <a16:creationId xmlns:a16="http://schemas.microsoft.com/office/drawing/2014/main" id="{0B61C7DB-81B5-4B5B-AAAD-EACBC0D0A7A9}"/>
              </a:ext>
            </a:extLst>
          </p:cNvPr>
          <p:cNvSpPr>
            <a:spLocks noChangeArrowheads="1"/>
          </p:cNvSpPr>
          <p:nvPr/>
        </p:nvSpPr>
        <p:spPr bwMode="auto">
          <a:xfrm>
            <a:off x="2393952" y="5911850"/>
            <a:ext cx="390525"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14344" name="Line 1032">
            <a:extLst>
              <a:ext uri="{FF2B5EF4-FFF2-40B4-BE49-F238E27FC236}">
                <a16:creationId xmlns:a16="http://schemas.microsoft.com/office/drawing/2014/main" id="{832BBA4A-E2D5-4B0C-8C73-D42DECA76947}"/>
              </a:ext>
            </a:extLst>
          </p:cNvPr>
          <p:cNvSpPr>
            <a:spLocks noChangeShapeType="1"/>
          </p:cNvSpPr>
          <p:nvPr/>
        </p:nvSpPr>
        <p:spPr bwMode="auto">
          <a:xfrm>
            <a:off x="2733677" y="1633538"/>
            <a:ext cx="5154613" cy="3706812"/>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5" name="Line 1033">
            <a:extLst>
              <a:ext uri="{FF2B5EF4-FFF2-40B4-BE49-F238E27FC236}">
                <a16:creationId xmlns:a16="http://schemas.microsoft.com/office/drawing/2014/main" id="{6F5FF7B2-417B-43C2-8A0D-9894AEC33DD6}"/>
              </a:ext>
            </a:extLst>
          </p:cNvPr>
          <p:cNvSpPr>
            <a:spLocks noChangeShapeType="1"/>
          </p:cNvSpPr>
          <p:nvPr/>
        </p:nvSpPr>
        <p:spPr bwMode="auto">
          <a:xfrm>
            <a:off x="2733677" y="1633538"/>
            <a:ext cx="2640013" cy="408781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6" name="Line 1034">
            <a:extLst>
              <a:ext uri="{FF2B5EF4-FFF2-40B4-BE49-F238E27FC236}">
                <a16:creationId xmlns:a16="http://schemas.microsoft.com/office/drawing/2014/main" id="{95F18A78-7CE4-4E74-BB92-26107B767709}"/>
              </a:ext>
            </a:extLst>
          </p:cNvPr>
          <p:cNvSpPr>
            <a:spLocks noChangeShapeType="1"/>
          </p:cNvSpPr>
          <p:nvPr/>
        </p:nvSpPr>
        <p:spPr bwMode="auto">
          <a:xfrm flipH="1" flipV="1">
            <a:off x="4918077" y="3224215"/>
            <a:ext cx="15875" cy="2744787"/>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7" name="Line 1035">
            <a:extLst>
              <a:ext uri="{FF2B5EF4-FFF2-40B4-BE49-F238E27FC236}">
                <a16:creationId xmlns:a16="http://schemas.microsoft.com/office/drawing/2014/main" id="{A0174B81-9076-400A-81B2-D30D2402C8B5}"/>
              </a:ext>
            </a:extLst>
          </p:cNvPr>
          <p:cNvSpPr>
            <a:spLocks noChangeShapeType="1"/>
          </p:cNvSpPr>
          <p:nvPr/>
        </p:nvSpPr>
        <p:spPr bwMode="auto">
          <a:xfrm flipH="1">
            <a:off x="2722563" y="3190875"/>
            <a:ext cx="2208212" cy="0"/>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8" name="Line 1036">
            <a:extLst>
              <a:ext uri="{FF2B5EF4-FFF2-40B4-BE49-F238E27FC236}">
                <a16:creationId xmlns:a16="http://schemas.microsoft.com/office/drawing/2014/main" id="{C0FEFA5D-0C26-45B9-9ADE-9C0D82F893AF}"/>
              </a:ext>
            </a:extLst>
          </p:cNvPr>
          <p:cNvSpPr>
            <a:spLocks noChangeShapeType="1"/>
          </p:cNvSpPr>
          <p:nvPr/>
        </p:nvSpPr>
        <p:spPr bwMode="auto">
          <a:xfrm flipH="1">
            <a:off x="2747963" y="5046663"/>
            <a:ext cx="2208212" cy="0"/>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9" name="Oval 1037">
            <a:extLst>
              <a:ext uri="{FF2B5EF4-FFF2-40B4-BE49-F238E27FC236}">
                <a16:creationId xmlns:a16="http://schemas.microsoft.com/office/drawing/2014/main" id="{576AEA6C-B4FC-4256-AC4D-3E5FCBD0798B}"/>
              </a:ext>
            </a:extLst>
          </p:cNvPr>
          <p:cNvSpPr>
            <a:spLocks noChangeArrowheads="1"/>
          </p:cNvSpPr>
          <p:nvPr/>
        </p:nvSpPr>
        <p:spPr bwMode="auto">
          <a:xfrm>
            <a:off x="4860927" y="3135315"/>
            <a:ext cx="111125" cy="111125"/>
          </a:xfrm>
          <a:prstGeom prst="ellipse">
            <a:avLst/>
          </a:prstGeom>
          <a:solidFill>
            <a:srgbClr val="DCE1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50" name="Oval 1038">
            <a:extLst>
              <a:ext uri="{FF2B5EF4-FFF2-40B4-BE49-F238E27FC236}">
                <a16:creationId xmlns:a16="http://schemas.microsoft.com/office/drawing/2014/main" id="{E812FC6A-570F-4EA2-B108-434EDA12E0F1}"/>
              </a:ext>
            </a:extLst>
          </p:cNvPr>
          <p:cNvSpPr>
            <a:spLocks noChangeArrowheads="1"/>
          </p:cNvSpPr>
          <p:nvPr/>
        </p:nvSpPr>
        <p:spPr bwMode="auto">
          <a:xfrm>
            <a:off x="4870452" y="4983163"/>
            <a:ext cx="112713" cy="112712"/>
          </a:xfrm>
          <a:prstGeom prst="ellipse">
            <a:avLst/>
          </a:prstGeom>
          <a:solidFill>
            <a:srgbClr val="DCE1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51" name="Rectangle 1039">
            <a:extLst>
              <a:ext uri="{FF2B5EF4-FFF2-40B4-BE49-F238E27FC236}">
                <a16:creationId xmlns:a16="http://schemas.microsoft.com/office/drawing/2014/main" id="{F5CDC1A5-24C9-45C4-9C72-3E0F8A2C1641}"/>
              </a:ext>
            </a:extLst>
          </p:cNvPr>
          <p:cNvSpPr>
            <a:spLocks noChangeArrowheads="1"/>
          </p:cNvSpPr>
          <p:nvPr/>
        </p:nvSpPr>
        <p:spPr bwMode="auto">
          <a:xfrm>
            <a:off x="2319338" y="2986088"/>
            <a:ext cx="455612"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i="1">
                <a:solidFill>
                  <a:schemeClr val="tx2"/>
                </a:solidFill>
                <a:latin typeface="Arial" panose="020B0604020202020204" pitchFamily="34" charset="0"/>
              </a:rPr>
              <a:t>P</a:t>
            </a:r>
            <a:r>
              <a:rPr lang="en-GB" altLang="en-US" sz="2000" baseline="-25000">
                <a:solidFill>
                  <a:schemeClr val="tx2"/>
                </a:solidFill>
                <a:latin typeface="Arial" panose="020B0604020202020204" pitchFamily="34" charset="0"/>
              </a:rPr>
              <a:t>1</a:t>
            </a:r>
          </a:p>
        </p:txBody>
      </p:sp>
      <p:sp>
        <p:nvSpPr>
          <p:cNvPr id="14352" name="Rectangle 1040">
            <a:extLst>
              <a:ext uri="{FF2B5EF4-FFF2-40B4-BE49-F238E27FC236}">
                <a16:creationId xmlns:a16="http://schemas.microsoft.com/office/drawing/2014/main" id="{1EBCD6A6-2015-4980-A856-D35CFA57C16E}"/>
              </a:ext>
            </a:extLst>
          </p:cNvPr>
          <p:cNvSpPr>
            <a:spLocks noChangeArrowheads="1"/>
          </p:cNvSpPr>
          <p:nvPr/>
        </p:nvSpPr>
        <p:spPr bwMode="auto">
          <a:xfrm>
            <a:off x="2085975" y="4805363"/>
            <a:ext cx="681038"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i="1">
                <a:solidFill>
                  <a:schemeClr val="tx2"/>
                </a:solidFill>
                <a:latin typeface="Arial" panose="020B0604020202020204" pitchFamily="34" charset="0"/>
              </a:rPr>
              <a:t>MC</a:t>
            </a:r>
            <a:r>
              <a:rPr lang="en-GB" altLang="en-US" sz="2000" baseline="-25000">
                <a:solidFill>
                  <a:schemeClr val="tx2"/>
                </a:solidFill>
                <a:latin typeface="Arial" panose="020B0604020202020204" pitchFamily="34" charset="0"/>
              </a:rPr>
              <a:t>1</a:t>
            </a:r>
          </a:p>
        </p:txBody>
      </p:sp>
      <p:sp>
        <p:nvSpPr>
          <p:cNvPr id="14353" name="Rectangle 1041">
            <a:extLst>
              <a:ext uri="{FF2B5EF4-FFF2-40B4-BE49-F238E27FC236}">
                <a16:creationId xmlns:a16="http://schemas.microsoft.com/office/drawing/2014/main" id="{A01F2126-933B-4B93-8F46-A296A29AFBF3}"/>
              </a:ext>
            </a:extLst>
          </p:cNvPr>
          <p:cNvSpPr>
            <a:spLocks noChangeArrowheads="1"/>
          </p:cNvSpPr>
          <p:nvPr/>
        </p:nvSpPr>
        <p:spPr bwMode="auto">
          <a:xfrm>
            <a:off x="6505575" y="966788"/>
            <a:ext cx="169597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tx2"/>
                </a:solidFill>
                <a:latin typeface="Arial" panose="020B0604020202020204" pitchFamily="34" charset="0"/>
              </a:rPr>
              <a:t>MC</a:t>
            </a:r>
            <a:r>
              <a:rPr lang="en-GB" altLang="en-US" i="1">
                <a:solidFill>
                  <a:schemeClr val="accent1"/>
                </a:solidFill>
                <a:latin typeface="Arial" panose="020B0604020202020204" pitchFamily="34" charset="0"/>
              </a:rPr>
              <a:t> </a:t>
            </a:r>
            <a:r>
              <a:rPr lang="en-GB" altLang="en-US" i="1">
                <a:solidFill>
                  <a:schemeClr val="accent2"/>
                </a:solidFill>
                <a:latin typeface="Arial" panose="020B0604020202020204" pitchFamily="34" charset="0"/>
              </a:rPr>
              <a:t>= MSC</a:t>
            </a:r>
          </a:p>
        </p:txBody>
      </p:sp>
      <p:sp>
        <p:nvSpPr>
          <p:cNvPr id="14354" name="Rectangle 1042">
            <a:extLst>
              <a:ext uri="{FF2B5EF4-FFF2-40B4-BE49-F238E27FC236}">
                <a16:creationId xmlns:a16="http://schemas.microsoft.com/office/drawing/2014/main" id="{1D75A826-89B1-4C89-A457-83A98A74341B}"/>
              </a:ext>
            </a:extLst>
          </p:cNvPr>
          <p:cNvSpPr>
            <a:spLocks noChangeArrowheads="1"/>
          </p:cNvSpPr>
          <p:nvPr/>
        </p:nvSpPr>
        <p:spPr bwMode="auto">
          <a:xfrm>
            <a:off x="4708527" y="5965827"/>
            <a:ext cx="47609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i="1">
                <a:solidFill>
                  <a:schemeClr val="tx2"/>
                </a:solidFill>
                <a:latin typeface="Arial" panose="020B0604020202020204" pitchFamily="34" charset="0"/>
              </a:rPr>
              <a:t>Q</a:t>
            </a:r>
            <a:r>
              <a:rPr lang="en-GB" altLang="en-US" sz="2000" baseline="-25000">
                <a:solidFill>
                  <a:schemeClr val="tx2"/>
                </a:solidFill>
                <a:latin typeface="Arial" panose="020B0604020202020204" pitchFamily="34" charset="0"/>
              </a:rPr>
              <a:t>1</a:t>
            </a:r>
          </a:p>
        </p:txBody>
      </p:sp>
      <p:sp>
        <p:nvSpPr>
          <p:cNvPr id="14355" name="Rectangle 1043">
            <a:extLst>
              <a:ext uri="{FF2B5EF4-FFF2-40B4-BE49-F238E27FC236}">
                <a16:creationId xmlns:a16="http://schemas.microsoft.com/office/drawing/2014/main" id="{E3F6548C-2822-417E-9084-C7CEF2B01E09}"/>
              </a:ext>
            </a:extLst>
          </p:cNvPr>
          <p:cNvSpPr>
            <a:spLocks noChangeArrowheads="1"/>
          </p:cNvSpPr>
          <p:nvPr/>
        </p:nvSpPr>
        <p:spPr bwMode="auto">
          <a:xfrm>
            <a:off x="5395915" y="5495927"/>
            <a:ext cx="668337"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tx2"/>
                </a:solidFill>
                <a:latin typeface="Arial" panose="020B0604020202020204" pitchFamily="34" charset="0"/>
              </a:rPr>
              <a:t>MR</a:t>
            </a:r>
          </a:p>
        </p:txBody>
      </p:sp>
      <p:sp>
        <p:nvSpPr>
          <p:cNvPr id="14356" name="Rectangle 1044">
            <a:extLst>
              <a:ext uri="{FF2B5EF4-FFF2-40B4-BE49-F238E27FC236}">
                <a16:creationId xmlns:a16="http://schemas.microsoft.com/office/drawing/2014/main" id="{32D0526B-6B6B-485E-88C1-AD1E2D1C97B9}"/>
              </a:ext>
            </a:extLst>
          </p:cNvPr>
          <p:cNvSpPr>
            <a:spLocks noChangeArrowheads="1"/>
          </p:cNvSpPr>
          <p:nvPr/>
        </p:nvSpPr>
        <p:spPr bwMode="auto">
          <a:xfrm>
            <a:off x="7867652" y="5202238"/>
            <a:ext cx="162704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folHlink"/>
                </a:solidFill>
                <a:latin typeface="Arial" panose="020B0604020202020204" pitchFamily="34" charset="0"/>
              </a:rPr>
              <a:t>AR = MSB</a:t>
            </a:r>
          </a:p>
        </p:txBody>
      </p:sp>
      <p:sp>
        <p:nvSpPr>
          <p:cNvPr id="14357" name="Line 1045">
            <a:extLst>
              <a:ext uri="{FF2B5EF4-FFF2-40B4-BE49-F238E27FC236}">
                <a16:creationId xmlns:a16="http://schemas.microsoft.com/office/drawing/2014/main" id="{C9942C81-0DB3-4696-8771-84DE006F5BD6}"/>
              </a:ext>
            </a:extLst>
          </p:cNvPr>
          <p:cNvSpPr>
            <a:spLocks noChangeShapeType="1"/>
          </p:cNvSpPr>
          <p:nvPr/>
        </p:nvSpPr>
        <p:spPr bwMode="auto">
          <a:xfrm>
            <a:off x="6005513" y="4005265"/>
            <a:ext cx="0" cy="1946275"/>
          </a:xfrm>
          <a:prstGeom prst="line">
            <a:avLst/>
          </a:prstGeom>
          <a:noFill/>
          <a:ln w="1905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58" name="Line 1046">
            <a:extLst>
              <a:ext uri="{FF2B5EF4-FFF2-40B4-BE49-F238E27FC236}">
                <a16:creationId xmlns:a16="http://schemas.microsoft.com/office/drawing/2014/main" id="{D8B58A91-8685-46E4-AEB5-E06824AFDFBB}"/>
              </a:ext>
            </a:extLst>
          </p:cNvPr>
          <p:cNvSpPr>
            <a:spLocks noChangeShapeType="1"/>
          </p:cNvSpPr>
          <p:nvPr/>
        </p:nvSpPr>
        <p:spPr bwMode="auto">
          <a:xfrm flipH="1">
            <a:off x="2722563" y="3997325"/>
            <a:ext cx="3289300" cy="0"/>
          </a:xfrm>
          <a:prstGeom prst="line">
            <a:avLst/>
          </a:prstGeom>
          <a:noFill/>
          <a:ln w="1905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59" name="Oval 1047">
            <a:extLst>
              <a:ext uri="{FF2B5EF4-FFF2-40B4-BE49-F238E27FC236}">
                <a16:creationId xmlns:a16="http://schemas.microsoft.com/office/drawing/2014/main" id="{998D3902-E1C9-44B8-B912-A740594FFE4F}"/>
              </a:ext>
            </a:extLst>
          </p:cNvPr>
          <p:cNvSpPr>
            <a:spLocks noChangeArrowheads="1"/>
          </p:cNvSpPr>
          <p:nvPr/>
        </p:nvSpPr>
        <p:spPr bwMode="auto">
          <a:xfrm>
            <a:off x="5949952" y="3933827"/>
            <a:ext cx="112713" cy="112713"/>
          </a:xfrm>
          <a:prstGeom prst="ellipse">
            <a:avLst/>
          </a:prstGeom>
          <a:solidFill>
            <a:srgbClr val="FFCCCC"/>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60" name="Rectangle 1048">
            <a:extLst>
              <a:ext uri="{FF2B5EF4-FFF2-40B4-BE49-F238E27FC236}">
                <a16:creationId xmlns:a16="http://schemas.microsoft.com/office/drawing/2014/main" id="{F4E17805-923E-4F3F-BCCF-39908D28B50C}"/>
              </a:ext>
            </a:extLst>
          </p:cNvPr>
          <p:cNvSpPr>
            <a:spLocks noChangeArrowheads="1"/>
          </p:cNvSpPr>
          <p:nvPr/>
        </p:nvSpPr>
        <p:spPr bwMode="auto">
          <a:xfrm>
            <a:off x="5759452" y="5953127"/>
            <a:ext cx="47609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i="1">
                <a:solidFill>
                  <a:schemeClr val="accent2"/>
                </a:solidFill>
                <a:latin typeface="Arial" panose="020B0604020202020204" pitchFamily="34" charset="0"/>
              </a:rPr>
              <a:t>Q</a:t>
            </a:r>
            <a:r>
              <a:rPr lang="en-GB" altLang="en-US" sz="2000" baseline="-25000">
                <a:solidFill>
                  <a:schemeClr val="accent2"/>
                </a:solidFill>
                <a:latin typeface="Arial" panose="020B0604020202020204" pitchFamily="34" charset="0"/>
              </a:rPr>
              <a:t>2</a:t>
            </a:r>
          </a:p>
        </p:txBody>
      </p:sp>
      <p:sp>
        <p:nvSpPr>
          <p:cNvPr id="14361" name="Rectangle 1049">
            <a:extLst>
              <a:ext uri="{FF2B5EF4-FFF2-40B4-BE49-F238E27FC236}">
                <a16:creationId xmlns:a16="http://schemas.microsoft.com/office/drawing/2014/main" id="{91944672-AA56-4689-97F2-2A0C07AE7146}"/>
              </a:ext>
            </a:extLst>
          </p:cNvPr>
          <p:cNvSpPr>
            <a:spLocks noChangeArrowheads="1"/>
          </p:cNvSpPr>
          <p:nvPr/>
        </p:nvSpPr>
        <p:spPr bwMode="auto">
          <a:xfrm>
            <a:off x="1518569" y="3614738"/>
            <a:ext cx="1218283" cy="674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accent2"/>
                </a:solidFill>
                <a:latin typeface="Arial" panose="020B0604020202020204" pitchFamily="34" charset="0"/>
              </a:rPr>
              <a:t>P</a:t>
            </a:r>
            <a:r>
              <a:rPr lang="en-GB" altLang="en-US" sz="2000" baseline="-25000">
                <a:solidFill>
                  <a:schemeClr val="accent2"/>
                </a:solidFill>
                <a:latin typeface="Arial" panose="020B0604020202020204" pitchFamily="34" charset="0"/>
              </a:rPr>
              <a:t>2</a:t>
            </a:r>
            <a:r>
              <a:rPr lang="en-GB" altLang="en-US" sz="2000">
                <a:solidFill>
                  <a:schemeClr val="accent2"/>
                </a:solidFill>
                <a:latin typeface="Arial" panose="020B0604020202020204" pitchFamily="34" charset="0"/>
              </a:rPr>
              <a:t> </a:t>
            </a:r>
            <a:r>
              <a:rPr lang="en-GB" altLang="en-US" sz="1800">
                <a:solidFill>
                  <a:schemeClr val="accent2"/>
                </a:solidFill>
                <a:latin typeface="Arial" panose="020B0604020202020204" pitchFamily="34" charset="0"/>
              </a:rPr>
              <a:t>= </a:t>
            </a:r>
            <a:r>
              <a:rPr lang="en-GB" altLang="en-US" sz="1800" i="1">
                <a:solidFill>
                  <a:schemeClr val="accent2"/>
                </a:solidFill>
                <a:latin typeface="Arial" panose="020B0604020202020204" pitchFamily="34" charset="0"/>
              </a:rPr>
              <a:t>MSB</a:t>
            </a:r>
          </a:p>
          <a:p>
            <a:pPr algn="r"/>
            <a:r>
              <a:rPr lang="en-GB" altLang="en-US" sz="1800" i="1">
                <a:solidFill>
                  <a:schemeClr val="accent2"/>
                </a:solidFill>
                <a:latin typeface="Arial" panose="020B0604020202020204" pitchFamily="34" charset="0"/>
              </a:rPr>
              <a:t>= MSC</a:t>
            </a:r>
          </a:p>
        </p:txBody>
      </p:sp>
      <p:sp>
        <p:nvSpPr>
          <p:cNvPr id="14362" name="Rectangle 1050">
            <a:extLst>
              <a:ext uri="{FF2B5EF4-FFF2-40B4-BE49-F238E27FC236}">
                <a16:creationId xmlns:a16="http://schemas.microsoft.com/office/drawing/2014/main" id="{DFDFD816-91C3-4084-B033-29355D4170B0}"/>
              </a:ext>
            </a:extLst>
          </p:cNvPr>
          <p:cNvSpPr>
            <a:spLocks noChangeArrowheads="1"/>
          </p:cNvSpPr>
          <p:nvPr/>
        </p:nvSpPr>
        <p:spPr bwMode="auto">
          <a:xfrm>
            <a:off x="2263775" y="501652"/>
            <a:ext cx="36353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dirty="0">
                <a:latin typeface="Arial" panose="020B0604020202020204" pitchFamily="34" charset="0"/>
              </a:rPr>
              <a:t>£</a:t>
            </a:r>
          </a:p>
        </p:txBody>
      </p:sp>
      <p:sp>
        <p:nvSpPr>
          <p:cNvPr id="14363" name="Rectangle 1051">
            <a:extLst>
              <a:ext uri="{FF2B5EF4-FFF2-40B4-BE49-F238E27FC236}">
                <a16:creationId xmlns:a16="http://schemas.microsoft.com/office/drawing/2014/main" id="{6126E479-FBF3-40EC-8BB8-A95477835665}"/>
              </a:ext>
            </a:extLst>
          </p:cNvPr>
          <p:cNvSpPr>
            <a:spLocks noChangeArrowheads="1"/>
          </p:cNvSpPr>
          <p:nvPr/>
        </p:nvSpPr>
        <p:spPr bwMode="auto">
          <a:xfrm>
            <a:off x="9421813" y="6016627"/>
            <a:ext cx="43021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latin typeface="Arial" panose="020B0604020202020204" pitchFamily="34" charset="0"/>
              </a:rPr>
              <a:t>Q</a:t>
            </a:r>
          </a:p>
        </p:txBody>
      </p:sp>
      <p:sp>
        <p:nvSpPr>
          <p:cNvPr id="14366" name="AutoShape 1054">
            <a:extLst>
              <a:ext uri="{FF2B5EF4-FFF2-40B4-BE49-F238E27FC236}">
                <a16:creationId xmlns:a16="http://schemas.microsoft.com/office/drawing/2014/main" id="{D910CDE0-9521-4018-B5A1-A6FC385F061B}"/>
              </a:ext>
            </a:extLst>
          </p:cNvPr>
          <p:cNvSpPr>
            <a:spLocks noChangeArrowheads="1"/>
          </p:cNvSpPr>
          <p:nvPr/>
        </p:nvSpPr>
        <p:spPr bwMode="auto">
          <a:xfrm>
            <a:off x="6729415" y="6130925"/>
            <a:ext cx="1901825" cy="438150"/>
          </a:xfrm>
          <a:prstGeom prst="roundRect">
            <a:avLst>
              <a:gd name="adj" fmla="val 16667"/>
            </a:avLst>
          </a:prstGeom>
          <a:solidFill>
            <a:srgbClr val="FFFFCC"/>
          </a:solidFill>
          <a:ln w="25400">
            <a:solidFill>
              <a:schemeClr val="accent1"/>
            </a:solidFill>
            <a:round/>
            <a:headEnd type="none" w="sm" len="sm"/>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900">
                <a:solidFill>
                  <a:schemeClr val="folHlink"/>
                </a:solidFill>
                <a:latin typeface="Arial" panose="020B0604020202020204" pitchFamily="34" charset="0"/>
              </a:rPr>
              <a:t>Social optimum</a:t>
            </a:r>
          </a:p>
        </p:txBody>
      </p:sp>
      <p:sp>
        <p:nvSpPr>
          <p:cNvPr id="36" name="Rectangle 24">
            <a:extLst>
              <a:ext uri="{FF2B5EF4-FFF2-40B4-BE49-F238E27FC236}">
                <a16:creationId xmlns:a16="http://schemas.microsoft.com/office/drawing/2014/main" id="{EDC3C293-FA82-4EAC-877C-B4B002786C66}"/>
              </a:ext>
            </a:extLst>
          </p:cNvPr>
          <p:cNvSpPr>
            <a:spLocks noGrp="1" noChangeArrowheads="1"/>
          </p:cNvSpPr>
          <p:nvPr>
            <p:ph type="title"/>
          </p:nvPr>
        </p:nvSpPr>
        <p:spPr>
          <a:xfrm>
            <a:off x="1143001" y="42528"/>
            <a:ext cx="9904281" cy="582614"/>
          </a:xfrm>
          <a:effectLst>
            <a:outerShdw dist="12700" dir="2700000" algn="ctr" rotWithShape="0">
              <a:schemeClr val="tx1"/>
            </a:outerShdw>
          </a:effectLst>
        </p:spPr>
        <p:txBody>
          <a:bodyPr/>
          <a:lstStyle/>
          <a:p>
            <a:r>
              <a:rPr lang="en-GB" altLang="en-US" sz="2600" dirty="0"/>
              <a:t>A monopolist producing less than the social optimum</a:t>
            </a:r>
          </a:p>
        </p:txBody>
      </p:sp>
    </p:spTree>
    <p:extLst>
      <p:ext uri="{BB962C8B-B14F-4D97-AF65-F5344CB8AC3E}">
        <p14:creationId xmlns:p14="http://schemas.microsoft.com/office/powerpoint/2010/main" val="1700614055"/>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0"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1"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2" name="Rectangle 4"/>
          <p:cNvSpPr>
            <a:spLocks noGrp="1"/>
          </p:cNvSpPr>
          <p:nvPr>
            <p:ph type="title"/>
          </p:nvPr>
        </p:nvSpPr>
        <p:spPr/>
        <p:txBody>
          <a:bodyPr/>
          <a:lstStyle/>
          <a:p>
            <a:r>
              <a:rPr lang="en-GB" altLang="en-US"/>
              <a:t>Types of Market Failure</a:t>
            </a:r>
          </a:p>
        </p:txBody>
      </p:sp>
      <p:sp>
        <p:nvSpPr>
          <p:cNvPr id="375813" name="Rectangle 5"/>
          <p:cNvSpPr>
            <a:spLocks noGrp="1"/>
          </p:cNvSpPr>
          <p:nvPr>
            <p:ph idx="1"/>
          </p:nvPr>
        </p:nvSpPr>
        <p:spPr>
          <a:xfrm>
            <a:off x="402167" y="1425388"/>
            <a:ext cx="11379200" cy="4988112"/>
          </a:xfrm>
        </p:spPr>
        <p:txBody>
          <a:bodyPr/>
          <a:lstStyle/>
          <a:p>
            <a:pPr>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Market power</a:t>
            </a:r>
          </a:p>
          <a:p>
            <a:pPr lvl="1">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Consumer and producer surplus</a:t>
            </a:r>
          </a:p>
          <a:p>
            <a:pPr lvl="2">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One way of analysing the welfare loss that occurs in any market is to use the concepts of </a:t>
            </a:r>
            <a:r>
              <a:rPr lang="en-GB" altLang="en-US" sz="2000" i="1" dirty="0">
                <a:latin typeface="Calibri" panose="020F0502020204030204" pitchFamily="34" charset="0"/>
                <a:ea typeface="Calibri" panose="020F0502020204030204" pitchFamily="34" charset="0"/>
                <a:cs typeface="Calibri" panose="020F0502020204030204" pitchFamily="34" charset="0"/>
              </a:rPr>
              <a:t>consumer</a:t>
            </a:r>
            <a:r>
              <a:rPr lang="en-GB" altLang="en-US" sz="2000" dirty="0">
                <a:latin typeface="Calibri" panose="020F0502020204030204" pitchFamily="34" charset="0"/>
                <a:ea typeface="Calibri" panose="020F0502020204030204" pitchFamily="34" charset="0"/>
                <a:cs typeface="Calibri" panose="020F0502020204030204" pitchFamily="34" charset="0"/>
              </a:rPr>
              <a:t> and </a:t>
            </a:r>
            <a:r>
              <a:rPr lang="en-GB" altLang="en-US" sz="2000" i="1" dirty="0">
                <a:latin typeface="Calibri" panose="020F0502020204030204" pitchFamily="34" charset="0"/>
                <a:ea typeface="Calibri" panose="020F0502020204030204" pitchFamily="34" charset="0"/>
                <a:cs typeface="Calibri" panose="020F0502020204030204" pitchFamily="34" charset="0"/>
              </a:rPr>
              <a:t>producer surplus</a:t>
            </a:r>
            <a:r>
              <a:rPr lang="en-GB" altLang="en-US" sz="2000" dirty="0">
                <a:latin typeface="Calibri" panose="020F0502020204030204" pitchFamily="34" charset="0"/>
                <a:ea typeface="Calibri" panose="020F0502020204030204" pitchFamily="34" charset="0"/>
                <a:cs typeface="Calibri" panose="020F0502020204030204" pitchFamily="34" charset="0"/>
              </a:rPr>
              <a:t>.</a:t>
            </a:r>
          </a:p>
          <a:p>
            <a:pPr marL="914400" lvl="2" indent="0">
              <a:spcBef>
                <a:spcPct val="25000"/>
              </a:spcBef>
              <a:buNone/>
            </a:pP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lvl="2">
              <a:spcBef>
                <a:spcPct val="25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consumer surplus </a:t>
            </a:r>
            <a:r>
              <a:rPr lang="en-GB" altLang="en-US" sz="2000" dirty="0">
                <a:latin typeface="Calibri" panose="020F0502020204030204" pitchFamily="34" charset="0"/>
                <a:ea typeface="Calibri" panose="020F0502020204030204" pitchFamily="34" charset="0"/>
                <a:cs typeface="Calibri" panose="020F0502020204030204" pitchFamily="34" charset="0"/>
              </a:rPr>
              <a:t>from a good – the difference between the total utility (satisfaction) received by consumers and their total expenditure on the good.</a:t>
            </a:r>
          </a:p>
          <a:p>
            <a:pPr lvl="3">
              <a:spcBef>
                <a:spcPct val="25000"/>
              </a:spcBef>
            </a:pPr>
            <a:r>
              <a:rPr lang="en-GB" altLang="en-US" dirty="0">
                <a:latin typeface="Calibri" panose="020F0502020204030204" pitchFamily="34" charset="0"/>
                <a:ea typeface="Calibri" panose="020F0502020204030204" pitchFamily="34" charset="0"/>
                <a:cs typeface="Calibri" panose="020F0502020204030204" pitchFamily="34" charset="0"/>
              </a:rPr>
              <a:t>It can be thought of as the difference between the max. amount people are willing to pay for a good and the price they actually do pay. </a:t>
            </a:r>
          </a:p>
          <a:p>
            <a:pPr lvl="2">
              <a:spcBef>
                <a:spcPct val="25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producer surplus</a:t>
            </a:r>
            <a:r>
              <a:rPr lang="en-GB" altLang="en-US" sz="2000" dirty="0">
                <a:latin typeface="Calibri" panose="020F0502020204030204" pitchFamily="34" charset="0"/>
                <a:ea typeface="Calibri" panose="020F0502020204030204" pitchFamily="34" charset="0"/>
                <a:cs typeface="Calibri" panose="020F0502020204030204" pitchFamily="34" charset="0"/>
              </a:rPr>
              <a:t> – similar to profit. It is the difference between TR and TVC (it will be greater than profit if there are fixed costs).</a:t>
            </a:r>
          </a:p>
          <a:p>
            <a:pPr lvl="3">
              <a:spcBef>
                <a:spcPct val="25000"/>
              </a:spcBef>
            </a:pPr>
            <a:r>
              <a:rPr lang="en-GB" altLang="en-US" dirty="0">
                <a:latin typeface="Calibri" panose="020F0502020204030204" pitchFamily="34" charset="0"/>
                <a:ea typeface="Calibri" panose="020F0502020204030204" pitchFamily="34" charset="0"/>
                <a:cs typeface="Calibri" panose="020F0502020204030204" pitchFamily="34" charset="0"/>
              </a:rPr>
              <a:t>It can be thought of as the difference between the min. price required in order for a firm to supply a good and the price that is actually paid. </a:t>
            </a:r>
            <a:endParaRPr lang="en-GB" altLang="en-US" b="1" dirty="0">
              <a:latin typeface="Calibri" panose="020F0502020204030204" pitchFamily="34" charset="0"/>
              <a:ea typeface="Calibri" panose="020F0502020204030204" pitchFamily="34" charset="0"/>
              <a:cs typeface="Calibri" panose="020F0502020204030204" pitchFamily="34" charset="0"/>
            </a:endParaRPr>
          </a:p>
          <a:p>
            <a:pPr lvl="2">
              <a:spcBef>
                <a:spcPct val="25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total (private) surplus</a:t>
            </a:r>
            <a:r>
              <a:rPr lang="en-GB" altLang="en-US" sz="2000" dirty="0">
                <a:latin typeface="Calibri" panose="020F0502020204030204" pitchFamily="34" charset="0"/>
                <a:ea typeface="Calibri" panose="020F0502020204030204" pitchFamily="34" charset="0"/>
                <a:cs typeface="Calibri" panose="020F0502020204030204" pitchFamily="34" charset="0"/>
              </a:rPr>
              <a:t> – total consumer plus producer surplus. The area between the demand and MC curves</a:t>
            </a:r>
            <a:endParaRPr lang="en-GB" altLang="en-US" sz="2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28102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5813">
                                            <p:txEl>
                                              <p:pRg st="0" end="0"/>
                                            </p:txEl>
                                          </p:spTgt>
                                        </p:tgtEl>
                                        <p:attrNameLst>
                                          <p:attrName>style.visibility</p:attrName>
                                        </p:attrNameLst>
                                      </p:cBhvr>
                                      <p:to>
                                        <p:strVal val="visible"/>
                                      </p:to>
                                    </p:set>
                                    <p:anim calcmode="lin" valueType="num">
                                      <p:cBhvr additive="base">
                                        <p:cTn id="7" dur="500"/>
                                        <p:tgtEl>
                                          <p:spTgt spid="37581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5813">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5813">
                                            <p:txEl>
                                              <p:pRg st="1" end="1"/>
                                            </p:txEl>
                                          </p:spTgt>
                                        </p:tgtEl>
                                        <p:attrNameLst>
                                          <p:attrName>style.visibility</p:attrName>
                                        </p:attrNameLst>
                                      </p:cBhvr>
                                      <p:to>
                                        <p:strVal val="visible"/>
                                      </p:to>
                                    </p:set>
                                    <p:anim calcmode="lin" valueType="num">
                                      <p:cBhvr additive="base">
                                        <p:cTn id="13" dur="500"/>
                                        <p:tgtEl>
                                          <p:spTgt spid="37581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581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5813">
                                            <p:txEl>
                                              <p:pRg st="2" end="2"/>
                                            </p:txEl>
                                          </p:spTgt>
                                        </p:tgtEl>
                                        <p:attrNameLst>
                                          <p:attrName>style.visibility</p:attrName>
                                        </p:attrNameLst>
                                      </p:cBhvr>
                                      <p:to>
                                        <p:strVal val="visible"/>
                                      </p:to>
                                    </p:set>
                                    <p:anim calcmode="lin" valueType="num">
                                      <p:cBhvr additive="base">
                                        <p:cTn id="19" dur="500"/>
                                        <p:tgtEl>
                                          <p:spTgt spid="37581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5813">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5813">
                                            <p:txEl>
                                              <p:pRg st="4" end="4"/>
                                            </p:txEl>
                                          </p:spTgt>
                                        </p:tgtEl>
                                        <p:attrNameLst>
                                          <p:attrName>style.visibility</p:attrName>
                                        </p:attrNameLst>
                                      </p:cBhvr>
                                      <p:to>
                                        <p:strVal val="visible"/>
                                      </p:to>
                                    </p:set>
                                    <p:anim calcmode="lin" valueType="num">
                                      <p:cBhvr additive="base">
                                        <p:cTn id="25" dur="500"/>
                                        <p:tgtEl>
                                          <p:spTgt spid="375813">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5813">
                                            <p:txEl>
                                              <p:pRg st="4" end="4"/>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75813">
                                            <p:txEl>
                                              <p:pRg st="5" end="5"/>
                                            </p:txEl>
                                          </p:spTgt>
                                        </p:tgtEl>
                                        <p:attrNameLst>
                                          <p:attrName>style.visibility</p:attrName>
                                        </p:attrNameLst>
                                      </p:cBhvr>
                                      <p:to>
                                        <p:strVal val="visible"/>
                                      </p:to>
                                    </p:set>
                                    <p:anim calcmode="lin" valueType="num">
                                      <p:cBhvr additive="base">
                                        <p:cTn id="29" dur="500"/>
                                        <p:tgtEl>
                                          <p:spTgt spid="375813">
                                            <p:txEl>
                                              <p:pRg st="5" end="5"/>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7581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75813">
                                            <p:txEl>
                                              <p:pRg st="6" end="6"/>
                                            </p:txEl>
                                          </p:spTgt>
                                        </p:tgtEl>
                                        <p:attrNameLst>
                                          <p:attrName>style.visibility</p:attrName>
                                        </p:attrNameLst>
                                      </p:cBhvr>
                                      <p:to>
                                        <p:strVal val="visible"/>
                                      </p:to>
                                    </p:set>
                                    <p:anim calcmode="lin" valueType="num">
                                      <p:cBhvr additive="base">
                                        <p:cTn id="35" dur="500"/>
                                        <p:tgtEl>
                                          <p:spTgt spid="375813">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75813">
                                            <p:txEl>
                                              <p:pRg st="6" end="6"/>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375813">
                                            <p:txEl>
                                              <p:pRg st="7" end="7"/>
                                            </p:txEl>
                                          </p:spTgt>
                                        </p:tgtEl>
                                        <p:attrNameLst>
                                          <p:attrName>style.visibility</p:attrName>
                                        </p:attrNameLst>
                                      </p:cBhvr>
                                      <p:to>
                                        <p:strVal val="visible"/>
                                      </p:to>
                                    </p:set>
                                    <p:anim calcmode="lin" valueType="num">
                                      <p:cBhvr additive="base">
                                        <p:cTn id="39" dur="500"/>
                                        <p:tgtEl>
                                          <p:spTgt spid="375813">
                                            <p:txEl>
                                              <p:pRg st="7" end="7"/>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7581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375813">
                                            <p:txEl>
                                              <p:pRg st="8" end="8"/>
                                            </p:txEl>
                                          </p:spTgt>
                                        </p:tgtEl>
                                        <p:attrNameLst>
                                          <p:attrName>style.visibility</p:attrName>
                                        </p:attrNameLst>
                                      </p:cBhvr>
                                      <p:to>
                                        <p:strVal val="visible"/>
                                      </p:to>
                                    </p:set>
                                    <p:anim calcmode="lin" valueType="num">
                                      <p:cBhvr additive="base">
                                        <p:cTn id="45" dur="500"/>
                                        <p:tgtEl>
                                          <p:spTgt spid="375813">
                                            <p:txEl>
                                              <p:pRg st="8" end="8"/>
                                            </p:txEl>
                                          </p:spTgt>
                                        </p:tgtEl>
                                        <p:attrNameLst>
                                          <p:attrName>ppt_y</p:attrName>
                                        </p:attrNameLst>
                                      </p:cBhvr>
                                      <p:tavLst>
                                        <p:tav tm="0">
                                          <p:val>
                                            <p:strVal val="#ppt_y+#ppt_h*1.125000"/>
                                          </p:val>
                                        </p:tav>
                                        <p:tav tm="100000">
                                          <p:val>
                                            <p:strVal val="#ppt_y"/>
                                          </p:val>
                                        </p:tav>
                                      </p:tavLst>
                                    </p:anim>
                                    <p:animEffect transition="in" filter="wipe(up)">
                                      <p:cBhvr>
                                        <p:cTn id="46" dur="500"/>
                                        <p:tgtEl>
                                          <p:spTgt spid="37581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3" grpId="0" build="p" bldLvl="3"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0"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1"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2" name="Rectangle 4"/>
          <p:cNvSpPr>
            <a:spLocks noGrp="1"/>
          </p:cNvSpPr>
          <p:nvPr>
            <p:ph type="title"/>
          </p:nvPr>
        </p:nvSpPr>
        <p:spPr/>
        <p:txBody>
          <a:bodyPr/>
          <a:lstStyle/>
          <a:p>
            <a:r>
              <a:rPr lang="en-GB" altLang="en-US"/>
              <a:t>Types of Market Failure</a:t>
            </a:r>
          </a:p>
        </p:txBody>
      </p:sp>
      <p:sp>
        <p:nvSpPr>
          <p:cNvPr id="375813" name="Rectangle 5"/>
          <p:cNvSpPr>
            <a:spLocks noGrp="1"/>
          </p:cNvSpPr>
          <p:nvPr>
            <p:ph idx="1"/>
          </p:nvPr>
        </p:nvSpPr>
        <p:spPr>
          <a:xfrm>
            <a:off x="402167" y="1425388"/>
            <a:ext cx="11379200" cy="4988112"/>
          </a:xfrm>
        </p:spPr>
        <p:txBody>
          <a:bodyPr/>
          <a:lstStyle/>
          <a:p>
            <a:pPr>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Market power</a:t>
            </a:r>
          </a:p>
          <a:p>
            <a:pPr lvl="1">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effect of monopoly on total surplus</a:t>
            </a:r>
          </a:p>
          <a:p>
            <a:pPr lvl="2">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When the industry is under monopoly, the firm will produce where MC = MR, at an output of </a:t>
            </a:r>
            <a:r>
              <a:rPr lang="en-GB" altLang="en-US" sz="2000" dirty="0" err="1">
                <a:latin typeface="Calibri" panose="020F0502020204030204" pitchFamily="34" charset="0"/>
                <a:ea typeface="Calibri" panose="020F0502020204030204" pitchFamily="34" charset="0"/>
                <a:cs typeface="Calibri" panose="020F0502020204030204" pitchFamily="34" charset="0"/>
              </a:rPr>
              <a:t>Q</a:t>
            </a:r>
            <a:r>
              <a:rPr lang="en-GB" altLang="en-US" sz="2000" baseline="-25000" dirty="0" err="1">
                <a:latin typeface="Calibri" panose="020F0502020204030204" pitchFamily="34" charset="0"/>
                <a:ea typeface="Calibri" panose="020F0502020204030204" pitchFamily="34" charset="0"/>
                <a:cs typeface="Calibri" panose="020F0502020204030204" pitchFamily="34" charset="0"/>
              </a:rPr>
              <a:t>m</a:t>
            </a:r>
            <a:r>
              <a:rPr lang="en-GB" altLang="en-US" sz="2000" dirty="0">
                <a:latin typeface="Calibri" panose="020F0502020204030204" pitchFamily="34" charset="0"/>
                <a:ea typeface="Calibri" panose="020F0502020204030204" pitchFamily="34" charset="0"/>
                <a:cs typeface="Calibri" panose="020F0502020204030204" pitchFamily="34" charset="0"/>
              </a:rPr>
              <a:t> and a price of P</a:t>
            </a:r>
            <a:r>
              <a:rPr lang="en-GB" altLang="en-US" sz="2000" baseline="-25000" dirty="0">
                <a:latin typeface="Calibri" panose="020F0502020204030204" pitchFamily="34" charset="0"/>
                <a:ea typeface="Calibri" panose="020F0502020204030204" pitchFamily="34" charset="0"/>
                <a:cs typeface="Calibri" panose="020F0502020204030204" pitchFamily="34" charset="0"/>
              </a:rPr>
              <a:t>m</a:t>
            </a:r>
            <a:r>
              <a:rPr lang="en-GB" altLang="en-US" sz="2000" dirty="0">
                <a:latin typeface="Calibri" panose="020F0502020204030204" pitchFamily="34" charset="0"/>
                <a:ea typeface="Calibri" panose="020F0502020204030204" pitchFamily="34" charset="0"/>
                <a:cs typeface="Calibri" panose="020F0502020204030204" pitchFamily="34" charset="0"/>
              </a:rPr>
              <a:t> (at point </a:t>
            </a:r>
            <a:r>
              <a:rPr lang="en-GB" altLang="en-US" sz="2000" i="1" dirty="0">
                <a:latin typeface="Calibri" panose="020F0502020204030204" pitchFamily="34" charset="0"/>
                <a:ea typeface="Calibri" panose="020F0502020204030204" pitchFamily="34" charset="0"/>
                <a:cs typeface="Calibri" panose="020F0502020204030204" pitchFamily="34" charset="0"/>
              </a:rPr>
              <a:t>b </a:t>
            </a:r>
            <a:r>
              <a:rPr lang="en-GB" altLang="en-US" sz="2000" dirty="0">
                <a:latin typeface="Calibri" panose="020F0502020204030204" pitchFamily="34" charset="0"/>
                <a:ea typeface="Calibri" panose="020F0502020204030204" pitchFamily="34" charset="0"/>
                <a:cs typeface="Calibri" panose="020F0502020204030204" pitchFamily="34" charset="0"/>
              </a:rPr>
              <a:t>on the demand curve).</a:t>
            </a:r>
          </a:p>
          <a:p>
            <a:pPr lvl="2">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TR is P</a:t>
            </a:r>
            <a:r>
              <a:rPr lang="en-GB" altLang="en-US" sz="2000" baseline="-25000" dirty="0">
                <a:latin typeface="Calibri" panose="020F0502020204030204" pitchFamily="34" charset="0"/>
                <a:ea typeface="Calibri" panose="020F0502020204030204" pitchFamily="34" charset="0"/>
                <a:cs typeface="Calibri" panose="020F0502020204030204" pitchFamily="34" charset="0"/>
              </a:rPr>
              <a:t>m</a:t>
            </a:r>
            <a:r>
              <a:rPr lang="en-GB" altLang="en-US" sz="2000" dirty="0">
                <a:latin typeface="Calibri" panose="020F0502020204030204" pitchFamily="34" charset="0"/>
                <a:ea typeface="Calibri" panose="020F0502020204030204" pitchFamily="34" charset="0"/>
                <a:cs typeface="Calibri" panose="020F0502020204030204" pitchFamily="34" charset="0"/>
              </a:rPr>
              <a:t> x </a:t>
            </a:r>
            <a:r>
              <a:rPr lang="en-GB" altLang="en-US" sz="2000" dirty="0" err="1">
                <a:latin typeface="Calibri" panose="020F0502020204030204" pitchFamily="34" charset="0"/>
                <a:ea typeface="Calibri" panose="020F0502020204030204" pitchFamily="34" charset="0"/>
                <a:cs typeface="Calibri" panose="020F0502020204030204" pitchFamily="34" charset="0"/>
              </a:rPr>
              <a:t>Q</a:t>
            </a:r>
            <a:r>
              <a:rPr lang="en-GB" altLang="en-US" sz="2000" baseline="-25000" dirty="0" err="1">
                <a:latin typeface="Calibri" panose="020F0502020204030204" pitchFamily="34" charset="0"/>
                <a:ea typeface="Calibri" panose="020F0502020204030204" pitchFamily="34" charset="0"/>
                <a:cs typeface="Calibri" panose="020F0502020204030204" pitchFamily="34" charset="0"/>
              </a:rPr>
              <a:t>m</a:t>
            </a:r>
            <a:r>
              <a:rPr lang="en-GB" altLang="en-US" sz="2000" dirty="0">
                <a:latin typeface="Calibri" panose="020F0502020204030204" pitchFamily="34" charset="0"/>
                <a:ea typeface="Calibri" panose="020F0502020204030204" pitchFamily="34" charset="0"/>
                <a:cs typeface="Calibri" panose="020F0502020204030204" pitchFamily="34" charset="0"/>
              </a:rPr>
              <a:t> (areas 2 + 4 + 6).</a:t>
            </a:r>
          </a:p>
          <a:p>
            <a:pPr lvl="2">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TC is the area under the MC curve (area 6). Thus producer surplus is areas 2 + 4.</a:t>
            </a:r>
          </a:p>
          <a:p>
            <a:pPr lvl="2">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This is a larger surplus than under perfect competition (monopoly profits are larger than profits under PC)</a:t>
            </a:r>
          </a:p>
          <a:p>
            <a:pPr lvl="2">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Consumer surplus, however, will be much smaller. </a:t>
            </a:r>
          </a:p>
          <a:p>
            <a:pPr lvl="2">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With consumption at </a:t>
            </a:r>
            <a:r>
              <a:rPr lang="en-GB" altLang="en-US" sz="2000" dirty="0" err="1">
                <a:latin typeface="Calibri" panose="020F0502020204030204" pitchFamily="34" charset="0"/>
                <a:ea typeface="Calibri" panose="020F0502020204030204" pitchFamily="34" charset="0"/>
                <a:cs typeface="Calibri" panose="020F0502020204030204" pitchFamily="34" charset="0"/>
              </a:rPr>
              <a:t>Q</a:t>
            </a:r>
            <a:r>
              <a:rPr lang="en-GB" altLang="en-US" sz="2000" baseline="-25000" dirty="0" err="1">
                <a:latin typeface="Calibri" panose="020F0502020204030204" pitchFamily="34" charset="0"/>
                <a:ea typeface="Calibri" panose="020F0502020204030204" pitchFamily="34" charset="0"/>
                <a:cs typeface="Calibri" panose="020F0502020204030204" pitchFamily="34" charset="0"/>
              </a:rPr>
              <a:t>m</a:t>
            </a:r>
            <a:r>
              <a:rPr lang="en-GB" altLang="en-US" sz="2000" dirty="0">
                <a:latin typeface="Calibri" panose="020F0502020204030204" pitchFamily="34" charset="0"/>
                <a:ea typeface="Calibri" panose="020F0502020204030204" pitchFamily="34" charset="0"/>
                <a:cs typeface="Calibri" panose="020F0502020204030204" pitchFamily="34" charset="0"/>
              </a:rPr>
              <a:t>, total utility is given by areas 1 + 2 + 4 + 6, whereas consumer expenditure is given by areas 2 + 4 + 6. Consumer surplus, then, is simply area 1.</a:t>
            </a:r>
          </a:p>
          <a:p>
            <a:pPr lvl="2">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Total surplus under monopoly is therefore areas 1 + 2 + 4: a small surplus than under PC.</a:t>
            </a:r>
          </a:p>
          <a:p>
            <a:pPr lvl="2">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‘Monopolisation’ of the industry has resulted in a loss of total surplus. The producer’s gain has been more than offset by the consumer’s loss.</a:t>
            </a:r>
          </a:p>
          <a:p>
            <a:pPr lvl="2">
              <a:spcBef>
                <a:spcPct val="2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This loss of surplus is known as </a:t>
            </a:r>
            <a:r>
              <a:rPr lang="en-GB" altLang="en-US" sz="2000" b="1" i="1" dirty="0">
                <a:latin typeface="Calibri" panose="020F0502020204030204" pitchFamily="34" charset="0"/>
                <a:ea typeface="Calibri" panose="020F0502020204030204" pitchFamily="34" charset="0"/>
                <a:cs typeface="Calibri" panose="020F0502020204030204" pitchFamily="34" charset="0"/>
              </a:rPr>
              <a:t>deadweight welfare loss </a:t>
            </a:r>
            <a:r>
              <a:rPr lang="en-GB" altLang="en-US" sz="2000" dirty="0">
                <a:latin typeface="Calibri" panose="020F0502020204030204" pitchFamily="34" charset="0"/>
                <a:ea typeface="Calibri" panose="020F0502020204030204" pitchFamily="34" charset="0"/>
                <a:cs typeface="Calibri" panose="020F0502020204030204" pitchFamily="34" charset="0"/>
              </a:rPr>
              <a:t>of monopoly.</a:t>
            </a:r>
          </a:p>
        </p:txBody>
      </p:sp>
    </p:spTree>
    <p:extLst>
      <p:ext uri="{BB962C8B-B14F-4D97-AF65-F5344CB8AC3E}">
        <p14:creationId xmlns:p14="http://schemas.microsoft.com/office/powerpoint/2010/main" val="1317520867"/>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5813">
                                            <p:txEl>
                                              <p:pRg st="0" end="0"/>
                                            </p:txEl>
                                          </p:spTgt>
                                        </p:tgtEl>
                                        <p:attrNameLst>
                                          <p:attrName>style.visibility</p:attrName>
                                        </p:attrNameLst>
                                      </p:cBhvr>
                                      <p:to>
                                        <p:strVal val="visible"/>
                                      </p:to>
                                    </p:set>
                                    <p:anim calcmode="lin" valueType="num">
                                      <p:cBhvr additive="base">
                                        <p:cTn id="7" dur="500"/>
                                        <p:tgtEl>
                                          <p:spTgt spid="37581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581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5813">
                                            <p:txEl>
                                              <p:pRg st="1" end="1"/>
                                            </p:txEl>
                                          </p:spTgt>
                                        </p:tgtEl>
                                        <p:attrNameLst>
                                          <p:attrName>style.visibility</p:attrName>
                                        </p:attrNameLst>
                                      </p:cBhvr>
                                      <p:to>
                                        <p:strVal val="visible"/>
                                      </p:to>
                                    </p:set>
                                    <p:anim calcmode="lin" valueType="num">
                                      <p:cBhvr additive="base">
                                        <p:cTn id="13" dur="500"/>
                                        <p:tgtEl>
                                          <p:spTgt spid="37581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581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5813">
                                            <p:txEl>
                                              <p:pRg st="2" end="2"/>
                                            </p:txEl>
                                          </p:spTgt>
                                        </p:tgtEl>
                                        <p:attrNameLst>
                                          <p:attrName>style.visibility</p:attrName>
                                        </p:attrNameLst>
                                      </p:cBhvr>
                                      <p:to>
                                        <p:strVal val="visible"/>
                                      </p:to>
                                    </p:set>
                                    <p:anim calcmode="lin" valueType="num">
                                      <p:cBhvr additive="base">
                                        <p:cTn id="19" dur="500"/>
                                        <p:tgtEl>
                                          <p:spTgt spid="37581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581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5813">
                                            <p:txEl>
                                              <p:pRg st="3" end="3"/>
                                            </p:txEl>
                                          </p:spTgt>
                                        </p:tgtEl>
                                        <p:attrNameLst>
                                          <p:attrName>style.visibility</p:attrName>
                                        </p:attrNameLst>
                                      </p:cBhvr>
                                      <p:to>
                                        <p:strVal val="visible"/>
                                      </p:to>
                                    </p:set>
                                    <p:anim calcmode="lin" valueType="num">
                                      <p:cBhvr additive="base">
                                        <p:cTn id="25" dur="500"/>
                                        <p:tgtEl>
                                          <p:spTgt spid="37581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581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5813">
                                            <p:txEl>
                                              <p:pRg st="4" end="4"/>
                                            </p:txEl>
                                          </p:spTgt>
                                        </p:tgtEl>
                                        <p:attrNameLst>
                                          <p:attrName>style.visibility</p:attrName>
                                        </p:attrNameLst>
                                      </p:cBhvr>
                                      <p:to>
                                        <p:strVal val="visible"/>
                                      </p:to>
                                    </p:set>
                                    <p:anim calcmode="lin" valueType="num">
                                      <p:cBhvr additive="base">
                                        <p:cTn id="31" dur="500"/>
                                        <p:tgtEl>
                                          <p:spTgt spid="37581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581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5813">
                                            <p:txEl>
                                              <p:pRg st="5" end="5"/>
                                            </p:txEl>
                                          </p:spTgt>
                                        </p:tgtEl>
                                        <p:attrNameLst>
                                          <p:attrName>style.visibility</p:attrName>
                                        </p:attrNameLst>
                                      </p:cBhvr>
                                      <p:to>
                                        <p:strVal val="visible"/>
                                      </p:to>
                                    </p:set>
                                    <p:anim calcmode="lin" valueType="num">
                                      <p:cBhvr additive="base">
                                        <p:cTn id="37" dur="500"/>
                                        <p:tgtEl>
                                          <p:spTgt spid="37581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581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5813">
                                            <p:txEl>
                                              <p:pRg st="6" end="6"/>
                                            </p:txEl>
                                          </p:spTgt>
                                        </p:tgtEl>
                                        <p:attrNameLst>
                                          <p:attrName>style.visibility</p:attrName>
                                        </p:attrNameLst>
                                      </p:cBhvr>
                                      <p:to>
                                        <p:strVal val="visible"/>
                                      </p:to>
                                    </p:set>
                                    <p:anim calcmode="lin" valueType="num">
                                      <p:cBhvr additive="base">
                                        <p:cTn id="43" dur="500"/>
                                        <p:tgtEl>
                                          <p:spTgt spid="375813">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581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5813">
                                            <p:txEl>
                                              <p:pRg st="7" end="7"/>
                                            </p:txEl>
                                          </p:spTgt>
                                        </p:tgtEl>
                                        <p:attrNameLst>
                                          <p:attrName>style.visibility</p:attrName>
                                        </p:attrNameLst>
                                      </p:cBhvr>
                                      <p:to>
                                        <p:strVal val="visible"/>
                                      </p:to>
                                    </p:set>
                                    <p:anim calcmode="lin" valueType="num">
                                      <p:cBhvr additive="base">
                                        <p:cTn id="49" dur="500"/>
                                        <p:tgtEl>
                                          <p:spTgt spid="375813">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581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75813">
                                            <p:txEl>
                                              <p:pRg st="8" end="8"/>
                                            </p:txEl>
                                          </p:spTgt>
                                        </p:tgtEl>
                                        <p:attrNameLst>
                                          <p:attrName>style.visibility</p:attrName>
                                        </p:attrNameLst>
                                      </p:cBhvr>
                                      <p:to>
                                        <p:strVal val="visible"/>
                                      </p:to>
                                    </p:set>
                                    <p:anim calcmode="lin" valueType="num">
                                      <p:cBhvr additive="base">
                                        <p:cTn id="55" dur="500"/>
                                        <p:tgtEl>
                                          <p:spTgt spid="375813">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75813">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75813">
                                            <p:txEl>
                                              <p:pRg st="9" end="9"/>
                                            </p:txEl>
                                          </p:spTgt>
                                        </p:tgtEl>
                                        <p:attrNameLst>
                                          <p:attrName>style.visibility</p:attrName>
                                        </p:attrNameLst>
                                      </p:cBhvr>
                                      <p:to>
                                        <p:strVal val="visible"/>
                                      </p:to>
                                    </p:set>
                                    <p:anim calcmode="lin" valueType="num">
                                      <p:cBhvr additive="base">
                                        <p:cTn id="61" dur="500"/>
                                        <p:tgtEl>
                                          <p:spTgt spid="375813">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75813">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375813">
                                            <p:txEl>
                                              <p:pRg st="10" end="10"/>
                                            </p:txEl>
                                          </p:spTgt>
                                        </p:tgtEl>
                                        <p:attrNameLst>
                                          <p:attrName>style.visibility</p:attrName>
                                        </p:attrNameLst>
                                      </p:cBhvr>
                                      <p:to>
                                        <p:strVal val="visible"/>
                                      </p:to>
                                    </p:set>
                                    <p:anim calcmode="lin" valueType="num">
                                      <p:cBhvr additive="base">
                                        <p:cTn id="67" dur="500"/>
                                        <p:tgtEl>
                                          <p:spTgt spid="375813">
                                            <p:txEl>
                                              <p:pRg st="10" end="10"/>
                                            </p:txEl>
                                          </p:spTgt>
                                        </p:tgtEl>
                                        <p:attrNameLst>
                                          <p:attrName>ppt_y</p:attrName>
                                        </p:attrNameLst>
                                      </p:cBhvr>
                                      <p:tavLst>
                                        <p:tav tm="0">
                                          <p:val>
                                            <p:strVal val="#ppt_y+#ppt_h*1.125000"/>
                                          </p:val>
                                        </p:tav>
                                        <p:tav tm="100000">
                                          <p:val>
                                            <p:strVal val="#ppt_y"/>
                                          </p:val>
                                        </p:tav>
                                      </p:tavLst>
                                    </p:anim>
                                    <p:animEffect transition="in" filter="wipe(up)">
                                      <p:cBhvr>
                                        <p:cTn id="68" dur="500"/>
                                        <p:tgtEl>
                                          <p:spTgt spid="37581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3" grpId="0" build="p" bldLvl="3"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45FDD-B4A4-2512-E32C-F684EE909492}"/>
              </a:ext>
            </a:extLst>
          </p:cNvPr>
          <p:cNvSpPr>
            <a:spLocks noGrp="1"/>
          </p:cNvSpPr>
          <p:nvPr>
            <p:ph type="title"/>
          </p:nvPr>
        </p:nvSpPr>
        <p:spPr/>
        <p:txBody>
          <a:bodyPr/>
          <a:lstStyle/>
          <a:p>
            <a:r>
              <a:rPr lang="en-GB" altLang="en-US" sz="3200" dirty="0">
                <a:effectLst>
                  <a:outerShdw blurRad="38100" dist="38100" dir="2700000" algn="tl">
                    <a:srgbClr val="000000">
                      <a:alpha val="43137"/>
                    </a:srgbClr>
                  </a:outerShdw>
                </a:effectLst>
              </a:rPr>
              <a:t>The effect of monopoly on total surplus</a:t>
            </a:r>
            <a:endParaRPr lang="en-GB" sz="3200" dirty="0">
              <a:effectLst>
                <a:outerShdw blurRad="38100" dist="38100" dir="2700000" algn="tl">
                  <a:srgbClr val="000000">
                    <a:alpha val="43137"/>
                  </a:srgbClr>
                </a:outerShdw>
              </a:effectLst>
            </a:endParaRPr>
          </a:p>
        </p:txBody>
      </p:sp>
      <p:pic>
        <p:nvPicPr>
          <p:cNvPr id="4" name="Content Placeholder 3">
            <a:extLst>
              <a:ext uri="{FF2B5EF4-FFF2-40B4-BE49-F238E27FC236}">
                <a16:creationId xmlns:a16="http://schemas.microsoft.com/office/drawing/2014/main" id="{5ED5E0E0-CB1F-10E6-A7FE-6E569088599E}"/>
              </a:ext>
            </a:extLst>
          </p:cNvPr>
          <p:cNvPicPr>
            <a:picLocks noGrp="1" noChangeAspect="1"/>
          </p:cNvPicPr>
          <p:nvPr>
            <p:ph idx="1"/>
          </p:nvPr>
        </p:nvPicPr>
        <p:blipFill>
          <a:blip r:embed="rId2"/>
          <a:stretch>
            <a:fillRect/>
          </a:stretch>
        </p:blipFill>
        <p:spPr>
          <a:xfrm>
            <a:off x="492542" y="1881052"/>
            <a:ext cx="5369413" cy="3717286"/>
          </a:xfrm>
          <a:prstGeom prst="rect">
            <a:avLst/>
          </a:prstGeom>
        </p:spPr>
      </p:pic>
      <p:pic>
        <p:nvPicPr>
          <p:cNvPr id="5" name="Picture 4">
            <a:extLst>
              <a:ext uri="{FF2B5EF4-FFF2-40B4-BE49-F238E27FC236}">
                <a16:creationId xmlns:a16="http://schemas.microsoft.com/office/drawing/2014/main" id="{D5B17CDA-6803-8C79-3DC2-874D563D0811}"/>
              </a:ext>
            </a:extLst>
          </p:cNvPr>
          <p:cNvPicPr>
            <a:picLocks noChangeAspect="1"/>
          </p:cNvPicPr>
          <p:nvPr/>
        </p:nvPicPr>
        <p:blipFill>
          <a:blip r:embed="rId3"/>
          <a:stretch>
            <a:fillRect/>
          </a:stretch>
        </p:blipFill>
        <p:spPr>
          <a:xfrm>
            <a:off x="6272115" y="1894302"/>
            <a:ext cx="5392294" cy="3733127"/>
          </a:xfrm>
          <a:prstGeom prst="rect">
            <a:avLst/>
          </a:prstGeom>
        </p:spPr>
      </p:pic>
      <p:sp>
        <p:nvSpPr>
          <p:cNvPr id="6" name="TextBox 5">
            <a:extLst>
              <a:ext uri="{FF2B5EF4-FFF2-40B4-BE49-F238E27FC236}">
                <a16:creationId xmlns:a16="http://schemas.microsoft.com/office/drawing/2014/main" id="{1AB5A4ED-D05E-4195-B6D6-827A06E81427}"/>
              </a:ext>
            </a:extLst>
          </p:cNvPr>
          <p:cNvSpPr txBox="1"/>
          <p:nvPr/>
        </p:nvSpPr>
        <p:spPr>
          <a:xfrm>
            <a:off x="7070654" y="2923954"/>
            <a:ext cx="116958" cy="307777"/>
          </a:xfrm>
          <a:prstGeom prst="rect">
            <a:avLst/>
          </a:prstGeom>
          <a:noFill/>
        </p:spPr>
        <p:txBody>
          <a:bodyPr wrap="square" rtlCol="0">
            <a:spAutoFit/>
          </a:bodyPr>
          <a:lstStyle/>
          <a:p>
            <a:r>
              <a:rPr lang="en-GB" sz="1400" dirty="0"/>
              <a:t>1</a:t>
            </a:r>
          </a:p>
        </p:txBody>
      </p:sp>
      <p:sp>
        <p:nvSpPr>
          <p:cNvPr id="7" name="TextBox 6">
            <a:extLst>
              <a:ext uri="{FF2B5EF4-FFF2-40B4-BE49-F238E27FC236}">
                <a16:creationId xmlns:a16="http://schemas.microsoft.com/office/drawing/2014/main" id="{7A1F469C-D65C-209F-AD45-126CEE6B8FF6}"/>
              </a:ext>
            </a:extLst>
          </p:cNvPr>
          <p:cNvSpPr txBox="1"/>
          <p:nvPr/>
        </p:nvSpPr>
        <p:spPr>
          <a:xfrm>
            <a:off x="7091924" y="3599122"/>
            <a:ext cx="175435" cy="307777"/>
          </a:xfrm>
          <a:prstGeom prst="rect">
            <a:avLst/>
          </a:prstGeom>
          <a:noFill/>
        </p:spPr>
        <p:txBody>
          <a:bodyPr wrap="square" rtlCol="0">
            <a:spAutoFit/>
          </a:bodyPr>
          <a:lstStyle/>
          <a:p>
            <a:r>
              <a:rPr lang="en-GB" sz="1400" dirty="0"/>
              <a:t>2</a:t>
            </a:r>
          </a:p>
        </p:txBody>
      </p:sp>
      <p:sp>
        <p:nvSpPr>
          <p:cNvPr id="8" name="TextBox 7">
            <a:extLst>
              <a:ext uri="{FF2B5EF4-FFF2-40B4-BE49-F238E27FC236}">
                <a16:creationId xmlns:a16="http://schemas.microsoft.com/office/drawing/2014/main" id="{0C4C0818-ECCC-97D1-521E-8C84EB9C2147}"/>
              </a:ext>
            </a:extLst>
          </p:cNvPr>
          <p:cNvSpPr txBox="1"/>
          <p:nvPr/>
        </p:nvSpPr>
        <p:spPr>
          <a:xfrm>
            <a:off x="7086603" y="4231758"/>
            <a:ext cx="223283" cy="307777"/>
          </a:xfrm>
          <a:prstGeom prst="rect">
            <a:avLst/>
          </a:prstGeom>
          <a:noFill/>
        </p:spPr>
        <p:txBody>
          <a:bodyPr wrap="square" rtlCol="0">
            <a:spAutoFit/>
          </a:bodyPr>
          <a:lstStyle/>
          <a:p>
            <a:r>
              <a:rPr lang="en-GB" sz="1400" dirty="0"/>
              <a:t>4</a:t>
            </a:r>
          </a:p>
        </p:txBody>
      </p:sp>
      <p:sp>
        <p:nvSpPr>
          <p:cNvPr id="9" name="TextBox 8">
            <a:extLst>
              <a:ext uri="{FF2B5EF4-FFF2-40B4-BE49-F238E27FC236}">
                <a16:creationId xmlns:a16="http://schemas.microsoft.com/office/drawing/2014/main" id="{9AD8607B-5026-B5D8-B422-4B5EF26E7D1F}"/>
              </a:ext>
            </a:extLst>
          </p:cNvPr>
          <p:cNvSpPr txBox="1"/>
          <p:nvPr/>
        </p:nvSpPr>
        <p:spPr>
          <a:xfrm>
            <a:off x="8319977" y="3689499"/>
            <a:ext cx="116958" cy="307777"/>
          </a:xfrm>
          <a:prstGeom prst="rect">
            <a:avLst/>
          </a:prstGeom>
          <a:noFill/>
        </p:spPr>
        <p:txBody>
          <a:bodyPr wrap="square" rtlCol="0">
            <a:spAutoFit/>
          </a:bodyPr>
          <a:lstStyle/>
          <a:p>
            <a:r>
              <a:rPr lang="en-GB" sz="1400" dirty="0"/>
              <a:t>3</a:t>
            </a:r>
          </a:p>
        </p:txBody>
      </p:sp>
      <p:sp>
        <p:nvSpPr>
          <p:cNvPr id="10" name="TextBox 9">
            <a:extLst>
              <a:ext uri="{FF2B5EF4-FFF2-40B4-BE49-F238E27FC236}">
                <a16:creationId xmlns:a16="http://schemas.microsoft.com/office/drawing/2014/main" id="{83BDD962-B486-A5BE-46CA-3E68884D9A09}"/>
              </a:ext>
            </a:extLst>
          </p:cNvPr>
          <p:cNvSpPr txBox="1"/>
          <p:nvPr/>
        </p:nvSpPr>
        <p:spPr>
          <a:xfrm flipH="1">
            <a:off x="8275321" y="3987210"/>
            <a:ext cx="262625" cy="307777"/>
          </a:xfrm>
          <a:prstGeom prst="rect">
            <a:avLst/>
          </a:prstGeom>
          <a:noFill/>
        </p:spPr>
        <p:txBody>
          <a:bodyPr wrap="square" rtlCol="0">
            <a:spAutoFit/>
          </a:bodyPr>
          <a:lstStyle/>
          <a:p>
            <a:r>
              <a:rPr lang="en-GB" sz="1400" dirty="0"/>
              <a:t>5</a:t>
            </a:r>
          </a:p>
        </p:txBody>
      </p:sp>
      <p:sp>
        <p:nvSpPr>
          <p:cNvPr id="11" name="TextBox 10">
            <a:extLst>
              <a:ext uri="{FF2B5EF4-FFF2-40B4-BE49-F238E27FC236}">
                <a16:creationId xmlns:a16="http://schemas.microsoft.com/office/drawing/2014/main" id="{D906B751-7989-4813-D3BE-C74359D1171C}"/>
              </a:ext>
            </a:extLst>
          </p:cNvPr>
          <p:cNvSpPr txBox="1"/>
          <p:nvPr/>
        </p:nvSpPr>
        <p:spPr>
          <a:xfrm>
            <a:off x="8415677" y="4523587"/>
            <a:ext cx="186068" cy="307777"/>
          </a:xfrm>
          <a:prstGeom prst="rect">
            <a:avLst/>
          </a:prstGeom>
          <a:noFill/>
        </p:spPr>
        <p:txBody>
          <a:bodyPr wrap="square" rtlCol="0">
            <a:spAutoFit/>
          </a:bodyPr>
          <a:lstStyle/>
          <a:p>
            <a:r>
              <a:rPr lang="en-GB" sz="1400" dirty="0"/>
              <a:t>7</a:t>
            </a:r>
          </a:p>
        </p:txBody>
      </p:sp>
      <p:sp>
        <p:nvSpPr>
          <p:cNvPr id="12" name="TextBox 11">
            <a:extLst>
              <a:ext uri="{FF2B5EF4-FFF2-40B4-BE49-F238E27FC236}">
                <a16:creationId xmlns:a16="http://schemas.microsoft.com/office/drawing/2014/main" id="{876486AD-1636-BD71-B7CA-5637AD2AB3D4}"/>
              </a:ext>
            </a:extLst>
          </p:cNvPr>
          <p:cNvSpPr txBox="1"/>
          <p:nvPr/>
        </p:nvSpPr>
        <p:spPr>
          <a:xfrm>
            <a:off x="7448107" y="4651744"/>
            <a:ext cx="223284" cy="307777"/>
          </a:xfrm>
          <a:prstGeom prst="rect">
            <a:avLst/>
          </a:prstGeom>
          <a:noFill/>
        </p:spPr>
        <p:txBody>
          <a:bodyPr wrap="square" rtlCol="0">
            <a:spAutoFit/>
          </a:bodyPr>
          <a:lstStyle/>
          <a:p>
            <a:r>
              <a:rPr lang="en-GB" sz="1400" dirty="0"/>
              <a:t>6</a:t>
            </a:r>
          </a:p>
        </p:txBody>
      </p:sp>
    </p:spTree>
    <p:extLst>
      <p:ext uri="{BB962C8B-B14F-4D97-AF65-F5344CB8AC3E}">
        <p14:creationId xmlns:p14="http://schemas.microsoft.com/office/powerpoint/2010/main" val="82447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2"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3"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4" name="Rectangle 4"/>
          <p:cNvSpPr>
            <a:spLocks noGrp="1"/>
          </p:cNvSpPr>
          <p:nvPr>
            <p:ph type="title"/>
          </p:nvPr>
        </p:nvSpPr>
        <p:spPr/>
        <p:txBody>
          <a:bodyPr/>
          <a:lstStyle/>
          <a:p>
            <a:r>
              <a:rPr lang="en-GB" altLang="en-US"/>
              <a:t>Types of Market Failure</a:t>
            </a:r>
          </a:p>
        </p:txBody>
      </p:sp>
      <p:sp>
        <p:nvSpPr>
          <p:cNvPr id="373765" name="Rectangle 5"/>
          <p:cNvSpPr>
            <a:spLocks noGrp="1"/>
          </p:cNvSpPr>
          <p:nvPr>
            <p:ph idx="1"/>
          </p:nvPr>
        </p:nvSpPr>
        <p:spPr>
          <a:xfrm>
            <a:off x="402167" y="1422991"/>
            <a:ext cx="11379200" cy="4889500"/>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lnSpcReduction="10000"/>
          </a:bodyPr>
          <a:lstStyle/>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Externalities</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Markets tend to work effectively when the benefits and costs to the consumers and producers directly involved in the transaction are the same as the benefits and costs to society.</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However, this may not always be the case. There may be benefits or costs to people </a:t>
            </a:r>
            <a:r>
              <a:rPr lang="en-GB" altLang="en-US" sz="2000" i="1" dirty="0">
                <a:latin typeface="Calibri" panose="020F0502020204030204" pitchFamily="34" charset="0"/>
                <a:ea typeface="Calibri" panose="020F0502020204030204" pitchFamily="34" charset="0"/>
                <a:cs typeface="Calibri" panose="020F0502020204030204" pitchFamily="34" charset="0"/>
              </a:rPr>
              <a:t>other</a:t>
            </a:r>
            <a:r>
              <a:rPr lang="en-GB" altLang="en-US" sz="2000" dirty="0">
                <a:latin typeface="Calibri" panose="020F0502020204030204" pitchFamily="34" charset="0"/>
                <a:ea typeface="Calibri" panose="020F0502020204030204" pitchFamily="34" charset="0"/>
                <a:cs typeface="Calibri" panose="020F0502020204030204" pitchFamily="34" charset="0"/>
              </a:rPr>
              <a:t> than the consumer or producer.</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If consumption and production </a:t>
            </a:r>
            <a:r>
              <a:rPr lang="en-GB" altLang="en-US" sz="2000" i="1" dirty="0">
                <a:latin typeface="Calibri" panose="020F0502020204030204" pitchFamily="34" charset="0"/>
                <a:ea typeface="Calibri" panose="020F0502020204030204" pitchFamily="34" charset="0"/>
                <a:cs typeface="Calibri" panose="020F0502020204030204" pitchFamily="34" charset="0"/>
              </a:rPr>
              <a:t>do</a:t>
            </a:r>
            <a:r>
              <a:rPr lang="en-GB" altLang="en-US" sz="2000" dirty="0">
                <a:latin typeface="Calibri" panose="020F0502020204030204" pitchFamily="34" charset="0"/>
                <a:ea typeface="Calibri" panose="020F0502020204030204" pitchFamily="34" charset="0"/>
                <a:cs typeface="Calibri" panose="020F0502020204030204" pitchFamily="34" charset="0"/>
              </a:rPr>
              <a:t> affect other people, the marginal social benefit (MSB) will be different from the marginal private benefit (MPB) and/or the marginal social cost (MSC) will be different from the marginal private cost (MPC).</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For e.g., imagine a situation where your consumption of a good (for e.g. using a mobile phone while driving) has either positive or negative impact on the people around you.</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 the phone example, it is the increased risk of an accident for other drivers.</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 other words, there are either </a:t>
            </a:r>
            <a:r>
              <a:rPr lang="en-GB" altLang="en-US" sz="2000" i="1" dirty="0">
                <a:latin typeface="Calibri" panose="020F0502020204030204" pitchFamily="34" charset="0"/>
                <a:ea typeface="Calibri" panose="020F0502020204030204" pitchFamily="34" charset="0"/>
                <a:cs typeface="Calibri" panose="020F0502020204030204" pitchFamily="34" charset="0"/>
              </a:rPr>
              <a:t>external</a:t>
            </a:r>
            <a:r>
              <a:rPr lang="en-GB" altLang="en-US" sz="2000" dirty="0">
                <a:latin typeface="Calibri" panose="020F0502020204030204" pitchFamily="34" charset="0"/>
                <a:ea typeface="Calibri" panose="020F0502020204030204" pitchFamily="34" charset="0"/>
                <a:cs typeface="Calibri" panose="020F0502020204030204" pitchFamily="34" charset="0"/>
              </a:rPr>
              <a:t> costs or benefits of your actions.</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Here, the full benefit to society from your consumption of the good are different from the private benefits that you receive.</a:t>
            </a:r>
          </a:p>
          <a:p>
            <a:pPr lvl="1">
              <a:lnSpc>
                <a:spcPct val="100000"/>
              </a:lnSpc>
              <a:spcBef>
                <a:spcPct val="40000"/>
              </a:spcBef>
            </a:pPr>
            <a:endParaRPr lang="en-GB" altLang="en-US" sz="2000" dirty="0"/>
          </a:p>
        </p:txBody>
      </p:sp>
    </p:spTree>
    <p:extLst>
      <p:ext uri="{BB962C8B-B14F-4D97-AF65-F5344CB8AC3E}">
        <p14:creationId xmlns:p14="http://schemas.microsoft.com/office/powerpoint/2010/main" val="32568177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3765">
                                            <p:txEl>
                                              <p:pRg st="0" end="0"/>
                                            </p:txEl>
                                          </p:spTgt>
                                        </p:tgtEl>
                                        <p:attrNameLst>
                                          <p:attrName>style.visibility</p:attrName>
                                        </p:attrNameLst>
                                      </p:cBhvr>
                                      <p:to>
                                        <p:strVal val="visible"/>
                                      </p:to>
                                    </p:set>
                                    <p:anim calcmode="lin" valueType="num">
                                      <p:cBhvr additive="base">
                                        <p:cTn id="7" dur="500"/>
                                        <p:tgtEl>
                                          <p:spTgt spid="37376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376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3765">
                                            <p:txEl>
                                              <p:pRg st="1" end="1"/>
                                            </p:txEl>
                                          </p:spTgt>
                                        </p:tgtEl>
                                        <p:attrNameLst>
                                          <p:attrName>style.visibility</p:attrName>
                                        </p:attrNameLst>
                                      </p:cBhvr>
                                      <p:to>
                                        <p:strVal val="visible"/>
                                      </p:to>
                                    </p:set>
                                    <p:anim calcmode="lin" valueType="num">
                                      <p:cBhvr additive="base">
                                        <p:cTn id="13" dur="500"/>
                                        <p:tgtEl>
                                          <p:spTgt spid="37376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376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3765">
                                            <p:txEl>
                                              <p:pRg st="2" end="2"/>
                                            </p:txEl>
                                          </p:spTgt>
                                        </p:tgtEl>
                                        <p:attrNameLst>
                                          <p:attrName>style.visibility</p:attrName>
                                        </p:attrNameLst>
                                      </p:cBhvr>
                                      <p:to>
                                        <p:strVal val="visible"/>
                                      </p:to>
                                    </p:set>
                                    <p:anim calcmode="lin" valueType="num">
                                      <p:cBhvr additive="base">
                                        <p:cTn id="19" dur="500"/>
                                        <p:tgtEl>
                                          <p:spTgt spid="37376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376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3765">
                                            <p:txEl>
                                              <p:pRg st="3" end="3"/>
                                            </p:txEl>
                                          </p:spTgt>
                                        </p:tgtEl>
                                        <p:attrNameLst>
                                          <p:attrName>style.visibility</p:attrName>
                                        </p:attrNameLst>
                                      </p:cBhvr>
                                      <p:to>
                                        <p:strVal val="visible"/>
                                      </p:to>
                                    </p:set>
                                    <p:anim calcmode="lin" valueType="num">
                                      <p:cBhvr additive="base">
                                        <p:cTn id="25" dur="500"/>
                                        <p:tgtEl>
                                          <p:spTgt spid="37376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376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3765">
                                            <p:txEl>
                                              <p:pRg st="4" end="4"/>
                                            </p:txEl>
                                          </p:spTgt>
                                        </p:tgtEl>
                                        <p:attrNameLst>
                                          <p:attrName>style.visibility</p:attrName>
                                        </p:attrNameLst>
                                      </p:cBhvr>
                                      <p:to>
                                        <p:strVal val="visible"/>
                                      </p:to>
                                    </p:set>
                                    <p:anim calcmode="lin" valueType="num">
                                      <p:cBhvr additive="base">
                                        <p:cTn id="31" dur="500"/>
                                        <p:tgtEl>
                                          <p:spTgt spid="373765">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376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3765">
                                            <p:txEl>
                                              <p:pRg st="5" end="5"/>
                                            </p:txEl>
                                          </p:spTgt>
                                        </p:tgtEl>
                                        <p:attrNameLst>
                                          <p:attrName>style.visibility</p:attrName>
                                        </p:attrNameLst>
                                      </p:cBhvr>
                                      <p:to>
                                        <p:strVal val="visible"/>
                                      </p:to>
                                    </p:set>
                                    <p:anim calcmode="lin" valueType="num">
                                      <p:cBhvr additive="base">
                                        <p:cTn id="37" dur="500"/>
                                        <p:tgtEl>
                                          <p:spTgt spid="373765">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376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3765">
                                            <p:txEl>
                                              <p:pRg st="6" end="6"/>
                                            </p:txEl>
                                          </p:spTgt>
                                        </p:tgtEl>
                                        <p:attrNameLst>
                                          <p:attrName>style.visibility</p:attrName>
                                        </p:attrNameLst>
                                      </p:cBhvr>
                                      <p:to>
                                        <p:strVal val="visible"/>
                                      </p:to>
                                    </p:set>
                                    <p:anim calcmode="lin" valueType="num">
                                      <p:cBhvr additive="base">
                                        <p:cTn id="43" dur="500"/>
                                        <p:tgtEl>
                                          <p:spTgt spid="373765">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3765">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3765">
                                            <p:txEl>
                                              <p:pRg st="7" end="7"/>
                                            </p:txEl>
                                          </p:spTgt>
                                        </p:tgtEl>
                                        <p:attrNameLst>
                                          <p:attrName>style.visibility</p:attrName>
                                        </p:attrNameLst>
                                      </p:cBhvr>
                                      <p:to>
                                        <p:strVal val="visible"/>
                                      </p:to>
                                    </p:set>
                                    <p:anim calcmode="lin" valueType="num">
                                      <p:cBhvr additive="base">
                                        <p:cTn id="49" dur="500"/>
                                        <p:tgtEl>
                                          <p:spTgt spid="373765">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376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2"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3"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4" name="Rectangle 4"/>
          <p:cNvSpPr>
            <a:spLocks noGrp="1"/>
          </p:cNvSpPr>
          <p:nvPr>
            <p:ph type="title"/>
          </p:nvPr>
        </p:nvSpPr>
        <p:spPr/>
        <p:txBody>
          <a:bodyPr/>
          <a:lstStyle/>
          <a:p>
            <a:r>
              <a:rPr lang="en-GB" altLang="en-US"/>
              <a:t>Types of Market Failure</a:t>
            </a:r>
          </a:p>
        </p:txBody>
      </p:sp>
      <p:sp>
        <p:nvSpPr>
          <p:cNvPr id="373765" name="Rectangle 5"/>
          <p:cNvSpPr>
            <a:spLocks noGrp="1"/>
          </p:cNvSpPr>
          <p:nvPr>
            <p:ph idx="1"/>
          </p:nvPr>
        </p:nvSpPr>
        <p:spPr>
          <a:xfrm>
            <a:off x="402167" y="1343249"/>
            <a:ext cx="11379200" cy="4889500"/>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Externalities (cont.)</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These external or ‘third-party’ effects from consumption are called </a:t>
            </a:r>
            <a:r>
              <a:rPr lang="en-GB" altLang="en-US" sz="2000" b="1" i="1" dirty="0">
                <a:latin typeface="Calibri" panose="020F0502020204030204" pitchFamily="34" charset="0"/>
                <a:ea typeface="Calibri" panose="020F0502020204030204" pitchFamily="34" charset="0"/>
                <a:cs typeface="Calibri" panose="020F0502020204030204" pitchFamily="34" charset="0"/>
              </a:rPr>
              <a:t>consumption externalities.</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When we add consumption externalities to private benefits we get </a:t>
            </a:r>
            <a:r>
              <a:rPr lang="en-GB" altLang="en-US" sz="2000" b="1" i="1" dirty="0">
                <a:latin typeface="Calibri" panose="020F0502020204030204" pitchFamily="34" charset="0"/>
                <a:ea typeface="Calibri" panose="020F0502020204030204" pitchFamily="34" charset="0"/>
                <a:cs typeface="Calibri" panose="020F0502020204030204" pitchFamily="34" charset="0"/>
              </a:rPr>
              <a:t>social benefits</a:t>
            </a:r>
            <a:r>
              <a:rPr lang="en-GB" altLang="en-US" sz="2000" dirty="0">
                <a:latin typeface="Calibri" panose="020F0502020204030204" pitchFamily="34" charset="0"/>
                <a:ea typeface="Calibri" panose="020F0502020204030204" pitchFamily="34" charset="0"/>
                <a:cs typeface="Calibri" panose="020F0502020204030204" pitchFamily="34" charset="0"/>
              </a:rPr>
              <a:t>.</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Now imagine that you are the owner of a firm. Each unit you produce generates costs or benefits that are experienced by your firm.</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However, production may also generate benefits or costs for other people.</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Again, there are external benefits or costs, but this time from the firm’s actions. </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full costs or benefits to society from the production of the good are, in this case, different from the private costs borne by the firm.</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These external effects of production are called </a:t>
            </a:r>
            <a:r>
              <a:rPr lang="en-GB" altLang="en-US" sz="2000" b="1" i="1" dirty="0">
                <a:latin typeface="Calibri" panose="020F0502020204030204" pitchFamily="34" charset="0"/>
                <a:ea typeface="Calibri" panose="020F0502020204030204" pitchFamily="34" charset="0"/>
                <a:cs typeface="Calibri" panose="020F0502020204030204" pitchFamily="34" charset="0"/>
              </a:rPr>
              <a:t>production externalities</a:t>
            </a:r>
            <a:r>
              <a:rPr lang="en-GB" altLang="en-US" sz="2000" dirty="0">
                <a:latin typeface="Calibri" panose="020F0502020204030204" pitchFamily="34" charset="0"/>
                <a:ea typeface="Calibri" panose="020F0502020204030204" pitchFamily="34" charset="0"/>
                <a:cs typeface="Calibri" panose="020F0502020204030204" pitchFamily="34" charset="0"/>
              </a:rPr>
              <a:t>. </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When we add production externalities to private costs we get </a:t>
            </a:r>
            <a:r>
              <a:rPr lang="en-GB" altLang="en-US" sz="2000" b="1" i="1" dirty="0">
                <a:latin typeface="Calibri" panose="020F0502020204030204" pitchFamily="34" charset="0"/>
                <a:ea typeface="Calibri" panose="020F0502020204030204" pitchFamily="34" charset="0"/>
                <a:cs typeface="Calibri" panose="020F0502020204030204" pitchFamily="34" charset="0"/>
              </a:rPr>
              <a:t>social costs</a:t>
            </a:r>
            <a:r>
              <a:rPr lang="en-GB" altLang="en-US" sz="2000" dirty="0">
                <a:latin typeface="Calibri" panose="020F0502020204030204" pitchFamily="34" charset="0"/>
                <a:ea typeface="Calibri" panose="020F0502020204030204" pitchFamily="34" charset="0"/>
                <a:cs typeface="Calibri" panose="020F0502020204030204" pitchFamily="34" charset="0"/>
              </a:rPr>
              <a:t>.</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 a market environment, without government intervention, where everyone is acting purely in their own interests, these external costs and benefits will not be taken in to account.</a:t>
            </a:r>
          </a:p>
        </p:txBody>
      </p:sp>
    </p:spTree>
    <p:extLst>
      <p:ext uri="{BB962C8B-B14F-4D97-AF65-F5344CB8AC3E}">
        <p14:creationId xmlns:p14="http://schemas.microsoft.com/office/powerpoint/2010/main" val="1201867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3765">
                                            <p:txEl>
                                              <p:pRg st="0" end="0"/>
                                            </p:txEl>
                                          </p:spTgt>
                                        </p:tgtEl>
                                        <p:attrNameLst>
                                          <p:attrName>style.visibility</p:attrName>
                                        </p:attrNameLst>
                                      </p:cBhvr>
                                      <p:to>
                                        <p:strVal val="visible"/>
                                      </p:to>
                                    </p:set>
                                    <p:anim calcmode="lin" valueType="num">
                                      <p:cBhvr additive="base">
                                        <p:cTn id="7" dur="500"/>
                                        <p:tgtEl>
                                          <p:spTgt spid="37376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376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3765">
                                            <p:txEl>
                                              <p:pRg st="1" end="1"/>
                                            </p:txEl>
                                          </p:spTgt>
                                        </p:tgtEl>
                                        <p:attrNameLst>
                                          <p:attrName>style.visibility</p:attrName>
                                        </p:attrNameLst>
                                      </p:cBhvr>
                                      <p:to>
                                        <p:strVal val="visible"/>
                                      </p:to>
                                    </p:set>
                                    <p:anim calcmode="lin" valueType="num">
                                      <p:cBhvr additive="base">
                                        <p:cTn id="13" dur="500"/>
                                        <p:tgtEl>
                                          <p:spTgt spid="37376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376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3765">
                                            <p:txEl>
                                              <p:pRg st="2" end="2"/>
                                            </p:txEl>
                                          </p:spTgt>
                                        </p:tgtEl>
                                        <p:attrNameLst>
                                          <p:attrName>style.visibility</p:attrName>
                                        </p:attrNameLst>
                                      </p:cBhvr>
                                      <p:to>
                                        <p:strVal val="visible"/>
                                      </p:to>
                                    </p:set>
                                    <p:anim calcmode="lin" valueType="num">
                                      <p:cBhvr additive="base">
                                        <p:cTn id="19" dur="500"/>
                                        <p:tgtEl>
                                          <p:spTgt spid="37376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376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3765">
                                            <p:txEl>
                                              <p:pRg st="3" end="3"/>
                                            </p:txEl>
                                          </p:spTgt>
                                        </p:tgtEl>
                                        <p:attrNameLst>
                                          <p:attrName>style.visibility</p:attrName>
                                        </p:attrNameLst>
                                      </p:cBhvr>
                                      <p:to>
                                        <p:strVal val="visible"/>
                                      </p:to>
                                    </p:set>
                                    <p:anim calcmode="lin" valueType="num">
                                      <p:cBhvr additive="base">
                                        <p:cTn id="25" dur="500"/>
                                        <p:tgtEl>
                                          <p:spTgt spid="37376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376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3765">
                                            <p:txEl>
                                              <p:pRg st="4" end="4"/>
                                            </p:txEl>
                                          </p:spTgt>
                                        </p:tgtEl>
                                        <p:attrNameLst>
                                          <p:attrName>style.visibility</p:attrName>
                                        </p:attrNameLst>
                                      </p:cBhvr>
                                      <p:to>
                                        <p:strVal val="visible"/>
                                      </p:to>
                                    </p:set>
                                    <p:anim calcmode="lin" valueType="num">
                                      <p:cBhvr additive="base">
                                        <p:cTn id="31" dur="500"/>
                                        <p:tgtEl>
                                          <p:spTgt spid="373765">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376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3765">
                                            <p:txEl>
                                              <p:pRg st="5" end="5"/>
                                            </p:txEl>
                                          </p:spTgt>
                                        </p:tgtEl>
                                        <p:attrNameLst>
                                          <p:attrName>style.visibility</p:attrName>
                                        </p:attrNameLst>
                                      </p:cBhvr>
                                      <p:to>
                                        <p:strVal val="visible"/>
                                      </p:to>
                                    </p:set>
                                    <p:anim calcmode="lin" valueType="num">
                                      <p:cBhvr additive="base">
                                        <p:cTn id="37" dur="500"/>
                                        <p:tgtEl>
                                          <p:spTgt spid="373765">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376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3765">
                                            <p:txEl>
                                              <p:pRg st="6" end="6"/>
                                            </p:txEl>
                                          </p:spTgt>
                                        </p:tgtEl>
                                        <p:attrNameLst>
                                          <p:attrName>style.visibility</p:attrName>
                                        </p:attrNameLst>
                                      </p:cBhvr>
                                      <p:to>
                                        <p:strVal val="visible"/>
                                      </p:to>
                                    </p:set>
                                    <p:anim calcmode="lin" valueType="num">
                                      <p:cBhvr additive="base">
                                        <p:cTn id="43" dur="500"/>
                                        <p:tgtEl>
                                          <p:spTgt spid="373765">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3765">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3765">
                                            <p:txEl>
                                              <p:pRg st="7" end="7"/>
                                            </p:txEl>
                                          </p:spTgt>
                                        </p:tgtEl>
                                        <p:attrNameLst>
                                          <p:attrName>style.visibility</p:attrName>
                                        </p:attrNameLst>
                                      </p:cBhvr>
                                      <p:to>
                                        <p:strVal val="visible"/>
                                      </p:to>
                                    </p:set>
                                    <p:anim calcmode="lin" valueType="num">
                                      <p:cBhvr additive="base">
                                        <p:cTn id="49" dur="500"/>
                                        <p:tgtEl>
                                          <p:spTgt spid="373765">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3765">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73765">
                                            <p:txEl>
                                              <p:pRg st="8" end="8"/>
                                            </p:txEl>
                                          </p:spTgt>
                                        </p:tgtEl>
                                        <p:attrNameLst>
                                          <p:attrName>style.visibility</p:attrName>
                                        </p:attrNameLst>
                                      </p:cBhvr>
                                      <p:to>
                                        <p:strVal val="visible"/>
                                      </p:to>
                                    </p:set>
                                    <p:anim calcmode="lin" valueType="num">
                                      <p:cBhvr additive="base">
                                        <p:cTn id="55" dur="500"/>
                                        <p:tgtEl>
                                          <p:spTgt spid="373765">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73765">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73765">
                                            <p:txEl>
                                              <p:pRg st="9" end="9"/>
                                            </p:txEl>
                                          </p:spTgt>
                                        </p:tgtEl>
                                        <p:attrNameLst>
                                          <p:attrName>style.visibility</p:attrName>
                                        </p:attrNameLst>
                                      </p:cBhvr>
                                      <p:to>
                                        <p:strVal val="visible"/>
                                      </p:to>
                                    </p:set>
                                    <p:anim calcmode="lin" valueType="num">
                                      <p:cBhvr additive="base">
                                        <p:cTn id="61" dur="500"/>
                                        <p:tgtEl>
                                          <p:spTgt spid="373765">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7376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2"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3"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4" name="Rectangle 4"/>
          <p:cNvSpPr>
            <a:spLocks noGrp="1"/>
          </p:cNvSpPr>
          <p:nvPr>
            <p:ph type="title"/>
          </p:nvPr>
        </p:nvSpPr>
        <p:spPr/>
        <p:txBody>
          <a:bodyPr/>
          <a:lstStyle/>
          <a:p>
            <a:r>
              <a:rPr lang="en-GB" altLang="en-US"/>
              <a:t>Types of Market Failure</a:t>
            </a:r>
          </a:p>
        </p:txBody>
      </p:sp>
      <p:sp>
        <p:nvSpPr>
          <p:cNvPr id="373765" name="Rectangle 5"/>
          <p:cNvSpPr>
            <a:spLocks noGrp="1"/>
          </p:cNvSpPr>
          <p:nvPr>
            <p:ph idx="1"/>
          </p:nvPr>
        </p:nvSpPr>
        <p:spPr>
          <a:xfrm>
            <a:off x="402167" y="1401727"/>
            <a:ext cx="11379200" cy="4889500"/>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lnSpcReduction="10000"/>
          </a:bodyPr>
          <a:lstStyle/>
          <a:p>
            <a:pPr>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Externalities (cont.)</a:t>
            </a:r>
          </a:p>
          <a:p>
            <a:pPr lvl="1">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We will now consider four different types of externality. Each one will be considered in isolation, although it would be possible to have more than one in any particular market.</a:t>
            </a:r>
          </a:p>
          <a:p>
            <a:pPr lvl="1">
              <a:lnSpc>
                <a:spcPct val="100000"/>
              </a:lnSpc>
              <a:spcBef>
                <a:spcPts val="12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External costs of production (</a:t>
            </a:r>
            <a:r>
              <a:rPr lang="en-GB" altLang="en-US" sz="2000" b="1" i="1" dirty="0">
                <a:latin typeface="Calibri" panose="020F0502020204030204" pitchFamily="34" charset="0"/>
                <a:ea typeface="Calibri" panose="020F0502020204030204" pitchFamily="34" charset="0"/>
                <a:cs typeface="Calibri" panose="020F0502020204030204" pitchFamily="34" charset="0"/>
              </a:rPr>
              <a:t>MEC</a:t>
            </a:r>
            <a:r>
              <a:rPr lang="en-GB" altLang="en-US" sz="2000" b="1" baseline="-25000" dirty="0">
                <a:latin typeface="Calibri" panose="020F0502020204030204" pitchFamily="34" charset="0"/>
                <a:ea typeface="Calibri" panose="020F0502020204030204" pitchFamily="34" charset="0"/>
                <a:cs typeface="Calibri" panose="020F0502020204030204" pitchFamily="34" charset="0"/>
              </a:rPr>
              <a:t>P</a:t>
            </a:r>
            <a:r>
              <a:rPr lang="en-GB" altLang="en-US" sz="2000" b="1" dirty="0">
                <a:latin typeface="Calibri" panose="020F0502020204030204" pitchFamily="34" charset="0"/>
                <a:ea typeface="Calibri" panose="020F0502020204030204" pitchFamily="34" charset="0"/>
                <a:cs typeface="Calibri" panose="020F0502020204030204" pitchFamily="34" charset="0"/>
              </a:rPr>
              <a:t>)</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For e.g., when firms in the chemical industry dump waste in a river or pollute the air</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MSC of chemical production = MPC + MEC</a:t>
            </a:r>
            <a:r>
              <a:rPr lang="en-GB" altLang="en-US" sz="2000" baseline="-25000" dirty="0">
                <a:latin typeface="Calibri" panose="020F0502020204030204" pitchFamily="34" charset="0"/>
                <a:ea typeface="Calibri" panose="020F0502020204030204" pitchFamily="34" charset="0"/>
                <a:cs typeface="Calibri" panose="020F0502020204030204" pitchFamily="34" charset="0"/>
              </a:rPr>
              <a:t>P</a:t>
            </a:r>
            <a:r>
              <a:rPr lang="en-GB" altLang="en-US" sz="2000" dirty="0">
                <a:latin typeface="Calibri" panose="020F0502020204030204" pitchFamily="34" charset="0"/>
                <a:ea typeface="Calibri" panose="020F0502020204030204" pitchFamily="34" charset="0"/>
                <a:cs typeface="Calibri" panose="020F0502020204030204" pitchFamily="34" charset="0"/>
              </a:rPr>
              <a:t>. </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Competitive market forces will lead to an equilibrium at point </a:t>
            </a:r>
            <a:r>
              <a:rPr lang="en-GB" altLang="en-US" sz="2000" i="1" dirty="0">
                <a:latin typeface="Calibri" panose="020F0502020204030204" pitchFamily="34" charset="0"/>
                <a:ea typeface="Calibri" panose="020F0502020204030204" pitchFamily="34" charset="0"/>
                <a:cs typeface="Calibri" panose="020F0502020204030204" pitchFamily="34" charset="0"/>
              </a:rPr>
              <a:t>a</a:t>
            </a:r>
            <a:r>
              <a:rPr lang="en-GB" altLang="en-US" sz="2000" dirty="0">
                <a:latin typeface="Calibri" panose="020F0502020204030204" pitchFamily="34" charset="0"/>
                <a:ea typeface="Calibri" panose="020F0502020204030204" pitchFamily="34" charset="0"/>
                <a:cs typeface="Calibri" panose="020F0502020204030204" pitchFamily="34" charset="0"/>
              </a:rPr>
              <a:t>, where demand (MPB) = supply (MPC) </a:t>
            </a:r>
          </a:p>
          <a:p>
            <a:pPr lvl="2">
              <a:lnSpc>
                <a:spcPct val="100000"/>
              </a:lnSpc>
              <a:spcBef>
                <a:spcPts val="1200"/>
              </a:spcBef>
            </a:pPr>
            <a:r>
              <a:rPr lang="en-GB" altLang="en-US" sz="2000" b="1" i="1" dirty="0">
                <a:latin typeface="Calibri" panose="020F0502020204030204" pitchFamily="34" charset="0"/>
                <a:ea typeface="Calibri" panose="020F0502020204030204" pitchFamily="34" charset="0"/>
                <a:cs typeface="Calibri" panose="020F0502020204030204" pitchFamily="34" charset="0"/>
              </a:rPr>
              <a:t>MSC &gt; MPC</a:t>
            </a:r>
            <a:r>
              <a:rPr lang="en-GB" altLang="en-US" sz="2000" i="1" dirty="0">
                <a:latin typeface="Calibri" panose="020F0502020204030204" pitchFamily="34" charset="0"/>
                <a:ea typeface="Calibri" panose="020F0502020204030204" pitchFamily="34" charset="0"/>
                <a:cs typeface="Calibri" panose="020F0502020204030204" pitchFamily="34" charset="0"/>
              </a:rPr>
              <a:t>: Q</a:t>
            </a:r>
            <a:r>
              <a:rPr lang="en-GB" altLang="en-US" sz="2000" baseline="-25000" dirty="0">
                <a:latin typeface="Calibri" panose="020F0502020204030204" pitchFamily="34" charset="0"/>
                <a:ea typeface="Calibri" panose="020F0502020204030204" pitchFamily="34" charset="0"/>
                <a:cs typeface="Calibri" panose="020F0502020204030204" pitchFamily="34" charset="0"/>
              </a:rPr>
              <a:t>PC</a:t>
            </a:r>
            <a:r>
              <a:rPr lang="en-GB" altLang="en-US" sz="2000" i="1" dirty="0">
                <a:latin typeface="Calibri" panose="020F0502020204030204" pitchFamily="34" charset="0"/>
                <a:ea typeface="Calibri" panose="020F0502020204030204" pitchFamily="34" charset="0"/>
                <a:cs typeface="Calibri" panose="020F0502020204030204" pitchFamily="34" charset="0"/>
              </a:rPr>
              <a:t> &gt; Q*</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External costs of production in a perfectly competitive market result in overproduction, i.e. </a:t>
            </a:r>
            <a:r>
              <a:rPr lang="en-GB" altLang="en-US" sz="2000" dirty="0" err="1">
                <a:latin typeface="Calibri" panose="020F0502020204030204" pitchFamily="34" charset="0"/>
                <a:ea typeface="Calibri" panose="020F0502020204030204" pitchFamily="34" charset="0"/>
                <a:cs typeface="Calibri" panose="020F0502020204030204" pitchFamily="34" charset="0"/>
              </a:rPr>
              <a:t>Q</a:t>
            </a:r>
            <a:r>
              <a:rPr lang="en-GB" altLang="en-US" sz="2000" baseline="-25000" dirty="0" err="1">
                <a:latin typeface="Calibri" panose="020F0502020204030204" pitchFamily="34" charset="0"/>
                <a:ea typeface="Calibri" panose="020F0502020204030204" pitchFamily="34" charset="0"/>
                <a:cs typeface="Calibri" panose="020F0502020204030204" pitchFamily="34" charset="0"/>
              </a:rPr>
              <a:t>pc</a:t>
            </a:r>
            <a:r>
              <a:rPr lang="en-GB" altLang="en-US" sz="2000" dirty="0">
                <a:latin typeface="Calibri" panose="020F0502020204030204" pitchFamily="34" charset="0"/>
                <a:ea typeface="Calibri" panose="020F0502020204030204" pitchFamily="34" charset="0"/>
                <a:cs typeface="Calibri" panose="020F0502020204030204" pitchFamily="34" charset="0"/>
              </a:rPr>
              <a:t> &gt; Q*. From society’s point of view, too much waste is being dumped in rivers.</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‘Missing market’ – no one has legal ownership of factors such as the air or rivers.</a:t>
            </a:r>
          </a:p>
          <a:p>
            <a:pPr lvl="2">
              <a:lnSpc>
                <a:spcPct val="100000"/>
              </a:lnSpc>
              <a:spcBef>
                <a:spcPct val="0"/>
              </a:spcBef>
              <a:buFont typeface="Wingdings 2" panose="05020102010507070707" pitchFamily="18" charset="2"/>
              <a:buNone/>
            </a:pPr>
            <a:endParaRPr lang="en-GB" altLang="en-US" sz="2000" dirty="0"/>
          </a:p>
        </p:txBody>
      </p:sp>
    </p:spTree>
    <p:extLst>
      <p:ext uri="{BB962C8B-B14F-4D97-AF65-F5344CB8AC3E}">
        <p14:creationId xmlns:p14="http://schemas.microsoft.com/office/powerpoint/2010/main" val="18748677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3765">
                                            <p:txEl>
                                              <p:pRg st="0" end="0"/>
                                            </p:txEl>
                                          </p:spTgt>
                                        </p:tgtEl>
                                        <p:attrNameLst>
                                          <p:attrName>style.visibility</p:attrName>
                                        </p:attrNameLst>
                                      </p:cBhvr>
                                      <p:to>
                                        <p:strVal val="visible"/>
                                      </p:to>
                                    </p:set>
                                    <p:anim calcmode="lin" valueType="num">
                                      <p:cBhvr additive="base">
                                        <p:cTn id="7" dur="500"/>
                                        <p:tgtEl>
                                          <p:spTgt spid="37376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376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3765">
                                            <p:txEl>
                                              <p:pRg st="1" end="1"/>
                                            </p:txEl>
                                          </p:spTgt>
                                        </p:tgtEl>
                                        <p:attrNameLst>
                                          <p:attrName>style.visibility</p:attrName>
                                        </p:attrNameLst>
                                      </p:cBhvr>
                                      <p:to>
                                        <p:strVal val="visible"/>
                                      </p:to>
                                    </p:set>
                                    <p:anim calcmode="lin" valueType="num">
                                      <p:cBhvr additive="base">
                                        <p:cTn id="13" dur="500"/>
                                        <p:tgtEl>
                                          <p:spTgt spid="37376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3765">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3765">
                                            <p:txEl>
                                              <p:pRg st="2" end="2"/>
                                            </p:txEl>
                                          </p:spTgt>
                                        </p:tgtEl>
                                        <p:attrNameLst>
                                          <p:attrName>style.visibility</p:attrName>
                                        </p:attrNameLst>
                                      </p:cBhvr>
                                      <p:to>
                                        <p:strVal val="visible"/>
                                      </p:to>
                                    </p:set>
                                    <p:anim calcmode="lin" valueType="num">
                                      <p:cBhvr additive="base">
                                        <p:cTn id="19" dur="500"/>
                                        <p:tgtEl>
                                          <p:spTgt spid="37376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3765">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73765">
                                            <p:txEl>
                                              <p:pRg st="3" end="3"/>
                                            </p:txEl>
                                          </p:spTgt>
                                        </p:tgtEl>
                                        <p:attrNameLst>
                                          <p:attrName>style.visibility</p:attrName>
                                        </p:attrNameLst>
                                      </p:cBhvr>
                                      <p:to>
                                        <p:strVal val="visible"/>
                                      </p:to>
                                    </p:set>
                                    <p:anim calcmode="lin" valueType="num">
                                      <p:cBhvr additive="base">
                                        <p:cTn id="23" dur="500"/>
                                        <p:tgtEl>
                                          <p:spTgt spid="373765">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73765">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373765">
                                            <p:txEl>
                                              <p:pRg st="4" end="4"/>
                                            </p:txEl>
                                          </p:spTgt>
                                        </p:tgtEl>
                                        <p:attrNameLst>
                                          <p:attrName>style.visibility</p:attrName>
                                        </p:attrNameLst>
                                      </p:cBhvr>
                                      <p:to>
                                        <p:strVal val="visible"/>
                                      </p:to>
                                    </p:set>
                                    <p:anim calcmode="lin" valueType="num">
                                      <p:cBhvr additive="base">
                                        <p:cTn id="27" dur="500"/>
                                        <p:tgtEl>
                                          <p:spTgt spid="373765">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73765">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373765">
                                            <p:txEl>
                                              <p:pRg st="5" end="5"/>
                                            </p:txEl>
                                          </p:spTgt>
                                        </p:tgtEl>
                                        <p:attrNameLst>
                                          <p:attrName>style.visibility</p:attrName>
                                        </p:attrNameLst>
                                      </p:cBhvr>
                                      <p:to>
                                        <p:strVal val="visible"/>
                                      </p:to>
                                    </p:set>
                                    <p:anim calcmode="lin" valueType="num">
                                      <p:cBhvr additive="base">
                                        <p:cTn id="31" dur="500"/>
                                        <p:tgtEl>
                                          <p:spTgt spid="37376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3765">
                                            <p:txEl>
                                              <p:pRg st="5" end="5"/>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373765">
                                            <p:txEl>
                                              <p:pRg st="6" end="6"/>
                                            </p:txEl>
                                          </p:spTgt>
                                        </p:tgtEl>
                                        <p:attrNameLst>
                                          <p:attrName>style.visibility</p:attrName>
                                        </p:attrNameLst>
                                      </p:cBhvr>
                                      <p:to>
                                        <p:strVal val="visible"/>
                                      </p:to>
                                    </p:set>
                                    <p:anim calcmode="lin" valueType="num">
                                      <p:cBhvr additive="base">
                                        <p:cTn id="35" dur="500"/>
                                        <p:tgtEl>
                                          <p:spTgt spid="373765">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73765">
                                            <p:txEl>
                                              <p:pRg st="6" end="6"/>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373765">
                                            <p:txEl>
                                              <p:pRg st="7" end="7"/>
                                            </p:txEl>
                                          </p:spTgt>
                                        </p:tgtEl>
                                        <p:attrNameLst>
                                          <p:attrName>style.visibility</p:attrName>
                                        </p:attrNameLst>
                                      </p:cBhvr>
                                      <p:to>
                                        <p:strVal val="visible"/>
                                      </p:to>
                                    </p:set>
                                    <p:anim calcmode="lin" valueType="num">
                                      <p:cBhvr additive="base">
                                        <p:cTn id="39" dur="500"/>
                                        <p:tgtEl>
                                          <p:spTgt spid="373765">
                                            <p:txEl>
                                              <p:pRg st="7" end="7"/>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73765">
                                            <p:txEl>
                                              <p:pRg st="7" end="7"/>
                                            </p:tx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373765">
                                            <p:txEl>
                                              <p:pRg st="8" end="8"/>
                                            </p:txEl>
                                          </p:spTgt>
                                        </p:tgtEl>
                                        <p:attrNameLst>
                                          <p:attrName>style.visibility</p:attrName>
                                        </p:attrNameLst>
                                      </p:cBhvr>
                                      <p:to>
                                        <p:strVal val="visible"/>
                                      </p:to>
                                    </p:set>
                                    <p:anim calcmode="lin" valueType="num">
                                      <p:cBhvr additive="base">
                                        <p:cTn id="43" dur="500"/>
                                        <p:tgtEl>
                                          <p:spTgt spid="373765">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376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2"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3"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4" name="Rectangle 4"/>
          <p:cNvSpPr>
            <a:spLocks noGrp="1"/>
          </p:cNvSpPr>
          <p:nvPr>
            <p:ph type="title"/>
          </p:nvPr>
        </p:nvSpPr>
        <p:spPr/>
        <p:txBody>
          <a:bodyPr/>
          <a:lstStyle/>
          <a:p>
            <a:r>
              <a:rPr lang="en-GB" altLang="en-US"/>
              <a:t>Types of Market Failure</a:t>
            </a:r>
          </a:p>
        </p:txBody>
      </p:sp>
      <p:sp>
        <p:nvSpPr>
          <p:cNvPr id="373765" name="Rectangle 5"/>
          <p:cNvSpPr>
            <a:spLocks noGrp="1"/>
          </p:cNvSpPr>
          <p:nvPr>
            <p:ph idx="1"/>
          </p:nvPr>
        </p:nvSpPr>
        <p:spPr>
          <a:xfrm>
            <a:off x="317107" y="1513367"/>
            <a:ext cx="11379200" cy="4889500"/>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Externalities (cont.)</a:t>
            </a:r>
          </a:p>
          <a:p>
            <a:pPr lvl="1">
              <a:lnSpc>
                <a:spcPct val="100000"/>
              </a:lnSpc>
              <a:spcBef>
                <a:spcPts val="12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External benefits of production (</a:t>
            </a:r>
            <a:r>
              <a:rPr lang="en-GB" altLang="en-US" sz="2000" b="1" i="1" dirty="0">
                <a:latin typeface="Calibri" panose="020F0502020204030204" pitchFamily="34" charset="0"/>
                <a:ea typeface="Calibri" panose="020F0502020204030204" pitchFamily="34" charset="0"/>
                <a:cs typeface="Calibri" panose="020F0502020204030204" pitchFamily="34" charset="0"/>
              </a:rPr>
              <a:t>MEB</a:t>
            </a:r>
            <a:r>
              <a:rPr lang="en-GB" altLang="en-US" sz="2000" b="1" baseline="-25000" dirty="0">
                <a:latin typeface="Calibri" panose="020F0502020204030204" pitchFamily="34" charset="0"/>
                <a:ea typeface="Calibri" panose="020F0502020204030204" pitchFamily="34" charset="0"/>
                <a:cs typeface="Calibri" panose="020F0502020204030204" pitchFamily="34" charset="0"/>
              </a:rPr>
              <a:t>P</a:t>
            </a:r>
            <a:r>
              <a:rPr lang="en-GB" altLang="en-US" sz="2000" b="1" dirty="0">
                <a:latin typeface="Calibri" panose="020F0502020204030204" pitchFamily="34" charset="0"/>
                <a:ea typeface="Calibri" panose="020F0502020204030204" pitchFamily="34" charset="0"/>
                <a:cs typeface="Calibri" panose="020F0502020204030204" pitchFamily="34" charset="0"/>
              </a:rPr>
              <a:t>)</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If companies in the forestry industry plant new woodlands, there is a benefit not only to the companies themselves, but also to the world through a reduction of CO</a:t>
            </a:r>
            <a:r>
              <a:rPr lang="en-GB" altLang="en-US" sz="2000" baseline="-25000" dirty="0">
                <a:latin typeface="Calibri" panose="020F0502020204030204" pitchFamily="34" charset="0"/>
                <a:ea typeface="Calibri" panose="020F0502020204030204" pitchFamily="34" charset="0"/>
                <a:cs typeface="Calibri" panose="020F0502020204030204" pitchFamily="34" charset="0"/>
              </a:rPr>
              <a:t>2</a:t>
            </a:r>
            <a:r>
              <a:rPr lang="en-GB" altLang="en-US" sz="2000" dirty="0">
                <a:latin typeface="Calibri" panose="020F0502020204030204" pitchFamily="34" charset="0"/>
                <a:ea typeface="Calibri" panose="020F0502020204030204" pitchFamily="34" charset="0"/>
                <a:cs typeface="Calibri" panose="020F0502020204030204" pitchFamily="34" charset="0"/>
              </a:rPr>
              <a:t> in the air.</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We assume that the </a:t>
            </a:r>
            <a:r>
              <a:rPr lang="en-GB" altLang="en-US" sz="2000" dirty="0" err="1">
                <a:latin typeface="Calibri" panose="020F0502020204030204" pitchFamily="34" charset="0"/>
                <a:ea typeface="Calibri" panose="020F0502020204030204" pitchFamily="34" charset="0"/>
                <a:cs typeface="Calibri" panose="020F0502020204030204" pitchFamily="34" charset="0"/>
              </a:rPr>
              <a:t>MEB</a:t>
            </a:r>
            <a:r>
              <a:rPr lang="en-GB" altLang="en-US" sz="2000" baseline="-25000" dirty="0" err="1">
                <a:latin typeface="Calibri" panose="020F0502020204030204" pitchFamily="34" charset="0"/>
                <a:ea typeface="Calibri" panose="020F0502020204030204" pitchFamily="34" charset="0"/>
                <a:cs typeface="Calibri" panose="020F0502020204030204" pitchFamily="34" charset="0"/>
              </a:rPr>
              <a:t>p</a:t>
            </a:r>
            <a:r>
              <a:rPr lang="en-GB" altLang="en-US" sz="2000" dirty="0">
                <a:latin typeface="Calibri" panose="020F0502020204030204" pitchFamily="34" charset="0"/>
                <a:ea typeface="Calibri" panose="020F0502020204030204" pitchFamily="34" charset="0"/>
                <a:cs typeface="Calibri" panose="020F0502020204030204" pitchFamily="34" charset="0"/>
              </a:rPr>
              <a:t> begin with the first tree planted but that the marginal benefit declines with each additional tree – the </a:t>
            </a:r>
            <a:r>
              <a:rPr lang="en-GB" altLang="en-US" sz="2000" dirty="0" err="1">
                <a:latin typeface="Calibri" panose="020F0502020204030204" pitchFamily="34" charset="0"/>
                <a:ea typeface="Calibri" panose="020F0502020204030204" pitchFamily="34" charset="0"/>
                <a:cs typeface="Calibri" panose="020F0502020204030204" pitchFamily="34" charset="0"/>
              </a:rPr>
              <a:t>MEB</a:t>
            </a:r>
            <a:r>
              <a:rPr lang="en-GB" altLang="en-US" sz="2000" baseline="-25000" dirty="0" err="1">
                <a:latin typeface="Calibri" panose="020F0502020204030204" pitchFamily="34" charset="0"/>
                <a:ea typeface="Calibri" panose="020F0502020204030204" pitchFamily="34" charset="0"/>
                <a:cs typeface="Calibri" panose="020F0502020204030204" pitchFamily="34" charset="0"/>
              </a:rPr>
              <a:t>p</a:t>
            </a:r>
            <a:r>
              <a:rPr lang="en-GB" altLang="en-US" sz="2000" dirty="0">
                <a:latin typeface="Calibri" panose="020F0502020204030204" pitchFamily="34" charset="0"/>
                <a:ea typeface="Calibri" panose="020F0502020204030204" pitchFamily="34" charset="0"/>
                <a:cs typeface="Calibri" panose="020F0502020204030204" pitchFamily="34" charset="0"/>
              </a:rPr>
              <a:t> is a downward-sloping line </a:t>
            </a:r>
          </a:p>
          <a:p>
            <a:pPr lvl="2">
              <a:lnSpc>
                <a:spcPct val="100000"/>
              </a:lnSpc>
              <a:spcBef>
                <a:spcPts val="1200"/>
              </a:spcBef>
            </a:pPr>
            <a:r>
              <a:rPr lang="en-GB" altLang="en-US" sz="2000" b="1" i="1" dirty="0">
                <a:latin typeface="Calibri" panose="020F0502020204030204" pitchFamily="34" charset="0"/>
                <a:ea typeface="Calibri" panose="020F0502020204030204" pitchFamily="34" charset="0"/>
                <a:cs typeface="Calibri" panose="020F0502020204030204" pitchFamily="34" charset="0"/>
              </a:rPr>
              <a:t>MSC &lt; MPC</a:t>
            </a:r>
            <a:r>
              <a:rPr lang="en-GB" altLang="en-US" sz="2000" i="1" dirty="0">
                <a:latin typeface="Calibri" panose="020F0502020204030204" pitchFamily="34" charset="0"/>
                <a:ea typeface="Calibri" panose="020F0502020204030204" pitchFamily="34" charset="0"/>
                <a:cs typeface="Calibri" panose="020F0502020204030204" pitchFamily="34" charset="0"/>
              </a:rPr>
              <a:t>: Q</a:t>
            </a:r>
            <a:r>
              <a:rPr lang="en-GB" altLang="en-US" sz="2000" baseline="-25000" dirty="0">
                <a:latin typeface="Calibri" panose="020F0502020204030204" pitchFamily="34" charset="0"/>
                <a:ea typeface="Calibri" panose="020F0502020204030204" pitchFamily="34" charset="0"/>
                <a:cs typeface="Calibri" panose="020F0502020204030204" pitchFamily="34" charset="0"/>
              </a:rPr>
              <a:t>PC</a:t>
            </a:r>
            <a:r>
              <a:rPr lang="en-GB" altLang="en-US" sz="2000" i="1" dirty="0">
                <a:latin typeface="Calibri" panose="020F0502020204030204" pitchFamily="34" charset="0"/>
                <a:ea typeface="Calibri" panose="020F0502020204030204" pitchFamily="34" charset="0"/>
                <a:cs typeface="Calibri" panose="020F0502020204030204" pitchFamily="34" charset="0"/>
              </a:rPr>
              <a:t> &lt; Q*</a:t>
            </a: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MSC = MPC – </a:t>
            </a:r>
            <a:r>
              <a:rPr lang="en-GB" altLang="en-US" sz="2000" dirty="0" err="1">
                <a:latin typeface="Calibri" panose="020F0502020204030204" pitchFamily="34" charset="0"/>
                <a:ea typeface="Calibri" panose="020F0502020204030204" pitchFamily="34" charset="0"/>
                <a:cs typeface="Calibri" panose="020F0502020204030204" pitchFamily="34" charset="0"/>
              </a:rPr>
              <a:t>MEB</a:t>
            </a:r>
            <a:r>
              <a:rPr lang="en-GB" altLang="en-US" sz="2000" baseline="-25000" dirty="0" err="1">
                <a:latin typeface="Calibri" panose="020F0502020204030204" pitchFamily="34" charset="0"/>
                <a:ea typeface="Calibri" panose="020F0502020204030204" pitchFamily="34" charset="0"/>
                <a:cs typeface="Calibri" panose="020F0502020204030204" pitchFamily="34" charset="0"/>
              </a:rPr>
              <a:t>p</a:t>
            </a:r>
            <a:endParaRPr lang="en-GB" altLang="en-US" sz="2000" baseline="-25000" dirty="0">
              <a:latin typeface="Calibri" panose="020F0502020204030204" pitchFamily="34" charset="0"/>
              <a:ea typeface="Calibri" panose="020F0502020204030204" pitchFamily="34" charset="0"/>
              <a:cs typeface="Calibri" panose="020F0502020204030204" pitchFamily="34" charset="0"/>
            </a:endParaRP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From society’s point of view, not enough trees are being planted.</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deadweight welfare loss caused by this underproduction is shown by the area ‘</a:t>
            </a:r>
            <a:r>
              <a:rPr lang="en-GB" altLang="en-US" sz="2000" i="1" dirty="0" err="1">
                <a:latin typeface="Calibri" panose="020F0502020204030204" pitchFamily="34" charset="0"/>
                <a:ea typeface="Calibri" panose="020F0502020204030204" pitchFamily="34" charset="0"/>
                <a:cs typeface="Calibri" panose="020F0502020204030204" pitchFamily="34" charset="0"/>
              </a:rPr>
              <a:t>abc</a:t>
            </a:r>
            <a:r>
              <a:rPr lang="en-GB" altLang="en-US" sz="2000" dirty="0">
                <a:latin typeface="Calibri" panose="020F0502020204030204" pitchFamily="34" charset="0"/>
                <a:ea typeface="Calibri" panose="020F0502020204030204" pitchFamily="34" charset="0"/>
                <a:cs typeface="Calibri" panose="020F0502020204030204" pitchFamily="34" charset="0"/>
              </a:rPr>
              <a:t>’</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Output is not being produced between </a:t>
            </a:r>
            <a:r>
              <a:rPr lang="en-GB" altLang="en-US" sz="2000" dirty="0" err="1">
                <a:latin typeface="Calibri" panose="020F0502020204030204" pitchFamily="34" charset="0"/>
                <a:ea typeface="Calibri" panose="020F0502020204030204" pitchFamily="34" charset="0"/>
                <a:cs typeface="Calibri" panose="020F0502020204030204" pitchFamily="34" charset="0"/>
              </a:rPr>
              <a:t>Q</a:t>
            </a:r>
            <a:r>
              <a:rPr lang="en-GB" altLang="en-US" sz="2000" baseline="-25000" dirty="0" err="1">
                <a:latin typeface="Calibri" panose="020F0502020204030204" pitchFamily="34" charset="0"/>
                <a:ea typeface="Calibri" panose="020F0502020204030204" pitchFamily="34" charset="0"/>
                <a:cs typeface="Calibri" panose="020F0502020204030204" pitchFamily="34" charset="0"/>
              </a:rPr>
              <a:t>pc</a:t>
            </a:r>
            <a:r>
              <a:rPr lang="en-GB" altLang="en-US" sz="2000" dirty="0">
                <a:latin typeface="Calibri" panose="020F0502020204030204" pitchFamily="34" charset="0"/>
                <a:ea typeface="Calibri" panose="020F0502020204030204" pitchFamily="34" charset="0"/>
                <a:cs typeface="Calibri" panose="020F0502020204030204" pitchFamily="34" charset="0"/>
              </a:rPr>
              <a:t> and Q* even MSB &gt; MSC</a:t>
            </a:r>
          </a:p>
        </p:txBody>
      </p:sp>
    </p:spTree>
    <p:extLst>
      <p:ext uri="{BB962C8B-B14F-4D97-AF65-F5344CB8AC3E}">
        <p14:creationId xmlns:p14="http://schemas.microsoft.com/office/powerpoint/2010/main" val="28004411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3765">
                                            <p:txEl>
                                              <p:pRg st="0" end="0"/>
                                            </p:txEl>
                                          </p:spTgt>
                                        </p:tgtEl>
                                        <p:attrNameLst>
                                          <p:attrName>style.visibility</p:attrName>
                                        </p:attrNameLst>
                                      </p:cBhvr>
                                      <p:to>
                                        <p:strVal val="visible"/>
                                      </p:to>
                                    </p:set>
                                    <p:anim calcmode="lin" valueType="num">
                                      <p:cBhvr additive="base">
                                        <p:cTn id="7" dur="500"/>
                                        <p:tgtEl>
                                          <p:spTgt spid="37376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3765">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3765">
                                            <p:txEl>
                                              <p:pRg st="1" end="1"/>
                                            </p:txEl>
                                          </p:spTgt>
                                        </p:tgtEl>
                                        <p:attrNameLst>
                                          <p:attrName>style.visibility</p:attrName>
                                        </p:attrNameLst>
                                      </p:cBhvr>
                                      <p:to>
                                        <p:strVal val="visible"/>
                                      </p:to>
                                    </p:set>
                                    <p:anim calcmode="lin" valueType="num">
                                      <p:cBhvr additive="base">
                                        <p:cTn id="13" dur="500"/>
                                        <p:tgtEl>
                                          <p:spTgt spid="37376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3765">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373765">
                                            <p:txEl>
                                              <p:pRg st="2" end="2"/>
                                            </p:txEl>
                                          </p:spTgt>
                                        </p:tgtEl>
                                        <p:attrNameLst>
                                          <p:attrName>style.visibility</p:attrName>
                                        </p:attrNameLst>
                                      </p:cBhvr>
                                      <p:to>
                                        <p:strVal val="visible"/>
                                      </p:to>
                                    </p:set>
                                    <p:anim calcmode="lin" valueType="num">
                                      <p:cBhvr additive="base">
                                        <p:cTn id="17" dur="500"/>
                                        <p:tgtEl>
                                          <p:spTgt spid="373765">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73765">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373765">
                                            <p:txEl>
                                              <p:pRg st="3" end="3"/>
                                            </p:txEl>
                                          </p:spTgt>
                                        </p:tgtEl>
                                        <p:attrNameLst>
                                          <p:attrName>style.visibility</p:attrName>
                                        </p:attrNameLst>
                                      </p:cBhvr>
                                      <p:to>
                                        <p:strVal val="visible"/>
                                      </p:to>
                                    </p:set>
                                    <p:anim calcmode="lin" valueType="num">
                                      <p:cBhvr additive="base">
                                        <p:cTn id="21" dur="500"/>
                                        <p:tgtEl>
                                          <p:spTgt spid="373765">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373765">
                                            <p:txEl>
                                              <p:pRg st="3" end="3"/>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373765">
                                            <p:txEl>
                                              <p:pRg st="4" end="4"/>
                                            </p:txEl>
                                          </p:spTgt>
                                        </p:tgtEl>
                                        <p:attrNameLst>
                                          <p:attrName>style.visibility</p:attrName>
                                        </p:attrNameLst>
                                      </p:cBhvr>
                                      <p:to>
                                        <p:strVal val="visible"/>
                                      </p:to>
                                    </p:set>
                                    <p:anim calcmode="lin" valueType="num">
                                      <p:cBhvr additive="base">
                                        <p:cTn id="25" dur="500"/>
                                        <p:tgtEl>
                                          <p:spTgt spid="373765">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3765">
                                            <p:txEl>
                                              <p:pRg st="4" end="4"/>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73765">
                                            <p:txEl>
                                              <p:pRg st="5" end="5"/>
                                            </p:txEl>
                                          </p:spTgt>
                                        </p:tgtEl>
                                        <p:attrNameLst>
                                          <p:attrName>style.visibility</p:attrName>
                                        </p:attrNameLst>
                                      </p:cBhvr>
                                      <p:to>
                                        <p:strVal val="visible"/>
                                      </p:to>
                                    </p:set>
                                    <p:anim calcmode="lin" valueType="num">
                                      <p:cBhvr additive="base">
                                        <p:cTn id="29" dur="500"/>
                                        <p:tgtEl>
                                          <p:spTgt spid="373765">
                                            <p:txEl>
                                              <p:pRg st="5" end="5"/>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73765">
                                            <p:txEl>
                                              <p:pRg st="5" end="5"/>
                                            </p:txEl>
                                          </p:spTgt>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373765">
                                            <p:txEl>
                                              <p:pRg st="6" end="6"/>
                                            </p:txEl>
                                          </p:spTgt>
                                        </p:tgtEl>
                                        <p:attrNameLst>
                                          <p:attrName>style.visibility</p:attrName>
                                        </p:attrNameLst>
                                      </p:cBhvr>
                                      <p:to>
                                        <p:strVal val="visible"/>
                                      </p:to>
                                    </p:set>
                                    <p:anim calcmode="lin" valueType="num">
                                      <p:cBhvr additive="base">
                                        <p:cTn id="33" dur="500"/>
                                        <p:tgtEl>
                                          <p:spTgt spid="373765">
                                            <p:txEl>
                                              <p:pRg st="6" end="6"/>
                                            </p:txEl>
                                          </p:spTgt>
                                        </p:tgtEl>
                                        <p:attrNameLst>
                                          <p:attrName>ppt_y</p:attrName>
                                        </p:attrNameLst>
                                      </p:cBhvr>
                                      <p:tavLst>
                                        <p:tav tm="0">
                                          <p:val>
                                            <p:strVal val="#ppt_y+#ppt_h*1.125000"/>
                                          </p:val>
                                        </p:tav>
                                        <p:tav tm="100000">
                                          <p:val>
                                            <p:strVal val="#ppt_y"/>
                                          </p:val>
                                        </p:tav>
                                      </p:tavLst>
                                    </p:anim>
                                    <p:animEffect transition="in" filter="wipe(up)">
                                      <p:cBhvr>
                                        <p:cTn id="34" dur="500"/>
                                        <p:tgtEl>
                                          <p:spTgt spid="373765">
                                            <p:txEl>
                                              <p:pRg st="6" end="6"/>
                                            </p:txEl>
                                          </p:spTgt>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373765">
                                            <p:txEl>
                                              <p:pRg st="7" end="7"/>
                                            </p:txEl>
                                          </p:spTgt>
                                        </p:tgtEl>
                                        <p:attrNameLst>
                                          <p:attrName>style.visibility</p:attrName>
                                        </p:attrNameLst>
                                      </p:cBhvr>
                                      <p:to>
                                        <p:strVal val="visible"/>
                                      </p:to>
                                    </p:set>
                                    <p:anim calcmode="lin" valueType="num">
                                      <p:cBhvr additive="base">
                                        <p:cTn id="37" dur="500"/>
                                        <p:tgtEl>
                                          <p:spTgt spid="373765">
                                            <p:txEl>
                                              <p:pRg st="7" end="7"/>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3765">
                                            <p:txEl>
                                              <p:pRg st="7" end="7"/>
                                            </p:txEl>
                                          </p:spTgt>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373765">
                                            <p:txEl>
                                              <p:pRg st="8" end="8"/>
                                            </p:txEl>
                                          </p:spTgt>
                                        </p:tgtEl>
                                        <p:attrNameLst>
                                          <p:attrName>style.visibility</p:attrName>
                                        </p:attrNameLst>
                                      </p:cBhvr>
                                      <p:to>
                                        <p:strVal val="visible"/>
                                      </p:to>
                                    </p:set>
                                    <p:anim calcmode="lin" valueType="num">
                                      <p:cBhvr additive="base">
                                        <p:cTn id="41" dur="500"/>
                                        <p:tgtEl>
                                          <p:spTgt spid="373765">
                                            <p:txEl>
                                              <p:pRg st="8" end="8"/>
                                            </p:txEl>
                                          </p:spTgt>
                                        </p:tgtEl>
                                        <p:attrNameLst>
                                          <p:attrName>ppt_y</p:attrName>
                                        </p:attrNameLst>
                                      </p:cBhvr>
                                      <p:tavLst>
                                        <p:tav tm="0">
                                          <p:val>
                                            <p:strVal val="#ppt_y+#ppt_h*1.125000"/>
                                          </p:val>
                                        </p:tav>
                                        <p:tav tm="100000">
                                          <p:val>
                                            <p:strVal val="#ppt_y"/>
                                          </p:val>
                                        </p:tav>
                                      </p:tavLst>
                                    </p:anim>
                                    <p:animEffect transition="in" filter="wipe(up)">
                                      <p:cBhvr>
                                        <p:cTn id="42" dur="500"/>
                                        <p:tgtEl>
                                          <p:spTgt spid="37376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build="p" bldLvl="2"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C25B5-248A-618D-C2EE-82493DF74919}"/>
              </a:ext>
            </a:extLst>
          </p:cNvPr>
          <p:cNvSpPr>
            <a:spLocks noGrp="1"/>
          </p:cNvSpPr>
          <p:nvPr>
            <p:ph type="title"/>
          </p:nvPr>
        </p:nvSpPr>
        <p:spPr/>
        <p:txBody>
          <a:bodyPr/>
          <a:lstStyle/>
          <a:p>
            <a:r>
              <a:rPr lang="en-GB" altLang="en-US" sz="3200" dirty="0"/>
              <a:t>Externalities</a:t>
            </a:r>
            <a:endParaRPr lang="en-GB" sz="3200" dirty="0"/>
          </a:p>
        </p:txBody>
      </p:sp>
      <p:pic>
        <p:nvPicPr>
          <p:cNvPr id="4" name="Content Placeholder 3">
            <a:extLst>
              <a:ext uri="{FF2B5EF4-FFF2-40B4-BE49-F238E27FC236}">
                <a16:creationId xmlns:a16="http://schemas.microsoft.com/office/drawing/2014/main" id="{2F844C83-D974-3B20-32EA-F829845F6E05}"/>
              </a:ext>
            </a:extLst>
          </p:cNvPr>
          <p:cNvPicPr>
            <a:picLocks noGrp="1" noChangeAspect="1"/>
          </p:cNvPicPr>
          <p:nvPr>
            <p:ph idx="1"/>
          </p:nvPr>
        </p:nvPicPr>
        <p:blipFill>
          <a:blip r:embed="rId2"/>
          <a:stretch>
            <a:fillRect/>
          </a:stretch>
        </p:blipFill>
        <p:spPr>
          <a:xfrm>
            <a:off x="478471" y="1904833"/>
            <a:ext cx="5457929" cy="3778566"/>
          </a:xfrm>
          <a:prstGeom prst="rect">
            <a:avLst/>
          </a:prstGeom>
        </p:spPr>
      </p:pic>
      <p:pic>
        <p:nvPicPr>
          <p:cNvPr id="5" name="Picture 4">
            <a:extLst>
              <a:ext uri="{FF2B5EF4-FFF2-40B4-BE49-F238E27FC236}">
                <a16:creationId xmlns:a16="http://schemas.microsoft.com/office/drawing/2014/main" id="{965AF02A-632F-5B3B-E2C9-C0C221B5B483}"/>
              </a:ext>
            </a:extLst>
          </p:cNvPr>
          <p:cNvPicPr>
            <a:picLocks noChangeAspect="1"/>
          </p:cNvPicPr>
          <p:nvPr/>
        </p:nvPicPr>
        <p:blipFill>
          <a:blip r:embed="rId3"/>
          <a:stretch>
            <a:fillRect/>
          </a:stretch>
        </p:blipFill>
        <p:spPr>
          <a:xfrm>
            <a:off x="6264477" y="1924427"/>
            <a:ext cx="5457930" cy="3778567"/>
          </a:xfrm>
          <a:prstGeom prst="rect">
            <a:avLst/>
          </a:prstGeom>
        </p:spPr>
      </p:pic>
    </p:spTree>
    <p:extLst>
      <p:ext uri="{BB962C8B-B14F-4D97-AF65-F5344CB8AC3E}">
        <p14:creationId xmlns:p14="http://schemas.microsoft.com/office/powerpoint/2010/main" val="3602061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2"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3"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4" name="Rectangle 4"/>
          <p:cNvSpPr>
            <a:spLocks noGrp="1"/>
          </p:cNvSpPr>
          <p:nvPr>
            <p:ph type="title"/>
          </p:nvPr>
        </p:nvSpPr>
        <p:spPr/>
        <p:txBody>
          <a:bodyPr/>
          <a:lstStyle/>
          <a:p>
            <a:r>
              <a:rPr lang="en-GB" altLang="en-US"/>
              <a:t>Types of Market Failure</a:t>
            </a:r>
          </a:p>
        </p:txBody>
      </p:sp>
      <p:sp>
        <p:nvSpPr>
          <p:cNvPr id="373765" name="Rectangle 5"/>
          <p:cNvSpPr>
            <a:spLocks noGrp="1"/>
          </p:cNvSpPr>
          <p:nvPr>
            <p:ph idx="1"/>
          </p:nvPr>
        </p:nvSpPr>
        <p:spPr>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lnSpcReduction="10000"/>
          </a:bodyPr>
          <a:lstStyle/>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Externalities (cont.)</a:t>
            </a:r>
          </a:p>
          <a:p>
            <a:pPr lvl="1">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External costs of consumption (</a:t>
            </a:r>
            <a:r>
              <a:rPr lang="en-GB" altLang="en-US" sz="2000" b="1" i="1" dirty="0">
                <a:latin typeface="Calibri" panose="020F0502020204030204" pitchFamily="34" charset="0"/>
                <a:ea typeface="Calibri" panose="020F0502020204030204" pitchFamily="34" charset="0"/>
                <a:cs typeface="Calibri" panose="020F0502020204030204" pitchFamily="34" charset="0"/>
              </a:rPr>
              <a:t>MEC</a:t>
            </a:r>
            <a:r>
              <a:rPr lang="en-GB" altLang="en-US" sz="2000" b="1" baseline="-25000" dirty="0">
                <a:latin typeface="Calibri" panose="020F0502020204030204" pitchFamily="34" charset="0"/>
                <a:ea typeface="Calibri" panose="020F0502020204030204" pitchFamily="34" charset="0"/>
                <a:cs typeface="Calibri" panose="020F0502020204030204" pitchFamily="34" charset="0"/>
              </a:rPr>
              <a:t>C</a:t>
            </a:r>
            <a:r>
              <a:rPr lang="en-GB" altLang="en-US" sz="2000" b="1" dirty="0">
                <a:latin typeface="Calibri" panose="020F0502020204030204" pitchFamily="34" charset="0"/>
                <a:ea typeface="Calibri" panose="020F0502020204030204" pitchFamily="34" charset="0"/>
                <a:cs typeface="Calibri" panose="020F0502020204030204" pitchFamily="34" charset="0"/>
              </a:rPr>
              <a:t>)</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Drinking alcohol can sometimes lead to marginal external costs of consumption. For e.g., there are the extra nightly policing costs to deal with the increased chance of social disorder.</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Results in </a:t>
            </a:r>
            <a:r>
              <a:rPr lang="en-GB" altLang="en-US" sz="2000" b="1" i="1" dirty="0">
                <a:latin typeface="Calibri" panose="020F0502020204030204" pitchFamily="34" charset="0"/>
                <a:ea typeface="Calibri" panose="020F0502020204030204" pitchFamily="34" charset="0"/>
                <a:cs typeface="Calibri" panose="020F0502020204030204" pitchFamily="34" charset="0"/>
              </a:rPr>
              <a:t>MSB &lt; MPB</a:t>
            </a:r>
            <a:r>
              <a:rPr lang="en-GB" altLang="en-US" sz="2000" i="1" dirty="0">
                <a:latin typeface="Calibri" panose="020F0502020204030204" pitchFamily="34" charset="0"/>
                <a:ea typeface="Calibri" panose="020F0502020204030204" pitchFamily="34" charset="0"/>
                <a:cs typeface="Calibri" panose="020F0502020204030204" pitchFamily="34" charset="0"/>
              </a:rPr>
              <a:t>: Q</a:t>
            </a:r>
            <a:r>
              <a:rPr lang="en-GB" altLang="en-US" sz="2000" baseline="-25000" dirty="0">
                <a:latin typeface="Calibri" panose="020F0502020204030204" pitchFamily="34" charset="0"/>
                <a:ea typeface="Calibri" panose="020F0502020204030204" pitchFamily="34" charset="0"/>
                <a:cs typeface="Calibri" panose="020F0502020204030204" pitchFamily="34" charset="0"/>
              </a:rPr>
              <a:t>PC</a:t>
            </a:r>
            <a:r>
              <a:rPr lang="en-GB" altLang="en-US" sz="2000" i="1" dirty="0">
                <a:latin typeface="Calibri" panose="020F0502020204030204" pitchFamily="34" charset="0"/>
                <a:ea typeface="Calibri" panose="020F0502020204030204" pitchFamily="34" charset="0"/>
                <a:cs typeface="Calibri" panose="020F0502020204030204" pitchFamily="34" charset="0"/>
              </a:rPr>
              <a:t> &gt; Q*</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external costs of consumption result in level of output above socially efficient level, i.e. </a:t>
            </a:r>
            <a:r>
              <a:rPr lang="en-GB" altLang="en-US" sz="2000" i="1" dirty="0">
                <a:latin typeface="Calibri" panose="020F0502020204030204" pitchFamily="34" charset="0"/>
                <a:ea typeface="Calibri" panose="020F0502020204030204" pitchFamily="34" charset="0"/>
                <a:cs typeface="Calibri" panose="020F0502020204030204" pitchFamily="34" charset="0"/>
              </a:rPr>
              <a:t>Q</a:t>
            </a:r>
            <a:r>
              <a:rPr lang="en-GB" altLang="en-US" sz="2000" baseline="-25000" dirty="0">
                <a:latin typeface="Calibri" panose="020F0502020204030204" pitchFamily="34" charset="0"/>
                <a:ea typeface="Calibri" panose="020F0502020204030204" pitchFamily="34" charset="0"/>
                <a:cs typeface="Calibri" panose="020F0502020204030204" pitchFamily="34" charset="0"/>
              </a:rPr>
              <a:t>PC</a:t>
            </a:r>
            <a:r>
              <a:rPr lang="en-GB" altLang="en-US" sz="2000" i="1" dirty="0">
                <a:latin typeface="Calibri" panose="020F0502020204030204" pitchFamily="34" charset="0"/>
                <a:ea typeface="Calibri" panose="020F0502020204030204" pitchFamily="34" charset="0"/>
                <a:cs typeface="Calibri" panose="020F0502020204030204" pitchFamily="34" charset="0"/>
              </a:rPr>
              <a:t> &gt; Q*</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From society’s point of view, too much alcohol is being produced and consumed. </a:t>
            </a:r>
          </a:p>
          <a:p>
            <a:pPr lvl="1">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External benefits of consumption (</a:t>
            </a:r>
            <a:r>
              <a:rPr lang="en-GB" altLang="en-US" sz="2000" b="1" i="1" dirty="0">
                <a:latin typeface="Calibri" panose="020F0502020204030204" pitchFamily="34" charset="0"/>
                <a:ea typeface="Calibri" panose="020F0502020204030204" pitchFamily="34" charset="0"/>
                <a:cs typeface="Calibri" panose="020F0502020204030204" pitchFamily="34" charset="0"/>
              </a:rPr>
              <a:t>MEB</a:t>
            </a:r>
            <a:r>
              <a:rPr lang="en-GB" altLang="en-US" sz="2000" b="1" baseline="-25000" dirty="0">
                <a:latin typeface="Calibri" panose="020F0502020204030204" pitchFamily="34" charset="0"/>
                <a:ea typeface="Calibri" panose="020F0502020204030204" pitchFamily="34" charset="0"/>
                <a:cs typeface="Calibri" panose="020F0502020204030204" pitchFamily="34" charset="0"/>
              </a:rPr>
              <a:t>C</a:t>
            </a:r>
            <a:r>
              <a:rPr lang="en-GB" altLang="en-US" sz="2000" b="1" dirty="0">
                <a:latin typeface="Calibri" panose="020F0502020204030204" pitchFamily="34" charset="0"/>
                <a:ea typeface="Calibri" panose="020F0502020204030204" pitchFamily="34" charset="0"/>
                <a:cs typeface="Calibri" panose="020F0502020204030204" pitchFamily="34" charset="0"/>
              </a:rPr>
              <a:t>)</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If people use the train to travel to the city centre or to football matches, then others benefit from less congestion and exhaust fumes</a:t>
            </a:r>
          </a:p>
          <a:p>
            <a:pPr lvl="2">
              <a:lnSpc>
                <a:spcPct val="100000"/>
              </a:lnSpc>
              <a:spcBef>
                <a:spcPts val="600"/>
              </a:spcBef>
            </a:pPr>
            <a:r>
              <a:rPr lang="en-GB" altLang="en-US" sz="2000" b="1" i="1" dirty="0">
                <a:latin typeface="Calibri" panose="020F0502020204030204" pitchFamily="34" charset="0"/>
                <a:ea typeface="Calibri" panose="020F0502020204030204" pitchFamily="34" charset="0"/>
                <a:cs typeface="Calibri" panose="020F0502020204030204" pitchFamily="34" charset="0"/>
              </a:rPr>
              <a:t>MSB &gt; MPB</a:t>
            </a:r>
            <a:r>
              <a:rPr lang="en-GB" altLang="en-US" sz="2000" dirty="0">
                <a:latin typeface="Calibri" panose="020F0502020204030204" pitchFamily="34" charset="0"/>
                <a:ea typeface="Calibri" panose="020F0502020204030204" pitchFamily="34" charset="0"/>
                <a:cs typeface="Calibri" panose="020F0502020204030204" pitchFamily="34" charset="0"/>
              </a:rPr>
              <a:t>:</a:t>
            </a:r>
            <a:r>
              <a:rPr lang="en-GB" altLang="en-US" sz="2000" b="1" i="1" dirty="0">
                <a:latin typeface="Calibri" panose="020F0502020204030204" pitchFamily="34" charset="0"/>
                <a:ea typeface="Calibri" panose="020F0502020204030204" pitchFamily="34" charset="0"/>
                <a:cs typeface="Calibri" panose="020F0502020204030204" pitchFamily="34" charset="0"/>
              </a:rPr>
              <a:t> </a:t>
            </a:r>
            <a:r>
              <a:rPr lang="en-GB" altLang="en-US" sz="2000" i="1" dirty="0">
                <a:latin typeface="Calibri" panose="020F0502020204030204" pitchFamily="34" charset="0"/>
                <a:ea typeface="Calibri" panose="020F0502020204030204" pitchFamily="34" charset="0"/>
                <a:cs typeface="Calibri" panose="020F0502020204030204" pitchFamily="34" charset="0"/>
              </a:rPr>
              <a:t>Q</a:t>
            </a:r>
            <a:r>
              <a:rPr lang="en-GB" altLang="en-US" sz="2000" baseline="-25000" dirty="0">
                <a:latin typeface="Calibri" panose="020F0502020204030204" pitchFamily="34" charset="0"/>
                <a:ea typeface="Calibri" panose="020F0502020204030204" pitchFamily="34" charset="0"/>
                <a:cs typeface="Calibri" panose="020F0502020204030204" pitchFamily="34" charset="0"/>
              </a:rPr>
              <a:t>PC</a:t>
            </a:r>
            <a:r>
              <a:rPr lang="en-GB" altLang="en-US" sz="2000" dirty="0">
                <a:latin typeface="Calibri" panose="020F0502020204030204" pitchFamily="34" charset="0"/>
                <a:ea typeface="Calibri" panose="020F0502020204030204" pitchFamily="34" charset="0"/>
                <a:cs typeface="Calibri" panose="020F0502020204030204" pitchFamily="34" charset="0"/>
              </a:rPr>
              <a:t> </a:t>
            </a:r>
            <a:r>
              <a:rPr lang="en-GB" altLang="en-US" sz="2000" i="1" dirty="0">
                <a:latin typeface="Calibri" panose="020F0502020204030204" pitchFamily="34" charset="0"/>
                <a:ea typeface="Calibri" panose="020F0502020204030204" pitchFamily="34" charset="0"/>
                <a:cs typeface="Calibri" panose="020F0502020204030204" pitchFamily="34" charset="0"/>
              </a:rPr>
              <a:t>&lt; Q* (</a:t>
            </a:r>
            <a:r>
              <a:rPr lang="en-GB" altLang="en-US" sz="2000" dirty="0">
                <a:latin typeface="Calibri" panose="020F0502020204030204" pitchFamily="34" charset="0"/>
                <a:ea typeface="Calibri" panose="020F0502020204030204" pitchFamily="34" charset="0"/>
                <a:cs typeface="Calibri" panose="020F0502020204030204" pitchFamily="34" charset="0"/>
              </a:rPr>
              <a:t>results in a</a:t>
            </a:r>
            <a:r>
              <a:rPr lang="en-GB" altLang="en-US" sz="2000" i="1" dirty="0">
                <a:latin typeface="Calibri" panose="020F0502020204030204" pitchFamily="34" charset="0"/>
                <a:ea typeface="Calibri" panose="020F0502020204030204" pitchFamily="34" charset="0"/>
                <a:cs typeface="Calibri" panose="020F0502020204030204" pitchFamily="34" charset="0"/>
              </a:rPr>
              <a:t> </a:t>
            </a:r>
            <a:r>
              <a:rPr lang="en-GB" altLang="en-US" sz="2000" dirty="0">
                <a:latin typeface="Calibri" panose="020F0502020204030204" pitchFamily="34" charset="0"/>
                <a:ea typeface="Calibri" panose="020F0502020204030204" pitchFamily="34" charset="0"/>
                <a:cs typeface="Calibri" panose="020F0502020204030204" pitchFamily="34" charset="0"/>
              </a:rPr>
              <a:t>level of output below the socially efficient level)</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From society’s point of view, not enough journeys are being made on the train.</a:t>
            </a:r>
          </a:p>
        </p:txBody>
      </p:sp>
    </p:spTree>
    <p:extLst>
      <p:ext uri="{BB962C8B-B14F-4D97-AF65-F5344CB8AC3E}">
        <p14:creationId xmlns:p14="http://schemas.microsoft.com/office/powerpoint/2010/main" val="42073834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3765">
                                            <p:txEl>
                                              <p:pRg st="0" end="0"/>
                                            </p:txEl>
                                          </p:spTgt>
                                        </p:tgtEl>
                                        <p:attrNameLst>
                                          <p:attrName>style.visibility</p:attrName>
                                        </p:attrNameLst>
                                      </p:cBhvr>
                                      <p:to>
                                        <p:strVal val="visible"/>
                                      </p:to>
                                    </p:set>
                                    <p:anim calcmode="lin" valueType="num">
                                      <p:cBhvr additive="base">
                                        <p:cTn id="7" dur="500"/>
                                        <p:tgtEl>
                                          <p:spTgt spid="37376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3765">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3765">
                                            <p:txEl>
                                              <p:pRg st="1" end="1"/>
                                            </p:txEl>
                                          </p:spTgt>
                                        </p:tgtEl>
                                        <p:attrNameLst>
                                          <p:attrName>style.visibility</p:attrName>
                                        </p:attrNameLst>
                                      </p:cBhvr>
                                      <p:to>
                                        <p:strVal val="visible"/>
                                      </p:to>
                                    </p:set>
                                    <p:anim calcmode="lin" valueType="num">
                                      <p:cBhvr additive="base">
                                        <p:cTn id="13" dur="500"/>
                                        <p:tgtEl>
                                          <p:spTgt spid="37376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3765">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373765">
                                            <p:txEl>
                                              <p:pRg st="2" end="2"/>
                                            </p:txEl>
                                          </p:spTgt>
                                        </p:tgtEl>
                                        <p:attrNameLst>
                                          <p:attrName>style.visibility</p:attrName>
                                        </p:attrNameLst>
                                      </p:cBhvr>
                                      <p:to>
                                        <p:strVal val="visible"/>
                                      </p:to>
                                    </p:set>
                                    <p:anim calcmode="lin" valueType="num">
                                      <p:cBhvr additive="base">
                                        <p:cTn id="17" dur="500"/>
                                        <p:tgtEl>
                                          <p:spTgt spid="373765">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73765">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373765">
                                            <p:txEl>
                                              <p:pRg st="3" end="3"/>
                                            </p:txEl>
                                          </p:spTgt>
                                        </p:tgtEl>
                                        <p:attrNameLst>
                                          <p:attrName>style.visibility</p:attrName>
                                        </p:attrNameLst>
                                      </p:cBhvr>
                                      <p:to>
                                        <p:strVal val="visible"/>
                                      </p:to>
                                    </p:set>
                                    <p:anim calcmode="lin" valueType="num">
                                      <p:cBhvr additive="base">
                                        <p:cTn id="21" dur="500"/>
                                        <p:tgtEl>
                                          <p:spTgt spid="373765">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373765">
                                            <p:txEl>
                                              <p:pRg st="3" end="3"/>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373765">
                                            <p:txEl>
                                              <p:pRg st="4" end="4"/>
                                            </p:txEl>
                                          </p:spTgt>
                                        </p:tgtEl>
                                        <p:attrNameLst>
                                          <p:attrName>style.visibility</p:attrName>
                                        </p:attrNameLst>
                                      </p:cBhvr>
                                      <p:to>
                                        <p:strVal val="visible"/>
                                      </p:to>
                                    </p:set>
                                    <p:anim calcmode="lin" valueType="num">
                                      <p:cBhvr additive="base">
                                        <p:cTn id="25" dur="500"/>
                                        <p:tgtEl>
                                          <p:spTgt spid="373765">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3765">
                                            <p:txEl>
                                              <p:pRg st="4" end="4"/>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73765">
                                            <p:txEl>
                                              <p:pRg st="5" end="5"/>
                                            </p:txEl>
                                          </p:spTgt>
                                        </p:tgtEl>
                                        <p:attrNameLst>
                                          <p:attrName>style.visibility</p:attrName>
                                        </p:attrNameLst>
                                      </p:cBhvr>
                                      <p:to>
                                        <p:strVal val="visible"/>
                                      </p:to>
                                    </p:set>
                                    <p:anim calcmode="lin" valueType="num">
                                      <p:cBhvr additive="base">
                                        <p:cTn id="29" dur="500"/>
                                        <p:tgtEl>
                                          <p:spTgt spid="373765">
                                            <p:txEl>
                                              <p:pRg st="5" end="5"/>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73765">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73765">
                                            <p:txEl>
                                              <p:pRg st="6" end="6"/>
                                            </p:txEl>
                                          </p:spTgt>
                                        </p:tgtEl>
                                        <p:attrNameLst>
                                          <p:attrName>style.visibility</p:attrName>
                                        </p:attrNameLst>
                                      </p:cBhvr>
                                      <p:to>
                                        <p:strVal val="visible"/>
                                      </p:to>
                                    </p:set>
                                    <p:anim calcmode="lin" valueType="num">
                                      <p:cBhvr additive="base">
                                        <p:cTn id="35" dur="500"/>
                                        <p:tgtEl>
                                          <p:spTgt spid="373765">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73765">
                                            <p:txEl>
                                              <p:pRg st="6" end="6"/>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373765">
                                            <p:txEl>
                                              <p:pRg st="7" end="7"/>
                                            </p:txEl>
                                          </p:spTgt>
                                        </p:tgtEl>
                                        <p:attrNameLst>
                                          <p:attrName>style.visibility</p:attrName>
                                        </p:attrNameLst>
                                      </p:cBhvr>
                                      <p:to>
                                        <p:strVal val="visible"/>
                                      </p:to>
                                    </p:set>
                                    <p:anim calcmode="lin" valueType="num">
                                      <p:cBhvr additive="base">
                                        <p:cTn id="39" dur="500"/>
                                        <p:tgtEl>
                                          <p:spTgt spid="373765">
                                            <p:txEl>
                                              <p:pRg st="7" end="7"/>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73765">
                                            <p:txEl>
                                              <p:pRg st="7" end="7"/>
                                            </p:tx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373765">
                                            <p:txEl>
                                              <p:pRg st="8" end="8"/>
                                            </p:txEl>
                                          </p:spTgt>
                                        </p:tgtEl>
                                        <p:attrNameLst>
                                          <p:attrName>style.visibility</p:attrName>
                                        </p:attrNameLst>
                                      </p:cBhvr>
                                      <p:to>
                                        <p:strVal val="visible"/>
                                      </p:to>
                                    </p:set>
                                    <p:anim calcmode="lin" valueType="num">
                                      <p:cBhvr additive="base">
                                        <p:cTn id="43" dur="500"/>
                                        <p:tgtEl>
                                          <p:spTgt spid="373765">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3765">
                                            <p:txEl>
                                              <p:pRg st="8" end="8"/>
                                            </p:txEl>
                                          </p:spTgt>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373765">
                                            <p:txEl>
                                              <p:pRg st="9" end="9"/>
                                            </p:txEl>
                                          </p:spTgt>
                                        </p:tgtEl>
                                        <p:attrNameLst>
                                          <p:attrName>style.visibility</p:attrName>
                                        </p:attrNameLst>
                                      </p:cBhvr>
                                      <p:to>
                                        <p:strVal val="visible"/>
                                      </p:to>
                                    </p:set>
                                    <p:anim calcmode="lin" valueType="num">
                                      <p:cBhvr additive="base">
                                        <p:cTn id="47" dur="500"/>
                                        <p:tgtEl>
                                          <p:spTgt spid="373765">
                                            <p:txEl>
                                              <p:pRg st="9" end="9"/>
                                            </p:txEl>
                                          </p:spTgt>
                                        </p:tgtEl>
                                        <p:attrNameLst>
                                          <p:attrName>ppt_y</p:attrName>
                                        </p:attrNameLst>
                                      </p:cBhvr>
                                      <p:tavLst>
                                        <p:tav tm="0">
                                          <p:val>
                                            <p:strVal val="#ppt_y+#ppt_h*1.125000"/>
                                          </p:val>
                                        </p:tav>
                                        <p:tav tm="100000">
                                          <p:val>
                                            <p:strVal val="#ppt_y"/>
                                          </p:val>
                                        </p:tav>
                                      </p:tavLst>
                                    </p:anim>
                                    <p:animEffect transition="in" filter="wipe(up)">
                                      <p:cBhvr>
                                        <p:cTn id="48" dur="500"/>
                                        <p:tgtEl>
                                          <p:spTgt spid="37376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build="p" bldLvl="2"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17D7A-6326-D466-4AA5-919279518AFA}"/>
              </a:ext>
            </a:extLst>
          </p:cNvPr>
          <p:cNvSpPr>
            <a:spLocks noGrp="1"/>
          </p:cNvSpPr>
          <p:nvPr>
            <p:ph type="title"/>
          </p:nvPr>
        </p:nvSpPr>
        <p:spPr/>
        <p:txBody>
          <a:bodyPr/>
          <a:lstStyle/>
          <a:p>
            <a:r>
              <a:rPr lang="en-GB" altLang="en-US" sz="4000" dirty="0"/>
              <a:t>Externalities</a:t>
            </a:r>
            <a:endParaRPr lang="en-GB" dirty="0"/>
          </a:p>
        </p:txBody>
      </p:sp>
      <p:pic>
        <p:nvPicPr>
          <p:cNvPr id="4" name="Content Placeholder 3">
            <a:extLst>
              <a:ext uri="{FF2B5EF4-FFF2-40B4-BE49-F238E27FC236}">
                <a16:creationId xmlns:a16="http://schemas.microsoft.com/office/drawing/2014/main" id="{0E9D2696-D83C-2178-CFE5-9B74680C51C7}"/>
              </a:ext>
            </a:extLst>
          </p:cNvPr>
          <p:cNvPicPr>
            <a:picLocks noGrp="1" noChangeAspect="1"/>
          </p:cNvPicPr>
          <p:nvPr>
            <p:ph idx="1"/>
          </p:nvPr>
        </p:nvPicPr>
        <p:blipFill>
          <a:blip r:embed="rId2"/>
          <a:stretch>
            <a:fillRect/>
          </a:stretch>
        </p:blipFill>
        <p:spPr>
          <a:xfrm>
            <a:off x="520997" y="1952679"/>
            <a:ext cx="5388817" cy="3730719"/>
          </a:xfrm>
          <a:prstGeom prst="rect">
            <a:avLst/>
          </a:prstGeom>
        </p:spPr>
      </p:pic>
      <p:pic>
        <p:nvPicPr>
          <p:cNvPr id="5" name="Picture 4">
            <a:extLst>
              <a:ext uri="{FF2B5EF4-FFF2-40B4-BE49-F238E27FC236}">
                <a16:creationId xmlns:a16="http://schemas.microsoft.com/office/drawing/2014/main" id="{216A9F19-0081-0581-7F0F-36BABAB6B177}"/>
              </a:ext>
            </a:extLst>
          </p:cNvPr>
          <p:cNvPicPr>
            <a:picLocks noChangeAspect="1"/>
          </p:cNvPicPr>
          <p:nvPr/>
        </p:nvPicPr>
        <p:blipFill>
          <a:blip r:embed="rId3"/>
          <a:stretch>
            <a:fillRect/>
          </a:stretch>
        </p:blipFill>
        <p:spPr>
          <a:xfrm>
            <a:off x="6278526" y="1951363"/>
            <a:ext cx="5390718" cy="3732035"/>
          </a:xfrm>
          <a:prstGeom prst="rect">
            <a:avLst/>
          </a:prstGeom>
        </p:spPr>
      </p:pic>
    </p:spTree>
    <p:extLst>
      <p:ext uri="{BB962C8B-B14F-4D97-AF65-F5344CB8AC3E}">
        <p14:creationId xmlns:p14="http://schemas.microsoft.com/office/powerpoint/2010/main" val="2449527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8578" name="Rectangle 2">
            <a:extLst>
              <a:ext uri="{FF2B5EF4-FFF2-40B4-BE49-F238E27FC236}">
                <a16:creationId xmlns:a16="http://schemas.microsoft.com/office/drawing/2014/main" id="{04051D73-DCF9-46A5-BF3F-614A9C8BFDAA}"/>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8579" name="Rectangle 3">
            <a:extLst>
              <a:ext uri="{FF2B5EF4-FFF2-40B4-BE49-F238E27FC236}">
                <a16:creationId xmlns:a16="http://schemas.microsoft.com/office/drawing/2014/main" id="{2881C309-FD4D-4D93-8867-5958F39E9195}"/>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8582" name="Rectangle 6">
            <a:extLst>
              <a:ext uri="{FF2B5EF4-FFF2-40B4-BE49-F238E27FC236}">
                <a16:creationId xmlns:a16="http://schemas.microsoft.com/office/drawing/2014/main" id="{0E08AB9E-8081-419A-BC86-7B5424E8BECC}"/>
              </a:ext>
            </a:extLst>
          </p:cNvPr>
          <p:cNvSpPr>
            <a:spLocks noGrp="1"/>
          </p:cNvSpPr>
          <p:nvPr>
            <p:ph type="title"/>
          </p:nvPr>
        </p:nvSpPr>
        <p:spPr/>
        <p:txBody>
          <a:bodyPr/>
          <a:lstStyle/>
          <a:p>
            <a:r>
              <a:rPr lang="en-GB" altLang="en-US"/>
              <a:t>Types of Market Failure</a:t>
            </a:r>
          </a:p>
        </p:txBody>
      </p:sp>
      <p:sp>
        <p:nvSpPr>
          <p:cNvPr id="408583" name="Rectangle 7">
            <a:extLst>
              <a:ext uri="{FF2B5EF4-FFF2-40B4-BE49-F238E27FC236}">
                <a16:creationId xmlns:a16="http://schemas.microsoft.com/office/drawing/2014/main" id="{280FDCFF-4AD3-4568-83F2-7369DBD35996}"/>
              </a:ext>
            </a:extLst>
          </p:cNvPr>
          <p:cNvSpPr>
            <a:spLocks noGrp="1"/>
          </p:cNvSpPr>
          <p:nvPr>
            <p:ph idx="1"/>
          </p:nvPr>
        </p:nvSpPr>
        <p:spPr/>
        <p:txBody>
          <a:bodyPr/>
          <a:lstStyle/>
          <a:p>
            <a:pPr>
              <a:lnSpc>
                <a:spcPct val="100000"/>
              </a:lnSpc>
              <a:spcBef>
                <a:spcPct val="7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Public goods:</a:t>
            </a:r>
            <a:br>
              <a:rPr lang="en-GB" altLang="en-US" sz="2000" dirty="0">
                <a:latin typeface="Calibri" panose="020F0502020204030204" pitchFamily="34" charset="0"/>
                <a:ea typeface="Calibri" panose="020F0502020204030204" pitchFamily="34" charset="0"/>
                <a:cs typeface="Calibri" panose="020F0502020204030204" pitchFamily="34" charset="0"/>
              </a:rPr>
            </a:br>
            <a:r>
              <a:rPr lang="en-GB" altLang="en-US" sz="2000" dirty="0">
                <a:latin typeface="Calibri" panose="020F0502020204030204" pitchFamily="34" charset="0"/>
                <a:ea typeface="Calibri" panose="020F0502020204030204" pitchFamily="34" charset="0"/>
                <a:cs typeface="Calibri" panose="020F0502020204030204" pitchFamily="34" charset="0"/>
              </a:rPr>
              <a:t>importance of two characteristics </a:t>
            </a:r>
          </a:p>
          <a:p>
            <a:pPr lvl="1">
              <a:lnSpc>
                <a:spcPct val="100000"/>
              </a:lnSpc>
              <a:spcBef>
                <a:spcPct val="7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the degree of rivalry</a:t>
            </a:r>
          </a:p>
          <a:p>
            <a:pPr lvl="2">
              <a:lnSpc>
                <a:spcPct val="100000"/>
              </a:lnSpc>
              <a:spcBef>
                <a:spcPct val="7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to what extent does consumption by one person prevent all other consumers from enjoying the good?</a:t>
            </a:r>
          </a:p>
          <a:p>
            <a:pPr lvl="1">
              <a:lnSpc>
                <a:spcPct val="100000"/>
              </a:lnSpc>
              <a:spcBef>
                <a:spcPct val="7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the ease of excludability</a:t>
            </a:r>
          </a:p>
          <a:p>
            <a:pPr lvl="2">
              <a:lnSpc>
                <a:spcPct val="100000"/>
              </a:lnSpc>
              <a:spcBef>
                <a:spcPct val="7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how easy is it to prevent non-payers from consuming the good?</a:t>
            </a:r>
          </a:p>
        </p:txBody>
      </p:sp>
    </p:spTree>
    <p:extLst>
      <p:ext uri="{BB962C8B-B14F-4D97-AF65-F5344CB8AC3E}">
        <p14:creationId xmlns:p14="http://schemas.microsoft.com/office/powerpoint/2010/main" val="3726976854"/>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8583">
                                            <p:txEl>
                                              <p:pRg st="0" end="0"/>
                                            </p:txEl>
                                          </p:spTgt>
                                        </p:tgtEl>
                                        <p:attrNameLst>
                                          <p:attrName>style.visibility</p:attrName>
                                        </p:attrNameLst>
                                      </p:cBhvr>
                                      <p:to>
                                        <p:strVal val="visible"/>
                                      </p:to>
                                    </p:set>
                                    <p:anim calcmode="lin" valueType="num">
                                      <p:cBhvr additive="base">
                                        <p:cTn id="7" dur="500"/>
                                        <p:tgtEl>
                                          <p:spTgt spid="40858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8583">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8583">
                                            <p:txEl>
                                              <p:pRg st="1" end="1"/>
                                            </p:txEl>
                                          </p:spTgt>
                                        </p:tgtEl>
                                        <p:attrNameLst>
                                          <p:attrName>style.visibility</p:attrName>
                                        </p:attrNameLst>
                                      </p:cBhvr>
                                      <p:to>
                                        <p:strVal val="visible"/>
                                      </p:to>
                                    </p:set>
                                    <p:anim calcmode="lin" valueType="num">
                                      <p:cBhvr additive="base">
                                        <p:cTn id="13" dur="500"/>
                                        <p:tgtEl>
                                          <p:spTgt spid="40858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8583">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408583">
                                            <p:txEl>
                                              <p:pRg st="2" end="2"/>
                                            </p:txEl>
                                          </p:spTgt>
                                        </p:tgtEl>
                                        <p:attrNameLst>
                                          <p:attrName>style.visibility</p:attrName>
                                        </p:attrNameLst>
                                      </p:cBhvr>
                                      <p:to>
                                        <p:strVal val="visible"/>
                                      </p:to>
                                    </p:set>
                                    <p:anim calcmode="lin" valueType="num">
                                      <p:cBhvr additive="base">
                                        <p:cTn id="17" dur="500"/>
                                        <p:tgtEl>
                                          <p:spTgt spid="408583">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08583">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408583">
                                            <p:txEl>
                                              <p:pRg st="3" end="3"/>
                                            </p:txEl>
                                          </p:spTgt>
                                        </p:tgtEl>
                                        <p:attrNameLst>
                                          <p:attrName>style.visibility</p:attrName>
                                        </p:attrNameLst>
                                      </p:cBhvr>
                                      <p:to>
                                        <p:strVal val="visible"/>
                                      </p:to>
                                    </p:set>
                                    <p:anim calcmode="lin" valueType="num">
                                      <p:cBhvr additive="base">
                                        <p:cTn id="23" dur="500"/>
                                        <p:tgtEl>
                                          <p:spTgt spid="408583">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408583">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408583">
                                            <p:txEl>
                                              <p:pRg st="4" end="4"/>
                                            </p:txEl>
                                          </p:spTgt>
                                        </p:tgtEl>
                                        <p:attrNameLst>
                                          <p:attrName>style.visibility</p:attrName>
                                        </p:attrNameLst>
                                      </p:cBhvr>
                                      <p:to>
                                        <p:strVal val="visible"/>
                                      </p:to>
                                    </p:set>
                                    <p:anim calcmode="lin" valueType="num">
                                      <p:cBhvr additive="base">
                                        <p:cTn id="27" dur="500"/>
                                        <p:tgtEl>
                                          <p:spTgt spid="408583">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4085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83" grpId="0" build="p" bldLvl="2"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8578" name="Rectangle 2">
            <a:extLst>
              <a:ext uri="{FF2B5EF4-FFF2-40B4-BE49-F238E27FC236}">
                <a16:creationId xmlns:a16="http://schemas.microsoft.com/office/drawing/2014/main" id="{04051D73-DCF9-46A5-BF3F-614A9C8BFDAA}"/>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8579" name="Rectangle 3">
            <a:extLst>
              <a:ext uri="{FF2B5EF4-FFF2-40B4-BE49-F238E27FC236}">
                <a16:creationId xmlns:a16="http://schemas.microsoft.com/office/drawing/2014/main" id="{2881C309-FD4D-4D93-8867-5958F39E9195}"/>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8582" name="Rectangle 6">
            <a:extLst>
              <a:ext uri="{FF2B5EF4-FFF2-40B4-BE49-F238E27FC236}">
                <a16:creationId xmlns:a16="http://schemas.microsoft.com/office/drawing/2014/main" id="{0E08AB9E-8081-419A-BC86-7B5424E8BECC}"/>
              </a:ext>
            </a:extLst>
          </p:cNvPr>
          <p:cNvSpPr>
            <a:spLocks noGrp="1"/>
          </p:cNvSpPr>
          <p:nvPr>
            <p:ph type="title"/>
          </p:nvPr>
        </p:nvSpPr>
        <p:spPr/>
        <p:txBody>
          <a:bodyPr/>
          <a:lstStyle/>
          <a:p>
            <a:r>
              <a:rPr lang="en-GB" altLang="en-US"/>
              <a:t>Types of Market Failure</a:t>
            </a:r>
          </a:p>
        </p:txBody>
      </p:sp>
      <p:sp>
        <p:nvSpPr>
          <p:cNvPr id="408583" name="Rectangle 7">
            <a:extLst>
              <a:ext uri="{FF2B5EF4-FFF2-40B4-BE49-F238E27FC236}">
                <a16:creationId xmlns:a16="http://schemas.microsoft.com/office/drawing/2014/main" id="{280FDCFF-4AD3-4568-83F2-7369DBD35996}"/>
              </a:ext>
            </a:extLst>
          </p:cNvPr>
          <p:cNvSpPr>
            <a:spLocks noGrp="1"/>
          </p:cNvSpPr>
          <p:nvPr>
            <p:ph idx="1"/>
          </p:nvPr>
        </p:nvSpPr>
        <p:spPr/>
        <p:txBody>
          <a:bodyPr>
            <a:normAutofit lnSpcReduction="10000"/>
          </a:bodyPr>
          <a:lstStyle/>
          <a:p>
            <a:pPr>
              <a:lnSpc>
                <a:spcPct val="100000"/>
              </a:lnSpc>
              <a:spcBef>
                <a:spcPct val="7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Rivalry and excludability</a:t>
            </a:r>
          </a:p>
          <a:p>
            <a:pPr>
              <a:lnSpc>
                <a:spcPct val="100000"/>
              </a:lnSpc>
              <a:spcBef>
                <a:spcPct val="7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Consider these four goods or services</a:t>
            </a:r>
          </a:p>
          <a:p>
            <a:pPr lvl="1">
              <a:lnSpc>
                <a:spcPct val="100000"/>
              </a:lnSpc>
              <a:spcBef>
                <a:spcPct val="7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Supermarket food, the road network, music streaming, sunlight</a:t>
            </a:r>
          </a:p>
          <a:p>
            <a:pPr>
              <a:lnSpc>
                <a:spcPct val="100000"/>
              </a:lnSpc>
              <a:spcBef>
                <a:spcPct val="7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Apply these two properties of goods and services:</a:t>
            </a:r>
          </a:p>
          <a:p>
            <a:pPr lvl="1">
              <a:lnSpc>
                <a:spcPct val="100000"/>
              </a:lnSpc>
              <a:spcBef>
                <a:spcPct val="7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Rivalry:</a:t>
            </a:r>
            <a:r>
              <a:rPr lang="en-GB" altLang="en-US" sz="2000" dirty="0">
                <a:latin typeface="Calibri" panose="020F0502020204030204" pitchFamily="34" charset="0"/>
                <a:ea typeface="Calibri" panose="020F0502020204030204" pitchFamily="34" charset="0"/>
                <a:cs typeface="Calibri" panose="020F0502020204030204" pitchFamily="34" charset="0"/>
              </a:rPr>
              <a:t> consumption by one person prevents other consumers from enjoying those units of a good or service</a:t>
            </a:r>
          </a:p>
          <a:p>
            <a:pPr lvl="2">
              <a:lnSpc>
                <a:spcPct val="100000"/>
              </a:lnSpc>
              <a:spcBef>
                <a:spcPct val="7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extent to which your consumption precludes my consumption</a:t>
            </a:r>
          </a:p>
          <a:p>
            <a:pPr lvl="1">
              <a:lnSpc>
                <a:spcPct val="100000"/>
              </a:lnSpc>
              <a:spcBef>
                <a:spcPct val="7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Excludability:</a:t>
            </a:r>
            <a:r>
              <a:rPr lang="en-GB" altLang="en-US" sz="2000" dirty="0">
                <a:latin typeface="Calibri" panose="020F0502020204030204" pitchFamily="34" charset="0"/>
                <a:ea typeface="Calibri" panose="020F0502020204030204" pitchFamily="34" charset="0"/>
                <a:cs typeface="Calibri" panose="020F0502020204030204" pitchFamily="34" charset="0"/>
              </a:rPr>
              <a:t> producers of the good can</a:t>
            </a:r>
            <a:r>
              <a:rPr lang="en-GB" altLang="en-US" sz="2000" b="1" dirty="0">
                <a:latin typeface="Calibri" panose="020F0502020204030204" pitchFamily="34" charset="0"/>
                <a:ea typeface="Calibri" panose="020F0502020204030204" pitchFamily="34" charset="0"/>
                <a:cs typeface="Calibri" panose="020F0502020204030204" pitchFamily="34" charset="0"/>
              </a:rPr>
              <a:t> </a:t>
            </a:r>
            <a:r>
              <a:rPr lang="en-GB" altLang="en-US" sz="2000" dirty="0">
                <a:latin typeface="Calibri" panose="020F0502020204030204" pitchFamily="34" charset="0"/>
                <a:ea typeface="Calibri" panose="020F0502020204030204" pitchFamily="34" charset="0"/>
                <a:cs typeface="Calibri" panose="020F0502020204030204" pitchFamily="34" charset="0"/>
              </a:rPr>
              <a:t>prevent non-payers from consuming units of the good or service</a:t>
            </a:r>
          </a:p>
          <a:p>
            <a:pPr lvl="2">
              <a:lnSpc>
                <a:spcPct val="100000"/>
              </a:lnSpc>
              <a:spcBef>
                <a:spcPct val="7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extent to which we have to compete for access to the good</a:t>
            </a:r>
          </a:p>
        </p:txBody>
      </p:sp>
    </p:spTree>
    <p:extLst>
      <p:ext uri="{BB962C8B-B14F-4D97-AF65-F5344CB8AC3E}">
        <p14:creationId xmlns:p14="http://schemas.microsoft.com/office/powerpoint/2010/main" val="286311660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8583">
                                            <p:txEl>
                                              <p:pRg st="0" end="0"/>
                                            </p:txEl>
                                          </p:spTgt>
                                        </p:tgtEl>
                                        <p:attrNameLst>
                                          <p:attrName>style.visibility</p:attrName>
                                        </p:attrNameLst>
                                      </p:cBhvr>
                                      <p:to>
                                        <p:strVal val="visible"/>
                                      </p:to>
                                    </p:set>
                                    <p:anim calcmode="lin" valueType="num">
                                      <p:cBhvr additive="base">
                                        <p:cTn id="7" dur="500"/>
                                        <p:tgtEl>
                                          <p:spTgt spid="40858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858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8583">
                                            <p:txEl>
                                              <p:pRg st="1" end="1"/>
                                            </p:txEl>
                                          </p:spTgt>
                                        </p:tgtEl>
                                        <p:attrNameLst>
                                          <p:attrName>style.visibility</p:attrName>
                                        </p:attrNameLst>
                                      </p:cBhvr>
                                      <p:to>
                                        <p:strVal val="visible"/>
                                      </p:to>
                                    </p:set>
                                    <p:anim calcmode="lin" valueType="num">
                                      <p:cBhvr additive="base">
                                        <p:cTn id="13" dur="500"/>
                                        <p:tgtEl>
                                          <p:spTgt spid="40858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858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8583">
                                            <p:txEl>
                                              <p:pRg st="2" end="2"/>
                                            </p:txEl>
                                          </p:spTgt>
                                        </p:tgtEl>
                                        <p:attrNameLst>
                                          <p:attrName>style.visibility</p:attrName>
                                        </p:attrNameLst>
                                      </p:cBhvr>
                                      <p:to>
                                        <p:strVal val="visible"/>
                                      </p:to>
                                    </p:set>
                                    <p:anim calcmode="lin" valueType="num">
                                      <p:cBhvr additive="base">
                                        <p:cTn id="19" dur="500"/>
                                        <p:tgtEl>
                                          <p:spTgt spid="40858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858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8583">
                                            <p:txEl>
                                              <p:pRg st="3" end="3"/>
                                            </p:txEl>
                                          </p:spTgt>
                                        </p:tgtEl>
                                        <p:attrNameLst>
                                          <p:attrName>style.visibility</p:attrName>
                                        </p:attrNameLst>
                                      </p:cBhvr>
                                      <p:to>
                                        <p:strVal val="visible"/>
                                      </p:to>
                                    </p:set>
                                    <p:anim calcmode="lin" valueType="num">
                                      <p:cBhvr additive="base">
                                        <p:cTn id="25" dur="500"/>
                                        <p:tgtEl>
                                          <p:spTgt spid="40858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858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8583">
                                            <p:txEl>
                                              <p:pRg st="4" end="4"/>
                                            </p:txEl>
                                          </p:spTgt>
                                        </p:tgtEl>
                                        <p:attrNameLst>
                                          <p:attrName>style.visibility</p:attrName>
                                        </p:attrNameLst>
                                      </p:cBhvr>
                                      <p:to>
                                        <p:strVal val="visible"/>
                                      </p:to>
                                    </p:set>
                                    <p:anim calcmode="lin" valueType="num">
                                      <p:cBhvr additive="base">
                                        <p:cTn id="31" dur="500"/>
                                        <p:tgtEl>
                                          <p:spTgt spid="40858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8583">
                                            <p:txEl>
                                              <p:pRg st="4" end="4"/>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408583">
                                            <p:txEl>
                                              <p:pRg st="5" end="5"/>
                                            </p:txEl>
                                          </p:spTgt>
                                        </p:tgtEl>
                                        <p:attrNameLst>
                                          <p:attrName>style.visibility</p:attrName>
                                        </p:attrNameLst>
                                      </p:cBhvr>
                                      <p:to>
                                        <p:strVal val="visible"/>
                                      </p:to>
                                    </p:set>
                                    <p:anim calcmode="lin" valueType="num">
                                      <p:cBhvr additive="base">
                                        <p:cTn id="35" dur="500"/>
                                        <p:tgtEl>
                                          <p:spTgt spid="408583">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408583">
                                            <p:txEl>
                                              <p:pRg st="5" end="5"/>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408583">
                                            <p:txEl>
                                              <p:pRg st="6" end="6"/>
                                            </p:txEl>
                                          </p:spTgt>
                                        </p:tgtEl>
                                        <p:attrNameLst>
                                          <p:attrName>style.visibility</p:attrName>
                                        </p:attrNameLst>
                                      </p:cBhvr>
                                      <p:to>
                                        <p:strVal val="visible"/>
                                      </p:to>
                                    </p:set>
                                    <p:anim calcmode="lin" valueType="num">
                                      <p:cBhvr additive="base">
                                        <p:cTn id="41" dur="500"/>
                                        <p:tgtEl>
                                          <p:spTgt spid="408583">
                                            <p:txEl>
                                              <p:pRg st="6" end="6"/>
                                            </p:txEl>
                                          </p:spTgt>
                                        </p:tgtEl>
                                        <p:attrNameLst>
                                          <p:attrName>ppt_y</p:attrName>
                                        </p:attrNameLst>
                                      </p:cBhvr>
                                      <p:tavLst>
                                        <p:tav tm="0">
                                          <p:val>
                                            <p:strVal val="#ppt_y+#ppt_h*1.125000"/>
                                          </p:val>
                                        </p:tav>
                                        <p:tav tm="100000">
                                          <p:val>
                                            <p:strVal val="#ppt_y"/>
                                          </p:val>
                                        </p:tav>
                                      </p:tavLst>
                                    </p:anim>
                                    <p:animEffect transition="in" filter="wipe(up)">
                                      <p:cBhvr>
                                        <p:cTn id="42" dur="500"/>
                                        <p:tgtEl>
                                          <p:spTgt spid="408583">
                                            <p:txEl>
                                              <p:pRg st="6" end="6"/>
                                            </p:txEl>
                                          </p:spTgt>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408583">
                                            <p:txEl>
                                              <p:pRg st="7" end="7"/>
                                            </p:txEl>
                                          </p:spTgt>
                                        </p:tgtEl>
                                        <p:attrNameLst>
                                          <p:attrName>style.visibility</p:attrName>
                                        </p:attrNameLst>
                                      </p:cBhvr>
                                      <p:to>
                                        <p:strVal val="visible"/>
                                      </p:to>
                                    </p:set>
                                    <p:anim calcmode="lin" valueType="num">
                                      <p:cBhvr additive="base">
                                        <p:cTn id="45" dur="500"/>
                                        <p:tgtEl>
                                          <p:spTgt spid="408583">
                                            <p:txEl>
                                              <p:pRg st="7" end="7"/>
                                            </p:txEl>
                                          </p:spTgt>
                                        </p:tgtEl>
                                        <p:attrNameLst>
                                          <p:attrName>ppt_y</p:attrName>
                                        </p:attrNameLst>
                                      </p:cBhvr>
                                      <p:tavLst>
                                        <p:tav tm="0">
                                          <p:val>
                                            <p:strVal val="#ppt_y+#ppt_h*1.125000"/>
                                          </p:val>
                                        </p:tav>
                                        <p:tav tm="100000">
                                          <p:val>
                                            <p:strVal val="#ppt_y"/>
                                          </p:val>
                                        </p:tav>
                                      </p:tavLst>
                                    </p:anim>
                                    <p:animEffect transition="in" filter="wipe(up)">
                                      <p:cBhvr>
                                        <p:cTn id="46" dur="500"/>
                                        <p:tgtEl>
                                          <p:spTgt spid="4085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83" grpId="0" build="p" bldLvl="2"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C97C4098-F748-408C-923F-6A881B3DC908}"/>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27" name="Rectangle 3">
            <a:extLst>
              <a:ext uri="{FF2B5EF4-FFF2-40B4-BE49-F238E27FC236}">
                <a16:creationId xmlns:a16="http://schemas.microsoft.com/office/drawing/2014/main" id="{D07CD456-4BE8-4570-BFD8-3FE51CD946D8}"/>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30" name="Rectangle 6">
            <a:extLst>
              <a:ext uri="{FF2B5EF4-FFF2-40B4-BE49-F238E27FC236}">
                <a16:creationId xmlns:a16="http://schemas.microsoft.com/office/drawing/2014/main" id="{AF344B9A-1717-43FB-8725-E038F9CBA203}"/>
              </a:ext>
            </a:extLst>
          </p:cNvPr>
          <p:cNvSpPr>
            <a:spLocks noGrp="1"/>
          </p:cNvSpPr>
          <p:nvPr>
            <p:ph type="title"/>
          </p:nvPr>
        </p:nvSpPr>
        <p:spPr/>
        <p:txBody>
          <a:bodyPr/>
          <a:lstStyle/>
          <a:p>
            <a:r>
              <a:rPr lang="en-GB" altLang="en-US"/>
              <a:t>Types of Market Failure</a:t>
            </a:r>
          </a:p>
        </p:txBody>
      </p:sp>
      <p:sp>
        <p:nvSpPr>
          <p:cNvPr id="410631" name="Rectangle 7">
            <a:extLst>
              <a:ext uri="{FF2B5EF4-FFF2-40B4-BE49-F238E27FC236}">
                <a16:creationId xmlns:a16="http://schemas.microsoft.com/office/drawing/2014/main" id="{7E66C938-FFD3-490F-BACE-C85554119B9B}"/>
              </a:ext>
            </a:extLst>
          </p:cNvPr>
          <p:cNvSpPr>
            <a:spLocks noGrp="1"/>
          </p:cNvSpPr>
          <p:nvPr>
            <p:ph idx="1"/>
          </p:nvPr>
        </p:nvSpPr>
        <p:spPr/>
        <p:txBody>
          <a:bodyPr/>
          <a:lstStyle/>
          <a:p>
            <a:r>
              <a:rPr lang="en-GB" altLang="en-US" sz="2000" dirty="0">
                <a:latin typeface="Calibri" panose="020F0502020204030204" pitchFamily="34" charset="0"/>
                <a:ea typeface="Calibri" panose="020F0502020204030204" pitchFamily="34" charset="0"/>
                <a:cs typeface="Calibri" panose="020F0502020204030204" pitchFamily="34" charset="0"/>
              </a:rPr>
              <a:t>Rivalry and excludability: examples</a:t>
            </a:r>
          </a:p>
          <a:p>
            <a:pPr lvl="1"/>
            <a:r>
              <a:rPr lang="en-GB" altLang="en-US" sz="2000" dirty="0">
                <a:latin typeface="Calibri" panose="020F0502020204030204" pitchFamily="34" charset="0"/>
                <a:ea typeface="Calibri" panose="020F0502020204030204" pitchFamily="34" charset="0"/>
                <a:cs typeface="Calibri" panose="020F0502020204030204" pitchFamily="34" charset="0"/>
              </a:rPr>
              <a:t>Visit a supermarket, buy food</a:t>
            </a:r>
          </a:p>
          <a:p>
            <a:pPr lvl="2"/>
            <a:r>
              <a:rPr lang="en-GB" altLang="en-US" sz="2000" dirty="0">
                <a:latin typeface="Calibri" panose="020F0502020204030204" pitchFamily="34" charset="0"/>
                <a:ea typeface="Calibri" panose="020F0502020204030204" pitchFamily="34" charset="0"/>
                <a:cs typeface="Calibri" panose="020F0502020204030204" pitchFamily="34" charset="0"/>
              </a:rPr>
              <a:t>Becomes your property, do what you wish with it (eat it, donate it to a food bank)</a:t>
            </a:r>
          </a:p>
          <a:p>
            <a:pPr lvl="2"/>
            <a:r>
              <a:rPr lang="en-GB" altLang="en-US" sz="2000" dirty="0">
                <a:latin typeface="Calibri" panose="020F0502020204030204" pitchFamily="34" charset="0"/>
                <a:ea typeface="Calibri" panose="020F0502020204030204" pitchFamily="34" charset="0"/>
                <a:cs typeface="Calibri" panose="020F0502020204030204" pitchFamily="34" charset="0"/>
              </a:rPr>
              <a:t>rivalrous and excludable: </a:t>
            </a:r>
            <a:r>
              <a:rPr lang="en-GB" alt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private good</a:t>
            </a:r>
          </a:p>
          <a:p>
            <a:pPr lvl="1"/>
            <a:r>
              <a:rPr lang="en-GB" altLang="en-US" sz="2000" dirty="0">
                <a:latin typeface="Calibri" panose="020F0502020204030204" pitchFamily="34" charset="0"/>
                <a:ea typeface="Calibri" panose="020F0502020204030204" pitchFamily="34" charset="0"/>
                <a:cs typeface="Calibri" panose="020F0502020204030204" pitchFamily="34" charset="0"/>
              </a:rPr>
              <a:t>Drive your car to campus arriving at 9am</a:t>
            </a:r>
          </a:p>
          <a:p>
            <a:pPr lvl="2"/>
            <a:r>
              <a:rPr lang="en-GB" altLang="en-US" sz="2000" dirty="0">
                <a:latin typeface="Calibri" panose="020F0502020204030204" pitchFamily="34" charset="0"/>
                <a:ea typeface="Calibri" panose="020F0502020204030204" pitchFamily="34" charset="0"/>
                <a:cs typeface="Calibri" panose="020F0502020204030204" pitchFamily="34" charset="0"/>
              </a:rPr>
              <a:t>Plenty of other people have the same plan – so there is congestion</a:t>
            </a:r>
          </a:p>
          <a:p>
            <a:pPr lvl="2"/>
            <a:r>
              <a:rPr lang="en-GB" altLang="en-US" sz="2000" dirty="0">
                <a:latin typeface="Calibri" panose="020F0502020204030204" pitchFamily="34" charset="0"/>
                <a:ea typeface="Calibri" panose="020F0502020204030204" pitchFamily="34" charset="0"/>
                <a:cs typeface="Calibri" panose="020F0502020204030204" pitchFamily="34" charset="0"/>
              </a:rPr>
              <a:t>Rivalrous (capacity constraint) but non-excludable: </a:t>
            </a:r>
            <a:r>
              <a:rPr lang="en-GB" alt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common good</a:t>
            </a: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lvl="1"/>
            <a:r>
              <a:rPr lang="en-GB" altLang="en-US" sz="2000" dirty="0">
                <a:latin typeface="Calibri" panose="020F0502020204030204" pitchFamily="34" charset="0"/>
                <a:ea typeface="Calibri" panose="020F0502020204030204" pitchFamily="34" charset="0"/>
                <a:cs typeface="Calibri" panose="020F0502020204030204" pitchFamily="34" charset="0"/>
              </a:rPr>
              <a:t>Music streaming (and downloads)</a:t>
            </a:r>
          </a:p>
          <a:p>
            <a:pPr lvl="2"/>
            <a:r>
              <a:rPr lang="en-GB" altLang="en-US" sz="2000" dirty="0">
                <a:latin typeface="Calibri" panose="020F0502020204030204" pitchFamily="34" charset="0"/>
                <a:ea typeface="Calibri" panose="020F0502020204030204" pitchFamily="34" charset="0"/>
                <a:cs typeface="Calibri" panose="020F0502020204030204" pitchFamily="34" charset="0"/>
              </a:rPr>
              <a:t>Doesn’t matter how popular it is – buy access for a fee</a:t>
            </a:r>
          </a:p>
          <a:p>
            <a:pPr lvl="2"/>
            <a:r>
              <a:rPr lang="en-GB" altLang="en-US" sz="2000" dirty="0">
                <a:latin typeface="Calibri" panose="020F0502020204030204" pitchFamily="34" charset="0"/>
                <a:ea typeface="Calibri" panose="020F0502020204030204" pitchFamily="34" charset="0"/>
                <a:cs typeface="Calibri" panose="020F0502020204030204" pitchFamily="34" charset="0"/>
              </a:rPr>
              <a:t>Excludable (members only), but non-rivalrous: </a:t>
            </a:r>
            <a:r>
              <a:rPr lang="en-GB" alt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club good</a:t>
            </a:r>
            <a:r>
              <a:rPr lang="en-GB" altLang="en-US" sz="2000" dirty="0">
                <a:latin typeface="Calibri" panose="020F0502020204030204" pitchFamily="34" charset="0"/>
                <a:ea typeface="Calibri" panose="020F0502020204030204" pitchFamily="34" charset="0"/>
                <a:cs typeface="Calibri" panose="020F0502020204030204" pitchFamily="34" charset="0"/>
              </a:rPr>
              <a:t> </a:t>
            </a:r>
          </a:p>
          <a:p>
            <a:pPr lvl="1"/>
            <a:r>
              <a:rPr lang="en-GB" altLang="en-US" sz="2000" dirty="0">
                <a:latin typeface="Calibri" panose="020F0502020204030204" pitchFamily="34" charset="0"/>
                <a:ea typeface="Calibri" panose="020F0502020204030204" pitchFamily="34" charset="0"/>
                <a:cs typeface="Calibri" panose="020F0502020204030204" pitchFamily="34" charset="0"/>
              </a:rPr>
              <a:t>Sunlight</a:t>
            </a:r>
          </a:p>
          <a:p>
            <a:pPr lvl="2"/>
            <a:r>
              <a:rPr lang="en-GB" altLang="en-US" sz="2000" dirty="0">
                <a:latin typeface="Calibri" panose="020F0502020204030204" pitchFamily="34" charset="0"/>
                <a:ea typeface="Calibri" panose="020F0502020204030204" pitchFamily="34" charset="0"/>
                <a:cs typeface="Calibri" panose="020F0502020204030204" pitchFamily="34" charset="0"/>
              </a:rPr>
              <a:t>More in Dubai than in Edinburgh</a:t>
            </a:r>
          </a:p>
          <a:p>
            <a:pPr lvl="2"/>
            <a:r>
              <a:rPr lang="en-GB" altLang="en-US" sz="2000" dirty="0">
                <a:latin typeface="Calibri" panose="020F0502020204030204" pitchFamily="34" charset="0"/>
                <a:ea typeface="Calibri" panose="020F0502020204030204" pitchFamily="34" charset="0"/>
                <a:cs typeface="Calibri" panose="020F0502020204030204" pitchFamily="34" charset="0"/>
              </a:rPr>
              <a:t>Non-excludable, non-rivalrous: </a:t>
            </a:r>
            <a:r>
              <a:rPr lang="en-GB" alt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public good</a:t>
            </a:r>
          </a:p>
        </p:txBody>
      </p:sp>
    </p:spTree>
    <p:extLst>
      <p:ext uri="{BB962C8B-B14F-4D97-AF65-F5344CB8AC3E}">
        <p14:creationId xmlns:p14="http://schemas.microsoft.com/office/powerpoint/2010/main" val="2085737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0631">
                                            <p:txEl>
                                              <p:pRg st="0" end="0"/>
                                            </p:txEl>
                                          </p:spTgt>
                                        </p:tgtEl>
                                        <p:attrNameLst>
                                          <p:attrName>style.visibility</p:attrName>
                                        </p:attrNameLst>
                                      </p:cBhvr>
                                      <p:to>
                                        <p:strVal val="visible"/>
                                      </p:to>
                                    </p:set>
                                    <p:anim calcmode="lin" valueType="num">
                                      <p:cBhvr additive="base">
                                        <p:cTn id="7" dur="500"/>
                                        <p:tgtEl>
                                          <p:spTgt spid="41063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063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0631">
                                            <p:txEl>
                                              <p:pRg st="1" end="1"/>
                                            </p:txEl>
                                          </p:spTgt>
                                        </p:tgtEl>
                                        <p:attrNameLst>
                                          <p:attrName>style.visibility</p:attrName>
                                        </p:attrNameLst>
                                      </p:cBhvr>
                                      <p:to>
                                        <p:strVal val="visible"/>
                                      </p:to>
                                    </p:set>
                                    <p:anim calcmode="lin" valueType="num">
                                      <p:cBhvr additive="base">
                                        <p:cTn id="13" dur="500"/>
                                        <p:tgtEl>
                                          <p:spTgt spid="41063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063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0631">
                                            <p:txEl>
                                              <p:pRg st="2" end="2"/>
                                            </p:txEl>
                                          </p:spTgt>
                                        </p:tgtEl>
                                        <p:attrNameLst>
                                          <p:attrName>style.visibility</p:attrName>
                                        </p:attrNameLst>
                                      </p:cBhvr>
                                      <p:to>
                                        <p:strVal val="visible"/>
                                      </p:to>
                                    </p:set>
                                    <p:anim calcmode="lin" valueType="num">
                                      <p:cBhvr additive="base">
                                        <p:cTn id="19" dur="500"/>
                                        <p:tgtEl>
                                          <p:spTgt spid="41063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0631">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0631">
                                            <p:txEl>
                                              <p:pRg st="3" end="3"/>
                                            </p:txEl>
                                          </p:spTgt>
                                        </p:tgtEl>
                                        <p:attrNameLst>
                                          <p:attrName>style.visibility</p:attrName>
                                        </p:attrNameLst>
                                      </p:cBhvr>
                                      <p:to>
                                        <p:strVal val="visible"/>
                                      </p:to>
                                    </p:set>
                                    <p:anim calcmode="lin" valueType="num">
                                      <p:cBhvr additive="base">
                                        <p:cTn id="25" dur="500"/>
                                        <p:tgtEl>
                                          <p:spTgt spid="41063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063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10631">
                                            <p:txEl>
                                              <p:pRg st="4" end="4"/>
                                            </p:txEl>
                                          </p:spTgt>
                                        </p:tgtEl>
                                        <p:attrNameLst>
                                          <p:attrName>style.visibility</p:attrName>
                                        </p:attrNameLst>
                                      </p:cBhvr>
                                      <p:to>
                                        <p:strVal val="visible"/>
                                      </p:to>
                                    </p:set>
                                    <p:anim calcmode="lin" valueType="num">
                                      <p:cBhvr additive="base">
                                        <p:cTn id="31" dur="500"/>
                                        <p:tgtEl>
                                          <p:spTgt spid="41063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0631">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10631">
                                            <p:txEl>
                                              <p:pRg st="5" end="5"/>
                                            </p:txEl>
                                          </p:spTgt>
                                        </p:tgtEl>
                                        <p:attrNameLst>
                                          <p:attrName>style.visibility</p:attrName>
                                        </p:attrNameLst>
                                      </p:cBhvr>
                                      <p:to>
                                        <p:strVal val="visible"/>
                                      </p:to>
                                    </p:set>
                                    <p:anim calcmode="lin" valueType="num">
                                      <p:cBhvr additive="base">
                                        <p:cTn id="37" dur="500"/>
                                        <p:tgtEl>
                                          <p:spTgt spid="41063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1063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10631">
                                            <p:txEl>
                                              <p:pRg st="6" end="6"/>
                                            </p:txEl>
                                          </p:spTgt>
                                        </p:tgtEl>
                                        <p:attrNameLst>
                                          <p:attrName>style.visibility</p:attrName>
                                        </p:attrNameLst>
                                      </p:cBhvr>
                                      <p:to>
                                        <p:strVal val="visible"/>
                                      </p:to>
                                    </p:set>
                                    <p:anim calcmode="lin" valueType="num">
                                      <p:cBhvr additive="base">
                                        <p:cTn id="43" dur="500"/>
                                        <p:tgtEl>
                                          <p:spTgt spid="41063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10631">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10631">
                                            <p:txEl>
                                              <p:pRg st="7" end="7"/>
                                            </p:txEl>
                                          </p:spTgt>
                                        </p:tgtEl>
                                        <p:attrNameLst>
                                          <p:attrName>style.visibility</p:attrName>
                                        </p:attrNameLst>
                                      </p:cBhvr>
                                      <p:to>
                                        <p:strVal val="visible"/>
                                      </p:to>
                                    </p:set>
                                    <p:anim calcmode="lin" valueType="num">
                                      <p:cBhvr additive="base">
                                        <p:cTn id="49" dur="500"/>
                                        <p:tgtEl>
                                          <p:spTgt spid="410631">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10631">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410631">
                                            <p:txEl>
                                              <p:pRg st="8" end="8"/>
                                            </p:txEl>
                                          </p:spTgt>
                                        </p:tgtEl>
                                        <p:attrNameLst>
                                          <p:attrName>style.visibility</p:attrName>
                                        </p:attrNameLst>
                                      </p:cBhvr>
                                      <p:to>
                                        <p:strVal val="visible"/>
                                      </p:to>
                                    </p:set>
                                    <p:anim calcmode="lin" valueType="num">
                                      <p:cBhvr additive="base">
                                        <p:cTn id="55" dur="500"/>
                                        <p:tgtEl>
                                          <p:spTgt spid="410631">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10631">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410631">
                                            <p:txEl>
                                              <p:pRg st="9" end="9"/>
                                            </p:txEl>
                                          </p:spTgt>
                                        </p:tgtEl>
                                        <p:attrNameLst>
                                          <p:attrName>style.visibility</p:attrName>
                                        </p:attrNameLst>
                                      </p:cBhvr>
                                      <p:to>
                                        <p:strVal val="visible"/>
                                      </p:to>
                                    </p:set>
                                    <p:anim calcmode="lin" valueType="num">
                                      <p:cBhvr additive="base">
                                        <p:cTn id="61" dur="500"/>
                                        <p:tgtEl>
                                          <p:spTgt spid="410631">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410631">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410631">
                                            <p:txEl>
                                              <p:pRg st="10" end="10"/>
                                            </p:txEl>
                                          </p:spTgt>
                                        </p:tgtEl>
                                        <p:attrNameLst>
                                          <p:attrName>style.visibility</p:attrName>
                                        </p:attrNameLst>
                                      </p:cBhvr>
                                      <p:to>
                                        <p:strVal val="visible"/>
                                      </p:to>
                                    </p:set>
                                    <p:anim calcmode="lin" valueType="num">
                                      <p:cBhvr additive="base">
                                        <p:cTn id="67" dur="500"/>
                                        <p:tgtEl>
                                          <p:spTgt spid="410631">
                                            <p:txEl>
                                              <p:pRg st="10" end="10"/>
                                            </p:txEl>
                                          </p:spTgt>
                                        </p:tgtEl>
                                        <p:attrNameLst>
                                          <p:attrName>ppt_y</p:attrName>
                                        </p:attrNameLst>
                                      </p:cBhvr>
                                      <p:tavLst>
                                        <p:tav tm="0">
                                          <p:val>
                                            <p:strVal val="#ppt_y+#ppt_h*1.125000"/>
                                          </p:val>
                                        </p:tav>
                                        <p:tav tm="100000">
                                          <p:val>
                                            <p:strVal val="#ppt_y"/>
                                          </p:val>
                                        </p:tav>
                                      </p:tavLst>
                                    </p:anim>
                                    <p:animEffect transition="in" filter="wipe(up)">
                                      <p:cBhvr>
                                        <p:cTn id="68" dur="500"/>
                                        <p:tgtEl>
                                          <p:spTgt spid="410631">
                                            <p:txEl>
                                              <p:pRg st="10" end="1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410631">
                                            <p:txEl>
                                              <p:pRg st="11" end="11"/>
                                            </p:txEl>
                                          </p:spTgt>
                                        </p:tgtEl>
                                        <p:attrNameLst>
                                          <p:attrName>style.visibility</p:attrName>
                                        </p:attrNameLst>
                                      </p:cBhvr>
                                      <p:to>
                                        <p:strVal val="visible"/>
                                      </p:to>
                                    </p:set>
                                    <p:anim calcmode="lin" valueType="num">
                                      <p:cBhvr additive="base">
                                        <p:cTn id="73" dur="500"/>
                                        <p:tgtEl>
                                          <p:spTgt spid="410631">
                                            <p:txEl>
                                              <p:pRg st="11" end="11"/>
                                            </p:txEl>
                                          </p:spTgt>
                                        </p:tgtEl>
                                        <p:attrNameLst>
                                          <p:attrName>ppt_y</p:attrName>
                                        </p:attrNameLst>
                                      </p:cBhvr>
                                      <p:tavLst>
                                        <p:tav tm="0">
                                          <p:val>
                                            <p:strVal val="#ppt_y+#ppt_h*1.125000"/>
                                          </p:val>
                                        </p:tav>
                                        <p:tav tm="100000">
                                          <p:val>
                                            <p:strVal val="#ppt_y"/>
                                          </p:val>
                                        </p:tav>
                                      </p:tavLst>
                                    </p:anim>
                                    <p:animEffect transition="in" filter="wipe(up)">
                                      <p:cBhvr>
                                        <p:cTn id="74" dur="500"/>
                                        <p:tgtEl>
                                          <p:spTgt spid="410631">
                                            <p:txEl>
                                              <p:pRg st="11" end="1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4" fill="hold" grpId="0" nodeType="clickEffect">
                                  <p:stCondLst>
                                    <p:cond delay="0"/>
                                  </p:stCondLst>
                                  <p:childTnLst>
                                    <p:set>
                                      <p:cBhvr>
                                        <p:cTn id="78" dur="1" fill="hold">
                                          <p:stCondLst>
                                            <p:cond delay="0"/>
                                          </p:stCondLst>
                                        </p:cTn>
                                        <p:tgtEl>
                                          <p:spTgt spid="410631">
                                            <p:txEl>
                                              <p:pRg st="12" end="12"/>
                                            </p:txEl>
                                          </p:spTgt>
                                        </p:tgtEl>
                                        <p:attrNameLst>
                                          <p:attrName>style.visibility</p:attrName>
                                        </p:attrNameLst>
                                      </p:cBhvr>
                                      <p:to>
                                        <p:strVal val="visible"/>
                                      </p:to>
                                    </p:set>
                                    <p:anim calcmode="lin" valueType="num">
                                      <p:cBhvr additive="base">
                                        <p:cTn id="79" dur="500"/>
                                        <p:tgtEl>
                                          <p:spTgt spid="410631">
                                            <p:txEl>
                                              <p:pRg st="12" end="12"/>
                                            </p:txEl>
                                          </p:spTgt>
                                        </p:tgtEl>
                                        <p:attrNameLst>
                                          <p:attrName>ppt_y</p:attrName>
                                        </p:attrNameLst>
                                      </p:cBhvr>
                                      <p:tavLst>
                                        <p:tav tm="0">
                                          <p:val>
                                            <p:strVal val="#ppt_y+#ppt_h*1.125000"/>
                                          </p:val>
                                        </p:tav>
                                        <p:tav tm="100000">
                                          <p:val>
                                            <p:strVal val="#ppt_y"/>
                                          </p:val>
                                        </p:tav>
                                      </p:tavLst>
                                    </p:anim>
                                    <p:animEffect transition="in" filter="wipe(up)">
                                      <p:cBhvr>
                                        <p:cTn id="80" dur="500"/>
                                        <p:tgtEl>
                                          <p:spTgt spid="41063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31" grpId="0" build="p" bldLvl="3"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3FF92D5-A015-4B59-B94A-64F1D7BA5691}"/>
              </a:ext>
            </a:extLst>
          </p:cNvPr>
          <p:cNvSpPr>
            <a:spLocks noChangeArrowheads="1"/>
          </p:cNvSpPr>
          <p:nvPr/>
        </p:nvSpPr>
        <p:spPr bwMode="auto">
          <a:xfrm>
            <a:off x="2794317" y="1313225"/>
            <a:ext cx="6013928" cy="4097918"/>
          </a:xfrm>
          <a:prstGeom prst="rect">
            <a:avLst/>
          </a:prstGeom>
          <a:solidFill>
            <a:schemeClr val="bg1"/>
          </a:solidFill>
          <a:ln w="25400" algn="ctr">
            <a:solidFill>
              <a:srgbClr val="000000"/>
            </a:solidFill>
            <a:miter lim="800000"/>
            <a:headEnd/>
            <a:tailEnd/>
          </a:ln>
        </p:spPr>
        <p:txBody>
          <a:bodyPr anchor="ctr"/>
          <a:lstStyle/>
          <a:p>
            <a:pPr algn="ctr" eaLnBrk="1" fontAlgn="auto" hangingPunct="1">
              <a:spcBef>
                <a:spcPts val="0"/>
              </a:spcBef>
              <a:spcAft>
                <a:spcPts val="0"/>
              </a:spcAft>
              <a:defRPr/>
            </a:pPr>
            <a:endParaRPr lang="en-GB" sz="1800" kern="0" dirty="0">
              <a:solidFill>
                <a:prstClr val="white"/>
              </a:solidFill>
              <a:latin typeface="Calibri"/>
            </a:endParaRPr>
          </a:p>
        </p:txBody>
      </p:sp>
      <p:grpSp>
        <p:nvGrpSpPr>
          <p:cNvPr id="451588" name="Group 4">
            <a:extLst>
              <a:ext uri="{FF2B5EF4-FFF2-40B4-BE49-F238E27FC236}">
                <a16:creationId xmlns:a16="http://schemas.microsoft.com/office/drawing/2014/main" id="{0636B2F6-163E-46D2-A84F-5C0220459AE6}"/>
              </a:ext>
            </a:extLst>
          </p:cNvPr>
          <p:cNvGrpSpPr>
            <a:grpSpLocks/>
          </p:cNvGrpSpPr>
          <p:nvPr/>
        </p:nvGrpSpPr>
        <p:grpSpPr bwMode="auto">
          <a:xfrm>
            <a:off x="2394190" y="4121542"/>
            <a:ext cx="1839913" cy="366712"/>
            <a:chOff x="426" y="3033"/>
            <a:chExt cx="1159" cy="231"/>
          </a:xfrm>
        </p:grpSpPr>
        <p:sp>
          <p:nvSpPr>
            <p:cNvPr id="451589" name="Rectangle 4">
              <a:extLst>
                <a:ext uri="{FF2B5EF4-FFF2-40B4-BE49-F238E27FC236}">
                  <a16:creationId xmlns:a16="http://schemas.microsoft.com/office/drawing/2014/main" id="{CCE310D0-580E-498A-8DCA-D3B71D8F3E05}"/>
                </a:ext>
              </a:extLst>
            </p:cNvPr>
            <p:cNvSpPr>
              <a:spLocks noChangeArrowheads="1"/>
            </p:cNvSpPr>
            <p:nvPr/>
          </p:nvSpPr>
          <p:spPr bwMode="auto">
            <a:xfrm>
              <a:off x="426" y="3033"/>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800" i="1">
                  <a:latin typeface="Arial" panose="020B0604020202020204" pitchFamily="34" charset="0"/>
                </a:rPr>
                <a:t>E</a:t>
              </a:r>
              <a:r>
                <a:rPr lang="en-GB" altLang="en-US" sz="1800" baseline="-25000">
                  <a:latin typeface="Arial" panose="020B0604020202020204" pitchFamily="34" charset="0"/>
                </a:rPr>
                <a:t>1</a:t>
              </a:r>
            </a:p>
          </p:txBody>
        </p:sp>
        <p:cxnSp>
          <p:nvCxnSpPr>
            <p:cNvPr id="451590" name="Straight Connector 6">
              <a:extLst>
                <a:ext uri="{FF2B5EF4-FFF2-40B4-BE49-F238E27FC236}">
                  <a16:creationId xmlns:a16="http://schemas.microsoft.com/office/drawing/2014/main" id="{24A18FC1-DFF4-4E0E-BEC2-D7A7BF8F9EA9}"/>
                </a:ext>
              </a:extLst>
            </p:cNvPr>
            <p:cNvCxnSpPr>
              <a:cxnSpLocks noChangeShapeType="1"/>
            </p:cNvCxnSpPr>
            <p:nvPr/>
          </p:nvCxnSpPr>
          <p:spPr bwMode="auto">
            <a:xfrm flipV="1">
              <a:off x="685" y="3156"/>
              <a:ext cx="900" cy="1"/>
            </a:xfrm>
            <a:prstGeom prst="line">
              <a:avLst/>
            </a:prstGeom>
            <a:noFill/>
            <a:ln w="15875" algn="ctr">
              <a:solidFill>
                <a:srgbClr val="4D4D4D"/>
              </a:solidFill>
              <a:prstDash val="dash"/>
              <a:round/>
              <a:headEnd type="none" w="sm" len="sm"/>
              <a:tailEnd type="none" w="sm" len="sm"/>
            </a:ln>
            <a:extLst>
              <a:ext uri="{909E8E84-426E-40DD-AFC4-6F175D3DCCD1}">
                <a14:hiddenFill xmlns:a14="http://schemas.microsoft.com/office/drawing/2010/main">
                  <a:noFill/>
                </a14:hiddenFill>
              </a:ext>
            </a:extLst>
          </p:spPr>
        </p:cxnSp>
      </p:grpSp>
      <p:grpSp>
        <p:nvGrpSpPr>
          <p:cNvPr id="451591" name="Group 7">
            <a:extLst>
              <a:ext uri="{FF2B5EF4-FFF2-40B4-BE49-F238E27FC236}">
                <a16:creationId xmlns:a16="http://schemas.microsoft.com/office/drawing/2014/main" id="{BBFF3B7E-EB4B-48BF-B580-488BEDC128AE}"/>
              </a:ext>
            </a:extLst>
          </p:cNvPr>
          <p:cNvGrpSpPr>
            <a:grpSpLocks/>
          </p:cNvGrpSpPr>
          <p:nvPr/>
        </p:nvGrpSpPr>
        <p:grpSpPr bwMode="auto">
          <a:xfrm>
            <a:off x="4082682" y="4365675"/>
            <a:ext cx="458788" cy="1368754"/>
            <a:chOff x="1468" y="3185"/>
            <a:chExt cx="289" cy="974"/>
          </a:xfrm>
        </p:grpSpPr>
        <p:sp>
          <p:nvSpPr>
            <p:cNvPr id="451592" name="Rectangle 3">
              <a:extLst>
                <a:ext uri="{FF2B5EF4-FFF2-40B4-BE49-F238E27FC236}">
                  <a16:creationId xmlns:a16="http://schemas.microsoft.com/office/drawing/2014/main" id="{D601B635-9B3A-49BD-9814-172CEE1668E7}"/>
                </a:ext>
              </a:extLst>
            </p:cNvPr>
            <p:cNvSpPr>
              <a:spLocks noChangeArrowheads="1"/>
            </p:cNvSpPr>
            <p:nvPr/>
          </p:nvSpPr>
          <p:spPr bwMode="auto">
            <a:xfrm>
              <a:off x="1468" y="3928"/>
              <a:ext cx="2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800" i="1">
                  <a:latin typeface="Arial" panose="020B0604020202020204" pitchFamily="34" charset="0"/>
                </a:rPr>
                <a:t>R</a:t>
              </a:r>
              <a:r>
                <a:rPr lang="en-GB" altLang="en-US" sz="1800" baseline="-25000">
                  <a:latin typeface="Arial" panose="020B0604020202020204" pitchFamily="34" charset="0"/>
                </a:rPr>
                <a:t>1</a:t>
              </a:r>
            </a:p>
          </p:txBody>
        </p:sp>
        <p:cxnSp>
          <p:nvCxnSpPr>
            <p:cNvPr id="451593" name="Straight Connector 8">
              <a:extLst>
                <a:ext uri="{FF2B5EF4-FFF2-40B4-BE49-F238E27FC236}">
                  <a16:creationId xmlns:a16="http://schemas.microsoft.com/office/drawing/2014/main" id="{F527B098-A363-4CCE-AF93-763B0FA406F0}"/>
                </a:ext>
              </a:extLst>
            </p:cNvPr>
            <p:cNvCxnSpPr>
              <a:cxnSpLocks noChangeShapeType="1"/>
            </p:cNvCxnSpPr>
            <p:nvPr/>
          </p:nvCxnSpPr>
          <p:spPr bwMode="auto">
            <a:xfrm flipH="1">
              <a:off x="1615" y="3185"/>
              <a:ext cx="0" cy="724"/>
            </a:xfrm>
            <a:prstGeom prst="line">
              <a:avLst/>
            </a:prstGeom>
            <a:noFill/>
            <a:ln w="15875" algn="ctr">
              <a:solidFill>
                <a:srgbClr val="4D4D4D"/>
              </a:solidFill>
              <a:prstDash val="dash"/>
              <a:round/>
              <a:headEnd type="none" w="sm" len="sm"/>
              <a:tailEnd type="none" w="sm" len="sm"/>
            </a:ln>
            <a:extLst>
              <a:ext uri="{909E8E84-426E-40DD-AFC4-6F175D3DCCD1}">
                <a14:hiddenFill xmlns:a14="http://schemas.microsoft.com/office/drawing/2010/main">
                  <a:noFill/>
                </a14:hiddenFill>
              </a:ext>
            </a:extLst>
          </p:spPr>
        </p:cxnSp>
      </p:grpSp>
      <p:grpSp>
        <p:nvGrpSpPr>
          <p:cNvPr id="451594" name="Group 10">
            <a:extLst>
              <a:ext uri="{FF2B5EF4-FFF2-40B4-BE49-F238E27FC236}">
                <a16:creationId xmlns:a16="http://schemas.microsoft.com/office/drawing/2014/main" id="{48EE1F0E-AE31-4017-8411-B4EE7E5759EE}"/>
              </a:ext>
            </a:extLst>
          </p:cNvPr>
          <p:cNvGrpSpPr>
            <a:grpSpLocks/>
          </p:cNvGrpSpPr>
          <p:nvPr/>
        </p:nvGrpSpPr>
        <p:grpSpPr bwMode="auto">
          <a:xfrm>
            <a:off x="6788252" y="935686"/>
            <a:ext cx="2759075" cy="1668463"/>
            <a:chOff x="3744" y="459"/>
            <a:chExt cx="1738" cy="1051"/>
          </a:xfrm>
        </p:grpSpPr>
        <p:sp>
          <p:nvSpPr>
            <p:cNvPr id="29" name="Oval 53">
              <a:extLst>
                <a:ext uri="{FF2B5EF4-FFF2-40B4-BE49-F238E27FC236}">
                  <a16:creationId xmlns:a16="http://schemas.microsoft.com/office/drawing/2014/main" id="{29DE820A-B360-4066-88EB-C2CBD98F1D1E}"/>
                </a:ext>
              </a:extLst>
            </p:cNvPr>
            <p:cNvSpPr>
              <a:spLocks noChangeArrowheads="1"/>
            </p:cNvSpPr>
            <p:nvPr/>
          </p:nvSpPr>
          <p:spPr bwMode="auto">
            <a:xfrm>
              <a:off x="4951" y="666"/>
              <a:ext cx="59" cy="58"/>
            </a:xfrm>
            <a:prstGeom prst="ellipse">
              <a:avLst/>
            </a:prstGeom>
            <a:solidFill>
              <a:srgbClr val="000000"/>
            </a:solidFill>
            <a:ln w="2540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sp>
          <p:nvSpPr>
            <p:cNvPr id="451596" name="TextBox 3">
              <a:extLst>
                <a:ext uri="{FF2B5EF4-FFF2-40B4-BE49-F238E27FC236}">
                  <a16:creationId xmlns:a16="http://schemas.microsoft.com/office/drawing/2014/main" id="{7369342D-57A8-4C45-A4CB-3DEBB70EECB6}"/>
                </a:ext>
              </a:extLst>
            </p:cNvPr>
            <p:cNvSpPr txBox="1">
              <a:spLocks noChangeArrowheads="1"/>
            </p:cNvSpPr>
            <p:nvPr/>
          </p:nvSpPr>
          <p:spPr bwMode="auto">
            <a:xfrm>
              <a:off x="5000" y="459"/>
              <a:ext cx="4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X</a:t>
              </a:r>
            </a:p>
          </p:txBody>
        </p:sp>
        <p:cxnSp>
          <p:nvCxnSpPr>
            <p:cNvPr id="451597" name="Straight Arrow Connector 3">
              <a:extLst>
                <a:ext uri="{FF2B5EF4-FFF2-40B4-BE49-F238E27FC236}">
                  <a16:creationId xmlns:a16="http://schemas.microsoft.com/office/drawing/2014/main" id="{8CF2EA44-D638-4F36-ABB6-A0A0FB400353}"/>
                </a:ext>
              </a:extLst>
            </p:cNvPr>
            <p:cNvCxnSpPr>
              <a:cxnSpLocks noChangeShapeType="1"/>
            </p:cNvCxnSpPr>
            <p:nvPr/>
          </p:nvCxnSpPr>
          <p:spPr bwMode="auto">
            <a:xfrm flipV="1">
              <a:off x="4416" y="720"/>
              <a:ext cx="541" cy="358"/>
            </a:xfrm>
            <a:prstGeom prst="straightConnector1">
              <a:avLst/>
            </a:prstGeom>
            <a:noFill/>
            <a:ln w="22225" algn="ctr">
              <a:solidFill>
                <a:srgbClr val="0000CC"/>
              </a:solidFill>
              <a:round/>
              <a:headEnd type="none" w="sm" len="sm"/>
              <a:tailEnd type="arrow" w="med" len="med"/>
            </a:ln>
            <a:extLst>
              <a:ext uri="{909E8E84-426E-40DD-AFC4-6F175D3DCCD1}">
                <a14:hiddenFill xmlns:a14="http://schemas.microsoft.com/office/drawing/2010/main">
                  <a:noFill/>
                </a14:hiddenFill>
              </a:ext>
            </a:extLst>
          </p:spPr>
        </p:cxnSp>
        <p:sp>
          <p:nvSpPr>
            <p:cNvPr id="451598" name="TextBox 4">
              <a:extLst>
                <a:ext uri="{FF2B5EF4-FFF2-40B4-BE49-F238E27FC236}">
                  <a16:creationId xmlns:a16="http://schemas.microsoft.com/office/drawing/2014/main" id="{03DC32CB-DBD5-4D5C-BC0F-78497CC4227B}"/>
                </a:ext>
              </a:extLst>
            </p:cNvPr>
            <p:cNvSpPr txBox="1">
              <a:spLocks noChangeArrowheads="1"/>
            </p:cNvSpPr>
            <p:nvPr/>
          </p:nvSpPr>
          <p:spPr bwMode="auto">
            <a:xfrm>
              <a:off x="3744" y="1083"/>
              <a:ext cx="1104"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900" dirty="0">
                  <a:solidFill>
                    <a:srgbClr val="0000CC"/>
                  </a:solidFill>
                  <a:latin typeface="Arial" panose="020B0604020202020204" pitchFamily="34" charset="0"/>
                </a:rPr>
                <a:t>Pure</a:t>
              </a:r>
              <a:endParaRPr lang="en-US" altLang="en-US" sz="1900" dirty="0">
                <a:solidFill>
                  <a:srgbClr val="0000CC"/>
                </a:solidFill>
                <a:latin typeface="Arial" panose="020B0604020202020204" pitchFamily="34" charset="0"/>
              </a:endParaRPr>
            </a:p>
            <a:p>
              <a:pPr algn="ctr"/>
              <a:r>
                <a:rPr lang="en-GB" altLang="en-US" sz="1900" dirty="0">
                  <a:solidFill>
                    <a:srgbClr val="0000CC"/>
                  </a:solidFill>
                  <a:latin typeface="Arial" panose="020B0604020202020204" pitchFamily="34" charset="0"/>
                </a:rPr>
                <a:t>private good</a:t>
              </a:r>
            </a:p>
          </p:txBody>
        </p:sp>
      </p:grpSp>
      <p:grpSp>
        <p:nvGrpSpPr>
          <p:cNvPr id="451599" name="Group 15">
            <a:extLst>
              <a:ext uri="{FF2B5EF4-FFF2-40B4-BE49-F238E27FC236}">
                <a16:creationId xmlns:a16="http://schemas.microsoft.com/office/drawing/2014/main" id="{ABEBCF33-F540-491B-ADB7-F91058C2208E}"/>
              </a:ext>
            </a:extLst>
          </p:cNvPr>
          <p:cNvGrpSpPr>
            <a:grpSpLocks/>
          </p:cNvGrpSpPr>
          <p:nvPr/>
        </p:nvGrpSpPr>
        <p:grpSpPr bwMode="auto">
          <a:xfrm>
            <a:off x="6873277" y="4253852"/>
            <a:ext cx="2630488" cy="1323975"/>
            <a:chOff x="3528" y="2980"/>
            <a:chExt cx="1657" cy="834"/>
          </a:xfrm>
        </p:grpSpPr>
        <p:sp>
          <p:nvSpPr>
            <p:cNvPr id="28" name="Oval 53">
              <a:extLst>
                <a:ext uri="{FF2B5EF4-FFF2-40B4-BE49-F238E27FC236}">
                  <a16:creationId xmlns:a16="http://schemas.microsoft.com/office/drawing/2014/main" id="{0E213974-A326-4C5D-9BBA-1910D16E8783}"/>
                </a:ext>
              </a:extLst>
            </p:cNvPr>
            <p:cNvSpPr>
              <a:spLocks noChangeArrowheads="1"/>
            </p:cNvSpPr>
            <p:nvPr/>
          </p:nvSpPr>
          <p:spPr bwMode="auto">
            <a:xfrm>
              <a:off x="4678" y="3677"/>
              <a:ext cx="59" cy="58"/>
            </a:xfrm>
            <a:prstGeom prst="ellipse">
              <a:avLst/>
            </a:prstGeom>
            <a:solidFill>
              <a:srgbClr val="000000"/>
            </a:solidFill>
            <a:ln w="2540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sp>
          <p:nvSpPr>
            <p:cNvPr id="451601" name="TextBox 3">
              <a:extLst>
                <a:ext uri="{FF2B5EF4-FFF2-40B4-BE49-F238E27FC236}">
                  <a16:creationId xmlns:a16="http://schemas.microsoft.com/office/drawing/2014/main" id="{7B52E68C-6D4D-47B3-9F29-6F9BB6D2125E}"/>
                </a:ext>
              </a:extLst>
            </p:cNvPr>
            <p:cNvSpPr txBox="1">
              <a:spLocks noChangeArrowheads="1"/>
            </p:cNvSpPr>
            <p:nvPr/>
          </p:nvSpPr>
          <p:spPr bwMode="auto">
            <a:xfrm>
              <a:off x="4703" y="3564"/>
              <a:ext cx="4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V</a:t>
              </a:r>
            </a:p>
          </p:txBody>
        </p:sp>
        <p:cxnSp>
          <p:nvCxnSpPr>
            <p:cNvPr id="451602" name="Straight Arrow Connector 6">
              <a:extLst>
                <a:ext uri="{FF2B5EF4-FFF2-40B4-BE49-F238E27FC236}">
                  <a16:creationId xmlns:a16="http://schemas.microsoft.com/office/drawing/2014/main" id="{70A781BB-7B43-4065-903C-633C7CB910CF}"/>
                </a:ext>
              </a:extLst>
            </p:cNvPr>
            <p:cNvCxnSpPr>
              <a:cxnSpLocks noChangeShapeType="1"/>
            </p:cNvCxnSpPr>
            <p:nvPr/>
          </p:nvCxnSpPr>
          <p:spPr bwMode="auto">
            <a:xfrm>
              <a:off x="4267" y="3219"/>
              <a:ext cx="393" cy="427"/>
            </a:xfrm>
            <a:prstGeom prst="straightConnector1">
              <a:avLst/>
            </a:prstGeom>
            <a:noFill/>
            <a:ln w="22225" algn="ctr">
              <a:solidFill>
                <a:srgbClr val="008000"/>
              </a:solidFill>
              <a:round/>
              <a:headEnd type="none" w="sm" len="sm"/>
              <a:tailEnd type="arrow" w="med" len="med"/>
            </a:ln>
            <a:extLst>
              <a:ext uri="{909E8E84-426E-40DD-AFC4-6F175D3DCCD1}">
                <a14:hiddenFill xmlns:a14="http://schemas.microsoft.com/office/drawing/2010/main">
                  <a:noFill/>
                </a14:hiddenFill>
              </a:ext>
            </a:extLst>
          </p:spPr>
        </p:cxnSp>
        <p:sp>
          <p:nvSpPr>
            <p:cNvPr id="451603" name="TextBox 7">
              <a:extLst>
                <a:ext uri="{FF2B5EF4-FFF2-40B4-BE49-F238E27FC236}">
                  <a16:creationId xmlns:a16="http://schemas.microsoft.com/office/drawing/2014/main" id="{6D1A65EB-044A-4B1B-A9D9-301EBFE4934F}"/>
                </a:ext>
              </a:extLst>
            </p:cNvPr>
            <p:cNvSpPr txBox="1">
              <a:spLocks noChangeArrowheads="1"/>
            </p:cNvSpPr>
            <p:nvPr/>
          </p:nvSpPr>
          <p:spPr bwMode="auto">
            <a:xfrm>
              <a:off x="3528" y="2980"/>
              <a:ext cx="124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solidFill>
                    <a:srgbClr val="008000"/>
                  </a:solidFill>
                  <a:latin typeface="Arial" panose="020B0604020202020204" pitchFamily="34" charset="0"/>
                </a:rPr>
                <a:t>Common good</a:t>
              </a:r>
            </a:p>
          </p:txBody>
        </p:sp>
      </p:grpSp>
      <p:grpSp>
        <p:nvGrpSpPr>
          <p:cNvPr id="451604" name="Group 20">
            <a:extLst>
              <a:ext uri="{FF2B5EF4-FFF2-40B4-BE49-F238E27FC236}">
                <a16:creationId xmlns:a16="http://schemas.microsoft.com/office/drawing/2014/main" id="{B63DA0D7-684E-498A-B43D-07F61C1B40B2}"/>
              </a:ext>
            </a:extLst>
          </p:cNvPr>
          <p:cNvGrpSpPr>
            <a:grpSpLocks/>
          </p:cNvGrpSpPr>
          <p:nvPr/>
        </p:nvGrpSpPr>
        <p:grpSpPr bwMode="auto">
          <a:xfrm>
            <a:off x="2724599" y="1073798"/>
            <a:ext cx="2806700" cy="1344613"/>
            <a:chOff x="931" y="750"/>
            <a:chExt cx="1768" cy="847"/>
          </a:xfrm>
        </p:grpSpPr>
        <p:sp>
          <p:nvSpPr>
            <p:cNvPr id="22580" name="Oval 52">
              <a:extLst>
                <a:ext uri="{FF2B5EF4-FFF2-40B4-BE49-F238E27FC236}">
                  <a16:creationId xmlns:a16="http://schemas.microsoft.com/office/drawing/2014/main" id="{612585FD-DA9D-4F01-B32A-8D6E4B05DD28}"/>
                </a:ext>
              </a:extLst>
            </p:cNvPr>
            <p:cNvSpPr>
              <a:spLocks noChangeArrowheads="1"/>
            </p:cNvSpPr>
            <p:nvPr/>
          </p:nvSpPr>
          <p:spPr bwMode="auto">
            <a:xfrm>
              <a:off x="931" y="889"/>
              <a:ext cx="59" cy="58"/>
            </a:xfrm>
            <a:prstGeom prst="ellipse">
              <a:avLst/>
            </a:prstGeom>
            <a:solidFill>
              <a:srgbClr val="000000"/>
            </a:solidFill>
            <a:ln w="2540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sp>
          <p:nvSpPr>
            <p:cNvPr id="451606" name="TextBox 3">
              <a:extLst>
                <a:ext uri="{FF2B5EF4-FFF2-40B4-BE49-F238E27FC236}">
                  <a16:creationId xmlns:a16="http://schemas.microsoft.com/office/drawing/2014/main" id="{733B3DC9-B8FC-4ADA-B9C4-5D2077076FB9}"/>
                </a:ext>
              </a:extLst>
            </p:cNvPr>
            <p:cNvSpPr txBox="1">
              <a:spLocks noChangeArrowheads="1"/>
            </p:cNvSpPr>
            <p:nvPr/>
          </p:nvSpPr>
          <p:spPr bwMode="auto">
            <a:xfrm>
              <a:off x="1000" y="750"/>
              <a:ext cx="4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Y</a:t>
              </a:r>
            </a:p>
          </p:txBody>
        </p:sp>
        <p:cxnSp>
          <p:nvCxnSpPr>
            <p:cNvPr id="451607" name="Straight Arrow Connector 9">
              <a:extLst>
                <a:ext uri="{FF2B5EF4-FFF2-40B4-BE49-F238E27FC236}">
                  <a16:creationId xmlns:a16="http://schemas.microsoft.com/office/drawing/2014/main" id="{3906EE5A-1379-4BA6-B8DD-180058D0EDD0}"/>
                </a:ext>
              </a:extLst>
            </p:cNvPr>
            <p:cNvCxnSpPr>
              <a:cxnSpLocks noChangeShapeType="1"/>
            </p:cNvCxnSpPr>
            <p:nvPr/>
          </p:nvCxnSpPr>
          <p:spPr bwMode="auto">
            <a:xfrm flipH="1" flipV="1">
              <a:off x="1012" y="972"/>
              <a:ext cx="500" cy="412"/>
            </a:xfrm>
            <a:prstGeom prst="straightConnector1">
              <a:avLst/>
            </a:prstGeom>
            <a:noFill/>
            <a:ln w="22225" algn="ctr">
              <a:solidFill>
                <a:srgbClr val="7302B8"/>
              </a:solidFill>
              <a:round/>
              <a:headEnd type="none" w="sm" len="sm"/>
              <a:tailEnd type="arrow" w="med" len="med"/>
            </a:ln>
            <a:extLst>
              <a:ext uri="{909E8E84-426E-40DD-AFC4-6F175D3DCCD1}">
                <a14:hiddenFill xmlns:a14="http://schemas.microsoft.com/office/drawing/2010/main">
                  <a:noFill/>
                </a14:hiddenFill>
              </a:ext>
            </a:extLst>
          </p:spPr>
        </p:cxnSp>
        <p:sp>
          <p:nvSpPr>
            <p:cNvPr id="451608" name="TextBox 10">
              <a:extLst>
                <a:ext uri="{FF2B5EF4-FFF2-40B4-BE49-F238E27FC236}">
                  <a16:creationId xmlns:a16="http://schemas.microsoft.com/office/drawing/2014/main" id="{2C953FA2-B32C-43FF-9BAE-9676A091C4D9}"/>
                </a:ext>
              </a:extLst>
            </p:cNvPr>
            <p:cNvSpPr txBox="1">
              <a:spLocks noChangeArrowheads="1"/>
            </p:cNvSpPr>
            <p:nvPr/>
          </p:nvSpPr>
          <p:spPr bwMode="auto">
            <a:xfrm>
              <a:off x="1363" y="1357"/>
              <a:ext cx="133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dirty="0">
                  <a:solidFill>
                    <a:srgbClr val="7302B8"/>
                  </a:solidFill>
                  <a:latin typeface="Arial" panose="020B0604020202020204" pitchFamily="34" charset="0"/>
                </a:rPr>
                <a:t>Club good</a:t>
              </a:r>
            </a:p>
          </p:txBody>
        </p:sp>
      </p:grpSp>
      <p:grpSp>
        <p:nvGrpSpPr>
          <p:cNvPr id="451609" name="Group 25">
            <a:extLst>
              <a:ext uri="{FF2B5EF4-FFF2-40B4-BE49-F238E27FC236}">
                <a16:creationId xmlns:a16="http://schemas.microsoft.com/office/drawing/2014/main" id="{6089499E-9DAF-43DA-A935-5446F8CBD9DC}"/>
              </a:ext>
            </a:extLst>
          </p:cNvPr>
          <p:cNvGrpSpPr>
            <a:grpSpLocks/>
          </p:cNvGrpSpPr>
          <p:nvPr/>
        </p:nvGrpSpPr>
        <p:grpSpPr bwMode="auto">
          <a:xfrm>
            <a:off x="4280326" y="2986302"/>
            <a:ext cx="1619250" cy="1554163"/>
            <a:chOff x="1585" y="2344"/>
            <a:chExt cx="1020" cy="979"/>
          </a:xfrm>
        </p:grpSpPr>
        <p:sp>
          <p:nvSpPr>
            <p:cNvPr id="24" name="Oval 52">
              <a:extLst>
                <a:ext uri="{FF2B5EF4-FFF2-40B4-BE49-F238E27FC236}">
                  <a16:creationId xmlns:a16="http://schemas.microsoft.com/office/drawing/2014/main" id="{A167BD77-00D6-4652-958F-C53621E2B594}"/>
                </a:ext>
              </a:extLst>
            </p:cNvPr>
            <p:cNvSpPr>
              <a:spLocks noChangeArrowheads="1"/>
            </p:cNvSpPr>
            <p:nvPr/>
          </p:nvSpPr>
          <p:spPr bwMode="auto">
            <a:xfrm>
              <a:off x="1585" y="3127"/>
              <a:ext cx="60" cy="58"/>
            </a:xfrm>
            <a:prstGeom prst="ellipse">
              <a:avLst/>
            </a:prstGeom>
            <a:solidFill>
              <a:srgbClr val="000000"/>
            </a:solidFill>
            <a:ln w="2540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sp>
          <p:nvSpPr>
            <p:cNvPr id="451611" name="Rectangle 2">
              <a:extLst>
                <a:ext uri="{FF2B5EF4-FFF2-40B4-BE49-F238E27FC236}">
                  <a16:creationId xmlns:a16="http://schemas.microsoft.com/office/drawing/2014/main" id="{7AD61914-AA91-4D0D-BF02-7A6FEFDF2908}"/>
                </a:ext>
              </a:extLst>
            </p:cNvPr>
            <p:cNvSpPr>
              <a:spLocks noChangeArrowheads="1"/>
            </p:cNvSpPr>
            <p:nvPr/>
          </p:nvSpPr>
          <p:spPr bwMode="auto">
            <a:xfrm>
              <a:off x="1605" y="3092"/>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800">
                  <a:latin typeface="Arial" panose="020B0604020202020204" pitchFamily="34" charset="0"/>
                </a:rPr>
                <a:t>W</a:t>
              </a:r>
            </a:p>
          </p:txBody>
        </p:sp>
        <p:cxnSp>
          <p:nvCxnSpPr>
            <p:cNvPr id="451612" name="Straight Arrow Connector 14">
              <a:extLst>
                <a:ext uri="{FF2B5EF4-FFF2-40B4-BE49-F238E27FC236}">
                  <a16:creationId xmlns:a16="http://schemas.microsoft.com/office/drawing/2014/main" id="{CCC09347-C140-4BC6-A99E-8CF51DF6A7DA}"/>
                </a:ext>
              </a:extLst>
            </p:cNvPr>
            <p:cNvCxnSpPr>
              <a:cxnSpLocks noChangeShapeType="1"/>
            </p:cNvCxnSpPr>
            <p:nvPr/>
          </p:nvCxnSpPr>
          <p:spPr bwMode="auto">
            <a:xfrm flipH="1">
              <a:off x="1675" y="2743"/>
              <a:ext cx="394" cy="349"/>
            </a:xfrm>
            <a:prstGeom prst="straightConnector1">
              <a:avLst/>
            </a:prstGeom>
            <a:noFill/>
            <a:ln w="22225" algn="ctr">
              <a:solidFill>
                <a:srgbClr val="993300"/>
              </a:solidFill>
              <a:round/>
              <a:headEnd type="none" w="sm" len="sm"/>
              <a:tailEnd type="arrow" w="med" len="med"/>
            </a:ln>
            <a:extLst>
              <a:ext uri="{909E8E84-426E-40DD-AFC4-6F175D3DCCD1}">
                <a14:hiddenFill xmlns:a14="http://schemas.microsoft.com/office/drawing/2010/main">
                  <a:noFill/>
                </a14:hiddenFill>
              </a:ext>
            </a:extLst>
          </p:spPr>
        </p:cxnSp>
        <p:sp>
          <p:nvSpPr>
            <p:cNvPr id="451613" name="TextBox 15">
              <a:extLst>
                <a:ext uri="{FF2B5EF4-FFF2-40B4-BE49-F238E27FC236}">
                  <a16:creationId xmlns:a16="http://schemas.microsoft.com/office/drawing/2014/main" id="{C3A04F3E-61E1-461A-BB2C-1FA105AAAD7B}"/>
                </a:ext>
              </a:extLst>
            </p:cNvPr>
            <p:cNvSpPr txBox="1">
              <a:spLocks noChangeArrowheads="1"/>
            </p:cNvSpPr>
            <p:nvPr/>
          </p:nvSpPr>
          <p:spPr bwMode="auto">
            <a:xfrm>
              <a:off x="1639" y="2344"/>
              <a:ext cx="966"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900" dirty="0">
                  <a:solidFill>
                    <a:srgbClr val="993300"/>
                  </a:solidFill>
                  <a:latin typeface="Arial" panose="020B0604020202020204" pitchFamily="34" charset="0"/>
                </a:rPr>
                <a:t>Impure</a:t>
              </a:r>
              <a:endParaRPr lang="en-US" altLang="en-US" sz="1900" dirty="0">
                <a:solidFill>
                  <a:srgbClr val="993300"/>
                </a:solidFill>
                <a:latin typeface="Arial" panose="020B0604020202020204" pitchFamily="34" charset="0"/>
              </a:endParaRPr>
            </a:p>
            <a:p>
              <a:pPr algn="ctr"/>
              <a:r>
                <a:rPr lang="en-GB" altLang="en-US" sz="1900" dirty="0">
                  <a:solidFill>
                    <a:srgbClr val="993300"/>
                  </a:solidFill>
                  <a:latin typeface="Arial" panose="020B0604020202020204" pitchFamily="34" charset="0"/>
                </a:rPr>
                <a:t>public good</a:t>
              </a:r>
            </a:p>
          </p:txBody>
        </p:sp>
      </p:grpSp>
      <p:grpSp>
        <p:nvGrpSpPr>
          <p:cNvPr id="451614" name="Group 30">
            <a:extLst>
              <a:ext uri="{FF2B5EF4-FFF2-40B4-BE49-F238E27FC236}">
                <a16:creationId xmlns:a16="http://schemas.microsoft.com/office/drawing/2014/main" id="{FDC75525-D6EC-48BB-B39A-3C5E5E4C6436}"/>
              </a:ext>
            </a:extLst>
          </p:cNvPr>
          <p:cNvGrpSpPr>
            <a:grpSpLocks/>
          </p:cNvGrpSpPr>
          <p:nvPr/>
        </p:nvGrpSpPr>
        <p:grpSpPr bwMode="auto">
          <a:xfrm>
            <a:off x="2494085" y="4191668"/>
            <a:ext cx="1995488" cy="1516062"/>
            <a:chOff x="480" y="3189"/>
            <a:chExt cx="1257" cy="955"/>
          </a:xfrm>
        </p:grpSpPr>
        <p:sp>
          <p:nvSpPr>
            <p:cNvPr id="22581" name="Oval 53">
              <a:extLst>
                <a:ext uri="{FF2B5EF4-FFF2-40B4-BE49-F238E27FC236}">
                  <a16:creationId xmlns:a16="http://schemas.microsoft.com/office/drawing/2014/main" id="{822B3257-0454-4F0A-A228-AE74D356838F}"/>
                </a:ext>
              </a:extLst>
            </p:cNvPr>
            <p:cNvSpPr>
              <a:spLocks noChangeArrowheads="1"/>
            </p:cNvSpPr>
            <p:nvPr/>
          </p:nvSpPr>
          <p:spPr bwMode="auto">
            <a:xfrm>
              <a:off x="653" y="3909"/>
              <a:ext cx="60" cy="58"/>
            </a:xfrm>
            <a:prstGeom prst="ellipse">
              <a:avLst/>
            </a:prstGeom>
            <a:solidFill>
              <a:srgbClr val="000000"/>
            </a:solidFill>
            <a:ln w="2540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sp>
          <p:nvSpPr>
            <p:cNvPr id="451616" name="TextBox 3">
              <a:extLst>
                <a:ext uri="{FF2B5EF4-FFF2-40B4-BE49-F238E27FC236}">
                  <a16:creationId xmlns:a16="http://schemas.microsoft.com/office/drawing/2014/main" id="{D928534A-022D-46D2-B96A-4F09D033097A}"/>
                </a:ext>
              </a:extLst>
            </p:cNvPr>
            <p:cNvSpPr txBox="1">
              <a:spLocks noChangeArrowheads="1"/>
            </p:cNvSpPr>
            <p:nvPr/>
          </p:nvSpPr>
          <p:spPr bwMode="auto">
            <a:xfrm>
              <a:off x="480" y="3894"/>
              <a:ext cx="4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Z</a:t>
              </a:r>
            </a:p>
          </p:txBody>
        </p:sp>
        <p:cxnSp>
          <p:nvCxnSpPr>
            <p:cNvPr id="451617" name="Straight Arrow Connector 17">
              <a:extLst>
                <a:ext uri="{FF2B5EF4-FFF2-40B4-BE49-F238E27FC236}">
                  <a16:creationId xmlns:a16="http://schemas.microsoft.com/office/drawing/2014/main" id="{0BD5E7EC-61BB-422E-85D7-2C229F4A8207}"/>
                </a:ext>
              </a:extLst>
            </p:cNvPr>
            <p:cNvCxnSpPr>
              <a:cxnSpLocks noChangeShapeType="1"/>
            </p:cNvCxnSpPr>
            <p:nvPr/>
          </p:nvCxnSpPr>
          <p:spPr bwMode="auto">
            <a:xfrm flipH="1">
              <a:off x="708" y="3611"/>
              <a:ext cx="424" cy="290"/>
            </a:xfrm>
            <a:prstGeom prst="straightConnector1">
              <a:avLst/>
            </a:prstGeom>
            <a:noFill/>
            <a:ln w="22225" algn="ctr">
              <a:solidFill>
                <a:srgbClr val="CC0000"/>
              </a:solidFill>
              <a:round/>
              <a:headEnd type="none" w="sm" len="sm"/>
              <a:tailEnd type="arrow" w="med" len="med"/>
            </a:ln>
            <a:extLst>
              <a:ext uri="{909E8E84-426E-40DD-AFC4-6F175D3DCCD1}">
                <a14:hiddenFill xmlns:a14="http://schemas.microsoft.com/office/drawing/2010/main">
                  <a:noFill/>
                </a14:hiddenFill>
              </a:ext>
            </a:extLst>
          </p:spPr>
        </p:cxnSp>
        <p:sp>
          <p:nvSpPr>
            <p:cNvPr id="451618" name="TextBox 19">
              <a:extLst>
                <a:ext uri="{FF2B5EF4-FFF2-40B4-BE49-F238E27FC236}">
                  <a16:creationId xmlns:a16="http://schemas.microsoft.com/office/drawing/2014/main" id="{BCF17209-CE68-4B19-9E8C-6D7C11F1ADC3}"/>
                </a:ext>
              </a:extLst>
            </p:cNvPr>
            <p:cNvSpPr txBox="1">
              <a:spLocks noChangeArrowheads="1"/>
            </p:cNvSpPr>
            <p:nvPr/>
          </p:nvSpPr>
          <p:spPr bwMode="auto">
            <a:xfrm>
              <a:off x="527" y="3189"/>
              <a:ext cx="1210"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900" dirty="0">
                  <a:solidFill>
                    <a:srgbClr val="CC0000"/>
                  </a:solidFill>
                  <a:latin typeface="Arial" panose="020B0604020202020204" pitchFamily="34" charset="0"/>
                </a:rPr>
                <a:t>Pure</a:t>
              </a:r>
              <a:br>
                <a:rPr lang="en-US" altLang="en-US" sz="1900" dirty="0">
                  <a:solidFill>
                    <a:srgbClr val="CC0000"/>
                  </a:solidFill>
                  <a:latin typeface="Arial" panose="020B0604020202020204" pitchFamily="34" charset="0"/>
                </a:rPr>
              </a:br>
              <a:r>
                <a:rPr lang="en-GB" altLang="en-US" sz="1900" dirty="0">
                  <a:solidFill>
                    <a:srgbClr val="CC0000"/>
                  </a:solidFill>
                  <a:latin typeface="Arial" panose="020B0604020202020204" pitchFamily="34" charset="0"/>
                </a:rPr>
                <a:t>public good</a:t>
              </a:r>
            </a:p>
          </p:txBody>
        </p:sp>
      </p:grpSp>
      <p:grpSp>
        <p:nvGrpSpPr>
          <p:cNvPr id="451619" name="Group 35">
            <a:extLst>
              <a:ext uri="{FF2B5EF4-FFF2-40B4-BE49-F238E27FC236}">
                <a16:creationId xmlns:a16="http://schemas.microsoft.com/office/drawing/2014/main" id="{7D6C339A-79CD-40BE-BED2-503C10DE5337}"/>
              </a:ext>
            </a:extLst>
          </p:cNvPr>
          <p:cNvGrpSpPr>
            <a:grpSpLocks/>
          </p:cNvGrpSpPr>
          <p:nvPr/>
        </p:nvGrpSpPr>
        <p:grpSpPr bwMode="auto">
          <a:xfrm>
            <a:off x="1861345" y="1268990"/>
            <a:ext cx="419100" cy="4183426"/>
            <a:chOff x="225" y="701"/>
            <a:chExt cx="264" cy="3196"/>
          </a:xfrm>
        </p:grpSpPr>
        <p:cxnSp>
          <p:nvCxnSpPr>
            <p:cNvPr id="451620" name="Straight Arrow Connector 8">
              <a:extLst>
                <a:ext uri="{FF2B5EF4-FFF2-40B4-BE49-F238E27FC236}">
                  <a16:creationId xmlns:a16="http://schemas.microsoft.com/office/drawing/2014/main" id="{43A71D8A-5E9B-4028-B79C-BBE0F2ACD51B}"/>
                </a:ext>
              </a:extLst>
            </p:cNvPr>
            <p:cNvCxnSpPr>
              <a:cxnSpLocks noChangeShapeType="1"/>
            </p:cNvCxnSpPr>
            <p:nvPr/>
          </p:nvCxnSpPr>
          <p:spPr bwMode="auto">
            <a:xfrm flipV="1">
              <a:off x="364" y="1155"/>
              <a:ext cx="0" cy="363"/>
            </a:xfrm>
            <a:prstGeom prst="straightConnector1">
              <a:avLst/>
            </a:prstGeom>
            <a:noFill/>
            <a:ln w="22225"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451621" name="Straight Arrow Connector 8">
              <a:extLst>
                <a:ext uri="{FF2B5EF4-FFF2-40B4-BE49-F238E27FC236}">
                  <a16:creationId xmlns:a16="http://schemas.microsoft.com/office/drawing/2014/main" id="{9613929F-3A6F-4012-BC8E-E74D71C427BC}"/>
                </a:ext>
              </a:extLst>
            </p:cNvPr>
            <p:cNvCxnSpPr>
              <a:cxnSpLocks noChangeShapeType="1"/>
            </p:cNvCxnSpPr>
            <p:nvPr/>
          </p:nvCxnSpPr>
          <p:spPr bwMode="auto">
            <a:xfrm>
              <a:off x="361" y="3106"/>
              <a:ext cx="0" cy="363"/>
            </a:xfrm>
            <a:prstGeom prst="straightConnector1">
              <a:avLst/>
            </a:prstGeom>
            <a:noFill/>
            <a:ln w="22225"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sp>
          <p:nvSpPr>
            <p:cNvPr id="451622" name="Rectangle 4">
              <a:extLst>
                <a:ext uri="{FF2B5EF4-FFF2-40B4-BE49-F238E27FC236}">
                  <a16:creationId xmlns:a16="http://schemas.microsoft.com/office/drawing/2014/main" id="{7101C720-8A54-48BE-A65B-A48B872564C5}"/>
                </a:ext>
              </a:extLst>
            </p:cNvPr>
            <p:cNvSpPr>
              <a:spLocks noChangeArrowheads="1"/>
            </p:cNvSpPr>
            <p:nvPr/>
          </p:nvSpPr>
          <p:spPr bwMode="auto">
            <a:xfrm rot="-5400000">
              <a:off x="141" y="799"/>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High</a:t>
              </a:r>
            </a:p>
          </p:txBody>
        </p:sp>
        <p:sp>
          <p:nvSpPr>
            <p:cNvPr id="451623" name="Rectangle 5">
              <a:extLst>
                <a:ext uri="{FF2B5EF4-FFF2-40B4-BE49-F238E27FC236}">
                  <a16:creationId xmlns:a16="http://schemas.microsoft.com/office/drawing/2014/main" id="{BB7D96AD-244B-4248-B97A-EA6D30D3AA0E}"/>
                </a:ext>
              </a:extLst>
            </p:cNvPr>
            <p:cNvSpPr>
              <a:spLocks noChangeArrowheads="1"/>
            </p:cNvSpPr>
            <p:nvPr/>
          </p:nvSpPr>
          <p:spPr bwMode="auto">
            <a:xfrm rot="-5400000">
              <a:off x="145" y="3567"/>
              <a:ext cx="4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Low</a:t>
              </a:r>
            </a:p>
          </p:txBody>
        </p:sp>
        <p:sp>
          <p:nvSpPr>
            <p:cNvPr id="451624" name="TextBox 2">
              <a:extLst>
                <a:ext uri="{FF2B5EF4-FFF2-40B4-BE49-F238E27FC236}">
                  <a16:creationId xmlns:a16="http://schemas.microsoft.com/office/drawing/2014/main" id="{50E7732B-ABAB-4637-8EB9-6117C5747727}"/>
                </a:ext>
              </a:extLst>
            </p:cNvPr>
            <p:cNvSpPr txBox="1">
              <a:spLocks noChangeArrowheads="1"/>
            </p:cNvSpPr>
            <p:nvPr/>
          </p:nvSpPr>
          <p:spPr bwMode="auto">
            <a:xfrm rot="-5400000">
              <a:off x="-617" y="2175"/>
              <a:ext cx="19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Ease of excludability</a:t>
              </a:r>
            </a:p>
          </p:txBody>
        </p:sp>
      </p:grpSp>
      <p:grpSp>
        <p:nvGrpSpPr>
          <p:cNvPr id="451625" name="Group 41">
            <a:extLst>
              <a:ext uri="{FF2B5EF4-FFF2-40B4-BE49-F238E27FC236}">
                <a16:creationId xmlns:a16="http://schemas.microsoft.com/office/drawing/2014/main" id="{BD50A7AF-8220-484C-8CBB-28FE4F8A4D7D}"/>
              </a:ext>
            </a:extLst>
          </p:cNvPr>
          <p:cNvGrpSpPr>
            <a:grpSpLocks/>
          </p:cNvGrpSpPr>
          <p:nvPr/>
        </p:nvGrpSpPr>
        <p:grpSpPr bwMode="auto">
          <a:xfrm>
            <a:off x="2667187" y="5829711"/>
            <a:ext cx="6141057" cy="431800"/>
            <a:chOff x="725" y="4030"/>
            <a:chExt cx="4277" cy="272"/>
          </a:xfrm>
        </p:grpSpPr>
        <p:sp>
          <p:nvSpPr>
            <p:cNvPr id="451626" name="Rectangle 4">
              <a:extLst>
                <a:ext uri="{FF2B5EF4-FFF2-40B4-BE49-F238E27FC236}">
                  <a16:creationId xmlns:a16="http://schemas.microsoft.com/office/drawing/2014/main" id="{33B5BC30-A295-4AD5-9229-17E05574DB0A}"/>
                </a:ext>
              </a:extLst>
            </p:cNvPr>
            <p:cNvSpPr>
              <a:spLocks noChangeArrowheads="1"/>
            </p:cNvSpPr>
            <p:nvPr/>
          </p:nvSpPr>
          <p:spPr bwMode="auto">
            <a:xfrm>
              <a:off x="4816" y="4030"/>
              <a:ext cx="16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i="1">
                  <a:latin typeface="Arial" panose="020B0604020202020204" pitchFamily="34" charset="0"/>
                </a:rPr>
                <a:t> </a:t>
              </a:r>
            </a:p>
          </p:txBody>
        </p:sp>
        <p:sp>
          <p:nvSpPr>
            <p:cNvPr id="451627" name="TextBox 2">
              <a:extLst>
                <a:ext uri="{FF2B5EF4-FFF2-40B4-BE49-F238E27FC236}">
                  <a16:creationId xmlns:a16="http://schemas.microsoft.com/office/drawing/2014/main" id="{14396499-0261-4888-8D74-52BE73123A45}"/>
                </a:ext>
              </a:extLst>
            </p:cNvPr>
            <p:cNvSpPr txBox="1">
              <a:spLocks noChangeArrowheads="1"/>
            </p:cNvSpPr>
            <p:nvPr/>
          </p:nvSpPr>
          <p:spPr bwMode="auto">
            <a:xfrm>
              <a:off x="1499" y="4050"/>
              <a:ext cx="27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dirty="0">
                  <a:latin typeface="Arial" panose="020B0604020202020204" pitchFamily="34" charset="0"/>
                </a:rPr>
                <a:t>Degree of rivalry</a:t>
              </a:r>
            </a:p>
          </p:txBody>
        </p:sp>
        <p:cxnSp>
          <p:nvCxnSpPr>
            <p:cNvPr id="451628" name="Straight Arrow Connector 6">
              <a:extLst>
                <a:ext uri="{FF2B5EF4-FFF2-40B4-BE49-F238E27FC236}">
                  <a16:creationId xmlns:a16="http://schemas.microsoft.com/office/drawing/2014/main" id="{B3C295C6-2675-4D98-A470-F5D845CAAEBE}"/>
                </a:ext>
              </a:extLst>
            </p:cNvPr>
            <p:cNvCxnSpPr>
              <a:cxnSpLocks noChangeShapeType="1"/>
            </p:cNvCxnSpPr>
            <p:nvPr/>
          </p:nvCxnSpPr>
          <p:spPr bwMode="auto">
            <a:xfrm>
              <a:off x="3574" y="4181"/>
              <a:ext cx="808" cy="1"/>
            </a:xfrm>
            <a:prstGeom prst="straightConnector1">
              <a:avLst/>
            </a:prstGeom>
            <a:noFill/>
            <a:ln w="22225"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sp>
          <p:nvSpPr>
            <p:cNvPr id="451629" name="TextBox 2">
              <a:extLst>
                <a:ext uri="{FF2B5EF4-FFF2-40B4-BE49-F238E27FC236}">
                  <a16:creationId xmlns:a16="http://schemas.microsoft.com/office/drawing/2014/main" id="{240E5177-FBA6-4A7F-9C51-9DF4986D386B}"/>
                </a:ext>
              </a:extLst>
            </p:cNvPr>
            <p:cNvSpPr txBox="1">
              <a:spLocks noChangeArrowheads="1"/>
            </p:cNvSpPr>
            <p:nvPr/>
          </p:nvSpPr>
          <p:spPr bwMode="auto">
            <a:xfrm>
              <a:off x="4496" y="4044"/>
              <a:ext cx="5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High</a:t>
              </a:r>
            </a:p>
          </p:txBody>
        </p:sp>
        <p:sp>
          <p:nvSpPr>
            <p:cNvPr id="451630" name="Rectangle 3">
              <a:extLst>
                <a:ext uri="{FF2B5EF4-FFF2-40B4-BE49-F238E27FC236}">
                  <a16:creationId xmlns:a16="http://schemas.microsoft.com/office/drawing/2014/main" id="{12831A03-3830-4782-84EE-93AA9A01BA3E}"/>
                </a:ext>
              </a:extLst>
            </p:cNvPr>
            <p:cNvSpPr>
              <a:spLocks noChangeArrowheads="1"/>
            </p:cNvSpPr>
            <p:nvPr/>
          </p:nvSpPr>
          <p:spPr bwMode="auto">
            <a:xfrm>
              <a:off x="725" y="4043"/>
              <a:ext cx="4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Low</a:t>
              </a:r>
            </a:p>
          </p:txBody>
        </p:sp>
        <p:sp>
          <p:nvSpPr>
            <p:cNvPr id="451631" name="Line 47">
              <a:extLst>
                <a:ext uri="{FF2B5EF4-FFF2-40B4-BE49-F238E27FC236}">
                  <a16:creationId xmlns:a16="http://schemas.microsoft.com/office/drawing/2014/main" id="{3B9EC2E3-AFD5-4F22-A037-D905213D6322}"/>
                </a:ext>
              </a:extLst>
            </p:cNvPr>
            <p:cNvSpPr>
              <a:spLocks noChangeShapeType="1"/>
            </p:cNvSpPr>
            <p:nvPr/>
          </p:nvSpPr>
          <p:spPr bwMode="auto">
            <a:xfrm flipH="1">
              <a:off x="1191" y="4175"/>
              <a:ext cx="982" cy="0"/>
            </a:xfrm>
            <a:prstGeom prst="line">
              <a:avLst/>
            </a:prstGeom>
            <a:noFill/>
            <a:ln w="22225">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GB"/>
            </a:p>
          </p:txBody>
        </p:sp>
      </p:grpSp>
      <p:sp>
        <p:nvSpPr>
          <p:cNvPr id="451632" name="Rectangle 49">
            <a:extLst>
              <a:ext uri="{FF2B5EF4-FFF2-40B4-BE49-F238E27FC236}">
                <a16:creationId xmlns:a16="http://schemas.microsoft.com/office/drawing/2014/main" id="{C1C3DACB-E110-4C49-B71B-028843570B44}"/>
              </a:ext>
            </a:extLst>
          </p:cNvPr>
          <p:cNvSpPr>
            <a:spLocks noChangeArrowheads="1"/>
          </p:cNvSpPr>
          <p:nvPr/>
        </p:nvSpPr>
        <p:spPr bwMode="auto">
          <a:xfrm>
            <a:off x="0" y="-1"/>
            <a:ext cx="12192000" cy="1062037"/>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lgn="ctr">
              <a:defRPr sz="3800">
                <a:solidFill>
                  <a:srgbClr val="462300"/>
                </a:solidFill>
                <a:latin typeface="Arial" panose="020B0604020202020204" pitchFamily="34" charset="0"/>
              </a:defRPr>
            </a:lvl1pPr>
            <a:lvl2pPr algn="ctr">
              <a:defRPr sz="3800">
                <a:solidFill>
                  <a:srgbClr val="462300"/>
                </a:solidFill>
                <a:latin typeface="Arial" panose="020B0604020202020204" pitchFamily="34" charset="0"/>
              </a:defRPr>
            </a:lvl2pPr>
            <a:lvl3pPr algn="ctr">
              <a:defRPr sz="3800">
                <a:solidFill>
                  <a:srgbClr val="462300"/>
                </a:solidFill>
                <a:latin typeface="Arial" panose="020B0604020202020204" pitchFamily="34" charset="0"/>
              </a:defRPr>
            </a:lvl3pPr>
            <a:lvl4pPr algn="ctr">
              <a:defRPr sz="3800">
                <a:solidFill>
                  <a:srgbClr val="462300"/>
                </a:solidFill>
                <a:latin typeface="Arial" panose="020B0604020202020204" pitchFamily="34" charset="0"/>
              </a:defRPr>
            </a:lvl4pPr>
            <a:lvl5pPr algn="ctr">
              <a:defRPr sz="3800">
                <a:solidFill>
                  <a:srgbClr val="462300"/>
                </a:solidFill>
                <a:latin typeface="Arial" panose="020B0604020202020204" pitchFamily="34" charset="0"/>
              </a:defRPr>
            </a:lvl5pPr>
            <a:lvl6pPr marL="457200" algn="ctr" eaLnBrk="0" fontAlgn="base" hangingPunct="0">
              <a:spcBef>
                <a:spcPct val="0"/>
              </a:spcBef>
              <a:spcAft>
                <a:spcPct val="0"/>
              </a:spcAft>
              <a:defRPr sz="3800">
                <a:solidFill>
                  <a:srgbClr val="462300"/>
                </a:solidFill>
                <a:latin typeface="Arial" panose="020B0604020202020204" pitchFamily="34" charset="0"/>
              </a:defRPr>
            </a:lvl6pPr>
            <a:lvl7pPr marL="914400" algn="ctr" eaLnBrk="0" fontAlgn="base" hangingPunct="0">
              <a:spcBef>
                <a:spcPct val="0"/>
              </a:spcBef>
              <a:spcAft>
                <a:spcPct val="0"/>
              </a:spcAft>
              <a:defRPr sz="3800">
                <a:solidFill>
                  <a:srgbClr val="462300"/>
                </a:solidFill>
                <a:latin typeface="Arial" panose="020B0604020202020204" pitchFamily="34" charset="0"/>
              </a:defRPr>
            </a:lvl7pPr>
            <a:lvl8pPr marL="1371600" algn="ctr" eaLnBrk="0" fontAlgn="base" hangingPunct="0">
              <a:spcBef>
                <a:spcPct val="0"/>
              </a:spcBef>
              <a:spcAft>
                <a:spcPct val="0"/>
              </a:spcAft>
              <a:defRPr sz="3800">
                <a:solidFill>
                  <a:srgbClr val="462300"/>
                </a:solidFill>
                <a:latin typeface="Arial" panose="020B0604020202020204" pitchFamily="34" charset="0"/>
              </a:defRPr>
            </a:lvl8pPr>
            <a:lvl9pPr marL="1828800" algn="ctr" eaLnBrk="0" fontAlgn="base" hangingPunct="0">
              <a:spcBef>
                <a:spcPct val="0"/>
              </a:spcBef>
              <a:spcAft>
                <a:spcPct val="0"/>
              </a:spcAft>
              <a:defRPr sz="3800">
                <a:solidFill>
                  <a:srgbClr val="462300"/>
                </a:solidFill>
                <a:latin typeface="Arial" panose="020B0604020202020204" pitchFamily="34" charset="0"/>
              </a:defRPr>
            </a:lvl9pPr>
          </a:lstStyle>
          <a:p>
            <a:r>
              <a:rPr lang="en-GB" altLang="en-US" sz="2400" b="1" dirty="0">
                <a:solidFill>
                  <a:srgbClr val="660066"/>
                </a:solidFill>
              </a:rPr>
              <a:t>Classifying goods according to the degree of rivalry</a:t>
            </a:r>
            <a:br>
              <a:rPr lang="en-US" altLang="en-US" sz="2400" b="1" dirty="0">
                <a:solidFill>
                  <a:srgbClr val="660066"/>
                </a:solidFill>
              </a:rPr>
            </a:br>
            <a:r>
              <a:rPr lang="en-GB" altLang="en-US" sz="2400" b="1" dirty="0">
                <a:solidFill>
                  <a:srgbClr val="660066"/>
                </a:solidFill>
              </a:rPr>
              <a:t>and ease of excludability</a:t>
            </a:r>
            <a:r>
              <a:rPr lang="en-GB" altLang="en-US" sz="2400" b="1" u="sng" dirty="0">
                <a:solidFill>
                  <a:srgbClr val="660066"/>
                </a:solidFill>
              </a:rPr>
              <a:t> </a:t>
            </a:r>
          </a:p>
        </p:txBody>
      </p:sp>
      <p:sp>
        <p:nvSpPr>
          <p:cNvPr id="4" name="TextBox 3">
            <a:extLst>
              <a:ext uri="{FF2B5EF4-FFF2-40B4-BE49-F238E27FC236}">
                <a16:creationId xmlns:a16="http://schemas.microsoft.com/office/drawing/2014/main" id="{024E3043-51CA-6F03-574A-02A9BBE9B51E}"/>
              </a:ext>
            </a:extLst>
          </p:cNvPr>
          <p:cNvSpPr txBox="1"/>
          <p:nvPr/>
        </p:nvSpPr>
        <p:spPr>
          <a:xfrm>
            <a:off x="9628373" y="1469130"/>
            <a:ext cx="2046176" cy="4247317"/>
          </a:xfrm>
          <a:prstGeom prst="rect">
            <a:avLst/>
          </a:prstGeom>
          <a:noFill/>
        </p:spPr>
        <p:txBody>
          <a:bodyPr wrap="square" rtlCol="0">
            <a:spAutoFit/>
          </a:bodyPr>
          <a:lstStyle/>
          <a:p>
            <a:pPr marL="285750" indent="-285750">
              <a:buFont typeface="Arial" panose="020B0604020202020204" pitchFamily="34" charset="0"/>
              <a:buChar char="•"/>
            </a:pPr>
            <a:r>
              <a:rPr lang="en-GB" sz="1800" dirty="0">
                <a:latin typeface="Calibri" panose="020F0502020204030204" pitchFamily="34" charset="0"/>
                <a:ea typeface="Calibri" panose="020F0502020204030204" pitchFamily="34" charset="0"/>
                <a:cs typeface="Calibri" panose="020F0502020204030204" pitchFamily="34" charset="0"/>
              </a:rPr>
              <a:t>In the examples, we have assumed that there is a simple classification</a:t>
            </a:r>
          </a:p>
          <a:p>
            <a:pPr marL="285750" indent="-285750">
              <a:buFont typeface="Arial" panose="020B0604020202020204" pitchFamily="34" charset="0"/>
              <a:buChar char="•"/>
            </a:pPr>
            <a:endParaRPr lang="en-GB"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800" dirty="0">
                <a:latin typeface="Calibri" panose="020F0502020204030204" pitchFamily="34" charset="0"/>
                <a:ea typeface="Calibri" panose="020F0502020204030204" pitchFamily="34" charset="0"/>
                <a:cs typeface="Calibri" panose="020F0502020204030204" pitchFamily="34" charset="0"/>
              </a:rPr>
              <a:t>Makes more sense to think about the degree of rivalry</a:t>
            </a:r>
          </a:p>
          <a:p>
            <a:pPr marL="285750" indent="-285750">
              <a:buFont typeface="Arial" panose="020B0604020202020204" pitchFamily="34" charset="0"/>
              <a:buChar char="•"/>
            </a:pPr>
            <a:endParaRPr lang="en-GB"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800" dirty="0">
                <a:latin typeface="Calibri" panose="020F0502020204030204" pitchFamily="34" charset="0"/>
                <a:ea typeface="Calibri" panose="020F0502020204030204" pitchFamily="34" charset="0"/>
                <a:cs typeface="Calibri" panose="020F0502020204030204" pitchFamily="34" charset="0"/>
              </a:rPr>
              <a:t>For e.g. roads are not busy for many hours of the day</a:t>
            </a:r>
          </a:p>
        </p:txBody>
      </p:sp>
    </p:spTree>
    <p:extLst>
      <p:ext uri="{BB962C8B-B14F-4D97-AF65-F5344CB8AC3E}">
        <p14:creationId xmlns:p14="http://schemas.microsoft.com/office/powerpoint/2010/main" val="64569969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51619"/>
                                        </p:tgtEl>
                                        <p:attrNameLst>
                                          <p:attrName>style.visibility</p:attrName>
                                        </p:attrNameLst>
                                      </p:cBhvr>
                                      <p:to>
                                        <p:strVal val="visible"/>
                                      </p:to>
                                    </p:set>
                                    <p:animEffect transition="in" filter="wipe(down)">
                                      <p:cBhvr>
                                        <p:cTn id="7" dur="500"/>
                                        <p:tgtEl>
                                          <p:spTgt spid="4516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1625"/>
                                        </p:tgtEl>
                                        <p:attrNameLst>
                                          <p:attrName>style.visibility</p:attrName>
                                        </p:attrNameLst>
                                      </p:cBhvr>
                                      <p:to>
                                        <p:strVal val="visible"/>
                                      </p:to>
                                    </p:set>
                                    <p:animEffect transition="in" filter="wipe(left)">
                                      <p:cBhvr>
                                        <p:cTn id="12" dur="500"/>
                                        <p:tgtEl>
                                          <p:spTgt spid="4516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nodeType="clickEffect">
                                  <p:stCondLst>
                                    <p:cond delay="0"/>
                                  </p:stCondLst>
                                  <p:childTnLst>
                                    <p:set>
                                      <p:cBhvr>
                                        <p:cTn id="16" dur="1" fill="hold">
                                          <p:stCondLst>
                                            <p:cond delay="0"/>
                                          </p:stCondLst>
                                        </p:cTn>
                                        <p:tgtEl>
                                          <p:spTgt spid="451594"/>
                                        </p:tgtEl>
                                        <p:attrNameLst>
                                          <p:attrName>style.visibility</p:attrName>
                                        </p:attrNameLst>
                                      </p:cBhvr>
                                      <p:to>
                                        <p:strVal val="visible"/>
                                      </p:to>
                                    </p:set>
                                    <p:anim calcmode="lin" valueType="num">
                                      <p:cBhvr>
                                        <p:cTn id="17" dur="500" fill="hold"/>
                                        <p:tgtEl>
                                          <p:spTgt spid="451594"/>
                                        </p:tgtEl>
                                        <p:attrNameLst>
                                          <p:attrName>ppt_w</p:attrName>
                                        </p:attrNameLst>
                                      </p:cBhvr>
                                      <p:tavLst>
                                        <p:tav tm="0">
                                          <p:val>
                                            <p:fltVal val="0"/>
                                          </p:val>
                                        </p:tav>
                                        <p:tav tm="100000">
                                          <p:val>
                                            <p:strVal val="#ppt_w"/>
                                          </p:val>
                                        </p:tav>
                                      </p:tavLst>
                                    </p:anim>
                                    <p:anim calcmode="lin" valueType="num">
                                      <p:cBhvr>
                                        <p:cTn id="18" dur="500" fill="hold"/>
                                        <p:tgtEl>
                                          <p:spTgt spid="451594"/>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451599"/>
                                        </p:tgtEl>
                                        <p:attrNameLst>
                                          <p:attrName>style.visibility</p:attrName>
                                        </p:attrNameLst>
                                      </p:cBhvr>
                                      <p:to>
                                        <p:strVal val="visible"/>
                                      </p:to>
                                    </p:set>
                                    <p:animEffect transition="in" filter="wipe(down)">
                                      <p:cBhvr>
                                        <p:cTn id="23" dur="500"/>
                                        <p:tgtEl>
                                          <p:spTgt spid="45159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10" fill="hold" nodeType="clickEffect">
                                  <p:stCondLst>
                                    <p:cond delay="0"/>
                                  </p:stCondLst>
                                  <p:childTnLst>
                                    <p:set>
                                      <p:cBhvr>
                                        <p:cTn id="27" dur="1" fill="hold">
                                          <p:stCondLst>
                                            <p:cond delay="0"/>
                                          </p:stCondLst>
                                        </p:cTn>
                                        <p:tgtEl>
                                          <p:spTgt spid="451604"/>
                                        </p:tgtEl>
                                        <p:attrNameLst>
                                          <p:attrName>style.visibility</p:attrName>
                                        </p:attrNameLst>
                                      </p:cBhvr>
                                      <p:to>
                                        <p:strVal val="visible"/>
                                      </p:to>
                                    </p:set>
                                    <p:anim calcmode="lin" valueType="num">
                                      <p:cBhvr>
                                        <p:cTn id="28" dur="500" fill="hold"/>
                                        <p:tgtEl>
                                          <p:spTgt spid="451604"/>
                                        </p:tgtEl>
                                        <p:attrNameLst>
                                          <p:attrName>ppt_w</p:attrName>
                                        </p:attrNameLst>
                                      </p:cBhvr>
                                      <p:tavLst>
                                        <p:tav tm="0">
                                          <p:val>
                                            <p:fltVal val="0"/>
                                          </p:val>
                                        </p:tav>
                                        <p:tav tm="100000">
                                          <p:val>
                                            <p:strVal val="#ppt_w"/>
                                          </p:val>
                                        </p:tav>
                                      </p:tavLst>
                                    </p:anim>
                                    <p:anim calcmode="lin" valueType="num">
                                      <p:cBhvr>
                                        <p:cTn id="29" dur="500" fill="hold"/>
                                        <p:tgtEl>
                                          <p:spTgt spid="451604"/>
                                        </p:tgtEl>
                                        <p:attrNameLst>
                                          <p:attrName>ppt_h</p:attrName>
                                        </p:attrNameLst>
                                      </p:cBhvr>
                                      <p:tavLst>
                                        <p:tav tm="0">
                                          <p:val>
                                            <p:strVal val="#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10" fill="hold" nodeType="clickEffect">
                                  <p:stCondLst>
                                    <p:cond delay="0"/>
                                  </p:stCondLst>
                                  <p:childTnLst>
                                    <p:set>
                                      <p:cBhvr>
                                        <p:cTn id="33" dur="1" fill="hold">
                                          <p:stCondLst>
                                            <p:cond delay="0"/>
                                          </p:stCondLst>
                                        </p:cTn>
                                        <p:tgtEl>
                                          <p:spTgt spid="451614"/>
                                        </p:tgtEl>
                                        <p:attrNameLst>
                                          <p:attrName>style.visibility</p:attrName>
                                        </p:attrNameLst>
                                      </p:cBhvr>
                                      <p:to>
                                        <p:strVal val="visible"/>
                                      </p:to>
                                    </p:set>
                                    <p:anim calcmode="lin" valueType="num">
                                      <p:cBhvr>
                                        <p:cTn id="34" dur="500" fill="hold"/>
                                        <p:tgtEl>
                                          <p:spTgt spid="451614"/>
                                        </p:tgtEl>
                                        <p:attrNameLst>
                                          <p:attrName>ppt_w</p:attrName>
                                        </p:attrNameLst>
                                      </p:cBhvr>
                                      <p:tavLst>
                                        <p:tav tm="0">
                                          <p:val>
                                            <p:fltVal val="0"/>
                                          </p:val>
                                        </p:tav>
                                        <p:tav tm="100000">
                                          <p:val>
                                            <p:strVal val="#ppt_w"/>
                                          </p:val>
                                        </p:tav>
                                      </p:tavLst>
                                    </p:anim>
                                    <p:anim calcmode="lin" valueType="num">
                                      <p:cBhvr>
                                        <p:cTn id="35" dur="500" fill="hold"/>
                                        <p:tgtEl>
                                          <p:spTgt spid="451614"/>
                                        </p:tgtEl>
                                        <p:attrNameLst>
                                          <p:attrName>ppt_h</p:attrName>
                                        </p:attrNameLst>
                                      </p:cBhvr>
                                      <p:tavLst>
                                        <p:tav tm="0">
                                          <p:val>
                                            <p:strVal val="#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0" fill="hold" nodeType="clickEffect">
                                  <p:stCondLst>
                                    <p:cond delay="0"/>
                                  </p:stCondLst>
                                  <p:childTnLst>
                                    <p:set>
                                      <p:cBhvr>
                                        <p:cTn id="39" dur="1" fill="hold">
                                          <p:stCondLst>
                                            <p:cond delay="0"/>
                                          </p:stCondLst>
                                        </p:cTn>
                                        <p:tgtEl>
                                          <p:spTgt spid="451609"/>
                                        </p:tgtEl>
                                        <p:attrNameLst>
                                          <p:attrName>style.visibility</p:attrName>
                                        </p:attrNameLst>
                                      </p:cBhvr>
                                      <p:to>
                                        <p:strVal val="visible"/>
                                      </p:to>
                                    </p:set>
                                    <p:anim calcmode="lin" valueType="num">
                                      <p:cBhvr>
                                        <p:cTn id="40" dur="500" fill="hold"/>
                                        <p:tgtEl>
                                          <p:spTgt spid="451609"/>
                                        </p:tgtEl>
                                        <p:attrNameLst>
                                          <p:attrName>ppt_w</p:attrName>
                                        </p:attrNameLst>
                                      </p:cBhvr>
                                      <p:tavLst>
                                        <p:tav tm="0">
                                          <p:val>
                                            <p:fltVal val="0"/>
                                          </p:val>
                                        </p:tav>
                                        <p:tav tm="100000">
                                          <p:val>
                                            <p:strVal val="#ppt_w"/>
                                          </p:val>
                                        </p:tav>
                                      </p:tavLst>
                                    </p:anim>
                                    <p:anim calcmode="lin" valueType="num">
                                      <p:cBhvr>
                                        <p:cTn id="41" dur="500" fill="hold"/>
                                        <p:tgtEl>
                                          <p:spTgt spid="451609"/>
                                        </p:tgtEl>
                                        <p:attrNameLst>
                                          <p:attrName>ppt_h</p:attrName>
                                        </p:attrNameLst>
                                      </p:cBhvr>
                                      <p:tavLst>
                                        <p:tav tm="0">
                                          <p:val>
                                            <p:strVal val="#ppt_h"/>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2" fill="hold" nodeType="clickEffect">
                                  <p:stCondLst>
                                    <p:cond delay="0"/>
                                  </p:stCondLst>
                                  <p:childTnLst>
                                    <p:set>
                                      <p:cBhvr>
                                        <p:cTn id="45" dur="1" fill="hold">
                                          <p:stCondLst>
                                            <p:cond delay="0"/>
                                          </p:stCondLst>
                                        </p:cTn>
                                        <p:tgtEl>
                                          <p:spTgt spid="451588"/>
                                        </p:tgtEl>
                                        <p:attrNameLst>
                                          <p:attrName>style.visibility</p:attrName>
                                        </p:attrNameLst>
                                      </p:cBhvr>
                                      <p:to>
                                        <p:strVal val="visible"/>
                                      </p:to>
                                    </p:set>
                                    <p:animEffect transition="in" filter="wipe(right)">
                                      <p:cBhvr>
                                        <p:cTn id="46" dur="500"/>
                                        <p:tgtEl>
                                          <p:spTgt spid="45158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51591"/>
                                        </p:tgtEl>
                                        <p:attrNameLst>
                                          <p:attrName>style.visibility</p:attrName>
                                        </p:attrNameLst>
                                      </p:cBhvr>
                                      <p:to>
                                        <p:strVal val="visible"/>
                                      </p:to>
                                    </p:set>
                                    <p:animEffect transition="in" filter="wipe(up)">
                                      <p:cBhvr>
                                        <p:cTn id="51" dur="500"/>
                                        <p:tgtEl>
                                          <p:spTgt spid="451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92422C0D-2C9E-480F-8F1B-92A91E311E51}"/>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355" name="Rectangle 3">
            <a:extLst>
              <a:ext uri="{FF2B5EF4-FFF2-40B4-BE49-F238E27FC236}">
                <a16:creationId xmlns:a16="http://schemas.microsoft.com/office/drawing/2014/main" id="{C9BBF3E8-81A3-4AC2-89D6-A64D36DFB4EF}"/>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356" name="Rectangle 4">
            <a:extLst>
              <a:ext uri="{FF2B5EF4-FFF2-40B4-BE49-F238E27FC236}">
                <a16:creationId xmlns:a16="http://schemas.microsoft.com/office/drawing/2014/main" id="{969C14FC-6FB4-4E07-9F26-0F6311E9DB21}"/>
              </a:ext>
            </a:extLst>
          </p:cNvPr>
          <p:cNvSpPr>
            <a:spLocks noGrp="1"/>
          </p:cNvSpPr>
          <p:nvPr>
            <p:ph type="title"/>
          </p:nvPr>
        </p:nvSpPr>
        <p:spPr/>
        <p:txBody>
          <a:bodyPr/>
          <a:lstStyle/>
          <a:p>
            <a:r>
              <a:rPr lang="en-GB" altLang="en-US" sz="2800" dirty="0"/>
              <a:t>The efficient level of output for a pure public good</a:t>
            </a:r>
          </a:p>
        </p:txBody>
      </p:sp>
      <p:sp>
        <p:nvSpPr>
          <p:cNvPr id="484357" name="Rectangle 5">
            <a:extLst>
              <a:ext uri="{FF2B5EF4-FFF2-40B4-BE49-F238E27FC236}">
                <a16:creationId xmlns:a16="http://schemas.microsoft.com/office/drawing/2014/main" id="{8F781048-73F7-4BEC-9752-CED12F9BE949}"/>
              </a:ext>
            </a:extLst>
          </p:cNvPr>
          <p:cNvSpPr>
            <a:spLocks noGrp="1"/>
          </p:cNvSpPr>
          <p:nvPr>
            <p:ph idx="1"/>
          </p:nvPr>
        </p:nvSpPr>
        <p:spPr>
          <a:xfrm>
            <a:off x="366774" y="1358900"/>
            <a:ext cx="11458452" cy="4889500"/>
          </a:xfrm>
        </p:spPr>
        <p:txBody>
          <a:bodyPr/>
          <a:lstStyle/>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Derivation of the market demand curve</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market demand curve for a private good illustrates the sum of all quantities demanded by all consumers at each possible price. Different consumers will each want to purchase varying amounts at each price.</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These different individual demands at each price are simply added together in order to derive the market demand curve for a private good (horizontal aggregation or summation of individual demand curves)</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market demand curve for a pure public good cannot be derived in the same way, because consumers are unable to purchase and consume different quantities of the good</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Once a given amount of a pure public good is produced for one customer, every other customer can consumer that same amount at no additional cost</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So, we have to add together the maximum amount each consumer is WTP for each possible level of output</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Simple example, assume there are only 2 consumers of the public good (many more in real world)</a:t>
            </a:r>
          </a:p>
        </p:txBody>
      </p:sp>
    </p:spTree>
    <p:extLst>
      <p:ext uri="{BB962C8B-B14F-4D97-AF65-F5344CB8AC3E}">
        <p14:creationId xmlns:p14="http://schemas.microsoft.com/office/powerpoint/2010/main" val="3518483264"/>
      </p:ext>
    </p:extLst>
  </p:cSld>
  <p:clrMapOvr>
    <a:masterClrMapping/>
  </p:clrMapOvr>
  <p:transition spd="slow">
    <p:pull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8450" name="Group 2">
            <a:extLst>
              <a:ext uri="{FF2B5EF4-FFF2-40B4-BE49-F238E27FC236}">
                <a16:creationId xmlns:a16="http://schemas.microsoft.com/office/drawing/2014/main" id="{FBAA0238-13D8-4D9B-A97F-1A5ACB0FC620}"/>
              </a:ext>
            </a:extLst>
          </p:cNvPr>
          <p:cNvGrpSpPr>
            <a:grpSpLocks/>
          </p:cNvGrpSpPr>
          <p:nvPr/>
        </p:nvGrpSpPr>
        <p:grpSpPr bwMode="auto">
          <a:xfrm>
            <a:off x="2582863" y="788988"/>
            <a:ext cx="7854950" cy="5334000"/>
            <a:chOff x="667" y="497"/>
            <a:chExt cx="4948" cy="3360"/>
          </a:xfrm>
        </p:grpSpPr>
        <p:sp>
          <p:nvSpPr>
            <p:cNvPr id="488451" name="Rectangle 3">
              <a:extLst>
                <a:ext uri="{FF2B5EF4-FFF2-40B4-BE49-F238E27FC236}">
                  <a16:creationId xmlns:a16="http://schemas.microsoft.com/office/drawing/2014/main" id="{B78CE6AF-F740-4685-B744-976F82986093}"/>
                </a:ext>
              </a:extLst>
            </p:cNvPr>
            <p:cNvSpPr>
              <a:spLocks noChangeArrowheads="1"/>
            </p:cNvSpPr>
            <p:nvPr/>
          </p:nvSpPr>
          <p:spPr bwMode="auto">
            <a:xfrm>
              <a:off x="679" y="521"/>
              <a:ext cx="4901" cy="332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8452" name="Line 22">
              <a:extLst>
                <a:ext uri="{FF2B5EF4-FFF2-40B4-BE49-F238E27FC236}">
                  <a16:creationId xmlns:a16="http://schemas.microsoft.com/office/drawing/2014/main" id="{071E5150-5B47-40F1-B35D-DE62C8A1A0B5}"/>
                </a:ext>
              </a:extLst>
            </p:cNvPr>
            <p:cNvSpPr>
              <a:spLocks noChangeShapeType="1"/>
            </p:cNvSpPr>
            <p:nvPr/>
          </p:nvSpPr>
          <p:spPr bwMode="auto">
            <a:xfrm>
              <a:off x="672" y="497"/>
              <a:ext cx="0" cy="336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88453" name="Line 23">
              <a:extLst>
                <a:ext uri="{FF2B5EF4-FFF2-40B4-BE49-F238E27FC236}">
                  <a16:creationId xmlns:a16="http://schemas.microsoft.com/office/drawing/2014/main" id="{4B993604-9D01-486D-8415-DA126C7499C5}"/>
                </a:ext>
              </a:extLst>
            </p:cNvPr>
            <p:cNvSpPr>
              <a:spLocks noChangeShapeType="1"/>
            </p:cNvSpPr>
            <p:nvPr/>
          </p:nvSpPr>
          <p:spPr bwMode="auto">
            <a:xfrm>
              <a:off x="667" y="3855"/>
              <a:ext cx="494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488454" name="Group 6">
            <a:extLst>
              <a:ext uri="{FF2B5EF4-FFF2-40B4-BE49-F238E27FC236}">
                <a16:creationId xmlns:a16="http://schemas.microsoft.com/office/drawing/2014/main" id="{12350424-BF6D-4B3F-9FF6-5F0DE138D7D3}"/>
              </a:ext>
            </a:extLst>
          </p:cNvPr>
          <p:cNvGrpSpPr>
            <a:grpSpLocks/>
          </p:cNvGrpSpPr>
          <p:nvPr/>
        </p:nvGrpSpPr>
        <p:grpSpPr bwMode="auto">
          <a:xfrm>
            <a:off x="1954213" y="1114426"/>
            <a:ext cx="5956300" cy="5006975"/>
            <a:chOff x="271" y="702"/>
            <a:chExt cx="3752" cy="3154"/>
          </a:xfrm>
        </p:grpSpPr>
        <p:sp>
          <p:nvSpPr>
            <p:cNvPr id="488455" name="Rectangle 3">
              <a:extLst>
                <a:ext uri="{FF2B5EF4-FFF2-40B4-BE49-F238E27FC236}">
                  <a16:creationId xmlns:a16="http://schemas.microsoft.com/office/drawing/2014/main" id="{F08E8FA7-7142-47B0-854D-7D2F66946610}"/>
                </a:ext>
              </a:extLst>
            </p:cNvPr>
            <p:cNvSpPr>
              <a:spLocks noChangeArrowheads="1"/>
            </p:cNvSpPr>
            <p:nvPr/>
          </p:nvSpPr>
          <p:spPr bwMode="auto">
            <a:xfrm>
              <a:off x="271" y="702"/>
              <a:ext cx="41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 160</a:t>
              </a:r>
            </a:p>
          </p:txBody>
        </p:sp>
        <p:sp>
          <p:nvSpPr>
            <p:cNvPr id="488456" name="Line 20">
              <a:extLst>
                <a:ext uri="{FF2B5EF4-FFF2-40B4-BE49-F238E27FC236}">
                  <a16:creationId xmlns:a16="http://schemas.microsoft.com/office/drawing/2014/main" id="{C4A4ABEB-694C-4EA4-92A6-15A80DA572D5}"/>
                </a:ext>
              </a:extLst>
            </p:cNvPr>
            <p:cNvSpPr>
              <a:spLocks noChangeShapeType="1"/>
            </p:cNvSpPr>
            <p:nvPr/>
          </p:nvSpPr>
          <p:spPr bwMode="auto">
            <a:xfrm>
              <a:off x="668" y="833"/>
              <a:ext cx="3355" cy="3023"/>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88457" name="TextBox 1">
              <a:extLst>
                <a:ext uri="{FF2B5EF4-FFF2-40B4-BE49-F238E27FC236}">
                  <a16:creationId xmlns:a16="http://schemas.microsoft.com/office/drawing/2014/main" id="{50D5E96F-EED6-483A-9BA3-68C0836B20D0}"/>
                </a:ext>
              </a:extLst>
            </p:cNvPr>
            <p:cNvSpPr txBox="1">
              <a:spLocks noChangeArrowheads="1"/>
            </p:cNvSpPr>
            <p:nvPr/>
          </p:nvSpPr>
          <p:spPr bwMode="auto">
            <a:xfrm>
              <a:off x="2775" y="2415"/>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900" i="1">
                  <a:solidFill>
                    <a:schemeClr val="accent2"/>
                  </a:solidFill>
                  <a:latin typeface="Arial" panose="020B0604020202020204" pitchFamily="34" charset="0"/>
                </a:rPr>
                <a:t>MSB</a:t>
              </a:r>
              <a:r>
                <a:rPr lang="en-GB" altLang="en-US" sz="1900">
                  <a:solidFill>
                    <a:schemeClr val="accent2"/>
                  </a:solidFill>
                  <a:latin typeface="Arial" panose="020B0604020202020204" pitchFamily="34" charset="0"/>
                </a:rPr>
                <a:t> =</a:t>
              </a:r>
              <a:r>
                <a:rPr lang="en-US" altLang="en-US" sz="1900">
                  <a:solidFill>
                    <a:schemeClr val="accent2"/>
                  </a:solidFill>
                  <a:latin typeface="Arial" panose="020B0604020202020204" pitchFamily="34" charset="0"/>
                </a:rPr>
                <a:t> </a:t>
              </a:r>
              <a:r>
                <a:rPr lang="en-GB" altLang="en-US" sz="1900" i="1">
                  <a:solidFill>
                    <a:schemeClr val="accent2"/>
                  </a:solidFill>
                  <a:latin typeface="Arial" panose="020B0604020202020204" pitchFamily="34" charset="0"/>
                </a:rPr>
                <a:t>D</a:t>
              </a:r>
              <a:r>
                <a:rPr lang="en-GB" altLang="en-US" sz="1900" baseline="-25000">
                  <a:solidFill>
                    <a:schemeClr val="accent2"/>
                  </a:solidFill>
                  <a:latin typeface="Arial" panose="020B0604020202020204" pitchFamily="34" charset="0"/>
                </a:rPr>
                <a:t>M</a:t>
              </a:r>
              <a:r>
                <a:rPr lang="en-GB" altLang="en-US" sz="1900">
                  <a:solidFill>
                    <a:schemeClr val="accent2"/>
                  </a:solidFill>
                  <a:latin typeface="Arial" panose="020B0604020202020204" pitchFamily="34" charset="0"/>
                </a:rPr>
                <a:t> </a:t>
              </a:r>
              <a:br>
                <a:rPr lang="en-GB" altLang="en-US" sz="1900">
                  <a:solidFill>
                    <a:schemeClr val="accent2"/>
                  </a:solidFill>
                  <a:latin typeface="Arial" panose="020B0604020202020204" pitchFamily="34" charset="0"/>
                </a:rPr>
              </a:br>
              <a:r>
                <a:rPr lang="en-GB" altLang="en-US" sz="1900">
                  <a:solidFill>
                    <a:schemeClr val="accent2"/>
                  </a:solidFill>
                  <a:latin typeface="Arial" panose="020B0604020202020204" pitchFamily="34" charset="0"/>
                </a:rPr>
                <a:t>= </a:t>
              </a:r>
              <a:r>
                <a:rPr lang="en-GB" altLang="en-US" sz="1900" i="1">
                  <a:solidFill>
                    <a:schemeClr val="accent2"/>
                  </a:solidFill>
                  <a:latin typeface="Arial" panose="020B0604020202020204" pitchFamily="34" charset="0"/>
                </a:rPr>
                <a:t>D</a:t>
              </a:r>
              <a:r>
                <a:rPr lang="en-GB" altLang="en-US" sz="1900" baseline="-25000">
                  <a:solidFill>
                    <a:schemeClr val="accent2"/>
                  </a:solidFill>
                  <a:latin typeface="Arial" panose="020B0604020202020204" pitchFamily="34" charset="0"/>
                </a:rPr>
                <a:t>D</a:t>
              </a:r>
              <a:r>
                <a:rPr lang="en-GB" altLang="en-US" sz="1900">
                  <a:solidFill>
                    <a:schemeClr val="accent2"/>
                  </a:solidFill>
                  <a:latin typeface="Arial" panose="020B0604020202020204" pitchFamily="34" charset="0"/>
                </a:rPr>
                <a:t> + </a:t>
              </a:r>
              <a:r>
                <a:rPr lang="en-GB" altLang="en-US" sz="1900" i="1">
                  <a:solidFill>
                    <a:schemeClr val="accent2"/>
                  </a:solidFill>
                  <a:latin typeface="Arial" panose="020B0604020202020204" pitchFamily="34" charset="0"/>
                </a:rPr>
                <a:t>D</a:t>
              </a:r>
              <a:r>
                <a:rPr lang="en-GB" altLang="en-US" sz="1900" baseline="-25000">
                  <a:solidFill>
                    <a:schemeClr val="accent2"/>
                  </a:solidFill>
                  <a:latin typeface="Arial" panose="020B0604020202020204" pitchFamily="34" charset="0"/>
                </a:rPr>
                <a:t>J</a:t>
              </a:r>
            </a:p>
          </p:txBody>
        </p:sp>
      </p:grpSp>
      <p:grpSp>
        <p:nvGrpSpPr>
          <p:cNvPr id="488458" name="Group 10">
            <a:extLst>
              <a:ext uri="{FF2B5EF4-FFF2-40B4-BE49-F238E27FC236}">
                <a16:creationId xmlns:a16="http://schemas.microsoft.com/office/drawing/2014/main" id="{144134BA-0F25-425B-B39E-73FACA910FD0}"/>
              </a:ext>
            </a:extLst>
          </p:cNvPr>
          <p:cNvGrpSpPr>
            <a:grpSpLocks/>
          </p:cNvGrpSpPr>
          <p:nvPr/>
        </p:nvGrpSpPr>
        <p:grpSpPr bwMode="auto">
          <a:xfrm>
            <a:off x="2003425" y="2771776"/>
            <a:ext cx="5900738" cy="3344863"/>
            <a:chOff x="302" y="1746"/>
            <a:chExt cx="3717" cy="2107"/>
          </a:xfrm>
        </p:grpSpPr>
        <p:sp>
          <p:nvSpPr>
            <p:cNvPr id="488459" name="Line 9">
              <a:extLst>
                <a:ext uri="{FF2B5EF4-FFF2-40B4-BE49-F238E27FC236}">
                  <a16:creationId xmlns:a16="http://schemas.microsoft.com/office/drawing/2014/main" id="{89790FF9-7605-4DDA-ADAA-1F34E21DF34F}"/>
                </a:ext>
              </a:extLst>
            </p:cNvPr>
            <p:cNvSpPr>
              <a:spLocks noChangeShapeType="1"/>
            </p:cNvSpPr>
            <p:nvPr/>
          </p:nvSpPr>
          <p:spPr bwMode="auto">
            <a:xfrm>
              <a:off x="672" y="1956"/>
              <a:ext cx="3347" cy="1897"/>
            </a:xfrm>
            <a:prstGeom prst="line">
              <a:avLst/>
            </a:prstGeom>
            <a:noFill/>
            <a:ln w="381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88460" name="TextBox 3">
              <a:extLst>
                <a:ext uri="{FF2B5EF4-FFF2-40B4-BE49-F238E27FC236}">
                  <a16:creationId xmlns:a16="http://schemas.microsoft.com/office/drawing/2014/main" id="{CBEC6300-7CB1-4D07-B82D-1D42182CD01A}"/>
                </a:ext>
              </a:extLst>
            </p:cNvPr>
            <p:cNvSpPr txBox="1">
              <a:spLocks noChangeArrowheads="1"/>
            </p:cNvSpPr>
            <p:nvPr/>
          </p:nvSpPr>
          <p:spPr bwMode="auto">
            <a:xfrm>
              <a:off x="302" y="1830"/>
              <a:ext cx="37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100</a:t>
              </a:r>
            </a:p>
          </p:txBody>
        </p:sp>
        <p:sp>
          <p:nvSpPr>
            <p:cNvPr id="488461" name="TextBox 1">
              <a:extLst>
                <a:ext uri="{FF2B5EF4-FFF2-40B4-BE49-F238E27FC236}">
                  <a16:creationId xmlns:a16="http://schemas.microsoft.com/office/drawing/2014/main" id="{4A07D1DB-D93C-42D0-9B43-F1B41FB57A46}"/>
                </a:ext>
              </a:extLst>
            </p:cNvPr>
            <p:cNvSpPr txBox="1">
              <a:spLocks noChangeArrowheads="1"/>
            </p:cNvSpPr>
            <p:nvPr/>
          </p:nvSpPr>
          <p:spPr bwMode="auto">
            <a:xfrm>
              <a:off x="641" y="1746"/>
              <a:ext cx="27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rgbClr val="006600"/>
                  </a:solidFill>
                  <a:latin typeface="Arial" panose="020B0604020202020204" pitchFamily="34" charset="0"/>
                </a:rPr>
                <a:t>D</a:t>
              </a:r>
              <a:r>
                <a:rPr lang="en-GB" altLang="en-US" sz="1900" baseline="-25000">
                  <a:solidFill>
                    <a:srgbClr val="006600"/>
                  </a:solidFill>
                  <a:latin typeface="Arial" panose="020B0604020202020204" pitchFamily="34" charset="0"/>
                </a:rPr>
                <a:t>J</a:t>
              </a:r>
            </a:p>
          </p:txBody>
        </p:sp>
      </p:grpSp>
      <p:sp>
        <p:nvSpPr>
          <p:cNvPr id="488462" name="Rectangle 5">
            <a:extLst>
              <a:ext uri="{FF2B5EF4-FFF2-40B4-BE49-F238E27FC236}">
                <a16:creationId xmlns:a16="http://schemas.microsoft.com/office/drawing/2014/main" id="{19C05208-E569-4697-A661-99287534EBEB}"/>
              </a:ext>
            </a:extLst>
          </p:cNvPr>
          <p:cNvSpPr>
            <a:spLocks noChangeArrowheads="1"/>
          </p:cNvSpPr>
          <p:nvPr/>
        </p:nvSpPr>
        <p:spPr bwMode="auto">
          <a:xfrm>
            <a:off x="2206625" y="6164264"/>
            <a:ext cx="405560"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a:solidFill>
                  <a:schemeClr val="hlink"/>
                </a:solidFill>
                <a:latin typeface="Arial" panose="020B0604020202020204" pitchFamily="34" charset="0"/>
              </a:rPr>
              <a:t>O</a:t>
            </a:r>
          </a:p>
        </p:txBody>
      </p:sp>
      <p:grpSp>
        <p:nvGrpSpPr>
          <p:cNvPr id="488464" name="Group 16">
            <a:extLst>
              <a:ext uri="{FF2B5EF4-FFF2-40B4-BE49-F238E27FC236}">
                <a16:creationId xmlns:a16="http://schemas.microsoft.com/office/drawing/2014/main" id="{934EA2ED-E223-46AE-9205-2E805C8A60AA}"/>
              </a:ext>
            </a:extLst>
          </p:cNvPr>
          <p:cNvGrpSpPr>
            <a:grpSpLocks/>
          </p:cNvGrpSpPr>
          <p:nvPr/>
        </p:nvGrpSpPr>
        <p:grpSpPr bwMode="auto">
          <a:xfrm>
            <a:off x="5010154" y="3724276"/>
            <a:ext cx="458788" cy="2776538"/>
            <a:chOff x="2196" y="2346"/>
            <a:chExt cx="289" cy="1749"/>
          </a:xfrm>
        </p:grpSpPr>
        <p:sp>
          <p:nvSpPr>
            <p:cNvPr id="488465" name="Line 8">
              <a:extLst>
                <a:ext uri="{FF2B5EF4-FFF2-40B4-BE49-F238E27FC236}">
                  <a16:creationId xmlns:a16="http://schemas.microsoft.com/office/drawing/2014/main" id="{DC91FFAB-0099-4027-ACFB-EDF6504F77DA}"/>
                </a:ext>
              </a:extLst>
            </p:cNvPr>
            <p:cNvSpPr>
              <a:spLocks noChangeShapeType="1"/>
            </p:cNvSpPr>
            <p:nvPr/>
          </p:nvSpPr>
          <p:spPr bwMode="auto">
            <a:xfrm flipV="1">
              <a:off x="2359" y="2346"/>
              <a:ext cx="1" cy="1503"/>
            </a:xfrm>
            <a:prstGeom prst="line">
              <a:avLst/>
            </a:prstGeom>
            <a:noFill/>
            <a:ln w="15875">
              <a:solidFill>
                <a:srgbClr val="4D4D4D"/>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88466" name="Rectangle 54">
              <a:extLst>
                <a:ext uri="{FF2B5EF4-FFF2-40B4-BE49-F238E27FC236}">
                  <a16:creationId xmlns:a16="http://schemas.microsoft.com/office/drawing/2014/main" id="{4D482957-A138-41DE-9112-651DAF219FD9}"/>
                </a:ext>
              </a:extLst>
            </p:cNvPr>
            <p:cNvSpPr>
              <a:spLocks noChangeArrowheads="1"/>
            </p:cNvSpPr>
            <p:nvPr/>
          </p:nvSpPr>
          <p:spPr bwMode="auto">
            <a:xfrm>
              <a:off x="2196" y="3852"/>
              <a:ext cx="289"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10</a:t>
              </a:r>
              <a:endParaRPr lang="en-GB" altLang="en-US" sz="1900" baseline="-25000">
                <a:latin typeface="Arial" panose="020B0604020202020204" pitchFamily="34" charset="0"/>
              </a:endParaRPr>
            </a:p>
          </p:txBody>
        </p:sp>
      </p:grpSp>
      <p:sp>
        <p:nvSpPr>
          <p:cNvPr id="488467" name="TextBox 1">
            <a:extLst>
              <a:ext uri="{FF2B5EF4-FFF2-40B4-BE49-F238E27FC236}">
                <a16:creationId xmlns:a16="http://schemas.microsoft.com/office/drawing/2014/main" id="{DD136435-9D84-43B2-83C5-0B7A1CEDA062}"/>
              </a:ext>
            </a:extLst>
          </p:cNvPr>
          <p:cNvSpPr txBox="1">
            <a:spLocks noChangeArrowheads="1"/>
          </p:cNvSpPr>
          <p:nvPr/>
        </p:nvSpPr>
        <p:spPr bwMode="auto">
          <a:xfrm>
            <a:off x="7358064" y="6477000"/>
            <a:ext cx="33099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900">
                <a:latin typeface="Arial" panose="020B0604020202020204" pitchFamily="34" charset="0"/>
              </a:rPr>
              <a:t>Quantity of the public good</a:t>
            </a:r>
          </a:p>
        </p:txBody>
      </p:sp>
      <p:grpSp>
        <p:nvGrpSpPr>
          <p:cNvPr id="488468" name="Group 20">
            <a:extLst>
              <a:ext uri="{FF2B5EF4-FFF2-40B4-BE49-F238E27FC236}">
                <a16:creationId xmlns:a16="http://schemas.microsoft.com/office/drawing/2014/main" id="{51E03368-DFE2-4D28-B3F3-3B2D300D591B}"/>
              </a:ext>
            </a:extLst>
          </p:cNvPr>
          <p:cNvGrpSpPr>
            <a:grpSpLocks/>
          </p:cNvGrpSpPr>
          <p:nvPr/>
        </p:nvGrpSpPr>
        <p:grpSpPr bwMode="auto">
          <a:xfrm>
            <a:off x="2135188" y="4013201"/>
            <a:ext cx="6002338" cy="2497138"/>
            <a:chOff x="385" y="2528"/>
            <a:chExt cx="3781" cy="1573"/>
          </a:xfrm>
        </p:grpSpPr>
        <p:grpSp>
          <p:nvGrpSpPr>
            <p:cNvPr id="488469" name="Group 21">
              <a:extLst>
                <a:ext uri="{FF2B5EF4-FFF2-40B4-BE49-F238E27FC236}">
                  <a16:creationId xmlns:a16="http://schemas.microsoft.com/office/drawing/2014/main" id="{96DCEDCD-7AB9-4430-9F7D-56CB216CBCF7}"/>
                </a:ext>
              </a:extLst>
            </p:cNvPr>
            <p:cNvGrpSpPr>
              <a:grpSpLocks/>
            </p:cNvGrpSpPr>
            <p:nvPr/>
          </p:nvGrpSpPr>
          <p:grpSpPr bwMode="auto">
            <a:xfrm>
              <a:off x="385" y="2528"/>
              <a:ext cx="3632" cy="1325"/>
              <a:chOff x="385" y="2528"/>
              <a:chExt cx="3632" cy="1325"/>
            </a:xfrm>
          </p:grpSpPr>
          <p:sp>
            <p:nvSpPr>
              <p:cNvPr id="488470" name="Line 28">
                <a:extLst>
                  <a:ext uri="{FF2B5EF4-FFF2-40B4-BE49-F238E27FC236}">
                    <a16:creationId xmlns:a16="http://schemas.microsoft.com/office/drawing/2014/main" id="{B59043F1-6AD8-4862-ABF0-9C71647340B9}"/>
                  </a:ext>
                </a:extLst>
              </p:cNvPr>
              <p:cNvSpPr>
                <a:spLocks noChangeShapeType="1"/>
              </p:cNvSpPr>
              <p:nvPr/>
            </p:nvSpPr>
            <p:spPr bwMode="auto">
              <a:xfrm>
                <a:off x="667" y="2727"/>
                <a:ext cx="3350" cy="112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GB"/>
              </a:p>
            </p:txBody>
          </p:sp>
          <p:sp>
            <p:nvSpPr>
              <p:cNvPr id="488471" name="TextBox 56">
                <a:extLst>
                  <a:ext uri="{FF2B5EF4-FFF2-40B4-BE49-F238E27FC236}">
                    <a16:creationId xmlns:a16="http://schemas.microsoft.com/office/drawing/2014/main" id="{CDEE8ADB-7E37-4E91-A9C3-28C1C0112E7E}"/>
                  </a:ext>
                </a:extLst>
              </p:cNvPr>
              <p:cNvSpPr txBox="1">
                <a:spLocks noChangeArrowheads="1"/>
              </p:cNvSpPr>
              <p:nvPr/>
            </p:nvSpPr>
            <p:spPr bwMode="auto">
              <a:xfrm>
                <a:off x="385" y="2596"/>
                <a:ext cx="28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60</a:t>
                </a:r>
              </a:p>
            </p:txBody>
          </p:sp>
          <p:sp>
            <p:nvSpPr>
              <p:cNvPr id="47" name="TextBox 1">
                <a:extLst>
                  <a:ext uri="{FF2B5EF4-FFF2-40B4-BE49-F238E27FC236}">
                    <a16:creationId xmlns:a16="http://schemas.microsoft.com/office/drawing/2014/main" id="{68B8EAC4-1560-4308-BF9F-6757F84AF169}"/>
                  </a:ext>
                </a:extLst>
              </p:cNvPr>
              <p:cNvSpPr txBox="1">
                <a:spLocks noChangeArrowheads="1"/>
              </p:cNvSpPr>
              <p:nvPr/>
            </p:nvSpPr>
            <p:spPr bwMode="auto">
              <a:xfrm>
                <a:off x="647" y="2528"/>
                <a:ext cx="3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rgbClr val="000073"/>
                    </a:solidFill>
                    <a:latin typeface="Arial" panose="020B0604020202020204" pitchFamily="34" charset="0"/>
                  </a:rPr>
                  <a:t>D</a:t>
                </a:r>
                <a:r>
                  <a:rPr lang="en-GB" altLang="en-US" sz="1900" baseline="-25000">
                    <a:solidFill>
                      <a:srgbClr val="000073"/>
                    </a:solidFill>
                    <a:latin typeface="Arial" panose="020B0604020202020204" pitchFamily="34" charset="0"/>
                  </a:rPr>
                  <a:t>D</a:t>
                </a:r>
              </a:p>
            </p:txBody>
          </p:sp>
        </p:grpSp>
        <p:sp>
          <p:nvSpPr>
            <p:cNvPr id="50" name="Rectangle 57">
              <a:extLst>
                <a:ext uri="{FF2B5EF4-FFF2-40B4-BE49-F238E27FC236}">
                  <a16:creationId xmlns:a16="http://schemas.microsoft.com/office/drawing/2014/main" id="{3AD632FD-3E13-49A9-9BB1-CD0FED9B4BAF}"/>
                </a:ext>
              </a:extLst>
            </p:cNvPr>
            <p:cNvSpPr>
              <a:spLocks noChangeArrowheads="1"/>
            </p:cNvSpPr>
            <p:nvPr/>
          </p:nvSpPr>
          <p:spPr bwMode="auto">
            <a:xfrm>
              <a:off x="3877" y="3858"/>
              <a:ext cx="289"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20</a:t>
              </a:r>
              <a:endParaRPr lang="en-GB" altLang="en-US" sz="1900" baseline="-25000">
                <a:latin typeface="Arial" panose="020B0604020202020204" pitchFamily="34" charset="0"/>
              </a:endParaRPr>
            </a:p>
          </p:txBody>
        </p:sp>
      </p:grpSp>
      <p:grpSp>
        <p:nvGrpSpPr>
          <p:cNvPr id="488474" name="Group 26">
            <a:extLst>
              <a:ext uri="{FF2B5EF4-FFF2-40B4-BE49-F238E27FC236}">
                <a16:creationId xmlns:a16="http://schemas.microsoft.com/office/drawing/2014/main" id="{A3778D14-49C5-48C5-850F-BE9911BA53BC}"/>
              </a:ext>
            </a:extLst>
          </p:cNvPr>
          <p:cNvGrpSpPr>
            <a:grpSpLocks/>
          </p:cNvGrpSpPr>
          <p:nvPr/>
        </p:nvGrpSpPr>
        <p:grpSpPr bwMode="auto">
          <a:xfrm>
            <a:off x="2128838" y="3516313"/>
            <a:ext cx="3124200" cy="381000"/>
            <a:chOff x="381" y="2215"/>
            <a:chExt cx="1968" cy="240"/>
          </a:xfrm>
        </p:grpSpPr>
        <p:sp>
          <p:nvSpPr>
            <p:cNvPr id="488475" name="TextBox 2">
              <a:extLst>
                <a:ext uri="{FF2B5EF4-FFF2-40B4-BE49-F238E27FC236}">
                  <a16:creationId xmlns:a16="http://schemas.microsoft.com/office/drawing/2014/main" id="{EFA35063-4BA8-44F5-B1C2-7FDB023C27D3}"/>
                </a:ext>
              </a:extLst>
            </p:cNvPr>
            <p:cNvSpPr txBox="1">
              <a:spLocks noChangeArrowheads="1"/>
            </p:cNvSpPr>
            <p:nvPr/>
          </p:nvSpPr>
          <p:spPr bwMode="auto">
            <a:xfrm>
              <a:off x="381" y="2215"/>
              <a:ext cx="28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80</a:t>
              </a:r>
            </a:p>
          </p:txBody>
        </p:sp>
        <p:sp>
          <p:nvSpPr>
            <p:cNvPr id="488476" name="Line 50">
              <a:extLst>
                <a:ext uri="{FF2B5EF4-FFF2-40B4-BE49-F238E27FC236}">
                  <a16:creationId xmlns:a16="http://schemas.microsoft.com/office/drawing/2014/main" id="{FDEEA904-653E-46B9-A334-9A85CA606BD3}"/>
                </a:ext>
              </a:extLst>
            </p:cNvPr>
            <p:cNvSpPr>
              <a:spLocks noChangeShapeType="1"/>
            </p:cNvSpPr>
            <p:nvPr/>
          </p:nvSpPr>
          <p:spPr bwMode="auto">
            <a:xfrm flipH="1" flipV="1">
              <a:off x="673" y="2345"/>
              <a:ext cx="1676" cy="1"/>
            </a:xfrm>
            <a:prstGeom prst="line">
              <a:avLst/>
            </a:prstGeom>
            <a:noFill/>
            <a:ln w="1587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488477" name="Group 29">
            <a:extLst>
              <a:ext uri="{FF2B5EF4-FFF2-40B4-BE49-F238E27FC236}">
                <a16:creationId xmlns:a16="http://schemas.microsoft.com/office/drawing/2014/main" id="{36FF0F07-E3B2-4710-9B11-CB60AEE8615C}"/>
              </a:ext>
            </a:extLst>
          </p:cNvPr>
          <p:cNvGrpSpPr>
            <a:grpSpLocks/>
          </p:cNvGrpSpPr>
          <p:nvPr/>
        </p:nvGrpSpPr>
        <p:grpSpPr bwMode="auto">
          <a:xfrm>
            <a:off x="5216525" y="3419475"/>
            <a:ext cx="311150" cy="381000"/>
            <a:chOff x="2326" y="2154"/>
            <a:chExt cx="196" cy="240"/>
          </a:xfrm>
        </p:grpSpPr>
        <p:sp>
          <p:nvSpPr>
            <p:cNvPr id="488478" name="TextBox 1">
              <a:extLst>
                <a:ext uri="{FF2B5EF4-FFF2-40B4-BE49-F238E27FC236}">
                  <a16:creationId xmlns:a16="http://schemas.microsoft.com/office/drawing/2014/main" id="{79CF8A61-A479-435A-97A8-B25ED6B18327}"/>
                </a:ext>
              </a:extLst>
            </p:cNvPr>
            <p:cNvSpPr txBox="1">
              <a:spLocks noChangeArrowheads="1"/>
            </p:cNvSpPr>
            <p:nvPr/>
          </p:nvSpPr>
          <p:spPr bwMode="auto">
            <a:xfrm>
              <a:off x="2330" y="215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chemeClr val="hlink"/>
                  </a:solidFill>
                  <a:latin typeface="Arial" panose="020B0604020202020204" pitchFamily="34" charset="0"/>
                </a:rPr>
                <a:t>c</a:t>
              </a:r>
            </a:p>
          </p:txBody>
        </p:sp>
        <p:sp>
          <p:nvSpPr>
            <p:cNvPr id="22580" name="Oval 52">
              <a:extLst>
                <a:ext uri="{FF2B5EF4-FFF2-40B4-BE49-F238E27FC236}">
                  <a16:creationId xmlns:a16="http://schemas.microsoft.com/office/drawing/2014/main" id="{873BC77F-CC18-437F-B047-24EAA11046EB}"/>
                </a:ext>
              </a:extLst>
            </p:cNvPr>
            <p:cNvSpPr>
              <a:spLocks noChangeArrowheads="1"/>
            </p:cNvSpPr>
            <p:nvPr/>
          </p:nvSpPr>
          <p:spPr bwMode="auto">
            <a:xfrm>
              <a:off x="2326" y="2313"/>
              <a:ext cx="68" cy="67"/>
            </a:xfrm>
            <a:prstGeom prst="ellipse">
              <a:avLst/>
            </a:prstGeom>
            <a:solidFill>
              <a:srgbClr val="FFCCCC"/>
            </a:solidFill>
            <a:ln w="1905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grpSp>
      <p:grpSp>
        <p:nvGrpSpPr>
          <p:cNvPr id="488480" name="Group 32">
            <a:extLst>
              <a:ext uri="{FF2B5EF4-FFF2-40B4-BE49-F238E27FC236}">
                <a16:creationId xmlns:a16="http://schemas.microsoft.com/office/drawing/2014/main" id="{3BA6E114-AB87-4263-8141-ACB5C3890328}"/>
              </a:ext>
            </a:extLst>
          </p:cNvPr>
          <p:cNvGrpSpPr>
            <a:grpSpLocks/>
          </p:cNvGrpSpPr>
          <p:nvPr/>
        </p:nvGrpSpPr>
        <p:grpSpPr bwMode="auto">
          <a:xfrm>
            <a:off x="2128838" y="5068888"/>
            <a:ext cx="3148012" cy="381000"/>
            <a:chOff x="376" y="3193"/>
            <a:chExt cx="1983" cy="240"/>
          </a:xfrm>
        </p:grpSpPr>
        <p:sp>
          <p:nvSpPr>
            <p:cNvPr id="488481" name="TextBox 57">
              <a:extLst>
                <a:ext uri="{FF2B5EF4-FFF2-40B4-BE49-F238E27FC236}">
                  <a16:creationId xmlns:a16="http://schemas.microsoft.com/office/drawing/2014/main" id="{627A2DA1-19FD-4C2F-9385-CC8A35E9D87A}"/>
                </a:ext>
              </a:extLst>
            </p:cNvPr>
            <p:cNvSpPr txBox="1">
              <a:spLocks noChangeArrowheads="1"/>
            </p:cNvSpPr>
            <p:nvPr/>
          </p:nvSpPr>
          <p:spPr bwMode="auto">
            <a:xfrm>
              <a:off x="376" y="3193"/>
              <a:ext cx="28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30</a:t>
              </a:r>
            </a:p>
          </p:txBody>
        </p:sp>
        <p:sp>
          <p:nvSpPr>
            <p:cNvPr id="488482" name="Line 50">
              <a:extLst>
                <a:ext uri="{FF2B5EF4-FFF2-40B4-BE49-F238E27FC236}">
                  <a16:creationId xmlns:a16="http://schemas.microsoft.com/office/drawing/2014/main" id="{7AEA4DAF-0CB1-4F45-B054-41CF449AF58F}"/>
                </a:ext>
              </a:extLst>
            </p:cNvPr>
            <p:cNvSpPr>
              <a:spLocks noChangeShapeType="1"/>
            </p:cNvSpPr>
            <p:nvPr/>
          </p:nvSpPr>
          <p:spPr bwMode="auto">
            <a:xfrm flipH="1">
              <a:off x="677" y="3311"/>
              <a:ext cx="1682" cy="4"/>
            </a:xfrm>
            <a:prstGeom prst="line">
              <a:avLst/>
            </a:prstGeom>
            <a:noFill/>
            <a:ln w="1587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488483" name="Group 35">
            <a:extLst>
              <a:ext uri="{FF2B5EF4-FFF2-40B4-BE49-F238E27FC236}">
                <a16:creationId xmlns:a16="http://schemas.microsoft.com/office/drawing/2014/main" id="{4EB2C639-8A42-4109-8994-3244871A127E}"/>
              </a:ext>
            </a:extLst>
          </p:cNvPr>
          <p:cNvGrpSpPr>
            <a:grpSpLocks/>
          </p:cNvGrpSpPr>
          <p:nvPr/>
        </p:nvGrpSpPr>
        <p:grpSpPr bwMode="auto">
          <a:xfrm>
            <a:off x="2130425" y="4413250"/>
            <a:ext cx="3132138" cy="381000"/>
            <a:chOff x="382" y="2780"/>
            <a:chExt cx="1973" cy="240"/>
          </a:xfrm>
        </p:grpSpPr>
        <p:sp>
          <p:nvSpPr>
            <p:cNvPr id="488484" name="TextBox 55">
              <a:extLst>
                <a:ext uri="{FF2B5EF4-FFF2-40B4-BE49-F238E27FC236}">
                  <a16:creationId xmlns:a16="http://schemas.microsoft.com/office/drawing/2014/main" id="{93A34874-F4B2-4B72-AA31-AB03D4DAD2AC}"/>
                </a:ext>
              </a:extLst>
            </p:cNvPr>
            <p:cNvSpPr txBox="1">
              <a:spLocks noChangeArrowheads="1"/>
            </p:cNvSpPr>
            <p:nvPr/>
          </p:nvSpPr>
          <p:spPr bwMode="auto">
            <a:xfrm>
              <a:off x="382" y="2780"/>
              <a:ext cx="28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50</a:t>
              </a:r>
            </a:p>
          </p:txBody>
        </p:sp>
        <p:sp>
          <p:nvSpPr>
            <p:cNvPr id="488485" name="Line 50">
              <a:extLst>
                <a:ext uri="{FF2B5EF4-FFF2-40B4-BE49-F238E27FC236}">
                  <a16:creationId xmlns:a16="http://schemas.microsoft.com/office/drawing/2014/main" id="{6C46719E-68D1-4762-8341-46A2C3BA736E}"/>
                </a:ext>
              </a:extLst>
            </p:cNvPr>
            <p:cNvSpPr>
              <a:spLocks noChangeShapeType="1"/>
            </p:cNvSpPr>
            <p:nvPr/>
          </p:nvSpPr>
          <p:spPr bwMode="auto">
            <a:xfrm flipH="1" flipV="1">
              <a:off x="667" y="2907"/>
              <a:ext cx="1688" cy="0"/>
            </a:xfrm>
            <a:prstGeom prst="line">
              <a:avLst/>
            </a:prstGeom>
            <a:noFill/>
            <a:ln w="1587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488486" name="Group 38">
            <a:extLst>
              <a:ext uri="{FF2B5EF4-FFF2-40B4-BE49-F238E27FC236}">
                <a16:creationId xmlns:a16="http://schemas.microsoft.com/office/drawing/2014/main" id="{615F031A-895A-4CB4-826E-EDE6F0E45D89}"/>
              </a:ext>
            </a:extLst>
          </p:cNvPr>
          <p:cNvGrpSpPr>
            <a:grpSpLocks/>
          </p:cNvGrpSpPr>
          <p:nvPr/>
        </p:nvGrpSpPr>
        <p:grpSpPr bwMode="auto">
          <a:xfrm>
            <a:off x="5011739" y="5148263"/>
            <a:ext cx="319087" cy="381000"/>
            <a:chOff x="2197" y="3243"/>
            <a:chExt cx="201" cy="240"/>
          </a:xfrm>
        </p:grpSpPr>
        <p:sp>
          <p:nvSpPr>
            <p:cNvPr id="69" name="Oval 68">
              <a:extLst>
                <a:ext uri="{FF2B5EF4-FFF2-40B4-BE49-F238E27FC236}">
                  <a16:creationId xmlns:a16="http://schemas.microsoft.com/office/drawing/2014/main" id="{B6944679-64D7-4FA1-986D-4A3D4F5AAF27}"/>
                </a:ext>
              </a:extLst>
            </p:cNvPr>
            <p:cNvSpPr>
              <a:spLocks noChangeArrowheads="1"/>
            </p:cNvSpPr>
            <p:nvPr/>
          </p:nvSpPr>
          <p:spPr bwMode="auto">
            <a:xfrm>
              <a:off x="2326" y="3264"/>
              <a:ext cx="68" cy="67"/>
            </a:xfrm>
            <a:prstGeom prst="ellipse">
              <a:avLst/>
            </a:prstGeom>
            <a:solidFill>
              <a:srgbClr val="CCECFF"/>
            </a:solidFill>
            <a:ln w="1905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sp>
          <p:nvSpPr>
            <p:cNvPr id="488488" name="TextBox 1">
              <a:extLst>
                <a:ext uri="{FF2B5EF4-FFF2-40B4-BE49-F238E27FC236}">
                  <a16:creationId xmlns:a16="http://schemas.microsoft.com/office/drawing/2014/main" id="{94AA6C91-EB65-447F-8198-AE6CAAEC621A}"/>
                </a:ext>
              </a:extLst>
            </p:cNvPr>
            <p:cNvSpPr txBox="1">
              <a:spLocks noChangeArrowheads="1"/>
            </p:cNvSpPr>
            <p:nvPr/>
          </p:nvSpPr>
          <p:spPr bwMode="auto">
            <a:xfrm>
              <a:off x="2197" y="3243"/>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chemeClr val="hlink"/>
                  </a:solidFill>
                  <a:latin typeface="Arial" panose="020B0604020202020204" pitchFamily="34" charset="0"/>
                </a:rPr>
                <a:t>a</a:t>
              </a:r>
            </a:p>
          </p:txBody>
        </p:sp>
      </p:grpSp>
      <p:sp>
        <p:nvSpPr>
          <p:cNvPr id="488489" name="Text Box 41">
            <a:extLst>
              <a:ext uri="{FF2B5EF4-FFF2-40B4-BE49-F238E27FC236}">
                <a16:creationId xmlns:a16="http://schemas.microsoft.com/office/drawing/2014/main" id="{229893D9-CBD9-4B15-B283-49AB9CC8545C}"/>
              </a:ext>
            </a:extLst>
          </p:cNvPr>
          <p:cNvSpPr txBox="1">
            <a:spLocks noChangeArrowheads="1"/>
          </p:cNvSpPr>
          <p:nvPr/>
        </p:nvSpPr>
        <p:spPr bwMode="auto">
          <a:xfrm rot="16200000">
            <a:off x="-327311" y="3253256"/>
            <a:ext cx="4099497" cy="40229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2000">
                <a:latin typeface="Arial" panose="020B0604020202020204" pitchFamily="34" charset="0"/>
              </a:rPr>
              <a:t>Marginal benefit and marginal cost</a:t>
            </a:r>
            <a:endParaRPr lang="en-GB" altLang="en-US" sz="2000" noProof="1">
              <a:latin typeface="Arial" panose="020B0604020202020204" pitchFamily="34" charset="0"/>
            </a:endParaRPr>
          </a:p>
        </p:txBody>
      </p:sp>
      <p:grpSp>
        <p:nvGrpSpPr>
          <p:cNvPr id="488490" name="Group 42">
            <a:extLst>
              <a:ext uri="{FF2B5EF4-FFF2-40B4-BE49-F238E27FC236}">
                <a16:creationId xmlns:a16="http://schemas.microsoft.com/office/drawing/2014/main" id="{F399B287-E13E-4172-8737-B94632BC634A}"/>
              </a:ext>
            </a:extLst>
          </p:cNvPr>
          <p:cNvGrpSpPr>
            <a:grpSpLocks/>
          </p:cNvGrpSpPr>
          <p:nvPr/>
        </p:nvGrpSpPr>
        <p:grpSpPr bwMode="auto">
          <a:xfrm>
            <a:off x="5199063" y="4283075"/>
            <a:ext cx="342900" cy="387350"/>
            <a:chOff x="2315" y="2698"/>
            <a:chExt cx="216" cy="244"/>
          </a:xfrm>
        </p:grpSpPr>
        <p:sp>
          <p:nvSpPr>
            <p:cNvPr id="488491" name="TextBox 1">
              <a:extLst>
                <a:ext uri="{FF2B5EF4-FFF2-40B4-BE49-F238E27FC236}">
                  <a16:creationId xmlns:a16="http://schemas.microsoft.com/office/drawing/2014/main" id="{273FF29B-C1A0-4FE6-8FC8-EAE0575FA26C}"/>
                </a:ext>
              </a:extLst>
            </p:cNvPr>
            <p:cNvSpPr txBox="1">
              <a:spLocks noChangeArrowheads="1"/>
            </p:cNvSpPr>
            <p:nvPr/>
          </p:nvSpPr>
          <p:spPr bwMode="auto">
            <a:xfrm>
              <a:off x="2330" y="2698"/>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chemeClr val="hlink"/>
                  </a:solidFill>
                  <a:latin typeface="Arial" panose="020B0604020202020204" pitchFamily="34" charset="0"/>
                </a:rPr>
                <a:t>b</a:t>
              </a:r>
            </a:p>
          </p:txBody>
        </p:sp>
        <p:sp>
          <p:nvSpPr>
            <p:cNvPr id="68" name="Oval 67">
              <a:extLst>
                <a:ext uri="{FF2B5EF4-FFF2-40B4-BE49-F238E27FC236}">
                  <a16:creationId xmlns:a16="http://schemas.microsoft.com/office/drawing/2014/main" id="{3C48C9E9-ED5A-4C8B-A0CF-D0BB3C6B6EB6}"/>
                </a:ext>
              </a:extLst>
            </p:cNvPr>
            <p:cNvSpPr>
              <a:spLocks noChangeArrowheads="1"/>
            </p:cNvSpPr>
            <p:nvPr/>
          </p:nvSpPr>
          <p:spPr bwMode="auto">
            <a:xfrm>
              <a:off x="2315" y="2875"/>
              <a:ext cx="68" cy="67"/>
            </a:xfrm>
            <a:prstGeom prst="ellipse">
              <a:avLst/>
            </a:prstGeom>
            <a:solidFill>
              <a:srgbClr val="CCFFCC"/>
            </a:solidFill>
            <a:ln w="1905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grpSp>
      <p:sp>
        <p:nvSpPr>
          <p:cNvPr id="45" name="Rectangle 49">
            <a:extLst>
              <a:ext uri="{FF2B5EF4-FFF2-40B4-BE49-F238E27FC236}">
                <a16:creationId xmlns:a16="http://schemas.microsoft.com/office/drawing/2014/main" id="{E687DCEE-E811-416D-A886-0E4756F33189}"/>
              </a:ext>
            </a:extLst>
          </p:cNvPr>
          <p:cNvSpPr>
            <a:spLocks noChangeArrowheads="1"/>
          </p:cNvSpPr>
          <p:nvPr/>
        </p:nvSpPr>
        <p:spPr bwMode="auto">
          <a:xfrm>
            <a:off x="1" y="1"/>
            <a:ext cx="12191996" cy="839787"/>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lgn="ctr">
              <a:defRPr sz="3800">
                <a:solidFill>
                  <a:srgbClr val="462300"/>
                </a:solidFill>
                <a:latin typeface="Arial" panose="020B0604020202020204" pitchFamily="34" charset="0"/>
              </a:defRPr>
            </a:lvl1pPr>
            <a:lvl2pPr algn="ctr">
              <a:defRPr sz="3800">
                <a:solidFill>
                  <a:srgbClr val="462300"/>
                </a:solidFill>
                <a:latin typeface="Arial" panose="020B0604020202020204" pitchFamily="34" charset="0"/>
              </a:defRPr>
            </a:lvl2pPr>
            <a:lvl3pPr algn="ctr">
              <a:defRPr sz="3800">
                <a:solidFill>
                  <a:srgbClr val="462300"/>
                </a:solidFill>
                <a:latin typeface="Arial" panose="020B0604020202020204" pitchFamily="34" charset="0"/>
              </a:defRPr>
            </a:lvl3pPr>
            <a:lvl4pPr algn="ctr">
              <a:defRPr sz="3800">
                <a:solidFill>
                  <a:srgbClr val="462300"/>
                </a:solidFill>
                <a:latin typeface="Arial" panose="020B0604020202020204" pitchFamily="34" charset="0"/>
              </a:defRPr>
            </a:lvl4pPr>
            <a:lvl5pPr algn="ctr">
              <a:defRPr sz="3800">
                <a:solidFill>
                  <a:srgbClr val="462300"/>
                </a:solidFill>
                <a:latin typeface="Arial" panose="020B0604020202020204" pitchFamily="34" charset="0"/>
              </a:defRPr>
            </a:lvl5pPr>
            <a:lvl6pPr marL="457200" algn="ctr" eaLnBrk="0" fontAlgn="base" hangingPunct="0">
              <a:spcBef>
                <a:spcPct val="0"/>
              </a:spcBef>
              <a:spcAft>
                <a:spcPct val="0"/>
              </a:spcAft>
              <a:defRPr sz="3800">
                <a:solidFill>
                  <a:srgbClr val="462300"/>
                </a:solidFill>
                <a:latin typeface="Arial" panose="020B0604020202020204" pitchFamily="34" charset="0"/>
              </a:defRPr>
            </a:lvl6pPr>
            <a:lvl7pPr marL="914400" algn="ctr" eaLnBrk="0" fontAlgn="base" hangingPunct="0">
              <a:spcBef>
                <a:spcPct val="0"/>
              </a:spcBef>
              <a:spcAft>
                <a:spcPct val="0"/>
              </a:spcAft>
              <a:defRPr sz="3800">
                <a:solidFill>
                  <a:srgbClr val="462300"/>
                </a:solidFill>
                <a:latin typeface="Arial" panose="020B0604020202020204" pitchFamily="34" charset="0"/>
              </a:defRPr>
            </a:lvl7pPr>
            <a:lvl8pPr marL="1371600" algn="ctr" eaLnBrk="0" fontAlgn="base" hangingPunct="0">
              <a:spcBef>
                <a:spcPct val="0"/>
              </a:spcBef>
              <a:spcAft>
                <a:spcPct val="0"/>
              </a:spcAft>
              <a:defRPr sz="3800">
                <a:solidFill>
                  <a:srgbClr val="462300"/>
                </a:solidFill>
                <a:latin typeface="Arial" panose="020B0604020202020204" pitchFamily="34" charset="0"/>
              </a:defRPr>
            </a:lvl8pPr>
            <a:lvl9pPr marL="1828800" algn="ctr" eaLnBrk="0" fontAlgn="base" hangingPunct="0">
              <a:spcBef>
                <a:spcPct val="0"/>
              </a:spcBef>
              <a:spcAft>
                <a:spcPct val="0"/>
              </a:spcAft>
              <a:defRPr sz="3800">
                <a:solidFill>
                  <a:srgbClr val="462300"/>
                </a:solidFill>
                <a:latin typeface="Arial" panose="020B0604020202020204" pitchFamily="34" charset="0"/>
              </a:defRPr>
            </a:lvl9pPr>
          </a:lstStyle>
          <a:p>
            <a:r>
              <a:rPr lang="en-GB" altLang="en-US" sz="2800" b="1" dirty="0">
                <a:solidFill>
                  <a:srgbClr val="006666"/>
                </a:solidFill>
              </a:rPr>
              <a:t>The efficient output of a pure public good</a:t>
            </a:r>
          </a:p>
        </p:txBody>
      </p:sp>
      <p:sp>
        <p:nvSpPr>
          <p:cNvPr id="3" name="TextBox 2">
            <a:extLst>
              <a:ext uri="{FF2B5EF4-FFF2-40B4-BE49-F238E27FC236}">
                <a16:creationId xmlns:a16="http://schemas.microsoft.com/office/drawing/2014/main" id="{881F053E-A53C-D6E2-7272-E21C1D5ECCBA}"/>
              </a:ext>
            </a:extLst>
          </p:cNvPr>
          <p:cNvSpPr txBox="1"/>
          <p:nvPr/>
        </p:nvSpPr>
        <p:spPr>
          <a:xfrm>
            <a:off x="7873409" y="857081"/>
            <a:ext cx="3434316" cy="5262979"/>
          </a:xfrm>
          <a:prstGeom prst="rect">
            <a:avLst/>
          </a:prstGeom>
          <a:solidFill>
            <a:schemeClr val="bg1"/>
          </a:solidFill>
          <a:ln>
            <a:solidFill>
              <a:schemeClr val="tx1"/>
            </a:solidFill>
          </a:ln>
        </p:spPr>
        <p:txBody>
          <a:bodyPr wrap="square" rtlCol="0">
            <a:spAutoFit/>
          </a:bodyPr>
          <a:lstStyle/>
          <a:p>
            <a:r>
              <a:rPr lang="en-GB" sz="1600" dirty="0">
                <a:latin typeface="Calibri" panose="020F0502020204030204" pitchFamily="34" charset="0"/>
                <a:ea typeface="Calibri" panose="020F0502020204030204" pitchFamily="34" charset="0"/>
                <a:cs typeface="Calibri" panose="020F0502020204030204" pitchFamily="34" charset="0"/>
              </a:rPr>
              <a:t>The maximum amount Dean would be WTP to consume the 10</a:t>
            </a:r>
            <a:r>
              <a:rPr lang="en-GB" sz="1600" baseline="30000" dirty="0">
                <a:latin typeface="Calibri" panose="020F0502020204030204" pitchFamily="34" charset="0"/>
                <a:ea typeface="Calibri" panose="020F0502020204030204" pitchFamily="34" charset="0"/>
                <a:cs typeface="Calibri" panose="020F0502020204030204" pitchFamily="34" charset="0"/>
              </a:rPr>
              <a:t>th</a:t>
            </a:r>
            <a:r>
              <a:rPr lang="en-GB" sz="1600" dirty="0">
                <a:latin typeface="Calibri" panose="020F0502020204030204" pitchFamily="34" charset="0"/>
                <a:ea typeface="Calibri" panose="020F0502020204030204" pitchFamily="34" charset="0"/>
                <a:cs typeface="Calibri" panose="020F0502020204030204" pitchFamily="34" charset="0"/>
              </a:rPr>
              <a:t> unit of the good is illustrated at point ‘a’ on his demand curve (D</a:t>
            </a:r>
            <a:r>
              <a:rPr lang="en-GB" sz="1600" baseline="-25000" dirty="0">
                <a:latin typeface="Calibri" panose="020F0502020204030204" pitchFamily="34" charset="0"/>
                <a:ea typeface="Calibri" panose="020F0502020204030204" pitchFamily="34" charset="0"/>
                <a:cs typeface="Calibri" panose="020F0502020204030204" pitchFamily="34" charset="0"/>
              </a:rPr>
              <a:t>D</a:t>
            </a:r>
            <a:r>
              <a:rPr lang="en-GB" sz="1600" dirty="0">
                <a:latin typeface="Calibri" panose="020F0502020204030204" pitchFamily="34" charset="0"/>
                <a:ea typeface="Calibri" panose="020F0502020204030204" pitchFamily="34" charset="0"/>
                <a:cs typeface="Calibri" panose="020F0502020204030204" pitchFamily="34" charset="0"/>
              </a:rPr>
              <a:t>) and is £30</a:t>
            </a:r>
          </a:p>
          <a:p>
            <a:endParaRPr lang="en-GB" sz="1600" dirty="0">
              <a:latin typeface="Calibri" panose="020F0502020204030204" pitchFamily="34" charset="0"/>
              <a:ea typeface="Calibri" panose="020F0502020204030204" pitchFamily="34" charset="0"/>
              <a:cs typeface="Calibri" panose="020F0502020204030204" pitchFamily="34" charset="0"/>
            </a:endParaRPr>
          </a:p>
          <a:p>
            <a:r>
              <a:rPr lang="en-GB" sz="1600" dirty="0">
                <a:latin typeface="Calibri" panose="020F0502020204030204" pitchFamily="34" charset="0"/>
                <a:ea typeface="Calibri" panose="020F0502020204030204" pitchFamily="34" charset="0"/>
                <a:cs typeface="Calibri" panose="020F0502020204030204" pitchFamily="34" charset="0"/>
              </a:rPr>
              <a:t>The maximum amount John would be WTP for the 10</a:t>
            </a:r>
            <a:r>
              <a:rPr lang="en-GB" sz="1600" baseline="30000" dirty="0">
                <a:latin typeface="Calibri" panose="020F0502020204030204" pitchFamily="34" charset="0"/>
                <a:ea typeface="Calibri" panose="020F0502020204030204" pitchFamily="34" charset="0"/>
                <a:cs typeface="Calibri" panose="020F0502020204030204" pitchFamily="34" charset="0"/>
              </a:rPr>
              <a:t>th</a:t>
            </a:r>
            <a:r>
              <a:rPr lang="en-GB" sz="1600" dirty="0">
                <a:latin typeface="Calibri" panose="020F0502020204030204" pitchFamily="34" charset="0"/>
                <a:ea typeface="Calibri" panose="020F0502020204030204" pitchFamily="34" charset="0"/>
                <a:cs typeface="Calibri" panose="020F0502020204030204" pitchFamily="34" charset="0"/>
              </a:rPr>
              <a:t> unit of the good is illustrated at point ‘b’ on his demand curve (D</a:t>
            </a:r>
            <a:r>
              <a:rPr lang="en-GB" sz="1600" baseline="-25000" dirty="0">
                <a:latin typeface="Calibri" panose="020F0502020204030204" pitchFamily="34" charset="0"/>
                <a:ea typeface="Calibri" panose="020F0502020204030204" pitchFamily="34" charset="0"/>
                <a:cs typeface="Calibri" panose="020F0502020204030204" pitchFamily="34" charset="0"/>
              </a:rPr>
              <a:t>J</a:t>
            </a:r>
            <a:r>
              <a:rPr lang="en-GB" sz="1600" dirty="0">
                <a:latin typeface="Calibri" panose="020F0502020204030204" pitchFamily="34" charset="0"/>
                <a:ea typeface="Calibri" panose="020F0502020204030204" pitchFamily="34" charset="0"/>
                <a:cs typeface="Calibri" panose="020F0502020204030204" pitchFamily="34" charset="0"/>
              </a:rPr>
              <a:t>) and is £50</a:t>
            </a:r>
          </a:p>
          <a:p>
            <a:endParaRPr lang="en-GB" sz="1600" dirty="0">
              <a:latin typeface="Calibri" panose="020F0502020204030204" pitchFamily="34" charset="0"/>
              <a:ea typeface="Calibri" panose="020F0502020204030204" pitchFamily="34" charset="0"/>
              <a:cs typeface="Calibri" panose="020F0502020204030204" pitchFamily="34" charset="0"/>
            </a:endParaRPr>
          </a:p>
          <a:p>
            <a:r>
              <a:rPr lang="en-GB" sz="1600" dirty="0">
                <a:latin typeface="Calibri" panose="020F0502020204030204" pitchFamily="34" charset="0"/>
                <a:ea typeface="Calibri" panose="020F0502020204030204" pitchFamily="34" charset="0"/>
                <a:cs typeface="Calibri" panose="020F0502020204030204" pitchFamily="34" charset="0"/>
              </a:rPr>
              <a:t>If we add these WTP figures together, we obtain the MB to society from producing the 10</a:t>
            </a:r>
            <a:r>
              <a:rPr lang="en-GB" sz="1600" baseline="30000" dirty="0">
                <a:latin typeface="Calibri" panose="020F0502020204030204" pitchFamily="34" charset="0"/>
                <a:ea typeface="Calibri" panose="020F0502020204030204" pitchFamily="34" charset="0"/>
                <a:cs typeface="Calibri" panose="020F0502020204030204" pitchFamily="34" charset="0"/>
              </a:rPr>
              <a:t>th</a:t>
            </a:r>
            <a:r>
              <a:rPr lang="en-GB" sz="1600" dirty="0">
                <a:latin typeface="Calibri" panose="020F0502020204030204" pitchFamily="34" charset="0"/>
                <a:ea typeface="Calibri" panose="020F0502020204030204" pitchFamily="34" charset="0"/>
                <a:cs typeface="Calibri" panose="020F0502020204030204" pitchFamily="34" charset="0"/>
              </a:rPr>
              <a:t> unit of the public good. This is illustrated at point ‘c’ and is £80</a:t>
            </a:r>
          </a:p>
          <a:p>
            <a:endParaRPr lang="en-GB" sz="1600" dirty="0">
              <a:latin typeface="Calibri" panose="020F0502020204030204" pitchFamily="34" charset="0"/>
              <a:ea typeface="Calibri" panose="020F0502020204030204" pitchFamily="34" charset="0"/>
              <a:cs typeface="Calibri" panose="020F0502020204030204" pitchFamily="34" charset="0"/>
            </a:endParaRPr>
          </a:p>
          <a:p>
            <a:r>
              <a:rPr lang="en-GB" sz="1600" dirty="0">
                <a:latin typeface="Calibri" panose="020F0502020204030204" pitchFamily="34" charset="0"/>
                <a:ea typeface="Calibri" panose="020F0502020204030204" pitchFamily="34" charset="0"/>
                <a:cs typeface="Calibri" panose="020F0502020204030204" pitchFamily="34" charset="0"/>
              </a:rPr>
              <a:t>If we continue this exercise for each level of output, we can derive the MSB curve. </a:t>
            </a:r>
          </a:p>
          <a:p>
            <a:r>
              <a:rPr lang="en-GB" sz="1600" dirty="0">
                <a:latin typeface="Calibri" panose="020F0502020204030204" pitchFamily="34" charset="0"/>
                <a:ea typeface="Calibri" panose="020F0502020204030204" pitchFamily="34" charset="0"/>
                <a:cs typeface="Calibri" panose="020F0502020204030204" pitchFamily="34" charset="0"/>
              </a:rPr>
              <a:t>MSB = D</a:t>
            </a:r>
            <a:r>
              <a:rPr lang="en-GB" sz="1600" baseline="-25000" dirty="0">
                <a:latin typeface="Calibri" panose="020F0502020204030204" pitchFamily="34" charset="0"/>
                <a:ea typeface="Calibri" panose="020F0502020204030204" pitchFamily="34" charset="0"/>
                <a:cs typeface="Calibri" panose="020F0502020204030204" pitchFamily="34" charset="0"/>
              </a:rPr>
              <a:t>D</a:t>
            </a:r>
            <a:r>
              <a:rPr lang="en-GB" sz="1600" dirty="0">
                <a:latin typeface="Calibri" panose="020F0502020204030204" pitchFamily="34" charset="0"/>
                <a:ea typeface="Calibri" panose="020F0502020204030204" pitchFamily="34" charset="0"/>
                <a:cs typeface="Calibri" panose="020F0502020204030204" pitchFamily="34" charset="0"/>
              </a:rPr>
              <a:t> + D</a:t>
            </a:r>
            <a:r>
              <a:rPr lang="en-GB" sz="1600" baseline="-25000" dirty="0">
                <a:latin typeface="Calibri" panose="020F0502020204030204" pitchFamily="34" charset="0"/>
                <a:ea typeface="Calibri" panose="020F0502020204030204" pitchFamily="34" charset="0"/>
                <a:cs typeface="Calibri" panose="020F0502020204030204" pitchFamily="34" charset="0"/>
              </a:rPr>
              <a:t>J</a:t>
            </a:r>
            <a:r>
              <a:rPr lang="en-GB" sz="1600" dirty="0">
                <a:latin typeface="Calibri" panose="020F0502020204030204" pitchFamily="34" charset="0"/>
                <a:ea typeface="Calibri" panose="020F0502020204030204" pitchFamily="34" charset="0"/>
                <a:cs typeface="Calibri" panose="020F0502020204030204" pitchFamily="34" charset="0"/>
              </a:rPr>
              <a:t>. Vertical aggregation of the individual demand curves</a:t>
            </a:r>
          </a:p>
        </p:txBody>
      </p:sp>
    </p:spTree>
    <p:extLst>
      <p:ext uri="{BB962C8B-B14F-4D97-AF65-F5344CB8AC3E}">
        <p14:creationId xmlns:p14="http://schemas.microsoft.com/office/powerpoint/2010/main" val="3785727674"/>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88468"/>
                                        </p:tgtEl>
                                        <p:attrNameLst>
                                          <p:attrName>style.visibility</p:attrName>
                                        </p:attrNameLst>
                                      </p:cBhvr>
                                      <p:to>
                                        <p:strVal val="visible"/>
                                      </p:to>
                                    </p:set>
                                    <p:animEffect transition="in" filter="wipe(left)">
                                      <p:cBhvr>
                                        <p:cTn id="7" dur="500"/>
                                        <p:tgtEl>
                                          <p:spTgt spid="4884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8458"/>
                                        </p:tgtEl>
                                        <p:attrNameLst>
                                          <p:attrName>style.visibility</p:attrName>
                                        </p:attrNameLst>
                                      </p:cBhvr>
                                      <p:to>
                                        <p:strVal val="visible"/>
                                      </p:to>
                                    </p:set>
                                    <p:animEffect transition="in" filter="wipe(left)">
                                      <p:cBhvr>
                                        <p:cTn id="12" dur="500"/>
                                        <p:tgtEl>
                                          <p:spTgt spid="4884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88454"/>
                                        </p:tgtEl>
                                        <p:attrNameLst>
                                          <p:attrName>style.visibility</p:attrName>
                                        </p:attrNameLst>
                                      </p:cBhvr>
                                      <p:to>
                                        <p:strVal val="visible"/>
                                      </p:to>
                                    </p:set>
                                    <p:animEffect transition="in" filter="wipe(up)">
                                      <p:cBhvr>
                                        <p:cTn id="17" dur="500"/>
                                        <p:tgtEl>
                                          <p:spTgt spid="4884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488464"/>
                                        </p:tgtEl>
                                        <p:attrNameLst>
                                          <p:attrName>style.visibility</p:attrName>
                                        </p:attrNameLst>
                                      </p:cBhvr>
                                      <p:to>
                                        <p:strVal val="visible"/>
                                      </p:to>
                                    </p:set>
                                    <p:animEffect transition="in" filter="wipe(down)">
                                      <p:cBhvr>
                                        <p:cTn id="22" dur="500"/>
                                        <p:tgtEl>
                                          <p:spTgt spid="48846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5" presetClass="entr" presetSubtype="0" fill="hold" nodeType="clickEffect">
                                  <p:stCondLst>
                                    <p:cond delay="0"/>
                                  </p:stCondLst>
                                  <p:childTnLst>
                                    <p:set>
                                      <p:cBhvr>
                                        <p:cTn id="26" dur="1" fill="hold">
                                          <p:stCondLst>
                                            <p:cond delay="0"/>
                                          </p:stCondLst>
                                        </p:cTn>
                                        <p:tgtEl>
                                          <p:spTgt spid="488486"/>
                                        </p:tgtEl>
                                        <p:attrNameLst>
                                          <p:attrName>style.visibility</p:attrName>
                                        </p:attrNameLst>
                                      </p:cBhvr>
                                      <p:to>
                                        <p:strVal val="visible"/>
                                      </p:to>
                                    </p:set>
                                    <p:anim calcmode="lin" valueType="num">
                                      <p:cBhvr>
                                        <p:cTn id="27" dur="1000" fill="hold"/>
                                        <p:tgtEl>
                                          <p:spTgt spid="488486"/>
                                        </p:tgtEl>
                                        <p:attrNameLst>
                                          <p:attrName>ppt_w</p:attrName>
                                        </p:attrNameLst>
                                      </p:cBhvr>
                                      <p:tavLst>
                                        <p:tav tm="0">
                                          <p:val>
                                            <p:fltVal val="0"/>
                                          </p:val>
                                        </p:tav>
                                        <p:tav tm="100000">
                                          <p:val>
                                            <p:strVal val="#ppt_w"/>
                                          </p:val>
                                        </p:tav>
                                      </p:tavLst>
                                    </p:anim>
                                    <p:anim calcmode="lin" valueType="num">
                                      <p:cBhvr>
                                        <p:cTn id="28" dur="1000" fill="hold"/>
                                        <p:tgtEl>
                                          <p:spTgt spid="488486"/>
                                        </p:tgtEl>
                                        <p:attrNameLst>
                                          <p:attrName>ppt_h</p:attrName>
                                        </p:attrNameLst>
                                      </p:cBhvr>
                                      <p:tavLst>
                                        <p:tav tm="0">
                                          <p:val>
                                            <p:fltVal val="0"/>
                                          </p:val>
                                        </p:tav>
                                        <p:tav tm="100000">
                                          <p:val>
                                            <p:strVal val="#ppt_h"/>
                                          </p:val>
                                        </p:tav>
                                      </p:tavLst>
                                    </p:anim>
                                    <p:anim calcmode="lin" valueType="num">
                                      <p:cBhvr>
                                        <p:cTn id="29" dur="1000" fill="hold"/>
                                        <p:tgtEl>
                                          <p:spTgt spid="488486"/>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48848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2" fill="hold" nodeType="clickEffect">
                                  <p:stCondLst>
                                    <p:cond delay="0"/>
                                  </p:stCondLst>
                                  <p:childTnLst>
                                    <p:set>
                                      <p:cBhvr>
                                        <p:cTn id="34" dur="1" fill="hold">
                                          <p:stCondLst>
                                            <p:cond delay="0"/>
                                          </p:stCondLst>
                                        </p:cTn>
                                        <p:tgtEl>
                                          <p:spTgt spid="488480"/>
                                        </p:tgtEl>
                                        <p:attrNameLst>
                                          <p:attrName>style.visibility</p:attrName>
                                        </p:attrNameLst>
                                      </p:cBhvr>
                                      <p:to>
                                        <p:strVal val="visible"/>
                                      </p:to>
                                    </p:set>
                                    <p:animEffect transition="in" filter="wipe(right)">
                                      <p:cBhvr>
                                        <p:cTn id="35" dur="500"/>
                                        <p:tgtEl>
                                          <p:spTgt spid="48848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5" presetClass="entr" presetSubtype="0" fill="hold" nodeType="clickEffect">
                                  <p:stCondLst>
                                    <p:cond delay="0"/>
                                  </p:stCondLst>
                                  <p:childTnLst>
                                    <p:set>
                                      <p:cBhvr>
                                        <p:cTn id="39" dur="1" fill="hold">
                                          <p:stCondLst>
                                            <p:cond delay="0"/>
                                          </p:stCondLst>
                                        </p:cTn>
                                        <p:tgtEl>
                                          <p:spTgt spid="488490"/>
                                        </p:tgtEl>
                                        <p:attrNameLst>
                                          <p:attrName>style.visibility</p:attrName>
                                        </p:attrNameLst>
                                      </p:cBhvr>
                                      <p:to>
                                        <p:strVal val="visible"/>
                                      </p:to>
                                    </p:set>
                                    <p:anim calcmode="lin" valueType="num">
                                      <p:cBhvr>
                                        <p:cTn id="40" dur="1000" fill="hold"/>
                                        <p:tgtEl>
                                          <p:spTgt spid="488490"/>
                                        </p:tgtEl>
                                        <p:attrNameLst>
                                          <p:attrName>ppt_w</p:attrName>
                                        </p:attrNameLst>
                                      </p:cBhvr>
                                      <p:tavLst>
                                        <p:tav tm="0">
                                          <p:val>
                                            <p:fltVal val="0"/>
                                          </p:val>
                                        </p:tav>
                                        <p:tav tm="100000">
                                          <p:val>
                                            <p:strVal val="#ppt_w"/>
                                          </p:val>
                                        </p:tav>
                                      </p:tavLst>
                                    </p:anim>
                                    <p:anim calcmode="lin" valueType="num">
                                      <p:cBhvr>
                                        <p:cTn id="41" dur="1000" fill="hold"/>
                                        <p:tgtEl>
                                          <p:spTgt spid="488490"/>
                                        </p:tgtEl>
                                        <p:attrNameLst>
                                          <p:attrName>ppt_h</p:attrName>
                                        </p:attrNameLst>
                                      </p:cBhvr>
                                      <p:tavLst>
                                        <p:tav tm="0">
                                          <p:val>
                                            <p:fltVal val="0"/>
                                          </p:val>
                                        </p:tav>
                                        <p:tav tm="100000">
                                          <p:val>
                                            <p:strVal val="#ppt_h"/>
                                          </p:val>
                                        </p:tav>
                                      </p:tavLst>
                                    </p:anim>
                                    <p:anim calcmode="lin" valueType="num">
                                      <p:cBhvr>
                                        <p:cTn id="42" dur="1000" fill="hold"/>
                                        <p:tgtEl>
                                          <p:spTgt spid="488490"/>
                                        </p:tgtEl>
                                        <p:attrNameLst>
                                          <p:attrName>ppt_x</p:attrName>
                                        </p:attrNameLst>
                                      </p:cBhvr>
                                      <p:tavLst>
                                        <p:tav tm="0" fmla="#ppt_x+(cos(-2*pi*(1-$))*-#ppt_x-sin(-2*pi*(1-$))*(1-#ppt_y))*(1-$)">
                                          <p:val>
                                            <p:fltVal val="0"/>
                                          </p:val>
                                        </p:tav>
                                        <p:tav tm="100000">
                                          <p:val>
                                            <p:fltVal val="1"/>
                                          </p:val>
                                        </p:tav>
                                      </p:tavLst>
                                    </p:anim>
                                    <p:anim calcmode="lin" valueType="num">
                                      <p:cBhvr>
                                        <p:cTn id="43" dur="1000" fill="hold"/>
                                        <p:tgtEl>
                                          <p:spTgt spid="48849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2" fill="hold" nodeType="clickEffect">
                                  <p:stCondLst>
                                    <p:cond delay="0"/>
                                  </p:stCondLst>
                                  <p:childTnLst>
                                    <p:set>
                                      <p:cBhvr>
                                        <p:cTn id="47" dur="1" fill="hold">
                                          <p:stCondLst>
                                            <p:cond delay="0"/>
                                          </p:stCondLst>
                                        </p:cTn>
                                        <p:tgtEl>
                                          <p:spTgt spid="488483"/>
                                        </p:tgtEl>
                                        <p:attrNameLst>
                                          <p:attrName>style.visibility</p:attrName>
                                        </p:attrNameLst>
                                      </p:cBhvr>
                                      <p:to>
                                        <p:strVal val="visible"/>
                                      </p:to>
                                    </p:set>
                                    <p:animEffect transition="in" filter="wipe(right)">
                                      <p:cBhvr>
                                        <p:cTn id="48" dur="500"/>
                                        <p:tgtEl>
                                          <p:spTgt spid="48848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5" presetClass="entr" presetSubtype="0" fill="hold" nodeType="clickEffect">
                                  <p:stCondLst>
                                    <p:cond delay="0"/>
                                  </p:stCondLst>
                                  <p:childTnLst>
                                    <p:set>
                                      <p:cBhvr>
                                        <p:cTn id="52" dur="1" fill="hold">
                                          <p:stCondLst>
                                            <p:cond delay="0"/>
                                          </p:stCondLst>
                                        </p:cTn>
                                        <p:tgtEl>
                                          <p:spTgt spid="488477"/>
                                        </p:tgtEl>
                                        <p:attrNameLst>
                                          <p:attrName>style.visibility</p:attrName>
                                        </p:attrNameLst>
                                      </p:cBhvr>
                                      <p:to>
                                        <p:strVal val="visible"/>
                                      </p:to>
                                    </p:set>
                                    <p:anim calcmode="lin" valueType="num">
                                      <p:cBhvr>
                                        <p:cTn id="53" dur="1000" fill="hold"/>
                                        <p:tgtEl>
                                          <p:spTgt spid="488477"/>
                                        </p:tgtEl>
                                        <p:attrNameLst>
                                          <p:attrName>ppt_w</p:attrName>
                                        </p:attrNameLst>
                                      </p:cBhvr>
                                      <p:tavLst>
                                        <p:tav tm="0">
                                          <p:val>
                                            <p:fltVal val="0"/>
                                          </p:val>
                                        </p:tav>
                                        <p:tav tm="100000">
                                          <p:val>
                                            <p:strVal val="#ppt_w"/>
                                          </p:val>
                                        </p:tav>
                                      </p:tavLst>
                                    </p:anim>
                                    <p:anim calcmode="lin" valueType="num">
                                      <p:cBhvr>
                                        <p:cTn id="54" dur="1000" fill="hold"/>
                                        <p:tgtEl>
                                          <p:spTgt spid="488477"/>
                                        </p:tgtEl>
                                        <p:attrNameLst>
                                          <p:attrName>ppt_h</p:attrName>
                                        </p:attrNameLst>
                                      </p:cBhvr>
                                      <p:tavLst>
                                        <p:tav tm="0">
                                          <p:val>
                                            <p:fltVal val="0"/>
                                          </p:val>
                                        </p:tav>
                                        <p:tav tm="100000">
                                          <p:val>
                                            <p:strVal val="#ppt_h"/>
                                          </p:val>
                                        </p:tav>
                                      </p:tavLst>
                                    </p:anim>
                                    <p:anim calcmode="lin" valueType="num">
                                      <p:cBhvr>
                                        <p:cTn id="55" dur="1000" fill="hold"/>
                                        <p:tgtEl>
                                          <p:spTgt spid="488477"/>
                                        </p:tgtEl>
                                        <p:attrNameLst>
                                          <p:attrName>ppt_x</p:attrName>
                                        </p:attrNameLst>
                                      </p:cBhvr>
                                      <p:tavLst>
                                        <p:tav tm="0" fmla="#ppt_x+(cos(-2*pi*(1-$))*-#ppt_x-sin(-2*pi*(1-$))*(1-#ppt_y))*(1-$)">
                                          <p:val>
                                            <p:fltVal val="0"/>
                                          </p:val>
                                        </p:tav>
                                        <p:tav tm="100000">
                                          <p:val>
                                            <p:fltVal val="1"/>
                                          </p:val>
                                        </p:tav>
                                      </p:tavLst>
                                    </p:anim>
                                    <p:anim calcmode="lin" valueType="num">
                                      <p:cBhvr>
                                        <p:cTn id="56" dur="1000" fill="hold"/>
                                        <p:tgtEl>
                                          <p:spTgt spid="48847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2" fill="hold" nodeType="clickEffect">
                                  <p:stCondLst>
                                    <p:cond delay="0"/>
                                  </p:stCondLst>
                                  <p:childTnLst>
                                    <p:set>
                                      <p:cBhvr>
                                        <p:cTn id="60" dur="1" fill="hold">
                                          <p:stCondLst>
                                            <p:cond delay="0"/>
                                          </p:stCondLst>
                                        </p:cTn>
                                        <p:tgtEl>
                                          <p:spTgt spid="488474"/>
                                        </p:tgtEl>
                                        <p:attrNameLst>
                                          <p:attrName>style.visibility</p:attrName>
                                        </p:attrNameLst>
                                      </p:cBhvr>
                                      <p:to>
                                        <p:strVal val="visible"/>
                                      </p:to>
                                    </p:set>
                                    <p:animEffect transition="in" filter="wipe(right)">
                                      <p:cBhvr>
                                        <p:cTn id="61" dur="500"/>
                                        <p:tgtEl>
                                          <p:spTgt spid="488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a:extLst>
              <a:ext uri="{FF2B5EF4-FFF2-40B4-BE49-F238E27FC236}">
                <a16:creationId xmlns:a16="http://schemas.microsoft.com/office/drawing/2014/main" id="{A3268396-651E-4559-83DE-D02CFA3D01C3}"/>
              </a:ext>
            </a:extLst>
          </p:cNvPr>
          <p:cNvSpPr>
            <a:spLocks noChangeArrowheads="1"/>
          </p:cNvSpPr>
          <p:nvPr/>
        </p:nvSpPr>
        <p:spPr bwMode="auto">
          <a:xfrm>
            <a:off x="2601914" y="827088"/>
            <a:ext cx="7780337" cy="52752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490546" name="Group 50">
            <a:extLst>
              <a:ext uri="{FF2B5EF4-FFF2-40B4-BE49-F238E27FC236}">
                <a16:creationId xmlns:a16="http://schemas.microsoft.com/office/drawing/2014/main" id="{07301113-4562-4067-B942-8E56B16B1380}"/>
              </a:ext>
            </a:extLst>
          </p:cNvPr>
          <p:cNvGrpSpPr>
            <a:grpSpLocks/>
          </p:cNvGrpSpPr>
          <p:nvPr/>
        </p:nvGrpSpPr>
        <p:grpSpPr bwMode="auto">
          <a:xfrm>
            <a:off x="2116138" y="5527675"/>
            <a:ext cx="4648200" cy="381000"/>
            <a:chOff x="373" y="3482"/>
            <a:chExt cx="2928" cy="240"/>
          </a:xfrm>
        </p:grpSpPr>
        <p:sp>
          <p:nvSpPr>
            <p:cNvPr id="490547" name="Line 50">
              <a:extLst>
                <a:ext uri="{FF2B5EF4-FFF2-40B4-BE49-F238E27FC236}">
                  <a16:creationId xmlns:a16="http://schemas.microsoft.com/office/drawing/2014/main" id="{4F963850-43EE-4EAA-BA85-812E3B08A46D}"/>
                </a:ext>
              </a:extLst>
            </p:cNvPr>
            <p:cNvSpPr>
              <a:spLocks noChangeShapeType="1"/>
            </p:cNvSpPr>
            <p:nvPr/>
          </p:nvSpPr>
          <p:spPr bwMode="auto">
            <a:xfrm flipH="1">
              <a:off x="693" y="3611"/>
              <a:ext cx="2608" cy="4"/>
            </a:xfrm>
            <a:prstGeom prst="line">
              <a:avLst/>
            </a:prstGeom>
            <a:noFill/>
            <a:ln w="1587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490548" name="TextBox 71">
              <a:extLst>
                <a:ext uri="{FF2B5EF4-FFF2-40B4-BE49-F238E27FC236}">
                  <a16:creationId xmlns:a16="http://schemas.microsoft.com/office/drawing/2014/main" id="{02493BFA-8490-459C-AC47-929F14BAA140}"/>
                </a:ext>
              </a:extLst>
            </p:cNvPr>
            <p:cNvSpPr txBox="1">
              <a:spLocks noChangeArrowheads="1"/>
            </p:cNvSpPr>
            <p:nvPr/>
          </p:nvSpPr>
          <p:spPr bwMode="auto">
            <a:xfrm>
              <a:off x="373" y="3482"/>
              <a:ext cx="28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12</a:t>
              </a:r>
            </a:p>
          </p:txBody>
        </p:sp>
      </p:grpSp>
      <p:grpSp>
        <p:nvGrpSpPr>
          <p:cNvPr id="490543" name="Group 47">
            <a:extLst>
              <a:ext uri="{FF2B5EF4-FFF2-40B4-BE49-F238E27FC236}">
                <a16:creationId xmlns:a16="http://schemas.microsoft.com/office/drawing/2014/main" id="{7F3CBF7A-4AA7-4DA3-80CD-E56C97B93AB7}"/>
              </a:ext>
            </a:extLst>
          </p:cNvPr>
          <p:cNvGrpSpPr>
            <a:grpSpLocks/>
          </p:cNvGrpSpPr>
          <p:nvPr/>
        </p:nvGrpSpPr>
        <p:grpSpPr bwMode="auto">
          <a:xfrm>
            <a:off x="2127251" y="5302250"/>
            <a:ext cx="4613275" cy="381000"/>
            <a:chOff x="380" y="3340"/>
            <a:chExt cx="2906" cy="240"/>
          </a:xfrm>
        </p:grpSpPr>
        <p:sp>
          <p:nvSpPr>
            <p:cNvPr id="490544" name="Line 50">
              <a:extLst>
                <a:ext uri="{FF2B5EF4-FFF2-40B4-BE49-F238E27FC236}">
                  <a16:creationId xmlns:a16="http://schemas.microsoft.com/office/drawing/2014/main" id="{5438839D-7B81-48B5-91FE-CC5C8E10B586}"/>
                </a:ext>
              </a:extLst>
            </p:cNvPr>
            <p:cNvSpPr>
              <a:spLocks noChangeShapeType="1"/>
            </p:cNvSpPr>
            <p:nvPr/>
          </p:nvSpPr>
          <p:spPr bwMode="auto">
            <a:xfrm flipH="1">
              <a:off x="682" y="3442"/>
              <a:ext cx="2604" cy="4"/>
            </a:xfrm>
            <a:prstGeom prst="line">
              <a:avLst/>
            </a:prstGeom>
            <a:noFill/>
            <a:ln w="1587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490545" name="TextBox 9">
              <a:extLst>
                <a:ext uri="{FF2B5EF4-FFF2-40B4-BE49-F238E27FC236}">
                  <a16:creationId xmlns:a16="http://schemas.microsoft.com/office/drawing/2014/main" id="{B5C58AAC-28C8-47C5-9F4A-3C3BE6CB99DC}"/>
                </a:ext>
              </a:extLst>
            </p:cNvPr>
            <p:cNvSpPr txBox="1">
              <a:spLocks noChangeArrowheads="1"/>
            </p:cNvSpPr>
            <p:nvPr/>
          </p:nvSpPr>
          <p:spPr bwMode="auto">
            <a:xfrm>
              <a:off x="380" y="3340"/>
              <a:ext cx="28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20</a:t>
              </a:r>
            </a:p>
          </p:txBody>
        </p:sp>
      </p:grpSp>
      <p:sp>
        <p:nvSpPr>
          <p:cNvPr id="490499" name="Freeform 3">
            <a:extLst>
              <a:ext uri="{FF2B5EF4-FFF2-40B4-BE49-F238E27FC236}">
                <a16:creationId xmlns:a16="http://schemas.microsoft.com/office/drawing/2014/main" id="{FE01B15A-2594-460B-A7B3-D05EC35BD382}"/>
              </a:ext>
            </a:extLst>
          </p:cNvPr>
          <p:cNvSpPr>
            <a:spLocks/>
          </p:cNvSpPr>
          <p:nvPr/>
        </p:nvSpPr>
        <p:spPr bwMode="auto">
          <a:xfrm>
            <a:off x="2586038" y="1349376"/>
            <a:ext cx="4189412" cy="4746625"/>
          </a:xfrm>
          <a:custGeom>
            <a:avLst/>
            <a:gdLst>
              <a:gd name="T0" fmla="*/ 0 w 2639"/>
              <a:gd name="T1" fmla="*/ 0 h 2990"/>
              <a:gd name="T2" fmla="*/ 2639 w 2639"/>
              <a:gd name="T3" fmla="*/ 2354 h 2990"/>
              <a:gd name="T4" fmla="*/ 11 w 2639"/>
              <a:gd name="T5" fmla="*/ 2990 h 2990"/>
              <a:gd name="T6" fmla="*/ 0 w 2639"/>
              <a:gd name="T7" fmla="*/ 0 h 2990"/>
            </a:gdLst>
            <a:ahLst/>
            <a:cxnLst>
              <a:cxn ang="0">
                <a:pos x="T0" y="T1"/>
              </a:cxn>
              <a:cxn ang="0">
                <a:pos x="T2" y="T3"/>
              </a:cxn>
              <a:cxn ang="0">
                <a:pos x="T4" y="T5"/>
              </a:cxn>
              <a:cxn ang="0">
                <a:pos x="T6" y="T7"/>
              </a:cxn>
            </a:cxnLst>
            <a:rect l="0" t="0" r="r" b="b"/>
            <a:pathLst>
              <a:path w="2639" h="2990">
                <a:moveTo>
                  <a:pt x="0" y="0"/>
                </a:moveTo>
                <a:lnTo>
                  <a:pt x="2639" y="2354"/>
                </a:lnTo>
                <a:lnTo>
                  <a:pt x="11" y="2990"/>
                </a:lnTo>
                <a:lnTo>
                  <a:pt x="0" y="0"/>
                </a:lnTo>
                <a:close/>
              </a:path>
            </a:pathLst>
          </a:custGeom>
          <a:solidFill>
            <a:srgbClr val="FFFFA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90500" name="Line 22">
            <a:extLst>
              <a:ext uri="{FF2B5EF4-FFF2-40B4-BE49-F238E27FC236}">
                <a16:creationId xmlns:a16="http://schemas.microsoft.com/office/drawing/2014/main" id="{7D85B5E5-E36B-4042-9F13-D286AF6107F3}"/>
              </a:ext>
            </a:extLst>
          </p:cNvPr>
          <p:cNvSpPr>
            <a:spLocks noChangeShapeType="1"/>
          </p:cNvSpPr>
          <p:nvPr/>
        </p:nvSpPr>
        <p:spPr bwMode="auto">
          <a:xfrm>
            <a:off x="2590800" y="788988"/>
            <a:ext cx="0" cy="53340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90501" name="Line 23">
            <a:extLst>
              <a:ext uri="{FF2B5EF4-FFF2-40B4-BE49-F238E27FC236}">
                <a16:creationId xmlns:a16="http://schemas.microsoft.com/office/drawing/2014/main" id="{864E264C-98EA-43B2-8BF0-78C9FEFDE077}"/>
              </a:ext>
            </a:extLst>
          </p:cNvPr>
          <p:cNvSpPr>
            <a:spLocks noChangeShapeType="1"/>
          </p:cNvSpPr>
          <p:nvPr/>
        </p:nvSpPr>
        <p:spPr bwMode="auto">
          <a:xfrm>
            <a:off x="2582863" y="6119813"/>
            <a:ext cx="78549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sp>
        <p:nvSpPr>
          <p:cNvPr id="490502" name="Line 28">
            <a:extLst>
              <a:ext uri="{FF2B5EF4-FFF2-40B4-BE49-F238E27FC236}">
                <a16:creationId xmlns:a16="http://schemas.microsoft.com/office/drawing/2014/main" id="{61D47E4A-45EB-4101-8A0A-E2D52B348A6C}"/>
              </a:ext>
            </a:extLst>
          </p:cNvPr>
          <p:cNvSpPr>
            <a:spLocks noChangeShapeType="1"/>
          </p:cNvSpPr>
          <p:nvPr/>
        </p:nvSpPr>
        <p:spPr bwMode="auto">
          <a:xfrm>
            <a:off x="2582864" y="4329114"/>
            <a:ext cx="5318125" cy="1787525"/>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GB"/>
          </a:p>
        </p:txBody>
      </p:sp>
      <p:sp>
        <p:nvSpPr>
          <p:cNvPr id="490503" name="Line 9">
            <a:extLst>
              <a:ext uri="{FF2B5EF4-FFF2-40B4-BE49-F238E27FC236}">
                <a16:creationId xmlns:a16="http://schemas.microsoft.com/office/drawing/2014/main" id="{7A25DFDB-EAE6-4669-A07A-CB692C10ABC5}"/>
              </a:ext>
            </a:extLst>
          </p:cNvPr>
          <p:cNvSpPr>
            <a:spLocks noChangeShapeType="1"/>
          </p:cNvSpPr>
          <p:nvPr/>
        </p:nvSpPr>
        <p:spPr bwMode="auto">
          <a:xfrm>
            <a:off x="2590801" y="3105150"/>
            <a:ext cx="5313363" cy="3011488"/>
          </a:xfrm>
          <a:prstGeom prst="line">
            <a:avLst/>
          </a:prstGeom>
          <a:noFill/>
          <a:ln w="381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90504" name="Rectangle 3">
            <a:extLst>
              <a:ext uri="{FF2B5EF4-FFF2-40B4-BE49-F238E27FC236}">
                <a16:creationId xmlns:a16="http://schemas.microsoft.com/office/drawing/2014/main" id="{9F68EDF4-AFF8-46AD-BFA7-D9EB873B147C}"/>
              </a:ext>
            </a:extLst>
          </p:cNvPr>
          <p:cNvSpPr>
            <a:spLocks noChangeArrowheads="1"/>
          </p:cNvSpPr>
          <p:nvPr/>
        </p:nvSpPr>
        <p:spPr bwMode="auto">
          <a:xfrm>
            <a:off x="1944689" y="1114426"/>
            <a:ext cx="662041" cy="38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 160</a:t>
            </a:r>
          </a:p>
        </p:txBody>
      </p:sp>
      <p:sp>
        <p:nvSpPr>
          <p:cNvPr id="490505" name="Rectangle 5">
            <a:extLst>
              <a:ext uri="{FF2B5EF4-FFF2-40B4-BE49-F238E27FC236}">
                <a16:creationId xmlns:a16="http://schemas.microsoft.com/office/drawing/2014/main" id="{1CB7C315-3412-4CF3-BAAB-2E5EBB8709A2}"/>
              </a:ext>
            </a:extLst>
          </p:cNvPr>
          <p:cNvSpPr>
            <a:spLocks noChangeArrowheads="1"/>
          </p:cNvSpPr>
          <p:nvPr/>
        </p:nvSpPr>
        <p:spPr bwMode="auto">
          <a:xfrm>
            <a:off x="2206625" y="6164264"/>
            <a:ext cx="405560"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a:solidFill>
                  <a:schemeClr val="hlink"/>
                </a:solidFill>
                <a:latin typeface="Arial" panose="020B0604020202020204" pitchFamily="34" charset="0"/>
              </a:rPr>
              <a:t>O</a:t>
            </a:r>
          </a:p>
        </p:txBody>
      </p:sp>
      <p:sp>
        <p:nvSpPr>
          <p:cNvPr id="490506" name="Line 20">
            <a:extLst>
              <a:ext uri="{FF2B5EF4-FFF2-40B4-BE49-F238E27FC236}">
                <a16:creationId xmlns:a16="http://schemas.microsoft.com/office/drawing/2014/main" id="{F7635A57-8399-4CE8-A9FF-CEE234F65045}"/>
              </a:ext>
            </a:extLst>
          </p:cNvPr>
          <p:cNvSpPr>
            <a:spLocks noChangeShapeType="1"/>
          </p:cNvSpPr>
          <p:nvPr/>
        </p:nvSpPr>
        <p:spPr bwMode="auto">
          <a:xfrm>
            <a:off x="2574926" y="1322388"/>
            <a:ext cx="5326063" cy="4799012"/>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90508" name="Line 8">
            <a:extLst>
              <a:ext uri="{FF2B5EF4-FFF2-40B4-BE49-F238E27FC236}">
                <a16:creationId xmlns:a16="http://schemas.microsoft.com/office/drawing/2014/main" id="{21817B1C-FD2D-4992-A074-F6F8683E92E6}"/>
              </a:ext>
            </a:extLst>
          </p:cNvPr>
          <p:cNvSpPr>
            <a:spLocks noChangeShapeType="1"/>
          </p:cNvSpPr>
          <p:nvPr/>
        </p:nvSpPr>
        <p:spPr bwMode="auto">
          <a:xfrm flipV="1">
            <a:off x="5268914" y="3724276"/>
            <a:ext cx="1587" cy="2386013"/>
          </a:xfrm>
          <a:prstGeom prst="line">
            <a:avLst/>
          </a:prstGeom>
          <a:noFill/>
          <a:ln w="15875">
            <a:solidFill>
              <a:srgbClr val="4D4D4D"/>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90509" name="Rectangle 54">
            <a:extLst>
              <a:ext uri="{FF2B5EF4-FFF2-40B4-BE49-F238E27FC236}">
                <a16:creationId xmlns:a16="http://schemas.microsoft.com/office/drawing/2014/main" id="{84D52CAE-F45F-40DB-9035-38EBE6767EFB}"/>
              </a:ext>
            </a:extLst>
          </p:cNvPr>
          <p:cNvSpPr>
            <a:spLocks noChangeArrowheads="1"/>
          </p:cNvSpPr>
          <p:nvPr/>
        </p:nvSpPr>
        <p:spPr bwMode="auto">
          <a:xfrm>
            <a:off x="5010151" y="6115051"/>
            <a:ext cx="458459" cy="38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10</a:t>
            </a:r>
            <a:endParaRPr lang="en-GB" altLang="en-US" sz="1900" baseline="-25000">
              <a:latin typeface="Arial" panose="020B0604020202020204" pitchFamily="34" charset="0"/>
            </a:endParaRPr>
          </a:p>
        </p:txBody>
      </p:sp>
      <p:sp>
        <p:nvSpPr>
          <p:cNvPr id="490510" name="Line 41">
            <a:extLst>
              <a:ext uri="{FF2B5EF4-FFF2-40B4-BE49-F238E27FC236}">
                <a16:creationId xmlns:a16="http://schemas.microsoft.com/office/drawing/2014/main" id="{EDB7F740-9E67-45D7-9205-ADF1BB12AC43}"/>
              </a:ext>
            </a:extLst>
          </p:cNvPr>
          <p:cNvSpPr>
            <a:spLocks noChangeShapeType="1"/>
          </p:cNvSpPr>
          <p:nvPr/>
        </p:nvSpPr>
        <p:spPr bwMode="auto">
          <a:xfrm flipV="1">
            <a:off x="2598738" y="4589463"/>
            <a:ext cx="6037262" cy="1517650"/>
          </a:xfrm>
          <a:prstGeom prst="line">
            <a:avLst/>
          </a:prstGeom>
          <a:noFill/>
          <a:ln w="38100">
            <a:solidFill>
              <a:srgbClr val="00B0F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90511" name="Rectangle 1">
            <a:extLst>
              <a:ext uri="{FF2B5EF4-FFF2-40B4-BE49-F238E27FC236}">
                <a16:creationId xmlns:a16="http://schemas.microsoft.com/office/drawing/2014/main" id="{89A82DD0-655F-4976-982A-B2AD2F2A3F72}"/>
              </a:ext>
            </a:extLst>
          </p:cNvPr>
          <p:cNvSpPr>
            <a:spLocks noChangeArrowheads="1"/>
          </p:cNvSpPr>
          <p:nvPr/>
        </p:nvSpPr>
        <p:spPr bwMode="auto">
          <a:xfrm>
            <a:off x="8604251" y="4379914"/>
            <a:ext cx="1204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i="1">
                <a:solidFill>
                  <a:srgbClr val="009AD0"/>
                </a:solidFill>
                <a:latin typeface="Arial" panose="020B0604020202020204" pitchFamily="34" charset="0"/>
              </a:rPr>
              <a:t>MC </a:t>
            </a:r>
            <a:r>
              <a:rPr lang="en-US" altLang="en-US" sz="2000">
                <a:solidFill>
                  <a:srgbClr val="009AD0"/>
                </a:solidFill>
                <a:latin typeface="Arial" panose="020B0604020202020204" pitchFamily="34" charset="0"/>
              </a:rPr>
              <a:t>= 2</a:t>
            </a:r>
            <a:r>
              <a:rPr lang="en-US" altLang="en-US" sz="2000" i="1">
                <a:solidFill>
                  <a:srgbClr val="009AD0"/>
                </a:solidFill>
                <a:latin typeface="Arial" panose="020B0604020202020204" pitchFamily="34" charset="0"/>
              </a:rPr>
              <a:t>Q</a:t>
            </a:r>
            <a:endParaRPr lang="en-GB" altLang="en-US" sz="2000" i="1">
              <a:solidFill>
                <a:srgbClr val="009AD0"/>
              </a:solidFill>
              <a:latin typeface="Arial" panose="020B0604020202020204" pitchFamily="34" charset="0"/>
            </a:endParaRPr>
          </a:p>
        </p:txBody>
      </p:sp>
      <p:sp>
        <p:nvSpPr>
          <p:cNvPr id="490512" name="TextBox 1">
            <a:extLst>
              <a:ext uri="{FF2B5EF4-FFF2-40B4-BE49-F238E27FC236}">
                <a16:creationId xmlns:a16="http://schemas.microsoft.com/office/drawing/2014/main" id="{42C70015-8963-488A-8F45-4F5C40A0F3FC}"/>
              </a:ext>
            </a:extLst>
          </p:cNvPr>
          <p:cNvSpPr txBox="1">
            <a:spLocks noChangeArrowheads="1"/>
          </p:cNvSpPr>
          <p:nvPr/>
        </p:nvSpPr>
        <p:spPr bwMode="auto">
          <a:xfrm>
            <a:off x="7358064" y="6349408"/>
            <a:ext cx="33099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900">
                <a:latin typeface="Arial" panose="020B0604020202020204" pitchFamily="34" charset="0"/>
              </a:rPr>
              <a:t>Quantity of the public good</a:t>
            </a:r>
          </a:p>
        </p:txBody>
      </p:sp>
      <p:sp>
        <p:nvSpPr>
          <p:cNvPr id="490513" name="TextBox 1">
            <a:extLst>
              <a:ext uri="{FF2B5EF4-FFF2-40B4-BE49-F238E27FC236}">
                <a16:creationId xmlns:a16="http://schemas.microsoft.com/office/drawing/2014/main" id="{3A86C7B5-FE04-4C3D-BB90-57298899C0A0}"/>
              </a:ext>
            </a:extLst>
          </p:cNvPr>
          <p:cNvSpPr txBox="1">
            <a:spLocks noChangeArrowheads="1"/>
          </p:cNvSpPr>
          <p:nvPr/>
        </p:nvSpPr>
        <p:spPr bwMode="auto">
          <a:xfrm>
            <a:off x="5222875" y="3419475"/>
            <a:ext cx="304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chemeClr val="hlink"/>
                </a:solidFill>
                <a:latin typeface="Arial" panose="020B0604020202020204" pitchFamily="34" charset="0"/>
              </a:rPr>
              <a:t>c</a:t>
            </a:r>
          </a:p>
        </p:txBody>
      </p:sp>
      <p:sp>
        <p:nvSpPr>
          <p:cNvPr id="50" name="Rectangle 57">
            <a:extLst>
              <a:ext uri="{FF2B5EF4-FFF2-40B4-BE49-F238E27FC236}">
                <a16:creationId xmlns:a16="http://schemas.microsoft.com/office/drawing/2014/main" id="{BDA3CEA6-5C9E-42AD-967D-314EA7347E96}"/>
              </a:ext>
            </a:extLst>
          </p:cNvPr>
          <p:cNvSpPr>
            <a:spLocks noChangeArrowheads="1"/>
          </p:cNvSpPr>
          <p:nvPr/>
        </p:nvSpPr>
        <p:spPr bwMode="auto">
          <a:xfrm>
            <a:off x="7678739" y="6124576"/>
            <a:ext cx="458459" cy="38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20</a:t>
            </a:r>
            <a:endParaRPr lang="en-GB" altLang="en-US" sz="1900" baseline="-25000">
              <a:latin typeface="Arial" panose="020B0604020202020204" pitchFamily="34" charset="0"/>
            </a:endParaRPr>
          </a:p>
        </p:txBody>
      </p:sp>
      <p:sp>
        <p:nvSpPr>
          <p:cNvPr id="490515" name="TextBox 2">
            <a:extLst>
              <a:ext uri="{FF2B5EF4-FFF2-40B4-BE49-F238E27FC236}">
                <a16:creationId xmlns:a16="http://schemas.microsoft.com/office/drawing/2014/main" id="{67AF8171-AE64-41CA-870C-299D1FC418C2}"/>
              </a:ext>
            </a:extLst>
          </p:cNvPr>
          <p:cNvSpPr txBox="1">
            <a:spLocks noChangeArrowheads="1"/>
          </p:cNvSpPr>
          <p:nvPr/>
        </p:nvSpPr>
        <p:spPr bwMode="auto">
          <a:xfrm>
            <a:off x="2128839" y="3516313"/>
            <a:ext cx="454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80</a:t>
            </a:r>
          </a:p>
        </p:txBody>
      </p:sp>
      <p:sp>
        <p:nvSpPr>
          <p:cNvPr id="490516" name="TextBox 3">
            <a:extLst>
              <a:ext uri="{FF2B5EF4-FFF2-40B4-BE49-F238E27FC236}">
                <a16:creationId xmlns:a16="http://schemas.microsoft.com/office/drawing/2014/main" id="{AE92B2B0-7045-4923-8773-4A6D9127AE33}"/>
              </a:ext>
            </a:extLst>
          </p:cNvPr>
          <p:cNvSpPr txBox="1">
            <a:spLocks noChangeArrowheads="1"/>
          </p:cNvSpPr>
          <p:nvPr/>
        </p:nvSpPr>
        <p:spPr bwMode="auto">
          <a:xfrm>
            <a:off x="2003426" y="2905125"/>
            <a:ext cx="5889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100</a:t>
            </a:r>
          </a:p>
        </p:txBody>
      </p:sp>
      <p:sp>
        <p:nvSpPr>
          <p:cNvPr id="490517" name="TextBox 55">
            <a:extLst>
              <a:ext uri="{FF2B5EF4-FFF2-40B4-BE49-F238E27FC236}">
                <a16:creationId xmlns:a16="http://schemas.microsoft.com/office/drawing/2014/main" id="{CC91F85C-0EFD-45D8-9B7C-9BA8A7AC1139}"/>
              </a:ext>
            </a:extLst>
          </p:cNvPr>
          <p:cNvSpPr txBox="1">
            <a:spLocks noChangeArrowheads="1"/>
          </p:cNvSpPr>
          <p:nvPr/>
        </p:nvSpPr>
        <p:spPr bwMode="auto">
          <a:xfrm>
            <a:off x="2130426" y="4413250"/>
            <a:ext cx="454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50</a:t>
            </a:r>
          </a:p>
        </p:txBody>
      </p:sp>
      <p:sp>
        <p:nvSpPr>
          <p:cNvPr id="490518" name="TextBox 56">
            <a:extLst>
              <a:ext uri="{FF2B5EF4-FFF2-40B4-BE49-F238E27FC236}">
                <a16:creationId xmlns:a16="http://schemas.microsoft.com/office/drawing/2014/main" id="{C1398E4B-B4C6-4005-8408-4B286D1AD96C}"/>
              </a:ext>
            </a:extLst>
          </p:cNvPr>
          <p:cNvSpPr txBox="1">
            <a:spLocks noChangeArrowheads="1"/>
          </p:cNvSpPr>
          <p:nvPr/>
        </p:nvSpPr>
        <p:spPr bwMode="auto">
          <a:xfrm>
            <a:off x="2135189" y="4121150"/>
            <a:ext cx="454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60</a:t>
            </a:r>
          </a:p>
        </p:txBody>
      </p:sp>
      <p:sp>
        <p:nvSpPr>
          <p:cNvPr id="490519" name="TextBox 57">
            <a:extLst>
              <a:ext uri="{FF2B5EF4-FFF2-40B4-BE49-F238E27FC236}">
                <a16:creationId xmlns:a16="http://schemas.microsoft.com/office/drawing/2014/main" id="{F64CE59E-4D97-4C91-B91C-8C4B3110C23F}"/>
              </a:ext>
            </a:extLst>
          </p:cNvPr>
          <p:cNvSpPr txBox="1">
            <a:spLocks noChangeArrowheads="1"/>
          </p:cNvSpPr>
          <p:nvPr/>
        </p:nvSpPr>
        <p:spPr bwMode="auto">
          <a:xfrm>
            <a:off x="2128839" y="5068888"/>
            <a:ext cx="4540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30</a:t>
            </a:r>
          </a:p>
        </p:txBody>
      </p:sp>
      <p:sp>
        <p:nvSpPr>
          <p:cNvPr id="490520" name="Line 50">
            <a:extLst>
              <a:ext uri="{FF2B5EF4-FFF2-40B4-BE49-F238E27FC236}">
                <a16:creationId xmlns:a16="http://schemas.microsoft.com/office/drawing/2014/main" id="{06B1E3C1-2689-45F7-8F46-DA206BCC6FF8}"/>
              </a:ext>
            </a:extLst>
          </p:cNvPr>
          <p:cNvSpPr>
            <a:spLocks noChangeShapeType="1"/>
          </p:cNvSpPr>
          <p:nvPr/>
        </p:nvSpPr>
        <p:spPr bwMode="auto">
          <a:xfrm flipH="1" flipV="1">
            <a:off x="2592388" y="3722689"/>
            <a:ext cx="2660650" cy="1587"/>
          </a:xfrm>
          <a:prstGeom prst="line">
            <a:avLst/>
          </a:prstGeom>
          <a:noFill/>
          <a:ln w="1587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22580" name="Oval 52">
            <a:extLst>
              <a:ext uri="{FF2B5EF4-FFF2-40B4-BE49-F238E27FC236}">
                <a16:creationId xmlns:a16="http://schemas.microsoft.com/office/drawing/2014/main" id="{C46C4BFF-59DD-4284-B6E4-46695D840FF3}"/>
              </a:ext>
            </a:extLst>
          </p:cNvPr>
          <p:cNvSpPr>
            <a:spLocks noChangeArrowheads="1"/>
          </p:cNvSpPr>
          <p:nvPr/>
        </p:nvSpPr>
        <p:spPr bwMode="auto">
          <a:xfrm>
            <a:off x="5216525" y="3671888"/>
            <a:ext cx="107950" cy="106362"/>
          </a:xfrm>
          <a:prstGeom prst="ellipse">
            <a:avLst/>
          </a:prstGeom>
          <a:solidFill>
            <a:srgbClr val="FFCCCC"/>
          </a:solidFill>
          <a:ln w="1905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sp>
        <p:nvSpPr>
          <p:cNvPr id="490522" name="Line 50">
            <a:extLst>
              <a:ext uri="{FF2B5EF4-FFF2-40B4-BE49-F238E27FC236}">
                <a16:creationId xmlns:a16="http://schemas.microsoft.com/office/drawing/2014/main" id="{8C5434B1-5466-4D12-B471-56DAC8747F85}"/>
              </a:ext>
            </a:extLst>
          </p:cNvPr>
          <p:cNvSpPr>
            <a:spLocks noChangeShapeType="1"/>
          </p:cNvSpPr>
          <p:nvPr/>
        </p:nvSpPr>
        <p:spPr bwMode="auto">
          <a:xfrm flipH="1">
            <a:off x="2598739" y="5256213"/>
            <a:ext cx="2670175" cy="6350"/>
          </a:xfrm>
          <a:prstGeom prst="line">
            <a:avLst/>
          </a:prstGeom>
          <a:noFill/>
          <a:ln w="1587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grpSp>
        <p:nvGrpSpPr>
          <p:cNvPr id="490523" name="Group 27">
            <a:extLst>
              <a:ext uri="{FF2B5EF4-FFF2-40B4-BE49-F238E27FC236}">
                <a16:creationId xmlns:a16="http://schemas.microsoft.com/office/drawing/2014/main" id="{07537683-A5C6-471F-9B46-17041E5B3DB5}"/>
              </a:ext>
            </a:extLst>
          </p:cNvPr>
          <p:cNvGrpSpPr>
            <a:grpSpLocks/>
          </p:cNvGrpSpPr>
          <p:nvPr/>
        </p:nvGrpSpPr>
        <p:grpSpPr bwMode="auto">
          <a:xfrm>
            <a:off x="6515101" y="5062538"/>
            <a:ext cx="454025" cy="1447800"/>
            <a:chOff x="3144" y="3189"/>
            <a:chExt cx="286" cy="912"/>
          </a:xfrm>
        </p:grpSpPr>
        <p:sp>
          <p:nvSpPr>
            <p:cNvPr id="490524" name="TextBox 4">
              <a:extLst>
                <a:ext uri="{FF2B5EF4-FFF2-40B4-BE49-F238E27FC236}">
                  <a16:creationId xmlns:a16="http://schemas.microsoft.com/office/drawing/2014/main" id="{86F471A9-D293-4892-B96D-C1619B1A3480}"/>
                </a:ext>
              </a:extLst>
            </p:cNvPr>
            <p:cNvSpPr txBox="1">
              <a:spLocks noChangeArrowheads="1"/>
            </p:cNvSpPr>
            <p:nvPr/>
          </p:nvSpPr>
          <p:spPr bwMode="auto">
            <a:xfrm>
              <a:off x="3144" y="3861"/>
              <a:ext cx="28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16</a:t>
              </a:r>
            </a:p>
          </p:txBody>
        </p:sp>
        <p:sp>
          <p:nvSpPr>
            <p:cNvPr id="490525" name="Line 8">
              <a:extLst>
                <a:ext uri="{FF2B5EF4-FFF2-40B4-BE49-F238E27FC236}">
                  <a16:creationId xmlns:a16="http://schemas.microsoft.com/office/drawing/2014/main" id="{CBDE6AAE-7CC6-4B90-B4CA-74AF67C21ECD}"/>
                </a:ext>
              </a:extLst>
            </p:cNvPr>
            <p:cNvSpPr>
              <a:spLocks noChangeShapeType="1"/>
            </p:cNvSpPr>
            <p:nvPr/>
          </p:nvSpPr>
          <p:spPr bwMode="auto">
            <a:xfrm flipH="1" flipV="1">
              <a:off x="3287" y="3189"/>
              <a:ext cx="6" cy="655"/>
            </a:xfrm>
            <a:prstGeom prst="line">
              <a:avLst/>
            </a:prstGeom>
            <a:noFill/>
            <a:ln w="15875">
              <a:solidFill>
                <a:srgbClr val="4D4D4D"/>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sp>
        <p:nvSpPr>
          <p:cNvPr id="490526" name="Line 50">
            <a:extLst>
              <a:ext uri="{FF2B5EF4-FFF2-40B4-BE49-F238E27FC236}">
                <a16:creationId xmlns:a16="http://schemas.microsoft.com/office/drawing/2014/main" id="{573D1A54-3C10-48E5-A19D-7949E5CF6F29}"/>
              </a:ext>
            </a:extLst>
          </p:cNvPr>
          <p:cNvSpPr>
            <a:spLocks noChangeShapeType="1"/>
          </p:cNvSpPr>
          <p:nvPr/>
        </p:nvSpPr>
        <p:spPr bwMode="auto">
          <a:xfrm flipH="1" flipV="1">
            <a:off x="2582864" y="4614863"/>
            <a:ext cx="2689225" cy="0"/>
          </a:xfrm>
          <a:prstGeom prst="line">
            <a:avLst/>
          </a:prstGeom>
          <a:noFill/>
          <a:ln w="1587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68" name="Oval 67">
            <a:extLst>
              <a:ext uri="{FF2B5EF4-FFF2-40B4-BE49-F238E27FC236}">
                <a16:creationId xmlns:a16="http://schemas.microsoft.com/office/drawing/2014/main" id="{C1EE3C69-8AF0-42D9-9E77-1423FAFAECBF}"/>
              </a:ext>
            </a:extLst>
          </p:cNvPr>
          <p:cNvSpPr>
            <a:spLocks noChangeArrowheads="1"/>
          </p:cNvSpPr>
          <p:nvPr/>
        </p:nvSpPr>
        <p:spPr bwMode="auto">
          <a:xfrm>
            <a:off x="5199063" y="4564063"/>
            <a:ext cx="107950" cy="106362"/>
          </a:xfrm>
          <a:prstGeom prst="ellipse">
            <a:avLst/>
          </a:prstGeom>
          <a:solidFill>
            <a:srgbClr val="CCFFCC"/>
          </a:solidFill>
          <a:ln w="1905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sp>
        <p:nvSpPr>
          <p:cNvPr id="69" name="Oval 68">
            <a:extLst>
              <a:ext uri="{FF2B5EF4-FFF2-40B4-BE49-F238E27FC236}">
                <a16:creationId xmlns:a16="http://schemas.microsoft.com/office/drawing/2014/main" id="{AFC347FF-04EB-48F0-95BD-36269DC48A0D}"/>
              </a:ext>
            </a:extLst>
          </p:cNvPr>
          <p:cNvSpPr>
            <a:spLocks noChangeArrowheads="1"/>
          </p:cNvSpPr>
          <p:nvPr/>
        </p:nvSpPr>
        <p:spPr bwMode="auto">
          <a:xfrm>
            <a:off x="5216525" y="5181601"/>
            <a:ext cx="107950" cy="106363"/>
          </a:xfrm>
          <a:prstGeom prst="ellipse">
            <a:avLst/>
          </a:prstGeom>
          <a:solidFill>
            <a:srgbClr val="CCECFF"/>
          </a:solidFill>
          <a:ln w="1905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sp>
        <p:nvSpPr>
          <p:cNvPr id="490529" name="TextBox 1">
            <a:extLst>
              <a:ext uri="{FF2B5EF4-FFF2-40B4-BE49-F238E27FC236}">
                <a16:creationId xmlns:a16="http://schemas.microsoft.com/office/drawing/2014/main" id="{4622DB40-5418-4634-A6B9-C660030E7F64}"/>
              </a:ext>
            </a:extLst>
          </p:cNvPr>
          <p:cNvSpPr txBox="1">
            <a:spLocks noChangeArrowheads="1"/>
          </p:cNvSpPr>
          <p:nvPr/>
        </p:nvSpPr>
        <p:spPr bwMode="auto">
          <a:xfrm>
            <a:off x="5222875" y="4283075"/>
            <a:ext cx="3190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chemeClr val="hlink"/>
                </a:solidFill>
                <a:latin typeface="Arial" panose="020B0604020202020204" pitchFamily="34" charset="0"/>
              </a:rPr>
              <a:t>b</a:t>
            </a:r>
          </a:p>
        </p:txBody>
      </p:sp>
      <p:sp>
        <p:nvSpPr>
          <p:cNvPr id="490530" name="TextBox 1">
            <a:extLst>
              <a:ext uri="{FF2B5EF4-FFF2-40B4-BE49-F238E27FC236}">
                <a16:creationId xmlns:a16="http://schemas.microsoft.com/office/drawing/2014/main" id="{103D8B6B-BBBB-40DF-9158-2077F60B5ED3}"/>
              </a:ext>
            </a:extLst>
          </p:cNvPr>
          <p:cNvSpPr txBox="1">
            <a:spLocks noChangeArrowheads="1"/>
          </p:cNvSpPr>
          <p:nvPr/>
        </p:nvSpPr>
        <p:spPr bwMode="auto">
          <a:xfrm>
            <a:off x="5011739" y="5148263"/>
            <a:ext cx="3190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chemeClr val="hlink"/>
                </a:solidFill>
                <a:latin typeface="Arial" panose="020B0604020202020204" pitchFamily="34" charset="0"/>
              </a:rPr>
              <a:t>a</a:t>
            </a:r>
          </a:p>
        </p:txBody>
      </p:sp>
      <p:sp>
        <p:nvSpPr>
          <p:cNvPr id="47" name="TextBox 1">
            <a:extLst>
              <a:ext uri="{FF2B5EF4-FFF2-40B4-BE49-F238E27FC236}">
                <a16:creationId xmlns:a16="http://schemas.microsoft.com/office/drawing/2014/main" id="{55499EEF-E0E7-4353-B0FC-C2172086CE90}"/>
              </a:ext>
            </a:extLst>
          </p:cNvPr>
          <p:cNvSpPr txBox="1">
            <a:spLocks noChangeArrowheads="1"/>
          </p:cNvSpPr>
          <p:nvPr/>
        </p:nvSpPr>
        <p:spPr bwMode="auto">
          <a:xfrm>
            <a:off x="2551114" y="4013200"/>
            <a:ext cx="4778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rgbClr val="000073"/>
                </a:solidFill>
                <a:latin typeface="Arial" panose="020B0604020202020204" pitchFamily="34" charset="0"/>
              </a:rPr>
              <a:t>D</a:t>
            </a:r>
            <a:r>
              <a:rPr lang="en-GB" altLang="en-US" sz="1900" baseline="-25000">
                <a:solidFill>
                  <a:srgbClr val="000073"/>
                </a:solidFill>
                <a:latin typeface="Arial" panose="020B0604020202020204" pitchFamily="34" charset="0"/>
              </a:rPr>
              <a:t>D</a:t>
            </a:r>
          </a:p>
        </p:txBody>
      </p:sp>
      <p:sp>
        <p:nvSpPr>
          <p:cNvPr id="490532" name="TextBox 1">
            <a:extLst>
              <a:ext uri="{FF2B5EF4-FFF2-40B4-BE49-F238E27FC236}">
                <a16:creationId xmlns:a16="http://schemas.microsoft.com/office/drawing/2014/main" id="{C52651EF-3DFD-42A7-8E99-536F73D26748}"/>
              </a:ext>
            </a:extLst>
          </p:cNvPr>
          <p:cNvSpPr txBox="1">
            <a:spLocks noChangeArrowheads="1"/>
          </p:cNvSpPr>
          <p:nvPr/>
        </p:nvSpPr>
        <p:spPr bwMode="auto">
          <a:xfrm>
            <a:off x="2541589" y="2771775"/>
            <a:ext cx="4413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rgbClr val="006600"/>
                </a:solidFill>
                <a:latin typeface="Arial" panose="020B0604020202020204" pitchFamily="34" charset="0"/>
              </a:rPr>
              <a:t>D</a:t>
            </a:r>
            <a:r>
              <a:rPr lang="en-GB" altLang="en-US" sz="1900" baseline="-25000">
                <a:solidFill>
                  <a:srgbClr val="006600"/>
                </a:solidFill>
                <a:latin typeface="Arial" panose="020B0604020202020204" pitchFamily="34" charset="0"/>
              </a:rPr>
              <a:t>J</a:t>
            </a:r>
          </a:p>
        </p:txBody>
      </p:sp>
      <p:sp>
        <p:nvSpPr>
          <p:cNvPr id="490533" name="TextBox 1">
            <a:extLst>
              <a:ext uri="{FF2B5EF4-FFF2-40B4-BE49-F238E27FC236}">
                <a16:creationId xmlns:a16="http://schemas.microsoft.com/office/drawing/2014/main" id="{A2B91B77-738B-4A6F-BAA0-075A39FCB69F}"/>
              </a:ext>
            </a:extLst>
          </p:cNvPr>
          <p:cNvSpPr txBox="1">
            <a:spLocks noChangeArrowheads="1"/>
          </p:cNvSpPr>
          <p:nvPr/>
        </p:nvSpPr>
        <p:spPr bwMode="auto">
          <a:xfrm>
            <a:off x="5919366" y="3833813"/>
            <a:ext cx="1367682"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900" i="1" dirty="0">
                <a:solidFill>
                  <a:schemeClr val="accent2"/>
                </a:solidFill>
                <a:latin typeface="Arial" panose="020B0604020202020204" pitchFamily="34" charset="0"/>
              </a:rPr>
              <a:t>MSB</a:t>
            </a:r>
            <a:r>
              <a:rPr lang="en-GB" altLang="en-US" sz="1900" dirty="0">
                <a:solidFill>
                  <a:schemeClr val="accent2"/>
                </a:solidFill>
                <a:latin typeface="Arial" panose="020B0604020202020204" pitchFamily="34" charset="0"/>
              </a:rPr>
              <a:t> =</a:t>
            </a:r>
            <a:r>
              <a:rPr lang="en-US" altLang="en-US" sz="1900" dirty="0">
                <a:solidFill>
                  <a:schemeClr val="accent2"/>
                </a:solidFill>
                <a:latin typeface="Arial" panose="020B0604020202020204" pitchFamily="34" charset="0"/>
              </a:rPr>
              <a:t> </a:t>
            </a:r>
            <a:r>
              <a:rPr lang="en-GB" altLang="en-US" sz="1900" i="1" dirty="0">
                <a:solidFill>
                  <a:schemeClr val="accent2"/>
                </a:solidFill>
                <a:latin typeface="Arial" panose="020B0604020202020204" pitchFamily="34" charset="0"/>
              </a:rPr>
              <a:t>D</a:t>
            </a:r>
            <a:r>
              <a:rPr lang="en-GB" altLang="en-US" sz="1900" baseline="-25000" dirty="0">
                <a:solidFill>
                  <a:schemeClr val="accent2"/>
                </a:solidFill>
                <a:latin typeface="Arial" panose="020B0604020202020204" pitchFamily="34" charset="0"/>
              </a:rPr>
              <a:t>M</a:t>
            </a:r>
            <a:r>
              <a:rPr lang="en-GB" altLang="en-US" sz="1900" dirty="0">
                <a:solidFill>
                  <a:schemeClr val="accent2"/>
                </a:solidFill>
                <a:latin typeface="Arial" panose="020B0604020202020204" pitchFamily="34" charset="0"/>
              </a:rPr>
              <a:t> </a:t>
            </a:r>
            <a:br>
              <a:rPr lang="en-GB" altLang="en-US" sz="1900" dirty="0">
                <a:solidFill>
                  <a:schemeClr val="accent2"/>
                </a:solidFill>
                <a:latin typeface="Arial" panose="020B0604020202020204" pitchFamily="34" charset="0"/>
              </a:rPr>
            </a:br>
            <a:r>
              <a:rPr lang="en-GB" altLang="en-US" sz="1900" dirty="0">
                <a:solidFill>
                  <a:schemeClr val="accent2"/>
                </a:solidFill>
                <a:latin typeface="Arial" panose="020B0604020202020204" pitchFamily="34" charset="0"/>
              </a:rPr>
              <a:t>= </a:t>
            </a:r>
            <a:r>
              <a:rPr lang="en-GB" altLang="en-US" sz="1900" i="1" dirty="0">
                <a:solidFill>
                  <a:schemeClr val="accent2"/>
                </a:solidFill>
                <a:latin typeface="Arial" panose="020B0604020202020204" pitchFamily="34" charset="0"/>
              </a:rPr>
              <a:t>D</a:t>
            </a:r>
            <a:r>
              <a:rPr lang="en-GB" altLang="en-US" sz="1900" baseline="-25000" dirty="0">
                <a:solidFill>
                  <a:schemeClr val="accent2"/>
                </a:solidFill>
                <a:latin typeface="Arial" panose="020B0604020202020204" pitchFamily="34" charset="0"/>
              </a:rPr>
              <a:t>D</a:t>
            </a:r>
            <a:r>
              <a:rPr lang="en-GB" altLang="en-US" sz="1900" dirty="0">
                <a:solidFill>
                  <a:schemeClr val="accent2"/>
                </a:solidFill>
                <a:latin typeface="Arial" panose="020B0604020202020204" pitchFamily="34" charset="0"/>
              </a:rPr>
              <a:t> + </a:t>
            </a:r>
            <a:r>
              <a:rPr lang="en-GB" altLang="en-US" sz="1900" i="1" dirty="0">
                <a:solidFill>
                  <a:schemeClr val="accent2"/>
                </a:solidFill>
                <a:latin typeface="Arial" panose="020B0604020202020204" pitchFamily="34" charset="0"/>
              </a:rPr>
              <a:t>D</a:t>
            </a:r>
            <a:r>
              <a:rPr lang="en-GB" altLang="en-US" sz="1900" baseline="-25000" dirty="0">
                <a:solidFill>
                  <a:schemeClr val="accent2"/>
                </a:solidFill>
                <a:latin typeface="Arial" panose="020B0604020202020204" pitchFamily="34" charset="0"/>
              </a:rPr>
              <a:t>J</a:t>
            </a:r>
          </a:p>
        </p:txBody>
      </p:sp>
      <p:grpSp>
        <p:nvGrpSpPr>
          <p:cNvPr id="490534" name="Group 38">
            <a:extLst>
              <a:ext uri="{FF2B5EF4-FFF2-40B4-BE49-F238E27FC236}">
                <a16:creationId xmlns:a16="http://schemas.microsoft.com/office/drawing/2014/main" id="{6794C066-9F5B-40A0-90BA-19144E5E56C8}"/>
              </a:ext>
            </a:extLst>
          </p:cNvPr>
          <p:cNvGrpSpPr>
            <a:grpSpLocks/>
          </p:cNvGrpSpPr>
          <p:nvPr/>
        </p:nvGrpSpPr>
        <p:grpSpPr bwMode="auto">
          <a:xfrm>
            <a:off x="2127250" y="4852988"/>
            <a:ext cx="4618038" cy="381000"/>
            <a:chOff x="380" y="3057"/>
            <a:chExt cx="2909" cy="240"/>
          </a:xfrm>
        </p:grpSpPr>
        <p:sp>
          <p:nvSpPr>
            <p:cNvPr id="490535" name="Line 50">
              <a:extLst>
                <a:ext uri="{FF2B5EF4-FFF2-40B4-BE49-F238E27FC236}">
                  <a16:creationId xmlns:a16="http://schemas.microsoft.com/office/drawing/2014/main" id="{A7B4BEB7-997E-47F5-AA38-C37722932759}"/>
                </a:ext>
              </a:extLst>
            </p:cNvPr>
            <p:cNvSpPr>
              <a:spLocks noChangeShapeType="1"/>
            </p:cNvSpPr>
            <p:nvPr/>
          </p:nvSpPr>
          <p:spPr bwMode="auto">
            <a:xfrm flipH="1">
              <a:off x="677" y="3194"/>
              <a:ext cx="2612" cy="7"/>
            </a:xfrm>
            <a:prstGeom prst="line">
              <a:avLst/>
            </a:prstGeom>
            <a:noFill/>
            <a:ln w="1587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490536" name="TextBox 3">
              <a:extLst>
                <a:ext uri="{FF2B5EF4-FFF2-40B4-BE49-F238E27FC236}">
                  <a16:creationId xmlns:a16="http://schemas.microsoft.com/office/drawing/2014/main" id="{A0719EB7-A7BF-4C88-8D4F-92E245649A66}"/>
                </a:ext>
              </a:extLst>
            </p:cNvPr>
            <p:cNvSpPr txBox="1">
              <a:spLocks noChangeArrowheads="1"/>
            </p:cNvSpPr>
            <p:nvPr/>
          </p:nvSpPr>
          <p:spPr bwMode="auto">
            <a:xfrm>
              <a:off x="380" y="3057"/>
              <a:ext cx="28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latin typeface="Arial" panose="020B0604020202020204" pitchFamily="34" charset="0"/>
                </a:rPr>
                <a:t>32</a:t>
              </a:r>
            </a:p>
          </p:txBody>
        </p:sp>
      </p:grpSp>
      <p:grpSp>
        <p:nvGrpSpPr>
          <p:cNvPr id="490537" name="Group 41">
            <a:extLst>
              <a:ext uri="{FF2B5EF4-FFF2-40B4-BE49-F238E27FC236}">
                <a16:creationId xmlns:a16="http://schemas.microsoft.com/office/drawing/2014/main" id="{FEF3E9DC-234A-4F3E-9B3E-09148B6FF3D5}"/>
              </a:ext>
            </a:extLst>
          </p:cNvPr>
          <p:cNvGrpSpPr>
            <a:grpSpLocks/>
          </p:cNvGrpSpPr>
          <p:nvPr/>
        </p:nvGrpSpPr>
        <p:grpSpPr bwMode="auto">
          <a:xfrm>
            <a:off x="6686551" y="5175250"/>
            <a:ext cx="384175" cy="381000"/>
            <a:chOff x="3252" y="3260"/>
            <a:chExt cx="242" cy="240"/>
          </a:xfrm>
        </p:grpSpPr>
        <p:sp>
          <p:nvSpPr>
            <p:cNvPr id="490539" name="TextBox 1">
              <a:extLst>
                <a:ext uri="{FF2B5EF4-FFF2-40B4-BE49-F238E27FC236}">
                  <a16:creationId xmlns:a16="http://schemas.microsoft.com/office/drawing/2014/main" id="{74CBAB15-5158-44F2-95E3-E2FE3259959A}"/>
                </a:ext>
              </a:extLst>
            </p:cNvPr>
            <p:cNvSpPr txBox="1">
              <a:spLocks noChangeArrowheads="1"/>
            </p:cNvSpPr>
            <p:nvPr/>
          </p:nvSpPr>
          <p:spPr bwMode="auto">
            <a:xfrm>
              <a:off x="3293" y="3260"/>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dirty="0">
                  <a:solidFill>
                    <a:schemeClr val="hlink"/>
                  </a:solidFill>
                  <a:latin typeface="Arial" panose="020B0604020202020204" pitchFamily="34" charset="0"/>
                </a:rPr>
                <a:t>e</a:t>
              </a:r>
            </a:p>
          </p:txBody>
        </p:sp>
        <p:sp>
          <p:nvSpPr>
            <p:cNvPr id="58" name="Oval 57">
              <a:extLst>
                <a:ext uri="{FF2B5EF4-FFF2-40B4-BE49-F238E27FC236}">
                  <a16:creationId xmlns:a16="http://schemas.microsoft.com/office/drawing/2014/main" id="{F725B5E7-C5C8-4EBC-AE10-68D4146421BC}"/>
                </a:ext>
              </a:extLst>
            </p:cNvPr>
            <p:cNvSpPr>
              <a:spLocks noChangeArrowheads="1"/>
            </p:cNvSpPr>
            <p:nvPr/>
          </p:nvSpPr>
          <p:spPr bwMode="auto">
            <a:xfrm>
              <a:off x="3252" y="3401"/>
              <a:ext cx="68" cy="67"/>
            </a:xfrm>
            <a:prstGeom prst="ellipse">
              <a:avLst/>
            </a:prstGeom>
            <a:solidFill>
              <a:srgbClr val="CCFFCC"/>
            </a:solidFill>
            <a:ln w="1905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grpSp>
      <p:grpSp>
        <p:nvGrpSpPr>
          <p:cNvPr id="490540" name="Group 44">
            <a:extLst>
              <a:ext uri="{FF2B5EF4-FFF2-40B4-BE49-F238E27FC236}">
                <a16:creationId xmlns:a16="http://schemas.microsoft.com/office/drawing/2014/main" id="{75F38573-24B5-4485-A789-6F33DB7800A7}"/>
              </a:ext>
            </a:extLst>
          </p:cNvPr>
          <p:cNvGrpSpPr>
            <a:grpSpLocks/>
          </p:cNvGrpSpPr>
          <p:nvPr/>
        </p:nvGrpSpPr>
        <p:grpSpPr bwMode="auto">
          <a:xfrm>
            <a:off x="6691313" y="5675312"/>
            <a:ext cx="368300" cy="438150"/>
            <a:chOff x="3255" y="3575"/>
            <a:chExt cx="232" cy="276"/>
          </a:xfrm>
        </p:grpSpPr>
        <p:sp>
          <p:nvSpPr>
            <p:cNvPr id="61" name="Oval 60">
              <a:extLst>
                <a:ext uri="{FF2B5EF4-FFF2-40B4-BE49-F238E27FC236}">
                  <a16:creationId xmlns:a16="http://schemas.microsoft.com/office/drawing/2014/main" id="{DC081461-B37C-4BBE-BDBC-22B7055C884C}"/>
                </a:ext>
              </a:extLst>
            </p:cNvPr>
            <p:cNvSpPr>
              <a:spLocks noChangeArrowheads="1"/>
            </p:cNvSpPr>
            <p:nvPr/>
          </p:nvSpPr>
          <p:spPr bwMode="auto">
            <a:xfrm>
              <a:off x="3255" y="3575"/>
              <a:ext cx="68" cy="67"/>
            </a:xfrm>
            <a:prstGeom prst="ellipse">
              <a:avLst/>
            </a:prstGeom>
            <a:solidFill>
              <a:srgbClr val="CCECFF"/>
            </a:solidFill>
            <a:ln w="1905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sp>
          <p:nvSpPr>
            <p:cNvPr id="490542" name="TextBox 1">
              <a:extLst>
                <a:ext uri="{FF2B5EF4-FFF2-40B4-BE49-F238E27FC236}">
                  <a16:creationId xmlns:a16="http://schemas.microsoft.com/office/drawing/2014/main" id="{AADB181E-7B77-480E-A47A-7E28E5BB0365}"/>
                </a:ext>
              </a:extLst>
            </p:cNvPr>
            <p:cNvSpPr txBox="1">
              <a:spLocks noChangeArrowheads="1"/>
            </p:cNvSpPr>
            <p:nvPr/>
          </p:nvSpPr>
          <p:spPr bwMode="auto">
            <a:xfrm>
              <a:off x="3286" y="3611"/>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solidFill>
                    <a:schemeClr val="hlink"/>
                  </a:solidFill>
                  <a:latin typeface="Arial" panose="020B0604020202020204" pitchFamily="34" charset="0"/>
                </a:rPr>
                <a:t>d</a:t>
              </a:r>
            </a:p>
          </p:txBody>
        </p:sp>
      </p:grpSp>
      <p:grpSp>
        <p:nvGrpSpPr>
          <p:cNvPr id="490549" name="Group 53">
            <a:extLst>
              <a:ext uri="{FF2B5EF4-FFF2-40B4-BE49-F238E27FC236}">
                <a16:creationId xmlns:a16="http://schemas.microsoft.com/office/drawing/2014/main" id="{97A4D6E1-F481-4974-B33A-9F76C02569C3}"/>
              </a:ext>
            </a:extLst>
          </p:cNvPr>
          <p:cNvGrpSpPr>
            <a:grpSpLocks/>
          </p:cNvGrpSpPr>
          <p:nvPr/>
        </p:nvGrpSpPr>
        <p:grpSpPr bwMode="auto">
          <a:xfrm>
            <a:off x="2528888" y="998538"/>
            <a:ext cx="355600" cy="5118100"/>
            <a:chOff x="633" y="629"/>
            <a:chExt cx="224" cy="3224"/>
          </a:xfrm>
        </p:grpSpPr>
        <p:sp>
          <p:nvSpPr>
            <p:cNvPr id="490550" name="TextBox 1">
              <a:extLst>
                <a:ext uri="{FF2B5EF4-FFF2-40B4-BE49-F238E27FC236}">
                  <a16:creationId xmlns:a16="http://schemas.microsoft.com/office/drawing/2014/main" id="{D2DA0E21-04E0-4F62-B401-AE3C736DE3A3}"/>
                </a:ext>
              </a:extLst>
            </p:cNvPr>
            <p:cNvSpPr txBox="1">
              <a:spLocks noChangeArrowheads="1"/>
            </p:cNvSpPr>
            <p:nvPr/>
          </p:nvSpPr>
          <p:spPr bwMode="auto">
            <a:xfrm>
              <a:off x="656" y="629"/>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chemeClr val="hlink"/>
                  </a:solidFill>
                  <a:latin typeface="Arial" panose="020B0604020202020204" pitchFamily="34" charset="0"/>
                </a:rPr>
                <a:t>g</a:t>
              </a:r>
            </a:p>
          </p:txBody>
        </p:sp>
        <p:sp>
          <p:nvSpPr>
            <p:cNvPr id="490551" name="TextBox 1">
              <a:extLst>
                <a:ext uri="{FF2B5EF4-FFF2-40B4-BE49-F238E27FC236}">
                  <a16:creationId xmlns:a16="http://schemas.microsoft.com/office/drawing/2014/main" id="{F03FD263-D63D-4CB6-B876-21DD69A735FD}"/>
                </a:ext>
              </a:extLst>
            </p:cNvPr>
            <p:cNvSpPr txBox="1">
              <a:spLocks noChangeArrowheads="1"/>
            </p:cNvSpPr>
            <p:nvPr/>
          </p:nvSpPr>
          <p:spPr bwMode="auto">
            <a:xfrm>
              <a:off x="633" y="3613"/>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i="1">
                  <a:solidFill>
                    <a:schemeClr val="hlink"/>
                  </a:solidFill>
                  <a:latin typeface="Arial" panose="020B0604020202020204" pitchFamily="34" charset="0"/>
                </a:rPr>
                <a:t>h</a:t>
              </a:r>
            </a:p>
          </p:txBody>
        </p:sp>
      </p:grpSp>
      <p:sp>
        <p:nvSpPr>
          <p:cNvPr id="490552" name="Text Box 56">
            <a:extLst>
              <a:ext uri="{FF2B5EF4-FFF2-40B4-BE49-F238E27FC236}">
                <a16:creationId xmlns:a16="http://schemas.microsoft.com/office/drawing/2014/main" id="{0EF0524D-33A5-46E7-9CA0-11F92325F90B}"/>
              </a:ext>
            </a:extLst>
          </p:cNvPr>
          <p:cNvSpPr txBox="1">
            <a:spLocks noChangeArrowheads="1"/>
          </p:cNvSpPr>
          <p:nvPr/>
        </p:nvSpPr>
        <p:spPr bwMode="auto">
          <a:xfrm rot="16200000">
            <a:off x="-327311" y="3253256"/>
            <a:ext cx="4099497" cy="40229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2000">
                <a:latin typeface="Arial" panose="020B0604020202020204" pitchFamily="34" charset="0"/>
              </a:rPr>
              <a:t>Marginal benefit and marginal cost</a:t>
            </a:r>
            <a:endParaRPr lang="en-GB" altLang="en-US" sz="2000" noProof="1">
              <a:latin typeface="Arial" panose="020B0604020202020204" pitchFamily="34" charset="0"/>
            </a:endParaRPr>
          </a:p>
        </p:txBody>
      </p:sp>
      <p:grpSp>
        <p:nvGrpSpPr>
          <p:cNvPr id="490553" name="Group 57">
            <a:extLst>
              <a:ext uri="{FF2B5EF4-FFF2-40B4-BE49-F238E27FC236}">
                <a16:creationId xmlns:a16="http://schemas.microsoft.com/office/drawing/2014/main" id="{688942CB-B1C4-4B90-892D-F19117044DDD}"/>
              </a:ext>
            </a:extLst>
          </p:cNvPr>
          <p:cNvGrpSpPr>
            <a:grpSpLocks/>
          </p:cNvGrpSpPr>
          <p:nvPr/>
        </p:nvGrpSpPr>
        <p:grpSpPr bwMode="auto">
          <a:xfrm>
            <a:off x="6689725" y="4718051"/>
            <a:ext cx="312738" cy="398463"/>
            <a:chOff x="3254" y="2972"/>
            <a:chExt cx="197" cy="251"/>
          </a:xfrm>
        </p:grpSpPr>
        <p:sp>
          <p:nvSpPr>
            <p:cNvPr id="490554" name="TextBox 1">
              <a:extLst>
                <a:ext uri="{FF2B5EF4-FFF2-40B4-BE49-F238E27FC236}">
                  <a16:creationId xmlns:a16="http://schemas.microsoft.com/office/drawing/2014/main" id="{567B5B9E-1BE0-41C3-9800-6EB9EA3D199B}"/>
                </a:ext>
              </a:extLst>
            </p:cNvPr>
            <p:cNvSpPr txBox="1">
              <a:spLocks noChangeArrowheads="1"/>
            </p:cNvSpPr>
            <p:nvPr/>
          </p:nvSpPr>
          <p:spPr bwMode="auto">
            <a:xfrm>
              <a:off x="3293" y="2972"/>
              <a:ext cx="15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900">
                  <a:solidFill>
                    <a:schemeClr val="hlink"/>
                  </a:solidFill>
                  <a:latin typeface="Arial" panose="020B0604020202020204" pitchFamily="34" charset="0"/>
                </a:rPr>
                <a:t>f</a:t>
              </a:r>
            </a:p>
          </p:txBody>
        </p:sp>
        <p:sp>
          <p:nvSpPr>
            <p:cNvPr id="70" name="Oval 69">
              <a:extLst>
                <a:ext uri="{FF2B5EF4-FFF2-40B4-BE49-F238E27FC236}">
                  <a16:creationId xmlns:a16="http://schemas.microsoft.com/office/drawing/2014/main" id="{9BA9A012-A3A2-4DAE-9B72-35F2CCF45664}"/>
                </a:ext>
              </a:extLst>
            </p:cNvPr>
            <p:cNvSpPr>
              <a:spLocks noChangeArrowheads="1"/>
            </p:cNvSpPr>
            <p:nvPr/>
          </p:nvSpPr>
          <p:spPr bwMode="auto">
            <a:xfrm>
              <a:off x="3254" y="3156"/>
              <a:ext cx="68" cy="67"/>
            </a:xfrm>
            <a:prstGeom prst="ellipse">
              <a:avLst/>
            </a:prstGeom>
            <a:solidFill>
              <a:srgbClr val="FFCCCC"/>
            </a:solidFill>
            <a:ln w="19050">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900">
                <a:solidFill>
                  <a:schemeClr val="hlink"/>
                </a:solidFill>
                <a:latin typeface="Arial" panose="020B0604020202020204" pitchFamily="34" charset="0"/>
              </a:endParaRPr>
            </a:p>
          </p:txBody>
        </p:sp>
      </p:grpSp>
      <p:sp>
        <p:nvSpPr>
          <p:cNvPr id="490556" name="Rectangle 49">
            <a:extLst>
              <a:ext uri="{FF2B5EF4-FFF2-40B4-BE49-F238E27FC236}">
                <a16:creationId xmlns:a16="http://schemas.microsoft.com/office/drawing/2014/main" id="{E9D92537-80F9-4534-A4B1-E11CE922126E}"/>
              </a:ext>
            </a:extLst>
          </p:cNvPr>
          <p:cNvSpPr>
            <a:spLocks noChangeArrowheads="1"/>
          </p:cNvSpPr>
          <p:nvPr/>
        </p:nvSpPr>
        <p:spPr bwMode="auto">
          <a:xfrm>
            <a:off x="1" y="1"/>
            <a:ext cx="12191996" cy="839787"/>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lgn="ctr">
              <a:defRPr sz="3800">
                <a:solidFill>
                  <a:srgbClr val="462300"/>
                </a:solidFill>
                <a:latin typeface="Arial" panose="020B0604020202020204" pitchFamily="34" charset="0"/>
              </a:defRPr>
            </a:lvl1pPr>
            <a:lvl2pPr algn="ctr">
              <a:defRPr sz="3800">
                <a:solidFill>
                  <a:srgbClr val="462300"/>
                </a:solidFill>
                <a:latin typeface="Arial" panose="020B0604020202020204" pitchFamily="34" charset="0"/>
              </a:defRPr>
            </a:lvl2pPr>
            <a:lvl3pPr algn="ctr">
              <a:defRPr sz="3800">
                <a:solidFill>
                  <a:srgbClr val="462300"/>
                </a:solidFill>
                <a:latin typeface="Arial" panose="020B0604020202020204" pitchFamily="34" charset="0"/>
              </a:defRPr>
            </a:lvl3pPr>
            <a:lvl4pPr algn="ctr">
              <a:defRPr sz="3800">
                <a:solidFill>
                  <a:srgbClr val="462300"/>
                </a:solidFill>
                <a:latin typeface="Arial" panose="020B0604020202020204" pitchFamily="34" charset="0"/>
              </a:defRPr>
            </a:lvl4pPr>
            <a:lvl5pPr algn="ctr">
              <a:defRPr sz="3800">
                <a:solidFill>
                  <a:srgbClr val="462300"/>
                </a:solidFill>
                <a:latin typeface="Arial" panose="020B0604020202020204" pitchFamily="34" charset="0"/>
              </a:defRPr>
            </a:lvl5pPr>
            <a:lvl6pPr marL="457200" algn="ctr" eaLnBrk="0" fontAlgn="base" hangingPunct="0">
              <a:spcBef>
                <a:spcPct val="0"/>
              </a:spcBef>
              <a:spcAft>
                <a:spcPct val="0"/>
              </a:spcAft>
              <a:defRPr sz="3800">
                <a:solidFill>
                  <a:srgbClr val="462300"/>
                </a:solidFill>
                <a:latin typeface="Arial" panose="020B0604020202020204" pitchFamily="34" charset="0"/>
              </a:defRPr>
            </a:lvl6pPr>
            <a:lvl7pPr marL="914400" algn="ctr" eaLnBrk="0" fontAlgn="base" hangingPunct="0">
              <a:spcBef>
                <a:spcPct val="0"/>
              </a:spcBef>
              <a:spcAft>
                <a:spcPct val="0"/>
              </a:spcAft>
              <a:defRPr sz="3800">
                <a:solidFill>
                  <a:srgbClr val="462300"/>
                </a:solidFill>
                <a:latin typeface="Arial" panose="020B0604020202020204" pitchFamily="34" charset="0"/>
              </a:defRPr>
            </a:lvl7pPr>
            <a:lvl8pPr marL="1371600" algn="ctr" eaLnBrk="0" fontAlgn="base" hangingPunct="0">
              <a:spcBef>
                <a:spcPct val="0"/>
              </a:spcBef>
              <a:spcAft>
                <a:spcPct val="0"/>
              </a:spcAft>
              <a:defRPr sz="3800">
                <a:solidFill>
                  <a:srgbClr val="462300"/>
                </a:solidFill>
                <a:latin typeface="Arial" panose="020B0604020202020204" pitchFamily="34" charset="0"/>
              </a:defRPr>
            </a:lvl8pPr>
            <a:lvl9pPr marL="1828800" algn="ctr" eaLnBrk="0" fontAlgn="base" hangingPunct="0">
              <a:spcBef>
                <a:spcPct val="0"/>
              </a:spcBef>
              <a:spcAft>
                <a:spcPct val="0"/>
              </a:spcAft>
              <a:defRPr sz="3800">
                <a:solidFill>
                  <a:srgbClr val="462300"/>
                </a:solidFill>
                <a:latin typeface="Arial" panose="020B0604020202020204" pitchFamily="34" charset="0"/>
              </a:defRPr>
            </a:lvl9pPr>
          </a:lstStyle>
          <a:p>
            <a:r>
              <a:rPr lang="en-GB" altLang="en-US" sz="2800" b="1">
                <a:solidFill>
                  <a:srgbClr val="006666"/>
                </a:solidFill>
              </a:rPr>
              <a:t>The efficient output of a pure public good</a:t>
            </a:r>
          </a:p>
        </p:txBody>
      </p:sp>
      <p:sp>
        <p:nvSpPr>
          <p:cNvPr id="2" name="TextBox 1">
            <a:extLst>
              <a:ext uri="{FF2B5EF4-FFF2-40B4-BE49-F238E27FC236}">
                <a16:creationId xmlns:a16="http://schemas.microsoft.com/office/drawing/2014/main" id="{65F68B1D-AF65-1992-B6BA-517FBA823F8D}"/>
              </a:ext>
            </a:extLst>
          </p:cNvPr>
          <p:cNvSpPr txBox="1"/>
          <p:nvPr/>
        </p:nvSpPr>
        <p:spPr>
          <a:xfrm>
            <a:off x="5838715" y="768291"/>
            <a:ext cx="3444949" cy="369332"/>
          </a:xfrm>
          <a:prstGeom prst="rect">
            <a:avLst/>
          </a:prstGeom>
          <a:noFill/>
        </p:spPr>
        <p:txBody>
          <a:bodyPr wrap="square" rtlCol="0">
            <a:spAutoFit/>
          </a:bodyPr>
          <a:lstStyle/>
          <a:p>
            <a:endParaRPr lang="en-GB" sz="1800" dirty="0"/>
          </a:p>
        </p:txBody>
      </p:sp>
      <p:sp>
        <p:nvSpPr>
          <p:cNvPr id="3" name="TextBox 2">
            <a:extLst>
              <a:ext uri="{FF2B5EF4-FFF2-40B4-BE49-F238E27FC236}">
                <a16:creationId xmlns:a16="http://schemas.microsoft.com/office/drawing/2014/main" id="{DA7818F6-A19B-7F5D-DEEF-7F449C3BA994}"/>
              </a:ext>
            </a:extLst>
          </p:cNvPr>
          <p:cNvSpPr txBox="1"/>
          <p:nvPr/>
        </p:nvSpPr>
        <p:spPr>
          <a:xfrm>
            <a:off x="6374219" y="944492"/>
            <a:ext cx="5401339" cy="2585323"/>
          </a:xfrm>
          <a:prstGeom prst="rect">
            <a:avLst/>
          </a:prstGeom>
          <a:solidFill>
            <a:schemeClr val="bg1"/>
          </a:solidFill>
          <a:ln>
            <a:solidFill>
              <a:schemeClr val="tx1"/>
            </a:solidFill>
          </a:ln>
        </p:spPr>
        <p:txBody>
          <a:bodyPr wrap="square" rtlCol="0">
            <a:spAutoFit/>
          </a:bodyPr>
          <a:lstStyle/>
          <a:p>
            <a:r>
              <a:rPr lang="en-GB" sz="1800" dirty="0">
                <a:latin typeface="Calibri" panose="020F0502020204030204" pitchFamily="34" charset="0"/>
                <a:ea typeface="Calibri" panose="020F0502020204030204" pitchFamily="34" charset="0"/>
                <a:cs typeface="Calibri" panose="020F0502020204030204" pitchFamily="34" charset="0"/>
              </a:rPr>
              <a:t>Producing a public good normally would have the same characteristics as producing a private good. Costs would vary with output in a similar manner.</a:t>
            </a:r>
          </a:p>
          <a:p>
            <a:endParaRPr lang="en-GB" sz="1800" dirty="0">
              <a:latin typeface="Calibri" panose="020F0502020204030204" pitchFamily="34" charset="0"/>
              <a:ea typeface="Calibri" panose="020F0502020204030204" pitchFamily="34" charset="0"/>
              <a:cs typeface="Calibri" panose="020F0502020204030204" pitchFamily="34" charset="0"/>
            </a:endParaRPr>
          </a:p>
          <a:p>
            <a:r>
              <a:rPr lang="en-GB" sz="1800" dirty="0">
                <a:latin typeface="Calibri" panose="020F0502020204030204" pitchFamily="34" charset="0"/>
                <a:ea typeface="Calibri" panose="020F0502020204030204" pitchFamily="34" charset="0"/>
                <a:cs typeface="Calibri" panose="020F0502020204030204" pitchFamily="34" charset="0"/>
              </a:rPr>
              <a:t>The MC for the market would be derived by adding together quantities that each firm would want to supply at each price (same as for a private good).</a:t>
            </a:r>
          </a:p>
          <a:p>
            <a:r>
              <a:rPr lang="en-GB" sz="1800" dirty="0">
                <a:latin typeface="Calibri" panose="020F0502020204030204" pitchFamily="34" charset="0"/>
                <a:ea typeface="Calibri" panose="020F0502020204030204" pitchFamily="34" charset="0"/>
                <a:cs typeface="Calibri" panose="020F0502020204030204" pitchFamily="34" charset="0"/>
              </a:rPr>
              <a:t>The horizontal summation of all individual firms’ MC curves – hence, it is drawn as an upward-sloping line.</a:t>
            </a:r>
          </a:p>
        </p:txBody>
      </p:sp>
      <p:sp>
        <p:nvSpPr>
          <p:cNvPr id="4" name="TextBox 3">
            <a:extLst>
              <a:ext uri="{FF2B5EF4-FFF2-40B4-BE49-F238E27FC236}">
                <a16:creationId xmlns:a16="http://schemas.microsoft.com/office/drawing/2014/main" id="{FF27641F-A933-E318-DEF2-844ED64F2C2E}"/>
              </a:ext>
            </a:extLst>
          </p:cNvPr>
          <p:cNvSpPr txBox="1"/>
          <p:nvPr/>
        </p:nvSpPr>
        <p:spPr>
          <a:xfrm>
            <a:off x="8713380" y="5109646"/>
            <a:ext cx="2823868" cy="923330"/>
          </a:xfrm>
          <a:prstGeom prst="rect">
            <a:avLst/>
          </a:prstGeom>
          <a:solidFill>
            <a:schemeClr val="bg1"/>
          </a:solidFill>
          <a:ln>
            <a:solidFill>
              <a:schemeClr val="tx1"/>
            </a:solidFill>
          </a:ln>
        </p:spPr>
        <p:txBody>
          <a:bodyPr wrap="square" rtlCol="0">
            <a:spAutoFit/>
          </a:bodyPr>
          <a:lstStyle/>
          <a:p>
            <a:r>
              <a:rPr lang="en-GB" sz="1800" dirty="0">
                <a:latin typeface="Calibri" panose="020F0502020204030204" pitchFamily="34" charset="0"/>
                <a:ea typeface="Calibri" panose="020F0502020204030204" pitchFamily="34" charset="0"/>
                <a:cs typeface="Calibri" panose="020F0502020204030204" pitchFamily="34" charset="0"/>
              </a:rPr>
              <a:t>The socially efficient quantity can be found where MC = MSB (point ‘f’)</a:t>
            </a:r>
          </a:p>
        </p:txBody>
      </p:sp>
    </p:spTree>
    <p:extLst>
      <p:ext uri="{BB962C8B-B14F-4D97-AF65-F5344CB8AC3E}">
        <p14:creationId xmlns:p14="http://schemas.microsoft.com/office/powerpoint/2010/main" val="1480439207"/>
      </p:ext>
    </p:extLst>
  </p:cSld>
  <p:clrMapOvr>
    <a:masterClrMapping/>
  </p:clrMapOvr>
  <mc:AlternateContent xmlns:mc="http://schemas.openxmlformats.org/markup-compatibility/2006" xmlns:p14="http://schemas.microsoft.com/office/powerpoint/2010/main">
    <mc:Choice Requires="p14">
      <p:transition spd="slow" p14:dur="2000">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90523"/>
                                        </p:tgtEl>
                                        <p:attrNameLst>
                                          <p:attrName>style.visibility</p:attrName>
                                        </p:attrNameLst>
                                      </p:cBhvr>
                                      <p:to>
                                        <p:strVal val="visible"/>
                                      </p:to>
                                    </p:set>
                                    <p:animEffect transition="in" filter="wipe(down)">
                                      <p:cBhvr>
                                        <p:cTn id="7" dur="500"/>
                                        <p:tgtEl>
                                          <p:spTgt spid="4905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nodeType="clickEffect">
                                  <p:stCondLst>
                                    <p:cond delay="0"/>
                                  </p:stCondLst>
                                  <p:childTnLst>
                                    <p:set>
                                      <p:cBhvr>
                                        <p:cTn id="11" dur="1" fill="hold">
                                          <p:stCondLst>
                                            <p:cond delay="0"/>
                                          </p:stCondLst>
                                        </p:cTn>
                                        <p:tgtEl>
                                          <p:spTgt spid="490540"/>
                                        </p:tgtEl>
                                        <p:attrNameLst>
                                          <p:attrName>style.visibility</p:attrName>
                                        </p:attrNameLst>
                                      </p:cBhvr>
                                      <p:to>
                                        <p:strVal val="visible"/>
                                      </p:to>
                                    </p:set>
                                    <p:anim calcmode="lin" valueType="num">
                                      <p:cBhvr>
                                        <p:cTn id="12" dur="1000" fill="hold"/>
                                        <p:tgtEl>
                                          <p:spTgt spid="490540"/>
                                        </p:tgtEl>
                                        <p:attrNameLst>
                                          <p:attrName>ppt_w</p:attrName>
                                        </p:attrNameLst>
                                      </p:cBhvr>
                                      <p:tavLst>
                                        <p:tav tm="0">
                                          <p:val>
                                            <p:fltVal val="0"/>
                                          </p:val>
                                        </p:tav>
                                        <p:tav tm="100000">
                                          <p:val>
                                            <p:strVal val="#ppt_w"/>
                                          </p:val>
                                        </p:tav>
                                      </p:tavLst>
                                    </p:anim>
                                    <p:anim calcmode="lin" valueType="num">
                                      <p:cBhvr>
                                        <p:cTn id="13" dur="1000" fill="hold"/>
                                        <p:tgtEl>
                                          <p:spTgt spid="490540"/>
                                        </p:tgtEl>
                                        <p:attrNameLst>
                                          <p:attrName>ppt_h</p:attrName>
                                        </p:attrNameLst>
                                      </p:cBhvr>
                                      <p:tavLst>
                                        <p:tav tm="0">
                                          <p:val>
                                            <p:fltVal val="0"/>
                                          </p:val>
                                        </p:tav>
                                        <p:tav tm="100000">
                                          <p:val>
                                            <p:strVal val="#ppt_h"/>
                                          </p:val>
                                        </p:tav>
                                      </p:tavLst>
                                    </p:anim>
                                    <p:anim calcmode="lin" valueType="num">
                                      <p:cBhvr>
                                        <p:cTn id="14" dur="1000" fill="hold"/>
                                        <p:tgtEl>
                                          <p:spTgt spid="490540"/>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49054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2" fill="hold" nodeType="clickEffect">
                                  <p:stCondLst>
                                    <p:cond delay="0"/>
                                  </p:stCondLst>
                                  <p:childTnLst>
                                    <p:set>
                                      <p:cBhvr>
                                        <p:cTn id="19" dur="1" fill="hold">
                                          <p:stCondLst>
                                            <p:cond delay="0"/>
                                          </p:stCondLst>
                                        </p:cTn>
                                        <p:tgtEl>
                                          <p:spTgt spid="490546"/>
                                        </p:tgtEl>
                                        <p:attrNameLst>
                                          <p:attrName>style.visibility</p:attrName>
                                        </p:attrNameLst>
                                      </p:cBhvr>
                                      <p:to>
                                        <p:strVal val="visible"/>
                                      </p:to>
                                    </p:set>
                                    <p:animEffect transition="in" filter="wipe(right)">
                                      <p:cBhvr>
                                        <p:cTn id="20" dur="500"/>
                                        <p:tgtEl>
                                          <p:spTgt spid="49054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5" presetClass="entr" presetSubtype="0" fill="hold" nodeType="clickEffect">
                                  <p:stCondLst>
                                    <p:cond delay="0"/>
                                  </p:stCondLst>
                                  <p:childTnLst>
                                    <p:set>
                                      <p:cBhvr>
                                        <p:cTn id="24" dur="1" fill="hold">
                                          <p:stCondLst>
                                            <p:cond delay="0"/>
                                          </p:stCondLst>
                                        </p:cTn>
                                        <p:tgtEl>
                                          <p:spTgt spid="490537"/>
                                        </p:tgtEl>
                                        <p:attrNameLst>
                                          <p:attrName>style.visibility</p:attrName>
                                        </p:attrNameLst>
                                      </p:cBhvr>
                                      <p:to>
                                        <p:strVal val="visible"/>
                                      </p:to>
                                    </p:set>
                                    <p:anim calcmode="lin" valueType="num">
                                      <p:cBhvr>
                                        <p:cTn id="25" dur="1000" fill="hold"/>
                                        <p:tgtEl>
                                          <p:spTgt spid="490537"/>
                                        </p:tgtEl>
                                        <p:attrNameLst>
                                          <p:attrName>ppt_w</p:attrName>
                                        </p:attrNameLst>
                                      </p:cBhvr>
                                      <p:tavLst>
                                        <p:tav tm="0">
                                          <p:val>
                                            <p:fltVal val="0"/>
                                          </p:val>
                                        </p:tav>
                                        <p:tav tm="100000">
                                          <p:val>
                                            <p:strVal val="#ppt_w"/>
                                          </p:val>
                                        </p:tav>
                                      </p:tavLst>
                                    </p:anim>
                                    <p:anim calcmode="lin" valueType="num">
                                      <p:cBhvr>
                                        <p:cTn id="26" dur="1000" fill="hold"/>
                                        <p:tgtEl>
                                          <p:spTgt spid="490537"/>
                                        </p:tgtEl>
                                        <p:attrNameLst>
                                          <p:attrName>ppt_h</p:attrName>
                                        </p:attrNameLst>
                                      </p:cBhvr>
                                      <p:tavLst>
                                        <p:tav tm="0">
                                          <p:val>
                                            <p:fltVal val="0"/>
                                          </p:val>
                                        </p:tav>
                                        <p:tav tm="100000">
                                          <p:val>
                                            <p:strVal val="#ppt_h"/>
                                          </p:val>
                                        </p:tav>
                                      </p:tavLst>
                                    </p:anim>
                                    <p:anim calcmode="lin" valueType="num">
                                      <p:cBhvr>
                                        <p:cTn id="27" dur="1000" fill="hold"/>
                                        <p:tgtEl>
                                          <p:spTgt spid="490537"/>
                                        </p:tgtEl>
                                        <p:attrNameLst>
                                          <p:attrName>ppt_x</p:attrName>
                                        </p:attrNameLst>
                                      </p:cBhvr>
                                      <p:tavLst>
                                        <p:tav tm="0" fmla="#ppt_x+(cos(-2*pi*(1-$))*-#ppt_x-sin(-2*pi*(1-$))*(1-#ppt_y))*(1-$)">
                                          <p:val>
                                            <p:fltVal val="0"/>
                                          </p:val>
                                        </p:tav>
                                        <p:tav tm="100000">
                                          <p:val>
                                            <p:fltVal val="1"/>
                                          </p:val>
                                        </p:tav>
                                      </p:tavLst>
                                    </p:anim>
                                    <p:anim calcmode="lin" valueType="num">
                                      <p:cBhvr>
                                        <p:cTn id="28" dur="1000" fill="hold"/>
                                        <p:tgtEl>
                                          <p:spTgt spid="49053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2" fill="hold" nodeType="clickEffect">
                                  <p:stCondLst>
                                    <p:cond delay="0"/>
                                  </p:stCondLst>
                                  <p:childTnLst>
                                    <p:set>
                                      <p:cBhvr>
                                        <p:cTn id="32" dur="1" fill="hold">
                                          <p:stCondLst>
                                            <p:cond delay="0"/>
                                          </p:stCondLst>
                                        </p:cTn>
                                        <p:tgtEl>
                                          <p:spTgt spid="490543"/>
                                        </p:tgtEl>
                                        <p:attrNameLst>
                                          <p:attrName>style.visibility</p:attrName>
                                        </p:attrNameLst>
                                      </p:cBhvr>
                                      <p:to>
                                        <p:strVal val="visible"/>
                                      </p:to>
                                    </p:set>
                                    <p:animEffect transition="in" filter="wipe(right)">
                                      <p:cBhvr>
                                        <p:cTn id="33" dur="500"/>
                                        <p:tgtEl>
                                          <p:spTgt spid="49054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5" presetClass="entr" presetSubtype="0" fill="hold" nodeType="clickEffect">
                                  <p:stCondLst>
                                    <p:cond delay="0"/>
                                  </p:stCondLst>
                                  <p:childTnLst>
                                    <p:set>
                                      <p:cBhvr>
                                        <p:cTn id="37" dur="1" fill="hold">
                                          <p:stCondLst>
                                            <p:cond delay="0"/>
                                          </p:stCondLst>
                                        </p:cTn>
                                        <p:tgtEl>
                                          <p:spTgt spid="490553"/>
                                        </p:tgtEl>
                                        <p:attrNameLst>
                                          <p:attrName>style.visibility</p:attrName>
                                        </p:attrNameLst>
                                      </p:cBhvr>
                                      <p:to>
                                        <p:strVal val="visible"/>
                                      </p:to>
                                    </p:set>
                                    <p:anim calcmode="lin" valueType="num">
                                      <p:cBhvr>
                                        <p:cTn id="38" dur="1000" fill="hold"/>
                                        <p:tgtEl>
                                          <p:spTgt spid="490553"/>
                                        </p:tgtEl>
                                        <p:attrNameLst>
                                          <p:attrName>ppt_w</p:attrName>
                                        </p:attrNameLst>
                                      </p:cBhvr>
                                      <p:tavLst>
                                        <p:tav tm="0">
                                          <p:val>
                                            <p:fltVal val="0"/>
                                          </p:val>
                                        </p:tav>
                                        <p:tav tm="100000">
                                          <p:val>
                                            <p:strVal val="#ppt_w"/>
                                          </p:val>
                                        </p:tav>
                                      </p:tavLst>
                                    </p:anim>
                                    <p:anim calcmode="lin" valueType="num">
                                      <p:cBhvr>
                                        <p:cTn id="39" dur="1000" fill="hold"/>
                                        <p:tgtEl>
                                          <p:spTgt spid="490553"/>
                                        </p:tgtEl>
                                        <p:attrNameLst>
                                          <p:attrName>ppt_h</p:attrName>
                                        </p:attrNameLst>
                                      </p:cBhvr>
                                      <p:tavLst>
                                        <p:tav tm="0">
                                          <p:val>
                                            <p:fltVal val="0"/>
                                          </p:val>
                                        </p:tav>
                                        <p:tav tm="100000">
                                          <p:val>
                                            <p:strVal val="#ppt_h"/>
                                          </p:val>
                                        </p:tav>
                                      </p:tavLst>
                                    </p:anim>
                                    <p:anim calcmode="lin" valueType="num">
                                      <p:cBhvr>
                                        <p:cTn id="40" dur="1000" fill="hold"/>
                                        <p:tgtEl>
                                          <p:spTgt spid="490553"/>
                                        </p:tgtEl>
                                        <p:attrNameLst>
                                          <p:attrName>ppt_x</p:attrName>
                                        </p:attrNameLst>
                                      </p:cBhvr>
                                      <p:tavLst>
                                        <p:tav tm="0" fmla="#ppt_x+(cos(-2*pi*(1-$))*-#ppt_x-sin(-2*pi*(1-$))*(1-#ppt_y))*(1-$)">
                                          <p:val>
                                            <p:fltVal val="0"/>
                                          </p:val>
                                        </p:tav>
                                        <p:tav tm="100000">
                                          <p:val>
                                            <p:fltVal val="1"/>
                                          </p:val>
                                        </p:tav>
                                      </p:tavLst>
                                    </p:anim>
                                    <p:anim calcmode="lin" valueType="num">
                                      <p:cBhvr>
                                        <p:cTn id="41" dur="1000" fill="hold"/>
                                        <p:tgtEl>
                                          <p:spTgt spid="49055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2" fill="hold" nodeType="clickEffect">
                                  <p:stCondLst>
                                    <p:cond delay="0"/>
                                  </p:stCondLst>
                                  <p:childTnLst>
                                    <p:set>
                                      <p:cBhvr>
                                        <p:cTn id="45" dur="1" fill="hold">
                                          <p:stCondLst>
                                            <p:cond delay="0"/>
                                          </p:stCondLst>
                                        </p:cTn>
                                        <p:tgtEl>
                                          <p:spTgt spid="490534"/>
                                        </p:tgtEl>
                                        <p:attrNameLst>
                                          <p:attrName>style.visibility</p:attrName>
                                        </p:attrNameLst>
                                      </p:cBhvr>
                                      <p:to>
                                        <p:strVal val="visible"/>
                                      </p:to>
                                    </p:set>
                                    <p:animEffect transition="in" filter="wipe(right)">
                                      <p:cBhvr>
                                        <p:cTn id="46" dur="500"/>
                                        <p:tgtEl>
                                          <p:spTgt spid="49053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490549"/>
                                        </p:tgtEl>
                                        <p:attrNameLst>
                                          <p:attrName>style.visibility</p:attrName>
                                        </p:attrNameLst>
                                      </p:cBhvr>
                                      <p:to>
                                        <p:strVal val="visible"/>
                                      </p:to>
                                    </p:set>
                                    <p:animEffect transition="in" filter="dissolve">
                                      <p:cBhvr>
                                        <p:cTn id="51" dur="500"/>
                                        <p:tgtEl>
                                          <p:spTgt spid="49054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490499"/>
                                        </p:tgtEl>
                                        <p:attrNameLst>
                                          <p:attrName>style.visibility</p:attrName>
                                        </p:attrNameLst>
                                      </p:cBhvr>
                                      <p:to>
                                        <p:strVal val="visible"/>
                                      </p:to>
                                    </p:set>
                                    <p:animEffect transition="in" filter="dissolve">
                                      <p:cBhvr>
                                        <p:cTn id="56" dur="500"/>
                                        <p:tgtEl>
                                          <p:spTgt spid="490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92422C0D-2C9E-480F-8F1B-92A91E311E51}"/>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355" name="Rectangle 3">
            <a:extLst>
              <a:ext uri="{FF2B5EF4-FFF2-40B4-BE49-F238E27FC236}">
                <a16:creationId xmlns:a16="http://schemas.microsoft.com/office/drawing/2014/main" id="{C9BBF3E8-81A3-4AC2-89D6-A64D36DFB4EF}"/>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356" name="Rectangle 4">
            <a:extLst>
              <a:ext uri="{FF2B5EF4-FFF2-40B4-BE49-F238E27FC236}">
                <a16:creationId xmlns:a16="http://schemas.microsoft.com/office/drawing/2014/main" id="{969C14FC-6FB4-4E07-9F26-0F6311E9DB21}"/>
              </a:ext>
            </a:extLst>
          </p:cNvPr>
          <p:cNvSpPr>
            <a:spLocks noGrp="1"/>
          </p:cNvSpPr>
          <p:nvPr>
            <p:ph type="title"/>
          </p:nvPr>
        </p:nvSpPr>
        <p:spPr/>
        <p:txBody>
          <a:bodyPr/>
          <a:lstStyle/>
          <a:p>
            <a:r>
              <a:rPr lang="en-GB" altLang="en-US" sz="3200" dirty="0"/>
              <a:t>Free-rider problem</a:t>
            </a:r>
          </a:p>
        </p:txBody>
      </p:sp>
      <p:sp>
        <p:nvSpPr>
          <p:cNvPr id="484357" name="Rectangle 5">
            <a:extLst>
              <a:ext uri="{FF2B5EF4-FFF2-40B4-BE49-F238E27FC236}">
                <a16:creationId xmlns:a16="http://schemas.microsoft.com/office/drawing/2014/main" id="{8F781048-73F7-4BEC-9752-CED12F9BE949}"/>
              </a:ext>
            </a:extLst>
          </p:cNvPr>
          <p:cNvSpPr>
            <a:spLocks noGrp="1"/>
          </p:cNvSpPr>
          <p:nvPr>
            <p:ph idx="1"/>
          </p:nvPr>
        </p:nvSpPr>
        <p:spPr>
          <a:xfrm>
            <a:off x="249865" y="1412360"/>
            <a:ext cx="11531502" cy="4972491"/>
          </a:xfrm>
        </p:spPr>
        <p:txBody>
          <a:bodyPr/>
          <a:lstStyle/>
          <a:p>
            <a:pPr marL="457200" lvl="1" indent="0">
              <a:lnSpc>
                <a:spcPct val="100000"/>
              </a:lnSpc>
              <a:spcBef>
                <a:spcPts val="600"/>
              </a:spcBef>
              <a:buNone/>
            </a:pPr>
            <a:r>
              <a:rPr lang="en-GB" altLang="en-US" sz="2000" dirty="0">
                <a:latin typeface="Calibri" panose="020F0502020204030204" pitchFamily="34" charset="0"/>
                <a:ea typeface="Calibri" panose="020F0502020204030204" pitchFamily="34" charset="0"/>
                <a:cs typeface="Calibri" panose="020F0502020204030204" pitchFamily="34" charset="0"/>
              </a:rPr>
              <a:t>Assume a private firm produced 16 units of the good and charged Jon a price of £20 per unit and Dean £12 per unit. These prices would equal their maximum WTP for 16 units.</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If Jon acts in a perfectly rational and selfish manner, we predict that he will not pay for the good</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Why? Because once the 16 units are produced, he can consume them whether he has paid for them or not.</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He acts as a </a:t>
            </a:r>
            <a:r>
              <a:rPr lang="en-GB" altLang="en-US" sz="2000" b="1" i="1" dirty="0">
                <a:latin typeface="Calibri" panose="020F0502020204030204" pitchFamily="34" charset="0"/>
                <a:ea typeface="Calibri" panose="020F0502020204030204" pitchFamily="34" charset="0"/>
                <a:cs typeface="Calibri" panose="020F0502020204030204" pitchFamily="34" charset="0"/>
              </a:rPr>
              <a:t>free-rider</a:t>
            </a:r>
            <a:r>
              <a:rPr lang="en-GB" altLang="en-US" sz="2000" dirty="0">
                <a:latin typeface="Calibri" panose="020F0502020204030204" pitchFamily="34" charset="0"/>
                <a:ea typeface="Calibri" panose="020F0502020204030204" pitchFamily="34" charset="0"/>
                <a:cs typeface="Calibri" panose="020F0502020204030204" pitchFamily="34" charset="0"/>
              </a:rPr>
              <a:t> by enjoying the benefits of a good that have been paid for by Dean.</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However, if Dean thinks the same way, he will not pay either. </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firm will not generate any revenue and quickly go out of business – both Dean and Jon are worse off</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Because, of the free-riding problem, firms cannot produce goods and make a profit in a private market. If they charge a price they are, in effect, asking for a voluntary contribution</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If no voluntary contributions are forthcoming, then the good will not be provided.</a:t>
            </a:r>
          </a:p>
          <a:p>
            <a:pPr marL="457200" lvl="1" indent="0">
              <a:lnSpc>
                <a:spcPct val="100000"/>
              </a:lnSpc>
              <a:spcBef>
                <a:spcPts val="600"/>
              </a:spcBef>
              <a:buNone/>
            </a:pPr>
            <a:r>
              <a:rPr lang="en-GB" altLang="en-US" sz="2000" dirty="0">
                <a:latin typeface="Calibri" panose="020F0502020204030204" pitchFamily="34" charset="0"/>
                <a:ea typeface="Calibri" panose="020F0502020204030204" pitchFamily="34" charset="0"/>
                <a:cs typeface="Calibri" panose="020F0502020204030204" pitchFamily="34" charset="0"/>
              </a:rPr>
              <a:t>Could group work at university lead to free-riding?</a:t>
            </a:r>
          </a:p>
          <a:p>
            <a:pPr lvl="1">
              <a:lnSpc>
                <a:spcPct val="100000"/>
              </a:lnSpc>
              <a:spcBef>
                <a:spcPts val="1200"/>
              </a:spcBef>
            </a:pPr>
            <a:endParaRPr lang="en-GB" altLang="en-US" sz="1900" dirty="0"/>
          </a:p>
        </p:txBody>
      </p:sp>
    </p:spTree>
    <p:extLst>
      <p:ext uri="{BB962C8B-B14F-4D97-AF65-F5344CB8AC3E}">
        <p14:creationId xmlns:p14="http://schemas.microsoft.com/office/powerpoint/2010/main" val="187296430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84357">
                                            <p:txEl>
                                              <p:pRg st="0" end="0"/>
                                            </p:txEl>
                                          </p:spTgt>
                                        </p:tgtEl>
                                        <p:attrNameLst>
                                          <p:attrName>style.visibility</p:attrName>
                                        </p:attrNameLst>
                                      </p:cBhvr>
                                      <p:to>
                                        <p:strVal val="visible"/>
                                      </p:to>
                                    </p:set>
                                    <p:anim calcmode="lin" valueType="num">
                                      <p:cBhvr additive="base">
                                        <p:cTn id="7" dur="500"/>
                                        <p:tgtEl>
                                          <p:spTgt spid="48435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8435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484357">
                                            <p:txEl>
                                              <p:pRg st="1" end="1"/>
                                            </p:txEl>
                                          </p:spTgt>
                                        </p:tgtEl>
                                        <p:attrNameLst>
                                          <p:attrName>style.visibility</p:attrName>
                                        </p:attrNameLst>
                                      </p:cBhvr>
                                      <p:to>
                                        <p:strVal val="visible"/>
                                      </p:to>
                                    </p:set>
                                    <p:anim calcmode="lin" valueType="num">
                                      <p:cBhvr additive="base">
                                        <p:cTn id="13" dur="500"/>
                                        <p:tgtEl>
                                          <p:spTgt spid="48435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8435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484357">
                                            <p:txEl>
                                              <p:pRg st="2" end="2"/>
                                            </p:txEl>
                                          </p:spTgt>
                                        </p:tgtEl>
                                        <p:attrNameLst>
                                          <p:attrName>style.visibility</p:attrName>
                                        </p:attrNameLst>
                                      </p:cBhvr>
                                      <p:to>
                                        <p:strVal val="visible"/>
                                      </p:to>
                                    </p:set>
                                    <p:anim calcmode="lin" valueType="num">
                                      <p:cBhvr additive="base">
                                        <p:cTn id="19" dur="500"/>
                                        <p:tgtEl>
                                          <p:spTgt spid="48435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8435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484357">
                                            <p:txEl>
                                              <p:pRg st="3" end="3"/>
                                            </p:txEl>
                                          </p:spTgt>
                                        </p:tgtEl>
                                        <p:attrNameLst>
                                          <p:attrName>style.visibility</p:attrName>
                                        </p:attrNameLst>
                                      </p:cBhvr>
                                      <p:to>
                                        <p:strVal val="visible"/>
                                      </p:to>
                                    </p:set>
                                    <p:anim calcmode="lin" valueType="num">
                                      <p:cBhvr additive="base">
                                        <p:cTn id="25" dur="500"/>
                                        <p:tgtEl>
                                          <p:spTgt spid="48435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8435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484357">
                                            <p:txEl>
                                              <p:pRg st="4" end="4"/>
                                            </p:txEl>
                                          </p:spTgt>
                                        </p:tgtEl>
                                        <p:attrNameLst>
                                          <p:attrName>style.visibility</p:attrName>
                                        </p:attrNameLst>
                                      </p:cBhvr>
                                      <p:to>
                                        <p:strVal val="visible"/>
                                      </p:to>
                                    </p:set>
                                    <p:anim calcmode="lin" valueType="num">
                                      <p:cBhvr additive="base">
                                        <p:cTn id="31" dur="500"/>
                                        <p:tgtEl>
                                          <p:spTgt spid="48435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8435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484357">
                                            <p:txEl>
                                              <p:pRg st="5" end="5"/>
                                            </p:txEl>
                                          </p:spTgt>
                                        </p:tgtEl>
                                        <p:attrNameLst>
                                          <p:attrName>style.visibility</p:attrName>
                                        </p:attrNameLst>
                                      </p:cBhvr>
                                      <p:to>
                                        <p:strVal val="visible"/>
                                      </p:to>
                                    </p:set>
                                    <p:anim calcmode="lin" valueType="num">
                                      <p:cBhvr additive="base">
                                        <p:cTn id="37" dur="500"/>
                                        <p:tgtEl>
                                          <p:spTgt spid="48435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8435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484357">
                                            <p:txEl>
                                              <p:pRg st="6" end="6"/>
                                            </p:txEl>
                                          </p:spTgt>
                                        </p:tgtEl>
                                        <p:attrNameLst>
                                          <p:attrName>style.visibility</p:attrName>
                                        </p:attrNameLst>
                                      </p:cBhvr>
                                      <p:to>
                                        <p:strVal val="visible"/>
                                      </p:to>
                                    </p:set>
                                    <p:anim calcmode="lin" valueType="num">
                                      <p:cBhvr additive="base">
                                        <p:cTn id="43" dur="500"/>
                                        <p:tgtEl>
                                          <p:spTgt spid="48435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8435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nodeType="clickEffect">
                                  <p:stCondLst>
                                    <p:cond delay="0"/>
                                  </p:stCondLst>
                                  <p:childTnLst>
                                    <p:set>
                                      <p:cBhvr>
                                        <p:cTn id="48" dur="1" fill="hold">
                                          <p:stCondLst>
                                            <p:cond delay="0"/>
                                          </p:stCondLst>
                                        </p:cTn>
                                        <p:tgtEl>
                                          <p:spTgt spid="484357">
                                            <p:txEl>
                                              <p:pRg st="7" end="7"/>
                                            </p:txEl>
                                          </p:spTgt>
                                        </p:tgtEl>
                                        <p:attrNameLst>
                                          <p:attrName>style.visibility</p:attrName>
                                        </p:attrNameLst>
                                      </p:cBhvr>
                                      <p:to>
                                        <p:strVal val="visible"/>
                                      </p:to>
                                    </p:set>
                                    <p:anim calcmode="lin" valueType="num">
                                      <p:cBhvr additive="base">
                                        <p:cTn id="49" dur="500"/>
                                        <p:tgtEl>
                                          <p:spTgt spid="484357">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84357">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nodeType="clickEffect">
                                  <p:stCondLst>
                                    <p:cond delay="0"/>
                                  </p:stCondLst>
                                  <p:childTnLst>
                                    <p:set>
                                      <p:cBhvr>
                                        <p:cTn id="54" dur="1" fill="hold">
                                          <p:stCondLst>
                                            <p:cond delay="0"/>
                                          </p:stCondLst>
                                        </p:cTn>
                                        <p:tgtEl>
                                          <p:spTgt spid="484357">
                                            <p:txEl>
                                              <p:pRg st="8" end="8"/>
                                            </p:txEl>
                                          </p:spTgt>
                                        </p:tgtEl>
                                        <p:attrNameLst>
                                          <p:attrName>style.visibility</p:attrName>
                                        </p:attrNameLst>
                                      </p:cBhvr>
                                      <p:to>
                                        <p:strVal val="visible"/>
                                      </p:to>
                                    </p:set>
                                    <p:anim calcmode="lin" valueType="num">
                                      <p:cBhvr additive="base">
                                        <p:cTn id="55" dur="500"/>
                                        <p:tgtEl>
                                          <p:spTgt spid="484357">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8435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58"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59"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60" name="Rectangle 4"/>
          <p:cNvSpPr>
            <a:spLocks noGrp="1"/>
          </p:cNvSpPr>
          <p:nvPr>
            <p:ph type="title"/>
          </p:nvPr>
        </p:nvSpPr>
        <p:spPr/>
        <p:txBody>
          <a:bodyPr/>
          <a:lstStyle/>
          <a:p>
            <a:r>
              <a:rPr lang="en-GB" altLang="en-US" dirty="0"/>
              <a:t>Types of Market Failure</a:t>
            </a:r>
          </a:p>
        </p:txBody>
      </p:sp>
      <p:sp>
        <p:nvSpPr>
          <p:cNvPr id="377861" name="Rectangle 5"/>
          <p:cNvSpPr>
            <a:spLocks noGrp="1"/>
          </p:cNvSpPr>
          <p:nvPr>
            <p:ph idx="1"/>
          </p:nvPr>
        </p:nvSpPr>
        <p:spPr>
          <a:xfrm>
            <a:off x="271130" y="1311348"/>
            <a:ext cx="11578856" cy="4889500"/>
          </a:xfrm>
        </p:spPr>
        <p:txBody>
          <a:bodyPr/>
          <a:lstStyle/>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Ignorance and uncertainty</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Perfect competition assumes that consumers, firms and factor supplies have perfect knowledge of costs and benefits. </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 the real world, there is often a lot of uncertainty – people are unable to equate MB with MC</a:t>
            </a:r>
          </a:p>
          <a:p>
            <a:pPr lvl="1">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Asymmetric information </a:t>
            </a:r>
            <a:r>
              <a:rPr lang="en-GB" altLang="en-US" sz="2000" dirty="0">
                <a:latin typeface="Calibri" panose="020F0502020204030204" pitchFamily="34" charset="0"/>
                <a:ea typeface="Calibri" panose="020F0502020204030204" pitchFamily="34" charset="0"/>
                <a:cs typeface="Calibri" panose="020F0502020204030204" pitchFamily="34" charset="0"/>
              </a:rPr>
              <a:t> </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Different sides in an economic relationship have different amounts of information</a:t>
            </a:r>
          </a:p>
          <a:p>
            <a:pPr lvl="1">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Immobility of factors and time lags</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Even under conditions of perfect competition, factors may be very slow to respond to changes in demand and supply, for e.g. labour may be highly immobile. Results in constant disequilibrium.</a:t>
            </a:r>
          </a:p>
          <a:p>
            <a:pPr lvl="1">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Protecting people’s interests</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Dependants – protecting the interests of those whose welfare depends on choices made by others</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Merit goods – protecting people from poor economic decisions that they make on their </a:t>
            </a:r>
            <a:r>
              <a:rPr lang="en-GB" altLang="en-US" sz="2000" i="1" dirty="0">
                <a:latin typeface="Calibri" panose="020F0502020204030204" pitchFamily="34" charset="0"/>
                <a:ea typeface="Calibri" panose="020F0502020204030204" pitchFamily="34" charset="0"/>
                <a:cs typeface="Calibri" panose="020F0502020204030204" pitchFamily="34" charset="0"/>
              </a:rPr>
              <a:t>own</a:t>
            </a:r>
            <a:r>
              <a:rPr lang="en-GB" altLang="en-US" sz="2000" dirty="0">
                <a:latin typeface="Calibri" panose="020F0502020204030204" pitchFamily="34" charset="0"/>
                <a:ea typeface="Calibri" panose="020F0502020204030204" pitchFamily="34" charset="0"/>
                <a:cs typeface="Calibri" panose="020F0502020204030204" pitchFamily="34" charset="0"/>
              </a:rPr>
              <a:t> behalf. </a:t>
            </a:r>
          </a:p>
          <a:p>
            <a:pPr>
              <a:lnSpc>
                <a:spcPct val="100000"/>
              </a:lnSpc>
              <a:spcBef>
                <a:spcPts val="1200"/>
              </a:spcBef>
            </a:pPr>
            <a:endParaRPr lang="en-GB" altLang="en-US" sz="2000" dirty="0"/>
          </a:p>
        </p:txBody>
      </p:sp>
    </p:spTree>
    <p:extLst>
      <p:ext uri="{BB962C8B-B14F-4D97-AF65-F5344CB8AC3E}">
        <p14:creationId xmlns:p14="http://schemas.microsoft.com/office/powerpoint/2010/main" val="13912142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7861">
                                            <p:txEl>
                                              <p:pRg st="0" end="0"/>
                                            </p:txEl>
                                          </p:spTgt>
                                        </p:tgtEl>
                                        <p:attrNameLst>
                                          <p:attrName>style.visibility</p:attrName>
                                        </p:attrNameLst>
                                      </p:cBhvr>
                                      <p:to>
                                        <p:strVal val="visible"/>
                                      </p:to>
                                    </p:set>
                                    <p:anim calcmode="lin" valueType="num">
                                      <p:cBhvr additive="base">
                                        <p:cTn id="7" dur="500"/>
                                        <p:tgtEl>
                                          <p:spTgt spid="37786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786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7861">
                                            <p:txEl>
                                              <p:pRg st="1" end="1"/>
                                            </p:txEl>
                                          </p:spTgt>
                                        </p:tgtEl>
                                        <p:attrNameLst>
                                          <p:attrName>style.visibility</p:attrName>
                                        </p:attrNameLst>
                                      </p:cBhvr>
                                      <p:to>
                                        <p:strVal val="visible"/>
                                      </p:to>
                                    </p:set>
                                    <p:anim calcmode="lin" valueType="num">
                                      <p:cBhvr additive="base">
                                        <p:cTn id="13" dur="500"/>
                                        <p:tgtEl>
                                          <p:spTgt spid="37786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786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7861">
                                            <p:txEl>
                                              <p:pRg st="2" end="2"/>
                                            </p:txEl>
                                          </p:spTgt>
                                        </p:tgtEl>
                                        <p:attrNameLst>
                                          <p:attrName>style.visibility</p:attrName>
                                        </p:attrNameLst>
                                      </p:cBhvr>
                                      <p:to>
                                        <p:strVal val="visible"/>
                                      </p:to>
                                    </p:set>
                                    <p:anim calcmode="lin" valueType="num">
                                      <p:cBhvr additive="base">
                                        <p:cTn id="19" dur="500"/>
                                        <p:tgtEl>
                                          <p:spTgt spid="37786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7861">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7861">
                                            <p:txEl>
                                              <p:pRg st="3" end="3"/>
                                            </p:txEl>
                                          </p:spTgt>
                                        </p:tgtEl>
                                        <p:attrNameLst>
                                          <p:attrName>style.visibility</p:attrName>
                                        </p:attrNameLst>
                                      </p:cBhvr>
                                      <p:to>
                                        <p:strVal val="visible"/>
                                      </p:to>
                                    </p:set>
                                    <p:anim calcmode="lin" valueType="num">
                                      <p:cBhvr additive="base">
                                        <p:cTn id="25" dur="500"/>
                                        <p:tgtEl>
                                          <p:spTgt spid="37786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7861">
                                            <p:txEl>
                                              <p:pRg st="3" end="3"/>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77861">
                                            <p:txEl>
                                              <p:pRg st="4" end="4"/>
                                            </p:txEl>
                                          </p:spTgt>
                                        </p:tgtEl>
                                        <p:attrNameLst>
                                          <p:attrName>style.visibility</p:attrName>
                                        </p:attrNameLst>
                                      </p:cBhvr>
                                      <p:to>
                                        <p:strVal val="visible"/>
                                      </p:to>
                                    </p:set>
                                    <p:anim calcmode="lin" valueType="num">
                                      <p:cBhvr additive="base">
                                        <p:cTn id="29" dur="500"/>
                                        <p:tgtEl>
                                          <p:spTgt spid="377861">
                                            <p:txEl>
                                              <p:pRg st="4" end="4"/>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77861">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77861">
                                            <p:txEl>
                                              <p:pRg st="5" end="5"/>
                                            </p:txEl>
                                          </p:spTgt>
                                        </p:tgtEl>
                                        <p:attrNameLst>
                                          <p:attrName>style.visibility</p:attrName>
                                        </p:attrNameLst>
                                      </p:cBhvr>
                                      <p:to>
                                        <p:strVal val="visible"/>
                                      </p:to>
                                    </p:set>
                                    <p:anim calcmode="lin" valueType="num">
                                      <p:cBhvr additive="base">
                                        <p:cTn id="35" dur="500"/>
                                        <p:tgtEl>
                                          <p:spTgt spid="377861">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77861">
                                            <p:txEl>
                                              <p:pRg st="5" end="5"/>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377861">
                                            <p:txEl>
                                              <p:pRg st="6" end="6"/>
                                            </p:txEl>
                                          </p:spTgt>
                                        </p:tgtEl>
                                        <p:attrNameLst>
                                          <p:attrName>style.visibility</p:attrName>
                                        </p:attrNameLst>
                                      </p:cBhvr>
                                      <p:to>
                                        <p:strVal val="visible"/>
                                      </p:to>
                                    </p:set>
                                    <p:anim calcmode="lin" valueType="num">
                                      <p:cBhvr additive="base">
                                        <p:cTn id="39" dur="500"/>
                                        <p:tgtEl>
                                          <p:spTgt spid="377861">
                                            <p:txEl>
                                              <p:pRg st="6" end="6"/>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77861">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377861">
                                            <p:txEl>
                                              <p:pRg st="7" end="7"/>
                                            </p:txEl>
                                          </p:spTgt>
                                        </p:tgtEl>
                                        <p:attrNameLst>
                                          <p:attrName>style.visibility</p:attrName>
                                        </p:attrNameLst>
                                      </p:cBhvr>
                                      <p:to>
                                        <p:strVal val="visible"/>
                                      </p:to>
                                    </p:set>
                                    <p:anim calcmode="lin" valueType="num">
                                      <p:cBhvr additive="base">
                                        <p:cTn id="45" dur="500"/>
                                        <p:tgtEl>
                                          <p:spTgt spid="377861">
                                            <p:txEl>
                                              <p:pRg st="7" end="7"/>
                                            </p:txEl>
                                          </p:spTgt>
                                        </p:tgtEl>
                                        <p:attrNameLst>
                                          <p:attrName>ppt_y</p:attrName>
                                        </p:attrNameLst>
                                      </p:cBhvr>
                                      <p:tavLst>
                                        <p:tav tm="0">
                                          <p:val>
                                            <p:strVal val="#ppt_y+#ppt_h*1.125000"/>
                                          </p:val>
                                        </p:tav>
                                        <p:tav tm="100000">
                                          <p:val>
                                            <p:strVal val="#ppt_y"/>
                                          </p:val>
                                        </p:tav>
                                      </p:tavLst>
                                    </p:anim>
                                    <p:animEffect transition="in" filter="wipe(up)">
                                      <p:cBhvr>
                                        <p:cTn id="46" dur="500"/>
                                        <p:tgtEl>
                                          <p:spTgt spid="377861">
                                            <p:txEl>
                                              <p:pRg st="7" end="7"/>
                                            </p:txEl>
                                          </p:spTgt>
                                        </p:tgtEl>
                                      </p:cBhvr>
                                    </p:animEffect>
                                  </p:childTnLst>
                                </p:cTn>
                              </p:par>
                              <p:par>
                                <p:cTn id="47" presetID="12" presetClass="entr" presetSubtype="4" fill="hold" grpId="0" nodeType="withEffect">
                                  <p:stCondLst>
                                    <p:cond delay="0"/>
                                  </p:stCondLst>
                                  <p:childTnLst>
                                    <p:set>
                                      <p:cBhvr>
                                        <p:cTn id="48" dur="1" fill="hold">
                                          <p:stCondLst>
                                            <p:cond delay="0"/>
                                          </p:stCondLst>
                                        </p:cTn>
                                        <p:tgtEl>
                                          <p:spTgt spid="377861">
                                            <p:txEl>
                                              <p:pRg st="8" end="8"/>
                                            </p:txEl>
                                          </p:spTgt>
                                        </p:tgtEl>
                                        <p:attrNameLst>
                                          <p:attrName>style.visibility</p:attrName>
                                        </p:attrNameLst>
                                      </p:cBhvr>
                                      <p:to>
                                        <p:strVal val="visible"/>
                                      </p:to>
                                    </p:set>
                                    <p:anim calcmode="lin" valueType="num">
                                      <p:cBhvr additive="base">
                                        <p:cTn id="49" dur="500"/>
                                        <p:tgtEl>
                                          <p:spTgt spid="377861">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7861">
                                            <p:txEl>
                                              <p:pRg st="8" end="8"/>
                                            </p:txEl>
                                          </p:spTgt>
                                        </p:tgtEl>
                                      </p:cBhvr>
                                    </p:animEffect>
                                  </p:childTnLst>
                                </p:cTn>
                              </p:par>
                              <p:par>
                                <p:cTn id="51" presetID="12" presetClass="entr" presetSubtype="4" fill="hold" grpId="0" nodeType="withEffect">
                                  <p:stCondLst>
                                    <p:cond delay="0"/>
                                  </p:stCondLst>
                                  <p:childTnLst>
                                    <p:set>
                                      <p:cBhvr>
                                        <p:cTn id="52" dur="1" fill="hold">
                                          <p:stCondLst>
                                            <p:cond delay="0"/>
                                          </p:stCondLst>
                                        </p:cTn>
                                        <p:tgtEl>
                                          <p:spTgt spid="377861">
                                            <p:txEl>
                                              <p:pRg st="9" end="9"/>
                                            </p:txEl>
                                          </p:spTgt>
                                        </p:tgtEl>
                                        <p:attrNameLst>
                                          <p:attrName>style.visibility</p:attrName>
                                        </p:attrNameLst>
                                      </p:cBhvr>
                                      <p:to>
                                        <p:strVal val="visible"/>
                                      </p:to>
                                    </p:set>
                                    <p:anim calcmode="lin" valueType="num">
                                      <p:cBhvr additive="base">
                                        <p:cTn id="53" dur="500"/>
                                        <p:tgtEl>
                                          <p:spTgt spid="377861">
                                            <p:txEl>
                                              <p:pRg st="9" end="9"/>
                                            </p:txEl>
                                          </p:spTgt>
                                        </p:tgtEl>
                                        <p:attrNameLst>
                                          <p:attrName>ppt_y</p:attrName>
                                        </p:attrNameLst>
                                      </p:cBhvr>
                                      <p:tavLst>
                                        <p:tav tm="0">
                                          <p:val>
                                            <p:strVal val="#ppt_y+#ppt_h*1.125000"/>
                                          </p:val>
                                        </p:tav>
                                        <p:tav tm="100000">
                                          <p:val>
                                            <p:strVal val="#ppt_y"/>
                                          </p:val>
                                        </p:tav>
                                      </p:tavLst>
                                    </p:anim>
                                    <p:animEffect transition="in" filter="wipe(up)">
                                      <p:cBhvr>
                                        <p:cTn id="54" dur="500"/>
                                        <p:tgtEl>
                                          <p:spTgt spid="37786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1" grpId="0" build="p" bldLvl="2"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1954"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195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1958" name="Rectangle 6"/>
          <p:cNvSpPr>
            <a:spLocks noGrp="1"/>
          </p:cNvSpPr>
          <p:nvPr>
            <p:ph type="title"/>
          </p:nvPr>
        </p:nvSpPr>
        <p:spPr/>
        <p:txBody>
          <a:bodyPr/>
          <a:lstStyle/>
          <a:p>
            <a:r>
              <a:rPr lang="en-GB" altLang="en-US"/>
              <a:t>Government Intervention in the Market</a:t>
            </a:r>
          </a:p>
        </p:txBody>
      </p:sp>
      <p:sp>
        <p:nvSpPr>
          <p:cNvPr id="381959" name="Rectangle 7"/>
          <p:cNvSpPr>
            <a:spLocks noGrp="1"/>
          </p:cNvSpPr>
          <p:nvPr>
            <p:ph idx="1"/>
          </p:nvPr>
        </p:nvSpPr>
        <p:spPr/>
        <p:txBody>
          <a:bodyPr/>
          <a:lstStyle/>
          <a:p>
            <a:pPr>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There are several policy instruments govt. can use to deal with the problems of the free market.</a:t>
            </a:r>
          </a:p>
          <a:p>
            <a:pPr>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On the one extreme, it can totally replace the market by providing goods and services itself. At the other, it can persuade producers, consumers or workers to act differently.</a:t>
            </a:r>
          </a:p>
          <a:p>
            <a:pPr marL="0" indent="0">
              <a:lnSpc>
                <a:spcPct val="95000"/>
              </a:lnSpc>
              <a:spcBef>
                <a:spcPts val="600"/>
              </a:spcBef>
              <a:buNone/>
            </a:pPr>
            <a:endParaRPr lang="en-GB" altLang="en-US" sz="2000" b="1" dirty="0">
              <a:latin typeface="Calibri" panose="020F0502020204030204" pitchFamily="34" charset="0"/>
              <a:ea typeface="Calibri" panose="020F0502020204030204" pitchFamily="34" charset="0"/>
              <a:cs typeface="Calibri" panose="020F0502020204030204" pitchFamily="34" charset="0"/>
            </a:endParaRPr>
          </a:p>
          <a:p>
            <a:pPr>
              <a:lnSpc>
                <a:spcPct val="95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Taxes and subsidies</a:t>
            </a:r>
          </a:p>
          <a:p>
            <a:pPr lvl="1">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to correct for monopoly (excessive profits or production lower than socially efficient level)</a:t>
            </a:r>
          </a:p>
          <a:p>
            <a:pPr lvl="2">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use of lump-sum taxes (increase FC) plus subsidies (encourage monopolist to produce more)</a:t>
            </a:r>
          </a:p>
          <a:p>
            <a:pPr lvl="1">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to correct externalities</a:t>
            </a:r>
          </a:p>
          <a:p>
            <a:pPr lvl="2">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Pigouvian tax/subsidy - impose a tax equal to the MEC (or grant a subsidy equal to the MEB)</a:t>
            </a:r>
          </a:p>
        </p:txBody>
      </p:sp>
    </p:spTree>
    <p:extLst>
      <p:ext uri="{BB962C8B-B14F-4D97-AF65-F5344CB8AC3E}">
        <p14:creationId xmlns:p14="http://schemas.microsoft.com/office/powerpoint/2010/main" val="32902341"/>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1959">
                                            <p:txEl>
                                              <p:pRg st="0" end="0"/>
                                            </p:txEl>
                                          </p:spTgt>
                                        </p:tgtEl>
                                        <p:attrNameLst>
                                          <p:attrName>style.visibility</p:attrName>
                                        </p:attrNameLst>
                                      </p:cBhvr>
                                      <p:to>
                                        <p:strVal val="visible"/>
                                      </p:to>
                                    </p:set>
                                    <p:anim calcmode="lin" valueType="num">
                                      <p:cBhvr additive="base">
                                        <p:cTn id="7" dur="500"/>
                                        <p:tgtEl>
                                          <p:spTgt spid="38195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195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1959">
                                            <p:txEl>
                                              <p:pRg st="1" end="1"/>
                                            </p:txEl>
                                          </p:spTgt>
                                        </p:tgtEl>
                                        <p:attrNameLst>
                                          <p:attrName>style.visibility</p:attrName>
                                        </p:attrNameLst>
                                      </p:cBhvr>
                                      <p:to>
                                        <p:strVal val="visible"/>
                                      </p:to>
                                    </p:set>
                                    <p:anim calcmode="lin" valueType="num">
                                      <p:cBhvr additive="base">
                                        <p:cTn id="13" dur="500"/>
                                        <p:tgtEl>
                                          <p:spTgt spid="38195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195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1959">
                                            <p:txEl>
                                              <p:pRg st="3" end="3"/>
                                            </p:txEl>
                                          </p:spTgt>
                                        </p:tgtEl>
                                        <p:attrNameLst>
                                          <p:attrName>style.visibility</p:attrName>
                                        </p:attrNameLst>
                                      </p:cBhvr>
                                      <p:to>
                                        <p:strVal val="visible"/>
                                      </p:to>
                                    </p:set>
                                    <p:anim calcmode="lin" valueType="num">
                                      <p:cBhvr additive="base">
                                        <p:cTn id="19" dur="500"/>
                                        <p:tgtEl>
                                          <p:spTgt spid="381959">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1959">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1959">
                                            <p:txEl>
                                              <p:pRg st="4" end="4"/>
                                            </p:txEl>
                                          </p:spTgt>
                                        </p:tgtEl>
                                        <p:attrNameLst>
                                          <p:attrName>style.visibility</p:attrName>
                                        </p:attrNameLst>
                                      </p:cBhvr>
                                      <p:to>
                                        <p:strVal val="visible"/>
                                      </p:to>
                                    </p:set>
                                    <p:anim calcmode="lin" valueType="num">
                                      <p:cBhvr additive="base">
                                        <p:cTn id="25" dur="500"/>
                                        <p:tgtEl>
                                          <p:spTgt spid="381959">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1959">
                                            <p:txEl>
                                              <p:pRg st="4" end="4"/>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81959">
                                            <p:txEl>
                                              <p:pRg st="5" end="5"/>
                                            </p:txEl>
                                          </p:spTgt>
                                        </p:tgtEl>
                                        <p:attrNameLst>
                                          <p:attrName>style.visibility</p:attrName>
                                        </p:attrNameLst>
                                      </p:cBhvr>
                                      <p:to>
                                        <p:strVal val="visible"/>
                                      </p:to>
                                    </p:set>
                                    <p:anim calcmode="lin" valueType="num">
                                      <p:cBhvr additive="base">
                                        <p:cTn id="29" dur="500"/>
                                        <p:tgtEl>
                                          <p:spTgt spid="381959">
                                            <p:txEl>
                                              <p:pRg st="5" end="5"/>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81959">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81959">
                                            <p:txEl>
                                              <p:pRg st="6" end="6"/>
                                            </p:txEl>
                                          </p:spTgt>
                                        </p:tgtEl>
                                        <p:attrNameLst>
                                          <p:attrName>style.visibility</p:attrName>
                                        </p:attrNameLst>
                                      </p:cBhvr>
                                      <p:to>
                                        <p:strVal val="visible"/>
                                      </p:to>
                                    </p:set>
                                    <p:anim calcmode="lin" valueType="num">
                                      <p:cBhvr additive="base">
                                        <p:cTn id="35" dur="500"/>
                                        <p:tgtEl>
                                          <p:spTgt spid="381959">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81959">
                                            <p:txEl>
                                              <p:pRg st="6" end="6"/>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381959">
                                            <p:txEl>
                                              <p:pRg st="7" end="7"/>
                                            </p:txEl>
                                          </p:spTgt>
                                        </p:tgtEl>
                                        <p:attrNameLst>
                                          <p:attrName>style.visibility</p:attrName>
                                        </p:attrNameLst>
                                      </p:cBhvr>
                                      <p:to>
                                        <p:strVal val="visible"/>
                                      </p:to>
                                    </p:set>
                                    <p:anim calcmode="lin" valueType="num">
                                      <p:cBhvr additive="base">
                                        <p:cTn id="39" dur="500"/>
                                        <p:tgtEl>
                                          <p:spTgt spid="381959">
                                            <p:txEl>
                                              <p:pRg st="7" end="7"/>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819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9" grpId="0" build="p" bldLvl="2"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195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1958" name="Rectangle 6"/>
          <p:cNvSpPr>
            <a:spLocks noGrp="1"/>
          </p:cNvSpPr>
          <p:nvPr>
            <p:ph type="title"/>
          </p:nvPr>
        </p:nvSpPr>
        <p:spPr/>
        <p:txBody>
          <a:bodyPr/>
          <a:lstStyle/>
          <a:p>
            <a:r>
              <a:rPr lang="en-GB" altLang="en-US"/>
              <a:t>Government Intervention in the Market</a:t>
            </a:r>
          </a:p>
        </p:txBody>
      </p:sp>
      <p:sp>
        <p:nvSpPr>
          <p:cNvPr id="381959" name="Rectangle 7"/>
          <p:cNvSpPr>
            <a:spLocks noGrp="1"/>
          </p:cNvSpPr>
          <p:nvPr>
            <p:ph idx="1"/>
          </p:nvPr>
        </p:nvSpPr>
        <p:spPr>
          <a:xfrm>
            <a:off x="354323" y="1422991"/>
            <a:ext cx="11379200" cy="4889500"/>
          </a:xfrm>
        </p:spPr>
        <p:txBody>
          <a:bodyPr/>
          <a:lstStyle/>
          <a:p>
            <a:pPr>
              <a:lnSpc>
                <a:spcPct val="95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Taxes and subsidies</a:t>
            </a:r>
          </a:p>
          <a:p>
            <a:pPr lvl="1">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Advantages of taxes and subsidies</a:t>
            </a:r>
          </a:p>
          <a:p>
            <a:pPr lvl="2">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Still allow the market to operate </a:t>
            </a:r>
          </a:p>
          <a:p>
            <a:pPr lvl="2">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Adjustable - can vary the rate according to the size of the market distortion </a:t>
            </a:r>
          </a:p>
          <a:p>
            <a:pPr lvl="2">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Long-run incentives – taxes can act as an incentive over the long run to reduce pollution and similarly, when good practices are subsidised, firms are given the incentive to adopt more good practices.</a:t>
            </a:r>
          </a:p>
          <a:p>
            <a:pPr lvl="1">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Disadvantages of taxes and subsidies</a:t>
            </a:r>
          </a:p>
          <a:p>
            <a:pPr lvl="2">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Infeasible to use different tax and subsidy rates – each firm produces different levels and types of externality and operates under different degrees of imperfect competition. </a:t>
            </a:r>
          </a:p>
          <a:p>
            <a:pPr lvl="3">
              <a:lnSpc>
                <a:spcPct val="95000"/>
              </a:lnSpc>
              <a:spcBef>
                <a:spcPts val="600"/>
              </a:spcBef>
            </a:pPr>
            <a:r>
              <a:rPr lang="en-GB" altLang="en-US" dirty="0">
                <a:latin typeface="Calibri" panose="020F0502020204030204" pitchFamily="34" charset="0"/>
                <a:ea typeface="Calibri" panose="020F0502020204030204" pitchFamily="34" charset="0"/>
                <a:cs typeface="Calibri" panose="020F0502020204030204" pitchFamily="34" charset="0"/>
              </a:rPr>
              <a:t>It would be expensive and administratively very difficult to charge offending firms their own tax rate</a:t>
            </a:r>
          </a:p>
          <a:p>
            <a:pPr lvl="2">
              <a:lnSpc>
                <a:spcPct val="95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Lack of knowledge – difficult to measure the firm’s MEC and apportion blame</a:t>
            </a:r>
          </a:p>
          <a:p>
            <a:pPr lvl="3">
              <a:lnSpc>
                <a:spcPct val="95000"/>
              </a:lnSpc>
              <a:spcBef>
                <a:spcPts val="600"/>
              </a:spcBef>
            </a:pPr>
            <a:r>
              <a:rPr lang="en-GB" altLang="en-US" dirty="0">
                <a:latin typeface="Calibri" panose="020F0502020204030204" pitchFamily="34" charset="0"/>
                <a:ea typeface="Calibri" panose="020F0502020204030204" pitchFamily="34" charset="0"/>
                <a:cs typeface="Calibri" panose="020F0502020204030204" pitchFamily="34" charset="0"/>
              </a:rPr>
              <a:t>It is possible though to charge firms by amount of a particular emission e.g. chimney smoke</a:t>
            </a:r>
          </a:p>
        </p:txBody>
      </p:sp>
    </p:spTree>
    <p:extLst>
      <p:ext uri="{BB962C8B-B14F-4D97-AF65-F5344CB8AC3E}">
        <p14:creationId xmlns:p14="http://schemas.microsoft.com/office/powerpoint/2010/main" val="255492916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1959">
                                            <p:txEl>
                                              <p:pRg st="0" end="0"/>
                                            </p:txEl>
                                          </p:spTgt>
                                        </p:tgtEl>
                                        <p:attrNameLst>
                                          <p:attrName>style.visibility</p:attrName>
                                        </p:attrNameLst>
                                      </p:cBhvr>
                                      <p:to>
                                        <p:strVal val="visible"/>
                                      </p:to>
                                    </p:set>
                                    <p:anim calcmode="lin" valueType="num">
                                      <p:cBhvr additive="base">
                                        <p:cTn id="7" dur="500"/>
                                        <p:tgtEl>
                                          <p:spTgt spid="38195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1959">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1959">
                                            <p:txEl>
                                              <p:pRg st="1" end="1"/>
                                            </p:txEl>
                                          </p:spTgt>
                                        </p:tgtEl>
                                        <p:attrNameLst>
                                          <p:attrName>style.visibility</p:attrName>
                                        </p:attrNameLst>
                                      </p:cBhvr>
                                      <p:to>
                                        <p:strVal val="visible"/>
                                      </p:to>
                                    </p:set>
                                    <p:anim calcmode="lin" valueType="num">
                                      <p:cBhvr additive="base">
                                        <p:cTn id="13" dur="500"/>
                                        <p:tgtEl>
                                          <p:spTgt spid="38195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1959">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381959">
                                            <p:txEl>
                                              <p:pRg st="2" end="2"/>
                                            </p:txEl>
                                          </p:spTgt>
                                        </p:tgtEl>
                                        <p:attrNameLst>
                                          <p:attrName>style.visibility</p:attrName>
                                        </p:attrNameLst>
                                      </p:cBhvr>
                                      <p:to>
                                        <p:strVal val="visible"/>
                                      </p:to>
                                    </p:set>
                                    <p:anim calcmode="lin" valueType="num">
                                      <p:cBhvr additive="base">
                                        <p:cTn id="17" dur="500"/>
                                        <p:tgtEl>
                                          <p:spTgt spid="381959">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81959">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381959">
                                            <p:txEl>
                                              <p:pRg st="3" end="3"/>
                                            </p:txEl>
                                          </p:spTgt>
                                        </p:tgtEl>
                                        <p:attrNameLst>
                                          <p:attrName>style.visibility</p:attrName>
                                        </p:attrNameLst>
                                      </p:cBhvr>
                                      <p:to>
                                        <p:strVal val="visible"/>
                                      </p:to>
                                    </p:set>
                                    <p:anim calcmode="lin" valueType="num">
                                      <p:cBhvr additive="base">
                                        <p:cTn id="21" dur="500"/>
                                        <p:tgtEl>
                                          <p:spTgt spid="381959">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381959">
                                            <p:txEl>
                                              <p:pRg st="3" end="3"/>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381959">
                                            <p:txEl>
                                              <p:pRg st="4" end="4"/>
                                            </p:txEl>
                                          </p:spTgt>
                                        </p:tgtEl>
                                        <p:attrNameLst>
                                          <p:attrName>style.visibility</p:attrName>
                                        </p:attrNameLst>
                                      </p:cBhvr>
                                      <p:to>
                                        <p:strVal val="visible"/>
                                      </p:to>
                                    </p:set>
                                    <p:anim calcmode="lin" valueType="num">
                                      <p:cBhvr additive="base">
                                        <p:cTn id="25" dur="500"/>
                                        <p:tgtEl>
                                          <p:spTgt spid="381959">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1959">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1959">
                                            <p:txEl>
                                              <p:pRg st="5" end="5"/>
                                            </p:txEl>
                                          </p:spTgt>
                                        </p:tgtEl>
                                        <p:attrNameLst>
                                          <p:attrName>style.visibility</p:attrName>
                                        </p:attrNameLst>
                                      </p:cBhvr>
                                      <p:to>
                                        <p:strVal val="visible"/>
                                      </p:to>
                                    </p:set>
                                    <p:anim calcmode="lin" valueType="num">
                                      <p:cBhvr additive="base">
                                        <p:cTn id="31" dur="500"/>
                                        <p:tgtEl>
                                          <p:spTgt spid="381959">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1959">
                                            <p:txEl>
                                              <p:pRg st="5" end="5"/>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381959">
                                            <p:txEl>
                                              <p:pRg st="6" end="6"/>
                                            </p:txEl>
                                          </p:spTgt>
                                        </p:tgtEl>
                                        <p:attrNameLst>
                                          <p:attrName>style.visibility</p:attrName>
                                        </p:attrNameLst>
                                      </p:cBhvr>
                                      <p:to>
                                        <p:strVal val="visible"/>
                                      </p:to>
                                    </p:set>
                                    <p:anim calcmode="lin" valueType="num">
                                      <p:cBhvr additive="base">
                                        <p:cTn id="35" dur="500"/>
                                        <p:tgtEl>
                                          <p:spTgt spid="381959">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81959">
                                            <p:txEl>
                                              <p:pRg st="6" end="6"/>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381959">
                                            <p:txEl>
                                              <p:pRg st="7" end="7"/>
                                            </p:txEl>
                                          </p:spTgt>
                                        </p:tgtEl>
                                        <p:attrNameLst>
                                          <p:attrName>style.visibility</p:attrName>
                                        </p:attrNameLst>
                                      </p:cBhvr>
                                      <p:to>
                                        <p:strVal val="visible"/>
                                      </p:to>
                                    </p:set>
                                    <p:anim calcmode="lin" valueType="num">
                                      <p:cBhvr additive="base">
                                        <p:cTn id="39" dur="500"/>
                                        <p:tgtEl>
                                          <p:spTgt spid="381959">
                                            <p:txEl>
                                              <p:pRg st="7" end="7"/>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81959">
                                            <p:txEl>
                                              <p:pRg st="7" end="7"/>
                                            </p:tx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381959">
                                            <p:txEl>
                                              <p:pRg st="8" end="8"/>
                                            </p:txEl>
                                          </p:spTgt>
                                        </p:tgtEl>
                                        <p:attrNameLst>
                                          <p:attrName>style.visibility</p:attrName>
                                        </p:attrNameLst>
                                      </p:cBhvr>
                                      <p:to>
                                        <p:strVal val="visible"/>
                                      </p:to>
                                    </p:set>
                                    <p:anim calcmode="lin" valueType="num">
                                      <p:cBhvr additive="base">
                                        <p:cTn id="43" dur="500"/>
                                        <p:tgtEl>
                                          <p:spTgt spid="381959">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1959">
                                            <p:txEl>
                                              <p:pRg st="8" end="8"/>
                                            </p:txEl>
                                          </p:spTgt>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381959">
                                            <p:txEl>
                                              <p:pRg st="9" end="9"/>
                                            </p:txEl>
                                          </p:spTgt>
                                        </p:tgtEl>
                                        <p:attrNameLst>
                                          <p:attrName>style.visibility</p:attrName>
                                        </p:attrNameLst>
                                      </p:cBhvr>
                                      <p:to>
                                        <p:strVal val="visible"/>
                                      </p:to>
                                    </p:set>
                                    <p:anim calcmode="lin" valueType="num">
                                      <p:cBhvr additive="base">
                                        <p:cTn id="47" dur="500"/>
                                        <p:tgtEl>
                                          <p:spTgt spid="381959">
                                            <p:txEl>
                                              <p:pRg st="9" end="9"/>
                                            </p:txEl>
                                          </p:spTgt>
                                        </p:tgtEl>
                                        <p:attrNameLst>
                                          <p:attrName>ppt_y</p:attrName>
                                        </p:attrNameLst>
                                      </p:cBhvr>
                                      <p:tavLst>
                                        <p:tav tm="0">
                                          <p:val>
                                            <p:strVal val="#ppt_y+#ppt_h*1.125000"/>
                                          </p:val>
                                        </p:tav>
                                        <p:tav tm="100000">
                                          <p:val>
                                            <p:strVal val="#ppt_y"/>
                                          </p:val>
                                        </p:tav>
                                      </p:tavLst>
                                    </p:anim>
                                    <p:animEffect transition="in" filter="wipe(up)">
                                      <p:cBhvr>
                                        <p:cTn id="48" dur="500"/>
                                        <p:tgtEl>
                                          <p:spTgt spid="3819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9" grpId="0" build="p" bldLvl="2"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4003"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4004" name="Rectangle 4"/>
          <p:cNvSpPr>
            <a:spLocks noGrp="1"/>
          </p:cNvSpPr>
          <p:nvPr>
            <p:ph type="title"/>
          </p:nvPr>
        </p:nvSpPr>
        <p:spPr/>
        <p:txBody>
          <a:bodyPr/>
          <a:lstStyle/>
          <a:p>
            <a:r>
              <a:rPr lang="en-GB" altLang="en-US"/>
              <a:t>Government Intervention in the Market</a:t>
            </a:r>
          </a:p>
        </p:txBody>
      </p:sp>
      <p:sp>
        <p:nvSpPr>
          <p:cNvPr id="384005" name="Rectangle 5"/>
          <p:cNvSpPr>
            <a:spLocks noGrp="1"/>
          </p:cNvSpPr>
          <p:nvPr>
            <p:ph idx="1"/>
          </p:nvPr>
        </p:nvSpPr>
        <p:spPr>
          <a:xfrm>
            <a:off x="271130" y="1417674"/>
            <a:ext cx="11589489" cy="4889500"/>
          </a:xfrm>
        </p:spPr>
        <p:txBody>
          <a:bodyPr/>
          <a:lstStyle/>
          <a:p>
            <a:pPr>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Changes in property rights</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problem of limited property rights – if someone dumps a load of rubble in your garden, you can insist that it is removed. If someone dumps a load of rubble in their own garden, which is next door to you and causes an eyesore, you can’t do anything about it.</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extending property rights – property rights define who owns property, to what uses it can be put, the rights people have over it &amp; how it may be transferred. By extending these rights, individuals may be able to prevent other people imposing costs on them or charge them for doing so.</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a:t>
            </a:r>
            <a:r>
              <a:rPr lang="en-GB" altLang="en-US" sz="2000" b="1" dirty="0">
                <a:latin typeface="Calibri" panose="020F0502020204030204" pitchFamily="34" charset="0"/>
                <a:ea typeface="Calibri" panose="020F0502020204030204" pitchFamily="34" charset="0"/>
                <a:cs typeface="Calibri" panose="020F0502020204030204" pitchFamily="34" charset="0"/>
              </a:rPr>
              <a:t>Coase theorem </a:t>
            </a:r>
            <a:r>
              <a:rPr lang="en-GB" altLang="en-US" sz="2000" dirty="0">
                <a:latin typeface="Calibri" panose="020F0502020204030204" pitchFamily="34" charset="0"/>
                <a:ea typeface="Calibri" panose="020F0502020204030204" pitchFamily="34" charset="0"/>
                <a:cs typeface="Calibri" panose="020F0502020204030204" pitchFamily="34" charset="0"/>
              </a:rPr>
              <a:t>– when there are well-defined property rights and zero bargaining costs, then negotiations between the party creating the externality and the party affected by the externality can bring about the socially efficient market quantity.</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For e.g., in the case of river pollution by a chemical works (that imposes a cost on people fishing in the river), property rights to the river could be given to the fishing community and they could impose a charge on the chemical works per unit of output. (Or property rights could be given to the chemical works and the fishing community could offer them payments conditional on no polluting)</a:t>
            </a:r>
          </a:p>
        </p:txBody>
      </p:sp>
    </p:spTree>
    <p:extLst>
      <p:ext uri="{BB962C8B-B14F-4D97-AF65-F5344CB8AC3E}">
        <p14:creationId xmlns:p14="http://schemas.microsoft.com/office/powerpoint/2010/main" val="7412456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5">
                                            <p:txEl>
                                              <p:pRg st="0" end="0"/>
                                            </p:txEl>
                                          </p:spTgt>
                                        </p:tgtEl>
                                        <p:attrNameLst>
                                          <p:attrName>style.visibility</p:attrName>
                                        </p:attrNameLst>
                                      </p:cBhvr>
                                      <p:to>
                                        <p:strVal val="visible"/>
                                      </p:to>
                                    </p:set>
                                    <p:anim calcmode="lin" valueType="num">
                                      <p:cBhvr additive="base">
                                        <p:cTn id="7" dur="500"/>
                                        <p:tgtEl>
                                          <p:spTgt spid="38400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5">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5">
                                            <p:txEl>
                                              <p:pRg st="1" end="1"/>
                                            </p:txEl>
                                          </p:spTgt>
                                        </p:tgtEl>
                                        <p:attrNameLst>
                                          <p:attrName>style.visibility</p:attrName>
                                        </p:attrNameLst>
                                      </p:cBhvr>
                                      <p:to>
                                        <p:strVal val="visible"/>
                                      </p:to>
                                    </p:set>
                                    <p:anim calcmode="lin" valueType="num">
                                      <p:cBhvr additive="base">
                                        <p:cTn id="13" dur="500"/>
                                        <p:tgtEl>
                                          <p:spTgt spid="38400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5">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4005">
                                            <p:txEl>
                                              <p:pRg st="2" end="2"/>
                                            </p:txEl>
                                          </p:spTgt>
                                        </p:tgtEl>
                                        <p:attrNameLst>
                                          <p:attrName>style.visibility</p:attrName>
                                        </p:attrNameLst>
                                      </p:cBhvr>
                                      <p:to>
                                        <p:strVal val="visible"/>
                                      </p:to>
                                    </p:set>
                                    <p:anim calcmode="lin" valueType="num">
                                      <p:cBhvr additive="base">
                                        <p:cTn id="19" dur="500"/>
                                        <p:tgtEl>
                                          <p:spTgt spid="38400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4005">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4005">
                                            <p:txEl>
                                              <p:pRg st="3" end="3"/>
                                            </p:txEl>
                                          </p:spTgt>
                                        </p:tgtEl>
                                        <p:attrNameLst>
                                          <p:attrName>style.visibility</p:attrName>
                                        </p:attrNameLst>
                                      </p:cBhvr>
                                      <p:to>
                                        <p:strVal val="visible"/>
                                      </p:to>
                                    </p:set>
                                    <p:anim calcmode="lin" valueType="num">
                                      <p:cBhvr additive="base">
                                        <p:cTn id="25" dur="500"/>
                                        <p:tgtEl>
                                          <p:spTgt spid="38400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400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4005">
                                            <p:txEl>
                                              <p:pRg st="4" end="4"/>
                                            </p:txEl>
                                          </p:spTgt>
                                        </p:tgtEl>
                                        <p:attrNameLst>
                                          <p:attrName>style.visibility</p:attrName>
                                        </p:attrNameLst>
                                      </p:cBhvr>
                                      <p:to>
                                        <p:strVal val="visible"/>
                                      </p:to>
                                    </p:set>
                                    <p:anim calcmode="lin" valueType="num">
                                      <p:cBhvr additive="base">
                                        <p:cTn id="31" dur="500"/>
                                        <p:tgtEl>
                                          <p:spTgt spid="384005">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40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5" grpId="0" build="p" bldLvl="3"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4003"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4004" name="Rectangle 4"/>
          <p:cNvSpPr>
            <a:spLocks noGrp="1"/>
          </p:cNvSpPr>
          <p:nvPr>
            <p:ph type="title"/>
          </p:nvPr>
        </p:nvSpPr>
        <p:spPr/>
        <p:txBody>
          <a:bodyPr/>
          <a:lstStyle/>
          <a:p>
            <a:r>
              <a:rPr lang="en-GB" altLang="en-US"/>
              <a:t>Government Intervention in the Market</a:t>
            </a:r>
          </a:p>
        </p:txBody>
      </p:sp>
      <p:sp>
        <p:nvSpPr>
          <p:cNvPr id="384005" name="Rectangle 5"/>
          <p:cNvSpPr>
            <a:spLocks noGrp="1"/>
          </p:cNvSpPr>
          <p:nvPr>
            <p:ph idx="1"/>
          </p:nvPr>
        </p:nvSpPr>
        <p:spPr>
          <a:xfrm>
            <a:off x="237362" y="1359194"/>
            <a:ext cx="11495666" cy="5158563"/>
          </a:xfrm>
        </p:spPr>
        <p:txBody>
          <a:bodyPr/>
          <a:lstStyle/>
          <a:p>
            <a:pPr>
              <a:lnSpc>
                <a:spcPct val="100000"/>
              </a:lnSpc>
              <a:spcBef>
                <a:spcPct val="55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Changes in property rights</a:t>
            </a: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spcBef>
                <a:spcPct val="5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Limitations of this solution</a:t>
            </a:r>
          </a:p>
          <a:p>
            <a:pPr lvl="2">
              <a:lnSpc>
                <a:spcPct val="100000"/>
              </a:lnSpc>
              <a:spcBef>
                <a:spcPct val="5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Impractical in many situations – it is impractical when </a:t>
            </a:r>
            <a:r>
              <a:rPr lang="en-GB" altLang="en-US" sz="2000" i="1" dirty="0">
                <a:latin typeface="Calibri" panose="020F0502020204030204" pitchFamily="34" charset="0"/>
                <a:ea typeface="Calibri" panose="020F0502020204030204" pitchFamily="34" charset="0"/>
                <a:cs typeface="Calibri" panose="020F0502020204030204" pitchFamily="34" charset="0"/>
              </a:rPr>
              <a:t>many</a:t>
            </a:r>
            <a:r>
              <a:rPr lang="en-GB" altLang="en-US" sz="2000" dirty="0">
                <a:latin typeface="Calibri" panose="020F0502020204030204" pitchFamily="34" charset="0"/>
                <a:ea typeface="Calibri" panose="020F0502020204030204" pitchFamily="34" charset="0"/>
                <a:cs typeface="Calibri" panose="020F0502020204030204" pitchFamily="34" charset="0"/>
              </a:rPr>
              <a:t> people are </a:t>
            </a:r>
            <a:r>
              <a:rPr lang="en-GB" altLang="en-US" sz="2000" i="1" dirty="0">
                <a:latin typeface="Calibri" panose="020F0502020204030204" pitchFamily="34" charset="0"/>
                <a:ea typeface="Calibri" panose="020F0502020204030204" pitchFamily="34" charset="0"/>
                <a:cs typeface="Calibri" panose="020F0502020204030204" pitchFamily="34" charset="0"/>
              </a:rPr>
              <a:t>slightly</a:t>
            </a:r>
            <a:r>
              <a:rPr lang="en-GB" altLang="en-US" sz="2000" dirty="0">
                <a:latin typeface="Calibri" panose="020F0502020204030204" pitchFamily="34" charset="0"/>
                <a:ea typeface="Calibri" panose="020F0502020204030204" pitchFamily="34" charset="0"/>
                <a:cs typeface="Calibri" panose="020F0502020204030204" pitchFamily="34" charset="0"/>
              </a:rPr>
              <a:t> inconvenienced, especially if there are many culprits imposing the costs.</a:t>
            </a:r>
          </a:p>
          <a:p>
            <a:pPr lvl="3">
              <a:lnSpc>
                <a:spcPct val="100000"/>
              </a:lnSpc>
              <a:spcBef>
                <a:spcPct val="55000"/>
              </a:spcBef>
            </a:pPr>
            <a:r>
              <a:rPr lang="en-GB" altLang="en-US" dirty="0">
                <a:latin typeface="Calibri" panose="020F0502020204030204" pitchFamily="34" charset="0"/>
                <a:ea typeface="Calibri" panose="020F0502020204030204" pitchFamily="34" charset="0"/>
                <a:cs typeface="Calibri" panose="020F0502020204030204" pitchFamily="34" charset="0"/>
              </a:rPr>
              <a:t>For e.g. if I was disturbed by noisy lorries outside my home, it would be impractical to negotiate with every haulage company involved.</a:t>
            </a:r>
          </a:p>
          <a:p>
            <a:pPr lvl="2">
              <a:lnSpc>
                <a:spcPct val="100000"/>
              </a:lnSpc>
              <a:spcBef>
                <a:spcPct val="5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Problems of litigation – may have to incur the time and expense of taking people to court</a:t>
            </a:r>
          </a:p>
          <a:p>
            <a:pPr lvl="3">
              <a:lnSpc>
                <a:spcPct val="100000"/>
              </a:lnSpc>
              <a:spcBef>
                <a:spcPct val="55000"/>
              </a:spcBef>
            </a:pPr>
            <a:r>
              <a:rPr lang="en-GB" altLang="en-US" dirty="0">
                <a:latin typeface="Calibri" panose="020F0502020204030204" pitchFamily="34" charset="0"/>
                <a:ea typeface="Calibri" panose="020F0502020204030204" pitchFamily="34" charset="0"/>
                <a:cs typeface="Calibri" panose="020F0502020204030204" pitchFamily="34" charset="0"/>
              </a:rPr>
              <a:t>Justice may not be free and there is a conflict with equity (the ‘rich’ can afford ‘better’ justice)</a:t>
            </a:r>
          </a:p>
          <a:p>
            <a:pPr lvl="2">
              <a:lnSpc>
                <a:spcPct val="100000"/>
              </a:lnSpc>
              <a:spcBef>
                <a:spcPct val="55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Questions of equity – although the socially efficient outcome does not depend on who the property rights are assigned to, the equity of the outcome will</a:t>
            </a:r>
          </a:p>
          <a:p>
            <a:pPr lvl="3">
              <a:lnSpc>
                <a:spcPct val="100000"/>
              </a:lnSpc>
              <a:spcBef>
                <a:spcPct val="55000"/>
              </a:spcBef>
            </a:pPr>
            <a:r>
              <a:rPr lang="en-GB" altLang="en-US" dirty="0">
                <a:latin typeface="Calibri" panose="020F0502020204030204" pitchFamily="34" charset="0"/>
                <a:ea typeface="Calibri" panose="020F0502020204030204" pitchFamily="34" charset="0"/>
                <a:cs typeface="Calibri" panose="020F0502020204030204" pitchFamily="34" charset="0"/>
              </a:rPr>
              <a:t>The extension of private property rights may favour the rich (who tend to have more property) at the expense of the poor.</a:t>
            </a:r>
          </a:p>
        </p:txBody>
      </p:sp>
    </p:spTree>
    <p:extLst>
      <p:ext uri="{BB962C8B-B14F-4D97-AF65-F5344CB8AC3E}">
        <p14:creationId xmlns:p14="http://schemas.microsoft.com/office/powerpoint/2010/main" val="12581317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5">
                                            <p:txEl>
                                              <p:pRg st="0" end="0"/>
                                            </p:txEl>
                                          </p:spTgt>
                                        </p:tgtEl>
                                        <p:attrNameLst>
                                          <p:attrName>style.visibility</p:attrName>
                                        </p:attrNameLst>
                                      </p:cBhvr>
                                      <p:to>
                                        <p:strVal val="visible"/>
                                      </p:to>
                                    </p:set>
                                    <p:anim calcmode="lin" valueType="num">
                                      <p:cBhvr additive="base">
                                        <p:cTn id="7" dur="500"/>
                                        <p:tgtEl>
                                          <p:spTgt spid="38400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5">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5">
                                            <p:txEl>
                                              <p:pRg st="1" end="1"/>
                                            </p:txEl>
                                          </p:spTgt>
                                        </p:tgtEl>
                                        <p:attrNameLst>
                                          <p:attrName>style.visibility</p:attrName>
                                        </p:attrNameLst>
                                      </p:cBhvr>
                                      <p:to>
                                        <p:strVal val="visible"/>
                                      </p:to>
                                    </p:set>
                                    <p:anim calcmode="lin" valueType="num">
                                      <p:cBhvr additive="base">
                                        <p:cTn id="13" dur="500"/>
                                        <p:tgtEl>
                                          <p:spTgt spid="38400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5">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4005">
                                            <p:txEl>
                                              <p:pRg st="2" end="2"/>
                                            </p:txEl>
                                          </p:spTgt>
                                        </p:tgtEl>
                                        <p:attrNameLst>
                                          <p:attrName>style.visibility</p:attrName>
                                        </p:attrNameLst>
                                      </p:cBhvr>
                                      <p:to>
                                        <p:strVal val="visible"/>
                                      </p:to>
                                    </p:set>
                                    <p:anim calcmode="lin" valueType="num">
                                      <p:cBhvr additive="base">
                                        <p:cTn id="19" dur="500"/>
                                        <p:tgtEl>
                                          <p:spTgt spid="38400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4005">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84005">
                                            <p:txEl>
                                              <p:pRg st="3" end="3"/>
                                            </p:txEl>
                                          </p:spTgt>
                                        </p:tgtEl>
                                        <p:attrNameLst>
                                          <p:attrName>style.visibility</p:attrName>
                                        </p:attrNameLst>
                                      </p:cBhvr>
                                      <p:to>
                                        <p:strVal val="visible"/>
                                      </p:to>
                                    </p:set>
                                    <p:anim calcmode="lin" valueType="num">
                                      <p:cBhvr additive="base">
                                        <p:cTn id="23" dur="500"/>
                                        <p:tgtEl>
                                          <p:spTgt spid="384005">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84005">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384005">
                                            <p:txEl>
                                              <p:pRg st="4" end="4"/>
                                            </p:txEl>
                                          </p:spTgt>
                                        </p:tgtEl>
                                        <p:attrNameLst>
                                          <p:attrName>style.visibility</p:attrName>
                                        </p:attrNameLst>
                                      </p:cBhvr>
                                      <p:to>
                                        <p:strVal val="visible"/>
                                      </p:to>
                                    </p:set>
                                    <p:anim calcmode="lin" valueType="num">
                                      <p:cBhvr additive="base">
                                        <p:cTn id="29" dur="500"/>
                                        <p:tgtEl>
                                          <p:spTgt spid="384005">
                                            <p:txEl>
                                              <p:pRg st="4" end="4"/>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84005">
                                            <p:txEl>
                                              <p:pRg st="4" end="4"/>
                                            </p:txEl>
                                          </p:spTgt>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384005">
                                            <p:txEl>
                                              <p:pRg st="5" end="5"/>
                                            </p:txEl>
                                          </p:spTgt>
                                        </p:tgtEl>
                                        <p:attrNameLst>
                                          <p:attrName>style.visibility</p:attrName>
                                        </p:attrNameLst>
                                      </p:cBhvr>
                                      <p:to>
                                        <p:strVal val="visible"/>
                                      </p:to>
                                    </p:set>
                                    <p:anim calcmode="lin" valueType="num">
                                      <p:cBhvr additive="base">
                                        <p:cTn id="33" dur="500"/>
                                        <p:tgtEl>
                                          <p:spTgt spid="384005">
                                            <p:txEl>
                                              <p:pRg st="5" end="5"/>
                                            </p:txEl>
                                          </p:spTgt>
                                        </p:tgtEl>
                                        <p:attrNameLst>
                                          <p:attrName>ppt_y</p:attrName>
                                        </p:attrNameLst>
                                      </p:cBhvr>
                                      <p:tavLst>
                                        <p:tav tm="0">
                                          <p:val>
                                            <p:strVal val="#ppt_y+#ppt_h*1.125000"/>
                                          </p:val>
                                        </p:tav>
                                        <p:tav tm="100000">
                                          <p:val>
                                            <p:strVal val="#ppt_y"/>
                                          </p:val>
                                        </p:tav>
                                      </p:tavLst>
                                    </p:anim>
                                    <p:animEffect transition="in" filter="wipe(up)">
                                      <p:cBhvr>
                                        <p:cTn id="34" dur="500"/>
                                        <p:tgtEl>
                                          <p:spTgt spid="384005">
                                            <p:txEl>
                                              <p:pRg st="5" end="5"/>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384005">
                                            <p:txEl>
                                              <p:pRg st="6" end="6"/>
                                            </p:txEl>
                                          </p:spTgt>
                                        </p:tgtEl>
                                        <p:attrNameLst>
                                          <p:attrName>style.visibility</p:attrName>
                                        </p:attrNameLst>
                                      </p:cBhvr>
                                      <p:to>
                                        <p:strVal val="visible"/>
                                      </p:to>
                                    </p:set>
                                    <p:anim calcmode="lin" valueType="num">
                                      <p:cBhvr additive="base">
                                        <p:cTn id="39" dur="500"/>
                                        <p:tgtEl>
                                          <p:spTgt spid="384005">
                                            <p:txEl>
                                              <p:pRg st="6" end="6"/>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84005">
                                            <p:txEl>
                                              <p:pRg st="6" end="6"/>
                                            </p:tx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384005">
                                            <p:txEl>
                                              <p:pRg st="7" end="7"/>
                                            </p:txEl>
                                          </p:spTgt>
                                        </p:tgtEl>
                                        <p:attrNameLst>
                                          <p:attrName>style.visibility</p:attrName>
                                        </p:attrNameLst>
                                      </p:cBhvr>
                                      <p:to>
                                        <p:strVal val="visible"/>
                                      </p:to>
                                    </p:set>
                                    <p:anim calcmode="lin" valueType="num">
                                      <p:cBhvr additive="base">
                                        <p:cTn id="43" dur="500"/>
                                        <p:tgtEl>
                                          <p:spTgt spid="384005">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400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5" grpId="0" build="p" bldLvl="3"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6050"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6051"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6054" name="Rectangle 6"/>
          <p:cNvSpPr>
            <a:spLocks noGrp="1"/>
          </p:cNvSpPr>
          <p:nvPr>
            <p:ph type="title"/>
          </p:nvPr>
        </p:nvSpPr>
        <p:spPr/>
        <p:txBody>
          <a:bodyPr/>
          <a:lstStyle/>
          <a:p>
            <a:r>
              <a:rPr lang="en-GB" altLang="en-US"/>
              <a:t>Government Intervention in the Market</a:t>
            </a:r>
          </a:p>
        </p:txBody>
      </p:sp>
      <p:sp>
        <p:nvSpPr>
          <p:cNvPr id="386055" name="Rectangle 7"/>
          <p:cNvSpPr>
            <a:spLocks noGrp="1"/>
          </p:cNvSpPr>
          <p:nvPr>
            <p:ph idx="1"/>
          </p:nvPr>
        </p:nvSpPr>
        <p:spPr>
          <a:xfrm>
            <a:off x="333055" y="1465521"/>
            <a:ext cx="11379200" cy="4889500"/>
          </a:xfrm>
        </p:spPr>
        <p:txBody>
          <a:bodyPr/>
          <a:lstStyle/>
          <a:p>
            <a:pPr>
              <a:spcBef>
                <a:spcPct val="6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Laws</a:t>
            </a:r>
            <a:r>
              <a:rPr lang="en-GB" altLang="en-US" sz="2000" dirty="0">
                <a:latin typeface="Calibri" panose="020F0502020204030204" pitchFamily="34" charset="0"/>
                <a:ea typeface="Calibri" panose="020F0502020204030204" pitchFamily="34" charset="0"/>
                <a:cs typeface="Calibri" panose="020F0502020204030204" pitchFamily="34" charset="0"/>
              </a:rPr>
              <a:t> prohibiting or regulating undesirable structures or behaviour</a:t>
            </a:r>
          </a:p>
          <a:p>
            <a:pPr lvl="1">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Advantages of legal restrictions</a:t>
            </a:r>
          </a:p>
          <a:p>
            <a:pPr lvl="2">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Usually simple and clear to understand and often relatively easy to administer</a:t>
            </a:r>
          </a:p>
          <a:p>
            <a:pPr lvl="2">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When the danger is very great, it might be much safer to ban various practices altogether</a:t>
            </a:r>
          </a:p>
          <a:p>
            <a:pPr lvl="2">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When a decision needs to be taken quickly, it might be possible to invoke emergency action</a:t>
            </a:r>
          </a:p>
          <a:p>
            <a:pPr lvl="2">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Because consumers suffer from imperfect information, consumer protection laws can make it illegal for firms to sell shoddy or unsafe goods, or to make false or misleading claims about their products.</a:t>
            </a:r>
          </a:p>
          <a:p>
            <a:pPr lvl="1">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Disadvantages of legal restrictions</a:t>
            </a:r>
          </a:p>
          <a:p>
            <a:pPr lvl="2">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main problem is that legal restrictions tend to be a rather blunt weapon.</a:t>
            </a:r>
          </a:p>
          <a:p>
            <a:pPr lvl="3">
              <a:spcBef>
                <a:spcPct val="60000"/>
              </a:spcBef>
            </a:pPr>
            <a:r>
              <a:rPr lang="en-GB" altLang="en-US" dirty="0">
                <a:latin typeface="Calibri" panose="020F0502020204030204" pitchFamily="34" charset="0"/>
                <a:ea typeface="Calibri" panose="020F0502020204030204" pitchFamily="34" charset="0"/>
                <a:cs typeface="Calibri" panose="020F0502020204030204" pitchFamily="34" charset="0"/>
              </a:rPr>
              <a:t>If, for e.g., a firm were required to reduce the effluent of a toxic chemical to 20 tonnes per week, there would be no incentive for the firm to further reduce it (unlike with a tax system). </a:t>
            </a:r>
          </a:p>
          <a:p>
            <a:pPr>
              <a:spcBef>
                <a:spcPct val="60000"/>
              </a:spcBef>
            </a:pPr>
            <a:endParaRPr lang="en-GB" altLang="en-US" sz="2000" dirty="0"/>
          </a:p>
        </p:txBody>
      </p:sp>
    </p:spTree>
    <p:extLst>
      <p:ext uri="{BB962C8B-B14F-4D97-AF65-F5344CB8AC3E}">
        <p14:creationId xmlns:p14="http://schemas.microsoft.com/office/powerpoint/2010/main" val="16436032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6055">
                                            <p:txEl>
                                              <p:pRg st="0" end="0"/>
                                            </p:txEl>
                                          </p:spTgt>
                                        </p:tgtEl>
                                        <p:attrNameLst>
                                          <p:attrName>style.visibility</p:attrName>
                                        </p:attrNameLst>
                                      </p:cBhvr>
                                      <p:to>
                                        <p:strVal val="visible"/>
                                      </p:to>
                                    </p:set>
                                    <p:anim calcmode="lin" valueType="num">
                                      <p:cBhvr additive="base">
                                        <p:cTn id="7" dur="500"/>
                                        <p:tgtEl>
                                          <p:spTgt spid="38605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6055">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6055">
                                            <p:txEl>
                                              <p:pRg st="1" end="1"/>
                                            </p:txEl>
                                          </p:spTgt>
                                        </p:tgtEl>
                                        <p:attrNameLst>
                                          <p:attrName>style.visibility</p:attrName>
                                        </p:attrNameLst>
                                      </p:cBhvr>
                                      <p:to>
                                        <p:strVal val="visible"/>
                                      </p:to>
                                    </p:set>
                                    <p:anim calcmode="lin" valueType="num">
                                      <p:cBhvr additive="base">
                                        <p:cTn id="13" dur="500"/>
                                        <p:tgtEl>
                                          <p:spTgt spid="38605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6055">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386055">
                                            <p:txEl>
                                              <p:pRg st="2" end="2"/>
                                            </p:txEl>
                                          </p:spTgt>
                                        </p:tgtEl>
                                        <p:attrNameLst>
                                          <p:attrName>style.visibility</p:attrName>
                                        </p:attrNameLst>
                                      </p:cBhvr>
                                      <p:to>
                                        <p:strVal val="visible"/>
                                      </p:to>
                                    </p:set>
                                    <p:anim calcmode="lin" valueType="num">
                                      <p:cBhvr additive="base">
                                        <p:cTn id="17" dur="500"/>
                                        <p:tgtEl>
                                          <p:spTgt spid="386055">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86055">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386055">
                                            <p:txEl>
                                              <p:pRg st="3" end="3"/>
                                            </p:txEl>
                                          </p:spTgt>
                                        </p:tgtEl>
                                        <p:attrNameLst>
                                          <p:attrName>style.visibility</p:attrName>
                                        </p:attrNameLst>
                                      </p:cBhvr>
                                      <p:to>
                                        <p:strVal val="visible"/>
                                      </p:to>
                                    </p:set>
                                    <p:anim calcmode="lin" valueType="num">
                                      <p:cBhvr additive="base">
                                        <p:cTn id="21" dur="500"/>
                                        <p:tgtEl>
                                          <p:spTgt spid="386055">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386055">
                                            <p:txEl>
                                              <p:pRg st="3" end="3"/>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386055">
                                            <p:txEl>
                                              <p:pRg st="4" end="4"/>
                                            </p:txEl>
                                          </p:spTgt>
                                        </p:tgtEl>
                                        <p:attrNameLst>
                                          <p:attrName>style.visibility</p:attrName>
                                        </p:attrNameLst>
                                      </p:cBhvr>
                                      <p:to>
                                        <p:strVal val="visible"/>
                                      </p:to>
                                    </p:set>
                                    <p:anim calcmode="lin" valueType="num">
                                      <p:cBhvr additive="base">
                                        <p:cTn id="25" dur="500"/>
                                        <p:tgtEl>
                                          <p:spTgt spid="386055">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6055">
                                            <p:txEl>
                                              <p:pRg st="4" end="4"/>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86055">
                                            <p:txEl>
                                              <p:pRg st="5" end="5"/>
                                            </p:txEl>
                                          </p:spTgt>
                                        </p:tgtEl>
                                        <p:attrNameLst>
                                          <p:attrName>style.visibility</p:attrName>
                                        </p:attrNameLst>
                                      </p:cBhvr>
                                      <p:to>
                                        <p:strVal val="visible"/>
                                      </p:to>
                                    </p:set>
                                    <p:anim calcmode="lin" valueType="num">
                                      <p:cBhvr additive="base">
                                        <p:cTn id="29" dur="500"/>
                                        <p:tgtEl>
                                          <p:spTgt spid="386055">
                                            <p:txEl>
                                              <p:pRg st="5" end="5"/>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86055">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86055">
                                            <p:txEl>
                                              <p:pRg st="6" end="6"/>
                                            </p:txEl>
                                          </p:spTgt>
                                        </p:tgtEl>
                                        <p:attrNameLst>
                                          <p:attrName>style.visibility</p:attrName>
                                        </p:attrNameLst>
                                      </p:cBhvr>
                                      <p:to>
                                        <p:strVal val="visible"/>
                                      </p:to>
                                    </p:set>
                                    <p:anim calcmode="lin" valueType="num">
                                      <p:cBhvr additive="base">
                                        <p:cTn id="35" dur="500"/>
                                        <p:tgtEl>
                                          <p:spTgt spid="386055">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86055">
                                            <p:txEl>
                                              <p:pRg st="6" end="6"/>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386055">
                                            <p:txEl>
                                              <p:pRg st="7" end="7"/>
                                            </p:txEl>
                                          </p:spTgt>
                                        </p:tgtEl>
                                        <p:attrNameLst>
                                          <p:attrName>style.visibility</p:attrName>
                                        </p:attrNameLst>
                                      </p:cBhvr>
                                      <p:to>
                                        <p:strVal val="visible"/>
                                      </p:to>
                                    </p:set>
                                    <p:anim calcmode="lin" valueType="num">
                                      <p:cBhvr additive="base">
                                        <p:cTn id="39" dur="500"/>
                                        <p:tgtEl>
                                          <p:spTgt spid="386055">
                                            <p:txEl>
                                              <p:pRg st="7" end="7"/>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86055">
                                            <p:txEl>
                                              <p:pRg st="7" end="7"/>
                                            </p:tx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386055">
                                            <p:txEl>
                                              <p:pRg st="8" end="8"/>
                                            </p:txEl>
                                          </p:spTgt>
                                        </p:tgtEl>
                                        <p:attrNameLst>
                                          <p:attrName>style.visibility</p:attrName>
                                        </p:attrNameLst>
                                      </p:cBhvr>
                                      <p:to>
                                        <p:strVal val="visible"/>
                                      </p:to>
                                    </p:set>
                                    <p:anim calcmode="lin" valueType="num">
                                      <p:cBhvr additive="base">
                                        <p:cTn id="43" dur="500"/>
                                        <p:tgtEl>
                                          <p:spTgt spid="386055">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60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5" grpId="0" build="p" bldLvl="2"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6050"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6051"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6054" name="Rectangle 6"/>
          <p:cNvSpPr>
            <a:spLocks noGrp="1"/>
          </p:cNvSpPr>
          <p:nvPr>
            <p:ph type="title"/>
          </p:nvPr>
        </p:nvSpPr>
        <p:spPr/>
        <p:txBody>
          <a:bodyPr/>
          <a:lstStyle/>
          <a:p>
            <a:r>
              <a:rPr lang="en-GB" altLang="en-US"/>
              <a:t>Government Intervention in the Market</a:t>
            </a:r>
          </a:p>
        </p:txBody>
      </p:sp>
      <p:sp>
        <p:nvSpPr>
          <p:cNvPr id="386055" name="Rectangle 7"/>
          <p:cNvSpPr>
            <a:spLocks noGrp="1"/>
          </p:cNvSpPr>
          <p:nvPr>
            <p:ph idx="1"/>
          </p:nvPr>
        </p:nvSpPr>
        <p:spPr>
          <a:xfrm>
            <a:off x="370271" y="1396408"/>
            <a:ext cx="11379200" cy="4889500"/>
          </a:xfrm>
        </p:spPr>
        <p:txBody>
          <a:bodyPr>
            <a:normAutofit lnSpcReduction="10000"/>
          </a:bodyPr>
          <a:lstStyle/>
          <a:p>
            <a:pPr>
              <a:spcBef>
                <a:spcPct val="6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Regulatory bodies</a:t>
            </a:r>
          </a:p>
          <a:p>
            <a:pPr lvl="1">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Rather than using the blunt weapon of general legislation to ban or restrict various activities, a more ‘subtle’ approach can be adopted.</a:t>
            </a:r>
          </a:p>
          <a:p>
            <a:pPr lvl="1">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Having identified possible cases where action might be required (e.g. potential cases of pollution, misleading information or the abuse of monopoly power), the regulatory body would investigate. </a:t>
            </a:r>
          </a:p>
          <a:p>
            <a:pPr lvl="1">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Regulatory bodies for privatised utilities</a:t>
            </a:r>
          </a:p>
          <a:p>
            <a:pPr lvl="2">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Ofgem (the Office of Gas and Electricity Markets, Ofwat (the Office of Water Services), etc</a:t>
            </a:r>
          </a:p>
          <a:p>
            <a:pPr lvl="1">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Competition and Markets Authority</a:t>
            </a:r>
          </a:p>
          <a:p>
            <a:pPr lvl="1">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Advantage of this approach – a case-by-case method can be used, and the most appropriate solution adopted</a:t>
            </a:r>
          </a:p>
          <a:p>
            <a:pPr lvl="1">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Disadvantages of this approach – investigations may be expensive and time-consuming; only a few cases may be examined; offending firms may make promises of good behaviour but may not carry them out unless follow ups are done.</a:t>
            </a:r>
          </a:p>
        </p:txBody>
      </p:sp>
    </p:spTree>
    <p:extLst>
      <p:ext uri="{BB962C8B-B14F-4D97-AF65-F5344CB8AC3E}">
        <p14:creationId xmlns:p14="http://schemas.microsoft.com/office/powerpoint/2010/main" val="1308018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6055">
                                            <p:txEl>
                                              <p:pRg st="0" end="0"/>
                                            </p:txEl>
                                          </p:spTgt>
                                        </p:tgtEl>
                                        <p:attrNameLst>
                                          <p:attrName>style.visibility</p:attrName>
                                        </p:attrNameLst>
                                      </p:cBhvr>
                                      <p:to>
                                        <p:strVal val="visible"/>
                                      </p:to>
                                    </p:set>
                                    <p:anim calcmode="lin" valueType="num">
                                      <p:cBhvr additive="base">
                                        <p:cTn id="7" dur="500"/>
                                        <p:tgtEl>
                                          <p:spTgt spid="38605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605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6055">
                                            <p:txEl>
                                              <p:pRg st="1" end="1"/>
                                            </p:txEl>
                                          </p:spTgt>
                                        </p:tgtEl>
                                        <p:attrNameLst>
                                          <p:attrName>style.visibility</p:attrName>
                                        </p:attrNameLst>
                                      </p:cBhvr>
                                      <p:to>
                                        <p:strVal val="visible"/>
                                      </p:to>
                                    </p:set>
                                    <p:anim calcmode="lin" valueType="num">
                                      <p:cBhvr additive="base">
                                        <p:cTn id="13" dur="500"/>
                                        <p:tgtEl>
                                          <p:spTgt spid="38605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605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6055">
                                            <p:txEl>
                                              <p:pRg st="2" end="2"/>
                                            </p:txEl>
                                          </p:spTgt>
                                        </p:tgtEl>
                                        <p:attrNameLst>
                                          <p:attrName>style.visibility</p:attrName>
                                        </p:attrNameLst>
                                      </p:cBhvr>
                                      <p:to>
                                        <p:strVal val="visible"/>
                                      </p:to>
                                    </p:set>
                                    <p:anim calcmode="lin" valueType="num">
                                      <p:cBhvr additive="base">
                                        <p:cTn id="19" dur="500"/>
                                        <p:tgtEl>
                                          <p:spTgt spid="38605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6055">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6055">
                                            <p:txEl>
                                              <p:pRg st="3" end="3"/>
                                            </p:txEl>
                                          </p:spTgt>
                                        </p:tgtEl>
                                        <p:attrNameLst>
                                          <p:attrName>style.visibility</p:attrName>
                                        </p:attrNameLst>
                                      </p:cBhvr>
                                      <p:to>
                                        <p:strVal val="visible"/>
                                      </p:to>
                                    </p:set>
                                    <p:anim calcmode="lin" valueType="num">
                                      <p:cBhvr additive="base">
                                        <p:cTn id="25" dur="500"/>
                                        <p:tgtEl>
                                          <p:spTgt spid="38605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6055">
                                            <p:txEl>
                                              <p:pRg st="3" end="3"/>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86055">
                                            <p:txEl>
                                              <p:pRg st="4" end="4"/>
                                            </p:txEl>
                                          </p:spTgt>
                                        </p:tgtEl>
                                        <p:attrNameLst>
                                          <p:attrName>style.visibility</p:attrName>
                                        </p:attrNameLst>
                                      </p:cBhvr>
                                      <p:to>
                                        <p:strVal val="visible"/>
                                      </p:to>
                                    </p:set>
                                    <p:anim calcmode="lin" valueType="num">
                                      <p:cBhvr additive="base">
                                        <p:cTn id="29" dur="500"/>
                                        <p:tgtEl>
                                          <p:spTgt spid="386055">
                                            <p:txEl>
                                              <p:pRg st="4" end="4"/>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86055">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86055">
                                            <p:txEl>
                                              <p:pRg st="5" end="5"/>
                                            </p:txEl>
                                          </p:spTgt>
                                        </p:tgtEl>
                                        <p:attrNameLst>
                                          <p:attrName>style.visibility</p:attrName>
                                        </p:attrNameLst>
                                      </p:cBhvr>
                                      <p:to>
                                        <p:strVal val="visible"/>
                                      </p:to>
                                    </p:set>
                                    <p:anim calcmode="lin" valueType="num">
                                      <p:cBhvr additive="base">
                                        <p:cTn id="35" dur="500"/>
                                        <p:tgtEl>
                                          <p:spTgt spid="386055">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86055">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386055">
                                            <p:txEl>
                                              <p:pRg st="6" end="6"/>
                                            </p:txEl>
                                          </p:spTgt>
                                        </p:tgtEl>
                                        <p:attrNameLst>
                                          <p:attrName>style.visibility</p:attrName>
                                        </p:attrNameLst>
                                      </p:cBhvr>
                                      <p:to>
                                        <p:strVal val="visible"/>
                                      </p:to>
                                    </p:set>
                                    <p:anim calcmode="lin" valueType="num">
                                      <p:cBhvr additive="base">
                                        <p:cTn id="41" dur="500"/>
                                        <p:tgtEl>
                                          <p:spTgt spid="386055">
                                            <p:txEl>
                                              <p:pRg st="6" end="6"/>
                                            </p:txEl>
                                          </p:spTgt>
                                        </p:tgtEl>
                                        <p:attrNameLst>
                                          <p:attrName>ppt_y</p:attrName>
                                        </p:attrNameLst>
                                      </p:cBhvr>
                                      <p:tavLst>
                                        <p:tav tm="0">
                                          <p:val>
                                            <p:strVal val="#ppt_y+#ppt_h*1.125000"/>
                                          </p:val>
                                        </p:tav>
                                        <p:tav tm="100000">
                                          <p:val>
                                            <p:strVal val="#ppt_y"/>
                                          </p:val>
                                        </p:tav>
                                      </p:tavLst>
                                    </p:anim>
                                    <p:animEffect transition="in" filter="wipe(up)">
                                      <p:cBhvr>
                                        <p:cTn id="42" dur="500"/>
                                        <p:tgtEl>
                                          <p:spTgt spid="38605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386055">
                                            <p:txEl>
                                              <p:pRg st="7" end="7"/>
                                            </p:txEl>
                                          </p:spTgt>
                                        </p:tgtEl>
                                        <p:attrNameLst>
                                          <p:attrName>style.visibility</p:attrName>
                                        </p:attrNameLst>
                                      </p:cBhvr>
                                      <p:to>
                                        <p:strVal val="visible"/>
                                      </p:to>
                                    </p:set>
                                    <p:anim calcmode="lin" valueType="num">
                                      <p:cBhvr additive="base">
                                        <p:cTn id="47" dur="500"/>
                                        <p:tgtEl>
                                          <p:spTgt spid="386055">
                                            <p:txEl>
                                              <p:pRg st="7" end="7"/>
                                            </p:txEl>
                                          </p:spTgt>
                                        </p:tgtEl>
                                        <p:attrNameLst>
                                          <p:attrName>ppt_y</p:attrName>
                                        </p:attrNameLst>
                                      </p:cBhvr>
                                      <p:tavLst>
                                        <p:tav tm="0">
                                          <p:val>
                                            <p:strVal val="#ppt_y+#ppt_h*1.125000"/>
                                          </p:val>
                                        </p:tav>
                                        <p:tav tm="100000">
                                          <p:val>
                                            <p:strVal val="#ppt_y"/>
                                          </p:val>
                                        </p:tav>
                                      </p:tavLst>
                                    </p:anim>
                                    <p:animEffect transition="in" filter="wipe(up)">
                                      <p:cBhvr>
                                        <p:cTn id="48" dur="500"/>
                                        <p:tgtEl>
                                          <p:spTgt spid="3860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5" grpId="0" build="p" bldLvl="2"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8098"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8099"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8102" name="Rectangle 6"/>
          <p:cNvSpPr>
            <a:spLocks noGrp="1"/>
          </p:cNvSpPr>
          <p:nvPr>
            <p:ph type="title"/>
          </p:nvPr>
        </p:nvSpPr>
        <p:spPr/>
        <p:txBody>
          <a:bodyPr/>
          <a:lstStyle/>
          <a:p>
            <a:r>
              <a:rPr lang="en-GB" altLang="en-US"/>
              <a:t>Government Intervention in the Market</a:t>
            </a:r>
          </a:p>
        </p:txBody>
      </p:sp>
      <p:sp>
        <p:nvSpPr>
          <p:cNvPr id="388103" name="Rectangle 7"/>
          <p:cNvSpPr>
            <a:spLocks noGrp="1"/>
          </p:cNvSpPr>
          <p:nvPr>
            <p:ph idx="1"/>
          </p:nvPr>
        </p:nvSpPr>
        <p:spPr>
          <a:xfrm>
            <a:off x="354320" y="1412357"/>
            <a:ext cx="11601991" cy="5163879"/>
          </a:xfrm>
        </p:spPr>
        <p:txBody>
          <a:bodyPr/>
          <a:lstStyle/>
          <a:p>
            <a:pPr>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Price controls </a:t>
            </a:r>
            <a:r>
              <a:rPr lang="en-GB" altLang="en-US" sz="2000" dirty="0">
                <a:latin typeface="Calibri" panose="020F0502020204030204" pitchFamily="34" charset="0"/>
                <a:ea typeface="Calibri" panose="020F0502020204030204" pitchFamily="34" charset="0"/>
                <a:cs typeface="Calibri" panose="020F0502020204030204" pitchFamily="34" charset="0"/>
              </a:rPr>
              <a:t>can be used to either raise prices above, or to reduce them below, the free-market </a:t>
            </a:r>
            <a:r>
              <a:rPr lang="en-GB" altLang="en-US" sz="2000" dirty="0" err="1">
                <a:latin typeface="Calibri" panose="020F0502020204030204" pitchFamily="34" charset="0"/>
                <a:ea typeface="Calibri" panose="020F0502020204030204" pitchFamily="34" charset="0"/>
                <a:cs typeface="Calibri" panose="020F0502020204030204" pitchFamily="34" charset="0"/>
              </a:rPr>
              <a:t>leve</a:t>
            </a: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Prices set </a:t>
            </a:r>
            <a:r>
              <a:rPr lang="en-GB" altLang="en-US" sz="2000" i="1" dirty="0">
                <a:latin typeface="Calibri" panose="020F0502020204030204" pitchFamily="34" charset="0"/>
                <a:ea typeface="Calibri" panose="020F0502020204030204" pitchFamily="34" charset="0"/>
                <a:cs typeface="Calibri" panose="020F0502020204030204" pitchFamily="34" charset="0"/>
              </a:rPr>
              <a:t>below</a:t>
            </a:r>
            <a:r>
              <a:rPr lang="en-GB" altLang="en-US" sz="2000" dirty="0">
                <a:latin typeface="Calibri" panose="020F0502020204030204" pitchFamily="34" charset="0"/>
                <a:ea typeface="Calibri" panose="020F0502020204030204" pitchFamily="34" charset="0"/>
                <a:cs typeface="Calibri" panose="020F0502020204030204" pitchFamily="34" charset="0"/>
              </a:rPr>
              <a:t> the market equilibrium – the government, or another body, could set prices </a:t>
            </a:r>
            <a:r>
              <a:rPr lang="en-GB" altLang="en-US" sz="2000" i="1" dirty="0">
                <a:latin typeface="Calibri" panose="020F0502020204030204" pitchFamily="34" charset="0"/>
                <a:ea typeface="Calibri" panose="020F0502020204030204" pitchFamily="34" charset="0"/>
                <a:cs typeface="Calibri" panose="020F0502020204030204" pitchFamily="34" charset="0"/>
              </a:rPr>
              <a:t>below</a:t>
            </a:r>
            <a:r>
              <a:rPr lang="en-GB" altLang="en-US" sz="2000" dirty="0">
                <a:latin typeface="Calibri" panose="020F0502020204030204" pitchFamily="34" charset="0"/>
                <a:ea typeface="Calibri" panose="020F0502020204030204" pitchFamily="34" charset="0"/>
                <a:cs typeface="Calibri" panose="020F0502020204030204" pitchFamily="34" charset="0"/>
              </a:rPr>
              <a:t> the market equilibrium to prevent a monopoly or oligopoly from charging prices above the socially efficient level</a:t>
            </a:r>
          </a:p>
          <a:p>
            <a:pPr lvl="1">
              <a:lnSpc>
                <a:spcPct val="100000"/>
              </a:lnSpc>
              <a:spcBef>
                <a:spcPts val="600"/>
              </a:spcBef>
            </a:pPr>
            <a:r>
              <a:rPr lang="en-GB" altLang="en-US" sz="1800" dirty="0">
                <a:latin typeface="Calibri" panose="020F0502020204030204" pitchFamily="34" charset="0"/>
                <a:ea typeface="Calibri" panose="020F0502020204030204" pitchFamily="34" charset="0"/>
                <a:cs typeface="Calibri" panose="020F0502020204030204" pitchFamily="34" charset="0"/>
              </a:rPr>
              <a:t>For e.g. Ofgem use price caps on energy bills</a:t>
            </a:r>
          </a:p>
          <a:p>
            <a:pPr lvl="1">
              <a:lnSpc>
                <a:spcPct val="100000"/>
              </a:lnSpc>
              <a:spcBef>
                <a:spcPts val="600"/>
              </a:spcBef>
            </a:pPr>
            <a:r>
              <a:rPr lang="en-GB" altLang="en-US" sz="1800" dirty="0">
                <a:latin typeface="Calibri" panose="020F0502020204030204" pitchFamily="34" charset="0"/>
                <a:ea typeface="Calibri" panose="020F0502020204030204" pitchFamily="34" charset="0"/>
                <a:cs typeface="Calibri" panose="020F0502020204030204" pitchFamily="34" charset="0"/>
              </a:rPr>
              <a:t>For e.g. interest rate cap of 0.8 per cent per day applied to the payday loan market in January 2015</a:t>
            </a: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Prices set </a:t>
            </a:r>
            <a:r>
              <a:rPr lang="en-GB" altLang="en-US" sz="2000" i="1" dirty="0">
                <a:latin typeface="Calibri" panose="020F0502020204030204" pitchFamily="34" charset="0"/>
                <a:ea typeface="Calibri" panose="020F0502020204030204" pitchFamily="34" charset="0"/>
                <a:cs typeface="Calibri" panose="020F0502020204030204" pitchFamily="34" charset="0"/>
              </a:rPr>
              <a:t>above</a:t>
            </a:r>
            <a:r>
              <a:rPr lang="en-GB" altLang="en-US" sz="2000" dirty="0">
                <a:latin typeface="Calibri" panose="020F0502020204030204" pitchFamily="34" charset="0"/>
                <a:ea typeface="Calibri" panose="020F0502020204030204" pitchFamily="34" charset="0"/>
                <a:cs typeface="Calibri" panose="020F0502020204030204" pitchFamily="34" charset="0"/>
              </a:rPr>
              <a:t> the market equilibrium – the government could set prices </a:t>
            </a:r>
            <a:r>
              <a:rPr lang="en-GB" altLang="en-US" sz="2000" i="1" dirty="0">
                <a:latin typeface="Calibri" panose="020F0502020204030204" pitchFamily="34" charset="0"/>
                <a:ea typeface="Calibri" panose="020F0502020204030204" pitchFamily="34" charset="0"/>
                <a:cs typeface="Calibri" panose="020F0502020204030204" pitchFamily="34" charset="0"/>
              </a:rPr>
              <a:t>above</a:t>
            </a:r>
            <a:r>
              <a:rPr lang="en-GB" altLang="en-US" sz="2000" dirty="0">
                <a:latin typeface="Calibri" panose="020F0502020204030204" pitchFamily="34" charset="0"/>
                <a:ea typeface="Calibri" panose="020F0502020204030204" pitchFamily="34" charset="0"/>
                <a:cs typeface="Calibri" panose="020F0502020204030204" pitchFamily="34" charset="0"/>
              </a:rPr>
              <a:t> the competitive market equilibrium to reduce the level of social inefficiency caused by a negative externality and/or poor economic decision making by individuals on their own behalf.</a:t>
            </a:r>
          </a:p>
          <a:p>
            <a:pPr lvl="1">
              <a:lnSpc>
                <a:spcPct val="100000"/>
              </a:lnSpc>
              <a:spcBef>
                <a:spcPts val="600"/>
              </a:spcBef>
            </a:pPr>
            <a:r>
              <a:rPr lang="en-GB" altLang="en-US" sz="1800" dirty="0">
                <a:latin typeface="Calibri" panose="020F0502020204030204" pitchFamily="34" charset="0"/>
                <a:ea typeface="Calibri" panose="020F0502020204030204" pitchFamily="34" charset="0"/>
                <a:cs typeface="Calibri" panose="020F0502020204030204" pitchFamily="34" charset="0"/>
              </a:rPr>
              <a:t>An efficient outcome would be reached if a minimum price was set at a level where the MSB = MSC</a:t>
            </a:r>
          </a:p>
          <a:p>
            <a:pPr lvl="1">
              <a:lnSpc>
                <a:spcPct val="100000"/>
              </a:lnSpc>
              <a:spcBef>
                <a:spcPts val="600"/>
              </a:spcBef>
            </a:pPr>
            <a:r>
              <a:rPr lang="en-GB" altLang="en-US" sz="1800" dirty="0">
                <a:latin typeface="Calibri" panose="020F0502020204030204" pitchFamily="34" charset="0"/>
                <a:ea typeface="Calibri" panose="020F0502020204030204" pitchFamily="34" charset="0"/>
                <a:cs typeface="Calibri" panose="020F0502020204030204" pitchFamily="34" charset="0"/>
              </a:rPr>
              <a:t>For e.g. decision by the Scottish Government to introduce minimum unit pricing for alcohol in May 2018</a:t>
            </a:r>
          </a:p>
          <a:p>
            <a:pPr lvl="1">
              <a:lnSpc>
                <a:spcPct val="100000"/>
              </a:lnSpc>
              <a:spcBef>
                <a:spcPts val="600"/>
              </a:spcBef>
            </a:pPr>
            <a:r>
              <a:rPr lang="en-GB" altLang="en-US" sz="1800" dirty="0">
                <a:latin typeface="Calibri" panose="020F0502020204030204" pitchFamily="34" charset="0"/>
                <a:ea typeface="Calibri" panose="020F0502020204030204" pitchFamily="34" charset="0"/>
                <a:cs typeface="Calibri" panose="020F0502020204030204" pitchFamily="34" charset="0"/>
              </a:rPr>
              <a:t>High farm prices can be used to protect the incomes of farmers and minimum wage legislation can help those on low incomes. </a:t>
            </a: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Price controls can cause shortages and surpluses	</a:t>
            </a:r>
            <a:r>
              <a:rPr lang="en-GB" altLang="en-US" sz="2000" dirty="0"/>
              <a:t>	</a:t>
            </a:r>
          </a:p>
          <a:p>
            <a:pPr>
              <a:lnSpc>
                <a:spcPct val="80000"/>
              </a:lnSpc>
            </a:pPr>
            <a:endParaRPr lang="en-GB" altLang="en-US" sz="2000" dirty="0"/>
          </a:p>
        </p:txBody>
      </p:sp>
    </p:spTree>
    <p:extLst>
      <p:ext uri="{BB962C8B-B14F-4D97-AF65-F5344CB8AC3E}">
        <p14:creationId xmlns:p14="http://schemas.microsoft.com/office/powerpoint/2010/main" val="358074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8103">
                                            <p:txEl>
                                              <p:pRg st="0" end="0"/>
                                            </p:txEl>
                                          </p:spTgt>
                                        </p:tgtEl>
                                        <p:attrNameLst>
                                          <p:attrName>style.visibility</p:attrName>
                                        </p:attrNameLst>
                                      </p:cBhvr>
                                      <p:to>
                                        <p:strVal val="visible"/>
                                      </p:to>
                                    </p:set>
                                    <p:anim calcmode="lin" valueType="num">
                                      <p:cBhvr additive="base">
                                        <p:cTn id="7" dur="500"/>
                                        <p:tgtEl>
                                          <p:spTgt spid="3881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810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8103">
                                            <p:txEl>
                                              <p:pRg st="1" end="1"/>
                                            </p:txEl>
                                          </p:spTgt>
                                        </p:tgtEl>
                                        <p:attrNameLst>
                                          <p:attrName>style.visibility</p:attrName>
                                        </p:attrNameLst>
                                      </p:cBhvr>
                                      <p:to>
                                        <p:strVal val="visible"/>
                                      </p:to>
                                    </p:set>
                                    <p:anim calcmode="lin" valueType="num">
                                      <p:cBhvr additive="base">
                                        <p:cTn id="13" dur="500"/>
                                        <p:tgtEl>
                                          <p:spTgt spid="38810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810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8103">
                                            <p:txEl>
                                              <p:pRg st="2" end="2"/>
                                            </p:txEl>
                                          </p:spTgt>
                                        </p:tgtEl>
                                        <p:attrNameLst>
                                          <p:attrName>style.visibility</p:attrName>
                                        </p:attrNameLst>
                                      </p:cBhvr>
                                      <p:to>
                                        <p:strVal val="visible"/>
                                      </p:to>
                                    </p:set>
                                    <p:anim calcmode="lin" valueType="num">
                                      <p:cBhvr additive="base">
                                        <p:cTn id="19" dur="500"/>
                                        <p:tgtEl>
                                          <p:spTgt spid="38810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810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8103">
                                            <p:txEl>
                                              <p:pRg st="3" end="3"/>
                                            </p:txEl>
                                          </p:spTgt>
                                        </p:tgtEl>
                                        <p:attrNameLst>
                                          <p:attrName>style.visibility</p:attrName>
                                        </p:attrNameLst>
                                      </p:cBhvr>
                                      <p:to>
                                        <p:strVal val="visible"/>
                                      </p:to>
                                    </p:set>
                                    <p:anim calcmode="lin" valueType="num">
                                      <p:cBhvr additive="base">
                                        <p:cTn id="25" dur="500"/>
                                        <p:tgtEl>
                                          <p:spTgt spid="38810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810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8103">
                                            <p:txEl>
                                              <p:pRg st="4" end="4"/>
                                            </p:txEl>
                                          </p:spTgt>
                                        </p:tgtEl>
                                        <p:attrNameLst>
                                          <p:attrName>style.visibility</p:attrName>
                                        </p:attrNameLst>
                                      </p:cBhvr>
                                      <p:to>
                                        <p:strVal val="visible"/>
                                      </p:to>
                                    </p:set>
                                    <p:anim calcmode="lin" valueType="num">
                                      <p:cBhvr additive="base">
                                        <p:cTn id="31" dur="500"/>
                                        <p:tgtEl>
                                          <p:spTgt spid="38810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810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88103">
                                            <p:txEl>
                                              <p:pRg st="5" end="5"/>
                                            </p:txEl>
                                          </p:spTgt>
                                        </p:tgtEl>
                                        <p:attrNameLst>
                                          <p:attrName>style.visibility</p:attrName>
                                        </p:attrNameLst>
                                      </p:cBhvr>
                                      <p:to>
                                        <p:strVal val="visible"/>
                                      </p:to>
                                    </p:set>
                                    <p:anim calcmode="lin" valueType="num">
                                      <p:cBhvr additive="base">
                                        <p:cTn id="37" dur="500"/>
                                        <p:tgtEl>
                                          <p:spTgt spid="38810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810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88103">
                                            <p:txEl>
                                              <p:pRg st="6" end="6"/>
                                            </p:txEl>
                                          </p:spTgt>
                                        </p:tgtEl>
                                        <p:attrNameLst>
                                          <p:attrName>style.visibility</p:attrName>
                                        </p:attrNameLst>
                                      </p:cBhvr>
                                      <p:to>
                                        <p:strVal val="visible"/>
                                      </p:to>
                                    </p:set>
                                    <p:anim calcmode="lin" valueType="num">
                                      <p:cBhvr additive="base">
                                        <p:cTn id="43" dur="500"/>
                                        <p:tgtEl>
                                          <p:spTgt spid="388103">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810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88103">
                                            <p:txEl>
                                              <p:pRg st="7" end="7"/>
                                            </p:txEl>
                                          </p:spTgt>
                                        </p:tgtEl>
                                        <p:attrNameLst>
                                          <p:attrName>style.visibility</p:attrName>
                                        </p:attrNameLst>
                                      </p:cBhvr>
                                      <p:to>
                                        <p:strVal val="visible"/>
                                      </p:to>
                                    </p:set>
                                    <p:anim calcmode="lin" valueType="num">
                                      <p:cBhvr additive="base">
                                        <p:cTn id="49" dur="500"/>
                                        <p:tgtEl>
                                          <p:spTgt spid="388103">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8810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88103">
                                            <p:txEl>
                                              <p:pRg st="8" end="8"/>
                                            </p:txEl>
                                          </p:spTgt>
                                        </p:tgtEl>
                                        <p:attrNameLst>
                                          <p:attrName>style.visibility</p:attrName>
                                        </p:attrNameLst>
                                      </p:cBhvr>
                                      <p:to>
                                        <p:strVal val="visible"/>
                                      </p:to>
                                    </p:set>
                                    <p:anim calcmode="lin" valueType="num">
                                      <p:cBhvr additive="base">
                                        <p:cTn id="55" dur="500"/>
                                        <p:tgtEl>
                                          <p:spTgt spid="388103">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881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3" grpId="0" build="p" bldLvl="3"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8098"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8099"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8102" name="Rectangle 6"/>
          <p:cNvSpPr>
            <a:spLocks noGrp="1"/>
          </p:cNvSpPr>
          <p:nvPr>
            <p:ph type="title"/>
          </p:nvPr>
        </p:nvSpPr>
        <p:spPr/>
        <p:txBody>
          <a:bodyPr/>
          <a:lstStyle/>
          <a:p>
            <a:r>
              <a:rPr lang="en-GB" altLang="en-US"/>
              <a:t>Government Intervention in the Market</a:t>
            </a:r>
          </a:p>
        </p:txBody>
      </p:sp>
      <p:sp>
        <p:nvSpPr>
          <p:cNvPr id="388103" name="Rectangle 7"/>
          <p:cNvSpPr>
            <a:spLocks noGrp="1"/>
          </p:cNvSpPr>
          <p:nvPr>
            <p:ph idx="1"/>
          </p:nvPr>
        </p:nvSpPr>
        <p:spPr>
          <a:xfrm>
            <a:off x="402167" y="1348562"/>
            <a:ext cx="11379200" cy="5052237"/>
          </a:xfrm>
        </p:spPr>
        <p:txBody>
          <a:bodyPr>
            <a:normAutofit lnSpcReduction="10000"/>
          </a:bodyPr>
          <a:lstStyle/>
          <a:p>
            <a:pPr marL="0" indent="0">
              <a:lnSpc>
                <a:spcPct val="100000"/>
              </a:lnSpc>
              <a:spcBef>
                <a:spcPts val="600"/>
              </a:spcBef>
              <a:buNone/>
            </a:pPr>
            <a:r>
              <a:rPr lang="en-GB" altLang="en-US" sz="2000" b="1" dirty="0">
                <a:latin typeface="Calibri" panose="020F0502020204030204" pitchFamily="34" charset="0"/>
                <a:ea typeface="Calibri" panose="020F0502020204030204" pitchFamily="34" charset="0"/>
                <a:cs typeface="Calibri" panose="020F0502020204030204" pitchFamily="34" charset="0"/>
              </a:rPr>
              <a:t>Provision of information</a:t>
            </a: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When ignorance is a reason for market failure, the direct provision of information by the government or one of its agencies may help to correct that failure.</a:t>
            </a:r>
          </a:p>
          <a:p>
            <a:pPr lvl="2">
              <a:lnSpc>
                <a:spcPct val="100000"/>
              </a:lnSpc>
              <a:spcBef>
                <a:spcPts val="600"/>
              </a:spcBef>
            </a:pPr>
            <a:r>
              <a:rPr lang="en-GB" altLang="en-US" sz="1800" dirty="0">
                <a:latin typeface="Calibri" panose="020F0502020204030204" pitchFamily="34" charset="0"/>
                <a:ea typeface="Calibri" panose="020F0502020204030204" pitchFamily="34" charset="0"/>
                <a:cs typeface="Calibri" panose="020F0502020204030204" pitchFamily="34" charset="0"/>
              </a:rPr>
              <a:t>For e.g. the information on jobs provided by job centres to those looking for work.</a:t>
            </a:r>
          </a:p>
          <a:p>
            <a:pPr lvl="2">
              <a:lnSpc>
                <a:spcPct val="100000"/>
              </a:lnSpc>
              <a:spcBef>
                <a:spcPts val="600"/>
              </a:spcBef>
            </a:pPr>
            <a:r>
              <a:rPr lang="en-GB" altLang="en-US" sz="1800" dirty="0">
                <a:latin typeface="Calibri" panose="020F0502020204030204" pitchFamily="34" charset="0"/>
                <a:ea typeface="Calibri" panose="020F0502020204030204" pitchFamily="34" charset="0"/>
                <a:cs typeface="Calibri" panose="020F0502020204030204" pitchFamily="34" charset="0"/>
              </a:rPr>
              <a:t>For e.g. the provision of consumer information, for instance on the effects of smoking or eating certain foodstuffs.</a:t>
            </a:r>
          </a:p>
          <a:p>
            <a:pPr lvl="2">
              <a:lnSpc>
                <a:spcPct val="100000"/>
              </a:lnSpc>
              <a:spcBef>
                <a:spcPts val="600"/>
              </a:spcBef>
            </a:pPr>
            <a:r>
              <a:rPr lang="en-GB" altLang="en-US" sz="1800" dirty="0">
                <a:latin typeface="Calibri" panose="020F0502020204030204" pitchFamily="34" charset="0"/>
                <a:ea typeface="Calibri" panose="020F0502020204030204" pitchFamily="34" charset="0"/>
                <a:cs typeface="Calibri" panose="020F0502020204030204" pitchFamily="34" charset="0"/>
              </a:rPr>
              <a:t>For e.g. the provision of government statistics on prices, costs, employment, sales trends – this enables firms to plan with greater certainty.</a:t>
            </a:r>
          </a:p>
          <a:p>
            <a:pPr marL="0" indent="0">
              <a:lnSpc>
                <a:spcPct val="100000"/>
              </a:lnSpc>
              <a:spcBef>
                <a:spcPts val="600"/>
              </a:spcBef>
              <a:buNone/>
            </a:pPr>
            <a:r>
              <a:rPr lang="en-GB" altLang="en-US" sz="2000" b="1" dirty="0">
                <a:latin typeface="Calibri" panose="020F0502020204030204" pitchFamily="34" charset="0"/>
                <a:ea typeface="Calibri" panose="020F0502020204030204" pitchFamily="34" charset="0"/>
                <a:cs typeface="Calibri" panose="020F0502020204030204" pitchFamily="34" charset="0"/>
              </a:rPr>
              <a:t>Direct provision of goods and services</a:t>
            </a: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 the case of public goods and services, such as flood defence and national defence, the market mechanism may fail to provide the socially efficient amount because of free-riding.</a:t>
            </a: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Governments may have to finance the optimal provision of public goods by requiring compulsory payments from members of society (for e.g. through the tax system).</a:t>
            </a: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government could also provide goods and services directly which are </a:t>
            </a:r>
            <a:r>
              <a:rPr lang="en-GB" altLang="en-US" sz="2000" i="1" dirty="0">
                <a:latin typeface="Calibri" panose="020F0502020204030204" pitchFamily="34" charset="0"/>
                <a:ea typeface="Calibri" panose="020F0502020204030204" pitchFamily="34" charset="0"/>
                <a:cs typeface="Calibri" panose="020F0502020204030204" pitchFamily="34" charset="0"/>
              </a:rPr>
              <a:t>not</a:t>
            </a:r>
            <a:r>
              <a:rPr lang="en-GB" altLang="en-US" sz="2000" dirty="0">
                <a:latin typeface="Calibri" panose="020F0502020204030204" pitchFamily="34" charset="0"/>
                <a:ea typeface="Calibri" panose="020F0502020204030204" pitchFamily="34" charset="0"/>
                <a:cs typeface="Calibri" panose="020F0502020204030204" pitchFamily="34" charset="0"/>
              </a:rPr>
              <a:t> public goods. Examples include healthcare and education.</a:t>
            </a:r>
          </a:p>
        </p:txBody>
      </p:sp>
    </p:spTree>
    <p:extLst>
      <p:ext uri="{BB962C8B-B14F-4D97-AF65-F5344CB8AC3E}">
        <p14:creationId xmlns:p14="http://schemas.microsoft.com/office/powerpoint/2010/main" val="42407075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8103">
                                            <p:txEl>
                                              <p:pRg st="0" end="0"/>
                                            </p:txEl>
                                          </p:spTgt>
                                        </p:tgtEl>
                                        <p:attrNameLst>
                                          <p:attrName>style.visibility</p:attrName>
                                        </p:attrNameLst>
                                      </p:cBhvr>
                                      <p:to>
                                        <p:strVal val="visible"/>
                                      </p:to>
                                    </p:set>
                                    <p:anim calcmode="lin" valueType="num">
                                      <p:cBhvr additive="base">
                                        <p:cTn id="7" dur="500"/>
                                        <p:tgtEl>
                                          <p:spTgt spid="3881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810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8103">
                                            <p:txEl>
                                              <p:pRg st="1" end="1"/>
                                            </p:txEl>
                                          </p:spTgt>
                                        </p:tgtEl>
                                        <p:attrNameLst>
                                          <p:attrName>style.visibility</p:attrName>
                                        </p:attrNameLst>
                                      </p:cBhvr>
                                      <p:to>
                                        <p:strVal val="visible"/>
                                      </p:to>
                                    </p:set>
                                    <p:anim calcmode="lin" valueType="num">
                                      <p:cBhvr additive="base">
                                        <p:cTn id="13" dur="500"/>
                                        <p:tgtEl>
                                          <p:spTgt spid="38810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810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8103">
                                            <p:txEl>
                                              <p:pRg st="2" end="2"/>
                                            </p:txEl>
                                          </p:spTgt>
                                        </p:tgtEl>
                                        <p:attrNameLst>
                                          <p:attrName>style.visibility</p:attrName>
                                        </p:attrNameLst>
                                      </p:cBhvr>
                                      <p:to>
                                        <p:strVal val="visible"/>
                                      </p:to>
                                    </p:set>
                                    <p:anim calcmode="lin" valueType="num">
                                      <p:cBhvr additive="base">
                                        <p:cTn id="19" dur="500"/>
                                        <p:tgtEl>
                                          <p:spTgt spid="38810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810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8103">
                                            <p:txEl>
                                              <p:pRg st="3" end="3"/>
                                            </p:txEl>
                                          </p:spTgt>
                                        </p:tgtEl>
                                        <p:attrNameLst>
                                          <p:attrName>style.visibility</p:attrName>
                                        </p:attrNameLst>
                                      </p:cBhvr>
                                      <p:to>
                                        <p:strVal val="visible"/>
                                      </p:to>
                                    </p:set>
                                    <p:anim calcmode="lin" valueType="num">
                                      <p:cBhvr additive="base">
                                        <p:cTn id="25" dur="500"/>
                                        <p:tgtEl>
                                          <p:spTgt spid="38810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810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8103">
                                            <p:txEl>
                                              <p:pRg st="4" end="4"/>
                                            </p:txEl>
                                          </p:spTgt>
                                        </p:tgtEl>
                                        <p:attrNameLst>
                                          <p:attrName>style.visibility</p:attrName>
                                        </p:attrNameLst>
                                      </p:cBhvr>
                                      <p:to>
                                        <p:strVal val="visible"/>
                                      </p:to>
                                    </p:set>
                                    <p:anim calcmode="lin" valueType="num">
                                      <p:cBhvr additive="base">
                                        <p:cTn id="31" dur="500"/>
                                        <p:tgtEl>
                                          <p:spTgt spid="38810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810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88103">
                                            <p:txEl>
                                              <p:pRg st="5" end="5"/>
                                            </p:txEl>
                                          </p:spTgt>
                                        </p:tgtEl>
                                        <p:attrNameLst>
                                          <p:attrName>style.visibility</p:attrName>
                                        </p:attrNameLst>
                                      </p:cBhvr>
                                      <p:to>
                                        <p:strVal val="visible"/>
                                      </p:to>
                                    </p:set>
                                    <p:anim calcmode="lin" valueType="num">
                                      <p:cBhvr additive="base">
                                        <p:cTn id="37" dur="500"/>
                                        <p:tgtEl>
                                          <p:spTgt spid="38810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810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88103">
                                            <p:txEl>
                                              <p:pRg st="6" end="6"/>
                                            </p:txEl>
                                          </p:spTgt>
                                        </p:tgtEl>
                                        <p:attrNameLst>
                                          <p:attrName>style.visibility</p:attrName>
                                        </p:attrNameLst>
                                      </p:cBhvr>
                                      <p:to>
                                        <p:strVal val="visible"/>
                                      </p:to>
                                    </p:set>
                                    <p:anim calcmode="lin" valueType="num">
                                      <p:cBhvr additive="base">
                                        <p:cTn id="43" dur="500"/>
                                        <p:tgtEl>
                                          <p:spTgt spid="388103">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810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88103">
                                            <p:txEl>
                                              <p:pRg st="7" end="7"/>
                                            </p:txEl>
                                          </p:spTgt>
                                        </p:tgtEl>
                                        <p:attrNameLst>
                                          <p:attrName>style.visibility</p:attrName>
                                        </p:attrNameLst>
                                      </p:cBhvr>
                                      <p:to>
                                        <p:strVal val="visible"/>
                                      </p:to>
                                    </p:set>
                                    <p:anim calcmode="lin" valueType="num">
                                      <p:cBhvr additive="base">
                                        <p:cTn id="49" dur="500"/>
                                        <p:tgtEl>
                                          <p:spTgt spid="388103">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8810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88103">
                                            <p:txEl>
                                              <p:pRg st="8" end="8"/>
                                            </p:txEl>
                                          </p:spTgt>
                                        </p:tgtEl>
                                        <p:attrNameLst>
                                          <p:attrName>style.visibility</p:attrName>
                                        </p:attrNameLst>
                                      </p:cBhvr>
                                      <p:to>
                                        <p:strVal val="visible"/>
                                      </p:to>
                                    </p:set>
                                    <p:anim calcmode="lin" valueType="num">
                                      <p:cBhvr additive="base">
                                        <p:cTn id="55" dur="500"/>
                                        <p:tgtEl>
                                          <p:spTgt spid="388103">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881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3" grpId="0" build="p" bldLvl="3"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8098"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8099"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8102" name="Rectangle 6"/>
          <p:cNvSpPr>
            <a:spLocks noGrp="1"/>
          </p:cNvSpPr>
          <p:nvPr>
            <p:ph type="title"/>
          </p:nvPr>
        </p:nvSpPr>
        <p:spPr/>
        <p:txBody>
          <a:bodyPr/>
          <a:lstStyle/>
          <a:p>
            <a:r>
              <a:rPr lang="en-GB" altLang="en-US"/>
              <a:t>Government Intervention in the Market</a:t>
            </a:r>
          </a:p>
        </p:txBody>
      </p:sp>
      <p:sp>
        <p:nvSpPr>
          <p:cNvPr id="388103" name="Rectangle 7"/>
          <p:cNvSpPr>
            <a:spLocks noGrp="1"/>
          </p:cNvSpPr>
          <p:nvPr>
            <p:ph idx="1"/>
          </p:nvPr>
        </p:nvSpPr>
        <p:spPr>
          <a:xfrm>
            <a:off x="162933" y="1358900"/>
            <a:ext cx="11734900" cy="4889500"/>
          </a:xfrm>
        </p:spPr>
        <p:txBody>
          <a:bodyPr>
            <a:normAutofit lnSpcReduction="10000"/>
          </a:bodyPr>
          <a:lstStyle/>
          <a:p>
            <a:pPr marL="457200" lvl="1" indent="0">
              <a:lnSpc>
                <a:spcPct val="100000"/>
              </a:lnSpc>
              <a:spcBef>
                <a:spcPts val="300"/>
              </a:spcBef>
              <a:buNone/>
            </a:pPr>
            <a:r>
              <a:rPr lang="en-GB" altLang="en-US" sz="1900" dirty="0">
                <a:latin typeface="Calibri" panose="020F0502020204030204" pitchFamily="34" charset="0"/>
                <a:ea typeface="Calibri" panose="020F0502020204030204" pitchFamily="34" charset="0"/>
                <a:cs typeface="Calibri" panose="020F0502020204030204" pitchFamily="34" charset="0"/>
              </a:rPr>
              <a:t>There are four reasons why some goods and services (other than public goods) are provided free or well below cost.</a:t>
            </a:r>
            <a:endParaRPr lang="en-GB" altLang="en-US" sz="1900" b="1" dirty="0">
              <a:latin typeface="Calibri" panose="020F0502020204030204" pitchFamily="34" charset="0"/>
              <a:ea typeface="Calibri" panose="020F0502020204030204" pitchFamily="34" charset="0"/>
              <a:cs typeface="Calibri" panose="020F0502020204030204" pitchFamily="34" charset="0"/>
            </a:endParaRPr>
          </a:p>
          <a:p>
            <a:pPr marL="457200" lvl="1" indent="0">
              <a:lnSpc>
                <a:spcPct val="100000"/>
              </a:lnSpc>
              <a:spcBef>
                <a:spcPts val="300"/>
              </a:spcBef>
              <a:buNone/>
            </a:pPr>
            <a:r>
              <a:rPr lang="en-GB" altLang="en-US" sz="1900" b="1" dirty="0">
                <a:latin typeface="Calibri" panose="020F0502020204030204" pitchFamily="34" charset="0"/>
                <a:ea typeface="Calibri" panose="020F0502020204030204" pitchFamily="34" charset="0"/>
                <a:cs typeface="Calibri" panose="020F0502020204030204" pitchFamily="34" charset="0"/>
              </a:rPr>
              <a:t>1. Social justice </a:t>
            </a:r>
          </a:p>
          <a:p>
            <a:pPr lvl="2">
              <a:lnSpc>
                <a:spcPct val="100000"/>
              </a:lnSpc>
              <a:spcBef>
                <a:spcPts val="300"/>
              </a:spcBef>
            </a:pPr>
            <a:r>
              <a:rPr lang="en-GB" altLang="en-US" sz="1800" dirty="0">
                <a:latin typeface="Calibri" panose="020F0502020204030204" pitchFamily="34" charset="0"/>
                <a:ea typeface="Calibri" panose="020F0502020204030204" pitchFamily="34" charset="0"/>
                <a:cs typeface="Calibri" panose="020F0502020204030204" pitchFamily="34" charset="0"/>
              </a:rPr>
              <a:t>Society may feel that these things should not be provided according to ability to pay. Rather they should be provided as of right: an equal right based on need.</a:t>
            </a:r>
          </a:p>
          <a:p>
            <a:pPr marL="457200" lvl="1" indent="0">
              <a:lnSpc>
                <a:spcPct val="100000"/>
              </a:lnSpc>
              <a:spcBef>
                <a:spcPts val="300"/>
              </a:spcBef>
              <a:buNone/>
            </a:pPr>
            <a:r>
              <a:rPr lang="en-GB" altLang="en-US" sz="1900" b="1" dirty="0">
                <a:latin typeface="Calibri" panose="020F0502020204030204" pitchFamily="34" charset="0"/>
                <a:ea typeface="Calibri" panose="020F0502020204030204" pitchFamily="34" charset="0"/>
                <a:cs typeface="Calibri" panose="020F0502020204030204" pitchFamily="34" charset="0"/>
              </a:rPr>
              <a:t>2. Large positive externalities</a:t>
            </a:r>
          </a:p>
          <a:p>
            <a:pPr lvl="2">
              <a:lnSpc>
                <a:spcPct val="100000"/>
              </a:lnSpc>
              <a:spcBef>
                <a:spcPts val="300"/>
              </a:spcBef>
            </a:pPr>
            <a:r>
              <a:rPr lang="en-GB" altLang="en-US" sz="1800" dirty="0">
                <a:latin typeface="Calibri" panose="020F0502020204030204" pitchFamily="34" charset="0"/>
                <a:ea typeface="Calibri" panose="020F0502020204030204" pitchFamily="34" charset="0"/>
                <a:cs typeface="Calibri" panose="020F0502020204030204" pitchFamily="34" charset="0"/>
              </a:rPr>
              <a:t>People other than the consumer may benefit substantially. If a person decides to get treatment for an infectious disease, other people benefit by not being infected. </a:t>
            </a:r>
          </a:p>
          <a:p>
            <a:pPr lvl="2">
              <a:lnSpc>
                <a:spcPct val="100000"/>
              </a:lnSpc>
              <a:spcBef>
                <a:spcPts val="300"/>
              </a:spcBef>
            </a:pPr>
            <a:r>
              <a:rPr lang="en-GB" altLang="en-US" sz="1800" dirty="0">
                <a:latin typeface="Calibri" panose="020F0502020204030204" pitchFamily="34" charset="0"/>
                <a:ea typeface="Calibri" panose="020F0502020204030204" pitchFamily="34" charset="0"/>
                <a:cs typeface="Calibri" panose="020F0502020204030204" pitchFamily="34" charset="0"/>
              </a:rPr>
              <a:t>A free health service helps to combat the spread of disease.</a:t>
            </a:r>
          </a:p>
          <a:p>
            <a:pPr marL="457200" lvl="1" indent="0">
              <a:lnSpc>
                <a:spcPct val="100000"/>
              </a:lnSpc>
              <a:spcBef>
                <a:spcPts val="300"/>
              </a:spcBef>
              <a:buNone/>
            </a:pPr>
            <a:r>
              <a:rPr lang="en-GB" altLang="en-US" sz="1900" b="1" dirty="0">
                <a:latin typeface="Calibri" panose="020F0502020204030204" pitchFamily="34" charset="0"/>
                <a:ea typeface="Calibri" panose="020F0502020204030204" pitchFamily="34" charset="0"/>
                <a:cs typeface="Calibri" panose="020F0502020204030204" pitchFamily="34" charset="0"/>
              </a:rPr>
              <a:t>3. Dependants</a:t>
            </a:r>
          </a:p>
          <a:p>
            <a:pPr lvl="2">
              <a:lnSpc>
                <a:spcPct val="100000"/>
              </a:lnSpc>
              <a:spcBef>
                <a:spcPts val="300"/>
              </a:spcBef>
            </a:pPr>
            <a:r>
              <a:rPr lang="en-GB" altLang="en-US" sz="1800" dirty="0">
                <a:latin typeface="Calibri" panose="020F0502020204030204" pitchFamily="34" charset="0"/>
                <a:ea typeface="Calibri" panose="020F0502020204030204" pitchFamily="34" charset="0"/>
                <a:cs typeface="Calibri" panose="020F0502020204030204" pitchFamily="34" charset="0"/>
              </a:rPr>
              <a:t>If education were not free and if the quality of education depended on the amount spent, and if parents could choose how much or little to buy, then the quality of children’s education would depend not just on their parent’s income, but also on how much they cared.</a:t>
            </a:r>
          </a:p>
          <a:p>
            <a:pPr marL="457200" lvl="1" indent="0">
              <a:lnSpc>
                <a:spcPct val="100000"/>
              </a:lnSpc>
              <a:spcBef>
                <a:spcPts val="300"/>
              </a:spcBef>
              <a:buNone/>
            </a:pPr>
            <a:r>
              <a:rPr lang="en-GB" altLang="en-US" sz="1900" b="1" dirty="0">
                <a:latin typeface="Calibri" panose="020F0502020204030204" pitchFamily="34" charset="0"/>
                <a:ea typeface="Calibri" panose="020F0502020204030204" pitchFamily="34" charset="0"/>
                <a:cs typeface="Calibri" panose="020F0502020204030204" pitchFamily="34" charset="0"/>
              </a:rPr>
              <a:t>4. Ignorance</a:t>
            </a:r>
          </a:p>
          <a:p>
            <a:pPr lvl="2">
              <a:lnSpc>
                <a:spcPct val="100000"/>
              </a:lnSpc>
              <a:spcBef>
                <a:spcPts val="300"/>
              </a:spcBef>
            </a:pPr>
            <a:r>
              <a:rPr lang="en-GB" altLang="en-US" sz="1900" dirty="0">
                <a:latin typeface="Calibri" panose="020F0502020204030204" pitchFamily="34" charset="0"/>
                <a:ea typeface="Calibri" panose="020F0502020204030204" pitchFamily="34" charset="0"/>
                <a:cs typeface="Calibri" panose="020F0502020204030204" pitchFamily="34" charset="0"/>
              </a:rPr>
              <a:t>Consumers may not realise how much they will benefit. If they have to pay, they may choose (unwisely) to go without.</a:t>
            </a:r>
          </a:p>
        </p:txBody>
      </p:sp>
    </p:spTree>
    <p:extLst>
      <p:ext uri="{BB962C8B-B14F-4D97-AF65-F5344CB8AC3E}">
        <p14:creationId xmlns:p14="http://schemas.microsoft.com/office/powerpoint/2010/main" val="309275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8103">
                                            <p:txEl>
                                              <p:pRg st="0" end="0"/>
                                            </p:txEl>
                                          </p:spTgt>
                                        </p:tgtEl>
                                        <p:attrNameLst>
                                          <p:attrName>style.visibility</p:attrName>
                                        </p:attrNameLst>
                                      </p:cBhvr>
                                      <p:to>
                                        <p:strVal val="visible"/>
                                      </p:to>
                                    </p:set>
                                    <p:anim calcmode="lin" valueType="num">
                                      <p:cBhvr additive="base">
                                        <p:cTn id="7" dur="500"/>
                                        <p:tgtEl>
                                          <p:spTgt spid="3881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810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8103">
                                            <p:txEl>
                                              <p:pRg st="1" end="1"/>
                                            </p:txEl>
                                          </p:spTgt>
                                        </p:tgtEl>
                                        <p:attrNameLst>
                                          <p:attrName>style.visibility</p:attrName>
                                        </p:attrNameLst>
                                      </p:cBhvr>
                                      <p:to>
                                        <p:strVal val="visible"/>
                                      </p:to>
                                    </p:set>
                                    <p:anim calcmode="lin" valueType="num">
                                      <p:cBhvr additive="base">
                                        <p:cTn id="13" dur="500"/>
                                        <p:tgtEl>
                                          <p:spTgt spid="38810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810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8103">
                                            <p:txEl>
                                              <p:pRg st="2" end="2"/>
                                            </p:txEl>
                                          </p:spTgt>
                                        </p:tgtEl>
                                        <p:attrNameLst>
                                          <p:attrName>style.visibility</p:attrName>
                                        </p:attrNameLst>
                                      </p:cBhvr>
                                      <p:to>
                                        <p:strVal val="visible"/>
                                      </p:to>
                                    </p:set>
                                    <p:anim calcmode="lin" valueType="num">
                                      <p:cBhvr additive="base">
                                        <p:cTn id="19" dur="500"/>
                                        <p:tgtEl>
                                          <p:spTgt spid="38810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810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8103">
                                            <p:txEl>
                                              <p:pRg st="3" end="3"/>
                                            </p:txEl>
                                          </p:spTgt>
                                        </p:tgtEl>
                                        <p:attrNameLst>
                                          <p:attrName>style.visibility</p:attrName>
                                        </p:attrNameLst>
                                      </p:cBhvr>
                                      <p:to>
                                        <p:strVal val="visible"/>
                                      </p:to>
                                    </p:set>
                                    <p:anim calcmode="lin" valueType="num">
                                      <p:cBhvr additive="base">
                                        <p:cTn id="25" dur="500"/>
                                        <p:tgtEl>
                                          <p:spTgt spid="38810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810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8103">
                                            <p:txEl>
                                              <p:pRg st="4" end="4"/>
                                            </p:txEl>
                                          </p:spTgt>
                                        </p:tgtEl>
                                        <p:attrNameLst>
                                          <p:attrName>style.visibility</p:attrName>
                                        </p:attrNameLst>
                                      </p:cBhvr>
                                      <p:to>
                                        <p:strVal val="visible"/>
                                      </p:to>
                                    </p:set>
                                    <p:anim calcmode="lin" valueType="num">
                                      <p:cBhvr additive="base">
                                        <p:cTn id="31" dur="500"/>
                                        <p:tgtEl>
                                          <p:spTgt spid="38810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810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88103">
                                            <p:txEl>
                                              <p:pRg st="5" end="5"/>
                                            </p:txEl>
                                          </p:spTgt>
                                        </p:tgtEl>
                                        <p:attrNameLst>
                                          <p:attrName>style.visibility</p:attrName>
                                        </p:attrNameLst>
                                      </p:cBhvr>
                                      <p:to>
                                        <p:strVal val="visible"/>
                                      </p:to>
                                    </p:set>
                                    <p:anim calcmode="lin" valueType="num">
                                      <p:cBhvr additive="base">
                                        <p:cTn id="37" dur="500"/>
                                        <p:tgtEl>
                                          <p:spTgt spid="38810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810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88103">
                                            <p:txEl>
                                              <p:pRg st="6" end="6"/>
                                            </p:txEl>
                                          </p:spTgt>
                                        </p:tgtEl>
                                        <p:attrNameLst>
                                          <p:attrName>style.visibility</p:attrName>
                                        </p:attrNameLst>
                                      </p:cBhvr>
                                      <p:to>
                                        <p:strVal val="visible"/>
                                      </p:to>
                                    </p:set>
                                    <p:anim calcmode="lin" valueType="num">
                                      <p:cBhvr additive="base">
                                        <p:cTn id="43" dur="500"/>
                                        <p:tgtEl>
                                          <p:spTgt spid="388103">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810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88103">
                                            <p:txEl>
                                              <p:pRg st="7" end="7"/>
                                            </p:txEl>
                                          </p:spTgt>
                                        </p:tgtEl>
                                        <p:attrNameLst>
                                          <p:attrName>style.visibility</p:attrName>
                                        </p:attrNameLst>
                                      </p:cBhvr>
                                      <p:to>
                                        <p:strVal val="visible"/>
                                      </p:to>
                                    </p:set>
                                    <p:anim calcmode="lin" valueType="num">
                                      <p:cBhvr additive="base">
                                        <p:cTn id="49" dur="500"/>
                                        <p:tgtEl>
                                          <p:spTgt spid="388103">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8810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88103">
                                            <p:txEl>
                                              <p:pRg st="8" end="8"/>
                                            </p:txEl>
                                          </p:spTgt>
                                        </p:tgtEl>
                                        <p:attrNameLst>
                                          <p:attrName>style.visibility</p:attrName>
                                        </p:attrNameLst>
                                      </p:cBhvr>
                                      <p:to>
                                        <p:strVal val="visible"/>
                                      </p:to>
                                    </p:set>
                                    <p:anim calcmode="lin" valueType="num">
                                      <p:cBhvr additive="base">
                                        <p:cTn id="55" dur="500"/>
                                        <p:tgtEl>
                                          <p:spTgt spid="388103">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88103">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88103">
                                            <p:txEl>
                                              <p:pRg st="9" end="9"/>
                                            </p:txEl>
                                          </p:spTgt>
                                        </p:tgtEl>
                                        <p:attrNameLst>
                                          <p:attrName>style.visibility</p:attrName>
                                        </p:attrNameLst>
                                      </p:cBhvr>
                                      <p:to>
                                        <p:strVal val="visible"/>
                                      </p:to>
                                    </p:set>
                                    <p:anim calcmode="lin" valueType="num">
                                      <p:cBhvr additive="base">
                                        <p:cTn id="61" dur="500"/>
                                        <p:tgtEl>
                                          <p:spTgt spid="388103">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8810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3" grpId="0" build="p" bldLvl="3"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0146"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0147"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0148" name="Rectangle 4"/>
          <p:cNvSpPr>
            <a:spLocks noGrp="1"/>
          </p:cNvSpPr>
          <p:nvPr>
            <p:ph type="title"/>
          </p:nvPr>
        </p:nvSpPr>
        <p:spPr/>
        <p:txBody>
          <a:bodyPr/>
          <a:lstStyle/>
          <a:p>
            <a:r>
              <a:rPr lang="en-GB" altLang="en-US" dirty="0"/>
              <a:t>The Case for Laissez-faire</a:t>
            </a:r>
          </a:p>
        </p:txBody>
      </p:sp>
      <p:sp>
        <p:nvSpPr>
          <p:cNvPr id="390149" name="Rectangle 5"/>
          <p:cNvSpPr>
            <a:spLocks noGrp="1"/>
          </p:cNvSpPr>
          <p:nvPr>
            <p:ph idx="1"/>
          </p:nvPr>
        </p:nvSpPr>
        <p:spPr/>
        <p:txBody>
          <a:bodyPr>
            <a:normAutofit fontScale="92500" lnSpcReduction="10000"/>
          </a:bodyPr>
          <a:lstStyle/>
          <a:p>
            <a:pPr>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problems created by intervention can be greater than the problems overcome by that intervention</a:t>
            </a:r>
          </a:p>
          <a:p>
            <a:pPr>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Drawbacks of government intervention</a:t>
            </a:r>
          </a:p>
          <a:p>
            <a:pPr lvl="1">
              <a:lnSpc>
                <a:spcPct val="100000"/>
              </a:lnSpc>
              <a:spcBef>
                <a:spcPts val="1200"/>
              </a:spcBef>
            </a:pPr>
            <a:r>
              <a:rPr lang="en-GB" altLang="en-US" sz="1900" b="1" dirty="0">
                <a:latin typeface="Calibri" panose="020F0502020204030204" pitchFamily="34" charset="0"/>
                <a:ea typeface="Calibri" panose="020F0502020204030204" pitchFamily="34" charset="0"/>
                <a:cs typeface="Calibri" panose="020F0502020204030204" pitchFamily="34" charset="0"/>
              </a:rPr>
              <a:t>Shortages</a:t>
            </a:r>
            <a:r>
              <a:rPr lang="en-GB" altLang="en-US" sz="1900" dirty="0">
                <a:latin typeface="Calibri" panose="020F0502020204030204" pitchFamily="34" charset="0"/>
                <a:ea typeface="Calibri" panose="020F0502020204030204" pitchFamily="34" charset="0"/>
                <a:cs typeface="Calibri" panose="020F0502020204030204" pitchFamily="34" charset="0"/>
              </a:rPr>
              <a:t> (if price is fixed below the equilibrium, e.g. council housing) and </a:t>
            </a:r>
            <a:r>
              <a:rPr lang="en-GB" altLang="en-US" sz="1900" b="1" dirty="0">
                <a:latin typeface="Calibri" panose="020F0502020204030204" pitchFamily="34" charset="0"/>
                <a:ea typeface="Calibri" panose="020F0502020204030204" pitchFamily="34" charset="0"/>
                <a:cs typeface="Calibri" panose="020F0502020204030204" pitchFamily="34" charset="0"/>
              </a:rPr>
              <a:t>surpluses</a:t>
            </a:r>
            <a:r>
              <a:rPr lang="en-GB" altLang="en-US" sz="1900" dirty="0">
                <a:latin typeface="Calibri" panose="020F0502020204030204" pitchFamily="34" charset="0"/>
                <a:ea typeface="Calibri" panose="020F0502020204030204" pitchFamily="34" charset="0"/>
                <a:cs typeface="Calibri" panose="020F0502020204030204" pitchFamily="34" charset="0"/>
              </a:rPr>
              <a:t> (if price is fixed above the equilibrium, e.g. food prices)</a:t>
            </a:r>
          </a:p>
          <a:p>
            <a:pPr lvl="1">
              <a:lnSpc>
                <a:spcPct val="100000"/>
              </a:lnSpc>
              <a:spcBef>
                <a:spcPts val="1200"/>
              </a:spcBef>
            </a:pPr>
            <a:r>
              <a:rPr lang="en-GB" altLang="en-US" sz="1900" b="1" dirty="0">
                <a:solidFill>
                  <a:srgbClr val="354A00"/>
                </a:solidFill>
                <a:latin typeface="Calibri" panose="020F0502020204030204" pitchFamily="34" charset="0"/>
                <a:ea typeface="Calibri" panose="020F0502020204030204" pitchFamily="34" charset="0"/>
                <a:cs typeface="Calibri" panose="020F0502020204030204" pitchFamily="34" charset="0"/>
              </a:rPr>
              <a:t>Poor information </a:t>
            </a:r>
            <a:r>
              <a:rPr lang="en-GB" altLang="en-US" sz="1900" dirty="0">
                <a:solidFill>
                  <a:srgbClr val="354A00"/>
                </a:solidFill>
                <a:latin typeface="Calibri" panose="020F0502020204030204" pitchFamily="34" charset="0"/>
                <a:ea typeface="Calibri" panose="020F0502020204030204" pitchFamily="34" charset="0"/>
                <a:cs typeface="Calibri" panose="020F0502020204030204" pitchFamily="34" charset="0"/>
              </a:rPr>
              <a:t>– the government may not know the full benefits and costs of its policies</a:t>
            </a:r>
          </a:p>
          <a:p>
            <a:pPr lvl="1">
              <a:lnSpc>
                <a:spcPct val="100000"/>
              </a:lnSpc>
              <a:spcBef>
                <a:spcPts val="1200"/>
              </a:spcBef>
            </a:pPr>
            <a:r>
              <a:rPr lang="en-GB" altLang="en-US" sz="1900" b="1" dirty="0">
                <a:latin typeface="Calibri" panose="020F0502020204030204" pitchFamily="34" charset="0"/>
                <a:ea typeface="Calibri" panose="020F0502020204030204" pitchFamily="34" charset="0"/>
                <a:cs typeface="Calibri" panose="020F0502020204030204" pitchFamily="34" charset="0"/>
              </a:rPr>
              <a:t>Bureaucracy and inefficiency </a:t>
            </a:r>
            <a:r>
              <a:rPr lang="en-GB" altLang="en-US" sz="1900" dirty="0">
                <a:latin typeface="Calibri" panose="020F0502020204030204" pitchFamily="34" charset="0"/>
                <a:ea typeface="Calibri" panose="020F0502020204030204" pitchFamily="34" charset="0"/>
                <a:cs typeface="Calibri" panose="020F0502020204030204" pitchFamily="34" charset="0"/>
              </a:rPr>
              <a:t>– intervention involves administrative costs</a:t>
            </a:r>
          </a:p>
          <a:p>
            <a:pPr lvl="1">
              <a:lnSpc>
                <a:spcPct val="100000"/>
              </a:lnSpc>
              <a:spcBef>
                <a:spcPts val="1200"/>
              </a:spcBef>
            </a:pPr>
            <a:r>
              <a:rPr lang="en-GB" altLang="en-US" sz="1900" b="1" dirty="0">
                <a:solidFill>
                  <a:srgbClr val="354A00"/>
                </a:solidFill>
                <a:latin typeface="Calibri" panose="020F0502020204030204" pitchFamily="34" charset="0"/>
                <a:ea typeface="Calibri" panose="020F0502020204030204" pitchFamily="34" charset="0"/>
                <a:cs typeface="Calibri" panose="020F0502020204030204" pitchFamily="34" charset="0"/>
              </a:rPr>
              <a:t>Lack of market incentives </a:t>
            </a:r>
            <a:r>
              <a:rPr lang="en-GB" altLang="en-US" sz="1900" dirty="0">
                <a:solidFill>
                  <a:srgbClr val="354A00"/>
                </a:solidFill>
                <a:latin typeface="Calibri" panose="020F0502020204030204" pitchFamily="34" charset="0"/>
                <a:ea typeface="Calibri" panose="020F0502020204030204" pitchFamily="34" charset="0"/>
                <a:cs typeface="Calibri" panose="020F0502020204030204" pitchFamily="34" charset="0"/>
              </a:rPr>
              <a:t>– the market may be imperfect but tends to encourage efficiency. For e.g. subsidies may allow inefficient firms to survive. Welfare payments may discourage effort. </a:t>
            </a:r>
          </a:p>
          <a:p>
            <a:pPr lvl="1">
              <a:lnSpc>
                <a:spcPct val="100000"/>
              </a:lnSpc>
              <a:spcBef>
                <a:spcPts val="1200"/>
              </a:spcBef>
            </a:pPr>
            <a:r>
              <a:rPr lang="en-GB" altLang="en-US" sz="1900" b="1" dirty="0">
                <a:latin typeface="Calibri" panose="020F0502020204030204" pitchFamily="34" charset="0"/>
                <a:ea typeface="Calibri" panose="020F0502020204030204" pitchFamily="34" charset="0"/>
                <a:cs typeface="Calibri" panose="020F0502020204030204" pitchFamily="34" charset="0"/>
              </a:rPr>
              <a:t>Shifts in government policy </a:t>
            </a:r>
            <a:r>
              <a:rPr lang="en-GB" altLang="en-US" sz="1900" dirty="0">
                <a:latin typeface="Calibri" panose="020F0502020204030204" pitchFamily="34" charset="0"/>
                <a:ea typeface="Calibri" panose="020F0502020204030204" pitchFamily="34" charset="0"/>
                <a:cs typeface="Calibri" panose="020F0502020204030204" pitchFamily="34" charset="0"/>
              </a:rPr>
              <a:t>– difficult from firms to plan if they cannot predict tax rates, subsidies, price and wage controls, etc.</a:t>
            </a:r>
            <a:endParaRPr lang="en-GB" altLang="en-US" sz="1900" b="1"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spcBef>
                <a:spcPts val="1200"/>
              </a:spcBef>
            </a:pPr>
            <a:r>
              <a:rPr lang="en-GB" altLang="en-US" sz="1900" b="1" dirty="0">
                <a:solidFill>
                  <a:srgbClr val="354A00"/>
                </a:solidFill>
                <a:latin typeface="Calibri" panose="020F0502020204030204" pitchFamily="34" charset="0"/>
                <a:ea typeface="Calibri" panose="020F0502020204030204" pitchFamily="34" charset="0"/>
                <a:cs typeface="Calibri" panose="020F0502020204030204" pitchFamily="34" charset="0"/>
              </a:rPr>
              <a:t>Lack of freedom for the individual </a:t>
            </a:r>
            <a:r>
              <a:rPr lang="en-GB" altLang="en-US" sz="1900" dirty="0">
                <a:solidFill>
                  <a:srgbClr val="354A00"/>
                </a:solidFill>
                <a:latin typeface="Calibri" panose="020F0502020204030204" pitchFamily="34" charset="0"/>
                <a:ea typeface="Calibri" panose="020F0502020204030204" pitchFamily="34" charset="0"/>
                <a:cs typeface="Calibri" panose="020F0502020204030204" pitchFamily="34" charset="0"/>
              </a:rPr>
              <a:t>– intervention involves a loss of freedom for individuals</a:t>
            </a:r>
            <a:endParaRPr lang="en-GB" altLang="en-US" sz="1900" b="1" dirty="0">
              <a:solidFill>
                <a:srgbClr val="354A00"/>
              </a:solidFill>
              <a:latin typeface="Calibri" panose="020F0502020204030204" pitchFamily="34" charset="0"/>
              <a:ea typeface="Calibri" panose="020F0502020204030204" pitchFamily="34" charset="0"/>
              <a:cs typeface="Calibri" panose="020F0502020204030204" pitchFamily="34" charset="0"/>
            </a:endParaRPr>
          </a:p>
          <a:p>
            <a:pPr lvl="1">
              <a:lnSpc>
                <a:spcPct val="100000"/>
              </a:lnSpc>
              <a:spcBef>
                <a:spcPts val="1200"/>
              </a:spcBef>
            </a:pPr>
            <a:r>
              <a:rPr lang="en-GB" altLang="en-US" sz="1900" b="1" dirty="0">
                <a:solidFill>
                  <a:srgbClr val="354A00"/>
                </a:solidFill>
                <a:latin typeface="Calibri" panose="020F0502020204030204" pitchFamily="34" charset="0"/>
                <a:ea typeface="Calibri" panose="020F0502020204030204" pitchFamily="34" charset="0"/>
                <a:cs typeface="Calibri" panose="020F0502020204030204" pitchFamily="34" charset="0"/>
              </a:rPr>
              <a:t>Voters’ ignorance, </a:t>
            </a:r>
            <a:r>
              <a:rPr lang="en-GB" altLang="en-US" sz="1900" b="1" dirty="0">
                <a:latin typeface="Calibri" panose="020F0502020204030204" pitchFamily="34" charset="0"/>
                <a:ea typeface="Calibri" panose="020F0502020204030204" pitchFamily="34" charset="0"/>
                <a:cs typeface="Calibri" panose="020F0502020204030204" pitchFamily="34" charset="0"/>
              </a:rPr>
              <a:t>Unrepresentative government</a:t>
            </a:r>
            <a:endParaRPr lang="en-GB" altLang="en-US" sz="1900" b="1" dirty="0">
              <a:solidFill>
                <a:srgbClr val="354A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0933072"/>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0149">
                                            <p:txEl>
                                              <p:pRg st="0" end="0"/>
                                            </p:txEl>
                                          </p:spTgt>
                                        </p:tgtEl>
                                        <p:attrNameLst>
                                          <p:attrName>style.visibility</p:attrName>
                                        </p:attrNameLst>
                                      </p:cBhvr>
                                      <p:to>
                                        <p:strVal val="visible"/>
                                      </p:to>
                                    </p:set>
                                    <p:anim calcmode="lin" valueType="num">
                                      <p:cBhvr additive="base">
                                        <p:cTn id="7" dur="500"/>
                                        <p:tgtEl>
                                          <p:spTgt spid="39014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014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0149">
                                            <p:txEl>
                                              <p:pRg st="1" end="1"/>
                                            </p:txEl>
                                          </p:spTgt>
                                        </p:tgtEl>
                                        <p:attrNameLst>
                                          <p:attrName>style.visibility</p:attrName>
                                        </p:attrNameLst>
                                      </p:cBhvr>
                                      <p:to>
                                        <p:strVal val="visible"/>
                                      </p:to>
                                    </p:set>
                                    <p:anim calcmode="lin" valueType="num">
                                      <p:cBhvr additive="base">
                                        <p:cTn id="13" dur="500"/>
                                        <p:tgtEl>
                                          <p:spTgt spid="39014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0149">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0149">
                                            <p:txEl>
                                              <p:pRg st="2" end="2"/>
                                            </p:txEl>
                                          </p:spTgt>
                                        </p:tgtEl>
                                        <p:attrNameLst>
                                          <p:attrName>style.visibility</p:attrName>
                                        </p:attrNameLst>
                                      </p:cBhvr>
                                      <p:to>
                                        <p:strVal val="visible"/>
                                      </p:to>
                                    </p:set>
                                    <p:anim calcmode="lin" valueType="num">
                                      <p:cBhvr additive="base">
                                        <p:cTn id="19" dur="500"/>
                                        <p:tgtEl>
                                          <p:spTgt spid="39014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0149">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0149">
                                            <p:txEl>
                                              <p:pRg st="3" end="3"/>
                                            </p:txEl>
                                          </p:spTgt>
                                        </p:tgtEl>
                                        <p:attrNameLst>
                                          <p:attrName>style.visibility</p:attrName>
                                        </p:attrNameLst>
                                      </p:cBhvr>
                                      <p:to>
                                        <p:strVal val="visible"/>
                                      </p:to>
                                    </p:set>
                                    <p:anim calcmode="lin" valueType="num">
                                      <p:cBhvr additive="base">
                                        <p:cTn id="25" dur="500"/>
                                        <p:tgtEl>
                                          <p:spTgt spid="39014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0149">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0149">
                                            <p:txEl>
                                              <p:pRg st="4" end="4"/>
                                            </p:txEl>
                                          </p:spTgt>
                                        </p:tgtEl>
                                        <p:attrNameLst>
                                          <p:attrName>style.visibility</p:attrName>
                                        </p:attrNameLst>
                                      </p:cBhvr>
                                      <p:to>
                                        <p:strVal val="visible"/>
                                      </p:to>
                                    </p:set>
                                    <p:anim calcmode="lin" valueType="num">
                                      <p:cBhvr additive="base">
                                        <p:cTn id="31" dur="500"/>
                                        <p:tgtEl>
                                          <p:spTgt spid="39014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014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0149">
                                            <p:txEl>
                                              <p:pRg st="5" end="5"/>
                                            </p:txEl>
                                          </p:spTgt>
                                        </p:tgtEl>
                                        <p:attrNameLst>
                                          <p:attrName>style.visibility</p:attrName>
                                        </p:attrNameLst>
                                      </p:cBhvr>
                                      <p:to>
                                        <p:strVal val="visible"/>
                                      </p:to>
                                    </p:set>
                                    <p:anim calcmode="lin" valueType="num">
                                      <p:cBhvr additive="base">
                                        <p:cTn id="37" dur="500"/>
                                        <p:tgtEl>
                                          <p:spTgt spid="39014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0149">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0149">
                                            <p:txEl>
                                              <p:pRg st="6" end="6"/>
                                            </p:txEl>
                                          </p:spTgt>
                                        </p:tgtEl>
                                        <p:attrNameLst>
                                          <p:attrName>style.visibility</p:attrName>
                                        </p:attrNameLst>
                                      </p:cBhvr>
                                      <p:to>
                                        <p:strVal val="visible"/>
                                      </p:to>
                                    </p:set>
                                    <p:anim calcmode="lin" valueType="num">
                                      <p:cBhvr additive="base">
                                        <p:cTn id="43" dur="500"/>
                                        <p:tgtEl>
                                          <p:spTgt spid="390149">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014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0149">
                                            <p:txEl>
                                              <p:pRg st="7" end="7"/>
                                            </p:txEl>
                                          </p:spTgt>
                                        </p:tgtEl>
                                        <p:attrNameLst>
                                          <p:attrName>style.visibility</p:attrName>
                                        </p:attrNameLst>
                                      </p:cBhvr>
                                      <p:to>
                                        <p:strVal val="visible"/>
                                      </p:to>
                                    </p:set>
                                    <p:anim calcmode="lin" valueType="num">
                                      <p:cBhvr additive="base">
                                        <p:cTn id="49" dur="500"/>
                                        <p:tgtEl>
                                          <p:spTgt spid="390149">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0149">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90149">
                                            <p:txEl>
                                              <p:pRg st="8" end="8"/>
                                            </p:txEl>
                                          </p:spTgt>
                                        </p:tgtEl>
                                        <p:attrNameLst>
                                          <p:attrName>style.visibility</p:attrName>
                                        </p:attrNameLst>
                                      </p:cBhvr>
                                      <p:to>
                                        <p:strVal val="visible"/>
                                      </p:to>
                                    </p:set>
                                    <p:anim calcmode="lin" valueType="num">
                                      <p:cBhvr additive="base">
                                        <p:cTn id="55" dur="500"/>
                                        <p:tgtEl>
                                          <p:spTgt spid="390149">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9014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9" grpId="0" build="p" bldLvl="2"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2194"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219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2198" name="Rectangle 6"/>
          <p:cNvSpPr>
            <a:spLocks noGrp="1"/>
          </p:cNvSpPr>
          <p:nvPr>
            <p:ph type="title"/>
          </p:nvPr>
        </p:nvSpPr>
        <p:spPr/>
        <p:txBody>
          <a:bodyPr/>
          <a:lstStyle/>
          <a:p>
            <a:r>
              <a:rPr lang="en-GB" altLang="en-US"/>
              <a:t>The Case for Laissez-faire</a:t>
            </a:r>
          </a:p>
        </p:txBody>
      </p:sp>
      <p:sp>
        <p:nvSpPr>
          <p:cNvPr id="392199" name="Rectangle 7"/>
          <p:cNvSpPr>
            <a:spLocks noGrp="1"/>
          </p:cNvSpPr>
          <p:nvPr>
            <p:ph idx="1"/>
          </p:nvPr>
        </p:nvSpPr>
        <p:spPr/>
        <p:txBody>
          <a:bodyPr/>
          <a:lstStyle/>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Advantages of the free market</a:t>
            </a:r>
          </a:p>
          <a:p>
            <a:pPr lvl="1">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automatic adjustments </a:t>
            </a:r>
            <a:r>
              <a:rPr lang="en-GB" altLang="en-US" sz="2000" dirty="0">
                <a:latin typeface="Calibri" panose="020F0502020204030204" pitchFamily="34" charset="0"/>
                <a:ea typeface="Calibri" panose="020F0502020204030204" pitchFamily="34" charset="0"/>
                <a:cs typeface="Calibri" panose="020F0502020204030204" pitchFamily="34" charset="0"/>
              </a:rPr>
              <a:t>- leads to automatic adjustment to supply and demand changes</a:t>
            </a:r>
          </a:p>
          <a:p>
            <a:pPr lvl="1">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dynamic advantages of capitalism </a:t>
            </a:r>
            <a:r>
              <a:rPr lang="en-GB" altLang="en-US" sz="2000" dirty="0">
                <a:latin typeface="Calibri" panose="020F0502020204030204" pitchFamily="34" charset="0"/>
                <a:ea typeface="Calibri" panose="020F0502020204030204" pitchFamily="34" charset="0"/>
                <a:cs typeface="Calibri" panose="020F0502020204030204" pitchFamily="34" charset="0"/>
              </a:rPr>
              <a:t>– the chances of making high monopoly/oligopoly profits will encourage entrepreneurs to invest in new products and techniques.</a:t>
            </a:r>
          </a:p>
          <a:p>
            <a:pPr lvl="1">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high degree of competition even under monopoly/oligopoly</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possible market contestability – creates fear those earning high profits</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competition from other closely related industries, e.g. electricity for gas, coach for rail</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threat of competition from abroad</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countervailing powers – large powerful producers often sell to large powerful buyers, so to some extent power is neutralised</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competition for corporate control – potential for takeovers bids if firm runs inefficiently</a:t>
            </a: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Judging the arguments</a:t>
            </a:r>
          </a:p>
        </p:txBody>
      </p:sp>
    </p:spTree>
    <p:extLst>
      <p:ext uri="{BB962C8B-B14F-4D97-AF65-F5344CB8AC3E}">
        <p14:creationId xmlns:p14="http://schemas.microsoft.com/office/powerpoint/2010/main" val="9562513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2199">
                                            <p:txEl>
                                              <p:pRg st="0" end="0"/>
                                            </p:txEl>
                                          </p:spTgt>
                                        </p:tgtEl>
                                        <p:attrNameLst>
                                          <p:attrName>style.visibility</p:attrName>
                                        </p:attrNameLst>
                                      </p:cBhvr>
                                      <p:to>
                                        <p:strVal val="visible"/>
                                      </p:to>
                                    </p:set>
                                    <p:anim calcmode="lin" valueType="num">
                                      <p:cBhvr additive="base">
                                        <p:cTn id="7" dur="500"/>
                                        <p:tgtEl>
                                          <p:spTgt spid="39219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2199">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2199">
                                            <p:txEl>
                                              <p:pRg st="1" end="1"/>
                                            </p:txEl>
                                          </p:spTgt>
                                        </p:tgtEl>
                                        <p:attrNameLst>
                                          <p:attrName>style.visibility</p:attrName>
                                        </p:attrNameLst>
                                      </p:cBhvr>
                                      <p:to>
                                        <p:strVal val="visible"/>
                                      </p:to>
                                    </p:set>
                                    <p:anim calcmode="lin" valueType="num">
                                      <p:cBhvr additive="base">
                                        <p:cTn id="13" dur="500"/>
                                        <p:tgtEl>
                                          <p:spTgt spid="39219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2199">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2199">
                                            <p:txEl>
                                              <p:pRg st="2" end="2"/>
                                            </p:txEl>
                                          </p:spTgt>
                                        </p:tgtEl>
                                        <p:attrNameLst>
                                          <p:attrName>style.visibility</p:attrName>
                                        </p:attrNameLst>
                                      </p:cBhvr>
                                      <p:to>
                                        <p:strVal val="visible"/>
                                      </p:to>
                                    </p:set>
                                    <p:anim calcmode="lin" valueType="num">
                                      <p:cBhvr additive="base">
                                        <p:cTn id="19" dur="500"/>
                                        <p:tgtEl>
                                          <p:spTgt spid="39219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2199">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2199">
                                            <p:txEl>
                                              <p:pRg st="3" end="3"/>
                                            </p:txEl>
                                          </p:spTgt>
                                        </p:tgtEl>
                                        <p:attrNameLst>
                                          <p:attrName>style.visibility</p:attrName>
                                        </p:attrNameLst>
                                      </p:cBhvr>
                                      <p:to>
                                        <p:strVal val="visible"/>
                                      </p:to>
                                    </p:set>
                                    <p:anim calcmode="lin" valueType="num">
                                      <p:cBhvr additive="base">
                                        <p:cTn id="25" dur="500"/>
                                        <p:tgtEl>
                                          <p:spTgt spid="39219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2199">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2199">
                                            <p:txEl>
                                              <p:pRg st="4" end="4"/>
                                            </p:txEl>
                                          </p:spTgt>
                                        </p:tgtEl>
                                        <p:attrNameLst>
                                          <p:attrName>style.visibility</p:attrName>
                                        </p:attrNameLst>
                                      </p:cBhvr>
                                      <p:to>
                                        <p:strVal val="visible"/>
                                      </p:to>
                                    </p:set>
                                    <p:anim calcmode="lin" valueType="num">
                                      <p:cBhvr additive="base">
                                        <p:cTn id="31" dur="500"/>
                                        <p:tgtEl>
                                          <p:spTgt spid="39219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219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2199">
                                            <p:txEl>
                                              <p:pRg st="5" end="5"/>
                                            </p:txEl>
                                          </p:spTgt>
                                        </p:tgtEl>
                                        <p:attrNameLst>
                                          <p:attrName>style.visibility</p:attrName>
                                        </p:attrNameLst>
                                      </p:cBhvr>
                                      <p:to>
                                        <p:strVal val="visible"/>
                                      </p:to>
                                    </p:set>
                                    <p:anim calcmode="lin" valueType="num">
                                      <p:cBhvr additive="base">
                                        <p:cTn id="37" dur="500"/>
                                        <p:tgtEl>
                                          <p:spTgt spid="39219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2199">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2199">
                                            <p:txEl>
                                              <p:pRg st="6" end="6"/>
                                            </p:txEl>
                                          </p:spTgt>
                                        </p:tgtEl>
                                        <p:attrNameLst>
                                          <p:attrName>style.visibility</p:attrName>
                                        </p:attrNameLst>
                                      </p:cBhvr>
                                      <p:to>
                                        <p:strVal val="visible"/>
                                      </p:to>
                                    </p:set>
                                    <p:anim calcmode="lin" valueType="num">
                                      <p:cBhvr additive="base">
                                        <p:cTn id="43" dur="500"/>
                                        <p:tgtEl>
                                          <p:spTgt spid="392199">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2199">
                                            <p:txEl>
                                              <p:pRg st="6" end="6"/>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2199">
                                            <p:txEl>
                                              <p:pRg st="7" end="7"/>
                                            </p:txEl>
                                          </p:spTgt>
                                        </p:tgtEl>
                                        <p:attrNameLst>
                                          <p:attrName>style.visibility</p:attrName>
                                        </p:attrNameLst>
                                      </p:cBhvr>
                                      <p:to>
                                        <p:strVal val="visible"/>
                                      </p:to>
                                    </p:set>
                                    <p:anim calcmode="lin" valueType="num">
                                      <p:cBhvr additive="base">
                                        <p:cTn id="49" dur="500"/>
                                        <p:tgtEl>
                                          <p:spTgt spid="392199">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2199">
                                            <p:txEl>
                                              <p:pRg st="7" end="7"/>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92199">
                                            <p:txEl>
                                              <p:pRg st="8" end="8"/>
                                            </p:txEl>
                                          </p:spTgt>
                                        </p:tgtEl>
                                        <p:attrNameLst>
                                          <p:attrName>style.visibility</p:attrName>
                                        </p:attrNameLst>
                                      </p:cBhvr>
                                      <p:to>
                                        <p:strVal val="visible"/>
                                      </p:to>
                                    </p:set>
                                    <p:anim calcmode="lin" valueType="num">
                                      <p:cBhvr additive="base">
                                        <p:cTn id="55" dur="500"/>
                                        <p:tgtEl>
                                          <p:spTgt spid="392199">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92199">
                                            <p:txEl>
                                              <p:pRg st="8" end="8"/>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92199">
                                            <p:txEl>
                                              <p:pRg st="9" end="9"/>
                                            </p:txEl>
                                          </p:spTgt>
                                        </p:tgtEl>
                                        <p:attrNameLst>
                                          <p:attrName>style.visibility</p:attrName>
                                        </p:attrNameLst>
                                      </p:cBhvr>
                                      <p:to>
                                        <p:strVal val="visible"/>
                                      </p:to>
                                    </p:set>
                                    <p:anim calcmode="lin" valueType="num">
                                      <p:cBhvr additive="base">
                                        <p:cTn id="61" dur="500"/>
                                        <p:tgtEl>
                                          <p:spTgt spid="392199">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9219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9" grpId="0" build="p" bldLvl="3"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DC419-0EBA-7EB5-5004-6E58ACA0D824}"/>
              </a:ext>
            </a:extLst>
          </p:cNvPr>
          <p:cNvSpPr>
            <a:spLocks noGrp="1"/>
          </p:cNvSpPr>
          <p:nvPr>
            <p:ph type="title"/>
          </p:nvPr>
        </p:nvSpPr>
        <p:spPr/>
        <p:txBody>
          <a:bodyPr>
            <a:normAutofit fontScale="90000"/>
          </a:bodyPr>
          <a:lstStyle/>
          <a:p>
            <a:r>
              <a:rPr lang="en-MY" dirty="0"/>
              <a:t>Additional slides for reading (will not be covered </a:t>
            </a:r>
            <a:r>
              <a:rPr lang="en-MY"/>
              <a:t>during session)</a:t>
            </a:r>
          </a:p>
        </p:txBody>
      </p:sp>
      <p:sp>
        <p:nvSpPr>
          <p:cNvPr id="3" name="Content Placeholder 2">
            <a:extLst>
              <a:ext uri="{FF2B5EF4-FFF2-40B4-BE49-F238E27FC236}">
                <a16:creationId xmlns:a16="http://schemas.microsoft.com/office/drawing/2014/main" id="{A480860C-453B-2F60-BCA6-7A6B0D130795}"/>
              </a:ext>
            </a:extLst>
          </p:cNvPr>
          <p:cNvSpPr>
            <a:spLocks noGrp="1"/>
          </p:cNvSpPr>
          <p:nvPr>
            <p:ph idx="1"/>
          </p:nvPr>
        </p:nvSpPr>
        <p:spPr/>
        <p:txBody>
          <a:bodyPr/>
          <a:lstStyle/>
          <a:p>
            <a:endParaRPr lang="en-MY"/>
          </a:p>
        </p:txBody>
      </p:sp>
    </p:spTree>
    <p:extLst>
      <p:ext uri="{BB962C8B-B14F-4D97-AF65-F5344CB8AC3E}">
        <p14:creationId xmlns:p14="http://schemas.microsoft.com/office/powerpoint/2010/main" val="39813051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4242" name="Rectangle 2"/>
          <p:cNvSpPr>
            <a:spLocks noGrp="1"/>
          </p:cNvSpPr>
          <p:nvPr>
            <p:ph type="title"/>
          </p:nvPr>
        </p:nvSpPr>
        <p:spPr/>
        <p:txBody>
          <a:bodyPr/>
          <a:lstStyle/>
          <a:p>
            <a:r>
              <a:rPr lang="en-GB" altLang="en-US"/>
              <a:t>Firms and Social Responsibility</a:t>
            </a:r>
          </a:p>
        </p:txBody>
      </p:sp>
      <p:sp>
        <p:nvSpPr>
          <p:cNvPr id="2" name="Content Placeholder 1"/>
          <p:cNvSpPr>
            <a:spLocks noGrp="1"/>
          </p:cNvSpPr>
          <p:nvPr>
            <p:ph idx="1"/>
          </p:nvPr>
        </p:nvSpPr>
        <p:spPr>
          <a:xfrm>
            <a:off x="402167" y="1387238"/>
            <a:ext cx="11379200" cy="4840194"/>
          </a:xfrm>
        </p:spPr>
        <p:txBody>
          <a:bodyPr/>
          <a:lstStyle/>
          <a:p>
            <a:pPr>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Traditional economic theory assumes that firms are trying to maximise profits and are not concerned with the impact of their activities on the wider community.</a:t>
            </a:r>
          </a:p>
          <a:p>
            <a:pPr marL="0" indent="0">
              <a:lnSpc>
                <a:spcPct val="100000"/>
              </a:lnSpc>
              <a:spcBef>
                <a:spcPts val="1200"/>
              </a:spcBef>
              <a:buNone/>
            </a:pPr>
            <a:endParaRPr lang="en-GB" sz="2000"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However, many of the most famous companies in the world are now regularly publishing reports outlining their progress towards achieving broader societal goals.</a:t>
            </a:r>
          </a:p>
          <a:p>
            <a:pPr lvl="1">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For e.g. Google issues an Environmental Report, BMW produces a Sustainable Value Report</a:t>
            </a:r>
          </a:p>
          <a:p>
            <a:pPr lvl="1">
              <a:lnSpc>
                <a:spcPct val="100000"/>
              </a:lnSpc>
              <a:spcBef>
                <a:spcPts val="1200"/>
              </a:spcBef>
            </a:pPr>
            <a:endParaRPr lang="en-GB" sz="2000"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Meaning of corporate social responsibility (CSR) – where a business integrates social, environmental, ethical and human rights concerns into its actions in close collaboration with stakeholders.</a:t>
            </a:r>
          </a:p>
          <a:p>
            <a:pPr marL="457200" lvl="1" indent="0">
              <a:lnSpc>
                <a:spcPct val="100000"/>
              </a:lnSpc>
              <a:spcBef>
                <a:spcPts val="2400"/>
              </a:spcBef>
              <a:buNone/>
            </a:pPr>
            <a:endParaRPr lang="en-GB" dirty="0"/>
          </a:p>
        </p:txBody>
      </p:sp>
    </p:spTree>
    <p:extLst>
      <p:ext uri="{BB962C8B-B14F-4D97-AF65-F5344CB8AC3E}">
        <p14:creationId xmlns:p14="http://schemas.microsoft.com/office/powerpoint/2010/main" val="3466147401"/>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p:tgtEl>
                                          <p:spTgt spid="2">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p:tgtEl>
                                          <p:spTgt spid="2">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p:tgtEl>
                                          <p:spTgt spid="2">
                                            <p:txEl>
                                              <p:pRg st="5" end="5"/>
                                            </p:txEl>
                                          </p:spTgt>
                                        </p:tgtEl>
                                        <p:attrNameLst>
                                          <p:attrName>ppt_y</p:attrName>
                                        </p:attrNameLst>
                                      </p:cBhvr>
                                      <p:tavLst>
                                        <p:tav tm="0">
                                          <p:val>
                                            <p:strVal val="#ppt_y+#ppt_h*1.125000"/>
                                          </p:val>
                                        </p:tav>
                                        <p:tav tm="100000">
                                          <p:val>
                                            <p:strVal val="#ppt_y"/>
                                          </p:val>
                                        </p:tav>
                                      </p:tavLst>
                                    </p:anim>
                                    <p:animEffect transition="in" filter="wipe(up)">
                                      <p:cBhvr>
                                        <p:cTn id="26"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4242" name="Rectangle 2"/>
          <p:cNvSpPr>
            <a:spLocks noGrp="1"/>
          </p:cNvSpPr>
          <p:nvPr>
            <p:ph type="title"/>
          </p:nvPr>
        </p:nvSpPr>
        <p:spPr/>
        <p:txBody>
          <a:bodyPr/>
          <a:lstStyle/>
          <a:p>
            <a:r>
              <a:rPr lang="en-GB" altLang="en-US"/>
              <a:t>Firms and Social Responsibility</a:t>
            </a:r>
          </a:p>
        </p:txBody>
      </p:sp>
      <p:sp>
        <p:nvSpPr>
          <p:cNvPr id="2" name="Content Placeholder 1"/>
          <p:cNvSpPr>
            <a:spLocks noGrp="1"/>
          </p:cNvSpPr>
          <p:nvPr>
            <p:ph idx="1"/>
          </p:nvPr>
        </p:nvSpPr>
        <p:spPr>
          <a:xfrm>
            <a:off x="258627" y="1381920"/>
            <a:ext cx="11617940" cy="4840194"/>
          </a:xfrm>
        </p:spPr>
        <p:txBody>
          <a:bodyPr>
            <a:normAutofit fontScale="92500" lnSpcReduction="10000"/>
          </a:bodyPr>
          <a:lstStyle/>
          <a:p>
            <a:pPr>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Types of CSR activities – most of the activities undertaken by firms can be grouped:</a:t>
            </a:r>
          </a:p>
          <a:p>
            <a:pPr lvl="1">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Environmental activities</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Includes policies to use energy more efficiently, reduce wastage, increase recycling, increase the use of energy from renewable resources and reduce CO</a:t>
            </a:r>
            <a:r>
              <a:rPr lang="en-GB" sz="2000" baseline="-25000" dirty="0">
                <a:latin typeface="Calibri" panose="020F0502020204030204" pitchFamily="34" charset="0"/>
                <a:ea typeface="Calibri" panose="020F0502020204030204" pitchFamily="34" charset="0"/>
                <a:cs typeface="Calibri" panose="020F0502020204030204" pitchFamily="34" charset="0"/>
              </a:rPr>
              <a:t>2</a:t>
            </a:r>
            <a:r>
              <a:rPr lang="en-GB" sz="2000" dirty="0">
                <a:latin typeface="Calibri" panose="020F0502020204030204" pitchFamily="34" charset="0"/>
                <a:ea typeface="Calibri" panose="020F0502020204030204" pitchFamily="34" charset="0"/>
                <a:cs typeface="Calibri" panose="020F0502020204030204" pitchFamily="34" charset="0"/>
              </a:rPr>
              <a:t> emissions</a:t>
            </a:r>
          </a:p>
          <a:p>
            <a:pPr lvl="1">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Donating money/equipment/employees’ time to charities etc.</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Research by the Charities Aid Foundation found that FTSE 100 companies donated £1.9bn to charities in 2016 (however, these donations have been falling over time)</a:t>
            </a:r>
          </a:p>
          <a:p>
            <a:pPr lvl="1">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Fair and ethical treatment of employees</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E.g. paying ‘fair’ wages, reducing gender pay gap, employing more people from ethnic minorities, increasing % of female senior managers, offering more generous maternity leave</a:t>
            </a:r>
          </a:p>
          <a:p>
            <a:pPr lvl="1">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Fair and ethical treatment of suppliers</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E.g. negotiating ‘fair’ contracts with suppliers, only dealing with suppliers who meet CSR benchmarks</a:t>
            </a:r>
          </a:p>
          <a:p>
            <a:pPr marL="457200" lvl="1" indent="0">
              <a:lnSpc>
                <a:spcPct val="100000"/>
              </a:lnSpc>
              <a:spcBef>
                <a:spcPts val="600"/>
              </a:spcBef>
              <a:buNone/>
            </a:pPr>
            <a:endParaRPr lang="en-GB" dirty="0"/>
          </a:p>
          <a:p>
            <a:pPr marL="457200" lvl="1" indent="0">
              <a:lnSpc>
                <a:spcPct val="100000"/>
              </a:lnSpc>
              <a:spcBef>
                <a:spcPts val="600"/>
              </a:spcBef>
              <a:buNone/>
            </a:pPr>
            <a:r>
              <a:rPr lang="en-GB" dirty="0"/>
              <a:t>	</a:t>
            </a:r>
          </a:p>
        </p:txBody>
      </p:sp>
    </p:spTree>
    <p:extLst>
      <p:ext uri="{BB962C8B-B14F-4D97-AF65-F5344CB8AC3E}">
        <p14:creationId xmlns:p14="http://schemas.microsoft.com/office/powerpoint/2010/main" val="138130069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p:tgtEl>
                                          <p:spTgt spid="2">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p:tgtEl>
                                          <p:spTgt spid="2">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p:tgtEl>
                                          <p:spTgt spid="2">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2">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p:tgtEl>
                                          <p:spTgt spid="2">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2">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 calcmode="lin" valueType="num">
                                      <p:cBhvr additive="base">
                                        <p:cTn id="27" dur="500"/>
                                        <p:tgtEl>
                                          <p:spTgt spid="2">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2">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 calcmode="lin" valueType="num">
                                      <p:cBhvr additive="base">
                                        <p:cTn id="33" dur="500"/>
                                        <p:tgtEl>
                                          <p:spTgt spid="2">
                                            <p:txEl>
                                              <p:pRg st="5" end="5"/>
                                            </p:txEl>
                                          </p:spTgt>
                                        </p:tgtEl>
                                        <p:attrNameLst>
                                          <p:attrName>ppt_y</p:attrName>
                                        </p:attrNameLst>
                                      </p:cBhvr>
                                      <p:tavLst>
                                        <p:tav tm="0">
                                          <p:val>
                                            <p:strVal val="#ppt_y+#ppt_h*1.125000"/>
                                          </p:val>
                                        </p:tav>
                                        <p:tav tm="100000">
                                          <p:val>
                                            <p:strVal val="#ppt_y"/>
                                          </p:val>
                                        </p:tav>
                                      </p:tavLst>
                                    </p:anim>
                                    <p:animEffect transition="in" filter="wipe(up)">
                                      <p:cBhvr>
                                        <p:cTn id="34" dur="500"/>
                                        <p:tgtEl>
                                          <p:spTgt spid="2">
                                            <p:txEl>
                                              <p:pRg st="5" end="5"/>
                                            </p:txEl>
                                          </p:spTgt>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 calcmode="lin" valueType="num">
                                      <p:cBhvr additive="base">
                                        <p:cTn id="37" dur="500"/>
                                        <p:tgtEl>
                                          <p:spTgt spid="2">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2">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anim calcmode="lin" valueType="num">
                                      <p:cBhvr additive="base">
                                        <p:cTn id="43" dur="500"/>
                                        <p:tgtEl>
                                          <p:spTgt spid="2">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2">
                                            <p:txEl>
                                              <p:pRg st="7" end="7"/>
                                            </p:txEl>
                                          </p:spTgt>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 calcmode="lin" valueType="num">
                                      <p:cBhvr additive="base">
                                        <p:cTn id="47" dur="500"/>
                                        <p:tgtEl>
                                          <p:spTgt spid="2">
                                            <p:txEl>
                                              <p:pRg st="8" end="8"/>
                                            </p:txEl>
                                          </p:spTgt>
                                        </p:tgtEl>
                                        <p:attrNameLst>
                                          <p:attrName>ppt_y</p:attrName>
                                        </p:attrNameLst>
                                      </p:cBhvr>
                                      <p:tavLst>
                                        <p:tav tm="0">
                                          <p:val>
                                            <p:strVal val="#ppt_y+#ppt_h*1.125000"/>
                                          </p:val>
                                        </p:tav>
                                        <p:tav tm="100000">
                                          <p:val>
                                            <p:strVal val="#ppt_y"/>
                                          </p:val>
                                        </p:tav>
                                      </p:tavLst>
                                    </p:anim>
                                    <p:animEffect transition="in" filter="wipe(up)">
                                      <p:cBhvr>
                                        <p:cTn id="48" dur="500"/>
                                        <p:tgtEl>
                                          <p:spTgt spid="2">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2">
                                            <p:txEl>
                                              <p:pRg st="10" end="10"/>
                                            </p:txEl>
                                          </p:spTgt>
                                        </p:tgtEl>
                                        <p:attrNameLst>
                                          <p:attrName>style.visibility</p:attrName>
                                        </p:attrNameLst>
                                      </p:cBhvr>
                                      <p:to>
                                        <p:strVal val="visible"/>
                                      </p:to>
                                    </p:set>
                                    <p:anim calcmode="lin" valueType="num">
                                      <p:cBhvr additive="base">
                                        <p:cTn id="53" dur="500"/>
                                        <p:tgtEl>
                                          <p:spTgt spid="2">
                                            <p:txEl>
                                              <p:pRg st="10" end="10"/>
                                            </p:txEl>
                                          </p:spTgt>
                                        </p:tgtEl>
                                        <p:attrNameLst>
                                          <p:attrName>ppt_y</p:attrName>
                                        </p:attrNameLst>
                                      </p:cBhvr>
                                      <p:tavLst>
                                        <p:tav tm="0">
                                          <p:val>
                                            <p:strVal val="#ppt_y+#ppt_h*1.125000"/>
                                          </p:val>
                                        </p:tav>
                                        <p:tav tm="100000">
                                          <p:val>
                                            <p:strVal val="#ppt_y"/>
                                          </p:val>
                                        </p:tav>
                                      </p:tavLst>
                                    </p:anim>
                                    <p:animEffect transition="in" filter="wipe(up)">
                                      <p:cBhvr>
                                        <p:cTn id="54"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8"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8339"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8340" name="Rectangle 4"/>
          <p:cNvSpPr>
            <a:spLocks noGrp="1"/>
          </p:cNvSpPr>
          <p:nvPr>
            <p:ph type="title"/>
          </p:nvPr>
        </p:nvSpPr>
        <p:spPr/>
        <p:txBody>
          <a:bodyPr/>
          <a:lstStyle/>
          <a:p>
            <a:r>
              <a:rPr lang="en-GB" altLang="en-US" dirty="0"/>
              <a:t>Firms and Social Responsibility</a:t>
            </a:r>
          </a:p>
        </p:txBody>
      </p:sp>
      <p:sp>
        <p:nvSpPr>
          <p:cNvPr id="398341" name="Rectangle 5"/>
          <p:cNvSpPr>
            <a:spLocks noGrp="1"/>
          </p:cNvSpPr>
          <p:nvPr>
            <p:ph idx="1"/>
          </p:nvPr>
        </p:nvSpPr>
        <p:spPr/>
        <p:txBody>
          <a:bodyPr/>
          <a:lstStyle/>
          <a:p>
            <a:pPr>
              <a:lnSpc>
                <a:spcPct val="100000"/>
              </a:lnSpc>
              <a:spcBef>
                <a:spcPts val="600"/>
              </a:spcBef>
            </a:pPr>
            <a:r>
              <a:rPr lang="en-GB" sz="2000" dirty="0" err="1">
                <a:latin typeface="Calibri" panose="020F0502020204030204" pitchFamily="34" charset="0"/>
                <a:ea typeface="Calibri" panose="020F0502020204030204" pitchFamily="34" charset="0"/>
                <a:cs typeface="Calibri" panose="020F0502020204030204" pitchFamily="34" charset="0"/>
              </a:rPr>
              <a:t>Benabou</a:t>
            </a:r>
            <a:r>
              <a:rPr lang="en-GB" sz="2000" dirty="0">
                <a:latin typeface="Calibri" panose="020F0502020204030204" pitchFamily="34" charset="0"/>
                <a:ea typeface="Calibri" panose="020F0502020204030204" pitchFamily="34" charset="0"/>
                <a:cs typeface="Calibri" panose="020F0502020204030204" pitchFamily="34" charset="0"/>
              </a:rPr>
              <a:t> &amp; </a:t>
            </a:r>
            <a:r>
              <a:rPr lang="en-GB" sz="2000" dirty="0" err="1">
                <a:latin typeface="Calibri" panose="020F0502020204030204" pitchFamily="34" charset="0"/>
                <a:ea typeface="Calibri" panose="020F0502020204030204" pitchFamily="34" charset="0"/>
                <a:cs typeface="Calibri" panose="020F0502020204030204" pitchFamily="34" charset="0"/>
              </a:rPr>
              <a:t>Tirole</a:t>
            </a:r>
            <a:r>
              <a:rPr lang="en-GB" sz="2000" dirty="0">
                <a:latin typeface="Calibri" panose="020F0502020204030204" pitchFamily="34" charset="0"/>
                <a:ea typeface="Calibri" panose="020F0502020204030204" pitchFamily="34" charset="0"/>
                <a:cs typeface="Calibri" panose="020F0502020204030204" pitchFamily="34" charset="0"/>
              </a:rPr>
              <a:t> (2010) discuss three different visions of CSR</a:t>
            </a:r>
          </a:p>
          <a:p>
            <a:pPr lvl="1">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Insider-initiated philanthropy or the classical view</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Business managers should be solely concerned with trying to maximise profits</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Milton Friedman: ‘The social responsibility of business is to increase profits.’</a:t>
            </a:r>
          </a:p>
          <a:p>
            <a:pPr lvl="1">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Delegated philanthropy </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Interests of different stakeholders – preferences may not align with government policy</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How can different primary stakeholders pay to interact with firms who invest in CSR?</a:t>
            </a:r>
          </a:p>
          <a:p>
            <a:pPr lvl="3">
              <a:lnSpc>
                <a:spcPct val="100000"/>
              </a:lnSpc>
              <a:spcBef>
                <a:spcPts val="600"/>
              </a:spcBef>
            </a:pPr>
            <a:r>
              <a:rPr lang="en-GB" dirty="0">
                <a:latin typeface="Calibri" panose="020F0502020204030204" pitchFamily="34" charset="0"/>
                <a:ea typeface="Calibri" panose="020F0502020204030204" pitchFamily="34" charset="0"/>
                <a:cs typeface="Calibri" panose="020F0502020204030204" pitchFamily="34" charset="0"/>
              </a:rPr>
              <a:t>Investors – are some people willing to accept lower expected returns from investments in businesses that spend large amounts on CSR?</a:t>
            </a:r>
          </a:p>
          <a:p>
            <a:pPr lvl="3">
              <a:lnSpc>
                <a:spcPct val="100000"/>
              </a:lnSpc>
              <a:spcBef>
                <a:spcPts val="600"/>
              </a:spcBef>
            </a:pPr>
            <a:r>
              <a:rPr lang="en-GB" dirty="0">
                <a:latin typeface="Calibri" panose="020F0502020204030204" pitchFamily="34" charset="0"/>
                <a:ea typeface="Calibri" panose="020F0502020204030204" pitchFamily="34" charset="0"/>
                <a:cs typeface="Calibri" panose="020F0502020204030204" pitchFamily="34" charset="0"/>
              </a:rPr>
              <a:t>Customers – are customers willing to pay higher prices for goods from these firms?</a:t>
            </a:r>
          </a:p>
          <a:p>
            <a:pPr lvl="3">
              <a:lnSpc>
                <a:spcPct val="100000"/>
              </a:lnSpc>
              <a:spcBef>
                <a:spcPts val="600"/>
              </a:spcBef>
            </a:pPr>
            <a:r>
              <a:rPr lang="en-GB" dirty="0">
                <a:latin typeface="Calibri" panose="020F0502020204030204" pitchFamily="34" charset="0"/>
                <a:ea typeface="Calibri" panose="020F0502020204030204" pitchFamily="34" charset="0"/>
                <a:cs typeface="Calibri" panose="020F0502020204030204" pitchFamily="34" charset="0"/>
              </a:rPr>
              <a:t>Employees – are employees willing to accept lower wages to work for these firms?</a:t>
            </a:r>
          </a:p>
          <a:p>
            <a:pPr lvl="3">
              <a:lnSpc>
                <a:spcPct val="100000"/>
              </a:lnSpc>
              <a:spcBef>
                <a:spcPts val="600"/>
              </a:spcBef>
            </a:pPr>
            <a:r>
              <a:rPr lang="en-GB" dirty="0">
                <a:latin typeface="Calibri" panose="020F0502020204030204" pitchFamily="34" charset="0"/>
                <a:ea typeface="Calibri" panose="020F0502020204030204" pitchFamily="34" charset="0"/>
                <a:cs typeface="Calibri" panose="020F0502020204030204" pitchFamily="34" charset="0"/>
              </a:rPr>
              <a:t>Other stakeholders – social norms of what’s regarded as ‘acceptable’ corporate behaviour</a:t>
            </a:r>
          </a:p>
          <a:p>
            <a:pPr lvl="1">
              <a:spcBef>
                <a:spcPts val="1200"/>
              </a:spcBef>
            </a:pPr>
            <a:endParaRPr lang="en-GB" sz="2800" dirty="0"/>
          </a:p>
          <a:p>
            <a:pPr lvl="3">
              <a:spcBef>
                <a:spcPts val="1200"/>
              </a:spcBef>
            </a:pPr>
            <a:endParaRPr lang="en-GB" sz="2200" dirty="0"/>
          </a:p>
          <a:p>
            <a:pPr lvl="1">
              <a:spcBef>
                <a:spcPts val="1200"/>
              </a:spcBef>
            </a:pPr>
            <a:endParaRPr lang="en-GB" sz="2800" dirty="0"/>
          </a:p>
        </p:txBody>
      </p:sp>
    </p:spTree>
    <p:extLst>
      <p:ext uri="{BB962C8B-B14F-4D97-AF65-F5344CB8AC3E}">
        <p14:creationId xmlns:p14="http://schemas.microsoft.com/office/powerpoint/2010/main" val="2223203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8341">
                                            <p:txEl>
                                              <p:pRg st="0" end="0"/>
                                            </p:txEl>
                                          </p:spTgt>
                                        </p:tgtEl>
                                        <p:attrNameLst>
                                          <p:attrName>style.visibility</p:attrName>
                                        </p:attrNameLst>
                                      </p:cBhvr>
                                      <p:to>
                                        <p:strVal val="visible"/>
                                      </p:to>
                                    </p:set>
                                    <p:anim calcmode="lin" valueType="num">
                                      <p:cBhvr additive="base">
                                        <p:cTn id="7" dur="500"/>
                                        <p:tgtEl>
                                          <p:spTgt spid="39834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8341">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8341">
                                            <p:txEl>
                                              <p:pRg st="1" end="1"/>
                                            </p:txEl>
                                          </p:spTgt>
                                        </p:tgtEl>
                                        <p:attrNameLst>
                                          <p:attrName>style.visibility</p:attrName>
                                        </p:attrNameLst>
                                      </p:cBhvr>
                                      <p:to>
                                        <p:strVal val="visible"/>
                                      </p:to>
                                    </p:set>
                                    <p:anim calcmode="lin" valueType="num">
                                      <p:cBhvr additive="base">
                                        <p:cTn id="13" dur="500"/>
                                        <p:tgtEl>
                                          <p:spTgt spid="39834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834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8341">
                                            <p:txEl>
                                              <p:pRg st="2" end="2"/>
                                            </p:txEl>
                                          </p:spTgt>
                                        </p:tgtEl>
                                        <p:attrNameLst>
                                          <p:attrName>style.visibility</p:attrName>
                                        </p:attrNameLst>
                                      </p:cBhvr>
                                      <p:to>
                                        <p:strVal val="visible"/>
                                      </p:to>
                                    </p:set>
                                    <p:anim calcmode="lin" valueType="num">
                                      <p:cBhvr additive="base">
                                        <p:cTn id="19" dur="500"/>
                                        <p:tgtEl>
                                          <p:spTgt spid="39834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834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8341">
                                            <p:txEl>
                                              <p:pRg st="3" end="3"/>
                                            </p:txEl>
                                          </p:spTgt>
                                        </p:tgtEl>
                                        <p:attrNameLst>
                                          <p:attrName>style.visibility</p:attrName>
                                        </p:attrNameLst>
                                      </p:cBhvr>
                                      <p:to>
                                        <p:strVal val="visible"/>
                                      </p:to>
                                    </p:set>
                                    <p:anim calcmode="lin" valueType="num">
                                      <p:cBhvr additive="base">
                                        <p:cTn id="25" dur="500"/>
                                        <p:tgtEl>
                                          <p:spTgt spid="39834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834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8341">
                                            <p:txEl>
                                              <p:pRg st="4" end="4"/>
                                            </p:txEl>
                                          </p:spTgt>
                                        </p:tgtEl>
                                        <p:attrNameLst>
                                          <p:attrName>style.visibility</p:attrName>
                                        </p:attrNameLst>
                                      </p:cBhvr>
                                      <p:to>
                                        <p:strVal val="visible"/>
                                      </p:to>
                                    </p:set>
                                    <p:anim calcmode="lin" valueType="num">
                                      <p:cBhvr additive="base">
                                        <p:cTn id="31" dur="500"/>
                                        <p:tgtEl>
                                          <p:spTgt spid="39834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834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8341">
                                            <p:txEl>
                                              <p:pRg st="5" end="5"/>
                                            </p:txEl>
                                          </p:spTgt>
                                        </p:tgtEl>
                                        <p:attrNameLst>
                                          <p:attrName>style.visibility</p:attrName>
                                        </p:attrNameLst>
                                      </p:cBhvr>
                                      <p:to>
                                        <p:strVal val="visible"/>
                                      </p:to>
                                    </p:set>
                                    <p:anim calcmode="lin" valueType="num">
                                      <p:cBhvr additive="base">
                                        <p:cTn id="37" dur="500"/>
                                        <p:tgtEl>
                                          <p:spTgt spid="39834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834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8341">
                                            <p:txEl>
                                              <p:pRg st="6" end="6"/>
                                            </p:txEl>
                                          </p:spTgt>
                                        </p:tgtEl>
                                        <p:attrNameLst>
                                          <p:attrName>style.visibility</p:attrName>
                                        </p:attrNameLst>
                                      </p:cBhvr>
                                      <p:to>
                                        <p:strVal val="visible"/>
                                      </p:to>
                                    </p:set>
                                    <p:anim calcmode="lin" valueType="num">
                                      <p:cBhvr additive="base">
                                        <p:cTn id="43" dur="500"/>
                                        <p:tgtEl>
                                          <p:spTgt spid="39834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8341">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8341">
                                            <p:txEl>
                                              <p:pRg st="7" end="7"/>
                                            </p:txEl>
                                          </p:spTgt>
                                        </p:tgtEl>
                                        <p:attrNameLst>
                                          <p:attrName>style.visibility</p:attrName>
                                        </p:attrNameLst>
                                      </p:cBhvr>
                                      <p:to>
                                        <p:strVal val="visible"/>
                                      </p:to>
                                    </p:set>
                                    <p:anim calcmode="lin" valueType="num">
                                      <p:cBhvr additive="base">
                                        <p:cTn id="49" dur="500"/>
                                        <p:tgtEl>
                                          <p:spTgt spid="398341">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8341">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98341">
                                            <p:txEl>
                                              <p:pRg st="8" end="8"/>
                                            </p:txEl>
                                          </p:spTgt>
                                        </p:tgtEl>
                                        <p:attrNameLst>
                                          <p:attrName>style.visibility</p:attrName>
                                        </p:attrNameLst>
                                      </p:cBhvr>
                                      <p:to>
                                        <p:strVal val="visible"/>
                                      </p:to>
                                    </p:set>
                                    <p:anim calcmode="lin" valueType="num">
                                      <p:cBhvr additive="base">
                                        <p:cTn id="55" dur="500"/>
                                        <p:tgtEl>
                                          <p:spTgt spid="398341">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98341">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98341">
                                            <p:txEl>
                                              <p:pRg st="9" end="9"/>
                                            </p:txEl>
                                          </p:spTgt>
                                        </p:tgtEl>
                                        <p:attrNameLst>
                                          <p:attrName>style.visibility</p:attrName>
                                        </p:attrNameLst>
                                      </p:cBhvr>
                                      <p:to>
                                        <p:strVal val="visible"/>
                                      </p:to>
                                    </p:set>
                                    <p:anim calcmode="lin" valueType="num">
                                      <p:cBhvr additive="base">
                                        <p:cTn id="61" dur="500"/>
                                        <p:tgtEl>
                                          <p:spTgt spid="398341">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98341">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398341">
                                            <p:txEl>
                                              <p:pRg st="10" end="10"/>
                                            </p:txEl>
                                          </p:spTgt>
                                        </p:tgtEl>
                                        <p:attrNameLst>
                                          <p:attrName>style.visibility</p:attrName>
                                        </p:attrNameLst>
                                      </p:cBhvr>
                                      <p:to>
                                        <p:strVal val="visible"/>
                                      </p:to>
                                    </p:set>
                                    <p:anim calcmode="lin" valueType="num">
                                      <p:cBhvr additive="base">
                                        <p:cTn id="67" dur="500"/>
                                        <p:tgtEl>
                                          <p:spTgt spid="398341">
                                            <p:txEl>
                                              <p:pRg st="10" end="10"/>
                                            </p:txEl>
                                          </p:spTgt>
                                        </p:tgtEl>
                                        <p:attrNameLst>
                                          <p:attrName>ppt_y</p:attrName>
                                        </p:attrNameLst>
                                      </p:cBhvr>
                                      <p:tavLst>
                                        <p:tav tm="0">
                                          <p:val>
                                            <p:strVal val="#ppt_y+#ppt_h*1.125000"/>
                                          </p:val>
                                        </p:tav>
                                        <p:tav tm="100000">
                                          <p:val>
                                            <p:strVal val="#ppt_y"/>
                                          </p:val>
                                        </p:tav>
                                      </p:tavLst>
                                    </p:anim>
                                    <p:animEffect transition="in" filter="wipe(up)">
                                      <p:cBhvr>
                                        <p:cTn id="68" dur="500"/>
                                        <p:tgtEl>
                                          <p:spTgt spid="39834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1" grpId="0" build="p" bldLvl="4"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a:extLst>
              <a:ext uri="{FF2B5EF4-FFF2-40B4-BE49-F238E27FC236}">
                <a16:creationId xmlns:a16="http://schemas.microsoft.com/office/drawing/2014/main" id="{7AFE0F22-98FA-4C67-9F8A-B5AD31375CE0}"/>
              </a:ext>
            </a:extLst>
          </p:cNvPr>
          <p:cNvSpPr>
            <a:spLocks noChangeArrowheads="1"/>
          </p:cNvSpPr>
          <p:nvPr/>
        </p:nvSpPr>
        <p:spPr bwMode="auto">
          <a:xfrm>
            <a:off x="5983290" y="3917952"/>
            <a:ext cx="365125" cy="771525"/>
          </a:xfrm>
          <a:prstGeom prst="upArrow">
            <a:avLst>
              <a:gd name="adj1" fmla="val 56519"/>
              <a:gd name="adj2" fmla="val 53129"/>
            </a:avLst>
          </a:prstGeom>
          <a:solidFill>
            <a:srgbClr val="E7FFE7"/>
          </a:solidFill>
          <a:ln w="19050">
            <a:solidFill>
              <a:srgbClr val="006600"/>
            </a:solidFill>
            <a:miter lim="800000"/>
            <a:headEnd/>
            <a:tailEnd/>
          </a:ln>
          <a:effectLst>
            <a:outerShdw dist="35921" dir="2700000" algn="ctr" rotWithShape="0">
              <a:schemeClr val="bg2"/>
            </a:outerShdw>
          </a:effectLst>
        </p:spPr>
        <p:txBody>
          <a:bodyPr wrap="none" anchor="ctr"/>
          <a:lstStyle/>
          <a:p>
            <a:endParaRPr lang="en-GB"/>
          </a:p>
        </p:txBody>
      </p:sp>
      <p:sp>
        <p:nvSpPr>
          <p:cNvPr id="3075" name="AutoShape 3">
            <a:extLst>
              <a:ext uri="{FF2B5EF4-FFF2-40B4-BE49-F238E27FC236}">
                <a16:creationId xmlns:a16="http://schemas.microsoft.com/office/drawing/2014/main" id="{77F575C3-75F6-4064-B645-68CAF141CDB5}"/>
              </a:ext>
            </a:extLst>
          </p:cNvPr>
          <p:cNvSpPr>
            <a:spLocks noChangeArrowheads="1"/>
          </p:cNvSpPr>
          <p:nvPr/>
        </p:nvSpPr>
        <p:spPr bwMode="auto">
          <a:xfrm flipV="1">
            <a:off x="4732338" y="1325565"/>
            <a:ext cx="868362" cy="1157287"/>
          </a:xfrm>
          <a:custGeom>
            <a:avLst/>
            <a:gdLst>
              <a:gd name="G0" fmla="+- 13110 0 0"/>
              <a:gd name="G1" fmla="+- 19151 0 0"/>
              <a:gd name="G2" fmla="+- 7604 0 0"/>
              <a:gd name="G3" fmla="*/ 13110 1 2"/>
              <a:gd name="G4" fmla="+- G3 10800 0"/>
              <a:gd name="G5" fmla="+- 21600 13110 19151"/>
              <a:gd name="G6" fmla="+- 19151 7604 0"/>
              <a:gd name="G7" fmla="*/ G6 1 2"/>
              <a:gd name="G8" fmla="*/ 19151 2 1"/>
              <a:gd name="G9" fmla="+- G8 0 21600"/>
              <a:gd name="G10" fmla="*/ 21600 G0 G1"/>
              <a:gd name="G11" fmla="*/ 21600 G4 G1"/>
              <a:gd name="G12" fmla="*/ 21600 G5 G1"/>
              <a:gd name="G13" fmla="*/ 21600 G7 G1"/>
              <a:gd name="G14" fmla="*/ 19151 1 2"/>
              <a:gd name="G15" fmla="+- G5 0 G4"/>
              <a:gd name="G16" fmla="+- G0 0 G4"/>
              <a:gd name="G17" fmla="*/ G2 G15 G16"/>
              <a:gd name="T0" fmla="*/ 17355 w 21600"/>
              <a:gd name="T1" fmla="*/ 0 h 21600"/>
              <a:gd name="T2" fmla="*/ 13110 w 21600"/>
              <a:gd name="T3" fmla="*/ 7604 h 21600"/>
              <a:gd name="T4" fmla="*/ 0 w 21600"/>
              <a:gd name="T5" fmla="*/ 19574 h 21600"/>
              <a:gd name="T6" fmla="*/ 9576 w 21600"/>
              <a:gd name="T7" fmla="*/ 21600 h 21600"/>
              <a:gd name="T8" fmla="*/ 19151 w 21600"/>
              <a:gd name="T9" fmla="*/ 15089 h 21600"/>
              <a:gd name="T10" fmla="*/ 21600 w 21600"/>
              <a:gd name="T11" fmla="*/ 7604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7355" y="0"/>
                </a:moveTo>
                <a:lnTo>
                  <a:pt x="13110" y="7604"/>
                </a:lnTo>
                <a:lnTo>
                  <a:pt x="15559" y="7604"/>
                </a:lnTo>
                <a:lnTo>
                  <a:pt x="15559" y="17549"/>
                </a:lnTo>
                <a:lnTo>
                  <a:pt x="0" y="17549"/>
                </a:lnTo>
                <a:lnTo>
                  <a:pt x="0" y="21600"/>
                </a:lnTo>
                <a:lnTo>
                  <a:pt x="19151" y="21600"/>
                </a:lnTo>
                <a:lnTo>
                  <a:pt x="19151" y="7604"/>
                </a:lnTo>
                <a:lnTo>
                  <a:pt x="21600" y="7604"/>
                </a:lnTo>
                <a:close/>
              </a:path>
            </a:pathLst>
          </a:custGeom>
          <a:solidFill>
            <a:srgbClr val="FFE7E7"/>
          </a:solidFill>
          <a:ln w="19050">
            <a:solidFill>
              <a:srgbClr val="CC0000"/>
            </a:solidFill>
            <a:miter lim="800000"/>
            <a:headEnd/>
            <a:tailEnd/>
          </a:ln>
          <a:effectLst>
            <a:outerShdw dist="35921" dir="2700000" algn="ctr" rotWithShape="0">
              <a:schemeClr val="bg2"/>
            </a:outerShdw>
          </a:effectLst>
        </p:spPr>
        <p:txBody>
          <a:bodyPr wrap="none" anchor="ctr"/>
          <a:lstStyle/>
          <a:p>
            <a:endParaRPr lang="en-GB"/>
          </a:p>
        </p:txBody>
      </p:sp>
      <p:sp>
        <p:nvSpPr>
          <p:cNvPr id="3076" name="AutoShape 4">
            <a:extLst>
              <a:ext uri="{FF2B5EF4-FFF2-40B4-BE49-F238E27FC236}">
                <a16:creationId xmlns:a16="http://schemas.microsoft.com/office/drawing/2014/main" id="{E3EA47E3-1E31-4658-8BED-6FD133BD85A5}"/>
              </a:ext>
            </a:extLst>
          </p:cNvPr>
          <p:cNvSpPr>
            <a:spLocks noChangeArrowheads="1"/>
          </p:cNvSpPr>
          <p:nvPr/>
        </p:nvSpPr>
        <p:spPr bwMode="auto">
          <a:xfrm flipH="1" flipV="1">
            <a:off x="6657977" y="1320800"/>
            <a:ext cx="868363" cy="1157288"/>
          </a:xfrm>
          <a:custGeom>
            <a:avLst/>
            <a:gdLst>
              <a:gd name="G0" fmla="+- 13110 0 0"/>
              <a:gd name="G1" fmla="+- 19151 0 0"/>
              <a:gd name="G2" fmla="+- 7604 0 0"/>
              <a:gd name="G3" fmla="*/ 13110 1 2"/>
              <a:gd name="G4" fmla="+- G3 10800 0"/>
              <a:gd name="G5" fmla="+- 21600 13110 19151"/>
              <a:gd name="G6" fmla="+- 19151 7604 0"/>
              <a:gd name="G7" fmla="*/ G6 1 2"/>
              <a:gd name="G8" fmla="*/ 19151 2 1"/>
              <a:gd name="G9" fmla="+- G8 0 21600"/>
              <a:gd name="G10" fmla="*/ 21600 G0 G1"/>
              <a:gd name="G11" fmla="*/ 21600 G4 G1"/>
              <a:gd name="G12" fmla="*/ 21600 G5 G1"/>
              <a:gd name="G13" fmla="*/ 21600 G7 G1"/>
              <a:gd name="G14" fmla="*/ 19151 1 2"/>
              <a:gd name="G15" fmla="+- G5 0 G4"/>
              <a:gd name="G16" fmla="+- G0 0 G4"/>
              <a:gd name="G17" fmla="*/ G2 G15 G16"/>
              <a:gd name="T0" fmla="*/ 17355 w 21600"/>
              <a:gd name="T1" fmla="*/ 0 h 21600"/>
              <a:gd name="T2" fmla="*/ 13110 w 21600"/>
              <a:gd name="T3" fmla="*/ 7604 h 21600"/>
              <a:gd name="T4" fmla="*/ 0 w 21600"/>
              <a:gd name="T5" fmla="*/ 19574 h 21600"/>
              <a:gd name="T6" fmla="*/ 9576 w 21600"/>
              <a:gd name="T7" fmla="*/ 21600 h 21600"/>
              <a:gd name="T8" fmla="*/ 19151 w 21600"/>
              <a:gd name="T9" fmla="*/ 15089 h 21600"/>
              <a:gd name="T10" fmla="*/ 21600 w 21600"/>
              <a:gd name="T11" fmla="*/ 7604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7355" y="0"/>
                </a:moveTo>
                <a:lnTo>
                  <a:pt x="13110" y="7604"/>
                </a:lnTo>
                <a:lnTo>
                  <a:pt x="15559" y="7604"/>
                </a:lnTo>
                <a:lnTo>
                  <a:pt x="15559" y="17549"/>
                </a:lnTo>
                <a:lnTo>
                  <a:pt x="0" y="17549"/>
                </a:lnTo>
                <a:lnTo>
                  <a:pt x="0" y="21600"/>
                </a:lnTo>
                <a:lnTo>
                  <a:pt x="19151" y="21600"/>
                </a:lnTo>
                <a:lnTo>
                  <a:pt x="19151" y="7604"/>
                </a:lnTo>
                <a:lnTo>
                  <a:pt x="21600" y="7604"/>
                </a:lnTo>
                <a:close/>
              </a:path>
            </a:pathLst>
          </a:custGeom>
          <a:solidFill>
            <a:srgbClr val="F1FAFF"/>
          </a:solidFill>
          <a:ln w="19050">
            <a:solidFill>
              <a:schemeClr val="accent2"/>
            </a:solidFill>
            <a:miter lim="800000"/>
            <a:headEnd/>
            <a:tailEnd/>
          </a:ln>
          <a:effectLst>
            <a:outerShdw dist="35921" dir="2700000" algn="ctr" rotWithShape="0">
              <a:schemeClr val="bg2"/>
            </a:outerShdw>
          </a:effectLst>
        </p:spPr>
        <p:txBody>
          <a:bodyPr wrap="none" anchor="ctr"/>
          <a:lstStyle/>
          <a:p>
            <a:endParaRPr lang="en-GB"/>
          </a:p>
        </p:txBody>
      </p:sp>
      <p:pic>
        <p:nvPicPr>
          <p:cNvPr id="3077" name="Picture 5" descr="C:\Documents and Settings\John\Application Data\Microsoft\Media Catalog\Downloaded Clips\cl79\j0303571.wmf">
            <a:extLst>
              <a:ext uri="{FF2B5EF4-FFF2-40B4-BE49-F238E27FC236}">
                <a16:creationId xmlns:a16="http://schemas.microsoft.com/office/drawing/2014/main" id="{2447F54A-C694-4354-9F70-D9FE9DAF8B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0801"/>
          <a:stretch>
            <a:fillRect/>
          </a:stretch>
        </p:blipFill>
        <p:spPr bwMode="auto">
          <a:xfrm>
            <a:off x="5122863" y="2536827"/>
            <a:ext cx="2133600" cy="1317625"/>
          </a:xfrm>
          <a:prstGeom prst="rect">
            <a:avLst/>
          </a:prstGeom>
          <a:noFill/>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Lst>
        </p:spPr>
      </p:pic>
      <p:sp>
        <p:nvSpPr>
          <p:cNvPr id="3078" name="Rectangle 6">
            <a:extLst>
              <a:ext uri="{FF2B5EF4-FFF2-40B4-BE49-F238E27FC236}">
                <a16:creationId xmlns:a16="http://schemas.microsoft.com/office/drawing/2014/main" id="{93FA0DAF-F800-4BB1-B725-4BC1A1B903FB}"/>
              </a:ext>
            </a:extLst>
          </p:cNvPr>
          <p:cNvSpPr>
            <a:spLocks noChangeArrowheads="1"/>
          </p:cNvSpPr>
          <p:nvPr/>
        </p:nvSpPr>
        <p:spPr bwMode="auto">
          <a:xfrm>
            <a:off x="1793873" y="962820"/>
            <a:ext cx="2874963" cy="3213100"/>
          </a:xfrm>
          <a:prstGeom prst="rect">
            <a:avLst/>
          </a:prstGeom>
          <a:solidFill>
            <a:srgbClr val="FFE7E7"/>
          </a:solidFill>
          <a:ln w="19050">
            <a:solidFill>
              <a:srgbClr val="CC0000"/>
            </a:solidFill>
            <a:miter lim="800000"/>
            <a:headEnd/>
            <a:tailEnd/>
          </a:ln>
          <a:effectLst>
            <a:outerShdw dist="35921" dir="2700000" algn="ctr" rotWithShape="0">
              <a:schemeClr val="bg2"/>
            </a:outerShdw>
          </a:effectLst>
        </p:spPr>
        <p:txBody>
          <a:bodyPr/>
          <a:lstStyle>
            <a:lvl1pPr marL="93663" indent="-93663">
              <a:defRPr sz="2400">
                <a:solidFill>
                  <a:schemeClr val="tx1"/>
                </a:solidFill>
                <a:latin typeface="Times New Roman" panose="02020603050405020304" pitchFamily="18" charset="0"/>
              </a:defRPr>
            </a:lvl1pPr>
            <a:lvl2pPr marL="382588" indent="-98425">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r>
              <a:rPr lang="en-GB" altLang="en-US" sz="1300" b="1" dirty="0">
                <a:solidFill>
                  <a:srgbClr val="800000"/>
                </a:solidFill>
                <a:latin typeface="Arial" panose="020B0604020202020204" pitchFamily="34" charset="0"/>
              </a:rPr>
              <a:t>Primary stakeholders’ concerns</a:t>
            </a:r>
          </a:p>
          <a:p>
            <a:pPr>
              <a:buFontTx/>
              <a:buChar char="•"/>
            </a:pPr>
            <a:r>
              <a:rPr lang="en-GB" altLang="en-US" sz="1200" dirty="0">
                <a:solidFill>
                  <a:srgbClr val="660000"/>
                </a:solidFill>
                <a:latin typeface="Arial" panose="020B0604020202020204" pitchFamily="34" charset="0"/>
              </a:rPr>
              <a:t>Owners</a:t>
            </a:r>
          </a:p>
          <a:p>
            <a:pPr lvl="1">
              <a:buFontTx/>
              <a:buChar char="–"/>
            </a:pPr>
            <a:r>
              <a:rPr lang="en-GB" altLang="en-US" sz="1200" dirty="0">
                <a:solidFill>
                  <a:srgbClr val="660000"/>
                </a:solidFill>
                <a:latin typeface="Arial" panose="020B0604020202020204" pitchFamily="34" charset="0"/>
              </a:rPr>
              <a:t>Effect on profit of company image</a:t>
            </a:r>
          </a:p>
          <a:p>
            <a:pPr lvl="1">
              <a:buFontTx/>
              <a:buChar char="–"/>
            </a:pPr>
            <a:r>
              <a:rPr lang="en-GB" altLang="en-US" sz="1200" dirty="0">
                <a:solidFill>
                  <a:srgbClr val="660000"/>
                </a:solidFill>
                <a:latin typeface="Arial" panose="020B0604020202020204" pitchFamily="34" charset="0"/>
              </a:rPr>
              <a:t>Sustainability of production</a:t>
            </a:r>
          </a:p>
          <a:p>
            <a:pPr lvl="1">
              <a:buFontTx/>
              <a:buChar char="–"/>
            </a:pPr>
            <a:r>
              <a:rPr lang="en-GB" altLang="en-US" sz="1200" dirty="0">
                <a:solidFill>
                  <a:srgbClr val="660000"/>
                </a:solidFill>
                <a:latin typeface="Arial" panose="020B0604020202020204" pitchFamily="34" charset="0"/>
              </a:rPr>
              <a:t>Ethical investment and effects on share value</a:t>
            </a:r>
          </a:p>
          <a:p>
            <a:pPr>
              <a:buFontTx/>
              <a:buChar char="•"/>
            </a:pPr>
            <a:r>
              <a:rPr lang="en-GB" altLang="en-US" sz="1200" dirty="0">
                <a:solidFill>
                  <a:srgbClr val="660000"/>
                </a:solidFill>
                <a:latin typeface="Arial" panose="020B0604020202020204" pitchFamily="34" charset="0"/>
              </a:rPr>
              <a:t>Employees</a:t>
            </a:r>
          </a:p>
          <a:p>
            <a:pPr lvl="1">
              <a:buFontTx/>
              <a:buChar char="–"/>
            </a:pPr>
            <a:r>
              <a:rPr lang="en-GB" altLang="en-US" sz="1200" dirty="0">
                <a:solidFill>
                  <a:srgbClr val="660000"/>
                </a:solidFill>
                <a:latin typeface="Arial" panose="020B0604020202020204" pitchFamily="34" charset="0"/>
              </a:rPr>
              <a:t>Pay</a:t>
            </a:r>
          </a:p>
          <a:p>
            <a:pPr lvl="1">
              <a:buFontTx/>
              <a:buChar char="–"/>
            </a:pPr>
            <a:r>
              <a:rPr lang="en-GB" altLang="en-US" sz="1200" dirty="0">
                <a:solidFill>
                  <a:srgbClr val="660000"/>
                </a:solidFill>
                <a:latin typeface="Arial" panose="020B0604020202020204" pitchFamily="34" charset="0"/>
              </a:rPr>
              <a:t>Conditions</a:t>
            </a:r>
          </a:p>
          <a:p>
            <a:pPr lvl="1">
              <a:buFontTx/>
              <a:buChar char="–"/>
            </a:pPr>
            <a:r>
              <a:rPr lang="en-GB" altLang="en-US" sz="1200" dirty="0">
                <a:solidFill>
                  <a:srgbClr val="660000"/>
                </a:solidFill>
                <a:latin typeface="Arial" panose="020B0604020202020204" pitchFamily="34" charset="0"/>
              </a:rPr>
              <a:t>Fair treatment</a:t>
            </a:r>
          </a:p>
          <a:p>
            <a:pPr>
              <a:buFontTx/>
              <a:buChar char="•"/>
            </a:pPr>
            <a:r>
              <a:rPr lang="en-GB" altLang="en-US" sz="1200" dirty="0">
                <a:solidFill>
                  <a:srgbClr val="660000"/>
                </a:solidFill>
                <a:latin typeface="Arial" panose="020B0604020202020204" pitchFamily="34" charset="0"/>
              </a:rPr>
              <a:t>Consumers</a:t>
            </a:r>
          </a:p>
          <a:p>
            <a:pPr lvl="1">
              <a:buFontTx/>
              <a:buChar char="–"/>
            </a:pPr>
            <a:r>
              <a:rPr lang="en-GB" altLang="en-US" sz="1200" dirty="0">
                <a:solidFill>
                  <a:srgbClr val="660000"/>
                </a:solidFill>
                <a:latin typeface="Arial" panose="020B0604020202020204" pitchFamily="34" charset="0"/>
              </a:rPr>
              <a:t>Green / ethical products</a:t>
            </a:r>
          </a:p>
          <a:p>
            <a:pPr lvl="1">
              <a:buFontTx/>
              <a:buChar char="–"/>
            </a:pPr>
            <a:r>
              <a:rPr lang="en-GB" altLang="en-US" sz="1200" dirty="0">
                <a:solidFill>
                  <a:srgbClr val="660000"/>
                </a:solidFill>
                <a:latin typeface="Arial" panose="020B0604020202020204" pitchFamily="34" charset="0"/>
              </a:rPr>
              <a:t>Behaviour of company</a:t>
            </a:r>
          </a:p>
          <a:p>
            <a:pPr lvl="1">
              <a:buFontTx/>
              <a:buChar char="–"/>
            </a:pPr>
            <a:r>
              <a:rPr lang="en-GB" altLang="en-US" sz="1200" dirty="0">
                <a:solidFill>
                  <a:srgbClr val="660000"/>
                </a:solidFill>
                <a:latin typeface="Arial" panose="020B0604020202020204" pitchFamily="34" charset="0"/>
              </a:rPr>
              <a:t>Fair treatment of workers</a:t>
            </a:r>
          </a:p>
          <a:p>
            <a:pPr>
              <a:buFontTx/>
              <a:buChar char="•"/>
            </a:pPr>
            <a:r>
              <a:rPr lang="en-GB" altLang="en-US" sz="1200" dirty="0">
                <a:solidFill>
                  <a:srgbClr val="660000"/>
                </a:solidFill>
                <a:latin typeface="Arial" panose="020B0604020202020204" pitchFamily="34" charset="0"/>
              </a:rPr>
              <a:t>Other firms (suppliers &amp; customers)</a:t>
            </a:r>
          </a:p>
          <a:p>
            <a:pPr lvl="1">
              <a:buFontTx/>
              <a:buChar char="–"/>
            </a:pPr>
            <a:r>
              <a:rPr lang="en-GB" altLang="en-US" sz="1200" dirty="0">
                <a:solidFill>
                  <a:srgbClr val="660000"/>
                </a:solidFill>
                <a:latin typeface="Arial" panose="020B0604020202020204" pitchFamily="34" charset="0"/>
              </a:rPr>
              <a:t>Fair trade</a:t>
            </a:r>
          </a:p>
          <a:p>
            <a:pPr lvl="1">
              <a:buFontTx/>
              <a:buChar char="–"/>
            </a:pPr>
            <a:r>
              <a:rPr lang="en-GB" altLang="en-US" sz="1200" dirty="0">
                <a:solidFill>
                  <a:srgbClr val="660000"/>
                </a:solidFill>
                <a:latin typeface="Arial" panose="020B0604020202020204" pitchFamily="34" charset="0"/>
              </a:rPr>
              <a:t>Ethical values and behaviour</a:t>
            </a:r>
          </a:p>
        </p:txBody>
      </p:sp>
      <p:sp>
        <p:nvSpPr>
          <p:cNvPr id="3079" name="Rectangle 7">
            <a:extLst>
              <a:ext uri="{FF2B5EF4-FFF2-40B4-BE49-F238E27FC236}">
                <a16:creationId xmlns:a16="http://schemas.microsoft.com/office/drawing/2014/main" id="{8C82CD93-C54D-4F57-B6B2-99AD52C96399}"/>
              </a:ext>
            </a:extLst>
          </p:cNvPr>
          <p:cNvSpPr>
            <a:spLocks noChangeArrowheads="1"/>
          </p:cNvSpPr>
          <p:nvPr/>
        </p:nvSpPr>
        <p:spPr bwMode="auto">
          <a:xfrm>
            <a:off x="7589841" y="950120"/>
            <a:ext cx="2941637" cy="3194050"/>
          </a:xfrm>
          <a:prstGeom prst="rect">
            <a:avLst/>
          </a:prstGeom>
          <a:solidFill>
            <a:srgbClr val="F1FAFF"/>
          </a:solidFill>
          <a:ln w="19050">
            <a:solidFill>
              <a:schemeClr val="accent2"/>
            </a:solidFill>
            <a:miter lim="800000"/>
            <a:headEnd/>
            <a:tailEnd/>
          </a:ln>
          <a:effectLst>
            <a:outerShdw dist="35921" dir="2700000" algn="ctr" rotWithShape="0">
              <a:schemeClr val="bg2"/>
            </a:outerShdw>
          </a:effectLst>
        </p:spPr>
        <p:txBody>
          <a:bodyPr/>
          <a:lstStyle>
            <a:lvl1pPr marL="93663" indent="-93663">
              <a:defRPr sz="2400">
                <a:solidFill>
                  <a:schemeClr val="tx1"/>
                </a:solidFill>
                <a:latin typeface="Times New Roman" panose="02020603050405020304" pitchFamily="18" charset="0"/>
              </a:defRPr>
            </a:lvl1pPr>
            <a:lvl2pPr marL="382588" indent="-92075">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r>
              <a:rPr lang="en-GB" altLang="en-US" sz="1300" b="1">
                <a:solidFill>
                  <a:srgbClr val="000099"/>
                </a:solidFill>
                <a:latin typeface="Arial" panose="020B0604020202020204" pitchFamily="34" charset="0"/>
              </a:rPr>
              <a:t>Impact of secondary stakeholders</a:t>
            </a:r>
          </a:p>
          <a:p>
            <a:pPr>
              <a:buFontTx/>
              <a:buChar char="•"/>
            </a:pPr>
            <a:r>
              <a:rPr lang="en-GB" altLang="en-US" sz="1200">
                <a:solidFill>
                  <a:srgbClr val="000066"/>
                </a:solidFill>
                <a:latin typeface="Arial" panose="020B0604020202020204" pitchFamily="34" charset="0"/>
              </a:rPr>
              <a:t>Government and regulators</a:t>
            </a:r>
          </a:p>
          <a:p>
            <a:pPr lvl="1">
              <a:buFontTx/>
              <a:buChar char="–"/>
            </a:pPr>
            <a:r>
              <a:rPr lang="en-GB" altLang="en-US" sz="1200">
                <a:solidFill>
                  <a:srgbClr val="000066"/>
                </a:solidFill>
                <a:latin typeface="Arial" panose="020B0604020202020204" pitchFamily="34" charset="0"/>
              </a:rPr>
              <a:t>Green taxes</a:t>
            </a:r>
          </a:p>
          <a:p>
            <a:pPr lvl="1">
              <a:buFontTx/>
              <a:buChar char="–"/>
            </a:pPr>
            <a:r>
              <a:rPr lang="en-GB" altLang="en-US" sz="1200">
                <a:solidFill>
                  <a:srgbClr val="000066"/>
                </a:solidFill>
                <a:latin typeface="Arial" panose="020B0604020202020204" pitchFamily="34" charset="0"/>
              </a:rPr>
              <a:t>Laws and regulation</a:t>
            </a:r>
          </a:p>
          <a:p>
            <a:pPr lvl="1">
              <a:buFontTx/>
              <a:buChar char="–"/>
            </a:pPr>
            <a:r>
              <a:rPr lang="en-GB" altLang="en-US" sz="1200">
                <a:solidFill>
                  <a:srgbClr val="000066"/>
                </a:solidFill>
                <a:latin typeface="Arial" panose="020B0604020202020204" pitchFamily="34" charset="0"/>
              </a:rPr>
              <a:t>Auditing</a:t>
            </a:r>
          </a:p>
          <a:p>
            <a:pPr lvl="1">
              <a:buFontTx/>
              <a:buChar char="–"/>
            </a:pPr>
            <a:r>
              <a:rPr lang="en-GB" altLang="en-US" sz="1200">
                <a:solidFill>
                  <a:srgbClr val="000066"/>
                </a:solidFill>
                <a:latin typeface="Arial" panose="020B0604020202020204" pitchFamily="34" charset="0"/>
              </a:rPr>
              <a:t>Political pressure</a:t>
            </a:r>
          </a:p>
          <a:p>
            <a:pPr lvl="1">
              <a:buFontTx/>
              <a:buChar char="–"/>
            </a:pPr>
            <a:r>
              <a:rPr lang="en-GB" altLang="en-US" sz="1200">
                <a:solidFill>
                  <a:srgbClr val="000066"/>
                </a:solidFill>
                <a:latin typeface="Arial" panose="020B0604020202020204" pitchFamily="34" charset="0"/>
              </a:rPr>
              <a:t>Local government controls</a:t>
            </a:r>
          </a:p>
          <a:p>
            <a:pPr>
              <a:buFontTx/>
              <a:buChar char="•"/>
            </a:pPr>
            <a:r>
              <a:rPr lang="en-GB" altLang="en-US" sz="1200">
                <a:solidFill>
                  <a:srgbClr val="000066"/>
                </a:solidFill>
                <a:latin typeface="Arial" panose="020B0604020202020204" pitchFamily="34" charset="0"/>
              </a:rPr>
              <a:t>Communities</a:t>
            </a:r>
          </a:p>
          <a:p>
            <a:pPr lvl="1">
              <a:buFontTx/>
              <a:buChar char="–"/>
            </a:pPr>
            <a:r>
              <a:rPr lang="en-GB" altLang="en-US" sz="1200">
                <a:solidFill>
                  <a:srgbClr val="000066"/>
                </a:solidFill>
                <a:latin typeface="Arial" panose="020B0604020202020204" pitchFamily="34" charset="0"/>
              </a:rPr>
              <a:t>Local action groups </a:t>
            </a:r>
          </a:p>
          <a:p>
            <a:pPr lvl="1">
              <a:buFontTx/>
              <a:buChar char="–"/>
            </a:pPr>
            <a:r>
              <a:rPr lang="en-GB" altLang="en-US" sz="1200">
                <a:solidFill>
                  <a:srgbClr val="000066"/>
                </a:solidFill>
                <a:latin typeface="Arial" panose="020B0604020202020204" pitchFamily="34" charset="0"/>
              </a:rPr>
              <a:t>Chambers of commerce</a:t>
            </a:r>
          </a:p>
          <a:p>
            <a:pPr lvl="1">
              <a:buFontTx/>
              <a:buChar char="–"/>
            </a:pPr>
            <a:r>
              <a:rPr lang="en-GB" altLang="en-US" sz="1200">
                <a:solidFill>
                  <a:srgbClr val="000066"/>
                </a:solidFill>
                <a:latin typeface="Arial" panose="020B0604020202020204" pitchFamily="34" charset="0"/>
              </a:rPr>
              <a:t>Special interest groups</a:t>
            </a:r>
          </a:p>
          <a:p>
            <a:pPr>
              <a:buFontTx/>
              <a:buChar char="•"/>
            </a:pPr>
            <a:r>
              <a:rPr lang="en-GB" altLang="en-US" sz="1200">
                <a:solidFill>
                  <a:srgbClr val="000066"/>
                </a:solidFill>
                <a:latin typeface="Arial" panose="020B0604020202020204" pitchFamily="34" charset="0"/>
              </a:rPr>
              <a:t>Other organisations</a:t>
            </a:r>
          </a:p>
          <a:p>
            <a:pPr lvl="1">
              <a:buFontTx/>
              <a:buChar char="–"/>
            </a:pPr>
            <a:r>
              <a:rPr lang="en-GB" altLang="en-US" sz="1200">
                <a:solidFill>
                  <a:srgbClr val="000066"/>
                </a:solidFill>
                <a:latin typeface="Arial" panose="020B0604020202020204" pitchFamily="34" charset="0"/>
              </a:rPr>
              <a:t>Trade associations</a:t>
            </a:r>
          </a:p>
          <a:p>
            <a:pPr lvl="1">
              <a:buFontTx/>
              <a:buChar char="–"/>
            </a:pPr>
            <a:r>
              <a:rPr lang="en-GB" altLang="en-US" sz="1200">
                <a:solidFill>
                  <a:srgbClr val="000066"/>
                </a:solidFill>
                <a:latin typeface="Arial" panose="020B0604020202020204" pitchFamily="34" charset="0"/>
              </a:rPr>
              <a:t>Trade unions</a:t>
            </a:r>
          </a:p>
          <a:p>
            <a:pPr lvl="1">
              <a:buFontTx/>
              <a:buChar char="–"/>
            </a:pPr>
            <a:r>
              <a:rPr lang="en-GB" altLang="en-US" sz="1200">
                <a:solidFill>
                  <a:srgbClr val="000066"/>
                </a:solidFill>
                <a:latin typeface="Arial" panose="020B0604020202020204" pitchFamily="34" charset="0"/>
              </a:rPr>
              <a:t>Green groups</a:t>
            </a:r>
          </a:p>
          <a:p>
            <a:pPr lvl="1">
              <a:buFontTx/>
              <a:buChar char="–"/>
            </a:pPr>
            <a:r>
              <a:rPr lang="en-GB" altLang="en-US" sz="1200">
                <a:solidFill>
                  <a:srgbClr val="000066"/>
                </a:solidFill>
                <a:latin typeface="Arial" panose="020B0604020202020204" pitchFamily="34" charset="0"/>
              </a:rPr>
              <a:t>Charities</a:t>
            </a:r>
          </a:p>
          <a:p>
            <a:pPr lvl="1">
              <a:buFontTx/>
              <a:buChar char="–"/>
            </a:pPr>
            <a:r>
              <a:rPr lang="en-GB" altLang="en-US" sz="1200">
                <a:solidFill>
                  <a:srgbClr val="000066"/>
                </a:solidFill>
                <a:latin typeface="Arial" panose="020B0604020202020204" pitchFamily="34" charset="0"/>
              </a:rPr>
              <a:t>International bodies (e.g. WTO)</a:t>
            </a:r>
          </a:p>
        </p:txBody>
      </p:sp>
      <p:sp>
        <p:nvSpPr>
          <p:cNvPr id="3080" name="Rectangle 8">
            <a:extLst>
              <a:ext uri="{FF2B5EF4-FFF2-40B4-BE49-F238E27FC236}">
                <a16:creationId xmlns:a16="http://schemas.microsoft.com/office/drawing/2014/main" id="{376014DC-DB75-4CF7-813D-521E7E0EA433}"/>
              </a:ext>
            </a:extLst>
          </p:cNvPr>
          <p:cNvSpPr>
            <a:spLocks noChangeArrowheads="1"/>
          </p:cNvSpPr>
          <p:nvPr/>
        </p:nvSpPr>
        <p:spPr bwMode="auto">
          <a:xfrm>
            <a:off x="4206877" y="4433888"/>
            <a:ext cx="3929063" cy="2290762"/>
          </a:xfrm>
          <a:prstGeom prst="rect">
            <a:avLst/>
          </a:prstGeom>
          <a:solidFill>
            <a:srgbClr val="E7FFE7"/>
          </a:solidFill>
          <a:ln w="19050">
            <a:solidFill>
              <a:srgbClr val="006600"/>
            </a:solidFill>
            <a:miter lim="800000"/>
            <a:headEnd/>
            <a:tailEnd/>
          </a:ln>
          <a:effectLst>
            <a:outerShdw dist="35921" dir="2700000" algn="ctr" rotWithShape="0">
              <a:schemeClr val="bg2"/>
            </a:outerShdw>
          </a:effectLst>
        </p:spPr>
        <p:txBody>
          <a:bodyPr wrap="none"/>
          <a:lstStyle>
            <a:lvl1pPr marL="93663" indent="-93663">
              <a:defRPr sz="2400">
                <a:solidFill>
                  <a:schemeClr val="tx1"/>
                </a:solidFill>
                <a:latin typeface="Times New Roman" panose="02020603050405020304" pitchFamily="18" charset="0"/>
              </a:defRPr>
            </a:lvl1pPr>
            <a:lvl2pPr marL="284163">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r>
              <a:rPr lang="en-GB" altLang="en-US" sz="1300" b="1">
                <a:solidFill>
                  <a:srgbClr val="006600"/>
                </a:solidFill>
                <a:latin typeface="Arial" panose="020B0604020202020204" pitchFamily="34" charset="0"/>
              </a:rPr>
              <a:t>Social / ethical / institutional pressures</a:t>
            </a:r>
          </a:p>
          <a:p>
            <a:pPr>
              <a:buFontTx/>
              <a:buChar char="•"/>
            </a:pPr>
            <a:r>
              <a:rPr lang="en-GB" altLang="en-US" sz="1200">
                <a:solidFill>
                  <a:srgbClr val="003300"/>
                </a:solidFill>
                <a:latin typeface="Arial" panose="020B0604020202020204" pitchFamily="34" charset="0"/>
              </a:rPr>
              <a:t>Changes to the civil foundation</a:t>
            </a:r>
          </a:p>
          <a:p>
            <a:pPr lvl="1">
              <a:buFontTx/>
              <a:buChar char="–"/>
            </a:pPr>
            <a:r>
              <a:rPr lang="en-GB" altLang="en-US" sz="1200">
                <a:solidFill>
                  <a:srgbClr val="003300"/>
                </a:solidFill>
                <a:latin typeface="Arial" panose="020B0604020202020204" pitchFamily="34" charset="0"/>
              </a:rPr>
              <a:t>Business ethics</a:t>
            </a:r>
          </a:p>
          <a:p>
            <a:pPr lvl="1">
              <a:buFontTx/>
              <a:buChar char="–"/>
            </a:pPr>
            <a:r>
              <a:rPr lang="en-GB" altLang="en-US" sz="1200">
                <a:solidFill>
                  <a:srgbClr val="003300"/>
                </a:solidFill>
                <a:latin typeface="Arial" panose="020B0604020202020204" pitchFamily="34" charset="0"/>
              </a:rPr>
              <a:t>Social norms and public expectations</a:t>
            </a:r>
          </a:p>
          <a:p>
            <a:pPr lvl="1">
              <a:buFontTx/>
              <a:buChar char="–"/>
            </a:pPr>
            <a:r>
              <a:rPr lang="en-GB" altLang="en-US" sz="1200">
                <a:solidFill>
                  <a:srgbClr val="003300"/>
                </a:solidFill>
                <a:latin typeface="Arial" panose="020B0604020202020204" pitchFamily="34" charset="0"/>
              </a:rPr>
              <a:t>Attitudes towards the environment</a:t>
            </a:r>
          </a:p>
          <a:p>
            <a:pPr>
              <a:buFontTx/>
              <a:buChar char="•"/>
            </a:pPr>
            <a:r>
              <a:rPr lang="en-GB" altLang="en-US" sz="1200">
                <a:solidFill>
                  <a:srgbClr val="003300"/>
                </a:solidFill>
                <a:latin typeface="Arial" panose="020B0604020202020204" pitchFamily="34" charset="0"/>
              </a:rPr>
              <a:t>Public information</a:t>
            </a:r>
          </a:p>
          <a:p>
            <a:pPr lvl="1">
              <a:buFontTx/>
              <a:buChar char="–"/>
            </a:pPr>
            <a:r>
              <a:rPr lang="en-GB" altLang="en-US" sz="1200">
                <a:solidFill>
                  <a:srgbClr val="003300"/>
                </a:solidFill>
                <a:latin typeface="Arial" panose="020B0604020202020204" pitchFamily="34" charset="0"/>
              </a:rPr>
              <a:t>Rankings in lists according to CSR</a:t>
            </a:r>
          </a:p>
          <a:p>
            <a:pPr lvl="1">
              <a:buFontTx/>
              <a:buChar char="–"/>
            </a:pPr>
            <a:r>
              <a:rPr lang="en-GB" altLang="en-US" sz="1200">
                <a:solidFill>
                  <a:srgbClr val="003300"/>
                </a:solidFill>
                <a:latin typeface="Arial" panose="020B0604020202020204" pitchFamily="34" charset="0"/>
              </a:rPr>
              <a:t>Media reports</a:t>
            </a:r>
          </a:p>
          <a:p>
            <a:pPr lvl="1">
              <a:buFontTx/>
              <a:buChar char="–"/>
            </a:pPr>
            <a:r>
              <a:rPr lang="en-GB" altLang="en-US" sz="1200">
                <a:solidFill>
                  <a:srgbClr val="003300"/>
                </a:solidFill>
                <a:latin typeface="Arial" panose="020B0604020202020204" pitchFamily="34" charset="0"/>
              </a:rPr>
              <a:t>Education</a:t>
            </a:r>
          </a:p>
          <a:p>
            <a:pPr>
              <a:buFontTx/>
              <a:buChar char="•"/>
            </a:pPr>
            <a:r>
              <a:rPr lang="en-GB" altLang="en-US" sz="1200">
                <a:solidFill>
                  <a:srgbClr val="003300"/>
                </a:solidFill>
                <a:latin typeface="Arial" panose="020B0604020202020204" pitchFamily="34" charset="0"/>
              </a:rPr>
              <a:t>Public demands</a:t>
            </a:r>
          </a:p>
          <a:p>
            <a:pPr lvl="1">
              <a:buFontTx/>
              <a:buChar char="–"/>
            </a:pPr>
            <a:r>
              <a:rPr lang="en-GB" altLang="en-US" sz="1200">
                <a:solidFill>
                  <a:srgbClr val="003300"/>
                </a:solidFill>
                <a:latin typeface="Arial" panose="020B0604020202020204" pitchFamily="34" charset="0"/>
              </a:rPr>
              <a:t>For high ethical / social / environmental standards</a:t>
            </a:r>
          </a:p>
          <a:p>
            <a:pPr lvl="1">
              <a:buFontTx/>
              <a:buChar char="–"/>
            </a:pPr>
            <a:r>
              <a:rPr lang="en-GB" altLang="en-US" sz="1200">
                <a:solidFill>
                  <a:srgbClr val="003300"/>
                </a:solidFill>
                <a:latin typeface="Arial" panose="020B0604020202020204" pitchFamily="34" charset="0"/>
              </a:rPr>
              <a:t>Accountability and transparency</a:t>
            </a:r>
          </a:p>
        </p:txBody>
      </p:sp>
      <p:sp>
        <p:nvSpPr>
          <p:cNvPr id="10" name="Text Box 15">
            <a:extLst>
              <a:ext uri="{FF2B5EF4-FFF2-40B4-BE49-F238E27FC236}">
                <a16:creationId xmlns:a16="http://schemas.microsoft.com/office/drawing/2014/main" id="{701032D4-E1F3-44C2-9875-BC0DCC1CA373}"/>
              </a:ext>
            </a:extLst>
          </p:cNvPr>
          <p:cNvSpPr txBox="1">
            <a:spLocks noChangeArrowheads="1"/>
          </p:cNvSpPr>
          <p:nvPr/>
        </p:nvSpPr>
        <p:spPr bwMode="auto">
          <a:xfrm>
            <a:off x="1143000" y="132908"/>
            <a:ext cx="9829800" cy="492443"/>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ctr">
              <a:spcBef>
                <a:spcPct val="50000"/>
              </a:spcBef>
            </a:pPr>
            <a:r>
              <a:rPr lang="en-GB" altLang="en-US" sz="2500" b="1" dirty="0">
                <a:solidFill>
                  <a:srgbClr val="800080"/>
                </a:solidFill>
              </a:rPr>
              <a:t>Pressures on companies to be more socially responsible</a:t>
            </a:r>
          </a:p>
        </p:txBody>
      </p:sp>
    </p:spTree>
    <p:extLst>
      <p:ext uri="{BB962C8B-B14F-4D97-AF65-F5344CB8AC3E}">
        <p14:creationId xmlns:p14="http://schemas.microsoft.com/office/powerpoint/2010/main" val="40380592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8"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8339"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8340" name="Rectangle 4"/>
          <p:cNvSpPr>
            <a:spLocks noGrp="1"/>
          </p:cNvSpPr>
          <p:nvPr>
            <p:ph type="title"/>
          </p:nvPr>
        </p:nvSpPr>
        <p:spPr/>
        <p:txBody>
          <a:bodyPr/>
          <a:lstStyle/>
          <a:p>
            <a:r>
              <a:rPr lang="en-GB" altLang="en-US" dirty="0"/>
              <a:t>Firms and Social Responsibility</a:t>
            </a:r>
          </a:p>
        </p:txBody>
      </p:sp>
      <p:sp>
        <p:nvSpPr>
          <p:cNvPr id="398341" name="Rectangle 5"/>
          <p:cNvSpPr>
            <a:spLocks noGrp="1"/>
          </p:cNvSpPr>
          <p:nvPr>
            <p:ph idx="1"/>
          </p:nvPr>
        </p:nvSpPr>
        <p:spPr/>
        <p:txBody>
          <a:bodyPr/>
          <a:lstStyle/>
          <a:p>
            <a:pPr>
              <a:lnSpc>
                <a:spcPct val="100000"/>
              </a:lnSpc>
              <a:spcBef>
                <a:spcPts val="600"/>
              </a:spcBef>
            </a:pPr>
            <a:r>
              <a:rPr lang="en-GB" sz="2000" dirty="0" err="1">
                <a:latin typeface="Calibri" panose="020F0502020204030204" pitchFamily="34" charset="0"/>
                <a:ea typeface="Calibri" panose="020F0502020204030204" pitchFamily="34" charset="0"/>
                <a:cs typeface="Calibri" panose="020F0502020204030204" pitchFamily="34" charset="0"/>
              </a:rPr>
              <a:t>Benabou</a:t>
            </a:r>
            <a:r>
              <a:rPr lang="en-GB" sz="2000" dirty="0">
                <a:latin typeface="Calibri" panose="020F0502020204030204" pitchFamily="34" charset="0"/>
                <a:ea typeface="Calibri" panose="020F0502020204030204" pitchFamily="34" charset="0"/>
                <a:cs typeface="Calibri" panose="020F0502020204030204" pitchFamily="34" charset="0"/>
              </a:rPr>
              <a:t> &amp; </a:t>
            </a:r>
            <a:r>
              <a:rPr lang="en-GB" sz="2000" dirty="0" err="1">
                <a:latin typeface="Calibri" panose="020F0502020204030204" pitchFamily="34" charset="0"/>
                <a:ea typeface="Calibri" panose="020F0502020204030204" pitchFamily="34" charset="0"/>
                <a:cs typeface="Calibri" panose="020F0502020204030204" pitchFamily="34" charset="0"/>
              </a:rPr>
              <a:t>Tirole</a:t>
            </a:r>
            <a:r>
              <a:rPr lang="en-GB" sz="2000" dirty="0">
                <a:latin typeface="Calibri" panose="020F0502020204030204" pitchFamily="34" charset="0"/>
                <a:ea typeface="Calibri" panose="020F0502020204030204" pitchFamily="34" charset="0"/>
                <a:cs typeface="Calibri" panose="020F0502020204030204" pitchFamily="34" charset="0"/>
              </a:rPr>
              <a:t> (2010) discuss three different visions of CSR</a:t>
            </a:r>
          </a:p>
          <a:p>
            <a:pPr lvl="1">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Overcoming short-termism view</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This view is based on the premise that companies suffer from short-term bias. In particular, managers often take decisions to try and maximise short-run profits at the expense of returns in the long-run.</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For e.g. they may try to circumvent government regulations – this may reduce more immediate costs but lead to lower profits in the long-run.</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A well-known case is that of Volkswagen – in 2015, it admitted that it had loaded illegal software to around 11million of its diesel cars worldwide (to reduce emissions readings).</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Putting value on CSR may help to overcome this short-term bias and maximise the value of its profits in the long run.</a:t>
            </a:r>
          </a:p>
          <a:p>
            <a:pPr lvl="2">
              <a:lnSpc>
                <a:spcPct val="100000"/>
              </a:lnSpc>
              <a:spcBef>
                <a:spcPts val="600"/>
              </a:spcBef>
            </a:pPr>
            <a:r>
              <a:rPr lang="en-GB" sz="2000" dirty="0">
                <a:latin typeface="Calibri" panose="020F0502020204030204" pitchFamily="34" charset="0"/>
                <a:ea typeface="Calibri" panose="020F0502020204030204" pitchFamily="34" charset="0"/>
                <a:cs typeface="Calibri" panose="020F0502020204030204" pitchFamily="34" charset="0"/>
              </a:rPr>
              <a:t>A slightly different standpoint is to view CSR as a </a:t>
            </a:r>
            <a:r>
              <a:rPr lang="en-GB" sz="2000" i="1" dirty="0">
                <a:latin typeface="Calibri" panose="020F0502020204030204" pitchFamily="34" charset="0"/>
                <a:ea typeface="Calibri" panose="020F0502020204030204" pitchFamily="34" charset="0"/>
                <a:cs typeface="Calibri" panose="020F0502020204030204" pitchFamily="34" charset="0"/>
              </a:rPr>
              <a:t>strategic</a:t>
            </a:r>
            <a:r>
              <a:rPr lang="en-GB" sz="2000" dirty="0">
                <a:latin typeface="Calibri" panose="020F0502020204030204" pitchFamily="34" charset="0"/>
                <a:ea typeface="Calibri" panose="020F0502020204030204" pitchFamily="34" charset="0"/>
                <a:cs typeface="Calibri" panose="020F0502020204030204" pitchFamily="34" charset="0"/>
              </a:rPr>
              <a:t> move, which attempts to improve the firm’s competitive position in the long run.</a:t>
            </a:r>
          </a:p>
          <a:p>
            <a:pPr lvl="1">
              <a:lnSpc>
                <a:spcPct val="100000"/>
              </a:lnSpc>
              <a:spcBef>
                <a:spcPts val="600"/>
              </a:spcBef>
            </a:pPr>
            <a:endParaRPr lang="en-GB" sz="2000" dirty="0">
              <a:latin typeface="Calibri" panose="020F0502020204030204" pitchFamily="34" charset="0"/>
              <a:ea typeface="Calibri" panose="020F0502020204030204" pitchFamily="34" charset="0"/>
              <a:cs typeface="Calibri" panose="020F0502020204030204" pitchFamily="34" charset="0"/>
            </a:endParaRPr>
          </a:p>
          <a:p>
            <a:pPr lvl="3">
              <a:spcBef>
                <a:spcPts val="1200"/>
              </a:spcBef>
            </a:pPr>
            <a:endParaRPr lang="en-GB" sz="2200" dirty="0"/>
          </a:p>
          <a:p>
            <a:pPr lvl="1">
              <a:spcBef>
                <a:spcPts val="1200"/>
              </a:spcBef>
            </a:pPr>
            <a:endParaRPr lang="en-GB" sz="2800" dirty="0"/>
          </a:p>
        </p:txBody>
      </p:sp>
    </p:spTree>
    <p:extLst>
      <p:ext uri="{BB962C8B-B14F-4D97-AF65-F5344CB8AC3E}">
        <p14:creationId xmlns:p14="http://schemas.microsoft.com/office/powerpoint/2010/main" val="4906013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8341">
                                            <p:txEl>
                                              <p:pRg st="0" end="0"/>
                                            </p:txEl>
                                          </p:spTgt>
                                        </p:tgtEl>
                                        <p:attrNameLst>
                                          <p:attrName>style.visibility</p:attrName>
                                        </p:attrNameLst>
                                      </p:cBhvr>
                                      <p:to>
                                        <p:strVal val="visible"/>
                                      </p:to>
                                    </p:set>
                                    <p:anim calcmode="lin" valueType="num">
                                      <p:cBhvr additive="base">
                                        <p:cTn id="7" dur="500"/>
                                        <p:tgtEl>
                                          <p:spTgt spid="39834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834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8341">
                                            <p:txEl>
                                              <p:pRg st="1" end="1"/>
                                            </p:txEl>
                                          </p:spTgt>
                                        </p:tgtEl>
                                        <p:attrNameLst>
                                          <p:attrName>style.visibility</p:attrName>
                                        </p:attrNameLst>
                                      </p:cBhvr>
                                      <p:to>
                                        <p:strVal val="visible"/>
                                      </p:to>
                                    </p:set>
                                    <p:anim calcmode="lin" valueType="num">
                                      <p:cBhvr additive="base">
                                        <p:cTn id="13" dur="500"/>
                                        <p:tgtEl>
                                          <p:spTgt spid="39834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834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8341">
                                            <p:txEl>
                                              <p:pRg st="2" end="2"/>
                                            </p:txEl>
                                          </p:spTgt>
                                        </p:tgtEl>
                                        <p:attrNameLst>
                                          <p:attrName>style.visibility</p:attrName>
                                        </p:attrNameLst>
                                      </p:cBhvr>
                                      <p:to>
                                        <p:strVal val="visible"/>
                                      </p:to>
                                    </p:set>
                                    <p:anim calcmode="lin" valueType="num">
                                      <p:cBhvr additive="base">
                                        <p:cTn id="19" dur="500"/>
                                        <p:tgtEl>
                                          <p:spTgt spid="39834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834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8341">
                                            <p:txEl>
                                              <p:pRg st="3" end="3"/>
                                            </p:txEl>
                                          </p:spTgt>
                                        </p:tgtEl>
                                        <p:attrNameLst>
                                          <p:attrName>style.visibility</p:attrName>
                                        </p:attrNameLst>
                                      </p:cBhvr>
                                      <p:to>
                                        <p:strVal val="visible"/>
                                      </p:to>
                                    </p:set>
                                    <p:anim calcmode="lin" valueType="num">
                                      <p:cBhvr additive="base">
                                        <p:cTn id="25" dur="500"/>
                                        <p:tgtEl>
                                          <p:spTgt spid="39834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834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8341">
                                            <p:txEl>
                                              <p:pRg st="4" end="4"/>
                                            </p:txEl>
                                          </p:spTgt>
                                        </p:tgtEl>
                                        <p:attrNameLst>
                                          <p:attrName>style.visibility</p:attrName>
                                        </p:attrNameLst>
                                      </p:cBhvr>
                                      <p:to>
                                        <p:strVal val="visible"/>
                                      </p:to>
                                    </p:set>
                                    <p:anim calcmode="lin" valueType="num">
                                      <p:cBhvr additive="base">
                                        <p:cTn id="31" dur="500"/>
                                        <p:tgtEl>
                                          <p:spTgt spid="39834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834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8341">
                                            <p:txEl>
                                              <p:pRg st="5" end="5"/>
                                            </p:txEl>
                                          </p:spTgt>
                                        </p:tgtEl>
                                        <p:attrNameLst>
                                          <p:attrName>style.visibility</p:attrName>
                                        </p:attrNameLst>
                                      </p:cBhvr>
                                      <p:to>
                                        <p:strVal val="visible"/>
                                      </p:to>
                                    </p:set>
                                    <p:anim calcmode="lin" valueType="num">
                                      <p:cBhvr additive="base">
                                        <p:cTn id="37" dur="500"/>
                                        <p:tgtEl>
                                          <p:spTgt spid="39834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834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8341">
                                            <p:txEl>
                                              <p:pRg st="6" end="6"/>
                                            </p:txEl>
                                          </p:spTgt>
                                        </p:tgtEl>
                                        <p:attrNameLst>
                                          <p:attrName>style.visibility</p:attrName>
                                        </p:attrNameLst>
                                      </p:cBhvr>
                                      <p:to>
                                        <p:strVal val="visible"/>
                                      </p:to>
                                    </p:set>
                                    <p:anim calcmode="lin" valueType="num">
                                      <p:cBhvr additive="base">
                                        <p:cTn id="43" dur="500"/>
                                        <p:tgtEl>
                                          <p:spTgt spid="39834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834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1" grpId="0" build="p" bldLvl="4"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Firms and Social Responsibility</a:t>
            </a:r>
            <a:endParaRPr lang="en-GB" dirty="0"/>
          </a:p>
        </p:txBody>
      </p:sp>
      <p:sp>
        <p:nvSpPr>
          <p:cNvPr id="3" name="Content Placeholder 2"/>
          <p:cNvSpPr>
            <a:spLocks noGrp="1"/>
          </p:cNvSpPr>
          <p:nvPr>
            <p:ph idx="1"/>
          </p:nvPr>
        </p:nvSpPr>
        <p:spPr>
          <a:xfrm>
            <a:off x="402167" y="1526397"/>
            <a:ext cx="11379200" cy="4759512"/>
          </a:xfrm>
        </p:spPr>
        <p:txBody>
          <a:bodyPr/>
          <a:lstStyle/>
          <a:p>
            <a:pPr>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The impact of CSR on economic performance </a:t>
            </a:r>
          </a:p>
          <a:p>
            <a:pPr lvl="1">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A number of studies have attempted to measure the impact on firms’ profits of investing in CSR - results have been mixed, finding +</a:t>
            </a:r>
            <a:r>
              <a:rPr lang="en-GB" sz="2000" dirty="0" err="1">
                <a:latin typeface="Calibri" panose="020F0502020204030204" pitchFamily="34" charset="0"/>
                <a:ea typeface="Calibri" panose="020F0502020204030204" pitchFamily="34" charset="0"/>
                <a:cs typeface="Calibri" panose="020F0502020204030204" pitchFamily="34" charset="0"/>
              </a:rPr>
              <a:t>ve</a:t>
            </a:r>
            <a:r>
              <a:rPr lang="en-GB" sz="2000" dirty="0">
                <a:latin typeface="Calibri" panose="020F0502020204030204" pitchFamily="34" charset="0"/>
                <a:ea typeface="Calibri" panose="020F0502020204030204" pitchFamily="34" charset="0"/>
                <a:cs typeface="Calibri" panose="020F0502020204030204" pitchFamily="34" charset="0"/>
              </a:rPr>
              <a:t> impacts, -</a:t>
            </a:r>
            <a:r>
              <a:rPr lang="en-GB" sz="2000" dirty="0" err="1">
                <a:latin typeface="Calibri" panose="020F0502020204030204" pitchFamily="34" charset="0"/>
                <a:ea typeface="Calibri" panose="020F0502020204030204" pitchFamily="34" charset="0"/>
                <a:cs typeface="Calibri" panose="020F0502020204030204" pitchFamily="34" charset="0"/>
              </a:rPr>
              <a:t>ve</a:t>
            </a:r>
            <a:r>
              <a:rPr lang="en-GB" sz="2000" dirty="0">
                <a:latin typeface="Calibri" panose="020F0502020204030204" pitchFamily="34" charset="0"/>
                <a:ea typeface="Calibri" panose="020F0502020204030204" pitchFamily="34" charset="0"/>
                <a:cs typeface="Calibri" panose="020F0502020204030204" pitchFamily="34" charset="0"/>
              </a:rPr>
              <a:t> impacts and no relationship.</a:t>
            </a:r>
          </a:p>
          <a:p>
            <a:pPr lvl="1">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There are a number of reasons the results have been so mixed:</a:t>
            </a:r>
          </a:p>
          <a:p>
            <a:pPr lvl="2">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Difficulties in trying to define and measure CSR – much of the info needed to measure CSR is non-financial and not reported in a standardised way.</a:t>
            </a:r>
          </a:p>
          <a:p>
            <a:pPr lvl="2">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Difficulties in trying to measure firms’ performance – the concept of profitability is contentious, in respect to the time frame over which assessment takes place. How do you attribute a given % or contribution to profit to the adoption of a more socially responsible business position?</a:t>
            </a:r>
          </a:p>
          <a:p>
            <a:pPr lvl="2">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The simultaneous impact of a mix of different motives</a:t>
            </a:r>
          </a:p>
          <a:p>
            <a:pPr lvl="1">
              <a:lnSpc>
                <a:spcPct val="100000"/>
              </a:lnSpc>
              <a:spcBef>
                <a:spcPts val="2400"/>
              </a:spcBef>
            </a:pPr>
            <a:endParaRPr lang="en-GB" dirty="0"/>
          </a:p>
          <a:p>
            <a:pPr>
              <a:lnSpc>
                <a:spcPct val="100000"/>
              </a:lnSpc>
              <a:spcBef>
                <a:spcPts val="2400"/>
              </a:spcBef>
            </a:pPr>
            <a:endParaRPr lang="en-GB" dirty="0"/>
          </a:p>
        </p:txBody>
      </p:sp>
    </p:spTree>
    <p:extLst>
      <p:ext uri="{BB962C8B-B14F-4D97-AF65-F5344CB8AC3E}">
        <p14:creationId xmlns:p14="http://schemas.microsoft.com/office/powerpoint/2010/main" val="3769543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6" name="Rectangle 4">
            <a:extLst>
              <a:ext uri="{FF2B5EF4-FFF2-40B4-BE49-F238E27FC236}">
                <a16:creationId xmlns:a16="http://schemas.microsoft.com/office/drawing/2014/main" id="{A8F569EA-8863-4E17-B520-351FF94C1193}"/>
              </a:ext>
            </a:extLst>
          </p:cNvPr>
          <p:cNvSpPr>
            <a:spLocks noGrp="1"/>
          </p:cNvSpPr>
          <p:nvPr>
            <p:ph type="title"/>
          </p:nvPr>
        </p:nvSpPr>
        <p:spPr/>
        <p:txBody>
          <a:bodyPr/>
          <a:lstStyle/>
          <a:p>
            <a:r>
              <a:rPr lang="en-GB" altLang="en-US"/>
              <a:t>Competition Policy</a:t>
            </a:r>
          </a:p>
        </p:txBody>
      </p:sp>
      <p:sp>
        <p:nvSpPr>
          <p:cNvPr id="371717" name="Rectangle 5">
            <a:extLst>
              <a:ext uri="{FF2B5EF4-FFF2-40B4-BE49-F238E27FC236}">
                <a16:creationId xmlns:a16="http://schemas.microsoft.com/office/drawing/2014/main" id="{258F1D1C-7B53-4BEA-897D-02C1F7AABD35}"/>
              </a:ext>
            </a:extLst>
          </p:cNvPr>
          <p:cNvSpPr>
            <a:spLocks noGrp="1"/>
          </p:cNvSpPr>
          <p:nvPr>
            <p:ph idx="1"/>
          </p:nvPr>
        </p:nvSpPr>
        <p:spPr/>
        <p:txBody>
          <a:bodyPr>
            <a:normAutofit lnSpcReduction="10000"/>
          </a:bodyPr>
          <a:lstStyle/>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Competition, market power and the public interest</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Not necessarily the case that market power is always ‘a bad thing’ as far consumers concerned</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question is whether it is abused</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Most countries prefer to focus on whether the practices of particular monopolists or oligopolists are anti-competitive</a:t>
            </a:r>
          </a:p>
          <a:p>
            <a:pPr marL="457200" lvl="1" indent="0">
              <a:lnSpc>
                <a:spcPct val="100000"/>
              </a:lnSpc>
              <a:spcBef>
                <a:spcPts val="600"/>
              </a:spcBef>
              <a:buNone/>
            </a:pP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targets of policy – three broad areas of competition policy</a:t>
            </a:r>
          </a:p>
          <a:p>
            <a:pPr marL="457200" lvl="1" indent="0">
              <a:lnSpc>
                <a:spcPct val="100000"/>
              </a:lnSpc>
              <a:spcBef>
                <a:spcPts val="600"/>
              </a:spcBef>
              <a:buNone/>
            </a:pPr>
            <a:r>
              <a:rPr lang="en-GB" altLang="en-US" sz="2000" dirty="0">
                <a:latin typeface="Calibri" panose="020F0502020204030204" pitchFamily="34" charset="0"/>
                <a:ea typeface="Calibri" panose="020F0502020204030204" pitchFamily="34" charset="0"/>
                <a:cs typeface="Calibri" panose="020F0502020204030204" pitchFamily="34" charset="0"/>
              </a:rPr>
              <a:t>1. Abuse of existing power of monopolies and oligopolies: monopoly policy</a:t>
            </a:r>
          </a:p>
          <a:p>
            <a:pPr marL="457200" lvl="1" indent="0">
              <a:lnSpc>
                <a:spcPct val="100000"/>
              </a:lnSpc>
              <a:spcBef>
                <a:spcPts val="600"/>
              </a:spcBef>
              <a:buNone/>
            </a:pPr>
            <a:r>
              <a:rPr lang="en-GB" altLang="en-US" sz="2000" dirty="0">
                <a:latin typeface="Calibri" panose="020F0502020204030204" pitchFamily="34" charset="0"/>
                <a:ea typeface="Calibri" panose="020F0502020204030204" pitchFamily="34" charset="0"/>
                <a:cs typeface="Calibri" panose="020F0502020204030204" pitchFamily="34" charset="0"/>
              </a:rPr>
              <a:t>2. The growth of market power through mergers and acquisitions: merger policy</a:t>
            </a:r>
          </a:p>
          <a:p>
            <a:pPr marL="457200" lvl="1" indent="0">
              <a:lnSpc>
                <a:spcPct val="100000"/>
              </a:lnSpc>
              <a:spcBef>
                <a:spcPts val="600"/>
              </a:spcBef>
              <a:buNone/>
            </a:pPr>
            <a:r>
              <a:rPr lang="en-GB" altLang="en-US" sz="2000" dirty="0">
                <a:latin typeface="Calibri" panose="020F0502020204030204" pitchFamily="34" charset="0"/>
                <a:ea typeface="Calibri" panose="020F0502020204030204" pitchFamily="34" charset="0"/>
                <a:cs typeface="Calibri" panose="020F0502020204030204" pitchFamily="34" charset="0"/>
              </a:rPr>
              <a:t>3. Collusion: restrictive practice policy</a:t>
            </a: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Primary responsibility for enforcing competition law lies with Competition &amp; Markets Authority (CMA)</a:t>
            </a:r>
          </a:p>
        </p:txBody>
      </p:sp>
    </p:spTree>
    <p:extLst>
      <p:ext uri="{BB962C8B-B14F-4D97-AF65-F5344CB8AC3E}">
        <p14:creationId xmlns:p14="http://schemas.microsoft.com/office/powerpoint/2010/main" val="5131387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7">
                                            <p:txEl>
                                              <p:pRg st="0" end="0"/>
                                            </p:txEl>
                                          </p:spTgt>
                                        </p:tgtEl>
                                        <p:attrNameLst>
                                          <p:attrName>style.visibility</p:attrName>
                                        </p:attrNameLst>
                                      </p:cBhvr>
                                      <p:to>
                                        <p:strVal val="visible"/>
                                      </p:to>
                                    </p:set>
                                    <p:anim calcmode="lin" valueType="num">
                                      <p:cBhvr additive="base">
                                        <p:cTn id="7" dur="500"/>
                                        <p:tgtEl>
                                          <p:spTgt spid="37171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7">
                                            <p:txEl>
                                              <p:pRg st="1" end="1"/>
                                            </p:txEl>
                                          </p:spTgt>
                                        </p:tgtEl>
                                        <p:attrNameLst>
                                          <p:attrName>style.visibility</p:attrName>
                                        </p:attrNameLst>
                                      </p:cBhvr>
                                      <p:to>
                                        <p:strVal val="visible"/>
                                      </p:to>
                                    </p:set>
                                    <p:anim calcmode="lin" valueType="num">
                                      <p:cBhvr additive="base">
                                        <p:cTn id="13" dur="500"/>
                                        <p:tgtEl>
                                          <p:spTgt spid="37171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7">
                                            <p:txEl>
                                              <p:pRg st="2" end="2"/>
                                            </p:txEl>
                                          </p:spTgt>
                                        </p:tgtEl>
                                        <p:attrNameLst>
                                          <p:attrName>style.visibility</p:attrName>
                                        </p:attrNameLst>
                                      </p:cBhvr>
                                      <p:to>
                                        <p:strVal val="visible"/>
                                      </p:to>
                                    </p:set>
                                    <p:anim calcmode="lin" valueType="num">
                                      <p:cBhvr additive="base">
                                        <p:cTn id="19" dur="500"/>
                                        <p:tgtEl>
                                          <p:spTgt spid="37171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1717">
                                            <p:txEl>
                                              <p:pRg st="3" end="3"/>
                                            </p:txEl>
                                          </p:spTgt>
                                        </p:tgtEl>
                                        <p:attrNameLst>
                                          <p:attrName>style.visibility</p:attrName>
                                        </p:attrNameLst>
                                      </p:cBhvr>
                                      <p:to>
                                        <p:strVal val="visible"/>
                                      </p:to>
                                    </p:set>
                                    <p:anim calcmode="lin" valueType="num">
                                      <p:cBhvr additive="base">
                                        <p:cTn id="25" dur="500"/>
                                        <p:tgtEl>
                                          <p:spTgt spid="37171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1717">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1717">
                                            <p:txEl>
                                              <p:pRg st="5" end="5"/>
                                            </p:txEl>
                                          </p:spTgt>
                                        </p:tgtEl>
                                        <p:attrNameLst>
                                          <p:attrName>style.visibility</p:attrName>
                                        </p:attrNameLst>
                                      </p:cBhvr>
                                      <p:to>
                                        <p:strVal val="visible"/>
                                      </p:to>
                                    </p:set>
                                    <p:anim calcmode="lin" valueType="num">
                                      <p:cBhvr additive="base">
                                        <p:cTn id="31" dur="500"/>
                                        <p:tgtEl>
                                          <p:spTgt spid="371717">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171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1717">
                                            <p:txEl>
                                              <p:pRg st="6" end="6"/>
                                            </p:txEl>
                                          </p:spTgt>
                                        </p:tgtEl>
                                        <p:attrNameLst>
                                          <p:attrName>style.visibility</p:attrName>
                                        </p:attrNameLst>
                                      </p:cBhvr>
                                      <p:to>
                                        <p:strVal val="visible"/>
                                      </p:to>
                                    </p:set>
                                    <p:anim calcmode="lin" valueType="num">
                                      <p:cBhvr additive="base">
                                        <p:cTn id="37" dur="500"/>
                                        <p:tgtEl>
                                          <p:spTgt spid="371717">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1717">
                                            <p:txEl>
                                              <p:pRg st="6" end="6"/>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1717">
                                            <p:txEl>
                                              <p:pRg st="7" end="7"/>
                                            </p:txEl>
                                          </p:spTgt>
                                        </p:tgtEl>
                                        <p:attrNameLst>
                                          <p:attrName>style.visibility</p:attrName>
                                        </p:attrNameLst>
                                      </p:cBhvr>
                                      <p:to>
                                        <p:strVal val="visible"/>
                                      </p:to>
                                    </p:set>
                                    <p:anim calcmode="lin" valueType="num">
                                      <p:cBhvr additive="base">
                                        <p:cTn id="43" dur="500"/>
                                        <p:tgtEl>
                                          <p:spTgt spid="371717">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1717">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1717">
                                            <p:txEl>
                                              <p:pRg st="8" end="8"/>
                                            </p:txEl>
                                          </p:spTgt>
                                        </p:tgtEl>
                                        <p:attrNameLst>
                                          <p:attrName>style.visibility</p:attrName>
                                        </p:attrNameLst>
                                      </p:cBhvr>
                                      <p:to>
                                        <p:strVal val="visible"/>
                                      </p:to>
                                    </p:set>
                                    <p:anim calcmode="lin" valueType="num">
                                      <p:cBhvr additive="base">
                                        <p:cTn id="49" dur="500"/>
                                        <p:tgtEl>
                                          <p:spTgt spid="371717">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1717">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71717">
                                            <p:txEl>
                                              <p:pRg st="9" end="9"/>
                                            </p:txEl>
                                          </p:spTgt>
                                        </p:tgtEl>
                                        <p:attrNameLst>
                                          <p:attrName>style.visibility</p:attrName>
                                        </p:attrNameLst>
                                      </p:cBhvr>
                                      <p:to>
                                        <p:strVal val="visible"/>
                                      </p:to>
                                    </p:set>
                                    <p:anim calcmode="lin" valueType="num">
                                      <p:cBhvr additive="base">
                                        <p:cTn id="55" dur="500"/>
                                        <p:tgtEl>
                                          <p:spTgt spid="371717">
                                            <p:txEl>
                                              <p:pRg st="9" end="9"/>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7171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7" grpId="0" build="p" bldLvl="3"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6" name="Rectangle 4">
            <a:extLst>
              <a:ext uri="{FF2B5EF4-FFF2-40B4-BE49-F238E27FC236}">
                <a16:creationId xmlns:a16="http://schemas.microsoft.com/office/drawing/2014/main" id="{A8F569EA-8863-4E17-B520-351FF94C1193}"/>
              </a:ext>
            </a:extLst>
          </p:cNvPr>
          <p:cNvSpPr>
            <a:spLocks noGrp="1"/>
          </p:cNvSpPr>
          <p:nvPr>
            <p:ph type="title"/>
          </p:nvPr>
        </p:nvSpPr>
        <p:spPr/>
        <p:txBody>
          <a:bodyPr/>
          <a:lstStyle/>
          <a:p>
            <a:r>
              <a:rPr lang="en-GB" altLang="en-US"/>
              <a:t>Competition Policy</a:t>
            </a:r>
          </a:p>
        </p:txBody>
      </p:sp>
      <p:sp>
        <p:nvSpPr>
          <p:cNvPr id="371717" name="Rectangle 5">
            <a:extLst>
              <a:ext uri="{FF2B5EF4-FFF2-40B4-BE49-F238E27FC236}">
                <a16:creationId xmlns:a16="http://schemas.microsoft.com/office/drawing/2014/main" id="{258F1D1C-7B53-4BEA-897D-02C1F7AABD35}"/>
              </a:ext>
            </a:extLst>
          </p:cNvPr>
          <p:cNvSpPr>
            <a:spLocks noGrp="1"/>
          </p:cNvSpPr>
          <p:nvPr>
            <p:ph idx="1"/>
          </p:nvPr>
        </p:nvSpPr>
        <p:spPr/>
        <p:txBody>
          <a:bodyPr/>
          <a:lstStyle/>
          <a:p>
            <a:pPr marL="0" indent="0">
              <a:lnSpc>
                <a:spcPct val="100000"/>
              </a:lnSpc>
              <a:spcBef>
                <a:spcPts val="600"/>
              </a:spcBef>
              <a:buNone/>
            </a:pPr>
            <a:r>
              <a:rPr lang="en-GB" altLang="en-US" sz="2200" dirty="0"/>
              <a:t>1</a:t>
            </a:r>
            <a:r>
              <a:rPr lang="en-GB" altLang="en-US" sz="2000" dirty="0">
                <a:latin typeface="Calibri" panose="020F0502020204030204" pitchFamily="34" charset="0"/>
                <a:ea typeface="Calibri" panose="020F0502020204030204" pitchFamily="34" charset="0"/>
                <a:cs typeface="Calibri" panose="020F0502020204030204" pitchFamily="34" charset="0"/>
              </a:rPr>
              <a:t>. Tackling the abuse of the existing monopolies and oligopolies: monopoly policy </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competition agencies usually weigh up gains and losses to public of the firm’s behaviour</a:t>
            </a:r>
          </a:p>
          <a:p>
            <a:pPr lvl="1">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Exploitative abuse </a:t>
            </a:r>
            <a:r>
              <a:rPr lang="en-GB" altLang="en-US" sz="2000" dirty="0">
                <a:latin typeface="Calibri" panose="020F0502020204030204" pitchFamily="34" charset="0"/>
                <a:ea typeface="Calibri" panose="020F0502020204030204" pitchFamily="34" charset="0"/>
                <a:cs typeface="Calibri" panose="020F0502020204030204" pitchFamily="34" charset="0"/>
              </a:rPr>
              <a:t>– a business practice that directly harms the customer</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E.g. charging a higher price, producing a lower output, reductions in product quality, limited product ranges, poor levels of customer service</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Regulatory authorities/governments have tended to avoid investigating allegations of exploitative abuses because of the challenges involved in accurately identifying and correcting for this type of behaviour</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E.g. measuring the mark up of price over costs is very difficult in reality</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Therefore, price regulation tends to be left to cases of natural monopoly (i.e. the privatised utilities), which have specific regulators.</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So, competition policies tend to focus on investigating allegations of </a:t>
            </a:r>
            <a:r>
              <a:rPr lang="en-GB" altLang="en-US" sz="2000" b="1" i="1" dirty="0">
                <a:latin typeface="Calibri" panose="020F0502020204030204" pitchFamily="34" charset="0"/>
                <a:ea typeface="Calibri" panose="020F0502020204030204" pitchFamily="34" charset="0"/>
                <a:cs typeface="Calibri" panose="020F0502020204030204" pitchFamily="34" charset="0"/>
              </a:rPr>
              <a:t>exclusionary</a:t>
            </a:r>
            <a:r>
              <a:rPr lang="en-GB" altLang="en-US" sz="2000" dirty="0">
                <a:latin typeface="Calibri" panose="020F0502020204030204" pitchFamily="34" charset="0"/>
                <a:ea typeface="Calibri" panose="020F0502020204030204" pitchFamily="34" charset="0"/>
                <a:cs typeface="Calibri" panose="020F0502020204030204" pitchFamily="34" charset="0"/>
              </a:rPr>
              <a:t> abuses</a:t>
            </a:r>
          </a:p>
          <a:p>
            <a:pPr marL="914400" lvl="2" indent="0">
              <a:lnSpc>
                <a:spcPct val="95000"/>
              </a:lnSpc>
              <a:spcBef>
                <a:spcPct val="60000"/>
              </a:spcBef>
              <a:buNone/>
            </a:pPr>
            <a:endParaRPr lang="en-GB" altLang="en-US" sz="1900" dirty="0"/>
          </a:p>
        </p:txBody>
      </p:sp>
    </p:spTree>
    <p:extLst>
      <p:ext uri="{BB962C8B-B14F-4D97-AF65-F5344CB8AC3E}">
        <p14:creationId xmlns:p14="http://schemas.microsoft.com/office/powerpoint/2010/main" val="39718081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7">
                                            <p:txEl>
                                              <p:pRg st="0" end="0"/>
                                            </p:txEl>
                                          </p:spTgt>
                                        </p:tgtEl>
                                        <p:attrNameLst>
                                          <p:attrName>style.visibility</p:attrName>
                                        </p:attrNameLst>
                                      </p:cBhvr>
                                      <p:to>
                                        <p:strVal val="visible"/>
                                      </p:to>
                                    </p:set>
                                    <p:anim calcmode="lin" valueType="num">
                                      <p:cBhvr additive="base">
                                        <p:cTn id="7" dur="500"/>
                                        <p:tgtEl>
                                          <p:spTgt spid="37171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7">
                                            <p:txEl>
                                              <p:pRg st="1" end="1"/>
                                            </p:txEl>
                                          </p:spTgt>
                                        </p:tgtEl>
                                        <p:attrNameLst>
                                          <p:attrName>style.visibility</p:attrName>
                                        </p:attrNameLst>
                                      </p:cBhvr>
                                      <p:to>
                                        <p:strVal val="visible"/>
                                      </p:to>
                                    </p:set>
                                    <p:anim calcmode="lin" valueType="num">
                                      <p:cBhvr additive="base">
                                        <p:cTn id="13" dur="500"/>
                                        <p:tgtEl>
                                          <p:spTgt spid="37171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7">
                                            <p:txEl>
                                              <p:pRg st="2" end="2"/>
                                            </p:txEl>
                                          </p:spTgt>
                                        </p:tgtEl>
                                        <p:attrNameLst>
                                          <p:attrName>style.visibility</p:attrName>
                                        </p:attrNameLst>
                                      </p:cBhvr>
                                      <p:to>
                                        <p:strVal val="visible"/>
                                      </p:to>
                                    </p:set>
                                    <p:anim calcmode="lin" valueType="num">
                                      <p:cBhvr additive="base">
                                        <p:cTn id="19" dur="500"/>
                                        <p:tgtEl>
                                          <p:spTgt spid="37171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1717">
                                            <p:txEl>
                                              <p:pRg st="3" end="3"/>
                                            </p:txEl>
                                          </p:spTgt>
                                        </p:tgtEl>
                                        <p:attrNameLst>
                                          <p:attrName>style.visibility</p:attrName>
                                        </p:attrNameLst>
                                      </p:cBhvr>
                                      <p:to>
                                        <p:strVal val="visible"/>
                                      </p:to>
                                    </p:set>
                                    <p:anim calcmode="lin" valueType="num">
                                      <p:cBhvr additive="base">
                                        <p:cTn id="25" dur="500"/>
                                        <p:tgtEl>
                                          <p:spTgt spid="37171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171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1717">
                                            <p:txEl>
                                              <p:pRg st="4" end="4"/>
                                            </p:txEl>
                                          </p:spTgt>
                                        </p:tgtEl>
                                        <p:attrNameLst>
                                          <p:attrName>style.visibility</p:attrName>
                                        </p:attrNameLst>
                                      </p:cBhvr>
                                      <p:to>
                                        <p:strVal val="visible"/>
                                      </p:to>
                                    </p:set>
                                    <p:anim calcmode="lin" valueType="num">
                                      <p:cBhvr additive="base">
                                        <p:cTn id="31" dur="500"/>
                                        <p:tgtEl>
                                          <p:spTgt spid="37171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171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1717">
                                            <p:txEl>
                                              <p:pRg st="5" end="5"/>
                                            </p:txEl>
                                          </p:spTgt>
                                        </p:tgtEl>
                                        <p:attrNameLst>
                                          <p:attrName>style.visibility</p:attrName>
                                        </p:attrNameLst>
                                      </p:cBhvr>
                                      <p:to>
                                        <p:strVal val="visible"/>
                                      </p:to>
                                    </p:set>
                                    <p:anim calcmode="lin" valueType="num">
                                      <p:cBhvr additive="base">
                                        <p:cTn id="37" dur="500"/>
                                        <p:tgtEl>
                                          <p:spTgt spid="37171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171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1717">
                                            <p:txEl>
                                              <p:pRg st="6" end="6"/>
                                            </p:txEl>
                                          </p:spTgt>
                                        </p:tgtEl>
                                        <p:attrNameLst>
                                          <p:attrName>style.visibility</p:attrName>
                                        </p:attrNameLst>
                                      </p:cBhvr>
                                      <p:to>
                                        <p:strVal val="visible"/>
                                      </p:to>
                                    </p:set>
                                    <p:anim calcmode="lin" valueType="num">
                                      <p:cBhvr additive="base">
                                        <p:cTn id="43" dur="500"/>
                                        <p:tgtEl>
                                          <p:spTgt spid="37171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171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1717">
                                            <p:txEl>
                                              <p:pRg st="7" end="7"/>
                                            </p:txEl>
                                          </p:spTgt>
                                        </p:tgtEl>
                                        <p:attrNameLst>
                                          <p:attrName>style.visibility</p:attrName>
                                        </p:attrNameLst>
                                      </p:cBhvr>
                                      <p:to>
                                        <p:strVal val="visible"/>
                                      </p:to>
                                    </p:set>
                                    <p:anim calcmode="lin" valueType="num">
                                      <p:cBhvr additive="base">
                                        <p:cTn id="49" dur="500"/>
                                        <p:tgtEl>
                                          <p:spTgt spid="371717">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171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7" grpId="0" build="p" bldLvl="3"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6" name="Rectangle 4">
            <a:extLst>
              <a:ext uri="{FF2B5EF4-FFF2-40B4-BE49-F238E27FC236}">
                <a16:creationId xmlns:a16="http://schemas.microsoft.com/office/drawing/2014/main" id="{A8F569EA-8863-4E17-B520-351FF94C1193}"/>
              </a:ext>
            </a:extLst>
          </p:cNvPr>
          <p:cNvSpPr>
            <a:spLocks noGrp="1"/>
          </p:cNvSpPr>
          <p:nvPr>
            <p:ph type="title"/>
          </p:nvPr>
        </p:nvSpPr>
        <p:spPr/>
        <p:txBody>
          <a:bodyPr/>
          <a:lstStyle/>
          <a:p>
            <a:r>
              <a:rPr lang="en-GB" altLang="en-US"/>
              <a:t>Competition Policy</a:t>
            </a:r>
          </a:p>
        </p:txBody>
      </p:sp>
      <p:sp>
        <p:nvSpPr>
          <p:cNvPr id="371717" name="Rectangle 5">
            <a:extLst>
              <a:ext uri="{FF2B5EF4-FFF2-40B4-BE49-F238E27FC236}">
                <a16:creationId xmlns:a16="http://schemas.microsoft.com/office/drawing/2014/main" id="{258F1D1C-7B53-4BEA-897D-02C1F7AABD35}"/>
              </a:ext>
            </a:extLst>
          </p:cNvPr>
          <p:cNvSpPr>
            <a:spLocks noGrp="1"/>
          </p:cNvSpPr>
          <p:nvPr>
            <p:ph idx="1"/>
          </p:nvPr>
        </p:nvSpPr>
        <p:spPr/>
        <p:txBody>
          <a:bodyPr>
            <a:normAutofit fontScale="92500"/>
          </a:bodyPr>
          <a:lstStyle/>
          <a:p>
            <a:pPr lvl="1">
              <a:lnSpc>
                <a:spcPct val="95000"/>
              </a:lnSpc>
              <a:spcBef>
                <a:spcPct val="6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Exclusionary abuse</a:t>
            </a:r>
          </a:p>
          <a:p>
            <a:pPr lvl="2">
              <a:lnSpc>
                <a:spcPct val="95000"/>
              </a:lnSpc>
              <a:spcBef>
                <a:spcPct val="6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exclusivity rebates/discounts </a:t>
            </a:r>
            <a:r>
              <a:rPr lang="en-GB" altLang="en-US" sz="2000" dirty="0">
                <a:latin typeface="Calibri" panose="020F0502020204030204" pitchFamily="34" charset="0"/>
                <a:ea typeface="Calibri" panose="020F0502020204030204" pitchFamily="34" charset="0"/>
                <a:cs typeface="Calibri" panose="020F0502020204030204" pitchFamily="34" charset="0"/>
              </a:rPr>
              <a:t>– customers are offered special deals if they agree to make ‘all or most’ of their purchases of the product from a dominant firm.</a:t>
            </a:r>
          </a:p>
          <a:p>
            <a:pPr lvl="2">
              <a:lnSpc>
                <a:spcPct val="95000"/>
              </a:lnSpc>
              <a:spcBef>
                <a:spcPct val="6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Tying</a:t>
            </a:r>
            <a:r>
              <a:rPr lang="en-GB" altLang="en-US" sz="2000" dirty="0">
                <a:latin typeface="Calibri" panose="020F0502020204030204" pitchFamily="34" charset="0"/>
                <a:ea typeface="Calibri" panose="020F0502020204030204" pitchFamily="34" charset="0"/>
                <a:cs typeface="Calibri" panose="020F0502020204030204" pitchFamily="34" charset="0"/>
              </a:rPr>
              <a:t> – this is where the firm controlling the supply of a first product (the tying product) insists that its customers buy a second product (the tied product) from it rather than from its rivals.</a:t>
            </a:r>
          </a:p>
          <a:p>
            <a:pPr lvl="3">
              <a:lnSpc>
                <a:spcPct val="95000"/>
              </a:lnSpc>
              <a:spcBef>
                <a:spcPct val="60000"/>
              </a:spcBef>
            </a:pPr>
            <a:r>
              <a:rPr lang="en-GB" altLang="en-US" dirty="0">
                <a:latin typeface="Calibri" panose="020F0502020204030204" pitchFamily="34" charset="0"/>
                <a:ea typeface="Calibri" panose="020F0502020204030204" pitchFamily="34" charset="0"/>
                <a:cs typeface="Calibri" panose="020F0502020204030204" pitchFamily="34" charset="0"/>
              </a:rPr>
              <a:t>E.g. Microsoft’s decision to include its media player and Web browser with the sale of its Windows operating system. Deemed an abuse of market power.</a:t>
            </a:r>
            <a:endParaRPr lang="en-GB" altLang="en-US" b="1" dirty="0">
              <a:latin typeface="Calibri" panose="020F0502020204030204" pitchFamily="34" charset="0"/>
              <a:ea typeface="Calibri" panose="020F0502020204030204" pitchFamily="34" charset="0"/>
              <a:cs typeface="Calibri" panose="020F0502020204030204" pitchFamily="34" charset="0"/>
            </a:endParaRPr>
          </a:p>
          <a:p>
            <a:pPr lvl="2">
              <a:lnSpc>
                <a:spcPct val="95000"/>
              </a:lnSpc>
              <a:spcBef>
                <a:spcPct val="6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Predatory pricing </a:t>
            </a:r>
            <a:r>
              <a:rPr lang="en-GB" altLang="en-US" sz="2000" dirty="0">
                <a:latin typeface="Calibri" panose="020F0502020204030204" pitchFamily="34" charset="0"/>
                <a:ea typeface="Calibri" panose="020F0502020204030204" pitchFamily="34" charset="0"/>
                <a:cs typeface="Calibri" panose="020F0502020204030204" pitchFamily="34" charset="0"/>
              </a:rPr>
              <a:t>– prices are set by a dominant firm below its AVC (with intention of driving rivals out of business)</a:t>
            </a:r>
          </a:p>
          <a:p>
            <a:pPr lvl="2">
              <a:lnSpc>
                <a:spcPct val="95000"/>
              </a:lnSpc>
              <a:spcBef>
                <a:spcPct val="6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Refusal to supply and margin squeeze</a:t>
            </a:r>
            <a:r>
              <a:rPr lang="en-GB" altLang="en-US" sz="2000" dirty="0">
                <a:latin typeface="Calibri" panose="020F0502020204030204" pitchFamily="34" charset="0"/>
                <a:ea typeface="Calibri" panose="020F0502020204030204" pitchFamily="34" charset="0"/>
                <a:cs typeface="Calibri" panose="020F0502020204030204" pitchFamily="34" charset="0"/>
              </a:rPr>
              <a:t> – firm is dominant in an upstream market but faces competition in later stages (e.g. assembly). Charges high prices/refuses to supply inputs </a:t>
            </a:r>
          </a:p>
          <a:p>
            <a:pPr lvl="2">
              <a:lnSpc>
                <a:spcPct val="95000"/>
              </a:lnSpc>
              <a:spcBef>
                <a:spcPct val="600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Vertical restraints </a:t>
            </a:r>
            <a:r>
              <a:rPr lang="en-GB" altLang="en-US" sz="2000" dirty="0">
                <a:latin typeface="Calibri" panose="020F0502020204030204" pitchFamily="34" charset="0"/>
                <a:ea typeface="Calibri" panose="020F0502020204030204" pitchFamily="34" charset="0"/>
                <a:cs typeface="Calibri" panose="020F0502020204030204" pitchFamily="34" charset="0"/>
              </a:rPr>
              <a:t>– supplying firm imposes conditions on a purchasing firm (or vice versa)</a:t>
            </a:r>
          </a:p>
          <a:p>
            <a:pPr lvl="2">
              <a:lnSpc>
                <a:spcPct val="95000"/>
              </a:lnSpc>
              <a:spcBef>
                <a:spcPct val="60000"/>
              </a:spcBef>
            </a:pPr>
            <a:endParaRPr lang="en-GB" altLang="en-US" dirty="0"/>
          </a:p>
        </p:txBody>
      </p:sp>
    </p:spTree>
    <p:extLst>
      <p:ext uri="{BB962C8B-B14F-4D97-AF65-F5344CB8AC3E}">
        <p14:creationId xmlns:p14="http://schemas.microsoft.com/office/powerpoint/2010/main" val="2904408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7">
                                            <p:txEl>
                                              <p:pRg st="0" end="0"/>
                                            </p:txEl>
                                          </p:spTgt>
                                        </p:tgtEl>
                                        <p:attrNameLst>
                                          <p:attrName>style.visibility</p:attrName>
                                        </p:attrNameLst>
                                      </p:cBhvr>
                                      <p:to>
                                        <p:strVal val="visible"/>
                                      </p:to>
                                    </p:set>
                                    <p:anim calcmode="lin" valueType="num">
                                      <p:cBhvr additive="base">
                                        <p:cTn id="7" dur="500"/>
                                        <p:tgtEl>
                                          <p:spTgt spid="37171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7">
                                            <p:txEl>
                                              <p:pRg st="1" end="1"/>
                                            </p:txEl>
                                          </p:spTgt>
                                        </p:tgtEl>
                                        <p:attrNameLst>
                                          <p:attrName>style.visibility</p:attrName>
                                        </p:attrNameLst>
                                      </p:cBhvr>
                                      <p:to>
                                        <p:strVal val="visible"/>
                                      </p:to>
                                    </p:set>
                                    <p:anim calcmode="lin" valueType="num">
                                      <p:cBhvr additive="base">
                                        <p:cTn id="13" dur="500"/>
                                        <p:tgtEl>
                                          <p:spTgt spid="37171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7">
                                            <p:txEl>
                                              <p:pRg st="2" end="2"/>
                                            </p:txEl>
                                          </p:spTgt>
                                        </p:tgtEl>
                                        <p:attrNameLst>
                                          <p:attrName>style.visibility</p:attrName>
                                        </p:attrNameLst>
                                      </p:cBhvr>
                                      <p:to>
                                        <p:strVal val="visible"/>
                                      </p:to>
                                    </p:set>
                                    <p:anim calcmode="lin" valueType="num">
                                      <p:cBhvr additive="base">
                                        <p:cTn id="19" dur="500"/>
                                        <p:tgtEl>
                                          <p:spTgt spid="37171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7">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71717">
                                            <p:txEl>
                                              <p:pRg st="3" end="3"/>
                                            </p:txEl>
                                          </p:spTgt>
                                        </p:tgtEl>
                                        <p:attrNameLst>
                                          <p:attrName>style.visibility</p:attrName>
                                        </p:attrNameLst>
                                      </p:cBhvr>
                                      <p:to>
                                        <p:strVal val="visible"/>
                                      </p:to>
                                    </p:set>
                                    <p:anim calcmode="lin" valueType="num">
                                      <p:cBhvr additive="base">
                                        <p:cTn id="23" dur="500"/>
                                        <p:tgtEl>
                                          <p:spTgt spid="371717">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71717">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371717">
                                            <p:txEl>
                                              <p:pRg st="4" end="4"/>
                                            </p:txEl>
                                          </p:spTgt>
                                        </p:tgtEl>
                                        <p:attrNameLst>
                                          <p:attrName>style.visibility</p:attrName>
                                        </p:attrNameLst>
                                      </p:cBhvr>
                                      <p:to>
                                        <p:strVal val="visible"/>
                                      </p:to>
                                    </p:set>
                                    <p:anim calcmode="lin" valueType="num">
                                      <p:cBhvr additive="base">
                                        <p:cTn id="29" dur="500"/>
                                        <p:tgtEl>
                                          <p:spTgt spid="371717">
                                            <p:txEl>
                                              <p:pRg st="4" end="4"/>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7171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71717">
                                            <p:txEl>
                                              <p:pRg st="5" end="5"/>
                                            </p:txEl>
                                          </p:spTgt>
                                        </p:tgtEl>
                                        <p:attrNameLst>
                                          <p:attrName>style.visibility</p:attrName>
                                        </p:attrNameLst>
                                      </p:cBhvr>
                                      <p:to>
                                        <p:strVal val="visible"/>
                                      </p:to>
                                    </p:set>
                                    <p:anim calcmode="lin" valueType="num">
                                      <p:cBhvr additive="base">
                                        <p:cTn id="35" dur="500"/>
                                        <p:tgtEl>
                                          <p:spTgt spid="371717">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71717">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371717">
                                            <p:txEl>
                                              <p:pRg st="6" end="6"/>
                                            </p:txEl>
                                          </p:spTgt>
                                        </p:tgtEl>
                                        <p:attrNameLst>
                                          <p:attrName>style.visibility</p:attrName>
                                        </p:attrNameLst>
                                      </p:cBhvr>
                                      <p:to>
                                        <p:strVal val="visible"/>
                                      </p:to>
                                    </p:set>
                                    <p:anim calcmode="lin" valueType="num">
                                      <p:cBhvr additive="base">
                                        <p:cTn id="41" dur="500"/>
                                        <p:tgtEl>
                                          <p:spTgt spid="371717">
                                            <p:txEl>
                                              <p:pRg st="6" end="6"/>
                                            </p:txEl>
                                          </p:spTgt>
                                        </p:tgtEl>
                                        <p:attrNameLst>
                                          <p:attrName>ppt_y</p:attrName>
                                        </p:attrNameLst>
                                      </p:cBhvr>
                                      <p:tavLst>
                                        <p:tav tm="0">
                                          <p:val>
                                            <p:strVal val="#ppt_y+#ppt_h*1.125000"/>
                                          </p:val>
                                        </p:tav>
                                        <p:tav tm="100000">
                                          <p:val>
                                            <p:strVal val="#ppt_y"/>
                                          </p:val>
                                        </p:tav>
                                      </p:tavLst>
                                    </p:anim>
                                    <p:animEffect transition="in" filter="wipe(up)">
                                      <p:cBhvr>
                                        <p:cTn id="42" dur="500"/>
                                        <p:tgtEl>
                                          <p:spTgt spid="37171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7" grpId="0" build="p" bldLvl="3"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6" name="Rectangle 4">
            <a:extLst>
              <a:ext uri="{FF2B5EF4-FFF2-40B4-BE49-F238E27FC236}">
                <a16:creationId xmlns:a16="http://schemas.microsoft.com/office/drawing/2014/main" id="{A8F569EA-8863-4E17-B520-351FF94C1193}"/>
              </a:ext>
            </a:extLst>
          </p:cNvPr>
          <p:cNvSpPr>
            <a:spLocks noGrp="1"/>
          </p:cNvSpPr>
          <p:nvPr>
            <p:ph type="title"/>
          </p:nvPr>
        </p:nvSpPr>
        <p:spPr/>
        <p:txBody>
          <a:bodyPr/>
          <a:lstStyle/>
          <a:p>
            <a:r>
              <a:rPr lang="en-GB" altLang="en-US"/>
              <a:t>Competition Policy</a:t>
            </a:r>
          </a:p>
        </p:txBody>
      </p:sp>
      <p:sp>
        <p:nvSpPr>
          <p:cNvPr id="371717" name="Rectangle 5">
            <a:extLst>
              <a:ext uri="{FF2B5EF4-FFF2-40B4-BE49-F238E27FC236}">
                <a16:creationId xmlns:a16="http://schemas.microsoft.com/office/drawing/2014/main" id="{258F1D1C-7B53-4BEA-897D-02C1F7AABD35}"/>
              </a:ext>
            </a:extLst>
          </p:cNvPr>
          <p:cNvSpPr>
            <a:spLocks noGrp="1"/>
          </p:cNvSpPr>
          <p:nvPr>
            <p:ph idx="1"/>
          </p:nvPr>
        </p:nvSpPr>
        <p:spPr/>
        <p:txBody>
          <a:bodyPr/>
          <a:lstStyle/>
          <a:p>
            <a:pPr marL="0" indent="0">
              <a:lnSpc>
                <a:spcPct val="100000"/>
              </a:lnSpc>
              <a:spcBef>
                <a:spcPts val="600"/>
              </a:spcBef>
              <a:buNone/>
            </a:pPr>
            <a:r>
              <a:rPr lang="en-GB" altLang="en-US" sz="2000" dirty="0">
                <a:latin typeface="Calibri" panose="020F0502020204030204" pitchFamily="34" charset="0"/>
                <a:ea typeface="Calibri" panose="020F0502020204030204" pitchFamily="34" charset="0"/>
                <a:cs typeface="Calibri" panose="020F0502020204030204" pitchFamily="34" charset="0"/>
              </a:rPr>
              <a:t>2. The growth of market power through M&amp;As: merger policy</a:t>
            </a:r>
          </a:p>
          <a:p>
            <a:pPr lvl="1">
              <a:lnSpc>
                <a:spcPct val="100000"/>
              </a:lnSpc>
              <a:spcBef>
                <a:spcPts val="600"/>
              </a:spcBef>
            </a:pPr>
            <a:r>
              <a:rPr lang="en-GB" altLang="en-US" sz="1900" dirty="0">
                <a:latin typeface="Calibri" panose="020F0502020204030204" pitchFamily="34" charset="0"/>
                <a:ea typeface="Calibri" panose="020F0502020204030204" pitchFamily="34" charset="0"/>
                <a:cs typeface="Calibri" panose="020F0502020204030204" pitchFamily="34" charset="0"/>
              </a:rPr>
              <a:t>In many cases, M&amp;As are beneficial to consumers and the economy as the newly combined firms can rationalise (reorganise to increase operating efficiency) and reduce costs.</a:t>
            </a:r>
          </a:p>
          <a:p>
            <a:pPr lvl="1">
              <a:lnSpc>
                <a:spcPct val="100000"/>
              </a:lnSpc>
              <a:spcBef>
                <a:spcPts val="600"/>
              </a:spcBef>
            </a:pPr>
            <a:r>
              <a:rPr lang="en-GB" altLang="en-US" sz="1900" dirty="0">
                <a:latin typeface="Calibri" panose="020F0502020204030204" pitchFamily="34" charset="0"/>
                <a:ea typeface="Calibri" panose="020F0502020204030204" pitchFamily="34" charset="0"/>
                <a:cs typeface="Calibri" panose="020F0502020204030204" pitchFamily="34" charset="0"/>
              </a:rPr>
              <a:t>However, M&amp;As can reduce in significant reductions in competition.</a:t>
            </a:r>
          </a:p>
          <a:p>
            <a:pPr lvl="1">
              <a:lnSpc>
                <a:spcPct val="100000"/>
              </a:lnSpc>
              <a:spcBef>
                <a:spcPts val="600"/>
              </a:spcBef>
            </a:pPr>
            <a:r>
              <a:rPr lang="en-GB" altLang="en-US" sz="1900" dirty="0">
                <a:latin typeface="Calibri" panose="020F0502020204030204" pitchFamily="34" charset="0"/>
                <a:ea typeface="Calibri" panose="020F0502020204030204" pitchFamily="34" charset="0"/>
                <a:cs typeface="Calibri" panose="020F0502020204030204" pitchFamily="34" charset="0"/>
              </a:rPr>
              <a:t>Most competition authorities carry out a relatively quick initial review of M&amp;As and clear the majority of cases where the impact of competition is judged to be negligible.</a:t>
            </a:r>
          </a:p>
          <a:p>
            <a:pPr lvl="1">
              <a:lnSpc>
                <a:spcPct val="100000"/>
              </a:lnSpc>
              <a:spcBef>
                <a:spcPts val="600"/>
              </a:spcBef>
            </a:pPr>
            <a:r>
              <a:rPr lang="en-GB" altLang="en-US" sz="1900" dirty="0">
                <a:latin typeface="Calibri" panose="020F0502020204030204" pitchFamily="34" charset="0"/>
                <a:ea typeface="Calibri" panose="020F0502020204030204" pitchFamily="34" charset="0"/>
                <a:cs typeface="Calibri" panose="020F0502020204030204" pitchFamily="34" charset="0"/>
              </a:rPr>
              <a:t>When the potential impact on competition is more serious, the authorities carry out a more detailed investigation to see whether the potential benefits of the merger outweigh the costs.</a:t>
            </a:r>
          </a:p>
          <a:p>
            <a:pPr lvl="1">
              <a:lnSpc>
                <a:spcPct val="100000"/>
              </a:lnSpc>
              <a:spcBef>
                <a:spcPts val="600"/>
              </a:spcBef>
            </a:pPr>
            <a:r>
              <a:rPr lang="en-GB" altLang="en-US" sz="1900" dirty="0">
                <a:latin typeface="Calibri" panose="020F0502020204030204" pitchFamily="34" charset="0"/>
                <a:ea typeface="Calibri" panose="020F0502020204030204" pitchFamily="34" charset="0"/>
                <a:cs typeface="Calibri" panose="020F0502020204030204" pitchFamily="34" charset="0"/>
              </a:rPr>
              <a:t>In only a few cases, the M&amp;A is prohibited.</a:t>
            </a:r>
          </a:p>
          <a:p>
            <a:pPr lvl="1">
              <a:lnSpc>
                <a:spcPct val="95000"/>
              </a:lnSpc>
              <a:spcBef>
                <a:spcPts val="800"/>
              </a:spcBef>
            </a:pPr>
            <a:endParaRPr lang="en-GB" altLang="en-US" sz="2000" dirty="0"/>
          </a:p>
        </p:txBody>
      </p:sp>
    </p:spTree>
    <p:extLst>
      <p:ext uri="{BB962C8B-B14F-4D97-AF65-F5344CB8AC3E}">
        <p14:creationId xmlns:p14="http://schemas.microsoft.com/office/powerpoint/2010/main" val="131101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7">
                                            <p:txEl>
                                              <p:pRg st="0" end="0"/>
                                            </p:txEl>
                                          </p:spTgt>
                                        </p:tgtEl>
                                        <p:attrNameLst>
                                          <p:attrName>style.visibility</p:attrName>
                                        </p:attrNameLst>
                                      </p:cBhvr>
                                      <p:to>
                                        <p:strVal val="visible"/>
                                      </p:to>
                                    </p:set>
                                    <p:anim calcmode="lin" valueType="num">
                                      <p:cBhvr additive="base">
                                        <p:cTn id="7" dur="500"/>
                                        <p:tgtEl>
                                          <p:spTgt spid="37171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7">
                                            <p:txEl>
                                              <p:pRg st="1" end="1"/>
                                            </p:txEl>
                                          </p:spTgt>
                                        </p:tgtEl>
                                        <p:attrNameLst>
                                          <p:attrName>style.visibility</p:attrName>
                                        </p:attrNameLst>
                                      </p:cBhvr>
                                      <p:to>
                                        <p:strVal val="visible"/>
                                      </p:to>
                                    </p:set>
                                    <p:anim calcmode="lin" valueType="num">
                                      <p:cBhvr additive="base">
                                        <p:cTn id="13" dur="500"/>
                                        <p:tgtEl>
                                          <p:spTgt spid="37171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7">
                                            <p:txEl>
                                              <p:pRg st="2" end="2"/>
                                            </p:txEl>
                                          </p:spTgt>
                                        </p:tgtEl>
                                        <p:attrNameLst>
                                          <p:attrName>style.visibility</p:attrName>
                                        </p:attrNameLst>
                                      </p:cBhvr>
                                      <p:to>
                                        <p:strVal val="visible"/>
                                      </p:to>
                                    </p:set>
                                    <p:anim calcmode="lin" valueType="num">
                                      <p:cBhvr additive="base">
                                        <p:cTn id="19" dur="500"/>
                                        <p:tgtEl>
                                          <p:spTgt spid="37171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1717">
                                            <p:txEl>
                                              <p:pRg st="3" end="3"/>
                                            </p:txEl>
                                          </p:spTgt>
                                        </p:tgtEl>
                                        <p:attrNameLst>
                                          <p:attrName>style.visibility</p:attrName>
                                        </p:attrNameLst>
                                      </p:cBhvr>
                                      <p:to>
                                        <p:strVal val="visible"/>
                                      </p:to>
                                    </p:set>
                                    <p:anim calcmode="lin" valueType="num">
                                      <p:cBhvr additive="base">
                                        <p:cTn id="25" dur="500"/>
                                        <p:tgtEl>
                                          <p:spTgt spid="37171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171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1717">
                                            <p:txEl>
                                              <p:pRg st="4" end="4"/>
                                            </p:txEl>
                                          </p:spTgt>
                                        </p:tgtEl>
                                        <p:attrNameLst>
                                          <p:attrName>style.visibility</p:attrName>
                                        </p:attrNameLst>
                                      </p:cBhvr>
                                      <p:to>
                                        <p:strVal val="visible"/>
                                      </p:to>
                                    </p:set>
                                    <p:anim calcmode="lin" valueType="num">
                                      <p:cBhvr additive="base">
                                        <p:cTn id="31" dur="500"/>
                                        <p:tgtEl>
                                          <p:spTgt spid="37171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171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1717">
                                            <p:txEl>
                                              <p:pRg st="5" end="5"/>
                                            </p:txEl>
                                          </p:spTgt>
                                        </p:tgtEl>
                                        <p:attrNameLst>
                                          <p:attrName>style.visibility</p:attrName>
                                        </p:attrNameLst>
                                      </p:cBhvr>
                                      <p:to>
                                        <p:strVal val="visible"/>
                                      </p:to>
                                    </p:set>
                                    <p:anim calcmode="lin" valueType="num">
                                      <p:cBhvr additive="base">
                                        <p:cTn id="37" dur="500"/>
                                        <p:tgtEl>
                                          <p:spTgt spid="37171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171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7" grpId="0" build="p" bldLvl="3"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6" name="Rectangle 4">
            <a:extLst>
              <a:ext uri="{FF2B5EF4-FFF2-40B4-BE49-F238E27FC236}">
                <a16:creationId xmlns:a16="http://schemas.microsoft.com/office/drawing/2014/main" id="{A8F569EA-8863-4E17-B520-351FF94C1193}"/>
              </a:ext>
            </a:extLst>
          </p:cNvPr>
          <p:cNvSpPr>
            <a:spLocks noGrp="1"/>
          </p:cNvSpPr>
          <p:nvPr>
            <p:ph type="title"/>
          </p:nvPr>
        </p:nvSpPr>
        <p:spPr/>
        <p:txBody>
          <a:bodyPr/>
          <a:lstStyle/>
          <a:p>
            <a:r>
              <a:rPr lang="en-GB" altLang="en-US"/>
              <a:t>Competition Policy</a:t>
            </a:r>
          </a:p>
        </p:txBody>
      </p:sp>
      <p:sp>
        <p:nvSpPr>
          <p:cNvPr id="371717" name="Rectangle 5">
            <a:extLst>
              <a:ext uri="{FF2B5EF4-FFF2-40B4-BE49-F238E27FC236}">
                <a16:creationId xmlns:a16="http://schemas.microsoft.com/office/drawing/2014/main" id="{258F1D1C-7B53-4BEA-897D-02C1F7AABD35}"/>
              </a:ext>
            </a:extLst>
          </p:cNvPr>
          <p:cNvSpPr>
            <a:spLocks noGrp="1"/>
          </p:cNvSpPr>
          <p:nvPr>
            <p:ph idx="1"/>
          </p:nvPr>
        </p:nvSpPr>
        <p:spPr>
          <a:xfrm>
            <a:off x="402167" y="1412362"/>
            <a:ext cx="11379200" cy="4889500"/>
          </a:xfrm>
        </p:spPr>
        <p:txBody>
          <a:bodyPr/>
          <a:lstStyle/>
          <a:p>
            <a:pPr marL="0" indent="0">
              <a:lnSpc>
                <a:spcPct val="95000"/>
              </a:lnSpc>
              <a:spcBef>
                <a:spcPts val="800"/>
              </a:spcBef>
              <a:buNone/>
            </a:pPr>
            <a:r>
              <a:rPr lang="en-GB" altLang="en-US" sz="2000" dirty="0">
                <a:latin typeface="Calibri" panose="020F0502020204030204" pitchFamily="34" charset="0"/>
                <a:ea typeface="Calibri" panose="020F0502020204030204" pitchFamily="34" charset="0"/>
                <a:cs typeface="Calibri" panose="020F0502020204030204" pitchFamily="34" charset="0"/>
              </a:rPr>
              <a:t>3. Oligopolistic collusion: restrictive practice policy</a:t>
            </a:r>
          </a:p>
          <a:p>
            <a:pPr lvl="1">
              <a:lnSpc>
                <a:spcPct val="95000"/>
              </a:lnSpc>
              <a:spcBef>
                <a:spcPts val="8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Practices that are the target of policy</a:t>
            </a:r>
          </a:p>
          <a:p>
            <a:pPr lvl="2">
              <a:lnSpc>
                <a:spcPct val="95000"/>
              </a:lnSpc>
              <a:spcBef>
                <a:spcPts val="800"/>
              </a:spcBef>
            </a:pPr>
            <a:r>
              <a:rPr lang="en-GB" altLang="en-US" sz="1900" b="1" dirty="0">
                <a:latin typeface="Calibri" panose="020F0502020204030204" pitchFamily="34" charset="0"/>
                <a:ea typeface="Calibri" panose="020F0502020204030204" pitchFamily="34" charset="0"/>
                <a:cs typeface="Calibri" panose="020F0502020204030204" pitchFamily="34" charset="0"/>
              </a:rPr>
              <a:t>Horizontal price fixing</a:t>
            </a:r>
            <a:r>
              <a:rPr lang="en-GB" altLang="en-US" sz="1900" dirty="0">
                <a:latin typeface="Calibri" panose="020F0502020204030204" pitchFamily="34" charset="0"/>
                <a:ea typeface="Calibri" panose="020F0502020204030204" pitchFamily="34" charset="0"/>
                <a:cs typeface="Calibri" panose="020F0502020204030204" pitchFamily="34" charset="0"/>
              </a:rPr>
              <a:t> – direct or indirect agreements between rival firms to fix prices above competitive levels.</a:t>
            </a:r>
          </a:p>
          <a:p>
            <a:pPr lvl="3">
              <a:lnSpc>
                <a:spcPct val="95000"/>
              </a:lnSpc>
              <a:spcBef>
                <a:spcPts val="800"/>
              </a:spcBef>
            </a:pPr>
            <a:r>
              <a:rPr lang="en-GB" altLang="en-US" sz="1900" dirty="0">
                <a:latin typeface="Calibri" panose="020F0502020204030204" pitchFamily="34" charset="0"/>
                <a:ea typeface="Calibri" panose="020F0502020204030204" pitchFamily="34" charset="0"/>
                <a:cs typeface="Calibri" panose="020F0502020204030204" pitchFamily="34" charset="0"/>
              </a:rPr>
              <a:t>E.g. adhering to a published price list, charging customers same amount for delivery</a:t>
            </a:r>
          </a:p>
          <a:p>
            <a:pPr lvl="2">
              <a:lnSpc>
                <a:spcPct val="95000"/>
              </a:lnSpc>
              <a:spcBef>
                <a:spcPts val="800"/>
              </a:spcBef>
            </a:pPr>
            <a:r>
              <a:rPr lang="en-GB" altLang="en-US" sz="1900" b="1" dirty="0">
                <a:latin typeface="Calibri" panose="020F0502020204030204" pitchFamily="34" charset="0"/>
                <a:ea typeface="Calibri" panose="020F0502020204030204" pitchFamily="34" charset="0"/>
                <a:cs typeface="Calibri" panose="020F0502020204030204" pitchFamily="34" charset="0"/>
              </a:rPr>
              <a:t>Market sharing </a:t>
            </a:r>
            <a:r>
              <a:rPr lang="en-GB" altLang="en-US" sz="1900" dirty="0">
                <a:latin typeface="Calibri" panose="020F0502020204030204" pitchFamily="34" charset="0"/>
                <a:ea typeface="Calibri" panose="020F0502020204030204" pitchFamily="34" charset="0"/>
                <a:cs typeface="Calibri" panose="020F0502020204030204" pitchFamily="34" charset="0"/>
              </a:rPr>
              <a:t>– agreements on how to distribute markets or customers between the firms.</a:t>
            </a:r>
          </a:p>
          <a:p>
            <a:pPr lvl="3">
              <a:lnSpc>
                <a:spcPct val="95000"/>
              </a:lnSpc>
              <a:spcBef>
                <a:spcPts val="800"/>
              </a:spcBef>
            </a:pPr>
            <a:r>
              <a:rPr lang="en-GB" altLang="en-US" sz="1900" dirty="0">
                <a:latin typeface="Calibri" panose="020F0502020204030204" pitchFamily="34" charset="0"/>
                <a:ea typeface="Calibri" panose="020F0502020204030204" pitchFamily="34" charset="0"/>
                <a:cs typeface="Calibri" panose="020F0502020204030204" pitchFamily="34" charset="0"/>
              </a:rPr>
              <a:t>This could be done by geographical area, type of product or type of customer</a:t>
            </a:r>
          </a:p>
          <a:p>
            <a:pPr lvl="2">
              <a:lnSpc>
                <a:spcPct val="95000"/>
              </a:lnSpc>
              <a:spcBef>
                <a:spcPts val="800"/>
              </a:spcBef>
            </a:pPr>
            <a:r>
              <a:rPr lang="en-GB" altLang="en-US" sz="1900" b="1" dirty="0">
                <a:latin typeface="Calibri" panose="020F0502020204030204" pitchFamily="34" charset="0"/>
                <a:ea typeface="Calibri" panose="020F0502020204030204" pitchFamily="34" charset="0"/>
                <a:cs typeface="Calibri" panose="020F0502020204030204" pitchFamily="34" charset="0"/>
              </a:rPr>
              <a:t>Limiting production: e.g. quotas for individual firms </a:t>
            </a:r>
            <a:r>
              <a:rPr lang="en-GB" altLang="en-US" sz="1900" dirty="0">
                <a:latin typeface="Calibri" panose="020F0502020204030204" pitchFamily="34" charset="0"/>
                <a:ea typeface="Calibri" panose="020F0502020204030204" pitchFamily="34" charset="0"/>
                <a:cs typeface="Calibri" panose="020F0502020204030204" pitchFamily="34" charset="0"/>
              </a:rPr>
              <a:t>– firms agree quotas on how much each firm should produce.</a:t>
            </a:r>
          </a:p>
          <a:p>
            <a:pPr lvl="2">
              <a:lnSpc>
                <a:spcPct val="95000"/>
              </a:lnSpc>
              <a:spcBef>
                <a:spcPts val="800"/>
              </a:spcBef>
            </a:pPr>
            <a:r>
              <a:rPr lang="en-GB" altLang="en-US" sz="1900" b="1" dirty="0">
                <a:latin typeface="Calibri" panose="020F0502020204030204" pitchFamily="34" charset="0"/>
                <a:ea typeface="Calibri" panose="020F0502020204030204" pitchFamily="34" charset="0"/>
                <a:cs typeface="Calibri" panose="020F0502020204030204" pitchFamily="34" charset="0"/>
              </a:rPr>
              <a:t>Bid rigging </a:t>
            </a:r>
            <a:r>
              <a:rPr lang="en-GB" altLang="en-US" sz="1900" dirty="0">
                <a:latin typeface="Calibri" panose="020F0502020204030204" pitchFamily="34" charset="0"/>
                <a:ea typeface="Calibri" panose="020F0502020204030204" pitchFamily="34" charset="0"/>
                <a:cs typeface="Calibri" panose="020F0502020204030204" pitchFamily="34" charset="0"/>
              </a:rPr>
              <a:t>– in response to a call for tenders, firms agree to discuss bids with one another rather than submitting them independently.</a:t>
            </a:r>
          </a:p>
          <a:p>
            <a:pPr lvl="3">
              <a:lnSpc>
                <a:spcPct val="95000"/>
              </a:lnSpc>
              <a:spcBef>
                <a:spcPts val="800"/>
              </a:spcBef>
            </a:pPr>
            <a:r>
              <a:rPr lang="en-GB" altLang="en-US" sz="1900" dirty="0">
                <a:latin typeface="Calibri" panose="020F0502020204030204" pitchFamily="34" charset="0"/>
                <a:ea typeface="Calibri" panose="020F0502020204030204" pitchFamily="34" charset="0"/>
                <a:cs typeface="Calibri" panose="020F0502020204030204" pitchFamily="34" charset="0"/>
              </a:rPr>
              <a:t>One or more may agree not to submit a bid, withdraw a bid or submit a bid at a high price</a:t>
            </a:r>
          </a:p>
          <a:p>
            <a:pPr lvl="2">
              <a:lnSpc>
                <a:spcPct val="95000"/>
              </a:lnSpc>
              <a:spcBef>
                <a:spcPts val="800"/>
              </a:spcBef>
            </a:pPr>
            <a:r>
              <a:rPr lang="en-GB" altLang="en-US" sz="1900" b="1" dirty="0">
                <a:latin typeface="Calibri" panose="020F0502020204030204" pitchFamily="34" charset="0"/>
                <a:ea typeface="Calibri" panose="020F0502020204030204" pitchFamily="34" charset="0"/>
                <a:cs typeface="Calibri" panose="020F0502020204030204" pitchFamily="34" charset="0"/>
              </a:rPr>
              <a:t>Information sharing </a:t>
            </a:r>
            <a:r>
              <a:rPr lang="en-GB" altLang="en-US" sz="1900" dirty="0">
                <a:latin typeface="Calibri" panose="020F0502020204030204" pitchFamily="34" charset="0"/>
                <a:ea typeface="Calibri" panose="020F0502020204030204" pitchFamily="34" charset="0"/>
                <a:cs typeface="Calibri" panose="020F0502020204030204" pitchFamily="34" charset="0"/>
              </a:rPr>
              <a:t>– firms share sensitive information with one another, such as future plans on pricing, product design or output.</a:t>
            </a:r>
          </a:p>
        </p:txBody>
      </p:sp>
    </p:spTree>
    <p:extLst>
      <p:ext uri="{BB962C8B-B14F-4D97-AF65-F5344CB8AC3E}">
        <p14:creationId xmlns:p14="http://schemas.microsoft.com/office/powerpoint/2010/main" val="207391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7">
                                            <p:txEl>
                                              <p:pRg st="0" end="0"/>
                                            </p:txEl>
                                          </p:spTgt>
                                        </p:tgtEl>
                                        <p:attrNameLst>
                                          <p:attrName>style.visibility</p:attrName>
                                        </p:attrNameLst>
                                      </p:cBhvr>
                                      <p:to>
                                        <p:strVal val="visible"/>
                                      </p:to>
                                    </p:set>
                                    <p:anim calcmode="lin" valueType="num">
                                      <p:cBhvr additive="base">
                                        <p:cTn id="7" dur="500"/>
                                        <p:tgtEl>
                                          <p:spTgt spid="37171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7">
                                            <p:txEl>
                                              <p:pRg st="1" end="1"/>
                                            </p:txEl>
                                          </p:spTgt>
                                        </p:tgtEl>
                                        <p:attrNameLst>
                                          <p:attrName>style.visibility</p:attrName>
                                        </p:attrNameLst>
                                      </p:cBhvr>
                                      <p:to>
                                        <p:strVal val="visible"/>
                                      </p:to>
                                    </p:set>
                                    <p:anim calcmode="lin" valueType="num">
                                      <p:cBhvr additive="base">
                                        <p:cTn id="13" dur="500"/>
                                        <p:tgtEl>
                                          <p:spTgt spid="37171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7">
                                            <p:txEl>
                                              <p:pRg st="2" end="2"/>
                                            </p:txEl>
                                          </p:spTgt>
                                        </p:tgtEl>
                                        <p:attrNameLst>
                                          <p:attrName>style.visibility</p:attrName>
                                        </p:attrNameLst>
                                      </p:cBhvr>
                                      <p:to>
                                        <p:strVal val="visible"/>
                                      </p:to>
                                    </p:set>
                                    <p:anim calcmode="lin" valueType="num">
                                      <p:cBhvr additive="base">
                                        <p:cTn id="19" dur="500"/>
                                        <p:tgtEl>
                                          <p:spTgt spid="37171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7">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71717">
                                            <p:txEl>
                                              <p:pRg st="3" end="3"/>
                                            </p:txEl>
                                          </p:spTgt>
                                        </p:tgtEl>
                                        <p:attrNameLst>
                                          <p:attrName>style.visibility</p:attrName>
                                        </p:attrNameLst>
                                      </p:cBhvr>
                                      <p:to>
                                        <p:strVal val="visible"/>
                                      </p:to>
                                    </p:set>
                                    <p:anim calcmode="lin" valueType="num">
                                      <p:cBhvr additive="base">
                                        <p:cTn id="23" dur="500"/>
                                        <p:tgtEl>
                                          <p:spTgt spid="371717">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71717">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371717">
                                            <p:txEl>
                                              <p:pRg st="4" end="4"/>
                                            </p:txEl>
                                          </p:spTgt>
                                        </p:tgtEl>
                                        <p:attrNameLst>
                                          <p:attrName>style.visibility</p:attrName>
                                        </p:attrNameLst>
                                      </p:cBhvr>
                                      <p:to>
                                        <p:strVal val="visible"/>
                                      </p:to>
                                    </p:set>
                                    <p:anim calcmode="lin" valueType="num">
                                      <p:cBhvr additive="base">
                                        <p:cTn id="29" dur="500"/>
                                        <p:tgtEl>
                                          <p:spTgt spid="371717">
                                            <p:txEl>
                                              <p:pRg st="4" end="4"/>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71717">
                                            <p:txEl>
                                              <p:pRg st="4" end="4"/>
                                            </p:txEl>
                                          </p:spTgt>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371717">
                                            <p:txEl>
                                              <p:pRg st="5" end="5"/>
                                            </p:txEl>
                                          </p:spTgt>
                                        </p:tgtEl>
                                        <p:attrNameLst>
                                          <p:attrName>style.visibility</p:attrName>
                                        </p:attrNameLst>
                                      </p:cBhvr>
                                      <p:to>
                                        <p:strVal val="visible"/>
                                      </p:to>
                                    </p:set>
                                    <p:anim calcmode="lin" valueType="num">
                                      <p:cBhvr additive="base">
                                        <p:cTn id="33" dur="500"/>
                                        <p:tgtEl>
                                          <p:spTgt spid="371717">
                                            <p:txEl>
                                              <p:pRg st="5" end="5"/>
                                            </p:txEl>
                                          </p:spTgt>
                                        </p:tgtEl>
                                        <p:attrNameLst>
                                          <p:attrName>ppt_y</p:attrName>
                                        </p:attrNameLst>
                                      </p:cBhvr>
                                      <p:tavLst>
                                        <p:tav tm="0">
                                          <p:val>
                                            <p:strVal val="#ppt_y+#ppt_h*1.125000"/>
                                          </p:val>
                                        </p:tav>
                                        <p:tav tm="100000">
                                          <p:val>
                                            <p:strVal val="#ppt_y"/>
                                          </p:val>
                                        </p:tav>
                                      </p:tavLst>
                                    </p:anim>
                                    <p:animEffect transition="in" filter="wipe(up)">
                                      <p:cBhvr>
                                        <p:cTn id="34" dur="500"/>
                                        <p:tgtEl>
                                          <p:spTgt spid="371717">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371717">
                                            <p:txEl>
                                              <p:pRg st="6" end="6"/>
                                            </p:txEl>
                                          </p:spTgt>
                                        </p:tgtEl>
                                        <p:attrNameLst>
                                          <p:attrName>style.visibility</p:attrName>
                                        </p:attrNameLst>
                                      </p:cBhvr>
                                      <p:to>
                                        <p:strVal val="visible"/>
                                      </p:to>
                                    </p:set>
                                    <p:anim calcmode="lin" valueType="num">
                                      <p:cBhvr additive="base">
                                        <p:cTn id="39" dur="500"/>
                                        <p:tgtEl>
                                          <p:spTgt spid="371717">
                                            <p:txEl>
                                              <p:pRg st="6" end="6"/>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71717">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371717">
                                            <p:txEl>
                                              <p:pRg st="7" end="7"/>
                                            </p:txEl>
                                          </p:spTgt>
                                        </p:tgtEl>
                                        <p:attrNameLst>
                                          <p:attrName>style.visibility</p:attrName>
                                        </p:attrNameLst>
                                      </p:cBhvr>
                                      <p:to>
                                        <p:strVal val="visible"/>
                                      </p:to>
                                    </p:set>
                                    <p:anim calcmode="lin" valueType="num">
                                      <p:cBhvr additive="base">
                                        <p:cTn id="45" dur="500"/>
                                        <p:tgtEl>
                                          <p:spTgt spid="371717">
                                            <p:txEl>
                                              <p:pRg st="7" end="7"/>
                                            </p:txEl>
                                          </p:spTgt>
                                        </p:tgtEl>
                                        <p:attrNameLst>
                                          <p:attrName>ppt_y</p:attrName>
                                        </p:attrNameLst>
                                      </p:cBhvr>
                                      <p:tavLst>
                                        <p:tav tm="0">
                                          <p:val>
                                            <p:strVal val="#ppt_y+#ppt_h*1.125000"/>
                                          </p:val>
                                        </p:tav>
                                        <p:tav tm="100000">
                                          <p:val>
                                            <p:strVal val="#ppt_y"/>
                                          </p:val>
                                        </p:tav>
                                      </p:tavLst>
                                    </p:anim>
                                    <p:animEffect transition="in" filter="wipe(up)">
                                      <p:cBhvr>
                                        <p:cTn id="46" dur="500"/>
                                        <p:tgtEl>
                                          <p:spTgt spid="371717">
                                            <p:txEl>
                                              <p:pRg st="7" end="7"/>
                                            </p:txEl>
                                          </p:spTgt>
                                        </p:tgtEl>
                                      </p:cBhvr>
                                    </p:animEffect>
                                  </p:childTnLst>
                                </p:cTn>
                              </p:par>
                              <p:par>
                                <p:cTn id="47" presetID="12" presetClass="entr" presetSubtype="4" fill="hold" grpId="0" nodeType="withEffect">
                                  <p:stCondLst>
                                    <p:cond delay="0"/>
                                  </p:stCondLst>
                                  <p:childTnLst>
                                    <p:set>
                                      <p:cBhvr>
                                        <p:cTn id="48" dur="1" fill="hold">
                                          <p:stCondLst>
                                            <p:cond delay="0"/>
                                          </p:stCondLst>
                                        </p:cTn>
                                        <p:tgtEl>
                                          <p:spTgt spid="371717">
                                            <p:txEl>
                                              <p:pRg st="8" end="8"/>
                                            </p:txEl>
                                          </p:spTgt>
                                        </p:tgtEl>
                                        <p:attrNameLst>
                                          <p:attrName>style.visibility</p:attrName>
                                        </p:attrNameLst>
                                      </p:cBhvr>
                                      <p:to>
                                        <p:strVal val="visible"/>
                                      </p:to>
                                    </p:set>
                                    <p:anim calcmode="lin" valueType="num">
                                      <p:cBhvr additive="base">
                                        <p:cTn id="49" dur="500"/>
                                        <p:tgtEl>
                                          <p:spTgt spid="371717">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1717">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71717">
                                            <p:txEl>
                                              <p:pRg st="9" end="9"/>
                                            </p:txEl>
                                          </p:spTgt>
                                        </p:tgtEl>
                                        <p:attrNameLst>
                                          <p:attrName>style.visibility</p:attrName>
                                        </p:attrNameLst>
                                      </p:cBhvr>
                                      <p:to>
                                        <p:strVal val="visible"/>
                                      </p:to>
                                    </p:set>
                                    <p:anim calcmode="lin" valueType="num">
                                      <p:cBhvr additive="base">
                                        <p:cTn id="55" dur="500"/>
                                        <p:tgtEl>
                                          <p:spTgt spid="371717">
                                            <p:txEl>
                                              <p:pRg st="9" end="9"/>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7171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7" grpId="0" build="p" bldLvl="3"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6" name="Rectangle 4">
            <a:extLst>
              <a:ext uri="{FF2B5EF4-FFF2-40B4-BE49-F238E27FC236}">
                <a16:creationId xmlns:a16="http://schemas.microsoft.com/office/drawing/2014/main" id="{A8F569EA-8863-4E17-B520-351FF94C1193}"/>
              </a:ext>
            </a:extLst>
          </p:cNvPr>
          <p:cNvSpPr>
            <a:spLocks noGrp="1"/>
          </p:cNvSpPr>
          <p:nvPr>
            <p:ph type="title"/>
          </p:nvPr>
        </p:nvSpPr>
        <p:spPr/>
        <p:txBody>
          <a:bodyPr/>
          <a:lstStyle/>
          <a:p>
            <a:r>
              <a:rPr lang="en-GB" altLang="en-US"/>
              <a:t>Competition Policy</a:t>
            </a:r>
          </a:p>
        </p:txBody>
      </p:sp>
      <p:sp>
        <p:nvSpPr>
          <p:cNvPr id="371717" name="Rectangle 5">
            <a:extLst>
              <a:ext uri="{FF2B5EF4-FFF2-40B4-BE49-F238E27FC236}">
                <a16:creationId xmlns:a16="http://schemas.microsoft.com/office/drawing/2014/main" id="{258F1D1C-7B53-4BEA-897D-02C1F7AABD35}"/>
              </a:ext>
            </a:extLst>
          </p:cNvPr>
          <p:cNvSpPr>
            <a:spLocks noGrp="1"/>
          </p:cNvSpPr>
          <p:nvPr>
            <p:ph idx="1"/>
          </p:nvPr>
        </p:nvSpPr>
        <p:spPr/>
        <p:txBody>
          <a:bodyPr/>
          <a:lstStyle/>
          <a:p>
            <a:pPr lvl="1">
              <a:lnSpc>
                <a:spcPct val="95000"/>
              </a:lnSpc>
              <a:spcBef>
                <a:spcPts val="8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Examples</a:t>
            </a:r>
          </a:p>
          <a:p>
            <a:pPr lvl="1">
              <a:lnSpc>
                <a:spcPct val="95000"/>
              </a:lnSpc>
              <a:spcBef>
                <a:spcPts val="800"/>
              </a:spcBef>
            </a:pP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lvl="2">
              <a:lnSpc>
                <a:spcPct val="95000"/>
              </a:lnSpc>
              <a:spcBef>
                <a:spcPts val="800"/>
              </a:spcBef>
            </a:pPr>
            <a:r>
              <a:rPr lang="en-GB" altLang="en-US" sz="2000" dirty="0">
                <a:latin typeface="Calibri" panose="020F0502020204030204" pitchFamily="34" charset="0"/>
                <a:ea typeface="Calibri" panose="020F0502020204030204" pitchFamily="34" charset="0"/>
                <a:cs typeface="Calibri" panose="020F0502020204030204" pitchFamily="34" charset="0"/>
                <a:hlinkClick r:id="rId3"/>
              </a:rPr>
              <a:t>https://www.gov.uk/government/collections/business-cartels-case-studies</a:t>
            </a: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marL="457200" lvl="1" indent="0">
              <a:lnSpc>
                <a:spcPct val="95000"/>
              </a:lnSpc>
              <a:spcBef>
                <a:spcPts val="800"/>
              </a:spcBef>
              <a:buNone/>
            </a:pP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lvl="2">
              <a:lnSpc>
                <a:spcPct val="95000"/>
              </a:lnSpc>
              <a:spcBef>
                <a:spcPts val="8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Dar Lighting fined £1.5m for illegally preventing online price discounts </a:t>
            </a:r>
          </a:p>
          <a:p>
            <a:pPr lvl="2">
              <a:lnSpc>
                <a:spcPct val="95000"/>
              </a:lnSpc>
              <a:spcBef>
                <a:spcPts val="800"/>
              </a:spcBef>
            </a:pPr>
            <a:r>
              <a:rPr lang="en-GB" altLang="en-US" sz="2000" dirty="0">
                <a:latin typeface="Calibri" panose="020F0502020204030204" pitchFamily="34" charset="0"/>
                <a:ea typeface="Calibri" panose="020F0502020204030204" pitchFamily="34" charset="0"/>
                <a:cs typeface="Calibri" panose="020F0502020204030204" pitchFamily="34" charset="0"/>
              </a:rPr>
              <a:t>Breaking competition law: construction cartel in groundworks</a:t>
            </a:r>
          </a:p>
          <a:p>
            <a:pPr lvl="2">
              <a:lnSpc>
                <a:spcPct val="95000"/>
              </a:lnSpc>
              <a:spcBef>
                <a:spcPts val="8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Private healthcare provider fixed prices with consultants</a:t>
            </a:r>
          </a:p>
          <a:p>
            <a:pPr lvl="2">
              <a:lnSpc>
                <a:spcPct val="95000"/>
              </a:lnSpc>
              <a:spcBef>
                <a:spcPts val="8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Why we fined Casio £3.7m for breaking competition law</a:t>
            </a:r>
          </a:p>
          <a:p>
            <a:pPr lvl="1">
              <a:lnSpc>
                <a:spcPct val="95000"/>
              </a:lnSpc>
              <a:spcBef>
                <a:spcPts val="800"/>
              </a:spcBef>
            </a:pPr>
            <a:endParaRPr lang="en-GB" altLang="en-US" sz="2400" dirty="0"/>
          </a:p>
        </p:txBody>
      </p:sp>
    </p:spTree>
    <p:extLst>
      <p:ext uri="{BB962C8B-B14F-4D97-AF65-F5344CB8AC3E}">
        <p14:creationId xmlns:p14="http://schemas.microsoft.com/office/powerpoint/2010/main" val="836952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7">
                                            <p:txEl>
                                              <p:pRg st="0" end="0"/>
                                            </p:txEl>
                                          </p:spTgt>
                                        </p:tgtEl>
                                        <p:attrNameLst>
                                          <p:attrName>style.visibility</p:attrName>
                                        </p:attrNameLst>
                                      </p:cBhvr>
                                      <p:to>
                                        <p:strVal val="visible"/>
                                      </p:to>
                                    </p:set>
                                    <p:anim calcmode="lin" valueType="num">
                                      <p:cBhvr additive="base">
                                        <p:cTn id="7" dur="500"/>
                                        <p:tgtEl>
                                          <p:spTgt spid="37171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7">
                                            <p:txEl>
                                              <p:pRg st="2" end="2"/>
                                            </p:txEl>
                                          </p:spTgt>
                                        </p:tgtEl>
                                        <p:attrNameLst>
                                          <p:attrName>style.visibility</p:attrName>
                                        </p:attrNameLst>
                                      </p:cBhvr>
                                      <p:to>
                                        <p:strVal val="visible"/>
                                      </p:to>
                                    </p:set>
                                    <p:anim calcmode="lin" valueType="num">
                                      <p:cBhvr additive="base">
                                        <p:cTn id="13" dur="500"/>
                                        <p:tgtEl>
                                          <p:spTgt spid="371717">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7">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7">
                                            <p:txEl>
                                              <p:pRg st="4" end="4"/>
                                            </p:txEl>
                                          </p:spTgt>
                                        </p:tgtEl>
                                        <p:attrNameLst>
                                          <p:attrName>style.visibility</p:attrName>
                                        </p:attrNameLst>
                                      </p:cBhvr>
                                      <p:to>
                                        <p:strVal val="visible"/>
                                      </p:to>
                                    </p:set>
                                    <p:anim calcmode="lin" valueType="num">
                                      <p:cBhvr additive="base">
                                        <p:cTn id="19" dur="500"/>
                                        <p:tgtEl>
                                          <p:spTgt spid="371717">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7">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1717">
                                            <p:txEl>
                                              <p:pRg st="5" end="5"/>
                                            </p:txEl>
                                          </p:spTgt>
                                        </p:tgtEl>
                                        <p:attrNameLst>
                                          <p:attrName>style.visibility</p:attrName>
                                        </p:attrNameLst>
                                      </p:cBhvr>
                                      <p:to>
                                        <p:strVal val="visible"/>
                                      </p:to>
                                    </p:set>
                                    <p:anim calcmode="lin" valueType="num">
                                      <p:cBhvr additive="base">
                                        <p:cTn id="25" dur="500"/>
                                        <p:tgtEl>
                                          <p:spTgt spid="371717">
                                            <p:txEl>
                                              <p:pRg st="5" end="5"/>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1717">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1717">
                                            <p:txEl>
                                              <p:pRg st="6" end="6"/>
                                            </p:txEl>
                                          </p:spTgt>
                                        </p:tgtEl>
                                        <p:attrNameLst>
                                          <p:attrName>style.visibility</p:attrName>
                                        </p:attrNameLst>
                                      </p:cBhvr>
                                      <p:to>
                                        <p:strVal val="visible"/>
                                      </p:to>
                                    </p:set>
                                    <p:anim calcmode="lin" valueType="num">
                                      <p:cBhvr additive="base">
                                        <p:cTn id="31" dur="500"/>
                                        <p:tgtEl>
                                          <p:spTgt spid="371717">
                                            <p:txEl>
                                              <p:pRg st="6" end="6"/>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171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1717">
                                            <p:txEl>
                                              <p:pRg st="7" end="7"/>
                                            </p:txEl>
                                          </p:spTgt>
                                        </p:tgtEl>
                                        <p:attrNameLst>
                                          <p:attrName>style.visibility</p:attrName>
                                        </p:attrNameLst>
                                      </p:cBhvr>
                                      <p:to>
                                        <p:strVal val="visible"/>
                                      </p:to>
                                    </p:set>
                                    <p:anim calcmode="lin" valueType="num">
                                      <p:cBhvr additive="base">
                                        <p:cTn id="37" dur="500"/>
                                        <p:tgtEl>
                                          <p:spTgt spid="371717">
                                            <p:txEl>
                                              <p:pRg st="7" end="7"/>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171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7" grpId="0" build="p" bldLvl="3"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0151" name="Rectangle 7">
            <a:extLst>
              <a:ext uri="{FF2B5EF4-FFF2-40B4-BE49-F238E27FC236}">
                <a16:creationId xmlns:a16="http://schemas.microsoft.com/office/drawing/2014/main" id="{2E91CC64-FE65-4CB7-91D7-56B6D44453F7}"/>
              </a:ext>
            </a:extLst>
          </p:cNvPr>
          <p:cNvSpPr>
            <a:spLocks noGrp="1"/>
          </p:cNvSpPr>
          <p:nvPr>
            <p:ph type="title"/>
          </p:nvPr>
        </p:nvSpPr>
        <p:spPr>
          <a:noFill/>
          <a:ln/>
        </p:spPr>
        <p:txBody>
          <a:bodyPr/>
          <a:lstStyle/>
          <a:p>
            <a:r>
              <a:rPr lang="en-GB" altLang="en-US" dirty="0"/>
              <a:t>Competition Policy in the EU</a:t>
            </a:r>
          </a:p>
        </p:txBody>
      </p:sp>
      <p:sp>
        <p:nvSpPr>
          <p:cNvPr id="390147" name="Rectangle 3">
            <a:extLst>
              <a:ext uri="{FF2B5EF4-FFF2-40B4-BE49-F238E27FC236}">
                <a16:creationId xmlns:a16="http://schemas.microsoft.com/office/drawing/2014/main" id="{BD263693-2837-490B-8B01-FBBE748C18BD}"/>
              </a:ext>
            </a:extLst>
          </p:cNvPr>
          <p:cNvSpPr>
            <a:spLocks noGrp="1"/>
          </p:cNvSpPr>
          <p:nvPr>
            <p:ph idx="1"/>
          </p:nvPr>
        </p:nvSpPr>
        <p:spPr>
          <a:xfrm>
            <a:off x="353291" y="1521228"/>
            <a:ext cx="11641974" cy="4892271"/>
          </a:xfrm>
        </p:spPr>
        <p:txBody>
          <a:bodyPr/>
          <a:lstStyle/>
          <a:p>
            <a:pPr>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a:t>
            </a:r>
            <a:r>
              <a:rPr lang="en-US" altLang="en-US" sz="2000" dirty="0">
                <a:latin typeface="Calibri" panose="020F0502020204030204" pitchFamily="34" charset="0"/>
                <a:ea typeface="Calibri" panose="020F0502020204030204" pitchFamily="34" charset="0"/>
                <a:cs typeface="Calibri" panose="020F0502020204030204" pitchFamily="34" charset="0"/>
              </a:rPr>
              <a:t>U restrictive practices policy: Article 101 − focus on </a:t>
            </a:r>
            <a:r>
              <a:rPr lang="en-US" altLang="en-US" sz="2000" dirty="0" err="1">
                <a:latin typeface="Calibri" panose="020F0502020204030204" pitchFamily="34" charset="0"/>
                <a:ea typeface="Calibri" panose="020F0502020204030204" pitchFamily="34" charset="0"/>
                <a:cs typeface="Calibri" panose="020F0502020204030204" pitchFamily="34" charset="0"/>
              </a:rPr>
              <a:t>behaviour</a:t>
            </a:r>
            <a:endParaRPr lang="en-US" altLang="en-US" sz="2000"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Covers </a:t>
            </a:r>
            <a:r>
              <a:rPr lang="en-GB" altLang="en-US" sz="2000" i="1" dirty="0">
                <a:latin typeface="Calibri" panose="020F0502020204030204" pitchFamily="34" charset="0"/>
                <a:ea typeface="Calibri" panose="020F0502020204030204" pitchFamily="34" charset="0"/>
                <a:cs typeface="Calibri" panose="020F0502020204030204" pitchFamily="34" charset="0"/>
              </a:rPr>
              <a:t>agreements</a:t>
            </a:r>
            <a:r>
              <a:rPr lang="en-GB" altLang="en-US" sz="2000" dirty="0">
                <a:latin typeface="Calibri" panose="020F0502020204030204" pitchFamily="34" charset="0"/>
                <a:ea typeface="Calibri" panose="020F0502020204030204" pitchFamily="34" charset="0"/>
                <a:cs typeface="Calibri" panose="020F0502020204030204" pitchFamily="34" charset="0"/>
              </a:rPr>
              <a:t> between firms, </a:t>
            </a:r>
            <a:r>
              <a:rPr lang="en-GB" altLang="en-US" sz="2000" i="1" dirty="0">
                <a:latin typeface="Calibri" panose="020F0502020204030204" pitchFamily="34" charset="0"/>
                <a:ea typeface="Calibri" panose="020F0502020204030204" pitchFamily="34" charset="0"/>
                <a:cs typeface="Calibri" panose="020F0502020204030204" pitchFamily="34" charset="0"/>
              </a:rPr>
              <a:t>joint decisions </a:t>
            </a:r>
            <a:r>
              <a:rPr lang="en-GB" altLang="en-US" sz="2000" dirty="0">
                <a:latin typeface="Calibri" panose="020F0502020204030204" pitchFamily="34" charset="0"/>
                <a:ea typeface="Calibri" panose="020F0502020204030204" pitchFamily="34" charset="0"/>
                <a:cs typeface="Calibri" panose="020F0502020204030204" pitchFamily="34" charset="0"/>
              </a:rPr>
              <a:t>and concerted </a:t>
            </a:r>
            <a:r>
              <a:rPr lang="en-GB" altLang="en-US" sz="2000" i="1" dirty="0">
                <a:latin typeface="Calibri" panose="020F0502020204030204" pitchFamily="34" charset="0"/>
                <a:ea typeface="Calibri" panose="020F0502020204030204" pitchFamily="34" charset="0"/>
                <a:cs typeface="Calibri" panose="020F0502020204030204" pitchFamily="34" charset="0"/>
              </a:rPr>
              <a:t>practices</a:t>
            </a:r>
            <a:r>
              <a:rPr lang="en-GB" altLang="en-US" sz="2000" dirty="0">
                <a:latin typeface="Calibri" panose="020F0502020204030204" pitchFamily="34" charset="0"/>
                <a:ea typeface="Calibri" panose="020F0502020204030204" pitchFamily="34" charset="0"/>
                <a:cs typeface="Calibri" panose="020F0502020204030204" pitchFamily="34" charset="0"/>
              </a:rPr>
              <a:t> that prevent, restrict or distort competition</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i.e., all types of oligopolistic collusion that are judged to be against the interests of consumers</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Designed to prevent collusive </a:t>
            </a:r>
            <a:r>
              <a:rPr lang="en-GB" altLang="en-US" sz="2000" i="1" dirty="0">
                <a:latin typeface="Calibri" panose="020F0502020204030204" pitchFamily="34" charset="0"/>
                <a:ea typeface="Calibri" panose="020F0502020204030204" pitchFamily="34" charset="0"/>
                <a:cs typeface="Calibri" panose="020F0502020204030204" pitchFamily="34" charset="0"/>
              </a:rPr>
              <a:t>behaviour</a:t>
            </a:r>
            <a:r>
              <a:rPr lang="en-GB" altLang="en-US" sz="2000" dirty="0">
                <a:latin typeface="Calibri" panose="020F0502020204030204" pitchFamily="34" charset="0"/>
                <a:ea typeface="Calibri" panose="020F0502020204030204" pitchFamily="34" charset="0"/>
                <a:cs typeface="Calibri" panose="020F0502020204030204" pitchFamily="34" charset="0"/>
              </a:rPr>
              <a:t> not oligopolistic </a:t>
            </a:r>
            <a:r>
              <a:rPr lang="en-GB" altLang="en-US" sz="2000" i="1" dirty="0">
                <a:latin typeface="Calibri" panose="020F0502020204030204" pitchFamily="34" charset="0"/>
                <a:ea typeface="Calibri" panose="020F0502020204030204" pitchFamily="34" charset="0"/>
                <a:cs typeface="Calibri" panose="020F0502020204030204" pitchFamily="34" charset="0"/>
              </a:rPr>
              <a:t>structures</a:t>
            </a:r>
          </a:p>
          <a:p>
            <a:pPr marL="914400" lvl="2" indent="0">
              <a:lnSpc>
                <a:spcPct val="100000"/>
              </a:lnSpc>
              <a:spcBef>
                <a:spcPts val="500"/>
              </a:spcBef>
              <a:buNone/>
            </a:pPr>
            <a:endParaRPr lang="en-GB" altLang="en-US" sz="2000" i="1"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Size of the basic fine depends on:</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percentage of relevant sales (size of its annual sales affected by anti-competitive activities)</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market share of participating firms and geographical area of affected sales</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duration multiplier: length of time firm has engaged in anti-competitive practices</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whether it is guilty of engaging in such practices in the past</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whether it initiated the cartel: i.e., been the ringleader</a:t>
            </a:r>
          </a:p>
          <a:p>
            <a:pPr marL="914400" lvl="2" indent="0">
              <a:lnSpc>
                <a:spcPct val="100000"/>
              </a:lnSpc>
              <a:spcBef>
                <a:spcPts val="500"/>
              </a:spcBef>
              <a:buNone/>
            </a:pPr>
            <a:r>
              <a:rPr lang="en-GB" altLang="en-US" sz="2000" dirty="0">
                <a:latin typeface="Calibri" panose="020F0502020204030204" pitchFamily="34" charset="0"/>
                <a:ea typeface="Calibri" panose="020F0502020204030204" pitchFamily="34" charset="0"/>
                <a:cs typeface="Calibri" panose="020F0502020204030204" pitchFamily="34" charset="0"/>
              </a:rPr>
              <a:t>Fines are capped to 10% of annual turnover</a:t>
            </a:r>
          </a:p>
        </p:txBody>
      </p:sp>
    </p:spTree>
    <p:extLst>
      <p:ext uri="{BB962C8B-B14F-4D97-AF65-F5344CB8AC3E}">
        <p14:creationId xmlns:p14="http://schemas.microsoft.com/office/powerpoint/2010/main" val="59305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390151"/>
                                        </p:tgtEl>
                                        <p:attrNameLst>
                                          <p:attrName>style.visibility</p:attrName>
                                        </p:attrNameLst>
                                      </p:cBhvr>
                                      <p:to>
                                        <p:strVal val="visible"/>
                                      </p:to>
                                    </p:set>
                                    <p:anim calcmode="lin" valueType="num">
                                      <p:cBhvr>
                                        <p:cTn id="7" dur="500" fill="hold"/>
                                        <p:tgtEl>
                                          <p:spTgt spid="390151"/>
                                        </p:tgtEl>
                                        <p:attrNameLst>
                                          <p:attrName>ppt_w</p:attrName>
                                        </p:attrNameLst>
                                      </p:cBhvr>
                                      <p:tavLst>
                                        <p:tav tm="0">
                                          <p:val>
                                            <p:strVal val="2/3*#ppt_w"/>
                                          </p:val>
                                        </p:tav>
                                        <p:tav tm="100000">
                                          <p:val>
                                            <p:strVal val="#ppt_w"/>
                                          </p:val>
                                        </p:tav>
                                      </p:tavLst>
                                    </p:anim>
                                    <p:anim calcmode="lin" valueType="num">
                                      <p:cBhvr>
                                        <p:cTn id="8" dur="500" fill="hold"/>
                                        <p:tgtEl>
                                          <p:spTgt spid="390151"/>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0147">
                                            <p:txEl>
                                              <p:pRg st="0" end="0"/>
                                            </p:txEl>
                                          </p:spTgt>
                                        </p:tgtEl>
                                        <p:attrNameLst>
                                          <p:attrName>style.visibility</p:attrName>
                                        </p:attrNameLst>
                                      </p:cBhvr>
                                      <p:to>
                                        <p:strVal val="visible"/>
                                      </p:to>
                                    </p:set>
                                    <p:anim calcmode="lin" valueType="num">
                                      <p:cBhvr additive="base">
                                        <p:cTn id="13" dur="500"/>
                                        <p:tgtEl>
                                          <p:spTgt spid="390147">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014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0147">
                                            <p:txEl>
                                              <p:pRg st="1" end="1"/>
                                            </p:txEl>
                                          </p:spTgt>
                                        </p:tgtEl>
                                        <p:attrNameLst>
                                          <p:attrName>style.visibility</p:attrName>
                                        </p:attrNameLst>
                                      </p:cBhvr>
                                      <p:to>
                                        <p:strVal val="visible"/>
                                      </p:to>
                                    </p:set>
                                    <p:anim calcmode="lin" valueType="num">
                                      <p:cBhvr additive="base">
                                        <p:cTn id="19" dur="500"/>
                                        <p:tgtEl>
                                          <p:spTgt spid="390147">
                                            <p:txEl>
                                              <p:pRg st="1" end="1"/>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014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0147">
                                            <p:txEl>
                                              <p:pRg st="2" end="2"/>
                                            </p:txEl>
                                          </p:spTgt>
                                        </p:tgtEl>
                                        <p:attrNameLst>
                                          <p:attrName>style.visibility</p:attrName>
                                        </p:attrNameLst>
                                      </p:cBhvr>
                                      <p:to>
                                        <p:strVal val="visible"/>
                                      </p:to>
                                    </p:set>
                                    <p:anim calcmode="lin" valueType="num">
                                      <p:cBhvr additive="base">
                                        <p:cTn id="25" dur="500"/>
                                        <p:tgtEl>
                                          <p:spTgt spid="390147">
                                            <p:txEl>
                                              <p:pRg st="2" end="2"/>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0147">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0147">
                                            <p:txEl>
                                              <p:pRg st="3" end="3"/>
                                            </p:txEl>
                                          </p:spTgt>
                                        </p:tgtEl>
                                        <p:attrNameLst>
                                          <p:attrName>style.visibility</p:attrName>
                                        </p:attrNameLst>
                                      </p:cBhvr>
                                      <p:to>
                                        <p:strVal val="visible"/>
                                      </p:to>
                                    </p:set>
                                    <p:anim calcmode="lin" valueType="num">
                                      <p:cBhvr additive="base">
                                        <p:cTn id="31" dur="500"/>
                                        <p:tgtEl>
                                          <p:spTgt spid="390147">
                                            <p:txEl>
                                              <p:pRg st="3" end="3"/>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014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0147">
                                            <p:txEl>
                                              <p:pRg st="5" end="5"/>
                                            </p:txEl>
                                          </p:spTgt>
                                        </p:tgtEl>
                                        <p:attrNameLst>
                                          <p:attrName>style.visibility</p:attrName>
                                        </p:attrNameLst>
                                      </p:cBhvr>
                                      <p:to>
                                        <p:strVal val="visible"/>
                                      </p:to>
                                    </p:set>
                                    <p:anim calcmode="lin" valueType="num">
                                      <p:cBhvr additive="base">
                                        <p:cTn id="37" dur="500"/>
                                        <p:tgtEl>
                                          <p:spTgt spid="39014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0147">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0147">
                                            <p:txEl>
                                              <p:pRg st="6" end="6"/>
                                            </p:txEl>
                                          </p:spTgt>
                                        </p:tgtEl>
                                        <p:attrNameLst>
                                          <p:attrName>style.visibility</p:attrName>
                                        </p:attrNameLst>
                                      </p:cBhvr>
                                      <p:to>
                                        <p:strVal val="visible"/>
                                      </p:to>
                                    </p:set>
                                    <p:anim calcmode="lin" valueType="num">
                                      <p:cBhvr additive="base">
                                        <p:cTn id="43" dur="500"/>
                                        <p:tgtEl>
                                          <p:spTgt spid="39014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014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0147">
                                            <p:txEl>
                                              <p:pRg st="7" end="7"/>
                                            </p:txEl>
                                          </p:spTgt>
                                        </p:tgtEl>
                                        <p:attrNameLst>
                                          <p:attrName>style.visibility</p:attrName>
                                        </p:attrNameLst>
                                      </p:cBhvr>
                                      <p:to>
                                        <p:strVal val="visible"/>
                                      </p:to>
                                    </p:set>
                                    <p:anim calcmode="lin" valueType="num">
                                      <p:cBhvr additive="base">
                                        <p:cTn id="49" dur="500"/>
                                        <p:tgtEl>
                                          <p:spTgt spid="390147">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0147">
                                            <p:txEl>
                                              <p:pRg st="7" end="7"/>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90147">
                                            <p:txEl>
                                              <p:pRg st="8" end="8"/>
                                            </p:txEl>
                                          </p:spTgt>
                                        </p:tgtEl>
                                        <p:attrNameLst>
                                          <p:attrName>style.visibility</p:attrName>
                                        </p:attrNameLst>
                                      </p:cBhvr>
                                      <p:to>
                                        <p:strVal val="visible"/>
                                      </p:to>
                                    </p:set>
                                    <p:anim calcmode="lin" valueType="num">
                                      <p:cBhvr additive="base">
                                        <p:cTn id="55" dur="500"/>
                                        <p:tgtEl>
                                          <p:spTgt spid="390147">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90147">
                                            <p:txEl>
                                              <p:pRg st="8" end="8"/>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90147">
                                            <p:txEl>
                                              <p:pRg st="9" end="9"/>
                                            </p:txEl>
                                          </p:spTgt>
                                        </p:tgtEl>
                                        <p:attrNameLst>
                                          <p:attrName>style.visibility</p:attrName>
                                        </p:attrNameLst>
                                      </p:cBhvr>
                                      <p:to>
                                        <p:strVal val="visible"/>
                                      </p:to>
                                    </p:set>
                                    <p:anim calcmode="lin" valueType="num">
                                      <p:cBhvr additive="base">
                                        <p:cTn id="61" dur="500"/>
                                        <p:tgtEl>
                                          <p:spTgt spid="390147">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90147">
                                            <p:txEl>
                                              <p:pRg st="9" end="9"/>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390147">
                                            <p:txEl>
                                              <p:pRg st="10" end="10"/>
                                            </p:txEl>
                                          </p:spTgt>
                                        </p:tgtEl>
                                        <p:attrNameLst>
                                          <p:attrName>style.visibility</p:attrName>
                                        </p:attrNameLst>
                                      </p:cBhvr>
                                      <p:to>
                                        <p:strVal val="visible"/>
                                      </p:to>
                                    </p:set>
                                    <p:anim calcmode="lin" valueType="num">
                                      <p:cBhvr additive="base">
                                        <p:cTn id="67" dur="500"/>
                                        <p:tgtEl>
                                          <p:spTgt spid="390147">
                                            <p:txEl>
                                              <p:pRg st="10" end="10"/>
                                            </p:txEl>
                                          </p:spTgt>
                                        </p:tgtEl>
                                        <p:attrNameLst>
                                          <p:attrName>ppt_y</p:attrName>
                                        </p:attrNameLst>
                                      </p:cBhvr>
                                      <p:tavLst>
                                        <p:tav tm="0">
                                          <p:val>
                                            <p:strVal val="#ppt_y+#ppt_h*1.125000"/>
                                          </p:val>
                                        </p:tav>
                                        <p:tav tm="100000">
                                          <p:val>
                                            <p:strVal val="#ppt_y"/>
                                          </p:val>
                                        </p:tav>
                                      </p:tavLst>
                                    </p:anim>
                                    <p:animEffect transition="in" filter="wipe(up)">
                                      <p:cBhvr>
                                        <p:cTn id="68" dur="500"/>
                                        <p:tgtEl>
                                          <p:spTgt spid="390147">
                                            <p:txEl>
                                              <p:pRg st="10" end="1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390147">
                                            <p:txEl>
                                              <p:pRg st="11" end="11"/>
                                            </p:txEl>
                                          </p:spTgt>
                                        </p:tgtEl>
                                        <p:attrNameLst>
                                          <p:attrName>style.visibility</p:attrName>
                                        </p:attrNameLst>
                                      </p:cBhvr>
                                      <p:to>
                                        <p:strVal val="visible"/>
                                      </p:to>
                                    </p:set>
                                    <p:anim calcmode="lin" valueType="num">
                                      <p:cBhvr additive="base">
                                        <p:cTn id="73" dur="500"/>
                                        <p:tgtEl>
                                          <p:spTgt spid="390147">
                                            <p:txEl>
                                              <p:pRg st="11" end="11"/>
                                            </p:txEl>
                                          </p:spTgt>
                                        </p:tgtEl>
                                        <p:attrNameLst>
                                          <p:attrName>ppt_y</p:attrName>
                                        </p:attrNameLst>
                                      </p:cBhvr>
                                      <p:tavLst>
                                        <p:tav tm="0">
                                          <p:val>
                                            <p:strVal val="#ppt_y+#ppt_h*1.125000"/>
                                          </p:val>
                                        </p:tav>
                                        <p:tav tm="100000">
                                          <p:val>
                                            <p:strVal val="#ppt_y"/>
                                          </p:val>
                                        </p:tav>
                                      </p:tavLst>
                                    </p:anim>
                                    <p:animEffect transition="in" filter="wipe(up)">
                                      <p:cBhvr>
                                        <p:cTn id="74" dur="500"/>
                                        <p:tgtEl>
                                          <p:spTgt spid="39014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51" grpId="0" animBg="1"/>
      <p:bldP spid="390147" grpId="0" build="p" bldLvl="3"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0151" name="Rectangle 7">
            <a:extLst>
              <a:ext uri="{FF2B5EF4-FFF2-40B4-BE49-F238E27FC236}">
                <a16:creationId xmlns:a16="http://schemas.microsoft.com/office/drawing/2014/main" id="{2E91CC64-FE65-4CB7-91D7-56B6D44453F7}"/>
              </a:ext>
            </a:extLst>
          </p:cNvPr>
          <p:cNvSpPr>
            <a:spLocks noGrp="1"/>
          </p:cNvSpPr>
          <p:nvPr>
            <p:ph type="title"/>
          </p:nvPr>
        </p:nvSpPr>
        <p:spPr>
          <a:noFill/>
          <a:ln/>
        </p:spPr>
        <p:txBody>
          <a:bodyPr/>
          <a:lstStyle/>
          <a:p>
            <a:r>
              <a:rPr lang="en-GB" altLang="en-US" dirty="0"/>
              <a:t>Competition Policy in the EU</a:t>
            </a:r>
          </a:p>
        </p:txBody>
      </p:sp>
      <p:sp>
        <p:nvSpPr>
          <p:cNvPr id="390147" name="Rectangle 3">
            <a:extLst>
              <a:ext uri="{FF2B5EF4-FFF2-40B4-BE49-F238E27FC236}">
                <a16:creationId xmlns:a16="http://schemas.microsoft.com/office/drawing/2014/main" id="{BD263693-2837-490B-8B01-FBBE748C18BD}"/>
              </a:ext>
            </a:extLst>
          </p:cNvPr>
          <p:cNvSpPr>
            <a:spLocks noGrp="1"/>
          </p:cNvSpPr>
          <p:nvPr>
            <p:ph idx="1"/>
          </p:nvPr>
        </p:nvSpPr>
        <p:spPr>
          <a:xfrm>
            <a:off x="353291" y="1521228"/>
            <a:ext cx="11641974" cy="4892271"/>
          </a:xfrm>
        </p:spPr>
        <p:txBody>
          <a:bodyPr/>
          <a:lstStyle/>
          <a:p>
            <a:pPr>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a:t>
            </a:r>
            <a:r>
              <a:rPr lang="en-US" altLang="en-US" sz="2000" dirty="0">
                <a:latin typeface="Calibri" panose="020F0502020204030204" pitchFamily="34" charset="0"/>
                <a:ea typeface="Calibri" panose="020F0502020204030204" pitchFamily="34" charset="0"/>
                <a:cs typeface="Calibri" panose="020F0502020204030204" pitchFamily="34" charset="0"/>
              </a:rPr>
              <a:t>U restrictive practices policy: Article 101 − focus on </a:t>
            </a:r>
            <a:r>
              <a:rPr lang="en-US" altLang="en-US" sz="2000" dirty="0" err="1">
                <a:latin typeface="Calibri" panose="020F0502020204030204" pitchFamily="34" charset="0"/>
                <a:ea typeface="Calibri" panose="020F0502020204030204" pitchFamily="34" charset="0"/>
                <a:cs typeface="Calibri" panose="020F0502020204030204" pitchFamily="34" charset="0"/>
              </a:rPr>
              <a:t>behaviour</a:t>
            </a:r>
            <a:endParaRPr lang="en-US" altLang="en-US" sz="2000" dirty="0">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spcBef>
                <a:spcPts val="500"/>
              </a:spcBef>
              <a:buNone/>
            </a:pPr>
            <a:endParaRPr lang="en-US" altLang="en-US" sz="2000"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Reductions can be made through co-operation with Commission</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size of the initial or basic fine can be reduced if members of a cartel provide information that helps the Commission with its investigations – such firms would be granted a ‘Leniency Notice’.</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To qualify, they have to provide information about cartel meetings and details of how the anti-competitive practices operated.</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first company to supply this type of information can be granted full immunity (Type 1A leniency) if its co-operation brings the case to the Commission’s attention.</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If the case is already being investigated, the first company to provide detailed information could possibly receive full immunity at the discretion of the Commission (Type 1B leniency)</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Other companies supplying information can be given reduced fines (Type 2 leniency)</a:t>
            </a:r>
          </a:p>
          <a:p>
            <a:pPr lvl="2">
              <a:lnSpc>
                <a:spcPct val="100000"/>
              </a:lnSpc>
              <a:spcBef>
                <a:spcPts val="5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Further 10% reduction if firms accept Commission’s decision and the financial penalties imposed on them.</a:t>
            </a:r>
          </a:p>
        </p:txBody>
      </p:sp>
    </p:spTree>
    <p:extLst>
      <p:ext uri="{BB962C8B-B14F-4D97-AF65-F5344CB8AC3E}">
        <p14:creationId xmlns:p14="http://schemas.microsoft.com/office/powerpoint/2010/main" val="130279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390151"/>
                                        </p:tgtEl>
                                        <p:attrNameLst>
                                          <p:attrName>style.visibility</p:attrName>
                                        </p:attrNameLst>
                                      </p:cBhvr>
                                      <p:to>
                                        <p:strVal val="visible"/>
                                      </p:to>
                                    </p:set>
                                    <p:anim calcmode="lin" valueType="num">
                                      <p:cBhvr>
                                        <p:cTn id="7" dur="500" fill="hold"/>
                                        <p:tgtEl>
                                          <p:spTgt spid="390151"/>
                                        </p:tgtEl>
                                        <p:attrNameLst>
                                          <p:attrName>ppt_w</p:attrName>
                                        </p:attrNameLst>
                                      </p:cBhvr>
                                      <p:tavLst>
                                        <p:tav tm="0">
                                          <p:val>
                                            <p:strVal val="2/3*#ppt_w"/>
                                          </p:val>
                                        </p:tav>
                                        <p:tav tm="100000">
                                          <p:val>
                                            <p:strVal val="#ppt_w"/>
                                          </p:val>
                                        </p:tav>
                                      </p:tavLst>
                                    </p:anim>
                                    <p:anim calcmode="lin" valueType="num">
                                      <p:cBhvr>
                                        <p:cTn id="8" dur="500" fill="hold"/>
                                        <p:tgtEl>
                                          <p:spTgt spid="390151"/>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0147">
                                            <p:txEl>
                                              <p:pRg st="0" end="0"/>
                                            </p:txEl>
                                          </p:spTgt>
                                        </p:tgtEl>
                                        <p:attrNameLst>
                                          <p:attrName>style.visibility</p:attrName>
                                        </p:attrNameLst>
                                      </p:cBhvr>
                                      <p:to>
                                        <p:strVal val="visible"/>
                                      </p:to>
                                    </p:set>
                                    <p:anim calcmode="lin" valueType="num">
                                      <p:cBhvr additive="base">
                                        <p:cTn id="13" dur="500"/>
                                        <p:tgtEl>
                                          <p:spTgt spid="390147">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0147">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0147">
                                            <p:txEl>
                                              <p:pRg st="2" end="2"/>
                                            </p:txEl>
                                          </p:spTgt>
                                        </p:tgtEl>
                                        <p:attrNameLst>
                                          <p:attrName>style.visibility</p:attrName>
                                        </p:attrNameLst>
                                      </p:cBhvr>
                                      <p:to>
                                        <p:strVal val="visible"/>
                                      </p:to>
                                    </p:set>
                                    <p:anim calcmode="lin" valueType="num">
                                      <p:cBhvr additive="base">
                                        <p:cTn id="19" dur="500"/>
                                        <p:tgtEl>
                                          <p:spTgt spid="39014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014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0147">
                                            <p:txEl>
                                              <p:pRg st="3" end="3"/>
                                            </p:txEl>
                                          </p:spTgt>
                                        </p:tgtEl>
                                        <p:attrNameLst>
                                          <p:attrName>style.visibility</p:attrName>
                                        </p:attrNameLst>
                                      </p:cBhvr>
                                      <p:to>
                                        <p:strVal val="visible"/>
                                      </p:to>
                                    </p:set>
                                    <p:anim calcmode="lin" valueType="num">
                                      <p:cBhvr additive="base">
                                        <p:cTn id="25" dur="500"/>
                                        <p:tgtEl>
                                          <p:spTgt spid="39014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014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0147">
                                            <p:txEl>
                                              <p:pRg st="4" end="4"/>
                                            </p:txEl>
                                          </p:spTgt>
                                        </p:tgtEl>
                                        <p:attrNameLst>
                                          <p:attrName>style.visibility</p:attrName>
                                        </p:attrNameLst>
                                      </p:cBhvr>
                                      <p:to>
                                        <p:strVal val="visible"/>
                                      </p:to>
                                    </p:set>
                                    <p:anim calcmode="lin" valueType="num">
                                      <p:cBhvr additive="base">
                                        <p:cTn id="31" dur="500"/>
                                        <p:tgtEl>
                                          <p:spTgt spid="39014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014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0147">
                                            <p:txEl>
                                              <p:pRg st="5" end="5"/>
                                            </p:txEl>
                                          </p:spTgt>
                                        </p:tgtEl>
                                        <p:attrNameLst>
                                          <p:attrName>style.visibility</p:attrName>
                                        </p:attrNameLst>
                                      </p:cBhvr>
                                      <p:to>
                                        <p:strVal val="visible"/>
                                      </p:to>
                                    </p:set>
                                    <p:anim calcmode="lin" valueType="num">
                                      <p:cBhvr additive="base">
                                        <p:cTn id="37" dur="500"/>
                                        <p:tgtEl>
                                          <p:spTgt spid="39014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014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0147">
                                            <p:txEl>
                                              <p:pRg st="6" end="6"/>
                                            </p:txEl>
                                          </p:spTgt>
                                        </p:tgtEl>
                                        <p:attrNameLst>
                                          <p:attrName>style.visibility</p:attrName>
                                        </p:attrNameLst>
                                      </p:cBhvr>
                                      <p:to>
                                        <p:strVal val="visible"/>
                                      </p:to>
                                    </p:set>
                                    <p:anim calcmode="lin" valueType="num">
                                      <p:cBhvr additive="base">
                                        <p:cTn id="43" dur="500"/>
                                        <p:tgtEl>
                                          <p:spTgt spid="39014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014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0147">
                                            <p:txEl>
                                              <p:pRg st="7" end="7"/>
                                            </p:txEl>
                                          </p:spTgt>
                                        </p:tgtEl>
                                        <p:attrNameLst>
                                          <p:attrName>style.visibility</p:attrName>
                                        </p:attrNameLst>
                                      </p:cBhvr>
                                      <p:to>
                                        <p:strVal val="visible"/>
                                      </p:to>
                                    </p:set>
                                    <p:anim calcmode="lin" valueType="num">
                                      <p:cBhvr additive="base">
                                        <p:cTn id="49" dur="500"/>
                                        <p:tgtEl>
                                          <p:spTgt spid="390147">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0147">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90147">
                                            <p:txEl>
                                              <p:pRg st="8" end="8"/>
                                            </p:txEl>
                                          </p:spTgt>
                                        </p:tgtEl>
                                        <p:attrNameLst>
                                          <p:attrName>style.visibility</p:attrName>
                                        </p:attrNameLst>
                                      </p:cBhvr>
                                      <p:to>
                                        <p:strVal val="visible"/>
                                      </p:to>
                                    </p:set>
                                    <p:anim calcmode="lin" valueType="num">
                                      <p:cBhvr additive="base">
                                        <p:cTn id="55" dur="500"/>
                                        <p:tgtEl>
                                          <p:spTgt spid="390147">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90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51" grpId="0" animBg="1"/>
      <p:bldP spid="390147" grpId="0" build="p" bldLvl="3"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2195" name="Rectangle 3">
            <a:extLst>
              <a:ext uri="{FF2B5EF4-FFF2-40B4-BE49-F238E27FC236}">
                <a16:creationId xmlns:a16="http://schemas.microsoft.com/office/drawing/2014/main" id="{6706A564-FB4E-4DA2-981A-E60D985F0FBD}"/>
              </a:ext>
            </a:extLst>
          </p:cNvPr>
          <p:cNvSpPr>
            <a:spLocks noGrp="1"/>
          </p:cNvSpPr>
          <p:nvPr>
            <p:ph type="title"/>
          </p:nvPr>
        </p:nvSpPr>
        <p:spPr>
          <a:noFill/>
          <a:ln/>
        </p:spPr>
        <p:txBody>
          <a:bodyPr/>
          <a:lstStyle/>
          <a:p>
            <a:r>
              <a:rPr lang="en-GB" altLang="en-US" dirty="0"/>
              <a:t>Competition Policy in the EU</a:t>
            </a:r>
          </a:p>
        </p:txBody>
      </p:sp>
      <p:sp>
        <p:nvSpPr>
          <p:cNvPr id="392194" name="Rectangle 2">
            <a:extLst>
              <a:ext uri="{FF2B5EF4-FFF2-40B4-BE49-F238E27FC236}">
                <a16:creationId xmlns:a16="http://schemas.microsoft.com/office/drawing/2014/main" id="{B3B2598B-CD22-4257-9C83-B3F80E5A19FA}"/>
              </a:ext>
            </a:extLst>
          </p:cNvPr>
          <p:cNvSpPr>
            <a:spLocks noGrp="1"/>
          </p:cNvSpPr>
          <p:nvPr>
            <p:ph idx="1"/>
          </p:nvPr>
        </p:nvSpPr>
        <p:spPr/>
        <p:txBody>
          <a:bodyPr/>
          <a:lstStyle/>
          <a:p>
            <a:pPr>
              <a:lnSpc>
                <a:spcPct val="100000"/>
              </a:lnSpc>
              <a:spcBef>
                <a:spcPts val="0"/>
              </a:spcBef>
            </a:pPr>
            <a:r>
              <a:rPr lang="en-GB" altLang="en-US" sz="2000" dirty="0">
                <a:latin typeface="Calibri" panose="020F0502020204030204" pitchFamily="34" charset="0"/>
                <a:ea typeface="Calibri" panose="020F0502020204030204" pitchFamily="34" charset="0"/>
                <a:cs typeface="Calibri" panose="020F0502020204030204" pitchFamily="34" charset="0"/>
              </a:rPr>
              <a:t>E</a:t>
            </a:r>
            <a:r>
              <a:rPr lang="en-US" altLang="en-US" sz="2000" dirty="0">
                <a:latin typeface="Calibri" panose="020F0502020204030204" pitchFamily="34" charset="0"/>
                <a:ea typeface="Calibri" panose="020F0502020204030204" pitchFamily="34" charset="0"/>
                <a:cs typeface="Calibri" panose="020F0502020204030204" pitchFamily="34" charset="0"/>
              </a:rPr>
              <a:t>U monopoly policy: Article 102 − also focuses on </a:t>
            </a:r>
            <a:r>
              <a:rPr lang="en-US" altLang="en-US" sz="2000" dirty="0" err="1">
                <a:latin typeface="Calibri" panose="020F0502020204030204" pitchFamily="34" charset="0"/>
                <a:ea typeface="Calibri" panose="020F0502020204030204" pitchFamily="34" charset="0"/>
                <a:cs typeface="Calibri" panose="020F0502020204030204" pitchFamily="34" charset="0"/>
              </a:rPr>
              <a:t>behaviour</a:t>
            </a:r>
            <a:endParaRPr lang="en-US" altLang="en-US" sz="2000"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spcBef>
                <a:spcPts val="0"/>
              </a:spcBef>
            </a:pPr>
            <a:r>
              <a:rPr lang="en-US" altLang="en-US" sz="2000" dirty="0">
                <a:latin typeface="Calibri" panose="020F0502020204030204" pitchFamily="34" charset="0"/>
                <a:ea typeface="Calibri" panose="020F0502020204030204" pitchFamily="34" charset="0"/>
                <a:cs typeface="Calibri" panose="020F0502020204030204" pitchFamily="34" charset="0"/>
              </a:rPr>
              <a:t>Article 102 relates to the abuse of market power &amp; has also been extended to cover mergers</a:t>
            </a:r>
          </a:p>
          <a:p>
            <a:pPr lvl="1">
              <a:lnSpc>
                <a:spcPct val="100000"/>
              </a:lnSpc>
              <a:spcBef>
                <a:spcPts val="0"/>
              </a:spcBef>
            </a:pPr>
            <a:r>
              <a:rPr lang="en-US" altLang="en-US" sz="2000" dirty="0">
                <a:latin typeface="Calibri" panose="020F0502020204030204" pitchFamily="34" charset="0"/>
                <a:ea typeface="Calibri" panose="020F0502020204030204" pitchFamily="34" charset="0"/>
                <a:cs typeface="Calibri" panose="020F0502020204030204" pitchFamily="34" charset="0"/>
              </a:rPr>
              <a:t>First, the European Commission (EC) has to define the relevant market</a:t>
            </a:r>
          </a:p>
          <a:p>
            <a:pPr lvl="2">
              <a:lnSpc>
                <a:spcPct val="100000"/>
              </a:lnSpc>
              <a:spcBef>
                <a:spcPts val="0"/>
              </a:spcBef>
            </a:pPr>
            <a:r>
              <a:rPr lang="en-US" altLang="en-US" sz="1900" dirty="0">
                <a:latin typeface="Calibri" panose="020F0502020204030204" pitchFamily="34" charset="0"/>
                <a:ea typeface="Calibri" panose="020F0502020204030204" pitchFamily="34" charset="0"/>
                <a:cs typeface="Calibri" panose="020F0502020204030204" pitchFamily="34" charset="0"/>
              </a:rPr>
              <a:t>i.e., identify which products and suppliers are close substitutes for one another. </a:t>
            </a:r>
          </a:p>
          <a:p>
            <a:pPr lvl="2">
              <a:lnSpc>
                <a:spcPct val="100000"/>
              </a:lnSpc>
              <a:spcBef>
                <a:spcPts val="0"/>
              </a:spcBef>
            </a:pPr>
            <a:r>
              <a:rPr lang="en-US" altLang="en-US" sz="1900" dirty="0">
                <a:latin typeface="Calibri" panose="020F0502020204030204" pitchFamily="34" charset="0"/>
                <a:ea typeface="Calibri" panose="020F0502020204030204" pitchFamily="34" charset="0"/>
                <a:cs typeface="Calibri" panose="020F0502020204030204" pitchFamily="34" charset="0"/>
              </a:rPr>
              <a:t>It has to decide if the firm has a dominant position in the market by looking at factors such as market shares, the position of competitors, the bargaining strength of customers, etc.</a:t>
            </a:r>
          </a:p>
          <a:p>
            <a:pPr lvl="1">
              <a:lnSpc>
                <a:spcPct val="100000"/>
              </a:lnSpc>
              <a:spcBef>
                <a:spcPts val="0"/>
              </a:spcBef>
            </a:pPr>
            <a:r>
              <a:rPr lang="en-GB" altLang="en-US" sz="2000" dirty="0">
                <a:latin typeface="Calibri" panose="020F0502020204030204" pitchFamily="34" charset="0"/>
                <a:ea typeface="Calibri" panose="020F0502020204030204" pitchFamily="34" charset="0"/>
                <a:cs typeface="Calibri" panose="020F0502020204030204" pitchFamily="34" charset="0"/>
              </a:rPr>
              <a:t>Second, if the evidence confirms that the firm does have a dominant position, the EC then assesses whether the firm is using its market power to restrict competition.</a:t>
            </a:r>
          </a:p>
          <a:p>
            <a:pPr lvl="1">
              <a:lnSpc>
                <a:spcPct val="100000"/>
              </a:lnSpc>
              <a:spcBef>
                <a:spcPts val="0"/>
              </a:spcBef>
            </a:pP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spcBef>
                <a:spcPts val="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Practices can be banned, and firms fined</a:t>
            </a:r>
          </a:p>
          <a:p>
            <a:pPr lvl="1">
              <a:lnSpc>
                <a:spcPct val="100000"/>
              </a:lnSpc>
              <a:spcBef>
                <a:spcPts val="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business must prove that its conduct meets the following conditions:</a:t>
            </a:r>
          </a:p>
          <a:p>
            <a:pPr lvl="2">
              <a:lnSpc>
                <a:spcPct val="100000"/>
              </a:lnSpc>
              <a:spcBef>
                <a:spcPts val="0"/>
              </a:spcBef>
            </a:pPr>
            <a:r>
              <a:rPr lang="en-GB" sz="1900" dirty="0">
                <a:latin typeface="Calibri" panose="020F0502020204030204" pitchFamily="34" charset="0"/>
                <a:ea typeface="Calibri" panose="020F0502020204030204" pitchFamily="34" charset="0"/>
                <a:cs typeface="Calibri" panose="020F0502020204030204" pitchFamily="34" charset="0"/>
              </a:rPr>
              <a:t>any efficiencies are the direct result of the exclusionary conduct</a:t>
            </a:r>
          </a:p>
          <a:p>
            <a:pPr lvl="2">
              <a:lnSpc>
                <a:spcPct val="100000"/>
              </a:lnSpc>
              <a:spcBef>
                <a:spcPts val="0"/>
              </a:spcBef>
            </a:pPr>
            <a:r>
              <a:rPr lang="en-GB" sz="1900" dirty="0">
                <a:latin typeface="Calibri" panose="020F0502020204030204" pitchFamily="34" charset="0"/>
                <a:ea typeface="Calibri" panose="020F0502020204030204" pitchFamily="34" charset="0"/>
                <a:cs typeface="Calibri" panose="020F0502020204030204" pitchFamily="34" charset="0"/>
              </a:rPr>
              <a:t>the same efficiencies could not be achieved by the firm being less anti-competitive</a:t>
            </a:r>
          </a:p>
          <a:p>
            <a:pPr lvl="2">
              <a:lnSpc>
                <a:spcPct val="100000"/>
              </a:lnSpc>
              <a:spcBef>
                <a:spcPts val="0"/>
              </a:spcBef>
            </a:pPr>
            <a:r>
              <a:rPr lang="en-GB" sz="1900" dirty="0">
                <a:latin typeface="Calibri" panose="020F0502020204030204" pitchFamily="34" charset="0"/>
                <a:ea typeface="Calibri" panose="020F0502020204030204" pitchFamily="34" charset="0"/>
                <a:cs typeface="Calibri" panose="020F0502020204030204" pitchFamily="34" charset="0"/>
              </a:rPr>
              <a:t>the efficiencies produced outweigh any of its negative effects</a:t>
            </a:r>
          </a:p>
          <a:p>
            <a:pPr lvl="2">
              <a:lnSpc>
                <a:spcPct val="100000"/>
              </a:lnSpc>
              <a:spcBef>
                <a:spcPts val="0"/>
              </a:spcBef>
            </a:pPr>
            <a:r>
              <a:rPr lang="en-GB" sz="1900" dirty="0">
                <a:latin typeface="Calibri" panose="020F0502020204030204" pitchFamily="34" charset="0"/>
                <a:ea typeface="Calibri" panose="020F0502020204030204" pitchFamily="34" charset="0"/>
                <a:cs typeface="Calibri" panose="020F0502020204030204" pitchFamily="34" charset="0"/>
              </a:rPr>
              <a:t>the conduct does not result in removal of competition in the market</a:t>
            </a:r>
          </a:p>
          <a:p>
            <a:pPr lvl="2">
              <a:lnSpc>
                <a:spcPct val="100000"/>
              </a:lnSpc>
              <a:spcBef>
                <a:spcPts val="0"/>
              </a:spcBef>
            </a:pPr>
            <a:endParaRPr lang="en-GB" altLang="en-US" dirty="0"/>
          </a:p>
        </p:txBody>
      </p:sp>
    </p:spTree>
    <p:extLst>
      <p:ext uri="{BB962C8B-B14F-4D97-AF65-F5344CB8AC3E}">
        <p14:creationId xmlns:p14="http://schemas.microsoft.com/office/powerpoint/2010/main" val="24235285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2194">
                                            <p:txEl>
                                              <p:pRg st="0" end="0"/>
                                            </p:txEl>
                                          </p:spTgt>
                                        </p:tgtEl>
                                        <p:attrNameLst>
                                          <p:attrName>style.visibility</p:attrName>
                                        </p:attrNameLst>
                                      </p:cBhvr>
                                      <p:to>
                                        <p:strVal val="visible"/>
                                      </p:to>
                                    </p:set>
                                    <p:anim calcmode="lin" valueType="num">
                                      <p:cBhvr additive="base">
                                        <p:cTn id="7" dur="500"/>
                                        <p:tgtEl>
                                          <p:spTgt spid="392194">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2194">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2194">
                                            <p:txEl>
                                              <p:pRg st="1" end="1"/>
                                            </p:txEl>
                                          </p:spTgt>
                                        </p:tgtEl>
                                        <p:attrNameLst>
                                          <p:attrName>style.visibility</p:attrName>
                                        </p:attrNameLst>
                                      </p:cBhvr>
                                      <p:to>
                                        <p:strVal val="visible"/>
                                      </p:to>
                                    </p:set>
                                    <p:anim calcmode="lin" valueType="num">
                                      <p:cBhvr additive="base">
                                        <p:cTn id="13" dur="500"/>
                                        <p:tgtEl>
                                          <p:spTgt spid="392194">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219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2194">
                                            <p:txEl>
                                              <p:pRg st="2" end="2"/>
                                            </p:txEl>
                                          </p:spTgt>
                                        </p:tgtEl>
                                        <p:attrNameLst>
                                          <p:attrName>style.visibility</p:attrName>
                                        </p:attrNameLst>
                                      </p:cBhvr>
                                      <p:to>
                                        <p:strVal val="visible"/>
                                      </p:to>
                                    </p:set>
                                    <p:anim calcmode="lin" valueType="num">
                                      <p:cBhvr additive="base">
                                        <p:cTn id="19" dur="500"/>
                                        <p:tgtEl>
                                          <p:spTgt spid="392194">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219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2194">
                                            <p:txEl>
                                              <p:pRg st="3" end="3"/>
                                            </p:txEl>
                                          </p:spTgt>
                                        </p:tgtEl>
                                        <p:attrNameLst>
                                          <p:attrName>style.visibility</p:attrName>
                                        </p:attrNameLst>
                                      </p:cBhvr>
                                      <p:to>
                                        <p:strVal val="visible"/>
                                      </p:to>
                                    </p:set>
                                    <p:anim calcmode="lin" valueType="num">
                                      <p:cBhvr additive="base">
                                        <p:cTn id="25" dur="500"/>
                                        <p:tgtEl>
                                          <p:spTgt spid="392194">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2194">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2194">
                                            <p:txEl>
                                              <p:pRg st="4" end="4"/>
                                            </p:txEl>
                                          </p:spTgt>
                                        </p:tgtEl>
                                        <p:attrNameLst>
                                          <p:attrName>style.visibility</p:attrName>
                                        </p:attrNameLst>
                                      </p:cBhvr>
                                      <p:to>
                                        <p:strVal val="visible"/>
                                      </p:to>
                                    </p:set>
                                    <p:anim calcmode="lin" valueType="num">
                                      <p:cBhvr additive="base">
                                        <p:cTn id="31" dur="500"/>
                                        <p:tgtEl>
                                          <p:spTgt spid="392194">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219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2194">
                                            <p:txEl>
                                              <p:pRg st="5" end="5"/>
                                            </p:txEl>
                                          </p:spTgt>
                                        </p:tgtEl>
                                        <p:attrNameLst>
                                          <p:attrName>style.visibility</p:attrName>
                                        </p:attrNameLst>
                                      </p:cBhvr>
                                      <p:to>
                                        <p:strVal val="visible"/>
                                      </p:to>
                                    </p:set>
                                    <p:anim calcmode="lin" valueType="num">
                                      <p:cBhvr additive="base">
                                        <p:cTn id="37" dur="500"/>
                                        <p:tgtEl>
                                          <p:spTgt spid="392194">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2194">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2194">
                                            <p:txEl>
                                              <p:pRg st="7" end="7"/>
                                            </p:txEl>
                                          </p:spTgt>
                                        </p:tgtEl>
                                        <p:attrNameLst>
                                          <p:attrName>style.visibility</p:attrName>
                                        </p:attrNameLst>
                                      </p:cBhvr>
                                      <p:to>
                                        <p:strVal val="visible"/>
                                      </p:to>
                                    </p:set>
                                    <p:anim calcmode="lin" valueType="num">
                                      <p:cBhvr additive="base">
                                        <p:cTn id="43" dur="500"/>
                                        <p:tgtEl>
                                          <p:spTgt spid="392194">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2194">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2194">
                                            <p:txEl>
                                              <p:pRg st="8" end="8"/>
                                            </p:txEl>
                                          </p:spTgt>
                                        </p:tgtEl>
                                        <p:attrNameLst>
                                          <p:attrName>style.visibility</p:attrName>
                                        </p:attrNameLst>
                                      </p:cBhvr>
                                      <p:to>
                                        <p:strVal val="visible"/>
                                      </p:to>
                                    </p:set>
                                    <p:anim calcmode="lin" valueType="num">
                                      <p:cBhvr additive="base">
                                        <p:cTn id="49" dur="500"/>
                                        <p:tgtEl>
                                          <p:spTgt spid="392194">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2194">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92194">
                                            <p:txEl>
                                              <p:pRg st="9" end="9"/>
                                            </p:txEl>
                                          </p:spTgt>
                                        </p:tgtEl>
                                        <p:attrNameLst>
                                          <p:attrName>style.visibility</p:attrName>
                                        </p:attrNameLst>
                                      </p:cBhvr>
                                      <p:to>
                                        <p:strVal val="visible"/>
                                      </p:to>
                                    </p:set>
                                    <p:anim calcmode="lin" valueType="num">
                                      <p:cBhvr additive="base">
                                        <p:cTn id="55" dur="500"/>
                                        <p:tgtEl>
                                          <p:spTgt spid="392194">
                                            <p:txEl>
                                              <p:pRg st="9" end="9"/>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92194">
                                            <p:txEl>
                                              <p:pRg st="9" end="9"/>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92194">
                                            <p:txEl>
                                              <p:pRg st="10" end="10"/>
                                            </p:txEl>
                                          </p:spTgt>
                                        </p:tgtEl>
                                        <p:attrNameLst>
                                          <p:attrName>style.visibility</p:attrName>
                                        </p:attrNameLst>
                                      </p:cBhvr>
                                      <p:to>
                                        <p:strVal val="visible"/>
                                      </p:to>
                                    </p:set>
                                    <p:anim calcmode="lin" valueType="num">
                                      <p:cBhvr additive="base">
                                        <p:cTn id="61" dur="500"/>
                                        <p:tgtEl>
                                          <p:spTgt spid="392194">
                                            <p:txEl>
                                              <p:pRg st="10" end="10"/>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92194">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392194">
                                            <p:txEl>
                                              <p:pRg st="11" end="11"/>
                                            </p:txEl>
                                          </p:spTgt>
                                        </p:tgtEl>
                                        <p:attrNameLst>
                                          <p:attrName>style.visibility</p:attrName>
                                        </p:attrNameLst>
                                      </p:cBhvr>
                                      <p:to>
                                        <p:strVal val="visible"/>
                                      </p:to>
                                    </p:set>
                                    <p:anim calcmode="lin" valueType="num">
                                      <p:cBhvr additive="base">
                                        <p:cTn id="67" dur="500"/>
                                        <p:tgtEl>
                                          <p:spTgt spid="392194">
                                            <p:txEl>
                                              <p:pRg st="11" end="11"/>
                                            </p:txEl>
                                          </p:spTgt>
                                        </p:tgtEl>
                                        <p:attrNameLst>
                                          <p:attrName>ppt_y</p:attrName>
                                        </p:attrNameLst>
                                      </p:cBhvr>
                                      <p:tavLst>
                                        <p:tav tm="0">
                                          <p:val>
                                            <p:strVal val="#ppt_y+#ppt_h*1.125000"/>
                                          </p:val>
                                        </p:tav>
                                        <p:tav tm="100000">
                                          <p:val>
                                            <p:strVal val="#ppt_y"/>
                                          </p:val>
                                        </p:tav>
                                      </p:tavLst>
                                    </p:anim>
                                    <p:animEffect transition="in" filter="wipe(up)">
                                      <p:cBhvr>
                                        <p:cTn id="68" dur="500"/>
                                        <p:tgtEl>
                                          <p:spTgt spid="392194">
                                            <p:txEl>
                                              <p:pRg st="11" end="1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392194">
                                            <p:txEl>
                                              <p:pRg st="12" end="12"/>
                                            </p:txEl>
                                          </p:spTgt>
                                        </p:tgtEl>
                                        <p:attrNameLst>
                                          <p:attrName>style.visibility</p:attrName>
                                        </p:attrNameLst>
                                      </p:cBhvr>
                                      <p:to>
                                        <p:strVal val="visible"/>
                                      </p:to>
                                    </p:set>
                                    <p:anim calcmode="lin" valueType="num">
                                      <p:cBhvr additive="base">
                                        <p:cTn id="73" dur="500"/>
                                        <p:tgtEl>
                                          <p:spTgt spid="392194">
                                            <p:txEl>
                                              <p:pRg st="12" end="12"/>
                                            </p:txEl>
                                          </p:spTgt>
                                        </p:tgtEl>
                                        <p:attrNameLst>
                                          <p:attrName>ppt_y</p:attrName>
                                        </p:attrNameLst>
                                      </p:cBhvr>
                                      <p:tavLst>
                                        <p:tav tm="0">
                                          <p:val>
                                            <p:strVal val="#ppt_y+#ppt_h*1.125000"/>
                                          </p:val>
                                        </p:tav>
                                        <p:tav tm="100000">
                                          <p:val>
                                            <p:strVal val="#ppt_y"/>
                                          </p:val>
                                        </p:tav>
                                      </p:tavLst>
                                    </p:anim>
                                    <p:animEffect transition="in" filter="wipe(up)">
                                      <p:cBhvr>
                                        <p:cTn id="74" dur="500"/>
                                        <p:tgtEl>
                                          <p:spTgt spid="39219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4" grpId="0" build="p" bldLvl="3"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4243" name="Rectangle 3">
            <a:extLst>
              <a:ext uri="{FF2B5EF4-FFF2-40B4-BE49-F238E27FC236}">
                <a16:creationId xmlns:a16="http://schemas.microsoft.com/office/drawing/2014/main" id="{E944E9E7-87E0-49FB-B032-EF0D0BBB6C03}"/>
              </a:ext>
            </a:extLst>
          </p:cNvPr>
          <p:cNvSpPr>
            <a:spLocks noGrp="1"/>
          </p:cNvSpPr>
          <p:nvPr>
            <p:ph type="title"/>
          </p:nvPr>
        </p:nvSpPr>
        <p:spPr>
          <a:noFill/>
          <a:ln/>
        </p:spPr>
        <p:txBody>
          <a:bodyPr/>
          <a:lstStyle/>
          <a:p>
            <a:r>
              <a:rPr lang="en-GB" altLang="en-US" dirty="0"/>
              <a:t>Competition Policy in the EU</a:t>
            </a:r>
          </a:p>
        </p:txBody>
      </p:sp>
      <p:sp>
        <p:nvSpPr>
          <p:cNvPr id="394242" name="Rectangle 2">
            <a:extLst>
              <a:ext uri="{FF2B5EF4-FFF2-40B4-BE49-F238E27FC236}">
                <a16:creationId xmlns:a16="http://schemas.microsoft.com/office/drawing/2014/main" id="{BA6203EA-A493-465C-8CE4-A3EE9F403B10}"/>
              </a:ext>
            </a:extLst>
          </p:cNvPr>
          <p:cNvSpPr>
            <a:spLocks noGrp="1"/>
          </p:cNvSpPr>
          <p:nvPr>
            <p:ph idx="1"/>
          </p:nvPr>
        </p:nvSpPr>
        <p:spPr>
          <a:xfrm>
            <a:off x="402167" y="1306032"/>
            <a:ext cx="11506298" cy="5020339"/>
          </a:xfrm>
        </p:spPr>
        <p:txBody>
          <a:bodyPr>
            <a:normAutofit lnSpcReduction="10000"/>
          </a:bodyPr>
          <a:lstStyle/>
          <a:p>
            <a:pPr>
              <a:lnSpc>
                <a:spcPct val="100000"/>
              </a:lnSpc>
              <a:spcBef>
                <a:spcPts val="3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a:t>
            </a:r>
            <a:r>
              <a:rPr lang="en-US" altLang="en-US" sz="2000" dirty="0">
                <a:latin typeface="Calibri" panose="020F0502020204030204" pitchFamily="34" charset="0"/>
                <a:ea typeface="Calibri" panose="020F0502020204030204" pitchFamily="34" charset="0"/>
                <a:cs typeface="Calibri" panose="020F0502020204030204" pitchFamily="34" charset="0"/>
              </a:rPr>
              <a:t>U merger policy: 2004 regulations</a:t>
            </a:r>
          </a:p>
          <a:p>
            <a:pPr lvl="1">
              <a:lnSpc>
                <a:spcPct val="100000"/>
              </a:lnSpc>
              <a:spcBef>
                <a:spcPts val="3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Prohibited if they would significantly impede competition in the EU</a:t>
            </a:r>
          </a:p>
          <a:p>
            <a:pPr lvl="2">
              <a:lnSpc>
                <a:spcPct val="100000"/>
              </a:lnSpc>
              <a:spcBef>
                <a:spcPts val="3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This could occur through individual dominance (the M&amp;A leads to a strengthening in the market power of one firm) or through collective dominance (the reduction in the number of firms following the M&amp;A makes collusion likely)</a:t>
            </a:r>
          </a:p>
          <a:p>
            <a:pPr lvl="1">
              <a:lnSpc>
                <a:spcPct val="100000"/>
              </a:lnSpc>
              <a:spcBef>
                <a:spcPts val="3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Criteria use to assess if the merger is</a:t>
            </a:r>
          </a:p>
          <a:p>
            <a:pPr lvl="2">
              <a:lnSpc>
                <a:spcPct val="100000"/>
              </a:lnSpc>
              <a:spcBef>
                <a:spcPts val="300"/>
              </a:spcBef>
            </a:pPr>
            <a:r>
              <a:rPr lang="en-GB" altLang="en-US" sz="2000" dirty="0">
                <a:latin typeface="Calibri" panose="020F0502020204030204" pitchFamily="34" charset="0"/>
                <a:ea typeface="Calibri" panose="020F0502020204030204" pitchFamily="34" charset="0"/>
                <a:cs typeface="Calibri" panose="020F0502020204030204" pitchFamily="34" charset="0"/>
              </a:rPr>
              <a:t>Large: turnover thresholds – combined and individual sales thresholds</a:t>
            </a:r>
          </a:p>
          <a:p>
            <a:pPr lvl="2">
              <a:lnSpc>
                <a:spcPct val="100000"/>
              </a:lnSpc>
              <a:spcBef>
                <a:spcPts val="300"/>
              </a:spcBef>
            </a:pPr>
            <a:r>
              <a:rPr lang="en-GB" altLang="en-US" sz="2000" dirty="0">
                <a:latin typeface="Calibri" panose="020F0502020204030204" pitchFamily="34" charset="0"/>
                <a:ea typeface="Calibri" panose="020F0502020204030204" pitchFamily="34" charset="0"/>
                <a:cs typeface="Calibri" panose="020F0502020204030204" pitchFamily="34" charset="0"/>
              </a:rPr>
              <a:t>Has an ‘EU dimension’ – sales value in Member states</a:t>
            </a:r>
          </a:p>
          <a:p>
            <a:pPr lvl="1">
              <a:lnSpc>
                <a:spcPct val="100000"/>
              </a:lnSpc>
              <a:spcBef>
                <a:spcPts val="300"/>
              </a:spcBef>
            </a:pPr>
            <a:r>
              <a:rPr lang="en-GB" altLang="en-US" sz="2000" dirty="0">
                <a:latin typeface="Calibri" panose="020F0502020204030204" pitchFamily="34" charset="0"/>
                <a:ea typeface="Calibri" panose="020F0502020204030204" pitchFamily="34" charset="0"/>
                <a:cs typeface="Calibri" panose="020F0502020204030204" pitchFamily="34" charset="0"/>
              </a:rPr>
              <a:t>Notification of a merger intention followed by preliminary investigation by the EC (Phase 1)</a:t>
            </a:r>
          </a:p>
          <a:p>
            <a:pPr lvl="2">
              <a:lnSpc>
                <a:spcPct val="100000"/>
              </a:lnSpc>
              <a:spcBef>
                <a:spcPts val="300"/>
              </a:spcBef>
            </a:pPr>
            <a:r>
              <a:rPr lang="en-GB" altLang="en-US" sz="2000" dirty="0">
                <a:latin typeface="Calibri" panose="020F0502020204030204" pitchFamily="34" charset="0"/>
                <a:ea typeface="Calibri" panose="020F0502020204030204" pitchFamily="34" charset="0"/>
                <a:cs typeface="Calibri" panose="020F0502020204030204" pitchFamily="34" charset="0"/>
              </a:rPr>
              <a:t>Over 90% are usually settled and the merger’s allowed to proceed (conditionally or unconditionally) </a:t>
            </a:r>
          </a:p>
          <a:p>
            <a:pPr lvl="1">
              <a:lnSpc>
                <a:spcPct val="100000"/>
              </a:lnSpc>
              <a:spcBef>
                <a:spcPts val="3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 some cases, a more in-depth investigation is required (Phase 2)</a:t>
            </a:r>
          </a:p>
          <a:p>
            <a:pPr lvl="1">
              <a:lnSpc>
                <a:spcPct val="100000"/>
              </a:lnSpc>
              <a:spcBef>
                <a:spcPts val="3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Assessment of the process</a:t>
            </a:r>
          </a:p>
          <a:p>
            <a:pPr lvl="2">
              <a:lnSpc>
                <a:spcPct val="100000"/>
              </a:lnSpc>
              <a:spcBef>
                <a:spcPts val="3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EC too lenient? Since 1990, over 6800 mergers have been notified, but only around 250 referred to Phase 2 and only 27 had been prohibited (as of January 2018)</a:t>
            </a:r>
          </a:p>
        </p:txBody>
      </p:sp>
    </p:spTree>
    <p:extLst>
      <p:ext uri="{BB962C8B-B14F-4D97-AF65-F5344CB8AC3E}">
        <p14:creationId xmlns:p14="http://schemas.microsoft.com/office/powerpoint/2010/main" val="2558891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4242">
                                            <p:txEl>
                                              <p:pRg st="0" end="0"/>
                                            </p:txEl>
                                          </p:spTgt>
                                        </p:tgtEl>
                                        <p:attrNameLst>
                                          <p:attrName>style.visibility</p:attrName>
                                        </p:attrNameLst>
                                      </p:cBhvr>
                                      <p:to>
                                        <p:strVal val="visible"/>
                                      </p:to>
                                    </p:set>
                                    <p:anim calcmode="lin" valueType="num">
                                      <p:cBhvr additive="base">
                                        <p:cTn id="7" dur="500"/>
                                        <p:tgtEl>
                                          <p:spTgt spid="394242">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4242">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4242">
                                            <p:txEl>
                                              <p:pRg st="1" end="1"/>
                                            </p:txEl>
                                          </p:spTgt>
                                        </p:tgtEl>
                                        <p:attrNameLst>
                                          <p:attrName>style.visibility</p:attrName>
                                        </p:attrNameLst>
                                      </p:cBhvr>
                                      <p:to>
                                        <p:strVal val="visible"/>
                                      </p:to>
                                    </p:set>
                                    <p:anim calcmode="lin" valueType="num">
                                      <p:cBhvr additive="base">
                                        <p:cTn id="13" dur="500"/>
                                        <p:tgtEl>
                                          <p:spTgt spid="394242">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424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4242">
                                            <p:txEl>
                                              <p:pRg st="2" end="2"/>
                                            </p:txEl>
                                          </p:spTgt>
                                        </p:tgtEl>
                                        <p:attrNameLst>
                                          <p:attrName>style.visibility</p:attrName>
                                        </p:attrNameLst>
                                      </p:cBhvr>
                                      <p:to>
                                        <p:strVal val="visible"/>
                                      </p:to>
                                    </p:set>
                                    <p:anim calcmode="lin" valueType="num">
                                      <p:cBhvr additive="base">
                                        <p:cTn id="19" dur="500"/>
                                        <p:tgtEl>
                                          <p:spTgt spid="394242">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4242">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4242">
                                            <p:txEl>
                                              <p:pRg st="3" end="3"/>
                                            </p:txEl>
                                          </p:spTgt>
                                        </p:tgtEl>
                                        <p:attrNameLst>
                                          <p:attrName>style.visibility</p:attrName>
                                        </p:attrNameLst>
                                      </p:cBhvr>
                                      <p:to>
                                        <p:strVal val="visible"/>
                                      </p:to>
                                    </p:set>
                                    <p:anim calcmode="lin" valueType="num">
                                      <p:cBhvr additive="base">
                                        <p:cTn id="25" dur="500"/>
                                        <p:tgtEl>
                                          <p:spTgt spid="394242">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4242">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4242">
                                            <p:txEl>
                                              <p:pRg st="4" end="4"/>
                                            </p:txEl>
                                          </p:spTgt>
                                        </p:tgtEl>
                                        <p:attrNameLst>
                                          <p:attrName>style.visibility</p:attrName>
                                        </p:attrNameLst>
                                      </p:cBhvr>
                                      <p:to>
                                        <p:strVal val="visible"/>
                                      </p:to>
                                    </p:set>
                                    <p:anim calcmode="lin" valueType="num">
                                      <p:cBhvr additive="base">
                                        <p:cTn id="31" dur="500"/>
                                        <p:tgtEl>
                                          <p:spTgt spid="394242">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4242">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4242">
                                            <p:txEl>
                                              <p:pRg st="5" end="5"/>
                                            </p:txEl>
                                          </p:spTgt>
                                        </p:tgtEl>
                                        <p:attrNameLst>
                                          <p:attrName>style.visibility</p:attrName>
                                        </p:attrNameLst>
                                      </p:cBhvr>
                                      <p:to>
                                        <p:strVal val="visible"/>
                                      </p:to>
                                    </p:set>
                                    <p:anim calcmode="lin" valueType="num">
                                      <p:cBhvr additive="base">
                                        <p:cTn id="37" dur="500"/>
                                        <p:tgtEl>
                                          <p:spTgt spid="394242">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4242">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4242">
                                            <p:txEl>
                                              <p:pRg st="6" end="6"/>
                                            </p:txEl>
                                          </p:spTgt>
                                        </p:tgtEl>
                                        <p:attrNameLst>
                                          <p:attrName>style.visibility</p:attrName>
                                        </p:attrNameLst>
                                      </p:cBhvr>
                                      <p:to>
                                        <p:strVal val="visible"/>
                                      </p:to>
                                    </p:set>
                                    <p:anim calcmode="lin" valueType="num">
                                      <p:cBhvr additive="base">
                                        <p:cTn id="43" dur="500"/>
                                        <p:tgtEl>
                                          <p:spTgt spid="394242">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4242">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4242">
                                            <p:txEl>
                                              <p:pRg st="7" end="7"/>
                                            </p:txEl>
                                          </p:spTgt>
                                        </p:tgtEl>
                                        <p:attrNameLst>
                                          <p:attrName>style.visibility</p:attrName>
                                        </p:attrNameLst>
                                      </p:cBhvr>
                                      <p:to>
                                        <p:strVal val="visible"/>
                                      </p:to>
                                    </p:set>
                                    <p:anim calcmode="lin" valueType="num">
                                      <p:cBhvr additive="base">
                                        <p:cTn id="49" dur="500"/>
                                        <p:tgtEl>
                                          <p:spTgt spid="394242">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4242">
                                            <p:txEl>
                                              <p:pRg st="7" end="7"/>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94242">
                                            <p:txEl>
                                              <p:pRg st="8" end="8"/>
                                            </p:txEl>
                                          </p:spTgt>
                                        </p:tgtEl>
                                        <p:attrNameLst>
                                          <p:attrName>style.visibility</p:attrName>
                                        </p:attrNameLst>
                                      </p:cBhvr>
                                      <p:to>
                                        <p:strVal val="visible"/>
                                      </p:to>
                                    </p:set>
                                    <p:anim calcmode="lin" valueType="num">
                                      <p:cBhvr additive="base">
                                        <p:cTn id="55" dur="500"/>
                                        <p:tgtEl>
                                          <p:spTgt spid="394242">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94242">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94242">
                                            <p:txEl>
                                              <p:pRg st="9" end="9"/>
                                            </p:txEl>
                                          </p:spTgt>
                                        </p:tgtEl>
                                        <p:attrNameLst>
                                          <p:attrName>style.visibility</p:attrName>
                                        </p:attrNameLst>
                                      </p:cBhvr>
                                      <p:to>
                                        <p:strVal val="visible"/>
                                      </p:to>
                                    </p:set>
                                    <p:anim calcmode="lin" valueType="num">
                                      <p:cBhvr additive="base">
                                        <p:cTn id="61" dur="500"/>
                                        <p:tgtEl>
                                          <p:spTgt spid="394242">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94242">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394242">
                                            <p:txEl>
                                              <p:pRg st="10" end="10"/>
                                            </p:txEl>
                                          </p:spTgt>
                                        </p:tgtEl>
                                        <p:attrNameLst>
                                          <p:attrName>style.visibility</p:attrName>
                                        </p:attrNameLst>
                                      </p:cBhvr>
                                      <p:to>
                                        <p:strVal val="visible"/>
                                      </p:to>
                                    </p:set>
                                    <p:anim calcmode="lin" valueType="num">
                                      <p:cBhvr additive="base">
                                        <p:cTn id="67" dur="500"/>
                                        <p:tgtEl>
                                          <p:spTgt spid="394242">
                                            <p:txEl>
                                              <p:pRg st="10" end="10"/>
                                            </p:txEl>
                                          </p:spTgt>
                                        </p:tgtEl>
                                        <p:attrNameLst>
                                          <p:attrName>ppt_y</p:attrName>
                                        </p:attrNameLst>
                                      </p:cBhvr>
                                      <p:tavLst>
                                        <p:tav tm="0">
                                          <p:val>
                                            <p:strVal val="#ppt_y+#ppt_h*1.125000"/>
                                          </p:val>
                                        </p:tav>
                                        <p:tav tm="100000">
                                          <p:val>
                                            <p:strVal val="#ppt_y"/>
                                          </p:val>
                                        </p:tav>
                                      </p:tavLst>
                                    </p:anim>
                                    <p:animEffect transition="in" filter="wipe(up)">
                                      <p:cBhvr>
                                        <p:cTn id="68" dur="500"/>
                                        <p:tgtEl>
                                          <p:spTgt spid="39424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2" grpId="0" build="p" bldLvl="3"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7" name="Rectangle 7">
            <a:extLst>
              <a:ext uri="{FF2B5EF4-FFF2-40B4-BE49-F238E27FC236}">
                <a16:creationId xmlns:a16="http://schemas.microsoft.com/office/drawing/2014/main" id="{93AFBD28-8E7A-4CBF-BF76-91A5DEB4B71E}"/>
              </a:ext>
            </a:extLst>
          </p:cNvPr>
          <p:cNvSpPr>
            <a:spLocks noGrp="1"/>
          </p:cNvSpPr>
          <p:nvPr>
            <p:ph type="title"/>
          </p:nvPr>
        </p:nvSpPr>
        <p:spPr>
          <a:noFill/>
          <a:ln/>
        </p:spPr>
        <p:txBody>
          <a:bodyPr/>
          <a:lstStyle/>
          <a:p>
            <a:r>
              <a:rPr lang="en-GB" altLang="en-US" dirty="0"/>
              <a:t>Competition Policy in the UK</a:t>
            </a:r>
          </a:p>
        </p:txBody>
      </p:sp>
      <p:sp>
        <p:nvSpPr>
          <p:cNvPr id="373763" name="Rectangle 3">
            <a:extLst>
              <a:ext uri="{FF2B5EF4-FFF2-40B4-BE49-F238E27FC236}">
                <a16:creationId xmlns:a16="http://schemas.microsoft.com/office/drawing/2014/main" id="{0C6155B9-BBB1-4F16-A860-DD7A98F1F201}"/>
              </a:ext>
            </a:extLst>
          </p:cNvPr>
          <p:cNvSpPr>
            <a:spLocks noGrp="1"/>
          </p:cNvSpPr>
          <p:nvPr>
            <p:ph idx="1"/>
          </p:nvPr>
        </p:nvSpPr>
        <p:spPr/>
        <p:txBody>
          <a:bodyPr/>
          <a:lstStyle/>
          <a:p>
            <a:pPr>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UK competition policy</a:t>
            </a:r>
          </a:p>
          <a:p>
            <a:pPr lvl="1">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1998 Competition Act brought UK in line with EU policy. The Act has two key sets (or ‘chapters’) of prohibitions</a:t>
            </a:r>
          </a:p>
          <a:p>
            <a:pPr lvl="2">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Chapter 1 mirrors Article 101</a:t>
            </a:r>
          </a:p>
          <a:p>
            <a:pPr lvl="2">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Chapter 2 mirrors Article 102</a:t>
            </a:r>
          </a:p>
          <a:p>
            <a:pPr lvl="1">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2002 Enterprise Act and 2013 Enterprise and Regulatory Reform Act also influence the current approach</a:t>
            </a:r>
          </a:p>
          <a:p>
            <a:pPr lvl="1">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hlinkClick r:id="rId3"/>
              </a:rPr>
              <a:t>Competition and Markets Authority</a:t>
            </a:r>
            <a:r>
              <a:rPr lang="en-GB" altLang="en-US" sz="2000" dirty="0">
                <a:latin typeface="Calibri" panose="020F0502020204030204" pitchFamily="34" charset="0"/>
                <a:ea typeface="Calibri" panose="020F0502020204030204" pitchFamily="34" charset="0"/>
                <a:cs typeface="Calibri" panose="020F0502020204030204" pitchFamily="34" charset="0"/>
              </a:rPr>
              <a:t> (CMA) established in 2014 to replace the OFT and the CC</a:t>
            </a:r>
          </a:p>
          <a:p>
            <a:pPr marL="457200" lvl="1" indent="0">
              <a:spcBef>
                <a:spcPct val="60000"/>
              </a:spcBef>
              <a:buNone/>
            </a:pPr>
            <a:endParaRPr lang="en-GB" altLang="en-US" sz="2000" dirty="0"/>
          </a:p>
        </p:txBody>
      </p:sp>
    </p:spTree>
    <p:extLst>
      <p:ext uri="{BB962C8B-B14F-4D97-AF65-F5344CB8AC3E}">
        <p14:creationId xmlns:p14="http://schemas.microsoft.com/office/powerpoint/2010/main" val="39470160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373767"/>
                                        </p:tgtEl>
                                        <p:attrNameLst>
                                          <p:attrName>style.visibility</p:attrName>
                                        </p:attrNameLst>
                                      </p:cBhvr>
                                      <p:to>
                                        <p:strVal val="visible"/>
                                      </p:to>
                                    </p:set>
                                    <p:anim calcmode="lin" valueType="num">
                                      <p:cBhvr>
                                        <p:cTn id="7" dur="500" fill="hold"/>
                                        <p:tgtEl>
                                          <p:spTgt spid="373767"/>
                                        </p:tgtEl>
                                        <p:attrNameLst>
                                          <p:attrName>ppt_w</p:attrName>
                                        </p:attrNameLst>
                                      </p:cBhvr>
                                      <p:tavLst>
                                        <p:tav tm="0">
                                          <p:val>
                                            <p:strVal val="2/3*#ppt_w"/>
                                          </p:val>
                                        </p:tav>
                                        <p:tav tm="100000">
                                          <p:val>
                                            <p:strVal val="#ppt_w"/>
                                          </p:val>
                                        </p:tav>
                                      </p:tavLst>
                                    </p:anim>
                                    <p:anim calcmode="lin" valueType="num">
                                      <p:cBhvr>
                                        <p:cTn id="8" dur="500" fill="hold"/>
                                        <p:tgtEl>
                                          <p:spTgt spid="373767"/>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3763">
                                            <p:txEl>
                                              <p:pRg st="0" end="0"/>
                                            </p:txEl>
                                          </p:spTgt>
                                        </p:tgtEl>
                                        <p:attrNameLst>
                                          <p:attrName>style.visibility</p:attrName>
                                        </p:attrNameLst>
                                      </p:cBhvr>
                                      <p:to>
                                        <p:strVal val="visible"/>
                                      </p:to>
                                    </p:set>
                                    <p:anim calcmode="lin" valueType="num">
                                      <p:cBhvr additive="base">
                                        <p:cTn id="13" dur="500"/>
                                        <p:tgtEl>
                                          <p:spTgt spid="373763">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3763">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3763">
                                            <p:txEl>
                                              <p:pRg st="1" end="1"/>
                                            </p:txEl>
                                          </p:spTgt>
                                        </p:tgtEl>
                                        <p:attrNameLst>
                                          <p:attrName>style.visibility</p:attrName>
                                        </p:attrNameLst>
                                      </p:cBhvr>
                                      <p:to>
                                        <p:strVal val="visible"/>
                                      </p:to>
                                    </p:set>
                                    <p:anim calcmode="lin" valueType="num">
                                      <p:cBhvr additive="base">
                                        <p:cTn id="19" dur="500"/>
                                        <p:tgtEl>
                                          <p:spTgt spid="373763">
                                            <p:txEl>
                                              <p:pRg st="1" end="1"/>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376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3763">
                                            <p:txEl>
                                              <p:pRg st="2" end="2"/>
                                            </p:txEl>
                                          </p:spTgt>
                                        </p:tgtEl>
                                        <p:attrNameLst>
                                          <p:attrName>style.visibility</p:attrName>
                                        </p:attrNameLst>
                                      </p:cBhvr>
                                      <p:to>
                                        <p:strVal val="visible"/>
                                      </p:to>
                                    </p:set>
                                    <p:anim calcmode="lin" valueType="num">
                                      <p:cBhvr additive="base">
                                        <p:cTn id="25" dur="500"/>
                                        <p:tgtEl>
                                          <p:spTgt spid="373763">
                                            <p:txEl>
                                              <p:pRg st="2" end="2"/>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376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3763">
                                            <p:txEl>
                                              <p:pRg st="3" end="3"/>
                                            </p:txEl>
                                          </p:spTgt>
                                        </p:tgtEl>
                                        <p:attrNameLst>
                                          <p:attrName>style.visibility</p:attrName>
                                        </p:attrNameLst>
                                      </p:cBhvr>
                                      <p:to>
                                        <p:strVal val="visible"/>
                                      </p:to>
                                    </p:set>
                                    <p:anim calcmode="lin" valueType="num">
                                      <p:cBhvr additive="base">
                                        <p:cTn id="31" dur="500"/>
                                        <p:tgtEl>
                                          <p:spTgt spid="373763">
                                            <p:txEl>
                                              <p:pRg st="3" end="3"/>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376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3763">
                                            <p:txEl>
                                              <p:pRg st="4" end="4"/>
                                            </p:txEl>
                                          </p:spTgt>
                                        </p:tgtEl>
                                        <p:attrNameLst>
                                          <p:attrName>style.visibility</p:attrName>
                                        </p:attrNameLst>
                                      </p:cBhvr>
                                      <p:to>
                                        <p:strVal val="visible"/>
                                      </p:to>
                                    </p:set>
                                    <p:anim calcmode="lin" valueType="num">
                                      <p:cBhvr additive="base">
                                        <p:cTn id="37" dur="500"/>
                                        <p:tgtEl>
                                          <p:spTgt spid="373763">
                                            <p:txEl>
                                              <p:pRg st="4" end="4"/>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3763">
                                            <p:txEl>
                                              <p:pRg st="4" end="4"/>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3763">
                                            <p:txEl>
                                              <p:pRg st="5" end="5"/>
                                            </p:txEl>
                                          </p:spTgt>
                                        </p:tgtEl>
                                        <p:attrNameLst>
                                          <p:attrName>style.visibility</p:attrName>
                                        </p:attrNameLst>
                                      </p:cBhvr>
                                      <p:to>
                                        <p:strVal val="visible"/>
                                      </p:to>
                                    </p:set>
                                    <p:anim calcmode="lin" valueType="num">
                                      <p:cBhvr additive="base">
                                        <p:cTn id="43" dur="500"/>
                                        <p:tgtEl>
                                          <p:spTgt spid="373763">
                                            <p:txEl>
                                              <p:pRg st="5" end="5"/>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37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7" grpId="0" animBg="1"/>
      <p:bldP spid="373763" grpId="0" build="p" bldLvl="3"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7" name="Rectangle 9">
            <a:extLst>
              <a:ext uri="{FF2B5EF4-FFF2-40B4-BE49-F238E27FC236}">
                <a16:creationId xmlns:a16="http://schemas.microsoft.com/office/drawing/2014/main" id="{40C175DC-DBC1-45EE-B7FD-A84D72FCDD90}"/>
              </a:ext>
            </a:extLst>
          </p:cNvPr>
          <p:cNvSpPr>
            <a:spLocks noGrp="1"/>
          </p:cNvSpPr>
          <p:nvPr>
            <p:ph type="title"/>
          </p:nvPr>
        </p:nvSpPr>
        <p:spPr>
          <a:noFill/>
          <a:ln/>
        </p:spPr>
        <p:txBody>
          <a:bodyPr/>
          <a:lstStyle/>
          <a:p>
            <a:r>
              <a:rPr lang="en-GB" altLang="en-US" dirty="0"/>
              <a:t>Competition Policy in the UK</a:t>
            </a:r>
          </a:p>
        </p:txBody>
      </p:sp>
      <p:sp>
        <p:nvSpPr>
          <p:cNvPr id="375815" name="Rectangle 7">
            <a:extLst>
              <a:ext uri="{FF2B5EF4-FFF2-40B4-BE49-F238E27FC236}">
                <a16:creationId xmlns:a16="http://schemas.microsoft.com/office/drawing/2014/main" id="{89AB67FF-1A7B-4B0C-809D-648539F21ECF}"/>
              </a:ext>
            </a:extLst>
          </p:cNvPr>
          <p:cNvSpPr>
            <a:spLocks noGrp="1"/>
          </p:cNvSpPr>
          <p:nvPr>
            <p:ph idx="1"/>
          </p:nvPr>
        </p:nvSpPr>
        <p:spPr/>
        <p:txBody>
          <a:bodyPr/>
          <a:lstStyle/>
          <a:p>
            <a:pPr>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UK restrictive practices policy</a:t>
            </a:r>
          </a:p>
          <a:p>
            <a:pPr lvl="1">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1998 Act – fines calculated and implemented in a similar way to the EU</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Penalties up to 10% of a firm’s turnover</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Type A, B and C immunity (corresponding to Type 1A, 1B and 2 in EU)</a:t>
            </a:r>
          </a:p>
          <a:p>
            <a:pPr lvl="1">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2002 Act – biggest different created in 2002 Enterprise Act: a criminal offence to engage in cartel agreements in UK</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Only two successful prosecutions between 2002 and 2017</a:t>
            </a:r>
          </a:p>
          <a:p>
            <a:pPr lvl="2">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Authorities have found the policy difficult to implement</a:t>
            </a:r>
          </a:p>
          <a:p>
            <a:pPr lvl="1">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2013 Act – made legal amendments to try to make it easier to bring successful prosecutions</a:t>
            </a:r>
          </a:p>
        </p:txBody>
      </p:sp>
    </p:spTree>
    <p:extLst>
      <p:ext uri="{BB962C8B-B14F-4D97-AF65-F5344CB8AC3E}">
        <p14:creationId xmlns:p14="http://schemas.microsoft.com/office/powerpoint/2010/main" val="14323188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5815">
                                            <p:txEl>
                                              <p:pRg st="0" end="0"/>
                                            </p:txEl>
                                          </p:spTgt>
                                        </p:tgtEl>
                                        <p:attrNameLst>
                                          <p:attrName>style.visibility</p:attrName>
                                        </p:attrNameLst>
                                      </p:cBhvr>
                                      <p:to>
                                        <p:strVal val="visible"/>
                                      </p:to>
                                    </p:set>
                                    <p:anim calcmode="lin" valueType="num">
                                      <p:cBhvr additive="base">
                                        <p:cTn id="7" dur="500"/>
                                        <p:tgtEl>
                                          <p:spTgt spid="3758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5815">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5815">
                                            <p:txEl>
                                              <p:pRg st="1" end="1"/>
                                            </p:txEl>
                                          </p:spTgt>
                                        </p:tgtEl>
                                        <p:attrNameLst>
                                          <p:attrName>style.visibility</p:attrName>
                                        </p:attrNameLst>
                                      </p:cBhvr>
                                      <p:to>
                                        <p:strVal val="visible"/>
                                      </p:to>
                                    </p:set>
                                    <p:anim calcmode="lin" valueType="num">
                                      <p:cBhvr additive="base">
                                        <p:cTn id="13" dur="500"/>
                                        <p:tgtEl>
                                          <p:spTgt spid="37581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5815">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5815">
                                            <p:txEl>
                                              <p:pRg st="2" end="2"/>
                                            </p:txEl>
                                          </p:spTgt>
                                        </p:tgtEl>
                                        <p:attrNameLst>
                                          <p:attrName>style.visibility</p:attrName>
                                        </p:attrNameLst>
                                      </p:cBhvr>
                                      <p:to>
                                        <p:strVal val="visible"/>
                                      </p:to>
                                    </p:set>
                                    <p:anim calcmode="lin" valueType="num">
                                      <p:cBhvr additive="base">
                                        <p:cTn id="19" dur="500"/>
                                        <p:tgtEl>
                                          <p:spTgt spid="37581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581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5815">
                                            <p:txEl>
                                              <p:pRg st="3" end="3"/>
                                            </p:txEl>
                                          </p:spTgt>
                                        </p:tgtEl>
                                        <p:attrNameLst>
                                          <p:attrName>style.visibility</p:attrName>
                                        </p:attrNameLst>
                                      </p:cBhvr>
                                      <p:to>
                                        <p:strVal val="visible"/>
                                      </p:to>
                                    </p:set>
                                    <p:anim calcmode="lin" valueType="num">
                                      <p:cBhvr additive="base">
                                        <p:cTn id="25" dur="500"/>
                                        <p:tgtEl>
                                          <p:spTgt spid="37581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5815">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5815">
                                            <p:txEl>
                                              <p:pRg st="4" end="4"/>
                                            </p:txEl>
                                          </p:spTgt>
                                        </p:tgtEl>
                                        <p:attrNameLst>
                                          <p:attrName>style.visibility</p:attrName>
                                        </p:attrNameLst>
                                      </p:cBhvr>
                                      <p:to>
                                        <p:strVal val="visible"/>
                                      </p:to>
                                    </p:set>
                                    <p:anim calcmode="lin" valueType="num">
                                      <p:cBhvr additive="base">
                                        <p:cTn id="31" dur="500"/>
                                        <p:tgtEl>
                                          <p:spTgt spid="375815">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5815">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5815">
                                            <p:txEl>
                                              <p:pRg st="5" end="5"/>
                                            </p:txEl>
                                          </p:spTgt>
                                        </p:tgtEl>
                                        <p:attrNameLst>
                                          <p:attrName>style.visibility</p:attrName>
                                        </p:attrNameLst>
                                      </p:cBhvr>
                                      <p:to>
                                        <p:strVal val="visible"/>
                                      </p:to>
                                    </p:set>
                                    <p:anim calcmode="lin" valueType="num">
                                      <p:cBhvr additive="base">
                                        <p:cTn id="37" dur="500"/>
                                        <p:tgtEl>
                                          <p:spTgt spid="375815">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581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5815">
                                            <p:txEl>
                                              <p:pRg st="6" end="6"/>
                                            </p:txEl>
                                          </p:spTgt>
                                        </p:tgtEl>
                                        <p:attrNameLst>
                                          <p:attrName>style.visibility</p:attrName>
                                        </p:attrNameLst>
                                      </p:cBhvr>
                                      <p:to>
                                        <p:strVal val="visible"/>
                                      </p:to>
                                    </p:set>
                                    <p:anim calcmode="lin" valueType="num">
                                      <p:cBhvr additive="base">
                                        <p:cTn id="43" dur="500"/>
                                        <p:tgtEl>
                                          <p:spTgt spid="375815">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5815">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5815">
                                            <p:txEl>
                                              <p:pRg st="7" end="7"/>
                                            </p:txEl>
                                          </p:spTgt>
                                        </p:tgtEl>
                                        <p:attrNameLst>
                                          <p:attrName>style.visibility</p:attrName>
                                        </p:attrNameLst>
                                      </p:cBhvr>
                                      <p:to>
                                        <p:strVal val="visible"/>
                                      </p:to>
                                    </p:set>
                                    <p:anim calcmode="lin" valueType="num">
                                      <p:cBhvr additive="base">
                                        <p:cTn id="49" dur="500"/>
                                        <p:tgtEl>
                                          <p:spTgt spid="375815">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58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5" grpId="0" build="p" bldLvl="3"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63" name="Rectangle 7">
            <a:extLst>
              <a:ext uri="{FF2B5EF4-FFF2-40B4-BE49-F238E27FC236}">
                <a16:creationId xmlns:a16="http://schemas.microsoft.com/office/drawing/2014/main" id="{A9BB578E-AFC7-42A8-8201-25C1145C196E}"/>
              </a:ext>
            </a:extLst>
          </p:cNvPr>
          <p:cNvSpPr>
            <a:spLocks noGrp="1"/>
          </p:cNvSpPr>
          <p:nvPr>
            <p:ph type="title"/>
          </p:nvPr>
        </p:nvSpPr>
        <p:spPr>
          <a:noFill/>
          <a:ln/>
        </p:spPr>
        <p:txBody>
          <a:bodyPr/>
          <a:lstStyle/>
          <a:p>
            <a:r>
              <a:rPr lang="en-GB" altLang="en-US" dirty="0"/>
              <a:t>Competition Policy in the UK</a:t>
            </a:r>
          </a:p>
        </p:txBody>
      </p:sp>
      <p:sp>
        <p:nvSpPr>
          <p:cNvPr id="377858" name="Rectangle 2">
            <a:extLst>
              <a:ext uri="{FF2B5EF4-FFF2-40B4-BE49-F238E27FC236}">
                <a16:creationId xmlns:a16="http://schemas.microsoft.com/office/drawing/2014/main" id="{6D162CF0-3204-4E3A-9834-F9474087E1BB}"/>
              </a:ext>
            </a:extLst>
          </p:cNvPr>
          <p:cNvSpPr>
            <a:spLocks noGrp="1"/>
          </p:cNvSpPr>
          <p:nvPr>
            <p:ph idx="1"/>
          </p:nvPr>
        </p:nvSpPr>
        <p:spPr>
          <a:xfrm>
            <a:off x="402167" y="1343246"/>
            <a:ext cx="11379200" cy="4889500"/>
          </a:xfrm>
        </p:spPr>
        <p:txBody>
          <a:bodyPr/>
          <a:lstStyle/>
          <a:p>
            <a:pPr>
              <a:lnSpc>
                <a:spcPct val="95000"/>
              </a:lnSpc>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UK monopoly policy</a:t>
            </a:r>
          </a:p>
          <a:p>
            <a:pPr lvl="1">
              <a:lnSpc>
                <a:spcPct val="95000"/>
              </a:lnSpc>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Two stage process (in line with Article 102 of EU policy)</a:t>
            </a:r>
          </a:p>
          <a:p>
            <a:pPr lvl="2">
              <a:lnSpc>
                <a:spcPct val="95000"/>
              </a:lnSpc>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Does a firm have a position of dominance?</a:t>
            </a:r>
          </a:p>
          <a:p>
            <a:pPr lvl="3">
              <a:lnSpc>
                <a:spcPct val="95000"/>
              </a:lnSpc>
              <a:spcBef>
                <a:spcPct val="60000"/>
              </a:spcBef>
            </a:pPr>
            <a:r>
              <a:rPr lang="en-GB" altLang="en-US" dirty="0">
                <a:latin typeface="Calibri" panose="020F0502020204030204" pitchFamily="34" charset="0"/>
                <a:ea typeface="Calibri" panose="020F0502020204030204" pitchFamily="34" charset="0"/>
                <a:cs typeface="Calibri" panose="020F0502020204030204" pitchFamily="34" charset="0"/>
              </a:rPr>
              <a:t>does it have a market share </a:t>
            </a:r>
            <a:r>
              <a:rPr lang="en-GB" altLang="en-US" dirty="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 40%?</a:t>
            </a:r>
          </a:p>
          <a:p>
            <a:pPr lvl="3">
              <a:lnSpc>
                <a:spcPct val="95000"/>
              </a:lnSpc>
              <a:spcBef>
                <a:spcPct val="60000"/>
              </a:spcBef>
            </a:pPr>
            <a:r>
              <a:rPr lang="en-GB" altLang="en-US" dirty="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problems of defining the market</a:t>
            </a:r>
            <a:endParaRPr lang="en-GB" altLang="en-US" dirty="0">
              <a:latin typeface="Calibri" panose="020F0502020204030204" pitchFamily="34" charset="0"/>
              <a:ea typeface="Calibri" panose="020F0502020204030204" pitchFamily="34" charset="0"/>
              <a:cs typeface="Calibri" panose="020F0502020204030204" pitchFamily="34" charset="0"/>
            </a:endParaRPr>
          </a:p>
          <a:p>
            <a:pPr lvl="3">
              <a:lnSpc>
                <a:spcPct val="95000"/>
              </a:lnSpc>
              <a:spcBef>
                <a:spcPct val="60000"/>
              </a:spcBef>
            </a:pPr>
            <a:r>
              <a:rPr lang="en-GB" altLang="en-US" dirty="0">
                <a:latin typeface="Calibri" panose="020F0502020204030204" pitchFamily="34" charset="0"/>
                <a:ea typeface="Calibri" panose="020F0502020204030204" pitchFamily="34" charset="0"/>
                <a:cs typeface="Calibri" panose="020F0502020204030204" pitchFamily="34" charset="0"/>
              </a:rPr>
              <a:t>are there significant barriers to entry?</a:t>
            </a:r>
          </a:p>
          <a:p>
            <a:pPr lvl="2">
              <a:lnSpc>
                <a:spcPct val="95000"/>
              </a:lnSpc>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If yes, then do the firm’s practices constitute an abuse of its position of dominance?</a:t>
            </a:r>
          </a:p>
          <a:p>
            <a:pPr lvl="1">
              <a:lnSpc>
                <a:spcPct val="95000"/>
              </a:lnSpc>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 2016, the CMA judged that the pharmaceutical manufacturer Pfizer and distributor </a:t>
            </a:r>
            <a:r>
              <a:rPr lang="en-GB" altLang="en-US" sz="2000" dirty="0" err="1">
                <a:latin typeface="Calibri" panose="020F0502020204030204" pitchFamily="34" charset="0"/>
                <a:ea typeface="Calibri" panose="020F0502020204030204" pitchFamily="34" charset="0"/>
                <a:cs typeface="Calibri" panose="020F0502020204030204" pitchFamily="34" charset="0"/>
              </a:rPr>
              <a:t>Flyn</a:t>
            </a:r>
            <a:r>
              <a:rPr lang="en-GB" altLang="en-US" sz="2000" dirty="0">
                <a:latin typeface="Calibri" panose="020F0502020204030204" pitchFamily="34" charset="0"/>
                <a:ea typeface="Calibri" panose="020F0502020204030204" pitchFamily="34" charset="0"/>
                <a:cs typeface="Calibri" panose="020F0502020204030204" pitchFamily="34" charset="0"/>
              </a:rPr>
              <a:t> Pharma were guilty of charging excessive and unfair prices for an anti-epilepsy drug.</a:t>
            </a:r>
          </a:p>
          <a:p>
            <a:pPr lvl="2">
              <a:lnSpc>
                <a:spcPct val="95000"/>
              </a:lnSpc>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 2012, the price of a 100mg packet of these tablets was increased from £2.83 to £67.50!</a:t>
            </a:r>
          </a:p>
          <a:p>
            <a:pPr lvl="2">
              <a:lnSpc>
                <a:spcPct val="95000"/>
              </a:lnSpc>
              <a:spcBef>
                <a:spcPct val="600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CMA imposed a record high fine on Pfizer of £84.2 million.</a:t>
            </a:r>
          </a:p>
        </p:txBody>
      </p:sp>
    </p:spTree>
    <p:extLst>
      <p:ext uri="{BB962C8B-B14F-4D97-AF65-F5344CB8AC3E}">
        <p14:creationId xmlns:p14="http://schemas.microsoft.com/office/powerpoint/2010/main" val="26414816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7858">
                                            <p:txEl>
                                              <p:pRg st="0" end="0"/>
                                            </p:txEl>
                                          </p:spTgt>
                                        </p:tgtEl>
                                        <p:attrNameLst>
                                          <p:attrName>style.visibility</p:attrName>
                                        </p:attrNameLst>
                                      </p:cBhvr>
                                      <p:to>
                                        <p:strVal val="visible"/>
                                      </p:to>
                                    </p:set>
                                    <p:anim calcmode="lin" valueType="num">
                                      <p:cBhvr additive="base">
                                        <p:cTn id="7" dur="500"/>
                                        <p:tgtEl>
                                          <p:spTgt spid="377858">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7858">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7858">
                                            <p:txEl>
                                              <p:pRg st="1" end="1"/>
                                            </p:txEl>
                                          </p:spTgt>
                                        </p:tgtEl>
                                        <p:attrNameLst>
                                          <p:attrName>style.visibility</p:attrName>
                                        </p:attrNameLst>
                                      </p:cBhvr>
                                      <p:to>
                                        <p:strVal val="visible"/>
                                      </p:to>
                                    </p:set>
                                    <p:anim calcmode="lin" valueType="num">
                                      <p:cBhvr additive="base">
                                        <p:cTn id="13" dur="500"/>
                                        <p:tgtEl>
                                          <p:spTgt spid="377858">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7858">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7858">
                                            <p:txEl>
                                              <p:pRg st="2" end="2"/>
                                            </p:txEl>
                                          </p:spTgt>
                                        </p:tgtEl>
                                        <p:attrNameLst>
                                          <p:attrName>style.visibility</p:attrName>
                                        </p:attrNameLst>
                                      </p:cBhvr>
                                      <p:to>
                                        <p:strVal val="visible"/>
                                      </p:to>
                                    </p:set>
                                    <p:anim calcmode="lin" valueType="num">
                                      <p:cBhvr additive="base">
                                        <p:cTn id="19" dur="500"/>
                                        <p:tgtEl>
                                          <p:spTgt spid="377858">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7858">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77858">
                                            <p:txEl>
                                              <p:pRg st="3" end="3"/>
                                            </p:txEl>
                                          </p:spTgt>
                                        </p:tgtEl>
                                        <p:attrNameLst>
                                          <p:attrName>style.visibility</p:attrName>
                                        </p:attrNameLst>
                                      </p:cBhvr>
                                      <p:to>
                                        <p:strVal val="visible"/>
                                      </p:to>
                                    </p:set>
                                    <p:anim calcmode="lin" valueType="num">
                                      <p:cBhvr additive="base">
                                        <p:cTn id="23" dur="500"/>
                                        <p:tgtEl>
                                          <p:spTgt spid="377858">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77858">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377858">
                                            <p:txEl>
                                              <p:pRg st="4" end="4"/>
                                            </p:txEl>
                                          </p:spTgt>
                                        </p:tgtEl>
                                        <p:attrNameLst>
                                          <p:attrName>style.visibility</p:attrName>
                                        </p:attrNameLst>
                                      </p:cBhvr>
                                      <p:to>
                                        <p:strVal val="visible"/>
                                      </p:to>
                                    </p:set>
                                    <p:anim calcmode="lin" valueType="num">
                                      <p:cBhvr additive="base">
                                        <p:cTn id="27" dur="500"/>
                                        <p:tgtEl>
                                          <p:spTgt spid="377858">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77858">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377858">
                                            <p:txEl>
                                              <p:pRg st="5" end="5"/>
                                            </p:txEl>
                                          </p:spTgt>
                                        </p:tgtEl>
                                        <p:attrNameLst>
                                          <p:attrName>style.visibility</p:attrName>
                                        </p:attrNameLst>
                                      </p:cBhvr>
                                      <p:to>
                                        <p:strVal val="visible"/>
                                      </p:to>
                                    </p:set>
                                    <p:anim calcmode="lin" valueType="num">
                                      <p:cBhvr additive="base">
                                        <p:cTn id="31" dur="500"/>
                                        <p:tgtEl>
                                          <p:spTgt spid="377858">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7858">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7858">
                                            <p:txEl>
                                              <p:pRg st="6" end="6"/>
                                            </p:txEl>
                                          </p:spTgt>
                                        </p:tgtEl>
                                        <p:attrNameLst>
                                          <p:attrName>style.visibility</p:attrName>
                                        </p:attrNameLst>
                                      </p:cBhvr>
                                      <p:to>
                                        <p:strVal val="visible"/>
                                      </p:to>
                                    </p:set>
                                    <p:anim calcmode="lin" valueType="num">
                                      <p:cBhvr additive="base">
                                        <p:cTn id="37" dur="500"/>
                                        <p:tgtEl>
                                          <p:spTgt spid="377858">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7858">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7858">
                                            <p:txEl>
                                              <p:pRg st="7" end="7"/>
                                            </p:txEl>
                                          </p:spTgt>
                                        </p:tgtEl>
                                        <p:attrNameLst>
                                          <p:attrName>style.visibility</p:attrName>
                                        </p:attrNameLst>
                                      </p:cBhvr>
                                      <p:to>
                                        <p:strVal val="visible"/>
                                      </p:to>
                                    </p:set>
                                    <p:anim calcmode="lin" valueType="num">
                                      <p:cBhvr additive="base">
                                        <p:cTn id="43" dur="500"/>
                                        <p:tgtEl>
                                          <p:spTgt spid="377858">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7858">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7858">
                                            <p:txEl>
                                              <p:pRg st="8" end="8"/>
                                            </p:txEl>
                                          </p:spTgt>
                                        </p:tgtEl>
                                        <p:attrNameLst>
                                          <p:attrName>style.visibility</p:attrName>
                                        </p:attrNameLst>
                                      </p:cBhvr>
                                      <p:to>
                                        <p:strVal val="visible"/>
                                      </p:to>
                                    </p:set>
                                    <p:anim calcmode="lin" valueType="num">
                                      <p:cBhvr additive="base">
                                        <p:cTn id="49" dur="500"/>
                                        <p:tgtEl>
                                          <p:spTgt spid="377858">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7858">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77858">
                                            <p:txEl>
                                              <p:pRg st="9" end="9"/>
                                            </p:txEl>
                                          </p:spTgt>
                                        </p:tgtEl>
                                        <p:attrNameLst>
                                          <p:attrName>style.visibility</p:attrName>
                                        </p:attrNameLst>
                                      </p:cBhvr>
                                      <p:to>
                                        <p:strVal val="visible"/>
                                      </p:to>
                                    </p:set>
                                    <p:anim calcmode="lin" valueType="num">
                                      <p:cBhvr additive="base">
                                        <p:cTn id="55" dur="500"/>
                                        <p:tgtEl>
                                          <p:spTgt spid="377858">
                                            <p:txEl>
                                              <p:pRg st="9" end="9"/>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7785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58" grpId="0" build="p" bldLvl="3"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6291" name="Rectangle 3">
            <a:extLst>
              <a:ext uri="{FF2B5EF4-FFF2-40B4-BE49-F238E27FC236}">
                <a16:creationId xmlns:a16="http://schemas.microsoft.com/office/drawing/2014/main" id="{58691EEC-4942-47C6-AFA2-4BD3B20F9126}"/>
              </a:ext>
            </a:extLst>
          </p:cNvPr>
          <p:cNvSpPr>
            <a:spLocks noGrp="1"/>
          </p:cNvSpPr>
          <p:nvPr>
            <p:ph type="title"/>
          </p:nvPr>
        </p:nvSpPr>
        <p:spPr>
          <a:noFill/>
          <a:ln/>
        </p:spPr>
        <p:txBody>
          <a:bodyPr/>
          <a:lstStyle/>
          <a:p>
            <a:r>
              <a:rPr lang="en-GB" altLang="en-US" dirty="0"/>
              <a:t>Competition Policy in the UK</a:t>
            </a:r>
          </a:p>
        </p:txBody>
      </p:sp>
      <p:sp>
        <p:nvSpPr>
          <p:cNvPr id="396290" name="Rectangle 2">
            <a:extLst>
              <a:ext uri="{FF2B5EF4-FFF2-40B4-BE49-F238E27FC236}">
                <a16:creationId xmlns:a16="http://schemas.microsoft.com/office/drawing/2014/main" id="{AEEBF738-02D0-4EDD-988B-648D23B4C7C5}"/>
              </a:ext>
            </a:extLst>
          </p:cNvPr>
          <p:cNvSpPr>
            <a:spLocks noGrp="1"/>
          </p:cNvSpPr>
          <p:nvPr>
            <p:ph idx="1"/>
          </p:nvPr>
        </p:nvSpPr>
        <p:spPr>
          <a:xfrm>
            <a:off x="333055" y="1407040"/>
            <a:ext cx="11379200" cy="4889500"/>
          </a:xfrm>
        </p:spPr>
        <p:txBody>
          <a:bodyPr/>
          <a:lstStyle/>
          <a:p>
            <a:pPr>
              <a:spcBef>
                <a:spcPts val="400"/>
              </a:spcBef>
            </a:pPr>
            <a:r>
              <a:rPr lang="en-GB" altLang="en-US" sz="2000" dirty="0">
                <a:latin typeface="Calibri" panose="020F0502020204030204" pitchFamily="34" charset="0"/>
                <a:ea typeface="Calibri" panose="020F0502020204030204" pitchFamily="34" charset="0"/>
                <a:cs typeface="Calibri" panose="020F0502020204030204" pitchFamily="34" charset="0"/>
              </a:rPr>
              <a:t>UK merger policy</a:t>
            </a:r>
          </a:p>
          <a:p>
            <a:pPr lvl="1">
              <a:spcBef>
                <a:spcPts val="4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Framework set out in 2002 Enterprise Act</a:t>
            </a:r>
          </a:p>
          <a:p>
            <a:pPr lvl="1">
              <a:spcBef>
                <a:spcPts val="400"/>
              </a:spcBef>
            </a:pPr>
            <a:r>
              <a:rPr lang="en-GB" altLang="en-US" sz="2000" dirty="0">
                <a:latin typeface="Calibri" panose="020F0502020204030204" pitchFamily="34" charset="0"/>
                <a:ea typeface="Calibri" panose="020F0502020204030204" pitchFamily="34" charset="0"/>
                <a:cs typeface="Calibri" panose="020F0502020204030204" pitchFamily="34" charset="0"/>
              </a:rPr>
              <a:t>No requirement for firms to pre-notify the CMA (differs from EU policy)</a:t>
            </a:r>
          </a:p>
          <a:p>
            <a:pPr lvl="1">
              <a:spcBef>
                <a:spcPts val="4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Investigation by CMA based on</a:t>
            </a:r>
          </a:p>
          <a:p>
            <a:pPr lvl="2">
              <a:spcBef>
                <a:spcPts val="400"/>
              </a:spcBef>
            </a:pPr>
            <a:r>
              <a:rPr lang="en-GB" altLang="en-US" sz="1900" dirty="0">
                <a:latin typeface="Calibri" panose="020F0502020204030204" pitchFamily="34" charset="0"/>
                <a:ea typeface="Calibri" panose="020F0502020204030204" pitchFamily="34" charset="0"/>
                <a:cs typeface="Calibri" panose="020F0502020204030204" pitchFamily="34" charset="0"/>
              </a:rPr>
              <a:t>turnover test (</a:t>
            </a:r>
            <a:r>
              <a:rPr lang="en-GB" altLang="en-US" sz="1900" dirty="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 </a:t>
            </a:r>
            <a:r>
              <a:rPr lang="en-GB" altLang="en-US" sz="1900" dirty="0">
                <a:latin typeface="Calibri" panose="020F0502020204030204" pitchFamily="34" charset="0"/>
                <a:ea typeface="Calibri" panose="020F0502020204030204" pitchFamily="34" charset="0"/>
                <a:cs typeface="Calibri" panose="020F0502020204030204" pitchFamily="34" charset="0"/>
              </a:rPr>
              <a:t>£70m) </a:t>
            </a:r>
          </a:p>
          <a:p>
            <a:pPr lvl="2">
              <a:spcBef>
                <a:spcPts val="400"/>
              </a:spcBef>
            </a:pPr>
            <a:r>
              <a:rPr lang="en-GB" altLang="en-US" sz="1900" dirty="0">
                <a:latin typeface="Calibri" panose="020F0502020204030204" pitchFamily="34" charset="0"/>
                <a:ea typeface="Calibri" panose="020F0502020204030204" pitchFamily="34" charset="0"/>
                <a:cs typeface="Calibri" panose="020F0502020204030204" pitchFamily="34" charset="0"/>
              </a:rPr>
              <a:t>market share test (</a:t>
            </a:r>
            <a:r>
              <a:rPr lang="en-GB" altLang="en-US" sz="1900" dirty="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 </a:t>
            </a:r>
            <a:r>
              <a:rPr lang="en-GB" altLang="en-US" sz="1900" dirty="0">
                <a:latin typeface="Calibri" panose="020F0502020204030204" pitchFamily="34" charset="0"/>
                <a:ea typeface="Calibri" panose="020F0502020204030204" pitchFamily="34" charset="0"/>
                <a:cs typeface="Calibri" panose="020F0502020204030204" pitchFamily="34" charset="0"/>
              </a:rPr>
              <a:t>25%)</a:t>
            </a:r>
          </a:p>
          <a:p>
            <a:pPr lvl="2">
              <a:spcBef>
                <a:spcPts val="400"/>
              </a:spcBef>
            </a:pPr>
            <a:r>
              <a:rPr lang="en-GB" altLang="en-US" sz="1900" dirty="0">
                <a:latin typeface="Calibri" panose="020F0502020204030204" pitchFamily="34" charset="0"/>
                <a:ea typeface="Calibri" panose="020F0502020204030204" pitchFamily="34" charset="0"/>
                <a:cs typeface="Calibri" panose="020F0502020204030204" pitchFamily="34" charset="0"/>
              </a:rPr>
              <a:t>Phase 1 and Phase 2 of the process</a:t>
            </a:r>
          </a:p>
          <a:p>
            <a:pPr lvl="1">
              <a:spcBef>
                <a:spcPts val="4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Assessment based solely on competition – M&amp;As can be prevented if they are likely to result in a ‘substantial lessening of competition’</a:t>
            </a:r>
          </a:p>
          <a:p>
            <a:pPr lvl="1">
              <a:spcBef>
                <a:spcPts val="4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Final judgement:</a:t>
            </a:r>
          </a:p>
          <a:p>
            <a:pPr lvl="2">
              <a:spcBef>
                <a:spcPts val="400"/>
              </a:spcBef>
            </a:pPr>
            <a:r>
              <a:rPr lang="en-GB" altLang="en-US" sz="1900" dirty="0">
                <a:latin typeface="Calibri" panose="020F0502020204030204" pitchFamily="34" charset="0"/>
                <a:ea typeface="Calibri" panose="020F0502020204030204" pitchFamily="34" charset="0"/>
                <a:cs typeface="Calibri" panose="020F0502020204030204" pitchFamily="34" charset="0"/>
              </a:rPr>
              <a:t>is left to the CMA (apart from in exceptional cases when a minister can intervene)</a:t>
            </a:r>
          </a:p>
          <a:p>
            <a:pPr lvl="2">
              <a:spcBef>
                <a:spcPts val="400"/>
              </a:spcBef>
            </a:pPr>
            <a:r>
              <a:rPr lang="en-GB" altLang="en-US" sz="1900" dirty="0">
                <a:latin typeface="Calibri" panose="020F0502020204030204" pitchFamily="34" charset="0"/>
                <a:ea typeface="Calibri" panose="020F0502020204030204" pitchFamily="34" charset="0"/>
                <a:cs typeface="Calibri" panose="020F0502020204030204" pitchFamily="34" charset="0"/>
              </a:rPr>
              <a:t>unconditional clearance of merger</a:t>
            </a:r>
          </a:p>
          <a:p>
            <a:pPr lvl="2">
              <a:spcBef>
                <a:spcPts val="400"/>
              </a:spcBef>
            </a:pPr>
            <a:r>
              <a:rPr lang="en-GB" altLang="en-US" sz="1900" dirty="0">
                <a:latin typeface="Calibri" panose="020F0502020204030204" pitchFamily="34" charset="0"/>
                <a:ea typeface="Calibri" panose="020F0502020204030204" pitchFamily="34" charset="0"/>
                <a:cs typeface="Calibri" panose="020F0502020204030204" pitchFamily="34" charset="0"/>
              </a:rPr>
              <a:t>conditional clearance of merger: firms have to take certain actions</a:t>
            </a:r>
          </a:p>
          <a:p>
            <a:pPr lvl="2">
              <a:spcBef>
                <a:spcPts val="400"/>
              </a:spcBef>
            </a:pPr>
            <a:r>
              <a:rPr lang="en-GB" altLang="en-US" sz="1900" dirty="0">
                <a:latin typeface="Calibri" panose="020F0502020204030204" pitchFamily="34" charset="0"/>
                <a:ea typeface="Calibri" panose="020F0502020204030204" pitchFamily="34" charset="0"/>
                <a:cs typeface="Calibri" panose="020F0502020204030204" pitchFamily="34" charset="0"/>
              </a:rPr>
              <a:t>prohibition of merger (in 2017/18 only 10 mergers were prohibited out of 142 Phase 2 investigations)</a:t>
            </a:r>
          </a:p>
        </p:txBody>
      </p:sp>
    </p:spTree>
    <p:extLst>
      <p:ext uri="{BB962C8B-B14F-4D97-AF65-F5344CB8AC3E}">
        <p14:creationId xmlns:p14="http://schemas.microsoft.com/office/powerpoint/2010/main" val="17252416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6290">
                                            <p:txEl>
                                              <p:pRg st="0" end="0"/>
                                            </p:txEl>
                                          </p:spTgt>
                                        </p:tgtEl>
                                        <p:attrNameLst>
                                          <p:attrName>style.visibility</p:attrName>
                                        </p:attrNameLst>
                                      </p:cBhvr>
                                      <p:to>
                                        <p:strVal val="visible"/>
                                      </p:to>
                                    </p:set>
                                    <p:anim calcmode="lin" valueType="num">
                                      <p:cBhvr additive="base">
                                        <p:cTn id="7" dur="500"/>
                                        <p:tgtEl>
                                          <p:spTgt spid="39629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6290">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6290">
                                            <p:txEl>
                                              <p:pRg st="1" end="1"/>
                                            </p:txEl>
                                          </p:spTgt>
                                        </p:tgtEl>
                                        <p:attrNameLst>
                                          <p:attrName>style.visibility</p:attrName>
                                        </p:attrNameLst>
                                      </p:cBhvr>
                                      <p:to>
                                        <p:strVal val="visible"/>
                                      </p:to>
                                    </p:set>
                                    <p:anim calcmode="lin" valueType="num">
                                      <p:cBhvr additive="base">
                                        <p:cTn id="13" dur="500"/>
                                        <p:tgtEl>
                                          <p:spTgt spid="396290">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6290">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6290">
                                            <p:txEl>
                                              <p:pRg st="2" end="2"/>
                                            </p:txEl>
                                          </p:spTgt>
                                        </p:tgtEl>
                                        <p:attrNameLst>
                                          <p:attrName>style.visibility</p:attrName>
                                        </p:attrNameLst>
                                      </p:cBhvr>
                                      <p:to>
                                        <p:strVal val="visible"/>
                                      </p:to>
                                    </p:set>
                                    <p:anim calcmode="lin" valueType="num">
                                      <p:cBhvr additive="base">
                                        <p:cTn id="19" dur="500"/>
                                        <p:tgtEl>
                                          <p:spTgt spid="396290">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6290">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6290">
                                            <p:txEl>
                                              <p:pRg st="3" end="3"/>
                                            </p:txEl>
                                          </p:spTgt>
                                        </p:tgtEl>
                                        <p:attrNameLst>
                                          <p:attrName>style.visibility</p:attrName>
                                        </p:attrNameLst>
                                      </p:cBhvr>
                                      <p:to>
                                        <p:strVal val="visible"/>
                                      </p:to>
                                    </p:set>
                                    <p:anim calcmode="lin" valueType="num">
                                      <p:cBhvr additive="base">
                                        <p:cTn id="25" dur="500"/>
                                        <p:tgtEl>
                                          <p:spTgt spid="396290">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6290">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6290">
                                            <p:txEl>
                                              <p:pRg st="4" end="4"/>
                                            </p:txEl>
                                          </p:spTgt>
                                        </p:tgtEl>
                                        <p:attrNameLst>
                                          <p:attrName>style.visibility</p:attrName>
                                        </p:attrNameLst>
                                      </p:cBhvr>
                                      <p:to>
                                        <p:strVal val="visible"/>
                                      </p:to>
                                    </p:set>
                                    <p:anim calcmode="lin" valueType="num">
                                      <p:cBhvr additive="base">
                                        <p:cTn id="31" dur="500"/>
                                        <p:tgtEl>
                                          <p:spTgt spid="396290">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6290">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6290">
                                            <p:txEl>
                                              <p:pRg st="5" end="5"/>
                                            </p:txEl>
                                          </p:spTgt>
                                        </p:tgtEl>
                                        <p:attrNameLst>
                                          <p:attrName>style.visibility</p:attrName>
                                        </p:attrNameLst>
                                      </p:cBhvr>
                                      <p:to>
                                        <p:strVal val="visible"/>
                                      </p:to>
                                    </p:set>
                                    <p:anim calcmode="lin" valueType="num">
                                      <p:cBhvr additive="base">
                                        <p:cTn id="37" dur="500"/>
                                        <p:tgtEl>
                                          <p:spTgt spid="396290">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6290">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6290">
                                            <p:txEl>
                                              <p:pRg st="6" end="6"/>
                                            </p:txEl>
                                          </p:spTgt>
                                        </p:tgtEl>
                                        <p:attrNameLst>
                                          <p:attrName>style.visibility</p:attrName>
                                        </p:attrNameLst>
                                      </p:cBhvr>
                                      <p:to>
                                        <p:strVal val="visible"/>
                                      </p:to>
                                    </p:set>
                                    <p:anim calcmode="lin" valueType="num">
                                      <p:cBhvr additive="base">
                                        <p:cTn id="43" dur="500"/>
                                        <p:tgtEl>
                                          <p:spTgt spid="396290">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6290">
                                            <p:txEl>
                                              <p:pRg st="6" end="6"/>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6290">
                                            <p:txEl>
                                              <p:pRg st="7" end="7"/>
                                            </p:txEl>
                                          </p:spTgt>
                                        </p:tgtEl>
                                        <p:attrNameLst>
                                          <p:attrName>style.visibility</p:attrName>
                                        </p:attrNameLst>
                                      </p:cBhvr>
                                      <p:to>
                                        <p:strVal val="visible"/>
                                      </p:to>
                                    </p:set>
                                    <p:anim calcmode="lin" valueType="num">
                                      <p:cBhvr additive="base">
                                        <p:cTn id="49" dur="500"/>
                                        <p:tgtEl>
                                          <p:spTgt spid="396290">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6290">
                                            <p:txEl>
                                              <p:pRg st="7" end="7"/>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96290">
                                            <p:txEl>
                                              <p:pRg st="8" end="8"/>
                                            </p:txEl>
                                          </p:spTgt>
                                        </p:tgtEl>
                                        <p:attrNameLst>
                                          <p:attrName>style.visibility</p:attrName>
                                        </p:attrNameLst>
                                      </p:cBhvr>
                                      <p:to>
                                        <p:strVal val="visible"/>
                                      </p:to>
                                    </p:set>
                                    <p:anim calcmode="lin" valueType="num">
                                      <p:cBhvr additive="base">
                                        <p:cTn id="55" dur="500"/>
                                        <p:tgtEl>
                                          <p:spTgt spid="396290">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96290">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96290">
                                            <p:txEl>
                                              <p:pRg st="9" end="9"/>
                                            </p:txEl>
                                          </p:spTgt>
                                        </p:tgtEl>
                                        <p:attrNameLst>
                                          <p:attrName>style.visibility</p:attrName>
                                        </p:attrNameLst>
                                      </p:cBhvr>
                                      <p:to>
                                        <p:strVal val="visible"/>
                                      </p:to>
                                    </p:set>
                                    <p:anim calcmode="lin" valueType="num">
                                      <p:cBhvr additive="base">
                                        <p:cTn id="61" dur="500"/>
                                        <p:tgtEl>
                                          <p:spTgt spid="396290">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96290">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396290">
                                            <p:txEl>
                                              <p:pRg st="10" end="10"/>
                                            </p:txEl>
                                          </p:spTgt>
                                        </p:tgtEl>
                                        <p:attrNameLst>
                                          <p:attrName>style.visibility</p:attrName>
                                        </p:attrNameLst>
                                      </p:cBhvr>
                                      <p:to>
                                        <p:strVal val="visible"/>
                                      </p:to>
                                    </p:set>
                                    <p:anim calcmode="lin" valueType="num">
                                      <p:cBhvr additive="base">
                                        <p:cTn id="67" dur="500"/>
                                        <p:tgtEl>
                                          <p:spTgt spid="396290">
                                            <p:txEl>
                                              <p:pRg st="10" end="10"/>
                                            </p:txEl>
                                          </p:spTgt>
                                        </p:tgtEl>
                                        <p:attrNameLst>
                                          <p:attrName>ppt_y</p:attrName>
                                        </p:attrNameLst>
                                      </p:cBhvr>
                                      <p:tavLst>
                                        <p:tav tm="0">
                                          <p:val>
                                            <p:strVal val="#ppt_y+#ppt_h*1.125000"/>
                                          </p:val>
                                        </p:tav>
                                        <p:tav tm="100000">
                                          <p:val>
                                            <p:strVal val="#ppt_y"/>
                                          </p:val>
                                        </p:tav>
                                      </p:tavLst>
                                    </p:anim>
                                    <p:animEffect transition="in" filter="wipe(up)">
                                      <p:cBhvr>
                                        <p:cTn id="68" dur="500"/>
                                        <p:tgtEl>
                                          <p:spTgt spid="396290">
                                            <p:txEl>
                                              <p:pRg st="10" end="1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396290">
                                            <p:txEl>
                                              <p:pRg st="11" end="11"/>
                                            </p:txEl>
                                          </p:spTgt>
                                        </p:tgtEl>
                                        <p:attrNameLst>
                                          <p:attrName>style.visibility</p:attrName>
                                        </p:attrNameLst>
                                      </p:cBhvr>
                                      <p:to>
                                        <p:strVal val="visible"/>
                                      </p:to>
                                    </p:set>
                                    <p:anim calcmode="lin" valueType="num">
                                      <p:cBhvr additive="base">
                                        <p:cTn id="73" dur="500"/>
                                        <p:tgtEl>
                                          <p:spTgt spid="396290">
                                            <p:txEl>
                                              <p:pRg st="11" end="11"/>
                                            </p:txEl>
                                          </p:spTgt>
                                        </p:tgtEl>
                                        <p:attrNameLst>
                                          <p:attrName>ppt_y</p:attrName>
                                        </p:attrNameLst>
                                      </p:cBhvr>
                                      <p:tavLst>
                                        <p:tav tm="0">
                                          <p:val>
                                            <p:strVal val="#ppt_y+#ppt_h*1.125000"/>
                                          </p:val>
                                        </p:tav>
                                        <p:tav tm="100000">
                                          <p:val>
                                            <p:strVal val="#ppt_y"/>
                                          </p:val>
                                        </p:tav>
                                      </p:tavLst>
                                    </p:anim>
                                    <p:animEffect transition="in" filter="wipe(up)">
                                      <p:cBhvr>
                                        <p:cTn id="74" dur="500"/>
                                        <p:tgtEl>
                                          <p:spTgt spid="396290">
                                            <p:txEl>
                                              <p:pRg st="11" end="1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4" fill="hold" grpId="0" nodeType="clickEffect">
                                  <p:stCondLst>
                                    <p:cond delay="0"/>
                                  </p:stCondLst>
                                  <p:childTnLst>
                                    <p:set>
                                      <p:cBhvr>
                                        <p:cTn id="78" dur="1" fill="hold">
                                          <p:stCondLst>
                                            <p:cond delay="0"/>
                                          </p:stCondLst>
                                        </p:cTn>
                                        <p:tgtEl>
                                          <p:spTgt spid="396290">
                                            <p:txEl>
                                              <p:pRg st="12" end="12"/>
                                            </p:txEl>
                                          </p:spTgt>
                                        </p:tgtEl>
                                        <p:attrNameLst>
                                          <p:attrName>style.visibility</p:attrName>
                                        </p:attrNameLst>
                                      </p:cBhvr>
                                      <p:to>
                                        <p:strVal val="visible"/>
                                      </p:to>
                                    </p:set>
                                    <p:anim calcmode="lin" valueType="num">
                                      <p:cBhvr additive="base">
                                        <p:cTn id="79" dur="500"/>
                                        <p:tgtEl>
                                          <p:spTgt spid="396290">
                                            <p:txEl>
                                              <p:pRg st="12" end="12"/>
                                            </p:txEl>
                                          </p:spTgt>
                                        </p:tgtEl>
                                        <p:attrNameLst>
                                          <p:attrName>ppt_y</p:attrName>
                                        </p:attrNameLst>
                                      </p:cBhvr>
                                      <p:tavLst>
                                        <p:tav tm="0">
                                          <p:val>
                                            <p:strVal val="#ppt_y+#ppt_h*1.125000"/>
                                          </p:val>
                                        </p:tav>
                                        <p:tav tm="100000">
                                          <p:val>
                                            <p:strVal val="#ppt_y"/>
                                          </p:val>
                                        </p:tav>
                                      </p:tavLst>
                                    </p:anim>
                                    <p:animEffect transition="in" filter="wipe(up)">
                                      <p:cBhvr>
                                        <p:cTn id="80" dur="500"/>
                                        <p:tgtEl>
                                          <p:spTgt spid="396290">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0" grpId="0" build="p" bldLvl="3"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9" name="Rectangle 3">
            <a:extLst>
              <a:ext uri="{FF2B5EF4-FFF2-40B4-BE49-F238E27FC236}">
                <a16:creationId xmlns:a16="http://schemas.microsoft.com/office/drawing/2014/main" id="{0F34FB52-6BD4-4AF7-A427-94FFB5D237DC}"/>
              </a:ext>
            </a:extLst>
          </p:cNvPr>
          <p:cNvSpPr>
            <a:spLocks noGrp="1"/>
          </p:cNvSpPr>
          <p:nvPr>
            <p:ph type="title"/>
          </p:nvPr>
        </p:nvSpPr>
        <p:spPr>
          <a:noFill/>
          <a:ln/>
        </p:spPr>
        <p:txBody>
          <a:bodyPr>
            <a:normAutofit fontScale="90000"/>
          </a:bodyPr>
          <a:lstStyle/>
          <a:p>
            <a:r>
              <a:rPr lang="en-GB" altLang="en-US" dirty="0"/>
              <a:t>Competition Policy: Comparative Assessment</a:t>
            </a:r>
          </a:p>
        </p:txBody>
      </p:sp>
      <p:sp>
        <p:nvSpPr>
          <p:cNvPr id="398338" name="Rectangle 2">
            <a:extLst>
              <a:ext uri="{FF2B5EF4-FFF2-40B4-BE49-F238E27FC236}">
                <a16:creationId xmlns:a16="http://schemas.microsoft.com/office/drawing/2014/main" id="{80B83BFF-C23B-4388-9E08-408D73E88405}"/>
              </a:ext>
            </a:extLst>
          </p:cNvPr>
          <p:cNvSpPr>
            <a:spLocks noGrp="1"/>
          </p:cNvSpPr>
          <p:nvPr>
            <p:ph idx="1"/>
          </p:nvPr>
        </p:nvSpPr>
        <p:spPr>
          <a:xfrm>
            <a:off x="402167" y="1571104"/>
            <a:ext cx="11379200" cy="4842395"/>
          </a:xfrm>
        </p:spPr>
        <p:txBody>
          <a:bodyPr/>
          <a:lstStyle/>
          <a:p>
            <a:pPr>
              <a:lnSpc>
                <a:spcPct val="95000"/>
              </a:lnSpc>
              <a:spcBef>
                <a:spcPts val="9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Assessment of EU and UK policy</a:t>
            </a:r>
          </a:p>
          <a:p>
            <a:pPr lvl="1">
              <a:lnSpc>
                <a:spcPct val="95000"/>
              </a:lnSpc>
              <a:spcBef>
                <a:spcPts val="900"/>
              </a:spcBef>
            </a:pPr>
            <a:r>
              <a:rPr lang="en-GB" altLang="en-US" sz="2000" dirty="0">
                <a:latin typeface="Calibri" panose="020F0502020204030204" pitchFamily="34" charset="0"/>
                <a:ea typeface="Calibri" panose="020F0502020204030204" pitchFamily="34" charset="0"/>
                <a:cs typeface="Calibri" panose="020F0502020204030204" pitchFamily="34" charset="0"/>
              </a:rPr>
              <a:t>Agreement that focus of monopoly policy should be on anti-competitive practices and their effects rather than simply on the existence of market dominance</a:t>
            </a:r>
          </a:p>
          <a:p>
            <a:pPr lvl="2">
              <a:lnSpc>
                <a:spcPct val="95000"/>
              </a:lnSpc>
              <a:spcBef>
                <a:spcPts val="9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Economic power is only a problem when it is abused</a:t>
            </a:r>
          </a:p>
          <a:p>
            <a:pPr lvl="2">
              <a:lnSpc>
                <a:spcPct val="95000"/>
              </a:lnSpc>
              <a:spcBef>
                <a:spcPts val="9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If market power enables firms to achieve economies of scale or more finance for investment, the result can be of benefit to customers</a:t>
            </a:r>
          </a:p>
          <a:p>
            <a:pPr marL="914400" lvl="2" indent="0">
              <a:lnSpc>
                <a:spcPct val="95000"/>
              </a:lnSpc>
              <a:spcBef>
                <a:spcPts val="900"/>
              </a:spcBef>
              <a:buNone/>
            </a:pPr>
            <a:endParaRPr lang="en-GB" altLang="en-US" sz="2000" dirty="0">
              <a:latin typeface="Calibri" panose="020F0502020204030204" pitchFamily="34" charset="0"/>
              <a:ea typeface="Calibri" panose="020F0502020204030204" pitchFamily="34" charset="0"/>
              <a:cs typeface="Calibri" panose="020F0502020204030204" pitchFamily="34" charset="0"/>
            </a:endParaRPr>
          </a:p>
          <a:p>
            <a:pPr lvl="1">
              <a:lnSpc>
                <a:spcPct val="95000"/>
              </a:lnSpc>
              <a:spcBef>
                <a:spcPts val="900"/>
              </a:spcBef>
            </a:pPr>
            <a:r>
              <a:rPr lang="en-GB" altLang="en-US" sz="2000" dirty="0">
                <a:latin typeface="Calibri" panose="020F0502020204030204" pitchFamily="34" charset="0"/>
                <a:ea typeface="Calibri" panose="020F0502020204030204" pitchFamily="34" charset="0"/>
                <a:cs typeface="Calibri" panose="020F0502020204030204" pitchFamily="34" charset="0"/>
              </a:rPr>
              <a:t>Merger policy remains the most controversial area – claims that it is too lenient</a:t>
            </a:r>
          </a:p>
          <a:p>
            <a:pPr lvl="1">
              <a:lnSpc>
                <a:spcPct val="95000"/>
              </a:lnSpc>
              <a:spcBef>
                <a:spcPts val="900"/>
              </a:spcBef>
            </a:pPr>
            <a:r>
              <a:rPr lang="en-GB" altLang="en-US" sz="2000" dirty="0">
                <a:latin typeface="Calibri" panose="020F0502020204030204" pitchFamily="34" charset="0"/>
                <a:ea typeface="Calibri" panose="020F0502020204030204" pitchFamily="34" charset="0"/>
                <a:cs typeface="Calibri" panose="020F0502020204030204" pitchFamily="34" charset="0"/>
              </a:rPr>
              <a:t>Specific issues with UK merger policy include:</a:t>
            </a:r>
          </a:p>
          <a:p>
            <a:pPr lvl="2">
              <a:lnSpc>
                <a:spcPct val="95000"/>
              </a:lnSpc>
              <a:spcBef>
                <a:spcPts val="9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Criteria – broad ‘public interest’ v. ‘substantial lessening of competition’</a:t>
            </a:r>
          </a:p>
          <a:p>
            <a:pPr lvl="2">
              <a:lnSpc>
                <a:spcPct val="95000"/>
              </a:lnSpc>
              <a:spcBef>
                <a:spcPts val="900"/>
              </a:spcBef>
            </a:pPr>
            <a:r>
              <a:rPr lang="en-GB" altLang="en-US" sz="2000" dirty="0">
                <a:latin typeface="Calibri" panose="020F0502020204030204" pitchFamily="34" charset="0"/>
                <a:ea typeface="Calibri" panose="020F0502020204030204" pitchFamily="34" charset="0"/>
                <a:cs typeface="Calibri" panose="020F0502020204030204" pitchFamily="34" charset="0"/>
              </a:rPr>
              <a:t>The lack of any requirement for firms to pre-notify authorities about a proposed merger</a:t>
            </a:r>
          </a:p>
        </p:txBody>
      </p:sp>
    </p:spTree>
    <p:extLst>
      <p:ext uri="{BB962C8B-B14F-4D97-AF65-F5344CB8AC3E}">
        <p14:creationId xmlns:p14="http://schemas.microsoft.com/office/powerpoint/2010/main" val="33937066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398339"/>
                                        </p:tgtEl>
                                        <p:attrNameLst>
                                          <p:attrName>style.visibility</p:attrName>
                                        </p:attrNameLst>
                                      </p:cBhvr>
                                      <p:to>
                                        <p:strVal val="visible"/>
                                      </p:to>
                                    </p:set>
                                    <p:anim calcmode="lin" valueType="num">
                                      <p:cBhvr>
                                        <p:cTn id="7" dur="500" fill="hold"/>
                                        <p:tgtEl>
                                          <p:spTgt spid="398339"/>
                                        </p:tgtEl>
                                        <p:attrNameLst>
                                          <p:attrName>ppt_w</p:attrName>
                                        </p:attrNameLst>
                                      </p:cBhvr>
                                      <p:tavLst>
                                        <p:tav tm="0">
                                          <p:val>
                                            <p:strVal val="2/3*#ppt_w"/>
                                          </p:val>
                                        </p:tav>
                                        <p:tav tm="100000">
                                          <p:val>
                                            <p:strVal val="#ppt_w"/>
                                          </p:val>
                                        </p:tav>
                                      </p:tavLst>
                                    </p:anim>
                                    <p:anim calcmode="lin" valueType="num">
                                      <p:cBhvr>
                                        <p:cTn id="8" dur="500" fill="hold"/>
                                        <p:tgtEl>
                                          <p:spTgt spid="398339"/>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8338">
                                            <p:txEl>
                                              <p:pRg st="0" end="0"/>
                                            </p:txEl>
                                          </p:spTgt>
                                        </p:tgtEl>
                                        <p:attrNameLst>
                                          <p:attrName>style.visibility</p:attrName>
                                        </p:attrNameLst>
                                      </p:cBhvr>
                                      <p:to>
                                        <p:strVal val="visible"/>
                                      </p:to>
                                    </p:set>
                                    <p:anim calcmode="lin" valueType="num">
                                      <p:cBhvr additive="base">
                                        <p:cTn id="13" dur="500"/>
                                        <p:tgtEl>
                                          <p:spTgt spid="398338">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8338">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8338">
                                            <p:txEl>
                                              <p:pRg st="1" end="1"/>
                                            </p:txEl>
                                          </p:spTgt>
                                        </p:tgtEl>
                                        <p:attrNameLst>
                                          <p:attrName>style.visibility</p:attrName>
                                        </p:attrNameLst>
                                      </p:cBhvr>
                                      <p:to>
                                        <p:strVal val="visible"/>
                                      </p:to>
                                    </p:set>
                                    <p:anim calcmode="lin" valueType="num">
                                      <p:cBhvr additive="base">
                                        <p:cTn id="19" dur="500"/>
                                        <p:tgtEl>
                                          <p:spTgt spid="398338">
                                            <p:txEl>
                                              <p:pRg st="1" end="1"/>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8338">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8338">
                                            <p:txEl>
                                              <p:pRg st="2" end="2"/>
                                            </p:txEl>
                                          </p:spTgt>
                                        </p:tgtEl>
                                        <p:attrNameLst>
                                          <p:attrName>style.visibility</p:attrName>
                                        </p:attrNameLst>
                                      </p:cBhvr>
                                      <p:to>
                                        <p:strVal val="visible"/>
                                      </p:to>
                                    </p:set>
                                    <p:anim calcmode="lin" valueType="num">
                                      <p:cBhvr additive="base">
                                        <p:cTn id="25" dur="500"/>
                                        <p:tgtEl>
                                          <p:spTgt spid="398338">
                                            <p:txEl>
                                              <p:pRg st="2" end="2"/>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8338">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8338">
                                            <p:txEl>
                                              <p:pRg st="3" end="3"/>
                                            </p:txEl>
                                          </p:spTgt>
                                        </p:tgtEl>
                                        <p:attrNameLst>
                                          <p:attrName>style.visibility</p:attrName>
                                        </p:attrNameLst>
                                      </p:cBhvr>
                                      <p:to>
                                        <p:strVal val="visible"/>
                                      </p:to>
                                    </p:set>
                                    <p:anim calcmode="lin" valueType="num">
                                      <p:cBhvr additive="base">
                                        <p:cTn id="31" dur="500"/>
                                        <p:tgtEl>
                                          <p:spTgt spid="398338">
                                            <p:txEl>
                                              <p:pRg st="3" end="3"/>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8338">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8338">
                                            <p:txEl>
                                              <p:pRg st="5" end="5"/>
                                            </p:txEl>
                                          </p:spTgt>
                                        </p:tgtEl>
                                        <p:attrNameLst>
                                          <p:attrName>style.visibility</p:attrName>
                                        </p:attrNameLst>
                                      </p:cBhvr>
                                      <p:to>
                                        <p:strVal val="visible"/>
                                      </p:to>
                                    </p:set>
                                    <p:anim calcmode="lin" valueType="num">
                                      <p:cBhvr additive="base">
                                        <p:cTn id="37" dur="500"/>
                                        <p:tgtEl>
                                          <p:spTgt spid="398338">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8338">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8338">
                                            <p:txEl>
                                              <p:pRg st="6" end="6"/>
                                            </p:txEl>
                                          </p:spTgt>
                                        </p:tgtEl>
                                        <p:attrNameLst>
                                          <p:attrName>style.visibility</p:attrName>
                                        </p:attrNameLst>
                                      </p:cBhvr>
                                      <p:to>
                                        <p:strVal val="visible"/>
                                      </p:to>
                                    </p:set>
                                    <p:anim calcmode="lin" valueType="num">
                                      <p:cBhvr additive="base">
                                        <p:cTn id="43" dur="500"/>
                                        <p:tgtEl>
                                          <p:spTgt spid="398338">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8338">
                                            <p:txEl>
                                              <p:pRg st="6" end="6"/>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8338">
                                            <p:txEl>
                                              <p:pRg st="7" end="7"/>
                                            </p:txEl>
                                          </p:spTgt>
                                        </p:tgtEl>
                                        <p:attrNameLst>
                                          <p:attrName>style.visibility</p:attrName>
                                        </p:attrNameLst>
                                      </p:cBhvr>
                                      <p:to>
                                        <p:strVal val="visible"/>
                                      </p:to>
                                    </p:set>
                                    <p:anim calcmode="lin" valueType="num">
                                      <p:cBhvr additive="base">
                                        <p:cTn id="49" dur="500"/>
                                        <p:tgtEl>
                                          <p:spTgt spid="398338">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8338">
                                            <p:txEl>
                                              <p:pRg st="7" end="7"/>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98338">
                                            <p:txEl>
                                              <p:pRg st="8" end="8"/>
                                            </p:txEl>
                                          </p:spTgt>
                                        </p:tgtEl>
                                        <p:attrNameLst>
                                          <p:attrName>style.visibility</p:attrName>
                                        </p:attrNameLst>
                                      </p:cBhvr>
                                      <p:to>
                                        <p:strVal val="visible"/>
                                      </p:to>
                                    </p:set>
                                    <p:anim calcmode="lin" valueType="num">
                                      <p:cBhvr additive="base">
                                        <p:cTn id="55" dur="500"/>
                                        <p:tgtEl>
                                          <p:spTgt spid="398338">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9833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animBg="1"/>
      <p:bldP spid="398338" grpId="0" build="p" bldLvl="3"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9" name="Rectangle 3">
            <a:extLst>
              <a:ext uri="{FF2B5EF4-FFF2-40B4-BE49-F238E27FC236}">
                <a16:creationId xmlns:a16="http://schemas.microsoft.com/office/drawing/2014/main" id="{0F34FB52-6BD4-4AF7-A427-94FFB5D237DC}"/>
              </a:ext>
            </a:extLst>
          </p:cNvPr>
          <p:cNvSpPr>
            <a:spLocks noGrp="1"/>
          </p:cNvSpPr>
          <p:nvPr>
            <p:ph type="title"/>
          </p:nvPr>
        </p:nvSpPr>
        <p:spPr>
          <a:noFill/>
          <a:ln/>
        </p:spPr>
        <p:txBody>
          <a:bodyPr>
            <a:normAutofit fontScale="90000"/>
          </a:bodyPr>
          <a:lstStyle/>
          <a:p>
            <a:r>
              <a:rPr lang="en-GB" altLang="en-US" dirty="0"/>
              <a:t>Competition Policy: Comparative Assessment</a:t>
            </a:r>
          </a:p>
        </p:txBody>
      </p:sp>
      <p:sp>
        <p:nvSpPr>
          <p:cNvPr id="398338" name="Rectangle 2">
            <a:extLst>
              <a:ext uri="{FF2B5EF4-FFF2-40B4-BE49-F238E27FC236}">
                <a16:creationId xmlns:a16="http://schemas.microsoft.com/office/drawing/2014/main" id="{80B83BFF-C23B-4388-9E08-408D73E88405}"/>
              </a:ext>
            </a:extLst>
          </p:cNvPr>
          <p:cNvSpPr>
            <a:spLocks noGrp="1"/>
          </p:cNvSpPr>
          <p:nvPr>
            <p:ph idx="1"/>
          </p:nvPr>
        </p:nvSpPr>
        <p:spPr>
          <a:xfrm>
            <a:off x="402167" y="1571104"/>
            <a:ext cx="11379200" cy="4842395"/>
          </a:xfrm>
        </p:spPr>
        <p:txBody>
          <a:bodyPr/>
          <a:lstStyle/>
          <a:p>
            <a:pPr>
              <a:lnSpc>
                <a:spcPct val="100000"/>
              </a:lnSpc>
              <a:spcBef>
                <a:spcPts val="12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Effects of Brexit on alignment of UK with EU policy</a:t>
            </a:r>
          </a:p>
          <a:p>
            <a:pPr lvl="1">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Since Brexit, under the terms of the UK-EU trade agreements, </a:t>
            </a:r>
            <a:r>
              <a:rPr lang="en-GB" sz="2000" b="1" dirty="0">
                <a:latin typeface="Calibri" panose="020F0502020204030204" pitchFamily="34" charset="0"/>
                <a:ea typeface="Calibri" panose="020F0502020204030204" pitchFamily="34" charset="0"/>
                <a:cs typeface="Calibri" panose="020F0502020204030204" pitchFamily="34" charset="0"/>
              </a:rPr>
              <a:t>EU competition law is no longer enforced in the UK</a:t>
            </a:r>
            <a:r>
              <a:rPr lang="en-GB" sz="2000" dirty="0">
                <a:latin typeface="Calibri" panose="020F0502020204030204" pitchFamily="34" charset="0"/>
                <a:ea typeface="Calibri" panose="020F0502020204030204" pitchFamily="34" charset="0"/>
                <a:cs typeface="Calibri" panose="020F0502020204030204" pitchFamily="34" charset="0"/>
              </a:rPr>
              <a:t>, and the UK and EU now operate separate competition regimes</a:t>
            </a:r>
          </a:p>
          <a:p>
            <a:pPr lvl="1">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The CMA is now responsible for all anti-competitive practices that affect UK markets and consumers.</a:t>
            </a:r>
          </a:p>
          <a:p>
            <a:pPr lvl="1">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Changes to the UK merger control regime</a:t>
            </a:r>
          </a:p>
          <a:p>
            <a:pPr lvl="2">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An uplift in the "turnover test" threshold for UK merger control jurisdiction, from the current &gt;£70million of turnover in the UK, to &gt;£100 million. </a:t>
            </a:r>
          </a:p>
          <a:p>
            <a:pPr lvl="2">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A new jurisdictional threshold, aimed at "killer acquisitions" (purchases intended to stifle emerging or potential competition). This will apply where one party has both: (a) a share of supply in the UK (or part of it) of 33% or more, and (b) UK turnover of £350 million or more.</a:t>
            </a:r>
          </a:p>
          <a:p>
            <a:pPr lvl="2">
              <a:lnSpc>
                <a:spcPct val="100000"/>
              </a:lnSpc>
              <a:spcBef>
                <a:spcPts val="1200"/>
              </a:spcBef>
            </a:pPr>
            <a:r>
              <a:rPr lang="en-GB" sz="2000" dirty="0">
                <a:latin typeface="Calibri" panose="020F0502020204030204" pitchFamily="34" charset="0"/>
                <a:ea typeface="Calibri" panose="020F0502020204030204" pitchFamily="34" charset="0"/>
                <a:cs typeface="Calibri" panose="020F0502020204030204" pitchFamily="34" charset="0"/>
              </a:rPr>
              <a:t>Some larger businesses will have to notify every acquisition to the CMA.</a:t>
            </a:r>
          </a:p>
        </p:txBody>
      </p:sp>
    </p:spTree>
    <p:extLst>
      <p:ext uri="{BB962C8B-B14F-4D97-AF65-F5344CB8AC3E}">
        <p14:creationId xmlns:p14="http://schemas.microsoft.com/office/powerpoint/2010/main" val="4100930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398339"/>
                                        </p:tgtEl>
                                        <p:attrNameLst>
                                          <p:attrName>style.visibility</p:attrName>
                                        </p:attrNameLst>
                                      </p:cBhvr>
                                      <p:to>
                                        <p:strVal val="visible"/>
                                      </p:to>
                                    </p:set>
                                    <p:anim calcmode="lin" valueType="num">
                                      <p:cBhvr>
                                        <p:cTn id="7" dur="500" fill="hold"/>
                                        <p:tgtEl>
                                          <p:spTgt spid="398339"/>
                                        </p:tgtEl>
                                        <p:attrNameLst>
                                          <p:attrName>ppt_w</p:attrName>
                                        </p:attrNameLst>
                                      </p:cBhvr>
                                      <p:tavLst>
                                        <p:tav tm="0">
                                          <p:val>
                                            <p:strVal val="2/3*#ppt_w"/>
                                          </p:val>
                                        </p:tav>
                                        <p:tav tm="100000">
                                          <p:val>
                                            <p:strVal val="#ppt_w"/>
                                          </p:val>
                                        </p:tav>
                                      </p:tavLst>
                                    </p:anim>
                                    <p:anim calcmode="lin" valueType="num">
                                      <p:cBhvr>
                                        <p:cTn id="8" dur="500" fill="hold"/>
                                        <p:tgtEl>
                                          <p:spTgt spid="398339"/>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8338">
                                            <p:txEl>
                                              <p:pRg st="0" end="0"/>
                                            </p:txEl>
                                          </p:spTgt>
                                        </p:tgtEl>
                                        <p:attrNameLst>
                                          <p:attrName>style.visibility</p:attrName>
                                        </p:attrNameLst>
                                      </p:cBhvr>
                                      <p:to>
                                        <p:strVal val="visible"/>
                                      </p:to>
                                    </p:set>
                                    <p:anim calcmode="lin" valueType="num">
                                      <p:cBhvr additive="base">
                                        <p:cTn id="13" dur="500"/>
                                        <p:tgtEl>
                                          <p:spTgt spid="398338">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833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8338">
                                            <p:txEl>
                                              <p:pRg st="1" end="1"/>
                                            </p:txEl>
                                          </p:spTgt>
                                        </p:tgtEl>
                                        <p:attrNameLst>
                                          <p:attrName>style.visibility</p:attrName>
                                        </p:attrNameLst>
                                      </p:cBhvr>
                                      <p:to>
                                        <p:strVal val="visible"/>
                                      </p:to>
                                    </p:set>
                                    <p:anim calcmode="lin" valueType="num">
                                      <p:cBhvr additive="base">
                                        <p:cTn id="19" dur="500"/>
                                        <p:tgtEl>
                                          <p:spTgt spid="398338">
                                            <p:txEl>
                                              <p:pRg st="1" end="1"/>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8338">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8338">
                                            <p:txEl>
                                              <p:pRg st="2" end="2"/>
                                            </p:txEl>
                                          </p:spTgt>
                                        </p:tgtEl>
                                        <p:attrNameLst>
                                          <p:attrName>style.visibility</p:attrName>
                                        </p:attrNameLst>
                                      </p:cBhvr>
                                      <p:to>
                                        <p:strVal val="visible"/>
                                      </p:to>
                                    </p:set>
                                    <p:anim calcmode="lin" valueType="num">
                                      <p:cBhvr additive="base">
                                        <p:cTn id="25" dur="500"/>
                                        <p:tgtEl>
                                          <p:spTgt spid="398338">
                                            <p:txEl>
                                              <p:pRg st="2" end="2"/>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8338">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8338">
                                            <p:txEl>
                                              <p:pRg st="3" end="3"/>
                                            </p:txEl>
                                          </p:spTgt>
                                        </p:tgtEl>
                                        <p:attrNameLst>
                                          <p:attrName>style.visibility</p:attrName>
                                        </p:attrNameLst>
                                      </p:cBhvr>
                                      <p:to>
                                        <p:strVal val="visible"/>
                                      </p:to>
                                    </p:set>
                                    <p:anim calcmode="lin" valueType="num">
                                      <p:cBhvr additive="base">
                                        <p:cTn id="31" dur="500"/>
                                        <p:tgtEl>
                                          <p:spTgt spid="398338">
                                            <p:txEl>
                                              <p:pRg st="3" end="3"/>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8338">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8338">
                                            <p:txEl>
                                              <p:pRg st="4" end="4"/>
                                            </p:txEl>
                                          </p:spTgt>
                                        </p:tgtEl>
                                        <p:attrNameLst>
                                          <p:attrName>style.visibility</p:attrName>
                                        </p:attrNameLst>
                                      </p:cBhvr>
                                      <p:to>
                                        <p:strVal val="visible"/>
                                      </p:to>
                                    </p:set>
                                    <p:anim calcmode="lin" valueType="num">
                                      <p:cBhvr additive="base">
                                        <p:cTn id="37" dur="500"/>
                                        <p:tgtEl>
                                          <p:spTgt spid="398338">
                                            <p:txEl>
                                              <p:pRg st="4" end="4"/>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8338">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8338">
                                            <p:txEl>
                                              <p:pRg st="5" end="5"/>
                                            </p:txEl>
                                          </p:spTgt>
                                        </p:tgtEl>
                                        <p:attrNameLst>
                                          <p:attrName>style.visibility</p:attrName>
                                        </p:attrNameLst>
                                      </p:cBhvr>
                                      <p:to>
                                        <p:strVal val="visible"/>
                                      </p:to>
                                    </p:set>
                                    <p:anim calcmode="lin" valueType="num">
                                      <p:cBhvr additive="base">
                                        <p:cTn id="43" dur="500"/>
                                        <p:tgtEl>
                                          <p:spTgt spid="398338">
                                            <p:txEl>
                                              <p:pRg st="5" end="5"/>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8338">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8338">
                                            <p:txEl>
                                              <p:pRg st="6" end="6"/>
                                            </p:txEl>
                                          </p:spTgt>
                                        </p:tgtEl>
                                        <p:attrNameLst>
                                          <p:attrName>style.visibility</p:attrName>
                                        </p:attrNameLst>
                                      </p:cBhvr>
                                      <p:to>
                                        <p:strVal val="visible"/>
                                      </p:to>
                                    </p:set>
                                    <p:anim calcmode="lin" valueType="num">
                                      <p:cBhvr additive="base">
                                        <p:cTn id="49" dur="500"/>
                                        <p:tgtEl>
                                          <p:spTgt spid="398338">
                                            <p:txEl>
                                              <p:pRg st="6" end="6"/>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833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animBg="1"/>
      <p:bldP spid="398338" grpId="0" build="p" bldLvl="3"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9" name="Rectangle 3">
            <a:extLst>
              <a:ext uri="{FF2B5EF4-FFF2-40B4-BE49-F238E27FC236}">
                <a16:creationId xmlns:a16="http://schemas.microsoft.com/office/drawing/2014/main" id="{0F34FB52-6BD4-4AF7-A427-94FFB5D237DC}"/>
              </a:ext>
            </a:extLst>
          </p:cNvPr>
          <p:cNvSpPr>
            <a:spLocks noGrp="1"/>
          </p:cNvSpPr>
          <p:nvPr>
            <p:ph type="title"/>
          </p:nvPr>
        </p:nvSpPr>
        <p:spPr>
          <a:noFill/>
          <a:ln/>
        </p:spPr>
        <p:txBody>
          <a:bodyPr>
            <a:normAutofit fontScale="90000"/>
          </a:bodyPr>
          <a:lstStyle/>
          <a:p>
            <a:r>
              <a:rPr lang="en-GB" altLang="en-US" dirty="0"/>
              <a:t>Competition Policy: Comparative Assessment</a:t>
            </a:r>
          </a:p>
        </p:txBody>
      </p:sp>
      <p:sp>
        <p:nvSpPr>
          <p:cNvPr id="398338" name="Rectangle 2">
            <a:extLst>
              <a:ext uri="{FF2B5EF4-FFF2-40B4-BE49-F238E27FC236}">
                <a16:creationId xmlns:a16="http://schemas.microsoft.com/office/drawing/2014/main" id="{80B83BFF-C23B-4388-9E08-408D73E88405}"/>
              </a:ext>
            </a:extLst>
          </p:cNvPr>
          <p:cNvSpPr>
            <a:spLocks noGrp="1"/>
          </p:cNvSpPr>
          <p:nvPr>
            <p:ph idx="1"/>
          </p:nvPr>
        </p:nvSpPr>
        <p:spPr>
          <a:xfrm>
            <a:off x="402167" y="1539208"/>
            <a:ext cx="11379200" cy="4842395"/>
          </a:xfrm>
        </p:spPr>
        <p:txBody>
          <a:bodyPr/>
          <a:lstStyle/>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Other proposed reforms to UK competition law</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Increased penalties</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For non-compliance with formal CMA information requests, or providing mis-leading info</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Civil penalties for firms which breach commitments, directions, orders or interim measures </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Extending the reach of the CMA in enforcing UK competition law </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includes those agreements, practices &amp; decisions implemented outside UK but impacting UK</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Raising the threshold for appealing against CMA interim measures</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New evidence gathering powers</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Greater powers to interview individuals in Competition Act investigations</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Reducing the turnover threshold for immunity for immunity from penalties</a:t>
            </a:r>
          </a:p>
          <a:p>
            <a:pPr lvl="2">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Companies abusing a dominant position in smaller, emerging sectors may no longer avoid fines</a:t>
            </a:r>
          </a:p>
          <a:p>
            <a:pPr lvl="1">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Private enforcement</a:t>
            </a:r>
          </a:p>
          <a:p>
            <a:pPr lvl="1">
              <a:lnSpc>
                <a:spcPct val="95000"/>
              </a:lnSpc>
              <a:spcBef>
                <a:spcPts val="900"/>
              </a:spcBef>
            </a:pPr>
            <a:endParaRPr lang="en-GB" altLang="en-US" sz="2000" dirty="0"/>
          </a:p>
        </p:txBody>
      </p:sp>
    </p:spTree>
    <p:extLst>
      <p:ext uri="{BB962C8B-B14F-4D97-AF65-F5344CB8AC3E}">
        <p14:creationId xmlns:p14="http://schemas.microsoft.com/office/powerpoint/2010/main" val="1575228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398339"/>
                                        </p:tgtEl>
                                        <p:attrNameLst>
                                          <p:attrName>style.visibility</p:attrName>
                                        </p:attrNameLst>
                                      </p:cBhvr>
                                      <p:to>
                                        <p:strVal val="visible"/>
                                      </p:to>
                                    </p:set>
                                    <p:anim calcmode="lin" valueType="num">
                                      <p:cBhvr>
                                        <p:cTn id="7" dur="500" fill="hold"/>
                                        <p:tgtEl>
                                          <p:spTgt spid="398339"/>
                                        </p:tgtEl>
                                        <p:attrNameLst>
                                          <p:attrName>ppt_w</p:attrName>
                                        </p:attrNameLst>
                                      </p:cBhvr>
                                      <p:tavLst>
                                        <p:tav tm="0">
                                          <p:val>
                                            <p:strVal val="2/3*#ppt_w"/>
                                          </p:val>
                                        </p:tav>
                                        <p:tav tm="100000">
                                          <p:val>
                                            <p:strVal val="#ppt_w"/>
                                          </p:val>
                                        </p:tav>
                                      </p:tavLst>
                                    </p:anim>
                                    <p:anim calcmode="lin" valueType="num">
                                      <p:cBhvr>
                                        <p:cTn id="8" dur="500" fill="hold"/>
                                        <p:tgtEl>
                                          <p:spTgt spid="398339"/>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8338">
                                            <p:txEl>
                                              <p:pRg st="0" end="0"/>
                                            </p:txEl>
                                          </p:spTgt>
                                        </p:tgtEl>
                                        <p:attrNameLst>
                                          <p:attrName>style.visibility</p:attrName>
                                        </p:attrNameLst>
                                      </p:cBhvr>
                                      <p:to>
                                        <p:strVal val="visible"/>
                                      </p:to>
                                    </p:set>
                                    <p:anim calcmode="lin" valueType="num">
                                      <p:cBhvr additive="base">
                                        <p:cTn id="13" dur="500"/>
                                        <p:tgtEl>
                                          <p:spTgt spid="398338">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833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8338">
                                            <p:txEl>
                                              <p:pRg st="1" end="1"/>
                                            </p:txEl>
                                          </p:spTgt>
                                        </p:tgtEl>
                                        <p:attrNameLst>
                                          <p:attrName>style.visibility</p:attrName>
                                        </p:attrNameLst>
                                      </p:cBhvr>
                                      <p:to>
                                        <p:strVal val="visible"/>
                                      </p:to>
                                    </p:set>
                                    <p:anim calcmode="lin" valueType="num">
                                      <p:cBhvr additive="base">
                                        <p:cTn id="19" dur="500"/>
                                        <p:tgtEl>
                                          <p:spTgt spid="398338">
                                            <p:txEl>
                                              <p:pRg st="1" end="1"/>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8338">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8338">
                                            <p:txEl>
                                              <p:pRg st="2" end="2"/>
                                            </p:txEl>
                                          </p:spTgt>
                                        </p:tgtEl>
                                        <p:attrNameLst>
                                          <p:attrName>style.visibility</p:attrName>
                                        </p:attrNameLst>
                                      </p:cBhvr>
                                      <p:to>
                                        <p:strVal val="visible"/>
                                      </p:to>
                                    </p:set>
                                    <p:anim calcmode="lin" valueType="num">
                                      <p:cBhvr additive="base">
                                        <p:cTn id="25" dur="500"/>
                                        <p:tgtEl>
                                          <p:spTgt spid="398338">
                                            <p:txEl>
                                              <p:pRg st="2" end="2"/>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8338">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8338">
                                            <p:txEl>
                                              <p:pRg st="3" end="3"/>
                                            </p:txEl>
                                          </p:spTgt>
                                        </p:tgtEl>
                                        <p:attrNameLst>
                                          <p:attrName>style.visibility</p:attrName>
                                        </p:attrNameLst>
                                      </p:cBhvr>
                                      <p:to>
                                        <p:strVal val="visible"/>
                                      </p:to>
                                    </p:set>
                                    <p:anim calcmode="lin" valueType="num">
                                      <p:cBhvr additive="base">
                                        <p:cTn id="31" dur="500"/>
                                        <p:tgtEl>
                                          <p:spTgt spid="398338">
                                            <p:txEl>
                                              <p:pRg st="3" end="3"/>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8338">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8338">
                                            <p:txEl>
                                              <p:pRg st="4" end="4"/>
                                            </p:txEl>
                                          </p:spTgt>
                                        </p:tgtEl>
                                        <p:attrNameLst>
                                          <p:attrName>style.visibility</p:attrName>
                                        </p:attrNameLst>
                                      </p:cBhvr>
                                      <p:to>
                                        <p:strVal val="visible"/>
                                      </p:to>
                                    </p:set>
                                    <p:anim calcmode="lin" valueType="num">
                                      <p:cBhvr additive="base">
                                        <p:cTn id="37" dur="500"/>
                                        <p:tgtEl>
                                          <p:spTgt spid="398338">
                                            <p:txEl>
                                              <p:pRg st="4" end="4"/>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8338">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8338">
                                            <p:txEl>
                                              <p:pRg st="5" end="5"/>
                                            </p:txEl>
                                          </p:spTgt>
                                        </p:tgtEl>
                                        <p:attrNameLst>
                                          <p:attrName>style.visibility</p:attrName>
                                        </p:attrNameLst>
                                      </p:cBhvr>
                                      <p:to>
                                        <p:strVal val="visible"/>
                                      </p:to>
                                    </p:set>
                                    <p:anim calcmode="lin" valueType="num">
                                      <p:cBhvr additive="base">
                                        <p:cTn id="43" dur="500"/>
                                        <p:tgtEl>
                                          <p:spTgt spid="398338">
                                            <p:txEl>
                                              <p:pRg st="5" end="5"/>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8338">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8338">
                                            <p:txEl>
                                              <p:pRg st="6" end="6"/>
                                            </p:txEl>
                                          </p:spTgt>
                                        </p:tgtEl>
                                        <p:attrNameLst>
                                          <p:attrName>style.visibility</p:attrName>
                                        </p:attrNameLst>
                                      </p:cBhvr>
                                      <p:to>
                                        <p:strVal val="visible"/>
                                      </p:to>
                                    </p:set>
                                    <p:anim calcmode="lin" valueType="num">
                                      <p:cBhvr additive="base">
                                        <p:cTn id="49" dur="500"/>
                                        <p:tgtEl>
                                          <p:spTgt spid="398338">
                                            <p:txEl>
                                              <p:pRg st="6" end="6"/>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8338">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98338">
                                            <p:txEl>
                                              <p:pRg st="7" end="7"/>
                                            </p:txEl>
                                          </p:spTgt>
                                        </p:tgtEl>
                                        <p:attrNameLst>
                                          <p:attrName>style.visibility</p:attrName>
                                        </p:attrNameLst>
                                      </p:cBhvr>
                                      <p:to>
                                        <p:strVal val="visible"/>
                                      </p:to>
                                    </p:set>
                                    <p:anim calcmode="lin" valueType="num">
                                      <p:cBhvr additive="base">
                                        <p:cTn id="55" dur="500"/>
                                        <p:tgtEl>
                                          <p:spTgt spid="398338">
                                            <p:txEl>
                                              <p:pRg st="7" end="7"/>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98338">
                                            <p:txEl>
                                              <p:pRg st="7" end="7"/>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98338">
                                            <p:txEl>
                                              <p:pRg st="8" end="8"/>
                                            </p:txEl>
                                          </p:spTgt>
                                        </p:tgtEl>
                                        <p:attrNameLst>
                                          <p:attrName>style.visibility</p:attrName>
                                        </p:attrNameLst>
                                      </p:cBhvr>
                                      <p:to>
                                        <p:strVal val="visible"/>
                                      </p:to>
                                    </p:set>
                                    <p:anim calcmode="lin" valueType="num">
                                      <p:cBhvr additive="base">
                                        <p:cTn id="61" dur="500"/>
                                        <p:tgtEl>
                                          <p:spTgt spid="398338">
                                            <p:txEl>
                                              <p:pRg st="8" end="8"/>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98338">
                                            <p:txEl>
                                              <p:pRg st="8" end="8"/>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398338">
                                            <p:txEl>
                                              <p:pRg st="9" end="9"/>
                                            </p:txEl>
                                          </p:spTgt>
                                        </p:tgtEl>
                                        <p:attrNameLst>
                                          <p:attrName>style.visibility</p:attrName>
                                        </p:attrNameLst>
                                      </p:cBhvr>
                                      <p:to>
                                        <p:strVal val="visible"/>
                                      </p:to>
                                    </p:set>
                                    <p:anim calcmode="lin" valueType="num">
                                      <p:cBhvr additive="base">
                                        <p:cTn id="67" dur="500"/>
                                        <p:tgtEl>
                                          <p:spTgt spid="398338">
                                            <p:txEl>
                                              <p:pRg st="9" end="9"/>
                                            </p:txEl>
                                          </p:spTgt>
                                        </p:tgtEl>
                                        <p:attrNameLst>
                                          <p:attrName>ppt_y</p:attrName>
                                        </p:attrNameLst>
                                      </p:cBhvr>
                                      <p:tavLst>
                                        <p:tav tm="0">
                                          <p:val>
                                            <p:strVal val="#ppt_y+#ppt_h*1.125000"/>
                                          </p:val>
                                        </p:tav>
                                        <p:tav tm="100000">
                                          <p:val>
                                            <p:strVal val="#ppt_y"/>
                                          </p:val>
                                        </p:tav>
                                      </p:tavLst>
                                    </p:anim>
                                    <p:animEffect transition="in" filter="wipe(up)">
                                      <p:cBhvr>
                                        <p:cTn id="68" dur="500"/>
                                        <p:tgtEl>
                                          <p:spTgt spid="398338">
                                            <p:txEl>
                                              <p:pRg st="9" end="9"/>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398338">
                                            <p:txEl>
                                              <p:pRg st="10" end="10"/>
                                            </p:txEl>
                                          </p:spTgt>
                                        </p:tgtEl>
                                        <p:attrNameLst>
                                          <p:attrName>style.visibility</p:attrName>
                                        </p:attrNameLst>
                                      </p:cBhvr>
                                      <p:to>
                                        <p:strVal val="visible"/>
                                      </p:to>
                                    </p:set>
                                    <p:anim calcmode="lin" valueType="num">
                                      <p:cBhvr additive="base">
                                        <p:cTn id="73" dur="500"/>
                                        <p:tgtEl>
                                          <p:spTgt spid="398338">
                                            <p:txEl>
                                              <p:pRg st="10" end="10"/>
                                            </p:txEl>
                                          </p:spTgt>
                                        </p:tgtEl>
                                        <p:attrNameLst>
                                          <p:attrName>ppt_y</p:attrName>
                                        </p:attrNameLst>
                                      </p:cBhvr>
                                      <p:tavLst>
                                        <p:tav tm="0">
                                          <p:val>
                                            <p:strVal val="#ppt_y+#ppt_h*1.125000"/>
                                          </p:val>
                                        </p:tav>
                                        <p:tav tm="100000">
                                          <p:val>
                                            <p:strVal val="#ppt_y"/>
                                          </p:val>
                                        </p:tav>
                                      </p:tavLst>
                                    </p:anim>
                                    <p:animEffect transition="in" filter="wipe(up)">
                                      <p:cBhvr>
                                        <p:cTn id="74" dur="500"/>
                                        <p:tgtEl>
                                          <p:spTgt spid="398338">
                                            <p:txEl>
                                              <p:pRg st="10" end="1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4" fill="hold" grpId="0" nodeType="clickEffect">
                                  <p:stCondLst>
                                    <p:cond delay="0"/>
                                  </p:stCondLst>
                                  <p:childTnLst>
                                    <p:set>
                                      <p:cBhvr>
                                        <p:cTn id="78" dur="1" fill="hold">
                                          <p:stCondLst>
                                            <p:cond delay="0"/>
                                          </p:stCondLst>
                                        </p:cTn>
                                        <p:tgtEl>
                                          <p:spTgt spid="398338">
                                            <p:txEl>
                                              <p:pRg st="11" end="11"/>
                                            </p:txEl>
                                          </p:spTgt>
                                        </p:tgtEl>
                                        <p:attrNameLst>
                                          <p:attrName>style.visibility</p:attrName>
                                        </p:attrNameLst>
                                      </p:cBhvr>
                                      <p:to>
                                        <p:strVal val="visible"/>
                                      </p:to>
                                    </p:set>
                                    <p:anim calcmode="lin" valueType="num">
                                      <p:cBhvr additive="base">
                                        <p:cTn id="79" dur="500"/>
                                        <p:tgtEl>
                                          <p:spTgt spid="398338">
                                            <p:txEl>
                                              <p:pRg st="11" end="11"/>
                                            </p:txEl>
                                          </p:spTgt>
                                        </p:tgtEl>
                                        <p:attrNameLst>
                                          <p:attrName>ppt_y</p:attrName>
                                        </p:attrNameLst>
                                      </p:cBhvr>
                                      <p:tavLst>
                                        <p:tav tm="0">
                                          <p:val>
                                            <p:strVal val="#ppt_y+#ppt_h*1.125000"/>
                                          </p:val>
                                        </p:tav>
                                        <p:tav tm="100000">
                                          <p:val>
                                            <p:strVal val="#ppt_y"/>
                                          </p:val>
                                        </p:tav>
                                      </p:tavLst>
                                    </p:anim>
                                    <p:animEffect transition="in" filter="wipe(up)">
                                      <p:cBhvr>
                                        <p:cTn id="80" dur="500"/>
                                        <p:tgtEl>
                                          <p:spTgt spid="39833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animBg="1"/>
      <p:bldP spid="398338" grpId="0" build="p" bldLvl="3"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1954"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195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1958" name="Rectangle 6"/>
          <p:cNvSpPr>
            <a:spLocks noGrp="1"/>
          </p:cNvSpPr>
          <p:nvPr>
            <p:ph type="title"/>
          </p:nvPr>
        </p:nvSpPr>
        <p:spPr>
          <a:xfrm>
            <a:off x="503102" y="149292"/>
            <a:ext cx="10515600" cy="908198"/>
          </a:xfrm>
        </p:spPr>
        <p:txBody>
          <a:bodyPr/>
          <a:lstStyle/>
          <a:p>
            <a:r>
              <a:rPr lang="en-GB" altLang="en-US" dirty="0"/>
              <a:t>Summary</a:t>
            </a:r>
          </a:p>
        </p:txBody>
      </p:sp>
      <p:sp>
        <p:nvSpPr>
          <p:cNvPr id="381959" name="Rectangle 7"/>
          <p:cNvSpPr>
            <a:spLocks noGrp="1"/>
          </p:cNvSpPr>
          <p:nvPr>
            <p:ph idx="1"/>
          </p:nvPr>
        </p:nvSpPr>
        <p:spPr>
          <a:xfrm>
            <a:off x="454360" y="1033667"/>
            <a:ext cx="11438155" cy="5294638"/>
          </a:xfrm>
        </p:spPr>
        <p:txBody>
          <a:bodyPr/>
          <a:lstStyle/>
          <a:p>
            <a:pPr>
              <a:lnSpc>
                <a:spcPct val="100000"/>
              </a:lnSpc>
              <a:spcBef>
                <a:spcPts val="1200"/>
              </a:spcBef>
            </a:pPr>
            <a:r>
              <a:rPr lang="en-GB" altLang="en-US" sz="2000" dirty="0">
                <a:latin typeface="Calibri" panose="020F0502020204030204" pitchFamily="34" charset="0"/>
                <a:cs typeface="Calibri" panose="020F0502020204030204" pitchFamily="34" charset="0"/>
              </a:rPr>
              <a:t>Governments intervene in markets to protect the interests of consumers, workers and the environment.</a:t>
            </a:r>
          </a:p>
          <a:p>
            <a:pPr>
              <a:lnSpc>
                <a:spcPct val="100000"/>
              </a:lnSpc>
              <a:spcBef>
                <a:spcPts val="1200"/>
              </a:spcBef>
            </a:pPr>
            <a:r>
              <a:rPr lang="en-GB" altLang="en-US" sz="2000" dirty="0">
                <a:latin typeface="Calibri" panose="020F0502020204030204" pitchFamily="34" charset="0"/>
                <a:cs typeface="Calibri" panose="020F0502020204030204" pitchFamily="34" charset="0"/>
              </a:rPr>
              <a:t>Governments have responsibilities to promote social efficiency and equity</a:t>
            </a:r>
          </a:p>
          <a:p>
            <a:pPr>
              <a:lnSpc>
                <a:spcPct val="100000"/>
              </a:lnSpc>
              <a:spcBef>
                <a:spcPts val="1200"/>
              </a:spcBef>
            </a:pPr>
            <a:r>
              <a:rPr lang="en-GB" altLang="en-US" sz="2000" dirty="0">
                <a:latin typeface="Calibri" panose="020F0502020204030204" pitchFamily="34" charset="0"/>
                <a:cs typeface="Calibri" panose="020F0502020204030204" pitchFamily="34" charset="0"/>
              </a:rPr>
              <a:t>Market failure stems from many factors, including market power, externalities, the nature of public goods and ignorance and uncertainty</a:t>
            </a:r>
          </a:p>
          <a:p>
            <a:pPr>
              <a:lnSpc>
                <a:spcPct val="100000"/>
              </a:lnSpc>
              <a:spcBef>
                <a:spcPts val="1200"/>
              </a:spcBef>
            </a:pPr>
            <a:r>
              <a:rPr lang="en-GB" altLang="en-US" sz="2000" dirty="0">
                <a:latin typeface="Calibri" panose="020F0502020204030204" pitchFamily="34" charset="0"/>
                <a:cs typeface="Calibri" panose="020F0502020204030204" pitchFamily="34" charset="0"/>
              </a:rPr>
              <a:t>Governments can remedy market failure by using taxes/subsidies, creating and enforcing regulations, price controls, creating property rights, providing more information (in cases of ignorance and uncertainty) and directly providing some goods and services for free</a:t>
            </a:r>
          </a:p>
          <a:p>
            <a:pPr>
              <a:lnSpc>
                <a:spcPct val="100000"/>
              </a:lnSpc>
              <a:spcBef>
                <a:spcPts val="1200"/>
              </a:spcBef>
            </a:pPr>
            <a:r>
              <a:rPr lang="en-GB" altLang="en-US" sz="2000" dirty="0">
                <a:latin typeface="Calibri" panose="020F0502020204030204" pitchFamily="34" charset="0"/>
                <a:cs typeface="Calibri" panose="020F0502020204030204" pitchFamily="34" charset="0"/>
              </a:rPr>
              <a:t>Government interventions do not provide full-proof remedies and sometimes these interventions can fail</a:t>
            </a:r>
          </a:p>
          <a:p>
            <a:pPr>
              <a:lnSpc>
                <a:spcPct val="100000"/>
              </a:lnSpc>
              <a:spcBef>
                <a:spcPts val="1200"/>
              </a:spcBef>
            </a:pPr>
            <a:r>
              <a:rPr lang="en-GB" altLang="en-US" sz="2000" dirty="0">
                <a:latin typeface="Calibri" panose="020F0502020204030204" pitchFamily="34" charset="0"/>
                <a:cs typeface="Calibri" panose="020F0502020204030204" pitchFamily="34" charset="0"/>
              </a:rPr>
              <a:t>The laissez-faire approach can sometimes be more effective in remedying market failures. Firms could be involved in corporate social responsibility (CSR) initiatives</a:t>
            </a:r>
          </a:p>
          <a:p>
            <a:pPr>
              <a:lnSpc>
                <a:spcPct val="100000"/>
              </a:lnSpc>
              <a:spcBef>
                <a:spcPts val="1200"/>
              </a:spcBef>
            </a:pPr>
            <a:r>
              <a:rPr lang="en-GB" altLang="en-US" sz="2000" dirty="0">
                <a:latin typeface="Calibri" panose="020F0502020204030204" pitchFamily="34" charset="0"/>
                <a:cs typeface="Calibri" panose="020F0502020204030204" pitchFamily="34" charset="0"/>
              </a:rPr>
              <a:t>Due to strong interdependence between oligopolists, firms need to decide whether to compete or collude.</a:t>
            </a:r>
          </a:p>
          <a:p>
            <a:pPr marL="0" indent="0">
              <a:lnSpc>
                <a:spcPct val="100000"/>
              </a:lnSpc>
              <a:spcBef>
                <a:spcPts val="1200"/>
              </a:spcBef>
              <a:buNone/>
            </a:pPr>
            <a:endParaRPr lang="en-GB" altLang="en-US" sz="1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35633108"/>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1959">
                                            <p:txEl>
                                              <p:pRg st="0" end="0"/>
                                            </p:txEl>
                                          </p:spTgt>
                                        </p:tgtEl>
                                        <p:attrNameLst>
                                          <p:attrName>style.visibility</p:attrName>
                                        </p:attrNameLst>
                                      </p:cBhvr>
                                      <p:to>
                                        <p:strVal val="visible"/>
                                      </p:to>
                                    </p:set>
                                    <p:anim calcmode="lin" valueType="num">
                                      <p:cBhvr additive="base">
                                        <p:cTn id="7" dur="500"/>
                                        <p:tgtEl>
                                          <p:spTgt spid="38195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195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1959">
                                            <p:txEl>
                                              <p:pRg st="1" end="1"/>
                                            </p:txEl>
                                          </p:spTgt>
                                        </p:tgtEl>
                                        <p:attrNameLst>
                                          <p:attrName>style.visibility</p:attrName>
                                        </p:attrNameLst>
                                      </p:cBhvr>
                                      <p:to>
                                        <p:strVal val="visible"/>
                                      </p:to>
                                    </p:set>
                                    <p:anim calcmode="lin" valueType="num">
                                      <p:cBhvr additive="base">
                                        <p:cTn id="13" dur="500"/>
                                        <p:tgtEl>
                                          <p:spTgt spid="38195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195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1959">
                                            <p:txEl>
                                              <p:pRg st="2" end="2"/>
                                            </p:txEl>
                                          </p:spTgt>
                                        </p:tgtEl>
                                        <p:attrNameLst>
                                          <p:attrName>style.visibility</p:attrName>
                                        </p:attrNameLst>
                                      </p:cBhvr>
                                      <p:to>
                                        <p:strVal val="visible"/>
                                      </p:to>
                                    </p:set>
                                    <p:anim calcmode="lin" valueType="num">
                                      <p:cBhvr additive="base">
                                        <p:cTn id="19" dur="500"/>
                                        <p:tgtEl>
                                          <p:spTgt spid="38195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195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1959">
                                            <p:txEl>
                                              <p:pRg st="3" end="3"/>
                                            </p:txEl>
                                          </p:spTgt>
                                        </p:tgtEl>
                                        <p:attrNameLst>
                                          <p:attrName>style.visibility</p:attrName>
                                        </p:attrNameLst>
                                      </p:cBhvr>
                                      <p:to>
                                        <p:strVal val="visible"/>
                                      </p:to>
                                    </p:set>
                                    <p:anim calcmode="lin" valueType="num">
                                      <p:cBhvr additive="base">
                                        <p:cTn id="25" dur="500"/>
                                        <p:tgtEl>
                                          <p:spTgt spid="38195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195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1959">
                                            <p:txEl>
                                              <p:pRg st="4" end="4"/>
                                            </p:txEl>
                                          </p:spTgt>
                                        </p:tgtEl>
                                        <p:attrNameLst>
                                          <p:attrName>style.visibility</p:attrName>
                                        </p:attrNameLst>
                                      </p:cBhvr>
                                      <p:to>
                                        <p:strVal val="visible"/>
                                      </p:to>
                                    </p:set>
                                    <p:anim calcmode="lin" valueType="num">
                                      <p:cBhvr additive="base">
                                        <p:cTn id="31" dur="500"/>
                                        <p:tgtEl>
                                          <p:spTgt spid="38195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195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81959">
                                            <p:txEl>
                                              <p:pRg st="5" end="5"/>
                                            </p:txEl>
                                          </p:spTgt>
                                        </p:tgtEl>
                                        <p:attrNameLst>
                                          <p:attrName>style.visibility</p:attrName>
                                        </p:attrNameLst>
                                      </p:cBhvr>
                                      <p:to>
                                        <p:strVal val="visible"/>
                                      </p:to>
                                    </p:set>
                                    <p:anim calcmode="lin" valueType="num">
                                      <p:cBhvr additive="base">
                                        <p:cTn id="37" dur="500"/>
                                        <p:tgtEl>
                                          <p:spTgt spid="38195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195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81959">
                                            <p:txEl>
                                              <p:pRg st="6" end="6"/>
                                            </p:txEl>
                                          </p:spTgt>
                                        </p:tgtEl>
                                        <p:attrNameLst>
                                          <p:attrName>style.visibility</p:attrName>
                                        </p:attrNameLst>
                                      </p:cBhvr>
                                      <p:to>
                                        <p:strVal val="visible"/>
                                      </p:to>
                                    </p:set>
                                    <p:anim calcmode="lin" valueType="num">
                                      <p:cBhvr additive="base">
                                        <p:cTn id="43" dur="500"/>
                                        <p:tgtEl>
                                          <p:spTgt spid="381959">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19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9" grpId="0" build="p" bldLvl="2" autoUpdateAnimBg="0"/>
    </p:bld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18D0F1B-ED24-4043-861A-D433F19CA78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079BABB-D5A2-4A04-86CD-415D03243D00}"/>
    </a:ext>
  </a:extLst>
</a:theme>
</file>

<file path=ppt/theme/theme3.xml><?xml version="1.0" encoding="utf-8"?>
<a:theme xmlns:a="http://schemas.openxmlformats.org/drawingml/2006/main" name="1_Office Theme">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0D2A3BC3-CEDD-4C53-A3FC-3DE9294C301B}"/>
    </a:ext>
  </a:extLst>
</a:theme>
</file>

<file path=ppt/theme/theme4.xml><?xml version="1.0" encoding="utf-8"?>
<a:theme xmlns:a="http://schemas.openxmlformats.org/drawingml/2006/main" name="4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34F82C73-F6DE-4FCA-855E-58081A0B843E}"/>
    </a:ext>
  </a:extLst>
</a:theme>
</file>

<file path=ppt/theme/theme5.xml><?xml version="1.0" encoding="utf-8"?>
<a:theme xmlns:a="http://schemas.openxmlformats.org/drawingml/2006/main" name="5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6.xml><?xml version="1.0" encoding="utf-8"?>
<a:theme xmlns:a="http://schemas.openxmlformats.org/drawingml/2006/main" name="6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93A621054F1D04C90C60CDB3C987234" ma:contentTypeVersion="17" ma:contentTypeDescription="Create a new document." ma:contentTypeScope="" ma:versionID="18071292a42031f7c77aa4bdf678ff00">
  <xsd:schema xmlns:xsd="http://www.w3.org/2001/XMLSchema" xmlns:xs="http://www.w3.org/2001/XMLSchema" xmlns:p="http://schemas.microsoft.com/office/2006/metadata/properties" xmlns:ns2="4e318df0-612d-4dff-ad55-c2016fd214d1" xmlns:ns3="750e769a-c6ab-48a0-ac99-347a633d873e" targetNamespace="http://schemas.microsoft.com/office/2006/metadata/properties" ma:root="true" ma:fieldsID="f3dd89fd09c91a75d61e58820517e053" ns2:_="" ns3:_="">
    <xsd:import namespace="4e318df0-612d-4dff-ad55-c2016fd214d1"/>
    <xsd:import namespace="750e769a-c6ab-48a0-ac99-347a633d873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318df0-612d-4dff-ad55-c2016fd214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f8fe375-cbb6-4b35-9ea2-3916cf22ce7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0e769a-c6ab-48a0-ac99-347a633d87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26268af-b411-43de-b041-f690f17633b8}" ma:internalName="TaxCatchAll" ma:showField="CatchAllData" ma:web="750e769a-c6ab-48a0-ac99-347a633d87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50e769a-c6ab-48a0-ac99-347a633d873e" xsi:nil="true"/>
    <lcf76f155ced4ddcb4097134ff3c332f xmlns="4e318df0-612d-4dff-ad55-c2016fd214d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ECF88A7-10E3-4B78-AAB4-E035B0995F42}">
  <ds:schemaRefs>
    <ds:schemaRef ds:uri="http://schemas.microsoft.com/sharepoint/v3/contenttype/forms"/>
  </ds:schemaRefs>
</ds:datastoreItem>
</file>

<file path=customXml/itemProps2.xml><?xml version="1.0" encoding="utf-8"?>
<ds:datastoreItem xmlns:ds="http://schemas.openxmlformats.org/officeDocument/2006/customXml" ds:itemID="{6D7B2099-E7CC-434D-9C82-BE12EDC62C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318df0-612d-4dff-ad55-c2016fd214d1"/>
    <ds:schemaRef ds:uri="750e769a-c6ab-48a0-ac99-347a633d87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2C876A-3CFF-456F-9860-B4CE26D1D368}">
  <ds:schemaRefs>
    <ds:schemaRef ds:uri="http://purl.org/dc/terms/"/>
    <ds:schemaRef ds:uri="http://purl.org/dc/dcmitype/"/>
    <ds:schemaRef ds:uri="http://schemas.microsoft.com/office/infopath/2007/PartnerControls"/>
    <ds:schemaRef ds:uri="750e769a-c6ab-48a0-ac99-347a633d873e"/>
    <ds:schemaRef ds:uri="http://schemas.microsoft.com/office/2006/documentManagement/types"/>
    <ds:schemaRef ds:uri="http://schemas.microsoft.com/office/2006/metadata/properties"/>
    <ds:schemaRef ds:uri="4e318df0-612d-4dff-ad55-c2016fd214d1"/>
    <ds:schemaRef ds:uri="http://schemas.openxmlformats.org/package/2006/metadata/core-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52</TotalTime>
  <Words>8630</Words>
  <Application>Microsoft Office PowerPoint</Application>
  <PresentationFormat>Widescreen</PresentationFormat>
  <Paragraphs>780</Paragraphs>
  <Slides>64</Slides>
  <Notes>56</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64</vt:i4>
      </vt:variant>
    </vt:vector>
  </HeadingPairs>
  <TitlesOfParts>
    <vt:vector size="75" baseType="lpstr">
      <vt:lpstr>Aptos</vt:lpstr>
      <vt:lpstr>Arial</vt:lpstr>
      <vt:lpstr>Calibri</vt:lpstr>
      <vt:lpstr>Helvetica</vt:lpstr>
      <vt:lpstr>Wingdings 2</vt:lpstr>
      <vt:lpstr>Custom Design</vt:lpstr>
      <vt:lpstr>1_Custom Design</vt:lpstr>
      <vt:lpstr>1_Office Theme</vt:lpstr>
      <vt:lpstr>4_Custom Design</vt:lpstr>
      <vt:lpstr>5_Custom Design</vt:lpstr>
      <vt:lpstr>6_Custom Design</vt:lpstr>
      <vt:lpstr>C29PE Economics for Professionals</vt:lpstr>
      <vt:lpstr>PowerPoint Presentation</vt:lpstr>
      <vt:lpstr>References</vt:lpstr>
      <vt:lpstr>Markets and the Role of Government</vt:lpstr>
      <vt:lpstr>Markets and the Role of Government</vt:lpstr>
      <vt:lpstr>Markets and the Role of Government</vt:lpstr>
      <vt:lpstr>Markets and the Role of Government</vt:lpstr>
      <vt:lpstr>Types of Market Failure</vt:lpstr>
      <vt:lpstr>A monopolist producing less than the social optimum</vt:lpstr>
      <vt:lpstr>Types of Market Failure</vt:lpstr>
      <vt:lpstr>Types of Market Failure</vt:lpstr>
      <vt:lpstr>The effect of monopoly on total surplus</vt:lpstr>
      <vt:lpstr>Types of Market Failure</vt:lpstr>
      <vt:lpstr>Types of Market Failure</vt:lpstr>
      <vt:lpstr>Types of Market Failure</vt:lpstr>
      <vt:lpstr>Types of Market Failure</vt:lpstr>
      <vt:lpstr>Externalities</vt:lpstr>
      <vt:lpstr>Types of Market Failure</vt:lpstr>
      <vt:lpstr>Externalities</vt:lpstr>
      <vt:lpstr>Types of Market Failure</vt:lpstr>
      <vt:lpstr>Types of Market Failure</vt:lpstr>
      <vt:lpstr>Types of Market Failure</vt:lpstr>
      <vt:lpstr>PowerPoint Presentation</vt:lpstr>
      <vt:lpstr>The efficient level of output for a pure public good</vt:lpstr>
      <vt:lpstr>PowerPoint Presentation</vt:lpstr>
      <vt:lpstr>PowerPoint Presentation</vt:lpstr>
      <vt:lpstr>Free-rider problem</vt:lpstr>
      <vt:lpstr>Types of Market Failure</vt:lpstr>
      <vt:lpstr>Government Intervention in the Market</vt:lpstr>
      <vt:lpstr>Government Intervention in the Market</vt:lpstr>
      <vt:lpstr>Government Intervention in the Market</vt:lpstr>
      <vt:lpstr>Government Intervention in the Market</vt:lpstr>
      <vt:lpstr>Government Intervention in the Market</vt:lpstr>
      <vt:lpstr>Government Intervention in the Market</vt:lpstr>
      <vt:lpstr>Government Intervention in the Market</vt:lpstr>
      <vt:lpstr>Government Intervention in the Market</vt:lpstr>
      <vt:lpstr>Government Intervention in the Market</vt:lpstr>
      <vt:lpstr>The Case for Laissez-faire</vt:lpstr>
      <vt:lpstr>The Case for Laissez-faire</vt:lpstr>
      <vt:lpstr>Additional slides for reading (will not be covered during session)</vt:lpstr>
      <vt:lpstr>Firms and Social Responsibility</vt:lpstr>
      <vt:lpstr>Firms and Social Responsibility</vt:lpstr>
      <vt:lpstr>Firms and Social Responsibility</vt:lpstr>
      <vt:lpstr>PowerPoint Presentation</vt:lpstr>
      <vt:lpstr>Firms and Social Responsibility</vt:lpstr>
      <vt:lpstr>Firms and Social Responsibility</vt:lpstr>
      <vt:lpstr>Competition Policy</vt:lpstr>
      <vt:lpstr>Competition Policy</vt:lpstr>
      <vt:lpstr>Competition Policy</vt:lpstr>
      <vt:lpstr>Competition Policy</vt:lpstr>
      <vt:lpstr>Competition Policy</vt:lpstr>
      <vt:lpstr>Competition Policy</vt:lpstr>
      <vt:lpstr>Competition Policy in the EU</vt:lpstr>
      <vt:lpstr>Competition Policy in the EU</vt:lpstr>
      <vt:lpstr>Competition Policy in the EU</vt:lpstr>
      <vt:lpstr>Competition Policy in the EU</vt:lpstr>
      <vt:lpstr>Competition Policy in the UK</vt:lpstr>
      <vt:lpstr>Competition Policy in the UK</vt:lpstr>
      <vt:lpstr>Competition Policy in the UK</vt:lpstr>
      <vt:lpstr>Competition Policy in the UK</vt:lpstr>
      <vt:lpstr>Competition Policy: Comparative Assessment</vt:lpstr>
      <vt:lpstr>Competition Policy: Comparative Assessment</vt:lpstr>
      <vt:lpstr>Competition Policy: Comparative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Grant Campbell</dc:creator>
  <cp:lastModifiedBy>Hui, Hon Chung</cp:lastModifiedBy>
  <cp:revision>55</cp:revision>
  <cp:lastPrinted>2024-03-27T09:31:09Z</cp:lastPrinted>
  <dcterms:created xsi:type="dcterms:W3CDTF">2024-03-26T13:44:16Z</dcterms:created>
  <dcterms:modified xsi:type="dcterms:W3CDTF">2025-08-29T01:45:00Z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0x010100B93A621054F1D04C90C60CDB3C987234</vt:lpwstr>
  </property>
  <property fmtid="{D5CDD505-2E9C-101B-9397-08002B2CF9AE}" pid="3" name="MediaServiceImageTags">
    <vt:lpwstr/>
  </property>
</Properties>
</file>